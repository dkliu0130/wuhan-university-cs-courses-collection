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notesSlides/notesSlide6.xml" ContentType="application/vnd.openxmlformats-officedocument.presentationml.notesSlide+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notesSlides/notesSlide7.xml" ContentType="application/vnd.openxmlformats-officedocument.presentationml.notesSlide+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0" r:id="rId2"/>
  </p:sldMasterIdLst>
  <p:notesMasterIdLst>
    <p:notesMasterId r:id="rId79"/>
  </p:notesMasterIdLst>
  <p:handoutMasterIdLst>
    <p:handoutMasterId r:id="rId80"/>
  </p:handoutMasterIdLst>
  <p:sldIdLst>
    <p:sldId id="256" r:id="rId3"/>
    <p:sldId id="526" r:id="rId4"/>
    <p:sldId id="527" r:id="rId5"/>
    <p:sldId id="2731" r:id="rId6"/>
    <p:sldId id="2732" r:id="rId7"/>
    <p:sldId id="2733" r:id="rId8"/>
    <p:sldId id="2734" r:id="rId9"/>
    <p:sldId id="2736" r:id="rId10"/>
    <p:sldId id="2737" r:id="rId11"/>
    <p:sldId id="2738" r:id="rId12"/>
    <p:sldId id="2739" r:id="rId13"/>
    <p:sldId id="2740" r:id="rId14"/>
    <p:sldId id="2741" r:id="rId15"/>
    <p:sldId id="2742" r:id="rId16"/>
    <p:sldId id="2744" r:id="rId17"/>
    <p:sldId id="2746" r:id="rId18"/>
    <p:sldId id="2747" r:id="rId19"/>
    <p:sldId id="2748" r:id="rId20"/>
    <p:sldId id="2749" r:id="rId21"/>
    <p:sldId id="2751" r:id="rId22"/>
    <p:sldId id="2752" r:id="rId23"/>
    <p:sldId id="2754" r:id="rId24"/>
    <p:sldId id="2753" r:id="rId25"/>
    <p:sldId id="2755" r:id="rId26"/>
    <p:sldId id="2756" r:id="rId27"/>
    <p:sldId id="2757" r:id="rId28"/>
    <p:sldId id="2758" r:id="rId29"/>
    <p:sldId id="2759" r:id="rId30"/>
    <p:sldId id="2761" r:id="rId31"/>
    <p:sldId id="2763" r:id="rId32"/>
    <p:sldId id="528" r:id="rId33"/>
    <p:sldId id="2764" r:id="rId34"/>
    <p:sldId id="2765" r:id="rId35"/>
    <p:sldId id="2766" r:id="rId36"/>
    <p:sldId id="2767" r:id="rId37"/>
    <p:sldId id="2769" r:id="rId38"/>
    <p:sldId id="2770" r:id="rId39"/>
    <p:sldId id="2771" r:id="rId40"/>
    <p:sldId id="2772" r:id="rId41"/>
    <p:sldId id="2773" r:id="rId42"/>
    <p:sldId id="2774" r:id="rId43"/>
    <p:sldId id="2775" r:id="rId44"/>
    <p:sldId id="2776" r:id="rId45"/>
    <p:sldId id="2778" r:id="rId46"/>
    <p:sldId id="2779" r:id="rId47"/>
    <p:sldId id="2780" r:id="rId48"/>
    <p:sldId id="2781" r:id="rId49"/>
    <p:sldId id="2782" r:id="rId50"/>
    <p:sldId id="2783" r:id="rId51"/>
    <p:sldId id="2784" r:id="rId52"/>
    <p:sldId id="2785" r:id="rId53"/>
    <p:sldId id="2786" r:id="rId54"/>
    <p:sldId id="2787" r:id="rId55"/>
    <p:sldId id="2788" r:id="rId56"/>
    <p:sldId id="2789" r:id="rId57"/>
    <p:sldId id="2790" r:id="rId58"/>
    <p:sldId id="532" r:id="rId59"/>
    <p:sldId id="2792" r:id="rId60"/>
    <p:sldId id="2793" r:id="rId61"/>
    <p:sldId id="2794" r:id="rId62"/>
    <p:sldId id="2795" r:id="rId63"/>
    <p:sldId id="2796" r:id="rId64"/>
    <p:sldId id="2797" r:id="rId65"/>
    <p:sldId id="2798" r:id="rId66"/>
    <p:sldId id="2799" r:id="rId67"/>
    <p:sldId id="2800" r:id="rId68"/>
    <p:sldId id="2801" r:id="rId69"/>
    <p:sldId id="2802" r:id="rId70"/>
    <p:sldId id="2803" r:id="rId71"/>
    <p:sldId id="2804" r:id="rId72"/>
    <p:sldId id="2805" r:id="rId73"/>
    <p:sldId id="2806" r:id="rId74"/>
    <p:sldId id="2807" r:id="rId75"/>
    <p:sldId id="2808" r:id="rId76"/>
    <p:sldId id="2809" r:id="rId77"/>
    <p:sldId id="2810" r:id="rId78"/>
  </p:sldIdLst>
  <p:sldSz cx="9144000" cy="5143500" type="screen16x9"/>
  <p:notesSz cx="5143500" cy="9144000"/>
  <p:embeddedFontLst>
    <p:embeddedFont>
      <p:font typeface="Microsoft YaHei" panose="020B0503020204020204" pitchFamily="34" charset="-122"/>
      <p:regular r:id="rId81"/>
      <p:bold r:id="rId82"/>
    </p:embeddedFont>
    <p:embeddedFont>
      <p:font typeface="等线" panose="02010600030101010101" pitchFamily="2" charset="-122"/>
      <p:regular r:id="rId83"/>
      <p:bold r:id="rId84"/>
    </p:embeddedFont>
    <p:embeddedFont>
      <p:font typeface="楷体" panose="02010609060101010101" pitchFamily="49" charset="-122"/>
      <p:regular r:id="rId85"/>
    </p:embeddedFont>
    <p:embeddedFont>
      <p:font typeface="宋体" panose="02010600030101010101" pitchFamily="2" charset="-122"/>
      <p:regular r:id="rId86"/>
    </p:embeddedFont>
    <p:embeddedFont>
      <p:font typeface="Cambria Math" panose="02040503050406030204" pitchFamily="18" charset="0"/>
      <p:regular r:id="rId87"/>
    </p:embeddedFont>
    <p:embeddedFont>
      <p:font typeface="Tahoma" panose="020B0604030504040204" pitchFamily="34" charset="0"/>
      <p:regular r:id="rId88"/>
      <p:bold r:id="rId8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67886"/>
    <a:srgbClr val="F0E9CF"/>
    <a:srgbClr val="D1D9D2"/>
    <a:srgbClr val="CBC11E"/>
    <a:srgbClr val="DCE1CC"/>
    <a:srgbClr val="F8D9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248"/>
    <p:restoredTop sz="94610"/>
  </p:normalViewPr>
  <p:slideViewPr>
    <p:cSldViewPr snapToGrid="0" snapToObjects="1">
      <p:cViewPr varScale="1">
        <p:scale>
          <a:sx n="165" d="100"/>
          <a:sy n="165" d="100"/>
        </p:scale>
        <p:origin x="336" y="192"/>
      </p:cViewPr>
      <p:guideLst/>
    </p:cSldViewPr>
  </p:slideViewPr>
  <p:notesTextViewPr>
    <p:cViewPr>
      <p:scale>
        <a:sx n="1" d="1"/>
        <a:sy n="1" d="1"/>
      </p:scale>
      <p:origin x="0" y="0"/>
    </p:cViewPr>
  </p:notesTextViewPr>
  <p:notesViewPr>
    <p:cSldViewPr snapToGrid="0" snapToObjects="1">
      <p:cViewPr varScale="1">
        <p:scale>
          <a:sx n="97" d="100"/>
          <a:sy n="97" d="100"/>
        </p:scale>
        <p:origin x="4848" y="20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font" Target="fonts/font4.fntdata"/><Relationship Id="rId89" Type="http://schemas.openxmlformats.org/officeDocument/2006/relationships/font" Target="fonts/font9.fnt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notesMaster" Target="notesMasters/notesMaster1.xml"/><Relationship Id="rId5" Type="http://schemas.openxmlformats.org/officeDocument/2006/relationships/slide" Target="slides/slide3.xml"/><Relationship Id="rId90" Type="http://schemas.openxmlformats.org/officeDocument/2006/relationships/presProps" Target="pres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handoutMaster" Target="handoutMasters/handoutMaster1.xml"/><Relationship Id="rId85" Type="http://schemas.openxmlformats.org/officeDocument/2006/relationships/font" Target="fonts/font5.fntdata"/><Relationship Id="rId93"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font" Target="fonts/font3.fntdata"/><Relationship Id="rId88" Type="http://schemas.openxmlformats.org/officeDocument/2006/relationships/font" Target="fonts/font8.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font" Target="fonts/font1.fntdata"/><Relationship Id="rId86" Type="http://schemas.openxmlformats.org/officeDocument/2006/relationships/font" Target="fonts/font6.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font" Target="fonts/font7.fntdata"/><Relationship Id="rId61" Type="http://schemas.openxmlformats.org/officeDocument/2006/relationships/slide" Target="slides/slide59.xml"/><Relationship Id="rId82" Type="http://schemas.openxmlformats.org/officeDocument/2006/relationships/font" Target="fonts/font2.fntdata"/><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A54FDA4-1F5A-8E9B-F685-24508D12D3F2}"/>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94388EB6-7A6A-6C45-C8ED-51C2F3086E3F}"/>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864365D0-91AF-7C42-AA19-7374AA81A0FF}" type="datetimeFigureOut">
              <a:rPr kumimoji="1" lang="zh-CN" altLang="en-US" smtClean="0"/>
              <a:t>2026/2/22</a:t>
            </a:fld>
            <a:endParaRPr kumimoji="1" lang="zh-CN" altLang="en-US"/>
          </a:p>
        </p:txBody>
      </p:sp>
      <p:sp>
        <p:nvSpPr>
          <p:cNvPr id="4" name="页脚占位符 3">
            <a:extLst>
              <a:ext uri="{FF2B5EF4-FFF2-40B4-BE49-F238E27FC236}">
                <a16:creationId xmlns:a16="http://schemas.microsoft.com/office/drawing/2014/main" id="{DF51B93B-EB01-5753-6A27-D70A8D221524}"/>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FFD3C135-B8B3-7B34-CB44-D7AD55C9D4A2}"/>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86E0F489-628A-E24B-97F8-426382C01659}" type="slidenum">
              <a:rPr kumimoji="1" lang="zh-CN" altLang="en-US" smtClean="0"/>
              <a:t>‹#›</a:t>
            </a:fld>
            <a:endParaRPr kumimoji="1" lang="zh-CN" altLang="en-US"/>
          </a:p>
        </p:txBody>
      </p:sp>
    </p:spTree>
    <p:extLst>
      <p:ext uri="{BB962C8B-B14F-4D97-AF65-F5344CB8AC3E}">
        <p14:creationId xmlns:p14="http://schemas.microsoft.com/office/powerpoint/2010/main" val="22163815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92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6BFEB-7536-E7CD-8AFB-36D307424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CB7FC-CD25-BA42-F707-5D78D2757C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17B8CD-799F-0C58-085A-1B9784776B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C30EB3-0045-8652-2AB3-5017997CF68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007499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911DE-6186-BC75-2CD9-B114A6B639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2F406-038B-7210-ABE3-4913E85C13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64DC6-A124-8940-CD49-75A11A5673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FBF224-4C24-F808-0AA9-A1EF9B37BAA3}"/>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646747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灯片编号占位符 1"/>
          <p:cNvSpPr txBox="1">
            <a:spLocks noGrp="1"/>
          </p:cNvSpPr>
          <p:nvPr>
            <p:ph type="sldNum" sz="quarter"/>
          </p:nvPr>
        </p:nvSpPr>
        <p:spPr>
          <a:xfrm>
            <a:off x="3886200" y="8686800"/>
            <a:ext cx="2971800" cy="457200"/>
          </a:xfrm>
          <a:prstGeom prst="rect">
            <a:avLst/>
          </a:prstGeom>
          <a:noFill/>
          <a:ln w="9525">
            <a:noFill/>
          </a:ln>
        </p:spPr>
        <p:txBody>
          <a:bodyPr vert="horz" wrap="none" lIns="91440" tIns="45720" rIns="91440" bIns="45720" anchor="b" anchorCtr="0"/>
          <a:lstStyle/>
          <a:p>
            <a:pPr lvl="0" algn="r"/>
            <a:fld id="{9A0DB2DC-4C9A-4742-B13C-FB6460FD3503}" type="slidenum">
              <a:rPr lang="zh-CN" altLang="en-US" sz="1200" dirty="0">
                <a:latin typeface="Tahoma" panose="020B0604030504040204" pitchFamily="34" charset="0"/>
                <a:ea typeface="宋体" panose="02010600030101010101" pitchFamily="2" charset="-122"/>
              </a:rPr>
              <a:t>4</a:t>
            </a:fld>
            <a:endParaRPr lang="zh-CN" altLang="en-US" sz="1200" dirty="0">
              <a:latin typeface="Tahoma" panose="020B0604030504040204" pitchFamily="34" charset="0"/>
              <a:ea typeface="宋体" panose="02010600030101010101" pitchFamily="2" charset="-122"/>
            </a:endParaRPr>
          </a:p>
        </p:txBody>
      </p:sp>
      <p:sp>
        <p:nvSpPr>
          <p:cNvPr id="17410" name="幻灯片图像占位符 1098753"/>
          <p:cNvSpPr>
            <a:spLocks noGrp="1" noRot="1" noChangeAspect="1" noTextEdit="1"/>
          </p:cNvSpPr>
          <p:nvPr>
            <p:ph type="sldImg"/>
          </p:nvPr>
        </p:nvSpPr>
        <p:spPr/>
      </p:sp>
      <p:sp>
        <p:nvSpPr>
          <p:cNvPr id="17411" name="文本占位符 1098754"/>
          <p:cNvSpPr>
            <a:spLocks noGrp="1"/>
          </p:cNvSpPr>
          <p:nvPr>
            <p:ph type="body"/>
          </p:nvPr>
        </p:nvSpPr>
        <p:spPr/>
        <p:txBody>
          <a:bodyPr wrap="none" lIns="91440" tIns="45720" rIns="91440" bIns="45720" anchor="ctr" anchorCtr="0"/>
          <a:lstStyle/>
          <a:p>
            <a:pPr lvl="0"/>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p:cNvSpPr>
            <a:spLocks noGrp="1" noRot="1" noChangeAspect="1" noTextEdit="1"/>
          </p:cNvSpPr>
          <p:nvPr>
            <p:ph type="sldImg"/>
          </p:nvPr>
        </p:nvSpPr>
        <p:spPr/>
      </p:sp>
      <p:sp>
        <p:nvSpPr>
          <p:cNvPr id="19458" name="文本占位符 2"/>
          <p:cNvSpPr>
            <a:spLocks noGrp="1"/>
          </p:cNvSpPr>
          <p:nvPr>
            <p:ph type="body"/>
          </p:nvPr>
        </p:nvSpPr>
        <p:spPr/>
        <p:txBody>
          <a:bodyPr wrap="none" lIns="91440" tIns="45720" rIns="91440" bIns="45720" anchor="ctr" anchorCtr="0"/>
          <a:lstStyle/>
          <a:p>
            <a:pPr lvl="0"/>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66083-0EF0-48AB-C67C-FD55AF9FEE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EF72BB-E218-F384-6081-924DE4764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DA41E3-5E4D-BB50-6B0D-E5B6603DF9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5E7D9D-69E1-EA4B-75DD-FB1C60ABE655}"/>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401058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65BB7-4ECB-B74C-C5BE-FC234CB7E0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63F801-8CC1-232D-3995-718EFDECF8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559871-C2D8-BD49-E653-BD59CB574C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388C51-7E60-BF95-73E9-029E7920C219}"/>
              </a:ext>
            </a:extLst>
          </p:cNvPr>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6080158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4"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4"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4"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4"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4"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4"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4"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4"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4"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4"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4"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4"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4"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4"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4"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4"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4"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 Id="rId4"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4"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 Id="rId4"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4"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 Id="rId4"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 Id="rId4"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 Id="rId4"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 Id="rId4"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4"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 Id="rId4"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 Id="rId4"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 Id="rId4"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 Id="rId4"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 Id="rId4"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 Id="rId4"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 Id="rId4"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tags" Target="../tags/tag124.xml"/><Relationship Id="rId4"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tags" Target="../tags/tag129.xml"/><Relationship Id="rId2" Type="http://schemas.openxmlformats.org/officeDocument/2006/relationships/tags" Target="../tags/tag128.xml"/><Relationship Id="rId1" Type="http://schemas.openxmlformats.org/officeDocument/2006/relationships/tags" Target="../tags/tag127.xml"/><Relationship Id="rId4"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 Id="rId4"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 Id="rId4"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tags" Target="../tags/tag136.xml"/><Relationship Id="rId4"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tags" Target="../tags/tag141.xml"/><Relationship Id="rId2" Type="http://schemas.openxmlformats.org/officeDocument/2006/relationships/tags" Target="../tags/tag140.xml"/><Relationship Id="rId1" Type="http://schemas.openxmlformats.org/officeDocument/2006/relationships/tags" Target="../tags/tag139.xml"/><Relationship Id="rId4"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 Id="rId4"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 Id="rId4"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 Id="rId4"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tags" Target="../tags/tag153.xml"/><Relationship Id="rId2" Type="http://schemas.openxmlformats.org/officeDocument/2006/relationships/tags" Target="../tags/tag152.xml"/><Relationship Id="rId1" Type="http://schemas.openxmlformats.org/officeDocument/2006/relationships/tags" Target="../tags/tag151.xml"/><Relationship Id="rId4"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tags" Target="../tags/tag154.xml"/><Relationship Id="rId4"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tags" Target="../tags/tag157.xml"/><Relationship Id="rId4"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tags" Target="../tags/tag160.xml"/><Relationship Id="rId4"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 Id="rId4"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tags" Target="../tags/tag166.xml"/><Relationship Id="rId4"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 Id="rId4"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tags" Target="../tags/tag172.xml"/><Relationship Id="rId4"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tags" Target="../tags/tag175.xml"/><Relationship Id="rId4"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tags" Target="../tags/tag180.xml"/><Relationship Id="rId2" Type="http://schemas.openxmlformats.org/officeDocument/2006/relationships/tags" Target="../tags/tag179.xml"/><Relationship Id="rId1" Type="http://schemas.openxmlformats.org/officeDocument/2006/relationships/tags" Target="../tags/tag178.xml"/><Relationship Id="rId4"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tags" Target="../tags/tag183.xml"/><Relationship Id="rId2" Type="http://schemas.openxmlformats.org/officeDocument/2006/relationships/tags" Target="../tags/tag182.xml"/><Relationship Id="rId1" Type="http://schemas.openxmlformats.org/officeDocument/2006/relationships/tags" Target="../tags/tag181.xml"/><Relationship Id="rId4"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DB7416-F2C8-CB05-21A9-12D30740D43B}"/>
              </a:ext>
            </a:extLst>
          </p:cNvPr>
          <p:cNvSpPr>
            <a:spLocks noGrp="1"/>
          </p:cNvSpPr>
          <p:nvPr>
            <p:ph type="title"/>
          </p:nvPr>
        </p:nvSpPr>
        <p:spPr>
          <a:xfrm>
            <a:off x="628650" y="2408238"/>
            <a:ext cx="7886700" cy="993775"/>
          </a:xfrm>
          <a:prstGeom prst="rect">
            <a:avLst/>
          </a:prstGeom>
        </p:spPr>
        <p:txBody>
          <a:bodyPr/>
          <a:lstStyle/>
          <a:p>
            <a:r>
              <a:rPr kumimoji="1" lang="zh-CN" altLang="en-US"/>
              <a:t>单击此处编辑母版标题样式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0"/>
            <a:ext cx="6240462" cy="62865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0" y="800100"/>
            <a:ext cx="4495800" cy="43434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800100"/>
            <a:ext cx="4495800" cy="43434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p:cNvSpPr>
            <a:spLocks noGrp="1" noChangeArrowheads="1"/>
          </p:cNvSpPr>
          <p:nvPr>
            <p:ph type="sldNum" sz="quarter" idx="10"/>
          </p:nvPr>
        </p:nvSpPr>
        <p:spPr/>
        <p:txBody>
          <a:bodyPr/>
          <a:lstStyle>
            <a:lvl1pPr>
              <a:defRPr/>
            </a:lvl1pPr>
          </a:lstStyle>
          <a:p>
            <a:pPr>
              <a:defRPr/>
            </a:pPr>
            <a:fld id="{A48DB317-737D-4E41-A6A0-70A94F917B0E}" type="slidenum">
              <a:rPr lang="zh-CN" altLang="en-US"/>
              <a:t>‹#›</a:t>
            </a:fld>
            <a:endParaRPr lang="zh-CN" altLang="en-US"/>
          </a:p>
        </p:txBody>
      </p:sp>
    </p:spTree>
    <p:extLst>
      <p:ext uri="{BB962C8B-B14F-4D97-AF65-F5344CB8AC3E}">
        <p14:creationId xmlns:p14="http://schemas.microsoft.com/office/powerpoint/2010/main" val="258925189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p:cNvSpPr>
            <a:spLocks noGrp="1" noChangeArrowheads="1"/>
          </p:cNvSpPr>
          <p:nvPr>
            <p:ph type="sldNum" sz="quarter" idx="10"/>
          </p:nvPr>
        </p:nvSpPr>
        <p:spPr/>
        <p:txBody>
          <a:bodyPr/>
          <a:lstStyle>
            <a:lvl1pPr>
              <a:defRPr/>
            </a:lvl1pPr>
          </a:lstStyle>
          <a:p>
            <a:pPr>
              <a:defRPr/>
            </a:pPr>
            <a:fld id="{55503B5A-5684-9C48-B06E-1F29FFC2BF0F}" type="slidenum">
              <a:rPr lang="zh-CN" altLang="en-US"/>
              <a:t>‹#›</a:t>
            </a:fld>
            <a:endParaRPr lang="zh-CN" altLang="en-US"/>
          </a:p>
        </p:txBody>
      </p:sp>
    </p:spTree>
    <p:extLst>
      <p:ext uri="{BB962C8B-B14F-4D97-AF65-F5344CB8AC3E}">
        <p14:creationId xmlns:p14="http://schemas.microsoft.com/office/powerpoint/2010/main" val="333359415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0" y="800100"/>
            <a:ext cx="4495800" cy="43434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800100"/>
            <a:ext cx="4495800" cy="43434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p:cNvSpPr>
            <a:spLocks noGrp="1" noChangeArrowheads="1"/>
          </p:cNvSpPr>
          <p:nvPr>
            <p:ph type="sldNum" sz="quarter" idx="10"/>
          </p:nvPr>
        </p:nvSpPr>
        <p:spPr/>
        <p:txBody>
          <a:bodyPr/>
          <a:lstStyle>
            <a:lvl1pPr>
              <a:defRPr/>
            </a:lvl1pPr>
          </a:lstStyle>
          <a:p>
            <a:pPr>
              <a:defRPr/>
            </a:pPr>
            <a:fld id="{2D121F39-B3A4-B24B-B9AD-B8BC9597B1E5}" type="slidenum">
              <a:rPr lang="zh-CN" altLang="en-US"/>
              <a:t>‹#›</a:t>
            </a:fld>
            <a:endParaRPr lang="zh-CN" altLang="en-US"/>
          </a:p>
        </p:txBody>
      </p:sp>
    </p:spTree>
    <p:extLst>
      <p:ext uri="{BB962C8B-B14F-4D97-AF65-F5344CB8AC3E}">
        <p14:creationId xmlns:p14="http://schemas.microsoft.com/office/powerpoint/2010/main" val="296377819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11"/>
          <p:cNvSpPr>
            <a:spLocks noGrp="1" noChangeArrowheads="1"/>
          </p:cNvSpPr>
          <p:nvPr>
            <p:ph type="sldNum" sz="quarter" idx="10"/>
          </p:nvPr>
        </p:nvSpPr>
        <p:spPr/>
        <p:txBody>
          <a:bodyPr/>
          <a:lstStyle>
            <a:lvl1pPr>
              <a:defRPr/>
            </a:lvl1pPr>
          </a:lstStyle>
          <a:p>
            <a:pPr>
              <a:defRPr/>
            </a:pPr>
            <a:fld id="{15647735-1087-C94D-86AB-B0C7949F94E4}" type="slidenum">
              <a:rPr lang="zh-CN" altLang="en-US"/>
              <a:t>‹#›</a:t>
            </a:fld>
            <a:endParaRPr lang="zh-CN" altLang="en-US"/>
          </a:p>
        </p:txBody>
      </p:sp>
    </p:spTree>
    <p:extLst>
      <p:ext uri="{BB962C8B-B14F-4D97-AF65-F5344CB8AC3E}">
        <p14:creationId xmlns:p14="http://schemas.microsoft.com/office/powerpoint/2010/main" val="61974402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C6786A0-5BD1-A934-990A-693BF6F4AA58}"/>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3" name="页脚占位符 2">
            <a:extLst>
              <a:ext uri="{FF2B5EF4-FFF2-40B4-BE49-F238E27FC236}">
                <a16:creationId xmlns:a16="http://schemas.microsoft.com/office/drawing/2014/main" id="{4FC308B4-5DC2-C1FD-00A9-ABDE4167C5C1}"/>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0C3CA0C5-1531-25DA-DCFA-AB2596B45E5C}"/>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1729895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400AFC62-34B5-A13D-FB5F-E40661A5EDED}"/>
              </a:ext>
            </a:extLst>
          </p:cNvPr>
          <p:cNvSpPr>
            <a:spLocks noGrp="1"/>
          </p:cNvSpPr>
          <p:nvPr>
            <p:ph type="subTitle" idx="1"/>
          </p:nvPr>
        </p:nvSpPr>
        <p:spPr>
          <a:xfrm>
            <a:off x="1006545" y="2791572"/>
            <a:ext cx="7458075" cy="642035"/>
          </a:xfrm>
          <a:noFill/>
          <a:ln/>
        </p:spPr>
        <p:txBody>
          <a:bodyPr wrap="square" lIns="0" tIns="0" rIns="0" bIns="0" rtlCol="0" anchor="t">
            <a:spAutoFit/>
          </a:bodyPr>
          <a:lstStyle>
            <a:lvl1pPr>
              <a:def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defRPr>
            </a:lvl1pPr>
          </a:lstStyle>
          <a:p>
            <a:pPr marL="0" lvl="0" indent="0">
              <a:lnSpc>
                <a:spcPct val="96000"/>
              </a:lnSpc>
              <a:buNone/>
            </a:pPr>
            <a:r>
              <a:rPr kumimoji="1" lang="zh-CN" altLang="en-US" dirty="0"/>
              <a:t>单击此处编辑母版副标题样式</a:t>
            </a:r>
          </a:p>
        </p:txBody>
      </p:sp>
      <p:sp>
        <p:nvSpPr>
          <p:cNvPr id="2" name="标题 1">
            <a:extLst>
              <a:ext uri="{FF2B5EF4-FFF2-40B4-BE49-F238E27FC236}">
                <a16:creationId xmlns:a16="http://schemas.microsoft.com/office/drawing/2014/main" id="{61A7C707-2645-9AE5-5C99-51D2133D7511}"/>
              </a:ext>
            </a:extLst>
          </p:cNvPr>
          <p:cNvSpPr>
            <a:spLocks noGrp="1"/>
          </p:cNvSpPr>
          <p:nvPr>
            <p:ph type="ctrTitle" hasCustomPrompt="1"/>
          </p:nvPr>
        </p:nvSpPr>
        <p:spPr>
          <a:xfrm>
            <a:off x="2720924" y="1307645"/>
            <a:ext cx="1018451" cy="806400"/>
          </a:xfrm>
        </p:spPr>
        <p:txBody>
          <a:bodyPr anchor="ctr">
            <a:normAutofit/>
          </a:bodyPr>
          <a:lstStyle>
            <a:lvl1pPr marL="0" indent="0" algn="ctr" defTabSz="914400" rtl="0" eaLnBrk="1" latinLnBrk="0" hangingPunct="1">
              <a:buNone/>
              <a:defRPr lang="zh-CN" altLang="en-US" sz="5250" b="1" kern="1200" dirty="0">
                <a:solidFill>
                  <a:srgbClr val="FD5220"/>
                </a:solidFill>
                <a:latin typeface="Microsoft YaHei" panose="020B0503020204020204" pitchFamily="34" charset="-122"/>
                <a:ea typeface="Microsoft YaHei" panose="020B0503020204020204" pitchFamily="34" charset="-122"/>
                <a:cs typeface="SourceHanSansSC-Regular"/>
              </a:defRPr>
            </a:lvl1pPr>
          </a:lstStyle>
          <a:p>
            <a:r>
              <a:rPr kumimoji="1" lang="en-US" altLang="zh-CN" dirty="0"/>
              <a:t>01</a:t>
            </a:r>
            <a:endParaRPr kumimoji="1" lang="zh-CN" altLang="en-US" dirty="0"/>
          </a:p>
        </p:txBody>
      </p:sp>
      <p:sp>
        <p:nvSpPr>
          <p:cNvPr id="4" name="日期占位符 3">
            <a:extLst>
              <a:ext uri="{FF2B5EF4-FFF2-40B4-BE49-F238E27FC236}">
                <a16:creationId xmlns:a16="http://schemas.microsoft.com/office/drawing/2014/main" id="{635BC3DC-3551-4C56-4B66-4B2C0267A054}"/>
              </a:ext>
            </a:extLst>
          </p:cNvPr>
          <p:cNvSpPr>
            <a:spLocks noGrp="1"/>
          </p:cNvSpPr>
          <p:nvPr>
            <p:ph type="dt" sz="half" idx="10"/>
          </p:nvPr>
        </p:nvSpPr>
        <p:spPr/>
        <p:txBody>
          <a:bodyPr/>
          <a:lstStyle/>
          <a:p>
            <a:fld id="{9FD0B6C7-774E-CC40-B792-A0FBA87DFD06}" type="datetimeFigureOut">
              <a:rPr kumimoji="1" lang="zh-CN" altLang="en-US" smtClean="0"/>
              <a:t>2026/2/22</a:t>
            </a:fld>
            <a:endParaRPr kumimoji="1" lang="zh-CN" altLang="en-US"/>
          </a:p>
        </p:txBody>
      </p:sp>
      <p:sp>
        <p:nvSpPr>
          <p:cNvPr id="5" name="页脚占位符 4">
            <a:extLst>
              <a:ext uri="{FF2B5EF4-FFF2-40B4-BE49-F238E27FC236}">
                <a16:creationId xmlns:a16="http://schemas.microsoft.com/office/drawing/2014/main" id="{A209566B-4207-9F1C-6F9C-E40AACADC87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0223F73-AA4F-F3F5-5EE0-239EF208D768}"/>
              </a:ext>
            </a:extLst>
          </p:cNvPr>
          <p:cNvSpPr>
            <a:spLocks noGrp="1"/>
          </p:cNvSpPr>
          <p:nvPr>
            <p:ph type="sldNum" sz="quarter" idx="12"/>
          </p:nvPr>
        </p:nvSpPr>
        <p:spPr/>
        <p:txBody>
          <a:bodyPr/>
          <a:lstStyle/>
          <a:p>
            <a:fld id="{97DFE2EB-CEEE-154A-8E5F-E6E0C8C57AC1}" type="slidenum">
              <a:rPr kumimoji="1" lang="zh-CN" altLang="en-US" smtClean="0"/>
              <a:t>‹#›</a:t>
            </a:fld>
            <a:endParaRPr kumimoji="1" lang="zh-CN" altLang="en-US"/>
          </a:p>
        </p:txBody>
      </p:sp>
      <p:sp>
        <p:nvSpPr>
          <p:cNvPr id="8" name="Shape 1">
            <a:extLst>
              <a:ext uri="{FF2B5EF4-FFF2-40B4-BE49-F238E27FC236}">
                <a16:creationId xmlns:a16="http://schemas.microsoft.com/office/drawing/2014/main" id="{4D58F47A-1125-D0D2-2F3C-498192C9F60A}"/>
              </a:ext>
            </a:extLst>
          </p:cNvPr>
          <p:cNvSpPr/>
          <p:nvPr userDrawn="1"/>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Text 2">
            <a:extLst>
              <a:ext uri="{FF2B5EF4-FFF2-40B4-BE49-F238E27FC236}">
                <a16:creationId xmlns:a16="http://schemas.microsoft.com/office/drawing/2014/main" id="{9488300C-8889-426E-268C-5B43ADCA19A0}"/>
              </a:ext>
            </a:extLst>
          </p:cNvPr>
          <p:cNvSpPr txBox="1"/>
          <p:nvPr userDrawn="1"/>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04633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0EECE7-2D90-0988-7FA7-3E6BAB793BFF}"/>
              </a:ext>
            </a:extLst>
          </p:cNvPr>
          <p:cNvSpPr>
            <a:spLocks noGrp="1"/>
          </p:cNvSpPr>
          <p:nvPr>
            <p:ph type="title"/>
          </p:nvPr>
        </p:nvSpPr>
        <p:spPr/>
        <p:txBody>
          <a:bodyPr/>
          <a:lstStyle>
            <a:lvl1pPr>
              <a:defRPr>
                <a:latin typeface="Microsoft YaHei" panose="020B0503020204020204" pitchFamily="34" charset="-122"/>
                <a:ea typeface="Microsoft YaHei" panose="020B0503020204020204" pitchFamily="34" charset="-122"/>
              </a:defRPr>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5B5BB336-767A-B00A-E2B3-F3F3F54D11BF}"/>
              </a:ext>
            </a:extLst>
          </p:cNvPr>
          <p:cNvSpPr>
            <a:spLocks noGrp="1"/>
          </p:cNvSpPr>
          <p:nvPr>
            <p:ph idx="1"/>
          </p:nvPr>
        </p:nvSpPr>
        <p:spPr/>
        <p:txBody>
          <a:bodyPr/>
          <a:lstStyle>
            <a:lvl1pPr>
              <a:defRPr>
                <a:latin typeface="Microsoft YaHei" panose="020B0503020204020204" pitchFamily="34" charset="-122"/>
                <a:ea typeface="Microsoft YaHei" panose="020B0503020204020204" pitchFamily="34" charset="-122"/>
              </a:defRPr>
            </a:lvl1pPr>
            <a:lvl2pPr>
              <a:defRPr>
                <a:latin typeface="Microsoft YaHei" panose="020B0503020204020204" pitchFamily="34" charset="-122"/>
                <a:ea typeface="Microsoft YaHei" panose="020B0503020204020204" pitchFamily="34" charset="-122"/>
              </a:defRPr>
            </a:lvl2pPr>
            <a:lvl3pPr>
              <a:defRPr>
                <a:latin typeface="Microsoft YaHei" panose="020B0503020204020204" pitchFamily="34" charset="-122"/>
                <a:ea typeface="Microsoft YaHei" panose="020B0503020204020204" pitchFamily="34" charset="-122"/>
              </a:defRPr>
            </a:lvl3pPr>
            <a:lvl4pPr>
              <a:defRPr>
                <a:latin typeface="Microsoft YaHei" panose="020B0503020204020204" pitchFamily="34" charset="-122"/>
                <a:ea typeface="Microsoft YaHei" panose="020B0503020204020204" pitchFamily="34" charset="-122"/>
              </a:defRPr>
            </a:lvl4pPr>
            <a:lvl5pPr>
              <a:defRPr>
                <a:latin typeface="Microsoft YaHei" panose="020B0503020204020204" pitchFamily="34" charset="-122"/>
                <a:ea typeface="Microsoft YaHei" panose="020B0503020204020204" pitchFamily="34" charset="-122"/>
              </a:defRPr>
            </a:lvl5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2FD4666-F48B-5CC8-7977-00AEA31A9CA5}"/>
              </a:ext>
            </a:extLst>
          </p:cNvPr>
          <p:cNvSpPr>
            <a:spLocks noGrp="1"/>
          </p:cNvSpPr>
          <p:nvPr>
            <p:ph type="dt" sz="half" idx="10"/>
          </p:nvPr>
        </p:nvSpPr>
        <p:spPr/>
        <p:txBody>
          <a:bodyPr/>
          <a:lstStyle>
            <a:lvl1pPr>
              <a:defRPr>
                <a:latin typeface="Microsoft YaHei" panose="020B0503020204020204" pitchFamily="34" charset="-122"/>
                <a:ea typeface="Microsoft YaHei" panose="020B0503020204020204" pitchFamily="34" charset="-122"/>
              </a:defRPr>
            </a:lvl1pPr>
          </a:lstStyle>
          <a:p>
            <a:fld id="{32C5F372-D9EE-804B-82F0-7EE97B9B327A}" type="datetimeFigureOut">
              <a:rPr kumimoji="1" lang="zh-CN" altLang="en-US" smtClean="0"/>
              <a:pPr/>
              <a:t>2026/2/22</a:t>
            </a:fld>
            <a:endParaRPr kumimoji="1" lang="zh-CN" altLang="en-US"/>
          </a:p>
        </p:txBody>
      </p:sp>
      <p:sp>
        <p:nvSpPr>
          <p:cNvPr id="5" name="页脚占位符 4">
            <a:extLst>
              <a:ext uri="{FF2B5EF4-FFF2-40B4-BE49-F238E27FC236}">
                <a16:creationId xmlns:a16="http://schemas.microsoft.com/office/drawing/2014/main" id="{2D0BBD08-8FD4-51A4-0EE0-346DD7DBC93F}"/>
              </a:ext>
            </a:extLst>
          </p:cNvPr>
          <p:cNvSpPr>
            <a:spLocks noGrp="1"/>
          </p:cNvSpPr>
          <p:nvPr>
            <p:ph type="ftr" sz="quarter" idx="11"/>
          </p:nvPr>
        </p:nvSpPr>
        <p:spPr/>
        <p:txBody>
          <a:bodyPr/>
          <a:lstStyle>
            <a:lvl1pPr>
              <a:defRPr>
                <a:latin typeface="Microsoft YaHei" panose="020B0503020204020204" pitchFamily="34" charset="-122"/>
                <a:ea typeface="Microsoft YaHei" panose="020B0503020204020204" pitchFamily="34" charset="-122"/>
              </a:defRPr>
            </a:lvl1pPr>
          </a:lstStyle>
          <a:p>
            <a:endParaRPr kumimoji="1" lang="zh-CN" altLang="en-US"/>
          </a:p>
        </p:txBody>
      </p:sp>
      <p:sp>
        <p:nvSpPr>
          <p:cNvPr id="6" name="灯片编号占位符 5">
            <a:extLst>
              <a:ext uri="{FF2B5EF4-FFF2-40B4-BE49-F238E27FC236}">
                <a16:creationId xmlns:a16="http://schemas.microsoft.com/office/drawing/2014/main" id="{8DA1EE57-F824-9786-BAA2-7DE2E94979AD}"/>
              </a:ext>
            </a:extLst>
          </p:cNvPr>
          <p:cNvSpPr>
            <a:spLocks noGrp="1"/>
          </p:cNvSpPr>
          <p:nvPr>
            <p:ph type="sldNum" sz="quarter" idx="12"/>
          </p:nvPr>
        </p:nvSpPr>
        <p:spPr/>
        <p:txBody>
          <a:bodyPr/>
          <a:lstStyle>
            <a:lvl1pPr>
              <a:defRPr>
                <a:latin typeface="Microsoft YaHei" panose="020B0503020204020204" pitchFamily="34" charset="-122"/>
                <a:ea typeface="Microsoft YaHei" panose="020B0503020204020204" pitchFamily="34" charset="-122"/>
              </a:defRPr>
            </a:lvl1pPr>
          </a:lstStyle>
          <a:p>
            <a:fld id="{5E4D6AEF-96BF-6F44-8EB2-095946A83C6B}" type="slidenum">
              <a:rPr kumimoji="1" lang="zh-CN" altLang="en-US" smtClean="0"/>
              <a:pPr/>
              <a:t>‹#›</a:t>
            </a:fld>
            <a:endParaRPr kumimoji="1" lang="zh-CN" altLang="en-US"/>
          </a:p>
        </p:txBody>
      </p:sp>
    </p:spTree>
    <p:extLst>
      <p:ext uri="{BB962C8B-B14F-4D97-AF65-F5344CB8AC3E}">
        <p14:creationId xmlns:p14="http://schemas.microsoft.com/office/powerpoint/2010/main" val="240866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CED544-7AF4-1F37-C85C-922D9099C6A2}"/>
              </a:ext>
            </a:extLst>
          </p:cNvPr>
          <p:cNvSpPr>
            <a:spLocks noGrp="1"/>
          </p:cNvSpPr>
          <p:nvPr>
            <p:ph type="title"/>
          </p:nvPr>
        </p:nvSpPr>
        <p:spPr>
          <a:xfrm>
            <a:off x="623888" y="1282700"/>
            <a:ext cx="7886700" cy="2139950"/>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06E4AAC7-EDD8-913C-F7CA-7D7B84E58B6B}"/>
              </a:ext>
            </a:extLst>
          </p:cNvPr>
          <p:cNvSpPr>
            <a:spLocks noGrp="1"/>
          </p:cNvSpPr>
          <p:nvPr>
            <p:ph type="body" idx="1"/>
          </p:nvPr>
        </p:nvSpPr>
        <p:spPr>
          <a:xfrm>
            <a:off x="623888" y="3441700"/>
            <a:ext cx="7886700" cy="112553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98F17C8C-B6BD-5159-33BF-F742273574AE}"/>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5" name="页脚占位符 4">
            <a:extLst>
              <a:ext uri="{FF2B5EF4-FFF2-40B4-BE49-F238E27FC236}">
                <a16:creationId xmlns:a16="http://schemas.microsoft.com/office/drawing/2014/main" id="{56717544-B996-63C5-02C2-01AF46E665A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B071376-4490-75B6-A232-E89FE6AE732D}"/>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246564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CE737B-37AB-E91D-09BB-3BC336B2BC1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715B75D6-3FFB-D406-B36C-D5DEA28B9104}"/>
              </a:ext>
            </a:extLst>
          </p:cNvPr>
          <p:cNvSpPr>
            <a:spLocks noGrp="1"/>
          </p:cNvSpPr>
          <p:nvPr>
            <p:ph sz="half" idx="1"/>
          </p:nvPr>
        </p:nvSpPr>
        <p:spPr>
          <a:xfrm>
            <a:off x="628650" y="1370013"/>
            <a:ext cx="3867150" cy="3262312"/>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6F7FA96B-3CF5-ABF5-4D84-0B8706D0C357}"/>
              </a:ext>
            </a:extLst>
          </p:cNvPr>
          <p:cNvSpPr>
            <a:spLocks noGrp="1"/>
          </p:cNvSpPr>
          <p:nvPr>
            <p:ph sz="half" idx="2"/>
          </p:nvPr>
        </p:nvSpPr>
        <p:spPr>
          <a:xfrm>
            <a:off x="4648200" y="1370013"/>
            <a:ext cx="3867150" cy="3262312"/>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326D427A-B596-C059-1743-ED0788452117}"/>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6" name="页脚占位符 5">
            <a:extLst>
              <a:ext uri="{FF2B5EF4-FFF2-40B4-BE49-F238E27FC236}">
                <a16:creationId xmlns:a16="http://schemas.microsoft.com/office/drawing/2014/main" id="{ED9E3BC4-302F-4ECD-A1C6-7DDE84348E0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6CD30B55-BDEF-4806-5187-C20611F6781E}"/>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562970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442E18-F965-82DB-8445-4B705195677B}"/>
              </a:ext>
            </a:extLst>
          </p:cNvPr>
          <p:cNvSpPr>
            <a:spLocks noGrp="1"/>
          </p:cNvSpPr>
          <p:nvPr>
            <p:ph type="title"/>
          </p:nvPr>
        </p:nvSpPr>
        <p:spPr>
          <a:xfrm>
            <a:off x="630238" y="274638"/>
            <a:ext cx="7886700" cy="993775"/>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A8CC999B-05DA-EAFF-E31C-FCA9E61C70AC}"/>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698D98F0-D337-254F-D8EE-2A69629C2645}"/>
              </a:ext>
            </a:extLst>
          </p:cNvPr>
          <p:cNvSpPr>
            <a:spLocks noGrp="1"/>
          </p:cNvSpPr>
          <p:nvPr>
            <p:ph sz="half" idx="2"/>
          </p:nvPr>
        </p:nvSpPr>
        <p:spPr>
          <a:xfrm>
            <a:off x="630238" y="1879600"/>
            <a:ext cx="3868737" cy="2762250"/>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80DE8915-5AD3-503E-E554-5FAE3DA2FE44}"/>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BDDED0AB-75EE-7F92-347B-31250F55FC86}"/>
              </a:ext>
            </a:extLst>
          </p:cNvPr>
          <p:cNvSpPr>
            <a:spLocks noGrp="1"/>
          </p:cNvSpPr>
          <p:nvPr>
            <p:ph sz="quarter" idx="4"/>
          </p:nvPr>
        </p:nvSpPr>
        <p:spPr>
          <a:xfrm>
            <a:off x="4629150" y="1879600"/>
            <a:ext cx="3887788" cy="2762250"/>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C725EC75-CFC3-205E-E89B-9EE881458EC8}"/>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8" name="页脚占位符 7">
            <a:extLst>
              <a:ext uri="{FF2B5EF4-FFF2-40B4-BE49-F238E27FC236}">
                <a16:creationId xmlns:a16="http://schemas.microsoft.com/office/drawing/2014/main" id="{97D16864-A164-E4AF-67C3-92E642493F01}"/>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A9FD7D92-855B-829A-08F7-8438951F00AC}"/>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10984126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F3D8CD-A021-6048-FEAA-F8D769FA6F4E}"/>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4906212A-2388-F748-C031-2726A973D222}"/>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4" name="页脚占位符 3">
            <a:extLst>
              <a:ext uri="{FF2B5EF4-FFF2-40B4-BE49-F238E27FC236}">
                <a16:creationId xmlns:a16="http://schemas.microsoft.com/office/drawing/2014/main" id="{5832B23A-BA68-C10D-424C-68D40A3DD9D4}"/>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0B5CE0FD-D4DC-EF06-81DD-F4024227DBD4}"/>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41672703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C6786A0-5BD1-A934-990A-693BF6F4AA58}"/>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3" name="页脚占位符 2">
            <a:extLst>
              <a:ext uri="{FF2B5EF4-FFF2-40B4-BE49-F238E27FC236}">
                <a16:creationId xmlns:a16="http://schemas.microsoft.com/office/drawing/2014/main" id="{4FC308B4-5DC2-C1FD-00A9-ABDE4167C5C1}"/>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0C3CA0C5-1531-25DA-DCFA-AB2596B45E5C}"/>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8953775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FB56D2-5451-6FA7-CFE5-D33A5092D1B1}"/>
              </a:ext>
            </a:extLst>
          </p:cNvPr>
          <p:cNvSpPr>
            <a:spLocks noGrp="1"/>
          </p:cNvSpPr>
          <p:nvPr>
            <p:ph type="title"/>
          </p:nvPr>
        </p:nvSpPr>
        <p:spPr>
          <a:xfrm>
            <a:off x="630238" y="342900"/>
            <a:ext cx="2949575" cy="120015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B6EE3269-34F1-5026-40AD-47F2FF060F10}"/>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BDCA5EC7-2435-42CD-7DCC-FE4D3BC9A91E}"/>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900E7A35-CAE0-3004-8567-FF93557609A1}"/>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6" name="页脚占位符 5">
            <a:extLst>
              <a:ext uri="{FF2B5EF4-FFF2-40B4-BE49-F238E27FC236}">
                <a16:creationId xmlns:a16="http://schemas.microsoft.com/office/drawing/2014/main" id="{AC899ED9-EE45-B800-BD98-1F46D40569BD}"/>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56210FE-A293-FF74-B239-6ABF6CB0E227}"/>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6253248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475620-A6CE-4F9D-7854-C257E4F17D4C}"/>
              </a:ext>
            </a:extLst>
          </p:cNvPr>
          <p:cNvSpPr>
            <a:spLocks noGrp="1"/>
          </p:cNvSpPr>
          <p:nvPr>
            <p:ph type="title"/>
          </p:nvPr>
        </p:nvSpPr>
        <p:spPr>
          <a:xfrm>
            <a:off x="630238" y="342900"/>
            <a:ext cx="2949575" cy="120015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ABCE01EC-DF29-0F4E-1AD8-1389EBCFF41B}"/>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32D98552-5972-F210-F913-701E660FE962}"/>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B428ED3A-C182-BDDC-8F1E-A10F25CE1CA5}"/>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6" name="页脚占位符 5">
            <a:extLst>
              <a:ext uri="{FF2B5EF4-FFF2-40B4-BE49-F238E27FC236}">
                <a16:creationId xmlns:a16="http://schemas.microsoft.com/office/drawing/2014/main" id="{C7110357-3DC8-AF80-3EE0-D4A3E9228D82}"/>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6DF2BD2B-2D37-71F1-BE6A-CC763011B792}"/>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4849135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1B02AE-3FF7-5CB9-E92C-9EB1B3F9C798}"/>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342C3DBD-CC41-35F3-781A-D22973DA4AED}"/>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AB570F3-CFAD-5690-8DD9-A284FAA6D5AF}"/>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5" name="页脚占位符 4">
            <a:extLst>
              <a:ext uri="{FF2B5EF4-FFF2-40B4-BE49-F238E27FC236}">
                <a16:creationId xmlns:a16="http://schemas.microsoft.com/office/drawing/2014/main" id="{530D9D1E-9191-AFAF-A1BF-EAD2362F112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04E1718-6DBA-269D-24F1-A485B3AAD046}"/>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3712214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6A9AD65-A5B6-D86E-15AF-4685D903DA17}"/>
              </a:ext>
            </a:extLst>
          </p:cNvPr>
          <p:cNvSpPr>
            <a:spLocks noGrp="1"/>
          </p:cNvSpPr>
          <p:nvPr>
            <p:ph type="title" orient="vert"/>
          </p:nvPr>
        </p:nvSpPr>
        <p:spPr>
          <a:xfrm>
            <a:off x="6543675" y="274638"/>
            <a:ext cx="1971675" cy="4357687"/>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FB1B135F-567D-A3FA-205D-EF12A6DC59D5}"/>
              </a:ext>
            </a:extLst>
          </p:cNvPr>
          <p:cNvSpPr>
            <a:spLocks noGrp="1"/>
          </p:cNvSpPr>
          <p:nvPr>
            <p:ph type="body" orient="vert" idx="1"/>
          </p:nvPr>
        </p:nvSpPr>
        <p:spPr>
          <a:xfrm>
            <a:off x="628650" y="274638"/>
            <a:ext cx="5762625" cy="4357687"/>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AECC707C-F2E6-0EC4-8990-9447419C91DA}"/>
              </a:ext>
            </a:extLst>
          </p:cNvPr>
          <p:cNvSpPr>
            <a:spLocks noGrp="1"/>
          </p:cNvSpPr>
          <p:nvPr>
            <p:ph type="dt" sz="half" idx="10"/>
          </p:nvPr>
        </p:nvSpPr>
        <p:spPr/>
        <p:txBody>
          <a:bodyPr/>
          <a:lstStyle/>
          <a:p>
            <a:fld id="{32C5F372-D9EE-804B-82F0-7EE97B9B327A}" type="datetimeFigureOut">
              <a:rPr kumimoji="1" lang="zh-CN" altLang="en-US" smtClean="0"/>
              <a:t>2026/2/22</a:t>
            </a:fld>
            <a:endParaRPr kumimoji="1" lang="zh-CN" altLang="en-US"/>
          </a:p>
        </p:txBody>
      </p:sp>
      <p:sp>
        <p:nvSpPr>
          <p:cNvPr id="5" name="页脚占位符 4">
            <a:extLst>
              <a:ext uri="{FF2B5EF4-FFF2-40B4-BE49-F238E27FC236}">
                <a16:creationId xmlns:a16="http://schemas.microsoft.com/office/drawing/2014/main" id="{E6D21827-BAC7-CA1A-8E90-A85D23CA220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251A12E-406F-BB74-FEBD-0EC52AD7A1E1}"/>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4552759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1771769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7804287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5069398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0223654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8823721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3382025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2273986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42506052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9361376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0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901696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1681226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2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5040420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3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46595271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4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0331095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5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42861371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6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4085711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7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3984968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8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8381754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9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7494456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0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406028786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1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35391667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2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7115501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3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96739960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4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0285976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25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54895849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26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68110312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7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4212169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8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4515039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29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91144867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30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61843630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31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420495494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32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70110279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33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9080457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34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80142199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35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15155247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36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74022196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37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33708551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38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9928332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39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65976727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40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21431241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41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92298983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42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8012971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43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33597921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44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85064667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45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7838283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46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34626905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47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400275521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48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72266178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49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98228040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50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8773527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51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52683114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52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22876470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53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64983460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54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11359072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55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64249092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56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59472008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57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61129769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58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96955183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59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87548743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60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38190899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61_标题和内容">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1"/>
            </p:custDataLst>
          </p:nvPr>
        </p:nvSpPr>
        <p:spPr/>
        <p:txBody>
          <a:bodyPr/>
          <a:lstStyle/>
          <a:p>
            <a:fld id="{860474C0-7204-B142-9D8D-FBD67E2576A0}" type="datetime1">
              <a:rPr lang="en-US" altLang="zh-CN" smtClean="0"/>
              <a:t>2/22/26</a:t>
            </a:fld>
            <a:endParaRPr lang="zh-CN" altLang="en-US"/>
          </a:p>
        </p:txBody>
      </p:sp>
      <p:sp>
        <p:nvSpPr>
          <p:cNvPr id="5" name="页脚占位符 4"/>
          <p:cNvSpPr>
            <a:spLocks noGrp="1"/>
          </p:cNvSpPr>
          <p:nvPr>
            <p:ph type="ftr" sz="quarter" idx="11"/>
            <p:custDataLst>
              <p:tags r:id="rId2"/>
            </p:custDataLst>
          </p:nvPr>
        </p:nvSpPr>
        <p:spPr/>
        <p:txBody>
          <a:bodyPr/>
          <a:lstStyle/>
          <a:p>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2" name="标题占位符 1"/>
          <p:cNvSpPr>
            <a:spLocks noGrp="1"/>
          </p:cNvSpPr>
          <p:nvPr>
            <p:ph type="title"/>
          </p:nvPr>
        </p:nvSpPr>
        <p:spPr>
          <a:xfrm>
            <a:off x="198356" y="200676"/>
            <a:ext cx="5217795" cy="471966"/>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3162542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2.xml"/><Relationship Id="rId21" Type="http://schemas.openxmlformats.org/officeDocument/2006/relationships/slideLayout" Target="../slideLayouts/slideLayout27.xml"/><Relationship Id="rId42" Type="http://schemas.openxmlformats.org/officeDocument/2006/relationships/slideLayout" Target="../slideLayouts/slideLayout48.xml"/><Relationship Id="rId47" Type="http://schemas.openxmlformats.org/officeDocument/2006/relationships/slideLayout" Target="../slideLayouts/slideLayout53.xml"/><Relationship Id="rId63" Type="http://schemas.openxmlformats.org/officeDocument/2006/relationships/slideLayout" Target="../slideLayouts/slideLayout69.xml"/><Relationship Id="rId68" Type="http://schemas.openxmlformats.org/officeDocument/2006/relationships/slideLayout" Target="../slideLayouts/slideLayout74.xml"/><Relationship Id="rId2" Type="http://schemas.openxmlformats.org/officeDocument/2006/relationships/slideLayout" Target="../slideLayouts/slideLayout8.xml"/><Relationship Id="rId16" Type="http://schemas.openxmlformats.org/officeDocument/2006/relationships/slideLayout" Target="../slideLayouts/slideLayout22.xml"/><Relationship Id="rId29" Type="http://schemas.openxmlformats.org/officeDocument/2006/relationships/slideLayout" Target="../slideLayouts/slideLayout35.xml"/><Relationship Id="rId11" Type="http://schemas.openxmlformats.org/officeDocument/2006/relationships/slideLayout" Target="../slideLayouts/slideLayout17.xml"/><Relationship Id="rId24" Type="http://schemas.openxmlformats.org/officeDocument/2006/relationships/slideLayout" Target="../slideLayouts/slideLayout30.xml"/><Relationship Id="rId32" Type="http://schemas.openxmlformats.org/officeDocument/2006/relationships/slideLayout" Target="../slideLayouts/slideLayout38.xml"/><Relationship Id="rId37" Type="http://schemas.openxmlformats.org/officeDocument/2006/relationships/slideLayout" Target="../slideLayouts/slideLayout43.xml"/><Relationship Id="rId40" Type="http://schemas.openxmlformats.org/officeDocument/2006/relationships/slideLayout" Target="../slideLayouts/slideLayout46.xml"/><Relationship Id="rId45" Type="http://schemas.openxmlformats.org/officeDocument/2006/relationships/slideLayout" Target="../slideLayouts/slideLayout51.xml"/><Relationship Id="rId53" Type="http://schemas.openxmlformats.org/officeDocument/2006/relationships/slideLayout" Target="../slideLayouts/slideLayout59.xml"/><Relationship Id="rId58" Type="http://schemas.openxmlformats.org/officeDocument/2006/relationships/slideLayout" Target="../slideLayouts/slideLayout64.xml"/><Relationship Id="rId66" Type="http://schemas.openxmlformats.org/officeDocument/2006/relationships/slideLayout" Target="../slideLayouts/slideLayout72.xml"/><Relationship Id="rId74" Type="http://schemas.openxmlformats.org/officeDocument/2006/relationships/image" Target="../media/image1.png"/><Relationship Id="rId5" Type="http://schemas.openxmlformats.org/officeDocument/2006/relationships/slideLayout" Target="../slideLayouts/slideLayout11.xml"/><Relationship Id="rId61" Type="http://schemas.openxmlformats.org/officeDocument/2006/relationships/slideLayout" Target="../slideLayouts/slideLayout67.xml"/><Relationship Id="rId19" Type="http://schemas.openxmlformats.org/officeDocument/2006/relationships/slideLayout" Target="../slideLayouts/slideLayout25.xml"/><Relationship Id="rId14" Type="http://schemas.openxmlformats.org/officeDocument/2006/relationships/slideLayout" Target="../slideLayouts/slideLayout20.xml"/><Relationship Id="rId22" Type="http://schemas.openxmlformats.org/officeDocument/2006/relationships/slideLayout" Target="../slideLayouts/slideLayout28.xml"/><Relationship Id="rId27" Type="http://schemas.openxmlformats.org/officeDocument/2006/relationships/slideLayout" Target="../slideLayouts/slideLayout33.xml"/><Relationship Id="rId30" Type="http://schemas.openxmlformats.org/officeDocument/2006/relationships/slideLayout" Target="../slideLayouts/slideLayout36.xml"/><Relationship Id="rId35" Type="http://schemas.openxmlformats.org/officeDocument/2006/relationships/slideLayout" Target="../slideLayouts/slideLayout41.xml"/><Relationship Id="rId43" Type="http://schemas.openxmlformats.org/officeDocument/2006/relationships/slideLayout" Target="../slideLayouts/slideLayout49.xml"/><Relationship Id="rId48" Type="http://schemas.openxmlformats.org/officeDocument/2006/relationships/slideLayout" Target="../slideLayouts/slideLayout54.xml"/><Relationship Id="rId56" Type="http://schemas.openxmlformats.org/officeDocument/2006/relationships/slideLayout" Target="../slideLayouts/slideLayout62.xml"/><Relationship Id="rId64" Type="http://schemas.openxmlformats.org/officeDocument/2006/relationships/slideLayout" Target="../slideLayouts/slideLayout70.xml"/><Relationship Id="rId69" Type="http://schemas.openxmlformats.org/officeDocument/2006/relationships/slideLayout" Target="../slideLayouts/slideLayout75.xml"/><Relationship Id="rId8" Type="http://schemas.openxmlformats.org/officeDocument/2006/relationships/slideLayout" Target="../slideLayouts/slideLayout14.xml"/><Relationship Id="rId51" Type="http://schemas.openxmlformats.org/officeDocument/2006/relationships/slideLayout" Target="../slideLayouts/slideLayout57.xml"/><Relationship Id="rId72" Type="http://schemas.openxmlformats.org/officeDocument/2006/relationships/slideLayout" Target="../slideLayouts/slideLayout78.xml"/><Relationship Id="rId3" Type="http://schemas.openxmlformats.org/officeDocument/2006/relationships/slideLayout" Target="../slideLayouts/slideLayout9.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5" Type="http://schemas.openxmlformats.org/officeDocument/2006/relationships/slideLayout" Target="../slideLayouts/slideLayout31.xml"/><Relationship Id="rId33" Type="http://schemas.openxmlformats.org/officeDocument/2006/relationships/slideLayout" Target="../slideLayouts/slideLayout39.xml"/><Relationship Id="rId38" Type="http://schemas.openxmlformats.org/officeDocument/2006/relationships/slideLayout" Target="../slideLayouts/slideLayout44.xml"/><Relationship Id="rId46" Type="http://schemas.openxmlformats.org/officeDocument/2006/relationships/slideLayout" Target="../slideLayouts/slideLayout52.xml"/><Relationship Id="rId59" Type="http://schemas.openxmlformats.org/officeDocument/2006/relationships/slideLayout" Target="../slideLayouts/slideLayout65.xml"/><Relationship Id="rId67" Type="http://schemas.openxmlformats.org/officeDocument/2006/relationships/slideLayout" Target="../slideLayouts/slideLayout73.xml"/><Relationship Id="rId20" Type="http://schemas.openxmlformats.org/officeDocument/2006/relationships/slideLayout" Target="../slideLayouts/slideLayout26.xml"/><Relationship Id="rId41" Type="http://schemas.openxmlformats.org/officeDocument/2006/relationships/slideLayout" Target="../slideLayouts/slideLayout47.xml"/><Relationship Id="rId54" Type="http://schemas.openxmlformats.org/officeDocument/2006/relationships/slideLayout" Target="../slideLayouts/slideLayout60.xml"/><Relationship Id="rId62" Type="http://schemas.openxmlformats.org/officeDocument/2006/relationships/slideLayout" Target="../slideLayouts/slideLayout68.xml"/><Relationship Id="rId70" Type="http://schemas.openxmlformats.org/officeDocument/2006/relationships/slideLayout" Target="../slideLayouts/slideLayout76.xml"/><Relationship Id="rId75"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slideLayout" Target="../slideLayouts/slideLayout12.xml"/><Relationship Id="rId15" Type="http://schemas.openxmlformats.org/officeDocument/2006/relationships/slideLayout" Target="../slideLayouts/slideLayout21.xml"/><Relationship Id="rId23" Type="http://schemas.openxmlformats.org/officeDocument/2006/relationships/slideLayout" Target="../slideLayouts/slideLayout29.xml"/><Relationship Id="rId28" Type="http://schemas.openxmlformats.org/officeDocument/2006/relationships/slideLayout" Target="../slideLayouts/slideLayout34.xml"/><Relationship Id="rId36" Type="http://schemas.openxmlformats.org/officeDocument/2006/relationships/slideLayout" Target="../slideLayouts/slideLayout42.xml"/><Relationship Id="rId49" Type="http://schemas.openxmlformats.org/officeDocument/2006/relationships/slideLayout" Target="../slideLayouts/slideLayout55.xml"/><Relationship Id="rId57" Type="http://schemas.openxmlformats.org/officeDocument/2006/relationships/slideLayout" Target="../slideLayouts/slideLayout63.xml"/><Relationship Id="rId10" Type="http://schemas.openxmlformats.org/officeDocument/2006/relationships/slideLayout" Target="../slideLayouts/slideLayout16.xml"/><Relationship Id="rId31" Type="http://schemas.openxmlformats.org/officeDocument/2006/relationships/slideLayout" Target="../slideLayouts/slideLayout37.xml"/><Relationship Id="rId44" Type="http://schemas.openxmlformats.org/officeDocument/2006/relationships/slideLayout" Target="../slideLayouts/slideLayout50.xml"/><Relationship Id="rId52" Type="http://schemas.openxmlformats.org/officeDocument/2006/relationships/slideLayout" Target="../slideLayouts/slideLayout58.xml"/><Relationship Id="rId60" Type="http://schemas.openxmlformats.org/officeDocument/2006/relationships/slideLayout" Target="../slideLayouts/slideLayout66.xml"/><Relationship Id="rId65" Type="http://schemas.openxmlformats.org/officeDocument/2006/relationships/slideLayout" Target="../slideLayouts/slideLayout71.xml"/><Relationship Id="rId73" Type="http://schemas.openxmlformats.org/officeDocument/2006/relationships/theme" Target="../theme/theme2.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3" Type="http://schemas.openxmlformats.org/officeDocument/2006/relationships/slideLayout" Target="../slideLayouts/slideLayout19.xml"/><Relationship Id="rId18" Type="http://schemas.openxmlformats.org/officeDocument/2006/relationships/slideLayout" Target="../slideLayouts/slideLayout24.xml"/><Relationship Id="rId39" Type="http://schemas.openxmlformats.org/officeDocument/2006/relationships/slideLayout" Target="../slideLayouts/slideLayout45.xml"/><Relationship Id="rId34" Type="http://schemas.openxmlformats.org/officeDocument/2006/relationships/slideLayout" Target="../slideLayouts/slideLayout40.xml"/><Relationship Id="rId50" Type="http://schemas.openxmlformats.org/officeDocument/2006/relationships/slideLayout" Target="../slideLayouts/slideLayout56.xml"/><Relationship Id="rId55" Type="http://schemas.openxmlformats.org/officeDocument/2006/relationships/slideLayout" Target="../slideLayouts/slideLayout61.xml"/><Relationship Id="rId76" Type="http://schemas.openxmlformats.org/officeDocument/2006/relationships/image" Target="../media/image3.png"/><Relationship Id="rId7" Type="http://schemas.openxmlformats.org/officeDocument/2006/relationships/slideLayout" Target="../slideLayouts/slideLayout13.xml"/><Relationship Id="rId71"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77A5E09-A989-EE50-CBE0-5B84B7C6B823}"/>
              </a:ext>
            </a:extLst>
          </p:cNvPr>
          <p:cNvSpPr/>
          <p:nvPr userDrawn="1"/>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D5EB4511-BE1F-4AF2-1BFB-CE1AC6C1889A}"/>
              </a:ext>
            </a:extLst>
          </p:cNvPr>
          <p:cNvSpPr/>
          <p:nvPr userDrawn="1"/>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Shape 2">
            <a:extLst>
              <a:ext uri="{FF2B5EF4-FFF2-40B4-BE49-F238E27FC236}">
                <a16:creationId xmlns:a16="http://schemas.microsoft.com/office/drawing/2014/main" id="{7A46D629-FC4C-A26C-9ED7-964E26D8BC0B}"/>
              </a:ext>
            </a:extLst>
          </p:cNvPr>
          <p:cNvSpPr/>
          <p:nvPr userDrawn="1"/>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36A6941C-C507-20E9-7488-DC37410E8AAD}"/>
              </a:ext>
            </a:extLst>
          </p:cNvPr>
          <p:cNvSpPr/>
          <p:nvPr userDrawn="1"/>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C59E6006-31EA-7EC3-5B42-9B15E3826870}"/>
              </a:ext>
            </a:extLst>
          </p:cNvPr>
          <p:cNvSpPr/>
          <p:nvPr userDrawn="1"/>
        </p:nvSpPr>
        <p:spPr>
          <a:xfrm>
            <a:off x="9679" y="549846"/>
            <a:ext cx="3835005" cy="47625"/>
          </a:xfrm>
          <a:custGeom>
            <a:avLst/>
            <a:gdLst/>
            <a:ahLst/>
            <a:cxnLst/>
            <a:rect l="l" t="t" r="r" b="b"/>
            <a:pathLst>
              <a:path w="3835005" h="47625">
                <a:moveTo>
                  <a:pt x="0" y="0"/>
                </a:moveTo>
                <a:lnTo>
                  <a:pt x="3835005" y="0"/>
                </a:lnTo>
                <a:lnTo>
                  <a:pt x="3835005" y="47625"/>
                </a:lnTo>
                <a:lnTo>
                  <a:pt x="0" y="47625"/>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F66885E7-16D3-570C-6E0C-5CEA1E47D30E}"/>
              </a:ext>
            </a:extLst>
          </p:cNvPr>
          <p:cNvSpPr/>
          <p:nvPr userDrawn="1"/>
        </p:nvSpPr>
        <p:spPr>
          <a:xfrm>
            <a:off x="5323689" y="549846"/>
            <a:ext cx="3835005" cy="47625"/>
          </a:xfrm>
          <a:custGeom>
            <a:avLst/>
            <a:gdLst/>
            <a:ahLst/>
            <a:cxnLst/>
            <a:rect l="l" t="t" r="r" b="b"/>
            <a:pathLst>
              <a:path w="3835005" h="47625">
                <a:moveTo>
                  <a:pt x="0" y="0"/>
                </a:moveTo>
                <a:lnTo>
                  <a:pt x="3835005" y="0"/>
                </a:lnTo>
                <a:lnTo>
                  <a:pt x="3835005" y="47625"/>
                </a:lnTo>
                <a:lnTo>
                  <a:pt x="0" y="47625"/>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Text 10">
            <a:extLst>
              <a:ext uri="{FF2B5EF4-FFF2-40B4-BE49-F238E27FC236}">
                <a16:creationId xmlns:a16="http://schemas.microsoft.com/office/drawing/2014/main" id="{FDDDED04-DE6D-8A23-9734-CBD8EC18AFBB}"/>
              </a:ext>
            </a:extLst>
          </p:cNvPr>
          <p:cNvSpPr txBox="1"/>
          <p:nvPr userDrawn="1"/>
        </p:nvSpPr>
        <p:spPr>
          <a:xfrm>
            <a:off x="850696" y="1132005"/>
            <a:ext cx="7458075" cy="1143000"/>
          </a:xfrm>
          <a:prstGeom prst="rect">
            <a:avLst/>
          </a:prstGeom>
          <a:noFill/>
          <a:ln/>
        </p:spPr>
        <p:txBody>
          <a:bodyPr wrap="square" lIns="0" tIns="0" rIns="0" bIns="0" rtlCol="0" anchor="t">
            <a:spAutoFit/>
          </a:bodyPr>
          <a:lstStyle/>
          <a:p>
            <a:pPr marL="0" indent="0" algn="ctr">
              <a:lnSpc>
                <a:spcPct val="96000"/>
              </a:lnSpc>
              <a:buNone/>
            </a:pPr>
            <a:r>
              <a:rPr lang="en-US" sz="7500" b="1" dirty="0" err="1">
                <a:solidFill>
                  <a:srgbClr val="148577"/>
                </a:solidFill>
                <a:latin typeface="Microsoft YaHei" panose="020B0503020204020204" pitchFamily="34" charset="-122"/>
                <a:ea typeface="Microsoft YaHei" panose="020B0503020204020204" pitchFamily="34" charset="-122"/>
                <a:cs typeface="SourceHanSansSC-Regular"/>
              </a:rPr>
              <a:t>现代数据库系统</a:t>
            </a:r>
            <a:endParaRPr lang="en-US" sz="7500" dirty="0">
              <a:latin typeface="Microsoft YaHei" panose="020B0503020204020204" pitchFamily="34" charset="-122"/>
              <a:ea typeface="Microsoft YaHei" panose="020B0503020204020204" pitchFamily="34" charset="-122"/>
            </a:endParaRPr>
          </a:p>
        </p:txBody>
      </p:sp>
      <p:sp>
        <p:nvSpPr>
          <p:cNvPr id="12" name="Shape 11">
            <a:extLst>
              <a:ext uri="{FF2B5EF4-FFF2-40B4-BE49-F238E27FC236}">
                <a16:creationId xmlns:a16="http://schemas.microsoft.com/office/drawing/2014/main" id="{4A7A420D-D20D-ACF1-0AD2-FBB5D50E3E47}"/>
              </a:ext>
            </a:extLst>
          </p:cNvPr>
          <p:cNvSpPr/>
          <p:nvPr userDrawn="1"/>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2">
            <a:extLst>
              <a:ext uri="{FF2B5EF4-FFF2-40B4-BE49-F238E27FC236}">
                <a16:creationId xmlns:a16="http://schemas.microsoft.com/office/drawing/2014/main" id="{B24FEC78-DC58-F365-B3A6-CF612C3C3D3D}"/>
              </a:ext>
            </a:extLst>
          </p:cNvPr>
          <p:cNvSpPr/>
          <p:nvPr userDrawn="1"/>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3">
            <a:extLst>
              <a:ext uri="{FF2B5EF4-FFF2-40B4-BE49-F238E27FC236}">
                <a16:creationId xmlns:a16="http://schemas.microsoft.com/office/drawing/2014/main" id="{E5E5AD7E-2EDB-102E-868E-5EDD3D3A5750}"/>
              </a:ext>
            </a:extLst>
          </p:cNvPr>
          <p:cNvSpPr/>
          <p:nvPr userDrawn="1"/>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4">
            <a:extLst>
              <a:ext uri="{FF2B5EF4-FFF2-40B4-BE49-F238E27FC236}">
                <a16:creationId xmlns:a16="http://schemas.microsoft.com/office/drawing/2014/main" id="{6C0F6275-88C0-7C5A-C40B-0CAAB8E69EA0}"/>
              </a:ext>
            </a:extLst>
          </p:cNvPr>
          <p:cNvSpPr/>
          <p:nvPr userDrawn="1"/>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pic>
        <p:nvPicPr>
          <p:cNvPr id="16" name="图片 15" descr="徽标&#10;&#10;AI 生成的内容可能不正确。">
            <a:extLst>
              <a:ext uri="{FF2B5EF4-FFF2-40B4-BE49-F238E27FC236}">
                <a16:creationId xmlns:a16="http://schemas.microsoft.com/office/drawing/2014/main" id="{EDE98BE7-674A-84A1-2E7B-FBEBE4418739}"/>
              </a:ext>
            </a:extLst>
          </p:cNvPr>
          <p:cNvPicPr>
            <a:picLocks noChangeAspect="1"/>
          </p:cNvPicPr>
          <p:nvPr userDrawn="1"/>
        </p:nvPicPr>
        <p:blipFill>
          <a:blip r:embed="rId8"/>
          <a:stretch>
            <a:fillRect/>
          </a:stretch>
        </p:blipFill>
        <p:spPr>
          <a:xfrm>
            <a:off x="4202034" y="220502"/>
            <a:ext cx="720574" cy="71890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75" r:id="rId2"/>
    <p:sldLayoutId id="2147483676" r:id="rId3"/>
    <p:sldLayoutId id="2147483677" r:id="rId4"/>
    <p:sldLayoutId id="2147483678" r:id="rId5"/>
    <p:sldLayoutId id="2147483679"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Shape 3">
            <a:extLst>
              <a:ext uri="{FF2B5EF4-FFF2-40B4-BE49-F238E27FC236}">
                <a16:creationId xmlns:a16="http://schemas.microsoft.com/office/drawing/2014/main" id="{48BD775E-A6BB-AF91-6EFC-2B063F82EC31}"/>
              </a:ext>
            </a:extLst>
          </p:cNvPr>
          <p:cNvSpPr/>
          <p:nvPr userDrawn="1"/>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4">
            <a:extLst>
              <a:ext uri="{FF2B5EF4-FFF2-40B4-BE49-F238E27FC236}">
                <a16:creationId xmlns:a16="http://schemas.microsoft.com/office/drawing/2014/main" id="{54166899-177E-5114-DE19-9E2BA37EF7E6}"/>
              </a:ext>
            </a:extLst>
          </p:cNvPr>
          <p:cNvSpPr/>
          <p:nvPr userDrawn="1"/>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5">
            <a:extLst>
              <a:ext uri="{FF2B5EF4-FFF2-40B4-BE49-F238E27FC236}">
                <a16:creationId xmlns:a16="http://schemas.microsoft.com/office/drawing/2014/main" id="{4146F1E0-B708-B4FD-784D-C33CB18C5AC5}"/>
              </a:ext>
            </a:extLst>
          </p:cNvPr>
          <p:cNvSpPr/>
          <p:nvPr userDrawn="1"/>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6">
            <a:extLst>
              <a:ext uri="{FF2B5EF4-FFF2-40B4-BE49-F238E27FC236}">
                <a16:creationId xmlns:a16="http://schemas.microsoft.com/office/drawing/2014/main" id="{6C647A5F-A889-47DE-8145-E069CC2035D5}"/>
              </a:ext>
            </a:extLst>
          </p:cNvPr>
          <p:cNvSpPr/>
          <p:nvPr userDrawn="1"/>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2" name="标题占位符 1">
            <a:extLst>
              <a:ext uri="{FF2B5EF4-FFF2-40B4-BE49-F238E27FC236}">
                <a16:creationId xmlns:a16="http://schemas.microsoft.com/office/drawing/2014/main" id="{2278CDFA-2A25-E47E-291E-DAD5455582A9}"/>
              </a:ext>
            </a:extLst>
          </p:cNvPr>
          <p:cNvSpPr>
            <a:spLocks noGrp="1"/>
          </p:cNvSpPr>
          <p:nvPr>
            <p:ph type="title"/>
          </p:nvPr>
        </p:nvSpPr>
        <p:spPr>
          <a:xfrm>
            <a:off x="636384" y="496310"/>
            <a:ext cx="7886700" cy="450000"/>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484D4848-4095-B8A8-7601-736321C30B2A}"/>
              </a:ext>
            </a:extLst>
          </p:cNvPr>
          <p:cNvSpPr>
            <a:spLocks noGrp="1"/>
          </p:cNvSpPr>
          <p:nvPr>
            <p:ph type="body" idx="1"/>
          </p:nvPr>
        </p:nvSpPr>
        <p:spPr>
          <a:xfrm>
            <a:off x="628650" y="1042761"/>
            <a:ext cx="7886700" cy="3711558"/>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06C317BE-E462-2C75-5469-1C523508EF1F}"/>
              </a:ext>
            </a:extLst>
          </p:cNvPr>
          <p:cNvSpPr>
            <a:spLocks noGrp="1"/>
          </p:cNvSpPr>
          <p:nvPr>
            <p:ph type="dt" sz="half" idx="2"/>
          </p:nvPr>
        </p:nvSpPr>
        <p:spPr>
          <a:xfrm>
            <a:off x="108180" y="4837864"/>
            <a:ext cx="2057400" cy="274637"/>
          </a:xfrm>
          <a:prstGeom prst="rect">
            <a:avLst/>
          </a:prstGeom>
        </p:spPr>
        <p:txBody>
          <a:bodyPr vert="horz" lIns="91440" tIns="45720" rIns="91440" bIns="45720" rtlCol="0" anchor="ctr"/>
          <a:lstStyle>
            <a:lvl1pPr algn="l">
              <a:defRPr sz="1200">
                <a:solidFill>
                  <a:schemeClr val="tx1">
                    <a:tint val="82000"/>
                  </a:schemeClr>
                </a:solidFill>
              </a:defRPr>
            </a:lvl1pPr>
          </a:lstStyle>
          <a:p>
            <a:fld id="{32C5F372-D9EE-804B-82F0-7EE97B9B327A}" type="datetimeFigureOut">
              <a:rPr kumimoji="1" lang="zh-CN" altLang="en-US" smtClean="0"/>
              <a:t>2026/2/22</a:t>
            </a:fld>
            <a:endParaRPr kumimoji="1" lang="zh-CN" altLang="en-US"/>
          </a:p>
        </p:txBody>
      </p:sp>
      <p:sp>
        <p:nvSpPr>
          <p:cNvPr id="5" name="页脚占位符 4">
            <a:extLst>
              <a:ext uri="{FF2B5EF4-FFF2-40B4-BE49-F238E27FC236}">
                <a16:creationId xmlns:a16="http://schemas.microsoft.com/office/drawing/2014/main" id="{B4B16873-C63D-E592-2399-19A9BA46FA3E}"/>
              </a:ext>
            </a:extLst>
          </p:cNvPr>
          <p:cNvSpPr>
            <a:spLocks noGrp="1"/>
          </p:cNvSpPr>
          <p:nvPr>
            <p:ph type="ftr" sz="quarter" idx="3"/>
          </p:nvPr>
        </p:nvSpPr>
        <p:spPr>
          <a:xfrm>
            <a:off x="2418580" y="4837864"/>
            <a:ext cx="4309321"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17976924-03DF-39F8-46BE-34E7CD690DC7}"/>
              </a:ext>
            </a:extLst>
          </p:cNvPr>
          <p:cNvSpPr>
            <a:spLocks noGrp="1"/>
          </p:cNvSpPr>
          <p:nvPr>
            <p:ph type="sldNum" sz="quarter" idx="4"/>
          </p:nvPr>
        </p:nvSpPr>
        <p:spPr>
          <a:xfrm>
            <a:off x="6976475" y="4837864"/>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5E4D6AEF-96BF-6F44-8EB2-095946A83C6B}" type="slidenum">
              <a:rPr kumimoji="1" lang="zh-CN" altLang="en-US" smtClean="0"/>
              <a:t>‹#›</a:t>
            </a:fld>
            <a:endParaRPr kumimoji="1" lang="zh-CN" altLang="en-US"/>
          </a:p>
        </p:txBody>
      </p:sp>
      <p:sp>
        <p:nvSpPr>
          <p:cNvPr id="14" name="Shape 7">
            <a:extLst>
              <a:ext uri="{FF2B5EF4-FFF2-40B4-BE49-F238E27FC236}">
                <a16:creationId xmlns:a16="http://schemas.microsoft.com/office/drawing/2014/main" id="{1F21A128-D704-BDA2-A63B-684FE57E79B8}"/>
              </a:ext>
            </a:extLst>
          </p:cNvPr>
          <p:cNvSpPr/>
          <p:nvPr userDrawn="1"/>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8">
            <a:extLst>
              <a:ext uri="{FF2B5EF4-FFF2-40B4-BE49-F238E27FC236}">
                <a16:creationId xmlns:a16="http://schemas.microsoft.com/office/drawing/2014/main" id="{14A059BF-47BE-5BB1-8DA8-90126974B398}"/>
              </a:ext>
            </a:extLst>
          </p:cNvPr>
          <p:cNvSpPr/>
          <p:nvPr userDrawn="1"/>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9">
            <a:extLst>
              <a:ext uri="{FF2B5EF4-FFF2-40B4-BE49-F238E27FC236}">
                <a16:creationId xmlns:a16="http://schemas.microsoft.com/office/drawing/2014/main" id="{A7018654-3D44-3124-08A9-CA34B688DD24}"/>
              </a:ext>
            </a:extLst>
          </p:cNvPr>
          <p:cNvSpPr/>
          <p:nvPr userDrawn="1"/>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Shape 10">
            <a:extLst>
              <a:ext uri="{FF2B5EF4-FFF2-40B4-BE49-F238E27FC236}">
                <a16:creationId xmlns:a16="http://schemas.microsoft.com/office/drawing/2014/main" id="{7E5317B9-228B-7072-CC18-E34F4B4EBA25}"/>
              </a:ext>
            </a:extLst>
          </p:cNvPr>
          <p:cNvSpPr/>
          <p:nvPr userDrawn="1"/>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pic>
        <p:nvPicPr>
          <p:cNvPr id="24" name="图片 23" descr="徽标&#10;&#10;AI 生成的内容可能不正确。">
            <a:extLst>
              <a:ext uri="{FF2B5EF4-FFF2-40B4-BE49-F238E27FC236}">
                <a16:creationId xmlns:a16="http://schemas.microsoft.com/office/drawing/2014/main" id="{62C8AEBD-E604-303F-0750-962701B7B3EC}"/>
              </a:ext>
            </a:extLst>
          </p:cNvPr>
          <p:cNvPicPr>
            <a:picLocks noChangeAspect="1"/>
          </p:cNvPicPr>
          <p:nvPr userDrawn="1"/>
        </p:nvPicPr>
        <p:blipFill>
          <a:blip r:embed="rId74"/>
          <a:stretch>
            <a:fillRect/>
          </a:stretch>
        </p:blipFill>
        <p:spPr>
          <a:xfrm>
            <a:off x="108180" y="119599"/>
            <a:ext cx="334861" cy="334084"/>
          </a:xfrm>
          <a:prstGeom prst="rect">
            <a:avLst/>
          </a:prstGeom>
        </p:spPr>
      </p:pic>
      <p:pic>
        <p:nvPicPr>
          <p:cNvPr id="26" name="图片 25" descr="图标&#10;&#10;AI 生成的内容可能不正确。">
            <a:extLst>
              <a:ext uri="{FF2B5EF4-FFF2-40B4-BE49-F238E27FC236}">
                <a16:creationId xmlns:a16="http://schemas.microsoft.com/office/drawing/2014/main" id="{14CEF7CC-1A6F-833C-43E2-2A43880720CF}"/>
              </a:ext>
            </a:extLst>
          </p:cNvPr>
          <p:cNvPicPr>
            <a:picLocks noChangeAspect="1"/>
          </p:cNvPicPr>
          <p:nvPr userDrawn="1"/>
        </p:nvPicPr>
        <p:blipFill>
          <a:blip r:embed="rId75"/>
          <a:stretch>
            <a:fillRect/>
          </a:stretch>
        </p:blipFill>
        <p:spPr>
          <a:xfrm>
            <a:off x="502271" y="173422"/>
            <a:ext cx="775858" cy="226438"/>
          </a:xfrm>
          <a:prstGeom prst="rect">
            <a:avLst/>
          </a:prstGeom>
        </p:spPr>
      </p:pic>
      <p:pic>
        <p:nvPicPr>
          <p:cNvPr id="27" name="图片 26">
            <a:extLst>
              <a:ext uri="{FF2B5EF4-FFF2-40B4-BE49-F238E27FC236}">
                <a16:creationId xmlns:a16="http://schemas.microsoft.com/office/drawing/2014/main" id="{E1E95B03-867E-A128-6B62-0A757D65EE27}"/>
              </a:ext>
            </a:extLst>
          </p:cNvPr>
          <p:cNvPicPr>
            <a:picLocks noChangeAspect="1"/>
          </p:cNvPicPr>
          <p:nvPr userDrawn="1"/>
        </p:nvPicPr>
        <p:blipFill>
          <a:blip r:embed="rId76">
            <a:extLst>
              <a:ext uri="{28A0092B-C50C-407E-A947-70E740481C1C}">
                <a14:useLocalDpi xmlns:a14="http://schemas.microsoft.com/office/drawing/2010/main" val="0"/>
              </a:ext>
            </a:extLst>
          </a:blip>
          <a:stretch>
            <a:fillRect/>
          </a:stretch>
        </p:blipFill>
        <p:spPr>
          <a:xfrm>
            <a:off x="7083469" y="109496"/>
            <a:ext cx="398937" cy="303725"/>
          </a:xfrm>
          <a:prstGeom prst="rect">
            <a:avLst/>
          </a:prstGeom>
        </p:spPr>
      </p:pic>
      <p:sp>
        <p:nvSpPr>
          <p:cNvPr id="28" name="文本框 27">
            <a:extLst>
              <a:ext uri="{FF2B5EF4-FFF2-40B4-BE49-F238E27FC236}">
                <a16:creationId xmlns:a16="http://schemas.microsoft.com/office/drawing/2014/main" id="{621E1DA3-B30E-3828-B884-151B4CA5132C}"/>
              </a:ext>
            </a:extLst>
          </p:cNvPr>
          <p:cNvSpPr txBox="1"/>
          <p:nvPr userDrawn="1"/>
        </p:nvSpPr>
        <p:spPr>
          <a:xfrm>
            <a:off x="7482406" y="148141"/>
            <a:ext cx="1723549" cy="276999"/>
          </a:xfrm>
          <a:prstGeom prst="rect">
            <a:avLst/>
          </a:prstGeom>
          <a:noFill/>
        </p:spPr>
        <p:txBody>
          <a:bodyPr wrap="none" rtlCol="0">
            <a:spAutoFit/>
          </a:bodyPr>
          <a:lstStyle/>
          <a:p>
            <a:r>
              <a:rPr kumimoji="1" lang="zh-CN" altLang="en-US" sz="1200" b="1" dirty="0">
                <a:solidFill>
                  <a:srgbClr val="C00000"/>
                </a:solidFill>
                <a:latin typeface="Microsoft YaHei" panose="020B0503020204020204" pitchFamily="34" charset="-122"/>
                <a:ea typeface="Microsoft YaHei" panose="020B0503020204020204" pitchFamily="34" charset="-122"/>
              </a:rPr>
              <a:t>珞珈图腾数据库实验室</a:t>
            </a:r>
          </a:p>
        </p:txBody>
      </p:sp>
    </p:spTree>
    <p:extLst>
      <p:ext uri="{BB962C8B-B14F-4D97-AF65-F5344CB8AC3E}">
        <p14:creationId xmlns:p14="http://schemas.microsoft.com/office/powerpoint/2010/main" val="1716981101"/>
      </p:ext>
    </p:extLst>
  </p:cSld>
  <p:clrMap bg1="lt1" tx1="dk1" bg2="lt2" tx2="dk2" accent1="accent1" accent2="accent2" accent3="accent3" accent4="accent4" accent5="accent5" accent6="accent6" hlink="hlink" folHlink="folHlink"/>
  <p:sldLayoutIdLst>
    <p:sldLayoutId id="2147483674"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 id="2147483697" r:id="rId29"/>
    <p:sldLayoutId id="2147483698" r:id="rId30"/>
    <p:sldLayoutId id="2147483699" r:id="rId31"/>
    <p:sldLayoutId id="2147483700" r:id="rId32"/>
    <p:sldLayoutId id="2147483701" r:id="rId33"/>
    <p:sldLayoutId id="2147483702" r:id="rId34"/>
    <p:sldLayoutId id="2147483703" r:id="rId35"/>
    <p:sldLayoutId id="2147483704" r:id="rId36"/>
    <p:sldLayoutId id="2147483705" r:id="rId37"/>
    <p:sldLayoutId id="2147483706" r:id="rId38"/>
    <p:sldLayoutId id="2147483707" r:id="rId39"/>
    <p:sldLayoutId id="2147483708" r:id="rId40"/>
    <p:sldLayoutId id="2147483709" r:id="rId41"/>
    <p:sldLayoutId id="2147483710" r:id="rId42"/>
    <p:sldLayoutId id="2147483711" r:id="rId43"/>
    <p:sldLayoutId id="2147483712" r:id="rId44"/>
    <p:sldLayoutId id="2147483713" r:id="rId45"/>
    <p:sldLayoutId id="2147483714" r:id="rId46"/>
    <p:sldLayoutId id="2147483715" r:id="rId47"/>
    <p:sldLayoutId id="2147483716" r:id="rId48"/>
    <p:sldLayoutId id="2147483717" r:id="rId49"/>
    <p:sldLayoutId id="2147483718" r:id="rId50"/>
    <p:sldLayoutId id="2147483719" r:id="rId51"/>
    <p:sldLayoutId id="2147483720" r:id="rId52"/>
    <p:sldLayoutId id="2147483721" r:id="rId53"/>
    <p:sldLayoutId id="2147483722" r:id="rId54"/>
    <p:sldLayoutId id="2147483723" r:id="rId55"/>
    <p:sldLayoutId id="2147483724" r:id="rId56"/>
    <p:sldLayoutId id="2147483725" r:id="rId57"/>
    <p:sldLayoutId id="2147483726" r:id="rId58"/>
    <p:sldLayoutId id="2147483727" r:id="rId59"/>
    <p:sldLayoutId id="2147483728" r:id="rId60"/>
    <p:sldLayoutId id="2147483729" r:id="rId61"/>
    <p:sldLayoutId id="2147483730" r:id="rId62"/>
    <p:sldLayoutId id="2147483731" r:id="rId63"/>
    <p:sldLayoutId id="2147483732" r:id="rId64"/>
    <p:sldLayoutId id="2147483733" r:id="rId65"/>
    <p:sldLayoutId id="2147483734" r:id="rId66"/>
    <p:sldLayoutId id="2147483735" r:id="rId67"/>
    <p:sldLayoutId id="2147483736" r:id="rId68"/>
    <p:sldLayoutId id="2147483737" r:id="rId69"/>
    <p:sldLayoutId id="2147483738" r:id="rId70"/>
    <p:sldLayoutId id="2147483739" r:id="rId71"/>
    <p:sldLayoutId id="2147483740" r:id="rId72"/>
  </p:sldLayoutIdLst>
  <p:txStyles>
    <p:titleStyle>
      <a:lvl1pPr algn="l" defTabSz="914400" rtl="0" eaLnBrk="1" latinLnBrk="0" hangingPunct="1">
        <a:lnSpc>
          <a:spcPct val="90000"/>
        </a:lnSpc>
        <a:spcBef>
          <a:spcPct val="0"/>
        </a:spcBef>
        <a:buNone/>
        <a:defRPr sz="2500" b="1" kern="1200">
          <a:solidFill>
            <a:srgbClr val="00B0F0"/>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8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85.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8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8.xml"/><Relationship Id="rId1" Type="http://schemas.openxmlformats.org/officeDocument/2006/relationships/tags" Target="../tags/tag187.xml"/></Relationships>
</file>

<file path=ppt/slides/_rels/slide20.xml.rels><?xml version="1.0" encoding="UTF-8" standalone="yes"?>
<Relationships xmlns="http://schemas.openxmlformats.org/package/2006/relationships"><Relationship Id="rId3" Type="http://schemas.openxmlformats.org/officeDocument/2006/relationships/tags" Target="../tags/tag188.xml"/><Relationship Id="rId2" Type="http://schemas.openxmlformats.org/officeDocument/2006/relationships/slideLayout" Target="../slideLayouts/slideLayout8.xml"/><Relationship Id="rId1" Type="http://schemas.openxmlformats.org/officeDocument/2006/relationships/tags" Target="../tags/tag188.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89.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90.xml"/></Relationships>
</file>

<file path=ppt/slides/_rels/slide23.xml.rels><?xml version="1.0" encoding="UTF-8" standalone="yes"?>
<Relationships xmlns="http://schemas.openxmlformats.org/package/2006/relationships"><Relationship Id="rId3" Type="http://schemas.openxmlformats.org/officeDocument/2006/relationships/tags" Target="../tags/tag191.xml"/><Relationship Id="rId2" Type="http://schemas.openxmlformats.org/officeDocument/2006/relationships/slideLayout" Target="../slideLayouts/slideLayout8.xml"/><Relationship Id="rId1" Type="http://schemas.openxmlformats.org/officeDocument/2006/relationships/tags" Target="../tags/tag191.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9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9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94.xml"/></Relationships>
</file>

<file path=ppt/slides/_rels/slide29.xml.rels><?xml version="1.0" encoding="UTF-8" standalone="yes"?>
<Relationships xmlns="http://schemas.openxmlformats.org/package/2006/relationships"><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tags" Target="../tags/tag195.xml"/><Relationship Id="rId4"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1.bin"/><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98.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9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2.bin"/><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0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01.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0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0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04.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0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06.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07.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0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09.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1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1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3" name="Shape 1"/>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Shape 2"/>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5" name="Shape 3"/>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p:cNvSpPr/>
          <p:nvPr/>
        </p:nvSpPr>
        <p:spPr>
          <a:xfrm>
            <a:off x="9679" y="549846"/>
            <a:ext cx="3835005" cy="47625"/>
          </a:xfrm>
          <a:custGeom>
            <a:avLst/>
            <a:gdLst/>
            <a:ahLst/>
            <a:cxnLst/>
            <a:rect l="l" t="t" r="r" b="b"/>
            <a:pathLst>
              <a:path w="3835005" h="47625">
                <a:moveTo>
                  <a:pt x="0" y="0"/>
                </a:moveTo>
                <a:lnTo>
                  <a:pt x="3835005" y="0"/>
                </a:lnTo>
                <a:lnTo>
                  <a:pt x="3835005" y="47625"/>
                </a:lnTo>
                <a:lnTo>
                  <a:pt x="0" y="47625"/>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p:cNvSpPr/>
          <p:nvPr/>
        </p:nvSpPr>
        <p:spPr>
          <a:xfrm>
            <a:off x="5323689" y="549846"/>
            <a:ext cx="3835005" cy="47625"/>
          </a:xfrm>
          <a:custGeom>
            <a:avLst/>
            <a:gdLst/>
            <a:ahLst/>
            <a:cxnLst/>
            <a:rect l="l" t="t" r="r" b="b"/>
            <a:pathLst>
              <a:path w="3835005" h="47625">
                <a:moveTo>
                  <a:pt x="0" y="0"/>
                </a:moveTo>
                <a:lnTo>
                  <a:pt x="3835005" y="0"/>
                </a:lnTo>
                <a:lnTo>
                  <a:pt x="3835005" y="47625"/>
                </a:lnTo>
                <a:lnTo>
                  <a:pt x="0" y="47625"/>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Text 7"/>
          <p:cNvSpPr txBox="1"/>
          <p:nvPr/>
        </p:nvSpPr>
        <p:spPr>
          <a:xfrm>
            <a:off x="850696" y="2405632"/>
            <a:ext cx="7458075" cy="642035"/>
          </a:xfrm>
          <a:prstGeom prst="rect">
            <a:avLst/>
          </a:prstGeom>
          <a:noFill/>
          <a:ln/>
        </p:spPr>
        <p:txBody>
          <a:bodyPr wrap="square" lIns="0" tIns="0" rIns="0" bIns="0" rtlCol="0" anchor="t">
            <a:spAutoFit/>
          </a:bodyPr>
          <a:lstStyle/>
          <a:p>
            <a:pPr marL="0" indent="0" algn="ctr">
              <a:lnSpc>
                <a:spcPct val="96000"/>
              </a:lnSpc>
              <a:buNone/>
            </a:pP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规范化理论</a:t>
            </a:r>
            <a:endParaRPr lang="en-US" sz="4346" dirty="0">
              <a:latin typeface="Microsoft YaHei" panose="020B0503020204020204" pitchFamily="34" charset="-122"/>
              <a:ea typeface="Microsoft YaHei" panose="020B0503020204020204" pitchFamily="34" charset="-122"/>
            </a:endParaRPr>
          </a:p>
        </p:txBody>
      </p:sp>
      <p:sp>
        <p:nvSpPr>
          <p:cNvPr id="10" name="Text 8"/>
          <p:cNvSpPr txBox="1"/>
          <p:nvPr/>
        </p:nvSpPr>
        <p:spPr>
          <a:xfrm>
            <a:off x="3415301" y="3365015"/>
            <a:ext cx="2328863" cy="864147"/>
          </a:xfrm>
          <a:prstGeom prst="rect">
            <a:avLst/>
          </a:prstGeom>
          <a:noFill/>
          <a:ln/>
        </p:spPr>
        <p:txBody>
          <a:bodyPr wrap="square" lIns="0" tIns="0" rIns="0" bIns="0" rtlCol="0" anchor="t">
            <a:spAutoFit/>
          </a:bodyPr>
          <a:lstStyle/>
          <a:p>
            <a:pPr marL="0" indent="0" algn="ctr">
              <a:lnSpc>
                <a:spcPct val="96000"/>
              </a:lnSpc>
              <a:buNone/>
            </a:pPr>
            <a:r>
              <a:rPr lang="zh-CN" altLang="en-US" b="1" dirty="0">
                <a:solidFill>
                  <a:srgbClr val="4E4646"/>
                </a:solidFill>
                <a:latin typeface="Microsoft YaHei" panose="020B0503020204020204" pitchFamily="34" charset="-122"/>
                <a:ea typeface="Microsoft YaHei" panose="020B0503020204020204" pitchFamily="34" charset="-122"/>
                <a:cs typeface="SourceHanSansSC-Regular"/>
              </a:rPr>
              <a:t>彭煜玮</a:t>
            </a:r>
            <a:endParaRPr lang="en-US" altLang="zh-CN" b="1" dirty="0">
              <a:solidFill>
                <a:srgbClr val="4E4646"/>
              </a:solidFill>
              <a:latin typeface="Microsoft YaHei" panose="020B0503020204020204" pitchFamily="34" charset="-122"/>
              <a:ea typeface="Microsoft YaHei" panose="020B0503020204020204" pitchFamily="34" charset="-122"/>
              <a:cs typeface="SourceHanSansSC-Regular"/>
            </a:endParaRPr>
          </a:p>
          <a:p>
            <a:pPr marL="0" indent="0" algn="ctr">
              <a:lnSpc>
                <a:spcPct val="96000"/>
              </a:lnSpc>
              <a:buNone/>
            </a:pPr>
            <a:r>
              <a:rPr lang="en-US" altLang="zh-CN" sz="1350" dirty="0" err="1">
                <a:solidFill>
                  <a:srgbClr val="4E4646"/>
                </a:solidFill>
                <a:latin typeface="Microsoft YaHei" panose="020B0503020204020204" pitchFamily="34" charset="-122"/>
                <a:ea typeface="Microsoft YaHei" panose="020B0503020204020204" pitchFamily="34" charset="-122"/>
                <a:cs typeface="SourceHanSansSC-Regular"/>
              </a:rPr>
              <a:t>ywpeng@whu.edu.cn</a:t>
            </a:r>
            <a:endParaRPr lang="en-US" altLang="zh-CN" sz="1350" dirty="0">
              <a:solidFill>
                <a:srgbClr val="4E4646"/>
              </a:solidFill>
              <a:latin typeface="Microsoft YaHei" panose="020B0503020204020204" pitchFamily="34" charset="-122"/>
              <a:ea typeface="Microsoft YaHei" panose="020B0503020204020204" pitchFamily="34" charset="-122"/>
              <a:cs typeface="SourceHanSansSC-Regular"/>
            </a:endParaRPr>
          </a:p>
          <a:p>
            <a:pPr marL="0" indent="0" algn="ctr">
              <a:lnSpc>
                <a:spcPct val="96000"/>
              </a:lnSpc>
              <a:buNone/>
            </a:pPr>
            <a:r>
              <a:rPr lang="zh-CN" altLang="en-US" sz="1350" dirty="0">
                <a:solidFill>
                  <a:srgbClr val="4E4646"/>
                </a:solidFill>
                <a:latin typeface="Microsoft YaHei" panose="020B0503020204020204" pitchFamily="34" charset="-122"/>
                <a:ea typeface="Microsoft YaHei" panose="020B0503020204020204" pitchFamily="34" charset="-122"/>
              </a:rPr>
              <a:t>珞珈图腾数据库实验室</a:t>
            </a:r>
            <a:endParaRPr lang="en-US" altLang="zh-CN" sz="1350" dirty="0">
              <a:solidFill>
                <a:srgbClr val="4E4646"/>
              </a:solidFill>
              <a:latin typeface="Microsoft YaHei" panose="020B0503020204020204" pitchFamily="34" charset="-122"/>
              <a:ea typeface="Microsoft YaHei" panose="020B0503020204020204" pitchFamily="34" charset="-122"/>
            </a:endParaRPr>
          </a:p>
          <a:p>
            <a:pPr marL="0" indent="0" algn="ctr">
              <a:lnSpc>
                <a:spcPct val="96000"/>
              </a:lnSpc>
              <a:buNone/>
            </a:pPr>
            <a:r>
              <a:rPr lang="en-US" altLang="zh-CN" sz="1350" dirty="0">
                <a:solidFill>
                  <a:srgbClr val="4E4646"/>
                </a:solidFill>
                <a:latin typeface="Microsoft YaHei" panose="020B0503020204020204" pitchFamily="34" charset="-122"/>
                <a:ea typeface="Microsoft YaHei" panose="020B0503020204020204" pitchFamily="34" charset="-122"/>
              </a:rPr>
              <a:t>2025.9.1</a:t>
            </a:r>
            <a:endParaRPr lang="en-US" sz="1350" dirty="0">
              <a:latin typeface="Microsoft YaHei" panose="020B0503020204020204" pitchFamily="34" charset="-122"/>
              <a:ea typeface="Microsoft YaHei" panose="020B0503020204020204" pitchFamily="34" charset="-122"/>
            </a:endParaRPr>
          </a:p>
        </p:txBody>
      </p:sp>
      <p:sp>
        <p:nvSpPr>
          <p:cNvPr id="12" name="Text 10"/>
          <p:cNvSpPr txBox="1"/>
          <p:nvPr/>
        </p:nvSpPr>
        <p:spPr>
          <a:xfrm>
            <a:off x="850696" y="1132005"/>
            <a:ext cx="7458075" cy="1143000"/>
          </a:xfrm>
          <a:prstGeom prst="rect">
            <a:avLst/>
          </a:prstGeom>
          <a:noFill/>
          <a:ln/>
        </p:spPr>
        <p:txBody>
          <a:bodyPr wrap="square" lIns="0" tIns="0" rIns="0" bIns="0" rtlCol="0" anchor="t">
            <a:spAutoFit/>
          </a:bodyPr>
          <a:lstStyle/>
          <a:p>
            <a:pPr marL="0" indent="0" algn="ctr">
              <a:lnSpc>
                <a:spcPct val="96000"/>
              </a:lnSpc>
              <a:buNone/>
            </a:pPr>
            <a:r>
              <a:rPr lang="en-US" sz="7500" b="1" dirty="0" err="1">
                <a:solidFill>
                  <a:srgbClr val="148577"/>
                </a:solidFill>
                <a:latin typeface="Microsoft YaHei" panose="020B0503020204020204" pitchFamily="34" charset="-122"/>
                <a:ea typeface="Microsoft YaHei" panose="020B0503020204020204" pitchFamily="34" charset="-122"/>
                <a:cs typeface="SourceHanSansSC-Regular"/>
              </a:rPr>
              <a:t>现代数据库系统</a:t>
            </a:r>
            <a:endParaRPr lang="en-US" sz="7500" dirty="0">
              <a:latin typeface="Microsoft YaHei" panose="020B0503020204020204" pitchFamily="34" charset="-122"/>
              <a:ea typeface="Microsoft YaHei" panose="020B0503020204020204" pitchFamily="34" charset="-122"/>
            </a:endParaRPr>
          </a:p>
        </p:txBody>
      </p:sp>
      <p:sp>
        <p:nvSpPr>
          <p:cNvPr id="13" name="Shape 11"/>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pic>
        <p:nvPicPr>
          <p:cNvPr id="18" name="图片 17" descr="徽标&#10;&#10;AI 生成的内容可能不正确。">
            <a:extLst>
              <a:ext uri="{FF2B5EF4-FFF2-40B4-BE49-F238E27FC236}">
                <a16:creationId xmlns:a16="http://schemas.microsoft.com/office/drawing/2014/main" id="{7F51767B-B579-4F1A-972C-0571B613E027}"/>
              </a:ext>
            </a:extLst>
          </p:cNvPr>
          <p:cNvPicPr>
            <a:picLocks noChangeAspect="1"/>
          </p:cNvPicPr>
          <p:nvPr/>
        </p:nvPicPr>
        <p:blipFill>
          <a:blip r:embed="rId3"/>
          <a:stretch>
            <a:fillRect/>
          </a:stretch>
        </p:blipFill>
        <p:spPr>
          <a:xfrm>
            <a:off x="4202034" y="220502"/>
            <a:ext cx="720574" cy="7189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BEA37-B35A-461E-1D24-C13D7EC8588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9000886-AFFD-56BD-B952-DA7210E3E4FC}"/>
              </a:ext>
            </a:extLst>
          </p:cNvPr>
          <p:cNvSpPr/>
          <p:nvPr/>
        </p:nvSpPr>
        <p:spPr>
          <a:xfrm>
            <a:off x="0" y="0"/>
            <a:ext cx="2793931" cy="5137945"/>
          </a:xfrm>
          <a:custGeom>
            <a:avLst/>
            <a:gdLst/>
            <a:ahLst/>
            <a:cxnLst/>
            <a:rect l="l" t="t" r="r" b="b"/>
            <a:pathLst>
              <a:path w="2793931" h="5137945">
                <a:moveTo>
                  <a:pt x="0" y="0"/>
                </a:moveTo>
                <a:lnTo>
                  <a:pt x="0" y="5137945"/>
                </a:lnTo>
                <a:lnTo>
                  <a:pt x="2793931" y="5137945"/>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pic>
        <p:nvPicPr>
          <p:cNvPr id="3" name="Image 0" descr="//img.tukuppt.com/aippt_uploads/55004950/24/11/16/67383893e246f.png">
            <a:extLst>
              <a:ext uri="{FF2B5EF4-FFF2-40B4-BE49-F238E27FC236}">
                <a16:creationId xmlns:a16="http://schemas.microsoft.com/office/drawing/2014/main" id="{03F35EAD-5834-1449-36DA-1D10B7CA70C1}"/>
              </a:ext>
            </a:extLst>
          </p:cNvPr>
          <p:cNvPicPr>
            <a:picLocks noChangeAspect="1"/>
          </p:cNvPicPr>
          <p:nvPr/>
        </p:nvPicPr>
        <p:blipFill>
          <a:blip r:embed="rId3"/>
          <a:stretch>
            <a:fillRect/>
          </a:stretch>
        </p:blipFill>
        <p:spPr>
          <a:xfrm>
            <a:off x="238269" y="0"/>
            <a:ext cx="5168105" cy="5130104"/>
          </a:xfrm>
          <a:prstGeom prst="rect">
            <a:avLst/>
          </a:prstGeom>
        </p:spPr>
      </p:pic>
      <p:sp>
        <p:nvSpPr>
          <p:cNvPr id="4" name="Shape 1">
            <a:extLst>
              <a:ext uri="{FF2B5EF4-FFF2-40B4-BE49-F238E27FC236}">
                <a16:creationId xmlns:a16="http://schemas.microsoft.com/office/drawing/2014/main" id="{448AEA9C-9DD2-33B3-EC02-608EF99CCE25}"/>
              </a:ext>
            </a:extLst>
          </p:cNvPr>
          <p:cNvSpPr/>
          <p:nvPr/>
        </p:nvSpPr>
        <p:spPr>
          <a:xfrm>
            <a:off x="3113565" y="1110307"/>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5" name="Shape 2">
            <a:extLst>
              <a:ext uri="{FF2B5EF4-FFF2-40B4-BE49-F238E27FC236}">
                <a16:creationId xmlns:a16="http://schemas.microsoft.com/office/drawing/2014/main" id="{EF92AF7E-451F-E748-BA2E-401C504E4DDA}"/>
              </a:ext>
            </a:extLst>
          </p:cNvPr>
          <p:cNvSpPr/>
          <p:nvPr/>
        </p:nvSpPr>
        <p:spPr>
          <a:xfrm>
            <a:off x="3723761" y="2279135"/>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3">
            <a:extLst>
              <a:ext uri="{FF2B5EF4-FFF2-40B4-BE49-F238E27FC236}">
                <a16:creationId xmlns:a16="http://schemas.microsoft.com/office/drawing/2014/main" id="{F61FA37D-075D-14BD-9645-F1C81C19CE65}"/>
              </a:ext>
            </a:extLst>
          </p:cNvPr>
          <p:cNvSpPr/>
          <p:nvPr/>
        </p:nvSpPr>
        <p:spPr>
          <a:xfrm>
            <a:off x="4316296" y="3476764"/>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Text 6">
            <a:extLst>
              <a:ext uri="{FF2B5EF4-FFF2-40B4-BE49-F238E27FC236}">
                <a16:creationId xmlns:a16="http://schemas.microsoft.com/office/drawing/2014/main" id="{502E12E3-3875-727C-3AFC-A29B00A4EAC4}"/>
              </a:ext>
            </a:extLst>
          </p:cNvPr>
          <p:cNvSpPr txBox="1"/>
          <p:nvPr/>
        </p:nvSpPr>
        <p:spPr>
          <a:xfrm>
            <a:off x="3164286" y="1227703"/>
            <a:ext cx="409575" cy="276225"/>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01</a:t>
            </a:r>
            <a:endParaRPr lang="en-US" sz="1800" dirty="0">
              <a:latin typeface="Microsoft YaHei" panose="020B0503020204020204" pitchFamily="34" charset="-122"/>
              <a:ea typeface="Microsoft YaHei" panose="020B0503020204020204" pitchFamily="34" charset="-122"/>
            </a:endParaRPr>
          </a:p>
        </p:txBody>
      </p:sp>
      <p:sp>
        <p:nvSpPr>
          <p:cNvPr id="10" name="Text 7">
            <a:extLst>
              <a:ext uri="{FF2B5EF4-FFF2-40B4-BE49-F238E27FC236}">
                <a16:creationId xmlns:a16="http://schemas.microsoft.com/office/drawing/2014/main" id="{18187866-10A3-BE3C-1D06-10E193335959}"/>
              </a:ext>
            </a:extLst>
          </p:cNvPr>
          <p:cNvSpPr txBox="1"/>
          <p:nvPr/>
        </p:nvSpPr>
        <p:spPr>
          <a:xfrm>
            <a:off x="3774482" y="2396531"/>
            <a:ext cx="409575" cy="276225"/>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02</a:t>
            </a:r>
            <a:endParaRPr lang="en-US" sz="1800" dirty="0">
              <a:latin typeface="Microsoft YaHei" panose="020B0503020204020204" pitchFamily="34" charset="-122"/>
              <a:ea typeface="Microsoft YaHei" panose="020B0503020204020204" pitchFamily="34" charset="-122"/>
            </a:endParaRPr>
          </a:p>
        </p:txBody>
      </p:sp>
      <p:sp>
        <p:nvSpPr>
          <p:cNvPr id="11" name="Text 8">
            <a:extLst>
              <a:ext uri="{FF2B5EF4-FFF2-40B4-BE49-F238E27FC236}">
                <a16:creationId xmlns:a16="http://schemas.microsoft.com/office/drawing/2014/main" id="{9C2A02D7-A019-7510-A4B4-C1297A2AD4DB}"/>
              </a:ext>
            </a:extLst>
          </p:cNvPr>
          <p:cNvSpPr txBox="1"/>
          <p:nvPr/>
        </p:nvSpPr>
        <p:spPr>
          <a:xfrm>
            <a:off x="4371018" y="3594160"/>
            <a:ext cx="409575" cy="276225"/>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03</a:t>
            </a:r>
            <a:endParaRPr lang="en-US" sz="1800" dirty="0">
              <a:latin typeface="Microsoft YaHei" panose="020B0503020204020204" pitchFamily="34" charset="-122"/>
              <a:ea typeface="Microsoft YaHei" panose="020B0503020204020204" pitchFamily="34" charset="-122"/>
            </a:endParaRPr>
          </a:p>
        </p:txBody>
      </p:sp>
      <p:sp>
        <p:nvSpPr>
          <p:cNvPr id="14" name="Text 11">
            <a:extLst>
              <a:ext uri="{FF2B5EF4-FFF2-40B4-BE49-F238E27FC236}">
                <a16:creationId xmlns:a16="http://schemas.microsoft.com/office/drawing/2014/main" id="{17138A35-2F47-02F9-F0EC-FF8863E74859}"/>
              </a:ext>
            </a:extLst>
          </p:cNvPr>
          <p:cNvSpPr txBox="1"/>
          <p:nvPr/>
        </p:nvSpPr>
        <p:spPr>
          <a:xfrm>
            <a:off x="7639544" y="1813676"/>
            <a:ext cx="952500" cy="1233488"/>
          </a:xfrm>
          <a:prstGeom prst="rect">
            <a:avLst/>
          </a:prstGeom>
          <a:noFill/>
          <a:ln/>
        </p:spPr>
        <p:txBody>
          <a:bodyPr wrap="square" lIns="0" tIns="0" rIns="0" bIns="0" rtlCol="0" anchor="t">
            <a:spAutoFit/>
          </a:bodyPr>
          <a:lstStyle/>
          <a:p>
            <a:pPr marL="0" indent="0" algn="ctr">
              <a:lnSpc>
                <a:spcPct val="96000"/>
              </a:lnSpc>
              <a:buNone/>
            </a:pPr>
            <a:r>
              <a:rPr lang="zh-CN" altLang="en-US" sz="4050" b="1" dirty="0">
                <a:solidFill>
                  <a:srgbClr val="FD5220"/>
                </a:solidFill>
                <a:latin typeface="Microsoft YaHei" panose="020B0503020204020204" pitchFamily="34" charset="-122"/>
                <a:ea typeface="Microsoft YaHei" panose="020B0503020204020204" pitchFamily="34" charset="-122"/>
                <a:cs typeface="SourceHanSansSC-Regular"/>
              </a:rPr>
              <a:t>目录</a:t>
            </a:r>
            <a:endParaRPr lang="en-US" sz="4050" dirty="0">
              <a:latin typeface="Microsoft YaHei" panose="020B0503020204020204" pitchFamily="34" charset="-122"/>
              <a:ea typeface="Microsoft YaHei" panose="020B0503020204020204" pitchFamily="34" charset="-122"/>
            </a:endParaRPr>
          </a:p>
        </p:txBody>
      </p:sp>
      <p:sp>
        <p:nvSpPr>
          <p:cNvPr id="15" name="Text 12">
            <a:extLst>
              <a:ext uri="{FF2B5EF4-FFF2-40B4-BE49-F238E27FC236}">
                <a16:creationId xmlns:a16="http://schemas.microsoft.com/office/drawing/2014/main" id="{EA1B1183-E5C6-D0DD-E1B3-F3C319386763}"/>
              </a:ext>
            </a:extLst>
          </p:cNvPr>
          <p:cNvSpPr txBox="1"/>
          <p:nvPr/>
        </p:nvSpPr>
        <p:spPr>
          <a:xfrm rot="5400000">
            <a:off x="7762079" y="2279595"/>
            <a:ext cx="1880497" cy="265907"/>
          </a:xfrm>
          <a:prstGeom prst="rect">
            <a:avLst/>
          </a:prstGeom>
          <a:noFill/>
          <a:ln/>
        </p:spPr>
        <p:txBody>
          <a:bodyPr wrap="square" lIns="0" tIns="0" rIns="0" bIns="0" rtlCol="0" anchor="t">
            <a:spAutoFit/>
          </a:bodyPr>
          <a:lstStyle/>
          <a:p>
            <a:pPr marL="0" indent="0" algn="ctr">
              <a:lnSpc>
                <a:spcPct val="96000"/>
              </a:lnSpc>
              <a:buNone/>
            </a:pPr>
            <a:r>
              <a:rPr lang="en" altLang="en-US" sz="1800" b="1" kern="0" spc="525" dirty="0">
                <a:solidFill>
                  <a:srgbClr val="FD5220"/>
                </a:solidFill>
                <a:latin typeface="Microsoft YaHei" panose="020B0503020204020204" pitchFamily="34" charset="-122"/>
                <a:ea typeface="Microsoft YaHei" panose="020B0503020204020204" pitchFamily="34" charset="-122"/>
                <a:cs typeface="SourceHanSansSC-Regular"/>
              </a:rPr>
              <a:t>CONTENTS</a:t>
            </a:r>
            <a:endParaRPr lang="en-US" sz="1800" dirty="0">
              <a:latin typeface="Microsoft YaHei" panose="020B0503020204020204" pitchFamily="34" charset="-122"/>
              <a:ea typeface="Microsoft YaHei" panose="020B0503020204020204" pitchFamily="34" charset="-122"/>
            </a:endParaRPr>
          </a:p>
        </p:txBody>
      </p:sp>
      <p:sp>
        <p:nvSpPr>
          <p:cNvPr id="16" name="Text 13">
            <a:extLst>
              <a:ext uri="{FF2B5EF4-FFF2-40B4-BE49-F238E27FC236}">
                <a16:creationId xmlns:a16="http://schemas.microsoft.com/office/drawing/2014/main" id="{283B7563-B89B-B00F-0CF1-EE66E2BA755A}"/>
              </a:ext>
            </a:extLst>
          </p:cNvPr>
          <p:cNvSpPr txBox="1"/>
          <p:nvPr/>
        </p:nvSpPr>
        <p:spPr>
          <a:xfrm>
            <a:off x="3998382" y="1183267"/>
            <a:ext cx="3181350" cy="276225"/>
          </a:xfrm>
          <a:prstGeom prst="rect">
            <a:avLst/>
          </a:prstGeom>
          <a:noFill/>
          <a:ln/>
        </p:spPr>
        <p:txBody>
          <a:bodyPr wrap="square" lIns="0" tIns="0" rIns="0" bIns="0" rtlCol="0" anchor="t">
            <a:spAutoFit/>
          </a:bodyPr>
          <a:lstStyle/>
          <a:p>
            <a:pPr marL="0" indent="0" algn="l">
              <a:lnSpc>
                <a:spcPct val="96000"/>
              </a:lnSpc>
              <a:buNone/>
            </a:pPr>
            <a:r>
              <a:rPr lang="zh-CN" altLang="en-US" sz="1800" b="1" dirty="0">
                <a:solidFill>
                  <a:srgbClr val="FD5220"/>
                </a:solidFill>
                <a:latin typeface="Microsoft YaHei" panose="020B0503020204020204" pitchFamily="34" charset="-122"/>
                <a:ea typeface="Microsoft YaHei" panose="020B0503020204020204" pitchFamily="34" charset="-122"/>
                <a:cs typeface="SourceHanSansSC-Regular"/>
              </a:rPr>
              <a:t>函数依赖、范式、规范化</a:t>
            </a:r>
            <a:endParaRPr lang="en-US" sz="1800" dirty="0">
              <a:latin typeface="Microsoft YaHei" panose="020B0503020204020204" pitchFamily="34" charset="-122"/>
              <a:ea typeface="Microsoft YaHei" panose="020B0503020204020204" pitchFamily="34" charset="-122"/>
            </a:endParaRPr>
          </a:p>
        </p:txBody>
      </p:sp>
      <p:sp>
        <p:nvSpPr>
          <p:cNvPr id="17" name="Text 14">
            <a:extLst>
              <a:ext uri="{FF2B5EF4-FFF2-40B4-BE49-F238E27FC236}">
                <a16:creationId xmlns:a16="http://schemas.microsoft.com/office/drawing/2014/main" id="{97F12135-AFBA-A1FF-77B6-1DC359B1B730}"/>
              </a:ext>
            </a:extLst>
          </p:cNvPr>
          <p:cNvSpPr txBox="1"/>
          <p:nvPr/>
        </p:nvSpPr>
        <p:spPr>
          <a:xfrm>
            <a:off x="4653014" y="2406252"/>
            <a:ext cx="2995613" cy="265907"/>
          </a:xfrm>
          <a:prstGeom prst="rect">
            <a:avLst/>
          </a:prstGeom>
          <a:noFill/>
          <a:ln/>
        </p:spPr>
        <p:txBody>
          <a:bodyPr wrap="square" lIns="0" tIns="0" rIns="0" bIns="0" rtlCol="0" anchor="t">
            <a:spAutoFit/>
          </a:bodyPr>
          <a:lstStyle/>
          <a:p>
            <a:pPr marL="0" indent="0" algn="l">
              <a:lnSpc>
                <a:spcPct val="96000"/>
              </a:lnSpc>
              <a:buNone/>
            </a:pPr>
            <a:r>
              <a:rPr lang="zh-CN" altLang="en-US" sz="1800" b="1" dirty="0">
                <a:solidFill>
                  <a:srgbClr val="FD5220"/>
                </a:solidFill>
                <a:latin typeface="Microsoft YaHei" panose="020B0503020204020204" pitchFamily="34" charset="-122"/>
                <a:ea typeface="Microsoft YaHei" panose="020B0503020204020204" pitchFamily="34" charset="-122"/>
                <a:cs typeface="SourceHanSansSC-Regular"/>
              </a:rPr>
              <a:t>关系规范化理论</a:t>
            </a:r>
            <a:endParaRPr lang="en-US" altLang="zh-CN" sz="1800" b="1" dirty="0">
              <a:solidFill>
                <a:srgbClr val="FD5220"/>
              </a:solidFill>
              <a:latin typeface="Microsoft YaHei" panose="020B0503020204020204" pitchFamily="34" charset="-122"/>
              <a:ea typeface="Microsoft YaHei" panose="020B0503020204020204" pitchFamily="34" charset="-122"/>
              <a:cs typeface="SourceHanSansSC-Regular"/>
            </a:endParaRPr>
          </a:p>
        </p:txBody>
      </p:sp>
      <p:sp>
        <p:nvSpPr>
          <p:cNvPr id="18" name="Text 15">
            <a:extLst>
              <a:ext uri="{FF2B5EF4-FFF2-40B4-BE49-F238E27FC236}">
                <a16:creationId xmlns:a16="http://schemas.microsoft.com/office/drawing/2014/main" id="{8401A08A-D327-49A0-3425-DE3180ECB0E7}"/>
              </a:ext>
            </a:extLst>
          </p:cNvPr>
          <p:cNvSpPr txBox="1"/>
          <p:nvPr/>
        </p:nvSpPr>
        <p:spPr>
          <a:xfrm>
            <a:off x="5212222" y="3546947"/>
            <a:ext cx="3081338" cy="276225"/>
          </a:xfrm>
          <a:prstGeom prst="rect">
            <a:avLst/>
          </a:prstGeom>
          <a:noFill/>
          <a:ln/>
        </p:spPr>
        <p:txBody>
          <a:bodyPr wrap="square" lIns="0" tIns="0" rIns="0" bIns="0" rtlCol="0" anchor="t">
            <a:spAutoFit/>
          </a:bodyPr>
          <a:lstStyle/>
          <a:p>
            <a:pPr marL="0" indent="0" algn="l">
              <a:lnSpc>
                <a:spcPct val="96000"/>
              </a:lnSpc>
              <a:buNone/>
            </a:pPr>
            <a:r>
              <a:rPr lang="zh-CN" altLang="en-US" sz="1800" b="1" dirty="0">
                <a:solidFill>
                  <a:srgbClr val="FD5220"/>
                </a:solidFill>
                <a:latin typeface="Microsoft YaHei" panose="020B0503020204020204" pitchFamily="34" charset="-122"/>
                <a:ea typeface="Microsoft YaHei" panose="020B0503020204020204" pitchFamily="34" charset="-122"/>
                <a:cs typeface="SourceHanSansSC-Regular"/>
              </a:rPr>
              <a:t>分解算法</a:t>
            </a:r>
            <a:endParaRPr lang="en-US" sz="18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9892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19C37-8C34-42FB-A8D0-C1CB25CE49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440C33C-87DF-88A3-DB7A-87E56A0C2FCA}"/>
              </a:ext>
            </a:extLst>
          </p:cNvPr>
          <p:cNvSpPr txBox="1"/>
          <p:nvPr/>
        </p:nvSpPr>
        <p:spPr>
          <a:xfrm>
            <a:off x="1006545" y="2781596"/>
            <a:ext cx="7458075" cy="642035"/>
          </a:xfrm>
          <a:prstGeom prst="rect">
            <a:avLst/>
          </a:prstGeom>
          <a:noFill/>
          <a:ln/>
        </p:spPr>
        <p:txBody>
          <a:bodyPr wrap="square" lIns="0" tIns="0" rIns="0" bIns="0" rtlCol="0" anchor="t">
            <a:spAutoFit/>
          </a:bodyPr>
          <a:lstStyle/>
          <a:p>
            <a:pPr marL="0" indent="0" algn="l">
              <a:lnSpc>
                <a:spcPct val="96000"/>
              </a:lnSpc>
              <a:buNone/>
            </a:pP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函数依赖、范式、规范化</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B7287C26-2BB0-4492-F720-B1415CB57588}"/>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321118C1-DBCE-1812-B5F1-FC55D1DBF034}"/>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C0267D86-771D-410F-69EE-3A181993182F}"/>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600A6E83-077A-1AE8-D07A-E0D941EFDB01}"/>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BF3940E8-5F0C-466B-16D9-55F6F352CCE5}"/>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A1D37615-C527-0D56-4AF0-250EC773D738}"/>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C6370916-FF8F-121F-D367-9EACBD726CDA}"/>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06BD18FE-31AD-B225-A6F5-92477457325F}"/>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D3C9F3DC-F5F3-AE26-7BA2-D7DC6DC90AF2}"/>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B51AF575-D720-A41D-8A4C-3FA23EB68B4C}"/>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C70FDA58-C25E-B0FA-0C98-64AC387ADBD1}"/>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F6CA3DBD-A890-A61A-4D92-9A6FFBA13E5E}"/>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C4223E36-06BF-F663-9D9C-17C0E56A333C}"/>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F5886B00-C629-5AEC-FDC0-14BE917DFA0D}"/>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B502BC6F-D77B-FD4C-CE7B-788839BA8C32}"/>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01</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453523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7731" name="文本占位符 1097730"/>
          <p:cNvSpPr>
            <a:spLocks noGrp="1"/>
          </p:cNvSpPr>
          <p:nvPr>
            <p:ph idx="1"/>
          </p:nvPr>
        </p:nvSpPr>
        <p:spPr/>
        <p:txBody>
          <a:bodyPr vert="horz" wrap="square" lIns="68580" tIns="34290" rIns="68580" bIns="34290" numCol="1" anchor="t" anchorCtr="0" compatLnSpc="1">
            <a:normAutofit lnSpcReduction="10000"/>
          </a:bodyPr>
          <a:lstStyle/>
          <a:p>
            <a:pPr marL="257175" indent="-257175" defTabSz="685800" eaLnBrk="0" fontAlgn="base" hangingPunct="0">
              <a:lnSpc>
                <a:spcPct val="120000"/>
              </a:lnSpc>
              <a:spcBef>
                <a:spcPct val="20000"/>
              </a:spcBef>
              <a:spcAft>
                <a:spcPct val="0"/>
              </a:spcAft>
              <a:buClr>
                <a:schemeClr val="folHlink"/>
              </a:buClr>
              <a:buSzPct val="60000"/>
              <a:buNone/>
              <a:defRPr/>
            </a:pPr>
            <a:r>
              <a:rPr lang="zh-CN" altLang="en-US" sz="1800" kern="0" noProof="1"/>
              <a:t>关系模式由五部分组成，即它是一个五元组：</a:t>
            </a:r>
          </a:p>
          <a:p>
            <a:pPr marL="257175" indent="-257175" defTabSz="685800" eaLnBrk="0" fontAlgn="base" hangingPunct="0">
              <a:lnSpc>
                <a:spcPct val="120000"/>
              </a:lnSpc>
              <a:spcBef>
                <a:spcPct val="20000"/>
              </a:spcBef>
              <a:spcAft>
                <a:spcPct val="0"/>
              </a:spcAft>
              <a:buClr>
                <a:schemeClr val="folHlink"/>
              </a:buClr>
              <a:buSzPct val="60000"/>
              <a:buNone/>
              <a:defRPr/>
            </a:pPr>
            <a:r>
              <a:rPr lang="zh-CN" altLang="en-US" sz="1800" kern="0" noProof="1"/>
              <a:t>                   </a:t>
            </a:r>
            <a:r>
              <a:rPr lang="zh-CN" altLang="en-US" sz="1800" kern="0" noProof="1">
                <a:solidFill>
                  <a:srgbClr val="0070C0"/>
                </a:solidFill>
              </a:rPr>
              <a:t> </a:t>
            </a:r>
            <a:r>
              <a:rPr lang="en-US" altLang="zh-CN" sz="2100" kern="0" noProof="1">
                <a:solidFill>
                  <a:srgbClr val="0070C0"/>
                </a:solidFill>
              </a:rPr>
              <a:t>R(U, D, DOM, F)</a:t>
            </a:r>
          </a:p>
          <a:p>
            <a:pPr marL="557213" lvl="1" indent="-214313" defTabSz="685800" eaLnBrk="0" fontAlgn="base" hangingPunct="0">
              <a:lnSpc>
                <a:spcPct val="130000"/>
              </a:lnSpc>
              <a:spcBef>
                <a:spcPct val="20000"/>
              </a:spcBef>
              <a:spcAft>
                <a:spcPct val="0"/>
              </a:spcAft>
              <a:buClr>
                <a:schemeClr val="hlink"/>
              </a:buClr>
              <a:buSzPct val="55000"/>
              <a:buNone/>
              <a:defRPr/>
            </a:pPr>
            <a:r>
              <a:rPr lang="en-US" altLang="zh-CN" sz="1500" kern="0" noProof="1">
                <a:cs typeface="+mn-ea"/>
              </a:rPr>
              <a:t>R</a:t>
            </a:r>
            <a:r>
              <a:rPr lang="zh-CN" altLang="en-US" sz="1500" kern="0" noProof="1">
                <a:cs typeface="+mn-ea"/>
              </a:rPr>
              <a:t>：         </a:t>
            </a:r>
            <a:r>
              <a:rPr lang="en-US" altLang="zh-CN" sz="1500" kern="0" noProof="1">
                <a:cs typeface="+mn-ea"/>
              </a:rPr>
              <a:t> </a:t>
            </a:r>
            <a:r>
              <a:rPr lang="zh-CN" altLang="en-US" sz="1500" kern="0" noProof="1">
                <a:cs typeface="+mn-ea"/>
              </a:rPr>
              <a:t>关系名</a:t>
            </a:r>
          </a:p>
          <a:p>
            <a:pPr marL="557213" lvl="1" indent="-214313" defTabSz="685800" eaLnBrk="0" fontAlgn="base" hangingPunct="0">
              <a:lnSpc>
                <a:spcPct val="130000"/>
              </a:lnSpc>
              <a:spcBef>
                <a:spcPct val="20000"/>
              </a:spcBef>
              <a:spcAft>
                <a:spcPct val="0"/>
              </a:spcAft>
              <a:buClr>
                <a:schemeClr val="hlink"/>
              </a:buClr>
              <a:buSzPct val="55000"/>
              <a:buNone/>
              <a:defRPr/>
            </a:pPr>
            <a:r>
              <a:rPr lang="en-US" altLang="zh-CN" sz="1500" kern="0" noProof="1">
                <a:cs typeface="+mn-ea"/>
              </a:rPr>
              <a:t>U</a:t>
            </a:r>
            <a:r>
              <a:rPr lang="zh-CN" altLang="en-US" sz="1500" kern="0" noProof="1">
                <a:cs typeface="+mn-ea"/>
              </a:rPr>
              <a:t>：        </a:t>
            </a:r>
            <a:r>
              <a:rPr lang="en-US" altLang="zh-CN" sz="1500" kern="0" noProof="1">
                <a:cs typeface="+mn-ea"/>
              </a:rPr>
              <a:t> </a:t>
            </a:r>
            <a:r>
              <a:rPr lang="zh-CN" altLang="en-US" sz="1500" kern="0" noProof="1">
                <a:cs typeface="+mn-ea"/>
              </a:rPr>
              <a:t> 组成该关系的属性名集合</a:t>
            </a:r>
          </a:p>
          <a:p>
            <a:pPr marL="557213" lvl="1" indent="-214313" defTabSz="685800" eaLnBrk="0" fontAlgn="base" hangingPunct="0">
              <a:lnSpc>
                <a:spcPct val="130000"/>
              </a:lnSpc>
              <a:spcBef>
                <a:spcPct val="20000"/>
              </a:spcBef>
              <a:spcAft>
                <a:spcPct val="0"/>
              </a:spcAft>
              <a:buClr>
                <a:schemeClr val="hlink"/>
              </a:buClr>
              <a:buSzPct val="55000"/>
              <a:buNone/>
              <a:defRPr/>
            </a:pPr>
            <a:r>
              <a:rPr lang="en-US" altLang="zh-CN" sz="1500" kern="0" noProof="1">
                <a:cs typeface="+mn-ea"/>
              </a:rPr>
              <a:t>D</a:t>
            </a:r>
            <a:r>
              <a:rPr lang="zh-CN" altLang="en-US" sz="1500" kern="0" noProof="1">
                <a:cs typeface="+mn-ea"/>
              </a:rPr>
              <a:t>：         </a:t>
            </a:r>
            <a:r>
              <a:rPr lang="en-US" altLang="zh-CN" sz="1500" kern="0" noProof="1">
                <a:cs typeface="+mn-ea"/>
              </a:rPr>
              <a:t> </a:t>
            </a:r>
            <a:r>
              <a:rPr lang="zh-CN" altLang="en-US" sz="1500" kern="0" noProof="1">
                <a:cs typeface="+mn-ea"/>
              </a:rPr>
              <a:t>属性组</a:t>
            </a:r>
            <a:r>
              <a:rPr lang="en-US" altLang="zh-CN" sz="1500" kern="0" noProof="1">
                <a:cs typeface="+mn-ea"/>
              </a:rPr>
              <a:t>U</a:t>
            </a:r>
            <a:r>
              <a:rPr lang="zh-CN" altLang="en-US" sz="1500" kern="0" noProof="1">
                <a:cs typeface="+mn-ea"/>
              </a:rPr>
              <a:t>中属性所来自的域</a:t>
            </a:r>
          </a:p>
          <a:p>
            <a:pPr marL="557213" lvl="1" indent="-214313" defTabSz="685800" eaLnBrk="0" fontAlgn="base" hangingPunct="0">
              <a:lnSpc>
                <a:spcPct val="130000"/>
              </a:lnSpc>
              <a:spcBef>
                <a:spcPct val="20000"/>
              </a:spcBef>
              <a:spcAft>
                <a:spcPct val="0"/>
              </a:spcAft>
              <a:buClr>
                <a:schemeClr val="hlink"/>
              </a:buClr>
              <a:buSzPct val="55000"/>
              <a:buNone/>
              <a:defRPr/>
            </a:pPr>
            <a:r>
              <a:rPr lang="en-US" altLang="zh-CN" sz="1500" kern="0" noProof="1">
                <a:cs typeface="+mn-ea"/>
              </a:rPr>
              <a:t>DOM</a:t>
            </a:r>
            <a:r>
              <a:rPr lang="zh-CN" altLang="en-US" sz="1500" kern="0" noProof="1">
                <a:cs typeface="+mn-ea"/>
              </a:rPr>
              <a:t>：    属性向域的映象集合</a:t>
            </a:r>
          </a:p>
          <a:p>
            <a:pPr marL="557213" lvl="1" indent="-214313" defTabSz="685800" eaLnBrk="0" fontAlgn="base" hangingPunct="0">
              <a:lnSpc>
                <a:spcPct val="130000"/>
              </a:lnSpc>
              <a:spcBef>
                <a:spcPct val="20000"/>
              </a:spcBef>
              <a:spcAft>
                <a:spcPct val="0"/>
              </a:spcAft>
              <a:buClr>
                <a:schemeClr val="hlink"/>
              </a:buClr>
              <a:buSzPct val="55000"/>
              <a:buNone/>
              <a:defRPr/>
            </a:pPr>
            <a:r>
              <a:rPr lang="en-US" altLang="zh-CN" sz="1500" b="1" kern="0" noProof="1">
                <a:solidFill>
                  <a:srgbClr val="0070C0"/>
                </a:solidFill>
                <a:cs typeface="+mn-ea"/>
              </a:rPr>
              <a:t>F</a:t>
            </a:r>
            <a:r>
              <a:rPr lang="zh-CN" altLang="en-US" sz="1500" b="1" kern="0" noProof="1">
                <a:solidFill>
                  <a:srgbClr val="0070C0"/>
                </a:solidFill>
                <a:cs typeface="+mn-ea"/>
              </a:rPr>
              <a:t>：        </a:t>
            </a:r>
            <a:r>
              <a:rPr lang="en-US" altLang="zh-CN" sz="1500" b="1" kern="0" noProof="1">
                <a:solidFill>
                  <a:srgbClr val="0070C0"/>
                </a:solidFill>
                <a:cs typeface="+mn-ea"/>
              </a:rPr>
              <a:t> </a:t>
            </a:r>
            <a:r>
              <a:rPr lang="zh-CN" altLang="en-US" sz="1500" b="1" kern="0" noProof="1">
                <a:solidFill>
                  <a:srgbClr val="0070C0"/>
                </a:solidFill>
                <a:cs typeface="+mn-ea"/>
              </a:rPr>
              <a:t> 属性间数据的依赖关系集合</a:t>
            </a:r>
          </a:p>
          <a:p>
            <a:pPr marL="0" indent="0" defTabSz="685800" eaLnBrk="0" fontAlgn="base" hangingPunct="0">
              <a:lnSpc>
                <a:spcPct val="100000"/>
              </a:lnSpc>
              <a:spcBef>
                <a:spcPct val="20000"/>
              </a:spcBef>
              <a:spcAft>
                <a:spcPct val="0"/>
              </a:spcAft>
              <a:buClr>
                <a:schemeClr val="folHlink"/>
              </a:buClr>
              <a:buSzPct val="60000"/>
              <a:buNone/>
              <a:defRPr/>
            </a:pPr>
            <a:endParaRPr lang="zh-CN" altLang="en-US" sz="1350" b="1" kern="0" noProof="1">
              <a:sym typeface="+mn-ea"/>
            </a:endParaRPr>
          </a:p>
          <a:p>
            <a:pPr marL="0" indent="0" defTabSz="685800" eaLnBrk="0" fontAlgn="base" hangingPunct="0">
              <a:lnSpc>
                <a:spcPct val="100000"/>
              </a:lnSpc>
              <a:spcBef>
                <a:spcPct val="20000"/>
              </a:spcBef>
              <a:spcAft>
                <a:spcPct val="0"/>
              </a:spcAft>
              <a:buClr>
                <a:schemeClr val="folHlink"/>
              </a:buClr>
              <a:buSzPct val="60000"/>
              <a:buNone/>
              <a:defRPr/>
            </a:pPr>
            <a:r>
              <a:rPr lang="zh-CN" altLang="en-US" sz="1800" b="1" kern="0" noProof="1">
                <a:sym typeface="+mn-ea"/>
              </a:rPr>
              <a:t>关系：</a:t>
            </a:r>
            <a:endParaRPr lang="zh-CN" altLang="en-US" sz="1800" b="1" kern="0" noProof="1"/>
          </a:p>
          <a:p>
            <a:pPr marL="0" indent="0" defTabSz="685800" eaLnBrk="0" fontAlgn="base" hangingPunct="0">
              <a:lnSpc>
                <a:spcPct val="130000"/>
              </a:lnSpc>
              <a:spcBef>
                <a:spcPct val="20000"/>
              </a:spcBef>
              <a:spcAft>
                <a:spcPct val="0"/>
              </a:spcAft>
              <a:buClr>
                <a:schemeClr val="folHlink"/>
              </a:buClr>
              <a:buSzPct val="60000"/>
              <a:buNone/>
              <a:defRPr/>
            </a:pPr>
            <a:r>
              <a:rPr lang="zh-CN" altLang="en-US" sz="1800" kern="0" noProof="1">
                <a:sym typeface="+mn-ea"/>
              </a:rPr>
              <a:t>        对关系模式 </a:t>
            </a:r>
            <a:r>
              <a:rPr lang="en-US" altLang="zh-CN" sz="1800" kern="0" noProof="1">
                <a:sym typeface="+mn-ea"/>
              </a:rPr>
              <a:t>R&lt;U, F&gt;</a:t>
            </a:r>
            <a:r>
              <a:rPr lang="zh-CN" altLang="en-US" sz="1800" kern="0" noProof="1">
                <a:sym typeface="+mn-ea"/>
              </a:rPr>
              <a:t>，当且仅当</a:t>
            </a:r>
            <a:r>
              <a:rPr lang="en-US" altLang="zh-CN" sz="1800" kern="0" noProof="1">
                <a:sym typeface="+mn-ea"/>
              </a:rPr>
              <a:t>U</a:t>
            </a:r>
            <a:r>
              <a:rPr lang="zh-CN" altLang="en-US" sz="1800" kern="0" noProof="1">
                <a:sym typeface="+mn-ea"/>
              </a:rPr>
              <a:t>上的一个关系</a:t>
            </a:r>
            <a:r>
              <a:rPr lang="en-US" altLang="zh-CN" sz="1800" kern="0" noProof="1">
                <a:sym typeface="+mn-ea"/>
              </a:rPr>
              <a:t>r</a:t>
            </a:r>
            <a:r>
              <a:rPr lang="zh-CN" altLang="en-US" sz="1800" kern="0" noProof="1">
                <a:sym typeface="+mn-ea"/>
              </a:rPr>
              <a:t>满足</a:t>
            </a:r>
            <a:r>
              <a:rPr lang="en-US" altLang="zh-CN" sz="1800" kern="0" noProof="1">
                <a:sym typeface="+mn-ea"/>
              </a:rPr>
              <a:t>F</a:t>
            </a:r>
            <a:r>
              <a:rPr lang="zh-CN" altLang="en-US" sz="1800" kern="0" noProof="1">
                <a:sym typeface="+mn-ea"/>
              </a:rPr>
              <a:t>时，称</a:t>
            </a:r>
            <a:r>
              <a:rPr lang="en-US" altLang="zh-CN" sz="1800" kern="0" noProof="1">
                <a:sym typeface="+mn-ea"/>
              </a:rPr>
              <a:t>r</a:t>
            </a:r>
            <a:r>
              <a:rPr lang="zh-CN" altLang="en-US" sz="1800" kern="0" noProof="1">
                <a:sym typeface="+mn-ea"/>
              </a:rPr>
              <a:t>为关系模式 </a:t>
            </a:r>
            <a:r>
              <a:rPr lang="en-US" altLang="zh-CN" sz="1800" kern="0" noProof="1">
                <a:sym typeface="+mn-ea"/>
              </a:rPr>
              <a:t>R&lt;U, F&gt;</a:t>
            </a:r>
            <a:r>
              <a:rPr lang="zh-CN" altLang="en-US" sz="1800" kern="0" noProof="1">
                <a:sym typeface="+mn-ea"/>
              </a:rPr>
              <a:t>的一个关系。</a:t>
            </a:r>
            <a:endParaRPr lang="zh-CN" altLang="en-US" sz="1800" kern="0" noProof="1"/>
          </a:p>
        </p:txBody>
      </p:sp>
      <p:sp>
        <p:nvSpPr>
          <p:cNvPr id="3" name="标题 2">
            <a:extLst>
              <a:ext uri="{FF2B5EF4-FFF2-40B4-BE49-F238E27FC236}">
                <a16:creationId xmlns:a16="http://schemas.microsoft.com/office/drawing/2014/main" id="{1F9BC47F-2B03-0071-C6A4-80A21947FC50}"/>
              </a:ext>
            </a:extLst>
          </p:cNvPr>
          <p:cNvSpPr>
            <a:spLocks noGrp="1"/>
          </p:cNvSpPr>
          <p:nvPr>
            <p:ph type="title"/>
          </p:nvPr>
        </p:nvSpPr>
        <p:spPr/>
        <p:txBody>
          <a:bodyPr/>
          <a:lstStyle/>
          <a:p>
            <a:r>
              <a:rPr lang="zh-CN" altLang="en-US" dirty="0"/>
              <a:t>关系模式的形式化定义</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ext Box 2"/>
          <p:cNvSpPr txBox="1"/>
          <p:nvPr/>
        </p:nvSpPr>
        <p:spPr>
          <a:xfrm>
            <a:off x="1219523" y="2857502"/>
            <a:ext cx="6457950" cy="1260345"/>
          </a:xfrm>
          <a:prstGeom prst="rect">
            <a:avLst/>
          </a:prstGeom>
          <a:noFill/>
          <a:ln w="9525">
            <a:noFill/>
          </a:ln>
        </p:spPr>
        <p:txBody>
          <a:bodyPr anchor="t" anchorCtr="0">
            <a:spAutoFit/>
          </a:bodyPr>
          <a:lstStyle/>
          <a:p>
            <a:pPr eaLnBrk="0" hangingPunct="0">
              <a:lnSpc>
                <a:spcPct val="130000"/>
              </a:lnSpc>
            </a:pPr>
            <a:r>
              <a:rPr lang="zh-CN" altLang="en-US" sz="1500" dirty="0">
                <a:latin typeface="Microsoft YaHei" panose="020B0503020204020204" pitchFamily="34" charset="-122"/>
                <a:ea typeface="Microsoft YaHei" panose="020B0503020204020204" pitchFamily="34" charset="-122"/>
              </a:rPr>
              <a:t>        网状、层次模型的数据库设计，主要凭设计者的经验直观地选择和确定实体集、属性以及实体间的联系。哪些实体应该合并或分解以及如何合并和分解、每个实体中应该包括哪些属性为宜、属性间的联系如何确定和处理等一系列问题的解决是没有什么固定规则和理论可循的。</a:t>
            </a:r>
          </a:p>
        </p:txBody>
      </p:sp>
      <p:sp>
        <p:nvSpPr>
          <p:cNvPr id="18434" name="Text Box 3"/>
          <p:cNvSpPr txBox="1"/>
          <p:nvPr/>
        </p:nvSpPr>
        <p:spPr>
          <a:xfrm>
            <a:off x="1179042" y="1325736"/>
            <a:ext cx="6538913" cy="960263"/>
          </a:xfrm>
          <a:prstGeom prst="rect">
            <a:avLst/>
          </a:prstGeom>
          <a:noFill/>
          <a:ln w="9525">
            <a:noFill/>
          </a:ln>
        </p:spPr>
        <p:txBody>
          <a:bodyPr anchor="t" anchorCtr="0">
            <a:spAutoFit/>
          </a:bodyPr>
          <a:lstStyle/>
          <a:p>
            <a:pPr eaLnBrk="0" hangingPunct="0">
              <a:lnSpc>
                <a:spcPct val="130000"/>
              </a:lnSpc>
            </a:pPr>
            <a:r>
              <a:rPr lang="zh-CN" altLang="en-US" sz="1500" dirty="0">
                <a:latin typeface="Microsoft YaHei" panose="020B0503020204020204" pitchFamily="34" charset="-122"/>
                <a:ea typeface="Microsoft YaHei" panose="020B0503020204020204" pitchFamily="34" charset="-122"/>
              </a:rPr>
              <a:t>       一个基本的问题：给出一组数据，如何构造一个合适的数据模式？</a:t>
            </a:r>
          </a:p>
          <a:p>
            <a:pPr eaLnBrk="0" hangingPunct="0">
              <a:lnSpc>
                <a:spcPct val="130000"/>
              </a:lnSpc>
            </a:pPr>
            <a:r>
              <a:rPr lang="zh-CN" altLang="en-US" sz="1500" dirty="0">
                <a:latin typeface="Microsoft YaHei" panose="020B0503020204020204" pitchFamily="34" charset="-122"/>
                <a:ea typeface="Microsoft YaHei" panose="020B0503020204020204" pitchFamily="34" charset="-122"/>
              </a:rPr>
              <a:t>       例如：对关系模型，给了一组数据，应该构造几个关系？每个关系由哪些属性组成？</a:t>
            </a:r>
            <a:r>
              <a:rPr lang="en-US" altLang="zh-CN" sz="1500" dirty="0">
                <a:latin typeface="Microsoft YaHei" panose="020B0503020204020204" pitchFamily="34" charset="-122"/>
                <a:ea typeface="Microsoft YaHei" panose="020B0503020204020204" pitchFamily="34" charset="-122"/>
              </a:rPr>
              <a:t>……</a:t>
            </a:r>
          </a:p>
        </p:txBody>
      </p:sp>
      <p:sp>
        <p:nvSpPr>
          <p:cNvPr id="18435" name="Text Box 4"/>
          <p:cNvSpPr txBox="1"/>
          <p:nvPr/>
        </p:nvSpPr>
        <p:spPr>
          <a:xfrm>
            <a:off x="3333239" y="2380466"/>
            <a:ext cx="2492990" cy="323165"/>
          </a:xfrm>
          <a:prstGeom prst="rect">
            <a:avLst/>
          </a:prstGeom>
          <a:solidFill>
            <a:schemeClr val="accent1"/>
          </a:solidFill>
          <a:ln w="9525">
            <a:noFill/>
          </a:ln>
        </p:spPr>
        <p:txBody>
          <a:bodyPr wrap="none" anchor="t" anchorCtr="0">
            <a:spAutoFit/>
          </a:bodyPr>
          <a:lstStyle/>
          <a:p>
            <a:pPr eaLnBrk="0" hangingPunct="0"/>
            <a:r>
              <a:rPr lang="zh-CN" altLang="en-US" sz="1500" dirty="0">
                <a:solidFill>
                  <a:schemeClr val="bg1"/>
                </a:solidFill>
                <a:latin typeface="Microsoft YaHei" panose="020B0503020204020204" pitchFamily="34" charset="-122"/>
                <a:ea typeface="Microsoft YaHei" panose="020B0503020204020204" pitchFamily="34" charset="-122"/>
              </a:rPr>
              <a:t>这就是数据库逻辑设计问题</a:t>
            </a:r>
          </a:p>
        </p:txBody>
      </p:sp>
      <p:sp>
        <p:nvSpPr>
          <p:cNvPr id="4" name="标题 3">
            <a:extLst>
              <a:ext uri="{FF2B5EF4-FFF2-40B4-BE49-F238E27FC236}">
                <a16:creationId xmlns:a16="http://schemas.microsoft.com/office/drawing/2014/main" id="{DD2BAF84-97CD-205B-D084-70D4E92F065C}"/>
              </a:ext>
            </a:extLst>
          </p:cNvPr>
          <p:cNvSpPr>
            <a:spLocks noGrp="1"/>
          </p:cNvSpPr>
          <p:nvPr>
            <p:ph type="title"/>
          </p:nvPr>
        </p:nvSpPr>
        <p:spPr/>
        <p:txBody>
          <a:bodyPr>
            <a:normAutofit/>
          </a:bodyPr>
          <a:lstStyle/>
          <a:p>
            <a:r>
              <a:rPr lang="zh-CN" altLang="en-US" dirty="0"/>
              <a:t>怎样做好关系数据库的设计？</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ext Box 2"/>
          <p:cNvSpPr txBox="1"/>
          <p:nvPr/>
        </p:nvSpPr>
        <p:spPr>
          <a:xfrm>
            <a:off x="908018" y="2087002"/>
            <a:ext cx="2300630" cy="323165"/>
          </a:xfrm>
          <a:prstGeom prst="rect">
            <a:avLst/>
          </a:prstGeom>
          <a:solidFill>
            <a:srgbClr val="FFFFFF"/>
          </a:solidFill>
          <a:ln w="9525">
            <a:noFill/>
          </a:ln>
        </p:spPr>
        <p:txBody>
          <a:bodyPr wrap="none" anchor="t" anchorCtr="0">
            <a:spAutoFit/>
          </a:bodyPr>
          <a:lstStyle/>
          <a:p>
            <a:pPr eaLnBrk="0" hangingPunct="0"/>
            <a:r>
              <a:rPr lang="zh-CN" altLang="en-US" sz="1500" dirty="0">
                <a:solidFill>
                  <a:schemeClr val="tx2"/>
                </a:solidFill>
                <a:latin typeface="Microsoft YaHei" panose="020B0503020204020204" pitchFamily="34" charset="-122"/>
                <a:ea typeface="Microsoft YaHei" panose="020B0503020204020204" pitchFamily="34" charset="-122"/>
              </a:rPr>
              <a:t>关系数据库的规范化理论</a:t>
            </a:r>
          </a:p>
        </p:txBody>
      </p:sp>
      <p:sp>
        <p:nvSpPr>
          <p:cNvPr id="20482" name="Text Box 3"/>
          <p:cNvSpPr txBox="1"/>
          <p:nvPr/>
        </p:nvSpPr>
        <p:spPr>
          <a:xfrm>
            <a:off x="3526833" y="2087001"/>
            <a:ext cx="2909771" cy="323165"/>
          </a:xfrm>
          <a:prstGeom prst="rect">
            <a:avLst/>
          </a:prstGeom>
          <a:noFill/>
          <a:ln w="9525">
            <a:noFill/>
          </a:ln>
        </p:spPr>
        <p:txBody>
          <a:bodyPr wrap="none" anchor="t" anchorCtr="0">
            <a:spAutoFit/>
          </a:bodyPr>
          <a:lstStyle/>
          <a:p>
            <a:pPr eaLnBrk="0" hangingPunct="0"/>
            <a:r>
              <a:rPr lang="en-US" altLang="zh-CN" sz="1500" dirty="0">
                <a:latin typeface="Microsoft YaHei" panose="020B0503020204020204" pitchFamily="34" charset="-122"/>
                <a:ea typeface="Microsoft YaHei" panose="020B0503020204020204" pitchFamily="34" charset="-122"/>
              </a:rPr>
              <a:t>——</a:t>
            </a:r>
            <a:r>
              <a:rPr lang="zh-CN" altLang="en-US" sz="1500" dirty="0">
                <a:latin typeface="Microsoft YaHei" panose="020B0503020204020204" pitchFamily="34" charset="-122"/>
                <a:ea typeface="Microsoft YaHei" panose="020B0503020204020204" pitchFamily="34" charset="-122"/>
              </a:rPr>
              <a:t>数据库逻辑设计的有力工具</a:t>
            </a:r>
          </a:p>
        </p:txBody>
      </p:sp>
      <p:sp>
        <p:nvSpPr>
          <p:cNvPr id="20483" name="Text Box 4"/>
          <p:cNvSpPr txBox="1"/>
          <p:nvPr/>
        </p:nvSpPr>
        <p:spPr>
          <a:xfrm>
            <a:off x="636369" y="2658904"/>
            <a:ext cx="3645550" cy="1263808"/>
          </a:xfrm>
          <a:prstGeom prst="rect">
            <a:avLst/>
          </a:prstGeom>
          <a:noFill/>
          <a:ln w="9525" cap="flat" cmpd="sng">
            <a:solidFill>
              <a:srgbClr val="FFFFFF"/>
            </a:solidFill>
            <a:prstDash val="solid"/>
            <a:miter/>
            <a:headEnd type="none" w="med" len="med"/>
            <a:tailEnd type="none" w="med" len="med"/>
          </a:ln>
        </p:spPr>
        <p:txBody>
          <a:bodyPr wrap="none" anchor="t" anchorCtr="0">
            <a:spAutoFit/>
          </a:bodyPr>
          <a:lstStyle/>
          <a:p>
            <a:pPr eaLnBrk="0" hangingPunct="0">
              <a:lnSpc>
                <a:spcPct val="130000"/>
              </a:lnSpc>
            </a:pPr>
            <a:r>
              <a:rPr lang="zh-CN" altLang="en-US" sz="1500" dirty="0">
                <a:latin typeface="Microsoft YaHei" panose="020B0503020204020204" pitchFamily="34" charset="-122"/>
                <a:ea typeface="Microsoft YaHei" panose="020B0503020204020204" pitchFamily="34" charset="-122"/>
              </a:rPr>
              <a:t>要考虑的几个问题：</a:t>
            </a:r>
          </a:p>
          <a:p>
            <a:pPr eaLnBrk="0" hangingPunct="0">
              <a:lnSpc>
                <a:spcPct val="130000"/>
              </a:lnSpc>
            </a:pPr>
            <a:r>
              <a:rPr lang="zh-CN" altLang="en-US" sz="1500" dirty="0">
                <a:solidFill>
                  <a:srgbClr val="FF0066"/>
                </a:solidFill>
                <a:latin typeface="Microsoft YaHei" panose="020B0503020204020204" pitchFamily="34" charset="-122"/>
                <a:ea typeface="Microsoft YaHei" panose="020B0503020204020204" pitchFamily="34" charset="-122"/>
                <a:sym typeface="Monotype Sorts" pitchFamily="2" charset="2"/>
              </a:rPr>
              <a:t>   </a:t>
            </a:r>
            <a:r>
              <a:rPr lang="zh-CN" altLang="en-US" sz="1500" dirty="0">
                <a:latin typeface="Microsoft YaHei" panose="020B0503020204020204" pitchFamily="34" charset="-122"/>
                <a:ea typeface="Microsoft YaHei" panose="020B0503020204020204" pitchFamily="34" charset="-122"/>
                <a:sym typeface="Monotype Sorts" pitchFamily="2" charset="2"/>
              </a:rPr>
              <a:t>为什么要规范化？ 不合理性？判断？</a:t>
            </a:r>
          </a:p>
          <a:p>
            <a:pPr eaLnBrk="0" hangingPunct="0">
              <a:lnSpc>
                <a:spcPct val="130000"/>
              </a:lnSpc>
            </a:pPr>
            <a:r>
              <a:rPr lang="zh-CN" altLang="en-US" sz="1500" dirty="0">
                <a:solidFill>
                  <a:srgbClr val="FF0066"/>
                </a:solidFill>
                <a:latin typeface="Microsoft YaHei" panose="020B0503020204020204" pitchFamily="34" charset="-122"/>
                <a:ea typeface="Microsoft YaHei" panose="020B0503020204020204" pitchFamily="34" charset="-122"/>
                <a:sym typeface="Monotype Sorts" pitchFamily="2" charset="2"/>
              </a:rPr>
              <a:t>   </a:t>
            </a:r>
            <a:r>
              <a:rPr lang="zh-CN" altLang="en-US" sz="1500" dirty="0">
                <a:latin typeface="Microsoft YaHei" panose="020B0503020204020204" pitchFamily="34" charset="-122"/>
                <a:ea typeface="Microsoft YaHei" panose="020B0503020204020204" pitchFamily="34" charset="-122"/>
                <a:sym typeface="Monotype Sorts" pitchFamily="2" charset="2"/>
              </a:rPr>
              <a:t>怎样规范化？如何处理？</a:t>
            </a:r>
          </a:p>
          <a:p>
            <a:pPr eaLnBrk="0" hangingPunct="0">
              <a:lnSpc>
                <a:spcPct val="130000"/>
              </a:lnSpc>
            </a:pPr>
            <a:r>
              <a:rPr lang="zh-CN" altLang="en-US" sz="1500" dirty="0">
                <a:solidFill>
                  <a:srgbClr val="FF0066"/>
                </a:solidFill>
                <a:latin typeface="Microsoft YaHei" panose="020B0503020204020204" pitchFamily="34" charset="-122"/>
                <a:ea typeface="Microsoft YaHei" panose="020B0503020204020204" pitchFamily="34" charset="-122"/>
                <a:sym typeface="Monotype Sorts" pitchFamily="2" charset="2"/>
              </a:rPr>
              <a:t>   </a:t>
            </a:r>
            <a:r>
              <a:rPr lang="zh-CN" altLang="en-US" sz="1500" dirty="0">
                <a:latin typeface="Microsoft YaHei" panose="020B0503020204020204" pitchFamily="34" charset="-122"/>
                <a:ea typeface="Microsoft YaHei" panose="020B0503020204020204" pitchFamily="34" charset="-122"/>
                <a:sym typeface="Monotype Sorts" pitchFamily="2" charset="2"/>
              </a:rPr>
              <a:t>规范化到什么程度后最合适？</a:t>
            </a:r>
          </a:p>
        </p:txBody>
      </p:sp>
      <p:sp>
        <p:nvSpPr>
          <p:cNvPr id="20484" name="AutoShape 5"/>
          <p:cNvSpPr/>
          <p:nvPr/>
        </p:nvSpPr>
        <p:spPr>
          <a:xfrm>
            <a:off x="5407904" y="2841347"/>
            <a:ext cx="2057400" cy="898922"/>
          </a:xfrm>
          <a:prstGeom prst="cloudCallout">
            <a:avLst>
              <a:gd name="adj1" fmla="val -114254"/>
              <a:gd name="adj2" fmla="val 9198"/>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eaLnBrk="0" hangingPunct="0"/>
            <a:r>
              <a:rPr lang="zh-CN" altLang="en-US" sz="1500" dirty="0">
                <a:solidFill>
                  <a:schemeClr val="bg1"/>
                </a:solidFill>
                <a:latin typeface="Microsoft YaHei" panose="020B0503020204020204" pitchFamily="34" charset="-122"/>
                <a:ea typeface="Microsoft YaHei" panose="020B0503020204020204" pitchFamily="34" charset="-122"/>
              </a:rPr>
              <a:t>这就是本章的主题</a:t>
            </a:r>
          </a:p>
        </p:txBody>
      </p:sp>
      <p:sp>
        <p:nvSpPr>
          <p:cNvPr id="20485" name="Text Box 6"/>
          <p:cNvSpPr txBox="1"/>
          <p:nvPr/>
        </p:nvSpPr>
        <p:spPr>
          <a:xfrm>
            <a:off x="1844330" y="4093192"/>
            <a:ext cx="5455340" cy="553998"/>
          </a:xfrm>
          <a:prstGeom prst="rect">
            <a:avLst/>
          </a:prstGeom>
          <a:noFill/>
          <a:ln w="9525">
            <a:noFill/>
          </a:ln>
        </p:spPr>
        <p:txBody>
          <a:bodyPr wrap="none" anchor="t" anchorCtr="0">
            <a:spAutoFit/>
          </a:bodyPr>
          <a:lstStyle/>
          <a:p>
            <a:pPr eaLnBrk="0" hangingPunct="0"/>
            <a:r>
              <a:rPr lang="zh-CN" altLang="en-US" sz="1500" dirty="0">
                <a:latin typeface="Microsoft YaHei" panose="020B0503020204020204" pitchFamily="34" charset="-122"/>
                <a:ea typeface="Microsoft YaHei" panose="020B0503020204020204" pitchFamily="34" charset="-122"/>
              </a:rPr>
              <a:t>        本节首先用一个例子来说明对关系模式为什么要规范化，</a:t>
            </a:r>
          </a:p>
          <a:p>
            <a:pPr eaLnBrk="0" hangingPunct="0"/>
            <a:r>
              <a:rPr lang="zh-CN" altLang="en-US" sz="1500" dirty="0">
                <a:latin typeface="Microsoft YaHei" panose="020B0503020204020204" pitchFamily="34" charset="-122"/>
                <a:ea typeface="Microsoft YaHei" panose="020B0503020204020204" pitchFamily="34" charset="-122"/>
              </a:rPr>
              <a:t>不经过规范化会产生什么样的结果。</a:t>
            </a:r>
          </a:p>
        </p:txBody>
      </p:sp>
      <p:sp>
        <p:nvSpPr>
          <p:cNvPr id="20486" name="Text Box 7"/>
          <p:cNvSpPr txBox="1"/>
          <p:nvPr/>
        </p:nvSpPr>
        <p:spPr>
          <a:xfrm>
            <a:off x="636384" y="1220788"/>
            <a:ext cx="6860858" cy="660181"/>
          </a:xfrm>
          <a:prstGeom prst="rect">
            <a:avLst/>
          </a:prstGeom>
          <a:noFill/>
          <a:ln w="9525">
            <a:noFill/>
          </a:ln>
        </p:spPr>
        <p:txBody>
          <a:bodyPr wrap="square" anchor="t" anchorCtr="0">
            <a:spAutoFit/>
          </a:bodyPr>
          <a:lstStyle/>
          <a:p>
            <a:pPr eaLnBrk="0" hangingPunct="0">
              <a:lnSpc>
                <a:spcPct val="130000"/>
              </a:lnSpc>
            </a:pPr>
            <a:r>
              <a:rPr lang="zh-CN" altLang="en-US" sz="1500" dirty="0">
                <a:latin typeface="Microsoft YaHei" panose="020B0503020204020204" pitchFamily="34" charset="-122"/>
                <a:ea typeface="Microsoft YaHei" panose="020B0503020204020204" pitchFamily="34" charset="-122"/>
              </a:rPr>
              <a:t>关系数据库的设计是借助近代数学工具而提出来的，形成了一整套定义、公理、定理及各种实用算法，产生了确定、评价关系数据库模式的好方法。</a:t>
            </a:r>
          </a:p>
        </p:txBody>
      </p:sp>
      <p:sp>
        <p:nvSpPr>
          <p:cNvPr id="2" name="标题 1">
            <a:extLst>
              <a:ext uri="{FF2B5EF4-FFF2-40B4-BE49-F238E27FC236}">
                <a16:creationId xmlns:a16="http://schemas.microsoft.com/office/drawing/2014/main" id="{7C98CD1B-FDE0-491A-4EEF-7E70B21B8A8B}"/>
              </a:ext>
            </a:extLst>
          </p:cNvPr>
          <p:cNvSpPr>
            <a:spLocks noGrp="1"/>
          </p:cNvSpPr>
          <p:nvPr>
            <p:ph type="title"/>
          </p:nvPr>
        </p:nvSpPr>
        <p:spPr/>
        <p:txBody>
          <a:bodyPr>
            <a:normAutofit/>
          </a:bodyPr>
          <a:lstStyle/>
          <a:p>
            <a:r>
              <a:rPr lang="zh-CN" altLang="en-US" dirty="0"/>
              <a:t>怎样做好关系数据库的设计？</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p:cNvSpPr>
          <p:nvPr>
            <p:ph idx="1"/>
          </p:nvPr>
        </p:nvSpPr>
        <p:spPr>
          <a:xfrm>
            <a:off x="177254" y="982329"/>
            <a:ext cx="3286617" cy="757239"/>
          </a:xfrm>
        </p:spPr>
        <p:txBody>
          <a:bodyPr vert="horz" wrap="square" lIns="68580" tIns="34290" rIns="68580" bIns="34290" anchor="t" anchorCtr="0"/>
          <a:lstStyle/>
          <a:p>
            <a:pPr eaLnBrk="1" hangingPunct="1"/>
            <a:r>
              <a:rPr lang="en-US" altLang="zh-CN" sz="1800" b="1" dirty="0">
                <a:solidFill>
                  <a:srgbClr val="467886"/>
                </a:solidFill>
              </a:rPr>
              <a:t>【</a:t>
            </a:r>
            <a:r>
              <a:rPr lang="zh-CN" altLang="en-US" sz="1800" b="1" dirty="0">
                <a:solidFill>
                  <a:srgbClr val="467886"/>
                </a:solidFill>
              </a:rPr>
              <a:t>例</a:t>
            </a:r>
            <a:r>
              <a:rPr lang="en-US" altLang="zh-CN" sz="1800" b="1" dirty="0">
                <a:solidFill>
                  <a:srgbClr val="467886"/>
                </a:solidFill>
              </a:rPr>
              <a:t>】</a:t>
            </a:r>
            <a:r>
              <a:rPr lang="zh-CN" altLang="en-US" sz="1800" dirty="0"/>
              <a:t>假设有学生关系模式 </a:t>
            </a:r>
            <a:endParaRPr lang="zh-CN" altLang="en-US" b="1" dirty="0"/>
          </a:p>
          <a:p>
            <a:pPr eaLnBrk="1" hangingPunct="1">
              <a:buNone/>
            </a:pPr>
            <a:endParaRPr lang="zh-CN" altLang="en-US" dirty="0"/>
          </a:p>
        </p:txBody>
      </p:sp>
      <p:sp>
        <p:nvSpPr>
          <p:cNvPr id="21507" name="Text Box 4"/>
          <p:cNvSpPr txBox="1"/>
          <p:nvPr/>
        </p:nvSpPr>
        <p:spPr>
          <a:xfrm>
            <a:off x="99762" y="1739567"/>
            <a:ext cx="2682184" cy="2301720"/>
          </a:xfrm>
          <a:prstGeom prst="rect">
            <a:avLst/>
          </a:prstGeom>
          <a:noFill/>
          <a:ln w="9525">
            <a:noFill/>
          </a:ln>
        </p:spPr>
        <p:txBody>
          <a:bodyPr wrap="square" anchor="t" anchorCtr="0">
            <a:spAutoFit/>
          </a:bodyPr>
          <a:lstStyle/>
          <a:p>
            <a:pPr>
              <a:lnSpc>
                <a:spcPct val="130000"/>
              </a:lnSpc>
              <a:spcBef>
                <a:spcPct val="50000"/>
              </a:spcBef>
            </a:pPr>
            <a:r>
              <a:rPr lang="zh-CN" altLang="en-US" sz="1600" dirty="0">
                <a:latin typeface="Microsoft YaHei" panose="020B0503020204020204" pitchFamily="34" charset="-122"/>
                <a:ea typeface="Microsoft YaHei" panose="020B0503020204020204" pitchFamily="34" charset="-122"/>
              </a:rPr>
              <a:t>其中，</a:t>
            </a:r>
            <a:r>
              <a:rPr lang="en-US" altLang="zh-CN" sz="1600" dirty="0">
                <a:latin typeface="Microsoft YaHei" panose="020B0503020204020204" pitchFamily="34" charset="-122"/>
                <a:ea typeface="Microsoft YaHei" panose="020B0503020204020204" pitchFamily="34" charset="-122"/>
              </a:rPr>
              <a:t>SNO-</a:t>
            </a:r>
            <a:r>
              <a:rPr lang="zh-CN" altLang="en-US" sz="1600" dirty="0">
                <a:latin typeface="Microsoft YaHei" panose="020B0503020204020204" pitchFamily="34" charset="-122"/>
                <a:ea typeface="Microsoft YaHei" panose="020B0503020204020204" pitchFamily="34" charset="-122"/>
              </a:rPr>
              <a:t>学号、</a:t>
            </a:r>
            <a:r>
              <a:rPr lang="en-US" altLang="zh-CN" sz="1600" dirty="0">
                <a:latin typeface="Microsoft YaHei" panose="020B0503020204020204" pitchFamily="34" charset="-122"/>
                <a:ea typeface="Microsoft YaHei" panose="020B0503020204020204" pitchFamily="34" charset="-122"/>
              </a:rPr>
              <a:t>SNAME-</a:t>
            </a:r>
            <a:r>
              <a:rPr lang="zh-CN" altLang="en-US" sz="1600" dirty="0">
                <a:latin typeface="Microsoft YaHei" panose="020B0503020204020204" pitchFamily="34" charset="-122"/>
                <a:ea typeface="Microsoft YaHei" panose="020B0503020204020204" pitchFamily="34" charset="-122"/>
              </a:rPr>
              <a:t>学生姓名、</a:t>
            </a:r>
            <a:r>
              <a:rPr lang="en-US" altLang="zh-CN" sz="1600" dirty="0">
                <a:latin typeface="Microsoft YaHei" panose="020B0503020204020204" pitchFamily="34" charset="-122"/>
                <a:ea typeface="Microsoft YaHei" panose="020B0503020204020204" pitchFamily="34" charset="-122"/>
              </a:rPr>
              <a:t>CLASS-</a:t>
            </a:r>
            <a:r>
              <a:rPr lang="zh-CN" altLang="en-US" sz="1600" dirty="0">
                <a:latin typeface="Microsoft YaHei" panose="020B0503020204020204" pitchFamily="34" charset="-122"/>
                <a:ea typeface="Microsoft YaHei" panose="020B0503020204020204" pitchFamily="34" charset="-122"/>
              </a:rPr>
              <a:t>班级、</a:t>
            </a:r>
            <a:r>
              <a:rPr lang="en-US" altLang="zh-CN" sz="1600" dirty="0">
                <a:latin typeface="Microsoft YaHei" panose="020B0503020204020204" pitchFamily="34" charset="-122"/>
                <a:ea typeface="Microsoft YaHei" panose="020B0503020204020204" pitchFamily="34" charset="-122"/>
              </a:rPr>
              <a:t>CNO—</a:t>
            </a:r>
            <a:r>
              <a:rPr lang="zh-CN" altLang="en-US" sz="1600" dirty="0">
                <a:latin typeface="Microsoft YaHei" panose="020B0503020204020204" pitchFamily="34" charset="-122"/>
                <a:ea typeface="Microsoft YaHei" panose="020B0503020204020204" pitchFamily="34" charset="-122"/>
              </a:rPr>
              <a:t>课程号、 </a:t>
            </a:r>
            <a:r>
              <a:rPr lang="en-US" altLang="zh-CN" sz="1600" dirty="0">
                <a:latin typeface="Microsoft YaHei" panose="020B0503020204020204" pitchFamily="34" charset="-122"/>
                <a:ea typeface="Microsoft YaHei" panose="020B0503020204020204" pitchFamily="34" charset="-122"/>
              </a:rPr>
              <a:t>TNO-</a:t>
            </a:r>
            <a:r>
              <a:rPr lang="zh-CN" altLang="en-US" sz="1600" dirty="0">
                <a:latin typeface="Microsoft YaHei" panose="020B0503020204020204" pitchFamily="34" charset="-122"/>
                <a:ea typeface="Microsoft YaHei" panose="020B0503020204020204" pitchFamily="34" charset="-122"/>
              </a:rPr>
              <a:t>教师号、</a:t>
            </a:r>
            <a:r>
              <a:rPr lang="en-US" altLang="zh-CN" sz="1600" dirty="0">
                <a:latin typeface="Microsoft YaHei" panose="020B0503020204020204" pitchFamily="34" charset="-122"/>
                <a:ea typeface="Microsoft YaHei" panose="020B0503020204020204" pitchFamily="34" charset="-122"/>
              </a:rPr>
              <a:t>TNAME-</a:t>
            </a:r>
            <a:r>
              <a:rPr lang="zh-CN" altLang="en-US" sz="1600" dirty="0">
                <a:latin typeface="Microsoft YaHei" panose="020B0503020204020204" pitchFamily="34" charset="-122"/>
                <a:ea typeface="Microsoft YaHei" panose="020B0503020204020204" pitchFamily="34" charset="-122"/>
              </a:rPr>
              <a:t>教师姓名、</a:t>
            </a:r>
            <a:r>
              <a:rPr lang="en-US" altLang="zh-CN" sz="1600" dirty="0">
                <a:latin typeface="Microsoft YaHei" panose="020B0503020204020204" pitchFamily="34" charset="-122"/>
                <a:ea typeface="Microsoft YaHei" panose="020B0503020204020204" pitchFamily="34" charset="-122"/>
              </a:rPr>
              <a:t>TAGE-</a:t>
            </a:r>
            <a:r>
              <a:rPr lang="zh-CN" altLang="en-US" sz="1600" dirty="0">
                <a:latin typeface="Microsoft YaHei" panose="020B0503020204020204" pitchFamily="34" charset="-122"/>
                <a:ea typeface="Microsoft YaHei" panose="020B0503020204020204" pitchFamily="34" charset="-122"/>
              </a:rPr>
              <a:t>教师年龄、</a:t>
            </a:r>
            <a:r>
              <a:rPr lang="en-US" altLang="zh-CN" sz="1600" dirty="0">
                <a:latin typeface="Microsoft YaHei" panose="020B0503020204020204" pitchFamily="34" charset="-122"/>
                <a:ea typeface="Microsoft YaHei" panose="020B0503020204020204" pitchFamily="34" charset="-122"/>
              </a:rPr>
              <a:t>ADDRESS-</a:t>
            </a:r>
            <a:r>
              <a:rPr lang="zh-CN" altLang="en-US" sz="1600" dirty="0">
                <a:latin typeface="Microsoft YaHei" panose="020B0503020204020204" pitchFamily="34" charset="-122"/>
                <a:ea typeface="Microsoft YaHei" panose="020B0503020204020204" pitchFamily="34" charset="-122"/>
              </a:rPr>
              <a:t>教师地址、</a:t>
            </a:r>
            <a:r>
              <a:rPr lang="en-US" altLang="zh-CN" sz="1600" dirty="0">
                <a:latin typeface="Microsoft YaHei" panose="020B0503020204020204" pitchFamily="34" charset="-122"/>
                <a:ea typeface="Microsoft YaHei" panose="020B0503020204020204" pitchFamily="34" charset="-122"/>
              </a:rPr>
              <a:t>GRADE-</a:t>
            </a:r>
            <a:r>
              <a:rPr lang="zh-CN" altLang="en-US" sz="1600" dirty="0">
                <a:latin typeface="Microsoft YaHei" panose="020B0503020204020204" pitchFamily="34" charset="-122"/>
                <a:ea typeface="Microsoft YaHei" panose="020B0503020204020204" pitchFamily="34" charset="-122"/>
              </a:rPr>
              <a:t>成绩。</a:t>
            </a:r>
          </a:p>
        </p:txBody>
      </p:sp>
      <p:sp>
        <p:nvSpPr>
          <p:cNvPr id="21508" name="Text Box 5"/>
          <p:cNvSpPr txBox="1"/>
          <p:nvPr/>
        </p:nvSpPr>
        <p:spPr>
          <a:xfrm>
            <a:off x="99762" y="1274967"/>
            <a:ext cx="7193166" cy="369332"/>
          </a:xfrm>
          <a:prstGeom prst="rect">
            <a:avLst/>
          </a:prstGeom>
          <a:solidFill>
            <a:srgbClr val="FF99CC"/>
          </a:solidFill>
          <a:ln w="9525">
            <a:noFill/>
          </a:ln>
        </p:spPr>
        <p:txBody>
          <a:bodyPr wrap="square" anchor="t" anchorCtr="0">
            <a:spAutoFit/>
          </a:bodyPr>
          <a:lstStyle/>
          <a:p>
            <a:pPr>
              <a:spcBef>
                <a:spcPct val="50000"/>
              </a:spcBef>
            </a:pPr>
            <a:r>
              <a:rPr lang="en-US" altLang="zh-CN" dirty="0">
                <a:latin typeface="Microsoft YaHei" panose="020B0503020204020204" pitchFamily="34" charset="-122"/>
                <a:ea typeface="Microsoft YaHei" panose="020B0503020204020204" pitchFamily="34" charset="-122"/>
              </a:rPr>
              <a:t>S(SNO,SNAME,CLASS,CNO,TNO,TNAME,TAGE,ADDRESS,GRADE)</a:t>
            </a:r>
          </a:p>
        </p:txBody>
      </p:sp>
      <p:sp>
        <p:nvSpPr>
          <p:cNvPr id="3" name="标题 2">
            <a:extLst>
              <a:ext uri="{FF2B5EF4-FFF2-40B4-BE49-F238E27FC236}">
                <a16:creationId xmlns:a16="http://schemas.microsoft.com/office/drawing/2014/main" id="{131F2A51-8559-178D-A427-0C42AEF00F65}"/>
              </a:ext>
            </a:extLst>
          </p:cNvPr>
          <p:cNvSpPr>
            <a:spLocks noGrp="1"/>
          </p:cNvSpPr>
          <p:nvPr>
            <p:ph type="title"/>
          </p:nvPr>
        </p:nvSpPr>
        <p:spPr/>
        <p:txBody>
          <a:bodyPr/>
          <a:lstStyle/>
          <a:p>
            <a:r>
              <a:rPr lang="zh-CN" altLang="en-US" dirty="0"/>
              <a:t>关系模式实例</a:t>
            </a:r>
          </a:p>
        </p:txBody>
      </p:sp>
      <p:graphicFrame>
        <p:nvGraphicFramePr>
          <p:cNvPr id="4" name="表格 3">
            <a:extLst>
              <a:ext uri="{FF2B5EF4-FFF2-40B4-BE49-F238E27FC236}">
                <a16:creationId xmlns:a16="http://schemas.microsoft.com/office/drawing/2014/main" id="{3E003A6C-13CB-B0B4-B018-E2D20C55377E}"/>
              </a:ext>
            </a:extLst>
          </p:cNvPr>
          <p:cNvGraphicFramePr>
            <a:graphicFrameLocks noGrp="1"/>
          </p:cNvGraphicFramePr>
          <p:nvPr>
            <p:extLst>
              <p:ext uri="{D42A27DB-BD31-4B8C-83A1-F6EECF244321}">
                <p14:modId xmlns:p14="http://schemas.microsoft.com/office/powerpoint/2010/main" val="498635992"/>
              </p:ext>
            </p:extLst>
          </p:nvPr>
        </p:nvGraphicFramePr>
        <p:xfrm>
          <a:off x="3018951" y="1739567"/>
          <a:ext cx="5791199" cy="2930121"/>
        </p:xfrm>
        <a:graphic>
          <a:graphicData uri="http://schemas.openxmlformats.org/drawingml/2006/table">
            <a:tbl>
              <a:tblPr firstRow="1" bandRow="1">
                <a:tableStyleId>{5C22544A-7EE6-4342-B048-85BDC9FD1C3A}</a:tableStyleId>
              </a:tblPr>
              <a:tblGrid>
                <a:gridCol w="495688">
                  <a:extLst>
                    <a:ext uri="{9D8B030D-6E8A-4147-A177-3AD203B41FA5}">
                      <a16:colId xmlns:a16="http://schemas.microsoft.com/office/drawing/2014/main" val="1027506302"/>
                    </a:ext>
                  </a:extLst>
                </a:gridCol>
                <a:gridCol w="699361">
                  <a:extLst>
                    <a:ext uri="{9D8B030D-6E8A-4147-A177-3AD203B41FA5}">
                      <a16:colId xmlns:a16="http://schemas.microsoft.com/office/drawing/2014/main" val="467001664"/>
                    </a:ext>
                  </a:extLst>
                </a:gridCol>
                <a:gridCol w="713825">
                  <a:extLst>
                    <a:ext uri="{9D8B030D-6E8A-4147-A177-3AD203B41FA5}">
                      <a16:colId xmlns:a16="http://schemas.microsoft.com/office/drawing/2014/main" val="2746643635"/>
                    </a:ext>
                  </a:extLst>
                </a:gridCol>
                <a:gridCol w="511444">
                  <a:extLst>
                    <a:ext uri="{9D8B030D-6E8A-4147-A177-3AD203B41FA5}">
                      <a16:colId xmlns:a16="http://schemas.microsoft.com/office/drawing/2014/main" val="1899304591"/>
                    </a:ext>
                  </a:extLst>
                </a:gridCol>
                <a:gridCol w="534691">
                  <a:extLst>
                    <a:ext uri="{9D8B030D-6E8A-4147-A177-3AD203B41FA5}">
                      <a16:colId xmlns:a16="http://schemas.microsoft.com/office/drawing/2014/main" val="777441720"/>
                    </a:ext>
                  </a:extLst>
                </a:gridCol>
                <a:gridCol w="720671">
                  <a:extLst>
                    <a:ext uri="{9D8B030D-6E8A-4147-A177-3AD203B41FA5}">
                      <a16:colId xmlns:a16="http://schemas.microsoft.com/office/drawing/2014/main" val="4156367103"/>
                    </a:ext>
                  </a:extLst>
                </a:gridCol>
                <a:gridCol w="550190">
                  <a:extLst>
                    <a:ext uri="{9D8B030D-6E8A-4147-A177-3AD203B41FA5}">
                      <a16:colId xmlns:a16="http://schemas.microsoft.com/office/drawing/2014/main" val="1428915654"/>
                    </a:ext>
                  </a:extLst>
                </a:gridCol>
                <a:gridCol w="860156">
                  <a:extLst>
                    <a:ext uri="{9D8B030D-6E8A-4147-A177-3AD203B41FA5}">
                      <a16:colId xmlns:a16="http://schemas.microsoft.com/office/drawing/2014/main" val="2269053001"/>
                    </a:ext>
                  </a:extLst>
                </a:gridCol>
                <a:gridCol w="705173">
                  <a:extLst>
                    <a:ext uri="{9D8B030D-6E8A-4147-A177-3AD203B41FA5}">
                      <a16:colId xmlns:a16="http://schemas.microsoft.com/office/drawing/2014/main" val="4258167956"/>
                    </a:ext>
                  </a:extLst>
                </a:gridCol>
              </a:tblGrid>
              <a:tr h="182871">
                <a:tc>
                  <a:txBody>
                    <a:bodyPr/>
                    <a:lstStyle/>
                    <a:p>
                      <a:pPr algn="ctr"/>
                      <a:r>
                        <a:rPr lang="en-US" altLang="zh-CN" sz="1050" dirty="0">
                          <a:latin typeface="Microsoft YaHei" panose="020B0503020204020204" pitchFamily="34" charset="-122"/>
                          <a:ea typeface="Microsoft YaHei" panose="020B0503020204020204" pitchFamily="34" charset="-122"/>
                        </a:rPr>
                        <a:t>SNO</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SNAME</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CLASS</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CNO</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TNO</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TNAME</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TAGE</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ADDRESS</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GRADE</a:t>
                      </a:r>
                      <a:endParaRPr lang="zh-CN" altLang="en-US" sz="1050" dirty="0">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399437621"/>
                  </a:ext>
                </a:extLst>
              </a:tr>
              <a:tr h="182871">
                <a:tc>
                  <a:txBody>
                    <a:bodyPr/>
                    <a:lstStyle/>
                    <a:p>
                      <a:pPr algn="ctr"/>
                      <a:r>
                        <a:rPr lang="en-US" altLang="zh-CN" sz="1050" dirty="0">
                          <a:latin typeface="Microsoft YaHei" panose="020B0503020204020204" pitchFamily="34" charset="-122"/>
                          <a:ea typeface="Microsoft YaHei" panose="020B0503020204020204" pitchFamily="34" charset="-122"/>
                        </a:rPr>
                        <a:t>S1</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zh-CN" altLang="en-US" sz="1050" dirty="0">
                          <a:latin typeface="Microsoft YaHei" panose="020B0503020204020204" pitchFamily="34" charset="-122"/>
                          <a:ea typeface="Microsoft YaHei" panose="020B0503020204020204" pitchFamily="34" charset="-122"/>
                        </a:rPr>
                        <a:t>刘力</a:t>
                      </a: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200101</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C1</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T1</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zh-CN" altLang="en-US" sz="1050" dirty="0">
                          <a:latin typeface="Microsoft YaHei" panose="020B0503020204020204" pitchFamily="34" charset="-122"/>
                          <a:ea typeface="Microsoft YaHei" panose="020B0503020204020204" pitchFamily="34" charset="-122"/>
                        </a:rPr>
                        <a:t>周文军</a:t>
                      </a: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38</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A1</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78</a:t>
                      </a:r>
                      <a:endParaRPr lang="zh-CN" altLang="en-US" sz="1050" dirty="0">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1474861606"/>
                  </a:ext>
                </a:extLst>
              </a:tr>
              <a:tr h="269689">
                <a:tc>
                  <a:txBody>
                    <a:bodyPr/>
                    <a:lstStyle/>
                    <a:p>
                      <a:pPr algn="ctr"/>
                      <a:r>
                        <a:rPr lang="en-US" altLang="zh-CN" sz="1050" dirty="0">
                          <a:latin typeface="Microsoft YaHei" panose="020B0503020204020204" pitchFamily="34" charset="-122"/>
                          <a:ea typeface="Microsoft YaHei" panose="020B0503020204020204" pitchFamily="34" charset="-122"/>
                        </a:rPr>
                        <a:t>S1</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zh-CN" altLang="en-US" sz="1050" dirty="0">
                          <a:latin typeface="Microsoft YaHei" panose="020B0503020204020204" pitchFamily="34" charset="-122"/>
                          <a:ea typeface="Microsoft YaHei" panose="020B0503020204020204" pitchFamily="34" charset="-122"/>
                        </a:rPr>
                        <a:t>刘力</a:t>
                      </a: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200101</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C2</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T2</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zh-CN" altLang="en-US" sz="1050" dirty="0">
                          <a:latin typeface="Microsoft YaHei" panose="020B0503020204020204" pitchFamily="34" charset="-122"/>
                          <a:ea typeface="Microsoft YaHei" panose="020B0503020204020204" pitchFamily="34" charset="-122"/>
                        </a:rPr>
                        <a:t>曹立新</a:t>
                      </a: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27</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A1</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64</a:t>
                      </a:r>
                      <a:endParaRPr lang="zh-CN" altLang="en-US" sz="1050" dirty="0">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2179541405"/>
                  </a:ext>
                </a:extLst>
              </a:tr>
              <a:tr h="269689">
                <a:tc>
                  <a:txBody>
                    <a:bodyPr/>
                    <a:lstStyle/>
                    <a:p>
                      <a:pPr algn="ctr"/>
                      <a:r>
                        <a:rPr lang="en-US" altLang="zh-CN" sz="1050" dirty="0">
                          <a:latin typeface="Microsoft YaHei" panose="020B0503020204020204" pitchFamily="34" charset="-122"/>
                          <a:ea typeface="Microsoft YaHei" panose="020B0503020204020204" pitchFamily="34" charset="-122"/>
                        </a:rPr>
                        <a:t>S2</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zh-CN" altLang="en-US" sz="1050" dirty="0">
                          <a:latin typeface="Microsoft YaHei" panose="020B0503020204020204" pitchFamily="34" charset="-122"/>
                          <a:ea typeface="Microsoft YaHei" panose="020B0503020204020204" pitchFamily="34" charset="-122"/>
                        </a:rPr>
                        <a:t>李军</a:t>
                      </a: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200101</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C1</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T1</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zh-CN" altLang="en-US" sz="1050" dirty="0">
                          <a:latin typeface="Microsoft YaHei" panose="020B0503020204020204" pitchFamily="34" charset="-122"/>
                          <a:ea typeface="Microsoft YaHei" panose="020B0503020204020204" pitchFamily="34" charset="-122"/>
                        </a:rPr>
                        <a:t>周文军</a:t>
                      </a: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38</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A1</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85</a:t>
                      </a:r>
                      <a:endParaRPr lang="zh-CN" altLang="en-US" sz="1050" dirty="0">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470976375"/>
                  </a:ext>
                </a:extLst>
              </a:tr>
              <a:tr h="269689">
                <a:tc>
                  <a:txBody>
                    <a:bodyPr/>
                    <a:lstStyle/>
                    <a:p>
                      <a:pPr algn="ctr"/>
                      <a:r>
                        <a:rPr lang="en-US" altLang="zh-CN" sz="1050" dirty="0">
                          <a:latin typeface="Microsoft YaHei" panose="020B0503020204020204" pitchFamily="34" charset="-122"/>
                          <a:ea typeface="Microsoft YaHei" panose="020B0503020204020204" pitchFamily="34" charset="-122"/>
                        </a:rPr>
                        <a:t>S2</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zh-CN" altLang="en-US" sz="1050" dirty="0">
                          <a:latin typeface="Microsoft YaHei" panose="020B0503020204020204" pitchFamily="34" charset="-122"/>
                          <a:ea typeface="Microsoft YaHei" panose="020B0503020204020204" pitchFamily="34" charset="-122"/>
                        </a:rPr>
                        <a:t>李军</a:t>
                      </a: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200101</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C2</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T2</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zh-CN" altLang="en-US" sz="1050" dirty="0">
                          <a:latin typeface="Microsoft YaHei" panose="020B0503020204020204" pitchFamily="34" charset="-122"/>
                          <a:ea typeface="Microsoft YaHei" panose="020B0503020204020204" pitchFamily="34" charset="-122"/>
                        </a:rPr>
                        <a:t>曹立新</a:t>
                      </a: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27</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A1</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62</a:t>
                      </a:r>
                      <a:endParaRPr lang="zh-CN" altLang="en-US" sz="1050" dirty="0">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563194819"/>
                  </a:ext>
                </a:extLst>
              </a:tr>
              <a:tr h="269689">
                <a:tc>
                  <a:txBody>
                    <a:bodyPr/>
                    <a:lstStyle/>
                    <a:p>
                      <a:pPr algn="ctr"/>
                      <a:r>
                        <a:rPr lang="en-US" altLang="zh-CN" sz="1050" dirty="0">
                          <a:latin typeface="Microsoft YaHei" panose="020B0503020204020204" pitchFamily="34" charset="-122"/>
                          <a:ea typeface="Microsoft YaHei" panose="020B0503020204020204" pitchFamily="34" charset="-122"/>
                        </a:rPr>
                        <a:t>S2</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zh-CN" altLang="en-US" sz="1050" dirty="0">
                          <a:latin typeface="Microsoft YaHei" panose="020B0503020204020204" pitchFamily="34" charset="-122"/>
                          <a:ea typeface="Microsoft YaHei" panose="020B0503020204020204" pitchFamily="34" charset="-122"/>
                        </a:rPr>
                        <a:t>李军</a:t>
                      </a: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200101</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C3</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T3</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zh-CN" altLang="en-US" sz="1050" dirty="0">
                          <a:latin typeface="Microsoft YaHei" panose="020B0503020204020204" pitchFamily="34" charset="-122"/>
                          <a:ea typeface="Microsoft YaHei" panose="020B0503020204020204" pitchFamily="34" charset="-122"/>
                        </a:rPr>
                        <a:t>罗晓丽</a:t>
                      </a: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52</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A2</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85</a:t>
                      </a:r>
                      <a:endParaRPr lang="zh-CN" altLang="en-US" sz="1050" dirty="0">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85486064"/>
                  </a:ext>
                </a:extLst>
              </a:tr>
              <a:tr h="269689">
                <a:tc>
                  <a:txBody>
                    <a:bodyPr/>
                    <a:lstStyle/>
                    <a:p>
                      <a:pPr algn="ctr"/>
                      <a:r>
                        <a:rPr lang="en-US" altLang="zh-CN" sz="1050" dirty="0">
                          <a:latin typeface="Microsoft YaHei" panose="020B0503020204020204" pitchFamily="34" charset="-122"/>
                          <a:ea typeface="Microsoft YaHei" panose="020B0503020204020204" pitchFamily="34" charset="-122"/>
                        </a:rPr>
                        <a:t>S3</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zh-CN" altLang="en-US" sz="1050" dirty="0">
                          <a:latin typeface="Microsoft YaHei" panose="020B0503020204020204" pitchFamily="34" charset="-122"/>
                          <a:ea typeface="Microsoft YaHei" panose="020B0503020204020204" pitchFamily="34" charset="-122"/>
                        </a:rPr>
                        <a:t>王林</a:t>
                      </a: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200102</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C1</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T1</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050" dirty="0">
                          <a:latin typeface="Microsoft YaHei" panose="020B0503020204020204" pitchFamily="34" charset="-122"/>
                          <a:ea typeface="Microsoft YaHei" panose="020B0503020204020204" pitchFamily="34" charset="-122"/>
                        </a:rPr>
                        <a:t>周文军</a:t>
                      </a: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38</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A1</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72</a:t>
                      </a:r>
                      <a:endParaRPr lang="zh-CN" altLang="en-US" sz="1050" dirty="0">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127995948"/>
                  </a:ext>
                </a:extLst>
              </a:tr>
              <a:tr h="269689">
                <a:tc>
                  <a:txBody>
                    <a:bodyPr/>
                    <a:lstStyle/>
                    <a:p>
                      <a:pPr algn="ctr"/>
                      <a:r>
                        <a:rPr lang="en-US" altLang="zh-CN" sz="1050" dirty="0">
                          <a:latin typeface="Microsoft YaHei" panose="020B0503020204020204" pitchFamily="34" charset="-122"/>
                          <a:ea typeface="Microsoft YaHei" panose="020B0503020204020204" pitchFamily="34" charset="-122"/>
                        </a:rPr>
                        <a:t>S3</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zh-CN" altLang="en-US" sz="1050" dirty="0">
                          <a:latin typeface="Microsoft YaHei" panose="020B0503020204020204" pitchFamily="34" charset="-122"/>
                          <a:ea typeface="Microsoft YaHei" panose="020B0503020204020204" pitchFamily="34" charset="-122"/>
                        </a:rPr>
                        <a:t>王林</a:t>
                      </a: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200102</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C3</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T3</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050" dirty="0">
                          <a:latin typeface="Microsoft YaHei" panose="020B0503020204020204" pitchFamily="34" charset="-122"/>
                          <a:ea typeface="Microsoft YaHei" panose="020B0503020204020204" pitchFamily="34" charset="-122"/>
                        </a:rPr>
                        <a:t>罗晓丽</a:t>
                      </a: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52</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A2</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93</a:t>
                      </a:r>
                      <a:endParaRPr lang="zh-CN" altLang="en-US" sz="1050" dirty="0">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3458975699"/>
                  </a:ext>
                </a:extLst>
              </a:tr>
              <a:tr h="269689">
                <a:tc>
                  <a:txBody>
                    <a:bodyPr/>
                    <a:lstStyle/>
                    <a:p>
                      <a:pPr algn="ctr"/>
                      <a:r>
                        <a:rPr lang="en-US" altLang="zh-CN" sz="1050" dirty="0">
                          <a:latin typeface="Microsoft YaHei" panose="020B0503020204020204" pitchFamily="34" charset="-122"/>
                          <a:ea typeface="Microsoft YaHei" panose="020B0503020204020204" pitchFamily="34" charset="-122"/>
                        </a:rPr>
                        <a:t>S4</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zh-CN" altLang="en-US" sz="1050" dirty="0">
                          <a:latin typeface="Microsoft YaHei" panose="020B0503020204020204" pitchFamily="34" charset="-122"/>
                          <a:ea typeface="Microsoft YaHei" panose="020B0503020204020204" pitchFamily="34" charset="-122"/>
                        </a:rPr>
                        <a:t>沈国立</a:t>
                      </a: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200102</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C2</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T2</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zh-CN" altLang="en-US" sz="1050" dirty="0">
                          <a:latin typeface="Microsoft YaHei" panose="020B0503020204020204" pitchFamily="34" charset="-122"/>
                          <a:ea typeface="Microsoft YaHei" panose="020B0503020204020204" pitchFamily="34" charset="-122"/>
                        </a:rPr>
                        <a:t>曹立新</a:t>
                      </a: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27</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A1</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72</a:t>
                      </a:r>
                      <a:endParaRPr lang="zh-CN" altLang="en-US" sz="1050" dirty="0">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792671955"/>
                  </a:ext>
                </a:extLst>
              </a:tr>
              <a:tr h="269689">
                <a:tc>
                  <a:txBody>
                    <a:bodyPr/>
                    <a:lstStyle/>
                    <a:p>
                      <a:pPr algn="ctr"/>
                      <a:r>
                        <a:rPr lang="en-US" altLang="zh-CN" sz="1050" dirty="0">
                          <a:latin typeface="Microsoft YaHei" panose="020B0503020204020204" pitchFamily="34" charset="-122"/>
                          <a:ea typeface="Microsoft YaHei" panose="020B0503020204020204" pitchFamily="34" charset="-122"/>
                        </a:rPr>
                        <a:t>S4</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zh-CN" altLang="en-US" sz="1050" dirty="0">
                          <a:latin typeface="Microsoft YaHei" panose="020B0503020204020204" pitchFamily="34" charset="-122"/>
                          <a:ea typeface="Microsoft YaHei" panose="020B0503020204020204" pitchFamily="34" charset="-122"/>
                        </a:rPr>
                        <a:t>沈国立</a:t>
                      </a: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200102</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C3</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T3</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zh-CN" altLang="en-US" sz="1050" dirty="0">
                          <a:latin typeface="Microsoft YaHei" panose="020B0503020204020204" pitchFamily="34" charset="-122"/>
                          <a:ea typeface="Microsoft YaHei" panose="020B0503020204020204" pitchFamily="34" charset="-122"/>
                        </a:rPr>
                        <a:t>罗晓丽</a:t>
                      </a: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52</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A1</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66</a:t>
                      </a:r>
                      <a:endParaRPr lang="zh-CN" altLang="en-US" sz="1050" dirty="0">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3590049294"/>
                  </a:ext>
                </a:extLst>
              </a:tr>
              <a:tr h="269689">
                <a:tc>
                  <a:txBody>
                    <a:bodyPr/>
                    <a:lstStyle/>
                    <a:p>
                      <a:pPr algn="ctr"/>
                      <a:r>
                        <a:rPr lang="en-US" altLang="zh-CN" sz="1050" dirty="0">
                          <a:latin typeface="Microsoft YaHei" panose="020B0503020204020204" pitchFamily="34" charset="-122"/>
                          <a:ea typeface="Microsoft YaHei" panose="020B0503020204020204" pitchFamily="34" charset="-122"/>
                        </a:rPr>
                        <a:t>S4</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zh-CN" altLang="en-US" sz="1050" dirty="0">
                          <a:latin typeface="Microsoft YaHei" panose="020B0503020204020204" pitchFamily="34" charset="-122"/>
                          <a:ea typeface="Microsoft YaHei" panose="020B0503020204020204" pitchFamily="34" charset="-122"/>
                        </a:rPr>
                        <a:t>沈国立</a:t>
                      </a: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200102</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C4</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T1</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050" dirty="0">
                          <a:latin typeface="Microsoft YaHei" panose="020B0503020204020204" pitchFamily="34" charset="-122"/>
                          <a:ea typeface="Microsoft YaHei" panose="020B0503020204020204" pitchFamily="34" charset="-122"/>
                        </a:rPr>
                        <a:t>周文军</a:t>
                      </a: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38</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A1</a:t>
                      </a:r>
                      <a:endParaRPr lang="zh-CN" altLang="en-US" sz="105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1050" dirty="0">
                          <a:latin typeface="Microsoft YaHei" panose="020B0503020204020204" pitchFamily="34" charset="-122"/>
                          <a:ea typeface="Microsoft YaHei" panose="020B0503020204020204" pitchFamily="34" charset="-122"/>
                        </a:rPr>
                        <a:t>73</a:t>
                      </a:r>
                      <a:endParaRPr lang="zh-CN" altLang="en-US" sz="1050" dirty="0">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2202069042"/>
                  </a:ext>
                </a:extLst>
              </a:tr>
            </a:tbl>
          </a:graphicData>
        </a:graphic>
      </p:graphicFrame>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p:cNvSpPr>
          <p:nvPr>
            <p:ph idx="1"/>
          </p:nvPr>
        </p:nvSpPr>
        <p:spPr/>
        <p:txBody>
          <a:bodyPr vert="horz" wrap="square" lIns="68580" tIns="34290" rIns="68580" bIns="34290" anchor="t" anchorCtr="0"/>
          <a:lstStyle/>
          <a:p>
            <a:pPr marL="0" indent="0">
              <a:lnSpc>
                <a:spcPct val="120000"/>
              </a:lnSpc>
              <a:spcBef>
                <a:spcPct val="10000"/>
              </a:spcBef>
              <a:buNone/>
            </a:pPr>
            <a:r>
              <a:rPr lang="zh-CN" altLang="en-US" sz="1800" b="1" dirty="0"/>
              <a:t>（</a:t>
            </a:r>
            <a:r>
              <a:rPr lang="en-US" altLang="zh-CN" sz="1800" b="1" dirty="0"/>
              <a:t>1</a:t>
            </a:r>
            <a:r>
              <a:rPr lang="zh-CN" altLang="en-US" sz="1800" b="1" dirty="0"/>
              <a:t>）数据冗余度高。</a:t>
            </a:r>
          </a:p>
          <a:p>
            <a:pPr marL="0" indent="0">
              <a:lnSpc>
                <a:spcPct val="120000"/>
              </a:lnSpc>
              <a:spcBef>
                <a:spcPct val="10000"/>
              </a:spcBef>
              <a:buNone/>
            </a:pPr>
            <a:r>
              <a:rPr lang="zh-CN" altLang="en-US" sz="1800" dirty="0"/>
              <a:t>    </a:t>
            </a:r>
            <a:r>
              <a:rPr lang="en-US" altLang="zh-CN" sz="1800" dirty="0"/>
              <a:t>SNAME</a:t>
            </a:r>
            <a:r>
              <a:rPr lang="zh-CN" altLang="en-US" sz="1800" dirty="0"/>
              <a:t>、</a:t>
            </a:r>
            <a:r>
              <a:rPr lang="en-US" altLang="zh-CN" sz="1800" dirty="0"/>
              <a:t>CLASS</a:t>
            </a:r>
            <a:r>
              <a:rPr lang="zh-CN" altLang="en-US" sz="1800" dirty="0"/>
              <a:t>、</a:t>
            </a:r>
            <a:r>
              <a:rPr lang="en-US" altLang="zh-CN" sz="1800" dirty="0"/>
              <a:t>TNO</a:t>
            </a:r>
            <a:r>
              <a:rPr lang="zh-CN" altLang="en-US" sz="1800" dirty="0"/>
              <a:t>、</a:t>
            </a:r>
            <a:r>
              <a:rPr lang="en-US" altLang="zh-CN" sz="1800" dirty="0"/>
              <a:t>TNAME</a:t>
            </a:r>
            <a:r>
              <a:rPr lang="zh-CN" altLang="en-US" sz="1800" dirty="0"/>
              <a:t>、</a:t>
            </a:r>
            <a:r>
              <a:rPr lang="en-US" altLang="zh-CN" sz="1800" dirty="0"/>
              <a:t>TAGE</a:t>
            </a:r>
            <a:r>
              <a:rPr lang="zh-CN" altLang="en-US" sz="1800" dirty="0"/>
              <a:t>、</a:t>
            </a:r>
            <a:r>
              <a:rPr lang="en-US" altLang="zh-CN" sz="1800" dirty="0"/>
              <a:t>ADDRESS</a:t>
            </a:r>
            <a:r>
              <a:rPr lang="zh-CN" altLang="en-US" sz="1800" dirty="0"/>
              <a:t>重复存储多次。 </a:t>
            </a:r>
          </a:p>
          <a:p>
            <a:pPr marL="0" indent="0" algn="just">
              <a:lnSpc>
                <a:spcPct val="120000"/>
              </a:lnSpc>
              <a:spcBef>
                <a:spcPct val="10000"/>
              </a:spcBef>
              <a:buNone/>
            </a:pPr>
            <a:r>
              <a:rPr lang="zh-CN" altLang="en-US" sz="1800" b="1" dirty="0"/>
              <a:t>（</a:t>
            </a:r>
            <a:r>
              <a:rPr lang="en-US" altLang="zh-CN" sz="1800" b="1" dirty="0"/>
              <a:t>2</a:t>
            </a:r>
            <a:r>
              <a:rPr lang="zh-CN" altLang="en-US" sz="1800" b="1" dirty="0"/>
              <a:t>）数据修改复杂。</a:t>
            </a:r>
            <a:r>
              <a:rPr lang="zh-CN" altLang="en-US" sz="1800" dirty="0"/>
              <a:t>容易造成数据的不一致性。</a:t>
            </a:r>
          </a:p>
          <a:p>
            <a:pPr marL="0" indent="0" algn="just">
              <a:lnSpc>
                <a:spcPct val="120000"/>
              </a:lnSpc>
              <a:spcBef>
                <a:spcPct val="10000"/>
              </a:spcBef>
              <a:buNone/>
            </a:pPr>
            <a:r>
              <a:rPr lang="zh-CN" altLang="en-US" sz="1800" b="1" dirty="0"/>
              <a:t>（</a:t>
            </a:r>
            <a:r>
              <a:rPr lang="en-US" altLang="zh-CN" sz="1800" b="1" dirty="0"/>
              <a:t>3</a:t>
            </a:r>
            <a:r>
              <a:rPr lang="zh-CN" altLang="en-US" sz="1800" b="1" dirty="0"/>
              <a:t>）插入异常。</a:t>
            </a:r>
          </a:p>
          <a:p>
            <a:pPr marL="0" indent="0" algn="just">
              <a:lnSpc>
                <a:spcPct val="120000"/>
              </a:lnSpc>
              <a:spcBef>
                <a:spcPct val="10000"/>
              </a:spcBef>
              <a:buNone/>
            </a:pPr>
            <a:r>
              <a:rPr lang="zh-CN" altLang="en-US" sz="1800" dirty="0"/>
              <a:t>    </a:t>
            </a:r>
            <a:r>
              <a:rPr lang="zh-CN" altLang="en-US" sz="1800" b="1" dirty="0">
                <a:solidFill>
                  <a:schemeClr val="hlink"/>
                </a:solidFill>
              </a:rPr>
              <a:t>插入异常</a:t>
            </a:r>
            <a:r>
              <a:rPr lang="zh-CN" altLang="en-US" sz="1800" dirty="0"/>
              <a:t>是指应该插入到数据库中的数据不能执行插入操作的情形。</a:t>
            </a:r>
          </a:p>
          <a:p>
            <a:pPr marL="0" indent="0" algn="just">
              <a:lnSpc>
                <a:spcPct val="60000"/>
              </a:lnSpc>
              <a:spcBef>
                <a:spcPct val="50000"/>
              </a:spcBef>
              <a:buNone/>
            </a:pPr>
            <a:endParaRPr lang="zh-CN" altLang="en-US" sz="1500" dirty="0"/>
          </a:p>
          <a:p>
            <a:pPr marL="0" indent="0" algn="just">
              <a:lnSpc>
                <a:spcPct val="60000"/>
              </a:lnSpc>
              <a:spcBef>
                <a:spcPct val="50000"/>
              </a:spcBef>
              <a:buNone/>
            </a:pPr>
            <a:endParaRPr lang="zh-CN" altLang="en-US" sz="1500" dirty="0"/>
          </a:p>
        </p:txBody>
      </p:sp>
      <p:sp>
        <p:nvSpPr>
          <p:cNvPr id="23555" name="Text Box 4"/>
          <p:cNvSpPr txBox="1"/>
          <p:nvPr/>
        </p:nvSpPr>
        <p:spPr>
          <a:xfrm>
            <a:off x="1420416" y="3251920"/>
            <a:ext cx="2046684" cy="415498"/>
          </a:xfrm>
          <a:prstGeom prst="rect">
            <a:avLst/>
          </a:prstGeom>
          <a:noFill/>
          <a:ln w="9525">
            <a:noFill/>
          </a:ln>
        </p:spPr>
        <p:txBody>
          <a:bodyPr anchor="t" anchorCtr="0">
            <a:spAutoFit/>
          </a:bodyPr>
          <a:lstStyle/>
          <a:p>
            <a:pPr>
              <a:spcBef>
                <a:spcPct val="50000"/>
              </a:spcBef>
            </a:pPr>
            <a:r>
              <a:rPr lang="zh-CN" altLang="en-US" sz="2100" dirty="0">
                <a:solidFill>
                  <a:schemeClr val="hlink"/>
                </a:solidFill>
                <a:latin typeface="Microsoft YaHei" panose="020B0503020204020204" pitchFamily="34" charset="-122"/>
                <a:ea typeface="Microsoft YaHei" panose="020B0503020204020204" pitchFamily="34" charset="-122"/>
              </a:rPr>
              <a:t>关系S的主键：</a:t>
            </a:r>
          </a:p>
        </p:txBody>
      </p:sp>
      <p:sp>
        <p:nvSpPr>
          <p:cNvPr id="23556" name="Text Box 5"/>
          <p:cNvSpPr txBox="1"/>
          <p:nvPr/>
        </p:nvSpPr>
        <p:spPr>
          <a:xfrm>
            <a:off x="3349823" y="3275003"/>
            <a:ext cx="1818085" cy="369332"/>
          </a:xfrm>
          <a:prstGeom prst="rect">
            <a:avLst/>
          </a:prstGeom>
          <a:solidFill>
            <a:srgbClr val="339966"/>
          </a:solidFill>
          <a:ln w="9525">
            <a:noFill/>
          </a:ln>
        </p:spPr>
        <p:txBody>
          <a:bodyPr anchor="t" anchorCtr="0">
            <a:spAutoFit/>
          </a:bodyPr>
          <a:lstStyle/>
          <a:p>
            <a:pPr>
              <a:spcBef>
                <a:spcPct val="50000"/>
              </a:spcBef>
            </a:pPr>
            <a:r>
              <a:rPr lang="zh-CN" altLang="en-US" dirty="0">
                <a:solidFill>
                  <a:schemeClr val="bg1"/>
                </a:solidFill>
                <a:latin typeface="Microsoft YaHei" panose="020B0503020204020204" pitchFamily="34" charset="-122"/>
                <a:ea typeface="Microsoft YaHei" panose="020B0503020204020204" pitchFamily="34" charset="-122"/>
              </a:rPr>
              <a:t>（</a:t>
            </a:r>
            <a:r>
              <a:rPr lang="en-US" altLang="zh-CN" dirty="0">
                <a:solidFill>
                  <a:schemeClr val="bg1"/>
                </a:solidFill>
                <a:latin typeface="Microsoft YaHei" panose="020B0503020204020204" pitchFamily="34" charset="-122"/>
                <a:ea typeface="Microsoft YaHei" panose="020B0503020204020204" pitchFamily="34" charset="-122"/>
              </a:rPr>
              <a:t>SNO</a:t>
            </a:r>
            <a:r>
              <a:rPr lang="zh-CN" altLang="en-US" dirty="0">
                <a:solidFill>
                  <a:schemeClr val="bg1"/>
                </a:solidFill>
                <a:latin typeface="Microsoft YaHei" panose="020B0503020204020204" pitchFamily="34" charset="-122"/>
                <a:ea typeface="Microsoft YaHei" panose="020B0503020204020204" pitchFamily="34" charset="-122"/>
              </a:rPr>
              <a:t>，</a:t>
            </a:r>
            <a:r>
              <a:rPr lang="en-US" altLang="zh-CN" dirty="0">
                <a:solidFill>
                  <a:schemeClr val="bg1"/>
                </a:solidFill>
                <a:latin typeface="Microsoft YaHei" panose="020B0503020204020204" pitchFamily="34" charset="-122"/>
                <a:ea typeface="Microsoft YaHei" panose="020B0503020204020204" pitchFamily="34" charset="-122"/>
              </a:rPr>
              <a:t>CNO</a:t>
            </a:r>
            <a:r>
              <a:rPr lang="zh-CN" altLang="en-US" dirty="0">
                <a:solidFill>
                  <a:schemeClr val="bg1"/>
                </a:solidFill>
                <a:latin typeface="Microsoft YaHei" panose="020B0503020204020204" pitchFamily="34" charset="-122"/>
                <a:ea typeface="Microsoft YaHei" panose="020B0503020204020204" pitchFamily="34" charset="-122"/>
              </a:rPr>
              <a:t>）</a:t>
            </a:r>
          </a:p>
        </p:txBody>
      </p:sp>
      <p:sp>
        <p:nvSpPr>
          <p:cNvPr id="23557" name="Text Box 6"/>
          <p:cNvSpPr txBox="1"/>
          <p:nvPr/>
        </p:nvSpPr>
        <p:spPr>
          <a:xfrm>
            <a:off x="329088" y="3784524"/>
            <a:ext cx="8485823" cy="1061829"/>
          </a:xfrm>
          <a:prstGeom prst="rect">
            <a:avLst/>
          </a:prstGeom>
          <a:noFill/>
          <a:ln w="9525">
            <a:noFill/>
          </a:ln>
        </p:spPr>
        <p:txBody>
          <a:bodyPr wrap="square" anchor="t" anchorCtr="0">
            <a:spAutoFit/>
          </a:bodyPr>
          <a:lstStyle/>
          <a:p>
            <a:pPr>
              <a:spcBef>
                <a:spcPct val="50000"/>
              </a:spcBef>
              <a:buClr>
                <a:schemeClr val="folHlink"/>
              </a:buClr>
              <a:buSzPct val="60000"/>
              <a:buFont typeface="Wingdings" panose="05000000000000000000" pitchFamily="2" charset="2"/>
              <a:buChar char="n"/>
            </a:pPr>
            <a:r>
              <a:rPr lang="en-US" altLang="zh-CN"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从在SNO、CNO、和(SNO,CNO)上出现NULL值去分析。</a:t>
            </a:r>
          </a:p>
          <a:p>
            <a:pPr>
              <a:spcBef>
                <a:spcPct val="50000"/>
              </a:spcBef>
              <a:buClr>
                <a:schemeClr val="folHlink"/>
              </a:buClr>
              <a:buSzPct val="60000"/>
              <a:buFont typeface="Wingdings" panose="05000000000000000000" pitchFamily="2" charset="2"/>
              <a:buChar char="n"/>
            </a:pPr>
            <a:r>
              <a:rPr lang="zh-CN" altLang="en-US" dirty="0">
                <a:latin typeface="Microsoft YaHei" panose="020B0503020204020204" pitchFamily="34" charset="-122"/>
                <a:ea typeface="Microsoft YaHei" panose="020B0503020204020204" pitchFamily="34" charset="-122"/>
              </a:rPr>
              <a:t> </a:t>
            </a:r>
            <a:r>
              <a:rPr lang="zh-CN" altLang="en-US" b="1" dirty="0">
                <a:latin typeface="Microsoft YaHei" panose="020B0503020204020204" pitchFamily="34" charset="-122"/>
                <a:ea typeface="Microsoft YaHei" panose="020B0503020204020204" pitchFamily="34" charset="-122"/>
              </a:rPr>
              <a:t>注意：</a:t>
            </a:r>
            <a:r>
              <a:rPr lang="zh-CN" altLang="en-US" dirty="0">
                <a:solidFill>
                  <a:schemeClr val="folHlink"/>
                </a:solidFill>
                <a:latin typeface="Microsoft YaHei" panose="020B0503020204020204" pitchFamily="34" charset="-122"/>
                <a:ea typeface="Microsoft YaHei" panose="020B0503020204020204" pitchFamily="34" charset="-122"/>
              </a:rPr>
              <a:t>当一个元组在主键的属性上部分或全部为空时，该元组不能插入到关系中。（实体完整性）</a:t>
            </a:r>
          </a:p>
        </p:txBody>
      </p:sp>
      <p:sp>
        <p:nvSpPr>
          <p:cNvPr id="3" name="标题 2">
            <a:extLst>
              <a:ext uri="{FF2B5EF4-FFF2-40B4-BE49-F238E27FC236}">
                <a16:creationId xmlns:a16="http://schemas.microsoft.com/office/drawing/2014/main" id="{FC4E7551-EDD1-7329-CB98-51B942EB1E62}"/>
              </a:ext>
            </a:extLst>
          </p:cNvPr>
          <p:cNvSpPr>
            <a:spLocks noGrp="1"/>
          </p:cNvSpPr>
          <p:nvPr>
            <p:ph type="title"/>
          </p:nvPr>
        </p:nvSpPr>
        <p:spPr/>
        <p:txBody>
          <a:bodyPr/>
          <a:lstStyle/>
          <a:p>
            <a:r>
              <a:rPr lang="zh-CN" altLang="en-US" dirty="0"/>
              <a:t>实例存在的问题</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p:cNvSpPr>
          <p:nvPr>
            <p:ph idx="1"/>
          </p:nvPr>
        </p:nvSpPr>
        <p:spPr/>
        <p:txBody>
          <a:bodyPr vert="horz" wrap="square" lIns="68580" tIns="34290" rIns="68580" bIns="34290" numCol="1" anchor="t" anchorCtr="0" compatLnSpc="1">
            <a:normAutofit fontScale="92500" lnSpcReduction="10000"/>
          </a:bodyPr>
          <a:lstStyle/>
          <a:p>
            <a:pPr marL="257175" indent="-257175" defTabSz="685800" fontAlgn="base">
              <a:lnSpc>
                <a:spcPct val="100000"/>
              </a:lnSpc>
              <a:spcBef>
                <a:spcPct val="20000"/>
              </a:spcBef>
              <a:spcAft>
                <a:spcPct val="0"/>
              </a:spcAft>
              <a:buClr>
                <a:schemeClr val="folHlink"/>
              </a:buClr>
              <a:buSzPct val="60000"/>
              <a:buNone/>
              <a:defRPr/>
            </a:pPr>
            <a:r>
              <a:rPr lang="en-US" altLang="zh-CN" sz="1800" b="1" kern="0" noProof="1">
                <a:cs typeface="楷体" panose="02010609060101010101" pitchFamily="49" charset="-122"/>
              </a:rPr>
              <a:t>4</a:t>
            </a:r>
            <a:r>
              <a:rPr lang="zh-CN" altLang="en-US" sz="1800" b="1" kern="0" noProof="1">
                <a:cs typeface="楷体" panose="02010609060101010101" pitchFamily="49" charset="-122"/>
              </a:rPr>
              <a:t>．删除异常。</a:t>
            </a:r>
          </a:p>
          <a:p>
            <a:pPr marL="257175" indent="-257175" defTabSz="685800" fontAlgn="base">
              <a:lnSpc>
                <a:spcPct val="100000"/>
              </a:lnSpc>
              <a:spcBef>
                <a:spcPct val="20000"/>
              </a:spcBef>
              <a:spcAft>
                <a:spcPct val="0"/>
              </a:spcAft>
              <a:buClr>
                <a:schemeClr val="folHlink"/>
              </a:buClr>
              <a:buSzPct val="60000"/>
              <a:buNone/>
              <a:defRPr/>
            </a:pPr>
            <a:r>
              <a:rPr lang="zh-CN" altLang="en-US" sz="1800" b="1" kern="0" noProof="1">
                <a:solidFill>
                  <a:schemeClr val="hlink"/>
                </a:solidFill>
                <a:cs typeface="楷体" panose="02010609060101010101" pitchFamily="49" charset="-122"/>
              </a:rPr>
              <a:t>  删除异常</a:t>
            </a:r>
            <a:r>
              <a:rPr lang="zh-CN" altLang="en-US" sz="1800" kern="0" noProof="1">
                <a:cs typeface="楷体" panose="02010609060101010101" pitchFamily="49" charset="-122"/>
              </a:rPr>
              <a:t>是指不应该删去的数据被删去的情形。</a:t>
            </a:r>
          </a:p>
          <a:p>
            <a:pPr marL="0" indent="0" defTabSz="685800" fontAlgn="base">
              <a:lnSpc>
                <a:spcPct val="100000"/>
              </a:lnSpc>
              <a:spcBef>
                <a:spcPct val="20000"/>
              </a:spcBef>
              <a:spcAft>
                <a:spcPct val="0"/>
              </a:spcAft>
              <a:buClr>
                <a:schemeClr val="folHlink"/>
              </a:buClr>
              <a:buSzPct val="60000"/>
              <a:buNone/>
              <a:defRPr/>
            </a:pPr>
            <a:r>
              <a:rPr lang="zh-CN" altLang="en-US" sz="1800" b="1" kern="0" noProof="1">
                <a:cs typeface="楷体" panose="02010609060101010101" pitchFamily="49" charset="-122"/>
              </a:rPr>
              <a:t>  </a:t>
            </a:r>
            <a:r>
              <a:rPr lang="zh-CN" altLang="en-US" sz="1800" b="1" kern="0" noProof="1">
                <a:solidFill>
                  <a:schemeClr val="hlink"/>
                </a:solidFill>
                <a:cs typeface="楷体" panose="02010609060101010101" pitchFamily="49" charset="-122"/>
              </a:rPr>
              <a:t>例如：</a:t>
            </a:r>
            <a:r>
              <a:rPr lang="zh-CN" altLang="en-US" sz="1800" kern="0" noProof="1">
                <a:cs typeface="楷体" panose="02010609060101010101" pitchFamily="49" charset="-122"/>
              </a:rPr>
              <a:t>选修某门课的所有学生都退选时，删除相关元组，会丢失该课程老师的信息。</a:t>
            </a:r>
          </a:p>
          <a:p>
            <a:pPr marL="0" indent="0" defTabSz="685800" fontAlgn="base">
              <a:lnSpc>
                <a:spcPct val="100000"/>
              </a:lnSpc>
              <a:spcBef>
                <a:spcPct val="20000"/>
              </a:spcBef>
              <a:spcAft>
                <a:spcPct val="0"/>
              </a:spcAft>
              <a:buClr>
                <a:schemeClr val="folHlink"/>
              </a:buClr>
              <a:buSzPct val="60000"/>
              <a:buNone/>
              <a:defRPr/>
            </a:pPr>
            <a:r>
              <a:rPr lang="en-US" altLang="zh-CN" sz="1800" b="1" kern="0" noProof="1">
                <a:cs typeface="楷体" panose="02010609060101010101" pitchFamily="49" charset="-122"/>
              </a:rPr>
              <a:t>  </a:t>
            </a:r>
            <a:r>
              <a:rPr lang="zh-CN" altLang="en-US" sz="1800" b="1" kern="0" noProof="1">
                <a:solidFill>
                  <a:srgbClr val="00B050"/>
                </a:solidFill>
                <a:cs typeface="楷体" panose="02010609060101010101" pitchFamily="49" charset="-122"/>
              </a:rPr>
              <a:t>原因？</a:t>
            </a:r>
            <a:r>
              <a:rPr lang="en-US" altLang="zh-CN" sz="1800" b="1" kern="0" noProof="1">
                <a:solidFill>
                  <a:srgbClr val="00B050"/>
                </a:solidFill>
                <a:cs typeface="楷体" panose="02010609060101010101" pitchFamily="49" charset="-122"/>
              </a:rPr>
              <a:t>  </a:t>
            </a:r>
            <a:r>
              <a:rPr lang="zh-CN" altLang="en-US" sz="1800" b="1" kern="0" noProof="1">
                <a:solidFill>
                  <a:srgbClr val="00B050"/>
                </a:solidFill>
                <a:cs typeface="楷体" panose="02010609060101010101" pitchFamily="49" charset="-122"/>
              </a:rPr>
              <a:t>关系存在多余的数据依赖或不够规范</a:t>
            </a:r>
          </a:p>
          <a:p>
            <a:pPr marL="0" indent="0" defTabSz="685800" fontAlgn="base">
              <a:lnSpc>
                <a:spcPct val="100000"/>
              </a:lnSpc>
              <a:spcBef>
                <a:spcPct val="20000"/>
              </a:spcBef>
              <a:spcAft>
                <a:spcPct val="0"/>
              </a:spcAft>
              <a:buClr>
                <a:schemeClr val="folHlink"/>
              </a:buClr>
              <a:buSzPct val="60000"/>
              <a:buNone/>
              <a:defRPr/>
            </a:pPr>
            <a:r>
              <a:rPr lang="en-US" altLang="zh-CN" sz="1800" b="1" kern="0" noProof="1">
                <a:solidFill>
                  <a:srgbClr val="00B050"/>
                </a:solidFill>
                <a:cs typeface="楷体" panose="02010609060101010101" pitchFamily="49" charset="-122"/>
              </a:rPr>
              <a:t>  </a:t>
            </a:r>
            <a:r>
              <a:rPr lang="zh-CN" altLang="en-US" sz="1800" b="1" kern="0" noProof="1">
                <a:solidFill>
                  <a:schemeClr val="folHlink"/>
                </a:solidFill>
                <a:cs typeface="楷体" panose="02010609060101010101" pitchFamily="49" charset="-122"/>
              </a:rPr>
              <a:t>解决：</a:t>
            </a:r>
            <a:r>
              <a:rPr lang="zh-CN" altLang="en-US" sz="1800" b="1" kern="0" noProof="1">
                <a:cs typeface="楷体" panose="02010609060101010101" pitchFamily="49" charset="-122"/>
              </a:rPr>
              <a:t>关系模式分解（关系规范化）</a:t>
            </a:r>
          </a:p>
          <a:p>
            <a:pPr marL="257175" indent="-257175" defTabSz="685800" fontAlgn="base">
              <a:lnSpc>
                <a:spcPct val="100000"/>
              </a:lnSpc>
              <a:spcBef>
                <a:spcPct val="20000"/>
              </a:spcBef>
              <a:spcAft>
                <a:spcPct val="0"/>
              </a:spcAft>
              <a:buClr>
                <a:schemeClr val="folHlink"/>
              </a:buClr>
              <a:buFont typeface="Wingdings" panose="05000000000000000000" pitchFamily="2" charset="2"/>
              <a:buChar char="§"/>
              <a:defRPr/>
            </a:pPr>
            <a:r>
              <a:rPr lang="zh-CN" altLang="en-US" sz="1800" kern="0" noProof="1">
                <a:cs typeface="楷体" panose="02010609060101010101" pitchFamily="49" charset="-122"/>
              </a:rPr>
              <a:t>分解为  </a:t>
            </a:r>
            <a:r>
              <a:rPr lang="en-US" altLang="zh-CN" sz="1800" kern="0" noProof="1">
                <a:cs typeface="楷体" panose="02010609060101010101" pitchFamily="49" charset="-122"/>
              </a:rPr>
              <a:t>ST(SNO</a:t>
            </a:r>
            <a:r>
              <a:rPr lang="zh-CN" altLang="en-US" sz="1800" kern="0" noProof="1">
                <a:cs typeface="楷体" panose="02010609060101010101" pitchFamily="49" charset="-122"/>
              </a:rPr>
              <a:t>，</a:t>
            </a:r>
            <a:r>
              <a:rPr lang="en-US" altLang="zh-CN" sz="1800" kern="0" noProof="1">
                <a:cs typeface="楷体" panose="02010609060101010101" pitchFamily="49" charset="-122"/>
              </a:rPr>
              <a:t>SNAME</a:t>
            </a:r>
            <a:r>
              <a:rPr lang="zh-CN" altLang="en-US" sz="1800" kern="0" noProof="1">
                <a:cs typeface="楷体" panose="02010609060101010101" pitchFamily="49" charset="-122"/>
              </a:rPr>
              <a:t>，</a:t>
            </a:r>
            <a:r>
              <a:rPr lang="en-US" altLang="zh-CN" sz="1800" kern="0" noProof="1">
                <a:cs typeface="楷体" panose="02010609060101010101" pitchFamily="49" charset="-122"/>
              </a:rPr>
              <a:t>CLASS)</a:t>
            </a:r>
          </a:p>
          <a:p>
            <a:pPr marL="257175" indent="-257175" defTabSz="685800" fontAlgn="base">
              <a:lnSpc>
                <a:spcPct val="100000"/>
              </a:lnSpc>
              <a:spcBef>
                <a:spcPct val="20000"/>
              </a:spcBef>
              <a:spcAft>
                <a:spcPct val="0"/>
              </a:spcAft>
              <a:buClr>
                <a:schemeClr val="folHlink"/>
              </a:buClr>
              <a:buNone/>
              <a:defRPr/>
            </a:pPr>
            <a:r>
              <a:rPr lang="en-US" altLang="zh-CN" sz="1800" kern="0" noProof="1">
                <a:cs typeface="楷体" panose="02010609060101010101" pitchFamily="49" charset="-122"/>
              </a:rPr>
              <a:t>          CT(CNO,TNO)</a:t>
            </a:r>
          </a:p>
          <a:p>
            <a:pPr marL="257175" indent="-257175" defTabSz="685800" fontAlgn="base">
              <a:lnSpc>
                <a:spcPct val="100000"/>
              </a:lnSpc>
              <a:spcBef>
                <a:spcPct val="20000"/>
              </a:spcBef>
              <a:spcAft>
                <a:spcPct val="0"/>
              </a:spcAft>
              <a:buClr>
                <a:schemeClr val="folHlink"/>
              </a:buClr>
              <a:buNone/>
              <a:defRPr/>
            </a:pPr>
            <a:r>
              <a:rPr lang="en-US" altLang="zh-CN" sz="1800" kern="0" noProof="1">
                <a:cs typeface="楷体" panose="02010609060101010101" pitchFamily="49" charset="-122"/>
              </a:rPr>
              <a:t>          TA(TNO,TNAME,TAGE,ADDRESS)</a:t>
            </a:r>
          </a:p>
          <a:p>
            <a:pPr marL="257175" indent="-257175" defTabSz="685800" fontAlgn="base">
              <a:lnSpc>
                <a:spcPct val="100000"/>
              </a:lnSpc>
              <a:spcBef>
                <a:spcPct val="20000"/>
              </a:spcBef>
              <a:spcAft>
                <a:spcPct val="0"/>
              </a:spcAft>
              <a:buClr>
                <a:schemeClr val="folHlink"/>
              </a:buClr>
              <a:buNone/>
              <a:defRPr/>
            </a:pPr>
            <a:r>
              <a:rPr lang="en-US" altLang="zh-CN" sz="1800" kern="0" noProof="1">
                <a:cs typeface="楷体" panose="02010609060101010101" pitchFamily="49" charset="-122"/>
              </a:rPr>
              <a:t>          SC(SNO,CNO,GRADE)</a:t>
            </a:r>
          </a:p>
          <a:p>
            <a:pPr marL="257175" indent="-257175" defTabSz="685800" fontAlgn="base">
              <a:lnSpc>
                <a:spcPct val="100000"/>
              </a:lnSpc>
              <a:spcBef>
                <a:spcPct val="20000"/>
              </a:spcBef>
              <a:spcAft>
                <a:spcPct val="0"/>
              </a:spcAft>
              <a:buClr>
                <a:schemeClr val="folHlink"/>
              </a:buClr>
              <a:buNone/>
              <a:defRPr/>
            </a:pPr>
            <a:r>
              <a:rPr lang="en-US" altLang="zh-CN" sz="1800" b="1" kern="0" noProof="1">
                <a:cs typeface="楷体" panose="02010609060101010101" pitchFamily="49" charset="-122"/>
                <a:sym typeface="+mn-ea"/>
              </a:rPr>
              <a:t>   </a:t>
            </a:r>
          </a:p>
          <a:p>
            <a:pPr marL="257175" indent="-257175" defTabSz="685800" fontAlgn="base">
              <a:lnSpc>
                <a:spcPct val="100000"/>
              </a:lnSpc>
              <a:spcBef>
                <a:spcPct val="20000"/>
              </a:spcBef>
              <a:spcAft>
                <a:spcPct val="0"/>
              </a:spcAft>
              <a:buClr>
                <a:schemeClr val="folHlink"/>
              </a:buClr>
              <a:buNone/>
              <a:defRPr/>
            </a:pPr>
            <a:r>
              <a:rPr lang="en-US" altLang="zh-CN" sz="1800" kern="0" noProof="1">
                <a:cs typeface="楷体" panose="02010609060101010101" pitchFamily="49" charset="-122"/>
                <a:sym typeface="+mn-ea"/>
              </a:rPr>
              <a:t>     </a:t>
            </a:r>
            <a:r>
              <a:rPr lang="zh-CN" altLang="en-US" sz="1800" b="1" kern="0" noProof="1">
                <a:solidFill>
                  <a:srgbClr val="00B050"/>
                </a:solidFill>
                <a:cs typeface="楷体" panose="02010609060101010101" pitchFamily="49" charset="-122"/>
                <a:sym typeface="+mn-ea"/>
              </a:rPr>
              <a:t>最优？</a:t>
            </a:r>
            <a:r>
              <a:rPr lang="zh-CN" altLang="en-US" sz="1800" kern="0" noProof="1">
                <a:cs typeface="楷体" panose="02010609060101010101" pitchFamily="49" charset="-122"/>
                <a:sym typeface="+mn-ea"/>
              </a:rPr>
              <a:t>例如查询教某一门课的教师的地址。</a:t>
            </a:r>
            <a:endParaRPr lang="en-US" altLang="zh-CN" sz="1800" kern="0" noProof="1">
              <a:cs typeface="楷体" panose="02010609060101010101" pitchFamily="49" charset="-122"/>
            </a:endParaRPr>
          </a:p>
          <a:p>
            <a:pPr marL="257175" indent="-257175" defTabSz="685800" fontAlgn="base">
              <a:lnSpc>
                <a:spcPct val="100000"/>
              </a:lnSpc>
              <a:spcBef>
                <a:spcPct val="20000"/>
              </a:spcBef>
              <a:spcAft>
                <a:spcPct val="0"/>
              </a:spcAft>
              <a:buClr>
                <a:schemeClr val="folHlink"/>
              </a:buClr>
              <a:buNone/>
              <a:defRPr/>
            </a:pPr>
            <a:r>
              <a:rPr lang="zh-CN" altLang="en-US" sz="1800" b="1" kern="0" noProof="1">
                <a:solidFill>
                  <a:srgbClr val="00B050"/>
                </a:solidFill>
                <a:cs typeface="楷体" panose="02010609060101010101" pitchFamily="49" charset="-122"/>
              </a:rPr>
              <a:t>  </a:t>
            </a:r>
            <a:r>
              <a:rPr lang="en-US" altLang="zh-CN" sz="1800" b="1" kern="0" noProof="1">
                <a:solidFill>
                  <a:srgbClr val="00B050"/>
                </a:solidFill>
                <a:cs typeface="楷体" panose="02010609060101010101" pitchFamily="49" charset="-122"/>
              </a:rPr>
              <a:t>  </a:t>
            </a:r>
            <a:r>
              <a:rPr lang="en-US" altLang="zh-CN" sz="1500" b="1" kern="0" noProof="1">
                <a:cs typeface="楷体" panose="02010609060101010101" pitchFamily="49" charset="-122"/>
              </a:rPr>
              <a:t> </a:t>
            </a:r>
            <a:r>
              <a:rPr lang="zh-CN" altLang="en-US" sz="1500" b="1" kern="0" noProof="1">
                <a:solidFill>
                  <a:srgbClr val="00B050"/>
                </a:solidFill>
                <a:cs typeface="楷体" panose="02010609060101010101" pitchFamily="49" charset="-122"/>
                <a:sym typeface="+mn-ea"/>
              </a:rPr>
              <a:t>两类联系：数据模型，数据依赖</a:t>
            </a:r>
            <a:r>
              <a:rPr lang="en-US" altLang="zh-CN" sz="1500" b="1" kern="0" noProof="1">
                <a:solidFill>
                  <a:srgbClr val="00B050"/>
                </a:solidFill>
                <a:cs typeface="楷体" panose="02010609060101010101" pitchFamily="49" charset="-122"/>
                <a:sym typeface="+mn-ea"/>
              </a:rPr>
              <a:t>(</a:t>
            </a:r>
            <a:r>
              <a:rPr lang="zh-CN" altLang="zh-CN" sz="1500" b="1" kern="0" noProof="1">
                <a:solidFill>
                  <a:srgbClr val="00B050"/>
                </a:solidFill>
                <a:cs typeface="楷体" panose="02010609060101010101" pitchFamily="49" charset="-122"/>
                <a:sym typeface="+mn-ea"/>
              </a:rPr>
              <a:t>函数依赖、多值依赖</a:t>
            </a:r>
            <a:r>
              <a:rPr lang="en-US" altLang="zh-CN" sz="1500" b="1" kern="0" noProof="1">
                <a:solidFill>
                  <a:srgbClr val="00B050"/>
                </a:solidFill>
                <a:cs typeface="楷体" panose="02010609060101010101" pitchFamily="49" charset="-122"/>
                <a:sym typeface="+mn-ea"/>
              </a:rPr>
              <a:t>)</a:t>
            </a:r>
            <a:endParaRPr lang="zh-CN" altLang="en-US" sz="1500" b="1" kern="0" noProof="1">
              <a:solidFill>
                <a:srgbClr val="00B050"/>
              </a:solidFill>
              <a:cs typeface="楷体" panose="02010609060101010101" pitchFamily="49" charset="-122"/>
            </a:endParaRPr>
          </a:p>
          <a:p>
            <a:pPr marL="257175" indent="-257175" defTabSz="685800" fontAlgn="base">
              <a:lnSpc>
                <a:spcPct val="100000"/>
              </a:lnSpc>
              <a:spcBef>
                <a:spcPct val="20000"/>
              </a:spcBef>
              <a:spcAft>
                <a:spcPct val="0"/>
              </a:spcAft>
              <a:buClr>
                <a:schemeClr val="folHlink"/>
              </a:buClr>
              <a:buNone/>
              <a:defRPr/>
            </a:pPr>
            <a:endParaRPr lang="en-US" altLang="zh-CN" sz="1500" b="1" kern="0" noProof="1">
              <a:cs typeface="楷体" panose="02010609060101010101" pitchFamily="49" charset="-122"/>
            </a:endParaRPr>
          </a:p>
          <a:p>
            <a:pPr marL="257175" indent="-257175" defTabSz="685800" fontAlgn="base">
              <a:lnSpc>
                <a:spcPct val="100000"/>
              </a:lnSpc>
              <a:spcBef>
                <a:spcPct val="20000"/>
              </a:spcBef>
              <a:spcAft>
                <a:spcPct val="0"/>
              </a:spcAft>
              <a:buClr>
                <a:schemeClr val="folHlink"/>
              </a:buClr>
              <a:buNone/>
              <a:defRPr/>
            </a:pPr>
            <a:endParaRPr lang="en-US" altLang="zh-CN" sz="1800" b="1" kern="0" noProof="1">
              <a:cs typeface="楷体" panose="02010609060101010101" pitchFamily="49" charset="-122"/>
            </a:endParaRPr>
          </a:p>
          <a:p>
            <a:pPr marL="257175" indent="-257175" defTabSz="685800" fontAlgn="base">
              <a:lnSpc>
                <a:spcPct val="100000"/>
              </a:lnSpc>
              <a:spcBef>
                <a:spcPct val="20000"/>
              </a:spcBef>
              <a:spcAft>
                <a:spcPct val="0"/>
              </a:spcAft>
              <a:buClr>
                <a:schemeClr val="folHlink"/>
              </a:buClr>
              <a:buSzPct val="60000"/>
              <a:buNone/>
              <a:defRPr/>
            </a:pPr>
            <a:endParaRPr lang="zh-CN" altLang="en-US" sz="1800" kern="0" noProof="1">
              <a:cs typeface="楷体" panose="02010609060101010101" pitchFamily="49" charset="-122"/>
            </a:endParaRPr>
          </a:p>
        </p:txBody>
      </p:sp>
      <p:sp>
        <p:nvSpPr>
          <p:cNvPr id="24579" name="Text Box 4"/>
          <p:cNvSpPr txBox="1"/>
          <p:nvPr/>
        </p:nvSpPr>
        <p:spPr>
          <a:xfrm>
            <a:off x="1257300" y="3677602"/>
            <a:ext cx="6286500" cy="300082"/>
          </a:xfrm>
          <a:prstGeom prst="rect">
            <a:avLst/>
          </a:prstGeom>
          <a:noFill/>
          <a:ln w="9525">
            <a:noFill/>
          </a:ln>
        </p:spPr>
        <p:txBody>
          <a:bodyPr anchor="t" anchorCtr="0">
            <a:spAutoFit/>
          </a:bodyPr>
          <a:lstStyle/>
          <a:p>
            <a:pPr>
              <a:spcBef>
                <a:spcPct val="50000"/>
              </a:spcBef>
            </a:pPr>
            <a:endParaRPr lang="zh-CN" altLang="en-US" sz="1350" dirty="0">
              <a:latin typeface="Tahoma" panose="020B0604030504040204" pitchFamily="34" charset="0"/>
              <a:ea typeface="宋体" panose="02010600030101010101" pitchFamily="2" charset="-122"/>
            </a:endParaRPr>
          </a:p>
        </p:txBody>
      </p:sp>
      <p:sp>
        <p:nvSpPr>
          <p:cNvPr id="4" name="标题 3">
            <a:extLst>
              <a:ext uri="{FF2B5EF4-FFF2-40B4-BE49-F238E27FC236}">
                <a16:creationId xmlns:a16="http://schemas.microsoft.com/office/drawing/2014/main" id="{95A1D8A7-50D9-78ED-EB26-E63F4EA6588A}"/>
              </a:ext>
            </a:extLst>
          </p:cNvPr>
          <p:cNvSpPr>
            <a:spLocks noGrp="1"/>
          </p:cNvSpPr>
          <p:nvPr>
            <p:ph type="title"/>
          </p:nvPr>
        </p:nvSpPr>
        <p:spPr/>
        <p:txBody>
          <a:bodyPr/>
          <a:lstStyle/>
          <a:p>
            <a:r>
              <a:rPr lang="zh-CN" altLang="en-US" dirty="0"/>
              <a:t>实例存在的问题</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4"/>
          <p:cNvSpPr>
            <a:spLocks noGrp="1"/>
          </p:cNvSpPr>
          <p:nvPr>
            <p:ph sz="half" idx="4294967295"/>
          </p:nvPr>
        </p:nvSpPr>
        <p:spPr>
          <a:xfrm>
            <a:off x="224725" y="1297056"/>
            <a:ext cx="6343650" cy="457200"/>
          </a:xfrm>
        </p:spPr>
        <p:txBody>
          <a:bodyPr vert="horz" wrap="square" lIns="68580" tIns="34290" rIns="68580" bIns="34290" rtlCol="0" anchor="t" anchorCtr="0">
            <a:normAutofit/>
          </a:bodyPr>
          <a:lstStyle/>
          <a:p>
            <a:pPr eaLnBrk="1" hangingPunct="1">
              <a:buSzPct val="60000"/>
            </a:pPr>
            <a:r>
              <a:rPr lang="zh-CN" altLang="en-US" sz="2400" b="1" dirty="0">
                <a:solidFill>
                  <a:schemeClr val="folHlink"/>
                </a:solidFill>
              </a:rPr>
              <a:t>设：</a:t>
            </a:r>
            <a:r>
              <a:rPr lang="en-US" altLang="zh-CN" sz="2400" dirty="0">
                <a:solidFill>
                  <a:schemeClr val="folHlink"/>
                </a:solidFill>
              </a:rPr>
              <a:t>R(A1,A2,…,An)=R( U )</a:t>
            </a:r>
          </a:p>
        </p:txBody>
      </p:sp>
      <p:sp>
        <p:nvSpPr>
          <p:cNvPr id="25604" name="Rectangle 5"/>
          <p:cNvSpPr/>
          <p:nvPr/>
        </p:nvSpPr>
        <p:spPr>
          <a:xfrm>
            <a:off x="366147" y="1739322"/>
            <a:ext cx="8423833" cy="3088399"/>
          </a:xfrm>
          <a:prstGeom prst="rect">
            <a:avLst/>
          </a:prstGeom>
          <a:noFill/>
          <a:ln w="9525">
            <a:noFill/>
          </a:ln>
        </p:spPr>
        <p:txBody>
          <a:bodyPr anchor="t" anchorCtr="0"/>
          <a:lstStyle/>
          <a:p>
            <a:pPr marL="257175" indent="-257175">
              <a:lnSpc>
                <a:spcPct val="150000"/>
              </a:lnSpc>
              <a:spcBef>
                <a:spcPct val="20000"/>
              </a:spcBef>
              <a:buClr>
                <a:schemeClr val="folHlink"/>
              </a:buClr>
              <a:buSzPct val="60000"/>
              <a:buFont typeface="Wingdings" panose="05000000000000000000" pitchFamily="2" charset="2"/>
              <a:buChar char="n"/>
            </a:pPr>
            <a:r>
              <a:rPr lang="zh-CN" altLang="en-US" b="1" dirty="0">
                <a:solidFill>
                  <a:schemeClr val="folHlink"/>
                </a:solidFill>
                <a:latin typeface="Microsoft YaHei" panose="020B0503020204020204" pitchFamily="34" charset="-122"/>
                <a:ea typeface="Microsoft YaHei" panose="020B0503020204020204" pitchFamily="34" charset="-122"/>
              </a:rPr>
              <a:t>定义：</a:t>
            </a:r>
            <a:endParaRPr lang="en-US" altLang="zh-CN" b="1" dirty="0">
              <a:solidFill>
                <a:schemeClr val="folHlink"/>
              </a:solidFill>
              <a:latin typeface="Microsoft YaHei" panose="020B0503020204020204" pitchFamily="34" charset="-122"/>
              <a:ea typeface="Microsoft YaHei" panose="020B0503020204020204" pitchFamily="34" charset="-122"/>
            </a:endParaRPr>
          </a:p>
          <a:p>
            <a:pPr>
              <a:lnSpc>
                <a:spcPct val="150000"/>
              </a:lnSpc>
              <a:spcBef>
                <a:spcPct val="20000"/>
              </a:spcBef>
              <a:buClr>
                <a:schemeClr val="folHlink"/>
              </a:buClr>
              <a:buSzPct val="60000"/>
            </a:pPr>
            <a:r>
              <a:rPr lang="zh-CN" altLang="en-US" dirty="0">
                <a:latin typeface="Microsoft YaHei" panose="020B0503020204020204" pitchFamily="34" charset="-122"/>
                <a:ea typeface="Microsoft YaHei" panose="020B0503020204020204" pitchFamily="34" charset="-122"/>
              </a:rPr>
              <a:t>① </a:t>
            </a:r>
            <a:r>
              <a:rPr lang="zh-CN" altLang="en-US" dirty="0">
                <a:solidFill>
                  <a:schemeClr val="hlink"/>
                </a:solidFill>
                <a:latin typeface="Microsoft YaHei" panose="020B0503020204020204" pitchFamily="34" charset="-122"/>
                <a:ea typeface="Microsoft YaHei" panose="020B0503020204020204" pitchFamily="34" charset="-122"/>
              </a:rPr>
              <a:t>函数依赖：</a:t>
            </a:r>
            <a:r>
              <a:rPr lang="zh-CN" altLang="en-US" dirty="0">
                <a:latin typeface="Microsoft YaHei" panose="020B0503020204020204" pitchFamily="34" charset="-122"/>
                <a:ea typeface="Microsoft YaHei" panose="020B0503020204020204" pitchFamily="34" charset="-122"/>
              </a:rPr>
              <a:t>设</a:t>
            </a:r>
            <a:r>
              <a:rPr lang="en-US" altLang="zh-CN" dirty="0">
                <a:latin typeface="Microsoft YaHei" panose="020B0503020204020204" pitchFamily="34" charset="-122"/>
                <a:ea typeface="Microsoft YaHei" panose="020B0503020204020204" pitchFamily="34" charset="-122"/>
              </a:rPr>
              <a:t>R(U)</a:t>
            </a:r>
            <a:r>
              <a:rPr lang="zh-CN" altLang="en-US" dirty="0">
                <a:latin typeface="Microsoft YaHei" panose="020B0503020204020204" pitchFamily="34" charset="-122"/>
                <a:ea typeface="Microsoft YaHei" panose="020B0503020204020204" pitchFamily="34" charset="-122"/>
              </a:rPr>
              <a:t>是属性集</a:t>
            </a:r>
            <a:r>
              <a:rPr lang="en-US" altLang="zh-CN" dirty="0">
                <a:latin typeface="Microsoft YaHei" panose="020B0503020204020204" pitchFamily="34" charset="-122"/>
                <a:ea typeface="Microsoft YaHei" panose="020B0503020204020204" pitchFamily="34" charset="-122"/>
              </a:rPr>
              <a:t>U</a:t>
            </a:r>
            <a:r>
              <a:rPr lang="zh-CN" altLang="en-US" dirty="0">
                <a:latin typeface="Microsoft YaHei" panose="020B0503020204020204" pitchFamily="34" charset="-122"/>
                <a:ea typeface="Microsoft YaHei" panose="020B0503020204020204" pitchFamily="34" charset="-122"/>
              </a:rPr>
              <a:t>上的关系模式，</a:t>
            </a:r>
            <a:r>
              <a:rPr lang="en-US" altLang="zh-CN" dirty="0">
                <a:latin typeface="Microsoft YaHei" panose="020B0503020204020204" pitchFamily="34" charset="-122"/>
                <a:ea typeface="Microsoft YaHei" panose="020B0503020204020204" pitchFamily="34" charset="-122"/>
              </a:rPr>
              <a:t>X,Y</a:t>
            </a:r>
            <a:r>
              <a:rPr lang="zh-CN" altLang="en-US" dirty="0">
                <a:latin typeface="Microsoft YaHei" panose="020B0503020204020204" pitchFamily="34" charset="-122"/>
                <a:ea typeface="Microsoft YaHei" panose="020B0503020204020204" pitchFamily="34" charset="-122"/>
              </a:rPr>
              <a:t>是</a:t>
            </a:r>
            <a:r>
              <a:rPr lang="en-US" altLang="zh-CN" dirty="0">
                <a:latin typeface="Microsoft YaHei" panose="020B0503020204020204" pitchFamily="34" charset="-122"/>
                <a:ea typeface="Microsoft YaHei" panose="020B0503020204020204" pitchFamily="34" charset="-122"/>
              </a:rPr>
              <a:t>U</a:t>
            </a:r>
            <a:r>
              <a:rPr lang="zh-CN" altLang="en-US" dirty="0">
                <a:latin typeface="Microsoft YaHei" panose="020B0503020204020204" pitchFamily="34" charset="-122"/>
                <a:ea typeface="Microsoft YaHei" panose="020B0503020204020204" pitchFamily="34" charset="-122"/>
              </a:rPr>
              <a:t>的子集，</a:t>
            </a:r>
            <a:r>
              <a:rPr lang="en-US" altLang="zh-CN" dirty="0">
                <a:latin typeface="Microsoft YaHei" panose="020B0503020204020204" pitchFamily="34" charset="-122"/>
                <a:ea typeface="Microsoft YaHei" panose="020B0503020204020204" pitchFamily="34" charset="-122"/>
              </a:rPr>
              <a:t>r</a:t>
            </a:r>
            <a:r>
              <a:rPr lang="zh-CN" altLang="en-US" dirty="0">
                <a:latin typeface="Microsoft YaHei" panose="020B0503020204020204" pitchFamily="34" charset="-122"/>
                <a:ea typeface="Microsoft YaHei" panose="020B0503020204020204" pitchFamily="34" charset="-122"/>
              </a:rPr>
              <a:t>是</a:t>
            </a:r>
            <a:r>
              <a:rPr lang="en-US" altLang="zh-CN" dirty="0">
                <a:latin typeface="Microsoft YaHei" panose="020B0503020204020204" pitchFamily="34" charset="-122"/>
                <a:ea typeface="Microsoft YaHei" panose="020B0503020204020204" pitchFamily="34" charset="-122"/>
              </a:rPr>
              <a:t>R</a:t>
            </a:r>
            <a:r>
              <a:rPr lang="zh-CN" altLang="en-US" dirty="0">
                <a:latin typeface="Microsoft YaHei" panose="020B0503020204020204" pitchFamily="34" charset="-122"/>
                <a:ea typeface="Microsoft YaHei" panose="020B0503020204020204" pitchFamily="34" charset="-122"/>
              </a:rPr>
              <a:t>的任一具体关系，如果对</a:t>
            </a:r>
            <a:r>
              <a:rPr lang="en-US" altLang="zh-CN" dirty="0">
                <a:latin typeface="Microsoft YaHei" panose="020B0503020204020204" pitchFamily="34" charset="-122"/>
                <a:ea typeface="Microsoft YaHei" panose="020B0503020204020204" pitchFamily="34" charset="-122"/>
              </a:rPr>
              <a:t>r</a:t>
            </a:r>
            <a:r>
              <a:rPr lang="zh-CN" altLang="en-US" dirty="0">
                <a:latin typeface="Microsoft YaHei" panose="020B0503020204020204" pitchFamily="34" charset="-122"/>
                <a:ea typeface="Microsoft YaHei" panose="020B0503020204020204" pitchFamily="34" charset="-122"/>
              </a:rPr>
              <a:t>的任意两个元组</a:t>
            </a:r>
            <a:r>
              <a:rPr lang="en-US" altLang="zh-CN" dirty="0">
                <a:latin typeface="Microsoft YaHei" panose="020B0503020204020204" pitchFamily="34" charset="-122"/>
                <a:ea typeface="Microsoft YaHei" panose="020B0503020204020204" pitchFamily="34" charset="-122"/>
              </a:rPr>
              <a:t>s,t</a:t>
            </a:r>
            <a:r>
              <a:rPr lang="zh-CN" altLang="en-US" dirty="0">
                <a:latin typeface="Microsoft YaHei" panose="020B0503020204020204" pitchFamily="34" charset="-122"/>
                <a:ea typeface="Microsoft YaHei" panose="020B0503020204020204" pitchFamily="34" charset="-122"/>
              </a:rPr>
              <a:t>，由</a:t>
            </a:r>
            <a:r>
              <a:rPr lang="en-US" altLang="zh-CN" dirty="0">
                <a:solidFill>
                  <a:schemeClr val="hlink"/>
                </a:solidFill>
                <a:latin typeface="Microsoft YaHei" panose="020B0503020204020204" pitchFamily="34" charset="-122"/>
                <a:ea typeface="Microsoft YaHei" panose="020B0503020204020204" pitchFamily="34" charset="-122"/>
              </a:rPr>
              <a:t>s[X]=t[X]</a:t>
            </a:r>
            <a:r>
              <a:rPr lang="zh-CN" altLang="en-US" dirty="0">
                <a:latin typeface="Microsoft YaHei" panose="020B0503020204020204" pitchFamily="34" charset="-122"/>
                <a:ea typeface="Microsoft YaHei" panose="020B0503020204020204" pitchFamily="34" charset="-122"/>
              </a:rPr>
              <a:t>，能导致</a:t>
            </a:r>
            <a:r>
              <a:rPr lang="en-US" altLang="zh-CN" dirty="0">
                <a:solidFill>
                  <a:schemeClr val="hlink"/>
                </a:solidFill>
                <a:latin typeface="Microsoft YaHei" panose="020B0503020204020204" pitchFamily="34" charset="-122"/>
                <a:ea typeface="Microsoft YaHei" panose="020B0503020204020204" pitchFamily="34" charset="-122"/>
              </a:rPr>
              <a:t>s[Y]=t[Y]</a:t>
            </a:r>
            <a:r>
              <a:rPr lang="zh-CN" altLang="en-US" dirty="0">
                <a:latin typeface="Microsoft YaHei" panose="020B0503020204020204" pitchFamily="34" charset="-122"/>
                <a:ea typeface="Microsoft YaHei" panose="020B0503020204020204" pitchFamily="34" charset="-122"/>
              </a:rPr>
              <a:t>，则称</a:t>
            </a:r>
            <a:r>
              <a:rPr lang="en-US" altLang="zh-CN" dirty="0">
                <a:latin typeface="Microsoft YaHei" panose="020B0503020204020204" pitchFamily="34" charset="-122"/>
                <a:ea typeface="Microsoft YaHei" panose="020B0503020204020204" pitchFamily="34" charset="-122"/>
              </a:rPr>
              <a:t>X</a:t>
            </a:r>
            <a:r>
              <a:rPr lang="zh-CN" altLang="en-US" dirty="0">
                <a:latin typeface="Microsoft YaHei" panose="020B0503020204020204" pitchFamily="34" charset="-122"/>
                <a:ea typeface="Microsoft YaHei" panose="020B0503020204020204" pitchFamily="34" charset="-122"/>
              </a:rPr>
              <a:t>函数决定</a:t>
            </a:r>
            <a:r>
              <a:rPr lang="en-US" altLang="zh-CN" dirty="0">
                <a:latin typeface="Microsoft YaHei" panose="020B0503020204020204" pitchFamily="34" charset="-122"/>
                <a:ea typeface="Microsoft YaHei" panose="020B0503020204020204" pitchFamily="34" charset="-122"/>
              </a:rPr>
              <a:t>Y</a:t>
            </a:r>
            <a:r>
              <a:rPr lang="zh-CN" altLang="en-US" dirty="0">
                <a:latin typeface="Microsoft YaHei" panose="020B0503020204020204" pitchFamily="34" charset="-122"/>
                <a:ea typeface="Microsoft YaHei" panose="020B0503020204020204" pitchFamily="34" charset="-122"/>
              </a:rPr>
              <a:t>，或</a:t>
            </a:r>
            <a:r>
              <a:rPr lang="en-US" altLang="zh-CN" dirty="0">
                <a:latin typeface="Microsoft YaHei" panose="020B0503020204020204" pitchFamily="34" charset="-122"/>
                <a:ea typeface="Microsoft YaHei" panose="020B0503020204020204" pitchFamily="34" charset="-122"/>
              </a:rPr>
              <a:t>Y</a:t>
            </a:r>
            <a:r>
              <a:rPr lang="zh-CN" altLang="en-US" dirty="0">
                <a:latin typeface="Microsoft YaHei" panose="020B0503020204020204" pitchFamily="34" charset="-122"/>
                <a:ea typeface="Microsoft YaHei" panose="020B0503020204020204" pitchFamily="34" charset="-122"/>
              </a:rPr>
              <a:t>函数依赖于</a:t>
            </a:r>
            <a:r>
              <a:rPr lang="en-US" altLang="zh-CN" dirty="0">
                <a:latin typeface="Microsoft YaHei" panose="020B0503020204020204" pitchFamily="34" charset="-122"/>
                <a:ea typeface="Microsoft YaHei" panose="020B0503020204020204" pitchFamily="34" charset="-122"/>
              </a:rPr>
              <a:t>X</a:t>
            </a:r>
            <a:r>
              <a:rPr lang="zh-CN" altLang="en-US" dirty="0">
                <a:latin typeface="Microsoft YaHei" panose="020B0503020204020204" pitchFamily="34" charset="-122"/>
                <a:ea typeface="Microsoft YaHei" panose="020B0503020204020204" pitchFamily="34" charset="-122"/>
              </a:rPr>
              <a:t>，记作 </a:t>
            </a:r>
            <a:r>
              <a:rPr lang="en-US" altLang="zh-CN" dirty="0">
                <a:latin typeface="Microsoft YaHei" panose="020B0503020204020204" pitchFamily="34" charset="-122"/>
                <a:ea typeface="Microsoft YaHei" panose="020B0503020204020204" pitchFamily="34" charset="-122"/>
              </a:rPr>
              <a:t>X</a:t>
            </a:r>
            <a:r>
              <a:rPr lang="en-US" altLang="zh-CN" dirty="0">
                <a:latin typeface="Microsoft YaHei" panose="020B0503020204020204" pitchFamily="34" charset="-122"/>
                <a:ea typeface="Microsoft YaHei" panose="020B0503020204020204" pitchFamily="34" charset="-122"/>
                <a:sym typeface="Wingdings" panose="05000000000000000000" pitchFamily="2" charset="2"/>
              </a:rPr>
              <a:t></a:t>
            </a:r>
            <a:r>
              <a:rPr lang="en-US" altLang="zh-CN" dirty="0">
                <a:latin typeface="Microsoft YaHei" panose="020B0503020204020204" pitchFamily="34" charset="-122"/>
                <a:ea typeface="Microsoft YaHei" panose="020B0503020204020204" pitchFamily="34" charset="-122"/>
              </a:rPr>
              <a:t>Y </a:t>
            </a:r>
            <a:r>
              <a:rPr lang="zh-CN" altLang="en-US" dirty="0">
                <a:latin typeface="Microsoft YaHei" panose="020B0503020204020204" pitchFamily="34" charset="-122"/>
                <a:ea typeface="Microsoft YaHei" panose="020B0503020204020204" pitchFamily="34" charset="-122"/>
              </a:rPr>
              <a:t>。</a:t>
            </a:r>
          </a:p>
          <a:p>
            <a:pPr marL="257175" indent="-257175">
              <a:lnSpc>
                <a:spcPct val="150000"/>
              </a:lnSpc>
              <a:spcBef>
                <a:spcPct val="20000"/>
              </a:spcBef>
              <a:buClr>
                <a:schemeClr val="folHlink"/>
              </a:buClr>
              <a:buSzPct val="60000"/>
            </a:pPr>
            <a:r>
              <a:rPr lang="zh-CN" altLang="en-US" dirty="0">
                <a:latin typeface="Microsoft YaHei" panose="020B0503020204020204" pitchFamily="34" charset="-122"/>
                <a:ea typeface="Microsoft YaHei" panose="020B0503020204020204" pitchFamily="34" charset="-122"/>
              </a:rPr>
              <a:t>② </a:t>
            </a:r>
            <a:r>
              <a:rPr lang="zh-CN" altLang="en-US" dirty="0">
                <a:solidFill>
                  <a:schemeClr val="hlink"/>
                </a:solidFill>
                <a:latin typeface="Microsoft YaHei" panose="020B0503020204020204" pitchFamily="34" charset="-122"/>
                <a:ea typeface="Microsoft YaHei" panose="020B0503020204020204" pitchFamily="34" charset="-122"/>
              </a:rPr>
              <a:t>函数依赖：</a:t>
            </a:r>
            <a:r>
              <a:rPr lang="zh-CN" altLang="en-US" dirty="0">
                <a:latin typeface="Microsoft YaHei" panose="020B0503020204020204" pitchFamily="34" charset="-122"/>
                <a:ea typeface="Microsoft YaHei" panose="020B0503020204020204" pitchFamily="34" charset="-122"/>
              </a:rPr>
              <a:t>若</a:t>
            </a:r>
            <a:r>
              <a:rPr lang="en-US" altLang="zh-CN" dirty="0">
                <a:latin typeface="Microsoft YaHei" panose="020B0503020204020204" pitchFamily="34" charset="-122"/>
                <a:ea typeface="Microsoft YaHei" panose="020B0503020204020204" pitchFamily="34" charset="-122"/>
              </a:rPr>
              <a:t>R</a:t>
            </a:r>
            <a:r>
              <a:rPr lang="zh-CN" altLang="en-US" dirty="0">
                <a:latin typeface="Microsoft YaHei" panose="020B0503020204020204" pitchFamily="34" charset="-122"/>
                <a:ea typeface="Microsoft YaHei" panose="020B0503020204020204" pitchFamily="34" charset="-122"/>
              </a:rPr>
              <a:t>的任意关系有：对</a:t>
            </a:r>
            <a:r>
              <a:rPr lang="en-US" altLang="zh-CN" dirty="0">
                <a:latin typeface="Microsoft YaHei" panose="020B0503020204020204" pitchFamily="34" charset="-122"/>
                <a:ea typeface="Microsoft YaHei" panose="020B0503020204020204" pitchFamily="34" charset="-122"/>
              </a:rPr>
              <a:t>X</a:t>
            </a:r>
            <a:r>
              <a:rPr lang="zh-CN" altLang="en-US" dirty="0">
                <a:latin typeface="Microsoft YaHei" panose="020B0503020204020204" pitchFamily="34" charset="-122"/>
                <a:ea typeface="Microsoft YaHei" panose="020B0503020204020204" pitchFamily="34" charset="-122"/>
              </a:rPr>
              <a:t>中的每个属性值，在</a:t>
            </a:r>
            <a:r>
              <a:rPr lang="en-US" altLang="zh-CN" dirty="0">
                <a:latin typeface="Microsoft YaHei" panose="020B0503020204020204" pitchFamily="34" charset="-122"/>
                <a:ea typeface="Microsoft YaHei" panose="020B0503020204020204" pitchFamily="34" charset="-122"/>
              </a:rPr>
              <a:t>Y</a:t>
            </a:r>
            <a:r>
              <a:rPr lang="zh-CN" altLang="en-US" dirty="0">
                <a:latin typeface="Microsoft YaHei" panose="020B0503020204020204" pitchFamily="34" charset="-122"/>
                <a:ea typeface="Microsoft YaHei" panose="020B0503020204020204" pitchFamily="34" charset="-122"/>
              </a:rPr>
              <a:t>中都有惟一的值与之对应，则称</a:t>
            </a:r>
            <a:r>
              <a:rPr lang="en-US" altLang="zh-CN" dirty="0">
                <a:latin typeface="Microsoft YaHei" panose="020B0503020204020204" pitchFamily="34" charset="-122"/>
                <a:ea typeface="Microsoft YaHei" panose="020B0503020204020204" pitchFamily="34" charset="-122"/>
              </a:rPr>
              <a:t>X</a:t>
            </a:r>
            <a:r>
              <a:rPr lang="zh-CN" altLang="en-US" dirty="0">
                <a:latin typeface="Microsoft YaHei" panose="020B0503020204020204" pitchFamily="34" charset="-122"/>
                <a:ea typeface="Microsoft YaHei" panose="020B0503020204020204" pitchFamily="34" charset="-122"/>
              </a:rPr>
              <a:t>函数决定</a:t>
            </a:r>
            <a:r>
              <a:rPr lang="en-US" altLang="zh-CN" dirty="0">
                <a:latin typeface="Microsoft YaHei" panose="020B0503020204020204" pitchFamily="34" charset="-122"/>
                <a:ea typeface="Microsoft YaHei" panose="020B0503020204020204" pitchFamily="34" charset="-122"/>
              </a:rPr>
              <a:t>Y</a:t>
            </a:r>
            <a:r>
              <a:rPr lang="zh-CN" altLang="en-US" dirty="0">
                <a:latin typeface="Microsoft YaHei" panose="020B0503020204020204" pitchFamily="34" charset="-122"/>
                <a:ea typeface="Microsoft YaHei" panose="020B0503020204020204" pitchFamily="34" charset="-122"/>
              </a:rPr>
              <a:t>，或</a:t>
            </a:r>
            <a:r>
              <a:rPr lang="en-US" altLang="zh-CN" dirty="0">
                <a:latin typeface="Microsoft YaHei" panose="020B0503020204020204" pitchFamily="34" charset="-122"/>
                <a:ea typeface="Microsoft YaHei" panose="020B0503020204020204" pitchFamily="34" charset="-122"/>
              </a:rPr>
              <a:t>Y</a:t>
            </a:r>
            <a:r>
              <a:rPr lang="zh-CN" altLang="en-US" dirty="0">
                <a:latin typeface="Microsoft YaHei" panose="020B0503020204020204" pitchFamily="34" charset="-122"/>
                <a:ea typeface="Microsoft YaHei" panose="020B0503020204020204" pitchFamily="34" charset="-122"/>
              </a:rPr>
              <a:t>函数依赖于</a:t>
            </a:r>
            <a:r>
              <a:rPr lang="en-US" altLang="zh-CN" dirty="0">
                <a:latin typeface="Microsoft YaHei" panose="020B0503020204020204" pitchFamily="34" charset="-122"/>
                <a:ea typeface="Microsoft YaHei" panose="020B0503020204020204" pitchFamily="34" charset="-122"/>
              </a:rPr>
              <a:t>X</a:t>
            </a:r>
            <a:r>
              <a:rPr lang="zh-CN" altLang="en-US" dirty="0">
                <a:latin typeface="Microsoft YaHei" panose="020B0503020204020204" pitchFamily="34" charset="-122"/>
                <a:ea typeface="Microsoft YaHei" panose="020B0503020204020204" pitchFamily="34" charset="-122"/>
              </a:rPr>
              <a:t>，记作 </a:t>
            </a:r>
            <a:r>
              <a:rPr lang="en-US" altLang="zh-CN" dirty="0">
                <a:latin typeface="Microsoft YaHei" panose="020B0503020204020204" pitchFamily="34" charset="-122"/>
                <a:ea typeface="Microsoft YaHei" panose="020B0503020204020204" pitchFamily="34" charset="-122"/>
              </a:rPr>
              <a:t>X</a:t>
            </a:r>
            <a:r>
              <a:rPr lang="en-US" altLang="zh-CN" dirty="0">
                <a:latin typeface="Microsoft YaHei" panose="020B0503020204020204" pitchFamily="34" charset="-122"/>
                <a:ea typeface="Microsoft YaHei" panose="020B0503020204020204" pitchFamily="34" charset="-122"/>
                <a:sym typeface="Wingdings" panose="05000000000000000000" pitchFamily="2" charset="2"/>
              </a:rPr>
              <a:t></a:t>
            </a:r>
            <a:r>
              <a:rPr lang="en-US" altLang="zh-CN" dirty="0">
                <a:latin typeface="Microsoft YaHei" panose="020B0503020204020204" pitchFamily="34" charset="-122"/>
                <a:ea typeface="Microsoft YaHei" panose="020B0503020204020204" pitchFamily="34" charset="-122"/>
              </a:rPr>
              <a:t>Y </a:t>
            </a:r>
            <a:r>
              <a:rPr lang="zh-CN" altLang="en-US" dirty="0">
                <a:latin typeface="Microsoft YaHei" panose="020B0503020204020204" pitchFamily="34" charset="-122"/>
                <a:ea typeface="Microsoft YaHei" panose="020B0503020204020204" pitchFamily="34" charset="-122"/>
              </a:rPr>
              <a:t>。</a:t>
            </a:r>
          </a:p>
          <a:p>
            <a:pPr marL="257175" indent="-257175">
              <a:lnSpc>
                <a:spcPct val="150000"/>
              </a:lnSpc>
              <a:spcBef>
                <a:spcPct val="20000"/>
              </a:spcBef>
              <a:buClr>
                <a:schemeClr val="folHlink"/>
              </a:buClr>
              <a:buSzPct val="60000"/>
            </a:pPr>
            <a:r>
              <a:rPr lang="zh-CN" altLang="en-US" dirty="0">
                <a:latin typeface="Microsoft YaHei" panose="020B0503020204020204" pitchFamily="34" charset="-122"/>
                <a:ea typeface="Microsoft YaHei" panose="020B0503020204020204" pitchFamily="34" charset="-122"/>
              </a:rPr>
              <a:t>注意：</a:t>
            </a:r>
            <a:r>
              <a:rPr lang="en-US" altLang="zh-CN" dirty="0">
                <a:latin typeface="Microsoft YaHei" panose="020B0503020204020204" pitchFamily="34" charset="-122"/>
                <a:ea typeface="Microsoft YaHei" panose="020B0503020204020204" pitchFamily="34" charset="-122"/>
              </a:rPr>
              <a:t>(1)R</a:t>
            </a:r>
            <a:r>
              <a:rPr lang="zh-CN" altLang="en-US" dirty="0">
                <a:latin typeface="Microsoft YaHei" panose="020B0503020204020204" pitchFamily="34" charset="-122"/>
                <a:ea typeface="Microsoft YaHei" panose="020B0503020204020204" pitchFamily="34" charset="-122"/>
              </a:rPr>
              <a:t>的一切关系均要满足的约束条件  </a:t>
            </a:r>
            <a:r>
              <a:rPr lang="en-US" altLang="zh-CN" dirty="0">
                <a:latin typeface="Microsoft YaHei" panose="020B0503020204020204" pitchFamily="34" charset="-122"/>
                <a:ea typeface="Microsoft YaHei" panose="020B0503020204020204" pitchFamily="34" charset="-122"/>
              </a:rPr>
              <a:t>(2)</a:t>
            </a:r>
            <a:r>
              <a:rPr lang="zh-CN" altLang="en-US" dirty="0">
                <a:latin typeface="Microsoft YaHei" panose="020B0503020204020204" pitchFamily="34" charset="-122"/>
                <a:ea typeface="Microsoft YaHei" panose="020B0503020204020204" pitchFamily="34" charset="-122"/>
              </a:rPr>
              <a:t>语义范畴</a:t>
            </a:r>
          </a:p>
        </p:txBody>
      </p:sp>
      <p:sp>
        <p:nvSpPr>
          <p:cNvPr id="25605" name="AutoShape 6"/>
          <p:cNvSpPr/>
          <p:nvPr/>
        </p:nvSpPr>
        <p:spPr>
          <a:xfrm>
            <a:off x="4435926" y="830331"/>
            <a:ext cx="1200150" cy="457200"/>
          </a:xfrm>
          <a:prstGeom prst="wedgeRoundRectCallout">
            <a:avLst>
              <a:gd name="adj1" fmla="val -84125"/>
              <a:gd name="adj2" fmla="val 58333"/>
              <a:gd name="adj3" fmla="val 16667"/>
            </a:avLst>
          </a:prstGeom>
          <a:solidFill>
            <a:schemeClr val="accent1"/>
          </a:solidFill>
          <a:ln w="9525" cap="flat" cmpd="sng">
            <a:solidFill>
              <a:schemeClr val="tx1"/>
            </a:solidFill>
            <a:prstDash val="solid"/>
            <a:miter/>
            <a:headEnd type="none" w="med" len="med"/>
            <a:tailEnd type="none" w="med" len="med"/>
          </a:ln>
        </p:spPr>
        <p:txBody>
          <a:bodyPr anchor="t" anchorCtr="0"/>
          <a:lstStyle/>
          <a:p>
            <a:pPr algn="ctr"/>
            <a:r>
              <a:rPr lang="zh-CN" altLang="en-US" sz="1350" dirty="0">
                <a:latin typeface="楷体" panose="02010609060101010101" pitchFamily="49" charset="-122"/>
                <a:ea typeface="楷体" panose="02010609060101010101" pitchFamily="49" charset="-122"/>
              </a:rPr>
              <a:t>属性全集</a:t>
            </a:r>
          </a:p>
        </p:txBody>
      </p:sp>
      <p:sp>
        <p:nvSpPr>
          <p:cNvPr id="3" name="标题 2">
            <a:extLst>
              <a:ext uri="{FF2B5EF4-FFF2-40B4-BE49-F238E27FC236}">
                <a16:creationId xmlns:a16="http://schemas.microsoft.com/office/drawing/2014/main" id="{26E06CB7-BCA2-8BA7-3C92-137EBA113BCC}"/>
              </a:ext>
            </a:extLst>
          </p:cNvPr>
          <p:cNvSpPr>
            <a:spLocks noGrp="1"/>
          </p:cNvSpPr>
          <p:nvPr>
            <p:ph type="title"/>
          </p:nvPr>
        </p:nvSpPr>
        <p:spPr/>
        <p:txBody>
          <a:bodyPr/>
          <a:lstStyle/>
          <a:p>
            <a:r>
              <a:rPr lang="zh-CN" altLang="en-US" dirty="0"/>
              <a:t>函数依赖</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p:cNvSpPr>
          <p:nvPr>
            <p:ph idx="1"/>
          </p:nvPr>
        </p:nvSpPr>
        <p:spPr>
          <a:xfrm>
            <a:off x="411674" y="1166600"/>
            <a:ext cx="7886700" cy="3408735"/>
          </a:xfrm>
        </p:spPr>
        <p:txBody>
          <a:bodyPr vert="horz" wrap="square" lIns="68580" tIns="34290" rIns="68580" bIns="34290" anchor="t" anchorCtr="0"/>
          <a:lstStyle/>
          <a:p>
            <a:pPr marL="0" indent="0" eaLnBrk="1" hangingPunct="1">
              <a:buNone/>
            </a:pPr>
            <a:r>
              <a:rPr lang="en-US" altLang="zh-CN" sz="1800" b="1" dirty="0">
                <a:solidFill>
                  <a:srgbClr val="467886"/>
                </a:solidFill>
              </a:rPr>
              <a:t>【</a:t>
            </a:r>
            <a:r>
              <a:rPr lang="zh-CN" altLang="en-US" sz="1800" b="1" dirty="0">
                <a:solidFill>
                  <a:srgbClr val="467886"/>
                </a:solidFill>
              </a:rPr>
              <a:t>例</a:t>
            </a:r>
            <a:r>
              <a:rPr lang="en-US" altLang="zh-CN" sz="1800" b="1" dirty="0">
                <a:solidFill>
                  <a:srgbClr val="467886"/>
                </a:solidFill>
              </a:rPr>
              <a:t>】</a:t>
            </a:r>
            <a:r>
              <a:rPr lang="zh-CN" altLang="en-US" sz="1800" dirty="0"/>
              <a:t>指出下列关系</a:t>
            </a:r>
            <a:r>
              <a:rPr lang="en-US" altLang="zh-CN" sz="1800" dirty="0"/>
              <a:t>R(A,B,C,D)</a:t>
            </a:r>
            <a:r>
              <a:rPr lang="zh-CN" altLang="en-US" sz="1800" dirty="0"/>
              <a:t>中的函数依赖。</a:t>
            </a:r>
          </a:p>
          <a:p>
            <a:pPr eaLnBrk="1" hangingPunct="1"/>
            <a:endParaRPr lang="zh-CN" altLang="en-US" sz="1800" b="1" dirty="0"/>
          </a:p>
        </p:txBody>
      </p:sp>
      <p:graphicFrame>
        <p:nvGraphicFramePr>
          <p:cNvPr id="16388" name="表格 16387"/>
          <p:cNvGraphicFramePr/>
          <p:nvPr>
            <p:custDataLst>
              <p:tags r:id="rId1"/>
            </p:custDataLst>
            <p:extLst>
              <p:ext uri="{D42A27DB-BD31-4B8C-83A1-F6EECF244321}">
                <p14:modId xmlns:p14="http://schemas.microsoft.com/office/powerpoint/2010/main" val="36198756"/>
              </p:ext>
            </p:extLst>
          </p:nvPr>
        </p:nvGraphicFramePr>
        <p:xfrm>
          <a:off x="1230097" y="1613176"/>
          <a:ext cx="3600452" cy="3101340"/>
        </p:xfrm>
        <a:graphic>
          <a:graphicData uri="http://schemas.openxmlformats.org/drawingml/2006/table">
            <a:tbl>
              <a:tblPr/>
              <a:tblGrid>
                <a:gridCol w="900113">
                  <a:extLst>
                    <a:ext uri="{9D8B030D-6E8A-4147-A177-3AD203B41FA5}">
                      <a16:colId xmlns:a16="http://schemas.microsoft.com/office/drawing/2014/main" val="20000"/>
                    </a:ext>
                  </a:extLst>
                </a:gridCol>
                <a:gridCol w="900113">
                  <a:extLst>
                    <a:ext uri="{9D8B030D-6E8A-4147-A177-3AD203B41FA5}">
                      <a16:colId xmlns:a16="http://schemas.microsoft.com/office/drawing/2014/main" val="20001"/>
                    </a:ext>
                  </a:extLst>
                </a:gridCol>
                <a:gridCol w="900113">
                  <a:extLst>
                    <a:ext uri="{9D8B030D-6E8A-4147-A177-3AD203B41FA5}">
                      <a16:colId xmlns:a16="http://schemas.microsoft.com/office/drawing/2014/main" val="20002"/>
                    </a:ext>
                  </a:extLst>
                </a:gridCol>
                <a:gridCol w="900113">
                  <a:extLst>
                    <a:ext uri="{9D8B030D-6E8A-4147-A177-3AD203B41FA5}">
                      <a16:colId xmlns:a16="http://schemas.microsoft.com/office/drawing/2014/main" val="20003"/>
                    </a:ext>
                  </a:extLst>
                </a:gridCol>
              </a:tblGrid>
              <a:tr h="226498">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A</a:t>
                      </a:r>
                    </a:p>
                  </a:txBody>
                  <a:tcPr marL="68580" marR="68580" marT="34290" marB="3429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B</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C</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D</a:t>
                      </a:r>
                    </a:p>
                  </a:txBody>
                  <a:tcPr marL="68580" marR="68580" marT="34290" marB="342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6498">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a1</a:t>
                      </a:r>
                    </a:p>
                  </a:txBody>
                  <a:tcPr marL="68580" marR="68580" marT="34290" marB="3429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b1</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c1</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d1</a:t>
                      </a:r>
                    </a:p>
                  </a:txBody>
                  <a:tcPr marL="68580" marR="68580" marT="34290" marB="342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6498">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a1</a:t>
                      </a:r>
                    </a:p>
                  </a:txBody>
                  <a:tcPr marL="68580" marR="68580" marT="34290" marB="3429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b1</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c1</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d2</a:t>
                      </a:r>
                    </a:p>
                  </a:txBody>
                  <a:tcPr marL="68580" marR="68580" marT="34290" marB="342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6498">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a1</a:t>
                      </a:r>
                    </a:p>
                  </a:txBody>
                  <a:tcPr marL="68580" marR="68580" marT="34290" marB="3429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b1</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c1</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d3</a:t>
                      </a:r>
                    </a:p>
                  </a:txBody>
                  <a:tcPr marL="68580" marR="68580" marT="34290" marB="342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6498">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a1</a:t>
                      </a:r>
                    </a:p>
                  </a:txBody>
                  <a:tcPr marL="68580" marR="68580" marT="34290" marB="3429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b1</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c1</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d4</a:t>
                      </a:r>
                    </a:p>
                  </a:txBody>
                  <a:tcPr marL="68580" marR="68580" marT="34290" marB="342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6498">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a2</a:t>
                      </a:r>
                    </a:p>
                  </a:txBody>
                  <a:tcPr marL="68580" marR="68580" marT="34290" marB="3429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b2</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c5</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d1</a:t>
                      </a:r>
                    </a:p>
                  </a:txBody>
                  <a:tcPr marL="68580" marR="68580" marT="34290" marB="342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26498">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a2</a:t>
                      </a:r>
                    </a:p>
                  </a:txBody>
                  <a:tcPr marL="68580" marR="68580" marT="34290" marB="3429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b2</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c5</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d2</a:t>
                      </a:r>
                    </a:p>
                  </a:txBody>
                  <a:tcPr marL="68580" marR="68580" marT="34290" marB="342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26498">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a3</a:t>
                      </a:r>
                    </a:p>
                  </a:txBody>
                  <a:tcPr marL="68580" marR="68580" marT="34290" marB="3429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b3</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c4</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d2</a:t>
                      </a:r>
                    </a:p>
                  </a:txBody>
                  <a:tcPr marL="68580" marR="68580" marT="34290" marB="342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26498">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a4</a:t>
                      </a:r>
                    </a:p>
                  </a:txBody>
                  <a:tcPr marL="68580" marR="68580" marT="34290" marB="3429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b4</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c2</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d2</a:t>
                      </a:r>
                    </a:p>
                  </a:txBody>
                  <a:tcPr marL="68580" marR="68580" marT="34290" marB="342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26498">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a5</a:t>
                      </a:r>
                    </a:p>
                  </a:txBody>
                  <a:tcPr marL="68580" marR="68580" marT="34290" marB="3429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b4</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c2</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d4</a:t>
                      </a:r>
                    </a:p>
                  </a:txBody>
                  <a:tcPr marL="68580" marR="68580" marT="34290" marB="342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26498">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a6</a:t>
                      </a:r>
                    </a:p>
                  </a:txBody>
                  <a:tcPr marL="68580" marR="68580" marT="34290" marB="3429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b5</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c2</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400" dirty="0">
                          <a:latin typeface="Microsoft YaHei" panose="020B0503020204020204" pitchFamily="34" charset="-122"/>
                          <a:ea typeface="Microsoft YaHei" panose="020B0503020204020204" pitchFamily="34" charset="-122"/>
                        </a:rPr>
                        <a:t>d5</a:t>
                      </a:r>
                    </a:p>
                  </a:txBody>
                  <a:tcPr marL="68580" marR="68580" marT="34290" marB="342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5665" name="TextBox 4"/>
          <p:cNvSpPr txBox="1"/>
          <p:nvPr/>
        </p:nvSpPr>
        <p:spPr>
          <a:xfrm>
            <a:off x="5712011" y="1981984"/>
            <a:ext cx="2376488" cy="2363724"/>
          </a:xfrm>
          <a:prstGeom prst="rect">
            <a:avLst/>
          </a:prstGeom>
          <a:solidFill>
            <a:schemeClr val="accent1"/>
          </a:solidFill>
          <a:ln w="9525">
            <a:noFill/>
          </a:ln>
        </p:spPr>
        <p:txBody>
          <a:bodyPr anchor="t" anchorCtr="0">
            <a:spAutoFit/>
          </a:bodyPr>
          <a:lstStyle/>
          <a:p>
            <a:pPr>
              <a:spcBef>
                <a:spcPct val="20000"/>
              </a:spcBef>
              <a:buClr>
                <a:schemeClr val="folHlink"/>
              </a:buClr>
              <a:buSzPct val="60000"/>
            </a:pPr>
            <a:r>
              <a:rPr lang="en-US" altLang="zh-CN" dirty="0">
                <a:solidFill>
                  <a:schemeClr val="bg1"/>
                </a:solidFill>
                <a:latin typeface="楷体" panose="02010609060101010101" pitchFamily="49" charset="-122"/>
                <a:ea typeface="楷体" panose="02010609060101010101" pitchFamily="49" charset="-122"/>
              </a:rPr>
              <a:t>A→B, A→C, B→C,</a:t>
            </a:r>
          </a:p>
          <a:p>
            <a:pPr>
              <a:spcBef>
                <a:spcPct val="20000"/>
              </a:spcBef>
              <a:buClr>
                <a:schemeClr val="folHlink"/>
              </a:buClr>
              <a:buSzPct val="60000"/>
            </a:pPr>
            <a:r>
              <a:rPr lang="en-US" altLang="zh-CN" dirty="0">
                <a:solidFill>
                  <a:schemeClr val="bg1"/>
                </a:solidFill>
                <a:latin typeface="楷体" panose="02010609060101010101" pitchFamily="49" charset="-122"/>
                <a:ea typeface="楷体" panose="02010609060101010101" pitchFamily="49" charset="-122"/>
              </a:rPr>
              <a:t>(A,D)→B, (A,D)→C,</a:t>
            </a:r>
          </a:p>
          <a:p>
            <a:pPr>
              <a:spcBef>
                <a:spcPct val="20000"/>
              </a:spcBef>
              <a:buClr>
                <a:schemeClr val="folHlink"/>
              </a:buClr>
              <a:buSzPct val="60000"/>
            </a:pPr>
            <a:r>
              <a:rPr lang="en-US" altLang="zh-CN" dirty="0">
                <a:solidFill>
                  <a:schemeClr val="bg1"/>
                </a:solidFill>
                <a:latin typeface="楷体" panose="02010609060101010101" pitchFamily="49" charset="-122"/>
                <a:ea typeface="楷体" panose="02010609060101010101" pitchFamily="49" charset="-122"/>
              </a:rPr>
              <a:t>(B,D)→A, (B,D)→C,</a:t>
            </a:r>
          </a:p>
          <a:p>
            <a:pPr>
              <a:spcBef>
                <a:spcPct val="20000"/>
              </a:spcBef>
              <a:buClr>
                <a:schemeClr val="folHlink"/>
              </a:buClr>
              <a:buSzPct val="60000"/>
            </a:pPr>
            <a:r>
              <a:rPr lang="en-US" altLang="zh-CN" dirty="0">
                <a:solidFill>
                  <a:schemeClr val="bg1"/>
                </a:solidFill>
                <a:latin typeface="楷体" panose="02010609060101010101" pitchFamily="49" charset="-122"/>
                <a:ea typeface="楷体" panose="02010609060101010101" pitchFamily="49" charset="-122"/>
              </a:rPr>
              <a:t>……</a:t>
            </a:r>
          </a:p>
          <a:p>
            <a:pPr>
              <a:spcBef>
                <a:spcPct val="20000"/>
              </a:spcBef>
              <a:buClr>
                <a:schemeClr val="folHlink"/>
              </a:buClr>
              <a:buSzPct val="60000"/>
            </a:pPr>
            <a:endParaRPr lang="en-US" altLang="zh-CN" sz="1350" dirty="0">
              <a:solidFill>
                <a:schemeClr val="bg1"/>
              </a:solidFill>
              <a:latin typeface="楷体" panose="02010609060101010101" pitchFamily="49" charset="-122"/>
              <a:ea typeface="楷体" panose="02010609060101010101" pitchFamily="49" charset="-122"/>
            </a:endParaRPr>
          </a:p>
          <a:p>
            <a:pPr>
              <a:spcBef>
                <a:spcPct val="20000"/>
              </a:spcBef>
              <a:buClr>
                <a:schemeClr val="folHlink"/>
              </a:buClr>
              <a:buSzPct val="60000"/>
            </a:pPr>
            <a:endParaRPr lang="en-US" altLang="zh-CN" sz="1350" dirty="0">
              <a:solidFill>
                <a:schemeClr val="bg1"/>
              </a:solidFill>
              <a:latin typeface="楷体" panose="02010609060101010101" pitchFamily="49" charset="-122"/>
              <a:ea typeface="楷体" panose="02010609060101010101" pitchFamily="49" charset="-122"/>
            </a:endParaRPr>
          </a:p>
          <a:p>
            <a:pPr>
              <a:spcBef>
                <a:spcPct val="20000"/>
              </a:spcBef>
              <a:buClr>
                <a:schemeClr val="folHlink"/>
              </a:buClr>
              <a:buSzPct val="60000"/>
            </a:pPr>
            <a:endParaRPr lang="en-US" altLang="zh-CN" sz="1350" dirty="0">
              <a:solidFill>
                <a:schemeClr val="bg1"/>
              </a:solidFill>
              <a:latin typeface="楷体" panose="02010609060101010101" pitchFamily="49" charset="-122"/>
              <a:ea typeface="楷体" panose="02010609060101010101" pitchFamily="49" charset="-122"/>
            </a:endParaRPr>
          </a:p>
          <a:p>
            <a:pPr>
              <a:spcBef>
                <a:spcPct val="20000"/>
              </a:spcBef>
              <a:buClr>
                <a:schemeClr val="folHlink"/>
              </a:buClr>
              <a:buSzPct val="60000"/>
            </a:pPr>
            <a:endParaRPr lang="zh-CN" altLang="en-US" sz="1350" dirty="0">
              <a:solidFill>
                <a:schemeClr val="bg1"/>
              </a:solidFill>
              <a:latin typeface="楷体" panose="02010609060101010101" pitchFamily="49" charset="-122"/>
              <a:ea typeface="楷体" panose="02010609060101010101" pitchFamily="49" charset="-122"/>
            </a:endParaRPr>
          </a:p>
        </p:txBody>
      </p:sp>
      <p:sp>
        <p:nvSpPr>
          <p:cNvPr id="3" name="标题 2">
            <a:extLst>
              <a:ext uri="{FF2B5EF4-FFF2-40B4-BE49-F238E27FC236}">
                <a16:creationId xmlns:a16="http://schemas.microsoft.com/office/drawing/2014/main" id="{9E84BFE2-BD16-4B85-F49D-975214F02B39}"/>
              </a:ext>
            </a:extLst>
          </p:cNvPr>
          <p:cNvSpPr>
            <a:spLocks noGrp="1"/>
          </p:cNvSpPr>
          <p:nvPr>
            <p:ph type="title"/>
          </p:nvPr>
        </p:nvSpPr>
        <p:spPr/>
        <p:txBody>
          <a:bodyPr/>
          <a:lstStyle/>
          <a:p>
            <a:r>
              <a:rPr lang="zh-CN" altLang="en-US" dirty="0"/>
              <a:t>函数依赖实例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665"/>
                                        </p:tgtEl>
                                        <p:attrNameLst>
                                          <p:attrName>style.visibility</p:attrName>
                                        </p:attrNameLst>
                                      </p:cBhvr>
                                      <p:to>
                                        <p:strVal val="visible"/>
                                      </p:to>
                                    </p:set>
                                    <p:anim calcmode="lin" valueType="num">
                                      <p:cBhvr additive="base">
                                        <p:cTn id="7" dur="500" fill="hold"/>
                                        <p:tgtEl>
                                          <p:spTgt spid="25665"/>
                                        </p:tgtEl>
                                        <p:attrNameLst>
                                          <p:attrName>ppt_x</p:attrName>
                                        </p:attrNameLst>
                                      </p:cBhvr>
                                      <p:tavLst>
                                        <p:tav tm="0">
                                          <p:val>
                                            <p:strVal val="#ppt_x"/>
                                          </p:val>
                                        </p:tav>
                                        <p:tav tm="100000">
                                          <p:val>
                                            <p:strVal val="#ppt_x"/>
                                          </p:val>
                                        </p:tav>
                                      </p:tavLst>
                                    </p:anim>
                                    <p:anim calcmode="lin" valueType="num">
                                      <p:cBhvr additive="base">
                                        <p:cTn id="8" dur="500" fill="hold"/>
                                        <p:tgtEl>
                                          <p:spTgt spid="256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65"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p:cNvSpPr>
          <p:nvPr>
            <p:ph idx="1"/>
          </p:nvPr>
        </p:nvSpPr>
        <p:spPr/>
        <p:txBody>
          <a:bodyPr vert="horz" wrap="square" lIns="68580" tIns="34290" rIns="68580" bIns="34290" anchor="t" anchorCtr="0">
            <a:normAutofit/>
          </a:bodyPr>
          <a:lstStyle/>
          <a:p>
            <a:pPr>
              <a:lnSpc>
                <a:spcPct val="100000"/>
              </a:lnSpc>
              <a:buNone/>
            </a:pPr>
            <a:r>
              <a:rPr lang="zh-CN" altLang="en-US" sz="1800" dirty="0"/>
              <a:t>一般，</a:t>
            </a:r>
            <a:r>
              <a:rPr lang="zh-CN" altLang="en-US" sz="1800" dirty="0">
                <a:solidFill>
                  <a:schemeClr val="hlink"/>
                </a:solidFill>
              </a:rPr>
              <a:t>函数依赖与属性间的关系</a:t>
            </a:r>
            <a:r>
              <a:rPr lang="zh-CN" altLang="en-US" sz="1800" dirty="0"/>
              <a:t>有：</a:t>
            </a:r>
          </a:p>
          <a:p>
            <a:pPr>
              <a:lnSpc>
                <a:spcPct val="100000"/>
              </a:lnSpc>
            </a:pPr>
            <a:r>
              <a:rPr lang="zh-CN" altLang="en-US" sz="1800" dirty="0"/>
              <a:t>若</a:t>
            </a:r>
            <a:r>
              <a:rPr lang="en-US" altLang="zh-CN" sz="1800" dirty="0"/>
              <a:t>X</a:t>
            </a:r>
            <a:r>
              <a:rPr lang="zh-CN" altLang="en-US" sz="1800" dirty="0"/>
              <a:t>，</a:t>
            </a:r>
            <a:r>
              <a:rPr lang="en-US" altLang="zh-CN" sz="1800" dirty="0"/>
              <a:t>Y</a:t>
            </a:r>
            <a:r>
              <a:rPr lang="zh-CN" altLang="en-US" sz="1800" dirty="0"/>
              <a:t>是</a:t>
            </a:r>
            <a:r>
              <a:rPr lang="en-US" altLang="zh-CN" sz="1800" dirty="0"/>
              <a:t>1:1</a:t>
            </a:r>
            <a:r>
              <a:rPr lang="zh-CN" altLang="en-US" sz="1800" dirty="0"/>
              <a:t>关系，</a:t>
            </a:r>
          </a:p>
          <a:p>
            <a:pPr>
              <a:lnSpc>
                <a:spcPct val="100000"/>
              </a:lnSpc>
              <a:buNone/>
            </a:pPr>
            <a:r>
              <a:rPr lang="zh-CN" altLang="en-US" sz="1800" dirty="0"/>
              <a:t>  则存在 </a:t>
            </a:r>
            <a:r>
              <a:rPr lang="en-US" altLang="zh-CN" sz="1800" dirty="0"/>
              <a:t>X → Y</a:t>
            </a:r>
            <a:r>
              <a:rPr lang="zh-CN" altLang="en-US" sz="1800" dirty="0"/>
              <a:t>、</a:t>
            </a:r>
            <a:r>
              <a:rPr lang="en-US" altLang="zh-CN" sz="1800" dirty="0"/>
              <a:t>Y → X </a:t>
            </a:r>
            <a:r>
              <a:rPr lang="zh-CN" altLang="en-US" sz="1800" dirty="0"/>
              <a:t>。</a:t>
            </a:r>
            <a:endParaRPr lang="en-US" altLang="zh-CN" sz="1800" dirty="0"/>
          </a:p>
          <a:p>
            <a:pPr>
              <a:lnSpc>
                <a:spcPct val="100000"/>
              </a:lnSpc>
              <a:buNone/>
            </a:pPr>
            <a:endParaRPr lang="zh-CN" altLang="en-US" sz="1800" dirty="0"/>
          </a:p>
          <a:p>
            <a:pPr>
              <a:lnSpc>
                <a:spcPct val="100000"/>
              </a:lnSpc>
            </a:pPr>
            <a:r>
              <a:rPr lang="zh-CN" altLang="en-US" sz="1800" dirty="0"/>
              <a:t>若</a:t>
            </a:r>
            <a:r>
              <a:rPr lang="en-US" altLang="zh-CN" sz="1800" dirty="0"/>
              <a:t>X</a:t>
            </a:r>
            <a:r>
              <a:rPr lang="zh-CN" altLang="en-US" sz="1800" dirty="0"/>
              <a:t>，</a:t>
            </a:r>
            <a:r>
              <a:rPr lang="en-US" altLang="zh-CN" sz="1800" dirty="0"/>
              <a:t>Y</a:t>
            </a:r>
            <a:r>
              <a:rPr lang="zh-CN" altLang="en-US" sz="1800" dirty="0"/>
              <a:t>是</a:t>
            </a:r>
            <a:r>
              <a:rPr lang="en-US" altLang="zh-CN" sz="1800" dirty="0"/>
              <a:t>m:1</a:t>
            </a:r>
            <a:r>
              <a:rPr lang="zh-CN" altLang="en-US" sz="1800" dirty="0"/>
              <a:t>关系，</a:t>
            </a:r>
          </a:p>
          <a:p>
            <a:pPr>
              <a:lnSpc>
                <a:spcPct val="100000"/>
              </a:lnSpc>
              <a:buNone/>
            </a:pPr>
            <a:r>
              <a:rPr lang="zh-CN" altLang="en-US" sz="1800" dirty="0"/>
              <a:t>  则存在 </a:t>
            </a:r>
            <a:r>
              <a:rPr lang="en-US" altLang="zh-CN" sz="1800" dirty="0"/>
              <a:t>X → Y</a:t>
            </a:r>
            <a:r>
              <a:rPr lang="zh-CN" altLang="en-US" sz="1800" dirty="0"/>
              <a:t>但 </a:t>
            </a:r>
            <a:r>
              <a:rPr lang="en-US" altLang="zh-CN" sz="1800" dirty="0"/>
              <a:t>Y</a:t>
            </a:r>
            <a:r>
              <a:rPr lang="zh-CN" altLang="en-US" sz="1800" dirty="0"/>
              <a:t> </a:t>
            </a:r>
            <a:r>
              <a:rPr lang="zh-CN" altLang="en-US" sz="2400" dirty="0"/>
              <a:t>↛</a:t>
            </a:r>
            <a:r>
              <a:rPr lang="zh-CN" altLang="en-US" sz="1800" i="1" dirty="0"/>
              <a:t> </a:t>
            </a:r>
            <a:r>
              <a:rPr lang="en-US" altLang="zh-CN" sz="1800" dirty="0"/>
              <a:t>X</a:t>
            </a:r>
            <a:r>
              <a:rPr lang="zh-CN" altLang="en-US" sz="1800" dirty="0"/>
              <a:t>。</a:t>
            </a:r>
            <a:endParaRPr lang="en-US" altLang="zh-CN" sz="1800" dirty="0"/>
          </a:p>
          <a:p>
            <a:pPr>
              <a:lnSpc>
                <a:spcPct val="100000"/>
              </a:lnSpc>
              <a:buNone/>
            </a:pPr>
            <a:endParaRPr lang="zh-CN" altLang="en-US" sz="1800" dirty="0"/>
          </a:p>
          <a:p>
            <a:pPr>
              <a:lnSpc>
                <a:spcPct val="100000"/>
              </a:lnSpc>
            </a:pPr>
            <a:r>
              <a:rPr lang="zh-CN" altLang="en-US" sz="1800" dirty="0"/>
              <a:t>若</a:t>
            </a:r>
            <a:r>
              <a:rPr lang="en-US" altLang="zh-CN" sz="1800" dirty="0"/>
              <a:t>X</a:t>
            </a:r>
            <a:r>
              <a:rPr lang="zh-CN" altLang="en-US" sz="1800" dirty="0"/>
              <a:t>，</a:t>
            </a:r>
            <a:r>
              <a:rPr lang="en-US" altLang="zh-CN" sz="1800" dirty="0"/>
              <a:t>Y</a:t>
            </a:r>
            <a:r>
              <a:rPr lang="zh-CN" altLang="en-US" sz="1800" dirty="0"/>
              <a:t>是</a:t>
            </a:r>
            <a:r>
              <a:rPr lang="en-US" altLang="zh-CN" sz="1800" dirty="0"/>
              <a:t>m:n</a:t>
            </a:r>
            <a:r>
              <a:rPr lang="zh-CN" altLang="en-US" sz="1800" dirty="0"/>
              <a:t>关系，</a:t>
            </a:r>
          </a:p>
          <a:p>
            <a:pPr>
              <a:lnSpc>
                <a:spcPct val="100000"/>
              </a:lnSpc>
              <a:buNone/>
            </a:pPr>
            <a:r>
              <a:rPr lang="zh-CN" altLang="en-US" sz="1800" dirty="0"/>
              <a:t>  则</a:t>
            </a:r>
            <a:r>
              <a:rPr lang="en-US" altLang="zh-CN" sz="1800" dirty="0"/>
              <a:t>X</a:t>
            </a:r>
            <a:r>
              <a:rPr lang="zh-CN" altLang="en-US" sz="1800" dirty="0"/>
              <a:t>，</a:t>
            </a:r>
            <a:r>
              <a:rPr lang="en-US" altLang="zh-CN" sz="1800" dirty="0"/>
              <a:t>Y</a:t>
            </a:r>
            <a:r>
              <a:rPr lang="zh-CN" altLang="en-US" sz="1800" dirty="0"/>
              <a:t>间不存在函数依赖关系。</a:t>
            </a:r>
          </a:p>
        </p:txBody>
      </p:sp>
      <p:sp>
        <p:nvSpPr>
          <p:cNvPr id="241667" name="Text Box 3"/>
          <p:cNvSpPr txBox="1"/>
          <p:nvPr/>
        </p:nvSpPr>
        <p:spPr>
          <a:xfrm>
            <a:off x="4114799" y="1817127"/>
            <a:ext cx="4890733" cy="725263"/>
          </a:xfrm>
          <a:prstGeom prst="rect">
            <a:avLst/>
          </a:prstGeom>
          <a:solidFill>
            <a:schemeClr val="accent1"/>
          </a:solidFill>
          <a:ln w="9525" cap="flat" cmpd="sng">
            <a:solidFill>
              <a:srgbClr val="0070C0"/>
            </a:solidFill>
            <a:prstDash val="solid"/>
            <a:miter/>
            <a:headEnd type="none" w="med" len="med"/>
            <a:tailEnd type="none" w="med" len="med"/>
          </a:ln>
        </p:spPr>
        <p:txBody>
          <a:bodyPr wrap="square" anchor="t" anchorCtr="0">
            <a:spAutoFit/>
          </a:bodyPr>
          <a:lstStyle/>
          <a:p>
            <a:pPr eaLnBrk="0" hangingPunct="0">
              <a:lnSpc>
                <a:spcPct val="120000"/>
              </a:lnSpc>
            </a:pPr>
            <a:r>
              <a:rPr lang="zh-CN" altLang="en-US" noProof="1">
                <a:solidFill>
                  <a:schemeClr val="bg1"/>
                </a:solidFill>
                <a:latin typeface="Microsoft YaHei" panose="020B0503020204020204" pitchFamily="34" charset="-122"/>
                <a:ea typeface="Microsoft YaHei" panose="020B0503020204020204" pitchFamily="34" charset="-122"/>
              </a:rPr>
              <a:t>不严格地讲，函数依赖指的是一组属性值唯一决定另一组属性值的这种数据依赖。</a:t>
            </a:r>
          </a:p>
        </p:txBody>
      </p:sp>
      <p:sp>
        <p:nvSpPr>
          <p:cNvPr id="241668" name="Text Box 4"/>
          <p:cNvSpPr txBox="1"/>
          <p:nvPr/>
        </p:nvSpPr>
        <p:spPr>
          <a:xfrm>
            <a:off x="4114798" y="2754705"/>
            <a:ext cx="4890734" cy="1726178"/>
          </a:xfrm>
          <a:prstGeom prst="rect">
            <a:avLst/>
          </a:prstGeom>
          <a:solidFill>
            <a:schemeClr val="accent1"/>
          </a:solidFill>
          <a:ln w="9525">
            <a:solidFill>
              <a:srgbClr val="0070C0"/>
            </a:solidFill>
          </a:ln>
        </p:spPr>
        <p:txBody>
          <a:bodyPr wrap="square" anchor="t" anchorCtr="0">
            <a:spAutoFit/>
          </a:bodyPr>
          <a:lstStyle/>
          <a:p>
            <a:pPr eaLnBrk="0" hangingPunct="0">
              <a:lnSpc>
                <a:spcPct val="120000"/>
              </a:lnSpc>
            </a:pPr>
            <a:r>
              <a:rPr lang="zh-CN" altLang="en-US" noProof="1">
                <a:solidFill>
                  <a:schemeClr val="bg1"/>
                </a:solidFill>
                <a:latin typeface="Microsoft YaHei" panose="020B0503020204020204" pitchFamily="34" charset="-122"/>
                <a:ea typeface="Microsoft YaHei" panose="020B0503020204020204" pitchFamily="34" charset="-122"/>
              </a:rPr>
              <a:t>如：学生关系中，当学号确定后，其姓名也就唯一确定了。</a:t>
            </a:r>
          </a:p>
          <a:p>
            <a:pPr eaLnBrk="0" hangingPunct="0">
              <a:lnSpc>
                <a:spcPct val="120000"/>
              </a:lnSpc>
            </a:pPr>
            <a:endParaRPr lang="en-US" altLang="zh-CN" noProof="1">
              <a:solidFill>
                <a:schemeClr val="bg1"/>
              </a:solidFill>
              <a:latin typeface="Microsoft YaHei" panose="020B0503020204020204" pitchFamily="34" charset="-122"/>
              <a:ea typeface="Microsoft YaHei" panose="020B0503020204020204" pitchFamily="34" charset="-122"/>
            </a:endParaRPr>
          </a:p>
          <a:p>
            <a:pPr eaLnBrk="0" hangingPunct="0">
              <a:lnSpc>
                <a:spcPct val="120000"/>
              </a:lnSpc>
            </a:pPr>
            <a:r>
              <a:rPr lang="zh-CN" altLang="en-US" noProof="1">
                <a:solidFill>
                  <a:schemeClr val="bg1"/>
                </a:solidFill>
                <a:latin typeface="Microsoft YaHei" panose="020B0503020204020204" pitchFamily="34" charset="-122"/>
                <a:ea typeface="Microsoft YaHei" panose="020B0503020204020204" pitchFamily="34" charset="-122"/>
              </a:rPr>
              <a:t>选课关系中，当学号和课程号确定后，其成绩也就唯一确定了。</a:t>
            </a:r>
          </a:p>
        </p:txBody>
      </p:sp>
      <p:sp>
        <p:nvSpPr>
          <p:cNvPr id="3" name="标题 2">
            <a:extLst>
              <a:ext uri="{FF2B5EF4-FFF2-40B4-BE49-F238E27FC236}">
                <a16:creationId xmlns:a16="http://schemas.microsoft.com/office/drawing/2014/main" id="{480B7B5E-6EBA-C483-C4CF-2EEB9C64843F}"/>
              </a:ext>
            </a:extLst>
          </p:cNvPr>
          <p:cNvSpPr>
            <a:spLocks noGrp="1"/>
          </p:cNvSpPr>
          <p:nvPr>
            <p:ph type="title"/>
          </p:nvPr>
        </p:nvSpPr>
        <p:spPr/>
        <p:txBody>
          <a:bodyPr/>
          <a:lstStyle/>
          <a:p>
            <a:r>
              <a:rPr lang="zh-CN" altLang="en-US" dirty="0"/>
              <a:t>函数依赖与属性间关系</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301200" y="1253548"/>
            <a:ext cx="8532833" cy="3485181"/>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marL="0" indent="0" algn="just" eaLnBrk="1" hangingPunct="1">
              <a:buNone/>
            </a:pPr>
            <a:r>
              <a:rPr lang="en-US" altLang="zh-CN" sz="1600" b="1" dirty="0">
                <a:solidFill>
                  <a:schemeClr val="hlink"/>
                </a:solidFill>
                <a:latin typeface="Microsoft YaHei" panose="020B0503020204020204" pitchFamily="34" charset="-122"/>
                <a:ea typeface="Microsoft YaHei" panose="020B0503020204020204" pitchFamily="34" charset="-122"/>
              </a:rPr>
              <a:t>【</a:t>
            </a:r>
            <a:r>
              <a:rPr lang="zh-CN" altLang="en-US" sz="1600" b="1" dirty="0">
                <a:solidFill>
                  <a:schemeClr val="hlink"/>
                </a:solidFill>
                <a:latin typeface="Microsoft YaHei" panose="020B0503020204020204" pitchFamily="34" charset="-122"/>
                <a:ea typeface="Microsoft YaHei" panose="020B0503020204020204" pitchFamily="34" charset="-122"/>
              </a:rPr>
              <a:t>例</a:t>
            </a:r>
            <a:r>
              <a:rPr lang="en-US" altLang="zh-CN" sz="1600" b="1" dirty="0">
                <a:solidFill>
                  <a:schemeClr val="hlink"/>
                </a:solidFill>
                <a:latin typeface="Microsoft YaHei" panose="020B0503020204020204" pitchFamily="34" charset="-122"/>
                <a:ea typeface="Microsoft YaHei" panose="020B0503020204020204" pitchFamily="34" charset="-122"/>
              </a:rPr>
              <a:t>】</a:t>
            </a:r>
            <a:r>
              <a:rPr lang="zh-CN" altLang="en-US" sz="1600" dirty="0">
                <a:latin typeface="Microsoft YaHei" panose="020B0503020204020204" pitchFamily="34" charset="-122"/>
                <a:ea typeface="Microsoft YaHei" panose="020B0503020204020204" pitchFamily="34" charset="-122"/>
              </a:rPr>
              <a:t>试指出学生关系</a:t>
            </a:r>
            <a:r>
              <a:rPr lang="en-US" altLang="zh-CN" sz="1600" dirty="0">
                <a:latin typeface="Microsoft YaHei" panose="020B0503020204020204" pitchFamily="34" charset="-122"/>
                <a:ea typeface="Microsoft YaHei" panose="020B0503020204020204" pitchFamily="34" charset="-122"/>
              </a:rPr>
              <a:t>S(SNO</a:t>
            </a:r>
            <a:r>
              <a:rPr lang="zh-CN" altLang="en-US" sz="16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SNAME</a:t>
            </a:r>
            <a:r>
              <a:rPr lang="zh-CN" altLang="en-US" sz="16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CLASS</a:t>
            </a:r>
            <a:r>
              <a:rPr lang="zh-CN" altLang="en-US" sz="16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CNO</a:t>
            </a:r>
            <a:r>
              <a:rPr lang="zh-CN" altLang="en-US" sz="16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TNO,TNAME</a:t>
            </a:r>
            <a:r>
              <a:rPr lang="zh-CN" altLang="en-US" sz="16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TAGE</a:t>
            </a:r>
            <a:r>
              <a:rPr lang="zh-CN" altLang="en-US" sz="16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ADDRESS</a:t>
            </a:r>
            <a:r>
              <a:rPr lang="zh-CN" altLang="en-US" sz="16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GRADE)</a:t>
            </a:r>
            <a:r>
              <a:rPr lang="zh-CN" altLang="en-US" sz="1600" dirty="0">
                <a:latin typeface="Microsoft YaHei" panose="020B0503020204020204" pitchFamily="34" charset="-122"/>
                <a:ea typeface="Microsoft YaHei" panose="020B0503020204020204" pitchFamily="34" charset="-122"/>
              </a:rPr>
              <a:t>中存在的函数依赖关系。</a:t>
            </a:r>
          </a:p>
          <a:p>
            <a:pPr marL="0" indent="0" algn="just" eaLnBrk="1" hangingPunct="1">
              <a:buNone/>
            </a:pPr>
            <a:r>
              <a:rPr lang="zh-CN" altLang="en-US" sz="1600" dirty="0">
                <a:latin typeface="Microsoft YaHei" panose="020B0503020204020204" pitchFamily="34" charset="-122"/>
                <a:ea typeface="Microsoft YaHei" panose="020B0503020204020204" pitchFamily="34" charset="-122"/>
              </a:rPr>
              <a:t>  </a:t>
            </a:r>
            <a:r>
              <a:rPr lang="en-US" altLang="zh-CN" sz="1600" dirty="0">
                <a:latin typeface="Microsoft YaHei" panose="020B0503020204020204" pitchFamily="34" charset="-122"/>
                <a:ea typeface="Microsoft YaHei" panose="020B0503020204020204" pitchFamily="34" charset="-122"/>
              </a:rPr>
              <a:t>SNO→SNAME</a:t>
            </a:r>
            <a:r>
              <a:rPr lang="zh-CN" altLang="en-US" sz="1600" dirty="0">
                <a:latin typeface="Microsoft YaHei" panose="020B0503020204020204" pitchFamily="34" charset="-122"/>
                <a:ea typeface="Microsoft YaHei" panose="020B0503020204020204" pitchFamily="34" charset="-122"/>
              </a:rPr>
              <a:t>（每个学号只能有一个学生姓名）</a:t>
            </a:r>
          </a:p>
          <a:p>
            <a:pPr marL="0" indent="0" algn="just" eaLnBrk="1" hangingPunct="1">
              <a:buNone/>
            </a:pPr>
            <a:r>
              <a:rPr lang="zh-CN" altLang="en-US" sz="1600" dirty="0">
                <a:latin typeface="Microsoft YaHei" panose="020B0503020204020204" pitchFamily="34" charset="-122"/>
                <a:ea typeface="Microsoft YaHei" panose="020B0503020204020204" pitchFamily="34" charset="-122"/>
              </a:rPr>
              <a:t>  </a:t>
            </a:r>
            <a:r>
              <a:rPr lang="en-US" altLang="zh-CN" sz="1600" dirty="0">
                <a:latin typeface="Microsoft YaHei" panose="020B0503020204020204" pitchFamily="34" charset="-122"/>
                <a:ea typeface="Microsoft YaHei" panose="020B0503020204020204" pitchFamily="34" charset="-122"/>
              </a:rPr>
              <a:t>SNO→CLASS</a:t>
            </a:r>
            <a:r>
              <a:rPr lang="zh-CN" altLang="en-US" sz="1600" dirty="0">
                <a:latin typeface="Microsoft YaHei" panose="020B0503020204020204" pitchFamily="34" charset="-122"/>
                <a:ea typeface="Microsoft YaHei" panose="020B0503020204020204" pitchFamily="34" charset="-122"/>
              </a:rPr>
              <a:t>（每个学号只能有一个班级）</a:t>
            </a:r>
          </a:p>
          <a:p>
            <a:pPr marL="0" indent="0" algn="just" eaLnBrk="1" hangingPunct="1">
              <a:buNone/>
            </a:pPr>
            <a:r>
              <a:rPr lang="zh-CN" altLang="en-US" sz="1600" dirty="0">
                <a:latin typeface="Microsoft YaHei" panose="020B0503020204020204" pitchFamily="34" charset="-122"/>
                <a:ea typeface="Microsoft YaHei" panose="020B0503020204020204" pitchFamily="34" charset="-122"/>
              </a:rPr>
              <a:t>  </a:t>
            </a:r>
            <a:r>
              <a:rPr lang="en-US" altLang="zh-CN" sz="1600" dirty="0">
                <a:latin typeface="Microsoft YaHei" panose="020B0503020204020204" pitchFamily="34" charset="-122"/>
                <a:ea typeface="Microsoft YaHei" panose="020B0503020204020204" pitchFamily="34" charset="-122"/>
              </a:rPr>
              <a:t>TNO→TNAME</a:t>
            </a:r>
            <a:r>
              <a:rPr lang="zh-CN" altLang="en-US" sz="1600" dirty="0">
                <a:latin typeface="Microsoft YaHei" panose="020B0503020204020204" pitchFamily="34" charset="-122"/>
                <a:ea typeface="Microsoft YaHei" panose="020B0503020204020204" pitchFamily="34" charset="-122"/>
              </a:rPr>
              <a:t>（每个教师只能有一个姓名）</a:t>
            </a:r>
          </a:p>
          <a:p>
            <a:pPr marL="0" indent="0" algn="just" eaLnBrk="1" hangingPunct="1">
              <a:buNone/>
            </a:pPr>
            <a:r>
              <a:rPr lang="zh-CN" altLang="en-US" sz="1600" dirty="0">
                <a:latin typeface="Microsoft YaHei" panose="020B0503020204020204" pitchFamily="34" charset="-122"/>
                <a:ea typeface="Microsoft YaHei" panose="020B0503020204020204" pitchFamily="34" charset="-122"/>
              </a:rPr>
              <a:t>  </a:t>
            </a:r>
            <a:r>
              <a:rPr lang="en-US" altLang="zh-CN" sz="1600" dirty="0">
                <a:latin typeface="Microsoft YaHei" panose="020B0503020204020204" pitchFamily="34" charset="-122"/>
                <a:ea typeface="Microsoft YaHei" panose="020B0503020204020204" pitchFamily="34" charset="-122"/>
              </a:rPr>
              <a:t>TNO→TAGE</a:t>
            </a:r>
            <a:r>
              <a:rPr lang="zh-CN" altLang="en-US" sz="1600" dirty="0">
                <a:latin typeface="Microsoft YaHei" panose="020B0503020204020204" pitchFamily="34" charset="-122"/>
                <a:ea typeface="Microsoft YaHei" panose="020B0503020204020204" pitchFamily="34" charset="-122"/>
              </a:rPr>
              <a:t>（每个教师只能有一个年龄）</a:t>
            </a:r>
          </a:p>
          <a:p>
            <a:pPr marL="0" indent="0" algn="just" eaLnBrk="1" hangingPunct="1">
              <a:buNone/>
            </a:pPr>
            <a:r>
              <a:rPr lang="zh-CN" altLang="en-US" sz="1600" dirty="0">
                <a:latin typeface="Microsoft YaHei" panose="020B0503020204020204" pitchFamily="34" charset="-122"/>
                <a:ea typeface="Microsoft YaHei" panose="020B0503020204020204" pitchFamily="34" charset="-122"/>
              </a:rPr>
              <a:t>  </a:t>
            </a:r>
            <a:r>
              <a:rPr lang="en-US" altLang="zh-CN" sz="1600" dirty="0">
                <a:latin typeface="Microsoft YaHei" panose="020B0503020204020204" pitchFamily="34" charset="-122"/>
                <a:ea typeface="Microsoft YaHei" panose="020B0503020204020204" pitchFamily="34" charset="-122"/>
              </a:rPr>
              <a:t>TNO→ADDRESS</a:t>
            </a:r>
            <a:r>
              <a:rPr lang="zh-CN" altLang="en-US" sz="1600" dirty="0">
                <a:latin typeface="Microsoft YaHei" panose="020B0503020204020204" pitchFamily="34" charset="-122"/>
                <a:ea typeface="Microsoft YaHei" panose="020B0503020204020204" pitchFamily="34" charset="-122"/>
              </a:rPr>
              <a:t>（每个教师只能有一个地址）</a:t>
            </a:r>
          </a:p>
          <a:p>
            <a:pPr marL="0" indent="0" algn="just" eaLnBrk="1" hangingPunct="1">
              <a:buNone/>
            </a:pPr>
            <a:r>
              <a:rPr lang="zh-CN" altLang="en-US" sz="1600" dirty="0">
                <a:latin typeface="Microsoft YaHei" panose="020B0503020204020204" pitchFamily="34" charset="-122"/>
                <a:ea typeface="Microsoft YaHei" panose="020B0503020204020204" pitchFamily="34" charset="-122"/>
              </a:rPr>
              <a:t>  </a:t>
            </a:r>
            <a:r>
              <a:rPr lang="en-US" altLang="zh-CN" sz="1600" dirty="0">
                <a:latin typeface="Microsoft YaHei" panose="020B0503020204020204" pitchFamily="34" charset="-122"/>
                <a:ea typeface="Microsoft YaHei" panose="020B0503020204020204" pitchFamily="34" charset="-122"/>
              </a:rPr>
              <a:t>(SNO</a:t>
            </a:r>
            <a:r>
              <a:rPr lang="zh-CN" altLang="en-US" sz="16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CNO)→GRADE</a:t>
            </a:r>
            <a:r>
              <a:rPr lang="zh-CN" altLang="en-US" sz="1600" dirty="0">
                <a:latin typeface="Microsoft YaHei" panose="020B0503020204020204" pitchFamily="34" charset="-122"/>
                <a:ea typeface="Microsoft YaHei" panose="020B0503020204020204" pitchFamily="34" charset="-122"/>
              </a:rPr>
              <a:t>（每个学生学习一门课只能有一个成绩）</a:t>
            </a:r>
          </a:p>
          <a:p>
            <a:pPr marL="0" indent="0" eaLnBrk="1" hangingPunct="1">
              <a:buNone/>
            </a:pPr>
            <a:r>
              <a:rPr lang="zh-CN" altLang="en-US" sz="1600" dirty="0">
                <a:latin typeface="Microsoft YaHei" panose="020B0503020204020204" pitchFamily="34" charset="-122"/>
                <a:ea typeface="Microsoft YaHei" panose="020B0503020204020204" pitchFamily="34" charset="-122"/>
              </a:rPr>
              <a:t>   </a:t>
            </a:r>
            <a:r>
              <a:rPr lang="en-US" altLang="zh-CN" sz="1600" dirty="0">
                <a:latin typeface="Microsoft YaHei" panose="020B0503020204020204" pitchFamily="34" charset="-122"/>
                <a:ea typeface="Microsoft YaHei" panose="020B0503020204020204" pitchFamily="34" charset="-122"/>
              </a:rPr>
              <a:t>CNO→TNO</a:t>
            </a:r>
            <a:r>
              <a:rPr lang="zh-CN" altLang="en-US" sz="1600" dirty="0">
                <a:latin typeface="Microsoft YaHei" panose="020B0503020204020204" pitchFamily="34" charset="-122"/>
                <a:ea typeface="Microsoft YaHei" panose="020B0503020204020204" pitchFamily="34" charset="-122"/>
              </a:rPr>
              <a:t>（设每门课程只有一个教师任教，而一个教师可教多门课程，见</a:t>
            </a:r>
            <a:r>
              <a:rPr lang="en-US" altLang="zh-CN" sz="1600" dirty="0">
                <a:latin typeface="Microsoft YaHei" panose="020B0503020204020204" pitchFamily="34" charset="-122"/>
                <a:ea typeface="Microsoft YaHei" panose="020B0503020204020204" pitchFamily="34" charset="-122"/>
              </a:rPr>
              <a:t>CT</a:t>
            </a:r>
            <a:r>
              <a:rPr lang="zh-CN" altLang="en-US" sz="1600" dirty="0">
                <a:latin typeface="Microsoft YaHei" panose="020B0503020204020204" pitchFamily="34" charset="-122"/>
                <a:ea typeface="Microsoft YaHei" panose="020B0503020204020204" pitchFamily="34" charset="-122"/>
              </a:rPr>
              <a:t>表）</a:t>
            </a:r>
          </a:p>
          <a:p>
            <a:pPr marL="0" indent="0" eaLnBrk="1" hangingPunct="1">
              <a:buNone/>
            </a:pPr>
            <a:r>
              <a:rPr lang="zh-CN" altLang="en-US" sz="1600" dirty="0">
                <a:latin typeface="Microsoft YaHei" panose="020B0503020204020204" pitchFamily="34" charset="-122"/>
                <a:ea typeface="Microsoft YaHei" panose="020B0503020204020204" pitchFamily="34" charset="-122"/>
              </a:rPr>
              <a:t>  </a:t>
            </a:r>
            <a:r>
              <a:rPr lang="en-US" altLang="zh-CN" sz="1600" dirty="0">
                <a:latin typeface="Microsoft YaHei" panose="020B0503020204020204" pitchFamily="34" charset="-122"/>
                <a:ea typeface="Microsoft YaHei" panose="020B0503020204020204" pitchFamily="34" charset="-122"/>
              </a:rPr>
              <a:t>(SNO</a:t>
            </a:r>
            <a:r>
              <a:rPr lang="zh-CN" altLang="en-US" sz="16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CNO)→SNAME</a:t>
            </a:r>
            <a:r>
              <a:rPr lang="zh-CN" altLang="en-US" sz="16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(SNO</a:t>
            </a:r>
            <a:r>
              <a:rPr lang="zh-CN" altLang="en-US" sz="16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CNO)→CLASS</a:t>
            </a:r>
            <a:r>
              <a:rPr lang="zh-CN" altLang="en-US" sz="16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(SNO</a:t>
            </a:r>
            <a:r>
              <a:rPr lang="zh-CN" altLang="en-US" sz="16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CNO)→TNO</a:t>
            </a:r>
            <a:r>
              <a:rPr lang="zh-CN" altLang="en-US" sz="1600" dirty="0">
                <a:latin typeface="Microsoft YaHei" panose="020B0503020204020204" pitchFamily="34" charset="-122"/>
                <a:ea typeface="Microsoft YaHei" panose="020B0503020204020204" pitchFamily="34" charset="-122"/>
              </a:rPr>
              <a:t>、 </a:t>
            </a:r>
          </a:p>
          <a:p>
            <a:pPr marL="0" indent="0" eaLnBrk="1" hangingPunct="1">
              <a:buNone/>
            </a:pPr>
            <a:r>
              <a:rPr lang="zh-CN" altLang="en-US" sz="1600" dirty="0">
                <a:latin typeface="Microsoft YaHei" panose="020B0503020204020204" pitchFamily="34" charset="-122"/>
                <a:ea typeface="Microsoft YaHei" panose="020B0503020204020204" pitchFamily="34" charset="-122"/>
              </a:rPr>
              <a:t>  </a:t>
            </a:r>
            <a:r>
              <a:rPr lang="en-US" altLang="zh-CN" sz="1600" dirty="0">
                <a:latin typeface="Microsoft YaHei" panose="020B0503020204020204" pitchFamily="34" charset="-122"/>
                <a:ea typeface="Microsoft YaHei" panose="020B0503020204020204" pitchFamily="34" charset="-122"/>
              </a:rPr>
              <a:t>(SNO</a:t>
            </a:r>
            <a:r>
              <a:rPr lang="zh-CN" altLang="en-US" sz="16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CNO)→TNAME</a:t>
            </a:r>
            <a:r>
              <a:rPr lang="zh-CN" altLang="en-US" sz="16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(SNO</a:t>
            </a:r>
            <a:r>
              <a:rPr lang="zh-CN" altLang="en-US" sz="16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CNO)→TAGE</a:t>
            </a:r>
            <a:r>
              <a:rPr lang="zh-CN" altLang="en-US" sz="16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(SNO</a:t>
            </a:r>
            <a:r>
              <a:rPr lang="zh-CN" altLang="en-US" sz="16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CNO)→ADDRESS </a:t>
            </a:r>
          </a:p>
        </p:txBody>
      </p:sp>
      <p:sp>
        <p:nvSpPr>
          <p:cNvPr id="5" name="标题 4">
            <a:extLst>
              <a:ext uri="{FF2B5EF4-FFF2-40B4-BE49-F238E27FC236}">
                <a16:creationId xmlns:a16="http://schemas.microsoft.com/office/drawing/2014/main" id="{A6BAC063-18D8-CC3E-187E-40B95457AA24}"/>
              </a:ext>
            </a:extLst>
          </p:cNvPr>
          <p:cNvSpPr>
            <a:spLocks noGrp="1"/>
          </p:cNvSpPr>
          <p:nvPr>
            <p:ph type="title"/>
          </p:nvPr>
        </p:nvSpPr>
        <p:spPr/>
        <p:txBody>
          <a:bodyPr/>
          <a:lstStyle/>
          <a:p>
            <a:r>
              <a:rPr lang="zh-CN" altLang="en-US" dirty="0"/>
              <a:t>函数依赖实例</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459" name="内容占位符 165890"/>
              <p:cNvSpPr>
                <a:spLocks noGrp="1"/>
              </p:cNvSpPr>
              <p:nvPr>
                <p:ph idx="1"/>
              </p:nvPr>
            </p:nvSpPr>
            <p:spPr>
              <a:xfrm>
                <a:off x="814630" y="1253548"/>
                <a:ext cx="7886700" cy="3519930"/>
              </a:xfrm>
            </p:spPr>
            <p:txBody>
              <a:bodyPr vert="horz" wrap="square" lIns="68580" tIns="34290" rIns="68580" bIns="34290" rtlCol="0" anchor="t" anchorCtr="0">
                <a:normAutofit fontScale="92500" lnSpcReduction="10000"/>
              </a:bodyPr>
              <a:lstStyle/>
              <a:p>
                <a:pPr marL="0" indent="0" defTabSz="685800" fontAlgn="base">
                  <a:spcBef>
                    <a:spcPct val="20000"/>
                  </a:spcBef>
                  <a:spcAft>
                    <a:spcPct val="0"/>
                  </a:spcAft>
                  <a:buClr>
                    <a:schemeClr val="folHlink"/>
                  </a:buClr>
                  <a:buNone/>
                </a:pPr>
                <a:endParaRPr lang="en-US" altLang="zh-CN" sz="675" kern="0" noProof="1">
                  <a:cs typeface="楷体" panose="02010609060101010101" pitchFamily="49" charset="-122"/>
                </a:endParaRPr>
              </a:p>
              <a:p>
                <a:pPr marL="257175" indent="-257175" defTabSz="685800" fontAlgn="base">
                  <a:spcBef>
                    <a:spcPct val="20000"/>
                  </a:spcBef>
                  <a:spcAft>
                    <a:spcPct val="0"/>
                  </a:spcAft>
                  <a:buClr>
                    <a:schemeClr val="folHlink"/>
                  </a:buClr>
                  <a:buFont typeface="Wingdings" panose="05000000000000000000" pitchFamily="2" charset="2"/>
                  <a:buChar char="§"/>
                </a:pPr>
                <a:r>
                  <a:rPr lang="en-US" altLang="zh-CN" sz="1800" kern="0" noProof="1">
                    <a:cs typeface="楷体" panose="02010609060101010101" pitchFamily="49" charset="-122"/>
                  </a:rPr>
                  <a:t>X</a:t>
                </a:r>
                <a:r>
                  <a:rPr lang="zh-CN" altLang="en-US" sz="1800" kern="0" noProof="1">
                    <a:cs typeface="楷体" panose="02010609060101010101" pitchFamily="49" charset="-122"/>
                  </a:rPr>
                  <a:t> </a:t>
                </a:r>
                <a:r>
                  <a:rPr lang="en-US" altLang="zh-CN" sz="1800" dirty="0"/>
                  <a:t>→</a:t>
                </a:r>
                <a:r>
                  <a:rPr lang="zh-CN" altLang="en-US" sz="1800" kern="0" noProof="1">
                    <a:cs typeface="楷体" panose="02010609060101010101" pitchFamily="49" charset="-122"/>
                    <a:sym typeface="Wingdings" panose="05000000000000000000" pitchFamily="2" charset="2"/>
                  </a:rPr>
                  <a:t> </a:t>
                </a:r>
                <a:r>
                  <a:rPr lang="en-US" altLang="zh-CN" sz="1800" kern="0" noProof="1">
                    <a:cs typeface="楷体" panose="02010609060101010101" pitchFamily="49" charset="-122"/>
                  </a:rPr>
                  <a:t>Y</a:t>
                </a:r>
                <a:r>
                  <a:rPr lang="zh-CN" altLang="en-US" sz="1800" kern="0" noProof="1">
                    <a:cs typeface="楷体" panose="02010609060101010101" pitchFamily="49" charset="-122"/>
                  </a:rPr>
                  <a:t>，但</a:t>
                </a:r>
                <a:r>
                  <a:rPr lang="en-US" altLang="zh-CN" sz="1800" kern="0" noProof="1">
                    <a:cs typeface="楷体" panose="02010609060101010101" pitchFamily="49" charset="-122"/>
                  </a:rPr>
                  <a:t>Y ⊈ X </a:t>
                </a:r>
                <a:r>
                  <a:rPr lang="zh-CN" altLang="en-US" sz="1800" kern="0" noProof="1">
                    <a:cs typeface="楷体" panose="02010609060101010101" pitchFamily="49" charset="-122"/>
                  </a:rPr>
                  <a:t>则称</a:t>
                </a:r>
                <a:r>
                  <a:rPr lang="en-US" altLang="zh-CN" sz="1800" kern="0" noProof="1">
                    <a:cs typeface="楷体" panose="02010609060101010101" pitchFamily="49" charset="-122"/>
                  </a:rPr>
                  <a:t>X</a:t>
                </a:r>
                <a:r>
                  <a:rPr lang="zh-CN" altLang="en-US" sz="1800" kern="0" noProof="1">
                    <a:cs typeface="楷体" panose="02010609060101010101" pitchFamily="49" charset="-122"/>
                  </a:rPr>
                  <a:t> </a:t>
                </a:r>
                <a:r>
                  <a:rPr lang="en-US" altLang="zh-CN" sz="1800" dirty="0"/>
                  <a:t>→</a:t>
                </a:r>
                <a:r>
                  <a:rPr lang="zh-CN" altLang="en-US" sz="1800" kern="0" noProof="1">
                    <a:cs typeface="楷体" panose="02010609060101010101" pitchFamily="49" charset="-122"/>
                    <a:sym typeface="Wingdings" panose="05000000000000000000" pitchFamily="2" charset="2"/>
                  </a:rPr>
                  <a:t> </a:t>
                </a:r>
                <a:r>
                  <a:rPr lang="en-US" altLang="zh-CN" sz="1800" kern="0" noProof="1">
                    <a:cs typeface="楷体" panose="02010609060101010101" pitchFamily="49" charset="-122"/>
                  </a:rPr>
                  <a:t>Y</a:t>
                </a:r>
                <a:r>
                  <a:rPr lang="zh-CN" altLang="en-US" sz="1800" kern="0" noProof="1">
                    <a:cs typeface="楷体" panose="02010609060101010101" pitchFamily="49" charset="-122"/>
                  </a:rPr>
                  <a:t>是非平凡的函数依赖。</a:t>
                </a:r>
              </a:p>
              <a:p>
                <a:pPr marL="257175" indent="-257175" defTabSz="685800" fontAlgn="base">
                  <a:spcBef>
                    <a:spcPct val="20000"/>
                  </a:spcBef>
                  <a:spcAft>
                    <a:spcPct val="0"/>
                  </a:spcAft>
                  <a:buClr>
                    <a:schemeClr val="folHlink"/>
                  </a:buClr>
                  <a:buFont typeface="Wingdings" panose="05000000000000000000" pitchFamily="2" charset="2"/>
                  <a:buChar char="§"/>
                </a:pPr>
                <a:r>
                  <a:rPr lang="en-US" altLang="zh-CN" sz="1800" kern="0" noProof="1">
                    <a:cs typeface="楷体" panose="02010609060101010101" pitchFamily="49" charset="-122"/>
                  </a:rPr>
                  <a:t>X</a:t>
                </a:r>
                <a:r>
                  <a:rPr lang="zh-CN" altLang="en-US" sz="1800" kern="0" noProof="1">
                    <a:cs typeface="楷体" panose="02010609060101010101" pitchFamily="49" charset="-122"/>
                  </a:rPr>
                  <a:t> </a:t>
                </a:r>
                <a:r>
                  <a:rPr lang="en-US" altLang="zh-CN" sz="1800" dirty="0"/>
                  <a:t>→</a:t>
                </a:r>
                <a:r>
                  <a:rPr lang="zh-CN" altLang="en-US" sz="1800" kern="0" noProof="1">
                    <a:cs typeface="楷体" panose="02010609060101010101" pitchFamily="49" charset="-122"/>
                    <a:sym typeface="Wingdings" panose="05000000000000000000" pitchFamily="2" charset="2"/>
                  </a:rPr>
                  <a:t> </a:t>
                </a:r>
                <a:r>
                  <a:rPr lang="en-US" altLang="zh-CN" sz="1800" kern="0" noProof="1">
                    <a:cs typeface="楷体" panose="02010609060101010101" pitchFamily="49" charset="-122"/>
                  </a:rPr>
                  <a:t>Y</a:t>
                </a:r>
                <a:r>
                  <a:rPr lang="zh-CN" altLang="en-US" sz="1800" kern="0" noProof="1">
                    <a:cs typeface="楷体" panose="02010609060101010101" pitchFamily="49" charset="-122"/>
                  </a:rPr>
                  <a:t>，但</a:t>
                </a:r>
                <a:r>
                  <a:rPr lang="en-US" altLang="zh-CN" sz="1800" kern="0" noProof="1">
                    <a:cs typeface="楷体" panose="02010609060101010101" pitchFamily="49" charset="-122"/>
                  </a:rPr>
                  <a:t>Y⊆X </a:t>
                </a:r>
                <a:r>
                  <a:rPr lang="zh-CN" altLang="en-US" sz="1800" kern="0" noProof="1">
                    <a:cs typeface="楷体" panose="02010609060101010101" pitchFamily="49" charset="-122"/>
                  </a:rPr>
                  <a:t>则称</a:t>
                </a:r>
                <a:r>
                  <a:rPr lang="en-US" altLang="zh-CN" sz="1800" kern="0" noProof="1">
                    <a:cs typeface="楷体" panose="02010609060101010101" pitchFamily="49" charset="-122"/>
                  </a:rPr>
                  <a:t>X</a:t>
                </a:r>
                <a:r>
                  <a:rPr lang="zh-CN" altLang="en-US" sz="1800" kern="0" noProof="1">
                    <a:cs typeface="楷体" panose="02010609060101010101" pitchFamily="49" charset="-122"/>
                  </a:rPr>
                  <a:t> </a:t>
                </a:r>
                <a:r>
                  <a:rPr lang="en-US" altLang="zh-CN" sz="1800" dirty="0"/>
                  <a:t>→</a:t>
                </a:r>
                <a:r>
                  <a:rPr lang="zh-CN" altLang="en-US" sz="1800" kern="0" noProof="1">
                    <a:cs typeface="楷体" panose="02010609060101010101" pitchFamily="49" charset="-122"/>
                    <a:sym typeface="Wingdings" panose="05000000000000000000" pitchFamily="2" charset="2"/>
                  </a:rPr>
                  <a:t> </a:t>
                </a:r>
                <a:r>
                  <a:rPr lang="en-US" altLang="zh-CN" sz="1800" kern="0" noProof="1">
                    <a:cs typeface="楷体" panose="02010609060101010101" pitchFamily="49" charset="-122"/>
                  </a:rPr>
                  <a:t>Y</a:t>
                </a:r>
                <a:r>
                  <a:rPr lang="zh-CN" altLang="en-US" sz="1800" kern="0" noProof="1">
                    <a:cs typeface="楷体" panose="02010609060101010101" pitchFamily="49" charset="-122"/>
                  </a:rPr>
                  <a:t>是平凡的函数依赖。   </a:t>
                </a:r>
              </a:p>
              <a:p>
                <a:pPr marL="257175" indent="-257175" defTabSz="685800" fontAlgn="base">
                  <a:spcBef>
                    <a:spcPct val="20000"/>
                  </a:spcBef>
                  <a:spcAft>
                    <a:spcPct val="0"/>
                  </a:spcAft>
                  <a:buClr>
                    <a:schemeClr val="folHlink"/>
                  </a:buClr>
                  <a:buFont typeface="Wingdings" panose="05000000000000000000" pitchFamily="2" charset="2"/>
                  <a:buChar char="§"/>
                </a:pPr>
                <a:r>
                  <a:rPr lang="zh-CN" altLang="en-US" sz="1800" kern="0" noProof="1">
                    <a:cs typeface="楷体" panose="02010609060101010101" pitchFamily="49" charset="-122"/>
                  </a:rPr>
                  <a:t>若</a:t>
                </a:r>
                <a:r>
                  <a:rPr lang="en-US" altLang="zh-CN" sz="1800" kern="0" noProof="1">
                    <a:cs typeface="楷体" panose="02010609060101010101" pitchFamily="49" charset="-122"/>
                  </a:rPr>
                  <a:t>X</a:t>
                </a:r>
                <a:r>
                  <a:rPr lang="zh-CN" altLang="en-US" sz="1800" kern="0" noProof="1">
                    <a:cs typeface="楷体" panose="02010609060101010101" pitchFamily="49" charset="-122"/>
                  </a:rPr>
                  <a:t> </a:t>
                </a:r>
                <a:r>
                  <a:rPr lang="en-US" altLang="zh-CN" sz="1800" dirty="0"/>
                  <a:t>→</a:t>
                </a:r>
                <a:r>
                  <a:rPr lang="zh-CN" altLang="en-US" sz="1800" kern="0" noProof="1">
                    <a:cs typeface="楷体" panose="02010609060101010101" pitchFamily="49" charset="-122"/>
                    <a:sym typeface="Wingdings" panose="05000000000000000000" pitchFamily="2" charset="2"/>
                  </a:rPr>
                  <a:t> </a:t>
                </a:r>
                <a:r>
                  <a:rPr lang="en-US" altLang="zh-CN" sz="1800" kern="0" noProof="1">
                    <a:cs typeface="楷体" panose="02010609060101010101" pitchFamily="49" charset="-122"/>
                  </a:rPr>
                  <a:t>Y </a:t>
                </a:r>
                <a:r>
                  <a:rPr lang="zh-CN" altLang="en-US" sz="1800" kern="0" noProof="1">
                    <a:cs typeface="楷体" panose="02010609060101010101" pitchFamily="49" charset="-122"/>
                  </a:rPr>
                  <a:t>，则</a:t>
                </a:r>
                <a:r>
                  <a:rPr lang="en-US" altLang="zh-CN" sz="1800" kern="0" noProof="1">
                    <a:cs typeface="楷体" panose="02010609060101010101" pitchFamily="49" charset="-122"/>
                  </a:rPr>
                  <a:t>X</a:t>
                </a:r>
                <a:r>
                  <a:rPr lang="zh-CN" altLang="en-US" sz="1800" kern="0" noProof="1">
                    <a:cs typeface="楷体" panose="02010609060101010101" pitchFamily="49" charset="-122"/>
                  </a:rPr>
                  <a:t>叫做决定因素。</a:t>
                </a:r>
              </a:p>
              <a:p>
                <a:pPr marL="257175" indent="-257175" defTabSz="685800" fontAlgn="base">
                  <a:spcBef>
                    <a:spcPct val="20000"/>
                  </a:spcBef>
                  <a:spcAft>
                    <a:spcPct val="0"/>
                  </a:spcAft>
                  <a:buClr>
                    <a:schemeClr val="folHlink"/>
                  </a:buClr>
                  <a:buFont typeface="Wingdings" panose="05000000000000000000" pitchFamily="2" charset="2"/>
                  <a:buChar char="§"/>
                </a:pPr>
                <a:r>
                  <a:rPr lang="zh-CN" altLang="en-US" sz="1800" kern="0" noProof="1">
                    <a:cs typeface="楷体" panose="02010609060101010101" pitchFamily="49" charset="-122"/>
                  </a:rPr>
                  <a:t>若</a:t>
                </a:r>
                <a:r>
                  <a:rPr lang="en-US" altLang="zh-CN" sz="1800" kern="0" noProof="1">
                    <a:cs typeface="楷体" panose="02010609060101010101" pitchFamily="49" charset="-122"/>
                  </a:rPr>
                  <a:t>X</a:t>
                </a:r>
                <a:r>
                  <a:rPr lang="zh-CN" altLang="en-US" sz="1800" kern="0" noProof="1">
                    <a:cs typeface="楷体" panose="02010609060101010101" pitchFamily="49" charset="-122"/>
                  </a:rPr>
                  <a:t> </a:t>
                </a:r>
                <a:r>
                  <a:rPr lang="en-US" altLang="zh-CN" sz="1800" dirty="0"/>
                  <a:t>→</a:t>
                </a:r>
                <a:r>
                  <a:rPr lang="zh-CN" altLang="en-US" sz="1800" kern="0" noProof="1">
                    <a:cs typeface="楷体" panose="02010609060101010101" pitchFamily="49" charset="-122"/>
                    <a:sym typeface="Wingdings" panose="05000000000000000000" pitchFamily="2" charset="2"/>
                  </a:rPr>
                  <a:t> </a:t>
                </a:r>
                <a:r>
                  <a:rPr lang="en-US" altLang="zh-CN" sz="1800" kern="0" noProof="1">
                    <a:cs typeface="楷体" panose="02010609060101010101" pitchFamily="49" charset="-122"/>
                  </a:rPr>
                  <a:t>Y</a:t>
                </a:r>
                <a:r>
                  <a:rPr lang="zh-CN" altLang="en-US" sz="1800" kern="0" noProof="1">
                    <a:cs typeface="楷体" panose="02010609060101010101" pitchFamily="49" charset="-122"/>
                  </a:rPr>
                  <a:t>，</a:t>
                </a:r>
                <a:r>
                  <a:rPr lang="en-US" altLang="zh-CN" sz="1800" kern="0" noProof="1">
                    <a:cs typeface="楷体" panose="02010609060101010101" pitchFamily="49" charset="-122"/>
                  </a:rPr>
                  <a:t>Y</a:t>
                </a:r>
                <a:r>
                  <a:rPr lang="zh-CN" altLang="en-US" sz="1800" kern="0" noProof="1">
                    <a:cs typeface="楷体" panose="02010609060101010101" pitchFamily="49" charset="-122"/>
                  </a:rPr>
                  <a:t> </a:t>
                </a:r>
                <a:r>
                  <a:rPr lang="en-US" altLang="zh-CN" sz="1800" dirty="0"/>
                  <a:t>→</a:t>
                </a:r>
                <a:r>
                  <a:rPr lang="zh-CN" altLang="en-US" sz="1800" kern="0" noProof="1">
                    <a:cs typeface="楷体" panose="02010609060101010101" pitchFamily="49" charset="-122"/>
                    <a:sym typeface="Wingdings" panose="05000000000000000000" pitchFamily="2" charset="2"/>
                  </a:rPr>
                  <a:t> </a:t>
                </a:r>
                <a:r>
                  <a:rPr lang="en-US" altLang="zh-CN" sz="1800" kern="0" noProof="1">
                    <a:cs typeface="楷体" panose="02010609060101010101" pitchFamily="49" charset="-122"/>
                  </a:rPr>
                  <a:t>X</a:t>
                </a:r>
                <a:r>
                  <a:rPr lang="zh-CN" altLang="en-US" sz="1800" kern="0" noProof="1">
                    <a:cs typeface="楷体" panose="02010609060101010101" pitchFamily="49" charset="-122"/>
                  </a:rPr>
                  <a:t>，则记作</a:t>
                </a:r>
                <a:r>
                  <a:rPr lang="en-US" altLang="zh-CN" sz="1800" kern="0" noProof="1">
                    <a:cs typeface="楷体" panose="02010609060101010101" pitchFamily="49" charset="-122"/>
                  </a:rPr>
                  <a:t>: X</a:t>
                </a:r>
                <a:r>
                  <a:rPr lang="zh-CN" altLang="en-US" sz="1800" noProof="1"/>
                  <a:t>↔︎</a:t>
                </a:r>
                <a:r>
                  <a:rPr lang="en-US" altLang="zh-CN" sz="1800" kern="0" noProof="1">
                    <a:cs typeface="楷体" panose="02010609060101010101" pitchFamily="49" charset="-122"/>
                  </a:rPr>
                  <a:t>Y</a:t>
                </a:r>
                <a:r>
                  <a:rPr lang="zh-CN" altLang="en-US" sz="1800" kern="0" noProof="1">
                    <a:cs typeface="楷体" panose="02010609060101010101" pitchFamily="49" charset="-122"/>
                  </a:rPr>
                  <a:t>。</a:t>
                </a:r>
                <a:endParaRPr lang="zh-CN" altLang="en-US" sz="1800" kern="0" noProof="1">
                  <a:solidFill>
                    <a:schemeClr val="folHlink"/>
                  </a:solidFill>
                  <a:cs typeface="楷体" panose="02010609060101010101" pitchFamily="49" charset="-122"/>
                </a:endParaRPr>
              </a:p>
              <a:p>
                <a:pPr marL="257175" indent="-257175" defTabSz="685800" fontAlgn="base">
                  <a:spcBef>
                    <a:spcPct val="20000"/>
                  </a:spcBef>
                  <a:spcAft>
                    <a:spcPct val="0"/>
                  </a:spcAft>
                  <a:buClr>
                    <a:schemeClr val="folHlink"/>
                  </a:buClr>
                  <a:buSzPct val="60000"/>
                  <a:buNone/>
                </a:pPr>
                <a:endParaRPr lang="en-US" altLang="zh-CN" sz="1800" kern="0" noProof="1">
                  <a:solidFill>
                    <a:schemeClr val="folHlink"/>
                  </a:solidFill>
                  <a:cs typeface="楷体" panose="02010609060101010101" pitchFamily="49" charset="-122"/>
                </a:endParaRPr>
              </a:p>
              <a:p>
                <a:pPr marL="257175" indent="-257175" defTabSz="685800" fontAlgn="base">
                  <a:spcBef>
                    <a:spcPct val="20000"/>
                  </a:spcBef>
                  <a:spcAft>
                    <a:spcPct val="0"/>
                  </a:spcAft>
                  <a:buClr>
                    <a:schemeClr val="folHlink"/>
                  </a:buClr>
                  <a:buSzPct val="60000"/>
                  <a:buNone/>
                </a:pPr>
                <a:r>
                  <a:rPr lang="zh-CN" altLang="en-US" sz="1800" kern="0" noProof="1">
                    <a:solidFill>
                      <a:schemeClr val="folHlink"/>
                    </a:solidFill>
                    <a:cs typeface="楷体" panose="02010609060101010101" pitchFamily="49" charset="-122"/>
                  </a:rPr>
                  <a:t>定义：</a:t>
                </a:r>
                <a:r>
                  <a:rPr lang="zh-CN" altLang="en-US" sz="1800" kern="0" noProof="1">
                    <a:cs typeface="楷体" panose="02010609060101010101" pitchFamily="49" charset="-122"/>
                  </a:rPr>
                  <a:t>在</a:t>
                </a:r>
                <a:r>
                  <a:rPr lang="en-US" altLang="zh-CN" sz="1800" kern="0" noProof="1">
                    <a:cs typeface="楷体" panose="02010609060101010101" pitchFamily="49" charset="-122"/>
                  </a:rPr>
                  <a:t>R(U)</a:t>
                </a:r>
                <a:r>
                  <a:rPr lang="zh-CN" altLang="en-US" sz="1800" kern="0" noProof="1">
                    <a:cs typeface="楷体" panose="02010609060101010101" pitchFamily="49" charset="-122"/>
                  </a:rPr>
                  <a:t>中</a:t>
                </a:r>
              </a:p>
              <a:p>
                <a:pPr marL="257175" indent="-257175" defTabSz="685800" fontAlgn="base">
                  <a:spcBef>
                    <a:spcPct val="20000"/>
                  </a:spcBef>
                  <a:spcAft>
                    <a:spcPct val="0"/>
                  </a:spcAft>
                  <a:buClr>
                    <a:schemeClr val="folHlink"/>
                  </a:buClr>
                  <a:buSzPct val="60000"/>
                  <a:buFont typeface="Wingdings" panose="05000000000000000000" pitchFamily="2" charset="2"/>
                  <a:buChar char="n"/>
                </a:pPr>
                <a:r>
                  <a:rPr lang="zh-CN" altLang="en-US" sz="1800" kern="0" noProof="1">
                    <a:solidFill>
                      <a:schemeClr val="hlink"/>
                    </a:solidFill>
                    <a:cs typeface="楷体" panose="02010609060101010101" pitchFamily="49" charset="-122"/>
                  </a:rPr>
                  <a:t>完全函数依赖</a:t>
                </a:r>
                <a:r>
                  <a:rPr lang="en-US" altLang="zh-CN" sz="1800" kern="0" noProof="1">
                    <a:solidFill>
                      <a:schemeClr val="hlink"/>
                    </a:solidFill>
                    <a:cs typeface="楷体" panose="02010609060101010101" pitchFamily="49" charset="-122"/>
                  </a:rPr>
                  <a:t>:</a:t>
                </a:r>
                <a:r>
                  <a:rPr lang="en-US" altLang="zh-CN" sz="1800" kern="0" noProof="1">
                    <a:cs typeface="楷体" panose="02010609060101010101" pitchFamily="49" charset="-122"/>
                  </a:rPr>
                  <a:t> </a:t>
                </a:r>
                <a:r>
                  <a:rPr lang="zh-CN" altLang="en-US" sz="1800" kern="0" noProof="1">
                    <a:cs typeface="楷体" panose="02010609060101010101" pitchFamily="49" charset="-122"/>
                  </a:rPr>
                  <a:t>是指 </a:t>
                </a:r>
                <a:r>
                  <a:rPr lang="en-US" altLang="zh-CN" sz="1800" kern="0" noProof="1">
                    <a:cs typeface="楷体" panose="02010609060101010101" pitchFamily="49" charset="-122"/>
                  </a:rPr>
                  <a:t>X</a:t>
                </a:r>
                <a:r>
                  <a:rPr lang="zh-CN" altLang="en-US" sz="1800" kern="0" noProof="1">
                    <a:cs typeface="楷体" panose="02010609060101010101" pitchFamily="49" charset="-122"/>
                  </a:rPr>
                  <a:t> </a:t>
                </a:r>
                <a:r>
                  <a:rPr lang="en-US" altLang="zh-CN" sz="1800" dirty="0"/>
                  <a:t>→</a:t>
                </a:r>
                <a:r>
                  <a:rPr lang="zh-CN" altLang="en-US" sz="1800" kern="0" noProof="1">
                    <a:cs typeface="楷体" panose="02010609060101010101" pitchFamily="49" charset="-122"/>
                    <a:sym typeface="Wingdings" panose="05000000000000000000" pitchFamily="2" charset="2"/>
                  </a:rPr>
                  <a:t> </a:t>
                </a:r>
                <a:r>
                  <a:rPr lang="en-US" altLang="zh-CN" sz="1800" kern="0" noProof="1">
                    <a:cs typeface="楷体" panose="02010609060101010101" pitchFamily="49" charset="-122"/>
                  </a:rPr>
                  <a:t>Y</a:t>
                </a:r>
                <a:r>
                  <a:rPr lang="zh-CN" altLang="en-US" sz="1800" kern="0" noProof="1">
                    <a:cs typeface="楷体" panose="02010609060101010101" pitchFamily="49" charset="-122"/>
                  </a:rPr>
                  <a:t>，且对任何</a:t>
                </a:r>
                <a:r>
                  <a:rPr lang="en-US" altLang="zh-CN" sz="1800" kern="0" noProof="1">
                    <a:cs typeface="楷体" panose="02010609060101010101" pitchFamily="49" charset="-122"/>
                  </a:rPr>
                  <a:t>X</a:t>
                </a:r>
                <a:r>
                  <a:rPr lang="zh-CN" altLang="en-US" sz="1800" kern="0" noProof="1">
                    <a:cs typeface="楷体" panose="02010609060101010101" pitchFamily="49" charset="-122"/>
                  </a:rPr>
                  <a:t>的真子集</a:t>
                </a:r>
                <a:r>
                  <a:rPr lang="en-US" altLang="zh-CN" sz="1800" kern="0" noProof="1">
                    <a:cs typeface="楷体" panose="02010609060101010101" pitchFamily="49" charset="-122"/>
                  </a:rPr>
                  <a:t>X</a:t>
                </a:r>
                <a:r>
                  <a:rPr lang="en-US" altLang="zh-CN" sz="1800" kern="0" noProof="1">
                    <a:latin typeface="Arial" panose="020B0604020202020204" pitchFamily="34" charset="0"/>
                    <a:cs typeface="Arial" panose="020B0604020202020204" pitchFamily="34" charset="0"/>
                  </a:rPr>
                  <a:t>’</a:t>
                </a:r>
                <a:r>
                  <a:rPr lang="zh-CN" altLang="en-US" sz="1800" kern="0" noProof="1">
                    <a:cs typeface="楷体" panose="02010609060101010101" pitchFamily="49" charset="-122"/>
                  </a:rPr>
                  <a:t>，都有</a:t>
                </a:r>
                <a:r>
                  <a:rPr lang="en-US" altLang="zh-CN" sz="1800" kern="0" noProof="1">
                    <a:cs typeface="楷体" panose="02010609060101010101" pitchFamily="49" charset="-122"/>
                  </a:rPr>
                  <a:t>X</a:t>
                </a:r>
                <a:r>
                  <a:rPr lang="en-US" altLang="zh-CN" sz="1800" kern="0" noProof="1">
                    <a:latin typeface="Arial" panose="020B0604020202020204" pitchFamily="34" charset="0"/>
                    <a:cs typeface="Arial" panose="020B0604020202020204" pitchFamily="34" charset="0"/>
                  </a:rPr>
                  <a:t>’</a:t>
                </a:r>
                <a:r>
                  <a:rPr lang="zh-CN" altLang="en-US" sz="1800" i="1" dirty="0"/>
                  <a:t> </a:t>
                </a:r>
                <a:r>
                  <a:rPr lang="zh-CN" altLang="en-US" sz="2200" dirty="0"/>
                  <a:t>↛</a:t>
                </a:r>
                <a:r>
                  <a:rPr lang="zh-CN" altLang="en-US" sz="1800" i="1" dirty="0"/>
                  <a:t> </a:t>
                </a:r>
                <a:r>
                  <a:rPr lang="en-US" altLang="zh-CN" sz="1800" kern="0" noProof="1">
                    <a:cs typeface="楷体" panose="02010609060101010101" pitchFamily="49" charset="-122"/>
                  </a:rPr>
                  <a:t>Y</a:t>
                </a:r>
                <a:r>
                  <a:rPr lang="zh-CN" altLang="en-US" sz="1800" kern="0" noProof="1">
                    <a:cs typeface="楷体" panose="02010609060101010101" pitchFamily="49" charset="-122"/>
                  </a:rPr>
                  <a:t>，</a:t>
                </a:r>
                <a:br>
                  <a:rPr lang="en-US" altLang="zh-CN" sz="1800" kern="0" noProof="1">
                    <a:cs typeface="楷体" panose="02010609060101010101" pitchFamily="49" charset="-122"/>
                  </a:rPr>
                </a:br>
                <a:r>
                  <a:rPr lang="zh-CN" altLang="en-US" sz="1800" kern="0" noProof="1">
                    <a:cs typeface="楷体" panose="02010609060101010101" pitchFamily="49" charset="-122"/>
                  </a:rPr>
                  <a:t>                      记作：</a:t>
                </a:r>
                <a:r>
                  <a:rPr lang="en-US" altLang="zh-CN" sz="1800" kern="0" noProof="1">
                    <a:solidFill>
                      <a:schemeClr val="hlink"/>
                    </a:solidFill>
                    <a:cs typeface="楷体" panose="02010609060101010101" pitchFamily="49" charset="-122"/>
                  </a:rPr>
                  <a:t>X</a:t>
                </a:r>
                <a14:m>
                  <m:oMath xmlns:m="http://schemas.openxmlformats.org/officeDocument/2006/math">
                    <m:groupChr>
                      <m:groupChrPr>
                        <m:chr m:val="→"/>
                        <m:vertJc m:val="bot"/>
                        <m:ctrlPr>
                          <a:rPr lang="en-US" altLang="zh-CN" sz="1800" i="1" kern="0" noProof="1" smtClean="0">
                            <a:solidFill>
                              <a:schemeClr val="hlink"/>
                            </a:solidFill>
                            <a:latin typeface="Cambria Math" panose="02040503050406030204" pitchFamily="18" charset="0"/>
                          </a:rPr>
                        </m:ctrlPr>
                      </m:groupChrPr>
                      <m:e>
                        <m:r>
                          <m:rPr>
                            <m:brk m:alnAt="2"/>
                          </m:rPr>
                          <a:rPr lang="en-US" altLang="zh-CN" sz="1800" b="0" i="1" kern="0" noProof="1" smtClean="0">
                            <a:solidFill>
                              <a:schemeClr val="hlink"/>
                            </a:solidFill>
                            <a:latin typeface="Cambria Math" panose="02040503050406030204" pitchFamily="18" charset="0"/>
                          </a:rPr>
                          <m:t>𝐹</m:t>
                        </m:r>
                      </m:e>
                    </m:groupChr>
                  </m:oMath>
                </a14:m>
                <a:r>
                  <a:rPr lang="en-US" altLang="zh-CN" sz="1800" kern="0" noProof="1">
                    <a:solidFill>
                      <a:schemeClr val="hlink"/>
                    </a:solidFill>
                    <a:cs typeface="楷体" panose="02010609060101010101" pitchFamily="49" charset="-122"/>
                  </a:rPr>
                  <a:t>Y</a:t>
                </a:r>
                <a:r>
                  <a:rPr lang="zh-CN" altLang="en-US" sz="1800" kern="0" noProof="1">
                    <a:cs typeface="楷体" panose="02010609060101010101" pitchFamily="49" charset="-122"/>
                  </a:rPr>
                  <a:t>。</a:t>
                </a:r>
              </a:p>
              <a:p>
                <a:pPr marL="257175" indent="-257175" defTabSz="685800" fontAlgn="base">
                  <a:spcBef>
                    <a:spcPct val="20000"/>
                  </a:spcBef>
                  <a:spcAft>
                    <a:spcPct val="0"/>
                  </a:spcAft>
                  <a:buClr>
                    <a:schemeClr val="folHlink"/>
                  </a:buClr>
                  <a:buSzPct val="60000"/>
                  <a:buFont typeface="Wingdings" panose="05000000000000000000" pitchFamily="2" charset="2"/>
                  <a:buChar char="n"/>
                </a:pPr>
                <a:r>
                  <a:rPr lang="zh-CN" altLang="en-US" sz="1800" kern="0" noProof="1">
                    <a:solidFill>
                      <a:schemeClr val="hlink"/>
                    </a:solidFill>
                    <a:cs typeface="楷体" panose="02010609060101010101" pitchFamily="49" charset="-122"/>
                  </a:rPr>
                  <a:t>部分函数依赖</a:t>
                </a:r>
                <a:r>
                  <a:rPr lang="en-US" altLang="zh-CN" sz="1800" kern="0" noProof="1">
                    <a:solidFill>
                      <a:schemeClr val="hlink"/>
                    </a:solidFill>
                    <a:cs typeface="楷体" panose="02010609060101010101" pitchFamily="49" charset="-122"/>
                  </a:rPr>
                  <a:t>:</a:t>
                </a:r>
                <a:r>
                  <a:rPr lang="en-US" altLang="zh-CN" sz="1800" kern="0" noProof="1">
                    <a:cs typeface="楷体" panose="02010609060101010101" pitchFamily="49" charset="-122"/>
                  </a:rPr>
                  <a:t>  </a:t>
                </a:r>
                <a:r>
                  <a:rPr lang="zh-CN" altLang="en-US" sz="1800" kern="0" noProof="1">
                    <a:cs typeface="楷体" panose="02010609060101010101" pitchFamily="49" charset="-122"/>
                  </a:rPr>
                  <a:t>是指</a:t>
                </a:r>
                <a:r>
                  <a:rPr lang="en-US" altLang="zh-CN" sz="1800" kern="0" noProof="1">
                    <a:cs typeface="楷体" panose="02010609060101010101" pitchFamily="49" charset="-122"/>
                  </a:rPr>
                  <a:t>X</a:t>
                </a:r>
                <a:r>
                  <a:rPr lang="zh-CN" altLang="en-US" sz="1800" kern="0" noProof="1">
                    <a:cs typeface="楷体" panose="02010609060101010101" pitchFamily="49" charset="-122"/>
                  </a:rPr>
                  <a:t> </a:t>
                </a:r>
                <a:r>
                  <a:rPr lang="en-US" altLang="zh-CN" sz="1800" dirty="0"/>
                  <a:t>→</a:t>
                </a:r>
                <a:r>
                  <a:rPr lang="zh-CN" altLang="en-US" sz="1800" kern="0" noProof="1">
                    <a:cs typeface="楷体" panose="02010609060101010101" pitchFamily="49" charset="-122"/>
                    <a:sym typeface="Wingdings" panose="05000000000000000000" pitchFamily="2" charset="2"/>
                  </a:rPr>
                  <a:t> </a:t>
                </a:r>
                <a:r>
                  <a:rPr lang="en-US" altLang="zh-CN" sz="1800" kern="0" noProof="1">
                    <a:cs typeface="楷体" panose="02010609060101010101" pitchFamily="49" charset="-122"/>
                  </a:rPr>
                  <a:t>Y</a:t>
                </a:r>
                <a:r>
                  <a:rPr lang="zh-CN" altLang="en-US" sz="1800" kern="0" noProof="1">
                    <a:cs typeface="楷体" panose="02010609060101010101" pitchFamily="49" charset="-122"/>
                  </a:rPr>
                  <a:t>，且存在</a:t>
                </a:r>
                <a:r>
                  <a:rPr lang="en-US" altLang="zh-CN" sz="1800" kern="0" noProof="1">
                    <a:cs typeface="楷体" panose="02010609060101010101" pitchFamily="49" charset="-122"/>
                  </a:rPr>
                  <a:t>X</a:t>
                </a:r>
                <a:r>
                  <a:rPr lang="en-US" altLang="zh-CN" sz="1800" kern="0" noProof="1">
                    <a:latin typeface="Arial" panose="020B0604020202020204" pitchFamily="34" charset="0"/>
                    <a:cs typeface="Arial" panose="020B0604020202020204" pitchFamily="34" charset="0"/>
                  </a:rPr>
                  <a:t>’</a:t>
                </a:r>
                <a:r>
                  <a:rPr lang="en-US" altLang="zh-CN" sz="1800" kern="0" noProof="1">
                    <a:cs typeface="楷体" panose="02010609060101010101" pitchFamily="49" charset="-122"/>
                    <a:sym typeface="Wingdings" panose="05000000000000000000" pitchFamily="2" charset="2"/>
                  </a:rPr>
                  <a:t> </a:t>
                </a:r>
                <a:r>
                  <a:rPr lang="en-US" altLang="zh-CN" sz="1800" dirty="0"/>
                  <a:t>→</a:t>
                </a:r>
                <a:r>
                  <a:rPr lang="en-US" altLang="zh-CN" sz="1800" kern="0" noProof="1">
                    <a:cs typeface="楷体" panose="02010609060101010101" pitchFamily="49" charset="-122"/>
                    <a:sym typeface="Wingdings" panose="05000000000000000000" pitchFamily="2" charset="2"/>
                  </a:rPr>
                  <a:t> </a:t>
                </a:r>
                <a:r>
                  <a:rPr lang="en-US" altLang="zh-CN" sz="1800" kern="0" noProof="1">
                    <a:cs typeface="楷体" panose="02010609060101010101" pitchFamily="49" charset="-122"/>
                  </a:rPr>
                  <a:t>Y</a:t>
                </a:r>
                <a:r>
                  <a:rPr lang="zh-CN" altLang="en-US" sz="1800" kern="0" noProof="1">
                    <a:cs typeface="楷体" panose="02010609060101010101" pitchFamily="49" charset="-122"/>
                  </a:rPr>
                  <a:t>，</a:t>
                </a:r>
                <a:br>
                  <a:rPr lang="en-US" altLang="zh-CN" sz="1800" kern="0" noProof="1">
                    <a:cs typeface="楷体" panose="02010609060101010101" pitchFamily="49" charset="-122"/>
                  </a:rPr>
                </a:br>
                <a:r>
                  <a:rPr lang="zh-CN" altLang="en-US" sz="1800" kern="0" noProof="1">
                    <a:cs typeface="楷体" panose="02010609060101010101" pitchFamily="49" charset="-122"/>
                  </a:rPr>
                  <a:t>                       记作：</a:t>
                </a:r>
                <a:r>
                  <a:rPr lang="en-US" altLang="zh-CN" sz="1800" kern="0" noProof="1">
                    <a:solidFill>
                      <a:schemeClr val="hlink"/>
                    </a:solidFill>
                    <a:cs typeface="楷体" panose="02010609060101010101" pitchFamily="49" charset="-122"/>
                  </a:rPr>
                  <a:t> X</a:t>
                </a:r>
                <a14:m>
                  <m:oMath xmlns:m="http://schemas.openxmlformats.org/officeDocument/2006/math">
                    <m:groupChr>
                      <m:groupChrPr>
                        <m:chr m:val="→"/>
                        <m:vertJc m:val="bot"/>
                        <m:ctrlPr>
                          <a:rPr lang="en-US" altLang="zh-CN" sz="1800" i="1" kern="0" noProof="1">
                            <a:solidFill>
                              <a:schemeClr val="hlink"/>
                            </a:solidFill>
                            <a:latin typeface="Cambria Math" panose="02040503050406030204" pitchFamily="18" charset="0"/>
                          </a:rPr>
                        </m:ctrlPr>
                      </m:groupChrPr>
                      <m:e>
                        <m:r>
                          <a:rPr lang="en-US" altLang="zh-CN" sz="1800" b="0" i="1" kern="0" noProof="1" smtClean="0">
                            <a:solidFill>
                              <a:schemeClr val="hlink"/>
                            </a:solidFill>
                            <a:latin typeface="Cambria Math" panose="02040503050406030204" pitchFamily="18" charset="0"/>
                          </a:rPr>
                          <m:t>𝑃</m:t>
                        </m:r>
                      </m:e>
                    </m:groupChr>
                  </m:oMath>
                </a14:m>
                <a:r>
                  <a:rPr lang="en-US" altLang="zh-CN" sz="1800" kern="0" noProof="1">
                    <a:solidFill>
                      <a:schemeClr val="hlink"/>
                    </a:solidFill>
                    <a:cs typeface="楷体" panose="02010609060101010101" pitchFamily="49" charset="-122"/>
                  </a:rPr>
                  <a:t>Y </a:t>
                </a:r>
                <a:r>
                  <a:rPr lang="zh-CN" altLang="en-US" sz="1800" kern="0" noProof="1">
                    <a:cs typeface="楷体" panose="02010609060101010101" pitchFamily="49" charset="-122"/>
                  </a:rPr>
                  <a:t>。</a:t>
                </a:r>
                <a:endParaRPr lang="en-US" altLang="zh-CN" sz="1800" kern="0" noProof="1">
                  <a:cs typeface="楷体" panose="02010609060101010101" pitchFamily="49" charset="-122"/>
                </a:endParaRPr>
              </a:p>
              <a:p>
                <a:pPr marL="257175" indent="-257175" defTabSz="685800" fontAlgn="base">
                  <a:spcBef>
                    <a:spcPct val="20000"/>
                  </a:spcBef>
                  <a:spcAft>
                    <a:spcPct val="0"/>
                  </a:spcAft>
                  <a:buClr>
                    <a:schemeClr val="folHlink"/>
                  </a:buClr>
                  <a:buSzPct val="60000"/>
                  <a:buFont typeface="Wingdings" panose="05000000000000000000" pitchFamily="2" charset="2"/>
                  <a:buChar char="n"/>
                </a:pPr>
                <a:r>
                  <a:rPr lang="zh-CN" altLang="en-US" sz="1800" kern="0" dirty="0">
                    <a:solidFill>
                      <a:schemeClr val="hlink"/>
                    </a:solidFill>
                  </a:rPr>
                  <a:t>传递函数依赖：</a:t>
                </a:r>
                <a:r>
                  <a:rPr lang="zh-CN" altLang="en-US" sz="1800" kern="0" dirty="0"/>
                  <a:t>是指若</a:t>
                </a:r>
                <a:r>
                  <a:rPr lang="en-US" altLang="zh-CN" sz="1800" kern="0" dirty="0"/>
                  <a:t>X</a:t>
                </a:r>
                <a:r>
                  <a:rPr lang="zh-CN" altLang="en-US" sz="1800" kern="0" dirty="0"/>
                  <a:t> </a:t>
                </a:r>
                <a:r>
                  <a:rPr lang="en-US" altLang="zh-CN" sz="1800" dirty="0"/>
                  <a:t>→</a:t>
                </a:r>
                <a:r>
                  <a:rPr lang="zh-CN" altLang="en-US" sz="1800" kern="0" dirty="0">
                    <a:sym typeface="Wingdings" panose="05000000000000000000" pitchFamily="2" charset="2"/>
                  </a:rPr>
                  <a:t> </a:t>
                </a:r>
                <a:r>
                  <a:rPr lang="en-US" altLang="zh-CN" sz="1800" kern="0" dirty="0"/>
                  <a:t>Y </a:t>
                </a:r>
                <a:r>
                  <a:rPr lang="zh-CN" altLang="en-US" sz="1800" kern="0" dirty="0"/>
                  <a:t>， </a:t>
                </a:r>
                <a:r>
                  <a:rPr lang="en-US" altLang="zh-CN" sz="1800" kern="0" dirty="0">
                    <a:solidFill>
                      <a:schemeClr val="hlink"/>
                    </a:solidFill>
                  </a:rPr>
                  <a:t>Y</a:t>
                </a:r>
                <a:r>
                  <a:rPr lang="zh-CN" altLang="en-US" sz="2200" i="1" dirty="0">
                    <a:solidFill>
                      <a:prstClr val="black"/>
                    </a:solidFill>
                  </a:rPr>
                  <a:t> </a:t>
                </a:r>
                <a:r>
                  <a:rPr lang="zh-CN" altLang="en-US" sz="2200" dirty="0">
                    <a:solidFill>
                      <a:prstClr val="black"/>
                    </a:solidFill>
                  </a:rPr>
                  <a:t>↛</a:t>
                </a:r>
                <a:r>
                  <a:rPr lang="zh-CN" altLang="en-US" sz="2200" i="1" dirty="0">
                    <a:solidFill>
                      <a:prstClr val="black"/>
                    </a:solidFill>
                  </a:rPr>
                  <a:t> </a:t>
                </a:r>
                <a:r>
                  <a:rPr lang="en-US" altLang="zh-CN" sz="1800" kern="0" dirty="0">
                    <a:solidFill>
                      <a:schemeClr val="hlink"/>
                    </a:solidFill>
                  </a:rPr>
                  <a:t>X </a:t>
                </a:r>
                <a:r>
                  <a:rPr lang="zh-CN" altLang="en-US" sz="1800" kern="0" dirty="0">
                    <a:solidFill>
                      <a:schemeClr val="hlink"/>
                    </a:solidFill>
                  </a:rPr>
                  <a:t>，</a:t>
                </a:r>
                <a:r>
                  <a:rPr lang="zh-CN" altLang="en-US" sz="1800" dirty="0">
                    <a:cs typeface="楷体" panose="02010609060101010101" pitchFamily="49" charset="-122"/>
                  </a:rPr>
                  <a:t>而</a:t>
                </a:r>
                <a:r>
                  <a:rPr lang="en-US" altLang="zh-CN" sz="1800" dirty="0">
                    <a:cs typeface="楷体" panose="02010609060101010101" pitchFamily="49" charset="-122"/>
                  </a:rPr>
                  <a:t>Y</a:t>
                </a:r>
                <a:r>
                  <a:rPr lang="zh-CN" altLang="en-US" sz="1800" dirty="0">
                    <a:cs typeface="楷体" panose="02010609060101010101" pitchFamily="49" charset="-122"/>
                  </a:rPr>
                  <a:t> </a:t>
                </a:r>
                <a:r>
                  <a:rPr lang="en-US" altLang="zh-CN" sz="1800" dirty="0"/>
                  <a:t>→</a:t>
                </a:r>
                <a:r>
                  <a:rPr lang="en-US" altLang="zh-CN" sz="1800" dirty="0">
                    <a:cs typeface="楷体" panose="02010609060101010101" pitchFamily="49" charset="-122"/>
                  </a:rPr>
                  <a:t> Z</a:t>
                </a:r>
                <a:r>
                  <a:rPr lang="zh-CN" altLang="en-US" sz="1800" dirty="0">
                    <a:cs typeface="楷体" panose="02010609060101010101" pitchFamily="49" charset="-122"/>
                  </a:rPr>
                  <a:t>。</a:t>
                </a:r>
                <a:br>
                  <a:rPr lang="en-US" altLang="zh-CN" sz="1800" dirty="0">
                    <a:cs typeface="楷体" panose="02010609060101010101" pitchFamily="49" charset="-122"/>
                  </a:rPr>
                </a:br>
                <a:r>
                  <a:rPr lang="zh-CN" altLang="en-US" sz="1800" dirty="0">
                    <a:cs typeface="楷体" panose="02010609060101010101" pitchFamily="49" charset="-122"/>
                  </a:rPr>
                  <a:t>                        记作：</a:t>
                </a:r>
                <a:r>
                  <a:rPr lang="en-US" altLang="zh-CN" sz="1800" kern="0" noProof="1">
                    <a:solidFill>
                      <a:schemeClr val="hlink"/>
                    </a:solidFill>
                    <a:cs typeface="楷体" panose="02010609060101010101" pitchFamily="49" charset="-122"/>
                  </a:rPr>
                  <a:t>X</a:t>
                </a:r>
                <a14:m>
                  <m:oMath xmlns:m="http://schemas.openxmlformats.org/officeDocument/2006/math">
                    <m:groupChr>
                      <m:groupChrPr>
                        <m:chr m:val="→"/>
                        <m:vertJc m:val="bot"/>
                        <m:ctrlPr>
                          <a:rPr lang="en-US" altLang="zh-CN" sz="1800" i="1" kern="0" noProof="1">
                            <a:solidFill>
                              <a:schemeClr val="hlink"/>
                            </a:solidFill>
                            <a:latin typeface="Cambria Math" panose="02040503050406030204" pitchFamily="18" charset="0"/>
                          </a:rPr>
                        </m:ctrlPr>
                      </m:groupChrPr>
                      <m:e>
                        <m:r>
                          <a:rPr lang="en-US" altLang="zh-CN" sz="1800" b="0" i="1" kern="0" noProof="1" smtClean="0">
                            <a:solidFill>
                              <a:schemeClr val="hlink"/>
                            </a:solidFill>
                            <a:latin typeface="Cambria Math" panose="02040503050406030204" pitchFamily="18" charset="0"/>
                          </a:rPr>
                          <m:t>𝑇</m:t>
                        </m:r>
                      </m:e>
                    </m:groupChr>
                  </m:oMath>
                </a14:m>
                <a:r>
                  <a:rPr lang="en-US" altLang="zh-CN" sz="1800" kern="0" noProof="1">
                    <a:solidFill>
                      <a:schemeClr val="hlink"/>
                    </a:solidFill>
                    <a:cs typeface="楷体" panose="02010609060101010101" pitchFamily="49" charset="-122"/>
                  </a:rPr>
                  <a:t>Y </a:t>
                </a:r>
                <a:r>
                  <a:rPr lang="zh-CN" altLang="en-US" sz="1800" dirty="0">
                    <a:cs typeface="楷体" panose="02010609060101010101" pitchFamily="49" charset="-122"/>
                  </a:rPr>
                  <a:t>。</a:t>
                </a:r>
              </a:p>
              <a:p>
                <a:pPr marL="257175" indent="-257175" defTabSz="685800" fontAlgn="base">
                  <a:spcBef>
                    <a:spcPct val="20000"/>
                  </a:spcBef>
                  <a:spcAft>
                    <a:spcPct val="0"/>
                  </a:spcAft>
                  <a:buClr>
                    <a:schemeClr val="folHlink"/>
                  </a:buClr>
                  <a:buSzPct val="60000"/>
                  <a:buNone/>
                </a:pPr>
                <a:endParaRPr lang="zh-CN" altLang="en-US" sz="1800" kern="0" noProof="1">
                  <a:cs typeface="楷体" panose="02010609060101010101" pitchFamily="49" charset="-122"/>
                </a:endParaRPr>
              </a:p>
            </p:txBody>
          </p:sp>
        </mc:Choice>
        <mc:Fallback xmlns="">
          <p:sp>
            <p:nvSpPr>
              <p:cNvPr id="19459" name="内容占位符 165890"/>
              <p:cNvSpPr>
                <a:spLocks noGrp="1" noRot="1" noChangeAspect="1" noMove="1" noResize="1" noEditPoints="1" noAdjustHandles="1" noChangeArrowheads="1" noChangeShapeType="1" noTextEdit="1"/>
              </p:cNvSpPr>
              <p:nvPr>
                <p:ph idx="1"/>
              </p:nvPr>
            </p:nvSpPr>
            <p:spPr>
              <a:xfrm>
                <a:off x="814630" y="1253548"/>
                <a:ext cx="7886700" cy="3519930"/>
              </a:xfrm>
              <a:blipFill>
                <a:blip r:embed="rId2"/>
                <a:stretch>
                  <a:fillRect l="-805" b="-2878"/>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6C1AB3DE-9984-C7EB-3DAC-EC8BBDABD3C5}"/>
              </a:ext>
            </a:extLst>
          </p:cNvPr>
          <p:cNvSpPr>
            <a:spLocks noGrp="1"/>
          </p:cNvSpPr>
          <p:nvPr>
            <p:ph type="title"/>
          </p:nvPr>
        </p:nvSpPr>
        <p:spPr/>
        <p:txBody>
          <a:bodyPr/>
          <a:lstStyle/>
          <a:p>
            <a:r>
              <a:rPr lang="zh-CN" altLang="en-US" dirty="0"/>
              <a:t>函数依赖的术语与记号</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p:txBody>
          <a:bodyPr vert="horz" wrap="square" lIns="68580" tIns="34290" rIns="68580" bIns="34290" numCol="1" anchor="t" anchorCtr="0" compatLnSpc="1">
            <a:normAutofit fontScale="85000" lnSpcReduction="10000"/>
          </a:bodyPr>
          <a:lstStyle/>
          <a:p>
            <a:pPr marL="0" indent="0" defTabSz="685800" fontAlgn="base">
              <a:lnSpc>
                <a:spcPct val="110000"/>
              </a:lnSpc>
              <a:spcBef>
                <a:spcPct val="20000"/>
              </a:spcBef>
              <a:spcAft>
                <a:spcPct val="0"/>
              </a:spcAft>
              <a:buClr>
                <a:schemeClr val="folHlink"/>
              </a:buClr>
              <a:buSzPct val="60000"/>
              <a:buNone/>
              <a:defRPr/>
            </a:pPr>
            <a:r>
              <a:rPr lang="en-US" altLang="zh-CN" sz="1800" b="1" kern="0" dirty="0">
                <a:solidFill>
                  <a:schemeClr val="hlink"/>
                </a:solidFill>
              </a:rPr>
              <a:t>【</a:t>
            </a:r>
            <a:r>
              <a:rPr lang="zh-CN" altLang="en-US" sz="1800" b="1" kern="0" dirty="0">
                <a:solidFill>
                  <a:srgbClr val="467886"/>
                </a:solidFill>
              </a:rPr>
              <a:t>例</a:t>
            </a:r>
            <a:r>
              <a:rPr lang="en-US" altLang="zh-CN" sz="1800" b="1" kern="0" dirty="0">
                <a:solidFill>
                  <a:schemeClr val="hlink"/>
                </a:solidFill>
              </a:rPr>
              <a:t>】</a:t>
            </a:r>
            <a:r>
              <a:rPr lang="zh-CN" altLang="en-US" sz="1800" kern="0" dirty="0"/>
              <a:t>试指出学生关系</a:t>
            </a:r>
            <a:r>
              <a:rPr lang="en-US" altLang="zh-CN" sz="1800" kern="0" dirty="0"/>
              <a:t>S</a:t>
            </a:r>
            <a:r>
              <a:rPr lang="zh-CN" altLang="en-US" sz="1800" kern="0" dirty="0"/>
              <a:t>中存在的完全函数依赖、部分函数依赖、传递函数依赖。</a:t>
            </a:r>
          </a:p>
          <a:p>
            <a:pPr marL="0" indent="0" algn="just" defTabSz="685800" fontAlgn="base">
              <a:lnSpc>
                <a:spcPct val="110000"/>
              </a:lnSpc>
              <a:spcBef>
                <a:spcPct val="20000"/>
              </a:spcBef>
              <a:spcAft>
                <a:spcPct val="0"/>
              </a:spcAft>
              <a:buClr>
                <a:schemeClr val="folHlink"/>
              </a:buClr>
              <a:buSzPct val="60000"/>
              <a:buNone/>
              <a:defRPr/>
            </a:pPr>
            <a:r>
              <a:rPr lang="zh-CN" altLang="en-US" sz="1800" b="1" kern="0" dirty="0"/>
              <a:t>解：</a:t>
            </a:r>
            <a:endParaRPr lang="en-US" altLang="zh-CN" sz="1800" b="1" kern="0" dirty="0"/>
          </a:p>
          <a:p>
            <a:pPr marL="0" indent="0" algn="just" defTabSz="685800" fontAlgn="base">
              <a:lnSpc>
                <a:spcPct val="110000"/>
              </a:lnSpc>
              <a:spcBef>
                <a:spcPct val="20000"/>
              </a:spcBef>
              <a:spcAft>
                <a:spcPct val="0"/>
              </a:spcAft>
              <a:buClr>
                <a:schemeClr val="folHlink"/>
              </a:buClr>
              <a:buSzPct val="60000"/>
              <a:buFont typeface="Wingdings" panose="05000000000000000000" pitchFamily="2" charset="2"/>
              <a:buChar char="n"/>
              <a:defRPr/>
            </a:pPr>
            <a:r>
              <a:rPr lang="zh-CN" altLang="en-US" sz="1800" b="1" kern="0" dirty="0">
                <a:solidFill>
                  <a:schemeClr val="hlink"/>
                </a:solidFill>
              </a:rPr>
              <a:t>左部为单属性的函数依赖一定是完全函数依赖</a:t>
            </a:r>
            <a:r>
              <a:rPr lang="zh-CN" altLang="en-US" sz="1800" b="1" kern="0" dirty="0"/>
              <a:t>，</a:t>
            </a:r>
            <a:r>
              <a:rPr lang="zh-CN" altLang="en-US" sz="1800" kern="0" dirty="0"/>
              <a:t>所以</a:t>
            </a:r>
          </a:p>
          <a:p>
            <a:pPr marL="0" indent="0" algn="just" defTabSz="685800" fontAlgn="base">
              <a:lnSpc>
                <a:spcPct val="110000"/>
              </a:lnSpc>
              <a:spcBef>
                <a:spcPct val="20000"/>
              </a:spcBef>
              <a:spcAft>
                <a:spcPct val="0"/>
              </a:spcAft>
              <a:buClr>
                <a:schemeClr val="folHlink"/>
              </a:buClr>
              <a:buSzPct val="60000"/>
              <a:buNone/>
              <a:defRPr/>
            </a:pPr>
            <a:r>
              <a:rPr lang="zh-CN" altLang="en-US" sz="1800" kern="0" dirty="0"/>
              <a:t>     </a:t>
            </a:r>
            <a:r>
              <a:rPr lang="en-US" altLang="zh-CN" sz="1800" kern="0" dirty="0"/>
              <a:t>SNO→SNAME</a:t>
            </a:r>
            <a:r>
              <a:rPr lang="zh-CN" altLang="en-US" sz="1800" kern="0" dirty="0"/>
              <a:t>，</a:t>
            </a:r>
            <a:r>
              <a:rPr lang="en-US" altLang="zh-CN" sz="1800" kern="0" dirty="0"/>
              <a:t>SNO→CLASS</a:t>
            </a:r>
            <a:r>
              <a:rPr lang="zh-CN" altLang="en-US" sz="1800" kern="0" dirty="0"/>
              <a:t>， </a:t>
            </a:r>
            <a:r>
              <a:rPr lang="en-US" altLang="zh-CN" sz="1800" kern="0" dirty="0"/>
              <a:t>TNO→TNAME</a:t>
            </a:r>
            <a:r>
              <a:rPr lang="zh-CN" altLang="en-US" sz="1800" kern="0" dirty="0"/>
              <a:t>， </a:t>
            </a:r>
            <a:r>
              <a:rPr lang="en-US" altLang="zh-CN" sz="1800" kern="0" dirty="0"/>
              <a:t>TNO→TAGE</a:t>
            </a:r>
            <a:r>
              <a:rPr lang="zh-CN" altLang="en-US" sz="1800" kern="0" dirty="0"/>
              <a:t>，</a:t>
            </a:r>
          </a:p>
          <a:p>
            <a:pPr marL="0" indent="0" algn="just" defTabSz="685800" fontAlgn="base">
              <a:lnSpc>
                <a:spcPct val="110000"/>
              </a:lnSpc>
              <a:spcBef>
                <a:spcPct val="20000"/>
              </a:spcBef>
              <a:spcAft>
                <a:spcPct val="0"/>
              </a:spcAft>
              <a:buClr>
                <a:schemeClr val="folHlink"/>
              </a:buClr>
              <a:buSzPct val="60000"/>
              <a:buNone/>
              <a:defRPr/>
            </a:pPr>
            <a:r>
              <a:rPr lang="zh-CN" altLang="en-US" sz="1800" kern="0" dirty="0"/>
              <a:t>     </a:t>
            </a:r>
            <a:r>
              <a:rPr lang="en-US" altLang="zh-CN" sz="1800" kern="0" dirty="0"/>
              <a:t>TNO→ADDRESS</a:t>
            </a:r>
            <a:r>
              <a:rPr lang="zh-CN" altLang="en-US" sz="1800" kern="0" dirty="0"/>
              <a:t>，</a:t>
            </a:r>
            <a:r>
              <a:rPr lang="en-US" altLang="zh-CN" sz="1800" kern="0" dirty="0"/>
              <a:t>CNO→TNO</a:t>
            </a:r>
            <a:r>
              <a:rPr lang="zh-CN" altLang="en-US" sz="1800" kern="0" dirty="0"/>
              <a:t>都是</a:t>
            </a:r>
            <a:r>
              <a:rPr lang="zh-CN" altLang="en-US" sz="1800" b="1" kern="0" dirty="0">
                <a:solidFill>
                  <a:srgbClr val="0070C0"/>
                </a:solidFill>
              </a:rPr>
              <a:t>完全函数依赖</a:t>
            </a:r>
            <a:r>
              <a:rPr lang="zh-CN" altLang="en-US" sz="1800" b="1" kern="0" dirty="0"/>
              <a:t>。</a:t>
            </a:r>
          </a:p>
          <a:p>
            <a:pPr marL="0" indent="0" algn="just" defTabSz="685800" fontAlgn="base">
              <a:lnSpc>
                <a:spcPct val="110000"/>
              </a:lnSpc>
              <a:spcBef>
                <a:spcPct val="20000"/>
              </a:spcBef>
              <a:spcAft>
                <a:spcPct val="0"/>
              </a:spcAft>
              <a:buClr>
                <a:schemeClr val="folHlink"/>
              </a:buClr>
              <a:buSzPct val="60000"/>
              <a:buFont typeface="Wingdings" panose="05000000000000000000" pitchFamily="2" charset="2"/>
              <a:buChar char="n"/>
              <a:defRPr/>
            </a:pPr>
            <a:r>
              <a:rPr lang="en-US" altLang="zh-CN" sz="1800" kern="0" dirty="0"/>
              <a:t>(SNO</a:t>
            </a:r>
            <a:r>
              <a:rPr lang="zh-CN" altLang="en-US" sz="1800" kern="0" dirty="0"/>
              <a:t>，</a:t>
            </a:r>
            <a:r>
              <a:rPr lang="en-US" altLang="zh-CN" sz="1800" kern="0" dirty="0"/>
              <a:t>CNO)→GRADE </a:t>
            </a:r>
            <a:r>
              <a:rPr lang="zh-CN" altLang="en-US" sz="1800" kern="0" dirty="0"/>
              <a:t>是一个</a:t>
            </a:r>
            <a:r>
              <a:rPr lang="zh-CN" altLang="en-US" sz="1800" b="1" kern="0" dirty="0">
                <a:solidFill>
                  <a:srgbClr val="0070C0"/>
                </a:solidFill>
              </a:rPr>
              <a:t>完全函数依赖</a:t>
            </a:r>
            <a:r>
              <a:rPr lang="zh-CN" altLang="en-US" sz="1800" kern="0" dirty="0"/>
              <a:t>，因为</a:t>
            </a:r>
            <a:r>
              <a:rPr lang="en-US" altLang="zh-CN" sz="1800" kern="0" dirty="0"/>
              <a:t>SNO</a:t>
            </a:r>
            <a:r>
              <a:rPr kumimoji="0" lang="zh-CN" altLang="en-US" sz="22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a:t>
            </a:r>
            <a:r>
              <a:rPr lang="en-US" altLang="zh-CN" sz="1800" kern="0" dirty="0"/>
              <a:t>GRADE</a:t>
            </a:r>
            <a:r>
              <a:rPr lang="zh-CN" altLang="en-US" sz="1800" kern="0" dirty="0"/>
              <a:t>，</a:t>
            </a:r>
            <a:r>
              <a:rPr lang="en-US" altLang="zh-CN" sz="1800" kern="0" dirty="0"/>
              <a:t>CNO</a:t>
            </a:r>
            <a:r>
              <a:rPr lang="zh-CN" altLang="en-US" sz="2200" dirty="0">
                <a:solidFill>
                  <a:prstClr val="black"/>
                </a:solidFill>
              </a:rPr>
              <a:t>↛</a:t>
            </a:r>
            <a:r>
              <a:rPr lang="en-US" altLang="zh-CN" sz="1800" kern="0" dirty="0"/>
              <a:t>GRADE</a:t>
            </a:r>
            <a:r>
              <a:rPr lang="zh-CN" altLang="en-US" sz="1800" kern="0" dirty="0"/>
              <a:t>。</a:t>
            </a:r>
          </a:p>
          <a:p>
            <a:pPr marL="0" indent="0" algn="just" defTabSz="685800" fontAlgn="base">
              <a:lnSpc>
                <a:spcPct val="110000"/>
              </a:lnSpc>
              <a:spcBef>
                <a:spcPct val="20000"/>
              </a:spcBef>
              <a:spcAft>
                <a:spcPct val="0"/>
              </a:spcAft>
              <a:buClr>
                <a:schemeClr val="folHlink"/>
              </a:buClr>
              <a:buSzPct val="60000"/>
              <a:buFont typeface="Wingdings" panose="05000000000000000000" pitchFamily="2" charset="2"/>
              <a:buChar char="n"/>
              <a:defRPr/>
            </a:pPr>
            <a:r>
              <a:rPr lang="zh-CN" altLang="en-US" sz="1800" b="1" kern="0" dirty="0"/>
              <a:t> </a:t>
            </a:r>
            <a:r>
              <a:rPr lang="en-US" altLang="zh-CN" sz="1800" kern="0" dirty="0"/>
              <a:t>(SNO</a:t>
            </a:r>
            <a:r>
              <a:rPr lang="zh-CN" altLang="en-US" sz="1800" kern="0" dirty="0"/>
              <a:t>，</a:t>
            </a:r>
            <a:r>
              <a:rPr lang="en-US" altLang="zh-CN" sz="1800" kern="0" dirty="0"/>
              <a:t>CNO)→SNAME</a:t>
            </a:r>
            <a:r>
              <a:rPr lang="zh-CN" altLang="en-US" sz="1800" kern="0" dirty="0"/>
              <a:t>，</a:t>
            </a:r>
            <a:r>
              <a:rPr lang="en-US" altLang="zh-CN" sz="1800" kern="0" dirty="0"/>
              <a:t>(SNO</a:t>
            </a:r>
            <a:r>
              <a:rPr lang="zh-CN" altLang="en-US" sz="1800" kern="0" dirty="0"/>
              <a:t>，</a:t>
            </a:r>
            <a:r>
              <a:rPr lang="en-US" altLang="zh-CN" sz="1800" kern="0" dirty="0"/>
              <a:t>CNO)→CLASS</a:t>
            </a:r>
            <a:r>
              <a:rPr lang="zh-CN" altLang="en-US" sz="1800" kern="0" dirty="0"/>
              <a:t>，</a:t>
            </a:r>
          </a:p>
          <a:p>
            <a:pPr marL="0" indent="0" algn="just" defTabSz="685800" fontAlgn="base">
              <a:lnSpc>
                <a:spcPct val="110000"/>
              </a:lnSpc>
              <a:spcBef>
                <a:spcPct val="20000"/>
              </a:spcBef>
              <a:spcAft>
                <a:spcPct val="0"/>
              </a:spcAft>
              <a:buClr>
                <a:schemeClr val="folHlink"/>
              </a:buClr>
              <a:buSzPct val="60000"/>
              <a:buNone/>
              <a:defRPr/>
            </a:pPr>
            <a:r>
              <a:rPr lang="zh-CN" altLang="en-US" sz="1800" kern="0" dirty="0"/>
              <a:t>  </a:t>
            </a:r>
            <a:r>
              <a:rPr lang="en-US" altLang="zh-CN" sz="1800" kern="0" dirty="0"/>
              <a:t>(SNO</a:t>
            </a:r>
            <a:r>
              <a:rPr lang="zh-CN" altLang="en-US" sz="1800" kern="0" dirty="0"/>
              <a:t>，</a:t>
            </a:r>
            <a:r>
              <a:rPr lang="en-US" altLang="zh-CN" sz="1800" kern="0" dirty="0"/>
              <a:t>CNO)→TNO</a:t>
            </a:r>
            <a:r>
              <a:rPr lang="zh-CN" altLang="en-US" sz="1800" kern="0" dirty="0"/>
              <a:t>， </a:t>
            </a:r>
            <a:r>
              <a:rPr lang="en-US" altLang="zh-CN" sz="1800" kern="0" dirty="0"/>
              <a:t>(SNO</a:t>
            </a:r>
            <a:r>
              <a:rPr lang="zh-CN" altLang="en-US" sz="1800" kern="0" dirty="0"/>
              <a:t>，</a:t>
            </a:r>
            <a:r>
              <a:rPr lang="en-US" altLang="zh-CN" sz="1800" kern="0" dirty="0"/>
              <a:t>CNO)→TNAME</a:t>
            </a:r>
            <a:r>
              <a:rPr lang="zh-CN" altLang="en-US" sz="1800" kern="0" dirty="0"/>
              <a:t>，</a:t>
            </a:r>
            <a:r>
              <a:rPr lang="en-US" altLang="zh-CN" sz="1800" kern="0" dirty="0"/>
              <a:t>(SNO</a:t>
            </a:r>
            <a:r>
              <a:rPr lang="zh-CN" altLang="en-US" sz="1800" kern="0" dirty="0"/>
              <a:t>，</a:t>
            </a:r>
            <a:r>
              <a:rPr lang="en-US" altLang="zh-CN" sz="1800" kern="0" dirty="0"/>
              <a:t>CNO)→TAGE</a:t>
            </a:r>
            <a:r>
              <a:rPr lang="zh-CN" altLang="en-US" sz="1800" kern="0" dirty="0"/>
              <a:t>，</a:t>
            </a:r>
          </a:p>
          <a:p>
            <a:pPr marL="0" indent="0" algn="just" defTabSz="685800" fontAlgn="base">
              <a:lnSpc>
                <a:spcPct val="110000"/>
              </a:lnSpc>
              <a:spcBef>
                <a:spcPct val="20000"/>
              </a:spcBef>
              <a:spcAft>
                <a:spcPct val="0"/>
              </a:spcAft>
              <a:buClr>
                <a:schemeClr val="folHlink"/>
              </a:buClr>
              <a:buSzPct val="60000"/>
              <a:buNone/>
              <a:defRPr/>
            </a:pPr>
            <a:r>
              <a:rPr lang="zh-CN" altLang="en-US" sz="1800" kern="0" dirty="0"/>
              <a:t>  </a:t>
            </a:r>
            <a:r>
              <a:rPr lang="en-US" altLang="zh-CN" sz="1800" kern="0" dirty="0"/>
              <a:t>(SNO</a:t>
            </a:r>
            <a:r>
              <a:rPr lang="zh-CN" altLang="en-US" sz="1800" kern="0" dirty="0"/>
              <a:t>，</a:t>
            </a:r>
            <a:r>
              <a:rPr lang="en-US" altLang="zh-CN" sz="1800" kern="0" dirty="0"/>
              <a:t>CNO)→ADDRESS</a:t>
            </a:r>
            <a:r>
              <a:rPr lang="zh-CN" altLang="en-US" sz="1800" kern="0" dirty="0"/>
              <a:t>都是</a:t>
            </a:r>
            <a:r>
              <a:rPr lang="zh-CN" altLang="en-US" sz="1800" b="1" kern="0" dirty="0">
                <a:solidFill>
                  <a:srgbClr val="0070C0"/>
                </a:solidFill>
              </a:rPr>
              <a:t>部分函数依赖</a:t>
            </a:r>
            <a:r>
              <a:rPr lang="zh-CN" altLang="en-US" sz="1800" kern="0" dirty="0"/>
              <a:t>，因为</a:t>
            </a:r>
            <a:r>
              <a:rPr lang="en-US" altLang="zh-CN" sz="1800" kern="0" dirty="0"/>
              <a:t>SNO→SNAME</a:t>
            </a:r>
            <a:r>
              <a:rPr lang="zh-CN" altLang="en-US" sz="1800" kern="0" dirty="0"/>
              <a:t>，</a:t>
            </a:r>
            <a:r>
              <a:rPr lang="en-US" altLang="zh-CN" sz="1800" kern="0" dirty="0"/>
              <a:t>SNO→CLASS</a:t>
            </a:r>
            <a:r>
              <a:rPr lang="zh-CN" altLang="en-US" sz="1800" kern="0" dirty="0"/>
              <a:t>，</a:t>
            </a:r>
            <a:r>
              <a:rPr lang="en-US" altLang="zh-CN" sz="1800" kern="0" dirty="0"/>
              <a:t>CNO→TNO</a:t>
            </a:r>
            <a:r>
              <a:rPr lang="zh-CN" altLang="en-US" sz="1800" kern="0" dirty="0"/>
              <a:t>，</a:t>
            </a:r>
            <a:r>
              <a:rPr lang="en-US" altLang="zh-CN" sz="1800" kern="0" dirty="0"/>
              <a:t>CNO→TNAME</a:t>
            </a:r>
            <a:r>
              <a:rPr lang="zh-CN" altLang="en-US" sz="1800" kern="0" dirty="0"/>
              <a:t>，</a:t>
            </a:r>
            <a:r>
              <a:rPr lang="en-US" altLang="zh-CN" sz="1800" kern="0" dirty="0"/>
              <a:t>CNO→TAGE</a:t>
            </a:r>
            <a:r>
              <a:rPr lang="zh-CN" altLang="en-US" sz="1800" kern="0" dirty="0"/>
              <a:t>，</a:t>
            </a:r>
            <a:r>
              <a:rPr lang="en-US" altLang="zh-CN" sz="1800" kern="0" dirty="0"/>
              <a:t>CNO→ADDRESS</a:t>
            </a:r>
            <a:r>
              <a:rPr lang="zh-CN" altLang="en-US" sz="1800" kern="0" dirty="0"/>
              <a:t>。</a:t>
            </a:r>
            <a:endParaRPr lang="en-US" altLang="zh-CN" sz="1800" kern="0" dirty="0"/>
          </a:p>
          <a:p>
            <a:pPr marL="0" indent="0" algn="just" defTabSz="685800" fontAlgn="base">
              <a:lnSpc>
                <a:spcPct val="110000"/>
              </a:lnSpc>
              <a:spcBef>
                <a:spcPct val="20000"/>
              </a:spcBef>
              <a:spcAft>
                <a:spcPct val="0"/>
              </a:spcAft>
              <a:buClr>
                <a:schemeClr val="folHlink"/>
              </a:buClr>
              <a:buSzPct val="60000"/>
              <a:buFont typeface="Wingdings" panose="05000000000000000000" pitchFamily="2" charset="2"/>
              <a:buChar char="n"/>
              <a:defRPr/>
            </a:pPr>
            <a:r>
              <a:rPr lang="zh-CN" altLang="en-US" sz="1800" kern="0" dirty="0"/>
              <a:t>因为</a:t>
            </a:r>
            <a:r>
              <a:rPr lang="en" altLang="zh-CN" sz="1800" kern="0" dirty="0"/>
              <a:t>CNO→TNO</a:t>
            </a:r>
            <a:r>
              <a:rPr lang="zh-CN" altLang="en" sz="1800" kern="0" dirty="0"/>
              <a:t>，</a:t>
            </a:r>
            <a:r>
              <a:rPr lang="en" altLang="zh-CN" sz="1800" kern="0" dirty="0"/>
              <a:t>TNO</a:t>
            </a:r>
            <a:r>
              <a:rPr kumimoji="0" lang="zh-CN" altLang="en-US" sz="22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a:t>
            </a:r>
            <a:r>
              <a:rPr lang="en" altLang="zh-CN" sz="1800" kern="0" dirty="0"/>
              <a:t>CNO</a:t>
            </a:r>
            <a:r>
              <a:rPr lang="zh-CN" altLang="en" sz="1800" kern="0" dirty="0"/>
              <a:t>，</a:t>
            </a:r>
            <a:r>
              <a:rPr lang="en" altLang="zh-CN" sz="1800" kern="0" dirty="0"/>
              <a:t>TNO→TNAME</a:t>
            </a:r>
            <a:r>
              <a:rPr lang="zh-CN" altLang="en" sz="1800" kern="0" dirty="0"/>
              <a:t>，</a:t>
            </a:r>
            <a:r>
              <a:rPr lang="zh-CN" altLang="en-US" sz="1800" kern="0" dirty="0"/>
              <a:t>所以</a:t>
            </a:r>
            <a:r>
              <a:rPr lang="en" altLang="zh-CN" sz="1800" kern="0" dirty="0"/>
              <a:t>CNO→TNAME</a:t>
            </a:r>
            <a:r>
              <a:rPr lang="zh-CN" altLang="en-US" sz="1800" kern="0" dirty="0"/>
              <a:t>是一个</a:t>
            </a:r>
            <a:r>
              <a:rPr lang="zh-CN" altLang="en-US" sz="1800" b="1" kern="0" dirty="0">
                <a:solidFill>
                  <a:srgbClr val="0070C0"/>
                </a:solidFill>
              </a:rPr>
              <a:t>传递函数依赖</a:t>
            </a:r>
            <a:r>
              <a:rPr lang="zh-CN" altLang="en-US" sz="1800" kern="0" dirty="0"/>
              <a:t>。类似地， </a:t>
            </a:r>
            <a:r>
              <a:rPr lang="en" altLang="zh-CN" sz="1800" kern="0" dirty="0"/>
              <a:t>CNO→TAGE</a:t>
            </a:r>
            <a:r>
              <a:rPr lang="zh-CN" altLang="en" sz="1800" kern="0" dirty="0"/>
              <a:t>、</a:t>
            </a:r>
            <a:r>
              <a:rPr lang="en" altLang="zh-CN" sz="1800" kern="0" dirty="0"/>
              <a:t>CNO→ADDRESS</a:t>
            </a:r>
            <a:r>
              <a:rPr lang="zh-CN" altLang="en-US" sz="1800" kern="0" dirty="0"/>
              <a:t>也是传递函数依赖。</a:t>
            </a:r>
          </a:p>
        </p:txBody>
      </p:sp>
      <p:sp>
        <p:nvSpPr>
          <p:cNvPr id="3" name="标题 2">
            <a:extLst>
              <a:ext uri="{FF2B5EF4-FFF2-40B4-BE49-F238E27FC236}">
                <a16:creationId xmlns:a16="http://schemas.microsoft.com/office/drawing/2014/main" id="{7D5020E0-E3D7-C9C0-070A-BBFB7736D221}"/>
              </a:ext>
            </a:extLst>
          </p:cNvPr>
          <p:cNvSpPr>
            <a:spLocks noGrp="1"/>
          </p:cNvSpPr>
          <p:nvPr>
            <p:ph type="title"/>
          </p:nvPr>
        </p:nvSpPr>
        <p:spPr/>
        <p:txBody>
          <a:bodyPr/>
          <a:lstStyle/>
          <a:p>
            <a:r>
              <a:rPr lang="zh-CN" altLang="en-US" dirty="0"/>
              <a:t>关系模式中的函数依赖</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770" name="内容占位符 163842"/>
              <p:cNvSpPr>
                <a:spLocks noGrp="1"/>
              </p:cNvSpPr>
              <p:nvPr>
                <p:ph idx="1"/>
              </p:nvPr>
            </p:nvSpPr>
            <p:spPr>
              <a:xfrm>
                <a:off x="628650" y="1345583"/>
                <a:ext cx="4265771" cy="3408735"/>
              </a:xfrm>
            </p:spPr>
            <p:txBody>
              <a:bodyPr vert="horz" wrap="square" lIns="68580" tIns="34290" rIns="68580" bIns="34290" rtlCol="0" anchor="t" anchorCtr="0">
                <a:normAutofit lnSpcReduction="10000"/>
              </a:bodyPr>
              <a:lstStyle/>
              <a:p>
                <a:pPr marL="257175" indent="-257175" defTabSz="685800" fontAlgn="base">
                  <a:lnSpc>
                    <a:spcPct val="100000"/>
                  </a:lnSpc>
                  <a:spcBef>
                    <a:spcPct val="20000"/>
                  </a:spcBef>
                  <a:spcAft>
                    <a:spcPct val="0"/>
                  </a:spcAft>
                  <a:buClr>
                    <a:schemeClr val="folHlink"/>
                  </a:buClr>
                  <a:buNone/>
                </a:pPr>
                <a:r>
                  <a:rPr lang="zh-CN" altLang="en-US" sz="2000" b="1" kern="0" noProof="1">
                    <a:solidFill>
                      <a:schemeClr val="folHlink"/>
                    </a:solidFill>
                  </a:rPr>
                  <a:t>候选键定义 </a:t>
                </a:r>
                <a:r>
                  <a:rPr lang="en-US" altLang="zh-CN" sz="2000" b="1" kern="0" noProof="1">
                    <a:solidFill>
                      <a:schemeClr val="folHlink"/>
                    </a:solidFill>
                  </a:rPr>
                  <a:t>:</a:t>
                </a:r>
                <a:r>
                  <a:rPr lang="en-US" altLang="zh-CN" sz="2000" kern="0" noProof="1">
                    <a:solidFill>
                      <a:schemeClr val="hlink"/>
                    </a:solidFill>
                  </a:rPr>
                  <a:t> </a:t>
                </a:r>
              </a:p>
              <a:p>
                <a:pPr marL="257175" indent="-257175" defTabSz="685800" fontAlgn="base">
                  <a:lnSpc>
                    <a:spcPct val="100000"/>
                  </a:lnSpc>
                  <a:spcBef>
                    <a:spcPct val="20000"/>
                  </a:spcBef>
                  <a:spcAft>
                    <a:spcPct val="0"/>
                  </a:spcAft>
                  <a:buClr>
                    <a:schemeClr val="folHlink"/>
                  </a:buClr>
                  <a:buFont typeface="Wingdings" panose="05000000000000000000" pitchFamily="2" charset="2"/>
                  <a:buChar char="§"/>
                </a:pPr>
                <a:r>
                  <a:rPr lang="zh-CN" altLang="en-US" sz="1800" kern="0" noProof="1"/>
                  <a:t>设</a:t>
                </a:r>
                <a:r>
                  <a:rPr lang="en-US" altLang="zh-CN" sz="1800" kern="0" noProof="1"/>
                  <a:t>X</a:t>
                </a:r>
                <a:r>
                  <a:rPr lang="zh-CN" altLang="en-US" sz="1800" kern="0" noProof="1"/>
                  <a:t>为</a:t>
                </a:r>
                <a:r>
                  <a:rPr lang="en-US" altLang="zh-CN" sz="1800" kern="0" noProof="1"/>
                  <a:t>R&lt;U</a:t>
                </a:r>
                <a:r>
                  <a:rPr lang="zh-CN" altLang="en-US" sz="1800" kern="0" noProof="1"/>
                  <a:t>，</a:t>
                </a:r>
                <a:r>
                  <a:rPr lang="en-US" altLang="zh-CN" sz="1800" kern="0" noProof="1"/>
                  <a:t>F&gt;</a:t>
                </a:r>
                <a:r>
                  <a:rPr lang="zh-CN" altLang="en-US" sz="1800" kern="0" noProof="1"/>
                  <a:t>中的属性或属性组合，若 </a:t>
                </a:r>
                <a:r>
                  <a:rPr lang="en-US" altLang="zh-CN" sz="1800" kern="0" noProof="1">
                    <a:solidFill>
                      <a:schemeClr val="hlink"/>
                    </a:solidFill>
                  </a:rPr>
                  <a:t>X </a:t>
                </a:r>
                <a14:m>
                  <m:oMath xmlns:m="http://schemas.openxmlformats.org/officeDocument/2006/math">
                    <m:groupChr>
                      <m:groupChrPr>
                        <m:chr m:val="→"/>
                        <m:vertJc m:val="bot"/>
                        <m:ctrlPr>
                          <a:rPr lang="en-US" altLang="zh-CN" sz="1800" i="1" kern="0" noProof="1">
                            <a:solidFill>
                              <a:schemeClr val="hlink"/>
                            </a:solidFill>
                            <a:latin typeface="Cambria Math" panose="02040503050406030204" pitchFamily="18" charset="0"/>
                          </a:rPr>
                        </m:ctrlPr>
                      </m:groupChrPr>
                      <m:e>
                        <m:r>
                          <m:rPr>
                            <m:brk m:alnAt="2"/>
                          </m:rPr>
                          <a:rPr lang="en-US" altLang="zh-CN" sz="1800" i="1" kern="0" noProof="1">
                            <a:solidFill>
                              <a:schemeClr val="hlink"/>
                            </a:solidFill>
                            <a:latin typeface="Cambria Math" panose="02040503050406030204" pitchFamily="18" charset="0"/>
                          </a:rPr>
                          <m:t>𝐹</m:t>
                        </m:r>
                      </m:e>
                    </m:groupChr>
                    <m:r>
                      <a:rPr lang="en-US" altLang="zh-CN" sz="1800" i="1" kern="0" noProof="1">
                        <a:solidFill>
                          <a:schemeClr val="hlink"/>
                        </a:solidFill>
                        <a:latin typeface="Cambria Math" panose="02040503050406030204" pitchFamily="18" charset="0"/>
                      </a:rPr>
                      <m:t> </m:t>
                    </m:r>
                  </m:oMath>
                </a14:m>
                <a:r>
                  <a:rPr lang="en-US" altLang="zh-CN" sz="1800" kern="0" noProof="1">
                    <a:solidFill>
                      <a:schemeClr val="hlink"/>
                    </a:solidFill>
                  </a:rPr>
                  <a:t>U</a:t>
                </a:r>
                <a:r>
                  <a:rPr lang="en-US" altLang="zh-CN" sz="1800" kern="0" noProof="1"/>
                  <a:t>  </a:t>
                </a:r>
                <a:r>
                  <a:rPr lang="en-US" altLang="zh-CN" sz="1800" i="1" kern="0" baseline="30000" noProof="1"/>
                  <a:t> </a:t>
                </a:r>
                <a:r>
                  <a:rPr lang="zh-CN" altLang="en-US" sz="1800" kern="0" noProof="1"/>
                  <a:t>则</a:t>
                </a:r>
                <a:r>
                  <a:rPr lang="en-US" altLang="zh-CN" sz="1800" kern="0" noProof="1"/>
                  <a:t>X</a:t>
                </a:r>
                <a:r>
                  <a:rPr lang="zh-CN" altLang="en-US" sz="1800" kern="0" noProof="1"/>
                  <a:t>为</a:t>
                </a:r>
                <a:r>
                  <a:rPr lang="en-US" altLang="zh-CN" sz="1800" kern="0" noProof="1"/>
                  <a:t>R</a:t>
                </a:r>
                <a:r>
                  <a:rPr lang="zh-CN" altLang="en-US" sz="1800" kern="0" noProof="1"/>
                  <a:t>的候选键。</a:t>
                </a:r>
              </a:p>
              <a:p>
                <a:pPr marL="257175" indent="-257175" defTabSz="685800" fontAlgn="base">
                  <a:lnSpc>
                    <a:spcPct val="100000"/>
                  </a:lnSpc>
                  <a:spcBef>
                    <a:spcPct val="20000"/>
                  </a:spcBef>
                  <a:spcAft>
                    <a:spcPct val="0"/>
                  </a:spcAft>
                  <a:buClr>
                    <a:schemeClr val="folHlink"/>
                  </a:buClr>
                  <a:buFont typeface="Wingdings" panose="05000000000000000000" pitchFamily="2" charset="2"/>
                  <a:buChar char="§"/>
                </a:pPr>
                <a:r>
                  <a:rPr lang="zh-CN" altLang="en-US" sz="1800" b="1" kern="0" noProof="1">
                    <a:solidFill>
                      <a:schemeClr val="folHlink"/>
                    </a:solidFill>
                  </a:rPr>
                  <a:t>说明：</a:t>
                </a:r>
              </a:p>
              <a:p>
                <a:pPr marL="257175" indent="-257175" defTabSz="685800" fontAlgn="base">
                  <a:lnSpc>
                    <a:spcPct val="100000"/>
                  </a:lnSpc>
                  <a:spcBef>
                    <a:spcPct val="20000"/>
                  </a:spcBef>
                  <a:spcAft>
                    <a:spcPct val="0"/>
                  </a:spcAft>
                  <a:buClr>
                    <a:schemeClr val="folHlink"/>
                  </a:buClr>
                  <a:buFont typeface="Wingdings" panose="05000000000000000000" pitchFamily="2" charset="2"/>
                  <a:buChar char="§"/>
                </a:pPr>
                <a:r>
                  <a:rPr lang="en-US" altLang="zh-CN" sz="1800" kern="0" noProof="1"/>
                  <a:t>X</a:t>
                </a:r>
                <a:r>
                  <a:rPr lang="en-US" altLang="zh-CN" sz="1800" kern="0" noProof="1">
                    <a:solidFill>
                      <a:schemeClr val="hlink"/>
                    </a:solidFill>
                  </a:rPr>
                  <a:t> </a:t>
                </a:r>
                <a14:m>
                  <m:oMath xmlns:m="http://schemas.openxmlformats.org/officeDocument/2006/math">
                    <m:groupChr>
                      <m:groupChrPr>
                        <m:chr m:val="→"/>
                        <m:vertJc m:val="bot"/>
                        <m:ctrlPr>
                          <a:rPr lang="en-US" altLang="zh-CN" sz="1800" i="1" kern="0" noProof="1">
                            <a:solidFill>
                              <a:schemeClr val="hlink"/>
                            </a:solidFill>
                            <a:latin typeface="Cambria Math" panose="02040503050406030204" pitchFamily="18" charset="0"/>
                          </a:rPr>
                        </m:ctrlPr>
                      </m:groupChrPr>
                      <m:e>
                        <m:r>
                          <m:rPr>
                            <m:brk m:alnAt="2"/>
                          </m:rPr>
                          <a:rPr lang="en-US" altLang="zh-CN" sz="1800" i="1" kern="0" noProof="1">
                            <a:solidFill>
                              <a:schemeClr val="hlink"/>
                            </a:solidFill>
                            <a:latin typeface="Cambria Math" panose="02040503050406030204" pitchFamily="18" charset="0"/>
                          </a:rPr>
                          <m:t>𝐹</m:t>
                        </m:r>
                      </m:e>
                    </m:groupChr>
                    <m:r>
                      <a:rPr lang="en-US" altLang="zh-CN" sz="1800" i="1" kern="0" noProof="1">
                        <a:solidFill>
                          <a:schemeClr val="hlink"/>
                        </a:solidFill>
                        <a:latin typeface="Cambria Math" panose="02040503050406030204" pitchFamily="18" charset="0"/>
                      </a:rPr>
                      <m:t> </m:t>
                    </m:r>
                  </m:oMath>
                </a14:m>
                <a:r>
                  <a:rPr lang="en-US" altLang="zh-CN" sz="1800" kern="0" noProof="1"/>
                  <a:t>U</a:t>
                </a:r>
              </a:p>
              <a:p>
                <a:pPr marL="557213" lvl="1" indent="-214313" defTabSz="685800" fontAlgn="base">
                  <a:lnSpc>
                    <a:spcPct val="100000"/>
                  </a:lnSpc>
                  <a:spcBef>
                    <a:spcPct val="20000"/>
                  </a:spcBef>
                  <a:spcAft>
                    <a:spcPct val="0"/>
                  </a:spcAft>
                  <a:buClr>
                    <a:schemeClr val="hlink"/>
                  </a:buClr>
                  <a:buFont typeface="Wingdings" panose="05000000000000000000" pitchFamily="2" charset="2"/>
                  <a:buChar char="§"/>
                </a:pPr>
                <a:r>
                  <a:rPr lang="en-US" altLang="zh-CN" sz="1800" kern="0" noProof="1">
                    <a:cs typeface="+mn-ea"/>
                  </a:rPr>
                  <a:t> X</a:t>
                </a:r>
                <a:r>
                  <a:rPr lang="en-US" altLang="zh-CN" sz="1800" kern="0" dirty="0"/>
                  <a:t> → </a:t>
                </a:r>
                <a:r>
                  <a:rPr lang="en-US" altLang="zh-CN" sz="1800" kern="0" noProof="1">
                    <a:cs typeface="+mn-ea"/>
                  </a:rPr>
                  <a:t>U   </a:t>
                </a:r>
                <a:r>
                  <a:rPr lang="en-US" altLang="zh-CN" sz="1800" kern="0" noProof="1">
                    <a:solidFill>
                      <a:schemeClr val="folHlink"/>
                    </a:solidFill>
                    <a:cs typeface="+mn-ea"/>
                  </a:rPr>
                  <a:t>X</a:t>
                </a:r>
                <a:r>
                  <a:rPr lang="zh-CN" altLang="en-US" sz="1800" kern="0" noProof="1">
                    <a:solidFill>
                      <a:schemeClr val="folHlink"/>
                    </a:solidFill>
                    <a:cs typeface="+mn-ea"/>
                  </a:rPr>
                  <a:t>能决定整个元组</a:t>
                </a:r>
              </a:p>
              <a:p>
                <a:pPr marL="557213" lvl="1" indent="-214313" defTabSz="685800" fontAlgn="base">
                  <a:lnSpc>
                    <a:spcPct val="100000"/>
                  </a:lnSpc>
                  <a:spcBef>
                    <a:spcPct val="20000"/>
                  </a:spcBef>
                  <a:spcAft>
                    <a:spcPct val="0"/>
                  </a:spcAft>
                  <a:buClr>
                    <a:schemeClr val="hlink"/>
                  </a:buClr>
                  <a:buFont typeface="Wingdings" panose="05000000000000000000" pitchFamily="2" charset="2"/>
                  <a:buChar char="§"/>
                </a:pPr>
                <a:r>
                  <a:rPr lang="zh-CN" altLang="en-US" sz="1800" kern="0" noProof="1">
                    <a:cs typeface="+mn-ea"/>
                  </a:rPr>
                  <a:t> </a:t>
                </a:r>
                <a:r>
                  <a:rPr lang="en-US" altLang="zh-CN" sz="1800" kern="0" noProof="1">
                    <a:cs typeface="+mn-ea"/>
                  </a:rPr>
                  <a:t>X</a:t>
                </a:r>
                <a:r>
                  <a:rPr lang="en-US" altLang="zh-CN" sz="1800" kern="0" noProof="1">
                    <a:latin typeface="Arial" panose="020B0604020202020204" pitchFamily="34" charset="0"/>
                    <a:cs typeface="Arial" panose="020B0604020202020204" pitchFamily="34" charset="0"/>
                  </a:rPr>
                  <a:t>’</a:t>
                </a:r>
                <a:r>
                  <a:rPr lang="zh-CN" altLang="en-US" sz="1800" dirty="0">
                    <a:solidFill>
                      <a:prstClr val="black"/>
                    </a:solidFill>
                  </a:rPr>
                  <a:t> </a:t>
                </a:r>
                <a:r>
                  <a:rPr lang="zh-CN" altLang="en-US" dirty="0">
                    <a:solidFill>
                      <a:prstClr val="black"/>
                    </a:solidFill>
                  </a:rPr>
                  <a:t>↛ </a:t>
                </a:r>
                <a:r>
                  <a:rPr lang="en-US" altLang="zh-CN" sz="1800" kern="0" noProof="1">
                    <a:cs typeface="+mn-ea"/>
                  </a:rPr>
                  <a:t>U  </a:t>
                </a:r>
                <a:r>
                  <a:rPr lang="en-US" altLang="zh-CN" sz="1800" kern="0" noProof="1">
                    <a:solidFill>
                      <a:schemeClr val="folHlink"/>
                    </a:solidFill>
                    <a:cs typeface="+mn-ea"/>
                  </a:rPr>
                  <a:t>X</a:t>
                </a:r>
                <a:r>
                  <a:rPr lang="zh-CN" altLang="en-US" sz="1800" kern="0" noProof="1">
                    <a:solidFill>
                      <a:schemeClr val="folHlink"/>
                    </a:solidFill>
                    <a:cs typeface="+mn-ea"/>
                  </a:rPr>
                  <a:t>中无多余的属性</a:t>
                </a:r>
                <a:endParaRPr lang="en-US" altLang="zh-CN" sz="1800" kern="0" noProof="1">
                  <a:solidFill>
                    <a:schemeClr val="folHlink"/>
                  </a:solidFill>
                  <a:cs typeface="+mn-ea"/>
                </a:endParaRPr>
              </a:p>
              <a:p>
                <a:pPr marL="557213" lvl="1" indent="-214313" defTabSz="685800" fontAlgn="base">
                  <a:lnSpc>
                    <a:spcPct val="100000"/>
                  </a:lnSpc>
                  <a:spcBef>
                    <a:spcPct val="20000"/>
                  </a:spcBef>
                  <a:spcAft>
                    <a:spcPct val="0"/>
                  </a:spcAft>
                  <a:buClr>
                    <a:schemeClr val="hlink"/>
                  </a:buClr>
                  <a:buNone/>
                </a:pPr>
                <a:endParaRPr lang="en-US" altLang="zh-CN" sz="600" b="1" kern="0" noProof="1">
                  <a:solidFill>
                    <a:schemeClr val="folHlink"/>
                  </a:solidFill>
                  <a:cs typeface="+mn-ea"/>
                </a:endParaRPr>
              </a:p>
              <a:p>
                <a:pPr marL="557213" lvl="1" indent="-214313" defTabSz="685800" fontAlgn="base">
                  <a:lnSpc>
                    <a:spcPct val="100000"/>
                  </a:lnSpc>
                  <a:spcBef>
                    <a:spcPct val="20000"/>
                  </a:spcBef>
                  <a:spcAft>
                    <a:spcPct val="0"/>
                  </a:spcAft>
                  <a:buClr>
                    <a:schemeClr val="hlink"/>
                  </a:buClr>
                  <a:buNone/>
                </a:pPr>
                <a:r>
                  <a:rPr lang="zh-CN" altLang="en-US" sz="1500" b="1" kern="0" noProof="1">
                    <a:solidFill>
                      <a:schemeClr val="accent4"/>
                    </a:solidFill>
                    <a:cs typeface="+mn-ea"/>
                  </a:rPr>
                  <a:t>（</a:t>
                </a:r>
                <a:r>
                  <a:rPr lang="en-US" altLang="zh-CN" sz="1500" b="1" kern="0" noProof="1">
                    <a:solidFill>
                      <a:schemeClr val="accent4"/>
                    </a:solidFill>
                    <a:cs typeface="+mn-ea"/>
                  </a:rPr>
                  <a:t>1</a:t>
                </a:r>
                <a:r>
                  <a:rPr lang="zh-CN" altLang="en-US" sz="1500" b="1" kern="0" noProof="1">
                    <a:solidFill>
                      <a:schemeClr val="accent4"/>
                    </a:solidFill>
                    <a:cs typeface="+mn-ea"/>
                  </a:rPr>
                  <a:t>）候选键的唯一确定性</a:t>
                </a:r>
                <a:endParaRPr lang="en-US" altLang="zh-CN" sz="1500" b="1" kern="0" noProof="1">
                  <a:solidFill>
                    <a:schemeClr val="accent4"/>
                  </a:solidFill>
                  <a:cs typeface="+mn-ea"/>
                </a:endParaRPr>
              </a:p>
              <a:p>
                <a:pPr marL="557213" lvl="1" indent="-214313" defTabSz="685800" fontAlgn="base">
                  <a:lnSpc>
                    <a:spcPct val="100000"/>
                  </a:lnSpc>
                  <a:spcBef>
                    <a:spcPct val="20000"/>
                  </a:spcBef>
                  <a:spcAft>
                    <a:spcPct val="0"/>
                  </a:spcAft>
                  <a:buClr>
                    <a:schemeClr val="hlink"/>
                  </a:buClr>
                  <a:buNone/>
                </a:pPr>
                <a:r>
                  <a:rPr lang="zh-CN" altLang="en-US" sz="1500" b="1" kern="0" noProof="1">
                    <a:solidFill>
                      <a:schemeClr val="accent4"/>
                    </a:solidFill>
                    <a:cs typeface="+mn-ea"/>
                  </a:rPr>
                  <a:t>（</a:t>
                </a:r>
                <a:r>
                  <a:rPr lang="en-US" altLang="zh-CN" sz="1500" b="1" kern="0" noProof="1">
                    <a:solidFill>
                      <a:schemeClr val="accent4"/>
                    </a:solidFill>
                    <a:cs typeface="+mn-ea"/>
                  </a:rPr>
                  <a:t>2</a:t>
                </a:r>
                <a:r>
                  <a:rPr lang="zh-CN" altLang="en-US" sz="1500" b="1" kern="0" noProof="1">
                    <a:solidFill>
                      <a:schemeClr val="accent4"/>
                    </a:solidFill>
                    <a:cs typeface="+mn-ea"/>
                  </a:rPr>
                  <a:t>）候选键的最小性</a:t>
                </a:r>
                <a:endParaRPr lang="en-US" altLang="zh-CN" sz="1500" b="1" kern="0" noProof="1">
                  <a:solidFill>
                    <a:schemeClr val="accent4"/>
                  </a:solidFill>
                  <a:cs typeface="+mn-ea"/>
                </a:endParaRPr>
              </a:p>
              <a:p>
                <a:pPr marL="557213" lvl="1" indent="-214313" defTabSz="685800" fontAlgn="base">
                  <a:lnSpc>
                    <a:spcPct val="100000"/>
                  </a:lnSpc>
                  <a:spcBef>
                    <a:spcPct val="20000"/>
                  </a:spcBef>
                  <a:spcAft>
                    <a:spcPct val="0"/>
                  </a:spcAft>
                  <a:buClr>
                    <a:schemeClr val="hlink"/>
                  </a:buClr>
                  <a:buNone/>
                </a:pPr>
                <a:r>
                  <a:rPr lang="zh-CN" altLang="en-US" sz="1500" b="1" kern="0" noProof="1">
                    <a:solidFill>
                      <a:schemeClr val="accent4"/>
                    </a:solidFill>
                    <a:cs typeface="+mn-ea"/>
                  </a:rPr>
                  <a:t>（</a:t>
                </a:r>
                <a:r>
                  <a:rPr lang="en-US" altLang="zh-CN" sz="1500" b="1" kern="0" noProof="1">
                    <a:solidFill>
                      <a:schemeClr val="accent4"/>
                    </a:solidFill>
                    <a:cs typeface="+mn-ea"/>
                  </a:rPr>
                  <a:t>3</a:t>
                </a:r>
                <a:r>
                  <a:rPr lang="zh-CN" altLang="en-US" sz="1500" b="1" kern="0" noProof="1">
                    <a:solidFill>
                      <a:schemeClr val="accent4"/>
                    </a:solidFill>
                    <a:cs typeface="+mn-ea"/>
                  </a:rPr>
                  <a:t>）存在性和不确定性</a:t>
                </a:r>
              </a:p>
              <a:p>
                <a:pPr marL="557213" lvl="1" indent="-214313" defTabSz="685800" fontAlgn="base">
                  <a:lnSpc>
                    <a:spcPct val="100000"/>
                  </a:lnSpc>
                  <a:spcBef>
                    <a:spcPct val="20000"/>
                  </a:spcBef>
                  <a:spcAft>
                    <a:spcPct val="0"/>
                  </a:spcAft>
                  <a:buClr>
                    <a:schemeClr val="hlink"/>
                  </a:buClr>
                  <a:buFont typeface="Wingdings" panose="05000000000000000000" pitchFamily="2" charset="2"/>
                  <a:buChar char="§"/>
                </a:pPr>
                <a:endParaRPr lang="zh-CN" altLang="en-US" sz="1500" b="1" kern="0" noProof="1">
                  <a:solidFill>
                    <a:schemeClr val="accent4"/>
                  </a:solidFill>
                  <a:cs typeface="+mn-ea"/>
                </a:endParaRPr>
              </a:p>
            </p:txBody>
          </p:sp>
        </mc:Choice>
        <mc:Fallback xmlns="">
          <p:sp>
            <p:nvSpPr>
              <p:cNvPr id="32770" name="内容占位符 163842"/>
              <p:cNvSpPr>
                <a:spLocks noGrp="1" noRot="1" noChangeAspect="1" noMove="1" noResize="1" noEditPoints="1" noAdjustHandles="1" noChangeArrowheads="1" noChangeShapeType="1" noTextEdit="1"/>
              </p:cNvSpPr>
              <p:nvPr>
                <p:ph idx="1"/>
              </p:nvPr>
            </p:nvSpPr>
            <p:spPr>
              <a:xfrm>
                <a:off x="628650" y="1345583"/>
                <a:ext cx="4265771" cy="3408735"/>
              </a:xfrm>
              <a:blipFill>
                <a:blip r:embed="rId2"/>
                <a:stretch>
                  <a:fillRect l="-2077" t="-2230" r="-2374"/>
                </a:stretch>
              </a:blipFill>
            </p:spPr>
            <p:txBody>
              <a:bodyPr/>
              <a:lstStyle/>
              <a:p>
                <a:r>
                  <a:rPr lang="zh-CN" altLang="en-US">
                    <a:noFill/>
                  </a:rPr>
                  <a:t> </a:t>
                </a:r>
              </a:p>
            </p:txBody>
          </p:sp>
        </mc:Fallback>
      </mc:AlternateContent>
      <p:sp>
        <p:nvSpPr>
          <p:cNvPr id="33795" name="内容占位符 163843"/>
          <p:cNvSpPr>
            <a:spLocks noGrp="1"/>
          </p:cNvSpPr>
          <p:nvPr>
            <p:ph sz="half" idx="4294967295"/>
          </p:nvPr>
        </p:nvSpPr>
        <p:spPr>
          <a:xfrm>
            <a:off x="5404247" y="1007022"/>
            <a:ext cx="3086100" cy="1283178"/>
          </a:xfrm>
        </p:spPr>
        <p:txBody>
          <a:bodyPr vert="horz" wrap="square" lIns="68580" tIns="34290" rIns="68580" bIns="34290" rtlCol="0" anchor="t" anchorCtr="0">
            <a:normAutofit/>
          </a:bodyPr>
          <a:lstStyle/>
          <a:p>
            <a:pPr eaLnBrk="1" hangingPunct="1">
              <a:buClr>
                <a:schemeClr val="hlink"/>
              </a:buClr>
              <a:buSzTx/>
              <a:buFont typeface="Wingdings" panose="05000000000000000000" pitchFamily="2" charset="2"/>
              <a:buChar char="Ø"/>
            </a:pPr>
            <a:r>
              <a:rPr lang="zh-CN" altLang="en-US" sz="1400" b="1" dirty="0"/>
              <a:t>主键</a:t>
            </a:r>
          </a:p>
          <a:p>
            <a:pPr eaLnBrk="1" hangingPunct="1">
              <a:buClr>
                <a:schemeClr val="hlink"/>
              </a:buClr>
              <a:buSzTx/>
              <a:buFont typeface="Wingdings" panose="05000000000000000000" pitchFamily="2" charset="2"/>
              <a:buChar char="Ø"/>
            </a:pPr>
            <a:r>
              <a:rPr lang="zh-CN" altLang="en-US" sz="1400" b="1" dirty="0"/>
              <a:t>主属性</a:t>
            </a:r>
            <a:r>
              <a:rPr lang="en-US" altLang="zh-CN" sz="1400" b="1" dirty="0"/>
              <a:t>: </a:t>
            </a:r>
            <a:r>
              <a:rPr lang="zh-CN" altLang="en-US" sz="1400" dirty="0">
                <a:solidFill>
                  <a:schemeClr val="folHlink"/>
                </a:solidFill>
              </a:rPr>
              <a:t>侯选键中的属性</a:t>
            </a:r>
          </a:p>
          <a:p>
            <a:pPr eaLnBrk="1" hangingPunct="1">
              <a:buClr>
                <a:schemeClr val="hlink"/>
              </a:buClr>
              <a:buSzTx/>
              <a:buFont typeface="Wingdings" panose="05000000000000000000" pitchFamily="2" charset="2"/>
              <a:buChar char="Ø"/>
            </a:pPr>
            <a:r>
              <a:rPr lang="zh-CN" altLang="en-US" sz="1400" b="1" dirty="0"/>
              <a:t>非主属性</a:t>
            </a:r>
          </a:p>
          <a:p>
            <a:pPr eaLnBrk="1" hangingPunct="1">
              <a:buClr>
                <a:schemeClr val="hlink"/>
              </a:buClr>
              <a:buSzTx/>
              <a:buFont typeface="Wingdings" panose="05000000000000000000" pitchFamily="2" charset="2"/>
              <a:buChar char="Ø"/>
            </a:pPr>
            <a:r>
              <a:rPr lang="zh-CN" altLang="en-US" sz="1400" b="1" dirty="0"/>
              <a:t>全码：</a:t>
            </a:r>
            <a:r>
              <a:rPr lang="zh-CN" altLang="en-US" sz="1400" dirty="0">
                <a:solidFill>
                  <a:schemeClr val="folHlink"/>
                </a:solidFill>
              </a:rPr>
              <a:t>整个属性组为关键字</a:t>
            </a:r>
            <a:r>
              <a:rPr lang="zh-CN" altLang="en-US" sz="1400" dirty="0">
                <a:solidFill>
                  <a:schemeClr val="hlink"/>
                </a:solidFill>
              </a:rPr>
              <a:t> </a:t>
            </a:r>
          </a:p>
        </p:txBody>
      </p:sp>
      <p:pic>
        <p:nvPicPr>
          <p:cNvPr id="33796" name="图片 163846" descr="BD05015_"/>
          <p:cNvPicPr>
            <a:picLocks noChangeAspect="1"/>
          </p:cNvPicPr>
          <p:nvPr/>
        </p:nvPicPr>
        <p:blipFill>
          <a:blip r:embed="rId3"/>
          <a:stretch>
            <a:fillRect/>
          </a:stretch>
        </p:blipFill>
        <p:spPr>
          <a:xfrm>
            <a:off x="7878966" y="389182"/>
            <a:ext cx="1257300" cy="1216819"/>
          </a:xfrm>
          <a:prstGeom prst="rect">
            <a:avLst/>
          </a:prstGeom>
          <a:noFill/>
          <a:ln w="9525">
            <a:noFill/>
          </a:ln>
        </p:spPr>
      </p:pic>
      <p:sp>
        <p:nvSpPr>
          <p:cNvPr id="33797" name="Text Box 2"/>
          <p:cNvSpPr txBox="1"/>
          <p:nvPr/>
        </p:nvSpPr>
        <p:spPr>
          <a:xfrm>
            <a:off x="5010351" y="2553012"/>
            <a:ext cx="2930610" cy="323165"/>
          </a:xfrm>
          <a:prstGeom prst="rect">
            <a:avLst/>
          </a:prstGeom>
          <a:noFill/>
          <a:ln w="9525">
            <a:noFill/>
          </a:ln>
        </p:spPr>
        <p:txBody>
          <a:bodyPr wrap="none" anchor="t" anchorCtr="0">
            <a:spAutoFit/>
          </a:bodyPr>
          <a:lstStyle/>
          <a:p>
            <a:pPr eaLnBrk="0" hangingPunct="0"/>
            <a:r>
              <a:rPr lang="en-US" altLang="zh-CN" sz="1500" b="1" dirty="0">
                <a:solidFill>
                  <a:schemeClr val="hlink"/>
                </a:solidFill>
                <a:latin typeface="Microsoft YaHei" panose="020B0503020204020204" pitchFamily="34" charset="-122"/>
                <a:ea typeface="Microsoft YaHei" panose="020B0503020204020204" pitchFamily="34" charset="-122"/>
              </a:rPr>
              <a:t>【</a:t>
            </a:r>
            <a:r>
              <a:rPr lang="zh-CN" altLang="en-US" sz="1500" b="1" dirty="0">
                <a:solidFill>
                  <a:schemeClr val="hlink"/>
                </a:solidFill>
                <a:latin typeface="Microsoft YaHei" panose="020B0503020204020204" pitchFamily="34" charset="-122"/>
                <a:ea typeface="Microsoft YaHei" panose="020B0503020204020204" pitchFamily="34" charset="-122"/>
              </a:rPr>
              <a:t>例</a:t>
            </a:r>
            <a:r>
              <a:rPr lang="en-US" altLang="zh-CN" sz="1500" b="1" dirty="0">
                <a:solidFill>
                  <a:schemeClr val="hlink"/>
                </a:solidFill>
                <a:latin typeface="Microsoft YaHei" panose="020B0503020204020204" pitchFamily="34" charset="-122"/>
                <a:ea typeface="Microsoft YaHei" panose="020B0503020204020204" pitchFamily="34" charset="-122"/>
              </a:rPr>
              <a:t>】</a:t>
            </a:r>
            <a:r>
              <a:rPr lang="zh-CN" altLang="en-US" sz="1500" dirty="0">
                <a:latin typeface="Microsoft YaHei" panose="020B0503020204020204" pitchFamily="34" charset="-122"/>
                <a:ea typeface="Microsoft YaHei" panose="020B0503020204020204" pitchFamily="34" charset="-122"/>
              </a:rPr>
              <a:t>关系模式 </a:t>
            </a:r>
            <a:r>
              <a:rPr lang="en-US" altLang="zh-CN" sz="1500" dirty="0">
                <a:latin typeface="Microsoft YaHei" panose="020B0503020204020204" pitchFamily="34" charset="-122"/>
                <a:ea typeface="Microsoft YaHei" panose="020B0503020204020204" pitchFamily="34" charset="-122"/>
              </a:rPr>
              <a:t>R</a:t>
            </a:r>
            <a:r>
              <a:rPr lang="zh-CN" altLang="en-US" sz="1500" dirty="0">
                <a:latin typeface="Microsoft YaHei" panose="020B0503020204020204" pitchFamily="34" charset="-122"/>
                <a:ea typeface="Microsoft YaHei" panose="020B0503020204020204" pitchFamily="34" charset="-122"/>
              </a:rPr>
              <a:t>（</a:t>
            </a:r>
            <a:r>
              <a:rPr lang="en-US" altLang="zh-CN" sz="1500" dirty="0">
                <a:latin typeface="Microsoft YaHei" panose="020B0503020204020204" pitchFamily="34" charset="-122"/>
                <a:ea typeface="Microsoft YaHei" panose="020B0503020204020204" pitchFamily="34" charset="-122"/>
              </a:rPr>
              <a:t>P</a:t>
            </a:r>
            <a:r>
              <a:rPr lang="zh-CN" altLang="en-US" sz="1500" dirty="0">
                <a:latin typeface="Microsoft YaHei" panose="020B0503020204020204" pitchFamily="34" charset="-122"/>
                <a:ea typeface="Microsoft YaHei" panose="020B0503020204020204" pitchFamily="34" charset="-122"/>
              </a:rPr>
              <a:t>，</a:t>
            </a:r>
            <a:r>
              <a:rPr lang="en-US" altLang="zh-CN" sz="1500" dirty="0">
                <a:latin typeface="Microsoft YaHei" panose="020B0503020204020204" pitchFamily="34" charset="-122"/>
                <a:ea typeface="Microsoft YaHei" panose="020B0503020204020204" pitchFamily="34" charset="-122"/>
              </a:rPr>
              <a:t>W</a:t>
            </a:r>
            <a:r>
              <a:rPr lang="zh-CN" altLang="en-US" sz="1500" dirty="0">
                <a:latin typeface="Microsoft YaHei" panose="020B0503020204020204" pitchFamily="34" charset="-122"/>
                <a:ea typeface="Microsoft YaHei" panose="020B0503020204020204" pitchFamily="34" charset="-122"/>
              </a:rPr>
              <a:t>，</a:t>
            </a:r>
            <a:r>
              <a:rPr lang="en-US" altLang="zh-CN" sz="1500" dirty="0">
                <a:latin typeface="Microsoft YaHei" panose="020B0503020204020204" pitchFamily="34" charset="-122"/>
                <a:ea typeface="Microsoft YaHei" panose="020B0503020204020204" pitchFamily="34" charset="-122"/>
              </a:rPr>
              <a:t>A</a:t>
            </a:r>
            <a:r>
              <a:rPr lang="zh-CN" altLang="en-US" sz="1500" dirty="0">
                <a:latin typeface="Microsoft YaHei" panose="020B0503020204020204" pitchFamily="34" charset="-122"/>
                <a:ea typeface="Microsoft YaHei" panose="020B0503020204020204" pitchFamily="34" charset="-122"/>
              </a:rPr>
              <a:t>）</a:t>
            </a:r>
          </a:p>
        </p:txBody>
      </p:sp>
      <p:grpSp>
        <p:nvGrpSpPr>
          <p:cNvPr id="33798" name="Group 3"/>
          <p:cNvGrpSpPr/>
          <p:nvPr/>
        </p:nvGrpSpPr>
        <p:grpSpPr>
          <a:xfrm>
            <a:off x="6253237" y="2774928"/>
            <a:ext cx="762000" cy="565547"/>
            <a:chOff x="0" y="0"/>
            <a:chExt cx="640" cy="475"/>
          </a:xfrm>
        </p:grpSpPr>
        <p:sp>
          <p:nvSpPr>
            <p:cNvPr id="33799" name="Text Box 4"/>
            <p:cNvSpPr txBox="1"/>
            <p:nvPr/>
          </p:nvSpPr>
          <p:spPr>
            <a:xfrm>
              <a:off x="0" y="204"/>
              <a:ext cx="640" cy="271"/>
            </a:xfrm>
            <a:prstGeom prst="rect">
              <a:avLst/>
            </a:prstGeom>
            <a:noFill/>
            <a:ln w="9525">
              <a:noFill/>
            </a:ln>
          </p:spPr>
          <p:txBody>
            <a:bodyPr wrap="none" anchor="t" anchorCtr="0">
              <a:spAutoFit/>
            </a:bodyPr>
            <a:lstStyle/>
            <a:p>
              <a:pPr eaLnBrk="0" hangingPunct="0"/>
              <a:r>
                <a:rPr lang="zh-CN" altLang="en-US" sz="1500" dirty="0">
                  <a:latin typeface="Microsoft YaHei" panose="020B0503020204020204" pitchFamily="34" charset="-122"/>
                  <a:ea typeface="Microsoft YaHei" panose="020B0503020204020204" pitchFamily="34" charset="-122"/>
                </a:rPr>
                <a:t>演奏者</a:t>
              </a:r>
            </a:p>
          </p:txBody>
        </p:sp>
        <p:sp>
          <p:nvSpPr>
            <p:cNvPr id="33800" name="Line 5"/>
            <p:cNvSpPr/>
            <p:nvPr/>
          </p:nvSpPr>
          <p:spPr>
            <a:xfrm flipV="1">
              <a:off x="336" y="0"/>
              <a:ext cx="168" cy="240"/>
            </a:xfrm>
            <a:prstGeom prst="line">
              <a:avLst/>
            </a:prstGeom>
            <a:ln w="38100" cap="flat" cmpd="sng">
              <a:solidFill>
                <a:srgbClr val="FF0066"/>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grpSp>
        <p:nvGrpSpPr>
          <p:cNvPr id="33801" name="Group 6"/>
          <p:cNvGrpSpPr/>
          <p:nvPr/>
        </p:nvGrpSpPr>
        <p:grpSpPr>
          <a:xfrm>
            <a:off x="6894983" y="2814814"/>
            <a:ext cx="569120" cy="565547"/>
            <a:chOff x="0" y="0"/>
            <a:chExt cx="478" cy="475"/>
          </a:xfrm>
        </p:grpSpPr>
        <p:sp>
          <p:nvSpPr>
            <p:cNvPr id="33802" name="Text Box 7"/>
            <p:cNvSpPr txBox="1"/>
            <p:nvPr/>
          </p:nvSpPr>
          <p:spPr>
            <a:xfrm>
              <a:off x="0" y="204"/>
              <a:ext cx="478" cy="271"/>
            </a:xfrm>
            <a:prstGeom prst="rect">
              <a:avLst/>
            </a:prstGeom>
            <a:noFill/>
            <a:ln w="9525">
              <a:noFill/>
            </a:ln>
          </p:spPr>
          <p:txBody>
            <a:bodyPr wrap="none" anchor="t" anchorCtr="0">
              <a:spAutoFit/>
            </a:bodyPr>
            <a:lstStyle/>
            <a:p>
              <a:pPr eaLnBrk="0" hangingPunct="0"/>
              <a:r>
                <a:rPr lang="zh-CN" altLang="en-US" sz="1500" dirty="0">
                  <a:latin typeface="Microsoft YaHei" panose="020B0503020204020204" pitchFamily="34" charset="-122"/>
                  <a:ea typeface="Microsoft YaHei" panose="020B0503020204020204" pitchFamily="34" charset="-122"/>
                </a:rPr>
                <a:t>作品</a:t>
              </a:r>
            </a:p>
          </p:txBody>
        </p:sp>
        <p:sp>
          <p:nvSpPr>
            <p:cNvPr id="33803" name="Line 8"/>
            <p:cNvSpPr/>
            <p:nvPr/>
          </p:nvSpPr>
          <p:spPr>
            <a:xfrm flipV="1">
              <a:off x="202" y="0"/>
              <a:ext cx="72" cy="240"/>
            </a:xfrm>
            <a:prstGeom prst="line">
              <a:avLst/>
            </a:prstGeom>
            <a:ln w="38100" cap="flat" cmpd="sng">
              <a:solidFill>
                <a:srgbClr val="FF0066"/>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grpSp>
        <p:nvGrpSpPr>
          <p:cNvPr id="33804" name="Group 9"/>
          <p:cNvGrpSpPr/>
          <p:nvPr/>
        </p:nvGrpSpPr>
        <p:grpSpPr>
          <a:xfrm>
            <a:off x="7604596" y="2811838"/>
            <a:ext cx="569118" cy="566738"/>
            <a:chOff x="90" y="-48"/>
            <a:chExt cx="478" cy="476"/>
          </a:xfrm>
        </p:grpSpPr>
        <p:sp>
          <p:nvSpPr>
            <p:cNvPr id="33805" name="Text Box 10"/>
            <p:cNvSpPr txBox="1"/>
            <p:nvPr/>
          </p:nvSpPr>
          <p:spPr>
            <a:xfrm>
              <a:off x="90" y="157"/>
              <a:ext cx="478" cy="271"/>
            </a:xfrm>
            <a:prstGeom prst="rect">
              <a:avLst/>
            </a:prstGeom>
            <a:noFill/>
            <a:ln w="9525">
              <a:noFill/>
            </a:ln>
          </p:spPr>
          <p:txBody>
            <a:bodyPr wrap="none" anchor="t" anchorCtr="0">
              <a:spAutoFit/>
            </a:bodyPr>
            <a:lstStyle/>
            <a:p>
              <a:pPr eaLnBrk="0" hangingPunct="0"/>
              <a:r>
                <a:rPr lang="zh-CN" altLang="en-US" sz="1500" dirty="0">
                  <a:latin typeface="Microsoft YaHei" panose="020B0503020204020204" pitchFamily="34" charset="-122"/>
                  <a:ea typeface="Microsoft YaHei" panose="020B0503020204020204" pitchFamily="34" charset="-122"/>
                </a:rPr>
                <a:t>听众</a:t>
              </a:r>
            </a:p>
          </p:txBody>
        </p:sp>
        <p:sp>
          <p:nvSpPr>
            <p:cNvPr id="33806" name="Line 11"/>
            <p:cNvSpPr/>
            <p:nvPr/>
          </p:nvSpPr>
          <p:spPr>
            <a:xfrm flipH="1" flipV="1">
              <a:off x="90" y="-48"/>
              <a:ext cx="121" cy="240"/>
            </a:xfrm>
            <a:prstGeom prst="line">
              <a:avLst/>
            </a:prstGeom>
            <a:ln w="38100" cap="flat" cmpd="sng">
              <a:solidFill>
                <a:srgbClr val="FF0066"/>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grpSp>
      <p:sp>
        <p:nvSpPr>
          <p:cNvPr id="33807" name="Text Box 12"/>
          <p:cNvSpPr txBox="1"/>
          <p:nvPr/>
        </p:nvSpPr>
        <p:spPr>
          <a:xfrm>
            <a:off x="5468809" y="3424374"/>
            <a:ext cx="2472152" cy="323165"/>
          </a:xfrm>
          <a:prstGeom prst="rect">
            <a:avLst/>
          </a:prstGeom>
          <a:noFill/>
          <a:ln w="9525">
            <a:noFill/>
          </a:ln>
        </p:spPr>
        <p:txBody>
          <a:bodyPr wrap="none" anchor="t" anchorCtr="0">
            <a:spAutoFit/>
          </a:bodyPr>
          <a:lstStyle/>
          <a:p>
            <a:pPr eaLnBrk="0" hangingPunct="0"/>
            <a:r>
              <a:rPr lang="zh-CN" altLang="en-US" sz="1500" dirty="0">
                <a:latin typeface="Microsoft YaHei" panose="020B0503020204020204" pitchFamily="34" charset="-122"/>
                <a:ea typeface="Microsoft YaHei" panose="020B0503020204020204" pitchFamily="34" charset="-122"/>
              </a:rPr>
              <a:t>（</a:t>
            </a:r>
            <a:r>
              <a:rPr lang="en-US" altLang="zh-CN" sz="1500" dirty="0">
                <a:latin typeface="Microsoft YaHei" panose="020B0503020204020204" pitchFamily="34" charset="-122"/>
                <a:ea typeface="Microsoft YaHei" panose="020B0503020204020204" pitchFamily="34" charset="-122"/>
              </a:rPr>
              <a:t>P</a:t>
            </a:r>
            <a:r>
              <a:rPr lang="zh-CN" altLang="en-US" sz="1500" dirty="0">
                <a:latin typeface="Microsoft YaHei" panose="020B0503020204020204" pitchFamily="34" charset="-122"/>
                <a:ea typeface="Microsoft YaHei" panose="020B0503020204020204" pitchFamily="34" charset="-122"/>
              </a:rPr>
              <a:t>，</a:t>
            </a:r>
            <a:r>
              <a:rPr lang="en-US" altLang="zh-CN" sz="1500" dirty="0">
                <a:latin typeface="Microsoft YaHei" panose="020B0503020204020204" pitchFamily="34" charset="-122"/>
                <a:ea typeface="Microsoft YaHei" panose="020B0503020204020204" pitchFamily="34" charset="-122"/>
              </a:rPr>
              <a:t>W</a:t>
            </a:r>
            <a:r>
              <a:rPr lang="zh-CN" altLang="en-US" sz="1500" dirty="0">
                <a:latin typeface="Microsoft YaHei" panose="020B0503020204020204" pitchFamily="34" charset="-122"/>
                <a:ea typeface="Microsoft YaHei" panose="020B0503020204020204" pitchFamily="34" charset="-122"/>
              </a:rPr>
              <a:t>，</a:t>
            </a:r>
            <a:r>
              <a:rPr lang="en-US" altLang="zh-CN" sz="1500" dirty="0">
                <a:latin typeface="Microsoft YaHei" panose="020B0503020204020204" pitchFamily="34" charset="-122"/>
                <a:ea typeface="Microsoft YaHei" panose="020B0503020204020204" pitchFamily="34" charset="-122"/>
              </a:rPr>
              <a:t>A</a:t>
            </a:r>
            <a:r>
              <a:rPr lang="zh-CN" altLang="en-US" sz="1500" dirty="0">
                <a:latin typeface="Microsoft YaHei" panose="020B0503020204020204" pitchFamily="34" charset="-122"/>
                <a:ea typeface="Microsoft YaHei" panose="020B0503020204020204" pitchFamily="34" charset="-122"/>
              </a:rPr>
              <a:t>）是</a:t>
            </a:r>
            <a:r>
              <a:rPr lang="en-US" altLang="zh-CN" sz="1500" dirty="0">
                <a:latin typeface="Microsoft YaHei" panose="020B0503020204020204" pitchFamily="34" charset="-122"/>
                <a:ea typeface="Microsoft YaHei" panose="020B0503020204020204" pitchFamily="34" charset="-122"/>
              </a:rPr>
              <a:t>R</a:t>
            </a:r>
            <a:r>
              <a:rPr lang="zh-CN" altLang="en-US" sz="1500" dirty="0">
                <a:latin typeface="Microsoft YaHei" panose="020B0503020204020204" pitchFamily="34" charset="-122"/>
                <a:ea typeface="Microsoft YaHei" panose="020B0503020204020204" pitchFamily="34" charset="-122"/>
              </a:rPr>
              <a:t>的全键。</a:t>
            </a:r>
          </a:p>
        </p:txBody>
      </p:sp>
      <p:sp>
        <p:nvSpPr>
          <p:cNvPr id="33808" name="Text Box 13"/>
          <p:cNvSpPr txBox="1"/>
          <p:nvPr/>
        </p:nvSpPr>
        <p:spPr>
          <a:xfrm>
            <a:off x="4572000" y="3905640"/>
            <a:ext cx="4265771" cy="848678"/>
          </a:xfrm>
          <a:prstGeom prst="rect">
            <a:avLst/>
          </a:prstGeom>
          <a:solidFill>
            <a:schemeClr val="accent1"/>
          </a:solidFill>
          <a:ln w="9525">
            <a:noFill/>
          </a:ln>
        </p:spPr>
        <p:txBody>
          <a:bodyPr wrap="square" anchor="t" anchorCtr="0">
            <a:noAutofit/>
          </a:bodyPr>
          <a:lstStyle/>
          <a:p>
            <a:pPr eaLnBrk="0" hangingPunct="0"/>
            <a:r>
              <a:rPr lang="zh-CN" altLang="en-US" sz="1500" b="1" dirty="0">
                <a:solidFill>
                  <a:srgbClr val="C00000"/>
                </a:solidFill>
                <a:latin typeface="Microsoft YaHei" panose="020B0503020204020204" pitchFamily="34" charset="-122"/>
                <a:ea typeface="Microsoft YaHei" panose="020B0503020204020204" pitchFamily="34" charset="-122"/>
              </a:rPr>
              <a:t>注意：</a:t>
            </a:r>
          </a:p>
          <a:p>
            <a:pPr eaLnBrk="0" hangingPunct="0">
              <a:lnSpc>
                <a:spcPct val="130000"/>
              </a:lnSpc>
            </a:pPr>
            <a:r>
              <a:rPr lang="zh-CN" altLang="en-US" sz="1500" dirty="0">
                <a:solidFill>
                  <a:schemeClr val="bg1"/>
                </a:solidFill>
                <a:latin typeface="Microsoft YaHei" panose="020B0503020204020204" pitchFamily="34" charset="-122"/>
                <a:ea typeface="Microsoft YaHei" panose="020B0503020204020204" pitchFamily="34" charset="-122"/>
              </a:rPr>
              <a:t>    一般来讲，全键是没有什么实际意义的。主键包含的属性应尽可能少为好。</a:t>
            </a:r>
          </a:p>
        </p:txBody>
      </p:sp>
      <p:sp>
        <p:nvSpPr>
          <p:cNvPr id="3" name="标题 2">
            <a:extLst>
              <a:ext uri="{FF2B5EF4-FFF2-40B4-BE49-F238E27FC236}">
                <a16:creationId xmlns:a16="http://schemas.microsoft.com/office/drawing/2014/main" id="{6A3F04E7-6DC9-7A7A-AC18-58F958BA12F9}"/>
              </a:ext>
            </a:extLst>
          </p:cNvPr>
          <p:cNvSpPr>
            <a:spLocks noGrp="1"/>
          </p:cNvSpPr>
          <p:nvPr>
            <p:ph type="title"/>
          </p:nvPr>
        </p:nvSpPr>
        <p:spPr/>
        <p:txBody>
          <a:bodyPr/>
          <a:lstStyle/>
          <a:p>
            <a:r>
              <a:rPr lang="zh-CN" altLang="en-US" dirty="0"/>
              <a:t>函数依赖与键</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580" name="表格 24579"/>
          <p:cNvGraphicFramePr/>
          <p:nvPr>
            <p:extLst>
              <p:ext uri="{D42A27DB-BD31-4B8C-83A1-F6EECF244321}">
                <p14:modId xmlns:p14="http://schemas.microsoft.com/office/powerpoint/2010/main" val="519270126"/>
              </p:ext>
            </p:extLst>
          </p:nvPr>
        </p:nvGraphicFramePr>
        <p:xfrm>
          <a:off x="1485900" y="2105972"/>
          <a:ext cx="2007394" cy="1752601"/>
        </p:xfrm>
        <a:graphic>
          <a:graphicData uri="http://schemas.openxmlformats.org/drawingml/2006/table">
            <a:tbl>
              <a:tblPr/>
              <a:tblGrid>
                <a:gridCol w="597694">
                  <a:extLst>
                    <a:ext uri="{9D8B030D-6E8A-4147-A177-3AD203B41FA5}">
                      <a16:colId xmlns:a16="http://schemas.microsoft.com/office/drawing/2014/main" val="20000"/>
                    </a:ext>
                  </a:extLst>
                </a:gridCol>
                <a:gridCol w="704850">
                  <a:extLst>
                    <a:ext uri="{9D8B030D-6E8A-4147-A177-3AD203B41FA5}">
                      <a16:colId xmlns:a16="http://schemas.microsoft.com/office/drawing/2014/main" val="20001"/>
                    </a:ext>
                  </a:extLst>
                </a:gridCol>
                <a:gridCol w="704850">
                  <a:extLst>
                    <a:ext uri="{9D8B030D-6E8A-4147-A177-3AD203B41FA5}">
                      <a16:colId xmlns:a16="http://schemas.microsoft.com/office/drawing/2014/main" val="20002"/>
                    </a:ext>
                  </a:extLst>
                </a:gridCol>
              </a:tblGrid>
              <a:tr h="350044">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b="0" dirty="0">
                          <a:latin typeface="Microsoft YaHei" panose="020B0503020204020204" pitchFamily="34" charset="-122"/>
                          <a:ea typeface="Microsoft YaHei" panose="020B0503020204020204" pitchFamily="34" charset="-122"/>
                        </a:rPr>
                        <a:t>A</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b="0" dirty="0">
                          <a:latin typeface="Microsoft YaHei" panose="020B0503020204020204" pitchFamily="34" charset="-122"/>
                          <a:ea typeface="Microsoft YaHei" panose="020B0503020204020204" pitchFamily="34" charset="-122"/>
                        </a:rPr>
                        <a:t>D</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b="0" dirty="0">
                          <a:latin typeface="Microsoft YaHei" panose="020B0503020204020204" pitchFamily="34" charset="-122"/>
                          <a:ea typeface="Microsoft YaHei" panose="020B0503020204020204" pitchFamily="34" charset="-122"/>
                        </a:rPr>
                        <a:t>E</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1235">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b="0" dirty="0">
                          <a:latin typeface="Microsoft YaHei" panose="020B0503020204020204" pitchFamily="34" charset="-122"/>
                          <a:ea typeface="Microsoft YaHei" panose="020B0503020204020204" pitchFamily="34" charset="-122"/>
                        </a:rPr>
                        <a:t>a1</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b="0" dirty="0">
                          <a:latin typeface="Microsoft YaHei" panose="020B0503020204020204" pitchFamily="34" charset="-122"/>
                          <a:ea typeface="Microsoft YaHei" panose="020B0503020204020204" pitchFamily="34" charset="-122"/>
                        </a:rPr>
                        <a:t>d1</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b="0" dirty="0">
                          <a:latin typeface="Microsoft YaHei" panose="020B0503020204020204" pitchFamily="34" charset="-122"/>
                          <a:ea typeface="Microsoft YaHei" panose="020B0503020204020204" pitchFamily="34" charset="-122"/>
                        </a:rPr>
                        <a:t>e2</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044">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b="0" dirty="0">
                          <a:latin typeface="Microsoft YaHei" panose="020B0503020204020204" pitchFamily="34" charset="-122"/>
                          <a:ea typeface="Microsoft YaHei" panose="020B0503020204020204" pitchFamily="34" charset="-122"/>
                        </a:rPr>
                        <a:t>a2</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b="0" dirty="0">
                          <a:latin typeface="Microsoft YaHei" panose="020B0503020204020204" pitchFamily="34" charset="-122"/>
                          <a:ea typeface="Microsoft YaHei" panose="020B0503020204020204" pitchFamily="34" charset="-122"/>
                        </a:rPr>
                        <a:t>d6</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b="0" dirty="0">
                          <a:latin typeface="Microsoft YaHei" panose="020B0503020204020204" pitchFamily="34" charset="-122"/>
                          <a:ea typeface="Microsoft YaHei" panose="020B0503020204020204" pitchFamily="34" charset="-122"/>
                        </a:rPr>
                        <a:t>e2</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1234">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b="0" dirty="0">
                          <a:latin typeface="Microsoft YaHei" panose="020B0503020204020204" pitchFamily="34" charset="-122"/>
                          <a:ea typeface="Microsoft YaHei" panose="020B0503020204020204" pitchFamily="34" charset="-122"/>
                        </a:rPr>
                        <a:t>a3</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b="0" dirty="0">
                          <a:latin typeface="Microsoft YaHei" panose="020B0503020204020204" pitchFamily="34" charset="-122"/>
                          <a:ea typeface="Microsoft YaHei" panose="020B0503020204020204" pitchFamily="34" charset="-122"/>
                        </a:rPr>
                        <a:t>d4</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b="0" dirty="0">
                          <a:latin typeface="Microsoft YaHei" panose="020B0503020204020204" pitchFamily="34" charset="-122"/>
                          <a:ea typeface="Microsoft YaHei" panose="020B0503020204020204" pitchFamily="34" charset="-122"/>
                        </a:rPr>
                        <a:t>e3</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0044">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b="0" dirty="0">
                          <a:latin typeface="Microsoft YaHei" panose="020B0503020204020204" pitchFamily="34" charset="-122"/>
                          <a:ea typeface="Microsoft YaHei" panose="020B0503020204020204" pitchFamily="34" charset="-122"/>
                        </a:rPr>
                        <a:t>a4</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b="0" dirty="0">
                          <a:latin typeface="Microsoft YaHei" panose="020B0503020204020204" pitchFamily="34" charset="-122"/>
                          <a:ea typeface="Microsoft YaHei" panose="020B0503020204020204" pitchFamily="34" charset="-122"/>
                        </a:rPr>
                        <a:t>d4</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b="0" dirty="0">
                          <a:latin typeface="Microsoft YaHei" panose="020B0503020204020204" pitchFamily="34" charset="-122"/>
                          <a:ea typeface="Microsoft YaHei" panose="020B0503020204020204" pitchFamily="34" charset="-122"/>
                        </a:rPr>
                        <a:t>e4</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3821" name="Text Box 30"/>
          <p:cNvSpPr txBox="1"/>
          <p:nvPr/>
        </p:nvSpPr>
        <p:spPr>
          <a:xfrm>
            <a:off x="4479011" y="2683144"/>
            <a:ext cx="4401518" cy="1200329"/>
          </a:xfrm>
          <a:prstGeom prst="rect">
            <a:avLst/>
          </a:prstGeom>
          <a:noFill/>
          <a:ln w="9525">
            <a:noFill/>
          </a:ln>
        </p:spPr>
        <p:txBody>
          <a:bodyPr wrap="square" anchor="t" anchorCtr="0">
            <a:spAutoFit/>
          </a:bodyPr>
          <a:lstStyle/>
          <a:p>
            <a:pPr>
              <a:spcBef>
                <a:spcPct val="50000"/>
              </a:spcBef>
            </a:pPr>
            <a:r>
              <a:rPr lang="en-US" altLang="zh-CN" dirty="0">
                <a:solidFill>
                  <a:srgbClr val="467886"/>
                </a:solidFill>
                <a:latin typeface="Microsoft YaHei" panose="020B0503020204020204" pitchFamily="34" charset="-122"/>
                <a:ea typeface="Microsoft YaHei" panose="020B0503020204020204" pitchFamily="34" charset="-122"/>
              </a:rPr>
              <a:t>【</a:t>
            </a:r>
            <a:r>
              <a:rPr lang="zh-CN" altLang="en-US" dirty="0">
                <a:solidFill>
                  <a:srgbClr val="467886"/>
                </a:solidFill>
                <a:latin typeface="Microsoft YaHei" panose="020B0503020204020204" pitchFamily="34" charset="-122"/>
                <a:ea typeface="Microsoft YaHei" panose="020B0503020204020204" pitchFamily="34" charset="-122"/>
              </a:rPr>
              <a:t>解</a:t>
            </a:r>
            <a:r>
              <a:rPr lang="en-US" altLang="zh-CN" dirty="0">
                <a:solidFill>
                  <a:srgbClr val="467886"/>
                </a:solidFill>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关系R的</a:t>
            </a:r>
            <a:r>
              <a:rPr lang="zh-CN" altLang="en-US" dirty="0">
                <a:solidFill>
                  <a:schemeClr val="hlink"/>
                </a:solidFill>
                <a:latin typeface="Microsoft YaHei" panose="020B0503020204020204" pitchFamily="34" charset="-122"/>
                <a:ea typeface="Microsoft YaHei" panose="020B0503020204020204" pitchFamily="34" charset="-122"/>
              </a:rPr>
              <a:t>侯选键</a:t>
            </a:r>
            <a:r>
              <a:rPr lang="zh-CN" altLang="en-US" dirty="0">
                <a:latin typeface="Microsoft YaHei" panose="020B0503020204020204" pitchFamily="34" charset="-122"/>
                <a:ea typeface="Microsoft YaHei" panose="020B0503020204020204" pitchFamily="34" charset="-122"/>
              </a:rPr>
              <a:t>为：A、(D,E)</a:t>
            </a:r>
          </a:p>
          <a:p>
            <a:pPr algn="just">
              <a:spcBef>
                <a:spcPct val="50000"/>
              </a:spcBef>
            </a:pPr>
            <a:r>
              <a:rPr lang="zh-CN" altLang="en-US" dirty="0">
                <a:latin typeface="Microsoft YaHei" panose="020B0503020204020204" pitchFamily="34" charset="-122"/>
                <a:ea typeface="Microsoft YaHei" panose="020B0503020204020204" pitchFamily="34" charset="-122"/>
              </a:rPr>
              <a:t>    关系R的</a:t>
            </a:r>
            <a:r>
              <a:rPr lang="zh-CN" altLang="en-US" dirty="0">
                <a:solidFill>
                  <a:schemeClr val="hlink"/>
                </a:solidFill>
                <a:latin typeface="Microsoft YaHei" panose="020B0503020204020204" pitchFamily="34" charset="-122"/>
                <a:ea typeface="Microsoft YaHei" panose="020B0503020204020204" pitchFamily="34" charset="-122"/>
              </a:rPr>
              <a:t>主属性</a:t>
            </a:r>
            <a:r>
              <a:rPr lang="zh-CN" altLang="en-US" dirty="0">
                <a:latin typeface="Microsoft YaHei" panose="020B0503020204020204" pitchFamily="34" charset="-122"/>
                <a:ea typeface="Microsoft YaHei" panose="020B0503020204020204" pitchFamily="34" charset="-122"/>
              </a:rPr>
              <a:t>为：A，D，E</a:t>
            </a:r>
          </a:p>
          <a:p>
            <a:pPr algn="just">
              <a:spcBef>
                <a:spcPct val="50000"/>
              </a:spcBef>
            </a:pPr>
            <a:r>
              <a:rPr lang="zh-CN" altLang="en-US" dirty="0">
                <a:latin typeface="Microsoft YaHei" panose="020B0503020204020204" pitchFamily="34" charset="-122"/>
                <a:ea typeface="Microsoft YaHei" panose="020B0503020204020204" pitchFamily="34" charset="-122"/>
              </a:rPr>
              <a:t>    关系R的</a:t>
            </a:r>
            <a:r>
              <a:rPr lang="zh-CN" altLang="en-US" dirty="0">
                <a:solidFill>
                  <a:schemeClr val="hlink"/>
                </a:solidFill>
                <a:latin typeface="Microsoft YaHei" panose="020B0503020204020204" pitchFamily="34" charset="-122"/>
                <a:ea typeface="Microsoft YaHei" panose="020B0503020204020204" pitchFamily="34" charset="-122"/>
              </a:rPr>
              <a:t>非主属性</a:t>
            </a:r>
            <a:r>
              <a:rPr lang="zh-CN" altLang="en-US" dirty="0">
                <a:latin typeface="Microsoft YaHei" panose="020B0503020204020204" pitchFamily="34" charset="-122"/>
                <a:ea typeface="Microsoft YaHei" panose="020B0503020204020204" pitchFamily="34" charset="-122"/>
              </a:rPr>
              <a:t>：无  </a:t>
            </a:r>
            <a:r>
              <a:rPr lang="zh-CN" altLang="en-US" sz="1350" dirty="0">
                <a:latin typeface="Microsoft YaHei" panose="020B0503020204020204" pitchFamily="34" charset="-122"/>
                <a:ea typeface="Microsoft YaHei" panose="020B0503020204020204" pitchFamily="34" charset="-122"/>
              </a:rPr>
              <a:t>                           </a:t>
            </a:r>
          </a:p>
        </p:txBody>
      </p:sp>
      <p:sp>
        <p:nvSpPr>
          <p:cNvPr id="2" name="Rectangle 3"/>
          <p:cNvSpPr>
            <a:spLocks noGrp="1"/>
          </p:cNvSpPr>
          <p:nvPr>
            <p:custDataLst>
              <p:tags r:id="rId1"/>
            </p:custDataLst>
          </p:nvPr>
        </p:nvSpPr>
        <p:spPr>
          <a:xfrm>
            <a:off x="636383" y="1317356"/>
            <a:ext cx="7886700" cy="3329834"/>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eaLnBrk="1" hangingPunct="1">
              <a:buNone/>
            </a:pPr>
            <a:r>
              <a:rPr lang="en-US" altLang="zh-CN" sz="1800" b="1" dirty="0">
                <a:solidFill>
                  <a:schemeClr val="hlink"/>
                </a:solidFill>
                <a:latin typeface="Microsoft YaHei" panose="020B0503020204020204" pitchFamily="34" charset="-122"/>
                <a:ea typeface="Microsoft YaHei" panose="020B0503020204020204" pitchFamily="34" charset="-122"/>
              </a:rPr>
              <a:t>【</a:t>
            </a:r>
            <a:r>
              <a:rPr lang="zh-CN" altLang="en-US" sz="1800" b="1" dirty="0">
                <a:solidFill>
                  <a:schemeClr val="hlink"/>
                </a:solidFill>
                <a:latin typeface="Microsoft YaHei" panose="020B0503020204020204" pitchFamily="34" charset="-122"/>
                <a:ea typeface="Microsoft YaHei" panose="020B0503020204020204" pitchFamily="34" charset="-122"/>
              </a:rPr>
              <a:t>例</a:t>
            </a:r>
            <a:r>
              <a:rPr lang="en-US" altLang="zh-CN" sz="1800" b="1" dirty="0">
                <a:solidFill>
                  <a:schemeClr val="hlink"/>
                </a:solidFill>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试指出下列关系R中的侯选键、主属性和非主属性。</a:t>
            </a:r>
          </a:p>
          <a:p>
            <a:pPr eaLnBrk="1" hangingPunct="1">
              <a:buNone/>
            </a:pPr>
            <a:r>
              <a:rPr lang="zh-CN" altLang="en-US" sz="1800" b="1" dirty="0">
                <a:latin typeface="Microsoft YaHei" panose="020B0503020204020204" pitchFamily="34" charset="-122"/>
                <a:ea typeface="Microsoft YaHei" panose="020B0503020204020204" pitchFamily="34" charset="-122"/>
              </a:rPr>
              <a:t> </a:t>
            </a:r>
          </a:p>
        </p:txBody>
      </p:sp>
      <p:sp>
        <p:nvSpPr>
          <p:cNvPr id="5" name="标题 4">
            <a:extLst>
              <a:ext uri="{FF2B5EF4-FFF2-40B4-BE49-F238E27FC236}">
                <a16:creationId xmlns:a16="http://schemas.microsoft.com/office/drawing/2014/main" id="{93E1E7F8-21B7-52C3-6587-E0BB629A550E}"/>
              </a:ext>
            </a:extLst>
          </p:cNvPr>
          <p:cNvSpPr>
            <a:spLocks noGrp="1"/>
          </p:cNvSpPr>
          <p:nvPr>
            <p:ph type="title"/>
          </p:nvPr>
        </p:nvSpPr>
        <p:spPr/>
        <p:txBody>
          <a:bodyPr/>
          <a:lstStyle/>
          <a:p>
            <a:r>
              <a:rPr lang="zh-CN" altLang="en-US" dirty="0"/>
              <a:t>键的实例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821"/>
                                        </p:tgtEl>
                                        <p:attrNameLst>
                                          <p:attrName>style.visibility</p:attrName>
                                        </p:attrNameLst>
                                      </p:cBhvr>
                                      <p:to>
                                        <p:strVal val="visible"/>
                                      </p:to>
                                    </p:set>
                                    <p:anim calcmode="lin" valueType="num">
                                      <p:cBhvr additive="base">
                                        <p:cTn id="7" dur="500" fill="hold"/>
                                        <p:tgtEl>
                                          <p:spTgt spid="33821"/>
                                        </p:tgtEl>
                                        <p:attrNameLst>
                                          <p:attrName>ppt_x</p:attrName>
                                        </p:attrNameLst>
                                      </p:cBhvr>
                                      <p:tavLst>
                                        <p:tav tm="0">
                                          <p:val>
                                            <p:strVal val="#ppt_x"/>
                                          </p:val>
                                        </p:tav>
                                        <p:tav tm="100000">
                                          <p:val>
                                            <p:strVal val="#ppt_x"/>
                                          </p:val>
                                        </p:tav>
                                      </p:tavLst>
                                    </p:anim>
                                    <p:anim calcmode="lin" valueType="num">
                                      <p:cBhvr additive="base">
                                        <p:cTn id="8" dur="500" fill="hold"/>
                                        <p:tgtEl>
                                          <p:spTgt spid="338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2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p:cNvSpPr>
          <p:nvPr>
            <p:ph idx="1"/>
          </p:nvPr>
        </p:nvSpPr>
        <p:spPr>
          <a:xfrm>
            <a:off x="4200040" y="1356102"/>
            <a:ext cx="4943959" cy="3291088"/>
          </a:xfrm>
        </p:spPr>
        <p:txBody>
          <a:bodyPr vert="horz" wrap="square" lIns="68580" tIns="34290" rIns="68580" bIns="34290" anchor="t" anchorCtr="0">
            <a:normAutofit fontScale="92500"/>
          </a:bodyPr>
          <a:lstStyle/>
          <a:p>
            <a:pPr marL="0" indent="-257175" defTabSz="685800" fontAlgn="base">
              <a:lnSpc>
                <a:spcPct val="110000"/>
              </a:lnSpc>
              <a:spcBef>
                <a:spcPct val="20000"/>
              </a:spcBef>
              <a:spcAft>
                <a:spcPct val="0"/>
              </a:spcAft>
              <a:buClr>
                <a:schemeClr val="folHlink"/>
              </a:buClr>
              <a:buSzPct val="60000"/>
              <a:buFont typeface="Wingdings" panose="05000000000000000000" pitchFamily="2" charset="2"/>
              <a:buChar char="n"/>
            </a:pPr>
            <a:r>
              <a:rPr lang="zh-CN" altLang="en-US" sz="1800" b="1" kern="0" noProof="1">
                <a:solidFill>
                  <a:schemeClr val="folHlink"/>
                </a:solidFill>
              </a:rPr>
              <a:t>目的</a:t>
            </a:r>
            <a:endParaRPr lang="en-US" altLang="zh-CN" sz="1800" b="1" kern="0" noProof="1">
              <a:solidFill>
                <a:schemeClr val="folHlink"/>
              </a:solidFill>
            </a:endParaRPr>
          </a:p>
          <a:p>
            <a:pPr marL="0" indent="0" defTabSz="685800" fontAlgn="base">
              <a:lnSpc>
                <a:spcPct val="100000"/>
              </a:lnSpc>
              <a:spcBef>
                <a:spcPct val="20000"/>
              </a:spcBef>
              <a:spcAft>
                <a:spcPct val="0"/>
              </a:spcAft>
              <a:buClr>
                <a:schemeClr val="folHlink"/>
              </a:buClr>
              <a:buSzPct val="60000"/>
              <a:buNone/>
            </a:pPr>
            <a:r>
              <a:rPr lang="en-US" altLang="zh-CN" sz="1800" b="1" kern="0" noProof="1">
                <a:solidFill>
                  <a:schemeClr val="folHlink"/>
                </a:solidFill>
              </a:rPr>
              <a:t>   </a:t>
            </a:r>
            <a:r>
              <a:rPr lang="zh-CN" altLang="en-US" sz="1500" kern="0" noProof="1"/>
              <a:t>为了使数据库设计的方法走向完备，人们研究了规范化理论。</a:t>
            </a:r>
            <a:endParaRPr lang="en-US" altLang="zh-CN" sz="1500" kern="0" noProof="1"/>
          </a:p>
          <a:p>
            <a:pPr marL="0" indent="-257175" defTabSz="685800" fontAlgn="base">
              <a:lnSpc>
                <a:spcPct val="110000"/>
              </a:lnSpc>
              <a:spcBef>
                <a:spcPct val="20000"/>
              </a:spcBef>
              <a:spcAft>
                <a:spcPct val="0"/>
              </a:spcAft>
              <a:buClr>
                <a:schemeClr val="folHlink"/>
              </a:buClr>
              <a:buSzPct val="60000"/>
              <a:buFont typeface="Wingdings" panose="05000000000000000000" pitchFamily="2" charset="2"/>
              <a:buChar char="n"/>
            </a:pPr>
            <a:r>
              <a:rPr lang="zh-CN" altLang="en-US" sz="1800" b="1" kern="0" noProof="1">
                <a:solidFill>
                  <a:schemeClr val="folHlink"/>
                </a:solidFill>
              </a:rPr>
              <a:t>范式</a:t>
            </a:r>
          </a:p>
          <a:p>
            <a:pPr marL="0" indent="0" defTabSz="685800" fontAlgn="base">
              <a:lnSpc>
                <a:spcPct val="100000"/>
              </a:lnSpc>
              <a:spcBef>
                <a:spcPct val="20000"/>
              </a:spcBef>
              <a:spcAft>
                <a:spcPct val="0"/>
              </a:spcAft>
              <a:buClr>
                <a:schemeClr val="folHlink"/>
              </a:buClr>
              <a:buSzPct val="60000"/>
              <a:buNone/>
            </a:pPr>
            <a:r>
              <a:rPr lang="zh-CN" altLang="en-US" sz="1500" kern="0" noProof="1"/>
              <a:t>   在关系数据库中，将满足不同要求的关系等级称为</a:t>
            </a:r>
            <a:r>
              <a:rPr lang="zh-CN" altLang="en-US" sz="1500" kern="0" noProof="1">
                <a:solidFill>
                  <a:srgbClr val="FF0000"/>
                </a:solidFill>
              </a:rPr>
              <a:t>范式</a:t>
            </a:r>
            <a:r>
              <a:rPr lang="zh-CN" altLang="en-US" sz="1500" kern="0" noProof="1"/>
              <a:t>。</a:t>
            </a:r>
          </a:p>
          <a:p>
            <a:pPr marL="0" indent="0" defTabSz="685800" fontAlgn="base">
              <a:lnSpc>
                <a:spcPct val="100000"/>
              </a:lnSpc>
              <a:spcBef>
                <a:spcPct val="20000"/>
              </a:spcBef>
              <a:spcAft>
                <a:spcPct val="0"/>
              </a:spcAft>
              <a:buClr>
                <a:schemeClr val="folHlink"/>
              </a:buClr>
              <a:buSzPct val="60000"/>
              <a:buNone/>
            </a:pPr>
            <a:r>
              <a:rPr lang="en-US" altLang="zh-CN" sz="1500" kern="0" noProof="1">
                <a:solidFill>
                  <a:schemeClr val="hlink"/>
                </a:solidFill>
              </a:rPr>
              <a:t>   </a:t>
            </a:r>
            <a:r>
              <a:rPr lang="zh-CN" altLang="en-US" sz="1500" kern="0" noProof="1"/>
              <a:t>关系符合某个范式，是指该关系满足某些确定的约束条件，从而具有一定的性质。</a:t>
            </a:r>
            <a:endParaRPr lang="en-US" altLang="zh-CN" sz="1500" kern="0" noProof="1"/>
          </a:p>
          <a:p>
            <a:pPr marL="0" indent="0" defTabSz="685800" fontAlgn="base">
              <a:lnSpc>
                <a:spcPct val="100000"/>
              </a:lnSpc>
              <a:spcBef>
                <a:spcPct val="20000"/>
              </a:spcBef>
              <a:spcAft>
                <a:spcPct val="0"/>
              </a:spcAft>
              <a:buClr>
                <a:schemeClr val="folHlink"/>
              </a:buClr>
              <a:buSzPct val="60000"/>
              <a:buNone/>
            </a:pPr>
            <a:r>
              <a:rPr lang="en-US" altLang="zh-CN" sz="1500" kern="0" noProof="1"/>
              <a:t>   </a:t>
            </a:r>
            <a:r>
              <a:rPr lang="zh-CN" altLang="en-US" sz="1500" kern="0" noProof="1"/>
              <a:t>可将范式这个概念理解成符合某一级别的关系模式的集合，则</a:t>
            </a:r>
            <a:r>
              <a:rPr lang="en-US" altLang="zh-CN" sz="1500" kern="0" noProof="1"/>
              <a:t>R</a:t>
            </a:r>
            <a:r>
              <a:rPr lang="zh-CN" altLang="en-US" sz="1500" kern="0" noProof="1"/>
              <a:t>为几范式就可以写成</a:t>
            </a:r>
            <a:r>
              <a:rPr lang="en-US" altLang="zh-CN" sz="1500" kern="0" noProof="1"/>
              <a:t>R</a:t>
            </a:r>
            <a:r>
              <a:rPr lang="zh-CN" altLang="en-US" sz="1500" kern="0" noProof="1"/>
              <a:t> ∈</a:t>
            </a:r>
            <a:r>
              <a:rPr lang="en-US" altLang="zh-CN" sz="1500" kern="0" noProof="1"/>
              <a:t>x</a:t>
            </a:r>
            <a:r>
              <a:rPr lang="zh-CN" altLang="en-US" sz="1500" kern="0" noProof="1"/>
              <a:t>NF。</a:t>
            </a:r>
          </a:p>
          <a:p>
            <a:pPr marL="0" indent="-257175" defTabSz="685800" fontAlgn="base">
              <a:lnSpc>
                <a:spcPct val="100000"/>
              </a:lnSpc>
              <a:spcBef>
                <a:spcPct val="20000"/>
              </a:spcBef>
              <a:spcAft>
                <a:spcPct val="0"/>
              </a:spcAft>
              <a:buClr>
                <a:schemeClr val="folHlink"/>
              </a:buClr>
              <a:buSzPct val="60000"/>
              <a:buFont typeface="Wingdings" panose="05000000000000000000" pitchFamily="2" charset="2"/>
              <a:buChar char="n"/>
            </a:pPr>
            <a:r>
              <a:rPr lang="zh-CN" altLang="en-US" sz="1800" b="1" kern="0" noProof="1">
                <a:solidFill>
                  <a:schemeClr val="folHlink"/>
                </a:solidFill>
                <a:sym typeface="+mn-ea"/>
              </a:rPr>
              <a:t>规范化</a:t>
            </a:r>
            <a:endParaRPr lang="zh-CN" altLang="en-US" sz="1800" b="1" kern="0" noProof="1">
              <a:solidFill>
                <a:schemeClr val="folHlink"/>
              </a:solidFill>
            </a:endParaRPr>
          </a:p>
          <a:p>
            <a:pPr marL="0" indent="0" defTabSz="685800" fontAlgn="base">
              <a:lnSpc>
                <a:spcPct val="100000"/>
              </a:lnSpc>
              <a:spcBef>
                <a:spcPct val="20000"/>
              </a:spcBef>
              <a:spcAft>
                <a:spcPct val="0"/>
              </a:spcAft>
              <a:buClr>
                <a:schemeClr val="folHlink"/>
              </a:buClr>
              <a:buSzPct val="60000"/>
              <a:buNone/>
            </a:pPr>
            <a:r>
              <a:rPr lang="zh-CN" altLang="en-US" sz="1500" b="1" kern="0" noProof="1">
                <a:sym typeface="+mn-ea"/>
              </a:rPr>
              <a:t>   </a:t>
            </a:r>
            <a:r>
              <a:rPr lang="zh-CN" altLang="en-US" sz="1500" kern="0" noProof="1">
                <a:sym typeface="+mn-ea"/>
              </a:rPr>
              <a:t>把一个低一级范式的关系模式通过模式分解转化为若干个高一级的关系模式的过程。</a:t>
            </a:r>
            <a:endParaRPr lang="zh-CN" altLang="en-US" sz="1500" kern="0" noProof="1"/>
          </a:p>
          <a:p>
            <a:pPr marL="0" indent="0" defTabSz="685800" fontAlgn="base">
              <a:lnSpc>
                <a:spcPct val="100000"/>
              </a:lnSpc>
              <a:spcBef>
                <a:spcPct val="20000"/>
              </a:spcBef>
              <a:spcAft>
                <a:spcPct val="0"/>
              </a:spcAft>
              <a:buClr>
                <a:schemeClr val="folHlink"/>
              </a:buClr>
              <a:buSzPct val="60000"/>
              <a:buNone/>
            </a:pPr>
            <a:endParaRPr lang="zh-CN" altLang="en-US" sz="1500" b="1" kern="0" noProof="1"/>
          </a:p>
          <a:p>
            <a:pPr marL="0" indent="0" defTabSz="685800" fontAlgn="base">
              <a:lnSpc>
                <a:spcPct val="100000"/>
              </a:lnSpc>
              <a:spcBef>
                <a:spcPct val="20000"/>
              </a:spcBef>
              <a:spcAft>
                <a:spcPct val="0"/>
              </a:spcAft>
              <a:buClr>
                <a:schemeClr val="folHlink"/>
              </a:buClr>
              <a:buSzPct val="60000"/>
              <a:buNone/>
            </a:pPr>
            <a:endParaRPr lang="zh-CN" altLang="en-US" sz="1500" b="1" kern="0" noProof="1"/>
          </a:p>
        </p:txBody>
      </p:sp>
      <p:sp>
        <p:nvSpPr>
          <p:cNvPr id="35843" name="Text Box 2"/>
          <p:cNvSpPr txBox="1"/>
          <p:nvPr/>
        </p:nvSpPr>
        <p:spPr>
          <a:xfrm>
            <a:off x="115028" y="2065425"/>
            <a:ext cx="3720804" cy="1700081"/>
          </a:xfrm>
          <a:prstGeom prst="rect">
            <a:avLst/>
          </a:prstGeom>
          <a:noFill/>
          <a:ln w="9525">
            <a:noFill/>
          </a:ln>
        </p:spPr>
        <p:txBody>
          <a:bodyPr wrap="square" anchor="t" anchorCtr="0">
            <a:spAutoFit/>
          </a:bodyPr>
          <a:lstStyle/>
          <a:p>
            <a:pPr>
              <a:spcBef>
                <a:spcPct val="20000"/>
              </a:spcBef>
              <a:buClr>
                <a:schemeClr val="folHlink"/>
              </a:buClr>
              <a:buSzPct val="60000"/>
              <a:buFont typeface="Wingdings" panose="05000000000000000000" pitchFamily="2" charset="2"/>
            </a:pPr>
            <a:r>
              <a:rPr lang="zh-CN" altLang="en-US" sz="1600" b="1" dirty="0">
                <a:solidFill>
                  <a:schemeClr val="folHlink"/>
                </a:solidFill>
                <a:latin typeface="Microsoft YaHei" panose="020B0503020204020204" pitchFamily="34" charset="-122"/>
                <a:ea typeface="Microsoft YaHei" panose="020B0503020204020204" pitchFamily="34" charset="-122"/>
              </a:rPr>
              <a:t>本节讨论下述问题：</a:t>
            </a:r>
          </a:p>
          <a:p>
            <a:pPr marL="285750" indent="-285750" eaLnBrk="0" hangingPunct="0">
              <a:lnSpc>
                <a:spcPct val="120000"/>
              </a:lnSpc>
              <a:buFont typeface="Wingdings" pitchFamily="2" charset="2"/>
              <a:buChar char="Ø"/>
            </a:pPr>
            <a:r>
              <a:rPr lang="zh-CN" altLang="en-US" sz="1500" dirty="0">
                <a:latin typeface="Microsoft YaHei" panose="020B0503020204020204" pitchFamily="34" charset="-122"/>
                <a:ea typeface="Microsoft YaHei" panose="020B0503020204020204" pitchFamily="34" charset="-122"/>
              </a:rPr>
              <a:t>如何根据关系模式属性间的数据依赖情况来判断它是否具有某些不合适的性质？</a:t>
            </a:r>
          </a:p>
          <a:p>
            <a:pPr marL="285750" indent="-285750" eaLnBrk="0" hangingPunct="0">
              <a:lnSpc>
                <a:spcPct val="120000"/>
              </a:lnSpc>
              <a:buFont typeface="Wingdings" pitchFamily="2" charset="2"/>
              <a:buChar char="Ø"/>
            </a:pPr>
            <a:r>
              <a:rPr lang="zh-CN" altLang="en-US" sz="1500" dirty="0">
                <a:latin typeface="Microsoft YaHei" panose="020B0503020204020204" pitchFamily="34" charset="-122"/>
                <a:ea typeface="Microsoft YaHei" panose="020B0503020204020204" pitchFamily="34" charset="-122"/>
              </a:rPr>
              <a:t>如何将具有不合适性质的关系模式转换为更合适的形式？</a:t>
            </a:r>
          </a:p>
        </p:txBody>
      </p:sp>
      <p:sp>
        <p:nvSpPr>
          <p:cNvPr id="3" name="标题 2">
            <a:extLst>
              <a:ext uri="{FF2B5EF4-FFF2-40B4-BE49-F238E27FC236}">
                <a16:creationId xmlns:a16="http://schemas.microsoft.com/office/drawing/2014/main" id="{C457C338-5950-24D0-6450-F2A041F1F85E}"/>
              </a:ext>
            </a:extLst>
          </p:cNvPr>
          <p:cNvSpPr>
            <a:spLocks noGrp="1"/>
          </p:cNvSpPr>
          <p:nvPr>
            <p:ph type="title"/>
          </p:nvPr>
        </p:nvSpPr>
        <p:spPr/>
        <p:txBody>
          <a:bodyPr/>
          <a:lstStyle/>
          <a:p>
            <a:r>
              <a:rPr lang="zh-CN" altLang="en-US" dirty="0"/>
              <a:t>关系模式的规范化</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p:cNvSpPr>
          <p:nvPr>
            <p:ph idx="1"/>
          </p:nvPr>
        </p:nvSpPr>
        <p:spPr>
          <a:xfrm>
            <a:off x="551159" y="1067977"/>
            <a:ext cx="7886700" cy="3408735"/>
          </a:xfrm>
        </p:spPr>
        <p:txBody>
          <a:bodyPr vert="horz" wrap="square" lIns="68580" tIns="34290" rIns="68580" bIns="34290" anchor="t" anchorCtr="0"/>
          <a:lstStyle/>
          <a:p>
            <a:pPr marL="0" indent="0"/>
            <a:r>
              <a:rPr lang="zh-CN" altLang="en-US" sz="1800" b="1" dirty="0">
                <a:solidFill>
                  <a:schemeClr val="folHlink"/>
                </a:solidFill>
              </a:rPr>
              <a:t> 函数依赖与基础范式</a:t>
            </a:r>
          </a:p>
          <a:p>
            <a:pPr marL="0" indent="0">
              <a:lnSpc>
                <a:spcPct val="100000"/>
              </a:lnSpc>
              <a:buNone/>
            </a:pPr>
            <a:r>
              <a:rPr lang="zh-CN" altLang="en-US" sz="1800" dirty="0"/>
              <a:t>   关系的规范化是将一个低级范式的关系模式，通过关系模式的分解转换为若干个高级范式的过程。</a:t>
            </a:r>
          </a:p>
          <a:p>
            <a:pPr marL="0" indent="0">
              <a:lnSpc>
                <a:spcPct val="100000"/>
              </a:lnSpc>
            </a:pPr>
            <a:r>
              <a:rPr lang="zh-CN" altLang="en-US" sz="1800" b="1" dirty="0">
                <a:solidFill>
                  <a:schemeClr val="hlink"/>
                </a:solidFill>
              </a:rPr>
              <a:t> 第一范式：1NF</a:t>
            </a:r>
          </a:p>
          <a:p>
            <a:pPr marL="0" indent="0">
              <a:lnSpc>
                <a:spcPct val="100000"/>
              </a:lnSpc>
            </a:pPr>
            <a:r>
              <a:rPr lang="zh-CN" altLang="en-US" sz="1800" b="1" dirty="0">
                <a:solidFill>
                  <a:schemeClr val="folHlink"/>
                </a:solidFill>
              </a:rPr>
              <a:t> 定义: </a:t>
            </a:r>
            <a:r>
              <a:rPr lang="zh-CN" altLang="en-US" sz="1800" dirty="0"/>
              <a:t>若R的每个属性值都是不可再分的最小数据单元，则R∈1NF。</a:t>
            </a:r>
          </a:p>
          <a:p>
            <a:pPr marL="568166" lvl="1">
              <a:lnSpc>
                <a:spcPct val="100000"/>
              </a:lnSpc>
            </a:pPr>
            <a:r>
              <a:rPr lang="zh-CN" altLang="en-US" sz="1500" dirty="0"/>
              <a:t>从型上看：不存在嵌套结构</a:t>
            </a:r>
          </a:p>
          <a:p>
            <a:pPr marL="568166" lvl="1">
              <a:lnSpc>
                <a:spcPct val="100000"/>
              </a:lnSpc>
            </a:pPr>
            <a:r>
              <a:rPr lang="zh-CN" altLang="en-US" sz="1500" dirty="0"/>
              <a:t>从值上看，不存在重复组、表达式</a:t>
            </a:r>
          </a:p>
          <a:p>
            <a:pPr marL="0" indent="0">
              <a:lnSpc>
                <a:spcPct val="100000"/>
              </a:lnSpc>
            </a:pPr>
            <a:r>
              <a:rPr lang="zh-CN" altLang="en-US" sz="1725" b="1" dirty="0"/>
              <a:t> </a:t>
            </a:r>
            <a:r>
              <a:rPr lang="zh-CN" altLang="en-US" sz="1800" b="1" dirty="0"/>
              <a:t>非1NF的例：</a:t>
            </a:r>
            <a:r>
              <a:rPr lang="zh-CN" altLang="en-US" sz="1800" b="1" dirty="0">
                <a:solidFill>
                  <a:schemeClr val="hlink"/>
                </a:solidFill>
              </a:rPr>
              <a:t> 右表</a:t>
            </a:r>
          </a:p>
          <a:p>
            <a:pPr marL="0" indent="0">
              <a:lnSpc>
                <a:spcPct val="100000"/>
              </a:lnSpc>
              <a:buNone/>
            </a:pPr>
            <a:endParaRPr lang="zh-CN" altLang="en-US" sz="1800" b="1" dirty="0"/>
          </a:p>
          <a:p>
            <a:pPr marL="0" indent="0">
              <a:buNone/>
            </a:pPr>
            <a:endParaRPr lang="zh-CN" altLang="en-US" sz="1800" b="1" dirty="0"/>
          </a:p>
        </p:txBody>
      </p:sp>
      <p:pic>
        <p:nvPicPr>
          <p:cNvPr id="36867" name="图片 3" descr="IMG_7179(20200208-160750).JPG"/>
          <p:cNvPicPr>
            <a:picLocks noChangeAspect="1"/>
          </p:cNvPicPr>
          <p:nvPr/>
        </p:nvPicPr>
        <p:blipFill>
          <a:blip r:embed="rId3"/>
          <a:srcRect t="11297"/>
          <a:stretch>
            <a:fillRect/>
          </a:stretch>
        </p:blipFill>
        <p:spPr>
          <a:xfrm>
            <a:off x="4251790" y="3209849"/>
            <a:ext cx="4695519" cy="1309606"/>
          </a:xfrm>
          <a:prstGeom prst="rect">
            <a:avLst/>
          </a:prstGeom>
          <a:noFill/>
          <a:ln w="9525">
            <a:noFill/>
          </a:ln>
        </p:spPr>
      </p:pic>
      <p:sp>
        <p:nvSpPr>
          <p:cNvPr id="3" name="标题 2">
            <a:extLst>
              <a:ext uri="{FF2B5EF4-FFF2-40B4-BE49-F238E27FC236}">
                <a16:creationId xmlns:a16="http://schemas.microsoft.com/office/drawing/2014/main" id="{2853E5B1-800A-CE14-FC2F-F42C969C527B}"/>
              </a:ext>
            </a:extLst>
          </p:cNvPr>
          <p:cNvSpPr>
            <a:spLocks noGrp="1"/>
          </p:cNvSpPr>
          <p:nvPr>
            <p:ph type="title"/>
          </p:nvPr>
        </p:nvSpPr>
        <p:spPr/>
        <p:txBody>
          <a:bodyPr/>
          <a:lstStyle/>
          <a:p>
            <a:r>
              <a:rPr lang="zh-CN" altLang="en-US" dirty="0"/>
              <a:t>范式</a:t>
            </a:r>
          </a:p>
        </p:txBody>
      </p:sp>
      <p:sp>
        <p:nvSpPr>
          <p:cNvPr id="4" name="Rectangle 3">
            <a:extLst>
              <a:ext uri="{FF2B5EF4-FFF2-40B4-BE49-F238E27FC236}">
                <a16:creationId xmlns:a16="http://schemas.microsoft.com/office/drawing/2014/main" id="{1D05B168-0961-4D9C-A090-F6D5EF902158}"/>
              </a:ext>
            </a:extLst>
          </p:cNvPr>
          <p:cNvSpPr>
            <a:spLocks noGrp="1"/>
          </p:cNvSpPr>
          <p:nvPr>
            <p:custDataLst>
              <p:tags r:id="rId1"/>
            </p:custDataLst>
          </p:nvPr>
        </p:nvSpPr>
        <p:spPr>
          <a:xfrm>
            <a:off x="170964" y="3864652"/>
            <a:ext cx="3995601" cy="846836"/>
          </a:xfrm>
          <a:prstGeom prst="rect">
            <a:avLst/>
          </a:prstGeom>
          <a:noFill/>
          <a:ln w="9525">
            <a:solidFill>
              <a:srgbClr val="FF0000"/>
            </a:solid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marL="0" indent="0" eaLnBrk="1" hangingPunct="1"/>
            <a:r>
              <a:rPr lang="zh-CN" altLang="en-US" sz="1600" b="1" dirty="0">
                <a:latin typeface="Microsoft YaHei" panose="020B0503020204020204" pitchFamily="34" charset="-122"/>
                <a:ea typeface="Microsoft YaHei" panose="020B0503020204020204" pitchFamily="34" charset="-122"/>
              </a:rPr>
              <a:t> 1NF是关系模式的最低要求。</a:t>
            </a:r>
          </a:p>
          <a:p>
            <a:pPr marL="0" indent="0" eaLnBrk="1" hangingPunct="1"/>
            <a:r>
              <a:rPr lang="zh-CN" altLang="en-US" sz="1600" b="1" dirty="0">
                <a:latin typeface="Microsoft YaHei" panose="020B0503020204020204" pitchFamily="34" charset="-122"/>
                <a:ea typeface="Microsoft YaHei" panose="020B0503020204020204" pitchFamily="34" charset="-122"/>
              </a:rPr>
              <a:t> </a:t>
            </a:r>
            <a:r>
              <a:rPr lang="en-US" altLang="zh-CN" sz="1600" b="1" dirty="0">
                <a:solidFill>
                  <a:srgbClr val="467886"/>
                </a:solidFill>
                <a:latin typeface="Microsoft YaHei" panose="020B0503020204020204" pitchFamily="34" charset="-122"/>
                <a:ea typeface="Microsoft YaHei" panose="020B0503020204020204" pitchFamily="34" charset="-122"/>
              </a:rPr>
              <a:t>【</a:t>
            </a:r>
            <a:r>
              <a:rPr lang="zh-CN" altLang="en-US" sz="1600" b="1" dirty="0">
                <a:solidFill>
                  <a:srgbClr val="467886"/>
                </a:solidFill>
                <a:latin typeface="Microsoft YaHei" panose="020B0503020204020204" pitchFamily="34" charset="-122"/>
                <a:ea typeface="Microsoft YaHei" panose="020B0503020204020204" pitchFamily="34" charset="-122"/>
              </a:rPr>
              <a:t>例</a:t>
            </a:r>
            <a:r>
              <a:rPr lang="en-US" altLang="zh-CN" sz="1600" b="1" dirty="0">
                <a:solidFill>
                  <a:srgbClr val="467886"/>
                </a:solidFill>
                <a:latin typeface="Microsoft YaHei" panose="020B0503020204020204" pitchFamily="34" charset="-122"/>
                <a:ea typeface="Microsoft YaHei" panose="020B0503020204020204" pitchFamily="34" charset="-122"/>
              </a:rPr>
              <a:t>】</a:t>
            </a:r>
            <a:r>
              <a:rPr lang="zh-CN" altLang="en-US" sz="1600" dirty="0">
                <a:latin typeface="Microsoft YaHei" panose="020B0503020204020204" pitchFamily="34" charset="-122"/>
                <a:ea typeface="Microsoft YaHei" panose="020B0503020204020204" pitchFamily="34" charset="-122"/>
              </a:rPr>
              <a:t>学生关系S是1NF关系，但它存在很多问题。</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3"/>
              <p:cNvSpPr>
                <a:spLocks noGrp="1"/>
              </p:cNvSpPr>
              <p:nvPr>
                <p:custDataLst>
                  <p:tags r:id="rId1"/>
                </p:custDataLst>
              </p:nvPr>
            </p:nvSpPr>
            <p:spPr>
              <a:xfrm>
                <a:off x="244083" y="1059819"/>
                <a:ext cx="8671301" cy="3678910"/>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marL="0" indent="0" eaLnBrk="1" hangingPunct="1"/>
                <a:r>
                  <a:rPr lang="zh-CN" altLang="en-US" sz="2000" b="1" dirty="0">
                    <a:solidFill>
                      <a:schemeClr val="hlink"/>
                    </a:solidFill>
                    <a:latin typeface="Microsoft YaHei" panose="020B0503020204020204" pitchFamily="34" charset="-122"/>
                    <a:ea typeface="Microsoft YaHei" panose="020B0503020204020204" pitchFamily="34" charset="-122"/>
                  </a:rPr>
                  <a:t> </a:t>
                </a:r>
                <a:r>
                  <a:rPr lang="zh-CN" altLang="en-US" sz="1600" b="1" dirty="0">
                    <a:solidFill>
                      <a:schemeClr val="hlink"/>
                    </a:solidFill>
                    <a:latin typeface="Microsoft YaHei" panose="020B0503020204020204" pitchFamily="34" charset="-122"/>
                    <a:ea typeface="Microsoft YaHei" panose="020B0503020204020204" pitchFamily="34" charset="-122"/>
                  </a:rPr>
                  <a:t>第二范式：2NF </a:t>
                </a:r>
              </a:p>
              <a:p>
                <a:pPr marL="0" indent="0" eaLnBrk="1" hangingPunct="1"/>
                <a:r>
                  <a:rPr lang="zh-CN" altLang="en-US" sz="1600" b="1" dirty="0">
                    <a:solidFill>
                      <a:schemeClr val="folHlink"/>
                    </a:solidFill>
                    <a:latin typeface="Microsoft YaHei" panose="020B0503020204020204" pitchFamily="34" charset="-122"/>
                    <a:ea typeface="Microsoft YaHei" panose="020B0503020204020204" pitchFamily="34" charset="-122"/>
                  </a:rPr>
                  <a:t> 定义:</a:t>
                </a:r>
                <a:r>
                  <a:rPr lang="zh-CN" altLang="en-US" sz="1600" dirty="0">
                    <a:latin typeface="Microsoft YaHei" panose="020B0503020204020204" pitchFamily="34" charset="-122"/>
                    <a:ea typeface="Microsoft YaHei" panose="020B0503020204020204" pitchFamily="34" charset="-122"/>
                  </a:rPr>
                  <a:t>若R∈1NF，且R中的每一个非主属性都完全函数依赖于R的任一候选键，则R∈2NF。</a:t>
                </a:r>
              </a:p>
              <a:p>
                <a:pPr marL="0" indent="0" eaLnBrk="1" hangingPunct="1">
                  <a:buNone/>
                </a:pPr>
                <a:r>
                  <a:rPr lang="en-US" altLang="zh-CN" sz="1600" b="1" dirty="0">
                    <a:solidFill>
                      <a:schemeClr val="hlink"/>
                    </a:solidFill>
                    <a:latin typeface="Microsoft YaHei" panose="020B0503020204020204" pitchFamily="34" charset="-122"/>
                    <a:ea typeface="Microsoft YaHei" panose="020B0503020204020204" pitchFamily="34" charset="-122"/>
                  </a:rPr>
                  <a:t>【</a:t>
                </a:r>
                <a:r>
                  <a:rPr lang="zh-CN" altLang="en-US" sz="1600" b="1" dirty="0">
                    <a:solidFill>
                      <a:schemeClr val="hlink"/>
                    </a:solidFill>
                    <a:latin typeface="Microsoft YaHei" panose="020B0503020204020204" pitchFamily="34" charset="-122"/>
                    <a:ea typeface="Microsoft YaHei" panose="020B0503020204020204" pitchFamily="34" charset="-122"/>
                  </a:rPr>
                  <a:t>例</a:t>
                </a:r>
                <a:r>
                  <a:rPr lang="en-US" altLang="zh-CN" sz="1600" b="1" dirty="0">
                    <a:solidFill>
                      <a:schemeClr val="hlink"/>
                    </a:solidFill>
                    <a:latin typeface="Microsoft YaHei" panose="020B0503020204020204" pitchFamily="34" charset="-122"/>
                    <a:ea typeface="Microsoft YaHei" panose="020B0503020204020204" pitchFamily="34" charset="-122"/>
                  </a:rPr>
                  <a:t>】</a:t>
                </a:r>
                <a:r>
                  <a:rPr lang="zh-CN" altLang="en-US" sz="1600" dirty="0">
                    <a:latin typeface="Microsoft YaHei" panose="020B0503020204020204" pitchFamily="34" charset="-122"/>
                    <a:ea typeface="Microsoft YaHei" panose="020B0503020204020204" pitchFamily="34" charset="-122"/>
                  </a:rPr>
                  <a:t>判断学生关系S(SNO，SNAME，CLASS，CNO，TNO,TNAME，TAGE，ADDRESS，GRADE)是否为2NF。</a:t>
                </a:r>
              </a:p>
              <a:p>
                <a:pPr marL="0" indent="0" eaLnBrk="1" hangingPunct="1"/>
                <a:r>
                  <a:rPr lang="zh-CN" altLang="en-US" sz="1600" dirty="0">
                    <a:solidFill>
                      <a:schemeClr val="folHlink"/>
                    </a:solidFill>
                    <a:latin typeface="Microsoft YaHei" panose="020B0503020204020204" pitchFamily="34" charset="-122"/>
                    <a:ea typeface="Microsoft YaHei" panose="020B0503020204020204" pitchFamily="34" charset="-122"/>
                  </a:rPr>
                  <a:t> </a:t>
                </a:r>
                <a:r>
                  <a:rPr lang="zh-CN" altLang="en-US" sz="1600" dirty="0">
                    <a:latin typeface="Microsoft YaHei" panose="020B0503020204020204" pitchFamily="34" charset="-122"/>
                    <a:ea typeface="Microsoft YaHei" panose="020B0503020204020204" pitchFamily="34" charset="-122"/>
                  </a:rPr>
                  <a:t>关系S的侯选键为</a:t>
                </a:r>
                <a:r>
                  <a:rPr lang="zh-CN" altLang="en-US" sz="1600" dirty="0">
                    <a:solidFill>
                      <a:schemeClr val="hlink"/>
                    </a:solidFill>
                    <a:latin typeface="Microsoft YaHei" panose="020B0503020204020204" pitchFamily="34" charset="-122"/>
                    <a:ea typeface="Microsoft YaHei" panose="020B0503020204020204" pitchFamily="34" charset="-122"/>
                  </a:rPr>
                  <a:t>(SNO，CNO)</a:t>
                </a:r>
                <a:r>
                  <a:rPr lang="zh-CN" altLang="en-US" sz="1600" dirty="0">
                    <a:latin typeface="Microsoft YaHei" panose="020B0503020204020204" pitchFamily="34" charset="-122"/>
                    <a:ea typeface="Microsoft YaHei" panose="020B0503020204020204" pitchFamily="34" charset="-122"/>
                  </a:rPr>
                  <a:t>。</a:t>
                </a:r>
              </a:p>
              <a:p>
                <a:pPr marL="0" indent="0" algn="just" eaLnBrk="1" hangingPunct="1">
                  <a:buNone/>
                </a:pPr>
                <a:r>
                  <a:rPr lang="zh-CN" altLang="en-US" sz="1600" dirty="0">
                    <a:latin typeface="Microsoft YaHei" panose="020B0503020204020204" pitchFamily="34" charset="-122"/>
                    <a:ea typeface="Microsoft YaHei" panose="020B0503020204020204" pitchFamily="34" charset="-122"/>
                  </a:rPr>
                  <a:t> 考察</a:t>
                </a:r>
                <a:r>
                  <a:rPr lang="zh-CN" altLang="en-US" sz="1600" dirty="0">
                    <a:solidFill>
                      <a:schemeClr val="hlink"/>
                    </a:solidFill>
                    <a:latin typeface="Microsoft YaHei" panose="020B0503020204020204" pitchFamily="34" charset="-122"/>
                    <a:ea typeface="Microsoft YaHei" panose="020B0503020204020204" pitchFamily="34" charset="-122"/>
                  </a:rPr>
                  <a:t>非主属性和侯选键之间</a:t>
                </a:r>
                <a:r>
                  <a:rPr lang="zh-CN" altLang="en-US" sz="1600" dirty="0">
                    <a:latin typeface="Microsoft YaHei" panose="020B0503020204020204" pitchFamily="34" charset="-122"/>
                    <a:ea typeface="Microsoft YaHei" panose="020B0503020204020204" pitchFamily="34" charset="-122"/>
                  </a:rPr>
                  <a:t>的函数依赖关系：</a:t>
                </a:r>
              </a:p>
              <a:p>
                <a:pPr marL="0" indent="0" algn="just" eaLnBrk="1" hangingPunct="1">
                  <a:buNone/>
                </a:pPr>
                <a:r>
                  <a:rPr lang="zh-CN" altLang="en-US" sz="1600" b="1" dirty="0">
                    <a:latin typeface="Microsoft YaHei" panose="020B0503020204020204" pitchFamily="34" charset="-122"/>
                    <a:ea typeface="Microsoft YaHei" panose="020B0503020204020204" pitchFamily="34" charset="-122"/>
                  </a:rPr>
                  <a:t> </a:t>
                </a:r>
                <a:r>
                  <a:rPr lang="zh-CN" altLang="en-US" sz="1600" dirty="0">
                    <a:latin typeface="Microsoft YaHei" panose="020B0503020204020204" pitchFamily="34" charset="-122"/>
                    <a:ea typeface="Microsoft YaHei" panose="020B0503020204020204" pitchFamily="34" charset="-122"/>
                  </a:rPr>
                  <a:t>(SNO，CNO)</a:t>
                </a:r>
                <a:r>
                  <a:rPr lang="en-US" altLang="zh-CN" sz="1600" kern="0" noProof="1">
                    <a:solidFill>
                      <a:schemeClr val="hlink"/>
                    </a:solidFill>
                  </a:rPr>
                  <a:t> </a:t>
                </a:r>
                <a14:m>
                  <m:oMath xmlns:m="http://schemas.openxmlformats.org/officeDocument/2006/math">
                    <m:groupChr>
                      <m:groupChrPr>
                        <m:chr m:val="→"/>
                        <m:vertJc m:val="bot"/>
                        <m:ctrlPr>
                          <a:rPr lang="en-US" altLang="zh-CN" sz="1600" i="1" kern="0" noProof="1">
                            <a:solidFill>
                              <a:schemeClr val="hlink"/>
                            </a:solidFill>
                            <a:latin typeface="Cambria Math" panose="02040503050406030204" pitchFamily="18" charset="0"/>
                          </a:rPr>
                        </m:ctrlPr>
                      </m:groupChrPr>
                      <m:e>
                        <m:r>
                          <m:rPr>
                            <m:brk m:alnAt="2"/>
                          </m:rPr>
                          <a:rPr lang="en-US" altLang="zh-CN" sz="1600" b="0" i="1" kern="0" noProof="1" smtClean="0">
                            <a:solidFill>
                              <a:schemeClr val="hlink"/>
                            </a:solidFill>
                            <a:latin typeface="Cambria Math" panose="02040503050406030204" pitchFamily="18" charset="0"/>
                          </a:rPr>
                          <m:t>𝑃</m:t>
                        </m:r>
                      </m:e>
                    </m:groupChr>
                    <m:r>
                      <a:rPr lang="en-US" altLang="zh-CN" sz="1600" i="1" kern="0" noProof="1">
                        <a:solidFill>
                          <a:schemeClr val="hlink"/>
                        </a:solidFill>
                        <a:latin typeface="Cambria Math" panose="02040503050406030204" pitchFamily="18" charset="0"/>
                      </a:rPr>
                      <m:t> </m:t>
                    </m:r>
                  </m:oMath>
                </a14:m>
                <a:r>
                  <a:rPr lang="zh-CN" altLang="en-US" sz="1600" dirty="0">
                    <a:latin typeface="Microsoft YaHei" panose="020B0503020204020204" pitchFamily="34" charset="-122"/>
                    <a:ea typeface="Microsoft YaHei" panose="020B0503020204020204" pitchFamily="34" charset="-122"/>
                  </a:rPr>
                  <a:t>SNAME，(SNO，CNO)</a:t>
                </a:r>
                <a:r>
                  <a:rPr lang="en-US" altLang="zh-CN" sz="1600" kern="0" noProof="1">
                    <a:solidFill>
                      <a:schemeClr val="hlink"/>
                    </a:solidFill>
                  </a:rPr>
                  <a:t> </a:t>
                </a:r>
                <a14:m>
                  <m:oMath xmlns:m="http://schemas.openxmlformats.org/officeDocument/2006/math">
                    <m:groupChr>
                      <m:groupChrPr>
                        <m:chr m:val="→"/>
                        <m:vertJc m:val="bot"/>
                        <m:ctrlPr>
                          <a:rPr lang="en-US" altLang="zh-CN" sz="1600" i="1" kern="0" noProof="1">
                            <a:solidFill>
                              <a:schemeClr val="hlink"/>
                            </a:solidFill>
                            <a:latin typeface="Cambria Math" panose="02040503050406030204" pitchFamily="18" charset="0"/>
                          </a:rPr>
                        </m:ctrlPr>
                      </m:groupChrPr>
                      <m:e>
                        <m:r>
                          <m:rPr>
                            <m:brk m:alnAt="2"/>
                          </m:rPr>
                          <a:rPr lang="en-US" altLang="zh-CN" sz="1600" i="1" kern="0" noProof="1">
                            <a:solidFill>
                              <a:schemeClr val="hlink"/>
                            </a:solidFill>
                            <a:latin typeface="Cambria Math" panose="02040503050406030204" pitchFamily="18" charset="0"/>
                          </a:rPr>
                          <m:t>𝑃</m:t>
                        </m:r>
                      </m:e>
                    </m:groupChr>
                    <m:r>
                      <a:rPr lang="en-US" altLang="zh-CN" sz="1600" i="1" kern="0" noProof="1">
                        <a:solidFill>
                          <a:schemeClr val="hlink"/>
                        </a:solidFill>
                        <a:latin typeface="Cambria Math" panose="02040503050406030204" pitchFamily="18" charset="0"/>
                      </a:rPr>
                      <m:t> </m:t>
                    </m:r>
                  </m:oMath>
                </a14:m>
                <a:r>
                  <a:rPr lang="zh-CN" altLang="en-US" sz="1600" dirty="0">
                    <a:latin typeface="Microsoft YaHei" panose="020B0503020204020204" pitchFamily="34" charset="-122"/>
                    <a:ea typeface="Microsoft YaHei" panose="020B0503020204020204" pitchFamily="34" charset="-122"/>
                  </a:rPr>
                  <a:t>CLASS，(SNO，CNO)</a:t>
                </a:r>
                <a:r>
                  <a:rPr lang="en-US" altLang="zh-CN" sz="1600" kern="0" noProof="1">
                    <a:solidFill>
                      <a:schemeClr val="hlink"/>
                    </a:solidFill>
                  </a:rPr>
                  <a:t> </a:t>
                </a:r>
                <a14:m>
                  <m:oMath xmlns:m="http://schemas.openxmlformats.org/officeDocument/2006/math">
                    <m:groupChr>
                      <m:groupChrPr>
                        <m:chr m:val="→"/>
                        <m:vertJc m:val="bot"/>
                        <m:ctrlPr>
                          <a:rPr lang="en-US" altLang="zh-CN" sz="1600" i="1" kern="0" noProof="1">
                            <a:solidFill>
                              <a:schemeClr val="hlink"/>
                            </a:solidFill>
                            <a:latin typeface="Cambria Math" panose="02040503050406030204" pitchFamily="18" charset="0"/>
                          </a:rPr>
                        </m:ctrlPr>
                      </m:groupChrPr>
                      <m:e>
                        <m:r>
                          <m:rPr>
                            <m:brk m:alnAt="2"/>
                          </m:rPr>
                          <a:rPr lang="en-US" altLang="zh-CN" sz="1600" i="1" kern="0" noProof="1">
                            <a:solidFill>
                              <a:schemeClr val="hlink"/>
                            </a:solidFill>
                            <a:latin typeface="Cambria Math" panose="02040503050406030204" pitchFamily="18" charset="0"/>
                          </a:rPr>
                          <m:t>𝑃</m:t>
                        </m:r>
                      </m:e>
                    </m:groupChr>
                    <m:r>
                      <a:rPr lang="en-US" altLang="zh-CN" sz="1600" i="1" kern="0" noProof="1">
                        <a:solidFill>
                          <a:schemeClr val="hlink"/>
                        </a:solidFill>
                        <a:latin typeface="Cambria Math" panose="02040503050406030204" pitchFamily="18" charset="0"/>
                      </a:rPr>
                      <m:t> </m:t>
                    </m:r>
                  </m:oMath>
                </a14:m>
                <a:r>
                  <a:rPr lang="zh-CN" altLang="en-US" sz="1600" dirty="0">
                    <a:latin typeface="Microsoft YaHei" panose="020B0503020204020204" pitchFamily="34" charset="-122"/>
                    <a:ea typeface="Microsoft YaHei" panose="020B0503020204020204" pitchFamily="34" charset="-122"/>
                  </a:rPr>
                  <a:t>TNO，</a:t>
                </a:r>
                <a:endParaRPr lang="en-US" altLang="zh-CN" sz="1600" dirty="0">
                  <a:latin typeface="Microsoft YaHei" panose="020B0503020204020204" pitchFamily="34" charset="-122"/>
                  <a:ea typeface="Microsoft YaHei" panose="020B0503020204020204" pitchFamily="34" charset="-122"/>
                </a:endParaRPr>
              </a:p>
              <a:p>
                <a:pPr marL="0" indent="0" algn="just" eaLnBrk="1" hangingPunct="1">
                  <a:buNone/>
                </a:pPr>
                <a:r>
                  <a:rPr lang="zh-CN" altLang="en-US" sz="1600" dirty="0">
                    <a:latin typeface="Microsoft YaHei" panose="020B0503020204020204" pitchFamily="34" charset="-122"/>
                    <a:ea typeface="Microsoft YaHei" panose="020B0503020204020204" pitchFamily="34" charset="-122"/>
                  </a:rPr>
                  <a:t> (SNO，CNO)</a:t>
                </a:r>
                <a:r>
                  <a:rPr lang="en-US" altLang="zh-CN" sz="1600" kern="0" noProof="1">
                    <a:solidFill>
                      <a:schemeClr val="hlink"/>
                    </a:solidFill>
                  </a:rPr>
                  <a:t> </a:t>
                </a:r>
                <a14:m>
                  <m:oMath xmlns:m="http://schemas.openxmlformats.org/officeDocument/2006/math">
                    <m:groupChr>
                      <m:groupChrPr>
                        <m:chr m:val="→"/>
                        <m:vertJc m:val="bot"/>
                        <m:ctrlPr>
                          <a:rPr lang="en-US" altLang="zh-CN" sz="1600" i="1" kern="0" noProof="1">
                            <a:solidFill>
                              <a:schemeClr val="hlink"/>
                            </a:solidFill>
                            <a:latin typeface="Cambria Math" panose="02040503050406030204" pitchFamily="18" charset="0"/>
                          </a:rPr>
                        </m:ctrlPr>
                      </m:groupChrPr>
                      <m:e>
                        <m:r>
                          <m:rPr>
                            <m:brk m:alnAt="2"/>
                          </m:rPr>
                          <a:rPr lang="en-US" altLang="zh-CN" sz="1600" i="1" kern="0" noProof="1">
                            <a:solidFill>
                              <a:schemeClr val="hlink"/>
                            </a:solidFill>
                            <a:latin typeface="Cambria Math" panose="02040503050406030204" pitchFamily="18" charset="0"/>
                          </a:rPr>
                          <m:t>𝑃</m:t>
                        </m:r>
                      </m:e>
                    </m:groupChr>
                    <m:r>
                      <a:rPr lang="en-US" altLang="zh-CN" sz="1600" i="1" kern="0" noProof="1">
                        <a:solidFill>
                          <a:schemeClr val="hlink"/>
                        </a:solidFill>
                        <a:latin typeface="Cambria Math" panose="02040503050406030204" pitchFamily="18" charset="0"/>
                      </a:rPr>
                      <m:t> </m:t>
                    </m:r>
                  </m:oMath>
                </a14:m>
                <a:r>
                  <a:rPr lang="zh-CN" altLang="en-US" sz="1600" dirty="0">
                    <a:latin typeface="Microsoft YaHei" panose="020B0503020204020204" pitchFamily="34" charset="-122"/>
                    <a:ea typeface="Microsoft YaHei" panose="020B0503020204020204" pitchFamily="34" charset="-122"/>
                  </a:rPr>
                  <a:t>TNAME，(SNO，CNO)</a:t>
                </a:r>
                <a:r>
                  <a:rPr lang="en-US" altLang="zh-CN" sz="1600" kern="0" noProof="1">
                    <a:solidFill>
                      <a:schemeClr val="hlink"/>
                    </a:solidFill>
                  </a:rPr>
                  <a:t> </a:t>
                </a:r>
                <a14:m>
                  <m:oMath xmlns:m="http://schemas.openxmlformats.org/officeDocument/2006/math">
                    <m:groupChr>
                      <m:groupChrPr>
                        <m:chr m:val="→"/>
                        <m:vertJc m:val="bot"/>
                        <m:ctrlPr>
                          <a:rPr lang="en-US" altLang="zh-CN" sz="1600" i="1" kern="0" noProof="1">
                            <a:solidFill>
                              <a:schemeClr val="hlink"/>
                            </a:solidFill>
                            <a:latin typeface="Cambria Math" panose="02040503050406030204" pitchFamily="18" charset="0"/>
                          </a:rPr>
                        </m:ctrlPr>
                      </m:groupChrPr>
                      <m:e>
                        <m:r>
                          <m:rPr>
                            <m:brk m:alnAt="2"/>
                          </m:rPr>
                          <a:rPr lang="en-US" altLang="zh-CN" sz="1600" i="1" kern="0" noProof="1">
                            <a:solidFill>
                              <a:schemeClr val="hlink"/>
                            </a:solidFill>
                            <a:latin typeface="Cambria Math" panose="02040503050406030204" pitchFamily="18" charset="0"/>
                          </a:rPr>
                          <m:t>𝑃</m:t>
                        </m:r>
                      </m:e>
                    </m:groupChr>
                    <m:r>
                      <a:rPr lang="en-US" altLang="zh-CN" sz="1600" i="1" kern="0" noProof="1">
                        <a:solidFill>
                          <a:schemeClr val="hlink"/>
                        </a:solidFill>
                        <a:latin typeface="Cambria Math" panose="02040503050406030204" pitchFamily="18" charset="0"/>
                      </a:rPr>
                      <m:t> </m:t>
                    </m:r>
                  </m:oMath>
                </a14:m>
                <a:r>
                  <a:rPr lang="zh-CN" altLang="en-US" sz="1600" dirty="0">
                    <a:latin typeface="Microsoft YaHei" panose="020B0503020204020204" pitchFamily="34" charset="-122"/>
                    <a:ea typeface="Microsoft YaHei" panose="020B0503020204020204" pitchFamily="34" charset="-122"/>
                  </a:rPr>
                  <a:t>TAGE， (SNO，CNO)</a:t>
                </a:r>
                <a:r>
                  <a:rPr lang="en-US" altLang="zh-CN" sz="1600" kern="0" noProof="1">
                    <a:solidFill>
                      <a:schemeClr val="hlink"/>
                    </a:solidFill>
                  </a:rPr>
                  <a:t> </a:t>
                </a:r>
                <a14:m>
                  <m:oMath xmlns:m="http://schemas.openxmlformats.org/officeDocument/2006/math">
                    <m:groupChr>
                      <m:groupChrPr>
                        <m:chr m:val="→"/>
                        <m:vertJc m:val="bot"/>
                        <m:ctrlPr>
                          <a:rPr lang="en-US" altLang="zh-CN" sz="1600" i="1" kern="0" noProof="1">
                            <a:solidFill>
                              <a:schemeClr val="hlink"/>
                            </a:solidFill>
                            <a:latin typeface="Cambria Math" panose="02040503050406030204" pitchFamily="18" charset="0"/>
                          </a:rPr>
                        </m:ctrlPr>
                      </m:groupChrPr>
                      <m:e>
                        <m:r>
                          <m:rPr>
                            <m:brk m:alnAt="2"/>
                          </m:rPr>
                          <a:rPr lang="en-US" altLang="zh-CN" sz="1600" i="1" kern="0" noProof="1">
                            <a:solidFill>
                              <a:schemeClr val="hlink"/>
                            </a:solidFill>
                            <a:latin typeface="Cambria Math" panose="02040503050406030204" pitchFamily="18" charset="0"/>
                          </a:rPr>
                          <m:t>𝑃</m:t>
                        </m:r>
                      </m:e>
                    </m:groupChr>
                    <m:r>
                      <a:rPr lang="en-US" altLang="zh-CN" sz="1600" i="1" kern="0" noProof="1">
                        <a:solidFill>
                          <a:schemeClr val="hlink"/>
                        </a:solidFill>
                        <a:latin typeface="Cambria Math" panose="02040503050406030204" pitchFamily="18" charset="0"/>
                      </a:rPr>
                      <m:t> </m:t>
                    </m:r>
                  </m:oMath>
                </a14:m>
                <a:r>
                  <a:rPr lang="zh-CN" altLang="en-US" sz="1600" dirty="0">
                    <a:latin typeface="Microsoft YaHei" panose="020B0503020204020204" pitchFamily="34" charset="-122"/>
                    <a:ea typeface="Microsoft YaHei" panose="020B0503020204020204" pitchFamily="34" charset="-122"/>
                  </a:rPr>
                  <a:t>ADDRESS，   </a:t>
                </a:r>
              </a:p>
              <a:p>
                <a:pPr marL="0" indent="0" algn="just" eaLnBrk="1" hangingPunct="1">
                  <a:buNone/>
                </a:pPr>
                <a:r>
                  <a:rPr lang="zh-CN" altLang="en-US" sz="1600" dirty="0">
                    <a:latin typeface="Microsoft YaHei" panose="020B0503020204020204" pitchFamily="34" charset="-122"/>
                    <a:ea typeface="Microsoft YaHei" panose="020B0503020204020204" pitchFamily="34" charset="-122"/>
                  </a:rPr>
                  <a:t> (SNO，CNO)</a:t>
                </a:r>
                <a:r>
                  <a:rPr lang="zh-CN" altLang="en-US" sz="1600" i="1" dirty="0">
                    <a:latin typeface="Microsoft YaHei" panose="020B0503020204020204" pitchFamily="34" charset="-122"/>
                    <a:ea typeface="Microsoft YaHei" panose="020B0503020204020204" pitchFamily="34" charset="-122"/>
                  </a:rPr>
                  <a:t> </a:t>
                </a:r>
                <a14:m>
                  <m:oMath xmlns:m="http://schemas.openxmlformats.org/officeDocument/2006/math">
                    <m:groupChr>
                      <m:groupChrPr>
                        <m:chr m:val="→"/>
                        <m:vertJc m:val="bot"/>
                        <m:ctrlPr>
                          <a:rPr lang="en-US" altLang="zh-CN" sz="1600" i="1" kern="0" noProof="1">
                            <a:solidFill>
                              <a:schemeClr val="hlink"/>
                            </a:solidFill>
                            <a:latin typeface="Cambria Math" panose="02040503050406030204" pitchFamily="18" charset="0"/>
                          </a:rPr>
                        </m:ctrlPr>
                      </m:groupChrPr>
                      <m:e>
                        <m:r>
                          <m:rPr>
                            <m:brk m:alnAt="2"/>
                          </m:rPr>
                          <a:rPr lang="en-US" altLang="zh-CN" sz="1600" i="1" kern="0" noProof="1">
                            <a:solidFill>
                              <a:schemeClr val="hlink"/>
                            </a:solidFill>
                            <a:latin typeface="Cambria Math" panose="02040503050406030204" pitchFamily="18" charset="0"/>
                          </a:rPr>
                          <m:t>𝐹</m:t>
                        </m:r>
                      </m:e>
                    </m:groupChr>
                    <m:r>
                      <a:rPr lang="en-US" altLang="zh-CN" sz="1600" i="1" kern="0" noProof="1">
                        <a:solidFill>
                          <a:schemeClr val="hlink"/>
                        </a:solidFill>
                        <a:latin typeface="Cambria Math" panose="02040503050406030204" pitchFamily="18" charset="0"/>
                      </a:rPr>
                      <m:t> </m:t>
                    </m:r>
                  </m:oMath>
                </a14:m>
                <a:r>
                  <a:rPr lang="zh-CN" altLang="en-US" sz="1600" dirty="0">
                    <a:latin typeface="Microsoft YaHei" panose="020B0503020204020204" pitchFamily="34" charset="-122"/>
                    <a:ea typeface="Microsoft YaHei" panose="020B0503020204020204" pitchFamily="34" charset="-122"/>
                  </a:rPr>
                  <a:t>GRADE</a:t>
                </a:r>
              </a:p>
              <a:p>
                <a:pPr marL="0" indent="0" eaLnBrk="1" hangingPunct="1">
                  <a:buNone/>
                </a:pPr>
                <a:endParaRPr lang="en-US" altLang="zh-CN" sz="1600" b="1" dirty="0">
                  <a:latin typeface="Microsoft YaHei" panose="020B0503020204020204" pitchFamily="34" charset="-122"/>
                  <a:ea typeface="Microsoft YaHei" panose="020B0503020204020204" pitchFamily="34" charset="-122"/>
                </a:endParaRPr>
              </a:p>
              <a:p>
                <a:pPr marL="0" indent="0" eaLnBrk="1" hangingPunct="1">
                  <a:buNone/>
                </a:pPr>
                <a:r>
                  <a:rPr lang="zh-CN" altLang="en-US" sz="1600" b="1" dirty="0">
                    <a:latin typeface="Microsoft YaHei" panose="020B0503020204020204" pitchFamily="34" charset="-122"/>
                    <a:ea typeface="Microsoft YaHei" panose="020B0503020204020204" pitchFamily="34" charset="-122"/>
                  </a:rPr>
                  <a:t>由此可见，在这个关系中存在非主属性对侯选键的部分函数依赖，所以</a:t>
                </a:r>
                <a:r>
                  <a:rPr lang="zh-CN" altLang="en-US" sz="1600" b="1" dirty="0">
                    <a:solidFill>
                      <a:srgbClr val="FF0000"/>
                    </a:solidFill>
                    <a:latin typeface="Microsoft YaHei" panose="020B0503020204020204" pitchFamily="34" charset="-122"/>
                    <a:ea typeface="Microsoft YaHei" panose="020B0503020204020204" pitchFamily="34" charset="-122"/>
                  </a:rPr>
                  <a:t>S</a:t>
                </a:r>
                <a:r>
                  <a:rPr lang="zh-CN" altLang="en-US" sz="1600" b="1" dirty="0">
                    <a:solidFill>
                      <a:srgbClr val="FF0000"/>
                    </a:solidFill>
                    <a:latin typeface="Microsoft YaHei" panose="020B0503020204020204" pitchFamily="34" charset="-122"/>
                    <a:ea typeface="Microsoft YaHei" panose="020B0503020204020204" pitchFamily="34" charset="-122"/>
                    <a:sym typeface="Symbol" panose="05050102010706020507" pitchFamily="18" charset="2"/>
                  </a:rPr>
                  <a:t></a:t>
                </a:r>
                <a:r>
                  <a:rPr lang="zh-CN" altLang="en-US" sz="1600" b="1" dirty="0">
                    <a:solidFill>
                      <a:srgbClr val="FF0000"/>
                    </a:solidFill>
                    <a:latin typeface="Microsoft YaHei" panose="020B0503020204020204" pitchFamily="34" charset="-122"/>
                    <a:ea typeface="Microsoft YaHei" panose="020B0503020204020204" pitchFamily="34" charset="-122"/>
                  </a:rPr>
                  <a:t>2NF</a:t>
                </a:r>
                <a:r>
                  <a:rPr lang="zh-CN" altLang="en-US" sz="1600" b="1" dirty="0">
                    <a:latin typeface="Microsoft YaHei" panose="020B0503020204020204" pitchFamily="34" charset="-122"/>
                    <a:ea typeface="Microsoft YaHei" panose="020B0503020204020204" pitchFamily="34" charset="-122"/>
                  </a:rPr>
                  <a:t>。</a:t>
                </a:r>
              </a:p>
            </p:txBody>
          </p:sp>
        </mc:Choice>
        <mc:Fallback xmlns="">
          <p:sp>
            <p:nvSpPr>
              <p:cNvPr id="2" name="Rectangle 3"/>
              <p:cNvSpPr>
                <a:spLocks noGrp="1" noRot="1" noChangeAspect="1" noMove="1" noResize="1" noEditPoints="1" noAdjustHandles="1" noChangeArrowheads="1" noChangeShapeType="1" noTextEdit="1"/>
              </p:cNvSpPr>
              <p:nvPr>
                <p:custDataLst>
                  <p:tags r:id="rId3"/>
                </p:custDataLst>
              </p:nvPr>
            </p:nvSpPr>
            <p:spPr>
              <a:xfrm>
                <a:off x="244083" y="1059819"/>
                <a:ext cx="8671301" cy="3678910"/>
              </a:xfrm>
              <a:prstGeom prst="rect">
                <a:avLst/>
              </a:prstGeom>
              <a:blipFill>
                <a:blip r:embed="rId4"/>
                <a:stretch>
                  <a:fillRect l="-732"/>
                </a:stretch>
              </a:blipFill>
              <a:ln w="9525">
                <a:noFill/>
              </a:ln>
            </p:spPr>
            <p:txBody>
              <a:bodyPr/>
              <a:lstStyle/>
              <a:p>
                <a:r>
                  <a:rPr lang="zh-CN" altLang="en-US">
                    <a:noFill/>
                  </a:rPr>
                  <a:t> </a:t>
                </a:r>
              </a:p>
            </p:txBody>
          </p:sp>
        </mc:Fallback>
      </mc:AlternateContent>
      <p:sp>
        <p:nvSpPr>
          <p:cNvPr id="5" name="标题 4">
            <a:extLst>
              <a:ext uri="{FF2B5EF4-FFF2-40B4-BE49-F238E27FC236}">
                <a16:creationId xmlns:a16="http://schemas.microsoft.com/office/drawing/2014/main" id="{48E85919-A12F-00EE-950A-9342472FDE4A}"/>
              </a:ext>
            </a:extLst>
          </p:cNvPr>
          <p:cNvSpPr>
            <a:spLocks noGrp="1"/>
          </p:cNvSpPr>
          <p:nvPr>
            <p:ph type="title"/>
          </p:nvPr>
        </p:nvSpPr>
        <p:spPr/>
        <p:txBody>
          <a:bodyPr/>
          <a:lstStyle/>
          <a:p>
            <a:r>
              <a:rPr lang="zh-CN" altLang="en-US" dirty="0"/>
              <a:t>第二范式</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466435" y="1253548"/>
            <a:ext cx="8056649" cy="3539425"/>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marL="0" indent="0" eaLnBrk="1" hangingPunct="1"/>
            <a:r>
              <a:rPr lang="zh-CN" altLang="en-US" sz="1600" b="1" dirty="0">
                <a:solidFill>
                  <a:schemeClr val="hlink"/>
                </a:solidFill>
                <a:latin typeface="Microsoft YaHei" panose="020B0503020204020204" pitchFamily="34" charset="-122"/>
                <a:ea typeface="Microsoft YaHei" panose="020B0503020204020204" pitchFamily="34" charset="-122"/>
              </a:rPr>
              <a:t> 分解为2NF的方法：</a:t>
            </a:r>
          </a:p>
          <a:p>
            <a:pPr marL="0" indent="0" eaLnBrk="1" hangingPunct="1">
              <a:buNone/>
            </a:pPr>
            <a:r>
              <a:rPr lang="zh-CN" altLang="en-US" sz="1600" b="1" dirty="0">
                <a:latin typeface="Microsoft YaHei" panose="020B0503020204020204" pitchFamily="34" charset="-122"/>
                <a:ea typeface="Microsoft YaHei" panose="020B0503020204020204" pitchFamily="34" charset="-122"/>
              </a:rPr>
              <a:t>   </a:t>
            </a:r>
            <a:r>
              <a:rPr lang="zh-CN" altLang="en-US" sz="1600" dirty="0">
                <a:latin typeface="Microsoft YaHei" panose="020B0503020204020204" pitchFamily="34" charset="-122"/>
                <a:ea typeface="Microsoft YaHei" panose="020B0503020204020204" pitchFamily="34" charset="-122"/>
              </a:rPr>
              <a:t>将</a:t>
            </a:r>
            <a:r>
              <a:rPr lang="zh-CN" altLang="en-US" sz="1600" dirty="0">
                <a:solidFill>
                  <a:schemeClr val="hlink"/>
                </a:solidFill>
                <a:latin typeface="Microsoft YaHei" panose="020B0503020204020204" pitchFamily="34" charset="-122"/>
                <a:ea typeface="Microsoft YaHei" panose="020B0503020204020204" pitchFamily="34" charset="-122"/>
              </a:rPr>
              <a:t>非主属性和侯选键之间</a:t>
            </a:r>
            <a:r>
              <a:rPr lang="zh-CN" altLang="en-US" sz="1600" dirty="0">
                <a:latin typeface="Microsoft YaHei" panose="020B0503020204020204" pitchFamily="34" charset="-122"/>
                <a:ea typeface="Microsoft YaHei" panose="020B0503020204020204" pitchFamily="34" charset="-122"/>
              </a:rPr>
              <a:t>满足</a:t>
            </a:r>
            <a:r>
              <a:rPr lang="zh-CN" altLang="en-US" sz="1600" dirty="0">
                <a:solidFill>
                  <a:srgbClr val="FF0000"/>
                </a:solidFill>
                <a:latin typeface="Microsoft YaHei" panose="020B0503020204020204" pitchFamily="34" charset="-122"/>
                <a:ea typeface="Microsoft YaHei" panose="020B0503020204020204" pitchFamily="34" charset="-122"/>
              </a:rPr>
              <a:t>部分</a:t>
            </a:r>
            <a:r>
              <a:rPr lang="zh-CN" altLang="en-US" sz="1600" dirty="0">
                <a:latin typeface="Microsoft YaHei" panose="020B0503020204020204" pitchFamily="34" charset="-122"/>
                <a:ea typeface="Microsoft YaHei" panose="020B0503020204020204" pitchFamily="34" charset="-122"/>
              </a:rPr>
              <a:t>函数依赖和满足</a:t>
            </a:r>
            <a:r>
              <a:rPr lang="zh-CN" altLang="en-US" sz="1600" dirty="0">
                <a:solidFill>
                  <a:srgbClr val="FF0000"/>
                </a:solidFill>
                <a:latin typeface="Microsoft YaHei" panose="020B0503020204020204" pitchFamily="34" charset="-122"/>
                <a:ea typeface="Microsoft YaHei" panose="020B0503020204020204" pitchFamily="34" charset="-122"/>
              </a:rPr>
              <a:t>完全</a:t>
            </a:r>
            <a:r>
              <a:rPr lang="zh-CN" altLang="en-US" sz="1600" dirty="0">
                <a:latin typeface="Microsoft YaHei" panose="020B0503020204020204" pitchFamily="34" charset="-122"/>
                <a:ea typeface="Microsoft YaHei" panose="020B0503020204020204" pitchFamily="34" charset="-122"/>
              </a:rPr>
              <a:t>函数依赖的属性分解到不同的关系中。</a:t>
            </a:r>
            <a:endParaRPr lang="en-US" altLang="zh-CN" sz="1600" dirty="0">
              <a:latin typeface="Microsoft YaHei" panose="020B0503020204020204" pitchFamily="34" charset="-122"/>
              <a:ea typeface="Microsoft YaHei" panose="020B0503020204020204" pitchFamily="34" charset="-122"/>
            </a:endParaRPr>
          </a:p>
          <a:p>
            <a:pPr marL="0" indent="0" eaLnBrk="1" hangingPunct="1">
              <a:buNone/>
            </a:pPr>
            <a:endParaRPr lang="zh-CN" altLang="en-US" sz="1600" dirty="0">
              <a:latin typeface="Microsoft YaHei" panose="020B0503020204020204" pitchFamily="34" charset="-122"/>
              <a:ea typeface="Microsoft YaHei" panose="020B0503020204020204" pitchFamily="34" charset="-122"/>
            </a:endParaRPr>
          </a:p>
          <a:p>
            <a:pPr marL="0" indent="0" eaLnBrk="1" hangingPunct="1"/>
            <a:r>
              <a:rPr lang="zh-CN" altLang="en-US" sz="1600" b="1" dirty="0">
                <a:latin typeface="Microsoft YaHei" panose="020B0503020204020204" pitchFamily="34" charset="-122"/>
                <a:ea typeface="Microsoft YaHei" panose="020B0503020204020204" pitchFamily="34" charset="-122"/>
              </a:rPr>
              <a:t> </a:t>
            </a:r>
            <a:r>
              <a:rPr lang="zh-CN" altLang="en-US" sz="1600" dirty="0">
                <a:latin typeface="Microsoft YaHei" panose="020B0503020204020204" pitchFamily="34" charset="-122"/>
                <a:ea typeface="Microsoft YaHei" panose="020B0503020204020204" pitchFamily="34" charset="-122"/>
              </a:rPr>
              <a:t>关系S分解为三个关系：</a:t>
            </a:r>
          </a:p>
          <a:p>
            <a:pPr marL="0" indent="0" algn="just" eaLnBrk="1" hangingPunct="1">
              <a:buNone/>
            </a:pPr>
            <a:r>
              <a:rPr lang="zh-CN" altLang="en-US" sz="1600" dirty="0">
                <a:latin typeface="Microsoft YaHei" panose="020B0503020204020204" pitchFamily="34" charset="-122"/>
                <a:ea typeface="Microsoft YaHei" panose="020B0503020204020204" pitchFamily="34" charset="-122"/>
              </a:rPr>
              <a:t>ST(</a:t>
            </a:r>
            <a:r>
              <a:rPr lang="zh-CN" altLang="en-US" sz="1600" u="sng" dirty="0">
                <a:solidFill>
                  <a:schemeClr val="hlink"/>
                </a:solidFill>
                <a:latin typeface="Microsoft YaHei" panose="020B0503020204020204" pitchFamily="34" charset="-122"/>
                <a:ea typeface="Microsoft YaHei" panose="020B0503020204020204" pitchFamily="34" charset="-122"/>
              </a:rPr>
              <a:t>SNO</a:t>
            </a:r>
            <a:r>
              <a:rPr lang="zh-CN" altLang="en-US" sz="1600" dirty="0">
                <a:latin typeface="Microsoft YaHei" panose="020B0503020204020204" pitchFamily="34" charset="-122"/>
                <a:ea typeface="Microsoft YaHei" panose="020B0503020204020204" pitchFamily="34" charset="-122"/>
              </a:rPr>
              <a:t>，SNAME，CLASS)（只依赖SNO的属性分解到一个子模式中）</a:t>
            </a:r>
          </a:p>
          <a:p>
            <a:pPr marL="0" indent="0" algn="just" eaLnBrk="1" hangingPunct="1">
              <a:buNone/>
            </a:pPr>
            <a:r>
              <a:rPr lang="zh-CN" altLang="en-US" sz="1600" dirty="0">
                <a:latin typeface="Microsoft YaHei" panose="020B0503020204020204" pitchFamily="34" charset="-122"/>
                <a:ea typeface="Microsoft YaHei" panose="020B0503020204020204" pitchFamily="34" charset="-122"/>
              </a:rPr>
              <a:t>CTA(</a:t>
            </a:r>
            <a:r>
              <a:rPr lang="zh-CN" altLang="en-US" sz="1600" u="sng" dirty="0">
                <a:solidFill>
                  <a:schemeClr val="hlink"/>
                </a:solidFill>
                <a:latin typeface="Microsoft YaHei" panose="020B0503020204020204" pitchFamily="34" charset="-122"/>
                <a:ea typeface="Microsoft YaHei" panose="020B0503020204020204" pitchFamily="34" charset="-122"/>
              </a:rPr>
              <a:t>CNO</a:t>
            </a:r>
            <a:r>
              <a:rPr lang="zh-CN" altLang="en-US" sz="1600" dirty="0">
                <a:latin typeface="Microsoft YaHei" panose="020B0503020204020204" pitchFamily="34" charset="-122"/>
                <a:ea typeface="Microsoft YaHei" panose="020B0503020204020204" pitchFamily="34" charset="-122"/>
              </a:rPr>
              <a:t>，TNO，TNAME，TAGE，ADDRESS) （只依赖CNO的属性分解到另一个子模式中）</a:t>
            </a:r>
          </a:p>
          <a:p>
            <a:pPr marL="0" indent="0" algn="just" eaLnBrk="1" hangingPunct="1">
              <a:buNone/>
            </a:pPr>
            <a:r>
              <a:rPr lang="zh-CN" altLang="en-US" sz="1600" dirty="0">
                <a:latin typeface="Microsoft YaHei" panose="020B0503020204020204" pitchFamily="34" charset="-122"/>
                <a:ea typeface="Microsoft YaHei" panose="020B0503020204020204" pitchFamily="34" charset="-122"/>
              </a:rPr>
              <a:t>SC(</a:t>
            </a:r>
            <a:r>
              <a:rPr lang="zh-CN" altLang="en-US" sz="1600" u="sng" dirty="0">
                <a:solidFill>
                  <a:schemeClr val="hlink"/>
                </a:solidFill>
                <a:latin typeface="Microsoft YaHei" panose="020B0503020204020204" pitchFamily="34" charset="-122"/>
                <a:ea typeface="Microsoft YaHei" panose="020B0503020204020204" pitchFamily="34" charset="-122"/>
              </a:rPr>
              <a:t>SNO，CNO</a:t>
            </a:r>
            <a:r>
              <a:rPr lang="zh-CN" altLang="en-US" sz="1600" dirty="0">
                <a:latin typeface="Microsoft YaHei" panose="020B0503020204020204" pitchFamily="34" charset="-122"/>
                <a:ea typeface="Microsoft YaHei" panose="020B0503020204020204" pitchFamily="34" charset="-122"/>
              </a:rPr>
              <a:t>，GRADE) （完全函数依赖于候选键的属性分解到第三个子模式中）</a:t>
            </a:r>
          </a:p>
          <a:p>
            <a:pPr marL="0" indent="0" algn="just" eaLnBrk="1" hangingPunct="1">
              <a:buNone/>
            </a:pPr>
            <a:r>
              <a:rPr lang="zh-CN" altLang="en-US" sz="1600" b="1" dirty="0">
                <a:latin typeface="Microsoft YaHei" panose="020B0503020204020204" pitchFamily="34" charset="-122"/>
                <a:ea typeface="Microsoft YaHei" panose="020B0503020204020204" pitchFamily="34" charset="-122"/>
              </a:rPr>
              <a:t>分解后，</a:t>
            </a:r>
            <a:r>
              <a:rPr lang="zh-CN" altLang="en-US" sz="1600" b="1" dirty="0">
                <a:solidFill>
                  <a:schemeClr val="hlink"/>
                </a:solidFill>
                <a:latin typeface="Microsoft YaHei" panose="020B0503020204020204" pitchFamily="34" charset="-122"/>
                <a:ea typeface="Microsoft YaHei" panose="020B0503020204020204" pitchFamily="34" charset="-122"/>
              </a:rPr>
              <a:t>关系ST、CTA和SC都为2NF</a:t>
            </a:r>
            <a:r>
              <a:rPr lang="zh-CN" altLang="en-US" sz="1600" b="1" dirty="0">
                <a:latin typeface="Microsoft YaHei" panose="020B0503020204020204" pitchFamily="34" charset="-122"/>
                <a:ea typeface="Microsoft YaHei" panose="020B0503020204020204" pitchFamily="34" charset="-122"/>
              </a:rPr>
              <a:t>。</a:t>
            </a:r>
            <a:endParaRPr lang="en-US" altLang="zh-CN" sz="1600" b="1" dirty="0">
              <a:latin typeface="Microsoft YaHei" panose="020B0503020204020204" pitchFamily="34" charset="-122"/>
              <a:ea typeface="Microsoft YaHei" panose="020B0503020204020204" pitchFamily="34" charset="-122"/>
            </a:endParaRPr>
          </a:p>
          <a:p>
            <a:pPr marL="0" indent="0" algn="just" eaLnBrk="1" hangingPunct="1">
              <a:buNone/>
            </a:pPr>
            <a:endParaRPr lang="zh-CN" altLang="en-US" sz="1600" b="1" dirty="0">
              <a:latin typeface="Microsoft YaHei" panose="020B0503020204020204" pitchFamily="34" charset="-122"/>
              <a:ea typeface="Microsoft YaHei" panose="020B0503020204020204" pitchFamily="34" charset="-122"/>
            </a:endParaRPr>
          </a:p>
          <a:p>
            <a:pPr marL="0" indent="0" algn="just" eaLnBrk="1" hangingPunct="1"/>
            <a:r>
              <a:rPr lang="zh-CN" altLang="en-US" sz="1600" b="1" dirty="0">
                <a:solidFill>
                  <a:schemeClr val="hlink"/>
                </a:solidFill>
                <a:latin typeface="Microsoft YaHei" panose="020B0503020204020204" pitchFamily="34" charset="-122"/>
                <a:ea typeface="Microsoft YaHei" panose="020B0503020204020204" pitchFamily="34" charset="-122"/>
              </a:rPr>
              <a:t> 结论：</a:t>
            </a:r>
            <a:r>
              <a:rPr lang="zh-CN" altLang="en-US" sz="1600" b="1" dirty="0">
                <a:solidFill>
                  <a:schemeClr val="folHlink"/>
                </a:solidFill>
                <a:latin typeface="Microsoft YaHei" panose="020B0503020204020204" pitchFamily="34" charset="-122"/>
                <a:ea typeface="Microsoft YaHei" panose="020B0503020204020204" pitchFamily="34" charset="-122"/>
              </a:rPr>
              <a:t>若关系R的侯选键是单属性的，则R必定是2NF</a:t>
            </a:r>
            <a:r>
              <a:rPr lang="zh-CN" altLang="en-US" sz="1600" b="1" dirty="0">
                <a:solidFill>
                  <a:srgbClr val="002060"/>
                </a:solidFill>
                <a:latin typeface="Microsoft YaHei" panose="020B0503020204020204" pitchFamily="34" charset="-122"/>
                <a:ea typeface="Microsoft YaHei" panose="020B0503020204020204" pitchFamily="34" charset="-122"/>
              </a:rPr>
              <a:t>。</a:t>
            </a:r>
            <a:endParaRPr lang="zh-CN" altLang="en-US" sz="1600" b="1" dirty="0">
              <a:solidFill>
                <a:schemeClr val="hlink"/>
              </a:solidFill>
              <a:latin typeface="Microsoft YaHei" panose="020B0503020204020204" pitchFamily="34" charset="-122"/>
              <a:ea typeface="Microsoft YaHei" panose="020B0503020204020204" pitchFamily="34" charset="-122"/>
            </a:endParaRPr>
          </a:p>
        </p:txBody>
      </p:sp>
      <p:sp>
        <p:nvSpPr>
          <p:cNvPr id="5" name="标题 4">
            <a:extLst>
              <a:ext uri="{FF2B5EF4-FFF2-40B4-BE49-F238E27FC236}">
                <a16:creationId xmlns:a16="http://schemas.microsoft.com/office/drawing/2014/main" id="{AFE8FC72-C8CA-793C-0E5D-489E5F0FD4B3}"/>
              </a:ext>
            </a:extLst>
          </p:cNvPr>
          <p:cNvSpPr>
            <a:spLocks noGrp="1"/>
          </p:cNvSpPr>
          <p:nvPr>
            <p:ph type="title"/>
          </p:nvPr>
        </p:nvSpPr>
        <p:spPr/>
        <p:txBody>
          <a:bodyPr/>
          <a:lstStyle/>
          <a:p>
            <a:r>
              <a:rPr lang="zh-CN" altLang="en-US" dirty="0"/>
              <a:t>规范为</a:t>
            </a:r>
            <a:r>
              <a:rPr lang="en-US" altLang="zh-CN" dirty="0"/>
              <a:t>2NF</a:t>
            </a:r>
            <a:endParaRPr lang="zh-CN" altLang="en-US"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Grp="1"/>
          </p:cNvSpPr>
          <p:nvPr>
            <p:custDataLst>
              <p:tags r:id="rId1"/>
            </p:custDataLst>
          </p:nvPr>
        </p:nvSpPr>
        <p:spPr>
          <a:xfrm>
            <a:off x="450727" y="1253548"/>
            <a:ext cx="8298066" cy="2927242"/>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marL="0" indent="0" algn="just" eaLnBrk="1" hangingPunct="1"/>
            <a:r>
              <a:rPr lang="zh-CN" altLang="en-US" sz="1800" b="1" dirty="0">
                <a:solidFill>
                  <a:schemeClr val="hlink"/>
                </a:solidFill>
                <a:latin typeface="Microsoft YaHei" panose="020B0503020204020204" pitchFamily="34" charset="-122"/>
                <a:ea typeface="Microsoft YaHei" panose="020B0503020204020204" pitchFamily="34" charset="-122"/>
              </a:rPr>
              <a:t> 达到2NF的关系仍然可能存在问题。</a:t>
            </a:r>
          </a:p>
          <a:p>
            <a:pPr marL="0" indent="0" algn="just" eaLnBrk="1" hangingPunct="1">
              <a:buNone/>
            </a:pPr>
            <a:r>
              <a:rPr lang="zh-CN" altLang="en-US" sz="1800" dirty="0">
                <a:latin typeface="Microsoft YaHei" panose="020B0503020204020204" pitchFamily="34" charset="-122"/>
                <a:ea typeface="Microsoft YaHei" panose="020B0503020204020204" pitchFamily="34" charset="-122"/>
              </a:rPr>
              <a:t>例如，在</a:t>
            </a:r>
            <a:r>
              <a:rPr lang="zh-CN" altLang="en-US" sz="1800" dirty="0">
                <a:solidFill>
                  <a:schemeClr val="folHlink"/>
                </a:solidFill>
                <a:latin typeface="Microsoft YaHei" panose="020B0503020204020204" pitchFamily="34" charset="-122"/>
                <a:ea typeface="Microsoft YaHei" panose="020B0503020204020204" pitchFamily="34" charset="-122"/>
              </a:rPr>
              <a:t>关系CTA</a:t>
            </a:r>
            <a:r>
              <a:rPr lang="zh-CN" altLang="en-US" sz="1800" dirty="0">
                <a:latin typeface="Microsoft YaHei" panose="020B0503020204020204" pitchFamily="34" charset="-122"/>
                <a:ea typeface="Microsoft YaHei" panose="020B0503020204020204" pitchFamily="34" charset="-122"/>
              </a:rPr>
              <a:t> (</a:t>
            </a:r>
            <a:r>
              <a:rPr lang="zh-CN" altLang="en-US" sz="1800" u="sng" dirty="0">
                <a:solidFill>
                  <a:schemeClr val="hlink"/>
                </a:solidFill>
                <a:latin typeface="Microsoft YaHei" panose="020B0503020204020204" pitchFamily="34" charset="-122"/>
                <a:ea typeface="Microsoft YaHei" panose="020B0503020204020204" pitchFamily="34" charset="-122"/>
              </a:rPr>
              <a:t>CNO</a:t>
            </a:r>
            <a:r>
              <a:rPr lang="zh-CN" altLang="en-US" sz="1800" dirty="0">
                <a:latin typeface="Microsoft YaHei" panose="020B0503020204020204" pitchFamily="34" charset="-122"/>
                <a:ea typeface="Microsoft YaHei" panose="020B0503020204020204" pitchFamily="34" charset="-122"/>
              </a:rPr>
              <a:t>，TNO，TNAME，TAGE，ADDRESS)中还存在以下问题：</a:t>
            </a:r>
          </a:p>
          <a:p>
            <a:pPr marL="0" indent="0" algn="just" eaLnBrk="1" hangingPunct="1">
              <a:buNone/>
            </a:pPr>
            <a:r>
              <a:rPr lang="zh-CN" altLang="en-US" sz="1800" dirty="0">
                <a:latin typeface="Microsoft YaHei" panose="020B0503020204020204" pitchFamily="34" charset="-122"/>
                <a:ea typeface="Microsoft YaHei" panose="020B0503020204020204" pitchFamily="34" charset="-122"/>
              </a:rPr>
              <a:t>（1）数据冗余。一个教师承担多门课程时，教师的姓名、年龄、地址要重复存储。</a:t>
            </a:r>
          </a:p>
          <a:p>
            <a:pPr marL="0" indent="0" algn="just" eaLnBrk="1" hangingPunct="1">
              <a:buNone/>
            </a:pPr>
            <a:r>
              <a:rPr lang="zh-CN" altLang="en-US" sz="1800" dirty="0">
                <a:latin typeface="Microsoft YaHei" panose="020B0503020204020204" pitchFamily="34" charset="-122"/>
                <a:ea typeface="Microsoft YaHei" panose="020B0503020204020204" pitchFamily="34" charset="-122"/>
              </a:rPr>
              <a:t>（2）修改复杂。一个教师更换地址时，必须修改相关的多个元组。</a:t>
            </a:r>
          </a:p>
          <a:p>
            <a:pPr marL="0" indent="0" algn="just" eaLnBrk="1" hangingPunct="1">
              <a:buNone/>
            </a:pPr>
            <a:r>
              <a:rPr lang="zh-CN" altLang="en-US" sz="1800" dirty="0">
                <a:latin typeface="Microsoft YaHei" panose="020B0503020204020204" pitchFamily="34" charset="-122"/>
                <a:ea typeface="Microsoft YaHei" panose="020B0503020204020204" pitchFamily="34" charset="-122"/>
              </a:rPr>
              <a:t>（3）插入异常。一个新教师报到，需将其有关数据插入到CTA关系中，但该教师暂时还未承担任何教学任务，则因缺键CNO值而不能进行插入操作。</a:t>
            </a:r>
          </a:p>
          <a:p>
            <a:pPr marL="0" indent="0" algn="just" eaLnBrk="1" hangingPunct="1">
              <a:buNone/>
            </a:pPr>
            <a:r>
              <a:rPr lang="zh-CN" altLang="en-US" sz="1800" dirty="0">
                <a:latin typeface="Microsoft YaHei" panose="020B0503020204020204" pitchFamily="34" charset="-122"/>
                <a:ea typeface="Microsoft YaHei" panose="020B0503020204020204" pitchFamily="34" charset="-122"/>
              </a:rPr>
              <a:t>（4）删除异常。删除某门课程时，会丢失该课程任课教师的姓名、年龄和地址信息。</a:t>
            </a:r>
          </a:p>
        </p:txBody>
      </p:sp>
      <p:sp>
        <p:nvSpPr>
          <p:cNvPr id="4" name="标题 3">
            <a:extLst>
              <a:ext uri="{FF2B5EF4-FFF2-40B4-BE49-F238E27FC236}">
                <a16:creationId xmlns:a16="http://schemas.microsoft.com/office/drawing/2014/main" id="{E76FAC7B-D662-3925-9088-51144B3FC676}"/>
              </a:ext>
            </a:extLst>
          </p:cNvPr>
          <p:cNvSpPr>
            <a:spLocks noGrp="1"/>
          </p:cNvSpPr>
          <p:nvPr>
            <p:ph type="title"/>
          </p:nvPr>
        </p:nvSpPr>
        <p:spPr/>
        <p:txBody>
          <a:bodyPr/>
          <a:lstStyle/>
          <a:p>
            <a:r>
              <a:rPr lang="zh-CN" altLang="en-US" dirty="0"/>
              <a:t>进一步规范的需求</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1986" name="Rectangle 3"/>
              <p:cNvSpPr>
                <a:spLocks noGrp="1"/>
              </p:cNvSpPr>
              <p:nvPr>
                <p:custDataLst>
                  <p:tags r:id="rId1"/>
                </p:custDataLst>
              </p:nvPr>
            </p:nvSpPr>
            <p:spPr>
              <a:xfrm>
                <a:off x="325464" y="982357"/>
                <a:ext cx="8493071" cy="3664833"/>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marL="0" indent="0" eaLnBrk="1" hangingPunct="1">
                  <a:lnSpc>
                    <a:spcPct val="90000"/>
                  </a:lnSpc>
                </a:pPr>
                <a:r>
                  <a:rPr lang="zh-CN" altLang="en-US" sz="1600" b="1" dirty="0">
                    <a:solidFill>
                      <a:schemeClr val="hlink"/>
                    </a:solidFill>
                    <a:latin typeface="Microsoft YaHei" panose="020B0503020204020204" pitchFamily="34" charset="-122"/>
                    <a:ea typeface="Microsoft YaHei" panose="020B0503020204020204" pitchFamily="34" charset="-122"/>
                  </a:rPr>
                  <a:t> 第三范式3NF</a:t>
                </a:r>
                <a:r>
                  <a:rPr lang="zh-CN" altLang="en-US" sz="1600" b="1" dirty="0">
                    <a:solidFill>
                      <a:schemeClr val="folHlink"/>
                    </a:solidFill>
                    <a:latin typeface="Microsoft YaHei" panose="020B0503020204020204" pitchFamily="34" charset="-122"/>
                    <a:ea typeface="Microsoft YaHei" panose="020B0503020204020204" pitchFamily="34" charset="-122"/>
                  </a:rPr>
                  <a:t>定义:</a:t>
                </a:r>
                <a:r>
                  <a:rPr lang="zh-CN" altLang="en-US" sz="1600" dirty="0">
                    <a:latin typeface="Microsoft YaHei" panose="020B0503020204020204" pitchFamily="34" charset="-122"/>
                    <a:ea typeface="Microsoft YaHei" panose="020B0503020204020204" pitchFamily="34" charset="-122"/>
                  </a:rPr>
                  <a:t>若R∈1NF，且R的任何一个非主属性都不传递函数依赖于它的任何一个候选键，则R∈3NF。</a:t>
                </a:r>
              </a:p>
              <a:p>
                <a:pPr marL="0" indent="0" eaLnBrk="1" hangingPunct="1">
                  <a:lnSpc>
                    <a:spcPct val="90000"/>
                  </a:lnSpc>
                </a:pPr>
                <a:r>
                  <a:rPr lang="zh-CN" altLang="en-US" sz="1600" dirty="0">
                    <a:latin typeface="Microsoft YaHei" panose="020B0503020204020204" pitchFamily="34" charset="-122"/>
                    <a:ea typeface="Microsoft YaHei" panose="020B0503020204020204" pitchFamily="34" charset="-122"/>
                  </a:rPr>
                  <a:t> 关系CTA是2NF，但不是3NF。因为CNO是候选键，TNO、TNAME、TAGE、ADDRESS是非主属性，</a:t>
                </a:r>
              </a:p>
              <a:p>
                <a:pPr marL="0" indent="0" eaLnBrk="1" hangingPunct="1">
                  <a:lnSpc>
                    <a:spcPct val="90000"/>
                  </a:lnSpc>
                  <a:buNone/>
                </a:pPr>
                <a:r>
                  <a:rPr lang="zh-CN" altLang="en-US" sz="1600" dirty="0">
                    <a:latin typeface="Microsoft YaHei" panose="020B0503020204020204" pitchFamily="34" charset="-122"/>
                    <a:ea typeface="Microsoft YaHei" panose="020B0503020204020204" pitchFamily="34" charset="-122"/>
                  </a:rPr>
                  <a:t>  由于CNO→TNO，TNO</a:t>
                </a:r>
                <a:r>
                  <a:rPr lang="zh-CN" altLang="en-US" sz="1600" dirty="0">
                    <a:solidFill>
                      <a:prstClr val="black"/>
                    </a:solidFill>
                  </a:rPr>
                  <a:t> </a:t>
                </a:r>
                <a:r>
                  <a:rPr lang="zh-CN" altLang="en-US" sz="2000" dirty="0">
                    <a:solidFill>
                      <a:prstClr val="black"/>
                    </a:solidFill>
                  </a:rPr>
                  <a:t>↛ </a:t>
                </a:r>
                <a:r>
                  <a:rPr lang="zh-CN" altLang="en-US" sz="1600" dirty="0">
                    <a:latin typeface="Microsoft YaHei" panose="020B0503020204020204" pitchFamily="34" charset="-122"/>
                    <a:ea typeface="Microsoft YaHei" panose="020B0503020204020204" pitchFamily="34" charset="-122"/>
                  </a:rPr>
                  <a:t>CNO，TNO→TNAME，所以</a:t>
                </a:r>
              </a:p>
              <a:p>
                <a:pPr marL="0" indent="0" eaLnBrk="1" hangingPunct="1">
                  <a:lnSpc>
                    <a:spcPct val="90000"/>
                  </a:lnSpc>
                  <a:buNone/>
                </a:pPr>
                <a:r>
                  <a:rPr lang="zh-CN" altLang="en-US" sz="1600" dirty="0">
                    <a:latin typeface="Microsoft YaHei" panose="020B0503020204020204" pitchFamily="34" charset="-122"/>
                    <a:ea typeface="Microsoft YaHei" panose="020B0503020204020204" pitchFamily="34" charset="-122"/>
                  </a:rPr>
                  <a:t>  CNO</a:t>
                </a:r>
                <a:r>
                  <a:rPr lang="en-US" altLang="zh-CN" sz="1600" kern="0" noProof="1">
                    <a:solidFill>
                      <a:schemeClr val="hlink"/>
                    </a:solidFill>
                  </a:rPr>
                  <a:t> </a:t>
                </a:r>
                <a14:m>
                  <m:oMath xmlns:m="http://schemas.openxmlformats.org/officeDocument/2006/math">
                    <m:groupChr>
                      <m:groupChrPr>
                        <m:chr m:val="→"/>
                        <m:vertJc m:val="bot"/>
                        <m:ctrlPr>
                          <a:rPr lang="en-US" altLang="zh-CN" sz="1600" i="1" kern="0" noProof="1">
                            <a:solidFill>
                              <a:schemeClr val="hlink"/>
                            </a:solidFill>
                            <a:latin typeface="Cambria Math" panose="02040503050406030204" pitchFamily="18" charset="0"/>
                          </a:rPr>
                        </m:ctrlPr>
                      </m:groupChrPr>
                      <m:e>
                        <m:r>
                          <a:rPr lang="en-US" altLang="zh-CN" sz="1600" b="0" i="1" kern="0" noProof="1" smtClean="0">
                            <a:solidFill>
                              <a:schemeClr val="hlink"/>
                            </a:solidFill>
                            <a:latin typeface="Cambria Math" panose="02040503050406030204" pitchFamily="18" charset="0"/>
                          </a:rPr>
                          <m:t>𝑇</m:t>
                        </m:r>
                      </m:e>
                    </m:groupChr>
                    <m:r>
                      <a:rPr lang="en-US" altLang="zh-CN" sz="1600" i="1" kern="0" noProof="1">
                        <a:solidFill>
                          <a:schemeClr val="hlink"/>
                        </a:solidFill>
                        <a:latin typeface="Cambria Math" panose="02040503050406030204" pitchFamily="18" charset="0"/>
                      </a:rPr>
                      <m:t> </m:t>
                    </m:r>
                  </m:oMath>
                </a14:m>
                <a:r>
                  <a:rPr lang="zh-CN" altLang="en-US" sz="1600" dirty="0">
                    <a:latin typeface="Microsoft YaHei" panose="020B0503020204020204" pitchFamily="34" charset="-122"/>
                    <a:ea typeface="Microsoft YaHei" panose="020B0503020204020204" pitchFamily="34" charset="-122"/>
                  </a:rPr>
                  <a:t>TNAME </a:t>
                </a:r>
              </a:p>
              <a:p>
                <a:pPr marL="0" indent="0" eaLnBrk="1" hangingPunct="1">
                  <a:lnSpc>
                    <a:spcPct val="90000"/>
                  </a:lnSpc>
                  <a:buNone/>
                </a:pPr>
                <a:r>
                  <a:rPr lang="zh-CN" altLang="en-US" sz="1600" dirty="0">
                    <a:latin typeface="Microsoft YaHei" panose="020B0503020204020204" pitchFamily="34" charset="-122"/>
                    <a:ea typeface="Microsoft YaHei" panose="020B0503020204020204" pitchFamily="34" charset="-122"/>
                  </a:rPr>
                  <a:t>  同样有CNO</a:t>
                </a:r>
                <a:r>
                  <a:rPr lang="en-US" altLang="zh-CN" sz="1600" kern="0" noProof="1">
                    <a:solidFill>
                      <a:schemeClr val="hlink"/>
                    </a:solidFill>
                  </a:rPr>
                  <a:t> </a:t>
                </a:r>
                <a14:m>
                  <m:oMath xmlns:m="http://schemas.openxmlformats.org/officeDocument/2006/math">
                    <m:groupChr>
                      <m:groupChrPr>
                        <m:chr m:val="→"/>
                        <m:vertJc m:val="bot"/>
                        <m:ctrlPr>
                          <a:rPr lang="en-US" altLang="zh-CN" sz="1600" i="1" kern="0" noProof="1">
                            <a:solidFill>
                              <a:schemeClr val="hlink"/>
                            </a:solidFill>
                            <a:latin typeface="Cambria Math" panose="02040503050406030204" pitchFamily="18" charset="0"/>
                          </a:rPr>
                        </m:ctrlPr>
                      </m:groupChrPr>
                      <m:e>
                        <m:r>
                          <a:rPr lang="en-US" altLang="zh-CN" sz="1600" i="1" kern="0" noProof="1">
                            <a:solidFill>
                              <a:schemeClr val="hlink"/>
                            </a:solidFill>
                            <a:latin typeface="Cambria Math" panose="02040503050406030204" pitchFamily="18" charset="0"/>
                          </a:rPr>
                          <m:t>𝑇</m:t>
                        </m:r>
                      </m:e>
                    </m:groupChr>
                    <m:r>
                      <a:rPr lang="en-US" altLang="zh-CN" sz="1600" i="1" kern="0" noProof="1">
                        <a:solidFill>
                          <a:schemeClr val="hlink"/>
                        </a:solidFill>
                        <a:latin typeface="Cambria Math" panose="02040503050406030204" pitchFamily="18" charset="0"/>
                      </a:rPr>
                      <m:t> </m:t>
                    </m:r>
                  </m:oMath>
                </a14:m>
                <a:r>
                  <a:rPr lang="zh-CN" altLang="en-US" sz="1600" dirty="0">
                    <a:latin typeface="Microsoft YaHei" panose="020B0503020204020204" pitchFamily="34" charset="-122"/>
                    <a:ea typeface="Microsoft YaHei" panose="020B0503020204020204" pitchFamily="34" charset="-122"/>
                  </a:rPr>
                  <a:t>TAGE， CNO</a:t>
                </a:r>
                <a:r>
                  <a:rPr lang="en-US" altLang="zh-CN" sz="1600" kern="0" noProof="1">
                    <a:solidFill>
                      <a:schemeClr val="hlink"/>
                    </a:solidFill>
                  </a:rPr>
                  <a:t> </a:t>
                </a:r>
                <a14:m>
                  <m:oMath xmlns:m="http://schemas.openxmlformats.org/officeDocument/2006/math">
                    <m:groupChr>
                      <m:groupChrPr>
                        <m:chr m:val="→"/>
                        <m:vertJc m:val="bot"/>
                        <m:ctrlPr>
                          <a:rPr lang="en-US" altLang="zh-CN" sz="1600" i="1" kern="0" noProof="1">
                            <a:solidFill>
                              <a:schemeClr val="hlink"/>
                            </a:solidFill>
                            <a:latin typeface="Cambria Math" panose="02040503050406030204" pitchFamily="18" charset="0"/>
                          </a:rPr>
                        </m:ctrlPr>
                      </m:groupChrPr>
                      <m:e>
                        <m:r>
                          <a:rPr lang="en-US" altLang="zh-CN" sz="1600" i="1" kern="0" noProof="1">
                            <a:solidFill>
                              <a:schemeClr val="hlink"/>
                            </a:solidFill>
                            <a:latin typeface="Cambria Math" panose="02040503050406030204" pitchFamily="18" charset="0"/>
                          </a:rPr>
                          <m:t>𝑇</m:t>
                        </m:r>
                      </m:e>
                    </m:groupChr>
                    <m:r>
                      <a:rPr lang="en-US" altLang="zh-CN" sz="1600" i="1" kern="0" noProof="1">
                        <a:solidFill>
                          <a:schemeClr val="hlink"/>
                        </a:solidFill>
                        <a:latin typeface="Cambria Math" panose="02040503050406030204" pitchFamily="18" charset="0"/>
                      </a:rPr>
                      <m:t> </m:t>
                    </m:r>
                  </m:oMath>
                </a14:m>
                <a:r>
                  <a:rPr lang="zh-CN" altLang="en-US" sz="1600" dirty="0">
                    <a:latin typeface="Microsoft YaHei" panose="020B0503020204020204" pitchFamily="34" charset="-122"/>
                    <a:ea typeface="Microsoft YaHei" panose="020B0503020204020204" pitchFamily="34" charset="-122"/>
                  </a:rPr>
                  <a:t>ADDRESS，即存在非主属性对候选键的传递函数依赖。</a:t>
                </a:r>
              </a:p>
              <a:p>
                <a:pPr marL="0" indent="0" eaLnBrk="1" hangingPunct="1">
                  <a:lnSpc>
                    <a:spcPct val="90000"/>
                  </a:lnSpc>
                </a:pPr>
                <a:r>
                  <a:rPr lang="zh-CN" altLang="en-US" sz="1600" b="1" dirty="0">
                    <a:solidFill>
                      <a:schemeClr val="hlink"/>
                    </a:solidFill>
                    <a:latin typeface="Microsoft YaHei" panose="020B0503020204020204" pitchFamily="34" charset="-122"/>
                    <a:ea typeface="Microsoft YaHei" panose="020B0503020204020204" pitchFamily="34" charset="-122"/>
                  </a:rPr>
                  <a:t> 分解为3NF的方法：</a:t>
                </a:r>
                <a:r>
                  <a:rPr lang="zh-CN" altLang="en-US" sz="1600" dirty="0">
                    <a:latin typeface="Microsoft YaHei" panose="020B0503020204020204" pitchFamily="34" charset="-122"/>
                    <a:ea typeface="Microsoft YaHei" panose="020B0503020204020204" pitchFamily="34" charset="-122"/>
                  </a:rPr>
                  <a:t>将涉及传递函数依赖中的两个依赖中的属性分解到不同的关系中。</a:t>
                </a:r>
              </a:p>
              <a:p>
                <a:pPr marL="0" indent="0" eaLnBrk="1" hangingPunct="1">
                  <a:lnSpc>
                    <a:spcPct val="90000"/>
                  </a:lnSpc>
                </a:pPr>
                <a:r>
                  <a:rPr lang="zh-CN" altLang="en-US" sz="1600" dirty="0">
                    <a:latin typeface="Microsoft YaHei" panose="020B0503020204020204" pitchFamily="34" charset="-122"/>
                    <a:ea typeface="Microsoft YaHei" panose="020B0503020204020204" pitchFamily="34" charset="-122"/>
                  </a:rPr>
                  <a:t> 将CTA分解为：</a:t>
                </a:r>
              </a:p>
              <a:p>
                <a:pPr marL="0" indent="0" algn="just" eaLnBrk="1" hangingPunct="1">
                  <a:lnSpc>
                    <a:spcPct val="90000"/>
                  </a:lnSpc>
                  <a:buNone/>
                </a:pPr>
                <a:r>
                  <a:rPr lang="zh-CN" altLang="en-US" sz="1600" dirty="0">
                    <a:latin typeface="Microsoft YaHei" panose="020B0503020204020204" pitchFamily="34" charset="-122"/>
                    <a:ea typeface="Microsoft YaHei" panose="020B0503020204020204" pitchFamily="34" charset="-122"/>
                  </a:rPr>
                  <a:t>    CT(CNO，TNO)</a:t>
                </a:r>
              </a:p>
              <a:p>
                <a:pPr marL="0" indent="0" algn="just" eaLnBrk="1" hangingPunct="1">
                  <a:lnSpc>
                    <a:spcPct val="90000"/>
                  </a:lnSpc>
                  <a:buNone/>
                </a:pPr>
                <a:r>
                  <a:rPr lang="zh-CN" altLang="en-US" sz="1600" dirty="0">
                    <a:latin typeface="Microsoft YaHei" panose="020B0503020204020204" pitchFamily="34" charset="-122"/>
                    <a:ea typeface="Microsoft YaHei" panose="020B0503020204020204" pitchFamily="34" charset="-122"/>
                  </a:rPr>
                  <a:t>    TA(TNO，TNAME，TAGE，ADDRESS)</a:t>
                </a:r>
                <a:endParaRPr lang="en-US" altLang="zh-CN" sz="1600" dirty="0">
                  <a:latin typeface="Microsoft YaHei" panose="020B0503020204020204" pitchFamily="34" charset="-122"/>
                  <a:ea typeface="Microsoft YaHei" panose="020B0503020204020204" pitchFamily="34" charset="-122"/>
                </a:endParaRPr>
              </a:p>
              <a:p>
                <a:pPr marL="0" indent="0" algn="just" eaLnBrk="1" hangingPunct="1">
                  <a:lnSpc>
                    <a:spcPct val="90000"/>
                  </a:lnSpc>
                  <a:buNone/>
                </a:pPr>
                <a:endParaRPr lang="zh-CN" altLang="en-US" sz="1600" dirty="0">
                  <a:latin typeface="Microsoft YaHei" panose="020B0503020204020204" pitchFamily="34" charset="-122"/>
                  <a:ea typeface="Microsoft YaHei" panose="020B0503020204020204" pitchFamily="34" charset="-122"/>
                </a:endParaRPr>
              </a:p>
              <a:p>
                <a:pPr marL="0" indent="0" algn="just" eaLnBrk="1" hangingPunct="1">
                  <a:lnSpc>
                    <a:spcPct val="90000"/>
                  </a:lnSpc>
                  <a:buNone/>
                </a:pPr>
                <a:r>
                  <a:rPr lang="zh-CN" altLang="en-US" sz="1600" dirty="0">
                    <a:latin typeface="Microsoft YaHei" panose="020B0503020204020204" pitchFamily="34" charset="-122"/>
                    <a:ea typeface="Microsoft YaHei" panose="020B0503020204020204" pitchFamily="34" charset="-122"/>
                  </a:rPr>
                  <a:t> 则关系CT和TA都是3NF，关系CTA中存在的问题得到了解决。</a:t>
                </a:r>
              </a:p>
            </p:txBody>
          </p:sp>
        </mc:Choice>
        <mc:Fallback xmlns="">
          <p:sp>
            <p:nvSpPr>
              <p:cNvPr id="41986" name="Rectangle 3"/>
              <p:cNvSpPr>
                <a:spLocks noGrp="1" noRot="1" noChangeAspect="1" noMove="1" noResize="1" noEditPoints="1" noAdjustHandles="1" noChangeArrowheads="1" noChangeShapeType="1" noTextEdit="1"/>
              </p:cNvSpPr>
              <p:nvPr>
                <p:custDataLst>
                  <p:tags r:id="rId3"/>
                </p:custDataLst>
              </p:nvPr>
            </p:nvSpPr>
            <p:spPr>
              <a:xfrm>
                <a:off x="325464" y="982357"/>
                <a:ext cx="8493071" cy="3664833"/>
              </a:xfrm>
              <a:prstGeom prst="rect">
                <a:avLst/>
              </a:prstGeom>
              <a:blipFill>
                <a:blip r:embed="rId4"/>
                <a:stretch>
                  <a:fillRect l="-597" t="-1730" b="-2422"/>
                </a:stretch>
              </a:blipFill>
              <a:ln w="9525">
                <a:noFill/>
              </a:ln>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AF246F44-0AF1-59E3-8422-D452ECA30321}"/>
              </a:ext>
            </a:extLst>
          </p:cNvPr>
          <p:cNvSpPr>
            <a:spLocks noGrp="1"/>
          </p:cNvSpPr>
          <p:nvPr>
            <p:ph type="title"/>
          </p:nvPr>
        </p:nvSpPr>
        <p:spPr/>
        <p:txBody>
          <a:bodyPr/>
          <a:lstStyle/>
          <a:p>
            <a:r>
              <a:rPr lang="zh-CN" altLang="en-US" dirty="0"/>
              <a:t>第三范式</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3010" name="Rectangle 3"/>
              <p:cNvSpPr>
                <a:spLocks noGrp="1"/>
              </p:cNvSpPr>
              <p:nvPr>
                <p:ph idx="1"/>
              </p:nvPr>
            </p:nvSpPr>
            <p:spPr/>
            <p:txBody>
              <a:bodyPr vert="horz" wrap="square" lIns="68580" tIns="34290" rIns="68580" bIns="34290" anchor="t" anchorCtr="0"/>
              <a:lstStyle/>
              <a:p>
                <a:pPr marL="0" indent="0">
                  <a:lnSpc>
                    <a:spcPct val="130000"/>
                  </a:lnSpc>
                </a:pPr>
                <a:r>
                  <a:rPr lang="zh-CN" altLang="en-US" sz="1800" b="1" dirty="0">
                    <a:solidFill>
                      <a:schemeClr val="hlink"/>
                    </a:solidFill>
                  </a:rPr>
                  <a:t> 定理</a:t>
                </a:r>
                <a:r>
                  <a:rPr lang="en-US" altLang="zh-CN" sz="1800" b="1" dirty="0">
                    <a:solidFill>
                      <a:schemeClr val="hlink"/>
                    </a:solidFill>
                  </a:rPr>
                  <a:t>4.1</a:t>
                </a:r>
                <a:r>
                  <a:rPr lang="zh-CN" altLang="en-US" sz="1800" b="1" dirty="0">
                    <a:solidFill>
                      <a:schemeClr val="hlink"/>
                    </a:solidFill>
                  </a:rPr>
                  <a:t>：</a:t>
                </a:r>
                <a:r>
                  <a:rPr lang="zh-CN" altLang="en-US" sz="1800" dirty="0"/>
                  <a:t>一个3NF的关系必定是2NF。</a:t>
                </a:r>
              </a:p>
              <a:p>
                <a:pPr marL="0" indent="0" algn="just">
                  <a:lnSpc>
                    <a:spcPct val="130000"/>
                  </a:lnSpc>
                  <a:buNone/>
                </a:pPr>
                <a:r>
                  <a:rPr lang="zh-CN" altLang="en-US" sz="1800" b="1" dirty="0">
                    <a:solidFill>
                      <a:schemeClr val="hlink"/>
                    </a:solidFill>
                  </a:rPr>
                  <a:t>证明：</a:t>
                </a:r>
                <a:r>
                  <a:rPr lang="zh-CN" altLang="en-US" sz="1800" dirty="0"/>
                  <a:t>用反证法。设R</a:t>
                </a:r>
                <a:r>
                  <a:rPr lang="en-US" altLang="zh-CN" sz="1800" dirty="0"/>
                  <a:t>∈</a:t>
                </a:r>
                <a:r>
                  <a:rPr lang="zh-CN" altLang="en-US" sz="1800" dirty="0"/>
                  <a:t>3NF，但不是2NF，则必存在非主属性A、候选键X和X的真子集X</a:t>
                </a:r>
                <a:r>
                  <a:rPr lang="en-US" altLang="zh-CN" sz="1800" dirty="0"/>
                  <a:t>′</a:t>
                </a:r>
                <a:r>
                  <a:rPr lang="zh-CN" altLang="en-US" sz="1800" dirty="0"/>
                  <a:t>存在，使得X</a:t>
                </a:r>
                <a:r>
                  <a:rPr lang="en-US" altLang="zh-CN" sz="1800" dirty="0"/>
                  <a:t>′</a:t>
                </a:r>
                <a:r>
                  <a:rPr lang="zh-CN" altLang="en-US" sz="1800" dirty="0"/>
                  <a:t>→A。由于X</a:t>
                </a:r>
                <a:r>
                  <a:rPr lang="en-US" altLang="zh-CN" sz="1800" dirty="0"/>
                  <a:t>′</a:t>
                </a:r>
                <a:r>
                  <a:rPr lang="zh-CN" altLang="en-US" sz="1800" dirty="0"/>
                  <a:t>是候选键X的真子集，所以可以断定X</a:t>
                </a:r>
                <a:r>
                  <a:rPr lang="en-US" altLang="zh-CN" sz="1800" dirty="0"/>
                  <a:t>′</a:t>
                </a:r>
                <a:r>
                  <a:rPr lang="zh-CN" altLang="en-US" sz="2400" dirty="0">
                    <a:solidFill>
                      <a:prstClr val="black"/>
                    </a:solidFill>
                  </a:rPr>
                  <a:t>↛</a:t>
                </a:r>
                <a:r>
                  <a:rPr lang="zh-CN" altLang="en-US" sz="1800" dirty="0"/>
                  <a:t>X，则</a:t>
                </a:r>
                <a:r>
                  <a:rPr lang="zh-CN" altLang="en-US" sz="1800" dirty="0">
                    <a:solidFill>
                      <a:schemeClr val="hlink"/>
                    </a:solidFill>
                  </a:rPr>
                  <a:t>X</a:t>
                </a:r>
                <a:r>
                  <a:rPr lang="en-US" altLang="zh-CN" sz="1800" kern="0" noProof="1">
                    <a:solidFill>
                      <a:schemeClr val="hlink"/>
                    </a:solidFill>
                  </a:rPr>
                  <a:t> </a:t>
                </a:r>
                <a14:m>
                  <m:oMath xmlns:m="http://schemas.openxmlformats.org/officeDocument/2006/math">
                    <m:groupChr>
                      <m:groupChrPr>
                        <m:chr m:val="→"/>
                        <m:vertJc m:val="bot"/>
                        <m:ctrlPr>
                          <a:rPr lang="en-US" altLang="zh-CN" sz="1800" i="1" kern="0" noProof="1">
                            <a:solidFill>
                              <a:schemeClr val="hlink"/>
                            </a:solidFill>
                            <a:latin typeface="Cambria Math" panose="02040503050406030204" pitchFamily="18" charset="0"/>
                          </a:rPr>
                        </m:ctrlPr>
                      </m:groupChrPr>
                      <m:e>
                        <m:r>
                          <a:rPr lang="en-US" altLang="zh-CN" sz="1800" i="1" kern="0" noProof="1">
                            <a:solidFill>
                              <a:schemeClr val="hlink"/>
                            </a:solidFill>
                            <a:latin typeface="Cambria Math" panose="02040503050406030204" pitchFamily="18" charset="0"/>
                          </a:rPr>
                          <m:t>𝑇</m:t>
                        </m:r>
                      </m:e>
                    </m:groupChr>
                    <m:r>
                      <a:rPr lang="en-US" altLang="zh-CN" sz="1800" i="1" kern="0" noProof="1">
                        <a:solidFill>
                          <a:schemeClr val="hlink"/>
                        </a:solidFill>
                        <a:latin typeface="Cambria Math" panose="02040503050406030204" pitchFamily="18" charset="0"/>
                      </a:rPr>
                      <m:t> </m:t>
                    </m:r>
                  </m:oMath>
                </a14:m>
                <a:r>
                  <a:rPr lang="zh-CN" altLang="en-US" sz="1800" dirty="0">
                    <a:solidFill>
                      <a:schemeClr val="hlink"/>
                    </a:solidFill>
                  </a:rPr>
                  <a:t>A（X→X</a:t>
                </a:r>
                <a:r>
                  <a:rPr lang="en-US" altLang="zh-CN" sz="1800" dirty="0">
                    <a:solidFill>
                      <a:schemeClr val="hlink"/>
                    </a:solidFill>
                  </a:rPr>
                  <a:t>′</a:t>
                </a:r>
                <a:r>
                  <a:rPr lang="zh-CN" altLang="en-US" sz="1800" dirty="0">
                    <a:solidFill>
                      <a:schemeClr val="hlink"/>
                    </a:solidFill>
                  </a:rPr>
                  <a:t>，X</a:t>
                </a:r>
                <a:r>
                  <a:rPr lang="en-US" altLang="zh-CN" sz="1800" dirty="0">
                    <a:solidFill>
                      <a:schemeClr val="hlink"/>
                    </a:solidFill>
                  </a:rPr>
                  <a:t>′</a:t>
                </a:r>
                <a:r>
                  <a:rPr lang="zh-CN" altLang="en-US" sz="1800" dirty="0">
                    <a:solidFill>
                      <a:prstClr val="black"/>
                    </a:solidFill>
                  </a:rPr>
                  <a:t> </a:t>
                </a:r>
                <a:r>
                  <a:rPr lang="zh-CN" altLang="en-US" sz="2400" dirty="0">
                    <a:solidFill>
                      <a:prstClr val="black"/>
                    </a:solidFill>
                  </a:rPr>
                  <a:t>↛ </a:t>
                </a:r>
                <a:r>
                  <a:rPr lang="zh-CN" altLang="en-US" sz="1800" dirty="0">
                    <a:solidFill>
                      <a:schemeClr val="hlink"/>
                    </a:solidFill>
                  </a:rPr>
                  <a:t>X，X</a:t>
                </a:r>
                <a:r>
                  <a:rPr lang="en-US" altLang="zh-CN" sz="1800" dirty="0">
                    <a:solidFill>
                      <a:schemeClr val="hlink"/>
                    </a:solidFill>
                  </a:rPr>
                  <a:t>′</a:t>
                </a:r>
                <a:r>
                  <a:rPr lang="zh-CN" altLang="en-US" sz="1800" dirty="0">
                    <a:solidFill>
                      <a:schemeClr val="hlink"/>
                    </a:solidFill>
                  </a:rPr>
                  <a:t>→A）</a:t>
                </a:r>
                <a:r>
                  <a:rPr lang="zh-CN" altLang="en-US" sz="1800" dirty="0"/>
                  <a:t>，即存在非主属性对侯选键的传递函数依赖，</a:t>
                </a:r>
                <a:r>
                  <a:rPr lang="en-US" altLang="zh-CN" sz="1800" dirty="0"/>
                  <a:t>∴</a:t>
                </a:r>
                <a:r>
                  <a:rPr lang="zh-CN" altLang="en-US" sz="1800" dirty="0"/>
                  <a:t>R不是3NF，与题设矛盾，从而定理得证。 </a:t>
                </a:r>
              </a:p>
              <a:p>
                <a:pPr marL="0" indent="0">
                  <a:lnSpc>
                    <a:spcPct val="130000"/>
                  </a:lnSpc>
                  <a:spcBef>
                    <a:spcPct val="0"/>
                  </a:spcBef>
                  <a:buNone/>
                </a:pPr>
                <a:endParaRPr lang="zh-CN" altLang="en-US" sz="1800" b="1" dirty="0"/>
              </a:p>
              <a:p>
                <a:pPr marL="0" indent="0">
                  <a:lnSpc>
                    <a:spcPct val="130000"/>
                  </a:lnSpc>
                  <a:buNone/>
                </a:pPr>
                <a:endParaRPr lang="zh-CN" altLang="en-US" sz="1800" b="1" dirty="0"/>
              </a:p>
            </p:txBody>
          </p:sp>
        </mc:Choice>
        <mc:Fallback xmlns="">
          <p:sp>
            <p:nvSpPr>
              <p:cNvPr id="43010" name="Rectangle 3"/>
              <p:cNvSpPr>
                <a:spLocks noGrp="1" noRot="1" noChangeAspect="1" noMove="1" noResize="1" noEditPoints="1" noAdjustHandles="1" noChangeArrowheads="1" noChangeShapeType="1" noTextEdit="1"/>
              </p:cNvSpPr>
              <p:nvPr>
                <p:ph idx="1"/>
              </p:nvPr>
            </p:nvSpPr>
            <p:spPr>
              <a:blipFill>
                <a:blip r:embed="rId2"/>
                <a:stretch>
                  <a:fillRect l="-965" r="-965"/>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8E537F1D-E968-43DD-AACE-9B10120411B9}"/>
              </a:ext>
            </a:extLst>
          </p:cNvPr>
          <p:cNvSpPr>
            <a:spLocks noGrp="1"/>
          </p:cNvSpPr>
          <p:nvPr>
            <p:ph type="title"/>
          </p:nvPr>
        </p:nvSpPr>
        <p:spPr/>
        <p:txBody>
          <a:bodyPr/>
          <a:lstStyle/>
          <a:p>
            <a:r>
              <a:rPr lang="en-US" altLang="zh-CN" dirty="0"/>
              <a:t>2NF</a:t>
            </a:r>
            <a:r>
              <a:rPr lang="zh-CN" altLang="en-US" dirty="0"/>
              <a:t>和</a:t>
            </a:r>
            <a:r>
              <a:rPr lang="en-US" altLang="zh-CN" dirty="0"/>
              <a:t>3NF</a:t>
            </a:r>
            <a:endParaRPr lang="zh-CN" altLang="en-US"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Grp="1"/>
          </p:cNvSpPr>
          <p:nvPr>
            <p:ph idx="1"/>
          </p:nvPr>
        </p:nvSpPr>
        <p:spPr>
          <a:xfrm>
            <a:off x="328843" y="1029228"/>
            <a:ext cx="8501782" cy="3408735"/>
          </a:xfrm>
        </p:spPr>
        <p:txBody>
          <a:bodyPr vert="horz" wrap="square" lIns="68580" tIns="34290" rIns="68580" bIns="34290" anchor="t" anchorCtr="0"/>
          <a:lstStyle/>
          <a:p>
            <a:pPr marL="0" indent="0"/>
            <a:r>
              <a:rPr lang="zh-CN" altLang="en-US" b="1" dirty="0">
                <a:solidFill>
                  <a:schemeClr val="hlink"/>
                </a:solidFill>
              </a:rPr>
              <a:t> </a:t>
            </a:r>
            <a:r>
              <a:rPr lang="zh-CN" altLang="en-US" sz="1800" b="1" dirty="0">
                <a:solidFill>
                  <a:schemeClr val="hlink"/>
                </a:solidFill>
              </a:rPr>
              <a:t>达到</a:t>
            </a:r>
            <a:r>
              <a:rPr lang="en-US" altLang="zh-CN" sz="1800" b="1" dirty="0">
                <a:solidFill>
                  <a:schemeClr val="hlink"/>
                </a:solidFill>
              </a:rPr>
              <a:t>3NF</a:t>
            </a:r>
            <a:r>
              <a:rPr lang="zh-CN" altLang="en-US" sz="1800" b="1" dirty="0">
                <a:solidFill>
                  <a:schemeClr val="hlink"/>
                </a:solidFill>
              </a:rPr>
              <a:t>的关系仍然可能存在问题。</a:t>
            </a:r>
            <a:r>
              <a:rPr lang="zh-CN" altLang="en-US" sz="1800" b="1" dirty="0">
                <a:solidFill>
                  <a:schemeClr val="folHlink"/>
                </a:solidFill>
              </a:rPr>
              <a:t> </a:t>
            </a:r>
          </a:p>
          <a:p>
            <a:pPr marL="0" indent="0">
              <a:buNone/>
            </a:pPr>
            <a:r>
              <a:rPr lang="en-US" altLang="zh-CN" sz="1800" b="1" dirty="0">
                <a:solidFill>
                  <a:srgbClr val="467886"/>
                </a:solidFill>
              </a:rPr>
              <a:t>【</a:t>
            </a:r>
            <a:r>
              <a:rPr lang="zh-CN" altLang="en-US" sz="1800" b="1" dirty="0">
                <a:solidFill>
                  <a:srgbClr val="467886"/>
                </a:solidFill>
              </a:rPr>
              <a:t>例</a:t>
            </a:r>
            <a:r>
              <a:rPr lang="en-US" altLang="zh-CN" sz="1800" b="1" dirty="0">
                <a:solidFill>
                  <a:srgbClr val="467886"/>
                </a:solidFill>
              </a:rPr>
              <a:t>】</a:t>
            </a:r>
            <a:r>
              <a:rPr lang="zh-CN" altLang="en-US" sz="1800" dirty="0"/>
              <a:t>如果假定：每一学生可选修多门课程，一门课程可由多个学生选修，每一课程可有多个教师任教，但每个教师只能承担一门课程。判断下列给出的关系</a:t>
            </a:r>
            <a:r>
              <a:rPr lang="en-US" altLang="zh-CN" sz="1800" dirty="0">
                <a:solidFill>
                  <a:schemeClr val="folHlink"/>
                </a:solidFill>
              </a:rPr>
              <a:t>SCT(SNO</a:t>
            </a:r>
            <a:r>
              <a:rPr lang="zh-CN" altLang="en-US" sz="1800" dirty="0">
                <a:solidFill>
                  <a:schemeClr val="folHlink"/>
                </a:solidFill>
              </a:rPr>
              <a:t>，</a:t>
            </a:r>
            <a:r>
              <a:rPr lang="en-US" altLang="zh-CN" sz="1800" dirty="0">
                <a:solidFill>
                  <a:schemeClr val="folHlink"/>
                </a:solidFill>
              </a:rPr>
              <a:t>CNAME</a:t>
            </a:r>
            <a:r>
              <a:rPr lang="zh-CN" altLang="en-US" sz="1800" dirty="0">
                <a:solidFill>
                  <a:schemeClr val="folHlink"/>
                </a:solidFill>
              </a:rPr>
              <a:t>，</a:t>
            </a:r>
            <a:r>
              <a:rPr lang="en-US" altLang="zh-CN" sz="1800" dirty="0">
                <a:solidFill>
                  <a:schemeClr val="folHlink"/>
                </a:solidFill>
              </a:rPr>
              <a:t>TNAME)</a:t>
            </a:r>
            <a:r>
              <a:rPr lang="en-US" altLang="zh-CN" sz="1800" dirty="0"/>
              <a:t> </a:t>
            </a:r>
            <a:r>
              <a:rPr lang="zh-CN" altLang="en-US" sz="1800" dirty="0"/>
              <a:t>最高属于第几范式？并分析该模式存在的问题。</a:t>
            </a:r>
          </a:p>
          <a:p>
            <a:pPr marL="0" indent="0">
              <a:buNone/>
            </a:pPr>
            <a:endParaRPr lang="zh-CN" altLang="en-US" b="1" dirty="0"/>
          </a:p>
          <a:p>
            <a:pPr marL="0" indent="0">
              <a:buNone/>
            </a:pPr>
            <a:endParaRPr lang="zh-CN" altLang="en-US" b="1" dirty="0"/>
          </a:p>
        </p:txBody>
      </p:sp>
      <p:graphicFrame>
        <p:nvGraphicFramePr>
          <p:cNvPr id="23556" name="Group 4"/>
          <p:cNvGraphicFramePr>
            <a:graphicFrameLocks noGrp="1"/>
          </p:cNvGraphicFramePr>
          <p:nvPr>
            <p:custDataLst>
              <p:tags r:id="rId1"/>
            </p:custDataLst>
            <p:extLst>
              <p:ext uri="{D42A27DB-BD31-4B8C-83A1-F6EECF244321}">
                <p14:modId xmlns:p14="http://schemas.microsoft.com/office/powerpoint/2010/main" val="4175594578"/>
              </p:ext>
            </p:extLst>
          </p:nvPr>
        </p:nvGraphicFramePr>
        <p:xfrm>
          <a:off x="115274" y="2618244"/>
          <a:ext cx="2775160" cy="2104073"/>
        </p:xfrm>
        <a:graphic>
          <a:graphicData uri="http://schemas.openxmlformats.org/drawingml/2006/table">
            <a:tbl>
              <a:tblPr/>
              <a:tblGrid>
                <a:gridCol w="649603">
                  <a:extLst>
                    <a:ext uri="{9D8B030D-6E8A-4147-A177-3AD203B41FA5}">
                      <a16:colId xmlns:a16="http://schemas.microsoft.com/office/drawing/2014/main" val="20000"/>
                    </a:ext>
                  </a:extLst>
                </a:gridCol>
                <a:gridCol w="1001930">
                  <a:extLst>
                    <a:ext uri="{9D8B030D-6E8A-4147-A177-3AD203B41FA5}">
                      <a16:colId xmlns:a16="http://schemas.microsoft.com/office/drawing/2014/main" val="20001"/>
                    </a:ext>
                  </a:extLst>
                </a:gridCol>
                <a:gridCol w="1123627">
                  <a:extLst>
                    <a:ext uri="{9D8B030D-6E8A-4147-A177-3AD203B41FA5}">
                      <a16:colId xmlns:a16="http://schemas.microsoft.com/office/drawing/2014/main" val="20002"/>
                    </a:ext>
                  </a:extLst>
                </a:gridCol>
              </a:tblGrid>
              <a:tr h="388620">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SNO</a:t>
                      </a:r>
                    </a:p>
                  </a:txBody>
                  <a:tcPr marL="68580" marR="68580" marT="34273" marB="3427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8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rPr>
                        <a:t>CNAME</a:t>
                      </a:r>
                    </a:p>
                  </a:txBody>
                  <a:tcPr marL="68580" marR="68580" marT="34273" marB="3427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rPr>
                        <a:t> </a:t>
                      </a:r>
                      <a:r>
                        <a:rPr kumimoji="0" lang="en-US" altLang="zh-CN" sz="18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rPr>
                        <a:t>TNAME</a:t>
                      </a:r>
                    </a:p>
                  </a:txBody>
                  <a:tcPr marL="68580" marR="68580" marT="34273" marB="3427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3853">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rPr>
                        <a:t> </a:t>
                      </a:r>
                      <a:r>
                        <a:rPr kumimoji="0" lang="en-US" altLang="zh-CN" sz="18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rPr>
                        <a:t>s1</a:t>
                      </a:r>
                    </a:p>
                  </a:txBody>
                  <a:tcPr marL="68580" marR="68580" marT="34273" marB="3427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cs typeface="楷体" panose="02010609060101010101" pitchFamily="49" charset="-122"/>
                        </a:rPr>
                        <a:t> 英语 </a:t>
                      </a:r>
                    </a:p>
                  </a:txBody>
                  <a:tcPr marL="68580" marR="68580" marT="34273" marB="3427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cs typeface="楷体" panose="02010609060101010101" pitchFamily="49" charset="-122"/>
                        </a:rPr>
                        <a:t> 王平 </a:t>
                      </a:r>
                    </a:p>
                  </a:txBody>
                  <a:tcPr marL="68580" marR="68580" marT="34273" marB="3427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2900">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rPr>
                        <a:t> </a:t>
                      </a:r>
                      <a:r>
                        <a:rPr kumimoji="0" lang="en-US" altLang="zh-CN" sz="18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rPr>
                        <a:t>s1</a:t>
                      </a:r>
                    </a:p>
                  </a:txBody>
                  <a:tcPr marL="68580" marR="68580" marT="34273" marB="3427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cs typeface="楷体" panose="02010609060101010101" pitchFamily="49" charset="-122"/>
                        </a:rPr>
                        <a:t> 数学 </a:t>
                      </a:r>
                    </a:p>
                  </a:txBody>
                  <a:tcPr marL="68580" marR="68580" marT="34273" marB="3427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cs typeface="楷体" panose="02010609060101010101" pitchFamily="49" charset="-122"/>
                        </a:rPr>
                        <a:t> 刘红 </a:t>
                      </a:r>
                    </a:p>
                  </a:txBody>
                  <a:tcPr marL="68580" marR="68580" marT="34273" marB="3427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2900">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rPr>
                        <a:t> </a:t>
                      </a:r>
                      <a:r>
                        <a:rPr kumimoji="0" lang="en-US" altLang="zh-CN" sz="18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rPr>
                        <a:t>s2</a:t>
                      </a:r>
                    </a:p>
                  </a:txBody>
                  <a:tcPr marL="68580" marR="68580" marT="34273" marB="3427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cs typeface="楷体" panose="02010609060101010101" pitchFamily="49" charset="-122"/>
                        </a:rPr>
                        <a:t> 物理 </a:t>
                      </a:r>
                    </a:p>
                  </a:txBody>
                  <a:tcPr marL="68580" marR="68580" marT="34273" marB="3427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cs typeface="楷体" panose="02010609060101010101" pitchFamily="49" charset="-122"/>
                        </a:rPr>
                        <a:t> 高志强 </a:t>
                      </a:r>
                    </a:p>
                  </a:txBody>
                  <a:tcPr marL="68580" marR="68580" marT="34273" marB="3427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2900">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rPr>
                        <a:t> </a:t>
                      </a:r>
                      <a:r>
                        <a:rPr kumimoji="0" lang="en-US" altLang="zh-CN" sz="18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rPr>
                        <a:t>s2</a:t>
                      </a:r>
                    </a:p>
                  </a:txBody>
                  <a:tcPr marL="68580" marR="68580" marT="34273" marB="3427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cs typeface="楷体" panose="02010609060101010101" pitchFamily="49" charset="-122"/>
                        </a:rPr>
                        <a:t> 英语</a:t>
                      </a:r>
                    </a:p>
                  </a:txBody>
                  <a:tcPr marL="68580" marR="68580" marT="34273" marB="3427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cs typeface="楷体" panose="02010609060101010101" pitchFamily="49" charset="-122"/>
                        </a:rPr>
                        <a:t> 陈进 </a:t>
                      </a:r>
                    </a:p>
                  </a:txBody>
                  <a:tcPr marL="68580" marR="68580" marT="34273" marB="3427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2900">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rPr>
                        <a:t> </a:t>
                      </a:r>
                      <a:r>
                        <a:rPr kumimoji="0" lang="en-US" altLang="zh-CN" sz="18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rPr>
                        <a:t>s3</a:t>
                      </a:r>
                    </a:p>
                  </a:txBody>
                  <a:tcPr marL="68580" marR="68580" marT="34273" marB="3427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cs typeface="楷体" panose="02010609060101010101" pitchFamily="49" charset="-122"/>
                        </a:rPr>
                        <a:t> 英语</a:t>
                      </a:r>
                    </a:p>
                  </a:txBody>
                  <a:tcPr marL="68580" marR="68580" marT="34273" marB="3427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cs typeface="楷体" panose="02010609060101010101" pitchFamily="49" charset="-122"/>
                        </a:rPr>
                        <a:t> 王平</a:t>
                      </a:r>
                    </a:p>
                  </a:txBody>
                  <a:tcPr marL="68580" marR="68580" marT="34273" marB="3427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4065" name="Rectangle 34"/>
          <p:cNvSpPr/>
          <p:nvPr/>
        </p:nvSpPr>
        <p:spPr>
          <a:xfrm>
            <a:off x="2999885" y="2488618"/>
            <a:ext cx="6028841" cy="1867376"/>
          </a:xfrm>
          <a:prstGeom prst="rect">
            <a:avLst/>
          </a:prstGeom>
          <a:noFill/>
          <a:ln w="9525">
            <a:noFill/>
          </a:ln>
        </p:spPr>
        <p:txBody>
          <a:bodyPr anchor="t" anchorCtr="0"/>
          <a:lstStyle/>
          <a:p>
            <a:pPr algn="just">
              <a:spcBef>
                <a:spcPct val="20000"/>
              </a:spcBef>
              <a:buClr>
                <a:schemeClr val="folHlink"/>
              </a:buClr>
              <a:buSzPct val="60000"/>
              <a:buFont typeface="Wingdings" panose="05000000000000000000" pitchFamily="2" charset="2"/>
              <a:buChar char="n"/>
            </a:pPr>
            <a:r>
              <a:rPr lang="en-US" altLang="zh-CN" dirty="0">
                <a:latin typeface="Microsoft YaHei" panose="020B0503020204020204" pitchFamily="34" charset="-122"/>
                <a:ea typeface="Microsoft YaHei" panose="020B0503020204020204" pitchFamily="34" charset="-122"/>
              </a:rPr>
              <a:t> F={TNAME→CNAME,</a:t>
            </a:r>
            <a:r>
              <a:rPr lang="zh-CN" altLang="en-US" dirty="0">
                <a:latin typeface="Microsoft YaHei" panose="020B0503020204020204" pitchFamily="34" charset="-122"/>
                <a:ea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rPr>
              <a:t>(SNO,CNAME)→TNAME,</a:t>
            </a:r>
            <a:r>
              <a:rPr lang="zh-CN" altLang="en-US" dirty="0">
                <a:latin typeface="Microsoft YaHei" panose="020B0503020204020204" pitchFamily="34" charset="-122"/>
                <a:ea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rPr>
              <a:t>(SNO,TNAME)→CNAME}</a:t>
            </a:r>
          </a:p>
          <a:p>
            <a:pPr algn="just">
              <a:spcBef>
                <a:spcPct val="20000"/>
              </a:spcBef>
              <a:buClr>
                <a:schemeClr val="folHlink"/>
              </a:buClr>
              <a:buSzPct val="60000"/>
              <a:buFont typeface="Wingdings" panose="05000000000000000000" pitchFamily="2" charset="2"/>
              <a:buChar char="n"/>
            </a:pPr>
            <a:r>
              <a:rPr lang="zh-CN" altLang="en-US" dirty="0">
                <a:latin typeface="Microsoft YaHei" panose="020B0503020204020204" pitchFamily="34" charset="-122"/>
                <a:ea typeface="Microsoft YaHei" panose="020B0503020204020204" pitchFamily="34" charset="-122"/>
              </a:rPr>
              <a:t>关系SCT的</a:t>
            </a:r>
            <a:r>
              <a:rPr lang="zh-CN" altLang="en-US" dirty="0">
                <a:solidFill>
                  <a:schemeClr val="folHlink"/>
                </a:solidFill>
                <a:latin typeface="Microsoft YaHei" panose="020B0503020204020204" pitchFamily="34" charset="-122"/>
                <a:ea typeface="Microsoft YaHei" panose="020B0503020204020204" pitchFamily="34" charset="-122"/>
              </a:rPr>
              <a:t>侯选键</a:t>
            </a:r>
            <a:r>
              <a:rPr lang="zh-CN" altLang="en-US" dirty="0">
                <a:latin typeface="Microsoft YaHei" panose="020B0503020204020204" pitchFamily="34" charset="-122"/>
                <a:ea typeface="Microsoft YaHei" panose="020B0503020204020204" pitchFamily="34" charset="-122"/>
              </a:rPr>
              <a:t>：</a:t>
            </a:r>
            <a:r>
              <a:rPr lang="zh-CN" altLang="en-US" dirty="0">
                <a:solidFill>
                  <a:schemeClr val="hlink"/>
                </a:solidFill>
                <a:latin typeface="Microsoft YaHei" panose="020B0503020204020204" pitchFamily="34" charset="-122"/>
                <a:ea typeface="Microsoft YaHei" panose="020B0503020204020204" pitchFamily="34" charset="-122"/>
              </a:rPr>
              <a:t>(SNO，CNAME)</a:t>
            </a:r>
            <a:r>
              <a:rPr lang="zh-CN" altLang="en-US" dirty="0">
                <a:latin typeface="Microsoft YaHei" panose="020B0503020204020204" pitchFamily="34" charset="-122"/>
                <a:ea typeface="Microsoft YaHei" panose="020B0503020204020204" pitchFamily="34" charset="-122"/>
              </a:rPr>
              <a:t>和</a:t>
            </a:r>
            <a:r>
              <a:rPr lang="zh-CN" altLang="en-US" dirty="0">
                <a:solidFill>
                  <a:schemeClr val="hlink"/>
                </a:solidFill>
                <a:latin typeface="Microsoft YaHei" panose="020B0503020204020204" pitchFamily="34" charset="-122"/>
                <a:ea typeface="Microsoft YaHei" panose="020B0503020204020204" pitchFamily="34" charset="-122"/>
              </a:rPr>
              <a:t>(SNO，TNAME)</a:t>
            </a:r>
            <a:endParaRPr lang="zh-CN" altLang="en-US" dirty="0">
              <a:latin typeface="Microsoft YaHei" panose="020B0503020204020204" pitchFamily="34" charset="-122"/>
              <a:ea typeface="Microsoft YaHei" panose="020B0503020204020204" pitchFamily="34" charset="-122"/>
            </a:endParaRPr>
          </a:p>
          <a:p>
            <a:pPr algn="just">
              <a:spcBef>
                <a:spcPct val="20000"/>
              </a:spcBef>
              <a:buClr>
                <a:schemeClr val="folHlink"/>
              </a:buClr>
              <a:buSzPct val="60000"/>
              <a:buFont typeface="Wingdings" panose="05000000000000000000" pitchFamily="2" charset="2"/>
              <a:buChar char="n"/>
            </a:pPr>
            <a:r>
              <a:rPr lang="zh-CN" altLang="en-US" dirty="0">
                <a:latin typeface="Microsoft YaHei" panose="020B0503020204020204" pitchFamily="34" charset="-122"/>
                <a:ea typeface="Microsoft YaHei" panose="020B0503020204020204" pitchFamily="34" charset="-122"/>
              </a:rPr>
              <a:t> 非主属性：</a:t>
            </a:r>
            <a:r>
              <a:rPr lang="zh-CN" altLang="en-US" dirty="0">
                <a:solidFill>
                  <a:schemeClr val="folHlink"/>
                </a:solidFill>
                <a:latin typeface="Microsoft YaHei" panose="020B0503020204020204" pitchFamily="34" charset="-122"/>
                <a:ea typeface="Microsoft YaHei" panose="020B0503020204020204" pitchFamily="34" charset="-122"/>
              </a:rPr>
              <a:t>无</a:t>
            </a:r>
            <a:r>
              <a:rPr lang="zh-CN" altLang="en-US" dirty="0">
                <a:latin typeface="Microsoft YaHei" panose="020B0503020204020204" pitchFamily="34" charset="-122"/>
                <a:ea typeface="Microsoft YaHei" panose="020B0503020204020204" pitchFamily="34" charset="-122"/>
              </a:rPr>
              <a:t> （SCT至少是一个3NF关系)</a:t>
            </a:r>
          </a:p>
          <a:p>
            <a:pPr>
              <a:spcBef>
                <a:spcPct val="20000"/>
              </a:spcBef>
              <a:buClr>
                <a:schemeClr val="folHlink"/>
              </a:buClr>
              <a:buSzPct val="60000"/>
              <a:buFont typeface="Wingdings" panose="05000000000000000000" pitchFamily="2" charset="2"/>
            </a:pPr>
            <a:r>
              <a:rPr lang="zh-CN" altLang="en-US" dirty="0">
                <a:latin typeface="Microsoft YaHei" panose="020B0503020204020204" pitchFamily="34" charset="-122"/>
                <a:ea typeface="Microsoft YaHei" panose="020B0503020204020204" pitchFamily="34" charset="-122"/>
              </a:rPr>
              <a:t> </a:t>
            </a:r>
            <a:r>
              <a:rPr lang="zh-CN" altLang="en-US" dirty="0">
                <a:solidFill>
                  <a:schemeClr val="hlink"/>
                </a:solidFill>
                <a:latin typeface="Microsoft YaHei" panose="020B0503020204020204" pitchFamily="34" charset="-122"/>
                <a:ea typeface="Microsoft YaHei" panose="020B0503020204020204" pitchFamily="34" charset="-122"/>
              </a:rPr>
              <a:t>结论：</a:t>
            </a:r>
            <a:r>
              <a:rPr lang="en-US" altLang="zh-CN" dirty="0">
                <a:solidFill>
                  <a:schemeClr val="folHlink"/>
                </a:solidFill>
                <a:latin typeface="Microsoft YaHei" panose="020B0503020204020204" pitchFamily="34" charset="-122"/>
                <a:ea typeface="Microsoft YaHei" panose="020B0503020204020204" pitchFamily="34" charset="-122"/>
              </a:rPr>
              <a:t>若关系R的所有属性都是主属性，则R必定是3NF。</a:t>
            </a:r>
            <a:endParaRPr lang="zh-CN" altLang="en-US" sz="2100" dirty="0">
              <a:latin typeface="Microsoft YaHei" panose="020B0503020204020204" pitchFamily="34" charset="-122"/>
              <a:ea typeface="Microsoft YaHei" panose="020B0503020204020204" pitchFamily="34" charset="-122"/>
            </a:endParaRPr>
          </a:p>
        </p:txBody>
      </p:sp>
      <p:sp>
        <p:nvSpPr>
          <p:cNvPr id="3" name="标题 2">
            <a:extLst>
              <a:ext uri="{FF2B5EF4-FFF2-40B4-BE49-F238E27FC236}">
                <a16:creationId xmlns:a16="http://schemas.microsoft.com/office/drawing/2014/main" id="{12888FB1-4897-86A5-9E8D-EFF4C3E0D804}"/>
              </a:ext>
            </a:extLst>
          </p:cNvPr>
          <p:cNvSpPr>
            <a:spLocks noGrp="1"/>
          </p:cNvSpPr>
          <p:nvPr>
            <p:ph type="title"/>
          </p:nvPr>
        </p:nvSpPr>
        <p:spPr/>
        <p:txBody>
          <a:bodyPr/>
          <a:lstStyle/>
          <a:p>
            <a:r>
              <a:rPr lang="zh-CN" altLang="en-US" dirty="0"/>
              <a:t>进一步规范的需求</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609476" y="1356102"/>
            <a:ext cx="7940516" cy="3020232"/>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marL="0" indent="0" algn="just" eaLnBrk="1" hangingPunct="1">
              <a:lnSpc>
                <a:spcPct val="150000"/>
              </a:lnSpc>
              <a:buNone/>
            </a:pPr>
            <a:r>
              <a:rPr lang="zh-CN" altLang="en-US" sz="2000" b="1" dirty="0">
                <a:latin typeface="Microsoft YaHei" panose="020B0503020204020204" pitchFamily="34" charset="-122"/>
                <a:ea typeface="Microsoft YaHei" panose="020B0503020204020204" pitchFamily="34" charset="-122"/>
              </a:rPr>
              <a:t>在</a:t>
            </a:r>
            <a:r>
              <a:rPr lang="zh-CN" altLang="en-US" sz="2000" b="1" dirty="0">
                <a:solidFill>
                  <a:schemeClr val="folHlink"/>
                </a:solidFill>
                <a:latin typeface="Microsoft YaHei" panose="020B0503020204020204" pitchFamily="34" charset="-122"/>
                <a:ea typeface="Microsoft YaHei" panose="020B0503020204020204" pitchFamily="34" charset="-122"/>
              </a:rPr>
              <a:t>关系</a:t>
            </a:r>
            <a:r>
              <a:rPr lang="en-US" altLang="zh-CN" sz="2000" b="1" dirty="0">
                <a:solidFill>
                  <a:schemeClr val="folHlink"/>
                </a:solidFill>
                <a:latin typeface="Microsoft YaHei" panose="020B0503020204020204" pitchFamily="34" charset="-122"/>
                <a:ea typeface="Microsoft YaHei" panose="020B0503020204020204" pitchFamily="34" charset="-122"/>
              </a:rPr>
              <a:t>SCT</a:t>
            </a:r>
            <a:r>
              <a:rPr lang="zh-CN" altLang="en-US" sz="2000" b="1" dirty="0">
                <a:latin typeface="Microsoft YaHei" panose="020B0503020204020204" pitchFamily="34" charset="-122"/>
                <a:ea typeface="Microsoft YaHei" panose="020B0503020204020204" pitchFamily="34" charset="-122"/>
              </a:rPr>
              <a:t>中还存在以下问题：</a:t>
            </a:r>
          </a:p>
          <a:p>
            <a:pPr marL="0" indent="0" eaLnBrk="1" hangingPunct="1">
              <a:lnSpc>
                <a:spcPct val="150000"/>
              </a:lnSpc>
              <a:buNone/>
            </a:pPr>
            <a:r>
              <a:rPr lang="zh-CN" altLang="en-US" sz="2000" b="1" dirty="0">
                <a:solidFill>
                  <a:schemeClr val="hlink"/>
                </a:solidFill>
                <a:latin typeface="Microsoft YaHei" panose="020B0503020204020204" pitchFamily="34" charset="-122"/>
                <a:ea typeface="Microsoft YaHei" panose="020B0503020204020204" pitchFamily="34" charset="-122"/>
              </a:rPr>
              <a:t> 插入异常</a:t>
            </a:r>
            <a:r>
              <a:rPr lang="zh-CN" altLang="en-US" sz="2000" b="1"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例如，一个新课程和任课教师的数据，在没有学生选课时不能插入数据库。</a:t>
            </a:r>
            <a:endParaRPr lang="en-US" altLang="zh-CN" sz="2000" dirty="0">
              <a:latin typeface="Microsoft YaHei" panose="020B0503020204020204" pitchFamily="34" charset="-122"/>
              <a:ea typeface="Microsoft YaHei" panose="020B0503020204020204" pitchFamily="34" charset="-122"/>
            </a:endParaRPr>
          </a:p>
          <a:p>
            <a:pPr marL="0" indent="0" eaLnBrk="1" hangingPunct="1">
              <a:lnSpc>
                <a:spcPct val="150000"/>
              </a:lnSpc>
              <a:buNone/>
            </a:pPr>
            <a:endParaRPr lang="zh-CN" altLang="en-US" sz="2000" dirty="0">
              <a:latin typeface="Microsoft YaHei" panose="020B0503020204020204" pitchFamily="34" charset="-122"/>
              <a:ea typeface="Microsoft YaHei" panose="020B0503020204020204" pitchFamily="34" charset="-122"/>
            </a:endParaRPr>
          </a:p>
          <a:p>
            <a:pPr marL="0" indent="0" eaLnBrk="1" hangingPunct="1">
              <a:lnSpc>
                <a:spcPct val="150000"/>
              </a:lnSpc>
              <a:buNone/>
            </a:pPr>
            <a:r>
              <a:rPr lang="zh-CN" altLang="en-US" sz="2000" b="1" dirty="0">
                <a:solidFill>
                  <a:schemeClr val="hlink"/>
                </a:solidFill>
                <a:latin typeface="Microsoft YaHei" panose="020B0503020204020204" pitchFamily="34" charset="-122"/>
                <a:ea typeface="Microsoft YaHei" panose="020B0503020204020204" pitchFamily="34" charset="-122"/>
              </a:rPr>
              <a:t> 删除异常</a:t>
            </a:r>
            <a:r>
              <a:rPr lang="zh-CN" altLang="en-US" sz="2000" b="1"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例如，删除某门课的所有选课记录，会丢失课程与教师的数据。</a:t>
            </a:r>
            <a:endParaRPr lang="zh-CN" altLang="en-US" sz="2400" dirty="0">
              <a:latin typeface="Microsoft YaHei" panose="020B0503020204020204" pitchFamily="34" charset="-122"/>
              <a:ea typeface="Microsoft YaHei" panose="020B0503020204020204" pitchFamily="34" charset="-122"/>
            </a:endParaRPr>
          </a:p>
          <a:p>
            <a:pPr marL="0" indent="0" algn="just" eaLnBrk="1" hangingPunct="1">
              <a:buNone/>
            </a:pPr>
            <a:endParaRPr lang="zh-CN" altLang="en-US" sz="2400" b="1" dirty="0">
              <a:latin typeface="Microsoft YaHei" panose="020B0503020204020204" pitchFamily="34" charset="-122"/>
              <a:ea typeface="Microsoft YaHei" panose="020B0503020204020204" pitchFamily="34" charset="-122"/>
            </a:endParaRPr>
          </a:p>
        </p:txBody>
      </p:sp>
      <p:sp>
        <p:nvSpPr>
          <p:cNvPr id="5" name="标题 4">
            <a:extLst>
              <a:ext uri="{FF2B5EF4-FFF2-40B4-BE49-F238E27FC236}">
                <a16:creationId xmlns:a16="http://schemas.microsoft.com/office/drawing/2014/main" id="{D2E57ECC-5B1E-D97B-0518-07299A3A158D}"/>
              </a:ext>
            </a:extLst>
          </p:cNvPr>
          <p:cNvSpPr>
            <a:spLocks noGrp="1"/>
          </p:cNvSpPr>
          <p:nvPr>
            <p:ph type="title"/>
          </p:nvPr>
        </p:nvSpPr>
        <p:spPr/>
        <p:txBody>
          <a:bodyPr/>
          <a:lstStyle/>
          <a:p>
            <a:r>
              <a:rPr lang="en-US" altLang="zh-CN" dirty="0"/>
              <a:t>3NF</a:t>
            </a:r>
            <a:r>
              <a:rPr lang="zh-CN" altLang="en-US" dirty="0"/>
              <a:t>还可能存在的问题</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Grp="1"/>
          </p:cNvSpPr>
          <p:nvPr>
            <p:ph idx="1"/>
          </p:nvPr>
        </p:nvSpPr>
        <p:spPr/>
        <p:txBody>
          <a:bodyPr vert="horz" wrap="square" lIns="68580" tIns="34290" rIns="68580" bIns="34290" anchor="t" anchorCtr="0">
            <a:normAutofit/>
          </a:bodyPr>
          <a:lstStyle/>
          <a:p>
            <a:pPr marL="0" indent="0">
              <a:lnSpc>
                <a:spcPct val="100000"/>
              </a:lnSpc>
            </a:pPr>
            <a:r>
              <a:rPr lang="zh-CN" altLang="en-US" sz="2000" b="1" dirty="0">
                <a:solidFill>
                  <a:schemeClr val="hlink"/>
                </a:solidFill>
              </a:rPr>
              <a:t> BCNF </a:t>
            </a:r>
            <a:r>
              <a:rPr lang="zh-CN" altLang="en-US" sz="2000" b="1" dirty="0">
                <a:solidFill>
                  <a:schemeClr val="folHlink"/>
                </a:solidFill>
              </a:rPr>
              <a:t>定义: </a:t>
            </a:r>
            <a:r>
              <a:rPr lang="zh-CN" altLang="en-US" sz="2000" dirty="0"/>
              <a:t>关系模式R&lt;U，F&gt;∈1NF。若函数依赖集合F中的所有函数依赖X→Y（Y⊈X）的左部都包含R的任一侯选键，则R∈BCNF。</a:t>
            </a:r>
            <a:endParaRPr lang="en-US" altLang="zh-CN" sz="2000" dirty="0"/>
          </a:p>
          <a:p>
            <a:pPr marL="0" indent="0">
              <a:lnSpc>
                <a:spcPct val="100000"/>
              </a:lnSpc>
            </a:pPr>
            <a:endParaRPr lang="zh-CN" altLang="en-US" sz="2000" b="1" dirty="0"/>
          </a:p>
          <a:p>
            <a:pPr marL="0" indent="0">
              <a:lnSpc>
                <a:spcPct val="100000"/>
              </a:lnSpc>
            </a:pPr>
            <a:r>
              <a:rPr lang="zh-CN" altLang="en-US" sz="2000" b="1" dirty="0">
                <a:solidFill>
                  <a:schemeClr val="hlink"/>
                </a:solidFill>
              </a:rPr>
              <a:t> 定理</a:t>
            </a:r>
            <a:r>
              <a:rPr lang="en-US" altLang="zh-CN" sz="2000" b="1" dirty="0">
                <a:solidFill>
                  <a:schemeClr val="hlink"/>
                </a:solidFill>
              </a:rPr>
              <a:t>4.2</a:t>
            </a:r>
            <a:r>
              <a:rPr lang="zh-CN" altLang="en-US" sz="2000" b="1" dirty="0">
                <a:solidFill>
                  <a:schemeClr val="hlink"/>
                </a:solidFill>
              </a:rPr>
              <a:t>：</a:t>
            </a:r>
            <a:r>
              <a:rPr lang="zh-CN" altLang="en-US" sz="2000" dirty="0"/>
              <a:t>一个BCNF的关系必定是3NF。</a:t>
            </a:r>
          </a:p>
          <a:p>
            <a:pPr marL="0" indent="0">
              <a:lnSpc>
                <a:spcPct val="100000"/>
              </a:lnSpc>
              <a:buNone/>
            </a:pPr>
            <a:r>
              <a:rPr lang="zh-CN" altLang="en-US" sz="2000" b="1" dirty="0">
                <a:solidFill>
                  <a:schemeClr val="hlink"/>
                </a:solidFill>
              </a:rPr>
              <a:t>证明：</a:t>
            </a:r>
            <a:r>
              <a:rPr lang="zh-CN" altLang="en-US" sz="2000" dirty="0"/>
              <a:t>用反证法。设R是一个BCNF，但不是3NF，则必存在非主属性A和候选键X以及属性集Y，使得X→Y，</a:t>
            </a:r>
            <a:r>
              <a:rPr lang="zh-CN" altLang="en-US" sz="2000" dirty="0">
                <a:solidFill>
                  <a:schemeClr val="hlink"/>
                </a:solidFill>
              </a:rPr>
              <a:t>Y</a:t>
            </a:r>
            <a:r>
              <a:rPr lang="zh-CN" altLang="en-US" sz="2000" dirty="0">
                <a:solidFill>
                  <a:prstClr val="black"/>
                </a:solidFill>
              </a:rPr>
              <a:t> </a:t>
            </a:r>
            <a:r>
              <a:rPr lang="zh-CN" altLang="en-US" sz="2400" dirty="0">
                <a:solidFill>
                  <a:prstClr val="black"/>
                </a:solidFill>
              </a:rPr>
              <a:t>↛ </a:t>
            </a:r>
            <a:r>
              <a:rPr lang="zh-CN" altLang="en-US" sz="2000" dirty="0">
                <a:solidFill>
                  <a:schemeClr val="hlink"/>
                </a:solidFill>
              </a:rPr>
              <a:t>X</a:t>
            </a:r>
            <a:r>
              <a:rPr lang="zh-CN" altLang="en-US" sz="2000" dirty="0"/>
              <a:t> ，</a:t>
            </a:r>
            <a:r>
              <a:rPr lang="zh-CN" altLang="en-US" sz="2000" dirty="0">
                <a:solidFill>
                  <a:schemeClr val="hlink"/>
                </a:solidFill>
              </a:rPr>
              <a:t>Y→A</a:t>
            </a:r>
            <a:r>
              <a:rPr lang="zh-CN" altLang="en-US" sz="2000" dirty="0"/>
              <a:t>，这就是说Y不可能包含R的键，但Y→A却成立。根据BCNF定义，R不是BCNF，与题设矛盾，从而定理得证。 </a:t>
            </a:r>
          </a:p>
        </p:txBody>
      </p:sp>
      <p:sp>
        <p:nvSpPr>
          <p:cNvPr id="3" name="标题 2">
            <a:extLst>
              <a:ext uri="{FF2B5EF4-FFF2-40B4-BE49-F238E27FC236}">
                <a16:creationId xmlns:a16="http://schemas.microsoft.com/office/drawing/2014/main" id="{E1C33781-EBEA-61D3-9E10-F60D6CE6946D}"/>
              </a:ext>
            </a:extLst>
          </p:cNvPr>
          <p:cNvSpPr>
            <a:spLocks noGrp="1"/>
          </p:cNvSpPr>
          <p:nvPr>
            <p:ph type="title"/>
          </p:nvPr>
        </p:nvSpPr>
        <p:spPr/>
        <p:txBody>
          <a:bodyPr/>
          <a:lstStyle/>
          <a:p>
            <a:r>
              <a:rPr lang="en-US" altLang="zh-CN" dirty="0"/>
              <a:t>BCNF</a:t>
            </a:r>
            <a:endParaRPr lang="zh-CN" alt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315391" y="1253548"/>
            <a:ext cx="8528685" cy="3535428"/>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marL="0" indent="0" eaLnBrk="1" hangingPunct="1">
              <a:buNone/>
            </a:pPr>
            <a:r>
              <a:rPr lang="zh-CN" altLang="en-US" sz="1800" dirty="0">
                <a:latin typeface="Microsoft YaHei" panose="020B0503020204020204" pitchFamily="34" charset="-122"/>
                <a:ea typeface="Microsoft YaHei" panose="020B0503020204020204" pitchFamily="34" charset="-122"/>
              </a:rPr>
              <a:t>在关系SCT(SNO，CNAME，TNAME)中，因为TNAME→CNAME，其左部未包含该关系的任一侯选键，所以它不是BCNF。因此，SCT∈3NF。</a:t>
            </a:r>
          </a:p>
          <a:p>
            <a:pPr marL="0" indent="0" algn="just" eaLnBrk="1" hangingPunct="1">
              <a:buNone/>
            </a:pPr>
            <a:r>
              <a:rPr lang="zh-CN" altLang="en-US" sz="1800" dirty="0">
                <a:solidFill>
                  <a:schemeClr val="hlink"/>
                </a:solidFill>
                <a:latin typeface="Microsoft YaHei" panose="020B0503020204020204" pitchFamily="34" charset="-122"/>
                <a:ea typeface="Microsoft YaHei" panose="020B0503020204020204" pitchFamily="34" charset="-122"/>
              </a:rPr>
              <a:t>解决：</a:t>
            </a:r>
            <a:r>
              <a:rPr lang="zh-CN" altLang="en-US" sz="1800" dirty="0">
                <a:latin typeface="Microsoft YaHei" panose="020B0503020204020204" pitchFamily="34" charset="-122"/>
                <a:ea typeface="Microsoft YaHei" panose="020B0503020204020204" pitchFamily="34" charset="-122"/>
              </a:rPr>
              <a:t>关系模式分解。</a:t>
            </a:r>
          </a:p>
          <a:p>
            <a:pPr marL="0" indent="0" algn="just" eaLnBrk="1" hangingPunct="1">
              <a:buNone/>
            </a:pPr>
            <a:r>
              <a:rPr lang="zh-CN" altLang="en-US" sz="1800" dirty="0">
                <a:latin typeface="Microsoft YaHei" panose="020B0503020204020204" pitchFamily="34" charset="-122"/>
                <a:ea typeface="Microsoft YaHei" panose="020B0503020204020204" pitchFamily="34" charset="-122"/>
              </a:rPr>
              <a:t>  SCT可分解为SC(SNO，CNMAE)和CT(CNAME，TNAME)，它们都是BCNF。</a:t>
            </a:r>
          </a:p>
          <a:p>
            <a:pPr marL="0" indent="0" algn="just" eaLnBrk="1" hangingPunct="1"/>
            <a:r>
              <a:rPr lang="zh-CN" altLang="en-US" sz="1800" dirty="0">
                <a:solidFill>
                  <a:schemeClr val="hlink"/>
                </a:solidFill>
                <a:latin typeface="Microsoft YaHei" panose="020B0503020204020204" pitchFamily="34" charset="-122"/>
                <a:ea typeface="Microsoft YaHei" panose="020B0503020204020204" pitchFamily="34" charset="-122"/>
              </a:rPr>
              <a:t> 结论：</a:t>
            </a:r>
            <a:r>
              <a:rPr lang="zh-CN" altLang="en-US" sz="1800" dirty="0">
                <a:solidFill>
                  <a:schemeClr val="folHlink"/>
                </a:solidFill>
                <a:latin typeface="Microsoft YaHei" panose="020B0503020204020204" pitchFamily="34" charset="-122"/>
                <a:ea typeface="Microsoft YaHei" panose="020B0503020204020204" pitchFamily="34" charset="-122"/>
              </a:rPr>
              <a:t>任何的二元关系必定是BCNF。</a:t>
            </a:r>
            <a:endParaRPr lang="en-US" altLang="zh-CN" sz="1800" dirty="0">
              <a:latin typeface="Microsoft YaHei" panose="020B0503020204020204" pitchFamily="34" charset="-122"/>
              <a:ea typeface="Microsoft YaHei" panose="020B0503020204020204" pitchFamily="34" charset="-122"/>
            </a:endParaRPr>
          </a:p>
          <a:p>
            <a:pPr marL="0" indent="0" algn="just" eaLnBrk="1" hangingPunct="1"/>
            <a:r>
              <a:rPr lang="zh-CN" altLang="en-US" sz="1800" dirty="0">
                <a:latin typeface="Microsoft YaHei" panose="020B0503020204020204" pitchFamily="34" charset="-122"/>
                <a:ea typeface="Microsoft YaHei" panose="020B0503020204020204" pitchFamily="34" charset="-122"/>
              </a:rPr>
              <a:t> </a:t>
            </a:r>
            <a:r>
              <a:rPr lang="zh-CN" altLang="en-US" sz="1800" dirty="0">
                <a:solidFill>
                  <a:srgbClr val="28159B"/>
                </a:solidFill>
                <a:latin typeface="Microsoft YaHei" panose="020B0503020204020204" pitchFamily="34" charset="-122"/>
                <a:ea typeface="Microsoft YaHei" panose="020B0503020204020204" pitchFamily="34" charset="-122"/>
              </a:rPr>
              <a:t>证明</a:t>
            </a:r>
            <a:r>
              <a:rPr lang="en-US" altLang="zh-CN" sz="1800" dirty="0">
                <a:solidFill>
                  <a:srgbClr val="28159B"/>
                </a:solidFill>
                <a:latin typeface="Microsoft YaHei" panose="020B0503020204020204" pitchFamily="34" charset="-122"/>
                <a:ea typeface="Microsoft YaHei" panose="020B0503020204020204" pitchFamily="34" charset="-122"/>
              </a:rPr>
              <a:t>:</a:t>
            </a:r>
          </a:p>
          <a:p>
            <a:pPr marL="0" indent="0" algn="just" eaLnBrk="1" hangingPunct="1">
              <a:buNone/>
            </a:pPr>
            <a:r>
              <a:rPr lang="en-US" altLang="zh-CN" sz="1800" dirty="0">
                <a:solidFill>
                  <a:srgbClr val="28159B"/>
                </a:solidFill>
                <a:latin typeface="Microsoft YaHei" panose="020B0503020204020204" pitchFamily="34" charset="-122"/>
                <a:ea typeface="Microsoft YaHei" panose="020B0503020204020204" pitchFamily="34" charset="-122"/>
              </a:rPr>
              <a:t>  </a:t>
            </a:r>
            <a:r>
              <a:rPr lang="zh-CN" altLang="en-US" sz="1800" dirty="0">
                <a:latin typeface="Microsoft YaHei" panose="020B0503020204020204" pitchFamily="34" charset="-122"/>
                <a:ea typeface="Microsoft YaHei" panose="020B0503020204020204" pitchFamily="34" charset="-122"/>
              </a:rPr>
              <a:t>设有关系</a:t>
            </a:r>
            <a:r>
              <a:rPr lang="en-US" altLang="zh-CN" sz="1800" dirty="0">
                <a:latin typeface="Microsoft YaHei" panose="020B0503020204020204" pitchFamily="34" charset="-122"/>
                <a:ea typeface="Microsoft YaHei" panose="020B0503020204020204" pitchFamily="34" charset="-122"/>
              </a:rPr>
              <a:t>R(A,B),</a:t>
            </a:r>
            <a:r>
              <a:rPr lang="zh-CN" altLang="en-US" sz="1800" dirty="0">
                <a:latin typeface="Microsoft YaHei" panose="020B0503020204020204" pitchFamily="34" charset="-122"/>
                <a:ea typeface="Microsoft YaHei" panose="020B0503020204020204" pitchFamily="34" charset="-122"/>
              </a:rPr>
              <a:t>则属性</a:t>
            </a:r>
            <a:r>
              <a:rPr lang="en-US" altLang="zh-CN" sz="1800" dirty="0">
                <a:latin typeface="Microsoft YaHei" panose="020B0503020204020204" pitchFamily="34" charset="-122"/>
                <a:ea typeface="Microsoft YaHei" panose="020B0503020204020204" pitchFamily="34" charset="-122"/>
              </a:rPr>
              <a:t>A,B</a:t>
            </a:r>
            <a:r>
              <a:rPr lang="zh-CN" altLang="en-US" sz="1800" dirty="0">
                <a:latin typeface="Microsoft YaHei" panose="020B0503020204020204" pitchFamily="34" charset="-122"/>
                <a:ea typeface="Microsoft YaHei" panose="020B0503020204020204" pitchFamily="34" charset="-122"/>
              </a:rPr>
              <a:t>间可能存在的函数依赖关系有：</a:t>
            </a:r>
            <a:endParaRPr lang="en-US" altLang="zh-CN" sz="1800" dirty="0">
              <a:latin typeface="Microsoft YaHei" panose="020B0503020204020204" pitchFamily="34" charset="-122"/>
              <a:ea typeface="Microsoft YaHei" panose="020B0503020204020204" pitchFamily="34" charset="-122"/>
            </a:endParaRPr>
          </a:p>
          <a:p>
            <a:pPr marL="600075" lvl="2" indent="0" algn="just" eaLnBrk="1" hangingPunct="1"/>
            <a:r>
              <a:rPr lang="en-US" altLang="zh-CN" sz="1500" dirty="0">
                <a:latin typeface="Microsoft YaHei" panose="020B0503020204020204" pitchFamily="34" charset="-122"/>
                <a:ea typeface="Microsoft YaHei" panose="020B0503020204020204" pitchFamily="34" charset="-122"/>
              </a:rPr>
              <a:t> A→B,</a:t>
            </a:r>
            <a:r>
              <a:rPr lang="zh-CN" altLang="en-US" sz="1500" dirty="0">
                <a:latin typeface="Microsoft YaHei" panose="020B0503020204020204" pitchFamily="34" charset="-122"/>
                <a:ea typeface="Microsoft YaHei" panose="020B0503020204020204" pitchFamily="34" charset="-122"/>
              </a:rPr>
              <a:t> </a:t>
            </a:r>
            <a:r>
              <a:rPr lang="en-US" altLang="zh-CN" sz="1500" dirty="0">
                <a:latin typeface="Microsoft YaHei" panose="020B0503020204020204" pitchFamily="34" charset="-122"/>
                <a:ea typeface="Microsoft YaHei" panose="020B0503020204020204" pitchFamily="34" charset="-122"/>
              </a:rPr>
              <a:t>B</a:t>
            </a:r>
            <a:r>
              <a:rPr lang="zh-CN" altLang="en-US" sz="1600" dirty="0">
                <a:solidFill>
                  <a:prstClr val="black"/>
                </a:solidFill>
              </a:rPr>
              <a:t> </a:t>
            </a:r>
            <a:r>
              <a:rPr lang="zh-CN" altLang="en-US" sz="1800" dirty="0">
                <a:solidFill>
                  <a:prstClr val="black"/>
                </a:solidFill>
              </a:rPr>
              <a:t>↛ </a:t>
            </a:r>
            <a:r>
              <a:rPr lang="en-US" altLang="zh-CN" sz="1500" dirty="0">
                <a:latin typeface="Microsoft YaHei" panose="020B0503020204020204" pitchFamily="34" charset="-122"/>
                <a:ea typeface="Microsoft YaHei" panose="020B0503020204020204" pitchFamily="34" charset="-122"/>
              </a:rPr>
              <a:t>A       </a:t>
            </a:r>
            <a:r>
              <a:rPr lang="zh-CN" altLang="en-US" sz="1500" dirty="0">
                <a:latin typeface="Microsoft YaHei" panose="020B0503020204020204" pitchFamily="34" charset="-122"/>
                <a:ea typeface="Microsoft YaHei" panose="020B0503020204020204" pitchFamily="34" charset="-122"/>
              </a:rPr>
              <a:t> 候选键为</a:t>
            </a:r>
            <a:r>
              <a:rPr lang="en-US" altLang="zh-CN" sz="1500" dirty="0">
                <a:latin typeface="Microsoft YaHei" panose="020B0503020204020204" pitchFamily="34" charset="-122"/>
                <a:ea typeface="Microsoft YaHei" panose="020B0503020204020204" pitchFamily="34" charset="-122"/>
              </a:rPr>
              <a:t>A, R</a:t>
            </a:r>
            <a:r>
              <a:rPr lang="zh-CN" altLang="en-US" sz="1500" dirty="0">
                <a:latin typeface="Microsoft YaHei" panose="020B0503020204020204" pitchFamily="34" charset="-122"/>
                <a:ea typeface="Microsoft YaHei" panose="020B0503020204020204" pitchFamily="34" charset="-122"/>
              </a:rPr>
              <a:t>∈</a:t>
            </a:r>
            <a:r>
              <a:rPr lang="en-US" altLang="zh-CN" sz="1500" dirty="0">
                <a:latin typeface="Microsoft YaHei" panose="020B0503020204020204" pitchFamily="34" charset="-122"/>
                <a:ea typeface="Microsoft YaHei" panose="020B0503020204020204" pitchFamily="34" charset="-122"/>
              </a:rPr>
              <a:t>BCNF</a:t>
            </a:r>
            <a:endParaRPr lang="zh-CN" altLang="en-US" sz="1500" dirty="0">
              <a:latin typeface="Microsoft YaHei" panose="020B0503020204020204" pitchFamily="34" charset="-122"/>
              <a:ea typeface="Microsoft YaHei" panose="020B0503020204020204" pitchFamily="34" charset="-122"/>
            </a:endParaRPr>
          </a:p>
          <a:p>
            <a:pPr marL="600075" lvl="2" indent="0" algn="just" eaLnBrk="1" hangingPunct="1"/>
            <a:r>
              <a:rPr lang="en-US" altLang="zh-CN" sz="1500" dirty="0">
                <a:latin typeface="Microsoft YaHei" panose="020B0503020204020204" pitchFamily="34" charset="-122"/>
                <a:ea typeface="Microsoft YaHei" panose="020B0503020204020204" pitchFamily="34" charset="-122"/>
              </a:rPr>
              <a:t> B→A,</a:t>
            </a:r>
            <a:r>
              <a:rPr lang="zh-CN" altLang="en-US" sz="1500" dirty="0">
                <a:latin typeface="Microsoft YaHei" panose="020B0503020204020204" pitchFamily="34" charset="-122"/>
                <a:ea typeface="Microsoft YaHei" panose="020B0503020204020204" pitchFamily="34" charset="-122"/>
              </a:rPr>
              <a:t> </a:t>
            </a:r>
            <a:r>
              <a:rPr lang="en-US" altLang="zh-CN" sz="1500" dirty="0">
                <a:latin typeface="Microsoft YaHei" panose="020B0503020204020204" pitchFamily="34" charset="-122"/>
                <a:ea typeface="Microsoft YaHei" panose="020B0503020204020204" pitchFamily="34" charset="-122"/>
              </a:rPr>
              <a:t>A</a:t>
            </a:r>
            <a:r>
              <a:rPr lang="zh-CN" altLang="en-US" sz="1600" dirty="0">
                <a:solidFill>
                  <a:prstClr val="black"/>
                </a:solidFill>
              </a:rPr>
              <a:t> </a:t>
            </a:r>
            <a:r>
              <a:rPr lang="zh-CN" altLang="en-US" sz="1800" dirty="0">
                <a:solidFill>
                  <a:prstClr val="black"/>
                </a:solidFill>
              </a:rPr>
              <a:t>↛ </a:t>
            </a:r>
            <a:r>
              <a:rPr lang="en-US" altLang="zh-CN" sz="1500" dirty="0">
                <a:latin typeface="Microsoft YaHei" panose="020B0503020204020204" pitchFamily="34" charset="-122"/>
                <a:ea typeface="Microsoft YaHei" panose="020B0503020204020204" pitchFamily="34" charset="-122"/>
              </a:rPr>
              <a:t>B       </a:t>
            </a:r>
            <a:r>
              <a:rPr lang="zh-CN" altLang="en-US" sz="1500" dirty="0">
                <a:latin typeface="Microsoft YaHei" panose="020B0503020204020204" pitchFamily="34" charset="-122"/>
                <a:ea typeface="Microsoft YaHei" panose="020B0503020204020204" pitchFamily="34" charset="-122"/>
              </a:rPr>
              <a:t> 候选键为</a:t>
            </a:r>
            <a:r>
              <a:rPr lang="en-US" altLang="zh-CN" sz="1500" dirty="0">
                <a:latin typeface="Microsoft YaHei" panose="020B0503020204020204" pitchFamily="34" charset="-122"/>
                <a:ea typeface="Microsoft YaHei" panose="020B0503020204020204" pitchFamily="34" charset="-122"/>
              </a:rPr>
              <a:t>B, R</a:t>
            </a:r>
            <a:r>
              <a:rPr lang="zh-CN" altLang="en-US" sz="1500" dirty="0">
                <a:latin typeface="Microsoft YaHei" panose="020B0503020204020204" pitchFamily="34" charset="-122"/>
                <a:ea typeface="Microsoft YaHei" panose="020B0503020204020204" pitchFamily="34" charset="-122"/>
              </a:rPr>
              <a:t>∈</a:t>
            </a:r>
            <a:r>
              <a:rPr lang="en-US" altLang="zh-CN" sz="1500" dirty="0">
                <a:latin typeface="Microsoft YaHei" panose="020B0503020204020204" pitchFamily="34" charset="-122"/>
                <a:ea typeface="Microsoft YaHei" panose="020B0503020204020204" pitchFamily="34" charset="-122"/>
              </a:rPr>
              <a:t>BCNF</a:t>
            </a:r>
          </a:p>
          <a:p>
            <a:pPr marL="600075" lvl="2" indent="0" algn="just" eaLnBrk="1" hangingPunct="1"/>
            <a:r>
              <a:rPr lang="en-US" altLang="zh-CN" sz="1500" dirty="0">
                <a:latin typeface="Microsoft YaHei" panose="020B0503020204020204" pitchFamily="34" charset="-122"/>
                <a:ea typeface="Microsoft YaHei" panose="020B0503020204020204" pitchFamily="34" charset="-122"/>
              </a:rPr>
              <a:t> A→B,</a:t>
            </a:r>
            <a:r>
              <a:rPr lang="zh-CN" altLang="en-US" sz="1500" dirty="0">
                <a:latin typeface="Microsoft YaHei" panose="020B0503020204020204" pitchFamily="34" charset="-122"/>
                <a:ea typeface="Microsoft YaHei" panose="020B0503020204020204" pitchFamily="34" charset="-122"/>
              </a:rPr>
              <a:t> </a:t>
            </a:r>
            <a:r>
              <a:rPr lang="en-US" altLang="zh-CN" sz="1500" dirty="0">
                <a:latin typeface="Microsoft YaHei" panose="020B0503020204020204" pitchFamily="34" charset="-122"/>
                <a:ea typeface="Microsoft YaHei" panose="020B0503020204020204" pitchFamily="34" charset="-122"/>
              </a:rPr>
              <a:t>B→A       </a:t>
            </a:r>
            <a:r>
              <a:rPr lang="zh-CN" altLang="en-US" sz="1500" dirty="0">
                <a:latin typeface="Microsoft YaHei" panose="020B0503020204020204" pitchFamily="34" charset="-122"/>
                <a:ea typeface="Microsoft YaHei" panose="020B0503020204020204" pitchFamily="34" charset="-122"/>
              </a:rPr>
              <a:t>    候选键为</a:t>
            </a:r>
            <a:r>
              <a:rPr lang="en-US" altLang="zh-CN" sz="1500" dirty="0">
                <a:latin typeface="Microsoft YaHei" panose="020B0503020204020204" pitchFamily="34" charset="-122"/>
                <a:ea typeface="Microsoft YaHei" panose="020B0503020204020204" pitchFamily="34" charset="-122"/>
              </a:rPr>
              <a:t>A</a:t>
            </a:r>
            <a:r>
              <a:rPr lang="zh-CN" altLang="en-US" sz="1500" dirty="0">
                <a:latin typeface="Microsoft YaHei" panose="020B0503020204020204" pitchFamily="34" charset="-122"/>
                <a:ea typeface="Microsoft YaHei" panose="020B0503020204020204" pitchFamily="34" charset="-122"/>
              </a:rPr>
              <a:t>、</a:t>
            </a:r>
            <a:r>
              <a:rPr lang="en-US" altLang="zh-CN" sz="1500" dirty="0">
                <a:latin typeface="Microsoft YaHei" panose="020B0503020204020204" pitchFamily="34" charset="-122"/>
                <a:ea typeface="Microsoft YaHei" panose="020B0503020204020204" pitchFamily="34" charset="-122"/>
              </a:rPr>
              <a:t>B, R</a:t>
            </a:r>
            <a:r>
              <a:rPr lang="zh-CN" altLang="en-US" sz="1500" dirty="0">
                <a:latin typeface="Microsoft YaHei" panose="020B0503020204020204" pitchFamily="34" charset="-122"/>
                <a:ea typeface="Microsoft YaHei" panose="020B0503020204020204" pitchFamily="34" charset="-122"/>
              </a:rPr>
              <a:t>∈</a:t>
            </a:r>
            <a:r>
              <a:rPr lang="en-US" altLang="zh-CN" sz="1500" dirty="0">
                <a:latin typeface="Microsoft YaHei" panose="020B0503020204020204" pitchFamily="34" charset="-122"/>
                <a:ea typeface="Microsoft YaHei" panose="020B0503020204020204" pitchFamily="34" charset="-122"/>
              </a:rPr>
              <a:t>BCNF</a:t>
            </a:r>
          </a:p>
          <a:p>
            <a:pPr marL="600075" lvl="2" indent="0" algn="just" eaLnBrk="1" hangingPunct="1"/>
            <a:r>
              <a:rPr lang="en-US" altLang="zh-CN" sz="1500" dirty="0">
                <a:latin typeface="Microsoft YaHei" panose="020B0503020204020204" pitchFamily="34" charset="-122"/>
                <a:ea typeface="Microsoft YaHei" panose="020B0503020204020204" pitchFamily="34" charset="-122"/>
              </a:rPr>
              <a:t> A</a:t>
            </a:r>
            <a:r>
              <a:rPr lang="zh-CN" altLang="en-US" sz="1600" dirty="0">
                <a:solidFill>
                  <a:prstClr val="black"/>
                </a:solidFill>
              </a:rPr>
              <a:t> </a:t>
            </a:r>
            <a:r>
              <a:rPr lang="zh-CN" altLang="en-US" sz="1800" dirty="0">
                <a:solidFill>
                  <a:prstClr val="black"/>
                </a:solidFill>
              </a:rPr>
              <a:t>↛ </a:t>
            </a:r>
            <a:r>
              <a:rPr lang="en-US" altLang="zh-CN" sz="1500" dirty="0">
                <a:latin typeface="Microsoft YaHei" panose="020B0503020204020204" pitchFamily="34" charset="-122"/>
                <a:ea typeface="Microsoft YaHei" panose="020B0503020204020204" pitchFamily="34" charset="-122"/>
              </a:rPr>
              <a:t>B,</a:t>
            </a:r>
            <a:r>
              <a:rPr lang="zh-CN" altLang="en-US" sz="1500" dirty="0">
                <a:latin typeface="Microsoft YaHei" panose="020B0503020204020204" pitchFamily="34" charset="-122"/>
                <a:ea typeface="Microsoft YaHei" panose="020B0503020204020204" pitchFamily="34" charset="-122"/>
              </a:rPr>
              <a:t> </a:t>
            </a:r>
            <a:r>
              <a:rPr lang="en-US" altLang="zh-CN" sz="1500" dirty="0">
                <a:latin typeface="Microsoft YaHei" panose="020B0503020204020204" pitchFamily="34" charset="-122"/>
                <a:ea typeface="Microsoft YaHei" panose="020B0503020204020204" pitchFamily="34" charset="-122"/>
              </a:rPr>
              <a:t>B</a:t>
            </a:r>
            <a:r>
              <a:rPr lang="zh-CN" altLang="en-US" sz="1600" dirty="0">
                <a:solidFill>
                  <a:prstClr val="black"/>
                </a:solidFill>
              </a:rPr>
              <a:t> </a:t>
            </a:r>
            <a:r>
              <a:rPr lang="zh-CN" altLang="en-US" sz="1800" dirty="0">
                <a:solidFill>
                  <a:prstClr val="black"/>
                </a:solidFill>
              </a:rPr>
              <a:t>↛ </a:t>
            </a:r>
            <a:r>
              <a:rPr lang="en-US" altLang="zh-CN" sz="1500" dirty="0">
                <a:latin typeface="Microsoft YaHei" panose="020B0503020204020204" pitchFamily="34" charset="-122"/>
                <a:ea typeface="Microsoft YaHei" panose="020B0503020204020204" pitchFamily="34" charset="-122"/>
              </a:rPr>
              <a:t>A       </a:t>
            </a:r>
            <a:r>
              <a:rPr lang="zh-CN" altLang="en-US" sz="1500" dirty="0">
                <a:latin typeface="Microsoft YaHei" panose="020B0503020204020204" pitchFamily="34" charset="-122"/>
                <a:ea typeface="Microsoft YaHei" panose="020B0503020204020204" pitchFamily="34" charset="-122"/>
              </a:rPr>
              <a:t>候选键为</a:t>
            </a:r>
            <a:r>
              <a:rPr lang="en-US" altLang="zh-CN" sz="1500" dirty="0">
                <a:latin typeface="Microsoft YaHei" panose="020B0503020204020204" pitchFamily="34" charset="-122"/>
                <a:ea typeface="Microsoft YaHei" panose="020B0503020204020204" pitchFamily="34" charset="-122"/>
              </a:rPr>
              <a:t>(A,B), R</a:t>
            </a:r>
            <a:r>
              <a:rPr lang="zh-CN" altLang="en-US" sz="1500" dirty="0">
                <a:latin typeface="Microsoft YaHei" panose="020B0503020204020204" pitchFamily="34" charset="-122"/>
                <a:ea typeface="Microsoft YaHei" panose="020B0503020204020204" pitchFamily="34" charset="-122"/>
              </a:rPr>
              <a:t>∈</a:t>
            </a:r>
            <a:r>
              <a:rPr lang="en-US" altLang="zh-CN" sz="1500" dirty="0">
                <a:latin typeface="Microsoft YaHei" panose="020B0503020204020204" pitchFamily="34" charset="-122"/>
                <a:ea typeface="Microsoft YaHei" panose="020B0503020204020204" pitchFamily="34" charset="-122"/>
              </a:rPr>
              <a:t>BCNF</a:t>
            </a:r>
            <a:endParaRPr lang="zh-CN" altLang="en-US" sz="1500" dirty="0">
              <a:latin typeface="Microsoft YaHei" panose="020B0503020204020204" pitchFamily="34" charset="-122"/>
              <a:ea typeface="Microsoft YaHei" panose="020B0503020204020204" pitchFamily="34" charset="-122"/>
            </a:endParaRPr>
          </a:p>
          <a:p>
            <a:pPr marL="0" indent="0" algn="just" eaLnBrk="1" hangingPunct="1">
              <a:lnSpc>
                <a:spcPct val="140000"/>
              </a:lnSpc>
            </a:pPr>
            <a:endParaRPr lang="zh-CN" altLang="en-US" sz="1800" dirty="0">
              <a:latin typeface="Microsoft YaHei" panose="020B0503020204020204" pitchFamily="34" charset="-122"/>
              <a:ea typeface="Microsoft YaHei" panose="020B0503020204020204" pitchFamily="34" charset="-122"/>
            </a:endParaRPr>
          </a:p>
          <a:p>
            <a:pPr marL="0" indent="0" algn="just" eaLnBrk="1" hangingPunct="1">
              <a:lnSpc>
                <a:spcPct val="140000"/>
              </a:lnSpc>
            </a:pPr>
            <a:endParaRPr lang="zh-CN" altLang="en-US" sz="1800" dirty="0">
              <a:latin typeface="Microsoft YaHei" panose="020B0503020204020204" pitchFamily="34" charset="-122"/>
              <a:ea typeface="Microsoft YaHei" panose="020B0503020204020204" pitchFamily="34" charset="-122"/>
            </a:endParaRPr>
          </a:p>
          <a:p>
            <a:pPr marL="0" indent="0" algn="just" eaLnBrk="1" hangingPunct="1">
              <a:lnSpc>
                <a:spcPct val="140000"/>
              </a:lnSpc>
              <a:buNone/>
            </a:pPr>
            <a:endParaRPr lang="zh-CN" altLang="en-US" sz="1800" dirty="0">
              <a:solidFill>
                <a:schemeClr val="hlink"/>
              </a:solidFill>
              <a:latin typeface="Microsoft YaHei" panose="020B0503020204020204" pitchFamily="34" charset="-122"/>
              <a:ea typeface="Microsoft YaHei" panose="020B0503020204020204" pitchFamily="34" charset="-122"/>
            </a:endParaRPr>
          </a:p>
          <a:p>
            <a:pPr marL="0" indent="0" algn="just" eaLnBrk="1" hangingPunct="1">
              <a:buNone/>
            </a:pPr>
            <a:endParaRPr lang="zh-CN" altLang="en-US" sz="1800" dirty="0">
              <a:solidFill>
                <a:schemeClr val="hlink"/>
              </a:solidFill>
              <a:latin typeface="Microsoft YaHei" panose="020B0503020204020204" pitchFamily="34" charset="-122"/>
              <a:ea typeface="Microsoft YaHei" panose="020B0503020204020204" pitchFamily="34" charset="-122"/>
            </a:endParaRPr>
          </a:p>
        </p:txBody>
      </p:sp>
      <p:sp>
        <p:nvSpPr>
          <p:cNvPr id="5" name="标题 4">
            <a:extLst>
              <a:ext uri="{FF2B5EF4-FFF2-40B4-BE49-F238E27FC236}">
                <a16:creationId xmlns:a16="http://schemas.microsoft.com/office/drawing/2014/main" id="{9ECEF100-9727-F235-A3AC-77BD979E8455}"/>
              </a:ext>
            </a:extLst>
          </p:cNvPr>
          <p:cNvSpPr>
            <a:spLocks noGrp="1"/>
          </p:cNvSpPr>
          <p:nvPr>
            <p:ph type="title"/>
          </p:nvPr>
        </p:nvSpPr>
        <p:spPr/>
        <p:txBody>
          <a:bodyPr/>
          <a:lstStyle/>
          <a:p>
            <a:r>
              <a:rPr lang="zh-CN" altLang="en-US" dirty="0"/>
              <a:t>分解为</a:t>
            </a:r>
            <a:r>
              <a:rPr lang="en-US" altLang="zh-CN" dirty="0"/>
              <a:t>BCNF</a:t>
            </a:r>
            <a:endParaRPr lang="zh-CN" altLang="en-US"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custDataLst>
              <p:tags r:id="rId1"/>
            </p:custDataLst>
          </p:nvPr>
        </p:nvSpPr>
        <p:spPr>
          <a:xfrm>
            <a:off x="1077028" y="1690270"/>
            <a:ext cx="4463616" cy="337080"/>
          </a:xfrm>
          <a:prstGeom prst="rect">
            <a:avLst/>
          </a:prstGeom>
          <a:solidFill>
            <a:schemeClr val="accent1"/>
          </a:solidFill>
          <a:ln w="9525">
            <a:noFill/>
          </a:ln>
        </p:spPr>
        <p:txBody>
          <a:bodyPr wrap="none" anchor="ctr" anchorCtr="0"/>
          <a:lstStyle/>
          <a:p>
            <a:pPr eaLnBrk="0" hangingPunct="0"/>
            <a:endParaRPr lang="zh-CN" altLang="en-US" dirty="0">
              <a:latin typeface="Microsoft YaHei" panose="020B0503020204020204" pitchFamily="34" charset="-122"/>
              <a:ea typeface="Microsoft YaHei" panose="020B0503020204020204" pitchFamily="34" charset="-122"/>
            </a:endParaRPr>
          </a:p>
        </p:txBody>
      </p:sp>
      <p:sp>
        <p:nvSpPr>
          <p:cNvPr id="3" name="Text Box 3"/>
          <p:cNvSpPr txBox="1"/>
          <p:nvPr>
            <p:custDataLst>
              <p:tags r:id="rId2"/>
            </p:custDataLst>
          </p:nvPr>
        </p:nvSpPr>
        <p:spPr>
          <a:xfrm>
            <a:off x="117384" y="1253548"/>
            <a:ext cx="7450931" cy="773802"/>
          </a:xfrm>
          <a:prstGeom prst="rect">
            <a:avLst/>
          </a:prstGeom>
          <a:noFill/>
          <a:ln w="9525">
            <a:noFill/>
          </a:ln>
        </p:spPr>
        <p:txBody>
          <a:bodyPr wrap="square" anchor="t" anchorCtr="0">
            <a:spAutoFit/>
          </a:bodyPr>
          <a:lstStyle/>
          <a:p>
            <a:pPr eaLnBrk="0" hangingPunct="0"/>
            <a:r>
              <a:rPr lang="en-US" altLang="zh-CN" dirty="0">
                <a:latin typeface="Microsoft YaHei" panose="020B0503020204020204" pitchFamily="34" charset="-122"/>
                <a:ea typeface="Microsoft YaHei" panose="020B0503020204020204" pitchFamily="34" charset="-122"/>
              </a:rPr>
              <a:t>1</a:t>
            </a:r>
            <a:r>
              <a:rPr lang="zh-CN" altLang="en-US" dirty="0">
                <a:latin typeface="Microsoft YaHei" panose="020B0503020204020204" pitchFamily="34" charset="-122"/>
                <a:ea typeface="Microsoft YaHei" panose="020B0503020204020204" pitchFamily="34" charset="-122"/>
              </a:rPr>
              <a:t>、规范化的目的</a:t>
            </a:r>
          </a:p>
          <a:p>
            <a:pPr eaLnBrk="0" hangingPunct="0">
              <a:lnSpc>
                <a:spcPct val="170000"/>
              </a:lnSpc>
            </a:pPr>
            <a:r>
              <a:rPr lang="zh-CN" altLang="en-US" dirty="0">
                <a:latin typeface="Microsoft YaHei" panose="020B0503020204020204" pitchFamily="34" charset="-122"/>
                <a:ea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解决 </a:t>
            </a:r>
            <a:r>
              <a:rPr lang="zh-CN" altLang="en-US" dirty="0">
                <a:solidFill>
                  <a:schemeClr val="tx2"/>
                </a:solidFill>
                <a:latin typeface="Microsoft YaHei" panose="020B0503020204020204" pitchFamily="34" charset="-122"/>
                <a:ea typeface="Microsoft YaHei" panose="020B0503020204020204" pitchFamily="34" charset="-122"/>
              </a:rPr>
              <a:t>数据冗余、插入异常、删除异常、修改困难 </a:t>
            </a:r>
            <a:r>
              <a:rPr lang="zh-CN" altLang="en-US" dirty="0">
                <a:latin typeface="Microsoft YaHei" panose="020B0503020204020204" pitchFamily="34" charset="-122"/>
                <a:ea typeface="Microsoft YaHei" panose="020B0503020204020204" pitchFamily="34" charset="-122"/>
              </a:rPr>
              <a:t>等问题</a:t>
            </a:r>
          </a:p>
        </p:txBody>
      </p:sp>
      <p:sp>
        <p:nvSpPr>
          <p:cNvPr id="5" name="Text Box 5"/>
          <p:cNvSpPr txBox="1"/>
          <p:nvPr>
            <p:custDataLst>
              <p:tags r:id="rId3"/>
            </p:custDataLst>
          </p:nvPr>
        </p:nvSpPr>
        <p:spPr>
          <a:xfrm>
            <a:off x="117384" y="2217638"/>
            <a:ext cx="2881538" cy="2217851"/>
          </a:xfrm>
          <a:prstGeom prst="rect">
            <a:avLst/>
          </a:prstGeom>
          <a:noFill/>
          <a:ln w="9525">
            <a:noFill/>
          </a:ln>
        </p:spPr>
        <p:txBody>
          <a:bodyPr wrap="square" anchor="t" anchorCtr="0">
            <a:spAutoFit/>
          </a:bodyPr>
          <a:lstStyle/>
          <a:p>
            <a:pPr eaLnBrk="0" hangingPunct="0">
              <a:lnSpc>
                <a:spcPct val="130000"/>
              </a:lnSpc>
            </a:pPr>
            <a:r>
              <a:rPr lang="en-US" altLang="zh-CN" dirty="0">
                <a:latin typeface="Microsoft YaHei" panose="020B0503020204020204" pitchFamily="34" charset="-122"/>
                <a:ea typeface="Microsoft YaHei" panose="020B0503020204020204" pitchFamily="34" charset="-122"/>
              </a:rPr>
              <a:t>2</a:t>
            </a:r>
            <a:r>
              <a:rPr lang="zh-CN" altLang="en-US" dirty="0">
                <a:latin typeface="Microsoft YaHei" panose="020B0503020204020204" pitchFamily="34" charset="-122"/>
                <a:ea typeface="Microsoft YaHei" panose="020B0503020204020204" pitchFamily="34" charset="-122"/>
              </a:rPr>
              <a:t>、规范化的基本思想</a:t>
            </a:r>
          </a:p>
          <a:p>
            <a:pPr eaLnBrk="0" hangingPunct="0">
              <a:lnSpc>
                <a:spcPct val="130000"/>
              </a:lnSpc>
            </a:pPr>
            <a:r>
              <a:rPr lang="zh-CN" altLang="en-US" dirty="0">
                <a:latin typeface="Microsoft YaHei" panose="020B0503020204020204" pitchFamily="34" charset="-122"/>
                <a:ea typeface="Microsoft YaHei" panose="020B0503020204020204" pitchFamily="34" charset="-122"/>
              </a:rPr>
              <a:t>      逐步消除不合适的数据依赖，让一个关系描述一个概念、一个实体或实体间的一种联系。即“一事一地”的模式设计原则。</a:t>
            </a:r>
          </a:p>
        </p:txBody>
      </p:sp>
      <p:sp>
        <p:nvSpPr>
          <p:cNvPr id="6" name="标题 5">
            <a:extLst>
              <a:ext uri="{FF2B5EF4-FFF2-40B4-BE49-F238E27FC236}">
                <a16:creationId xmlns:a16="http://schemas.microsoft.com/office/drawing/2014/main" id="{8106F8D0-DA6A-8A1F-74D1-F6D81D23CE2A}"/>
              </a:ext>
            </a:extLst>
          </p:cNvPr>
          <p:cNvSpPr>
            <a:spLocks noGrp="1"/>
          </p:cNvSpPr>
          <p:nvPr>
            <p:ph type="title"/>
          </p:nvPr>
        </p:nvSpPr>
        <p:spPr/>
        <p:txBody>
          <a:bodyPr/>
          <a:lstStyle/>
          <a:p>
            <a:r>
              <a:rPr lang="zh-CN" altLang="en-US" dirty="0"/>
              <a:t>规范化小结</a:t>
            </a:r>
          </a:p>
        </p:txBody>
      </p:sp>
      <p:sp>
        <p:nvSpPr>
          <p:cNvPr id="8" name="Text Box 2">
            <a:extLst>
              <a:ext uri="{FF2B5EF4-FFF2-40B4-BE49-F238E27FC236}">
                <a16:creationId xmlns:a16="http://schemas.microsoft.com/office/drawing/2014/main" id="{7BFAB709-23EC-7911-77BC-3C47948CCBEE}"/>
              </a:ext>
            </a:extLst>
          </p:cNvPr>
          <p:cNvSpPr txBox="1"/>
          <p:nvPr/>
        </p:nvSpPr>
        <p:spPr>
          <a:xfrm>
            <a:off x="3903353" y="2217638"/>
            <a:ext cx="1011815" cy="369332"/>
          </a:xfrm>
          <a:prstGeom prst="rect">
            <a:avLst/>
          </a:prstGeom>
          <a:noFill/>
          <a:ln w="9525">
            <a:noFill/>
          </a:ln>
        </p:spPr>
        <p:txBody>
          <a:bodyPr wrap="none" anchor="t" anchorCtr="0">
            <a:spAutoFit/>
          </a:bodyPr>
          <a:lstStyle/>
          <a:p>
            <a:pPr eaLnBrk="0" hangingPunct="0"/>
            <a:r>
              <a:rPr lang="en-US" altLang="zh-CN" dirty="0">
                <a:latin typeface="Microsoft YaHei" panose="020B0503020204020204" pitchFamily="34" charset="-122"/>
                <a:ea typeface="Microsoft YaHei" panose="020B0503020204020204" pitchFamily="34" charset="-122"/>
              </a:rPr>
              <a:t>3</a:t>
            </a:r>
            <a:r>
              <a:rPr lang="zh-CN" altLang="en-US" dirty="0">
                <a:latin typeface="Microsoft YaHei" panose="020B0503020204020204" pitchFamily="34" charset="-122"/>
                <a:ea typeface="Microsoft YaHei" panose="020B0503020204020204" pitchFamily="34" charset="-122"/>
              </a:rPr>
              <a:t>、范式</a:t>
            </a:r>
          </a:p>
        </p:txBody>
      </p:sp>
      <p:sp>
        <p:nvSpPr>
          <p:cNvPr id="9" name="Text Box 3">
            <a:extLst>
              <a:ext uri="{FF2B5EF4-FFF2-40B4-BE49-F238E27FC236}">
                <a16:creationId xmlns:a16="http://schemas.microsoft.com/office/drawing/2014/main" id="{6C896A02-3AD3-4B2A-761D-4F2D6A3DE67D}"/>
              </a:ext>
            </a:extLst>
          </p:cNvPr>
          <p:cNvSpPr txBox="1"/>
          <p:nvPr/>
        </p:nvSpPr>
        <p:spPr>
          <a:xfrm>
            <a:off x="4873716" y="2097101"/>
            <a:ext cx="580608" cy="338554"/>
          </a:xfrm>
          <a:prstGeom prst="rect">
            <a:avLst/>
          </a:prstGeom>
          <a:noFill/>
          <a:ln w="9525">
            <a:noFill/>
          </a:ln>
        </p:spPr>
        <p:txBody>
          <a:bodyPr wrap="none" anchor="t" anchorCtr="0">
            <a:spAutoFit/>
          </a:bodyPr>
          <a:lstStyle/>
          <a:p>
            <a:pPr eaLnBrk="0" hangingPunct="0"/>
            <a:r>
              <a:rPr lang="en-US" altLang="zh-CN" sz="1600" dirty="0">
                <a:solidFill>
                  <a:schemeClr val="tx2"/>
                </a:solidFill>
                <a:latin typeface="Microsoft YaHei" panose="020B0503020204020204" pitchFamily="34" charset="-122"/>
                <a:ea typeface="Microsoft YaHei" panose="020B0503020204020204" pitchFamily="34" charset="-122"/>
              </a:rPr>
              <a:t>1NF</a:t>
            </a:r>
          </a:p>
        </p:txBody>
      </p:sp>
      <p:sp>
        <p:nvSpPr>
          <p:cNvPr id="10" name="Line 4">
            <a:extLst>
              <a:ext uri="{FF2B5EF4-FFF2-40B4-BE49-F238E27FC236}">
                <a16:creationId xmlns:a16="http://schemas.microsoft.com/office/drawing/2014/main" id="{1296E524-9F41-8F6F-F2A5-928CE49BCBC8}"/>
              </a:ext>
            </a:extLst>
          </p:cNvPr>
          <p:cNvSpPr/>
          <p:nvPr/>
        </p:nvSpPr>
        <p:spPr>
          <a:xfrm>
            <a:off x="5102315" y="2419761"/>
            <a:ext cx="0" cy="342900"/>
          </a:xfrm>
          <a:prstGeom prst="line">
            <a:avLst/>
          </a:prstGeom>
          <a:ln w="38100" cap="flat" cmpd="sng">
            <a:solidFill>
              <a:srgbClr val="FF0066"/>
            </a:solidFill>
            <a:prstDash val="solid"/>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11" name="Text Box 5">
            <a:extLst>
              <a:ext uri="{FF2B5EF4-FFF2-40B4-BE49-F238E27FC236}">
                <a16:creationId xmlns:a16="http://schemas.microsoft.com/office/drawing/2014/main" id="{6FC864F4-8082-E377-FAF5-D4CC4398D973}"/>
              </a:ext>
            </a:extLst>
          </p:cNvPr>
          <p:cNvSpPr txBox="1"/>
          <p:nvPr/>
        </p:nvSpPr>
        <p:spPr>
          <a:xfrm>
            <a:off x="4873716" y="2725751"/>
            <a:ext cx="580608" cy="338554"/>
          </a:xfrm>
          <a:prstGeom prst="rect">
            <a:avLst/>
          </a:prstGeom>
          <a:noFill/>
          <a:ln w="9525">
            <a:noFill/>
          </a:ln>
        </p:spPr>
        <p:txBody>
          <a:bodyPr wrap="none" anchor="t" anchorCtr="0">
            <a:spAutoFit/>
          </a:bodyPr>
          <a:lstStyle/>
          <a:p>
            <a:pPr eaLnBrk="0" hangingPunct="0"/>
            <a:r>
              <a:rPr lang="en-US" altLang="zh-CN" sz="1600" dirty="0">
                <a:solidFill>
                  <a:schemeClr val="tx2"/>
                </a:solidFill>
                <a:latin typeface="Microsoft YaHei" panose="020B0503020204020204" pitchFamily="34" charset="-122"/>
                <a:ea typeface="Microsoft YaHei" panose="020B0503020204020204" pitchFamily="34" charset="-122"/>
              </a:rPr>
              <a:t>2NF</a:t>
            </a:r>
          </a:p>
        </p:txBody>
      </p:sp>
      <p:sp>
        <p:nvSpPr>
          <p:cNvPr id="12" name="Line 6">
            <a:extLst>
              <a:ext uri="{FF2B5EF4-FFF2-40B4-BE49-F238E27FC236}">
                <a16:creationId xmlns:a16="http://schemas.microsoft.com/office/drawing/2014/main" id="{26C6B25D-20CA-BA10-A539-E820DCC226EE}"/>
              </a:ext>
            </a:extLst>
          </p:cNvPr>
          <p:cNvSpPr/>
          <p:nvPr/>
        </p:nvSpPr>
        <p:spPr>
          <a:xfrm>
            <a:off x="5102315" y="3048411"/>
            <a:ext cx="0" cy="342900"/>
          </a:xfrm>
          <a:prstGeom prst="line">
            <a:avLst/>
          </a:prstGeom>
          <a:ln w="38100" cap="flat" cmpd="sng">
            <a:solidFill>
              <a:srgbClr val="FF0066"/>
            </a:solidFill>
            <a:prstDash val="solid"/>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13" name="Text Box 7">
            <a:extLst>
              <a:ext uri="{FF2B5EF4-FFF2-40B4-BE49-F238E27FC236}">
                <a16:creationId xmlns:a16="http://schemas.microsoft.com/office/drawing/2014/main" id="{1DC04AF7-40CD-A17F-07C6-D0C06325D1AD}"/>
              </a:ext>
            </a:extLst>
          </p:cNvPr>
          <p:cNvSpPr txBox="1"/>
          <p:nvPr/>
        </p:nvSpPr>
        <p:spPr>
          <a:xfrm>
            <a:off x="4873716" y="3354401"/>
            <a:ext cx="580608" cy="338554"/>
          </a:xfrm>
          <a:prstGeom prst="rect">
            <a:avLst/>
          </a:prstGeom>
          <a:noFill/>
          <a:ln w="9525">
            <a:noFill/>
          </a:ln>
        </p:spPr>
        <p:txBody>
          <a:bodyPr wrap="none" anchor="t" anchorCtr="0">
            <a:spAutoFit/>
          </a:bodyPr>
          <a:lstStyle/>
          <a:p>
            <a:pPr eaLnBrk="0" hangingPunct="0"/>
            <a:r>
              <a:rPr lang="en-US" altLang="zh-CN" sz="1600" dirty="0">
                <a:solidFill>
                  <a:schemeClr val="tx2"/>
                </a:solidFill>
                <a:latin typeface="Microsoft YaHei" panose="020B0503020204020204" pitchFamily="34" charset="-122"/>
                <a:ea typeface="Microsoft YaHei" panose="020B0503020204020204" pitchFamily="34" charset="-122"/>
              </a:rPr>
              <a:t>3NF</a:t>
            </a:r>
          </a:p>
        </p:txBody>
      </p:sp>
      <p:sp>
        <p:nvSpPr>
          <p:cNvPr id="14" name="Line 8">
            <a:extLst>
              <a:ext uri="{FF2B5EF4-FFF2-40B4-BE49-F238E27FC236}">
                <a16:creationId xmlns:a16="http://schemas.microsoft.com/office/drawing/2014/main" id="{981E0D99-8E37-FCD7-59CB-A42D58B8DCE2}"/>
              </a:ext>
            </a:extLst>
          </p:cNvPr>
          <p:cNvSpPr/>
          <p:nvPr/>
        </p:nvSpPr>
        <p:spPr>
          <a:xfrm>
            <a:off x="5102315" y="3677061"/>
            <a:ext cx="0" cy="342900"/>
          </a:xfrm>
          <a:prstGeom prst="line">
            <a:avLst/>
          </a:prstGeom>
          <a:ln w="38100" cap="flat" cmpd="sng">
            <a:solidFill>
              <a:srgbClr val="FF0066"/>
            </a:solidFill>
            <a:prstDash val="solid"/>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15" name="Text Box 9">
            <a:extLst>
              <a:ext uri="{FF2B5EF4-FFF2-40B4-BE49-F238E27FC236}">
                <a16:creationId xmlns:a16="http://schemas.microsoft.com/office/drawing/2014/main" id="{F4542793-68A4-B30C-C697-D96EED1CA0EF}"/>
              </a:ext>
            </a:extLst>
          </p:cNvPr>
          <p:cNvSpPr txBox="1"/>
          <p:nvPr/>
        </p:nvSpPr>
        <p:spPr>
          <a:xfrm>
            <a:off x="4759416" y="3983051"/>
            <a:ext cx="726481" cy="338554"/>
          </a:xfrm>
          <a:prstGeom prst="rect">
            <a:avLst/>
          </a:prstGeom>
          <a:noFill/>
          <a:ln w="9525">
            <a:noFill/>
          </a:ln>
        </p:spPr>
        <p:txBody>
          <a:bodyPr wrap="none" anchor="t" anchorCtr="0">
            <a:spAutoFit/>
          </a:bodyPr>
          <a:lstStyle/>
          <a:p>
            <a:pPr eaLnBrk="0" hangingPunct="0"/>
            <a:r>
              <a:rPr lang="en-US" altLang="zh-CN" sz="1600" dirty="0">
                <a:solidFill>
                  <a:schemeClr val="tx2"/>
                </a:solidFill>
                <a:latin typeface="Microsoft YaHei" panose="020B0503020204020204" pitchFamily="34" charset="-122"/>
                <a:ea typeface="Microsoft YaHei" panose="020B0503020204020204" pitchFamily="34" charset="-122"/>
              </a:rPr>
              <a:t>BCNF</a:t>
            </a:r>
          </a:p>
        </p:txBody>
      </p:sp>
      <p:sp>
        <p:nvSpPr>
          <p:cNvPr id="16" name="Line 10">
            <a:extLst>
              <a:ext uri="{FF2B5EF4-FFF2-40B4-BE49-F238E27FC236}">
                <a16:creationId xmlns:a16="http://schemas.microsoft.com/office/drawing/2014/main" id="{022D5E31-CC5B-26BA-76E1-2E354E28710F}"/>
              </a:ext>
            </a:extLst>
          </p:cNvPr>
          <p:cNvSpPr/>
          <p:nvPr/>
        </p:nvSpPr>
        <p:spPr>
          <a:xfrm>
            <a:off x="5102315" y="4305711"/>
            <a:ext cx="0" cy="342900"/>
          </a:xfrm>
          <a:prstGeom prst="line">
            <a:avLst/>
          </a:prstGeom>
          <a:ln w="38100" cap="flat" cmpd="sng">
            <a:solidFill>
              <a:srgbClr val="FF0066"/>
            </a:solidFill>
            <a:prstDash val="solid"/>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sp>
        <p:nvSpPr>
          <p:cNvPr id="17" name="Text Box 11">
            <a:extLst>
              <a:ext uri="{FF2B5EF4-FFF2-40B4-BE49-F238E27FC236}">
                <a16:creationId xmlns:a16="http://schemas.microsoft.com/office/drawing/2014/main" id="{B36A7905-61BA-6575-3D7E-69E509B6FCE6}"/>
              </a:ext>
            </a:extLst>
          </p:cNvPr>
          <p:cNvSpPr txBox="1"/>
          <p:nvPr/>
        </p:nvSpPr>
        <p:spPr>
          <a:xfrm>
            <a:off x="4826973" y="4558421"/>
            <a:ext cx="532518" cy="307777"/>
          </a:xfrm>
          <a:prstGeom prst="rect">
            <a:avLst/>
          </a:prstGeom>
          <a:noFill/>
          <a:ln w="9525">
            <a:noFill/>
          </a:ln>
        </p:spPr>
        <p:txBody>
          <a:bodyPr wrap="none" anchor="t" anchorCtr="0">
            <a:spAutoFit/>
          </a:bodyPr>
          <a:lstStyle/>
          <a:p>
            <a:pPr eaLnBrk="0" hangingPunct="0"/>
            <a:r>
              <a:rPr lang="en-US" altLang="zh-CN" sz="1400" dirty="0">
                <a:solidFill>
                  <a:schemeClr val="tx2"/>
                </a:solidFill>
                <a:latin typeface="Microsoft YaHei" panose="020B0503020204020204" pitchFamily="34" charset="-122"/>
                <a:ea typeface="Microsoft YaHei" panose="020B0503020204020204" pitchFamily="34" charset="-122"/>
              </a:rPr>
              <a:t>4NF</a:t>
            </a:r>
          </a:p>
        </p:txBody>
      </p:sp>
      <p:grpSp>
        <p:nvGrpSpPr>
          <p:cNvPr id="20" name="Group 14">
            <a:extLst>
              <a:ext uri="{FF2B5EF4-FFF2-40B4-BE49-F238E27FC236}">
                <a16:creationId xmlns:a16="http://schemas.microsoft.com/office/drawing/2014/main" id="{7C2586BD-7813-F2EC-EC32-4D921C119E79}"/>
              </a:ext>
            </a:extLst>
          </p:cNvPr>
          <p:cNvGrpSpPr/>
          <p:nvPr/>
        </p:nvGrpSpPr>
        <p:grpSpPr>
          <a:xfrm>
            <a:off x="5159465" y="2400711"/>
            <a:ext cx="3662363" cy="338138"/>
            <a:chOff x="0" y="27"/>
            <a:chExt cx="3076" cy="284"/>
          </a:xfrm>
        </p:grpSpPr>
        <p:sp>
          <p:nvSpPr>
            <p:cNvPr id="21" name="Text Box 15">
              <a:extLst>
                <a:ext uri="{FF2B5EF4-FFF2-40B4-BE49-F238E27FC236}">
                  <a16:creationId xmlns:a16="http://schemas.microsoft.com/office/drawing/2014/main" id="{A334C23E-F441-0CD1-A37A-6C237D81766B}"/>
                </a:ext>
              </a:extLst>
            </p:cNvPr>
            <p:cNvSpPr txBox="1"/>
            <p:nvPr/>
          </p:nvSpPr>
          <p:spPr>
            <a:xfrm>
              <a:off x="336" y="27"/>
              <a:ext cx="2740" cy="284"/>
            </a:xfrm>
            <a:prstGeom prst="rect">
              <a:avLst/>
            </a:prstGeom>
            <a:noFill/>
            <a:ln w="9525">
              <a:noFill/>
            </a:ln>
          </p:spPr>
          <p:txBody>
            <a:bodyPr wrap="none" anchor="t" anchorCtr="0">
              <a:spAutoFit/>
            </a:bodyPr>
            <a:lstStyle/>
            <a:p>
              <a:pPr eaLnBrk="0" hangingPunct="0"/>
              <a:r>
                <a:rPr lang="zh-CN" altLang="en-US" sz="1600" dirty="0">
                  <a:latin typeface="Microsoft YaHei" panose="020B0503020204020204" pitchFamily="34" charset="-122"/>
                  <a:ea typeface="Microsoft YaHei" panose="020B0503020204020204" pitchFamily="34" charset="-122"/>
                </a:rPr>
                <a:t>消除非主属性对码的部分函数依赖</a:t>
              </a:r>
            </a:p>
          </p:txBody>
        </p:sp>
        <p:sp>
          <p:nvSpPr>
            <p:cNvPr id="22" name="Line 16">
              <a:extLst>
                <a:ext uri="{FF2B5EF4-FFF2-40B4-BE49-F238E27FC236}">
                  <a16:creationId xmlns:a16="http://schemas.microsoft.com/office/drawing/2014/main" id="{79E6BDBE-9E0E-C3C4-A3F0-42423F7C03C6}"/>
                </a:ext>
              </a:extLst>
            </p:cNvPr>
            <p:cNvSpPr/>
            <p:nvPr/>
          </p:nvSpPr>
          <p:spPr>
            <a:xfrm flipH="1">
              <a:off x="0" y="177"/>
              <a:ext cx="336" cy="0"/>
            </a:xfrm>
            <a:prstGeom prst="line">
              <a:avLst/>
            </a:prstGeom>
            <a:ln w="38100" cap="flat" cmpd="sng">
              <a:solidFill>
                <a:schemeClr val="tx1"/>
              </a:solidFill>
              <a:prstDash val="sysDot"/>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grpSp>
      <p:grpSp>
        <p:nvGrpSpPr>
          <p:cNvPr id="23" name="Group 17">
            <a:extLst>
              <a:ext uri="{FF2B5EF4-FFF2-40B4-BE49-F238E27FC236}">
                <a16:creationId xmlns:a16="http://schemas.microsoft.com/office/drawing/2014/main" id="{9B0803E5-D527-1636-029C-FDC5237C22CA}"/>
              </a:ext>
            </a:extLst>
          </p:cNvPr>
          <p:cNvGrpSpPr/>
          <p:nvPr/>
        </p:nvGrpSpPr>
        <p:grpSpPr>
          <a:xfrm>
            <a:off x="5159465" y="3035314"/>
            <a:ext cx="3662363" cy="338138"/>
            <a:chOff x="0" y="32"/>
            <a:chExt cx="3076" cy="284"/>
          </a:xfrm>
        </p:grpSpPr>
        <p:sp>
          <p:nvSpPr>
            <p:cNvPr id="24" name="Text Box 18">
              <a:extLst>
                <a:ext uri="{FF2B5EF4-FFF2-40B4-BE49-F238E27FC236}">
                  <a16:creationId xmlns:a16="http://schemas.microsoft.com/office/drawing/2014/main" id="{49214E61-2AC1-4D45-FEE3-587AA0492DD8}"/>
                </a:ext>
              </a:extLst>
            </p:cNvPr>
            <p:cNvSpPr txBox="1"/>
            <p:nvPr/>
          </p:nvSpPr>
          <p:spPr>
            <a:xfrm>
              <a:off x="336" y="32"/>
              <a:ext cx="2740" cy="284"/>
            </a:xfrm>
            <a:prstGeom prst="rect">
              <a:avLst/>
            </a:prstGeom>
            <a:noFill/>
            <a:ln w="9525">
              <a:noFill/>
            </a:ln>
          </p:spPr>
          <p:txBody>
            <a:bodyPr wrap="none" anchor="t" anchorCtr="0">
              <a:spAutoFit/>
            </a:bodyPr>
            <a:lstStyle/>
            <a:p>
              <a:pPr eaLnBrk="0" hangingPunct="0"/>
              <a:r>
                <a:rPr lang="zh-CN" altLang="en-US" sz="1600" dirty="0">
                  <a:latin typeface="Microsoft YaHei" panose="020B0503020204020204" pitchFamily="34" charset="-122"/>
                  <a:ea typeface="Microsoft YaHei" panose="020B0503020204020204" pitchFamily="34" charset="-122"/>
                </a:rPr>
                <a:t>消除非主属性对码的传递函数依赖</a:t>
              </a:r>
            </a:p>
          </p:txBody>
        </p:sp>
        <p:sp>
          <p:nvSpPr>
            <p:cNvPr id="25" name="Line 19">
              <a:extLst>
                <a:ext uri="{FF2B5EF4-FFF2-40B4-BE49-F238E27FC236}">
                  <a16:creationId xmlns:a16="http://schemas.microsoft.com/office/drawing/2014/main" id="{F4CD0374-2C24-7946-B657-99EAA75638F6}"/>
                </a:ext>
              </a:extLst>
            </p:cNvPr>
            <p:cNvSpPr/>
            <p:nvPr/>
          </p:nvSpPr>
          <p:spPr>
            <a:xfrm flipH="1">
              <a:off x="0" y="177"/>
              <a:ext cx="336" cy="0"/>
            </a:xfrm>
            <a:prstGeom prst="line">
              <a:avLst/>
            </a:prstGeom>
            <a:ln w="38100" cap="flat" cmpd="sng">
              <a:solidFill>
                <a:schemeClr val="tx1"/>
              </a:solidFill>
              <a:prstDash val="sysDot"/>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grpSp>
      <p:grpSp>
        <p:nvGrpSpPr>
          <p:cNvPr id="26" name="Group 20">
            <a:extLst>
              <a:ext uri="{FF2B5EF4-FFF2-40B4-BE49-F238E27FC236}">
                <a16:creationId xmlns:a16="http://schemas.microsoft.com/office/drawing/2014/main" id="{9A8B6C2C-9039-37AB-83CA-9DE429C2B0EB}"/>
              </a:ext>
            </a:extLst>
          </p:cNvPr>
          <p:cNvGrpSpPr/>
          <p:nvPr/>
        </p:nvGrpSpPr>
        <p:grpSpPr>
          <a:xfrm>
            <a:off x="5159465" y="3686586"/>
            <a:ext cx="4073129" cy="338138"/>
            <a:chOff x="0" y="41"/>
            <a:chExt cx="3421" cy="284"/>
          </a:xfrm>
        </p:grpSpPr>
        <p:sp>
          <p:nvSpPr>
            <p:cNvPr id="27" name="Text Box 21">
              <a:extLst>
                <a:ext uri="{FF2B5EF4-FFF2-40B4-BE49-F238E27FC236}">
                  <a16:creationId xmlns:a16="http://schemas.microsoft.com/office/drawing/2014/main" id="{C98E8C44-3A13-CCAA-2147-0474B8EAE089}"/>
                </a:ext>
              </a:extLst>
            </p:cNvPr>
            <p:cNvSpPr txBox="1"/>
            <p:nvPr/>
          </p:nvSpPr>
          <p:spPr>
            <a:xfrm>
              <a:off x="336" y="41"/>
              <a:ext cx="3085" cy="284"/>
            </a:xfrm>
            <a:prstGeom prst="rect">
              <a:avLst/>
            </a:prstGeom>
            <a:noFill/>
            <a:ln w="9525">
              <a:noFill/>
            </a:ln>
          </p:spPr>
          <p:txBody>
            <a:bodyPr wrap="none" anchor="t" anchorCtr="0">
              <a:spAutoFit/>
            </a:bodyPr>
            <a:lstStyle/>
            <a:p>
              <a:pPr eaLnBrk="0" hangingPunct="0"/>
              <a:r>
                <a:rPr lang="zh-CN" altLang="en-US" sz="1600" dirty="0">
                  <a:latin typeface="Microsoft YaHei" panose="020B0503020204020204" pitchFamily="34" charset="-122"/>
                  <a:ea typeface="Microsoft YaHei" panose="020B0503020204020204" pitchFamily="34" charset="-122"/>
                </a:rPr>
                <a:t>消除主属性对码的部分和传递函数依赖</a:t>
              </a:r>
            </a:p>
          </p:txBody>
        </p:sp>
        <p:sp>
          <p:nvSpPr>
            <p:cNvPr id="28" name="Line 22">
              <a:extLst>
                <a:ext uri="{FF2B5EF4-FFF2-40B4-BE49-F238E27FC236}">
                  <a16:creationId xmlns:a16="http://schemas.microsoft.com/office/drawing/2014/main" id="{C6C97F85-78F5-C472-85F7-77A3534B7B11}"/>
                </a:ext>
              </a:extLst>
            </p:cNvPr>
            <p:cNvSpPr/>
            <p:nvPr/>
          </p:nvSpPr>
          <p:spPr>
            <a:xfrm flipH="1">
              <a:off x="0" y="177"/>
              <a:ext cx="336" cy="0"/>
            </a:xfrm>
            <a:prstGeom prst="line">
              <a:avLst/>
            </a:prstGeom>
            <a:ln w="38100" cap="flat" cmpd="sng">
              <a:solidFill>
                <a:schemeClr val="tx1"/>
              </a:solidFill>
              <a:prstDash val="sysDot"/>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grpSp>
      <p:grpSp>
        <p:nvGrpSpPr>
          <p:cNvPr id="29" name="Group 23">
            <a:extLst>
              <a:ext uri="{FF2B5EF4-FFF2-40B4-BE49-F238E27FC236}">
                <a16:creationId xmlns:a16="http://schemas.microsoft.com/office/drawing/2014/main" id="{55649CBA-47D2-1884-3748-98A8CE7586AA}"/>
              </a:ext>
            </a:extLst>
          </p:cNvPr>
          <p:cNvGrpSpPr/>
          <p:nvPr/>
        </p:nvGrpSpPr>
        <p:grpSpPr>
          <a:xfrm>
            <a:off x="5159466" y="4309283"/>
            <a:ext cx="3867150" cy="338138"/>
            <a:chOff x="0" y="36"/>
            <a:chExt cx="3248" cy="284"/>
          </a:xfrm>
        </p:grpSpPr>
        <p:sp>
          <p:nvSpPr>
            <p:cNvPr id="30" name="Text Box 24">
              <a:extLst>
                <a:ext uri="{FF2B5EF4-FFF2-40B4-BE49-F238E27FC236}">
                  <a16:creationId xmlns:a16="http://schemas.microsoft.com/office/drawing/2014/main" id="{82E5E616-C586-C91B-B92A-DCBC3390D439}"/>
                </a:ext>
              </a:extLst>
            </p:cNvPr>
            <p:cNvSpPr txBox="1"/>
            <p:nvPr/>
          </p:nvSpPr>
          <p:spPr>
            <a:xfrm>
              <a:off x="336" y="36"/>
              <a:ext cx="2912" cy="284"/>
            </a:xfrm>
            <a:prstGeom prst="rect">
              <a:avLst/>
            </a:prstGeom>
            <a:noFill/>
            <a:ln w="9525">
              <a:noFill/>
            </a:ln>
          </p:spPr>
          <p:txBody>
            <a:bodyPr wrap="none" anchor="t" anchorCtr="0">
              <a:spAutoFit/>
            </a:bodyPr>
            <a:lstStyle/>
            <a:p>
              <a:pPr eaLnBrk="0" hangingPunct="0"/>
              <a:r>
                <a:rPr lang="zh-CN" altLang="en-US" sz="1600" dirty="0">
                  <a:latin typeface="Microsoft YaHei" panose="020B0503020204020204" pitchFamily="34" charset="-122"/>
                  <a:ea typeface="Microsoft YaHei" panose="020B0503020204020204" pitchFamily="34" charset="-122"/>
                </a:rPr>
                <a:t>消除非平凡且非函数依赖的多值依赖</a:t>
              </a:r>
            </a:p>
          </p:txBody>
        </p:sp>
        <p:sp>
          <p:nvSpPr>
            <p:cNvPr id="31" name="Line 25">
              <a:extLst>
                <a:ext uri="{FF2B5EF4-FFF2-40B4-BE49-F238E27FC236}">
                  <a16:creationId xmlns:a16="http://schemas.microsoft.com/office/drawing/2014/main" id="{9D549139-5B0B-DB48-A5B8-87FBC2F6379F}"/>
                </a:ext>
              </a:extLst>
            </p:cNvPr>
            <p:cNvSpPr/>
            <p:nvPr/>
          </p:nvSpPr>
          <p:spPr>
            <a:xfrm flipH="1">
              <a:off x="0" y="177"/>
              <a:ext cx="336" cy="0"/>
            </a:xfrm>
            <a:prstGeom prst="line">
              <a:avLst/>
            </a:prstGeom>
            <a:ln w="38100" cap="flat" cmpd="sng">
              <a:solidFill>
                <a:schemeClr val="tx1"/>
              </a:solidFill>
              <a:prstDash val="sysDot"/>
              <a:round/>
              <a:headEnd type="none" w="med" len="med"/>
              <a:tailEnd type="triangle" w="med" len="med"/>
            </a:ln>
          </p:spPr>
          <p:txBody>
            <a:bodyPr/>
            <a:lstStyle/>
            <a:p>
              <a:endParaRPr lang="zh-CN" altLang="en-US" sz="1200">
                <a:latin typeface="Microsoft YaHei" panose="020B0503020204020204" pitchFamily="34" charset="-122"/>
                <a:ea typeface="Microsoft YaHei" panose="020B0503020204020204" pitchFamily="34" charset="-122"/>
              </a:endParaRPr>
            </a:p>
          </p:txBody>
        </p:sp>
      </p:grpSp>
      <p:sp>
        <p:nvSpPr>
          <p:cNvPr id="32" name="Line 26">
            <a:extLst>
              <a:ext uri="{FF2B5EF4-FFF2-40B4-BE49-F238E27FC236}">
                <a16:creationId xmlns:a16="http://schemas.microsoft.com/office/drawing/2014/main" id="{56CB7E0B-5A52-D3C6-3DB5-B04DFD72D67B}"/>
              </a:ext>
            </a:extLst>
          </p:cNvPr>
          <p:cNvSpPr/>
          <p:nvPr/>
        </p:nvSpPr>
        <p:spPr>
          <a:xfrm>
            <a:off x="4579734" y="2576473"/>
            <a:ext cx="0" cy="2172645"/>
          </a:xfrm>
          <a:prstGeom prst="line">
            <a:avLst/>
          </a:prstGeom>
          <a:ln w="28575" cap="flat" cmpd="sng">
            <a:solidFill>
              <a:schemeClr val="tx1"/>
            </a:solidFill>
            <a:prstDash val="solid"/>
            <a:round/>
            <a:headEnd type="none" w="med" len="med"/>
            <a:tailEnd type="triangle" w="med" len="med"/>
          </a:ln>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33" name="Text Box 27">
            <a:extLst>
              <a:ext uri="{FF2B5EF4-FFF2-40B4-BE49-F238E27FC236}">
                <a16:creationId xmlns:a16="http://schemas.microsoft.com/office/drawing/2014/main" id="{8FE7556B-6098-FB55-DE9C-6A2CC8AA4057}"/>
              </a:ext>
            </a:extLst>
          </p:cNvPr>
          <p:cNvSpPr txBox="1"/>
          <p:nvPr/>
        </p:nvSpPr>
        <p:spPr>
          <a:xfrm>
            <a:off x="3903353" y="2713318"/>
            <a:ext cx="631032" cy="1815882"/>
          </a:xfrm>
          <a:prstGeom prst="rect">
            <a:avLst/>
          </a:prstGeom>
          <a:noFill/>
          <a:ln w="38100" cap="flat" cmpd="sng">
            <a:solidFill>
              <a:srgbClr val="FF9900"/>
            </a:solidFill>
            <a:prstDash val="solid"/>
            <a:miter/>
            <a:headEnd type="none" w="med" len="med"/>
            <a:tailEnd type="none" w="med" len="med"/>
          </a:ln>
        </p:spPr>
        <p:txBody>
          <a:bodyPr wrap="square" anchor="t" anchorCtr="0">
            <a:spAutoFit/>
          </a:bodyPr>
          <a:lstStyle/>
          <a:p>
            <a:pPr eaLnBrk="0" hangingPunct="0"/>
            <a:r>
              <a:rPr lang="zh-CN" altLang="en-US" sz="1400" dirty="0">
                <a:latin typeface="Microsoft YaHei" panose="020B0503020204020204" pitchFamily="34" charset="-122"/>
                <a:ea typeface="Microsoft YaHei" panose="020B0503020204020204" pitchFamily="34" charset="-122"/>
              </a:rPr>
              <a:t>消除决定因素非码的非平凡函数依赖</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076DA4-EEE6-90A3-90A1-126DF6ED57DA}"/>
              </a:ext>
            </a:extLst>
          </p:cNvPr>
          <p:cNvSpPr>
            <a:spLocks noGrp="1"/>
          </p:cNvSpPr>
          <p:nvPr>
            <p:ph type="title"/>
          </p:nvPr>
        </p:nvSpPr>
        <p:spPr/>
        <p:txBody>
          <a:bodyPr/>
          <a:lstStyle/>
          <a:p>
            <a:r>
              <a:rPr lang="zh-CN" altLang="en-US" dirty="0"/>
              <a:t>范式间的关系</a:t>
            </a:r>
          </a:p>
        </p:txBody>
      </p:sp>
      <p:sp>
        <p:nvSpPr>
          <p:cNvPr id="52225" name="灯片编号占位符 3"/>
          <p:cNvSpPr>
            <a:spLocks noGrp="1"/>
          </p:cNvSpPr>
          <p:nvPr>
            <p:ph type="sldNum" sz="quarter" idx="12"/>
          </p:nvPr>
        </p:nvSpPr>
        <p:spPr/>
        <p:txBody>
          <a:bodyPr vert="horz" wrap="square" lIns="68580" tIns="34290" rIns="68580" bIns="34290" rtlCol="0" anchor="t" anchorCtr="0"/>
          <a:lstStyle>
            <a:lvl1pPr marL="0" lvl="0" indent="0" algn="l" defTabSz="685800" rtl="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Tahoma" panose="020B0604030504040204" pitchFamily="34" charset="0"/>
                <a:ea typeface="宋体" panose="02010600030101010101" pitchFamily="2" charset="-122"/>
              </a:defRPr>
            </a:lvl1pPr>
            <a:lvl2pPr marL="342900" lvl="1" indent="0" algn="l" defTabSz="685800" rtl="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Tahoma" panose="020B0604030504040204" pitchFamily="34" charset="0"/>
                <a:ea typeface="宋体" panose="02010600030101010101" pitchFamily="2" charset="-122"/>
                <a:cs typeface="+mn-cs"/>
              </a:defRPr>
            </a:lvl2pPr>
            <a:lvl3pPr marL="685800" lvl="2" indent="0" algn="l" defTabSz="685800" rtl="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Tahoma" panose="020B0604030504040204" pitchFamily="34" charset="0"/>
                <a:ea typeface="宋体" panose="02010600030101010101" pitchFamily="2" charset="-122"/>
                <a:cs typeface="+mn-cs"/>
              </a:defRPr>
            </a:lvl3pPr>
            <a:lvl4pPr marL="1028700" lvl="3" indent="0" algn="l" defTabSz="685800" rtl="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Tahoma" panose="020B0604030504040204" pitchFamily="34" charset="0"/>
                <a:ea typeface="宋体" panose="02010600030101010101" pitchFamily="2" charset="-122"/>
                <a:cs typeface="+mn-cs"/>
              </a:defRPr>
            </a:lvl4pPr>
            <a:lvl5pPr marL="1371600" lvl="4" indent="0" algn="l" defTabSz="685800" rtl="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Tahoma" panose="020B0604030504040204" pitchFamily="34" charset="0"/>
                <a:ea typeface="宋体" panose="02010600030101010101" pitchFamily="2" charset="-122"/>
                <a:cs typeface="+mn-cs"/>
              </a:defRPr>
            </a:lvl5pPr>
          </a:lstStyle>
          <a:p>
            <a:pPr lvl="0" algn="r" eaLnBrk="0" hangingPunct="0">
              <a:buSzTx/>
            </a:pPr>
            <a:fld id="{9A0DB2DC-4C9A-4742-B13C-FB6460FD3503}" type="slidenum">
              <a:rPr lang="zh-CN" altLang="en-US" sz="1050" b="0" dirty="0">
                <a:solidFill>
                  <a:srgbClr val="FF9900"/>
                </a:solidFill>
                <a:latin typeface="Times New Roman" panose="02020603050405020304" pitchFamily="18" charset="0"/>
              </a:rPr>
              <a:t>30</a:t>
            </a:fld>
            <a:endParaRPr lang="zh-CN" altLang="en-US" sz="1050" b="0" dirty="0">
              <a:solidFill>
                <a:srgbClr val="FF9900"/>
              </a:solidFill>
              <a:latin typeface="Times New Roman" panose="02020603050405020304" pitchFamily="18" charset="0"/>
            </a:endParaRPr>
          </a:p>
        </p:txBody>
      </p:sp>
      <p:sp>
        <p:nvSpPr>
          <p:cNvPr id="52227" name="Text Box 15"/>
          <p:cNvSpPr txBox="1"/>
          <p:nvPr/>
        </p:nvSpPr>
        <p:spPr>
          <a:xfrm>
            <a:off x="5055396" y="1478818"/>
            <a:ext cx="3758338" cy="1414554"/>
          </a:xfrm>
          <a:prstGeom prst="rect">
            <a:avLst/>
          </a:prstGeom>
          <a:noFill/>
          <a:ln w="38100" cap="flat" cmpd="sng">
            <a:solidFill>
              <a:schemeClr val="accent1"/>
            </a:solidFill>
            <a:prstDash val="solid"/>
            <a:miter/>
            <a:headEnd type="none" w="med" len="med"/>
            <a:tailEnd type="none" w="med" len="med"/>
          </a:ln>
        </p:spPr>
        <p:txBody>
          <a:bodyPr wrap="square" anchor="t" anchorCtr="0">
            <a:spAutoFit/>
          </a:bodyPr>
          <a:lstStyle/>
          <a:p>
            <a:pPr eaLnBrk="0" hangingPunct="0"/>
            <a:r>
              <a:rPr lang="zh-CN" altLang="en-US" dirty="0">
                <a:latin typeface="Microsoft YaHei" panose="020B0503020204020204" pitchFamily="34" charset="-122"/>
                <a:ea typeface="Microsoft YaHei" panose="020B0503020204020204" pitchFamily="34" charset="-122"/>
              </a:rPr>
              <a:t>规范化的过程</a:t>
            </a:r>
          </a:p>
          <a:p>
            <a:pPr eaLnBrk="0" hangingPunct="0">
              <a:lnSpc>
                <a:spcPct val="130000"/>
              </a:lnSpc>
            </a:pPr>
            <a:r>
              <a:rPr lang="zh-CN" altLang="en-US" dirty="0">
                <a:latin typeface="Microsoft YaHei" panose="020B0503020204020204" pitchFamily="34" charset="-122"/>
                <a:ea typeface="Microsoft YaHei" panose="020B0503020204020204" pitchFamily="34" charset="-122"/>
              </a:rPr>
              <a:t>       对关系模式分解，把一个低一级关系模式分解成若干个高一级的关系模式。</a:t>
            </a:r>
          </a:p>
        </p:txBody>
      </p:sp>
      <p:sp>
        <p:nvSpPr>
          <p:cNvPr id="52228" name="Text Box 16"/>
          <p:cNvSpPr txBox="1"/>
          <p:nvPr/>
        </p:nvSpPr>
        <p:spPr>
          <a:xfrm>
            <a:off x="5055395" y="3364768"/>
            <a:ext cx="3758339" cy="1054456"/>
          </a:xfrm>
          <a:prstGeom prst="rect">
            <a:avLst/>
          </a:prstGeom>
          <a:noFill/>
          <a:ln w="38100" cap="flat" cmpd="sng">
            <a:solidFill>
              <a:schemeClr val="accent1"/>
            </a:solidFill>
            <a:prstDash val="solid"/>
            <a:miter/>
            <a:headEnd type="none" w="med" len="med"/>
            <a:tailEnd type="none" w="med" len="med"/>
          </a:ln>
        </p:spPr>
        <p:txBody>
          <a:bodyPr wrap="square" anchor="t" anchorCtr="0">
            <a:spAutoFit/>
          </a:bodyPr>
          <a:lstStyle/>
          <a:p>
            <a:pPr eaLnBrk="0" hangingPunct="0"/>
            <a:r>
              <a:rPr lang="zh-CN" altLang="en-US" dirty="0">
                <a:latin typeface="Microsoft YaHei" panose="020B0503020204020204" pitchFamily="34" charset="-122"/>
                <a:ea typeface="Microsoft YaHei" panose="020B0503020204020204" pitchFamily="34" charset="-122"/>
              </a:rPr>
              <a:t>规范化与操作效率</a:t>
            </a:r>
          </a:p>
          <a:p>
            <a:pPr eaLnBrk="0" hangingPunct="0">
              <a:lnSpc>
                <a:spcPct val="130000"/>
              </a:lnSpc>
            </a:pPr>
            <a:r>
              <a:rPr lang="zh-CN" altLang="en-US" dirty="0">
                <a:latin typeface="Microsoft YaHei" panose="020B0503020204020204" pitchFamily="34" charset="-122"/>
                <a:ea typeface="Microsoft YaHei" panose="020B0503020204020204" pitchFamily="34" charset="-122"/>
              </a:rPr>
              <a:t>      片面追求高级的模式，会使数据库操作效率降低</a:t>
            </a:r>
          </a:p>
        </p:txBody>
      </p:sp>
      <p:sp>
        <p:nvSpPr>
          <p:cNvPr id="52229" name="文本框 105524"/>
          <p:cNvSpPr txBox="1"/>
          <p:nvPr/>
        </p:nvSpPr>
        <p:spPr>
          <a:xfrm>
            <a:off x="1816894" y="1897856"/>
            <a:ext cx="184731" cy="369332"/>
          </a:xfrm>
          <a:prstGeom prst="rect">
            <a:avLst/>
          </a:prstGeom>
          <a:noFill/>
          <a:ln w="9525">
            <a:noFill/>
          </a:ln>
        </p:spPr>
        <p:txBody>
          <a:bodyPr wrap="none" anchor="t" anchorCtr="0">
            <a:spAutoFit/>
          </a:bodyPr>
          <a:lstStyle/>
          <a:p>
            <a:endParaRPr lang="zh-CN" altLang="zh-CN" dirty="0">
              <a:latin typeface="Tahoma" panose="020B0604030504040204" pitchFamily="34" charset="0"/>
              <a:ea typeface="宋体" panose="02010600030101010101" pitchFamily="2" charset="-122"/>
            </a:endParaRPr>
          </a:p>
        </p:txBody>
      </p:sp>
      <p:sp>
        <p:nvSpPr>
          <p:cNvPr id="52230" name="椭圆 105528"/>
          <p:cNvSpPr/>
          <p:nvPr/>
        </p:nvSpPr>
        <p:spPr>
          <a:xfrm>
            <a:off x="2134892" y="1821718"/>
            <a:ext cx="2114550" cy="2228850"/>
          </a:xfrm>
          <a:prstGeom prst="ellipse">
            <a:avLst/>
          </a:prstGeom>
          <a:solidFill>
            <a:srgbClr val="BFFFEE"/>
          </a:solidFill>
          <a:ln w="9525" cap="flat" cmpd="sng">
            <a:solidFill>
              <a:schemeClr val="tx1"/>
            </a:solidFill>
            <a:prstDash val="solid"/>
            <a:miter/>
            <a:headEnd type="none" w="med" len="med"/>
            <a:tailEnd type="none" w="med" len="med"/>
          </a:ln>
        </p:spPr>
        <p:txBody>
          <a:bodyPr wrap="none" anchor="ctr" anchorCtr="0"/>
          <a:lstStyle/>
          <a:p>
            <a:pPr algn="ctr"/>
            <a:r>
              <a:rPr lang="en-US" altLang="zh-CN">
                <a:latin typeface="Tahoma" panose="020B0604030504040204" pitchFamily="34" charset="0"/>
                <a:ea typeface="宋体" panose="02010600030101010101" pitchFamily="2" charset="-122"/>
              </a:rPr>
              <a:t>1NF</a:t>
            </a:r>
          </a:p>
          <a:p>
            <a:pPr algn="ctr"/>
            <a:endParaRPr lang="en-US" altLang="zh-CN">
              <a:latin typeface="Tahoma" panose="020B0604030504040204" pitchFamily="34" charset="0"/>
              <a:ea typeface="宋体" panose="02010600030101010101" pitchFamily="2" charset="-122"/>
            </a:endParaRPr>
          </a:p>
          <a:p>
            <a:pPr algn="ctr"/>
            <a:endParaRPr lang="en-US" altLang="zh-CN">
              <a:latin typeface="Tahoma" panose="020B0604030504040204" pitchFamily="34" charset="0"/>
              <a:ea typeface="宋体" panose="02010600030101010101" pitchFamily="2" charset="-122"/>
            </a:endParaRPr>
          </a:p>
          <a:p>
            <a:pPr algn="ctr"/>
            <a:endParaRPr lang="en-US" altLang="zh-CN">
              <a:latin typeface="Tahoma" panose="020B0604030504040204" pitchFamily="34" charset="0"/>
              <a:ea typeface="宋体" panose="02010600030101010101" pitchFamily="2" charset="-122"/>
            </a:endParaRPr>
          </a:p>
          <a:p>
            <a:pPr algn="ctr"/>
            <a:endParaRPr lang="en-US" altLang="zh-CN">
              <a:latin typeface="Tahoma" panose="020B0604030504040204" pitchFamily="34" charset="0"/>
              <a:ea typeface="宋体" panose="02010600030101010101" pitchFamily="2" charset="-122"/>
            </a:endParaRPr>
          </a:p>
          <a:p>
            <a:pPr algn="ctr"/>
            <a:endParaRPr lang="en-US" altLang="zh-CN">
              <a:latin typeface="Tahoma" panose="020B0604030504040204" pitchFamily="34" charset="0"/>
              <a:ea typeface="宋体" panose="02010600030101010101" pitchFamily="2" charset="-122"/>
            </a:endParaRPr>
          </a:p>
          <a:p>
            <a:pPr algn="ctr"/>
            <a:endParaRPr lang="en-US" altLang="zh-CN">
              <a:latin typeface="Tahoma" panose="020B0604030504040204" pitchFamily="34" charset="0"/>
              <a:ea typeface="宋体" panose="02010600030101010101" pitchFamily="2" charset="-122"/>
            </a:endParaRPr>
          </a:p>
        </p:txBody>
      </p:sp>
      <p:sp>
        <p:nvSpPr>
          <p:cNvPr id="52231" name="椭圆 105529"/>
          <p:cNvSpPr/>
          <p:nvPr/>
        </p:nvSpPr>
        <p:spPr>
          <a:xfrm>
            <a:off x="2192043" y="2221768"/>
            <a:ext cx="1974056" cy="1844278"/>
          </a:xfrm>
          <a:prstGeom prst="ellipse">
            <a:avLst/>
          </a:prstGeom>
          <a:solidFill>
            <a:srgbClr val="FFF1B5"/>
          </a:solidFill>
          <a:ln w="9525" cap="flat" cmpd="sng">
            <a:solidFill>
              <a:schemeClr val="tx1"/>
            </a:solidFill>
            <a:prstDash val="solid"/>
            <a:miter/>
            <a:headEnd type="none" w="med" len="med"/>
            <a:tailEnd type="none" w="med" len="med"/>
          </a:ln>
        </p:spPr>
        <p:txBody>
          <a:bodyPr wrap="none" anchor="ctr" anchorCtr="0"/>
          <a:lstStyle/>
          <a:p>
            <a:pPr algn="ctr"/>
            <a:r>
              <a:rPr lang="en-US" altLang="zh-CN">
                <a:latin typeface="Tahoma" panose="020B0604030504040204" pitchFamily="34" charset="0"/>
                <a:ea typeface="宋体" panose="02010600030101010101" pitchFamily="2" charset="-122"/>
              </a:rPr>
              <a:t>2NF</a:t>
            </a:r>
          </a:p>
          <a:p>
            <a:pPr algn="ctr"/>
            <a:endParaRPr lang="en-US" altLang="zh-CN">
              <a:latin typeface="Tahoma" panose="020B0604030504040204" pitchFamily="34" charset="0"/>
              <a:ea typeface="宋体" panose="02010600030101010101" pitchFamily="2" charset="-122"/>
            </a:endParaRPr>
          </a:p>
          <a:p>
            <a:pPr algn="ctr"/>
            <a:endParaRPr lang="en-US" altLang="zh-CN">
              <a:latin typeface="Tahoma" panose="020B0604030504040204" pitchFamily="34" charset="0"/>
              <a:ea typeface="宋体" panose="02010600030101010101" pitchFamily="2" charset="-122"/>
            </a:endParaRPr>
          </a:p>
          <a:p>
            <a:pPr algn="ctr"/>
            <a:endParaRPr lang="en-US" altLang="zh-CN">
              <a:latin typeface="Tahoma" panose="020B0604030504040204" pitchFamily="34" charset="0"/>
              <a:ea typeface="宋体" panose="02010600030101010101" pitchFamily="2" charset="-122"/>
            </a:endParaRPr>
          </a:p>
          <a:p>
            <a:pPr algn="ctr"/>
            <a:endParaRPr lang="en-US" altLang="zh-CN">
              <a:latin typeface="Tahoma" panose="020B0604030504040204" pitchFamily="34" charset="0"/>
              <a:ea typeface="宋体" panose="02010600030101010101" pitchFamily="2" charset="-122"/>
            </a:endParaRPr>
          </a:p>
          <a:p>
            <a:pPr algn="ctr"/>
            <a:endParaRPr lang="en-US" altLang="zh-CN">
              <a:latin typeface="Tahoma" panose="020B0604030504040204" pitchFamily="34" charset="0"/>
              <a:ea typeface="宋体" panose="02010600030101010101" pitchFamily="2" charset="-122"/>
            </a:endParaRPr>
          </a:p>
        </p:txBody>
      </p:sp>
      <p:sp>
        <p:nvSpPr>
          <p:cNvPr id="52232" name="椭圆 105530"/>
          <p:cNvSpPr/>
          <p:nvPr/>
        </p:nvSpPr>
        <p:spPr>
          <a:xfrm>
            <a:off x="2363493" y="2621817"/>
            <a:ext cx="1621631" cy="1460897"/>
          </a:xfrm>
          <a:prstGeom prst="ellipse">
            <a:avLst/>
          </a:prstGeom>
          <a:solidFill>
            <a:srgbClr val="FFCCFF"/>
          </a:solidFill>
          <a:ln w="9525" cap="flat" cmpd="sng">
            <a:solidFill>
              <a:schemeClr val="tx1"/>
            </a:solidFill>
            <a:prstDash val="solid"/>
            <a:miter/>
            <a:headEnd type="none" w="med" len="med"/>
            <a:tailEnd type="none" w="med" len="med"/>
          </a:ln>
        </p:spPr>
        <p:txBody>
          <a:bodyPr wrap="none" anchor="ctr" anchorCtr="0"/>
          <a:lstStyle/>
          <a:p>
            <a:pPr algn="ctr"/>
            <a:r>
              <a:rPr lang="en-US" altLang="zh-CN">
                <a:latin typeface="Tahoma" panose="020B0604030504040204" pitchFamily="34" charset="0"/>
                <a:ea typeface="宋体" panose="02010600030101010101" pitchFamily="2" charset="-122"/>
              </a:rPr>
              <a:t>3NF</a:t>
            </a:r>
          </a:p>
          <a:p>
            <a:pPr algn="ctr"/>
            <a:endParaRPr lang="en-US" altLang="zh-CN">
              <a:latin typeface="Tahoma" panose="020B0604030504040204" pitchFamily="34" charset="0"/>
              <a:ea typeface="宋体" panose="02010600030101010101" pitchFamily="2" charset="-122"/>
            </a:endParaRPr>
          </a:p>
          <a:p>
            <a:pPr algn="ctr"/>
            <a:endParaRPr lang="en-US" altLang="zh-CN">
              <a:latin typeface="Tahoma" panose="020B0604030504040204" pitchFamily="34" charset="0"/>
              <a:ea typeface="宋体" panose="02010600030101010101" pitchFamily="2" charset="-122"/>
            </a:endParaRPr>
          </a:p>
          <a:p>
            <a:pPr algn="ctr"/>
            <a:endParaRPr lang="en-US" altLang="zh-CN">
              <a:latin typeface="Tahoma" panose="020B0604030504040204" pitchFamily="34" charset="0"/>
              <a:ea typeface="宋体" panose="02010600030101010101" pitchFamily="2" charset="-122"/>
            </a:endParaRPr>
          </a:p>
          <a:p>
            <a:pPr algn="ctr"/>
            <a:endParaRPr lang="en-US" altLang="zh-CN">
              <a:latin typeface="Tahoma" panose="020B0604030504040204" pitchFamily="34" charset="0"/>
              <a:ea typeface="宋体" panose="02010600030101010101" pitchFamily="2" charset="-122"/>
            </a:endParaRPr>
          </a:p>
        </p:txBody>
      </p:sp>
      <p:sp>
        <p:nvSpPr>
          <p:cNvPr id="52233" name="椭圆 105531"/>
          <p:cNvSpPr/>
          <p:nvPr/>
        </p:nvSpPr>
        <p:spPr>
          <a:xfrm>
            <a:off x="2477792" y="2907568"/>
            <a:ext cx="1409700" cy="1152525"/>
          </a:xfrm>
          <a:prstGeom prst="ellipse">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pPr algn="ctr"/>
            <a:endParaRPr lang="en-US" altLang="zh-CN">
              <a:latin typeface="Tahoma" panose="020B0604030504040204" pitchFamily="34" charset="0"/>
              <a:ea typeface="宋体" panose="02010600030101010101" pitchFamily="2" charset="-122"/>
            </a:endParaRPr>
          </a:p>
          <a:p>
            <a:pPr algn="ctr"/>
            <a:r>
              <a:rPr lang="en-US" altLang="zh-CN">
                <a:latin typeface="Tahoma" panose="020B0604030504040204" pitchFamily="34" charset="0"/>
                <a:ea typeface="宋体" panose="02010600030101010101" pitchFamily="2" charset="-122"/>
              </a:rPr>
              <a:t>BCNF</a:t>
            </a:r>
          </a:p>
          <a:p>
            <a:pPr algn="ctr"/>
            <a:endParaRPr lang="en-US" altLang="zh-CN">
              <a:latin typeface="Tahoma" panose="020B0604030504040204" pitchFamily="34" charset="0"/>
              <a:ea typeface="宋体" panose="02010600030101010101" pitchFamily="2" charset="-122"/>
            </a:endParaRPr>
          </a:p>
          <a:p>
            <a:pPr algn="ctr"/>
            <a:endParaRPr lang="en-US" altLang="zh-CN">
              <a:latin typeface="Tahoma" panose="020B0604030504040204" pitchFamily="34" charset="0"/>
              <a:ea typeface="宋体" panose="02010600030101010101" pitchFamily="2" charset="-122"/>
            </a:endParaRPr>
          </a:p>
          <a:p>
            <a:pPr algn="ctr"/>
            <a:endParaRPr lang="en-US" altLang="zh-CN">
              <a:latin typeface="Tahoma" panose="020B0604030504040204" pitchFamily="34" charset="0"/>
              <a:ea typeface="宋体" panose="02010600030101010101" pitchFamily="2" charset="-122"/>
            </a:endParaRPr>
          </a:p>
        </p:txBody>
      </p:sp>
      <p:sp>
        <p:nvSpPr>
          <p:cNvPr id="52234" name="椭圆 105532"/>
          <p:cNvSpPr/>
          <p:nvPr/>
        </p:nvSpPr>
        <p:spPr>
          <a:xfrm>
            <a:off x="2649242" y="3364768"/>
            <a:ext cx="1057275" cy="691753"/>
          </a:xfrm>
          <a:prstGeom prst="ellipse">
            <a:avLst/>
          </a:prstGeom>
          <a:solidFill>
            <a:srgbClr val="47FFCF"/>
          </a:solidFill>
          <a:ln w="9525" cap="flat" cmpd="sng">
            <a:solidFill>
              <a:schemeClr val="tx1"/>
            </a:solidFill>
            <a:prstDash val="solid"/>
            <a:miter/>
            <a:headEnd type="none" w="med" len="med"/>
            <a:tailEnd type="none" w="med" len="med"/>
          </a:ln>
        </p:spPr>
        <p:txBody>
          <a:bodyPr wrap="none" anchor="ctr" anchorCtr="0"/>
          <a:lstStyle/>
          <a:p>
            <a:pPr algn="ctr"/>
            <a:r>
              <a:rPr lang="en-US" altLang="zh-CN">
                <a:latin typeface="Tahoma" panose="020B0604030504040204" pitchFamily="34" charset="0"/>
                <a:ea typeface="宋体" panose="02010600030101010101" pitchFamily="2" charset="-122"/>
              </a:rPr>
              <a:t>4NF</a:t>
            </a:r>
          </a:p>
        </p:txBody>
      </p:sp>
      <p:pic>
        <p:nvPicPr>
          <p:cNvPr id="52235" name="图片 105514" descr="BD05515_"/>
          <p:cNvPicPr>
            <a:picLocks noChangeAspect="1"/>
          </p:cNvPicPr>
          <p:nvPr/>
        </p:nvPicPr>
        <p:blipFill>
          <a:blip r:embed="rId2"/>
          <a:stretch>
            <a:fillRect/>
          </a:stretch>
        </p:blipFill>
        <p:spPr>
          <a:xfrm>
            <a:off x="114301" y="3054560"/>
            <a:ext cx="1885950" cy="1714500"/>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28B85-3F0D-D6F6-2A29-68005C28B25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FB565A9-953C-A774-D8D0-7F5C9F24C65C}"/>
              </a:ext>
            </a:extLst>
          </p:cNvPr>
          <p:cNvSpPr txBox="1"/>
          <p:nvPr/>
        </p:nvSpPr>
        <p:spPr>
          <a:xfrm>
            <a:off x="1006545" y="2781596"/>
            <a:ext cx="7458075" cy="642035"/>
          </a:xfrm>
          <a:prstGeom prst="rect">
            <a:avLst/>
          </a:prstGeom>
          <a:noFill/>
          <a:ln/>
        </p:spPr>
        <p:txBody>
          <a:bodyPr wrap="square" lIns="0" tIns="0" rIns="0" bIns="0" rtlCol="0" anchor="t">
            <a:spAutoFit/>
          </a:bodyPr>
          <a:lstStyle/>
          <a:p>
            <a:pPr marL="0" indent="0" algn="l">
              <a:lnSpc>
                <a:spcPct val="96000"/>
              </a:lnSpc>
              <a:buNone/>
            </a:pP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关系规范化理论</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3C43DEB5-03FE-417C-00CE-03333CDF1759}"/>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498BC0A4-0216-4ADD-6755-7367796A12A3}"/>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C55AC4E7-F143-C98B-AA51-F1C09A3E7A9E}"/>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F24D051E-5F7D-222B-53F3-437BE7F2056B}"/>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89561106-12DD-7AB1-C065-A93D1F0522FD}"/>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93BC18EF-2AA4-9D9C-E50A-71378F5F82D8}"/>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3FF7CD47-0FD4-522A-3E58-AB9C1D994CA4}"/>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5EA002ED-17BD-67A3-7406-C12729FA8D54}"/>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021CBB21-4F84-5ED6-E19B-D1744C7AE209}"/>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64AD34B9-A839-2724-F7FD-DAD93EBACC65}"/>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70D4E2A3-6556-6940-5EF3-4E7A700C6A86}"/>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115EC9FA-7770-E9A3-9A41-39864E8C01CC}"/>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09CDAE09-98D5-D878-C794-2C5E97C057DF}"/>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1BB7E911-5362-1F80-71A9-BE8EB8F7AAB9}"/>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5AD4B315-39E0-8B8B-7E9A-54E22759E150}"/>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a:t>
            </a:r>
            <a:r>
              <a:rPr lang="en-US" altLang="zh-CN" sz="5250" b="1" dirty="0">
                <a:solidFill>
                  <a:srgbClr val="FD5220"/>
                </a:solidFill>
                <a:latin typeface="Microsoft YaHei" panose="020B0503020204020204" pitchFamily="34" charset="-122"/>
                <a:ea typeface="Microsoft YaHei" panose="020B0503020204020204" pitchFamily="34" charset="-122"/>
                <a:cs typeface="SourceHanSansSC-Regular"/>
              </a:rPr>
              <a:t>2</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9437901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Text Box 2"/>
          <p:cNvSpPr txBox="1"/>
          <p:nvPr/>
        </p:nvSpPr>
        <p:spPr>
          <a:xfrm>
            <a:off x="1401956" y="1493974"/>
            <a:ext cx="6355556" cy="2387320"/>
          </a:xfrm>
          <a:prstGeom prst="rect">
            <a:avLst/>
          </a:prstGeom>
          <a:noFill/>
          <a:ln w="9525">
            <a:noFill/>
          </a:ln>
        </p:spPr>
        <p:txBody>
          <a:bodyPr anchor="t" anchorCtr="0">
            <a:spAutoFit/>
          </a:bodyPr>
          <a:lstStyle/>
          <a:p>
            <a:pPr eaLnBrk="0" hangingPunct="0">
              <a:lnSpc>
                <a:spcPct val="120000"/>
              </a:lnSpc>
            </a:pPr>
            <a:r>
              <a:rPr lang="zh-CN" altLang="en-US" dirty="0">
                <a:latin typeface="Microsoft YaHei" panose="020B0503020204020204" pitchFamily="34" charset="-122"/>
                <a:ea typeface="Microsoft YaHei" panose="020B0503020204020204" pitchFamily="34" charset="-122"/>
              </a:rPr>
              <a:t>        上一节给出了范式的定义，并用例子说明了如何确定一个关系模式属于第几范式以及如何把低一级的模式分解成高一级的模式，但都是直观的方法。</a:t>
            </a:r>
            <a:endParaRPr lang="en-US" altLang="zh-CN" dirty="0">
              <a:latin typeface="Microsoft YaHei" panose="020B0503020204020204" pitchFamily="34" charset="-122"/>
              <a:ea typeface="Microsoft YaHei" panose="020B0503020204020204" pitchFamily="34" charset="-122"/>
            </a:endParaRPr>
          </a:p>
          <a:p>
            <a:pPr eaLnBrk="0" hangingPunct="0">
              <a:lnSpc>
                <a:spcPct val="120000"/>
              </a:lnSpc>
            </a:pPr>
            <a:endParaRPr lang="zh-CN" altLang="en-US" dirty="0">
              <a:latin typeface="Microsoft YaHei" panose="020B0503020204020204" pitchFamily="34" charset="-122"/>
              <a:ea typeface="Microsoft YaHei" panose="020B0503020204020204" pitchFamily="34" charset="-122"/>
            </a:endParaRPr>
          </a:p>
          <a:p>
            <a:pPr eaLnBrk="0" hangingPunct="0">
              <a:lnSpc>
                <a:spcPct val="120000"/>
              </a:lnSpc>
            </a:pPr>
            <a:r>
              <a:rPr lang="zh-CN" altLang="en-US" dirty="0">
                <a:latin typeface="Microsoft YaHei" panose="020B0503020204020204" pitchFamily="34" charset="-122"/>
                <a:ea typeface="Microsoft YaHei" panose="020B0503020204020204" pitchFamily="34" charset="-122"/>
              </a:rPr>
              <a:t>        本节及下节将从理论上探讨：</a:t>
            </a:r>
          </a:p>
          <a:p>
            <a:pPr eaLnBrk="0" hangingPunct="0">
              <a:lnSpc>
                <a:spcPct val="120000"/>
              </a:lnSpc>
            </a:pPr>
            <a:r>
              <a:rPr lang="zh-CN" altLang="en-US" dirty="0">
                <a:latin typeface="Microsoft YaHei" panose="020B0503020204020204" pitchFamily="34" charset="-122"/>
                <a:ea typeface="Microsoft YaHei" panose="020B0503020204020204" pitchFamily="34" charset="-122"/>
              </a:rPr>
              <a:t>            </a:t>
            </a:r>
            <a:r>
              <a:rPr lang="zh-CN" altLang="en-US" dirty="0">
                <a:solidFill>
                  <a:srgbClr val="FF0000"/>
                </a:solidFill>
                <a:latin typeface="Microsoft YaHei" panose="020B0503020204020204" pitchFamily="34" charset="-122"/>
                <a:ea typeface="Microsoft YaHei" panose="020B0503020204020204" pitchFamily="34" charset="-122"/>
              </a:rPr>
              <a:t> 如何确定一个关系模式的极小函数依赖集？</a:t>
            </a:r>
            <a:endParaRPr lang="zh-CN" altLang="en-US" dirty="0">
              <a:latin typeface="Microsoft YaHei" panose="020B0503020204020204" pitchFamily="34" charset="-122"/>
              <a:ea typeface="Microsoft YaHei" panose="020B0503020204020204" pitchFamily="34" charset="-122"/>
            </a:endParaRPr>
          </a:p>
          <a:p>
            <a:pPr eaLnBrk="0" hangingPunct="0">
              <a:lnSpc>
                <a:spcPct val="120000"/>
              </a:lnSpc>
            </a:pPr>
            <a:r>
              <a:rPr lang="zh-CN" altLang="en-US" dirty="0">
                <a:latin typeface="Microsoft YaHei" panose="020B0503020204020204" pitchFamily="34" charset="-122"/>
                <a:ea typeface="Microsoft YaHei" panose="020B0503020204020204" pitchFamily="34" charset="-122"/>
              </a:rPr>
              <a:t>             </a:t>
            </a:r>
            <a:r>
              <a:rPr lang="zh-CN" altLang="en-US" dirty="0">
                <a:solidFill>
                  <a:srgbClr val="FF0000"/>
                </a:solidFill>
                <a:latin typeface="Microsoft YaHei" panose="020B0503020204020204" pitchFamily="34" charset="-122"/>
                <a:ea typeface="Microsoft YaHei" panose="020B0503020204020204" pitchFamily="34" charset="-122"/>
              </a:rPr>
              <a:t>如何分解关系模式？</a:t>
            </a:r>
          </a:p>
        </p:txBody>
      </p:sp>
      <p:sp>
        <p:nvSpPr>
          <p:cNvPr id="3" name="文本框 2"/>
          <p:cNvSpPr txBox="1"/>
          <p:nvPr/>
        </p:nvSpPr>
        <p:spPr>
          <a:xfrm>
            <a:off x="1921663" y="4187046"/>
            <a:ext cx="5316141" cy="369332"/>
          </a:xfrm>
          <a:prstGeom prst="rect">
            <a:avLst/>
          </a:prstGeom>
          <a:noFill/>
          <a:ln w="19050">
            <a:solidFill>
              <a:schemeClr val="accent5">
                <a:lumMod val="75000"/>
              </a:schemeClr>
            </a:solidFill>
          </a:ln>
        </p:spPr>
        <p:txBody>
          <a:bodyPr wrap="square" rtlCol="0" anchor="t">
            <a:spAutoFit/>
          </a:bodyPr>
          <a:lstStyle/>
          <a:p>
            <a:pPr eaLnBrk="0" hangingPunct="0"/>
            <a:r>
              <a:rPr lang="en-US" altLang="zh-CN" noProof="1">
                <a:latin typeface="Microsoft YaHei" panose="020B0503020204020204" pitchFamily="34" charset="-122"/>
                <a:ea typeface="Microsoft YaHei" panose="020B0503020204020204" pitchFamily="34" charset="-122"/>
                <a:sym typeface="+mn-ea"/>
              </a:rPr>
              <a:t>   Armstrong</a:t>
            </a:r>
            <a:r>
              <a:rPr lang="zh-CN" altLang="en-US" noProof="1">
                <a:latin typeface="Microsoft YaHei" panose="020B0503020204020204" pitchFamily="34" charset="-122"/>
                <a:ea typeface="Microsoft YaHei" panose="020B0503020204020204" pitchFamily="34" charset="-122"/>
                <a:sym typeface="+mn-ea"/>
              </a:rPr>
              <a:t>公理系统是模式分解算法的理论基础 </a:t>
            </a:r>
            <a:endParaRPr lang="zh-CN" altLang="en-US" noProof="1">
              <a:latin typeface="Microsoft YaHei" panose="020B0503020204020204" pitchFamily="34" charset="-122"/>
              <a:ea typeface="Microsoft YaHei" panose="020B0503020204020204" pitchFamily="34" charset="-122"/>
            </a:endParaRPr>
          </a:p>
        </p:txBody>
      </p:sp>
      <p:sp>
        <p:nvSpPr>
          <p:cNvPr id="5" name="标题 4">
            <a:extLst>
              <a:ext uri="{FF2B5EF4-FFF2-40B4-BE49-F238E27FC236}">
                <a16:creationId xmlns:a16="http://schemas.microsoft.com/office/drawing/2014/main" id="{D1152BB7-71B8-E0F7-AF40-B2BAA052EB57}"/>
              </a:ext>
            </a:extLst>
          </p:cNvPr>
          <p:cNvSpPr>
            <a:spLocks noGrp="1"/>
          </p:cNvSpPr>
          <p:nvPr>
            <p:ph type="title"/>
          </p:nvPr>
        </p:nvSpPr>
        <p:spPr/>
        <p:txBody>
          <a:bodyPr/>
          <a:lstStyle/>
          <a:p>
            <a:r>
              <a:rPr lang="zh-CN" altLang="en-US" dirty="0"/>
              <a:t>关系规范化理论</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79554">
                                            <p:txEl>
                                              <p:pRg st="0" end="0"/>
                                            </p:txEl>
                                          </p:spTgt>
                                        </p:tgtEl>
                                        <p:attrNameLst>
                                          <p:attrName>style.visibility</p:attrName>
                                        </p:attrNameLst>
                                      </p:cBhvr>
                                      <p:to>
                                        <p:strVal val="visible"/>
                                      </p:to>
                                    </p:set>
                                    <p:animEffect transition="in" filter="fade">
                                      <p:cBhvr>
                                        <p:cTn id="7" dur="500"/>
                                        <p:tgtEl>
                                          <p:spTgt spid="279554">
                                            <p:txEl>
                                              <p:pRg st="0" end="0"/>
                                            </p:txEl>
                                          </p:spTgt>
                                        </p:tgtEl>
                                      </p:cBhvr>
                                    </p:animEffect>
                                    <p:anim calcmode="lin" valueType="num">
                                      <p:cBhvr>
                                        <p:cTn id="8" dur="500" fill="hold"/>
                                        <p:tgtEl>
                                          <p:spTgt spid="279554">
                                            <p:txEl>
                                              <p:pRg st="0" end="0"/>
                                            </p:txEl>
                                          </p:spTgt>
                                        </p:tgtEl>
                                        <p:attrNameLst>
                                          <p:attrName>ppt_w</p:attrName>
                                        </p:attrNameLst>
                                      </p:cBhvr>
                                      <p:tavLst>
                                        <p:tav tm="0">
                                          <p:val>
                                            <p:strVal val="#ppt_w*0.05"/>
                                          </p:val>
                                        </p:tav>
                                        <p:tav tm="100000">
                                          <p:val>
                                            <p:strVal val="#ppt_w"/>
                                          </p:val>
                                        </p:tav>
                                      </p:tavLst>
                                    </p:anim>
                                    <p:anim calcmode="lin" valueType="num">
                                      <p:cBhvr>
                                        <p:cTn id="9" dur="500" fill="hold"/>
                                        <p:tgtEl>
                                          <p:spTgt spid="279554">
                                            <p:txEl>
                                              <p:pRg st="0" end="0"/>
                                            </p:txEl>
                                          </p:spTgt>
                                        </p:tgtEl>
                                        <p:attrNameLst>
                                          <p:attrName>ppt_h</p:attrName>
                                        </p:attrNameLst>
                                      </p:cBhvr>
                                      <p:tavLst>
                                        <p:tav tm="0">
                                          <p:val>
                                            <p:strVal val="#ppt_h"/>
                                          </p:val>
                                        </p:tav>
                                        <p:tav tm="100000">
                                          <p:val>
                                            <p:strVal val="#ppt_h"/>
                                          </p:val>
                                        </p:tav>
                                      </p:tavLst>
                                    </p:anim>
                                    <p:anim calcmode="lin" valueType="num">
                                      <p:cBhvr>
                                        <p:cTn id="10" dur="500" fill="hold"/>
                                        <p:tgtEl>
                                          <p:spTgt spid="279554">
                                            <p:txEl>
                                              <p:pRg st="0" end="0"/>
                                            </p:txEl>
                                          </p:spTgt>
                                        </p:tgtEl>
                                        <p:attrNameLst>
                                          <p:attrName>ppt_x</p:attrName>
                                        </p:attrNameLst>
                                      </p:cBhvr>
                                      <p:tavLst>
                                        <p:tav tm="0">
                                          <p:val>
                                            <p:strVal val="#ppt_x-.2"/>
                                          </p:val>
                                        </p:tav>
                                        <p:tav tm="100000">
                                          <p:val>
                                            <p:strVal val="#ppt_x"/>
                                          </p:val>
                                        </p:tav>
                                      </p:tavLst>
                                    </p:anim>
                                    <p:anim calcmode="lin" valueType="num">
                                      <p:cBhvr>
                                        <p:cTn id="11" dur="500" fill="hold"/>
                                        <p:tgtEl>
                                          <p:spTgt spid="27955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4" presetClass="entr" presetSubtype="0" fill="hold" grpId="0" nodeType="clickEffect">
                                  <p:stCondLst>
                                    <p:cond delay="0"/>
                                  </p:stCondLst>
                                  <p:childTnLst>
                                    <p:set>
                                      <p:cBhvr>
                                        <p:cTn id="15" dur="1" fill="hold">
                                          <p:stCondLst>
                                            <p:cond delay="0"/>
                                          </p:stCondLst>
                                        </p:cTn>
                                        <p:tgtEl>
                                          <p:spTgt spid="279554">
                                            <p:txEl>
                                              <p:pRg st="2" end="2"/>
                                            </p:txEl>
                                          </p:spTgt>
                                        </p:tgtEl>
                                        <p:attrNameLst>
                                          <p:attrName>style.visibility</p:attrName>
                                        </p:attrNameLst>
                                      </p:cBhvr>
                                      <p:to>
                                        <p:strVal val="visible"/>
                                      </p:to>
                                    </p:set>
                                    <p:animEffect transition="in" filter="fade">
                                      <p:cBhvr>
                                        <p:cTn id="16" dur="500"/>
                                        <p:tgtEl>
                                          <p:spTgt spid="279554">
                                            <p:txEl>
                                              <p:pRg st="2" end="2"/>
                                            </p:txEl>
                                          </p:spTgt>
                                        </p:tgtEl>
                                      </p:cBhvr>
                                    </p:animEffect>
                                    <p:anim calcmode="lin" valueType="num">
                                      <p:cBhvr>
                                        <p:cTn id="17" dur="500" fill="hold"/>
                                        <p:tgtEl>
                                          <p:spTgt spid="279554">
                                            <p:txEl>
                                              <p:pRg st="2" end="2"/>
                                            </p:txEl>
                                          </p:spTgt>
                                        </p:tgtEl>
                                        <p:attrNameLst>
                                          <p:attrName>ppt_w</p:attrName>
                                        </p:attrNameLst>
                                      </p:cBhvr>
                                      <p:tavLst>
                                        <p:tav tm="0">
                                          <p:val>
                                            <p:strVal val="#ppt_w*0.05"/>
                                          </p:val>
                                        </p:tav>
                                        <p:tav tm="100000">
                                          <p:val>
                                            <p:strVal val="#ppt_w"/>
                                          </p:val>
                                        </p:tav>
                                      </p:tavLst>
                                    </p:anim>
                                    <p:anim calcmode="lin" valueType="num">
                                      <p:cBhvr>
                                        <p:cTn id="18" dur="500" fill="hold"/>
                                        <p:tgtEl>
                                          <p:spTgt spid="279554">
                                            <p:txEl>
                                              <p:pRg st="2" end="2"/>
                                            </p:txEl>
                                          </p:spTgt>
                                        </p:tgtEl>
                                        <p:attrNameLst>
                                          <p:attrName>ppt_h</p:attrName>
                                        </p:attrNameLst>
                                      </p:cBhvr>
                                      <p:tavLst>
                                        <p:tav tm="0">
                                          <p:val>
                                            <p:strVal val="#ppt_h"/>
                                          </p:val>
                                        </p:tav>
                                        <p:tav tm="100000">
                                          <p:val>
                                            <p:strVal val="#ppt_h"/>
                                          </p:val>
                                        </p:tav>
                                      </p:tavLst>
                                    </p:anim>
                                    <p:anim calcmode="lin" valueType="num">
                                      <p:cBhvr>
                                        <p:cTn id="19" dur="500" fill="hold"/>
                                        <p:tgtEl>
                                          <p:spTgt spid="279554">
                                            <p:txEl>
                                              <p:pRg st="2" end="2"/>
                                            </p:txEl>
                                          </p:spTgt>
                                        </p:tgtEl>
                                        <p:attrNameLst>
                                          <p:attrName>ppt_x</p:attrName>
                                        </p:attrNameLst>
                                      </p:cBhvr>
                                      <p:tavLst>
                                        <p:tav tm="0">
                                          <p:val>
                                            <p:strVal val="#ppt_x-.2"/>
                                          </p:val>
                                        </p:tav>
                                        <p:tav tm="100000">
                                          <p:val>
                                            <p:strVal val="#ppt_x"/>
                                          </p:val>
                                        </p:tav>
                                      </p:tavLst>
                                    </p:anim>
                                    <p:anim calcmode="lin" valueType="num">
                                      <p:cBhvr>
                                        <p:cTn id="20" dur="500" fill="hold"/>
                                        <p:tgtEl>
                                          <p:spTgt spid="27955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4" presetClass="entr" presetSubtype="0" fill="hold" grpId="0" nodeType="clickEffect">
                                  <p:stCondLst>
                                    <p:cond delay="0"/>
                                  </p:stCondLst>
                                  <p:childTnLst>
                                    <p:set>
                                      <p:cBhvr>
                                        <p:cTn id="24" dur="1" fill="hold">
                                          <p:stCondLst>
                                            <p:cond delay="0"/>
                                          </p:stCondLst>
                                        </p:cTn>
                                        <p:tgtEl>
                                          <p:spTgt spid="279554">
                                            <p:txEl>
                                              <p:pRg st="3" end="3"/>
                                            </p:txEl>
                                          </p:spTgt>
                                        </p:tgtEl>
                                        <p:attrNameLst>
                                          <p:attrName>style.visibility</p:attrName>
                                        </p:attrNameLst>
                                      </p:cBhvr>
                                      <p:to>
                                        <p:strVal val="visible"/>
                                      </p:to>
                                    </p:set>
                                    <p:animEffect transition="in" filter="fade">
                                      <p:cBhvr>
                                        <p:cTn id="25" dur="500"/>
                                        <p:tgtEl>
                                          <p:spTgt spid="279554">
                                            <p:txEl>
                                              <p:pRg st="3" end="3"/>
                                            </p:txEl>
                                          </p:spTgt>
                                        </p:tgtEl>
                                      </p:cBhvr>
                                    </p:animEffect>
                                    <p:anim calcmode="lin" valueType="num">
                                      <p:cBhvr>
                                        <p:cTn id="26" dur="500" fill="hold"/>
                                        <p:tgtEl>
                                          <p:spTgt spid="279554">
                                            <p:txEl>
                                              <p:pRg st="3" end="3"/>
                                            </p:txEl>
                                          </p:spTgt>
                                        </p:tgtEl>
                                        <p:attrNameLst>
                                          <p:attrName>ppt_w</p:attrName>
                                        </p:attrNameLst>
                                      </p:cBhvr>
                                      <p:tavLst>
                                        <p:tav tm="0">
                                          <p:val>
                                            <p:strVal val="#ppt_w*0.05"/>
                                          </p:val>
                                        </p:tav>
                                        <p:tav tm="100000">
                                          <p:val>
                                            <p:strVal val="#ppt_w"/>
                                          </p:val>
                                        </p:tav>
                                      </p:tavLst>
                                    </p:anim>
                                    <p:anim calcmode="lin" valueType="num">
                                      <p:cBhvr>
                                        <p:cTn id="27" dur="500" fill="hold"/>
                                        <p:tgtEl>
                                          <p:spTgt spid="279554">
                                            <p:txEl>
                                              <p:pRg st="3" end="3"/>
                                            </p:txEl>
                                          </p:spTgt>
                                        </p:tgtEl>
                                        <p:attrNameLst>
                                          <p:attrName>ppt_h</p:attrName>
                                        </p:attrNameLst>
                                      </p:cBhvr>
                                      <p:tavLst>
                                        <p:tav tm="0">
                                          <p:val>
                                            <p:strVal val="#ppt_h"/>
                                          </p:val>
                                        </p:tav>
                                        <p:tav tm="100000">
                                          <p:val>
                                            <p:strVal val="#ppt_h"/>
                                          </p:val>
                                        </p:tav>
                                      </p:tavLst>
                                    </p:anim>
                                    <p:anim calcmode="lin" valueType="num">
                                      <p:cBhvr>
                                        <p:cTn id="28" dur="500" fill="hold"/>
                                        <p:tgtEl>
                                          <p:spTgt spid="279554">
                                            <p:txEl>
                                              <p:pRg st="3" end="3"/>
                                            </p:txEl>
                                          </p:spTgt>
                                        </p:tgtEl>
                                        <p:attrNameLst>
                                          <p:attrName>ppt_x</p:attrName>
                                        </p:attrNameLst>
                                      </p:cBhvr>
                                      <p:tavLst>
                                        <p:tav tm="0">
                                          <p:val>
                                            <p:strVal val="#ppt_x-.2"/>
                                          </p:val>
                                        </p:tav>
                                        <p:tav tm="100000">
                                          <p:val>
                                            <p:strVal val="#ppt_x"/>
                                          </p:val>
                                        </p:tav>
                                      </p:tavLst>
                                    </p:anim>
                                    <p:anim calcmode="lin" valueType="num">
                                      <p:cBhvr>
                                        <p:cTn id="29" dur="500" fill="hold"/>
                                        <p:tgtEl>
                                          <p:spTgt spid="27955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4" presetClass="entr" presetSubtype="0" fill="hold" grpId="0" nodeType="clickEffect">
                                  <p:stCondLst>
                                    <p:cond delay="0"/>
                                  </p:stCondLst>
                                  <p:childTnLst>
                                    <p:set>
                                      <p:cBhvr>
                                        <p:cTn id="33" dur="1" fill="hold">
                                          <p:stCondLst>
                                            <p:cond delay="0"/>
                                          </p:stCondLst>
                                        </p:cTn>
                                        <p:tgtEl>
                                          <p:spTgt spid="279554">
                                            <p:txEl>
                                              <p:pRg st="4" end="4"/>
                                            </p:txEl>
                                          </p:spTgt>
                                        </p:tgtEl>
                                        <p:attrNameLst>
                                          <p:attrName>style.visibility</p:attrName>
                                        </p:attrNameLst>
                                      </p:cBhvr>
                                      <p:to>
                                        <p:strVal val="visible"/>
                                      </p:to>
                                    </p:set>
                                    <p:animEffect transition="in" filter="fade">
                                      <p:cBhvr>
                                        <p:cTn id="34" dur="500"/>
                                        <p:tgtEl>
                                          <p:spTgt spid="279554">
                                            <p:txEl>
                                              <p:pRg st="4" end="4"/>
                                            </p:txEl>
                                          </p:spTgt>
                                        </p:tgtEl>
                                      </p:cBhvr>
                                    </p:animEffect>
                                    <p:anim calcmode="lin" valueType="num">
                                      <p:cBhvr>
                                        <p:cTn id="35" dur="500" fill="hold"/>
                                        <p:tgtEl>
                                          <p:spTgt spid="279554">
                                            <p:txEl>
                                              <p:pRg st="4" end="4"/>
                                            </p:txEl>
                                          </p:spTgt>
                                        </p:tgtEl>
                                        <p:attrNameLst>
                                          <p:attrName>ppt_w</p:attrName>
                                        </p:attrNameLst>
                                      </p:cBhvr>
                                      <p:tavLst>
                                        <p:tav tm="0">
                                          <p:val>
                                            <p:strVal val="#ppt_w*0.05"/>
                                          </p:val>
                                        </p:tav>
                                        <p:tav tm="100000">
                                          <p:val>
                                            <p:strVal val="#ppt_w"/>
                                          </p:val>
                                        </p:tav>
                                      </p:tavLst>
                                    </p:anim>
                                    <p:anim calcmode="lin" valueType="num">
                                      <p:cBhvr>
                                        <p:cTn id="36" dur="500" fill="hold"/>
                                        <p:tgtEl>
                                          <p:spTgt spid="279554">
                                            <p:txEl>
                                              <p:pRg st="4" end="4"/>
                                            </p:txEl>
                                          </p:spTgt>
                                        </p:tgtEl>
                                        <p:attrNameLst>
                                          <p:attrName>ppt_h</p:attrName>
                                        </p:attrNameLst>
                                      </p:cBhvr>
                                      <p:tavLst>
                                        <p:tav tm="0">
                                          <p:val>
                                            <p:strVal val="#ppt_h"/>
                                          </p:val>
                                        </p:tav>
                                        <p:tav tm="100000">
                                          <p:val>
                                            <p:strVal val="#ppt_h"/>
                                          </p:val>
                                        </p:tav>
                                      </p:tavLst>
                                    </p:anim>
                                    <p:anim calcmode="lin" valueType="num">
                                      <p:cBhvr>
                                        <p:cTn id="37" dur="500" fill="hold"/>
                                        <p:tgtEl>
                                          <p:spTgt spid="279554">
                                            <p:txEl>
                                              <p:pRg st="4" end="4"/>
                                            </p:txEl>
                                          </p:spTgt>
                                        </p:tgtEl>
                                        <p:attrNameLst>
                                          <p:attrName>ppt_x</p:attrName>
                                        </p:attrNameLst>
                                      </p:cBhvr>
                                      <p:tavLst>
                                        <p:tav tm="0">
                                          <p:val>
                                            <p:strVal val="#ppt_x-.2"/>
                                          </p:val>
                                        </p:tav>
                                        <p:tav tm="100000">
                                          <p:val>
                                            <p:strVal val="#ppt_x"/>
                                          </p:val>
                                        </p:tav>
                                      </p:tavLst>
                                    </p:anim>
                                    <p:anim calcmode="lin" valueType="num">
                                      <p:cBhvr>
                                        <p:cTn id="38" dur="500" fill="hold"/>
                                        <p:tgtEl>
                                          <p:spTgt spid="279554">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4" grpId="0" build="p"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p:cNvSpPr>
          <p:nvPr>
            <p:ph idx="1"/>
          </p:nvPr>
        </p:nvSpPr>
        <p:spPr/>
        <p:txBody>
          <a:bodyPr vert="horz" wrap="square" lIns="68580" tIns="34290" rIns="68580" bIns="34290" anchor="t" anchorCtr="0">
            <a:normAutofit/>
          </a:bodyPr>
          <a:lstStyle/>
          <a:p>
            <a:pPr marL="257175" indent="-257175" defTabSz="685800" fontAlgn="base">
              <a:lnSpc>
                <a:spcPct val="100000"/>
              </a:lnSpc>
              <a:spcBef>
                <a:spcPct val="20000"/>
              </a:spcBef>
              <a:spcAft>
                <a:spcPct val="0"/>
              </a:spcAft>
              <a:buClr>
                <a:schemeClr val="folHlink"/>
              </a:buClr>
              <a:buSzPct val="60000"/>
              <a:buFont typeface="Wingdings" panose="05000000000000000000" pitchFamily="2" charset="2"/>
              <a:buChar char="n"/>
            </a:pPr>
            <a:r>
              <a:rPr lang="zh-CN" altLang="en-US" sz="2100" kern="0" noProof="1">
                <a:solidFill>
                  <a:schemeClr val="hlink"/>
                </a:solidFill>
              </a:rPr>
              <a:t>函数依赖的</a:t>
            </a:r>
            <a:r>
              <a:rPr lang="zh-CN" altLang="en-US" sz="2100" b="1" kern="0" noProof="1">
                <a:solidFill>
                  <a:schemeClr val="hlink"/>
                </a:solidFill>
              </a:rPr>
              <a:t>逻辑蕴含</a:t>
            </a:r>
          </a:p>
          <a:p>
            <a:pPr marL="257175" indent="-257175" defTabSz="685800" fontAlgn="base">
              <a:lnSpc>
                <a:spcPct val="100000"/>
              </a:lnSpc>
              <a:spcBef>
                <a:spcPct val="20000"/>
              </a:spcBef>
              <a:spcAft>
                <a:spcPct val="0"/>
              </a:spcAft>
              <a:buClr>
                <a:schemeClr val="folHlink"/>
              </a:buClr>
              <a:buSzPct val="60000"/>
              <a:buFont typeface="Wingdings" panose="05000000000000000000" pitchFamily="2" charset="2"/>
              <a:buChar char="n"/>
            </a:pPr>
            <a:endParaRPr lang="zh-CN" altLang="en-US" sz="600" kern="0" noProof="1">
              <a:solidFill>
                <a:schemeClr val="hlink"/>
              </a:solidFill>
            </a:endParaRPr>
          </a:p>
          <a:p>
            <a:pPr marL="0" indent="-257175" defTabSz="685800" fontAlgn="base">
              <a:lnSpc>
                <a:spcPct val="100000"/>
              </a:lnSpc>
              <a:spcBef>
                <a:spcPct val="20000"/>
              </a:spcBef>
              <a:spcAft>
                <a:spcPct val="0"/>
              </a:spcAft>
              <a:buClr>
                <a:schemeClr val="folHlink"/>
              </a:buClr>
              <a:buSzPct val="60000"/>
              <a:buNone/>
            </a:pPr>
            <a:r>
              <a:rPr lang="zh-CN" altLang="en-US" sz="2100" kern="0" noProof="1"/>
              <a:t>提出问题：对于给定的一组函数依赖，要判断另一些函数依赖是否成立？</a:t>
            </a:r>
            <a:r>
              <a:rPr lang="zh-CN" altLang="en-US" sz="2100" kern="0" noProof="1">
                <a:sym typeface="+mn-ea"/>
              </a:rPr>
              <a:t>或者说哪些函数依赖是不独立的？</a:t>
            </a:r>
          </a:p>
          <a:p>
            <a:pPr marL="0" indent="-257175" defTabSz="685800" fontAlgn="base">
              <a:lnSpc>
                <a:spcPct val="110000"/>
              </a:lnSpc>
              <a:spcBef>
                <a:spcPts val="0"/>
              </a:spcBef>
              <a:spcAft>
                <a:spcPct val="0"/>
              </a:spcAft>
              <a:buClr>
                <a:schemeClr val="folHlink"/>
              </a:buClr>
              <a:buSzPct val="60000"/>
              <a:buNone/>
            </a:pPr>
            <a:r>
              <a:rPr lang="zh-CN" altLang="en-US" sz="2100" kern="0" noProof="1">
                <a:sym typeface="+mn-ea"/>
              </a:rPr>
              <a:t>如：对关系模式R有：A</a:t>
            </a:r>
            <a:r>
              <a:rPr lang="zh-CN" altLang="en-US" sz="2400" dirty="0"/>
              <a:t> → </a:t>
            </a:r>
            <a:r>
              <a:rPr lang="zh-CN" altLang="en-US" sz="2100" kern="0" noProof="1">
                <a:sym typeface="Symbol" panose="05050102010706020507" pitchFamily="18" charset="2"/>
              </a:rPr>
              <a:t>B，B</a:t>
            </a:r>
            <a:r>
              <a:rPr lang="zh-CN" altLang="en-US" sz="2400" dirty="0"/>
              <a:t> → </a:t>
            </a:r>
            <a:r>
              <a:rPr lang="zh-CN" altLang="en-US" sz="2100" kern="0" noProof="1">
                <a:sym typeface="Symbol" panose="05050102010706020507" pitchFamily="18" charset="2"/>
              </a:rPr>
              <a:t>C。问：</a:t>
            </a:r>
            <a:r>
              <a:rPr lang="zh-CN" altLang="en-US" sz="2100" kern="0" noProof="1">
                <a:sym typeface="+mn-ea"/>
              </a:rPr>
              <a:t>A</a:t>
            </a:r>
            <a:r>
              <a:rPr lang="zh-CN" altLang="en-US" sz="2400" dirty="0"/>
              <a:t> → </a:t>
            </a:r>
            <a:r>
              <a:rPr lang="zh-CN" altLang="en-US" sz="2100" kern="0" noProof="1">
                <a:sym typeface="Symbol" panose="05050102010706020507" pitchFamily="18" charset="2"/>
              </a:rPr>
              <a:t>C是否成立？</a:t>
            </a:r>
          </a:p>
          <a:p>
            <a:pPr marL="0" indent="-257175" defTabSz="685800" fontAlgn="base">
              <a:lnSpc>
                <a:spcPct val="100000"/>
              </a:lnSpc>
              <a:spcBef>
                <a:spcPct val="20000"/>
              </a:spcBef>
              <a:spcAft>
                <a:spcPct val="0"/>
              </a:spcAft>
              <a:buClr>
                <a:schemeClr val="folHlink"/>
              </a:buClr>
              <a:buSzPct val="60000"/>
              <a:buNone/>
            </a:pPr>
            <a:endParaRPr lang="zh-CN" altLang="en-US" sz="2100" kern="0" noProof="1">
              <a:sym typeface="Symbol" panose="05050102010706020507" pitchFamily="18" charset="2"/>
            </a:endParaRPr>
          </a:p>
          <a:p>
            <a:pPr marL="0" indent="0" defTabSz="685800" fontAlgn="base">
              <a:lnSpc>
                <a:spcPct val="100000"/>
              </a:lnSpc>
              <a:spcBef>
                <a:spcPct val="20000"/>
              </a:spcBef>
              <a:spcAft>
                <a:spcPct val="0"/>
              </a:spcAft>
              <a:buClr>
                <a:schemeClr val="folHlink"/>
              </a:buClr>
              <a:buSzPct val="60000"/>
              <a:buNone/>
            </a:pPr>
            <a:r>
              <a:rPr lang="zh-CN" altLang="en-US" sz="2100" kern="0" noProof="1">
                <a:solidFill>
                  <a:schemeClr val="folHlink"/>
                </a:solidFill>
                <a:sym typeface="+mn-ea"/>
              </a:rPr>
              <a:t>定义</a:t>
            </a:r>
            <a:r>
              <a:rPr lang="en-US" altLang="zh-CN" sz="2100" kern="0" noProof="1">
                <a:solidFill>
                  <a:schemeClr val="folHlink"/>
                </a:solidFill>
                <a:sym typeface="+mn-ea"/>
              </a:rPr>
              <a:t>: </a:t>
            </a:r>
            <a:r>
              <a:rPr lang="zh-CN" altLang="en-US" sz="2100" kern="0" noProof="1">
                <a:sym typeface="+mn-ea"/>
              </a:rPr>
              <a:t>设</a:t>
            </a:r>
            <a:r>
              <a:rPr lang="en-US" altLang="zh-CN" sz="2100" kern="0" noProof="1">
                <a:sym typeface="+mn-ea"/>
              </a:rPr>
              <a:t>F</a:t>
            </a:r>
            <a:r>
              <a:rPr lang="zh-CN" altLang="en-US" sz="2100" kern="0" noProof="1">
                <a:sym typeface="+mn-ea"/>
              </a:rPr>
              <a:t>是关系模式</a:t>
            </a:r>
            <a:r>
              <a:rPr lang="en-US" altLang="zh-CN" sz="2100" kern="0" noProof="1">
                <a:sym typeface="+mn-ea"/>
              </a:rPr>
              <a:t>R&lt;U,F&gt;</a:t>
            </a:r>
            <a:r>
              <a:rPr lang="zh-CN" altLang="en-US" sz="2100" kern="0" noProof="1">
                <a:sym typeface="+mn-ea"/>
              </a:rPr>
              <a:t>的函数依赖集，</a:t>
            </a:r>
            <a:r>
              <a:rPr lang="en-US" altLang="zh-CN" sz="2100" kern="0" noProof="1">
                <a:sym typeface="+mn-ea"/>
              </a:rPr>
              <a:t>X</a:t>
            </a:r>
            <a:r>
              <a:rPr lang="zh-CN" altLang="en-US" sz="2100" kern="0" noProof="1">
                <a:sym typeface="+mn-ea"/>
              </a:rPr>
              <a:t>、</a:t>
            </a:r>
            <a:r>
              <a:rPr lang="en-US" altLang="zh-CN" sz="2100" kern="0" noProof="1">
                <a:sym typeface="+mn-ea"/>
              </a:rPr>
              <a:t>Y</a:t>
            </a:r>
            <a:r>
              <a:rPr lang="zh-CN" altLang="en-US" sz="2100" kern="0" noProof="1">
                <a:sym typeface="+mn-ea"/>
              </a:rPr>
              <a:t>是</a:t>
            </a:r>
            <a:r>
              <a:rPr lang="en-US" altLang="zh-CN" sz="2100" kern="0" noProof="1">
                <a:sym typeface="+mn-ea"/>
              </a:rPr>
              <a:t>R</a:t>
            </a:r>
            <a:r>
              <a:rPr lang="zh-CN" altLang="en-US" sz="2100" kern="0" noProof="1">
                <a:sym typeface="+mn-ea"/>
              </a:rPr>
              <a:t>的属性子集，如果从</a:t>
            </a:r>
            <a:r>
              <a:rPr lang="en-US" altLang="zh-CN" sz="2100" kern="0" noProof="1">
                <a:sym typeface="+mn-ea"/>
              </a:rPr>
              <a:t>F</a:t>
            </a:r>
            <a:r>
              <a:rPr lang="zh-CN" altLang="en-US" sz="2100" kern="0" noProof="1">
                <a:sym typeface="+mn-ea"/>
              </a:rPr>
              <a:t>的函数依赖中能够推出</a:t>
            </a:r>
            <a:r>
              <a:rPr lang="en-US" altLang="zh-CN" sz="2100" kern="0" noProof="1">
                <a:sym typeface="+mn-ea"/>
              </a:rPr>
              <a:t>X</a:t>
            </a:r>
            <a:r>
              <a:rPr lang="zh-CN" altLang="en-US" sz="2400" dirty="0"/>
              <a:t> → </a:t>
            </a:r>
            <a:r>
              <a:rPr lang="en-US" altLang="zh-CN" sz="2100" kern="0" noProof="1">
                <a:sym typeface="Wingdings" panose="05000000000000000000" pitchFamily="2" charset="2"/>
              </a:rPr>
              <a:t>Y</a:t>
            </a:r>
            <a:r>
              <a:rPr lang="zh-CN" altLang="en-US" sz="2100" kern="0" noProof="1">
                <a:sym typeface="Wingdings" panose="05000000000000000000" pitchFamily="2" charset="2"/>
              </a:rPr>
              <a:t>，</a:t>
            </a:r>
            <a:r>
              <a:rPr lang="zh-CN" altLang="en-US" sz="2100" kern="0" noProof="1">
                <a:sym typeface="+mn-ea"/>
              </a:rPr>
              <a:t>则称</a:t>
            </a:r>
            <a:r>
              <a:rPr lang="en-US" altLang="zh-CN" sz="2100" kern="0" noProof="1">
                <a:sym typeface="+mn-ea"/>
              </a:rPr>
              <a:t>F</a:t>
            </a:r>
            <a:r>
              <a:rPr lang="zh-CN" altLang="en-US" sz="2100" kern="0" noProof="1">
                <a:solidFill>
                  <a:schemeClr val="hlink"/>
                </a:solidFill>
                <a:sym typeface="+mn-ea"/>
              </a:rPr>
              <a:t>逻辑蕴涵</a:t>
            </a:r>
            <a:r>
              <a:rPr lang="en-US" altLang="zh-CN" sz="2100" kern="0" noProof="1">
                <a:sym typeface="+mn-ea"/>
              </a:rPr>
              <a:t>X</a:t>
            </a:r>
            <a:r>
              <a:rPr lang="zh-CN" altLang="en-US" sz="2400" dirty="0"/>
              <a:t> → </a:t>
            </a:r>
            <a:r>
              <a:rPr lang="en-US" altLang="zh-CN" sz="2100" kern="0" noProof="1">
                <a:sym typeface="Wingdings" panose="05000000000000000000" pitchFamily="2" charset="2"/>
              </a:rPr>
              <a:t>Y</a:t>
            </a:r>
            <a:r>
              <a:rPr lang="zh-CN" altLang="en-US" sz="2100" kern="0" noProof="1">
                <a:sym typeface="+mn-ea"/>
              </a:rPr>
              <a:t>。</a:t>
            </a:r>
            <a:endParaRPr lang="zh-CN" altLang="en-US" sz="2100" kern="0" noProof="1"/>
          </a:p>
        </p:txBody>
      </p:sp>
      <p:sp>
        <p:nvSpPr>
          <p:cNvPr id="3" name="标题 2">
            <a:extLst>
              <a:ext uri="{FF2B5EF4-FFF2-40B4-BE49-F238E27FC236}">
                <a16:creationId xmlns:a16="http://schemas.microsoft.com/office/drawing/2014/main" id="{9E670D3E-223C-866A-8AE8-BE65D4ED1895}"/>
              </a:ext>
            </a:extLst>
          </p:cNvPr>
          <p:cNvSpPr>
            <a:spLocks noGrp="1"/>
          </p:cNvSpPr>
          <p:nvPr>
            <p:ph type="title"/>
          </p:nvPr>
        </p:nvSpPr>
        <p:spPr/>
        <p:txBody>
          <a:bodyPr/>
          <a:lstStyle/>
          <a:p>
            <a:r>
              <a:rPr lang="zh-CN" altLang="en-US" dirty="0"/>
              <a:t>阿氏公理</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297" name="Object 4"/>
          <p:cNvGraphicFramePr>
            <a:graphicFrameLocks noChangeAspect="1"/>
          </p:cNvGraphicFramePr>
          <p:nvPr/>
        </p:nvGraphicFramePr>
        <p:xfrm>
          <a:off x="6461522" y="2516981"/>
          <a:ext cx="1543050" cy="1285875"/>
        </p:xfrm>
        <a:graphic>
          <a:graphicData uri="http://schemas.openxmlformats.org/presentationml/2006/ole">
            <mc:AlternateContent xmlns:mc="http://schemas.openxmlformats.org/markup-compatibility/2006">
              <mc:Choice xmlns:v="urn:schemas-microsoft-com:vml" Requires="v">
                <p:oleObj r:id="rId2" imgW="8394700" imgH="6172200" progId="">
                  <p:embed/>
                </p:oleObj>
              </mc:Choice>
              <mc:Fallback>
                <p:oleObj r:id="rId2" imgW="8394700" imgH="6172200" progId="">
                  <p:embed/>
                  <p:pic>
                    <p:nvPicPr>
                      <p:cNvPr id="55297" name="Object 4"/>
                      <p:cNvPicPr/>
                      <p:nvPr/>
                    </p:nvPicPr>
                    <p:blipFill>
                      <a:blip r:embed="rId3">
                        <a:clrChange>
                          <a:clrFrom>
                            <a:srgbClr val="000000"/>
                          </a:clrFrom>
                          <a:clrTo>
                            <a:srgbClr val="FF0000"/>
                          </a:clrTo>
                        </a:clrChange>
                        <a:clrChange>
                          <a:clrFrom>
                            <a:srgbClr val="6666FF"/>
                          </a:clrFrom>
                          <a:clrTo>
                            <a:srgbClr val="1C1C1C"/>
                          </a:clrTo>
                        </a:clrChange>
                        <a:clrChange>
                          <a:clrFrom>
                            <a:srgbClr val="8080FF"/>
                          </a:clrFrom>
                          <a:clrTo>
                            <a:srgbClr val="1C1C1C"/>
                          </a:clrTo>
                        </a:clrChange>
                        <a:clrChange>
                          <a:clrFrom>
                            <a:srgbClr val="9999FF"/>
                          </a:clrFrom>
                          <a:clrTo>
                            <a:srgbClr val="1C1C1C"/>
                          </a:clrTo>
                        </a:clrChange>
                      </a:blip>
                      <a:stretch>
                        <a:fillRect/>
                      </a:stretch>
                    </p:blipFill>
                    <p:spPr>
                      <a:xfrm>
                        <a:off x="6461522" y="2516981"/>
                        <a:ext cx="1543050" cy="1285875"/>
                      </a:xfrm>
                      <a:prstGeom prst="rect">
                        <a:avLst/>
                      </a:prstGeom>
                      <a:noFill/>
                      <a:ln w="38100">
                        <a:noFill/>
                        <a:miter/>
                      </a:ln>
                    </p:spPr>
                  </p:pic>
                </p:oleObj>
              </mc:Fallback>
            </mc:AlternateContent>
          </a:graphicData>
        </a:graphic>
      </p:graphicFrame>
      <p:sp>
        <p:nvSpPr>
          <p:cNvPr id="1028" name="Rectangle 3"/>
          <p:cNvSpPr>
            <a:spLocks noGrp="1"/>
          </p:cNvSpPr>
          <p:nvPr>
            <p:ph idx="1"/>
          </p:nvPr>
        </p:nvSpPr>
        <p:spPr/>
        <p:txBody>
          <a:bodyPr vert="horz" wrap="square" lIns="68580" tIns="34290" rIns="68580" bIns="34290" anchor="t" anchorCtr="0">
            <a:normAutofit lnSpcReduction="10000"/>
          </a:bodyPr>
          <a:lstStyle/>
          <a:p>
            <a:pPr marL="257175" indent="-257175" defTabSz="685800" fontAlgn="base">
              <a:lnSpc>
                <a:spcPct val="100000"/>
              </a:lnSpc>
              <a:spcBef>
                <a:spcPct val="20000"/>
              </a:spcBef>
              <a:spcAft>
                <a:spcPct val="0"/>
              </a:spcAft>
              <a:buClr>
                <a:schemeClr val="folHlink"/>
              </a:buClr>
              <a:buSzPct val="60000"/>
              <a:buFont typeface="Wingdings" panose="05000000000000000000" pitchFamily="2" charset="2"/>
              <a:buChar char="n"/>
            </a:pPr>
            <a:r>
              <a:rPr lang="en-US" altLang="zh-CN" sz="2100" b="1" kern="0" noProof="1">
                <a:solidFill>
                  <a:schemeClr val="hlink"/>
                </a:solidFill>
              </a:rPr>
              <a:t>Armstrong</a:t>
            </a:r>
            <a:r>
              <a:rPr lang="zh-CN" altLang="en-US" sz="2100" b="1" kern="0" noProof="1">
                <a:solidFill>
                  <a:schemeClr val="hlink"/>
                </a:solidFill>
              </a:rPr>
              <a:t>公理</a:t>
            </a:r>
            <a:r>
              <a:rPr lang="en-US" altLang="zh-CN" sz="2100" b="1" kern="0" noProof="1">
                <a:solidFill>
                  <a:schemeClr val="hlink"/>
                </a:solidFill>
              </a:rPr>
              <a:t>(</a:t>
            </a:r>
            <a:r>
              <a:rPr lang="zh-CN" altLang="en-US" sz="2100" b="1" kern="0" noProof="1">
                <a:solidFill>
                  <a:schemeClr val="hlink"/>
                </a:solidFill>
              </a:rPr>
              <a:t>阿氏公理</a:t>
            </a:r>
            <a:r>
              <a:rPr lang="en-US" altLang="zh-CN" sz="2100" b="1" kern="0" noProof="1">
                <a:solidFill>
                  <a:schemeClr val="hlink"/>
                </a:solidFill>
              </a:rPr>
              <a:t>)</a:t>
            </a:r>
            <a:r>
              <a:rPr lang="zh-CN" altLang="en-US" sz="2100" b="1" kern="0" noProof="1">
                <a:solidFill>
                  <a:schemeClr val="hlink"/>
                </a:solidFill>
              </a:rPr>
              <a:t>：</a:t>
            </a:r>
          </a:p>
          <a:p>
            <a:pPr marL="257175" indent="-257175" defTabSz="685800" fontAlgn="base">
              <a:lnSpc>
                <a:spcPct val="100000"/>
              </a:lnSpc>
              <a:spcBef>
                <a:spcPct val="20000"/>
              </a:spcBef>
              <a:spcAft>
                <a:spcPct val="0"/>
              </a:spcAft>
              <a:buClr>
                <a:schemeClr val="folHlink"/>
              </a:buClr>
              <a:buSzPct val="60000"/>
              <a:buNone/>
            </a:pPr>
            <a:r>
              <a:rPr lang="zh-CN" altLang="en-US" sz="2100" b="1" kern="0" noProof="1"/>
              <a:t>  </a:t>
            </a:r>
            <a:r>
              <a:rPr lang="zh-CN" altLang="en-US" sz="2100" kern="0" noProof="1"/>
              <a:t>对关系模式</a:t>
            </a:r>
            <a:r>
              <a:rPr lang="en-US" altLang="zh-CN" sz="2100" kern="0" noProof="1"/>
              <a:t>R&lt;U</a:t>
            </a:r>
            <a:r>
              <a:rPr lang="zh-CN" altLang="en-US" sz="2100" kern="0" noProof="1"/>
              <a:t>，</a:t>
            </a:r>
            <a:r>
              <a:rPr lang="en-US" altLang="zh-CN" sz="2100" kern="0" noProof="1"/>
              <a:t>F&gt; </a:t>
            </a:r>
            <a:r>
              <a:rPr lang="zh-CN" altLang="en-US" sz="2100" kern="0" noProof="1"/>
              <a:t>，</a:t>
            </a:r>
            <a:r>
              <a:rPr lang="en-US" altLang="zh-CN" sz="2100" kern="0" noProof="1"/>
              <a:t>U</a:t>
            </a:r>
            <a:r>
              <a:rPr lang="zh-CN" altLang="en-US" sz="2100" kern="0" noProof="1"/>
              <a:t>为全体属性集，</a:t>
            </a:r>
            <a:r>
              <a:rPr lang="en-US" altLang="zh-CN" sz="2100" kern="0" noProof="1"/>
              <a:t>F</a:t>
            </a:r>
            <a:r>
              <a:rPr lang="zh-CN" altLang="en-US" sz="2100" kern="0" noProof="1"/>
              <a:t>为</a:t>
            </a:r>
            <a:r>
              <a:rPr lang="en-US" altLang="zh-CN" sz="2100" kern="0" noProof="1"/>
              <a:t>U</a:t>
            </a:r>
            <a:r>
              <a:rPr lang="zh-CN" altLang="en-US" sz="2100" kern="0" noProof="1"/>
              <a:t>上的函数依赖集，有：</a:t>
            </a:r>
          </a:p>
          <a:p>
            <a:pPr marL="257175" indent="-257175" defTabSz="685800" fontAlgn="base">
              <a:lnSpc>
                <a:spcPct val="100000"/>
              </a:lnSpc>
              <a:spcBef>
                <a:spcPct val="20000"/>
              </a:spcBef>
              <a:spcAft>
                <a:spcPct val="0"/>
              </a:spcAft>
              <a:buClr>
                <a:schemeClr val="folHlink"/>
              </a:buClr>
              <a:buSzPct val="60000"/>
              <a:buFont typeface="Wingdings" panose="05000000000000000000" pitchFamily="2" charset="2"/>
              <a:buChar char="n"/>
            </a:pPr>
            <a:r>
              <a:rPr lang="en-US" altLang="zh-CN" sz="2100" kern="0" noProof="1"/>
              <a:t>A1</a:t>
            </a:r>
            <a:r>
              <a:rPr lang="zh-CN" altLang="en-US" sz="2100" kern="0" noProof="1"/>
              <a:t>自反律：若</a:t>
            </a:r>
            <a:r>
              <a:rPr lang="en-US" altLang="zh-CN" sz="2100" kern="0" noProof="1"/>
              <a:t>Y⊆X⊆U</a:t>
            </a:r>
            <a:r>
              <a:rPr lang="zh-CN" altLang="en-US" sz="2100" kern="0" noProof="1"/>
              <a:t>，则</a:t>
            </a:r>
            <a:r>
              <a:rPr lang="en-US" altLang="zh-CN" sz="2100" kern="0" noProof="1"/>
              <a:t>X</a:t>
            </a:r>
            <a:r>
              <a:rPr lang="zh-CN" altLang="en-US" sz="2000" dirty="0"/>
              <a:t> → </a:t>
            </a:r>
            <a:r>
              <a:rPr lang="en-US" altLang="zh-CN" sz="2100" kern="0" noProof="1">
                <a:sym typeface="Wingdings" panose="05000000000000000000" pitchFamily="2" charset="2"/>
              </a:rPr>
              <a:t>Y</a:t>
            </a:r>
            <a:r>
              <a:rPr lang="zh-CN" altLang="en-US" sz="2100" kern="0" noProof="1"/>
              <a:t>。  </a:t>
            </a:r>
          </a:p>
          <a:p>
            <a:pPr marL="257175" indent="-257175" defTabSz="685800" fontAlgn="base">
              <a:lnSpc>
                <a:spcPct val="100000"/>
              </a:lnSpc>
              <a:spcBef>
                <a:spcPct val="20000"/>
              </a:spcBef>
              <a:spcAft>
                <a:spcPct val="0"/>
              </a:spcAft>
              <a:buClr>
                <a:schemeClr val="folHlink"/>
              </a:buClr>
              <a:buSzPct val="60000"/>
              <a:buFont typeface="Wingdings" panose="05000000000000000000" pitchFamily="2" charset="2"/>
              <a:buChar char="n"/>
            </a:pPr>
            <a:r>
              <a:rPr lang="en-US" altLang="zh-CN" sz="2100" kern="0" noProof="1"/>
              <a:t>A2</a:t>
            </a:r>
            <a:r>
              <a:rPr lang="zh-CN" altLang="en-US" sz="2100" kern="0" noProof="1"/>
              <a:t>增广律：若</a:t>
            </a:r>
            <a:r>
              <a:rPr lang="en-US" altLang="zh-CN" sz="2100" kern="0" noProof="1"/>
              <a:t>X</a:t>
            </a:r>
            <a:r>
              <a:rPr lang="zh-CN" altLang="en-US" sz="2000" dirty="0"/>
              <a:t> → </a:t>
            </a:r>
            <a:r>
              <a:rPr lang="en-US" altLang="zh-CN" sz="2100" kern="0" noProof="1">
                <a:sym typeface="Wingdings" panose="05000000000000000000" pitchFamily="2" charset="2"/>
              </a:rPr>
              <a:t>Y</a:t>
            </a:r>
            <a:r>
              <a:rPr lang="zh-CN" altLang="en-US" sz="2100" kern="0" noProof="1"/>
              <a:t>，则</a:t>
            </a:r>
            <a:r>
              <a:rPr lang="en-US" altLang="zh-CN" sz="2100" kern="0" noProof="1"/>
              <a:t>XZ</a:t>
            </a:r>
            <a:r>
              <a:rPr lang="zh-CN" altLang="en-US" sz="2000" dirty="0"/>
              <a:t> → </a:t>
            </a:r>
            <a:r>
              <a:rPr lang="en-US" altLang="zh-CN" sz="2100" kern="0" noProof="1"/>
              <a:t>YZ</a:t>
            </a:r>
            <a:r>
              <a:rPr lang="zh-CN" altLang="en-US" sz="2100" kern="0" noProof="1"/>
              <a:t>。</a:t>
            </a:r>
          </a:p>
          <a:p>
            <a:pPr marL="257175" indent="-257175" defTabSz="685800" fontAlgn="base">
              <a:lnSpc>
                <a:spcPct val="100000"/>
              </a:lnSpc>
              <a:spcBef>
                <a:spcPct val="20000"/>
              </a:spcBef>
              <a:spcAft>
                <a:spcPct val="0"/>
              </a:spcAft>
              <a:buClr>
                <a:schemeClr val="folHlink"/>
              </a:buClr>
              <a:buSzPct val="60000"/>
              <a:buFont typeface="Wingdings" panose="05000000000000000000" pitchFamily="2" charset="2"/>
              <a:buChar char="n"/>
            </a:pPr>
            <a:r>
              <a:rPr lang="en-US" altLang="zh-CN" sz="2100" kern="0" noProof="1"/>
              <a:t>A3</a:t>
            </a:r>
            <a:r>
              <a:rPr lang="zh-CN" altLang="en-US" sz="2100" kern="0" noProof="1"/>
              <a:t>传递律：若</a:t>
            </a:r>
            <a:r>
              <a:rPr lang="en-US" altLang="zh-CN" sz="2100" kern="0" noProof="1"/>
              <a:t>X</a:t>
            </a:r>
            <a:r>
              <a:rPr lang="zh-CN" altLang="en-US" sz="2000" dirty="0"/>
              <a:t> → </a:t>
            </a:r>
            <a:r>
              <a:rPr lang="en-US" altLang="zh-CN" sz="2100" kern="0" noProof="1">
                <a:sym typeface="Wingdings" panose="05000000000000000000" pitchFamily="2" charset="2"/>
              </a:rPr>
              <a:t>Y</a:t>
            </a:r>
            <a:r>
              <a:rPr lang="zh-CN" altLang="en-US" sz="2100" kern="0" noProof="1"/>
              <a:t>、</a:t>
            </a:r>
            <a:r>
              <a:rPr lang="en-US" altLang="zh-CN" sz="2100" kern="0" noProof="1"/>
              <a:t>Y</a:t>
            </a:r>
            <a:r>
              <a:rPr lang="zh-CN" altLang="en-US" sz="2000" dirty="0"/>
              <a:t> → </a:t>
            </a:r>
            <a:r>
              <a:rPr lang="en-US" altLang="zh-CN" sz="2100" kern="0" noProof="1"/>
              <a:t>Z</a:t>
            </a:r>
            <a:r>
              <a:rPr lang="zh-CN" altLang="en-US" sz="2100" kern="0" noProof="1"/>
              <a:t>，则</a:t>
            </a:r>
            <a:r>
              <a:rPr lang="en-US" altLang="zh-CN" sz="2100" kern="0" noProof="1"/>
              <a:t>X</a:t>
            </a:r>
            <a:r>
              <a:rPr lang="zh-CN" altLang="en-US" sz="2000" dirty="0"/>
              <a:t> → </a:t>
            </a:r>
            <a:r>
              <a:rPr lang="en-US" altLang="zh-CN" sz="2100" kern="0" noProof="1"/>
              <a:t>Z</a:t>
            </a:r>
            <a:r>
              <a:rPr lang="zh-CN" altLang="en-US" sz="2100" kern="0" noProof="1"/>
              <a:t>。</a:t>
            </a:r>
          </a:p>
          <a:p>
            <a:pPr marL="257175" indent="-257175" defTabSz="685800" fontAlgn="base">
              <a:lnSpc>
                <a:spcPct val="100000"/>
              </a:lnSpc>
              <a:spcBef>
                <a:spcPct val="20000"/>
              </a:spcBef>
              <a:spcAft>
                <a:spcPct val="0"/>
              </a:spcAft>
              <a:buClr>
                <a:schemeClr val="folHlink"/>
              </a:buClr>
              <a:buSzPct val="60000"/>
              <a:buFont typeface="Wingdings" panose="05000000000000000000" pitchFamily="2" charset="2"/>
              <a:buChar char="n"/>
            </a:pPr>
            <a:endParaRPr lang="zh-CN" altLang="en-US" sz="2100" kern="0" noProof="1"/>
          </a:p>
          <a:p>
            <a:pPr marL="0" indent="0" defTabSz="685800" fontAlgn="base">
              <a:lnSpc>
                <a:spcPct val="100000"/>
              </a:lnSpc>
              <a:spcBef>
                <a:spcPct val="20000"/>
              </a:spcBef>
              <a:spcAft>
                <a:spcPct val="0"/>
              </a:spcAft>
              <a:buClr>
                <a:schemeClr val="folHlink"/>
              </a:buClr>
              <a:buSzPct val="60000"/>
              <a:buNone/>
            </a:pPr>
            <a:r>
              <a:rPr lang="zh-CN" altLang="zh-CN" sz="1500" b="1" kern="0" noProof="1"/>
              <a:t>说明：</a:t>
            </a:r>
          </a:p>
          <a:p>
            <a:pPr marL="0" indent="0" defTabSz="685800" fontAlgn="base">
              <a:lnSpc>
                <a:spcPct val="100000"/>
              </a:lnSpc>
              <a:spcBef>
                <a:spcPct val="20000"/>
              </a:spcBef>
              <a:spcAft>
                <a:spcPct val="0"/>
              </a:spcAft>
              <a:buClr>
                <a:schemeClr val="folHlink"/>
              </a:buClr>
              <a:buSzPct val="60000"/>
              <a:buNone/>
            </a:pPr>
            <a:r>
              <a:rPr lang="zh-CN" altLang="zh-CN" sz="1500" kern="0" noProof="1"/>
              <a:t> </a:t>
            </a:r>
            <a:r>
              <a:rPr lang="en-US" altLang="zh-CN" sz="1500" kern="0" noProof="1"/>
              <a:t> </a:t>
            </a:r>
            <a:r>
              <a:rPr lang="zh-CN" altLang="zh-CN" sz="1500" kern="0" noProof="1"/>
              <a:t>由自反律知，所有平凡函数都是成立的；</a:t>
            </a:r>
          </a:p>
          <a:p>
            <a:pPr marL="0" indent="0" defTabSz="685800" fontAlgn="base">
              <a:lnSpc>
                <a:spcPct val="100000"/>
              </a:lnSpc>
              <a:spcBef>
                <a:spcPct val="20000"/>
              </a:spcBef>
              <a:spcAft>
                <a:spcPct val="0"/>
              </a:spcAft>
              <a:buClr>
                <a:schemeClr val="folHlink"/>
              </a:buClr>
              <a:buSzPct val="60000"/>
              <a:buNone/>
            </a:pPr>
            <a:r>
              <a:rPr lang="en-US" altLang="zh-CN" sz="1500" kern="0" noProof="1"/>
              <a:t>  </a:t>
            </a:r>
            <a:r>
              <a:rPr lang="zh-CN" altLang="en-US" sz="1500" kern="0" noProof="1"/>
              <a:t>增广律说明，在函数依赖两边同时增加相同的属性，函数依赖依然成立；</a:t>
            </a:r>
          </a:p>
          <a:p>
            <a:pPr marL="0" indent="0" defTabSz="685800" fontAlgn="base">
              <a:lnSpc>
                <a:spcPct val="100000"/>
              </a:lnSpc>
              <a:spcBef>
                <a:spcPct val="20000"/>
              </a:spcBef>
              <a:spcAft>
                <a:spcPct val="0"/>
              </a:spcAft>
              <a:buClr>
                <a:schemeClr val="folHlink"/>
              </a:buClr>
              <a:buSzPct val="60000"/>
              <a:buNone/>
            </a:pPr>
            <a:r>
              <a:rPr lang="en-US" altLang="zh-CN" sz="1500" kern="0" noProof="1"/>
              <a:t>  </a:t>
            </a:r>
            <a:r>
              <a:rPr lang="zh-CN" altLang="en-US" sz="1500" kern="0" noProof="1"/>
              <a:t>传递律表明，由满足特征的一对函数依赖，可推出新的函数依赖。</a:t>
            </a:r>
          </a:p>
        </p:txBody>
      </p:sp>
      <p:sp>
        <p:nvSpPr>
          <p:cNvPr id="3" name="标题 2">
            <a:extLst>
              <a:ext uri="{FF2B5EF4-FFF2-40B4-BE49-F238E27FC236}">
                <a16:creationId xmlns:a16="http://schemas.microsoft.com/office/drawing/2014/main" id="{E30B4480-0BC6-4331-C8CD-2AFDBDC1E51E}"/>
              </a:ext>
            </a:extLst>
          </p:cNvPr>
          <p:cNvSpPr>
            <a:spLocks noGrp="1"/>
          </p:cNvSpPr>
          <p:nvPr>
            <p:ph type="title"/>
          </p:nvPr>
        </p:nvSpPr>
        <p:spPr/>
        <p:txBody>
          <a:bodyPr/>
          <a:lstStyle/>
          <a:p>
            <a:r>
              <a:rPr lang="zh-CN" altLang="en-US" dirty="0"/>
              <a:t>阿氏公理</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p:cNvSpPr>
            <a:spLocks noGrp="1"/>
          </p:cNvSpPr>
          <p:nvPr>
            <p:ph idx="1"/>
          </p:nvPr>
        </p:nvSpPr>
        <p:spPr>
          <a:xfrm>
            <a:off x="194697" y="1314586"/>
            <a:ext cx="4997235" cy="3408735"/>
          </a:xfrm>
        </p:spPr>
        <p:txBody>
          <a:bodyPr vert="horz" wrap="square" lIns="68580" tIns="34290" rIns="68580" bIns="34290" anchor="t" anchorCtr="0">
            <a:normAutofit fontScale="85000" lnSpcReduction="20000"/>
          </a:bodyPr>
          <a:lstStyle/>
          <a:p>
            <a:pPr>
              <a:lnSpc>
                <a:spcPct val="100000"/>
              </a:lnSpc>
              <a:buNone/>
            </a:pPr>
            <a:r>
              <a:rPr lang="zh-CN" altLang="en-US" sz="1800" b="1" dirty="0">
                <a:solidFill>
                  <a:schemeClr val="hlink"/>
                </a:solidFill>
              </a:rPr>
              <a:t>定理</a:t>
            </a:r>
            <a:r>
              <a:rPr lang="en-US" altLang="zh-CN" sz="1800" b="1" dirty="0">
                <a:solidFill>
                  <a:schemeClr val="hlink"/>
                </a:solidFill>
              </a:rPr>
              <a:t>4.3: Armstrong</a:t>
            </a:r>
            <a:r>
              <a:rPr lang="zh-CN" altLang="en-US" sz="1800" b="1" dirty="0">
                <a:solidFill>
                  <a:schemeClr val="hlink"/>
                </a:solidFill>
              </a:rPr>
              <a:t>公理是正确的</a:t>
            </a:r>
            <a:r>
              <a:rPr lang="en-US" altLang="zh-CN" sz="1800" b="1" dirty="0">
                <a:solidFill>
                  <a:schemeClr val="hlink"/>
                </a:solidFill>
              </a:rPr>
              <a:t>.</a:t>
            </a:r>
          </a:p>
          <a:p>
            <a:pPr>
              <a:lnSpc>
                <a:spcPct val="100000"/>
              </a:lnSpc>
              <a:buNone/>
            </a:pPr>
            <a:r>
              <a:rPr lang="zh-CN" altLang="en-US" sz="1800" dirty="0">
                <a:solidFill>
                  <a:schemeClr val="hlink"/>
                </a:solidFill>
              </a:rPr>
              <a:t>证明：</a:t>
            </a:r>
            <a:r>
              <a:rPr lang="zh-CN" altLang="en-US" sz="1800" dirty="0"/>
              <a:t>设</a:t>
            </a:r>
            <a:r>
              <a:rPr lang="en-US" altLang="zh-CN" sz="1800" dirty="0"/>
              <a:t>s</a:t>
            </a:r>
            <a:r>
              <a:rPr lang="zh-CN" altLang="en-US" sz="1800" dirty="0"/>
              <a:t>，</a:t>
            </a:r>
            <a:r>
              <a:rPr lang="en-US" altLang="zh-CN" sz="1800" dirty="0"/>
              <a:t>t</a:t>
            </a:r>
            <a:r>
              <a:rPr lang="zh-CN" altLang="en-US" sz="1800" dirty="0"/>
              <a:t>是</a:t>
            </a:r>
            <a:r>
              <a:rPr lang="en-US" altLang="zh-CN" sz="1800" dirty="0"/>
              <a:t>r</a:t>
            </a:r>
            <a:r>
              <a:rPr lang="zh-CN" altLang="en-US" sz="1800" dirty="0"/>
              <a:t>的任意两个元组，</a:t>
            </a:r>
            <a:r>
              <a:rPr lang="en-US" altLang="zh-CN" sz="1800" dirty="0"/>
              <a:t>r</a:t>
            </a:r>
            <a:r>
              <a:rPr lang="zh-CN" altLang="en-US" sz="1800" dirty="0"/>
              <a:t>是</a:t>
            </a:r>
            <a:r>
              <a:rPr lang="en-US" altLang="zh-CN" sz="1800" dirty="0"/>
              <a:t>R</a:t>
            </a:r>
            <a:r>
              <a:rPr lang="zh-CN" altLang="en-US" sz="1800" dirty="0"/>
              <a:t>的任意一个关系。</a:t>
            </a:r>
          </a:p>
          <a:p>
            <a:pPr>
              <a:lnSpc>
                <a:spcPct val="100000"/>
              </a:lnSpc>
            </a:pPr>
            <a:r>
              <a:rPr lang="en-US" altLang="zh-CN" sz="1800" dirty="0">
                <a:solidFill>
                  <a:schemeClr val="hlink"/>
                </a:solidFill>
              </a:rPr>
              <a:t>A1</a:t>
            </a:r>
            <a:r>
              <a:rPr lang="zh-CN" altLang="en-US" sz="1800" dirty="0">
                <a:solidFill>
                  <a:schemeClr val="hlink"/>
                </a:solidFill>
              </a:rPr>
              <a:t>自反律：</a:t>
            </a:r>
            <a:r>
              <a:rPr lang="zh-CN" altLang="en-US" sz="1800" dirty="0"/>
              <a:t>若</a:t>
            </a:r>
            <a:r>
              <a:rPr lang="en-US" altLang="zh-CN" sz="1800" dirty="0"/>
              <a:t>Y⊆X </a:t>
            </a:r>
            <a:r>
              <a:rPr lang="zh-CN" altLang="en-US" sz="1800" dirty="0"/>
              <a:t>，则</a:t>
            </a:r>
            <a:r>
              <a:rPr lang="en-US" altLang="zh-CN" sz="1800" dirty="0"/>
              <a:t>X</a:t>
            </a:r>
            <a:r>
              <a:rPr lang="zh-CN" altLang="en-US" sz="1800" dirty="0"/>
              <a:t> → </a:t>
            </a:r>
            <a:r>
              <a:rPr lang="en-US" altLang="zh-CN" sz="1800" dirty="0">
                <a:sym typeface="Wingdings" panose="05000000000000000000" pitchFamily="2" charset="2"/>
              </a:rPr>
              <a:t>Y</a:t>
            </a:r>
            <a:r>
              <a:rPr lang="zh-CN" altLang="en-US" sz="1800" dirty="0"/>
              <a:t>。</a:t>
            </a:r>
          </a:p>
          <a:p>
            <a:pPr>
              <a:lnSpc>
                <a:spcPct val="100000"/>
              </a:lnSpc>
              <a:buNone/>
            </a:pPr>
            <a:r>
              <a:rPr lang="zh-CN" altLang="en-US" sz="1800" dirty="0"/>
              <a:t>   若</a:t>
            </a:r>
            <a:r>
              <a:rPr lang="en-US" altLang="zh-CN" sz="1800" dirty="0"/>
              <a:t>s[x]=t[x]</a:t>
            </a:r>
            <a:r>
              <a:rPr lang="zh-CN" altLang="en-US" sz="1800" dirty="0"/>
              <a:t>，则在</a:t>
            </a:r>
            <a:r>
              <a:rPr lang="en-US" altLang="zh-CN" sz="1800" dirty="0"/>
              <a:t>s</a:t>
            </a:r>
            <a:r>
              <a:rPr lang="zh-CN" altLang="en-US" sz="1800" dirty="0"/>
              <a:t>和</a:t>
            </a:r>
            <a:r>
              <a:rPr lang="en-US" altLang="zh-CN" sz="1800" dirty="0"/>
              <a:t>t</a:t>
            </a:r>
            <a:r>
              <a:rPr lang="zh-CN" altLang="en-US" sz="1800" dirty="0"/>
              <a:t>中的</a:t>
            </a:r>
            <a:r>
              <a:rPr lang="en-US" altLang="zh-CN" sz="1800" dirty="0"/>
              <a:t>x</a:t>
            </a:r>
            <a:r>
              <a:rPr lang="zh-CN" altLang="en-US" sz="1800" dirty="0"/>
              <a:t>的任何子集也必相等。</a:t>
            </a:r>
          </a:p>
          <a:p>
            <a:pPr>
              <a:lnSpc>
                <a:spcPct val="100000"/>
              </a:lnSpc>
              <a:buNone/>
            </a:pPr>
            <a:r>
              <a:rPr lang="zh-CN" altLang="en-US" sz="1800" dirty="0"/>
              <a:t>   </a:t>
            </a:r>
            <a:r>
              <a:rPr lang="zh-CN" altLang="en-US" sz="1800" dirty="0">
                <a:solidFill>
                  <a:srgbClr val="000000"/>
                </a:solidFill>
              </a:rPr>
              <a:t>∵</a:t>
            </a:r>
            <a:r>
              <a:rPr lang="zh-CN" altLang="en-US" sz="1800" dirty="0"/>
              <a:t> </a:t>
            </a:r>
            <a:r>
              <a:rPr lang="en-US" altLang="zh-CN" sz="1800" dirty="0"/>
              <a:t>Y⊆X</a:t>
            </a:r>
            <a:r>
              <a:rPr lang="zh-CN" altLang="en-US" sz="1800" dirty="0"/>
              <a:t>，</a:t>
            </a:r>
            <a:r>
              <a:rPr lang="zh-CN" altLang="en-US" sz="1800" dirty="0">
                <a:solidFill>
                  <a:srgbClr val="000000"/>
                </a:solidFill>
              </a:rPr>
              <a:t>∴</a:t>
            </a:r>
            <a:r>
              <a:rPr lang="zh-CN" altLang="en-US" sz="1800" dirty="0"/>
              <a:t> </a:t>
            </a:r>
            <a:r>
              <a:rPr lang="en-US" altLang="zh-CN" sz="1800" dirty="0"/>
              <a:t>s[y]=t[y]</a:t>
            </a:r>
          </a:p>
          <a:p>
            <a:pPr>
              <a:lnSpc>
                <a:spcPct val="100000"/>
              </a:lnSpc>
              <a:buNone/>
            </a:pPr>
            <a:r>
              <a:rPr lang="en-US" altLang="zh-CN" sz="1800" dirty="0"/>
              <a:t>   </a:t>
            </a:r>
            <a:r>
              <a:rPr lang="en-US" altLang="zh-CN" sz="1800" dirty="0">
                <a:solidFill>
                  <a:srgbClr val="000000"/>
                </a:solidFill>
              </a:rPr>
              <a:t>∴</a:t>
            </a:r>
            <a:r>
              <a:rPr lang="en-US" altLang="zh-CN" sz="1800" dirty="0"/>
              <a:t> X</a:t>
            </a:r>
            <a:r>
              <a:rPr lang="zh-CN" altLang="en-US" sz="1800" dirty="0"/>
              <a:t> → </a:t>
            </a:r>
            <a:r>
              <a:rPr lang="en-US" altLang="zh-CN" sz="1800" dirty="0">
                <a:sym typeface="Wingdings" panose="05000000000000000000" pitchFamily="2" charset="2"/>
              </a:rPr>
              <a:t>Y</a:t>
            </a:r>
            <a:r>
              <a:rPr lang="zh-CN" altLang="en-US" sz="1800" dirty="0">
                <a:sym typeface="Wingdings" panose="05000000000000000000" pitchFamily="2" charset="2"/>
              </a:rPr>
              <a:t>。</a:t>
            </a:r>
          </a:p>
          <a:p>
            <a:pPr>
              <a:lnSpc>
                <a:spcPct val="100000"/>
              </a:lnSpc>
            </a:pPr>
            <a:r>
              <a:rPr lang="en-US" altLang="zh-CN" sz="1800" dirty="0">
                <a:solidFill>
                  <a:schemeClr val="hlink"/>
                </a:solidFill>
              </a:rPr>
              <a:t>A2</a:t>
            </a:r>
            <a:r>
              <a:rPr lang="zh-CN" altLang="en-US" sz="1800" dirty="0">
                <a:solidFill>
                  <a:schemeClr val="hlink"/>
                </a:solidFill>
              </a:rPr>
              <a:t>增广律：</a:t>
            </a:r>
            <a:r>
              <a:rPr lang="zh-CN" altLang="en-US" sz="1800" dirty="0"/>
              <a:t>若</a:t>
            </a:r>
            <a:r>
              <a:rPr lang="en-US" altLang="zh-CN" sz="1800" dirty="0"/>
              <a:t>X</a:t>
            </a:r>
            <a:r>
              <a:rPr lang="zh-CN" altLang="en-US" sz="1800" dirty="0"/>
              <a:t> → </a:t>
            </a:r>
            <a:r>
              <a:rPr lang="en-US" altLang="zh-CN" sz="1800" dirty="0">
                <a:sym typeface="Wingdings" panose="05000000000000000000" pitchFamily="2" charset="2"/>
              </a:rPr>
              <a:t>Y</a:t>
            </a:r>
            <a:r>
              <a:rPr lang="zh-CN" altLang="en-US" sz="1800" dirty="0"/>
              <a:t>，则</a:t>
            </a:r>
            <a:r>
              <a:rPr lang="en-US" altLang="zh-CN" sz="1800" dirty="0"/>
              <a:t>XZ</a:t>
            </a:r>
            <a:r>
              <a:rPr lang="zh-CN" altLang="en-US" sz="1800" dirty="0"/>
              <a:t> → </a:t>
            </a:r>
            <a:r>
              <a:rPr lang="en-US" altLang="zh-CN" sz="1800" dirty="0"/>
              <a:t>YZ</a:t>
            </a:r>
            <a:r>
              <a:rPr lang="zh-CN" altLang="en-US" sz="1800" dirty="0"/>
              <a:t>。</a:t>
            </a:r>
          </a:p>
          <a:p>
            <a:pPr>
              <a:lnSpc>
                <a:spcPct val="100000"/>
              </a:lnSpc>
              <a:buNone/>
            </a:pPr>
            <a:r>
              <a:rPr lang="zh-CN" altLang="en-US" sz="1800" dirty="0"/>
              <a:t>   若</a:t>
            </a:r>
            <a:r>
              <a:rPr lang="en-US" altLang="zh-CN" sz="1800" dirty="0"/>
              <a:t>s[xz]=t[xz]</a:t>
            </a:r>
            <a:r>
              <a:rPr lang="zh-CN" altLang="en-US" sz="1800" dirty="0"/>
              <a:t>，即</a:t>
            </a:r>
            <a:r>
              <a:rPr lang="en-US" altLang="zh-CN" sz="1800" dirty="0"/>
              <a:t>s[x]s[z]=t[x]t[z]</a:t>
            </a:r>
          </a:p>
          <a:p>
            <a:pPr>
              <a:lnSpc>
                <a:spcPct val="100000"/>
              </a:lnSpc>
              <a:buNone/>
            </a:pPr>
            <a:r>
              <a:rPr lang="en-US" altLang="zh-CN" sz="1800" dirty="0"/>
              <a:t>   </a:t>
            </a:r>
            <a:r>
              <a:rPr lang="zh-CN" altLang="en-US" sz="1800" dirty="0"/>
              <a:t>则 </a:t>
            </a:r>
            <a:r>
              <a:rPr lang="en-US" altLang="zh-CN" sz="1800" dirty="0"/>
              <a:t>s[x]=t[x] </a:t>
            </a:r>
            <a:r>
              <a:rPr lang="zh-CN" altLang="en-US" sz="1800" dirty="0"/>
              <a:t>且 </a:t>
            </a:r>
            <a:r>
              <a:rPr lang="en-US" altLang="zh-CN" sz="1800" dirty="0"/>
              <a:t>s[z]=t[z]</a:t>
            </a:r>
          </a:p>
          <a:p>
            <a:pPr>
              <a:lnSpc>
                <a:spcPct val="100000"/>
              </a:lnSpc>
              <a:buNone/>
            </a:pPr>
            <a:r>
              <a:rPr lang="en-US" altLang="zh-CN" sz="1800" dirty="0"/>
              <a:t>  </a:t>
            </a:r>
            <a:r>
              <a:rPr lang="en-US" altLang="zh-CN" sz="1800" dirty="0">
                <a:solidFill>
                  <a:srgbClr val="000000"/>
                </a:solidFill>
              </a:rPr>
              <a:t>∵ </a:t>
            </a:r>
            <a:r>
              <a:rPr lang="en-US" altLang="zh-CN" sz="1800" dirty="0"/>
              <a:t>X</a:t>
            </a:r>
            <a:r>
              <a:rPr lang="zh-CN" altLang="en-US" sz="1800" dirty="0"/>
              <a:t> → </a:t>
            </a:r>
            <a:r>
              <a:rPr lang="en-US" altLang="zh-CN" sz="1800" dirty="0">
                <a:sym typeface="Wingdings" panose="05000000000000000000" pitchFamily="2" charset="2"/>
              </a:rPr>
              <a:t>Y</a:t>
            </a:r>
            <a:r>
              <a:rPr lang="zh-CN" altLang="en-US" sz="1800" dirty="0"/>
              <a:t>， </a:t>
            </a:r>
            <a:r>
              <a:rPr lang="zh-CN" altLang="en-US" sz="1800" dirty="0">
                <a:solidFill>
                  <a:srgbClr val="000000"/>
                </a:solidFill>
              </a:rPr>
              <a:t>∴ </a:t>
            </a:r>
            <a:r>
              <a:rPr lang="en-US" altLang="zh-CN" sz="1800" dirty="0">
                <a:solidFill>
                  <a:srgbClr val="000000"/>
                </a:solidFill>
              </a:rPr>
              <a:t>s[y]=t[y]</a:t>
            </a:r>
          </a:p>
          <a:p>
            <a:pPr>
              <a:lnSpc>
                <a:spcPct val="100000"/>
              </a:lnSpc>
              <a:buNone/>
            </a:pPr>
            <a:r>
              <a:rPr lang="en-US" altLang="zh-CN" sz="1800" dirty="0">
                <a:solidFill>
                  <a:srgbClr val="000000"/>
                </a:solidFill>
              </a:rPr>
              <a:t>  ∴ s[yz]=s[y]s[z]=t[y]t[z]=t[yz]  ∴ </a:t>
            </a:r>
            <a:r>
              <a:rPr lang="en-US" altLang="zh-CN" sz="1800" dirty="0"/>
              <a:t>XZ</a:t>
            </a:r>
            <a:r>
              <a:rPr lang="zh-CN" altLang="en-US" sz="1800" dirty="0"/>
              <a:t> → </a:t>
            </a:r>
            <a:r>
              <a:rPr lang="en-US" altLang="zh-CN" sz="1800" dirty="0"/>
              <a:t>YZ</a:t>
            </a:r>
          </a:p>
        </p:txBody>
      </p:sp>
      <p:sp>
        <p:nvSpPr>
          <p:cNvPr id="3" name="标题 2">
            <a:extLst>
              <a:ext uri="{FF2B5EF4-FFF2-40B4-BE49-F238E27FC236}">
                <a16:creationId xmlns:a16="http://schemas.microsoft.com/office/drawing/2014/main" id="{D02E8D25-92A9-C538-1E8A-050BA7CBE662}"/>
              </a:ext>
            </a:extLst>
          </p:cNvPr>
          <p:cNvSpPr>
            <a:spLocks noGrp="1"/>
          </p:cNvSpPr>
          <p:nvPr>
            <p:ph type="title"/>
          </p:nvPr>
        </p:nvSpPr>
        <p:spPr/>
        <p:txBody>
          <a:bodyPr/>
          <a:lstStyle/>
          <a:p>
            <a:r>
              <a:rPr lang="zh-CN" altLang="en-US" dirty="0"/>
              <a:t>阿氏公理</a:t>
            </a:r>
          </a:p>
        </p:txBody>
      </p:sp>
      <p:sp>
        <p:nvSpPr>
          <p:cNvPr id="4" name="Rectangle 3">
            <a:extLst>
              <a:ext uri="{FF2B5EF4-FFF2-40B4-BE49-F238E27FC236}">
                <a16:creationId xmlns:a16="http://schemas.microsoft.com/office/drawing/2014/main" id="{5C602BF3-CBF5-746A-9F1C-4A4991FEEDDE}"/>
              </a:ext>
            </a:extLst>
          </p:cNvPr>
          <p:cNvSpPr txBox="1">
            <a:spLocks/>
          </p:cNvSpPr>
          <p:nvPr/>
        </p:nvSpPr>
        <p:spPr>
          <a:xfrm>
            <a:off x="5191932" y="2043008"/>
            <a:ext cx="3952068" cy="2680314"/>
          </a:xfrm>
          <a:prstGeom prst="rect">
            <a:avLst/>
          </a:prstGeom>
        </p:spPr>
        <p:txBody>
          <a:bodyPr vert="horz" wrap="square" lIns="68580" tIns="34290" rIns="68580" bIns="34290" rtlCol="0" anchor="t" anchorCtr="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800" dirty="0">
                <a:solidFill>
                  <a:schemeClr val="hlink"/>
                </a:solidFill>
              </a:rPr>
              <a:t>A3</a:t>
            </a:r>
            <a:r>
              <a:rPr lang="zh-CN" altLang="en-US" sz="1800" dirty="0">
                <a:solidFill>
                  <a:schemeClr val="hlink"/>
                </a:solidFill>
              </a:rPr>
              <a:t>传递律：</a:t>
            </a:r>
            <a:r>
              <a:rPr lang="zh-CN" altLang="en-US" sz="1800" dirty="0"/>
              <a:t>若</a:t>
            </a:r>
            <a:r>
              <a:rPr lang="en-US" altLang="zh-CN" sz="1800" dirty="0"/>
              <a:t>X</a:t>
            </a:r>
            <a:r>
              <a:rPr lang="zh-CN" altLang="en-US" sz="1800" dirty="0"/>
              <a:t> → </a:t>
            </a:r>
            <a:r>
              <a:rPr lang="en-US" altLang="zh-CN" sz="1800" dirty="0">
                <a:sym typeface="Wingdings" panose="05000000000000000000" pitchFamily="2" charset="2"/>
              </a:rPr>
              <a:t>Y</a:t>
            </a:r>
            <a:r>
              <a:rPr lang="zh-CN" altLang="en-US" sz="1800" dirty="0"/>
              <a:t>、</a:t>
            </a:r>
            <a:r>
              <a:rPr lang="en-US" altLang="zh-CN" sz="1800" dirty="0"/>
              <a:t>Y</a:t>
            </a:r>
            <a:r>
              <a:rPr lang="zh-CN" altLang="en-US" sz="1800" dirty="0"/>
              <a:t> → </a:t>
            </a:r>
            <a:r>
              <a:rPr lang="en-US" altLang="zh-CN" sz="1800" dirty="0"/>
              <a:t>Z</a:t>
            </a:r>
            <a:r>
              <a:rPr lang="zh-CN" altLang="en-US" sz="1800" dirty="0"/>
              <a:t>，则</a:t>
            </a:r>
            <a:br>
              <a:rPr lang="en-US" altLang="zh-CN" sz="1800" dirty="0"/>
            </a:br>
            <a:r>
              <a:rPr lang="en-US" altLang="zh-CN" sz="1800" dirty="0"/>
              <a:t>X</a:t>
            </a:r>
            <a:r>
              <a:rPr lang="zh-CN" altLang="en-US" sz="1800" dirty="0"/>
              <a:t> → </a:t>
            </a:r>
            <a:r>
              <a:rPr lang="en-US" altLang="zh-CN" sz="1800" dirty="0"/>
              <a:t>Z</a:t>
            </a:r>
            <a:r>
              <a:rPr lang="zh-CN" altLang="en-US" sz="1800" dirty="0"/>
              <a:t>。</a:t>
            </a:r>
          </a:p>
          <a:p>
            <a:pPr>
              <a:buFont typeface="Arial" panose="020B0604020202020204" pitchFamily="34" charset="0"/>
              <a:buNone/>
            </a:pPr>
            <a:r>
              <a:rPr lang="zh-CN" altLang="en-US" sz="1800" dirty="0"/>
              <a:t>  若</a:t>
            </a:r>
            <a:r>
              <a:rPr lang="en-US" altLang="zh-CN" sz="1800" dirty="0"/>
              <a:t>s[x]=t[x]</a:t>
            </a:r>
          </a:p>
          <a:p>
            <a:pPr>
              <a:buNone/>
            </a:pPr>
            <a:r>
              <a:rPr lang="en-US" altLang="zh-CN" sz="1800" dirty="0"/>
              <a:t>   </a:t>
            </a:r>
            <a:r>
              <a:rPr lang="en-US" altLang="zh-CN" sz="1800" dirty="0">
                <a:solidFill>
                  <a:srgbClr val="000000"/>
                </a:solidFill>
              </a:rPr>
              <a:t>∵</a:t>
            </a:r>
            <a:r>
              <a:rPr lang="en-US" altLang="zh-CN" sz="1800" dirty="0"/>
              <a:t> X</a:t>
            </a:r>
            <a:r>
              <a:rPr lang="zh-CN" altLang="en-US" sz="1800" dirty="0"/>
              <a:t> → </a:t>
            </a:r>
            <a:r>
              <a:rPr lang="en-US" altLang="zh-CN" sz="1800" dirty="0">
                <a:sym typeface="Wingdings" panose="05000000000000000000" pitchFamily="2" charset="2"/>
              </a:rPr>
              <a:t>Y   </a:t>
            </a:r>
          </a:p>
          <a:p>
            <a:pPr>
              <a:buFont typeface="Arial" panose="020B0604020202020204" pitchFamily="34" charset="0"/>
              <a:buNone/>
            </a:pPr>
            <a:r>
              <a:rPr lang="en-US" altLang="zh-CN" sz="1800" dirty="0">
                <a:sym typeface="Wingdings" panose="05000000000000000000" pitchFamily="2" charset="2"/>
              </a:rPr>
              <a:t>   </a:t>
            </a:r>
            <a:r>
              <a:rPr lang="en-US" altLang="zh-CN" sz="1800" dirty="0">
                <a:solidFill>
                  <a:srgbClr val="000000"/>
                </a:solidFill>
                <a:sym typeface="Wingdings" panose="05000000000000000000" pitchFamily="2" charset="2"/>
              </a:rPr>
              <a:t>∴</a:t>
            </a:r>
            <a:r>
              <a:rPr lang="en-US" altLang="zh-CN" sz="1800" dirty="0">
                <a:sym typeface="Wingdings" panose="05000000000000000000" pitchFamily="2" charset="2"/>
              </a:rPr>
              <a:t> s[y]=t[y]</a:t>
            </a:r>
          </a:p>
          <a:p>
            <a:pPr>
              <a:buNone/>
            </a:pPr>
            <a:r>
              <a:rPr lang="en-US" altLang="zh-CN" sz="1800" dirty="0">
                <a:sym typeface="Wingdings" panose="05000000000000000000" pitchFamily="2" charset="2"/>
              </a:rPr>
              <a:t>  </a:t>
            </a:r>
            <a:r>
              <a:rPr lang="zh-CN" altLang="en-US" sz="1800" dirty="0">
                <a:sym typeface="Wingdings" panose="05000000000000000000" pitchFamily="2" charset="2"/>
              </a:rPr>
              <a:t>又</a:t>
            </a:r>
            <a:r>
              <a:rPr lang="zh-CN" altLang="en-US" sz="1800" dirty="0">
                <a:solidFill>
                  <a:srgbClr val="000000"/>
                </a:solidFill>
              </a:rPr>
              <a:t>∵ </a:t>
            </a:r>
            <a:r>
              <a:rPr lang="en-US" altLang="zh-CN" sz="1800" dirty="0"/>
              <a:t>Y</a:t>
            </a:r>
            <a:r>
              <a:rPr lang="zh-CN" altLang="en-US" sz="1800" dirty="0"/>
              <a:t> → </a:t>
            </a:r>
            <a:r>
              <a:rPr lang="en-US" altLang="zh-CN" sz="1800" dirty="0"/>
              <a:t>Z  </a:t>
            </a:r>
          </a:p>
          <a:p>
            <a:pPr>
              <a:buFont typeface="Arial" panose="020B0604020202020204" pitchFamily="34" charset="0"/>
              <a:buNone/>
            </a:pPr>
            <a:r>
              <a:rPr lang="en-US" altLang="zh-CN" sz="1800" dirty="0">
                <a:solidFill>
                  <a:srgbClr val="000000"/>
                </a:solidFill>
                <a:sym typeface="Wingdings" panose="05000000000000000000" pitchFamily="2" charset="2"/>
              </a:rPr>
              <a:t>    ∴ s[z]=t[z]</a:t>
            </a:r>
          </a:p>
          <a:p>
            <a:pPr>
              <a:buNone/>
            </a:pPr>
            <a:r>
              <a:rPr lang="en-US" altLang="zh-CN" sz="1800" dirty="0">
                <a:solidFill>
                  <a:srgbClr val="000000"/>
                </a:solidFill>
                <a:sym typeface="Wingdings" panose="05000000000000000000" pitchFamily="2" charset="2"/>
              </a:rPr>
              <a:t>    ∴ </a:t>
            </a:r>
            <a:r>
              <a:rPr lang="en-US" altLang="zh-CN" sz="1800" dirty="0"/>
              <a:t>X</a:t>
            </a:r>
            <a:r>
              <a:rPr lang="zh-CN" altLang="en-US" sz="1800" dirty="0"/>
              <a:t> → </a:t>
            </a:r>
            <a:r>
              <a:rPr lang="en-US" altLang="zh-CN" sz="1800" dirty="0"/>
              <a:t>Z</a:t>
            </a:r>
            <a:r>
              <a:rPr lang="zh-CN" altLang="en-US" sz="1800" dirty="0"/>
              <a:t>。</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904682" y="1253548"/>
            <a:ext cx="6858000" cy="3151968"/>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eaLnBrk="1" hangingPunct="1"/>
            <a:r>
              <a:rPr lang="zh-CN" altLang="en-US" sz="2000" b="1" dirty="0">
                <a:solidFill>
                  <a:schemeClr val="folHlink"/>
                </a:solidFill>
                <a:latin typeface="Microsoft YaHei" panose="020B0503020204020204" pitchFamily="34" charset="-122"/>
                <a:ea typeface="Microsoft YaHei" panose="020B0503020204020204" pitchFamily="34" charset="-122"/>
              </a:rPr>
              <a:t>公理的推论：</a:t>
            </a:r>
          </a:p>
          <a:p>
            <a:pPr eaLnBrk="1" hangingPunct="1">
              <a:buNone/>
            </a:pPr>
            <a:r>
              <a:rPr lang="zh-CN" altLang="en-US" sz="2000" dirty="0">
                <a:latin typeface="Microsoft YaHei" panose="020B0503020204020204" pitchFamily="34" charset="-122"/>
                <a:ea typeface="Microsoft YaHei" panose="020B0503020204020204" pitchFamily="34" charset="-122"/>
              </a:rPr>
              <a:t>   合并规则：若</a:t>
            </a:r>
            <a:r>
              <a:rPr lang="en-US" altLang="zh-CN" sz="2000" dirty="0">
                <a:latin typeface="Microsoft YaHei" panose="020B0503020204020204" pitchFamily="34" charset="-122"/>
                <a:ea typeface="Microsoft YaHei" panose="020B0503020204020204" pitchFamily="34" charset="-122"/>
              </a:rPr>
              <a:t>X</a:t>
            </a:r>
            <a:r>
              <a:rPr lang="zh-CN" altLang="en-US" sz="2000" dirty="0"/>
              <a:t> </a:t>
            </a:r>
            <a:r>
              <a:rPr lang="zh-CN" altLang="en-US" sz="2000" b="1" dirty="0"/>
              <a:t>→</a:t>
            </a:r>
            <a:r>
              <a:rPr lang="zh-CN" altLang="en-US" sz="2000" dirty="0"/>
              <a:t> </a:t>
            </a:r>
            <a:r>
              <a:rPr lang="en-US" altLang="zh-CN" sz="2000" dirty="0">
                <a:latin typeface="Microsoft YaHei" panose="020B0503020204020204" pitchFamily="34" charset="-122"/>
                <a:ea typeface="Microsoft YaHei" panose="020B0503020204020204" pitchFamily="34" charset="-122"/>
                <a:sym typeface="Wingdings" panose="05000000000000000000" pitchFamily="2" charset="2"/>
              </a:rPr>
              <a:t>Y</a:t>
            </a: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a:t>
            </a:r>
            <a:r>
              <a:rPr lang="en-US" altLang="zh-CN" sz="2000" dirty="0">
                <a:latin typeface="Microsoft YaHei" panose="020B0503020204020204" pitchFamily="34" charset="-122"/>
                <a:ea typeface="Microsoft YaHei" panose="020B0503020204020204" pitchFamily="34" charset="-122"/>
              </a:rPr>
              <a:t>X</a:t>
            </a:r>
            <a:r>
              <a:rPr lang="zh-CN" altLang="en-US" sz="2000" b="1" dirty="0"/>
              <a:t> → </a:t>
            </a:r>
            <a:r>
              <a:rPr lang="en-US" altLang="zh-CN" sz="2000" dirty="0">
                <a:latin typeface="Microsoft YaHei" panose="020B0503020204020204" pitchFamily="34" charset="-122"/>
                <a:ea typeface="Microsoft YaHei" panose="020B0503020204020204" pitchFamily="34" charset="-122"/>
                <a:sym typeface="Wingdings" panose="05000000000000000000" pitchFamily="2" charset="2"/>
              </a:rPr>
              <a:t>Z</a:t>
            </a:r>
            <a:r>
              <a:rPr lang="zh-CN" altLang="en-US" sz="2000" dirty="0">
                <a:latin typeface="Microsoft YaHei" panose="020B0503020204020204" pitchFamily="34" charset="-122"/>
                <a:ea typeface="Microsoft YaHei" panose="020B0503020204020204" pitchFamily="34" charset="-122"/>
                <a:sym typeface="Wingdings" panose="05000000000000000000" pitchFamily="2" charset="2"/>
              </a:rPr>
              <a:t>，</a:t>
            </a:r>
            <a:r>
              <a:rPr lang="zh-CN" altLang="en-US" sz="2000" dirty="0">
                <a:latin typeface="Microsoft YaHei" panose="020B0503020204020204" pitchFamily="34" charset="-122"/>
                <a:ea typeface="Microsoft YaHei" panose="020B0503020204020204" pitchFamily="34" charset="-122"/>
              </a:rPr>
              <a:t>则</a:t>
            </a:r>
            <a:r>
              <a:rPr lang="en-US" altLang="zh-CN" sz="2000" dirty="0">
                <a:latin typeface="Microsoft YaHei" panose="020B0503020204020204" pitchFamily="34" charset="-122"/>
                <a:ea typeface="Microsoft YaHei" panose="020B0503020204020204" pitchFamily="34" charset="-122"/>
              </a:rPr>
              <a:t>X</a:t>
            </a:r>
            <a:r>
              <a:rPr lang="zh-CN" altLang="en-US" sz="2000" b="1" dirty="0"/>
              <a:t> → </a:t>
            </a:r>
            <a:r>
              <a:rPr lang="en-US" altLang="zh-CN" sz="2000" dirty="0">
                <a:latin typeface="Microsoft YaHei" panose="020B0503020204020204" pitchFamily="34" charset="-122"/>
                <a:ea typeface="Microsoft YaHei" panose="020B0503020204020204" pitchFamily="34" charset="-122"/>
                <a:sym typeface="Wingdings" panose="05000000000000000000" pitchFamily="2" charset="2"/>
              </a:rPr>
              <a:t>YZ</a:t>
            </a:r>
            <a:r>
              <a:rPr lang="zh-CN" altLang="en-US" sz="2000" dirty="0">
                <a:latin typeface="Microsoft YaHei" panose="020B0503020204020204" pitchFamily="34" charset="-122"/>
                <a:ea typeface="Microsoft YaHei" panose="020B0503020204020204" pitchFamily="34" charset="-122"/>
                <a:sym typeface="Wingdings" panose="05000000000000000000" pitchFamily="2" charset="2"/>
              </a:rPr>
              <a:t>。</a:t>
            </a:r>
          </a:p>
          <a:p>
            <a:pPr eaLnBrk="1" hangingPunct="1">
              <a:buNone/>
            </a:pPr>
            <a:r>
              <a:rPr lang="zh-CN" altLang="en-US" sz="2000" dirty="0">
                <a:latin typeface="Microsoft YaHei" panose="020B0503020204020204" pitchFamily="34" charset="-122"/>
                <a:ea typeface="Microsoft YaHei" panose="020B0503020204020204" pitchFamily="34" charset="-122"/>
              </a:rPr>
              <a:t>   分解规则：若</a:t>
            </a:r>
            <a:r>
              <a:rPr lang="en-US" altLang="zh-CN" sz="2000" dirty="0">
                <a:latin typeface="Microsoft YaHei" panose="020B0503020204020204" pitchFamily="34" charset="-122"/>
                <a:ea typeface="Microsoft YaHei" panose="020B0503020204020204" pitchFamily="34" charset="-122"/>
              </a:rPr>
              <a:t>X</a:t>
            </a:r>
            <a:r>
              <a:rPr lang="zh-CN" altLang="en-US" sz="2000" b="1" dirty="0"/>
              <a:t> → </a:t>
            </a:r>
            <a:r>
              <a:rPr lang="en-US" altLang="zh-CN" sz="2000" dirty="0">
                <a:latin typeface="Microsoft YaHei" panose="020B0503020204020204" pitchFamily="34" charset="-122"/>
                <a:ea typeface="Microsoft YaHei" panose="020B0503020204020204" pitchFamily="34" charset="-122"/>
                <a:sym typeface="Wingdings" panose="05000000000000000000" pitchFamily="2" charset="2"/>
              </a:rPr>
              <a:t>YZ</a:t>
            </a:r>
            <a:r>
              <a:rPr lang="zh-CN" altLang="en-US" sz="2000" dirty="0">
                <a:latin typeface="Microsoft YaHei" panose="020B0503020204020204" pitchFamily="34" charset="-122"/>
                <a:ea typeface="Microsoft YaHei" panose="020B0503020204020204" pitchFamily="34" charset="-122"/>
              </a:rPr>
              <a:t>，则</a:t>
            </a:r>
            <a:r>
              <a:rPr lang="en-US" altLang="zh-CN" sz="2000" dirty="0">
                <a:latin typeface="Microsoft YaHei" panose="020B0503020204020204" pitchFamily="34" charset="-122"/>
                <a:ea typeface="Microsoft YaHei" panose="020B0503020204020204" pitchFamily="34" charset="-122"/>
              </a:rPr>
              <a:t>X</a:t>
            </a:r>
            <a:r>
              <a:rPr lang="zh-CN" altLang="en-US" sz="2000" b="1" dirty="0"/>
              <a:t> → </a:t>
            </a:r>
            <a:r>
              <a:rPr lang="en-US" altLang="zh-CN" sz="2000" dirty="0">
                <a:latin typeface="Microsoft YaHei" panose="020B0503020204020204" pitchFamily="34" charset="-122"/>
                <a:ea typeface="Microsoft YaHei" panose="020B0503020204020204" pitchFamily="34" charset="-122"/>
                <a:sym typeface="Wingdings" panose="05000000000000000000" pitchFamily="2" charset="2"/>
              </a:rPr>
              <a:t>Y,</a:t>
            </a:r>
            <a:r>
              <a:rPr lang="zh-CN" altLang="en-US" sz="2000" dirty="0">
                <a:latin typeface="Microsoft YaHei" panose="020B0503020204020204" pitchFamily="34" charset="-122"/>
                <a:ea typeface="Microsoft YaHei" panose="020B0503020204020204" pitchFamily="34" charset="-122"/>
                <a:sym typeface="Wingdings" panose="05000000000000000000" pitchFamily="2" charset="2"/>
              </a:rPr>
              <a:t> </a:t>
            </a:r>
            <a:r>
              <a:rPr lang="en-US" altLang="zh-CN" sz="2000" dirty="0">
                <a:latin typeface="Microsoft YaHei" panose="020B0503020204020204" pitchFamily="34" charset="-122"/>
                <a:ea typeface="Microsoft YaHei" panose="020B0503020204020204" pitchFamily="34" charset="-122"/>
              </a:rPr>
              <a:t>X</a:t>
            </a:r>
            <a:r>
              <a:rPr lang="zh-CN" altLang="en-US" sz="2000" b="1" dirty="0"/>
              <a:t> → </a:t>
            </a:r>
            <a:r>
              <a:rPr lang="en-US" altLang="zh-CN" sz="2000" dirty="0">
                <a:latin typeface="Microsoft YaHei" panose="020B0503020204020204" pitchFamily="34" charset="-122"/>
                <a:ea typeface="Microsoft YaHei" panose="020B0503020204020204" pitchFamily="34" charset="-122"/>
                <a:sym typeface="Wingdings" panose="05000000000000000000" pitchFamily="2" charset="2"/>
              </a:rPr>
              <a:t>Z</a:t>
            </a:r>
            <a:r>
              <a:rPr lang="zh-CN" altLang="en-US" sz="2000" dirty="0">
                <a:latin typeface="Microsoft YaHei" panose="020B0503020204020204" pitchFamily="34" charset="-122"/>
                <a:ea typeface="Microsoft YaHei" panose="020B0503020204020204" pitchFamily="34" charset="-122"/>
                <a:sym typeface="Wingdings" panose="05000000000000000000" pitchFamily="2" charset="2"/>
              </a:rPr>
              <a:t>。</a:t>
            </a:r>
            <a:endParaRPr lang="zh-CN" altLang="en-US" sz="2000" dirty="0">
              <a:latin typeface="Microsoft YaHei" panose="020B0503020204020204" pitchFamily="34" charset="-122"/>
              <a:ea typeface="Microsoft YaHei" panose="020B0503020204020204" pitchFamily="34" charset="-122"/>
            </a:endParaRPr>
          </a:p>
          <a:p>
            <a:pPr eaLnBrk="1" hangingPunct="1">
              <a:buNone/>
            </a:pPr>
            <a:r>
              <a:rPr lang="zh-CN" altLang="en-US" sz="2000" dirty="0">
                <a:latin typeface="Microsoft YaHei" panose="020B0503020204020204" pitchFamily="34" charset="-122"/>
                <a:ea typeface="Microsoft YaHei" panose="020B0503020204020204" pitchFamily="34" charset="-122"/>
              </a:rPr>
              <a:t>   伪传递规则：若</a:t>
            </a:r>
            <a:r>
              <a:rPr lang="en-US" altLang="zh-CN" sz="2000" dirty="0">
                <a:latin typeface="Microsoft YaHei" panose="020B0503020204020204" pitchFamily="34" charset="-122"/>
                <a:ea typeface="Microsoft YaHei" panose="020B0503020204020204" pitchFamily="34" charset="-122"/>
              </a:rPr>
              <a:t>X</a:t>
            </a:r>
            <a:r>
              <a:rPr lang="zh-CN" altLang="en-US" sz="2000" b="1" dirty="0"/>
              <a:t> → </a:t>
            </a:r>
            <a:r>
              <a:rPr lang="en-US" altLang="zh-CN" sz="2000" dirty="0">
                <a:latin typeface="Microsoft YaHei" panose="020B0503020204020204" pitchFamily="34" charset="-122"/>
                <a:ea typeface="Microsoft YaHei" panose="020B0503020204020204" pitchFamily="34" charset="-122"/>
                <a:sym typeface="Wingdings" panose="05000000000000000000" pitchFamily="2" charset="2"/>
              </a:rPr>
              <a:t>Y</a:t>
            </a: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WY</a:t>
            </a:r>
            <a:r>
              <a:rPr lang="zh-CN" altLang="en-US" sz="2000" b="1" dirty="0"/>
              <a:t> → </a:t>
            </a:r>
            <a:r>
              <a:rPr lang="en-US" altLang="zh-CN" sz="2000" dirty="0">
                <a:latin typeface="Microsoft YaHei" panose="020B0503020204020204" pitchFamily="34" charset="-122"/>
                <a:ea typeface="Microsoft YaHei" panose="020B0503020204020204" pitchFamily="34" charset="-122"/>
                <a:sym typeface="Wingdings" panose="05000000000000000000" pitchFamily="2" charset="2"/>
              </a:rPr>
              <a:t>Z</a:t>
            </a:r>
            <a:r>
              <a:rPr lang="zh-CN" altLang="en-US" sz="2000" dirty="0">
                <a:latin typeface="Microsoft YaHei" panose="020B0503020204020204" pitchFamily="34" charset="-122"/>
                <a:ea typeface="Microsoft YaHei" panose="020B0503020204020204" pitchFamily="34" charset="-122"/>
                <a:sym typeface="Wingdings" panose="05000000000000000000" pitchFamily="2" charset="2"/>
              </a:rPr>
              <a:t>，</a:t>
            </a:r>
            <a:r>
              <a:rPr lang="zh-CN" altLang="en-US" sz="2000" dirty="0">
                <a:latin typeface="Microsoft YaHei" panose="020B0503020204020204" pitchFamily="34" charset="-122"/>
                <a:ea typeface="Microsoft YaHei" panose="020B0503020204020204" pitchFamily="34" charset="-122"/>
              </a:rPr>
              <a:t>则</a:t>
            </a:r>
            <a:r>
              <a:rPr lang="en-US" altLang="zh-CN" sz="2000" dirty="0">
                <a:latin typeface="Microsoft YaHei" panose="020B0503020204020204" pitchFamily="34" charset="-122"/>
                <a:ea typeface="Microsoft YaHei" panose="020B0503020204020204" pitchFamily="34" charset="-122"/>
              </a:rPr>
              <a:t>WX</a:t>
            </a:r>
            <a:r>
              <a:rPr lang="zh-CN" altLang="en-US" sz="2000" b="1" dirty="0"/>
              <a:t> → </a:t>
            </a:r>
            <a:r>
              <a:rPr lang="en-US" altLang="zh-CN" sz="2000" dirty="0">
                <a:latin typeface="Microsoft YaHei" panose="020B0503020204020204" pitchFamily="34" charset="-122"/>
                <a:ea typeface="Microsoft YaHei" panose="020B0503020204020204" pitchFamily="34" charset="-122"/>
                <a:sym typeface="Wingdings" panose="05000000000000000000" pitchFamily="2" charset="2"/>
              </a:rPr>
              <a:t>Z</a:t>
            </a:r>
            <a:r>
              <a:rPr lang="zh-CN" altLang="en-US" sz="2000" dirty="0">
                <a:latin typeface="Microsoft YaHei" panose="020B0503020204020204" pitchFamily="34" charset="-122"/>
                <a:ea typeface="Microsoft YaHei" panose="020B0503020204020204" pitchFamily="34" charset="-122"/>
                <a:sym typeface="Wingdings" panose="05000000000000000000" pitchFamily="2" charset="2"/>
              </a:rPr>
              <a:t>。</a:t>
            </a:r>
            <a:endParaRPr lang="zh-CN" altLang="en-US" sz="2000" dirty="0">
              <a:latin typeface="Microsoft YaHei" panose="020B0503020204020204" pitchFamily="34" charset="-122"/>
              <a:ea typeface="Microsoft YaHei" panose="020B0503020204020204" pitchFamily="34" charset="-122"/>
            </a:endParaRPr>
          </a:p>
          <a:p>
            <a:pPr eaLnBrk="1" hangingPunct="1">
              <a:buNone/>
            </a:pPr>
            <a:endParaRPr lang="en-US" altLang="zh-CN" sz="2000" b="1" dirty="0">
              <a:solidFill>
                <a:schemeClr val="hlink"/>
              </a:solidFill>
              <a:latin typeface="Microsoft YaHei" panose="020B0503020204020204" pitchFamily="34" charset="-122"/>
              <a:ea typeface="Microsoft YaHei" panose="020B0503020204020204" pitchFamily="34" charset="-122"/>
              <a:sym typeface="Wingdings" panose="05000000000000000000" pitchFamily="2" charset="2"/>
            </a:endParaRPr>
          </a:p>
          <a:p>
            <a:pPr eaLnBrk="1" hangingPunct="1">
              <a:buNone/>
            </a:pPr>
            <a:r>
              <a:rPr lang="zh-CN" altLang="en-US" sz="2000" b="1" dirty="0">
                <a:solidFill>
                  <a:schemeClr val="hlink"/>
                </a:solidFill>
                <a:latin typeface="Microsoft YaHei" panose="020B0503020204020204" pitchFamily="34" charset="-122"/>
                <a:ea typeface="Microsoft YaHei" panose="020B0503020204020204" pitchFamily="34" charset="-122"/>
                <a:sym typeface="Wingdings" panose="05000000000000000000" pitchFamily="2" charset="2"/>
              </a:rPr>
              <a:t>证明：</a:t>
            </a:r>
          </a:p>
          <a:p>
            <a:pPr eaLnBrk="1" hangingPunct="1"/>
            <a:r>
              <a:rPr lang="zh-CN" altLang="en-US" sz="2000" dirty="0">
                <a:latin typeface="Microsoft YaHei" panose="020B0503020204020204" pitchFamily="34" charset="-122"/>
                <a:ea typeface="Microsoft YaHei" panose="020B0503020204020204" pitchFamily="34" charset="-122"/>
                <a:sym typeface="Wingdings" panose="05000000000000000000" pitchFamily="2" charset="2"/>
              </a:rPr>
              <a:t>合并规则：</a:t>
            </a:r>
            <a:r>
              <a:rPr lang="zh-CN" altLang="en-US" sz="2000" dirty="0">
                <a:solidFill>
                  <a:srgbClr val="000000"/>
                </a:solidFill>
                <a:latin typeface="Microsoft YaHei" panose="020B0503020204020204" pitchFamily="34" charset="-122"/>
                <a:ea typeface="Microsoft YaHei" panose="020B0503020204020204" pitchFamily="34" charset="-122"/>
                <a:sym typeface="Wingdings" panose="05000000000000000000" pitchFamily="2" charset="2"/>
              </a:rPr>
              <a:t>∵ </a:t>
            </a:r>
            <a:r>
              <a:rPr lang="en-US" altLang="zh-CN" sz="2000" dirty="0">
                <a:latin typeface="Microsoft YaHei" panose="020B0503020204020204" pitchFamily="34" charset="-122"/>
                <a:ea typeface="Microsoft YaHei" panose="020B0503020204020204" pitchFamily="34" charset="-122"/>
              </a:rPr>
              <a:t>X</a:t>
            </a:r>
            <a:r>
              <a:rPr lang="zh-CN" altLang="en-US" sz="2000" b="1" dirty="0"/>
              <a:t> → </a:t>
            </a:r>
            <a:r>
              <a:rPr lang="en-US" altLang="zh-CN" sz="2000" dirty="0">
                <a:latin typeface="Microsoft YaHei" panose="020B0503020204020204" pitchFamily="34" charset="-122"/>
                <a:ea typeface="Microsoft YaHei" panose="020B0503020204020204" pitchFamily="34" charset="-122"/>
                <a:sym typeface="Wingdings" panose="05000000000000000000" pitchFamily="2" charset="2"/>
              </a:rPr>
              <a:t>Y   </a:t>
            </a:r>
            <a:r>
              <a:rPr lang="en-US" altLang="zh-CN" sz="2000" dirty="0">
                <a:solidFill>
                  <a:srgbClr val="000000"/>
                </a:solidFill>
                <a:latin typeface="Microsoft YaHei" panose="020B0503020204020204" pitchFamily="34" charset="-122"/>
                <a:ea typeface="Microsoft YaHei" panose="020B0503020204020204" pitchFamily="34" charset="-122"/>
                <a:sym typeface="Wingdings" panose="05000000000000000000" pitchFamily="2" charset="2"/>
              </a:rPr>
              <a:t>∴ </a:t>
            </a:r>
            <a:r>
              <a:rPr lang="en-US" altLang="zh-CN" sz="2000" dirty="0">
                <a:latin typeface="Microsoft YaHei" panose="020B0503020204020204" pitchFamily="34" charset="-122"/>
                <a:ea typeface="Microsoft YaHei" panose="020B0503020204020204" pitchFamily="34" charset="-122"/>
              </a:rPr>
              <a:t>X</a:t>
            </a:r>
            <a:r>
              <a:rPr lang="zh-CN" altLang="en-US" sz="2000" b="1" dirty="0"/>
              <a:t> → </a:t>
            </a:r>
            <a:r>
              <a:rPr lang="en-US" altLang="zh-CN" sz="2000" dirty="0">
                <a:latin typeface="Microsoft YaHei" panose="020B0503020204020204" pitchFamily="34" charset="-122"/>
                <a:ea typeface="Microsoft YaHei" panose="020B0503020204020204" pitchFamily="34" charset="-122"/>
                <a:sym typeface="Wingdings" panose="05000000000000000000" pitchFamily="2" charset="2"/>
              </a:rPr>
              <a:t>XY   (A2)</a:t>
            </a:r>
          </a:p>
          <a:p>
            <a:pPr eaLnBrk="1" hangingPunct="1">
              <a:buNone/>
            </a:pPr>
            <a:r>
              <a:rPr lang="en-US" altLang="zh-CN" sz="2000" dirty="0">
                <a:latin typeface="Microsoft YaHei" panose="020B0503020204020204" pitchFamily="34" charset="-122"/>
                <a:ea typeface="Microsoft YaHei" panose="020B0503020204020204" pitchFamily="34" charset="-122"/>
                <a:sym typeface="Wingdings" panose="05000000000000000000" pitchFamily="2" charset="2"/>
              </a:rPr>
              <a:t>            </a:t>
            </a:r>
            <a:r>
              <a:rPr lang="zh-CN" altLang="en-US" sz="2000" dirty="0">
                <a:latin typeface="Microsoft YaHei" panose="020B0503020204020204" pitchFamily="34" charset="-122"/>
                <a:ea typeface="Microsoft YaHei" panose="020B0503020204020204" pitchFamily="34" charset="-122"/>
                <a:sym typeface="Wingdings" panose="05000000000000000000" pitchFamily="2" charset="2"/>
              </a:rPr>
              <a:t>又</a:t>
            </a:r>
            <a:r>
              <a:rPr lang="zh-CN" altLang="en-US" sz="2000" dirty="0">
                <a:solidFill>
                  <a:srgbClr val="000000"/>
                </a:solidFill>
                <a:latin typeface="Microsoft YaHei" panose="020B0503020204020204" pitchFamily="34" charset="-122"/>
                <a:ea typeface="Microsoft YaHei" panose="020B0503020204020204" pitchFamily="34" charset="-122"/>
                <a:sym typeface="Wingdings" panose="05000000000000000000" pitchFamily="2" charset="2"/>
              </a:rPr>
              <a:t>∵ </a:t>
            </a:r>
            <a:r>
              <a:rPr lang="en-US" altLang="zh-CN" sz="2000" dirty="0">
                <a:latin typeface="Microsoft YaHei" panose="020B0503020204020204" pitchFamily="34" charset="-122"/>
                <a:ea typeface="Microsoft YaHei" panose="020B0503020204020204" pitchFamily="34" charset="-122"/>
              </a:rPr>
              <a:t>X</a:t>
            </a:r>
            <a:r>
              <a:rPr lang="zh-CN" altLang="en-US" sz="2000" b="1" dirty="0"/>
              <a:t> → </a:t>
            </a:r>
            <a:r>
              <a:rPr lang="en-US" altLang="zh-CN" sz="2000" dirty="0">
                <a:latin typeface="Microsoft YaHei" panose="020B0503020204020204" pitchFamily="34" charset="-122"/>
                <a:ea typeface="Microsoft YaHei" panose="020B0503020204020204" pitchFamily="34" charset="-122"/>
                <a:sym typeface="Wingdings" panose="05000000000000000000" pitchFamily="2" charset="2"/>
              </a:rPr>
              <a:t>Z  </a:t>
            </a:r>
            <a:r>
              <a:rPr lang="en-US" altLang="zh-CN" sz="2000" dirty="0">
                <a:solidFill>
                  <a:srgbClr val="000000"/>
                </a:solidFill>
                <a:latin typeface="Microsoft YaHei" panose="020B0503020204020204" pitchFamily="34" charset="-122"/>
                <a:ea typeface="Microsoft YaHei" panose="020B0503020204020204" pitchFamily="34" charset="-122"/>
                <a:sym typeface="Wingdings" panose="05000000000000000000" pitchFamily="2" charset="2"/>
              </a:rPr>
              <a:t>∴ </a:t>
            </a:r>
            <a:r>
              <a:rPr lang="en-US" altLang="zh-CN" sz="2000" dirty="0">
                <a:latin typeface="Microsoft YaHei" panose="020B0503020204020204" pitchFamily="34" charset="-122"/>
                <a:ea typeface="Microsoft YaHei" panose="020B0503020204020204" pitchFamily="34" charset="-122"/>
              </a:rPr>
              <a:t>XY</a:t>
            </a:r>
            <a:r>
              <a:rPr lang="zh-CN" altLang="en-US" sz="2000" b="1" dirty="0"/>
              <a:t> → </a:t>
            </a:r>
            <a:r>
              <a:rPr lang="en-US" altLang="zh-CN" sz="2000" dirty="0">
                <a:latin typeface="Microsoft YaHei" panose="020B0503020204020204" pitchFamily="34" charset="-122"/>
                <a:ea typeface="Microsoft YaHei" panose="020B0503020204020204" pitchFamily="34" charset="-122"/>
                <a:sym typeface="Wingdings" panose="05000000000000000000" pitchFamily="2" charset="2"/>
              </a:rPr>
              <a:t>YZ  (A2)</a:t>
            </a:r>
          </a:p>
          <a:p>
            <a:pPr eaLnBrk="1" hangingPunct="1">
              <a:buNone/>
            </a:pPr>
            <a:r>
              <a:rPr lang="en-US" altLang="zh-CN" sz="2000" dirty="0">
                <a:latin typeface="Microsoft YaHei" panose="020B0503020204020204" pitchFamily="34" charset="-122"/>
                <a:ea typeface="Microsoft YaHei" panose="020B0503020204020204" pitchFamily="34" charset="-122"/>
                <a:sym typeface="Wingdings" panose="05000000000000000000" pitchFamily="2" charset="2"/>
              </a:rPr>
              <a:t>              </a:t>
            </a:r>
            <a:r>
              <a:rPr lang="en-US" altLang="zh-CN" sz="2000" dirty="0">
                <a:solidFill>
                  <a:srgbClr val="000000"/>
                </a:solidFill>
                <a:latin typeface="Microsoft YaHei" panose="020B0503020204020204" pitchFamily="34" charset="-122"/>
                <a:ea typeface="Microsoft YaHei" panose="020B0503020204020204" pitchFamily="34" charset="-122"/>
                <a:sym typeface="Wingdings" panose="05000000000000000000" pitchFamily="2" charset="2"/>
              </a:rPr>
              <a:t>∴ </a:t>
            </a:r>
            <a:r>
              <a:rPr lang="en-US" altLang="zh-CN" sz="2000" dirty="0">
                <a:latin typeface="Microsoft YaHei" panose="020B0503020204020204" pitchFamily="34" charset="-122"/>
                <a:ea typeface="Microsoft YaHei" panose="020B0503020204020204" pitchFamily="34" charset="-122"/>
              </a:rPr>
              <a:t>X</a:t>
            </a:r>
            <a:r>
              <a:rPr lang="zh-CN" altLang="en-US" sz="2000" b="1" dirty="0"/>
              <a:t> → </a:t>
            </a:r>
            <a:r>
              <a:rPr lang="en-US" altLang="zh-CN" sz="2000" dirty="0">
                <a:latin typeface="Microsoft YaHei" panose="020B0503020204020204" pitchFamily="34" charset="-122"/>
                <a:ea typeface="Microsoft YaHei" panose="020B0503020204020204" pitchFamily="34" charset="-122"/>
                <a:sym typeface="Wingdings" panose="05000000000000000000" pitchFamily="2" charset="2"/>
              </a:rPr>
              <a:t>YZ  (A3)</a:t>
            </a:r>
          </a:p>
        </p:txBody>
      </p:sp>
      <p:sp>
        <p:nvSpPr>
          <p:cNvPr id="5" name="标题 4">
            <a:extLst>
              <a:ext uri="{FF2B5EF4-FFF2-40B4-BE49-F238E27FC236}">
                <a16:creationId xmlns:a16="http://schemas.microsoft.com/office/drawing/2014/main" id="{4A10AC18-F5C2-F4FE-318F-C3028C765D2D}"/>
              </a:ext>
            </a:extLst>
          </p:cNvPr>
          <p:cNvSpPr>
            <a:spLocks noGrp="1"/>
          </p:cNvSpPr>
          <p:nvPr>
            <p:ph type="title"/>
          </p:nvPr>
        </p:nvSpPr>
        <p:spPr/>
        <p:txBody>
          <a:bodyPr/>
          <a:lstStyle/>
          <a:p>
            <a:r>
              <a:rPr lang="zh-CN" altLang="en-US" dirty="0"/>
              <a:t>阿氏公理</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noChangeArrowheads="1"/>
          </p:cNvSpPr>
          <p:nvPr>
            <p:custDataLst>
              <p:tags r:id="rId1"/>
            </p:custDataLst>
          </p:nvPr>
        </p:nvSpPr>
        <p:spPr>
          <a:xfrm>
            <a:off x="886455" y="1551768"/>
            <a:ext cx="6858000" cy="2849751"/>
          </a:xfrm>
          <a:prstGeom prst="rect">
            <a:avLst/>
          </a:prstGeom>
          <a:noFill/>
          <a:ln w="9525">
            <a:noFill/>
          </a:ln>
        </p:spPr>
        <p:txBody>
          <a:bodyPr vert="horz" wrap="square" lIns="68580" tIns="34290" rIns="68580" bIns="3429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marL="257175" indent="-257175" defTabSz="685800" eaLnBrk="1" hangingPunct="1">
              <a:defRPr/>
            </a:pP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分解规则： </a:t>
            </a:r>
            <a:r>
              <a:rPr lang="zh-CN" altLang="en-US" sz="1800" kern="0" dirty="0">
                <a:solidFill>
                  <a:srgbClr val="000000"/>
                </a:solidFill>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Y⊆YZ  </a:t>
            </a:r>
            <a:r>
              <a:rPr lang="en-US" altLang="zh-CN" sz="1800" kern="0" dirty="0">
                <a:solidFill>
                  <a:srgbClr val="000000"/>
                </a:solidFill>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 YZ</a:t>
            </a:r>
            <a:r>
              <a:rPr lang="zh-CN" altLang="en-US" sz="1800" b="1" dirty="0"/>
              <a:t> →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Y  (A1)</a:t>
            </a:r>
          </a:p>
          <a:p>
            <a:pPr marL="257175" indent="-257175" defTabSz="685800" eaLnBrk="1" hangingPunct="1">
              <a:buNone/>
              <a:defRPr/>
            </a:pP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           </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又</a:t>
            </a:r>
            <a:r>
              <a:rPr lang="zh-CN" altLang="en-US" sz="1800" kern="0" dirty="0">
                <a:solidFill>
                  <a:srgbClr val="000000"/>
                </a:solidFill>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X</a:t>
            </a:r>
            <a:r>
              <a:rPr lang="zh-CN" altLang="en-US" sz="1800" b="1" dirty="0"/>
              <a:t> →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YZ(</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已知）  </a:t>
            </a:r>
            <a:r>
              <a:rPr lang="zh-CN" altLang="en-US" sz="1800" kern="0" dirty="0">
                <a:solidFill>
                  <a:srgbClr val="000000"/>
                </a:solidFill>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X</a:t>
            </a:r>
            <a:r>
              <a:rPr lang="zh-CN" altLang="en-US" sz="1800" b="1" dirty="0"/>
              <a:t> →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Y  (A3)</a:t>
            </a:r>
          </a:p>
          <a:p>
            <a:pPr marL="257175" indent="-257175" defTabSz="685800" eaLnBrk="1" hangingPunct="1">
              <a:buNone/>
              <a:defRPr/>
            </a:pP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           </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同理可证</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X</a:t>
            </a:r>
            <a:r>
              <a:rPr lang="zh-CN" altLang="en-US" sz="1800" b="1" dirty="0"/>
              <a:t> →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Z</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a:t>
            </a:r>
          </a:p>
          <a:p>
            <a:pPr marL="257175" indent="-257175" defTabSz="685800" eaLnBrk="1" hangingPunct="1">
              <a:defRPr/>
            </a:pP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rPr>
              <a:t>伪传递规则：</a:t>
            </a:r>
            <a:r>
              <a:rPr lang="zh-CN" altLang="en-US" sz="1800" kern="0" dirty="0">
                <a:solidFill>
                  <a:srgbClr val="000000"/>
                </a:solidFill>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X</a:t>
            </a:r>
            <a:r>
              <a:rPr lang="zh-CN" altLang="en-US" sz="1800" b="1" dirty="0"/>
              <a:t> →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Y   </a:t>
            </a:r>
            <a:r>
              <a:rPr lang="en-US" altLang="zh-CN" sz="1800" kern="0" dirty="0">
                <a:solidFill>
                  <a:srgbClr val="000000"/>
                </a:solidFill>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 W</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X</a:t>
            </a:r>
            <a:r>
              <a:rPr lang="zh-CN" altLang="en-US" sz="1800" b="1" dirty="0"/>
              <a:t> →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WY  (A2)</a:t>
            </a:r>
          </a:p>
          <a:p>
            <a:pPr marL="257175" indent="-257175" defTabSz="685800" eaLnBrk="1" hangingPunct="1">
              <a:buNone/>
              <a:defRPr/>
            </a:pP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            </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又</a:t>
            </a:r>
            <a:r>
              <a:rPr lang="zh-CN" altLang="en-US" sz="1800" kern="0" dirty="0">
                <a:solidFill>
                  <a:srgbClr val="000000"/>
                </a:solidFill>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WY</a:t>
            </a:r>
            <a:r>
              <a:rPr lang="zh-CN" altLang="en-US" sz="1800" b="1" dirty="0"/>
              <a:t> →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Z  (</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已知</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 </a:t>
            </a:r>
          </a:p>
          <a:p>
            <a:pPr marL="257175" indent="-257175" defTabSz="685800" eaLnBrk="1" hangingPunct="1">
              <a:buNone/>
              <a:defRPr/>
            </a:pP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              </a:t>
            </a:r>
            <a:r>
              <a:rPr lang="en-US" altLang="zh-CN" sz="1800" kern="0" dirty="0">
                <a:solidFill>
                  <a:srgbClr val="000000"/>
                </a:solidFill>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 W</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X</a:t>
            </a:r>
            <a:r>
              <a:rPr lang="zh-CN" altLang="en-US" sz="1800" b="1" dirty="0"/>
              <a:t> →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Z  (A3)</a:t>
            </a:r>
          </a:p>
          <a:p>
            <a:pPr marL="257175" indent="-257175" defTabSz="685800" eaLnBrk="1" hangingPunct="1">
              <a:buNone/>
              <a:defRPr/>
            </a:pPr>
            <a:endPar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endParaRPr>
          </a:p>
          <a:p>
            <a:pPr marL="0" indent="0" defTabSz="685800" eaLnBrk="1" hangingPunct="1">
              <a:lnSpc>
                <a:spcPct val="150000"/>
              </a:lnSpc>
              <a:buNone/>
              <a:defRPr/>
            </a:pPr>
            <a:r>
              <a:rPr lang="zh-CN" altLang="en-US" sz="1800" kern="0" dirty="0">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定理</a:t>
            </a:r>
            <a:r>
              <a:rPr lang="en-US" altLang="zh-CN" sz="1800" kern="0" dirty="0">
                <a:solidFill>
                  <a:schemeClr val="hlink"/>
                </a:solidFill>
                <a:latin typeface="Microsoft YaHei" panose="020B0503020204020204" pitchFamily="34" charset="-122"/>
                <a:ea typeface="Microsoft YaHei" panose="020B0503020204020204" pitchFamily="34" charset="-122"/>
                <a:cs typeface="楷体" panose="02010609060101010101" pitchFamily="49" charset="-122"/>
              </a:rPr>
              <a:t>4.4: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rPr>
              <a:t>X</a:t>
            </a:r>
            <a:r>
              <a:rPr lang="zh-CN" altLang="en-US" sz="1800" b="1" dirty="0"/>
              <a:t> →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A</a:t>
            </a:r>
            <a:r>
              <a:rPr lang="en-US" altLang="zh-CN" sz="1800" kern="0" baseline="-2500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1</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A</a:t>
            </a:r>
            <a:r>
              <a:rPr lang="en-US" altLang="zh-CN" sz="1800" kern="0" baseline="-2500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2</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…A</a:t>
            </a:r>
            <a:r>
              <a:rPr lang="en-US" altLang="zh-CN" sz="1800" kern="0" baseline="-2500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K</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成立的充分必要条件是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X</a:t>
            </a:r>
            <a:r>
              <a:rPr lang="zh-CN" altLang="en-US" sz="1800" b="1" dirty="0"/>
              <a:t> → </a:t>
            </a:r>
            <a:r>
              <a:rPr lang="en-US" altLang="zh-CN"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A</a:t>
            </a:r>
            <a:r>
              <a:rPr lang="en-US" altLang="zh-CN" sz="1800" kern="0" baseline="-2500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i </a:t>
            </a:r>
            <a:r>
              <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sym typeface="Wingdings" panose="05000000000000000000" pitchFamily="2" charset="2"/>
              </a:rPr>
              <a:t>成立。</a:t>
            </a:r>
          </a:p>
          <a:p>
            <a:pPr marL="257175" indent="-257175" defTabSz="685800" eaLnBrk="1" hangingPunct="1">
              <a:defRPr/>
            </a:pPr>
            <a:endPar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endParaRPr>
          </a:p>
          <a:p>
            <a:pPr marL="257175" indent="-257175" defTabSz="685800" eaLnBrk="1" hangingPunct="1">
              <a:buNone/>
              <a:defRPr/>
            </a:pPr>
            <a:endParaRPr lang="zh-CN" altLang="en-US" sz="1800" kern="0" dirty="0">
              <a:latin typeface="Microsoft YaHei" panose="020B0503020204020204" pitchFamily="34" charset="-122"/>
              <a:ea typeface="Microsoft YaHei" panose="020B0503020204020204" pitchFamily="34" charset="-122"/>
              <a:cs typeface="楷体" panose="02010609060101010101" pitchFamily="49" charset="-122"/>
            </a:endParaRPr>
          </a:p>
        </p:txBody>
      </p:sp>
      <p:sp>
        <p:nvSpPr>
          <p:cNvPr id="5" name="标题 4">
            <a:extLst>
              <a:ext uri="{FF2B5EF4-FFF2-40B4-BE49-F238E27FC236}">
                <a16:creationId xmlns:a16="http://schemas.microsoft.com/office/drawing/2014/main" id="{41EF7D00-832C-ED16-DDC4-E3955F2C17DF}"/>
              </a:ext>
            </a:extLst>
          </p:cNvPr>
          <p:cNvSpPr>
            <a:spLocks noGrp="1"/>
          </p:cNvSpPr>
          <p:nvPr>
            <p:ph type="title"/>
          </p:nvPr>
        </p:nvSpPr>
        <p:spPr/>
        <p:txBody>
          <a:bodyPr/>
          <a:lstStyle/>
          <a:p>
            <a:r>
              <a:rPr lang="zh-CN" altLang="en-US" dirty="0"/>
              <a:t>阿氏公理</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Grp="1"/>
          </p:cNvSpPr>
          <p:nvPr>
            <p:ph idx="1"/>
          </p:nvPr>
        </p:nvSpPr>
        <p:spPr>
          <a:xfrm>
            <a:off x="628650" y="2386750"/>
            <a:ext cx="7886700" cy="2343014"/>
          </a:xfrm>
        </p:spPr>
        <p:txBody>
          <a:bodyPr vert="horz" wrap="square" lIns="68580" tIns="34290" rIns="68580" bIns="34290" rtlCol="0" anchor="t" anchorCtr="0">
            <a:normAutofit/>
          </a:bodyPr>
          <a:lstStyle/>
          <a:p>
            <a:pPr marL="0" indent="0">
              <a:lnSpc>
                <a:spcPct val="120000"/>
              </a:lnSpc>
              <a:buSzPct val="60000"/>
            </a:pPr>
            <a:r>
              <a:rPr lang="zh-CN" altLang="en-US" sz="1500" b="1" dirty="0">
                <a:solidFill>
                  <a:schemeClr val="folHlink"/>
                </a:solidFill>
              </a:rPr>
              <a:t> </a:t>
            </a:r>
            <a:r>
              <a:rPr lang="zh-CN" altLang="en-US" sz="1800" b="1" dirty="0">
                <a:solidFill>
                  <a:schemeClr val="folHlink"/>
                </a:solidFill>
              </a:rPr>
              <a:t>函数依赖集闭包</a:t>
            </a:r>
          </a:p>
          <a:p>
            <a:pPr marL="0" indent="0">
              <a:lnSpc>
                <a:spcPct val="120000"/>
              </a:lnSpc>
              <a:buSzPct val="60000"/>
            </a:pPr>
            <a:r>
              <a:rPr lang="zh-CN" altLang="en-US" sz="1800" b="1" dirty="0"/>
              <a:t> </a:t>
            </a:r>
            <a:r>
              <a:rPr lang="zh-CN" altLang="en-US" sz="1800" dirty="0"/>
              <a:t>在</a:t>
            </a:r>
            <a:r>
              <a:rPr lang="en-US" altLang="zh-CN" sz="1800" dirty="0"/>
              <a:t>R&lt;U</a:t>
            </a:r>
            <a:r>
              <a:rPr lang="zh-CN" altLang="en-US" sz="1800" dirty="0"/>
              <a:t>，</a:t>
            </a:r>
            <a:r>
              <a:rPr lang="en-US" altLang="zh-CN" sz="1800" dirty="0"/>
              <a:t>F&gt; </a:t>
            </a:r>
            <a:r>
              <a:rPr lang="zh-CN" altLang="en-US" sz="1800" dirty="0"/>
              <a:t>中为</a:t>
            </a:r>
            <a:r>
              <a:rPr lang="en-US" altLang="zh-CN" sz="1800" dirty="0"/>
              <a:t>F</a:t>
            </a:r>
            <a:r>
              <a:rPr lang="zh-CN" altLang="en-US" sz="1800" dirty="0"/>
              <a:t>所逻辑蕴含的函数依赖全体叫</a:t>
            </a:r>
            <a:r>
              <a:rPr lang="en-US" altLang="zh-CN" sz="1800" dirty="0">
                <a:solidFill>
                  <a:schemeClr val="hlink"/>
                </a:solidFill>
              </a:rPr>
              <a:t>F</a:t>
            </a:r>
            <a:r>
              <a:rPr lang="zh-CN" altLang="en-US" sz="1800" dirty="0">
                <a:solidFill>
                  <a:schemeClr val="hlink"/>
                </a:solidFill>
              </a:rPr>
              <a:t>的闭包</a:t>
            </a:r>
            <a:r>
              <a:rPr lang="zh-CN" altLang="en-US" sz="1800" dirty="0"/>
              <a:t>，记为：</a:t>
            </a:r>
            <a:r>
              <a:rPr lang="en-US" altLang="zh-CN" sz="1800" dirty="0"/>
              <a:t>F</a:t>
            </a:r>
            <a:r>
              <a:rPr lang="en-US" altLang="zh-CN" sz="1800" baseline="30000" dirty="0"/>
              <a:t>+</a:t>
            </a:r>
            <a:r>
              <a:rPr lang="zh-CN" altLang="en-US" sz="1800" dirty="0"/>
              <a:t>。</a:t>
            </a:r>
          </a:p>
          <a:p>
            <a:pPr marL="0" indent="0">
              <a:lnSpc>
                <a:spcPct val="120000"/>
              </a:lnSpc>
              <a:buSzPct val="60000"/>
              <a:buNone/>
            </a:pPr>
            <a:r>
              <a:rPr lang="zh-CN" altLang="en-US" sz="1800" dirty="0"/>
              <a:t>   </a:t>
            </a:r>
            <a:r>
              <a:rPr lang="en-US" altLang="zh-CN" sz="1800" dirty="0"/>
              <a:t>F</a:t>
            </a:r>
            <a:r>
              <a:rPr lang="en-US" altLang="zh-CN" sz="1800" baseline="30000" dirty="0"/>
              <a:t>+</a:t>
            </a:r>
            <a:r>
              <a:rPr lang="en-US" altLang="zh-CN" sz="1800" dirty="0"/>
              <a:t>= { </a:t>
            </a:r>
            <a:r>
              <a:rPr lang="en-US" altLang="zh-CN" sz="1800" dirty="0">
                <a:solidFill>
                  <a:schemeClr val="hlink"/>
                </a:solidFill>
              </a:rPr>
              <a:t>①</a:t>
            </a:r>
            <a:r>
              <a:rPr lang="en-US" altLang="zh-CN" sz="1800" dirty="0"/>
              <a:t> F</a:t>
            </a:r>
            <a:r>
              <a:rPr lang="zh-CN" altLang="en-US" sz="1800" dirty="0"/>
              <a:t>；</a:t>
            </a:r>
          </a:p>
          <a:p>
            <a:pPr marL="0" indent="0">
              <a:lnSpc>
                <a:spcPct val="120000"/>
              </a:lnSpc>
              <a:buSzPct val="60000"/>
              <a:buNone/>
            </a:pPr>
            <a:r>
              <a:rPr lang="zh-CN" altLang="en-US" sz="1800" dirty="0"/>
              <a:t>       </a:t>
            </a:r>
            <a:r>
              <a:rPr lang="en-US" altLang="zh-CN" sz="1800" dirty="0"/>
              <a:t> </a:t>
            </a:r>
            <a:r>
              <a:rPr lang="zh-CN" altLang="en-US" sz="1800" dirty="0"/>
              <a:t> </a:t>
            </a:r>
            <a:r>
              <a:rPr lang="zh-CN" altLang="en-US" sz="1800" dirty="0">
                <a:solidFill>
                  <a:schemeClr val="hlink"/>
                </a:solidFill>
              </a:rPr>
              <a:t>② </a:t>
            </a:r>
            <a:r>
              <a:rPr lang="en-US" altLang="zh-CN" sz="1800" dirty="0"/>
              <a:t>F</a:t>
            </a:r>
            <a:r>
              <a:rPr lang="zh-CN" altLang="en-US" sz="1800" dirty="0"/>
              <a:t>中推出的非平凡的函数依赖；</a:t>
            </a:r>
          </a:p>
          <a:p>
            <a:pPr marL="0" indent="0">
              <a:lnSpc>
                <a:spcPct val="120000"/>
              </a:lnSpc>
              <a:buSzPct val="60000"/>
              <a:buNone/>
            </a:pPr>
            <a:r>
              <a:rPr lang="zh-CN" altLang="en-US" sz="1800" dirty="0"/>
              <a:t>         </a:t>
            </a:r>
            <a:r>
              <a:rPr lang="zh-CN" altLang="en-US" sz="1800" dirty="0">
                <a:solidFill>
                  <a:schemeClr val="hlink"/>
                </a:solidFill>
              </a:rPr>
              <a:t>③ </a:t>
            </a:r>
            <a:r>
              <a:rPr lang="zh-CN" altLang="en-US" sz="1800" dirty="0"/>
              <a:t>平凡的函数依赖：</a:t>
            </a:r>
            <a:r>
              <a:rPr lang="en-US" altLang="zh-CN" sz="1800" dirty="0"/>
              <a:t>A</a:t>
            </a:r>
            <a:r>
              <a:rPr lang="zh-CN" altLang="en-US" sz="1800" b="1" dirty="0"/>
              <a:t> → ∅</a:t>
            </a:r>
            <a:r>
              <a:rPr lang="zh-CN" altLang="en-US" sz="1800" dirty="0"/>
              <a:t>、</a:t>
            </a:r>
            <a:r>
              <a:rPr lang="en-US" altLang="zh-CN" sz="1800" dirty="0"/>
              <a:t>A</a:t>
            </a:r>
            <a:r>
              <a:rPr lang="zh-CN" altLang="en-US" sz="1800" b="1" dirty="0"/>
              <a:t> → </a:t>
            </a:r>
            <a:r>
              <a:rPr lang="en-US" altLang="zh-CN" sz="1800" dirty="0"/>
              <a:t>A</a:t>
            </a:r>
            <a:r>
              <a:rPr lang="zh-CN" altLang="en-US" sz="1800" dirty="0"/>
              <a:t>、</a:t>
            </a:r>
            <a:r>
              <a:rPr lang="en-US" altLang="zh-CN" sz="1800" dirty="0"/>
              <a:t>AB</a:t>
            </a:r>
            <a:r>
              <a:rPr lang="zh-CN" altLang="en-US" sz="1800" b="1" dirty="0"/>
              <a:t> → </a:t>
            </a:r>
            <a:r>
              <a:rPr lang="en-US" altLang="zh-CN" sz="1800" dirty="0"/>
              <a:t>A….. } </a:t>
            </a:r>
          </a:p>
          <a:p>
            <a:pPr marL="0" indent="0">
              <a:buSzPct val="60000"/>
            </a:pPr>
            <a:endParaRPr lang="zh-CN" altLang="en-US" sz="2400" b="1" dirty="0"/>
          </a:p>
        </p:txBody>
      </p:sp>
      <p:sp>
        <p:nvSpPr>
          <p:cNvPr id="60419" name="Text Box 4"/>
          <p:cNvSpPr txBox="1"/>
          <p:nvPr/>
        </p:nvSpPr>
        <p:spPr>
          <a:xfrm>
            <a:off x="1250885" y="1269058"/>
            <a:ext cx="7099459" cy="923330"/>
          </a:xfrm>
          <a:prstGeom prst="rect">
            <a:avLst/>
          </a:prstGeom>
          <a:noFill/>
          <a:ln w="9525">
            <a:noFill/>
          </a:ln>
        </p:spPr>
        <p:txBody>
          <a:bodyPr wrap="square" anchor="t" anchorCtr="0">
            <a:spAutoFit/>
          </a:bodyPr>
          <a:lstStyle/>
          <a:p>
            <a:pPr eaLnBrk="0" hangingPunct="0"/>
            <a:r>
              <a:rPr lang="zh-CN" altLang="en-US" sz="1350"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  有了上述推理规则，对一个给定的函数依赖集</a:t>
            </a:r>
            <a:r>
              <a:rPr lang="en-US" altLang="zh-CN" dirty="0">
                <a:latin typeface="Microsoft YaHei" panose="020B0503020204020204" pitchFamily="34" charset="-122"/>
                <a:ea typeface="Microsoft YaHei" panose="020B0503020204020204" pitchFamily="34" charset="-122"/>
              </a:rPr>
              <a:t>F</a:t>
            </a:r>
            <a:r>
              <a:rPr lang="zh-CN" altLang="en-US" dirty="0">
                <a:latin typeface="Microsoft YaHei" panose="020B0503020204020204" pitchFamily="34" charset="-122"/>
                <a:ea typeface="Microsoft YaHei" panose="020B0503020204020204" pitchFamily="34" charset="-122"/>
              </a:rPr>
              <a:t>，我们自然希望知道哪些函数依赖可由</a:t>
            </a:r>
            <a:r>
              <a:rPr lang="en-US" altLang="zh-CN" dirty="0">
                <a:latin typeface="Microsoft YaHei" panose="020B0503020204020204" pitchFamily="34" charset="-122"/>
                <a:ea typeface="Microsoft YaHei" panose="020B0503020204020204" pitchFamily="34" charset="-122"/>
              </a:rPr>
              <a:t>F</a:t>
            </a:r>
            <a:r>
              <a:rPr lang="zh-CN" altLang="en-US" dirty="0">
                <a:latin typeface="Microsoft YaHei" panose="020B0503020204020204" pitchFamily="34" charset="-122"/>
                <a:ea typeface="Microsoft YaHei" panose="020B0503020204020204" pitchFamily="34" charset="-122"/>
              </a:rPr>
              <a:t>推出，哪些不能由</a:t>
            </a:r>
            <a:r>
              <a:rPr lang="en-US" altLang="zh-CN" dirty="0">
                <a:latin typeface="Microsoft YaHei" panose="020B0503020204020204" pitchFamily="34" charset="-122"/>
                <a:ea typeface="Microsoft YaHei" panose="020B0503020204020204" pitchFamily="34" charset="-122"/>
              </a:rPr>
              <a:t>F</a:t>
            </a:r>
            <a:r>
              <a:rPr lang="zh-CN" altLang="en-US" dirty="0">
                <a:latin typeface="Microsoft YaHei" panose="020B0503020204020204" pitchFamily="34" charset="-122"/>
                <a:ea typeface="Microsoft YaHei" panose="020B0503020204020204" pitchFamily="34" charset="-122"/>
              </a:rPr>
              <a:t>推出，由</a:t>
            </a:r>
            <a:r>
              <a:rPr lang="en-US" altLang="zh-CN" dirty="0">
                <a:latin typeface="Microsoft YaHei" panose="020B0503020204020204" pitchFamily="34" charset="-122"/>
                <a:ea typeface="Microsoft YaHei" panose="020B0503020204020204" pitchFamily="34" charset="-122"/>
              </a:rPr>
              <a:t>F</a:t>
            </a:r>
            <a:r>
              <a:rPr lang="zh-CN" altLang="en-US" dirty="0">
                <a:latin typeface="Microsoft YaHei" panose="020B0503020204020204" pitchFamily="34" charset="-122"/>
                <a:ea typeface="Microsoft YaHei" panose="020B0503020204020204" pitchFamily="34" charset="-122"/>
              </a:rPr>
              <a:t>能推出的函数依赖有多少等。</a:t>
            </a:r>
          </a:p>
        </p:txBody>
      </p:sp>
      <p:sp>
        <p:nvSpPr>
          <p:cNvPr id="3" name="标题 2">
            <a:extLst>
              <a:ext uri="{FF2B5EF4-FFF2-40B4-BE49-F238E27FC236}">
                <a16:creationId xmlns:a16="http://schemas.microsoft.com/office/drawing/2014/main" id="{7841BE35-3CD9-2980-9461-91FAEAB45609}"/>
              </a:ext>
            </a:extLst>
          </p:cNvPr>
          <p:cNvSpPr>
            <a:spLocks noGrp="1"/>
          </p:cNvSpPr>
          <p:nvPr>
            <p:ph type="title"/>
          </p:nvPr>
        </p:nvSpPr>
        <p:spPr/>
        <p:txBody>
          <a:bodyPr/>
          <a:lstStyle/>
          <a:p>
            <a:r>
              <a:rPr lang="zh-CN" altLang="en-US" dirty="0"/>
              <a:t>函数依赖集闭包</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Grp="1"/>
          </p:cNvSpPr>
          <p:nvPr>
            <p:ph idx="1"/>
          </p:nvPr>
        </p:nvSpPr>
        <p:spPr/>
        <p:txBody>
          <a:bodyPr vert="horz" wrap="square" lIns="68580" tIns="34290" rIns="68580" bIns="34290" rtlCol="0" anchor="t" anchorCtr="0">
            <a:normAutofit/>
          </a:bodyPr>
          <a:lstStyle/>
          <a:p>
            <a:pPr marL="0" indent="0">
              <a:buSzPct val="60000"/>
              <a:buNone/>
            </a:pPr>
            <a:r>
              <a:rPr lang="en-US" altLang="zh-CN" sz="1800" b="1" dirty="0">
                <a:solidFill>
                  <a:schemeClr val="hlink"/>
                </a:solidFill>
              </a:rPr>
              <a:t>【</a:t>
            </a:r>
            <a:r>
              <a:rPr lang="zh-CN" altLang="en-US" sz="1800" b="1" dirty="0">
                <a:solidFill>
                  <a:schemeClr val="hlink"/>
                </a:solidFill>
              </a:rPr>
              <a:t>例</a:t>
            </a:r>
            <a:r>
              <a:rPr lang="en-US" altLang="zh-CN" sz="1800" b="1" dirty="0">
                <a:solidFill>
                  <a:schemeClr val="hlink"/>
                </a:solidFill>
              </a:rPr>
              <a:t>】 </a:t>
            </a:r>
            <a:r>
              <a:rPr lang="zh-CN" altLang="en-US" sz="1800" dirty="0"/>
              <a:t>有关系模式</a:t>
            </a:r>
            <a:r>
              <a:rPr lang="en-US" altLang="zh-CN" sz="1800" dirty="0"/>
              <a:t>R(A</a:t>
            </a:r>
            <a:r>
              <a:rPr lang="zh-CN" altLang="en-US" sz="1800" dirty="0"/>
              <a:t>，</a:t>
            </a:r>
            <a:r>
              <a:rPr lang="en-US" altLang="zh-CN" sz="1800" dirty="0"/>
              <a:t>B</a:t>
            </a:r>
            <a:r>
              <a:rPr lang="zh-CN" altLang="en-US" sz="1800" dirty="0"/>
              <a:t>，</a:t>
            </a:r>
            <a:r>
              <a:rPr lang="en-US" altLang="zh-CN" sz="1800" dirty="0"/>
              <a:t>C)</a:t>
            </a:r>
            <a:r>
              <a:rPr lang="zh-CN" altLang="en-US" sz="1800" dirty="0"/>
              <a:t>，它的函依赖集</a:t>
            </a:r>
            <a:endParaRPr lang="en-US" altLang="zh-CN" sz="1800" dirty="0"/>
          </a:p>
          <a:p>
            <a:pPr marL="0" indent="0">
              <a:buSzPct val="60000"/>
              <a:buNone/>
            </a:pPr>
            <a:r>
              <a:rPr lang="en-US" altLang="zh-CN" sz="1800" dirty="0"/>
              <a:t>        </a:t>
            </a:r>
            <a:r>
              <a:rPr lang="zh-CN" altLang="en-US" sz="1800" dirty="0"/>
              <a:t>   </a:t>
            </a:r>
            <a:r>
              <a:rPr lang="en-US" altLang="zh-CN" sz="1800" dirty="0"/>
              <a:t>F={A→B</a:t>
            </a:r>
            <a:r>
              <a:rPr lang="zh-CN" altLang="en-US" sz="1800" dirty="0"/>
              <a:t>，</a:t>
            </a:r>
            <a:r>
              <a:rPr lang="en-US" altLang="zh-CN" sz="1800" dirty="0"/>
              <a:t>B→C}</a:t>
            </a:r>
          </a:p>
          <a:p>
            <a:pPr marL="0" indent="0">
              <a:buSzPct val="60000"/>
              <a:buNone/>
            </a:pPr>
            <a:r>
              <a:rPr lang="en-US" altLang="zh-CN" sz="1800" dirty="0"/>
              <a:t>  </a:t>
            </a:r>
            <a:r>
              <a:rPr lang="zh-CN" altLang="en-US" sz="1800" dirty="0"/>
              <a:t>         计算</a:t>
            </a:r>
            <a:r>
              <a:rPr lang="en-US" altLang="zh-CN" sz="1800" dirty="0"/>
              <a:t>F</a:t>
            </a:r>
            <a:r>
              <a:rPr lang="zh-CN" altLang="en-US" sz="1800" dirty="0"/>
              <a:t>的闭包。</a:t>
            </a:r>
          </a:p>
          <a:p>
            <a:pPr marL="0" indent="0">
              <a:buSzPct val="60000"/>
              <a:buNone/>
            </a:pPr>
            <a:endParaRPr lang="en-US" altLang="zh-CN" sz="1800" dirty="0"/>
          </a:p>
          <a:p>
            <a:pPr marL="0" indent="0">
              <a:buSzPct val="60000"/>
              <a:buNone/>
            </a:pPr>
            <a:r>
              <a:rPr lang="zh-CN" altLang="en-US" sz="1800" b="1" dirty="0"/>
              <a:t>解</a:t>
            </a:r>
            <a:r>
              <a:rPr lang="en-US" altLang="zh-CN" sz="1800" b="1" dirty="0"/>
              <a:t>:</a:t>
            </a:r>
            <a:r>
              <a:rPr lang="zh-CN" altLang="en-US" sz="1800" b="1" dirty="0"/>
              <a:t> </a:t>
            </a:r>
            <a:r>
              <a:rPr lang="en-US" altLang="zh-CN" sz="1800" dirty="0"/>
              <a:t>F</a:t>
            </a:r>
            <a:r>
              <a:rPr lang="en-US" altLang="zh-CN" sz="1800" baseline="30000" dirty="0"/>
              <a:t>+</a:t>
            </a:r>
            <a:r>
              <a:rPr lang="en-US" altLang="zh-CN" sz="1800" dirty="0"/>
              <a:t>={A→B</a:t>
            </a:r>
            <a:r>
              <a:rPr lang="zh-CN" altLang="en-US" sz="1800" dirty="0"/>
              <a:t>，</a:t>
            </a:r>
            <a:r>
              <a:rPr lang="en-US" altLang="zh-CN" sz="1800" dirty="0"/>
              <a:t>B→C,</a:t>
            </a:r>
          </a:p>
          <a:p>
            <a:pPr marL="0" indent="0">
              <a:buSzPct val="60000"/>
              <a:buNone/>
            </a:pPr>
            <a:r>
              <a:rPr lang="en-US" altLang="zh-CN" sz="1800" dirty="0">
                <a:solidFill>
                  <a:srgbClr val="FF0000"/>
                </a:solidFill>
              </a:rPr>
              <a:t>       A→C, </a:t>
            </a:r>
            <a:r>
              <a:rPr lang="zh-CN" altLang="en-US" sz="1800" dirty="0">
                <a:solidFill>
                  <a:srgbClr val="FF0000"/>
                </a:solidFill>
              </a:rPr>
              <a:t> </a:t>
            </a:r>
            <a:r>
              <a:rPr lang="en-US" altLang="zh-CN" sz="1800" dirty="0">
                <a:solidFill>
                  <a:srgbClr val="FF0000"/>
                </a:solidFill>
              </a:rPr>
              <a:t>AC→B, </a:t>
            </a:r>
            <a:r>
              <a:rPr lang="zh-CN" altLang="en-US" sz="1800" dirty="0">
                <a:solidFill>
                  <a:srgbClr val="FF0000"/>
                </a:solidFill>
              </a:rPr>
              <a:t> </a:t>
            </a:r>
            <a:r>
              <a:rPr lang="en-US" altLang="zh-CN" sz="1800" dirty="0">
                <a:solidFill>
                  <a:srgbClr val="FF0000"/>
                </a:solidFill>
              </a:rPr>
              <a:t>AB→C,</a:t>
            </a:r>
          </a:p>
          <a:p>
            <a:pPr marL="0" indent="0">
              <a:buSzPct val="60000"/>
              <a:buNone/>
            </a:pPr>
            <a:r>
              <a:rPr lang="en-US" altLang="zh-CN" sz="1800" dirty="0">
                <a:solidFill>
                  <a:srgbClr val="0070C0"/>
                </a:solidFill>
              </a:rPr>
              <a:t>       </a:t>
            </a:r>
            <a:r>
              <a:rPr lang="en-US" altLang="zh-CN" sz="1800" dirty="0">
                <a:solidFill>
                  <a:srgbClr val="28159B"/>
                </a:solidFill>
              </a:rPr>
              <a:t>A→A,</a:t>
            </a:r>
            <a:r>
              <a:rPr lang="zh-CN" altLang="en-US" sz="1800" dirty="0">
                <a:solidFill>
                  <a:srgbClr val="28159B"/>
                </a:solidFill>
              </a:rPr>
              <a:t> </a:t>
            </a:r>
            <a:r>
              <a:rPr lang="en-US" altLang="zh-CN" sz="1800" dirty="0">
                <a:solidFill>
                  <a:srgbClr val="28159B"/>
                </a:solidFill>
              </a:rPr>
              <a:t>A→</a:t>
            </a:r>
            <a:r>
              <a:rPr lang="zh-CN" altLang="en-US" sz="1800" dirty="0">
                <a:solidFill>
                  <a:srgbClr val="28159B"/>
                </a:solidFill>
              </a:rPr>
              <a:t>∅</a:t>
            </a:r>
            <a:r>
              <a:rPr lang="en-US" altLang="zh-CN" sz="1800" dirty="0">
                <a:solidFill>
                  <a:srgbClr val="28159B"/>
                </a:solidFill>
              </a:rPr>
              <a:t>,</a:t>
            </a:r>
            <a:r>
              <a:rPr lang="zh-CN" altLang="en-US" sz="1800" dirty="0">
                <a:solidFill>
                  <a:srgbClr val="28159B"/>
                </a:solidFill>
              </a:rPr>
              <a:t> </a:t>
            </a:r>
            <a:r>
              <a:rPr lang="en-US" altLang="zh-CN" sz="1800" dirty="0">
                <a:solidFill>
                  <a:srgbClr val="28159B"/>
                </a:solidFill>
              </a:rPr>
              <a:t>B→</a:t>
            </a:r>
            <a:r>
              <a:rPr lang="zh-CN" altLang="en-US" sz="1800" dirty="0">
                <a:solidFill>
                  <a:srgbClr val="28159B"/>
                </a:solidFill>
              </a:rPr>
              <a:t> ∅</a:t>
            </a:r>
            <a:r>
              <a:rPr lang="en-US" altLang="zh-CN" sz="1800" dirty="0">
                <a:solidFill>
                  <a:srgbClr val="28159B"/>
                </a:solidFill>
              </a:rPr>
              <a:t>,</a:t>
            </a:r>
            <a:r>
              <a:rPr lang="zh-CN" altLang="en-US" sz="1800" dirty="0">
                <a:solidFill>
                  <a:srgbClr val="28159B"/>
                </a:solidFill>
              </a:rPr>
              <a:t> </a:t>
            </a:r>
            <a:r>
              <a:rPr lang="en-US" altLang="zh-CN" sz="1800" dirty="0">
                <a:solidFill>
                  <a:srgbClr val="28159B"/>
                </a:solidFill>
              </a:rPr>
              <a:t>C→</a:t>
            </a:r>
            <a:r>
              <a:rPr lang="zh-CN" altLang="en-US" sz="1800" dirty="0">
                <a:solidFill>
                  <a:srgbClr val="28159B"/>
                </a:solidFill>
              </a:rPr>
              <a:t> ∅</a:t>
            </a:r>
            <a:r>
              <a:rPr lang="en-US" altLang="zh-CN" sz="1800" dirty="0">
                <a:solidFill>
                  <a:srgbClr val="28159B"/>
                </a:solidFill>
              </a:rPr>
              <a:t>,</a:t>
            </a:r>
            <a:r>
              <a:rPr lang="zh-CN" altLang="en-US" sz="1800" dirty="0">
                <a:solidFill>
                  <a:srgbClr val="28159B"/>
                </a:solidFill>
              </a:rPr>
              <a:t> </a:t>
            </a:r>
            <a:r>
              <a:rPr lang="en-US" altLang="zh-CN" sz="1800" dirty="0">
                <a:solidFill>
                  <a:srgbClr val="28159B"/>
                </a:solidFill>
              </a:rPr>
              <a:t>B→B,</a:t>
            </a:r>
            <a:r>
              <a:rPr lang="zh-CN" altLang="en-US" sz="1800" dirty="0">
                <a:solidFill>
                  <a:srgbClr val="28159B"/>
                </a:solidFill>
              </a:rPr>
              <a:t> </a:t>
            </a:r>
            <a:r>
              <a:rPr lang="en-US" altLang="zh-CN" sz="1800" dirty="0">
                <a:solidFill>
                  <a:srgbClr val="28159B"/>
                </a:solidFill>
              </a:rPr>
              <a:t>C→C,</a:t>
            </a:r>
            <a:r>
              <a:rPr lang="zh-CN" altLang="en-US" sz="1800" dirty="0">
                <a:solidFill>
                  <a:srgbClr val="28159B"/>
                </a:solidFill>
              </a:rPr>
              <a:t> </a:t>
            </a:r>
            <a:r>
              <a:rPr lang="en-US" altLang="zh-CN" sz="1800" dirty="0">
                <a:solidFill>
                  <a:srgbClr val="28159B"/>
                </a:solidFill>
              </a:rPr>
              <a:t>AB→A,</a:t>
            </a:r>
            <a:r>
              <a:rPr lang="zh-CN" altLang="en-US" sz="1800" dirty="0">
                <a:solidFill>
                  <a:srgbClr val="28159B"/>
                </a:solidFill>
              </a:rPr>
              <a:t> </a:t>
            </a:r>
            <a:r>
              <a:rPr lang="en-US" altLang="zh-CN" sz="1800" dirty="0">
                <a:solidFill>
                  <a:srgbClr val="28159B"/>
                </a:solidFill>
              </a:rPr>
              <a:t>AB→B,</a:t>
            </a:r>
          </a:p>
          <a:p>
            <a:pPr marL="0" indent="0">
              <a:buSzPct val="60000"/>
              <a:buNone/>
            </a:pPr>
            <a:r>
              <a:rPr lang="en-US" altLang="zh-CN" sz="1800" dirty="0">
                <a:solidFill>
                  <a:srgbClr val="28159B"/>
                </a:solidFill>
              </a:rPr>
              <a:t>       AB→AB,</a:t>
            </a:r>
            <a:r>
              <a:rPr lang="zh-CN" altLang="en-US" sz="1800" dirty="0">
                <a:solidFill>
                  <a:srgbClr val="28159B"/>
                </a:solidFill>
              </a:rPr>
              <a:t> </a:t>
            </a:r>
            <a:r>
              <a:rPr lang="en-US" altLang="zh-CN" sz="1800" dirty="0">
                <a:solidFill>
                  <a:srgbClr val="28159B"/>
                </a:solidFill>
              </a:rPr>
              <a:t>ABC→A,</a:t>
            </a:r>
            <a:r>
              <a:rPr lang="zh-CN" altLang="en-US" sz="1800" dirty="0">
                <a:solidFill>
                  <a:srgbClr val="28159B"/>
                </a:solidFill>
              </a:rPr>
              <a:t> </a:t>
            </a:r>
            <a:r>
              <a:rPr lang="en-US" altLang="zh-CN" sz="1800" dirty="0">
                <a:solidFill>
                  <a:srgbClr val="28159B"/>
                </a:solidFill>
              </a:rPr>
              <a:t>ABC→B,</a:t>
            </a:r>
            <a:r>
              <a:rPr lang="zh-CN" altLang="en-US" sz="1800" dirty="0">
                <a:solidFill>
                  <a:srgbClr val="28159B"/>
                </a:solidFill>
              </a:rPr>
              <a:t> </a:t>
            </a:r>
            <a:r>
              <a:rPr lang="en-US" altLang="zh-CN" sz="1800" dirty="0">
                <a:solidFill>
                  <a:srgbClr val="28159B"/>
                </a:solidFill>
              </a:rPr>
              <a:t>ABC→C……</a:t>
            </a:r>
            <a:r>
              <a:rPr lang="en-US" altLang="zh-CN" sz="1800" dirty="0"/>
              <a:t>}</a:t>
            </a:r>
            <a:endParaRPr lang="zh-CN" altLang="en-US" sz="1800" dirty="0"/>
          </a:p>
        </p:txBody>
      </p:sp>
      <p:sp>
        <p:nvSpPr>
          <p:cNvPr id="3" name="标题 2">
            <a:extLst>
              <a:ext uri="{FF2B5EF4-FFF2-40B4-BE49-F238E27FC236}">
                <a16:creationId xmlns:a16="http://schemas.microsoft.com/office/drawing/2014/main" id="{C6EA2162-F61C-73AC-95F4-9E778CB98B74}"/>
              </a:ext>
            </a:extLst>
          </p:cNvPr>
          <p:cNvSpPr>
            <a:spLocks noGrp="1"/>
          </p:cNvSpPr>
          <p:nvPr>
            <p:ph type="title"/>
          </p:nvPr>
        </p:nvSpPr>
        <p:spPr/>
        <p:txBody>
          <a:bodyPr/>
          <a:lstStyle/>
          <a:p>
            <a:r>
              <a:rPr lang="zh-CN" altLang="en-US" dirty="0"/>
              <a:t>函数依赖集闭包</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idx="1"/>
          </p:nvPr>
        </p:nvSpPr>
        <p:spPr/>
        <p:txBody>
          <a:bodyPr vert="horz" wrap="square" lIns="68580" tIns="34290" rIns="68580" bIns="34290" numCol="1" rtlCol="0" anchor="t" anchorCtr="0" compatLnSpc="1">
            <a:normAutofit fontScale="85000" lnSpcReduction="20000"/>
          </a:bodyPr>
          <a:lstStyle/>
          <a:p>
            <a:pPr marL="257175" indent="-257175" defTabSz="685800" fontAlgn="base">
              <a:lnSpc>
                <a:spcPct val="120000"/>
              </a:lnSpc>
              <a:spcBef>
                <a:spcPct val="20000"/>
              </a:spcBef>
              <a:spcAft>
                <a:spcPct val="0"/>
              </a:spcAft>
              <a:buClr>
                <a:schemeClr val="folHlink"/>
              </a:buClr>
              <a:buSzPct val="60000"/>
              <a:buFont typeface="Wingdings" panose="05000000000000000000" pitchFamily="2" charset="2"/>
              <a:buChar char="n"/>
              <a:defRPr/>
            </a:pPr>
            <a:r>
              <a:rPr lang="zh-CN" altLang="en-US" sz="1800" b="1" kern="0" dirty="0">
                <a:solidFill>
                  <a:schemeClr val="folHlink"/>
                </a:solidFill>
                <a:cs typeface="楷体" panose="02010609060101010101" pitchFamily="49" charset="-122"/>
              </a:rPr>
              <a:t>属性集闭包定义</a:t>
            </a:r>
            <a:r>
              <a:rPr lang="en-US" altLang="zh-CN" sz="1800" b="1" kern="0" dirty="0">
                <a:cs typeface="楷体" panose="02010609060101010101" pitchFamily="49" charset="-122"/>
              </a:rPr>
              <a:t>:</a:t>
            </a:r>
          </a:p>
          <a:p>
            <a:pPr marL="257175" indent="-257175" defTabSz="685800" fontAlgn="base">
              <a:lnSpc>
                <a:spcPct val="120000"/>
              </a:lnSpc>
              <a:spcBef>
                <a:spcPct val="20000"/>
              </a:spcBef>
              <a:spcAft>
                <a:spcPct val="0"/>
              </a:spcAft>
              <a:buClr>
                <a:schemeClr val="folHlink"/>
              </a:buClr>
              <a:buSzPct val="60000"/>
              <a:buNone/>
              <a:defRPr/>
            </a:pPr>
            <a:r>
              <a:rPr lang="en-US" altLang="zh-CN" sz="1800" kern="0" dirty="0">
                <a:cs typeface="楷体" panose="02010609060101010101" pitchFamily="49" charset="-122"/>
              </a:rPr>
              <a:t>         X</a:t>
            </a:r>
            <a:r>
              <a:rPr lang="en-US" altLang="zh-CN" sz="1800" kern="0" baseline="-25000" dirty="0">
                <a:cs typeface="楷体" panose="02010609060101010101" pitchFamily="49" charset="-122"/>
              </a:rPr>
              <a:t>F</a:t>
            </a:r>
            <a:r>
              <a:rPr lang="en-US" altLang="zh-CN" sz="1800" kern="0" baseline="30000" dirty="0">
                <a:cs typeface="楷体" panose="02010609060101010101" pitchFamily="49" charset="-122"/>
              </a:rPr>
              <a:t>+</a:t>
            </a:r>
            <a:r>
              <a:rPr lang="en-US" altLang="zh-CN" sz="1800" kern="0" dirty="0">
                <a:cs typeface="楷体" panose="02010609060101010101" pitchFamily="49" charset="-122"/>
              </a:rPr>
              <a:t>={A|X</a:t>
            </a:r>
            <a:r>
              <a:rPr lang="en-US" altLang="zh-CN" sz="1800" dirty="0"/>
              <a:t> → </a:t>
            </a:r>
            <a:r>
              <a:rPr lang="en-US" altLang="zh-CN" sz="1800" kern="0" dirty="0">
                <a:cs typeface="楷体" panose="02010609060101010101" pitchFamily="49" charset="-122"/>
                <a:sym typeface="Wingdings" panose="05000000000000000000" pitchFamily="2" charset="2"/>
              </a:rPr>
              <a:t>A</a:t>
            </a:r>
            <a:r>
              <a:rPr lang="zh-CN" altLang="en-US" sz="1800" kern="0" dirty="0">
                <a:cs typeface="楷体" panose="02010609060101010101" pitchFamily="49" charset="-122"/>
                <a:sym typeface="Wingdings" panose="05000000000000000000" pitchFamily="2" charset="2"/>
              </a:rPr>
              <a:t>能由</a:t>
            </a:r>
            <a:r>
              <a:rPr lang="en-US" altLang="zh-CN" sz="1800" kern="0" dirty="0">
                <a:cs typeface="楷体" panose="02010609060101010101" pitchFamily="49" charset="-122"/>
                <a:sym typeface="Wingdings" panose="05000000000000000000" pitchFamily="2" charset="2"/>
              </a:rPr>
              <a:t>F</a:t>
            </a:r>
            <a:r>
              <a:rPr lang="zh-CN" altLang="en-US" sz="1800" kern="0" dirty="0">
                <a:cs typeface="楷体" panose="02010609060101010101" pitchFamily="49" charset="-122"/>
                <a:sym typeface="Wingdings" panose="05000000000000000000" pitchFamily="2" charset="2"/>
              </a:rPr>
              <a:t>用</a:t>
            </a:r>
            <a:r>
              <a:rPr lang="zh-CN" altLang="en-US" sz="1800" kern="0" dirty="0">
                <a:cs typeface="楷体" panose="02010609060101010101" pitchFamily="49" charset="-122"/>
              </a:rPr>
              <a:t>阿氏</a:t>
            </a:r>
            <a:r>
              <a:rPr lang="zh-CN" altLang="en-US" sz="1800" kern="0" dirty="0">
                <a:cs typeface="楷体" panose="02010609060101010101" pitchFamily="49" charset="-122"/>
                <a:sym typeface="Wingdings" panose="05000000000000000000" pitchFamily="2" charset="2"/>
              </a:rPr>
              <a:t>公理导出</a:t>
            </a:r>
            <a:r>
              <a:rPr lang="en-US" altLang="zh-CN" sz="1800" kern="0" dirty="0">
                <a:cs typeface="楷体" panose="02010609060101010101" pitchFamily="49" charset="-122"/>
                <a:sym typeface="Wingdings" panose="05000000000000000000" pitchFamily="2" charset="2"/>
              </a:rPr>
              <a:t>}</a:t>
            </a:r>
            <a:endParaRPr lang="en-US" altLang="zh-CN" sz="1800" kern="0" dirty="0">
              <a:cs typeface="楷体" panose="02010609060101010101" pitchFamily="49" charset="-122"/>
            </a:endParaRPr>
          </a:p>
          <a:p>
            <a:pPr marL="257175" indent="-257175" defTabSz="685800" fontAlgn="base">
              <a:lnSpc>
                <a:spcPct val="120000"/>
              </a:lnSpc>
              <a:spcBef>
                <a:spcPct val="20000"/>
              </a:spcBef>
              <a:spcAft>
                <a:spcPct val="0"/>
              </a:spcAft>
              <a:buClr>
                <a:schemeClr val="folHlink"/>
              </a:buClr>
              <a:buSzPct val="60000"/>
              <a:buNone/>
              <a:defRPr/>
            </a:pPr>
            <a:r>
              <a:rPr lang="en-US" altLang="zh-CN" sz="1800" kern="0" dirty="0">
                <a:cs typeface="楷体" panose="02010609060101010101" pitchFamily="49" charset="-122"/>
              </a:rPr>
              <a:t>          X</a:t>
            </a:r>
            <a:r>
              <a:rPr lang="en-US" altLang="zh-CN" sz="1800" kern="0" baseline="-25000" dirty="0">
                <a:cs typeface="楷体" panose="02010609060101010101" pitchFamily="49" charset="-122"/>
              </a:rPr>
              <a:t>F</a:t>
            </a:r>
            <a:r>
              <a:rPr lang="en-US" altLang="zh-CN" sz="1800" kern="0" baseline="30000" dirty="0">
                <a:cs typeface="楷体" panose="02010609060101010101" pitchFamily="49" charset="-122"/>
              </a:rPr>
              <a:t>+</a:t>
            </a:r>
            <a:r>
              <a:rPr lang="zh-CN" altLang="en-US" sz="1800" kern="0" dirty="0">
                <a:cs typeface="楷体" panose="02010609060101010101" pitchFamily="49" charset="-122"/>
              </a:rPr>
              <a:t>称为属性集</a:t>
            </a:r>
            <a:r>
              <a:rPr lang="en-US" altLang="zh-CN" sz="1800" kern="0" dirty="0">
                <a:cs typeface="楷体" panose="02010609060101010101" pitchFamily="49" charset="-122"/>
              </a:rPr>
              <a:t>X</a:t>
            </a:r>
            <a:r>
              <a:rPr lang="zh-CN" altLang="en-US" sz="1800" kern="0" dirty="0">
                <a:cs typeface="楷体" panose="02010609060101010101" pitchFamily="49" charset="-122"/>
              </a:rPr>
              <a:t>关于</a:t>
            </a:r>
            <a:r>
              <a:rPr lang="en-US" altLang="zh-CN" sz="1800" kern="0" dirty="0">
                <a:cs typeface="楷体" panose="02010609060101010101" pitchFamily="49" charset="-122"/>
              </a:rPr>
              <a:t>F</a:t>
            </a:r>
            <a:r>
              <a:rPr lang="zh-CN" altLang="en-US" sz="1800" kern="0" dirty="0">
                <a:cs typeface="楷体" panose="02010609060101010101" pitchFamily="49" charset="-122"/>
              </a:rPr>
              <a:t>的闭包。</a:t>
            </a:r>
          </a:p>
          <a:p>
            <a:pPr marL="257175" indent="-257175" defTabSz="685800" fontAlgn="base">
              <a:lnSpc>
                <a:spcPct val="120000"/>
              </a:lnSpc>
              <a:spcBef>
                <a:spcPct val="20000"/>
              </a:spcBef>
              <a:spcAft>
                <a:spcPct val="0"/>
              </a:spcAft>
              <a:buClr>
                <a:schemeClr val="folHlink"/>
              </a:buClr>
              <a:buSzPct val="60000"/>
              <a:buNone/>
              <a:defRPr/>
            </a:pPr>
            <a:endParaRPr lang="zh-CN" altLang="en-US" sz="1800" kern="0" dirty="0">
              <a:cs typeface="楷体" panose="02010609060101010101" pitchFamily="49" charset="-122"/>
            </a:endParaRPr>
          </a:p>
          <a:p>
            <a:pPr marL="257175" indent="-257175" defTabSz="685800" fontAlgn="base">
              <a:lnSpc>
                <a:spcPct val="120000"/>
              </a:lnSpc>
              <a:spcBef>
                <a:spcPct val="20000"/>
              </a:spcBef>
              <a:spcAft>
                <a:spcPct val="0"/>
              </a:spcAft>
              <a:buClr>
                <a:schemeClr val="folHlink"/>
              </a:buClr>
              <a:buSzPct val="60000"/>
              <a:buNone/>
              <a:defRPr/>
            </a:pPr>
            <a:endParaRPr lang="zh-CN" altLang="en-US" sz="1800" kern="0" dirty="0">
              <a:cs typeface="楷体" panose="02010609060101010101" pitchFamily="49" charset="-122"/>
            </a:endParaRPr>
          </a:p>
          <a:p>
            <a:pPr marL="257175" indent="-257175" defTabSz="685800" fontAlgn="base">
              <a:lnSpc>
                <a:spcPct val="120000"/>
              </a:lnSpc>
              <a:spcBef>
                <a:spcPct val="20000"/>
              </a:spcBef>
              <a:spcAft>
                <a:spcPct val="0"/>
              </a:spcAft>
              <a:buClr>
                <a:schemeClr val="folHlink"/>
              </a:buClr>
              <a:buSzPct val="60000"/>
              <a:buNone/>
              <a:defRPr/>
            </a:pPr>
            <a:r>
              <a:rPr lang="zh-CN" altLang="en-US" sz="1800" kern="0" dirty="0">
                <a:cs typeface="楷体" panose="02010609060101010101" pitchFamily="49" charset="-122"/>
              </a:rPr>
              <a:t>例：</a:t>
            </a:r>
            <a:r>
              <a:rPr lang="en-US" altLang="zh-CN" sz="1800" kern="0" dirty="0">
                <a:cs typeface="楷体" panose="02010609060101010101" pitchFamily="49" charset="-122"/>
              </a:rPr>
              <a:t>R(A,B,C)    F={A</a:t>
            </a:r>
            <a:r>
              <a:rPr lang="en-US" altLang="zh-CN" sz="1800" dirty="0"/>
              <a:t> → </a:t>
            </a:r>
            <a:r>
              <a:rPr lang="en-US" altLang="zh-CN" sz="1800" kern="0" dirty="0">
                <a:cs typeface="楷体" panose="02010609060101010101" pitchFamily="49" charset="-122"/>
                <a:sym typeface="Wingdings" panose="05000000000000000000" pitchFamily="2" charset="2"/>
              </a:rPr>
              <a:t>B,</a:t>
            </a:r>
            <a:r>
              <a:rPr lang="zh-CN" altLang="en-US" sz="1800" kern="0" dirty="0">
                <a:cs typeface="楷体" panose="02010609060101010101" pitchFamily="49" charset="-122"/>
                <a:sym typeface="Wingdings" panose="05000000000000000000" pitchFamily="2" charset="2"/>
              </a:rPr>
              <a:t> </a:t>
            </a:r>
            <a:r>
              <a:rPr lang="en-US" altLang="zh-CN" sz="1800" kern="0" dirty="0">
                <a:cs typeface="楷体" panose="02010609060101010101" pitchFamily="49" charset="-122"/>
                <a:sym typeface="Wingdings" panose="05000000000000000000" pitchFamily="2" charset="2"/>
              </a:rPr>
              <a:t>B</a:t>
            </a:r>
            <a:r>
              <a:rPr lang="en-US" altLang="zh-CN" sz="1800" dirty="0"/>
              <a:t> → </a:t>
            </a:r>
            <a:r>
              <a:rPr lang="en-US" altLang="zh-CN" sz="1800" kern="0" dirty="0">
                <a:cs typeface="楷体" panose="02010609060101010101" pitchFamily="49" charset="-122"/>
                <a:sym typeface="Wingdings" panose="05000000000000000000" pitchFamily="2" charset="2"/>
              </a:rPr>
              <a:t>C</a:t>
            </a:r>
            <a:r>
              <a:rPr lang="en-US" altLang="zh-CN" sz="1800" kern="0" dirty="0">
                <a:cs typeface="楷体" panose="02010609060101010101" pitchFamily="49" charset="-122"/>
              </a:rPr>
              <a:t>}</a:t>
            </a:r>
          </a:p>
          <a:p>
            <a:pPr marL="257175" indent="-257175" defTabSz="685800" fontAlgn="base">
              <a:lnSpc>
                <a:spcPct val="120000"/>
              </a:lnSpc>
              <a:spcBef>
                <a:spcPct val="20000"/>
              </a:spcBef>
              <a:spcAft>
                <a:spcPct val="0"/>
              </a:spcAft>
              <a:buClr>
                <a:schemeClr val="folHlink"/>
              </a:buClr>
              <a:buSzPct val="60000"/>
              <a:buNone/>
              <a:defRPr/>
            </a:pPr>
            <a:r>
              <a:rPr lang="en-US" altLang="zh-CN" sz="1800" kern="0" dirty="0">
                <a:cs typeface="楷体" panose="02010609060101010101" pitchFamily="49" charset="-122"/>
              </a:rPr>
              <a:t>   </a:t>
            </a:r>
            <a:r>
              <a:rPr lang="zh-CN" altLang="en-US" sz="1800" kern="0" dirty="0">
                <a:cs typeface="楷体" panose="02010609060101010101" pitchFamily="49" charset="-122"/>
              </a:rPr>
              <a:t>则 </a:t>
            </a:r>
            <a:r>
              <a:rPr lang="en-US" altLang="zh-CN" sz="1800" kern="0" dirty="0">
                <a:cs typeface="楷体" panose="02010609060101010101" pitchFamily="49" charset="-122"/>
              </a:rPr>
              <a:t>A</a:t>
            </a:r>
            <a:r>
              <a:rPr lang="en-US" altLang="zh-CN" sz="1800" kern="0" baseline="30000" dirty="0">
                <a:cs typeface="楷体" panose="02010609060101010101" pitchFamily="49" charset="-122"/>
              </a:rPr>
              <a:t>+</a:t>
            </a:r>
            <a:r>
              <a:rPr lang="en-US" altLang="zh-CN" sz="1800" kern="0" dirty="0">
                <a:cs typeface="楷体" panose="02010609060101010101" pitchFamily="49" charset="-122"/>
              </a:rPr>
              <a:t>=ABC       B</a:t>
            </a:r>
            <a:r>
              <a:rPr lang="en-US" altLang="zh-CN" sz="1800" kern="0" baseline="30000" dirty="0">
                <a:cs typeface="楷体" panose="02010609060101010101" pitchFamily="49" charset="-122"/>
              </a:rPr>
              <a:t>+</a:t>
            </a:r>
            <a:r>
              <a:rPr lang="en-US" altLang="zh-CN" sz="1800" kern="0" dirty="0">
                <a:cs typeface="楷体" panose="02010609060101010101" pitchFamily="49" charset="-122"/>
              </a:rPr>
              <a:t>=BC        C</a:t>
            </a:r>
            <a:r>
              <a:rPr lang="en-US" altLang="zh-CN" sz="1800" kern="0" baseline="30000" dirty="0">
                <a:cs typeface="楷体" panose="02010609060101010101" pitchFamily="49" charset="-122"/>
              </a:rPr>
              <a:t>+</a:t>
            </a:r>
            <a:r>
              <a:rPr lang="en-US" altLang="zh-CN" sz="1800" kern="0" dirty="0">
                <a:cs typeface="楷体" panose="02010609060101010101" pitchFamily="49" charset="-122"/>
              </a:rPr>
              <a:t>=C</a:t>
            </a:r>
          </a:p>
          <a:p>
            <a:pPr marL="257175" indent="-257175" defTabSz="685800" fontAlgn="base">
              <a:lnSpc>
                <a:spcPct val="120000"/>
              </a:lnSpc>
              <a:spcBef>
                <a:spcPct val="20000"/>
              </a:spcBef>
              <a:spcAft>
                <a:spcPct val="0"/>
              </a:spcAft>
              <a:buClr>
                <a:schemeClr val="folHlink"/>
              </a:buClr>
              <a:buSzPct val="60000"/>
              <a:buNone/>
              <a:defRPr/>
            </a:pPr>
            <a:endParaRPr lang="en-US" altLang="zh-CN" sz="1350" kern="0" dirty="0">
              <a:cs typeface="楷体" panose="02010609060101010101" pitchFamily="49" charset="-122"/>
            </a:endParaRPr>
          </a:p>
          <a:p>
            <a:pPr marL="0" indent="0" defTabSz="685800" fontAlgn="base">
              <a:lnSpc>
                <a:spcPct val="120000"/>
              </a:lnSpc>
              <a:spcBef>
                <a:spcPct val="20000"/>
              </a:spcBef>
              <a:spcAft>
                <a:spcPct val="0"/>
              </a:spcAft>
              <a:buClr>
                <a:schemeClr val="folHlink"/>
              </a:buClr>
              <a:buSzPct val="60000"/>
              <a:buNone/>
              <a:defRPr/>
            </a:pPr>
            <a:r>
              <a:rPr lang="zh-CN" altLang="en-US" sz="1800" b="1" kern="0" dirty="0">
                <a:solidFill>
                  <a:schemeClr val="hlink"/>
                </a:solidFill>
                <a:cs typeface="楷体" panose="02010609060101010101" pitchFamily="49" charset="-122"/>
              </a:rPr>
              <a:t>定理</a:t>
            </a:r>
            <a:r>
              <a:rPr lang="en-US" altLang="zh-CN" sz="1800" b="1" kern="0" dirty="0">
                <a:solidFill>
                  <a:schemeClr val="hlink"/>
                </a:solidFill>
                <a:cs typeface="楷体" panose="02010609060101010101" pitchFamily="49" charset="-122"/>
              </a:rPr>
              <a:t>4.5: </a:t>
            </a:r>
            <a:r>
              <a:rPr lang="en-US" altLang="zh-CN" sz="1800" kern="0" dirty="0">
                <a:solidFill>
                  <a:schemeClr val="folHlink"/>
                </a:solidFill>
                <a:cs typeface="楷体" panose="02010609060101010101" pitchFamily="49" charset="-122"/>
              </a:rPr>
              <a:t>X</a:t>
            </a:r>
            <a:r>
              <a:rPr lang="en-US" altLang="zh-CN" sz="1800" kern="0" dirty="0">
                <a:solidFill>
                  <a:schemeClr val="folHlink"/>
                </a:solidFill>
                <a:cs typeface="楷体" panose="02010609060101010101" pitchFamily="49" charset="-122"/>
                <a:sym typeface="Wingdings" panose="05000000000000000000" pitchFamily="2" charset="2"/>
              </a:rPr>
              <a:t>→Y</a:t>
            </a:r>
            <a:r>
              <a:rPr lang="zh-CN" altLang="en-US" sz="1800" kern="0" dirty="0">
                <a:solidFill>
                  <a:schemeClr val="folHlink"/>
                </a:solidFill>
                <a:cs typeface="楷体" panose="02010609060101010101" pitchFamily="49" charset="-122"/>
                <a:sym typeface="Wingdings" panose="05000000000000000000" pitchFamily="2" charset="2"/>
              </a:rPr>
              <a:t>能从</a:t>
            </a:r>
            <a:r>
              <a:rPr lang="en-US" altLang="zh-CN" sz="1800" kern="0" dirty="0">
                <a:solidFill>
                  <a:schemeClr val="folHlink"/>
                </a:solidFill>
                <a:cs typeface="楷体" panose="02010609060101010101" pitchFamily="49" charset="-122"/>
                <a:sym typeface="Wingdings" panose="05000000000000000000" pitchFamily="2" charset="2"/>
              </a:rPr>
              <a:t>F</a:t>
            </a:r>
            <a:r>
              <a:rPr lang="zh-CN" altLang="en-US" sz="1800" kern="0" dirty="0">
                <a:solidFill>
                  <a:schemeClr val="folHlink"/>
                </a:solidFill>
                <a:cs typeface="楷体" panose="02010609060101010101" pitchFamily="49" charset="-122"/>
                <a:sym typeface="Wingdings" panose="05000000000000000000" pitchFamily="2" charset="2"/>
              </a:rPr>
              <a:t>中用</a:t>
            </a:r>
            <a:r>
              <a:rPr lang="zh-CN" altLang="en-US" sz="1800" kern="0" dirty="0">
                <a:solidFill>
                  <a:schemeClr val="folHlink"/>
                </a:solidFill>
                <a:cs typeface="楷体" panose="02010609060101010101" pitchFamily="49" charset="-122"/>
              </a:rPr>
              <a:t>阿氏</a:t>
            </a:r>
            <a:r>
              <a:rPr lang="zh-CN" altLang="en-US" sz="1800" kern="0" dirty="0">
                <a:solidFill>
                  <a:schemeClr val="folHlink"/>
                </a:solidFill>
                <a:cs typeface="楷体" panose="02010609060101010101" pitchFamily="49" charset="-122"/>
                <a:sym typeface="Wingdings" panose="05000000000000000000" pitchFamily="2" charset="2"/>
              </a:rPr>
              <a:t>公理导出的充要条件是：</a:t>
            </a:r>
            <a:r>
              <a:rPr lang="en-US" altLang="zh-CN" sz="1800" kern="0" dirty="0">
                <a:solidFill>
                  <a:schemeClr val="folHlink"/>
                </a:solidFill>
                <a:cs typeface="楷体" panose="02010609060101010101" pitchFamily="49" charset="-122"/>
              </a:rPr>
              <a:t>Y⊆X</a:t>
            </a:r>
            <a:r>
              <a:rPr lang="en-US" altLang="zh-CN" sz="1800" kern="0" baseline="-25000" dirty="0">
                <a:solidFill>
                  <a:schemeClr val="folHlink"/>
                </a:solidFill>
                <a:cs typeface="楷体" panose="02010609060101010101" pitchFamily="49" charset="-122"/>
              </a:rPr>
              <a:t>F</a:t>
            </a:r>
            <a:r>
              <a:rPr lang="en-US" altLang="zh-CN" sz="1800" kern="0" baseline="30000" dirty="0">
                <a:solidFill>
                  <a:schemeClr val="folHlink"/>
                </a:solidFill>
                <a:cs typeface="楷体" panose="02010609060101010101" pitchFamily="49" charset="-122"/>
              </a:rPr>
              <a:t>+</a:t>
            </a:r>
          </a:p>
          <a:p>
            <a:pPr marL="257175" indent="-257175" defTabSz="685800" fontAlgn="base">
              <a:lnSpc>
                <a:spcPct val="120000"/>
              </a:lnSpc>
              <a:spcBef>
                <a:spcPct val="20000"/>
              </a:spcBef>
              <a:spcAft>
                <a:spcPct val="0"/>
              </a:spcAft>
              <a:buClr>
                <a:schemeClr val="folHlink"/>
              </a:buClr>
              <a:buSzPct val="60000"/>
              <a:buNone/>
              <a:defRPr/>
            </a:pPr>
            <a:r>
              <a:rPr lang="zh-CN" altLang="en-US" sz="1800" kern="0" dirty="0">
                <a:cs typeface="楷体" panose="02010609060101010101" pitchFamily="49" charset="-122"/>
              </a:rPr>
              <a:t>证明：充分性（ </a:t>
            </a:r>
            <a:r>
              <a:rPr lang="en-US" altLang="zh-CN" sz="1800" kern="0" dirty="0">
                <a:solidFill>
                  <a:schemeClr val="folHlink"/>
                </a:solidFill>
                <a:cs typeface="楷体" panose="02010609060101010101" pitchFamily="49" charset="-122"/>
              </a:rPr>
              <a:t>Y⊆X</a:t>
            </a:r>
            <a:r>
              <a:rPr lang="en-US" altLang="zh-CN" sz="1800" kern="0" baseline="-25000" dirty="0">
                <a:solidFill>
                  <a:schemeClr val="folHlink"/>
                </a:solidFill>
                <a:cs typeface="楷体" panose="02010609060101010101" pitchFamily="49" charset="-122"/>
              </a:rPr>
              <a:t>F</a:t>
            </a:r>
            <a:r>
              <a:rPr lang="en-US" altLang="zh-CN" sz="1800" kern="0" baseline="30000" dirty="0">
                <a:solidFill>
                  <a:schemeClr val="folHlink"/>
                </a:solidFill>
                <a:cs typeface="楷体" panose="02010609060101010101" pitchFamily="49" charset="-122"/>
              </a:rPr>
              <a:t>+  </a:t>
            </a:r>
            <a:r>
              <a:rPr lang="en-US" altLang="zh-CN" sz="1800" kern="0" dirty="0">
                <a:solidFill>
                  <a:schemeClr val="hlink"/>
                </a:solidFill>
                <a:cs typeface="楷体" panose="02010609060101010101" pitchFamily="49" charset="-122"/>
              </a:rPr>
              <a:t>-&gt;</a:t>
            </a:r>
            <a:r>
              <a:rPr lang="en-US" altLang="zh-CN" sz="1800" kern="0" baseline="30000" dirty="0">
                <a:solidFill>
                  <a:schemeClr val="folHlink"/>
                </a:solidFill>
                <a:cs typeface="楷体" panose="02010609060101010101" pitchFamily="49" charset="-122"/>
              </a:rPr>
              <a:t>  </a:t>
            </a:r>
            <a:r>
              <a:rPr lang="en-US" altLang="zh-CN" sz="1800" kern="0" dirty="0">
                <a:solidFill>
                  <a:schemeClr val="folHlink"/>
                </a:solidFill>
                <a:cs typeface="楷体" panose="02010609060101010101" pitchFamily="49" charset="-122"/>
              </a:rPr>
              <a:t>X</a:t>
            </a:r>
            <a:r>
              <a:rPr lang="en-US" altLang="zh-CN" sz="1800" kern="0" dirty="0">
                <a:solidFill>
                  <a:schemeClr val="folHlink"/>
                </a:solidFill>
                <a:cs typeface="楷体" panose="02010609060101010101" pitchFamily="49" charset="-122"/>
                <a:sym typeface="Wingdings" panose="05000000000000000000" pitchFamily="2" charset="2"/>
              </a:rPr>
              <a:t>→Y </a:t>
            </a:r>
            <a:r>
              <a:rPr lang="en-US" altLang="zh-CN" sz="1800" kern="0" dirty="0">
                <a:solidFill>
                  <a:schemeClr val="folHlink"/>
                </a:solidFill>
                <a:cs typeface="楷体" panose="02010609060101010101" pitchFamily="49" charset="-122"/>
              </a:rPr>
              <a:t>∈F</a:t>
            </a:r>
            <a:r>
              <a:rPr lang="en-US" altLang="zh-CN" sz="1800" kern="0" baseline="30000" dirty="0">
                <a:solidFill>
                  <a:schemeClr val="folHlink"/>
                </a:solidFill>
                <a:cs typeface="楷体" panose="02010609060101010101" pitchFamily="49" charset="-122"/>
              </a:rPr>
              <a:t>+</a:t>
            </a:r>
            <a:r>
              <a:rPr lang="en-US" altLang="zh-CN" sz="1800" kern="0" dirty="0">
                <a:solidFill>
                  <a:schemeClr val="folHlink"/>
                </a:solidFill>
                <a:cs typeface="楷体" panose="02010609060101010101" pitchFamily="49" charset="-122"/>
                <a:sym typeface="Wingdings" panose="05000000000000000000" pitchFamily="2" charset="2"/>
              </a:rPr>
              <a:t> </a:t>
            </a:r>
            <a:r>
              <a:rPr lang="zh-CN" altLang="en-US" sz="1800" kern="0" dirty="0">
                <a:cs typeface="楷体" panose="02010609060101010101" pitchFamily="49" charset="-122"/>
                <a:sym typeface="Wingdings" panose="05000000000000000000" pitchFamily="2" charset="2"/>
              </a:rPr>
              <a:t>）</a:t>
            </a:r>
          </a:p>
          <a:p>
            <a:pPr marL="257175" indent="-257175" defTabSz="685800" fontAlgn="base">
              <a:lnSpc>
                <a:spcPct val="120000"/>
              </a:lnSpc>
              <a:spcBef>
                <a:spcPct val="20000"/>
              </a:spcBef>
              <a:spcAft>
                <a:spcPct val="0"/>
              </a:spcAft>
              <a:buClr>
                <a:schemeClr val="folHlink"/>
              </a:buClr>
              <a:buSzPct val="60000"/>
              <a:buNone/>
              <a:defRPr/>
            </a:pPr>
            <a:r>
              <a:rPr lang="zh-CN" altLang="en-US" sz="1800" kern="0" dirty="0">
                <a:solidFill>
                  <a:schemeClr val="folHlink"/>
                </a:solidFill>
                <a:cs typeface="楷体" panose="02010609060101010101" pitchFamily="49" charset="-122"/>
                <a:sym typeface="Wingdings" panose="05000000000000000000" pitchFamily="2" charset="2"/>
              </a:rPr>
              <a:t>      </a:t>
            </a:r>
            <a:r>
              <a:rPr lang="zh-CN" altLang="en-US" sz="1800" kern="0" dirty="0">
                <a:cs typeface="楷体" panose="02010609060101010101" pitchFamily="49" charset="-122"/>
                <a:sym typeface="Wingdings" panose="05000000000000000000" pitchFamily="2" charset="2"/>
              </a:rPr>
              <a:t>设</a:t>
            </a:r>
            <a:r>
              <a:rPr lang="en-US" altLang="zh-CN" sz="1800" kern="0" dirty="0">
                <a:cs typeface="楷体" panose="02010609060101010101" pitchFamily="49" charset="-122"/>
              </a:rPr>
              <a:t>Y⊆X</a:t>
            </a:r>
            <a:r>
              <a:rPr lang="en-US" altLang="zh-CN" sz="1800" kern="0" baseline="-25000" dirty="0">
                <a:cs typeface="楷体" panose="02010609060101010101" pitchFamily="49" charset="-122"/>
              </a:rPr>
              <a:t>F</a:t>
            </a:r>
            <a:r>
              <a:rPr lang="en-US" altLang="zh-CN" sz="1800" kern="0" baseline="30000" dirty="0">
                <a:cs typeface="楷体" panose="02010609060101010101" pitchFamily="49" charset="-122"/>
              </a:rPr>
              <a:t>+ </a:t>
            </a:r>
            <a:r>
              <a:rPr lang="zh-CN" altLang="en-US" sz="1800" kern="0" dirty="0">
                <a:cs typeface="楷体" panose="02010609060101010101" pitchFamily="49" charset="-122"/>
              </a:rPr>
              <a:t>，并设</a:t>
            </a:r>
            <a:r>
              <a:rPr lang="en-US" altLang="zh-CN" sz="1800" kern="0" dirty="0">
                <a:cs typeface="楷体" panose="02010609060101010101" pitchFamily="49" charset="-122"/>
              </a:rPr>
              <a:t>Y=A</a:t>
            </a:r>
            <a:r>
              <a:rPr lang="en-US" altLang="zh-CN" sz="1800" kern="0" baseline="-25000" dirty="0">
                <a:cs typeface="楷体" panose="02010609060101010101" pitchFamily="49" charset="-122"/>
              </a:rPr>
              <a:t>1</a:t>
            </a:r>
            <a:r>
              <a:rPr lang="en-US" altLang="zh-CN" sz="1800" kern="0" dirty="0">
                <a:cs typeface="楷体" panose="02010609060101010101" pitchFamily="49" charset="-122"/>
              </a:rPr>
              <a:t>A</a:t>
            </a:r>
            <a:r>
              <a:rPr lang="en-US" altLang="zh-CN" sz="1800" kern="0" baseline="-25000" dirty="0">
                <a:cs typeface="楷体" panose="02010609060101010101" pitchFamily="49" charset="-122"/>
              </a:rPr>
              <a:t>2</a:t>
            </a:r>
            <a:r>
              <a:rPr lang="en-US" altLang="zh-CN" sz="1800" kern="0" dirty="0">
                <a:cs typeface="楷体" panose="02010609060101010101" pitchFamily="49" charset="-122"/>
              </a:rPr>
              <a:t>…A</a:t>
            </a:r>
            <a:r>
              <a:rPr lang="en-US" altLang="zh-CN" sz="1800" kern="0" baseline="-25000" dirty="0">
                <a:cs typeface="楷体" panose="02010609060101010101" pitchFamily="49" charset="-122"/>
              </a:rPr>
              <a:t>n</a:t>
            </a:r>
          </a:p>
          <a:p>
            <a:pPr marL="0" indent="0" defTabSz="685800" fontAlgn="base">
              <a:lnSpc>
                <a:spcPct val="120000"/>
              </a:lnSpc>
              <a:spcBef>
                <a:spcPct val="20000"/>
              </a:spcBef>
              <a:spcAft>
                <a:spcPct val="0"/>
              </a:spcAft>
              <a:buClr>
                <a:schemeClr val="folHlink"/>
              </a:buClr>
              <a:buSzPct val="60000"/>
              <a:buNone/>
              <a:defRPr/>
            </a:pPr>
            <a:r>
              <a:rPr lang="en-US" altLang="zh-CN" sz="1800" kern="0" baseline="-25000" dirty="0">
                <a:cs typeface="楷体" panose="02010609060101010101" pitchFamily="49" charset="-122"/>
              </a:rPr>
              <a:t>         </a:t>
            </a:r>
            <a:r>
              <a:rPr lang="zh-CN" altLang="en-US" sz="1800" kern="0" dirty="0">
                <a:cs typeface="楷体" panose="02010609060101010101" pitchFamily="49" charset="-122"/>
              </a:rPr>
              <a:t>由属性闭包定义可知，</a:t>
            </a:r>
            <a:r>
              <a:rPr lang="en-US" altLang="zh-CN" sz="1800" kern="0" dirty="0">
                <a:cs typeface="楷体" panose="02010609060101010101" pitchFamily="49" charset="-122"/>
              </a:rPr>
              <a:t>X</a:t>
            </a:r>
            <a:r>
              <a:rPr lang="en-US" altLang="zh-CN" sz="1800" dirty="0"/>
              <a:t> → </a:t>
            </a:r>
            <a:r>
              <a:rPr lang="en-US" altLang="zh-CN" sz="1800" kern="0" dirty="0">
                <a:cs typeface="楷体" panose="02010609060101010101" pitchFamily="49" charset="-122"/>
              </a:rPr>
              <a:t>A</a:t>
            </a:r>
            <a:r>
              <a:rPr lang="en-US" altLang="zh-CN" sz="1800" kern="0" baseline="-25000" dirty="0">
                <a:cs typeface="楷体" panose="02010609060101010101" pitchFamily="49" charset="-122"/>
              </a:rPr>
              <a:t>1</a:t>
            </a:r>
            <a:r>
              <a:rPr lang="zh-CN" altLang="en-US" sz="1800" kern="0" dirty="0">
                <a:cs typeface="楷体" panose="02010609060101010101" pitchFamily="49" charset="-122"/>
              </a:rPr>
              <a:t>，</a:t>
            </a:r>
            <a:r>
              <a:rPr lang="zh-CN" altLang="en-US" sz="1800" kern="0" baseline="-25000" dirty="0">
                <a:cs typeface="楷体" panose="02010609060101010101" pitchFamily="49" charset="-122"/>
              </a:rPr>
              <a:t> </a:t>
            </a:r>
            <a:r>
              <a:rPr lang="en-US" altLang="zh-CN" sz="1800" kern="0" dirty="0">
                <a:cs typeface="楷体" panose="02010609060101010101" pitchFamily="49" charset="-122"/>
              </a:rPr>
              <a:t>X</a:t>
            </a:r>
            <a:r>
              <a:rPr lang="en-US" altLang="zh-CN" sz="1800" dirty="0"/>
              <a:t> → </a:t>
            </a:r>
            <a:r>
              <a:rPr lang="en-US" altLang="zh-CN" sz="1800" kern="0" dirty="0">
                <a:cs typeface="楷体" panose="02010609060101010101" pitchFamily="49" charset="-122"/>
              </a:rPr>
              <a:t>A</a:t>
            </a:r>
            <a:r>
              <a:rPr lang="en-US" altLang="zh-CN" sz="1800" kern="0" baseline="-25000" dirty="0">
                <a:cs typeface="楷体" panose="02010609060101010101" pitchFamily="49" charset="-122"/>
              </a:rPr>
              <a:t>2</a:t>
            </a:r>
            <a:r>
              <a:rPr lang="en-US" altLang="zh-CN" sz="1800" kern="0" dirty="0">
                <a:cs typeface="楷体" panose="02010609060101010101" pitchFamily="49" charset="-122"/>
              </a:rPr>
              <a:t>…</a:t>
            </a:r>
            <a:r>
              <a:rPr lang="zh-CN" altLang="en-US" sz="1800" kern="0" dirty="0">
                <a:cs typeface="楷体" panose="02010609060101010101" pitchFamily="49" charset="-122"/>
              </a:rPr>
              <a:t>，</a:t>
            </a:r>
            <a:r>
              <a:rPr lang="zh-CN" altLang="en-US" sz="1800" kern="0" baseline="-25000" dirty="0">
                <a:cs typeface="楷体" panose="02010609060101010101" pitchFamily="49" charset="-122"/>
              </a:rPr>
              <a:t> </a:t>
            </a:r>
            <a:r>
              <a:rPr lang="en-US" altLang="zh-CN" sz="1800" kern="0" dirty="0">
                <a:cs typeface="楷体" panose="02010609060101010101" pitchFamily="49" charset="-122"/>
              </a:rPr>
              <a:t>X</a:t>
            </a:r>
            <a:r>
              <a:rPr lang="en-US" altLang="zh-CN" sz="1800" dirty="0"/>
              <a:t> → </a:t>
            </a:r>
            <a:r>
              <a:rPr lang="en-US" altLang="zh-CN" sz="1800" kern="0" dirty="0">
                <a:cs typeface="楷体" panose="02010609060101010101" pitchFamily="49" charset="-122"/>
              </a:rPr>
              <a:t>A</a:t>
            </a:r>
            <a:r>
              <a:rPr lang="en-US" altLang="zh-CN" sz="1800" kern="0" baseline="-25000" dirty="0">
                <a:cs typeface="楷体" panose="02010609060101010101" pitchFamily="49" charset="-122"/>
              </a:rPr>
              <a:t>n</a:t>
            </a:r>
            <a:r>
              <a:rPr lang="zh-CN" altLang="en-US" sz="1800" kern="0" dirty="0">
                <a:cs typeface="楷体" panose="02010609060101010101" pitchFamily="49" charset="-122"/>
              </a:rPr>
              <a:t>能由阿氏公理导出，再由合并规则得</a:t>
            </a:r>
            <a:br>
              <a:rPr lang="en-US" altLang="zh-CN" sz="1800" kern="0" dirty="0">
                <a:cs typeface="楷体" panose="02010609060101010101" pitchFamily="49" charset="-122"/>
              </a:rPr>
            </a:br>
            <a:r>
              <a:rPr lang="en-US" altLang="zh-CN" sz="1800" kern="0" dirty="0">
                <a:cs typeface="楷体" panose="02010609060101010101" pitchFamily="49" charset="-122"/>
              </a:rPr>
              <a:t>X</a:t>
            </a:r>
            <a:r>
              <a:rPr lang="en-US" altLang="zh-CN" sz="1800" dirty="0"/>
              <a:t> →</a:t>
            </a:r>
            <a:r>
              <a:rPr lang="en-US" altLang="zh-CN" sz="1800" kern="0" dirty="0">
                <a:cs typeface="楷体" panose="02010609060101010101" pitchFamily="49" charset="-122"/>
                <a:sym typeface="Wingdings" panose="05000000000000000000" pitchFamily="2" charset="2"/>
              </a:rPr>
              <a:t> </a:t>
            </a:r>
            <a:r>
              <a:rPr lang="en-US" altLang="zh-CN" sz="1800" kern="0" dirty="0">
                <a:cs typeface="楷体" panose="02010609060101010101" pitchFamily="49" charset="-122"/>
              </a:rPr>
              <a:t>A</a:t>
            </a:r>
            <a:r>
              <a:rPr lang="en-US" altLang="zh-CN" sz="1800" kern="0" baseline="-25000" dirty="0">
                <a:cs typeface="楷体" panose="02010609060101010101" pitchFamily="49" charset="-122"/>
              </a:rPr>
              <a:t>1</a:t>
            </a:r>
            <a:r>
              <a:rPr lang="en-US" altLang="zh-CN" sz="1800" kern="0" dirty="0">
                <a:cs typeface="楷体" panose="02010609060101010101" pitchFamily="49" charset="-122"/>
              </a:rPr>
              <a:t>A</a:t>
            </a:r>
            <a:r>
              <a:rPr lang="en-US" altLang="zh-CN" sz="1800" kern="0" baseline="-25000" dirty="0">
                <a:cs typeface="楷体" panose="02010609060101010101" pitchFamily="49" charset="-122"/>
              </a:rPr>
              <a:t>2</a:t>
            </a:r>
            <a:r>
              <a:rPr lang="en-US" altLang="zh-CN" sz="1800" kern="0" dirty="0">
                <a:cs typeface="楷体" panose="02010609060101010101" pitchFamily="49" charset="-122"/>
              </a:rPr>
              <a:t>…A</a:t>
            </a:r>
            <a:r>
              <a:rPr lang="en-US" altLang="zh-CN" sz="1800" kern="0" baseline="-25000" dirty="0">
                <a:cs typeface="楷体" panose="02010609060101010101" pitchFamily="49" charset="-122"/>
              </a:rPr>
              <a:t>n</a:t>
            </a:r>
            <a:r>
              <a:rPr lang="en-US" altLang="zh-CN" sz="1800" kern="0" dirty="0">
                <a:cs typeface="楷体" panose="02010609060101010101" pitchFamily="49" charset="-122"/>
              </a:rPr>
              <a:t>∈F</a:t>
            </a:r>
            <a:r>
              <a:rPr lang="en-US" altLang="zh-CN" sz="1800" kern="0" baseline="30000" dirty="0">
                <a:cs typeface="楷体" panose="02010609060101010101" pitchFamily="49" charset="-122"/>
              </a:rPr>
              <a:t>+</a:t>
            </a:r>
            <a:r>
              <a:rPr lang="en-US" altLang="zh-CN" sz="1800" kern="0" baseline="-25000" dirty="0">
                <a:cs typeface="楷体" panose="02010609060101010101" pitchFamily="49" charset="-122"/>
              </a:rPr>
              <a:t> </a:t>
            </a:r>
            <a:r>
              <a:rPr lang="zh-CN" altLang="en-US" sz="1800" kern="0" dirty="0">
                <a:cs typeface="楷体" panose="02010609060101010101" pitchFamily="49" charset="-122"/>
              </a:rPr>
              <a:t>，即</a:t>
            </a:r>
            <a:r>
              <a:rPr lang="en-US" altLang="zh-CN" sz="1800" kern="0" dirty="0">
                <a:cs typeface="楷体" panose="02010609060101010101" pitchFamily="49" charset="-122"/>
              </a:rPr>
              <a:t>X</a:t>
            </a:r>
            <a:r>
              <a:rPr lang="en-US" altLang="zh-CN" sz="1800" dirty="0"/>
              <a:t> → </a:t>
            </a:r>
            <a:r>
              <a:rPr lang="en-US" altLang="zh-CN" sz="1800" kern="0" dirty="0">
                <a:cs typeface="楷体" panose="02010609060101010101" pitchFamily="49" charset="-122"/>
                <a:sym typeface="Wingdings" panose="05000000000000000000" pitchFamily="2" charset="2"/>
              </a:rPr>
              <a:t>Y</a:t>
            </a:r>
            <a:r>
              <a:rPr lang="en-US" altLang="zh-CN" sz="1800" kern="0" dirty="0">
                <a:cs typeface="楷体" panose="02010609060101010101" pitchFamily="49" charset="-122"/>
              </a:rPr>
              <a:t>∈F</a:t>
            </a:r>
            <a:r>
              <a:rPr lang="en-US" altLang="zh-CN" sz="1800" kern="0" baseline="30000" dirty="0">
                <a:cs typeface="楷体" panose="02010609060101010101" pitchFamily="49" charset="-122"/>
              </a:rPr>
              <a:t>+</a:t>
            </a:r>
            <a:r>
              <a:rPr lang="en-US" altLang="zh-CN" sz="1800" kern="0" dirty="0">
                <a:cs typeface="楷体" panose="02010609060101010101" pitchFamily="49" charset="-122"/>
                <a:sym typeface="Wingdings" panose="05000000000000000000" pitchFamily="2" charset="2"/>
              </a:rPr>
              <a:t> </a:t>
            </a:r>
            <a:r>
              <a:rPr lang="zh-CN" altLang="en-US" sz="1800" kern="0" dirty="0">
                <a:cs typeface="楷体" panose="02010609060101010101" pitchFamily="49" charset="-122"/>
                <a:sym typeface="Wingdings" panose="05000000000000000000" pitchFamily="2" charset="2"/>
              </a:rPr>
              <a:t>。</a:t>
            </a:r>
          </a:p>
        </p:txBody>
      </p:sp>
      <p:sp>
        <p:nvSpPr>
          <p:cNvPr id="62467" name="Text Box 10"/>
          <p:cNvSpPr txBox="1"/>
          <p:nvPr/>
        </p:nvSpPr>
        <p:spPr>
          <a:xfrm>
            <a:off x="4572000" y="1522295"/>
            <a:ext cx="4368504" cy="590931"/>
          </a:xfrm>
          <a:prstGeom prst="rect">
            <a:avLst/>
          </a:prstGeom>
          <a:noFill/>
          <a:ln w="38100" cap="flat" cmpd="sng">
            <a:solidFill>
              <a:schemeClr val="accent1"/>
            </a:solidFill>
            <a:prstDash val="solid"/>
            <a:miter/>
            <a:headEnd type="none" w="med" len="med"/>
            <a:tailEnd type="none" w="med" len="med"/>
          </a:ln>
        </p:spPr>
        <p:txBody>
          <a:bodyPr wrap="none" anchor="t" anchorCtr="0">
            <a:spAutoFit/>
          </a:bodyPr>
          <a:lstStyle/>
          <a:p>
            <a:pPr eaLnBrk="0" hangingPunct="0"/>
            <a:r>
              <a:rPr lang="zh-CN" altLang="en-US" sz="1500" dirty="0">
                <a:latin typeface="Microsoft YaHei" panose="020B0503020204020204" pitchFamily="34" charset="-122"/>
                <a:ea typeface="Microsoft YaHei" panose="020B0503020204020204" pitchFamily="34" charset="-122"/>
              </a:rPr>
              <a:t>函数依赖集的闭包</a:t>
            </a:r>
            <a:r>
              <a:rPr lang="en-US" altLang="zh-CN" sz="1500" dirty="0">
                <a:latin typeface="Microsoft YaHei" panose="020B0503020204020204" pitchFamily="34" charset="-122"/>
                <a:ea typeface="Microsoft YaHei" panose="020B0503020204020204" pitchFamily="34" charset="-122"/>
              </a:rPr>
              <a:t>   </a:t>
            </a:r>
            <a:r>
              <a:rPr lang="zh-CN" altLang="en-US" sz="1500" dirty="0">
                <a:latin typeface="Microsoft YaHei" panose="020B0503020204020204" pitchFamily="34" charset="-122"/>
                <a:ea typeface="Microsoft YaHei" panose="020B0503020204020204" pitchFamily="34" charset="-122"/>
              </a:rPr>
              <a:t>是一个（更大的）函数依赖集</a:t>
            </a:r>
          </a:p>
          <a:p>
            <a:pPr eaLnBrk="0" hangingPunct="0">
              <a:lnSpc>
                <a:spcPct val="130000"/>
              </a:lnSpc>
            </a:pPr>
            <a:r>
              <a:rPr lang="zh-CN" altLang="en-US" sz="1500" dirty="0">
                <a:latin typeface="Microsoft YaHei" panose="020B0503020204020204" pitchFamily="34" charset="-122"/>
                <a:ea typeface="Microsoft YaHei" panose="020B0503020204020204" pitchFamily="34" charset="-122"/>
              </a:rPr>
              <a:t>属性集的闭包        </a:t>
            </a:r>
            <a:r>
              <a:rPr lang="en-US" altLang="zh-CN" sz="1500" dirty="0">
                <a:latin typeface="Microsoft YaHei" panose="020B0503020204020204" pitchFamily="34" charset="-122"/>
                <a:ea typeface="Microsoft YaHei" panose="020B0503020204020204" pitchFamily="34" charset="-122"/>
              </a:rPr>
              <a:t>   </a:t>
            </a:r>
            <a:r>
              <a:rPr lang="zh-CN" altLang="en-US" sz="1500" dirty="0">
                <a:latin typeface="Microsoft YaHei" panose="020B0503020204020204" pitchFamily="34" charset="-122"/>
                <a:ea typeface="Microsoft YaHei" panose="020B0503020204020204" pitchFamily="34" charset="-122"/>
              </a:rPr>
              <a:t>是一个（更大的）属性集合</a:t>
            </a:r>
          </a:p>
        </p:txBody>
      </p:sp>
      <p:sp>
        <p:nvSpPr>
          <p:cNvPr id="3" name="标题 2">
            <a:extLst>
              <a:ext uri="{FF2B5EF4-FFF2-40B4-BE49-F238E27FC236}">
                <a16:creationId xmlns:a16="http://schemas.microsoft.com/office/drawing/2014/main" id="{E11B2952-EC0C-52F0-6E45-41F3785D860D}"/>
              </a:ext>
            </a:extLst>
          </p:cNvPr>
          <p:cNvSpPr>
            <a:spLocks noGrp="1"/>
          </p:cNvSpPr>
          <p:nvPr>
            <p:ph type="title"/>
          </p:nvPr>
        </p:nvSpPr>
        <p:spPr/>
        <p:txBody>
          <a:bodyPr/>
          <a:lstStyle/>
          <a:p>
            <a:r>
              <a:rPr lang="zh-CN" altLang="en-US" dirty="0"/>
              <a:t>属性集闭包</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p:cNvSpPr>
            <a:spLocks noGrp="1"/>
          </p:cNvSpPr>
          <p:nvPr>
            <p:ph idx="1"/>
          </p:nvPr>
        </p:nvSpPr>
        <p:spPr/>
        <p:txBody>
          <a:bodyPr vert="horz" wrap="square" lIns="68580" tIns="34290" rIns="68580" bIns="34290" anchor="t" anchorCtr="0"/>
          <a:lstStyle/>
          <a:p>
            <a:pPr marL="0" indent="0">
              <a:buNone/>
            </a:pPr>
            <a:r>
              <a:rPr lang="zh-CN" altLang="en-US" sz="1800" dirty="0"/>
              <a:t>必要性：（ </a:t>
            </a:r>
            <a:r>
              <a:rPr lang="en-US" altLang="zh-CN" sz="1800" dirty="0">
                <a:solidFill>
                  <a:schemeClr val="folHlink"/>
                </a:solidFill>
              </a:rPr>
              <a:t>X</a:t>
            </a:r>
            <a:r>
              <a:rPr lang="en-US" altLang="zh-CN" sz="1800" dirty="0">
                <a:solidFill>
                  <a:schemeClr val="folHlink"/>
                </a:solidFill>
                <a:sym typeface="Wingdings" panose="05000000000000000000" pitchFamily="2" charset="2"/>
              </a:rPr>
              <a:t>→Y</a:t>
            </a:r>
            <a:r>
              <a:rPr lang="en-US" altLang="zh-CN" sz="1800" dirty="0">
                <a:solidFill>
                  <a:schemeClr val="folHlink"/>
                </a:solidFill>
              </a:rPr>
              <a:t>∈F</a:t>
            </a:r>
            <a:r>
              <a:rPr lang="en-US" altLang="zh-CN" sz="1800" baseline="30000" dirty="0">
                <a:solidFill>
                  <a:schemeClr val="folHlink"/>
                </a:solidFill>
              </a:rPr>
              <a:t>+</a:t>
            </a:r>
            <a:r>
              <a:rPr lang="en-US" altLang="zh-CN" sz="1800" dirty="0">
                <a:solidFill>
                  <a:schemeClr val="folHlink"/>
                </a:solidFill>
                <a:sym typeface="Wingdings" panose="05000000000000000000" pitchFamily="2" charset="2"/>
              </a:rPr>
              <a:t> </a:t>
            </a:r>
            <a:r>
              <a:rPr lang="zh-CN" altLang="en-US" sz="1800" dirty="0">
                <a:solidFill>
                  <a:schemeClr val="hlink"/>
                </a:solidFill>
              </a:rPr>
              <a:t>推出</a:t>
            </a:r>
            <a:r>
              <a:rPr lang="en-US" altLang="zh-CN" sz="1800" baseline="30000" dirty="0">
                <a:solidFill>
                  <a:schemeClr val="folHlink"/>
                </a:solidFill>
              </a:rPr>
              <a:t> </a:t>
            </a:r>
            <a:r>
              <a:rPr lang="en-US" altLang="zh-CN" sz="1800" dirty="0">
                <a:solidFill>
                  <a:schemeClr val="folHlink"/>
                </a:solidFill>
              </a:rPr>
              <a:t>Y⊆X</a:t>
            </a:r>
            <a:r>
              <a:rPr lang="en-US" altLang="zh-CN" sz="1800" baseline="-25000" dirty="0">
                <a:solidFill>
                  <a:schemeClr val="folHlink"/>
                </a:solidFill>
              </a:rPr>
              <a:t>F</a:t>
            </a:r>
            <a:r>
              <a:rPr lang="en-US" altLang="zh-CN" sz="1800" baseline="30000" dirty="0">
                <a:solidFill>
                  <a:schemeClr val="folHlink"/>
                </a:solidFill>
              </a:rPr>
              <a:t>+ </a:t>
            </a:r>
            <a:r>
              <a:rPr lang="zh-CN" altLang="en-US" sz="1800" dirty="0">
                <a:solidFill>
                  <a:schemeClr val="bg2"/>
                </a:solidFill>
              </a:rPr>
              <a:t>）</a:t>
            </a:r>
          </a:p>
          <a:p>
            <a:pPr marL="0" indent="0">
              <a:buNone/>
            </a:pPr>
            <a:r>
              <a:rPr lang="zh-CN" altLang="en-US" sz="1800" dirty="0">
                <a:solidFill>
                  <a:schemeClr val="bg2"/>
                </a:solidFill>
              </a:rPr>
              <a:t>   </a:t>
            </a:r>
            <a:r>
              <a:rPr lang="zh-CN" altLang="en-US" sz="1800" dirty="0"/>
              <a:t>设</a:t>
            </a:r>
            <a:r>
              <a:rPr lang="en-US" altLang="zh-CN" sz="1800" dirty="0"/>
              <a:t>X → </a:t>
            </a:r>
            <a:r>
              <a:rPr lang="en-US" altLang="zh-CN" sz="1800" dirty="0">
                <a:sym typeface="Wingdings" panose="05000000000000000000" pitchFamily="2" charset="2"/>
              </a:rPr>
              <a:t>Y</a:t>
            </a:r>
            <a:r>
              <a:rPr lang="zh-CN" altLang="en-US" sz="1800" dirty="0">
                <a:sym typeface="Wingdings" panose="05000000000000000000" pitchFamily="2" charset="2"/>
              </a:rPr>
              <a:t>能由阿氏公理导出。</a:t>
            </a:r>
            <a:r>
              <a:rPr lang="en-US" altLang="zh-CN" sz="1800" dirty="0"/>
              <a:t>Y=A</a:t>
            </a:r>
            <a:r>
              <a:rPr lang="en-US" altLang="zh-CN" sz="1800" baseline="-25000" dirty="0"/>
              <a:t>1</a:t>
            </a:r>
            <a:r>
              <a:rPr lang="en-US" altLang="zh-CN" sz="1800" dirty="0"/>
              <a:t>A</a:t>
            </a:r>
            <a:r>
              <a:rPr lang="en-US" altLang="zh-CN" sz="1800" baseline="-25000" dirty="0"/>
              <a:t>2</a:t>
            </a:r>
            <a:r>
              <a:rPr lang="en-US" altLang="zh-CN" sz="1800" dirty="0"/>
              <a:t>…A</a:t>
            </a:r>
            <a:r>
              <a:rPr lang="en-US" altLang="zh-CN" sz="1800" baseline="-25000" dirty="0"/>
              <a:t>n</a:t>
            </a:r>
          </a:p>
          <a:p>
            <a:pPr marL="0" indent="0">
              <a:buNone/>
            </a:pPr>
            <a:r>
              <a:rPr lang="en-US" altLang="zh-CN" sz="1800" baseline="-25000" dirty="0"/>
              <a:t>     </a:t>
            </a:r>
            <a:r>
              <a:rPr lang="zh-CN" altLang="en-US" sz="1800" dirty="0"/>
              <a:t>由分解规则得： </a:t>
            </a:r>
            <a:r>
              <a:rPr lang="en-US" altLang="zh-CN" sz="1800" dirty="0"/>
              <a:t>X → A</a:t>
            </a:r>
            <a:r>
              <a:rPr lang="en-US" altLang="zh-CN" sz="1800" baseline="-25000" dirty="0"/>
              <a:t>1</a:t>
            </a:r>
            <a:r>
              <a:rPr lang="zh-CN" altLang="en-US" sz="1800" dirty="0"/>
              <a:t>，</a:t>
            </a:r>
            <a:r>
              <a:rPr lang="en-US" altLang="zh-CN" sz="1800" dirty="0"/>
              <a:t>X → A</a:t>
            </a:r>
            <a:r>
              <a:rPr lang="en-US" altLang="zh-CN" sz="1800" baseline="-25000" dirty="0"/>
              <a:t>2</a:t>
            </a:r>
            <a:r>
              <a:rPr lang="zh-CN" altLang="en-US" sz="1800" baseline="-25000" dirty="0"/>
              <a:t>  </a:t>
            </a:r>
            <a:r>
              <a:rPr lang="en-US" altLang="zh-CN" sz="1800" dirty="0"/>
              <a:t>…</a:t>
            </a:r>
            <a:r>
              <a:rPr lang="zh-CN" altLang="en-US" sz="1800" dirty="0"/>
              <a:t>，</a:t>
            </a:r>
            <a:r>
              <a:rPr lang="en-US" altLang="zh-CN" sz="1800" dirty="0"/>
              <a:t>X → A</a:t>
            </a:r>
            <a:r>
              <a:rPr lang="en-US" altLang="zh-CN" sz="1800" baseline="-25000" dirty="0"/>
              <a:t>n </a:t>
            </a:r>
            <a:r>
              <a:rPr lang="en-US" altLang="zh-CN" sz="1800" dirty="0"/>
              <a:t>∈F</a:t>
            </a:r>
            <a:r>
              <a:rPr lang="en-US" altLang="zh-CN" sz="1800" baseline="30000" dirty="0"/>
              <a:t>+</a:t>
            </a:r>
            <a:endParaRPr lang="en-US" altLang="zh-CN" sz="1800" baseline="-25000" dirty="0"/>
          </a:p>
          <a:p>
            <a:pPr marL="0" indent="0">
              <a:buNone/>
            </a:pPr>
            <a:r>
              <a:rPr lang="en-US" altLang="zh-CN" sz="1800" baseline="-25000" dirty="0"/>
              <a:t>     </a:t>
            </a:r>
            <a:r>
              <a:rPr lang="zh-CN" altLang="en-US" sz="1800" dirty="0"/>
              <a:t>由</a:t>
            </a:r>
            <a:r>
              <a:rPr lang="en-US" altLang="zh-CN" sz="1800" dirty="0"/>
              <a:t>X</a:t>
            </a:r>
            <a:r>
              <a:rPr lang="en-US" altLang="zh-CN" sz="1800" baseline="30000" dirty="0"/>
              <a:t>+ </a:t>
            </a:r>
            <a:r>
              <a:rPr lang="zh-CN" altLang="en-US" sz="1800" dirty="0"/>
              <a:t>的定义可知，</a:t>
            </a:r>
            <a:r>
              <a:rPr lang="en-US" altLang="zh-CN" sz="1800" dirty="0"/>
              <a:t>A</a:t>
            </a:r>
            <a:r>
              <a:rPr lang="en-US" altLang="zh-CN" sz="1800" baseline="-25000" dirty="0"/>
              <a:t>i</a:t>
            </a:r>
            <a:r>
              <a:rPr lang="en-US" altLang="zh-CN" sz="1800" dirty="0"/>
              <a:t>⊆X</a:t>
            </a:r>
            <a:r>
              <a:rPr lang="en-US" altLang="zh-CN" sz="1800" baseline="-25000" dirty="0"/>
              <a:t>F</a:t>
            </a:r>
            <a:r>
              <a:rPr lang="en-US" altLang="zh-CN" sz="1800" baseline="30000" dirty="0"/>
              <a:t>+ </a:t>
            </a:r>
            <a:r>
              <a:rPr lang="en-US" altLang="zh-CN" sz="1800" dirty="0"/>
              <a:t>(i=1,2,…,n)</a:t>
            </a:r>
          </a:p>
          <a:p>
            <a:pPr marL="0" indent="0">
              <a:buNone/>
            </a:pPr>
            <a:r>
              <a:rPr lang="en-US" altLang="zh-CN" sz="1800" dirty="0"/>
              <a:t>   </a:t>
            </a:r>
            <a:r>
              <a:rPr lang="zh-CN" altLang="en-US" sz="1800" dirty="0"/>
              <a:t>即</a:t>
            </a:r>
            <a:r>
              <a:rPr lang="en-US" altLang="zh-CN" sz="1800" dirty="0"/>
              <a:t>Y⊆X</a:t>
            </a:r>
            <a:r>
              <a:rPr lang="en-US" altLang="zh-CN" sz="1800" baseline="-25000" dirty="0"/>
              <a:t>F</a:t>
            </a:r>
            <a:r>
              <a:rPr lang="en-US" altLang="zh-CN" sz="1800" baseline="30000" dirty="0"/>
              <a:t>+ </a:t>
            </a:r>
            <a:r>
              <a:rPr lang="zh-CN" altLang="en-US" sz="1800" dirty="0"/>
              <a:t>。</a:t>
            </a:r>
          </a:p>
          <a:p>
            <a:pPr marL="0" indent="0">
              <a:buNone/>
            </a:pPr>
            <a:endParaRPr lang="zh-CN" altLang="en-US" dirty="0">
              <a:solidFill>
                <a:schemeClr val="bg2"/>
              </a:solidFill>
              <a:sym typeface="Wingdings" panose="05000000000000000000" pitchFamily="2" charset="2"/>
            </a:endParaRPr>
          </a:p>
        </p:txBody>
      </p:sp>
      <p:pic>
        <p:nvPicPr>
          <p:cNvPr id="63491" name="Picture 4" descr="BS00554_"/>
          <p:cNvPicPr>
            <a:picLocks noChangeAspect="1"/>
          </p:cNvPicPr>
          <p:nvPr/>
        </p:nvPicPr>
        <p:blipFill>
          <a:blip r:embed="rId2"/>
          <a:stretch>
            <a:fillRect/>
          </a:stretch>
        </p:blipFill>
        <p:spPr>
          <a:xfrm>
            <a:off x="5429250" y="3200400"/>
            <a:ext cx="1828800" cy="1687116"/>
          </a:xfrm>
          <a:prstGeom prst="rect">
            <a:avLst/>
          </a:prstGeom>
          <a:noFill/>
          <a:ln w="9525">
            <a:noFill/>
          </a:ln>
        </p:spPr>
      </p:pic>
      <p:sp>
        <p:nvSpPr>
          <p:cNvPr id="3" name="标题 2">
            <a:extLst>
              <a:ext uri="{FF2B5EF4-FFF2-40B4-BE49-F238E27FC236}">
                <a16:creationId xmlns:a16="http://schemas.microsoft.com/office/drawing/2014/main" id="{DFAD0722-C596-2A92-417E-3E7400CA6CBC}"/>
              </a:ext>
            </a:extLst>
          </p:cNvPr>
          <p:cNvSpPr>
            <a:spLocks noGrp="1"/>
          </p:cNvSpPr>
          <p:nvPr>
            <p:ph type="title"/>
          </p:nvPr>
        </p:nvSpPr>
        <p:spPr/>
        <p:txBody>
          <a:bodyPr/>
          <a:lstStyle/>
          <a:p>
            <a:r>
              <a:rPr lang="zh-CN" altLang="en-US" dirty="0"/>
              <a:t>属性集闭包</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idx="1"/>
          </p:nvPr>
        </p:nvSpPr>
        <p:spPr/>
        <p:txBody>
          <a:bodyPr vert="horz" wrap="square" lIns="68580" tIns="34290" rIns="68580" bIns="34290" numCol="1" rtlCol="0" anchor="t" anchorCtr="0" compatLnSpc="1">
            <a:normAutofit/>
          </a:bodyPr>
          <a:lstStyle/>
          <a:p>
            <a:pPr marL="257175" indent="-257175" defTabSz="685800" fontAlgn="base">
              <a:lnSpc>
                <a:spcPct val="100000"/>
              </a:lnSpc>
              <a:spcBef>
                <a:spcPct val="20000"/>
              </a:spcBef>
              <a:spcAft>
                <a:spcPct val="0"/>
              </a:spcAft>
              <a:buClr>
                <a:schemeClr val="folHlink"/>
              </a:buClr>
              <a:buSzPct val="60000"/>
              <a:buFont typeface="Wingdings" panose="05000000000000000000" pitchFamily="2" charset="2"/>
              <a:buChar char="n"/>
              <a:defRPr/>
            </a:pPr>
            <a:r>
              <a:rPr lang="zh-CN" altLang="en-US" sz="1800" kern="0" dirty="0">
                <a:solidFill>
                  <a:schemeClr val="folHlink"/>
                </a:solidFill>
                <a:cs typeface="楷体" panose="02010609060101010101" pitchFamily="49" charset="-122"/>
              </a:rPr>
              <a:t>属性闭包的计算</a:t>
            </a:r>
          </a:p>
          <a:p>
            <a:pPr marL="257175" indent="-257175" defTabSz="685800" fontAlgn="base">
              <a:lnSpc>
                <a:spcPct val="100000"/>
              </a:lnSpc>
              <a:spcBef>
                <a:spcPct val="20000"/>
              </a:spcBef>
              <a:spcAft>
                <a:spcPct val="0"/>
              </a:spcAft>
              <a:buClr>
                <a:schemeClr val="folHlink"/>
              </a:buClr>
              <a:buSzPct val="60000"/>
              <a:buNone/>
              <a:defRPr/>
            </a:pPr>
            <a:r>
              <a:rPr lang="zh-CN" altLang="en-US" sz="1800" kern="0" dirty="0">
                <a:solidFill>
                  <a:schemeClr val="folHlink"/>
                </a:solidFill>
                <a:cs typeface="楷体" panose="02010609060101010101" pitchFamily="49" charset="-122"/>
              </a:rPr>
              <a:t>算法:</a:t>
            </a:r>
            <a:r>
              <a:rPr lang="zh-CN" altLang="en-US" sz="1800" kern="0" dirty="0">
                <a:cs typeface="楷体" panose="02010609060101010101" pitchFamily="49" charset="-122"/>
              </a:rPr>
              <a:t> 求属性集X关于F的闭包X</a:t>
            </a:r>
            <a:r>
              <a:rPr lang="zh-CN" altLang="en-US" sz="1800" kern="0" baseline="-25000" dirty="0">
                <a:cs typeface="楷体" panose="02010609060101010101" pitchFamily="49" charset="-122"/>
              </a:rPr>
              <a:t>F</a:t>
            </a:r>
            <a:r>
              <a:rPr lang="zh-CN" altLang="en-US" sz="1800" kern="0" baseline="30000" dirty="0">
                <a:cs typeface="楷体" panose="02010609060101010101" pitchFamily="49" charset="-122"/>
              </a:rPr>
              <a:t>+</a:t>
            </a:r>
            <a:r>
              <a:rPr lang="zh-CN" altLang="en-US" sz="1800" kern="0" dirty="0">
                <a:cs typeface="楷体" panose="02010609060101010101" pitchFamily="49" charset="-122"/>
              </a:rPr>
              <a:t>(</a:t>
            </a:r>
            <a:r>
              <a:rPr lang="zh-CN" altLang="en-US" sz="1800" kern="0" dirty="0">
                <a:solidFill>
                  <a:schemeClr val="hlink"/>
                </a:solidFill>
                <a:cs typeface="楷体" panose="02010609060101010101" pitchFamily="49" charset="-122"/>
              </a:rPr>
              <a:t>X</a:t>
            </a:r>
            <a:r>
              <a:rPr lang="zh-CN" altLang="en-US" sz="1800" kern="0" baseline="30000" dirty="0">
                <a:solidFill>
                  <a:schemeClr val="hlink"/>
                </a:solidFill>
                <a:cs typeface="楷体" panose="02010609060101010101" pitchFamily="49" charset="-122"/>
              </a:rPr>
              <a:t>+</a:t>
            </a:r>
            <a:r>
              <a:rPr lang="zh-CN" altLang="en-US" sz="1800" kern="0" dirty="0">
                <a:cs typeface="楷体" panose="02010609060101010101" pitchFamily="49" charset="-122"/>
              </a:rPr>
              <a:t>)。</a:t>
            </a:r>
            <a:endParaRPr lang="en-US" altLang="zh-CN" sz="1800" kern="0" dirty="0">
              <a:cs typeface="楷体" panose="02010609060101010101" pitchFamily="49" charset="-122"/>
            </a:endParaRPr>
          </a:p>
          <a:p>
            <a:pPr marL="257175" indent="-257175" defTabSz="685800" fontAlgn="base">
              <a:lnSpc>
                <a:spcPct val="100000"/>
              </a:lnSpc>
              <a:spcBef>
                <a:spcPct val="20000"/>
              </a:spcBef>
              <a:spcAft>
                <a:spcPct val="0"/>
              </a:spcAft>
              <a:buClr>
                <a:schemeClr val="folHlink"/>
              </a:buClr>
              <a:buSzPct val="60000"/>
              <a:buNone/>
              <a:defRPr/>
            </a:pPr>
            <a:endParaRPr lang="zh-CN" altLang="en-US" sz="1800" kern="0" dirty="0">
              <a:solidFill>
                <a:schemeClr val="folHlink"/>
              </a:solidFill>
              <a:cs typeface="楷体" panose="02010609060101010101" pitchFamily="49" charset="-122"/>
            </a:endParaRPr>
          </a:p>
          <a:p>
            <a:pPr marL="257175" indent="-257175" defTabSz="685800" fontAlgn="base">
              <a:lnSpc>
                <a:spcPct val="100000"/>
              </a:lnSpc>
              <a:spcBef>
                <a:spcPct val="20000"/>
              </a:spcBef>
              <a:spcAft>
                <a:spcPct val="0"/>
              </a:spcAft>
              <a:buClr>
                <a:schemeClr val="folHlink"/>
              </a:buClr>
              <a:buSzPct val="60000"/>
              <a:buFont typeface="Wingdings" panose="05000000000000000000" pitchFamily="2" charset="2"/>
              <a:buChar char="n"/>
              <a:defRPr/>
            </a:pPr>
            <a:r>
              <a:rPr lang="zh-CN" altLang="en-US" sz="1800" kern="0" dirty="0">
                <a:solidFill>
                  <a:schemeClr val="hlink"/>
                </a:solidFill>
                <a:cs typeface="楷体" panose="02010609060101010101" pitchFamily="49" charset="-122"/>
              </a:rPr>
              <a:t>简化算法：</a:t>
            </a:r>
          </a:p>
          <a:p>
            <a:pPr marL="257175" indent="-257175" defTabSz="685800" fontAlgn="base">
              <a:lnSpc>
                <a:spcPct val="100000"/>
              </a:lnSpc>
              <a:spcBef>
                <a:spcPct val="20000"/>
              </a:spcBef>
              <a:spcAft>
                <a:spcPct val="0"/>
              </a:spcAft>
              <a:buClr>
                <a:schemeClr val="folHlink"/>
              </a:buClr>
              <a:buSzPct val="60000"/>
              <a:buNone/>
              <a:defRPr/>
            </a:pPr>
            <a:r>
              <a:rPr lang="zh-CN" altLang="en-US" sz="1800" kern="0" dirty="0">
                <a:cs typeface="楷体" panose="02010609060101010101" pitchFamily="49" charset="-122"/>
              </a:rPr>
              <a:t>  设 R&lt;U，F&gt;，A为U中属性(集)。 </a:t>
            </a:r>
            <a:endParaRPr lang="zh-CN" altLang="en-US" sz="1800" kern="0" dirty="0">
              <a:solidFill>
                <a:schemeClr val="folHlink"/>
              </a:solidFill>
              <a:cs typeface="楷体" panose="02010609060101010101" pitchFamily="49" charset="-122"/>
            </a:endParaRPr>
          </a:p>
          <a:p>
            <a:pPr marL="257175" indent="-257175" defTabSz="685800" fontAlgn="base">
              <a:lnSpc>
                <a:spcPct val="100000"/>
              </a:lnSpc>
              <a:spcBef>
                <a:spcPct val="20000"/>
              </a:spcBef>
              <a:spcAft>
                <a:spcPct val="0"/>
              </a:spcAft>
              <a:buClr>
                <a:schemeClr val="folHlink"/>
              </a:buClr>
              <a:buSzPct val="60000"/>
              <a:buNone/>
              <a:defRPr/>
            </a:pPr>
            <a:r>
              <a:rPr lang="zh-CN" altLang="en-US" sz="1800" kern="0" dirty="0">
                <a:cs typeface="楷体" panose="02010609060101010101" pitchFamily="49" charset="-122"/>
              </a:rPr>
              <a:t>   (1) X</a:t>
            </a:r>
            <a:r>
              <a:rPr lang="zh-CN" altLang="en-US" sz="1800" kern="0" baseline="30000" dirty="0">
                <a:cs typeface="楷体" panose="02010609060101010101" pitchFamily="49" charset="-122"/>
              </a:rPr>
              <a:t>(0)</a:t>
            </a:r>
            <a:r>
              <a:rPr lang="zh-CN" altLang="en-US" sz="1800" kern="0" dirty="0">
                <a:cs typeface="楷体" panose="02010609060101010101" pitchFamily="49" charset="-122"/>
              </a:rPr>
              <a:t>=X</a:t>
            </a:r>
          </a:p>
          <a:p>
            <a:pPr marL="257175" indent="-257175" defTabSz="685800" fontAlgn="base">
              <a:lnSpc>
                <a:spcPct val="100000"/>
              </a:lnSpc>
              <a:spcBef>
                <a:spcPct val="20000"/>
              </a:spcBef>
              <a:spcAft>
                <a:spcPct val="0"/>
              </a:spcAft>
              <a:buClr>
                <a:schemeClr val="folHlink"/>
              </a:buClr>
              <a:buSzPct val="60000"/>
              <a:buNone/>
              <a:defRPr/>
            </a:pPr>
            <a:r>
              <a:rPr lang="zh-CN" altLang="en-US" sz="1800" kern="0" dirty="0">
                <a:cs typeface="楷体" panose="02010609060101010101" pitchFamily="49" charset="-122"/>
              </a:rPr>
              <a:t>   (2) X</a:t>
            </a:r>
            <a:r>
              <a:rPr lang="zh-CN" altLang="en-US" sz="1800" kern="0" baseline="30000" dirty="0">
                <a:cs typeface="楷体" panose="02010609060101010101" pitchFamily="49" charset="-122"/>
              </a:rPr>
              <a:t>(i+1)</a:t>
            </a:r>
            <a:r>
              <a:rPr lang="zh-CN" altLang="en-US" sz="1800" kern="0" dirty="0">
                <a:cs typeface="楷体" panose="02010609060101010101" pitchFamily="49" charset="-122"/>
              </a:rPr>
              <a:t>=X</a:t>
            </a:r>
            <a:r>
              <a:rPr lang="zh-CN" altLang="en-US" sz="1800" kern="0" baseline="30000" dirty="0">
                <a:cs typeface="楷体" panose="02010609060101010101" pitchFamily="49" charset="-122"/>
              </a:rPr>
              <a:t>(i)</a:t>
            </a:r>
            <a:r>
              <a:rPr lang="zh-CN" altLang="en-US" sz="1800" kern="0" dirty="0">
                <a:cs typeface="楷体" panose="02010609060101010101" pitchFamily="49" charset="-122"/>
              </a:rPr>
              <a:t>∪A</a:t>
            </a:r>
          </a:p>
          <a:p>
            <a:pPr marL="257175" indent="-257175" defTabSz="685800" fontAlgn="base">
              <a:lnSpc>
                <a:spcPct val="100000"/>
              </a:lnSpc>
              <a:spcBef>
                <a:spcPct val="20000"/>
              </a:spcBef>
              <a:spcAft>
                <a:spcPct val="0"/>
              </a:spcAft>
              <a:buClr>
                <a:schemeClr val="folHlink"/>
              </a:buClr>
              <a:buSzPct val="60000"/>
              <a:buNone/>
              <a:defRPr/>
            </a:pPr>
            <a:r>
              <a:rPr lang="zh-CN" altLang="en-US" sz="1800" kern="0" dirty="0">
                <a:cs typeface="楷体" panose="02010609060101010101" pitchFamily="49" charset="-122"/>
              </a:rPr>
              <a:t>       其中：对F中任一个Y</a:t>
            </a:r>
            <a:r>
              <a:rPr lang="en-US" altLang="zh-CN" sz="1800" dirty="0"/>
              <a:t> → </a:t>
            </a:r>
            <a:r>
              <a:rPr lang="zh-CN" altLang="en-US" sz="1800" kern="0" dirty="0">
                <a:cs typeface="楷体" panose="02010609060101010101" pitchFamily="49" charset="-122"/>
              </a:rPr>
              <a:t>A ，且Y⊆X</a:t>
            </a:r>
            <a:r>
              <a:rPr lang="zh-CN" altLang="en-US" sz="1800" kern="0" baseline="30000" dirty="0">
                <a:cs typeface="楷体" panose="02010609060101010101" pitchFamily="49" charset="-122"/>
              </a:rPr>
              <a:t>(i)</a:t>
            </a:r>
            <a:r>
              <a:rPr lang="zh-CN" altLang="en-US" sz="1800" kern="0" dirty="0">
                <a:cs typeface="楷体" panose="02010609060101010101" pitchFamily="49" charset="-122"/>
              </a:rPr>
              <a:t>；</a:t>
            </a:r>
          </a:p>
          <a:p>
            <a:pPr marL="257175" indent="-257175" defTabSz="685800" fontAlgn="base">
              <a:lnSpc>
                <a:spcPct val="100000"/>
              </a:lnSpc>
              <a:spcBef>
                <a:spcPct val="20000"/>
              </a:spcBef>
              <a:spcAft>
                <a:spcPct val="0"/>
              </a:spcAft>
              <a:buClr>
                <a:schemeClr val="folHlink"/>
              </a:buClr>
              <a:buSzPct val="60000"/>
              <a:buNone/>
              <a:defRPr/>
            </a:pPr>
            <a:r>
              <a:rPr lang="zh-CN" altLang="en-US" sz="1800" kern="0" dirty="0">
                <a:cs typeface="楷体" panose="02010609060101010101" pitchFamily="49" charset="-122"/>
              </a:rPr>
              <a:t>       求得X</a:t>
            </a:r>
            <a:r>
              <a:rPr lang="zh-CN" altLang="en-US" sz="1800" kern="0" baseline="30000" dirty="0">
                <a:cs typeface="楷体" panose="02010609060101010101" pitchFamily="49" charset="-122"/>
              </a:rPr>
              <a:t>(i+1)</a:t>
            </a:r>
            <a:r>
              <a:rPr lang="zh-CN" altLang="en-US" sz="1800" kern="0" dirty="0">
                <a:cs typeface="楷体" panose="02010609060101010101" pitchFamily="49" charset="-122"/>
              </a:rPr>
              <a:t> 后，对Y</a:t>
            </a:r>
            <a:r>
              <a:rPr lang="en-US" altLang="zh-CN" sz="1800" dirty="0"/>
              <a:t> → </a:t>
            </a:r>
            <a:r>
              <a:rPr lang="zh-CN" altLang="en-US" sz="1800" kern="0" dirty="0">
                <a:cs typeface="楷体" panose="02010609060101010101" pitchFamily="49" charset="-122"/>
              </a:rPr>
              <a:t>A 做删除标记。</a:t>
            </a:r>
          </a:p>
          <a:p>
            <a:pPr marL="257175" indent="-257175" defTabSz="685800" fontAlgn="base">
              <a:lnSpc>
                <a:spcPct val="100000"/>
              </a:lnSpc>
              <a:spcBef>
                <a:spcPct val="20000"/>
              </a:spcBef>
              <a:spcAft>
                <a:spcPct val="0"/>
              </a:spcAft>
              <a:buClr>
                <a:schemeClr val="folHlink"/>
              </a:buClr>
              <a:buSzPct val="60000"/>
              <a:buNone/>
              <a:defRPr/>
            </a:pPr>
            <a:r>
              <a:rPr lang="zh-CN" altLang="en-US" sz="1800" kern="0" dirty="0">
                <a:cs typeface="楷体" panose="02010609060101010101" pitchFamily="49" charset="-122"/>
              </a:rPr>
              <a:t>   (3) 若X</a:t>
            </a:r>
            <a:r>
              <a:rPr lang="zh-CN" altLang="en-US" sz="1800" kern="0" baseline="30000" dirty="0">
                <a:cs typeface="楷体" panose="02010609060101010101" pitchFamily="49" charset="-122"/>
              </a:rPr>
              <a:t>(i+1)</a:t>
            </a:r>
            <a:r>
              <a:rPr lang="zh-CN" altLang="en-US" sz="1800" kern="0" dirty="0">
                <a:cs typeface="楷体" panose="02010609060101010101" pitchFamily="49" charset="-122"/>
              </a:rPr>
              <a:t>=X</a:t>
            </a:r>
            <a:r>
              <a:rPr lang="zh-CN" altLang="en-US" sz="1800" kern="0" baseline="30000" dirty="0">
                <a:cs typeface="楷体" panose="02010609060101010101" pitchFamily="49" charset="-122"/>
              </a:rPr>
              <a:t>(i)</a:t>
            </a:r>
            <a:r>
              <a:rPr lang="zh-CN" altLang="en-US" sz="1800" kern="0" dirty="0">
                <a:cs typeface="楷体" panose="02010609060101010101" pitchFamily="49" charset="-122"/>
              </a:rPr>
              <a:t> 或 X</a:t>
            </a:r>
            <a:r>
              <a:rPr lang="zh-CN" altLang="en-US" sz="1800" kern="0" baseline="30000" dirty="0">
                <a:cs typeface="楷体" panose="02010609060101010101" pitchFamily="49" charset="-122"/>
              </a:rPr>
              <a:t>(i+1) </a:t>
            </a:r>
            <a:r>
              <a:rPr lang="zh-CN" altLang="en-US" sz="1800" kern="0" dirty="0">
                <a:cs typeface="楷体" panose="02010609060101010101" pitchFamily="49" charset="-122"/>
              </a:rPr>
              <a:t>=U则结束，否则转(2)。</a:t>
            </a:r>
          </a:p>
          <a:p>
            <a:pPr marL="0" indent="0" defTabSz="685800" fontAlgn="base">
              <a:lnSpc>
                <a:spcPct val="100000"/>
              </a:lnSpc>
              <a:spcBef>
                <a:spcPct val="20000"/>
              </a:spcBef>
              <a:spcAft>
                <a:spcPct val="0"/>
              </a:spcAft>
              <a:buClr>
                <a:schemeClr val="folHlink"/>
              </a:buClr>
              <a:buSzPct val="60000"/>
              <a:buNone/>
              <a:defRPr/>
            </a:pPr>
            <a:endParaRPr lang="en-US" altLang="zh-CN" sz="1800" kern="0" dirty="0">
              <a:cs typeface="楷体" panose="02010609060101010101" pitchFamily="49" charset="-122"/>
            </a:endParaRPr>
          </a:p>
          <a:p>
            <a:pPr marL="257175" indent="-257175" algn="just" defTabSz="685800" fontAlgn="base">
              <a:lnSpc>
                <a:spcPct val="100000"/>
              </a:lnSpc>
              <a:spcBef>
                <a:spcPct val="20000"/>
              </a:spcBef>
              <a:spcAft>
                <a:spcPct val="0"/>
              </a:spcAft>
              <a:buClr>
                <a:schemeClr val="folHlink"/>
              </a:buClr>
              <a:buSzPct val="60000"/>
              <a:buNone/>
              <a:defRPr/>
            </a:pPr>
            <a:endParaRPr lang="zh-CN" altLang="en-US" sz="1800" kern="0" baseline="30000" dirty="0"/>
          </a:p>
          <a:p>
            <a:pPr marL="257175" indent="-257175" defTabSz="685800" fontAlgn="base">
              <a:lnSpc>
                <a:spcPct val="100000"/>
              </a:lnSpc>
              <a:spcBef>
                <a:spcPct val="20000"/>
              </a:spcBef>
              <a:spcAft>
                <a:spcPct val="0"/>
              </a:spcAft>
              <a:buClr>
                <a:schemeClr val="folHlink"/>
              </a:buClr>
              <a:buSzPct val="60000"/>
              <a:buFont typeface="Wingdings" panose="05000000000000000000" pitchFamily="2" charset="2"/>
              <a:buChar char="n"/>
              <a:defRPr/>
            </a:pPr>
            <a:endParaRPr lang="zh-CN" altLang="en-US" sz="1800" kern="0" dirty="0"/>
          </a:p>
        </p:txBody>
      </p:sp>
      <p:graphicFrame>
        <p:nvGraphicFramePr>
          <p:cNvPr id="64515" name="Object 4"/>
          <p:cNvGraphicFramePr>
            <a:graphicFrameLocks noChangeAspect="1"/>
          </p:cNvGraphicFramePr>
          <p:nvPr/>
        </p:nvGraphicFramePr>
        <p:xfrm>
          <a:off x="6629400" y="685800"/>
          <a:ext cx="1143000" cy="1143000"/>
        </p:xfrm>
        <a:graphic>
          <a:graphicData uri="http://schemas.openxmlformats.org/presentationml/2006/ole">
            <mc:AlternateContent xmlns:mc="http://schemas.openxmlformats.org/markup-compatibility/2006">
              <mc:Choice xmlns:v="urn:schemas-microsoft-com:vml" Requires="v">
                <p:oleObj r:id="rId2" imgW="3473450" imgH="3473450" progId="">
                  <p:embed/>
                </p:oleObj>
              </mc:Choice>
              <mc:Fallback>
                <p:oleObj r:id="rId2" imgW="3473450" imgH="3473450" progId="">
                  <p:embed/>
                  <p:pic>
                    <p:nvPicPr>
                      <p:cNvPr id="64515" name="Object 4"/>
                      <p:cNvPicPr/>
                      <p:nvPr/>
                    </p:nvPicPr>
                    <p:blipFill>
                      <a:blip r:embed="rId3"/>
                      <a:stretch>
                        <a:fillRect/>
                      </a:stretch>
                    </p:blipFill>
                    <p:spPr>
                      <a:xfrm>
                        <a:off x="6629400" y="685800"/>
                        <a:ext cx="1143000" cy="1143000"/>
                      </a:xfrm>
                      <a:prstGeom prst="rect">
                        <a:avLst/>
                      </a:prstGeom>
                      <a:noFill/>
                      <a:ln w="38100">
                        <a:noFill/>
                        <a:miter/>
                      </a:ln>
                    </p:spPr>
                  </p:pic>
                </p:oleObj>
              </mc:Fallback>
            </mc:AlternateContent>
          </a:graphicData>
        </a:graphic>
      </p:graphicFrame>
      <p:sp>
        <p:nvSpPr>
          <p:cNvPr id="3" name="标题 2">
            <a:extLst>
              <a:ext uri="{FF2B5EF4-FFF2-40B4-BE49-F238E27FC236}">
                <a16:creationId xmlns:a16="http://schemas.microsoft.com/office/drawing/2014/main" id="{68FB5E4E-F5B4-8E5A-2FB2-70C41E0D125F}"/>
              </a:ext>
            </a:extLst>
          </p:cNvPr>
          <p:cNvSpPr>
            <a:spLocks noGrp="1"/>
          </p:cNvSpPr>
          <p:nvPr>
            <p:ph type="title"/>
          </p:nvPr>
        </p:nvSpPr>
        <p:spPr/>
        <p:txBody>
          <a:bodyPr/>
          <a:lstStyle/>
          <a:p>
            <a:r>
              <a:rPr lang="zh-CN" altLang="en-US" dirty="0"/>
              <a:t>属性集闭包</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3"/>
          <p:cNvSpPr>
            <a:spLocks noGrp="1"/>
          </p:cNvSpPr>
          <p:nvPr>
            <p:ph idx="1"/>
          </p:nvPr>
        </p:nvSpPr>
        <p:spPr/>
        <p:txBody>
          <a:bodyPr vert="horz" wrap="square" lIns="68580" tIns="34290" rIns="68580" bIns="34290" rtlCol="0" anchor="t" anchorCtr="0">
            <a:normAutofit/>
          </a:bodyPr>
          <a:lstStyle/>
          <a:p>
            <a:pPr marL="0" indent="0">
              <a:buSzPct val="60000"/>
              <a:buNone/>
            </a:pPr>
            <a:r>
              <a:rPr lang="en-US" altLang="zh-CN" sz="1800" dirty="0">
                <a:solidFill>
                  <a:schemeClr val="hlink"/>
                </a:solidFill>
              </a:rPr>
              <a:t>【</a:t>
            </a:r>
            <a:r>
              <a:rPr lang="zh-CN" altLang="en-US" sz="1800" dirty="0">
                <a:solidFill>
                  <a:schemeClr val="hlink"/>
                </a:solidFill>
              </a:rPr>
              <a:t>例</a:t>
            </a:r>
            <a:r>
              <a:rPr lang="en-US" altLang="zh-CN" sz="1800" dirty="0">
                <a:solidFill>
                  <a:schemeClr val="hlink"/>
                </a:solidFill>
              </a:rPr>
              <a:t>】</a:t>
            </a:r>
            <a:r>
              <a:rPr lang="zh-CN" altLang="en-US" sz="1800" dirty="0"/>
              <a:t>设有关系模式R&lt;U</a:t>
            </a:r>
            <a:r>
              <a:rPr lang="en-US" altLang="zh-CN" sz="1800" dirty="0"/>
              <a:t>,</a:t>
            </a:r>
            <a:r>
              <a:rPr lang="zh-CN" altLang="en-US" sz="1800" dirty="0"/>
              <a:t>F&gt;，其中U={A</a:t>
            </a:r>
            <a:r>
              <a:rPr lang="en-US" altLang="zh-CN" sz="1800" dirty="0"/>
              <a:t>,</a:t>
            </a:r>
            <a:r>
              <a:rPr lang="zh-CN" altLang="en-US" sz="1800" dirty="0"/>
              <a:t>B</a:t>
            </a:r>
            <a:r>
              <a:rPr lang="en-US" altLang="zh-CN" sz="1800" dirty="0"/>
              <a:t>,</a:t>
            </a:r>
            <a:r>
              <a:rPr lang="zh-CN" altLang="en-US" sz="1800" dirty="0"/>
              <a:t>C</a:t>
            </a:r>
            <a:r>
              <a:rPr lang="en-US" altLang="zh-CN" sz="1800" dirty="0"/>
              <a:t>,</a:t>
            </a:r>
            <a:r>
              <a:rPr lang="zh-CN" altLang="en-US" sz="1800" dirty="0"/>
              <a:t>D</a:t>
            </a:r>
            <a:r>
              <a:rPr lang="en-US" altLang="zh-CN" sz="1800" dirty="0"/>
              <a:t>,</a:t>
            </a:r>
            <a:r>
              <a:rPr lang="zh-CN" altLang="en-US" sz="1800" dirty="0"/>
              <a:t>E</a:t>
            </a:r>
            <a:r>
              <a:rPr lang="en-US" altLang="zh-CN" sz="1800" dirty="0"/>
              <a:t>,I</a:t>
            </a:r>
            <a:r>
              <a:rPr lang="zh-CN" altLang="en-US" sz="1800" dirty="0"/>
              <a:t>}，</a:t>
            </a:r>
            <a:endParaRPr lang="en-US" altLang="zh-CN" sz="1800" dirty="0"/>
          </a:p>
          <a:p>
            <a:pPr marL="0" indent="0">
              <a:buSzPct val="60000"/>
              <a:buNone/>
            </a:pPr>
            <a:r>
              <a:rPr lang="en-US" altLang="zh-CN" sz="1800" dirty="0"/>
              <a:t>        </a:t>
            </a:r>
            <a:r>
              <a:rPr lang="zh-CN" altLang="en-US" sz="1800" dirty="0"/>
              <a:t>    F={A→D，AB→E，BI→E，CD→I，E→C}</a:t>
            </a:r>
          </a:p>
          <a:p>
            <a:pPr marL="0" indent="0" algn="just">
              <a:buSzPct val="60000"/>
              <a:buNone/>
            </a:pPr>
            <a:r>
              <a:rPr lang="zh-CN" altLang="en-US" sz="1800" dirty="0"/>
              <a:t>         计算(AE)</a:t>
            </a:r>
            <a:r>
              <a:rPr lang="zh-CN" altLang="en-US" sz="1800" baseline="30000" dirty="0"/>
              <a:t>+</a:t>
            </a:r>
            <a:endParaRPr lang="en-US" altLang="zh-CN" sz="1800" dirty="0"/>
          </a:p>
          <a:p>
            <a:pPr marL="0" indent="0" algn="just">
              <a:buSzPct val="60000"/>
              <a:buNone/>
            </a:pPr>
            <a:r>
              <a:rPr lang="zh-CN" altLang="en-US" sz="1800" dirty="0"/>
              <a:t>解</a:t>
            </a:r>
            <a:r>
              <a:rPr lang="en-US" altLang="zh-CN" sz="1800" dirty="0"/>
              <a:t>:</a:t>
            </a:r>
            <a:r>
              <a:rPr lang="zh-CN" altLang="en-US" sz="1800" dirty="0"/>
              <a:t>(AE)</a:t>
            </a:r>
            <a:r>
              <a:rPr lang="en-US" altLang="zh-CN" sz="1800" baseline="30000" dirty="0"/>
              <a:t>0</a:t>
            </a:r>
            <a:r>
              <a:rPr lang="en-US" altLang="zh-CN" sz="1800" dirty="0"/>
              <a:t>=AE   </a:t>
            </a:r>
          </a:p>
          <a:p>
            <a:pPr marL="0" indent="0" algn="just">
              <a:buSzPct val="60000"/>
              <a:buNone/>
            </a:pPr>
            <a:r>
              <a:rPr lang="en-US" altLang="zh-CN" sz="1800" dirty="0"/>
              <a:t>   (AE)</a:t>
            </a:r>
            <a:r>
              <a:rPr lang="en-US" altLang="zh-CN" sz="1800" baseline="30000" dirty="0"/>
              <a:t>1</a:t>
            </a:r>
            <a:r>
              <a:rPr lang="en-US" altLang="zh-CN" sz="1800" dirty="0"/>
              <a:t>=AE∪</a:t>
            </a:r>
            <a:r>
              <a:rPr lang="en-US" altLang="zh-CN" sz="1800" dirty="0">
                <a:solidFill>
                  <a:srgbClr val="FF0000"/>
                </a:solidFill>
              </a:rPr>
              <a:t>D</a:t>
            </a:r>
            <a:r>
              <a:rPr lang="en-US" altLang="zh-CN" sz="1800" dirty="0"/>
              <a:t>=AED       (</a:t>
            </a:r>
            <a:r>
              <a:rPr lang="zh-CN" altLang="en-US" sz="1800" dirty="0"/>
              <a:t>选A→</a:t>
            </a:r>
            <a:r>
              <a:rPr lang="zh-CN" altLang="en-US" sz="1800" dirty="0">
                <a:solidFill>
                  <a:srgbClr val="FF0000"/>
                </a:solidFill>
              </a:rPr>
              <a:t>D</a:t>
            </a:r>
            <a:r>
              <a:rPr lang="en-US" altLang="zh-CN" sz="1800" dirty="0"/>
              <a:t>)</a:t>
            </a:r>
          </a:p>
          <a:p>
            <a:pPr marL="0" indent="0" algn="just">
              <a:buSzPct val="60000"/>
              <a:buNone/>
            </a:pPr>
            <a:r>
              <a:rPr lang="en-US" altLang="zh-CN" sz="1800" baseline="30000" dirty="0"/>
              <a:t>    </a:t>
            </a:r>
            <a:r>
              <a:rPr lang="en-US" altLang="zh-CN" sz="1800" dirty="0"/>
              <a:t>(AE)</a:t>
            </a:r>
            <a:r>
              <a:rPr lang="en-US" altLang="zh-CN" sz="1800" baseline="30000" dirty="0"/>
              <a:t>2</a:t>
            </a:r>
            <a:r>
              <a:rPr lang="en-US" altLang="zh-CN" sz="1800" dirty="0"/>
              <a:t>=AED∪</a:t>
            </a:r>
            <a:r>
              <a:rPr lang="en-US" altLang="zh-CN" sz="1800" dirty="0">
                <a:solidFill>
                  <a:srgbClr val="FF0000"/>
                </a:solidFill>
              </a:rPr>
              <a:t>C</a:t>
            </a:r>
            <a:r>
              <a:rPr lang="en-US" altLang="zh-CN" sz="1800" dirty="0"/>
              <a:t>=AEDC      (</a:t>
            </a:r>
            <a:r>
              <a:rPr lang="zh-CN" altLang="en-US" sz="1800" dirty="0"/>
              <a:t>选E→</a:t>
            </a:r>
            <a:r>
              <a:rPr lang="zh-CN" altLang="en-US" sz="1800" dirty="0">
                <a:solidFill>
                  <a:srgbClr val="FF0000"/>
                </a:solidFill>
              </a:rPr>
              <a:t>C</a:t>
            </a:r>
            <a:r>
              <a:rPr lang="en-US" altLang="zh-CN" sz="1800" dirty="0"/>
              <a:t>)</a:t>
            </a:r>
          </a:p>
          <a:p>
            <a:pPr marL="0" indent="0" algn="just">
              <a:buSzPct val="60000"/>
              <a:buNone/>
            </a:pPr>
            <a:r>
              <a:rPr lang="en-US" altLang="zh-CN" sz="1800" dirty="0"/>
              <a:t>   (AE)</a:t>
            </a:r>
            <a:r>
              <a:rPr lang="en-US" altLang="zh-CN" sz="1800" baseline="30000" dirty="0"/>
              <a:t>3</a:t>
            </a:r>
            <a:r>
              <a:rPr lang="en-US" altLang="zh-CN" sz="1800" dirty="0"/>
              <a:t>=AEDC∪</a:t>
            </a:r>
            <a:r>
              <a:rPr lang="en-US" altLang="zh-CN" sz="1800" dirty="0">
                <a:solidFill>
                  <a:srgbClr val="FF0000"/>
                </a:solidFill>
              </a:rPr>
              <a:t>I</a:t>
            </a:r>
            <a:r>
              <a:rPr lang="en-US" altLang="zh-CN" sz="1800" dirty="0"/>
              <a:t>=AEDCI    (</a:t>
            </a:r>
            <a:r>
              <a:rPr lang="zh-CN" altLang="en-US" sz="1800" dirty="0"/>
              <a:t>选CD→</a:t>
            </a:r>
            <a:r>
              <a:rPr lang="zh-CN" altLang="en-US" sz="1800" dirty="0">
                <a:solidFill>
                  <a:srgbClr val="FF0000"/>
                </a:solidFill>
              </a:rPr>
              <a:t>I</a:t>
            </a:r>
            <a:r>
              <a:rPr lang="en-US" altLang="zh-CN" sz="1800" dirty="0"/>
              <a:t>)</a:t>
            </a:r>
          </a:p>
          <a:p>
            <a:pPr marL="0" indent="0" algn="just">
              <a:buSzPct val="60000"/>
              <a:buNone/>
            </a:pPr>
            <a:r>
              <a:rPr lang="en-US" altLang="zh-CN" sz="1800" dirty="0"/>
              <a:t>   (AE)</a:t>
            </a:r>
            <a:r>
              <a:rPr lang="en-US" altLang="zh-CN" sz="1800" baseline="30000" dirty="0"/>
              <a:t>4</a:t>
            </a:r>
            <a:r>
              <a:rPr lang="en-US" altLang="zh-CN" sz="1800" dirty="0"/>
              <a:t>=AEDCI      </a:t>
            </a:r>
            <a:r>
              <a:rPr lang="en-US" altLang="zh-CN" sz="1500" dirty="0"/>
              <a:t>(</a:t>
            </a:r>
            <a:r>
              <a:rPr lang="zh-CN" altLang="en-US" sz="1500" dirty="0"/>
              <a:t>没有左部是</a:t>
            </a:r>
            <a:r>
              <a:rPr lang="en-US" altLang="zh-CN" sz="1500" dirty="0"/>
              <a:t>(AE)</a:t>
            </a:r>
            <a:r>
              <a:rPr lang="en-US" altLang="zh-CN" sz="1800" baseline="30000" dirty="0"/>
              <a:t>3</a:t>
            </a:r>
            <a:r>
              <a:rPr lang="zh-CN" altLang="en-US" sz="1500" dirty="0"/>
              <a:t>子集且未使用过的函数依赖</a:t>
            </a:r>
            <a:r>
              <a:rPr lang="en-US" altLang="zh-CN" sz="1500" dirty="0"/>
              <a:t>)</a:t>
            </a:r>
          </a:p>
          <a:p>
            <a:pPr marL="0" indent="0" algn="just">
              <a:buSzPct val="60000"/>
              <a:buNone/>
            </a:pPr>
            <a:r>
              <a:rPr lang="en-US" altLang="zh-CN" sz="1800" dirty="0"/>
              <a:t>    ∵(AE)</a:t>
            </a:r>
            <a:r>
              <a:rPr lang="en-US" altLang="zh-CN" sz="1800" baseline="30000" dirty="0"/>
              <a:t>4</a:t>
            </a:r>
            <a:r>
              <a:rPr lang="en-US" altLang="zh-CN" sz="1800" dirty="0"/>
              <a:t>=(AE)</a:t>
            </a:r>
            <a:r>
              <a:rPr lang="en-US" altLang="zh-CN" sz="1800" baseline="30000" dirty="0"/>
              <a:t>3         </a:t>
            </a:r>
          </a:p>
          <a:p>
            <a:pPr marL="0" indent="0" algn="just">
              <a:buSzPct val="60000"/>
              <a:buNone/>
            </a:pPr>
            <a:r>
              <a:rPr lang="en-US" altLang="zh-CN" sz="1800" baseline="30000" dirty="0"/>
              <a:t>     </a:t>
            </a:r>
            <a:r>
              <a:rPr lang="en-US" altLang="zh-CN" sz="1800" dirty="0"/>
              <a:t>∴</a:t>
            </a:r>
            <a:r>
              <a:rPr lang="en-US" altLang="zh-CN" sz="1800" dirty="0">
                <a:solidFill>
                  <a:srgbClr val="FF0000"/>
                </a:solidFill>
              </a:rPr>
              <a:t>(AE)</a:t>
            </a:r>
            <a:r>
              <a:rPr lang="en-US" altLang="zh-CN" sz="1800" baseline="30000" dirty="0">
                <a:solidFill>
                  <a:srgbClr val="FF0000"/>
                </a:solidFill>
              </a:rPr>
              <a:t>+</a:t>
            </a:r>
            <a:r>
              <a:rPr lang="en-US" altLang="zh-CN" sz="1800" dirty="0">
                <a:solidFill>
                  <a:srgbClr val="FF0000"/>
                </a:solidFill>
              </a:rPr>
              <a:t>=AEDCI</a:t>
            </a:r>
            <a:endParaRPr lang="zh-CN" altLang="en-US" sz="1800" dirty="0">
              <a:solidFill>
                <a:srgbClr val="FF0000"/>
              </a:solidFill>
            </a:endParaRPr>
          </a:p>
        </p:txBody>
      </p:sp>
      <p:sp>
        <p:nvSpPr>
          <p:cNvPr id="3" name="标题 2">
            <a:extLst>
              <a:ext uri="{FF2B5EF4-FFF2-40B4-BE49-F238E27FC236}">
                <a16:creationId xmlns:a16="http://schemas.microsoft.com/office/drawing/2014/main" id="{A4CE3194-D1DA-5D22-6136-FD953983985E}"/>
              </a:ext>
            </a:extLst>
          </p:cNvPr>
          <p:cNvSpPr>
            <a:spLocks noGrp="1"/>
          </p:cNvSpPr>
          <p:nvPr>
            <p:ph type="title"/>
          </p:nvPr>
        </p:nvSpPr>
        <p:spPr/>
        <p:txBody>
          <a:bodyPr/>
          <a:lstStyle/>
          <a:p>
            <a:r>
              <a:rPr lang="zh-CN" altLang="en-US" dirty="0"/>
              <a:t>属性集闭包</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0658">
                                            <p:txEl>
                                              <p:pRg st="3" end="3"/>
                                            </p:txEl>
                                          </p:spTgt>
                                        </p:tgtEl>
                                        <p:attrNameLst>
                                          <p:attrName>style.visibility</p:attrName>
                                        </p:attrNameLst>
                                      </p:cBhvr>
                                      <p:to>
                                        <p:strVal val="visible"/>
                                      </p:to>
                                    </p:set>
                                    <p:anim calcmode="lin" valueType="num">
                                      <p:cBhvr additive="base">
                                        <p:cTn id="7" dur="500" fill="hold"/>
                                        <p:tgtEl>
                                          <p:spTgt spid="70658">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065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0658">
                                            <p:txEl>
                                              <p:pRg st="4" end="4"/>
                                            </p:txEl>
                                          </p:spTgt>
                                        </p:tgtEl>
                                        <p:attrNameLst>
                                          <p:attrName>style.visibility</p:attrName>
                                        </p:attrNameLst>
                                      </p:cBhvr>
                                      <p:to>
                                        <p:strVal val="visible"/>
                                      </p:to>
                                    </p:set>
                                    <p:anim calcmode="lin" valueType="num">
                                      <p:cBhvr additive="base">
                                        <p:cTn id="13" dur="500" fill="hold"/>
                                        <p:tgtEl>
                                          <p:spTgt spid="70658">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065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0658">
                                            <p:txEl>
                                              <p:pRg st="5" end="5"/>
                                            </p:txEl>
                                          </p:spTgt>
                                        </p:tgtEl>
                                        <p:attrNameLst>
                                          <p:attrName>style.visibility</p:attrName>
                                        </p:attrNameLst>
                                      </p:cBhvr>
                                      <p:to>
                                        <p:strVal val="visible"/>
                                      </p:to>
                                    </p:set>
                                    <p:anim calcmode="lin" valueType="num">
                                      <p:cBhvr additive="base">
                                        <p:cTn id="19" dur="500" fill="hold"/>
                                        <p:tgtEl>
                                          <p:spTgt spid="70658">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065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0658">
                                            <p:txEl>
                                              <p:pRg st="6" end="6"/>
                                            </p:txEl>
                                          </p:spTgt>
                                        </p:tgtEl>
                                        <p:attrNameLst>
                                          <p:attrName>style.visibility</p:attrName>
                                        </p:attrNameLst>
                                      </p:cBhvr>
                                      <p:to>
                                        <p:strVal val="visible"/>
                                      </p:to>
                                    </p:set>
                                    <p:anim calcmode="lin" valueType="num">
                                      <p:cBhvr additive="base">
                                        <p:cTn id="25" dur="500" fill="hold"/>
                                        <p:tgtEl>
                                          <p:spTgt spid="70658">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065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0658">
                                            <p:txEl>
                                              <p:pRg st="7" end="7"/>
                                            </p:txEl>
                                          </p:spTgt>
                                        </p:tgtEl>
                                        <p:attrNameLst>
                                          <p:attrName>style.visibility</p:attrName>
                                        </p:attrNameLst>
                                      </p:cBhvr>
                                      <p:to>
                                        <p:strVal val="visible"/>
                                      </p:to>
                                    </p:set>
                                    <p:anim calcmode="lin" valueType="num">
                                      <p:cBhvr additive="base">
                                        <p:cTn id="31" dur="500" fill="hold"/>
                                        <p:tgtEl>
                                          <p:spTgt spid="70658">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065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0658">
                                            <p:txEl>
                                              <p:charRg st="252" end="269"/>
                                            </p:txEl>
                                          </p:spTgt>
                                        </p:tgtEl>
                                        <p:attrNameLst>
                                          <p:attrName>style.visibility</p:attrName>
                                        </p:attrNameLst>
                                      </p:cBhvr>
                                      <p:to>
                                        <p:strVal val="visible"/>
                                      </p:to>
                                    </p:set>
                                    <p:anim calcmode="lin" valueType="num">
                                      <p:cBhvr additive="base">
                                        <p:cTn id="37" dur="500" fill="hold"/>
                                        <p:tgtEl>
                                          <p:spTgt spid="70658">
                                            <p:txEl>
                                              <p:charRg st="252" end="26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0658">
                                            <p:txEl>
                                              <p:charRg st="252" end="269"/>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0658">
                                            <p:txEl>
                                              <p:charRg st="9" end="9"/>
                                            </p:txEl>
                                          </p:spTgt>
                                        </p:tgtEl>
                                        <p:attrNameLst>
                                          <p:attrName>style.visibility</p:attrName>
                                        </p:attrNameLst>
                                      </p:cBhvr>
                                      <p:to>
                                        <p:strVal val="visible"/>
                                      </p:to>
                                    </p:set>
                                    <p:anim calcmode="lin" valueType="num">
                                      <p:cBhvr additive="base">
                                        <p:cTn id="43" dur="500" fill="hold"/>
                                        <p:tgtEl>
                                          <p:spTgt spid="70658">
                                            <p:txEl>
                                              <p:char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0658">
                                            <p:txEl>
                                              <p:char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3"/>
          <p:cNvSpPr txBox="1"/>
          <p:nvPr/>
        </p:nvSpPr>
        <p:spPr>
          <a:xfrm>
            <a:off x="1056759" y="1253548"/>
            <a:ext cx="6343650" cy="2561920"/>
          </a:xfrm>
          <a:prstGeom prst="rect">
            <a:avLst/>
          </a:prstGeom>
          <a:noFill/>
          <a:ln w="9525">
            <a:noFill/>
          </a:ln>
        </p:spPr>
        <p:txBody>
          <a:bodyPr anchor="t" anchorCtr="0">
            <a:spAutoFit/>
          </a:bodyPr>
          <a:lstStyle/>
          <a:p>
            <a:pPr eaLnBrk="0" hangingPunct="0">
              <a:lnSpc>
                <a:spcPct val="130000"/>
              </a:lnSpc>
            </a:pPr>
            <a:r>
              <a:rPr lang="zh-CN" altLang="en-US" dirty="0">
                <a:latin typeface="Microsoft YaHei" panose="020B0503020204020204" pitchFamily="34" charset="-122"/>
                <a:ea typeface="Microsoft YaHei" panose="020B0503020204020204" pitchFamily="34" charset="-122"/>
              </a:rPr>
              <a:t>函数依赖集</a:t>
            </a:r>
            <a:r>
              <a:rPr lang="en-US" altLang="zh-CN" dirty="0">
                <a:latin typeface="Microsoft YaHei" panose="020B0503020204020204" pitchFamily="34" charset="-122"/>
                <a:ea typeface="Microsoft YaHei" panose="020B0503020204020204" pitchFamily="34" charset="-122"/>
              </a:rPr>
              <a:t>F</a:t>
            </a:r>
            <a:r>
              <a:rPr lang="zh-CN" altLang="en-US" dirty="0">
                <a:latin typeface="Microsoft YaHei" panose="020B0503020204020204" pitchFamily="34" charset="-122"/>
                <a:ea typeface="Microsoft YaHei" panose="020B0503020204020204" pitchFamily="34" charset="-122"/>
              </a:rPr>
              <a:t>的闭包</a:t>
            </a:r>
            <a:r>
              <a:rPr lang="en-US" altLang="zh-CN" dirty="0">
                <a:latin typeface="Microsoft YaHei" panose="020B0503020204020204" pitchFamily="34" charset="-122"/>
                <a:ea typeface="Microsoft YaHei" panose="020B0503020204020204" pitchFamily="34" charset="-122"/>
              </a:rPr>
              <a:t>F+</a:t>
            </a:r>
            <a:r>
              <a:rPr lang="zh-CN" altLang="en-US" dirty="0">
                <a:latin typeface="Microsoft YaHei" panose="020B0503020204020204" pitchFamily="34" charset="-122"/>
                <a:ea typeface="Microsoft YaHei" panose="020B0503020204020204" pitchFamily="34" charset="-122"/>
              </a:rPr>
              <a:t>是</a:t>
            </a:r>
            <a:r>
              <a:rPr lang="en-US" altLang="zh-CN" dirty="0">
                <a:latin typeface="Microsoft YaHei" panose="020B0503020204020204" pitchFamily="34" charset="-122"/>
                <a:ea typeface="Microsoft YaHei" panose="020B0503020204020204" pitchFamily="34" charset="-122"/>
              </a:rPr>
              <a:t>F</a:t>
            </a:r>
            <a:r>
              <a:rPr lang="zh-CN" altLang="en-US" dirty="0">
                <a:latin typeface="Microsoft YaHei" panose="020B0503020204020204" pitchFamily="34" charset="-122"/>
                <a:ea typeface="Microsoft YaHei" panose="020B0503020204020204" pitchFamily="34" charset="-122"/>
              </a:rPr>
              <a:t>所逻辑蕴涵的函数依赖的全体。关于逻辑蕴涵，我们已经建立了一套推理规则（ </a:t>
            </a:r>
            <a:r>
              <a:rPr lang="en-US" altLang="zh-CN" dirty="0">
                <a:latin typeface="Microsoft YaHei" panose="020B0503020204020204" pitchFamily="34" charset="-122"/>
                <a:ea typeface="Microsoft YaHei" panose="020B0503020204020204" pitchFamily="34" charset="-122"/>
              </a:rPr>
              <a:t>Armstrong</a:t>
            </a:r>
            <a:r>
              <a:rPr lang="zh-CN" altLang="en-US" dirty="0">
                <a:latin typeface="Microsoft YaHei" panose="020B0503020204020204" pitchFamily="34" charset="-122"/>
                <a:ea typeface="Microsoft YaHei" panose="020B0503020204020204" pitchFamily="34" charset="-122"/>
              </a:rPr>
              <a:t>公理系统），因此自然要问：</a:t>
            </a:r>
          </a:p>
          <a:p>
            <a:pPr eaLnBrk="0" hangingPunct="0">
              <a:lnSpc>
                <a:spcPct val="130000"/>
              </a:lnSpc>
            </a:pPr>
            <a:r>
              <a:rPr lang="zh-CN" altLang="en-US" dirty="0">
                <a:latin typeface="Microsoft YaHei" panose="020B0503020204020204" pitchFamily="34" charset="-122"/>
                <a:ea typeface="Microsoft YaHei" panose="020B0503020204020204" pitchFamily="34" charset="-122"/>
              </a:rPr>
              <a:t>   </a:t>
            </a:r>
            <a:r>
              <a:rPr lang="zh-CN" altLang="en-US" dirty="0">
                <a:solidFill>
                  <a:srgbClr val="FF6600"/>
                </a:solidFill>
                <a:latin typeface="Microsoft YaHei" panose="020B0503020204020204" pitchFamily="34" charset="-122"/>
                <a:ea typeface="Microsoft YaHei" panose="020B0503020204020204" pitchFamily="34" charset="-122"/>
                <a:sym typeface="Wingdings" panose="05000000000000000000" pitchFamily="2" charset="2"/>
              </a:rPr>
              <a:t></a:t>
            </a:r>
            <a:r>
              <a:rPr lang="zh-CN" altLang="en-US" dirty="0">
                <a:latin typeface="Microsoft YaHei" panose="020B0503020204020204" pitchFamily="34" charset="-122"/>
                <a:ea typeface="Microsoft YaHei" panose="020B0503020204020204" pitchFamily="34" charset="-122"/>
              </a:rPr>
              <a:t> 由</a:t>
            </a:r>
            <a:r>
              <a:rPr lang="en-US" altLang="zh-CN" dirty="0">
                <a:latin typeface="Microsoft YaHei" panose="020B0503020204020204" pitchFamily="34" charset="-122"/>
                <a:ea typeface="Microsoft YaHei" panose="020B0503020204020204" pitchFamily="34" charset="-122"/>
              </a:rPr>
              <a:t>F</a:t>
            </a:r>
            <a:r>
              <a:rPr lang="zh-CN" altLang="en-US" dirty="0">
                <a:latin typeface="Microsoft YaHei" panose="020B0503020204020204" pitchFamily="34" charset="-122"/>
                <a:ea typeface="Microsoft YaHei" panose="020B0503020204020204" pitchFamily="34" charset="-122"/>
              </a:rPr>
              <a:t>出发根据</a:t>
            </a:r>
            <a:r>
              <a:rPr lang="en-US" altLang="zh-CN" dirty="0">
                <a:latin typeface="Microsoft YaHei" panose="020B0503020204020204" pitchFamily="34" charset="-122"/>
                <a:ea typeface="Microsoft YaHei" panose="020B0503020204020204" pitchFamily="34" charset="-122"/>
              </a:rPr>
              <a:t>Armstrong</a:t>
            </a:r>
            <a:r>
              <a:rPr lang="zh-CN" altLang="en-US" dirty="0">
                <a:latin typeface="Microsoft YaHei" panose="020B0503020204020204" pitchFamily="34" charset="-122"/>
                <a:ea typeface="Microsoft YaHei" panose="020B0503020204020204" pitchFamily="34" charset="-122"/>
              </a:rPr>
              <a:t>公理能推出的函数依赖是否一定是</a:t>
            </a:r>
            <a:r>
              <a:rPr lang="en-US" altLang="zh-CN" dirty="0">
                <a:latin typeface="Microsoft YaHei" panose="020B0503020204020204" pitchFamily="34" charset="-122"/>
                <a:ea typeface="Microsoft YaHei" panose="020B0503020204020204" pitchFamily="34" charset="-122"/>
              </a:rPr>
              <a:t>F</a:t>
            </a:r>
            <a:r>
              <a:rPr lang="zh-CN" altLang="en-US" dirty="0">
                <a:latin typeface="Microsoft YaHei" panose="020B0503020204020204" pitchFamily="34" charset="-122"/>
                <a:ea typeface="Microsoft YaHei" panose="020B0503020204020204" pitchFamily="34" charset="-122"/>
              </a:rPr>
              <a:t>逻辑蕴涵的，即是否一定在</a:t>
            </a:r>
            <a:r>
              <a:rPr lang="en-US" altLang="zh-CN" dirty="0">
                <a:latin typeface="Microsoft YaHei" panose="020B0503020204020204" pitchFamily="34" charset="-122"/>
                <a:ea typeface="Microsoft YaHei" panose="020B0503020204020204" pitchFamily="34" charset="-122"/>
              </a:rPr>
              <a:t>F+</a:t>
            </a:r>
            <a:r>
              <a:rPr lang="zh-CN" altLang="en-US" dirty="0">
                <a:latin typeface="Microsoft YaHei" panose="020B0503020204020204" pitchFamily="34" charset="-122"/>
                <a:ea typeface="Microsoft YaHei" panose="020B0503020204020204" pitchFamily="34" charset="-122"/>
              </a:rPr>
              <a:t>中？</a:t>
            </a:r>
          </a:p>
          <a:p>
            <a:pPr eaLnBrk="0" hangingPunct="0">
              <a:lnSpc>
                <a:spcPct val="130000"/>
              </a:lnSpc>
            </a:pPr>
            <a:r>
              <a:rPr lang="zh-CN" altLang="en-US" dirty="0">
                <a:latin typeface="Microsoft YaHei" panose="020B0503020204020204" pitchFamily="34" charset="-122"/>
                <a:ea typeface="Microsoft YaHei" panose="020B0503020204020204" pitchFamily="34" charset="-122"/>
              </a:rPr>
              <a:t>   </a:t>
            </a:r>
            <a:r>
              <a:rPr lang="zh-CN" altLang="en-US" dirty="0">
                <a:solidFill>
                  <a:srgbClr val="FF6600"/>
                </a:solidFill>
                <a:latin typeface="Microsoft YaHei" panose="020B0503020204020204" pitchFamily="34" charset="-122"/>
                <a:ea typeface="Microsoft YaHei" panose="020B0503020204020204" pitchFamily="34" charset="-122"/>
                <a:sym typeface="Wingdings" panose="05000000000000000000" pitchFamily="2" charset="2"/>
              </a:rPr>
              <a:t></a:t>
            </a:r>
            <a:r>
              <a:rPr lang="zh-CN" altLang="en-US" dirty="0">
                <a:latin typeface="Microsoft YaHei" panose="020B0503020204020204" pitchFamily="34" charset="-122"/>
                <a:ea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rPr>
              <a:t>F+</a:t>
            </a:r>
            <a:r>
              <a:rPr lang="zh-CN" altLang="en-US" dirty="0">
                <a:latin typeface="Microsoft YaHei" panose="020B0503020204020204" pitchFamily="34" charset="-122"/>
                <a:ea typeface="Microsoft YaHei" panose="020B0503020204020204" pitchFamily="34" charset="-122"/>
              </a:rPr>
              <a:t>中的每一个函数依赖，即</a:t>
            </a:r>
            <a:r>
              <a:rPr lang="en-US" altLang="zh-CN" dirty="0">
                <a:latin typeface="Microsoft YaHei" panose="020B0503020204020204" pitchFamily="34" charset="-122"/>
                <a:ea typeface="Microsoft YaHei" panose="020B0503020204020204" pitchFamily="34" charset="-122"/>
              </a:rPr>
              <a:t>F</a:t>
            </a:r>
            <a:r>
              <a:rPr lang="zh-CN" altLang="en-US" dirty="0">
                <a:latin typeface="Microsoft YaHei" panose="020B0503020204020204" pitchFamily="34" charset="-122"/>
                <a:ea typeface="Microsoft YaHei" panose="020B0503020204020204" pitchFamily="34" charset="-122"/>
              </a:rPr>
              <a:t>逻辑蕴涵的每一个函数依赖，是否一定可以根据</a:t>
            </a:r>
            <a:r>
              <a:rPr lang="en-US" altLang="zh-CN" dirty="0">
                <a:latin typeface="Microsoft YaHei" panose="020B0503020204020204" pitchFamily="34" charset="-122"/>
                <a:ea typeface="Microsoft YaHei" panose="020B0503020204020204" pitchFamily="34" charset="-122"/>
              </a:rPr>
              <a:t>Armstrong</a:t>
            </a:r>
            <a:r>
              <a:rPr lang="zh-CN" altLang="en-US" dirty="0">
                <a:latin typeface="Microsoft YaHei" panose="020B0503020204020204" pitchFamily="34" charset="-122"/>
                <a:ea typeface="Microsoft YaHei" panose="020B0503020204020204" pitchFamily="34" charset="-122"/>
              </a:rPr>
              <a:t>公理推出？</a:t>
            </a:r>
          </a:p>
        </p:txBody>
      </p:sp>
      <p:sp>
        <p:nvSpPr>
          <p:cNvPr id="67587" name="Text Box 4"/>
          <p:cNvSpPr txBox="1"/>
          <p:nvPr/>
        </p:nvSpPr>
        <p:spPr>
          <a:xfrm>
            <a:off x="1056759" y="4056279"/>
            <a:ext cx="6545382" cy="417358"/>
          </a:xfrm>
          <a:prstGeom prst="rect">
            <a:avLst/>
          </a:prstGeom>
          <a:solidFill>
            <a:srgbClr val="FFFFFF"/>
          </a:solidFill>
          <a:ln w="9525">
            <a:noFill/>
          </a:ln>
        </p:spPr>
        <p:txBody>
          <a:bodyPr wrap="none" anchor="t" anchorCtr="0">
            <a:spAutoFit/>
          </a:bodyPr>
          <a:lstStyle/>
          <a:p>
            <a:pPr eaLnBrk="0" hangingPunct="0">
              <a:lnSpc>
                <a:spcPct val="130000"/>
              </a:lnSpc>
            </a:pPr>
            <a:r>
              <a:rPr lang="en-US" altLang="zh-CN" dirty="0">
                <a:solidFill>
                  <a:schemeClr val="tx2"/>
                </a:solidFill>
                <a:latin typeface="Microsoft YaHei" panose="020B0503020204020204" pitchFamily="34" charset="-122"/>
                <a:ea typeface="Microsoft YaHei" panose="020B0503020204020204" pitchFamily="34" charset="-122"/>
              </a:rPr>
              <a:t>F+ = { </a:t>
            </a:r>
            <a:r>
              <a:rPr lang="zh-CN" altLang="en-US" dirty="0">
                <a:solidFill>
                  <a:schemeClr val="tx2"/>
                </a:solidFill>
                <a:latin typeface="Microsoft YaHei" panose="020B0503020204020204" pitchFamily="34" charset="-122"/>
                <a:ea typeface="Microsoft YaHei" panose="020B0503020204020204" pitchFamily="34" charset="-122"/>
              </a:rPr>
              <a:t>由</a:t>
            </a:r>
            <a:r>
              <a:rPr lang="en-US" altLang="zh-CN" dirty="0">
                <a:solidFill>
                  <a:schemeClr val="tx2"/>
                </a:solidFill>
                <a:latin typeface="Microsoft YaHei" panose="020B0503020204020204" pitchFamily="34" charset="-122"/>
                <a:ea typeface="Microsoft YaHei" panose="020B0503020204020204" pitchFamily="34" charset="-122"/>
              </a:rPr>
              <a:t>F</a:t>
            </a:r>
            <a:r>
              <a:rPr lang="zh-CN" altLang="en-US" dirty="0">
                <a:solidFill>
                  <a:schemeClr val="tx2"/>
                </a:solidFill>
                <a:latin typeface="Microsoft YaHei" panose="020B0503020204020204" pitchFamily="34" charset="-122"/>
                <a:ea typeface="Microsoft YaHei" panose="020B0503020204020204" pitchFamily="34" charset="-122"/>
              </a:rPr>
              <a:t>出发根据</a:t>
            </a:r>
            <a:r>
              <a:rPr lang="en-US" altLang="zh-CN" dirty="0">
                <a:solidFill>
                  <a:schemeClr val="tx2"/>
                </a:solidFill>
                <a:latin typeface="Microsoft YaHei" panose="020B0503020204020204" pitchFamily="34" charset="-122"/>
                <a:ea typeface="Microsoft YaHei" panose="020B0503020204020204" pitchFamily="34" charset="-122"/>
              </a:rPr>
              <a:t>Armstrong</a:t>
            </a:r>
            <a:r>
              <a:rPr lang="zh-CN" altLang="en-US" dirty="0">
                <a:solidFill>
                  <a:schemeClr val="tx2"/>
                </a:solidFill>
                <a:latin typeface="Microsoft YaHei" panose="020B0503020204020204" pitchFamily="34" charset="-122"/>
                <a:ea typeface="Microsoft YaHei" panose="020B0503020204020204" pitchFamily="34" charset="-122"/>
              </a:rPr>
              <a:t>公理能推出的函数依赖的全体 </a:t>
            </a:r>
            <a:r>
              <a:rPr lang="en-US" altLang="zh-CN" dirty="0">
                <a:solidFill>
                  <a:schemeClr val="tx2"/>
                </a:solidFill>
                <a:latin typeface="Microsoft YaHei" panose="020B0503020204020204" pitchFamily="34" charset="-122"/>
                <a:ea typeface="Microsoft YaHei" panose="020B0503020204020204" pitchFamily="34" charset="-122"/>
              </a:rPr>
              <a:t>}</a:t>
            </a:r>
            <a:endParaRPr lang="en-US" altLang="zh-CN" dirty="0">
              <a:latin typeface="Microsoft YaHei" panose="020B0503020204020204" pitchFamily="34" charset="-122"/>
              <a:ea typeface="Microsoft YaHei" panose="020B0503020204020204" pitchFamily="34" charset="-122"/>
            </a:endParaRPr>
          </a:p>
        </p:txBody>
      </p:sp>
      <p:sp>
        <p:nvSpPr>
          <p:cNvPr id="67588" name="Text Box 5"/>
          <p:cNvSpPr txBox="1"/>
          <p:nvPr/>
        </p:nvSpPr>
        <p:spPr>
          <a:xfrm>
            <a:off x="7515741" y="3973197"/>
            <a:ext cx="571500" cy="589200"/>
          </a:xfrm>
          <a:prstGeom prst="rect">
            <a:avLst/>
          </a:prstGeom>
          <a:noFill/>
          <a:ln w="9525">
            <a:noFill/>
          </a:ln>
        </p:spPr>
        <p:txBody>
          <a:bodyPr lIns="0" tIns="0" rIns="0" bIns="0" anchor="t" anchorCtr="0">
            <a:spAutoFit/>
          </a:bodyPr>
          <a:lstStyle/>
          <a:p>
            <a:pPr eaLnBrk="0" hangingPunct="0">
              <a:lnSpc>
                <a:spcPct val="130000"/>
              </a:lnSpc>
            </a:pPr>
            <a:r>
              <a:rPr lang="zh-CN" altLang="en-US" sz="3300" dirty="0">
                <a:solidFill>
                  <a:srgbClr val="FF3399"/>
                </a:solidFill>
                <a:latin typeface="Times New Roman" panose="02020603050405020304" pitchFamily="18" charset="0"/>
                <a:ea typeface="宋体" panose="02010600030101010101" pitchFamily="2" charset="-122"/>
              </a:rPr>
              <a:t>？</a:t>
            </a:r>
          </a:p>
        </p:txBody>
      </p:sp>
      <p:sp>
        <p:nvSpPr>
          <p:cNvPr id="2" name="标题 1">
            <a:extLst>
              <a:ext uri="{FF2B5EF4-FFF2-40B4-BE49-F238E27FC236}">
                <a16:creationId xmlns:a16="http://schemas.microsoft.com/office/drawing/2014/main" id="{93BE84AB-09BA-DA97-0D1C-F2990BDA51DF}"/>
              </a:ext>
            </a:extLst>
          </p:cNvPr>
          <p:cNvSpPr>
            <a:spLocks noGrp="1"/>
          </p:cNvSpPr>
          <p:nvPr>
            <p:ph type="title"/>
          </p:nvPr>
        </p:nvSpPr>
        <p:spPr/>
        <p:txBody>
          <a:bodyPr>
            <a:normAutofit/>
          </a:bodyPr>
          <a:lstStyle/>
          <a:p>
            <a:r>
              <a:rPr lang="zh-CN" altLang="en" dirty="0"/>
              <a:t>阿氏</a:t>
            </a:r>
            <a:r>
              <a:rPr lang="zh-CN" altLang="en-US" dirty="0"/>
              <a:t>公理系统的有效性和完备性</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ext Box 2"/>
          <p:cNvSpPr txBox="1"/>
          <p:nvPr/>
        </p:nvSpPr>
        <p:spPr>
          <a:xfrm>
            <a:off x="139485" y="1317918"/>
            <a:ext cx="8947866" cy="1200329"/>
          </a:xfrm>
          <a:prstGeom prst="rect">
            <a:avLst/>
          </a:prstGeom>
          <a:noFill/>
          <a:ln w="9525">
            <a:noFill/>
          </a:ln>
        </p:spPr>
        <p:txBody>
          <a:bodyPr wrap="square" anchor="t" anchorCtr="0">
            <a:spAutoFit/>
          </a:bodyPr>
          <a:lstStyle/>
          <a:p>
            <a:pPr eaLnBrk="0" hangingPunct="0"/>
            <a:r>
              <a:rPr lang="zh-CN" altLang="en-US" b="1" dirty="0">
                <a:latin typeface="Microsoft YaHei" panose="020B0503020204020204" pitchFamily="34" charset="-122"/>
                <a:ea typeface="Microsoft YaHei" panose="020B0503020204020204" pitchFamily="34" charset="-122"/>
              </a:rPr>
              <a:t>有效性：</a:t>
            </a:r>
          </a:p>
          <a:p>
            <a:pPr eaLnBrk="0" hangingPunct="0"/>
            <a:r>
              <a:rPr lang="zh-CN" altLang="en-US" dirty="0">
                <a:latin typeface="Microsoft YaHei" panose="020B0503020204020204" pitchFamily="34" charset="-122"/>
                <a:ea typeface="Microsoft YaHei" panose="020B0503020204020204" pitchFamily="34" charset="-122"/>
              </a:rPr>
              <a:t>    有效性就是正确性， </a:t>
            </a:r>
            <a:r>
              <a:rPr lang="en-US" altLang="zh-CN" dirty="0">
                <a:latin typeface="Microsoft YaHei" panose="020B0503020204020204" pitchFamily="34" charset="-122"/>
                <a:ea typeface="Microsoft YaHei" panose="020B0503020204020204" pitchFamily="34" charset="-122"/>
              </a:rPr>
              <a:t>Armstrong</a:t>
            </a:r>
            <a:r>
              <a:rPr lang="zh-CN" altLang="en-US" dirty="0">
                <a:latin typeface="Microsoft YaHei" panose="020B0503020204020204" pitchFamily="34" charset="-122"/>
                <a:ea typeface="Microsoft YaHei" panose="020B0503020204020204" pitchFamily="34" charset="-122"/>
              </a:rPr>
              <a:t>公理的正确性就是由该公理系统推出的函数依赖都是正确的。而正确性的标准就是只要</a:t>
            </a:r>
            <a:r>
              <a:rPr lang="en-US" altLang="zh-CN" dirty="0">
                <a:latin typeface="Microsoft YaHei" panose="020B0503020204020204" pitchFamily="34" charset="-122"/>
                <a:ea typeface="Microsoft YaHei" panose="020B0503020204020204" pitchFamily="34" charset="-122"/>
              </a:rPr>
              <a:t>F</a:t>
            </a:r>
            <a:r>
              <a:rPr lang="zh-CN" altLang="en-US" dirty="0">
                <a:latin typeface="Microsoft YaHei" panose="020B0503020204020204" pitchFamily="34" charset="-122"/>
                <a:ea typeface="Microsoft YaHei" panose="020B0503020204020204" pitchFamily="34" charset="-122"/>
              </a:rPr>
              <a:t>中的函数依赖为真，则由公理推出的函数依赖也为真。换句话说，由</a:t>
            </a:r>
            <a:r>
              <a:rPr lang="en-US" altLang="zh-CN" dirty="0">
                <a:latin typeface="Microsoft YaHei" panose="020B0503020204020204" pitchFamily="34" charset="-122"/>
                <a:ea typeface="Microsoft YaHei" panose="020B0503020204020204" pitchFamily="34" charset="-122"/>
              </a:rPr>
              <a:t>F</a:t>
            </a:r>
            <a:r>
              <a:rPr lang="zh-CN" altLang="en-US" dirty="0">
                <a:latin typeface="Microsoft YaHei" panose="020B0503020204020204" pitchFamily="34" charset="-122"/>
                <a:ea typeface="Microsoft YaHei" panose="020B0503020204020204" pitchFamily="34" charset="-122"/>
              </a:rPr>
              <a:t>出发根据</a:t>
            </a:r>
            <a:r>
              <a:rPr lang="en-US" altLang="zh-CN" dirty="0">
                <a:latin typeface="Microsoft YaHei" panose="020B0503020204020204" pitchFamily="34" charset="-122"/>
                <a:ea typeface="Microsoft YaHei" panose="020B0503020204020204" pitchFamily="34" charset="-122"/>
              </a:rPr>
              <a:t>Armstrong</a:t>
            </a:r>
            <a:r>
              <a:rPr lang="zh-CN" altLang="en-US" dirty="0">
                <a:latin typeface="Microsoft YaHei" panose="020B0503020204020204" pitchFamily="34" charset="-122"/>
                <a:ea typeface="Microsoft YaHei" panose="020B0503020204020204" pitchFamily="34" charset="-122"/>
              </a:rPr>
              <a:t>公理能推出的函数依赖一定在</a:t>
            </a:r>
            <a:r>
              <a:rPr lang="en-US" altLang="zh-CN" dirty="0">
                <a:latin typeface="Microsoft YaHei" panose="020B0503020204020204" pitchFamily="34" charset="-122"/>
                <a:ea typeface="Microsoft YaHei" panose="020B0503020204020204" pitchFamily="34" charset="-122"/>
              </a:rPr>
              <a:t>F+</a:t>
            </a:r>
            <a:r>
              <a:rPr lang="zh-CN" altLang="en-US" dirty="0">
                <a:latin typeface="Microsoft YaHei" panose="020B0503020204020204" pitchFamily="34" charset="-122"/>
                <a:ea typeface="Microsoft YaHei" panose="020B0503020204020204" pitchFamily="34" charset="-122"/>
              </a:rPr>
              <a:t>中</a:t>
            </a:r>
          </a:p>
        </p:txBody>
      </p:sp>
      <p:sp>
        <p:nvSpPr>
          <p:cNvPr id="68610" name="Text Box 3"/>
          <p:cNvSpPr txBox="1"/>
          <p:nvPr/>
        </p:nvSpPr>
        <p:spPr>
          <a:xfrm>
            <a:off x="139485" y="2582617"/>
            <a:ext cx="8849532" cy="1283428"/>
          </a:xfrm>
          <a:prstGeom prst="rect">
            <a:avLst/>
          </a:prstGeom>
          <a:noFill/>
          <a:ln w="9525">
            <a:noFill/>
          </a:ln>
        </p:spPr>
        <p:txBody>
          <a:bodyPr wrap="square" anchor="t" anchorCtr="0">
            <a:spAutoFit/>
          </a:bodyPr>
          <a:lstStyle/>
          <a:p>
            <a:pPr eaLnBrk="0" hangingPunct="0">
              <a:lnSpc>
                <a:spcPct val="130000"/>
              </a:lnSpc>
            </a:pPr>
            <a:r>
              <a:rPr lang="zh-CN" altLang="en-US" b="1" dirty="0">
                <a:latin typeface="Microsoft YaHei" panose="020B0503020204020204" pitchFamily="34" charset="-122"/>
                <a:ea typeface="Microsoft YaHei" panose="020B0503020204020204" pitchFamily="34" charset="-122"/>
              </a:rPr>
              <a:t>完备性：</a:t>
            </a:r>
          </a:p>
          <a:p>
            <a:pPr eaLnBrk="0" hangingPunct="0"/>
            <a:r>
              <a:rPr lang="zh-CN" altLang="en-US" dirty="0">
                <a:latin typeface="Microsoft YaHei" panose="020B0503020204020204" pitchFamily="34" charset="-122"/>
                <a:ea typeface="Microsoft YaHei" panose="020B0503020204020204" pitchFamily="34" charset="-122"/>
              </a:rPr>
              <a:t>    完备性就是要讨论用公理能否推出所有的函数依赖。因为如果存在</a:t>
            </a:r>
            <a:r>
              <a:rPr lang="en-US" altLang="zh-CN" dirty="0">
                <a:latin typeface="Microsoft YaHei" panose="020B0503020204020204" pitchFamily="34" charset="-122"/>
                <a:ea typeface="Microsoft YaHei" panose="020B0503020204020204" pitchFamily="34" charset="-122"/>
              </a:rPr>
              <a:t>F</a:t>
            </a:r>
            <a:r>
              <a:rPr lang="zh-CN" altLang="en-US" dirty="0">
                <a:latin typeface="Microsoft YaHei" panose="020B0503020204020204" pitchFamily="34" charset="-122"/>
                <a:ea typeface="Microsoft YaHei" panose="020B0503020204020204" pitchFamily="34" charset="-122"/>
              </a:rPr>
              <a:t>逻辑蕴涵的函数依赖不能用公理推出，则说明这些公理不够用，是不完全的，还必须补充新的公理。因此，完备性就是指</a:t>
            </a:r>
            <a:r>
              <a:rPr lang="en-US" altLang="zh-CN" dirty="0">
                <a:latin typeface="Microsoft YaHei" panose="020B0503020204020204" pitchFamily="34" charset="-122"/>
                <a:ea typeface="Microsoft YaHei" panose="020B0503020204020204" pitchFamily="34" charset="-122"/>
              </a:rPr>
              <a:t>F+</a:t>
            </a:r>
            <a:r>
              <a:rPr lang="zh-CN" altLang="en-US" dirty="0">
                <a:latin typeface="Microsoft YaHei" panose="020B0503020204020204" pitchFamily="34" charset="-122"/>
                <a:ea typeface="Microsoft YaHei" panose="020B0503020204020204" pitchFamily="34" charset="-122"/>
              </a:rPr>
              <a:t>中的每一个函数依赖，一定可以根据</a:t>
            </a:r>
            <a:r>
              <a:rPr lang="en-US" altLang="zh-CN" dirty="0">
                <a:latin typeface="Microsoft YaHei" panose="020B0503020204020204" pitchFamily="34" charset="-122"/>
                <a:ea typeface="Microsoft YaHei" panose="020B0503020204020204" pitchFamily="34" charset="-122"/>
              </a:rPr>
              <a:t>Armstrong</a:t>
            </a:r>
            <a:r>
              <a:rPr lang="zh-CN" altLang="en-US" dirty="0">
                <a:latin typeface="Microsoft YaHei" panose="020B0503020204020204" pitchFamily="34" charset="-122"/>
                <a:ea typeface="Microsoft YaHei" panose="020B0503020204020204" pitchFamily="34" charset="-122"/>
              </a:rPr>
              <a:t>公理推出</a:t>
            </a:r>
          </a:p>
        </p:txBody>
      </p:sp>
      <p:sp>
        <p:nvSpPr>
          <p:cNvPr id="291843" name="Text Box 3"/>
          <p:cNvSpPr txBox="1"/>
          <p:nvPr/>
        </p:nvSpPr>
        <p:spPr>
          <a:xfrm>
            <a:off x="1719848" y="3969589"/>
            <a:ext cx="5688806" cy="690638"/>
          </a:xfrm>
          <a:prstGeom prst="rect">
            <a:avLst/>
          </a:prstGeom>
          <a:noFill/>
          <a:ln w="38100" cap="flat" cmpd="sng">
            <a:solidFill>
              <a:srgbClr val="FF0066"/>
            </a:solidFill>
            <a:prstDash val="solid"/>
            <a:miter/>
            <a:headEnd type="none" w="med" len="med"/>
            <a:tailEnd type="none" w="med" len="med"/>
          </a:ln>
        </p:spPr>
        <p:txBody>
          <a:bodyPr wrap="square" anchor="t" anchorCtr="0">
            <a:spAutoFit/>
          </a:bodyPr>
          <a:lstStyle/>
          <a:p>
            <a:pPr algn="ctr" eaLnBrk="0" hangingPunct="0"/>
            <a:r>
              <a:rPr lang="zh-CN" altLang="en-US" dirty="0">
                <a:latin typeface="Microsoft YaHei" panose="020B0503020204020204" pitchFamily="34" charset="-122"/>
                <a:ea typeface="Microsoft YaHei" panose="020B0503020204020204" pitchFamily="34" charset="-122"/>
              </a:rPr>
              <a:t>公理的正确性保证了推出的所有函数依赖都是正确的；</a:t>
            </a:r>
          </a:p>
          <a:p>
            <a:pPr algn="ctr" eaLnBrk="0" hangingPunct="0">
              <a:lnSpc>
                <a:spcPct val="130000"/>
              </a:lnSpc>
            </a:pPr>
            <a:r>
              <a:rPr lang="zh-CN" altLang="en-US" dirty="0">
                <a:latin typeface="Microsoft YaHei" panose="020B0503020204020204" pitchFamily="34" charset="-122"/>
                <a:ea typeface="Microsoft YaHei" panose="020B0503020204020204" pitchFamily="34" charset="-122"/>
              </a:rPr>
              <a:t>公理的完备性保证了可以推出所有的函数依赖。</a:t>
            </a:r>
          </a:p>
        </p:txBody>
      </p:sp>
      <p:sp>
        <p:nvSpPr>
          <p:cNvPr id="2" name="标题 1">
            <a:extLst>
              <a:ext uri="{FF2B5EF4-FFF2-40B4-BE49-F238E27FC236}">
                <a16:creationId xmlns:a16="http://schemas.microsoft.com/office/drawing/2014/main" id="{18262C36-9945-0C89-1BC5-08FDEC192E66}"/>
              </a:ext>
            </a:extLst>
          </p:cNvPr>
          <p:cNvSpPr>
            <a:spLocks noGrp="1"/>
          </p:cNvSpPr>
          <p:nvPr>
            <p:ph type="title"/>
          </p:nvPr>
        </p:nvSpPr>
        <p:spPr/>
        <p:txBody>
          <a:bodyPr>
            <a:normAutofit/>
          </a:bodyPr>
          <a:lstStyle/>
          <a:p>
            <a:r>
              <a:rPr lang="zh-CN" altLang="en-US" dirty="0"/>
              <a:t>何谓有效性？何谓完备性？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18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09" grpId="0" build="p" animBg="1"/>
      <p:bldP spid="68610" grpId="0" build="p" animBg="1"/>
      <p:bldP spid="291843"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p:cNvSpPr>
          <p:nvPr>
            <p:ph type="title"/>
          </p:nvPr>
        </p:nvSpPr>
        <p:spPr/>
        <p:txBody>
          <a:bodyPr vert="horz" wrap="square" lIns="68580" tIns="34290" rIns="68580" bIns="34290" rtlCol="0" anchor="b" anchorCtr="0">
            <a:normAutofit/>
          </a:bodyPr>
          <a:lstStyle/>
          <a:p>
            <a:pPr eaLnBrk="1" hangingPunct="1"/>
            <a:r>
              <a:rPr lang="zh-CN" altLang="en-US" dirty="0">
                <a:effectLst/>
                <a:latin typeface="宋体" panose="02010600030101010101" pitchFamily="2" charset="-122"/>
              </a:rPr>
              <a:t>从函数依赖到候选键</a:t>
            </a:r>
            <a:endParaRPr lang="zh-CN" altLang="en-US" dirty="0">
              <a:effectLst/>
              <a:latin typeface="宋体" panose="02010600030101010101" pitchFamily="2" charset="-122"/>
              <a:ea typeface="Times New Roman" panose="02020603050405020304" pitchFamily="18" charset="0"/>
            </a:endParaRPr>
          </a:p>
        </p:txBody>
      </p:sp>
      <p:sp>
        <p:nvSpPr>
          <p:cNvPr id="2" name="Rectangle 3"/>
          <p:cNvSpPr>
            <a:spLocks noGrp="1"/>
          </p:cNvSpPr>
          <p:nvPr>
            <p:custDataLst>
              <p:tags r:id="rId1"/>
            </p:custDataLst>
          </p:nvPr>
        </p:nvSpPr>
        <p:spPr>
          <a:xfrm>
            <a:off x="318373" y="1253548"/>
            <a:ext cx="8507254" cy="3847090"/>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marL="0" indent="0" eaLnBrk="1" hangingPunct="1"/>
            <a:r>
              <a:rPr lang="zh-CN" altLang="en-US" sz="1600" dirty="0">
                <a:latin typeface="Microsoft YaHei" panose="020B0503020204020204" pitchFamily="34" charset="-122"/>
                <a:ea typeface="Microsoft YaHei" panose="020B0503020204020204" pitchFamily="34" charset="-122"/>
              </a:rPr>
              <a:t> </a:t>
            </a:r>
            <a:r>
              <a:rPr lang="zh-CN" altLang="en-US" sz="1600" dirty="0">
                <a:solidFill>
                  <a:schemeClr val="hlink"/>
                </a:solidFill>
                <a:latin typeface="Microsoft YaHei" panose="020B0503020204020204" pitchFamily="34" charset="-122"/>
                <a:ea typeface="Microsoft YaHei" panose="020B0503020204020204" pitchFamily="34" charset="-122"/>
              </a:rPr>
              <a:t>讨论：</a:t>
            </a:r>
            <a:r>
              <a:rPr lang="zh-CN" altLang="en-US" sz="1600" dirty="0">
                <a:latin typeface="Microsoft YaHei" panose="020B0503020204020204" pitchFamily="34" charset="-122"/>
                <a:ea typeface="Microsoft YaHei" panose="020B0503020204020204" pitchFamily="34" charset="-122"/>
              </a:rPr>
              <a:t>给出函数依赖集，如何求出该关系所有的侯选键？</a:t>
            </a:r>
          </a:p>
          <a:p>
            <a:pPr marL="0" indent="0" eaLnBrk="1" hangingPunct="1">
              <a:buNone/>
            </a:pPr>
            <a:r>
              <a:rPr lang="zh-CN" altLang="en-US" sz="1600" dirty="0">
                <a:latin typeface="Microsoft YaHei" panose="020B0503020204020204" pitchFamily="34" charset="-122"/>
                <a:ea typeface="Microsoft YaHei" panose="020B0503020204020204" pitchFamily="34" charset="-122"/>
              </a:rPr>
              <a:t>       给定一个关系模式R(U,F),U={A1,A2,…An},那么可以将属性分为如下四类：</a:t>
            </a:r>
          </a:p>
          <a:p>
            <a:pPr marL="0" indent="0" eaLnBrk="1" hangingPunct="1">
              <a:buNone/>
            </a:pPr>
            <a:r>
              <a:rPr lang="zh-CN" altLang="en-US" sz="1600" dirty="0">
                <a:latin typeface="Microsoft YaHei" panose="020B0503020204020204" pitchFamily="34" charset="-122"/>
                <a:ea typeface="Microsoft YaHei" panose="020B0503020204020204" pitchFamily="34" charset="-122"/>
              </a:rPr>
              <a:t>（1）L: 仅出现在函数依赖集F左部的属性。</a:t>
            </a:r>
          </a:p>
          <a:p>
            <a:pPr marL="0" indent="0" eaLnBrk="1" hangingPunct="1">
              <a:buNone/>
            </a:pPr>
            <a:r>
              <a:rPr lang="zh-CN" altLang="en-US" sz="1600" dirty="0">
                <a:latin typeface="Microsoft YaHei" panose="020B0503020204020204" pitchFamily="34" charset="-122"/>
                <a:ea typeface="Microsoft YaHei" panose="020B0503020204020204" pitchFamily="34" charset="-122"/>
              </a:rPr>
              <a:t>（2）R: 仅出现在函数依赖集F右部的属性。</a:t>
            </a:r>
          </a:p>
          <a:p>
            <a:pPr marL="0" indent="0" eaLnBrk="1" hangingPunct="1">
              <a:buNone/>
            </a:pPr>
            <a:r>
              <a:rPr lang="zh-CN" altLang="en-US" sz="1600" dirty="0">
                <a:latin typeface="Microsoft YaHei" panose="020B0503020204020204" pitchFamily="34" charset="-122"/>
                <a:ea typeface="Microsoft YaHei" panose="020B0503020204020204" pitchFamily="34" charset="-122"/>
              </a:rPr>
              <a:t>（3）LR: 在函数依赖集F左、右部都出现的属性。</a:t>
            </a:r>
          </a:p>
          <a:p>
            <a:pPr marL="0" indent="0" eaLnBrk="1" hangingPunct="1">
              <a:buNone/>
            </a:pPr>
            <a:r>
              <a:rPr lang="zh-CN" altLang="en-US" sz="1600" dirty="0">
                <a:latin typeface="Microsoft YaHei" panose="020B0503020204020204" pitchFamily="34" charset="-122"/>
                <a:ea typeface="Microsoft YaHei" panose="020B0503020204020204" pitchFamily="34" charset="-122"/>
              </a:rPr>
              <a:t>（4）NLR: 在函数依赖集F左、右部都未出现的属性。</a:t>
            </a:r>
          </a:p>
          <a:p>
            <a:pPr marL="0" indent="0" eaLnBrk="1" hangingPunct="1">
              <a:buNone/>
            </a:pPr>
            <a:r>
              <a:rPr lang="zh-CN" altLang="en-US" sz="1600" dirty="0">
                <a:latin typeface="Microsoft YaHei" panose="020B0503020204020204" pitchFamily="34" charset="-122"/>
                <a:ea typeface="Microsoft YaHei" panose="020B0503020204020204" pitchFamily="34" charset="-122"/>
              </a:rPr>
              <a:t> </a:t>
            </a:r>
            <a:endParaRPr lang="en-US" altLang="zh-CN" sz="1600" dirty="0">
              <a:latin typeface="Microsoft YaHei" panose="020B0503020204020204" pitchFamily="34" charset="-122"/>
              <a:ea typeface="Microsoft YaHei" panose="020B0503020204020204" pitchFamily="34" charset="-122"/>
            </a:endParaRPr>
          </a:p>
          <a:p>
            <a:pPr marL="0" indent="0" eaLnBrk="1" hangingPunct="1"/>
            <a:r>
              <a:rPr lang="zh-CN" altLang="zh-CN" sz="1600" dirty="0">
                <a:latin typeface="Microsoft YaHei" panose="020B0503020204020204" pitchFamily="34" charset="-122"/>
                <a:ea typeface="Microsoft YaHei" panose="020B0503020204020204" pitchFamily="34" charset="-122"/>
              </a:rPr>
              <a:t>有关侯选</a:t>
            </a:r>
            <a:r>
              <a:rPr lang="zh-CN" altLang="en-US" sz="1600" dirty="0">
                <a:latin typeface="Microsoft YaHei" panose="020B0503020204020204" pitchFamily="34" charset="-122"/>
                <a:ea typeface="Microsoft YaHei" panose="020B0503020204020204" pitchFamily="34" charset="-122"/>
              </a:rPr>
              <a:t>键</a:t>
            </a:r>
            <a:r>
              <a:rPr lang="zh-CN" altLang="zh-CN" sz="1600" dirty="0">
                <a:latin typeface="Microsoft YaHei" panose="020B0503020204020204" pitchFamily="34" charset="-122"/>
                <a:ea typeface="Microsoft YaHei" panose="020B0503020204020204" pitchFamily="34" charset="-122"/>
              </a:rPr>
              <a:t>的相关结论</a:t>
            </a:r>
            <a:r>
              <a:rPr lang="en-US" altLang="zh-CN" sz="1600" dirty="0">
                <a:latin typeface="Microsoft YaHei" panose="020B0503020204020204" pitchFamily="34" charset="-122"/>
                <a:ea typeface="Microsoft YaHei" panose="020B0503020204020204" pitchFamily="34" charset="-122"/>
              </a:rPr>
              <a:t>：</a:t>
            </a:r>
          </a:p>
          <a:p>
            <a:pPr marL="0" indent="0" eaLnBrk="1" hangingPunct="1">
              <a:buNone/>
            </a:pPr>
            <a:r>
              <a:rPr lang="zh-CN" altLang="en-US" sz="1600" dirty="0">
                <a:latin typeface="Microsoft YaHei" panose="020B0503020204020204" pitchFamily="34" charset="-122"/>
                <a:ea typeface="Microsoft YaHei" panose="020B0503020204020204" pitchFamily="34" charset="-122"/>
              </a:rPr>
              <a:t>（1）若X(X⊆U)是L类属性，则X必为R的任一侯选键的成员。</a:t>
            </a:r>
          </a:p>
          <a:p>
            <a:pPr marL="0" indent="0" eaLnBrk="1" hangingPunct="1">
              <a:buNone/>
            </a:pPr>
            <a:r>
              <a:rPr lang="zh-CN" altLang="en-US" sz="1600" dirty="0">
                <a:latin typeface="Microsoft YaHei" panose="020B0503020204020204" pitchFamily="34" charset="-122"/>
                <a:ea typeface="Microsoft YaHei" panose="020B0503020204020204" pitchFamily="34" charset="-122"/>
              </a:rPr>
              <a:t>（2）若X(X⊆U)是R类属性，则X不是R的任一侯选键的成员。</a:t>
            </a:r>
          </a:p>
          <a:p>
            <a:pPr marL="0" indent="0" eaLnBrk="1" hangingPunct="1">
              <a:buNone/>
            </a:pPr>
            <a:r>
              <a:rPr lang="zh-CN" altLang="en-US" sz="1600" dirty="0">
                <a:latin typeface="Microsoft YaHei" panose="020B0503020204020204" pitchFamily="34" charset="-122"/>
                <a:ea typeface="Microsoft YaHei" panose="020B0503020204020204" pitchFamily="34" charset="-122"/>
              </a:rPr>
              <a:t>（3）若X(X⊆U)是NLR类属性，则X必为R的任一侯选键的成员。</a:t>
            </a:r>
          </a:p>
          <a:p>
            <a:pPr marL="0" indent="0" eaLnBrk="1" hangingPunct="1">
              <a:buNone/>
            </a:pPr>
            <a:r>
              <a:rPr lang="zh-CN" altLang="en-US" sz="1600" dirty="0">
                <a:latin typeface="Microsoft YaHei" panose="020B0503020204020204" pitchFamily="34" charset="-122"/>
                <a:ea typeface="Microsoft YaHei" panose="020B0503020204020204" pitchFamily="34" charset="-122"/>
              </a:rPr>
              <a:t>（4）若X(X⊆U)是L类和NLR类属性组成的属性集，且X</a:t>
            </a:r>
            <a:r>
              <a:rPr lang="zh-CN" altLang="en-US" sz="1600" baseline="-25000" dirty="0">
                <a:latin typeface="Microsoft YaHei" panose="020B0503020204020204" pitchFamily="34" charset="-122"/>
                <a:ea typeface="Microsoft YaHei" panose="020B0503020204020204" pitchFamily="34" charset="-122"/>
              </a:rPr>
              <a:t>F</a:t>
            </a:r>
            <a:r>
              <a:rPr lang="zh-CN" altLang="en-US" sz="1600" baseline="30000" dirty="0">
                <a:latin typeface="Microsoft YaHei" panose="020B0503020204020204" pitchFamily="34" charset="-122"/>
                <a:ea typeface="Microsoft YaHei" panose="020B0503020204020204" pitchFamily="34" charset="-122"/>
              </a:rPr>
              <a:t>+</a:t>
            </a:r>
            <a:r>
              <a:rPr lang="zh-CN" altLang="en-US" sz="1600" dirty="0">
                <a:latin typeface="Microsoft YaHei" panose="020B0503020204020204" pitchFamily="34" charset="-122"/>
                <a:ea typeface="Microsoft YaHei" panose="020B0503020204020204" pitchFamily="34" charset="-122"/>
              </a:rPr>
              <a:t>=U，则X必为R的惟一侯选键。</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3"/>
          <p:cNvSpPr>
            <a:spLocks noGrp="1"/>
          </p:cNvSpPr>
          <p:nvPr>
            <p:ph idx="1"/>
          </p:nvPr>
        </p:nvSpPr>
        <p:spPr/>
        <p:txBody>
          <a:bodyPr vert="horz" wrap="square" lIns="68580" tIns="34290" rIns="68580" bIns="34290" anchor="t" anchorCtr="0">
            <a:normAutofit fontScale="77500" lnSpcReduction="20000"/>
          </a:bodyPr>
          <a:lstStyle/>
          <a:p>
            <a:pPr>
              <a:lnSpc>
                <a:spcPct val="100000"/>
              </a:lnSpc>
              <a:buNone/>
            </a:pPr>
            <a:r>
              <a:rPr lang="en-US" altLang="zh-CN" sz="1800" b="1" dirty="0">
                <a:solidFill>
                  <a:schemeClr val="hlink"/>
                </a:solidFill>
              </a:rPr>
              <a:t>【</a:t>
            </a:r>
            <a:r>
              <a:rPr lang="zh-CN" altLang="en-US" sz="1800" b="1" dirty="0">
                <a:solidFill>
                  <a:schemeClr val="hlink"/>
                </a:solidFill>
              </a:rPr>
              <a:t>例</a:t>
            </a:r>
            <a:r>
              <a:rPr lang="en-US" altLang="zh-CN" sz="1800" b="1" dirty="0">
                <a:solidFill>
                  <a:schemeClr val="hlink"/>
                </a:solidFill>
              </a:rPr>
              <a:t>】</a:t>
            </a:r>
            <a:r>
              <a:rPr lang="zh-CN" altLang="en-US" sz="1800" b="1" dirty="0">
                <a:solidFill>
                  <a:schemeClr val="hlink"/>
                </a:solidFill>
              </a:rPr>
              <a:t>:</a:t>
            </a:r>
            <a:r>
              <a:rPr lang="zh-CN" altLang="en-US" sz="1800" dirty="0"/>
              <a:t>判断下列模式属于第几范式？</a:t>
            </a:r>
          </a:p>
          <a:p>
            <a:pPr>
              <a:lnSpc>
                <a:spcPct val="100000"/>
              </a:lnSpc>
              <a:buNone/>
            </a:pPr>
            <a:r>
              <a:rPr lang="en-US" altLang="zh-CN" sz="1800" dirty="0"/>
              <a:t>(1)</a:t>
            </a:r>
            <a:r>
              <a:rPr lang="zh-CN" altLang="en-US" sz="1800" dirty="0"/>
              <a:t>R1(A,B,C,D),F1={A→B, AC→D}</a:t>
            </a:r>
          </a:p>
          <a:p>
            <a:pPr>
              <a:lnSpc>
                <a:spcPct val="100000"/>
              </a:lnSpc>
              <a:buNone/>
            </a:pPr>
            <a:r>
              <a:rPr lang="en-US" altLang="zh-CN" dirty="0">
                <a:solidFill>
                  <a:schemeClr val="tx1"/>
                </a:solidFill>
              </a:rPr>
              <a:t>     </a:t>
            </a:r>
            <a:r>
              <a:rPr lang="en-US" altLang="zh-CN" sz="1800" dirty="0"/>
              <a:t>L</a:t>
            </a:r>
            <a:r>
              <a:rPr lang="zh-CN" altLang="en-US" sz="1800" dirty="0"/>
              <a:t>类：</a:t>
            </a:r>
            <a:r>
              <a:rPr lang="en-US" altLang="zh-CN" sz="1800" dirty="0"/>
              <a:t>A,C    (AC)</a:t>
            </a:r>
            <a:r>
              <a:rPr lang="en-US" altLang="zh-CN" sz="1800" baseline="30000" dirty="0"/>
              <a:t>+</a:t>
            </a:r>
            <a:r>
              <a:rPr lang="en-US" altLang="zh-CN" sz="1800" dirty="0"/>
              <a:t>=ACBD=U</a:t>
            </a:r>
          </a:p>
          <a:p>
            <a:pPr>
              <a:lnSpc>
                <a:spcPct val="100000"/>
              </a:lnSpc>
              <a:buNone/>
            </a:pPr>
            <a:r>
              <a:rPr lang="en-US" altLang="zh-CN" sz="1800" dirty="0"/>
              <a:t>   ∴ AC</a:t>
            </a:r>
            <a:r>
              <a:rPr lang="zh-CN" altLang="en-US" sz="1800" dirty="0"/>
              <a:t>是</a:t>
            </a:r>
            <a:r>
              <a:rPr lang="en-US" altLang="zh-CN" sz="1800" dirty="0"/>
              <a:t>R1</a:t>
            </a:r>
            <a:r>
              <a:rPr lang="zh-CN" altLang="en-US" sz="1800" dirty="0"/>
              <a:t>惟一的候选键。</a:t>
            </a:r>
            <a:r>
              <a:rPr lang="en-US" altLang="zh-CN" sz="1800" dirty="0"/>
              <a:t>B,D</a:t>
            </a:r>
            <a:r>
              <a:rPr lang="zh-CN" altLang="en-US" sz="1800" dirty="0"/>
              <a:t>是非主属性。</a:t>
            </a:r>
            <a:endParaRPr lang="en-US" altLang="zh-CN" sz="1800" dirty="0"/>
          </a:p>
          <a:p>
            <a:pPr>
              <a:lnSpc>
                <a:spcPct val="100000"/>
              </a:lnSpc>
              <a:buNone/>
            </a:pPr>
            <a:r>
              <a:rPr lang="en-US" altLang="zh-CN" sz="1800" dirty="0"/>
              <a:t>   ∴ R1∈1NF </a:t>
            </a:r>
            <a:r>
              <a:rPr lang="en-US" altLang="zh-CN" sz="1500" dirty="0"/>
              <a:t>(∵</a:t>
            </a:r>
            <a:r>
              <a:rPr lang="zh-CN" altLang="en-US" sz="1500" dirty="0"/>
              <a:t>A→B是非主属性</a:t>
            </a:r>
            <a:r>
              <a:rPr lang="en-US" altLang="zh-CN" sz="1500" dirty="0"/>
              <a:t>B</a:t>
            </a:r>
            <a:r>
              <a:rPr lang="zh-CN" altLang="en-US" sz="1500" dirty="0"/>
              <a:t>对候选键</a:t>
            </a:r>
            <a:r>
              <a:rPr lang="en-US" altLang="zh-CN" sz="1500" dirty="0"/>
              <a:t>AC</a:t>
            </a:r>
            <a:r>
              <a:rPr lang="zh-CN" altLang="en-US" sz="1500" dirty="0"/>
              <a:t>的部分函数依赖。</a:t>
            </a:r>
            <a:r>
              <a:rPr lang="en-US" altLang="zh-CN" sz="1500" dirty="0"/>
              <a:t>)</a:t>
            </a:r>
          </a:p>
          <a:p>
            <a:pPr eaLnBrk="1" hangingPunct="1">
              <a:buNone/>
            </a:pPr>
            <a:endParaRPr lang="en-US" altLang="zh-CN" sz="600" dirty="0"/>
          </a:p>
          <a:p>
            <a:pPr>
              <a:lnSpc>
                <a:spcPct val="100000"/>
              </a:lnSpc>
              <a:buNone/>
            </a:pPr>
            <a:r>
              <a:rPr lang="en-US" altLang="zh-CN" sz="1800" dirty="0"/>
              <a:t>(2)</a:t>
            </a:r>
            <a:r>
              <a:rPr lang="zh-CN" altLang="en-US" sz="1800" dirty="0"/>
              <a:t>R2(A,B,C,D),F2={AB→C, AC→D, C→B}</a:t>
            </a:r>
            <a:endParaRPr lang="en-US" altLang="zh-CN" sz="1800" dirty="0"/>
          </a:p>
          <a:p>
            <a:pPr>
              <a:lnSpc>
                <a:spcPct val="100000"/>
              </a:lnSpc>
              <a:buNone/>
            </a:pPr>
            <a:r>
              <a:rPr lang="en-US" altLang="zh-CN" sz="1800" dirty="0"/>
              <a:t>     L</a:t>
            </a:r>
            <a:r>
              <a:rPr lang="zh-CN" altLang="en-US" sz="1800" dirty="0"/>
              <a:t>类：</a:t>
            </a:r>
            <a:r>
              <a:rPr lang="en-US" altLang="zh-CN" sz="1800" dirty="0"/>
              <a:t>A    (A)</a:t>
            </a:r>
            <a:r>
              <a:rPr lang="en-US" altLang="zh-CN" sz="1800" baseline="30000" dirty="0"/>
              <a:t>+</a:t>
            </a:r>
            <a:r>
              <a:rPr lang="en-US" altLang="zh-CN" sz="1800" dirty="0"/>
              <a:t>=A≠U  </a:t>
            </a:r>
            <a:r>
              <a:rPr lang="en-US" altLang="zh-CN" sz="1500" dirty="0"/>
              <a:t>(A</a:t>
            </a:r>
            <a:r>
              <a:rPr lang="zh-CN" altLang="en-US" sz="1500" dirty="0"/>
              <a:t>不是候选键，但候选键中一定有</a:t>
            </a:r>
            <a:r>
              <a:rPr lang="en-US" altLang="zh-CN" sz="1500" dirty="0"/>
              <a:t>A) </a:t>
            </a:r>
          </a:p>
          <a:p>
            <a:pPr>
              <a:lnSpc>
                <a:spcPct val="100000"/>
              </a:lnSpc>
              <a:buNone/>
            </a:pPr>
            <a:r>
              <a:rPr lang="en-US" altLang="zh-CN" sz="1500" dirty="0"/>
              <a:t>   </a:t>
            </a:r>
            <a:r>
              <a:rPr lang="zh-CN" altLang="en-US" sz="1500" dirty="0"/>
              <a:t>   </a:t>
            </a:r>
            <a:r>
              <a:rPr lang="en-US" altLang="zh-CN" sz="1800" dirty="0"/>
              <a:t>R</a:t>
            </a:r>
            <a:r>
              <a:rPr lang="zh-CN" altLang="en-US" sz="1800" dirty="0"/>
              <a:t>类：</a:t>
            </a:r>
            <a:r>
              <a:rPr lang="en-US" altLang="zh-CN" sz="1800" dirty="0"/>
              <a:t>D  </a:t>
            </a:r>
            <a:r>
              <a:rPr lang="en-US" altLang="zh-CN" sz="1500" dirty="0"/>
              <a:t>(</a:t>
            </a:r>
            <a:r>
              <a:rPr lang="zh-CN" altLang="en-US" sz="1500" dirty="0"/>
              <a:t>候选键中一定没有</a:t>
            </a:r>
            <a:r>
              <a:rPr lang="en-US" altLang="zh-CN" sz="1500" dirty="0"/>
              <a:t>D)</a:t>
            </a:r>
          </a:p>
          <a:p>
            <a:pPr>
              <a:lnSpc>
                <a:spcPct val="100000"/>
              </a:lnSpc>
              <a:buNone/>
            </a:pPr>
            <a:r>
              <a:rPr lang="zh-CN" altLang="en-US" sz="1800" dirty="0"/>
              <a:t>   计算</a:t>
            </a:r>
            <a:r>
              <a:rPr lang="en-US" altLang="zh-CN" sz="1800" dirty="0"/>
              <a:t>: (AB)</a:t>
            </a:r>
            <a:r>
              <a:rPr lang="en-US" altLang="zh-CN" sz="1800" baseline="30000" dirty="0"/>
              <a:t>+</a:t>
            </a:r>
            <a:r>
              <a:rPr lang="en-US" altLang="zh-CN" sz="1800" dirty="0"/>
              <a:t>=ABCD=U    (AC)</a:t>
            </a:r>
            <a:r>
              <a:rPr lang="en-US" altLang="zh-CN" sz="1800" baseline="30000" dirty="0"/>
              <a:t>+</a:t>
            </a:r>
            <a:r>
              <a:rPr lang="en-US" altLang="zh-CN" sz="1800" dirty="0"/>
              <a:t>=ACDB=U</a:t>
            </a:r>
          </a:p>
          <a:p>
            <a:pPr>
              <a:lnSpc>
                <a:spcPct val="100000"/>
              </a:lnSpc>
              <a:buNone/>
            </a:pPr>
            <a:r>
              <a:rPr lang="en-US" altLang="zh-CN" sz="1800" dirty="0"/>
              <a:t>   ∴ AB,AC</a:t>
            </a:r>
            <a:r>
              <a:rPr lang="zh-CN" altLang="en-US" sz="1800" dirty="0"/>
              <a:t>是</a:t>
            </a:r>
            <a:r>
              <a:rPr lang="en-US" altLang="zh-CN" sz="1800" dirty="0"/>
              <a:t>R2</a:t>
            </a:r>
            <a:r>
              <a:rPr lang="zh-CN" altLang="en-US" sz="1800" dirty="0"/>
              <a:t>的候选键。 </a:t>
            </a:r>
            <a:r>
              <a:rPr lang="en-US" altLang="zh-CN" sz="1800" dirty="0"/>
              <a:t>D</a:t>
            </a:r>
            <a:r>
              <a:rPr lang="zh-CN" altLang="en-US" sz="1800" dirty="0"/>
              <a:t>是非主属性。</a:t>
            </a:r>
            <a:endParaRPr lang="en-US" altLang="zh-CN" sz="1800" dirty="0"/>
          </a:p>
          <a:p>
            <a:pPr>
              <a:lnSpc>
                <a:spcPct val="100000"/>
              </a:lnSpc>
              <a:buNone/>
            </a:pPr>
            <a:r>
              <a:rPr lang="en-US" altLang="zh-CN" sz="1800" dirty="0"/>
              <a:t>   ∴ R2∈3NF (</a:t>
            </a:r>
            <a:r>
              <a:rPr lang="en-US" altLang="zh-CN" sz="1500" dirty="0"/>
              <a:t>∵</a:t>
            </a:r>
            <a:r>
              <a:rPr lang="zh-CN" altLang="en-US" sz="1500" dirty="0"/>
              <a:t>不存在非主属性对候选键的部分和传递函数依赖。但C→B的左部未包含</a:t>
            </a:r>
            <a:r>
              <a:rPr lang="en-US" altLang="zh-CN" sz="1500" dirty="0"/>
              <a:t>R2</a:t>
            </a:r>
            <a:r>
              <a:rPr lang="zh-CN" altLang="en-US" sz="1500" dirty="0"/>
              <a:t>的仼</a:t>
            </a:r>
            <a:r>
              <a:rPr lang="zh-CN" altLang="en-US" sz="1500" dirty="0">
                <a:solidFill>
                  <a:schemeClr val="bg2"/>
                </a:solidFill>
              </a:rPr>
              <a:t>一</a:t>
            </a:r>
            <a:r>
              <a:rPr lang="zh-CN" altLang="en-US" sz="1500" dirty="0"/>
              <a:t>候选键，∴</a:t>
            </a:r>
            <a:r>
              <a:rPr lang="en-US" altLang="zh-CN" sz="1500" dirty="0"/>
              <a:t>R2</a:t>
            </a:r>
            <a:r>
              <a:rPr lang="zh-CN" altLang="en-US" sz="1500" dirty="0"/>
              <a:t>不是</a:t>
            </a:r>
            <a:r>
              <a:rPr lang="en-US" altLang="zh-CN" sz="1500" dirty="0"/>
              <a:t>BCNF)</a:t>
            </a:r>
            <a:endParaRPr lang="en-US" altLang="zh-CN" sz="1800" dirty="0">
              <a:solidFill>
                <a:schemeClr val="bg2"/>
              </a:solidFill>
            </a:endParaRPr>
          </a:p>
          <a:p>
            <a:pPr eaLnBrk="1" hangingPunct="1">
              <a:buNone/>
            </a:pPr>
            <a:endParaRPr lang="zh-CN" altLang="en-US" sz="1800" dirty="0">
              <a:solidFill>
                <a:schemeClr val="bg2"/>
              </a:solidFill>
            </a:endParaRPr>
          </a:p>
          <a:p>
            <a:pPr eaLnBrk="1" hangingPunct="1">
              <a:buNone/>
            </a:pPr>
            <a:endParaRPr lang="zh-CN" altLang="en-US" dirty="0">
              <a:solidFill>
                <a:schemeClr val="hlink"/>
              </a:solidFill>
            </a:endParaRPr>
          </a:p>
          <a:p>
            <a:pPr eaLnBrk="1" hangingPunct="1">
              <a:buNone/>
            </a:pPr>
            <a:endParaRPr lang="zh-CN" altLang="en-US" dirty="0">
              <a:solidFill>
                <a:schemeClr val="hlink"/>
              </a:solidFill>
            </a:endParaRPr>
          </a:p>
        </p:txBody>
      </p:sp>
      <p:sp>
        <p:nvSpPr>
          <p:cNvPr id="3" name="标题 2">
            <a:extLst>
              <a:ext uri="{FF2B5EF4-FFF2-40B4-BE49-F238E27FC236}">
                <a16:creationId xmlns:a16="http://schemas.microsoft.com/office/drawing/2014/main" id="{1F71FB91-3C56-1BD1-67F7-33658E97AD23}"/>
              </a:ext>
            </a:extLst>
          </p:cNvPr>
          <p:cNvSpPr>
            <a:spLocks noGrp="1"/>
          </p:cNvSpPr>
          <p:nvPr>
            <p:ph type="title"/>
          </p:nvPr>
        </p:nvSpPr>
        <p:spPr/>
        <p:txBody>
          <a:bodyPr/>
          <a:lstStyle/>
          <a:p>
            <a:r>
              <a:rPr lang="zh-CN" altLang="en-US" dirty="0">
                <a:latin typeface="宋体" panose="02010600030101010101" pitchFamily="2" charset="-122"/>
              </a:rPr>
              <a:t>从函数依赖到候选键</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3730">
                                            <p:txEl>
                                              <p:pRg st="2" end="2"/>
                                            </p:txEl>
                                          </p:spTgt>
                                        </p:tgtEl>
                                        <p:attrNameLst>
                                          <p:attrName>style.visibility</p:attrName>
                                        </p:attrNameLst>
                                      </p:cBhvr>
                                      <p:to>
                                        <p:strVal val="visible"/>
                                      </p:to>
                                    </p:set>
                                    <p:anim calcmode="lin" valueType="num">
                                      <p:cBhvr additive="base">
                                        <p:cTn id="7" dur="500" fill="hold"/>
                                        <p:tgtEl>
                                          <p:spTgt spid="73730">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3730">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3730">
                                            <p:txEl>
                                              <p:pRg st="3" end="3"/>
                                            </p:txEl>
                                          </p:spTgt>
                                        </p:tgtEl>
                                        <p:attrNameLst>
                                          <p:attrName>style.visibility</p:attrName>
                                        </p:attrNameLst>
                                      </p:cBhvr>
                                      <p:to>
                                        <p:strVal val="visible"/>
                                      </p:to>
                                    </p:set>
                                    <p:anim calcmode="lin" valueType="num">
                                      <p:cBhvr additive="base">
                                        <p:cTn id="11" dur="500" fill="hold"/>
                                        <p:tgtEl>
                                          <p:spTgt spid="73730">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3730">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3730">
                                            <p:txEl>
                                              <p:pRg st="4" end="4"/>
                                            </p:txEl>
                                          </p:spTgt>
                                        </p:tgtEl>
                                        <p:attrNameLst>
                                          <p:attrName>style.visibility</p:attrName>
                                        </p:attrNameLst>
                                      </p:cBhvr>
                                      <p:to>
                                        <p:strVal val="visible"/>
                                      </p:to>
                                    </p:set>
                                    <p:anim calcmode="lin" valueType="num">
                                      <p:cBhvr additive="base">
                                        <p:cTn id="15" dur="500" fill="hold"/>
                                        <p:tgtEl>
                                          <p:spTgt spid="73730">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373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3730">
                                            <p:txEl>
                                              <p:charRg st="174" end="216"/>
                                            </p:txEl>
                                          </p:spTgt>
                                        </p:tgtEl>
                                        <p:attrNameLst>
                                          <p:attrName>style.visibility</p:attrName>
                                        </p:attrNameLst>
                                      </p:cBhvr>
                                      <p:to>
                                        <p:strVal val="visible"/>
                                      </p:to>
                                    </p:set>
                                    <p:anim calcmode="lin" valueType="num">
                                      <p:cBhvr additive="base">
                                        <p:cTn id="21" dur="500" fill="hold"/>
                                        <p:tgtEl>
                                          <p:spTgt spid="73730">
                                            <p:txEl>
                                              <p:charRg st="174" end="21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3730">
                                            <p:txEl>
                                              <p:charRg st="174" end="216"/>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3730">
                                            <p:txEl>
                                              <p:charRg st="8" end="8"/>
                                            </p:txEl>
                                          </p:spTgt>
                                        </p:tgtEl>
                                        <p:attrNameLst>
                                          <p:attrName>style.visibility</p:attrName>
                                        </p:attrNameLst>
                                      </p:cBhvr>
                                      <p:to>
                                        <p:strVal val="visible"/>
                                      </p:to>
                                    </p:set>
                                    <p:anim calcmode="lin" valueType="num">
                                      <p:cBhvr additive="base">
                                        <p:cTn id="27" dur="500" fill="hold"/>
                                        <p:tgtEl>
                                          <p:spTgt spid="73730">
                                            <p:txEl>
                                              <p:char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3730">
                                            <p:txEl>
                                              <p:charRg st="8" end="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3730">
                                            <p:txEl>
                                              <p:charRg st="237" end="273"/>
                                            </p:txEl>
                                          </p:spTgt>
                                        </p:tgtEl>
                                        <p:attrNameLst>
                                          <p:attrName>style.visibility</p:attrName>
                                        </p:attrNameLst>
                                      </p:cBhvr>
                                      <p:to>
                                        <p:strVal val="visible"/>
                                      </p:to>
                                    </p:set>
                                    <p:anim calcmode="lin" valueType="num">
                                      <p:cBhvr additive="base">
                                        <p:cTn id="31" dur="500" fill="hold"/>
                                        <p:tgtEl>
                                          <p:spTgt spid="73730">
                                            <p:txEl>
                                              <p:charRg st="237" end="27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3730">
                                            <p:txEl>
                                              <p:charRg st="237" end="27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73730">
                                            <p:txEl>
                                              <p:charRg st="9" end="9"/>
                                            </p:txEl>
                                          </p:spTgt>
                                        </p:tgtEl>
                                        <p:attrNameLst>
                                          <p:attrName>style.visibility</p:attrName>
                                        </p:attrNameLst>
                                      </p:cBhvr>
                                      <p:to>
                                        <p:strVal val="visible"/>
                                      </p:to>
                                    </p:set>
                                    <p:anim calcmode="lin" valueType="num">
                                      <p:cBhvr additive="base">
                                        <p:cTn id="35" dur="500" fill="hold"/>
                                        <p:tgtEl>
                                          <p:spTgt spid="73730">
                                            <p:txEl>
                                              <p:char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3730">
                                            <p:txEl>
                                              <p:charRg st="9" end="9"/>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73730">
                                            <p:txEl>
                                              <p:charRg st="300" end="366"/>
                                            </p:txEl>
                                          </p:spTgt>
                                        </p:tgtEl>
                                        <p:attrNameLst>
                                          <p:attrName>style.visibility</p:attrName>
                                        </p:attrNameLst>
                                      </p:cBhvr>
                                      <p:to>
                                        <p:strVal val="visible"/>
                                      </p:to>
                                    </p:set>
                                    <p:anim calcmode="lin" valueType="num">
                                      <p:cBhvr additive="base">
                                        <p:cTn id="39" dur="500" fill="hold"/>
                                        <p:tgtEl>
                                          <p:spTgt spid="73730">
                                            <p:txEl>
                                              <p:charRg st="300" end="36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73730">
                                            <p:txEl>
                                              <p:charRg st="300" end="36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p:cNvSpPr>
          <p:nvPr>
            <p:ph type="title"/>
          </p:nvPr>
        </p:nvSpPr>
        <p:spPr/>
        <p:txBody>
          <a:bodyPr vert="horz" wrap="square" lIns="68580" tIns="34290" rIns="68580" bIns="34290" rtlCol="0" anchor="b" anchorCtr="0">
            <a:normAutofit/>
          </a:bodyPr>
          <a:lstStyle/>
          <a:p>
            <a:r>
              <a:rPr lang="zh-CN" altLang="en-US" dirty="0">
                <a:latin typeface="宋体" panose="02010600030101010101" pitchFamily="2" charset="-122"/>
              </a:rPr>
              <a:t>从函数依赖到候选键</a:t>
            </a:r>
            <a:endParaRPr lang="zh-CN" altLang="en-US" dirty="0">
              <a:effectLst/>
              <a:latin typeface="宋体" panose="02010600030101010101" pitchFamily="2" charset="-122"/>
              <a:ea typeface="Times New Roman" panose="02020603050405020304" pitchFamily="18" charset="0"/>
            </a:endParaRPr>
          </a:p>
        </p:txBody>
      </p:sp>
      <p:sp>
        <p:nvSpPr>
          <p:cNvPr id="2" name="Rectangle 3"/>
          <p:cNvSpPr>
            <a:spLocks noGrp="1"/>
          </p:cNvSpPr>
          <p:nvPr>
            <p:custDataLst>
              <p:tags r:id="rId1"/>
            </p:custDataLst>
          </p:nvPr>
        </p:nvSpPr>
        <p:spPr>
          <a:xfrm>
            <a:off x="182251" y="950843"/>
            <a:ext cx="8794965" cy="3696347"/>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eaLnBrk="1" hangingPunct="1">
              <a:buNone/>
            </a:pPr>
            <a:r>
              <a:rPr lang="en-US" altLang="zh-CN" sz="1600" dirty="0">
                <a:latin typeface="Microsoft YaHei" panose="020B0503020204020204" pitchFamily="34" charset="-122"/>
                <a:ea typeface="Microsoft YaHei" panose="020B0503020204020204" pitchFamily="34" charset="-122"/>
              </a:rPr>
              <a:t>(3)</a:t>
            </a:r>
            <a:r>
              <a:rPr lang="zh-CN" altLang="en-US" sz="1600" dirty="0">
                <a:latin typeface="Microsoft YaHei" panose="020B0503020204020204" pitchFamily="34" charset="-122"/>
                <a:ea typeface="Microsoft YaHei" panose="020B0503020204020204" pitchFamily="34" charset="-122"/>
              </a:rPr>
              <a:t>R3(A,B,C,D),F3={AB→C, C→D, BD→A}</a:t>
            </a:r>
            <a:endParaRPr lang="en-US" altLang="zh-CN" sz="1600" dirty="0">
              <a:latin typeface="Microsoft YaHei" panose="020B0503020204020204" pitchFamily="34" charset="-122"/>
              <a:ea typeface="Microsoft YaHei" panose="020B0503020204020204" pitchFamily="34" charset="-122"/>
            </a:endParaRPr>
          </a:p>
          <a:p>
            <a:pPr eaLnBrk="1" hangingPunct="1">
              <a:buNone/>
            </a:pPr>
            <a:r>
              <a:rPr lang="en-US" altLang="zh-CN" sz="1600" dirty="0">
                <a:latin typeface="Microsoft YaHei" panose="020B0503020204020204" pitchFamily="34" charset="-122"/>
                <a:ea typeface="Microsoft YaHei" panose="020B0503020204020204" pitchFamily="34" charset="-122"/>
              </a:rPr>
              <a:t>     L</a:t>
            </a:r>
            <a:r>
              <a:rPr lang="zh-CN" altLang="en-US" sz="1600" dirty="0">
                <a:latin typeface="Microsoft YaHei" panose="020B0503020204020204" pitchFamily="34" charset="-122"/>
                <a:ea typeface="Microsoft YaHei" panose="020B0503020204020204" pitchFamily="34" charset="-122"/>
              </a:rPr>
              <a:t>类：</a:t>
            </a:r>
            <a:r>
              <a:rPr lang="en-US" altLang="zh-CN" sz="1600" dirty="0">
                <a:latin typeface="Microsoft YaHei" panose="020B0503020204020204" pitchFamily="34" charset="-122"/>
                <a:ea typeface="Microsoft YaHei" panose="020B0503020204020204" pitchFamily="34" charset="-122"/>
              </a:rPr>
              <a:t>B    (B)</a:t>
            </a:r>
            <a:r>
              <a:rPr lang="en-US" altLang="zh-CN" sz="1600" baseline="300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=B≠U  (B</a:t>
            </a:r>
            <a:r>
              <a:rPr lang="zh-CN" altLang="en-US" sz="1600" dirty="0">
                <a:latin typeface="Microsoft YaHei" panose="020B0503020204020204" pitchFamily="34" charset="-122"/>
                <a:ea typeface="Microsoft YaHei" panose="020B0503020204020204" pitchFamily="34" charset="-122"/>
              </a:rPr>
              <a:t>不是候选键，但候选键中一定有</a:t>
            </a:r>
            <a:r>
              <a:rPr lang="en-US" altLang="zh-CN" sz="1600" dirty="0">
                <a:latin typeface="Microsoft YaHei" panose="020B0503020204020204" pitchFamily="34" charset="-122"/>
                <a:ea typeface="Microsoft YaHei" panose="020B0503020204020204" pitchFamily="34" charset="-122"/>
              </a:rPr>
              <a:t>B)</a:t>
            </a:r>
          </a:p>
          <a:p>
            <a:pPr eaLnBrk="1" hangingPunct="1">
              <a:buNone/>
            </a:pPr>
            <a:r>
              <a:rPr lang="en-US" altLang="zh-CN" sz="1600" dirty="0">
                <a:latin typeface="Microsoft YaHei" panose="020B0503020204020204" pitchFamily="34" charset="-122"/>
                <a:ea typeface="Microsoft YaHei" panose="020B0503020204020204" pitchFamily="34" charset="-122"/>
              </a:rPr>
              <a:t>   </a:t>
            </a:r>
            <a:r>
              <a:rPr lang="zh-CN" altLang="en-US" sz="1600" dirty="0">
                <a:latin typeface="Microsoft YaHei" panose="020B0503020204020204" pitchFamily="34" charset="-122"/>
                <a:ea typeface="Microsoft YaHei" panose="020B0503020204020204" pitchFamily="34" charset="-122"/>
              </a:rPr>
              <a:t>  </a:t>
            </a:r>
            <a:r>
              <a:rPr lang="en-US" altLang="zh-CN" sz="1600" dirty="0">
                <a:latin typeface="Microsoft YaHei" panose="020B0503020204020204" pitchFamily="34" charset="-122"/>
                <a:ea typeface="Microsoft YaHei" panose="020B0503020204020204" pitchFamily="34" charset="-122"/>
              </a:rPr>
              <a:t>R</a:t>
            </a:r>
            <a:r>
              <a:rPr lang="zh-CN" altLang="en-US" sz="1600" dirty="0">
                <a:latin typeface="Microsoft YaHei" panose="020B0503020204020204" pitchFamily="34" charset="-122"/>
                <a:ea typeface="Microsoft YaHei" panose="020B0503020204020204" pitchFamily="34" charset="-122"/>
              </a:rPr>
              <a:t>类：无</a:t>
            </a:r>
            <a:r>
              <a:rPr lang="en-US" altLang="zh-CN" sz="1600" dirty="0">
                <a:latin typeface="Microsoft YaHei" panose="020B0503020204020204" pitchFamily="34" charset="-122"/>
                <a:ea typeface="Microsoft YaHei" panose="020B0503020204020204" pitchFamily="34" charset="-122"/>
              </a:rPr>
              <a:t>  </a:t>
            </a:r>
          </a:p>
          <a:p>
            <a:pPr eaLnBrk="1" hangingPunct="1">
              <a:buNone/>
            </a:pPr>
            <a:r>
              <a:rPr lang="zh-CN" altLang="en-US" sz="1600" dirty="0">
                <a:latin typeface="Microsoft YaHei" panose="020B0503020204020204" pitchFamily="34" charset="-122"/>
                <a:ea typeface="Microsoft YaHei" panose="020B0503020204020204" pitchFamily="34" charset="-122"/>
              </a:rPr>
              <a:t>   计算</a:t>
            </a:r>
            <a:r>
              <a:rPr lang="en-US" altLang="zh-CN" sz="1600" dirty="0">
                <a:latin typeface="Microsoft YaHei" panose="020B0503020204020204" pitchFamily="34" charset="-122"/>
                <a:ea typeface="Microsoft YaHei" panose="020B0503020204020204" pitchFamily="34" charset="-122"/>
              </a:rPr>
              <a:t>: (BA)</a:t>
            </a:r>
            <a:r>
              <a:rPr lang="en-US" altLang="zh-CN" sz="1600" baseline="300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=BACD=U    (BC)</a:t>
            </a:r>
            <a:r>
              <a:rPr lang="en-US" altLang="zh-CN" sz="1600" baseline="300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=BCDA=U    (BD)</a:t>
            </a:r>
            <a:r>
              <a:rPr lang="en-US" altLang="zh-CN" sz="1600" baseline="300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=BDAC=U</a:t>
            </a:r>
          </a:p>
          <a:p>
            <a:pPr eaLnBrk="1" hangingPunct="1">
              <a:buNone/>
            </a:pPr>
            <a:r>
              <a:rPr lang="en-US" altLang="zh-CN" sz="1600" dirty="0">
                <a:latin typeface="Microsoft YaHei" panose="020B0503020204020204" pitchFamily="34" charset="-122"/>
                <a:ea typeface="Microsoft YaHei" panose="020B0503020204020204" pitchFamily="34" charset="-122"/>
              </a:rPr>
              <a:t>   ∴ BA,BC,BD</a:t>
            </a:r>
            <a:r>
              <a:rPr lang="zh-CN" altLang="en-US" sz="1600" dirty="0">
                <a:latin typeface="Microsoft YaHei" panose="020B0503020204020204" pitchFamily="34" charset="-122"/>
                <a:ea typeface="Microsoft YaHei" panose="020B0503020204020204" pitchFamily="34" charset="-122"/>
              </a:rPr>
              <a:t>是</a:t>
            </a:r>
            <a:r>
              <a:rPr lang="en-US" altLang="zh-CN" sz="1600" dirty="0">
                <a:latin typeface="Microsoft YaHei" panose="020B0503020204020204" pitchFamily="34" charset="-122"/>
                <a:ea typeface="Microsoft YaHei" panose="020B0503020204020204" pitchFamily="34" charset="-122"/>
              </a:rPr>
              <a:t>R3</a:t>
            </a:r>
            <a:r>
              <a:rPr lang="zh-CN" altLang="en-US" sz="1600" dirty="0">
                <a:latin typeface="Microsoft YaHei" panose="020B0503020204020204" pitchFamily="34" charset="-122"/>
                <a:ea typeface="Microsoft YaHei" panose="020B0503020204020204" pitchFamily="34" charset="-122"/>
              </a:rPr>
              <a:t>的候选键。 非主属性</a:t>
            </a:r>
            <a:r>
              <a:rPr lang="en-US" altLang="zh-CN" sz="1600" dirty="0">
                <a:latin typeface="Microsoft YaHei" panose="020B0503020204020204" pitchFamily="34" charset="-122"/>
                <a:ea typeface="Microsoft YaHei" panose="020B0503020204020204" pitchFamily="34" charset="-122"/>
              </a:rPr>
              <a:t>:</a:t>
            </a:r>
            <a:r>
              <a:rPr lang="zh-CN" altLang="en-US" sz="1600" dirty="0">
                <a:latin typeface="Microsoft YaHei" panose="020B0503020204020204" pitchFamily="34" charset="-122"/>
                <a:ea typeface="Microsoft YaHei" panose="020B0503020204020204" pitchFamily="34" charset="-122"/>
              </a:rPr>
              <a:t>无</a:t>
            </a:r>
            <a:endParaRPr lang="en-US" altLang="zh-CN" sz="1600" dirty="0">
              <a:latin typeface="Microsoft YaHei" panose="020B0503020204020204" pitchFamily="34" charset="-122"/>
              <a:ea typeface="Microsoft YaHei" panose="020B0503020204020204" pitchFamily="34" charset="-122"/>
            </a:endParaRPr>
          </a:p>
          <a:p>
            <a:pPr eaLnBrk="1" hangingPunct="1">
              <a:buNone/>
            </a:pPr>
            <a:r>
              <a:rPr lang="en-US" altLang="zh-CN" sz="1600" dirty="0">
                <a:latin typeface="Microsoft YaHei" panose="020B0503020204020204" pitchFamily="34" charset="-122"/>
                <a:ea typeface="Microsoft YaHei" panose="020B0503020204020204" pitchFamily="34" charset="-122"/>
              </a:rPr>
              <a:t>   ∴ R3∈3NF (∵</a:t>
            </a:r>
            <a:r>
              <a:rPr lang="zh-CN" altLang="en-US" sz="1600" dirty="0">
                <a:latin typeface="Microsoft YaHei" panose="020B0503020204020204" pitchFamily="34" charset="-122"/>
                <a:ea typeface="Microsoft YaHei" panose="020B0503020204020204" pitchFamily="34" charset="-122"/>
              </a:rPr>
              <a:t>全部属性都是主属性的关系至少是</a:t>
            </a:r>
            <a:r>
              <a:rPr lang="en-US" altLang="zh-CN" sz="1600" dirty="0">
                <a:latin typeface="Microsoft YaHei" panose="020B0503020204020204" pitchFamily="34" charset="-122"/>
                <a:ea typeface="Microsoft YaHei" panose="020B0503020204020204" pitchFamily="34" charset="-122"/>
              </a:rPr>
              <a:t>3NF</a:t>
            </a:r>
            <a:r>
              <a:rPr lang="zh-CN" altLang="en-US" sz="1600" dirty="0">
                <a:latin typeface="Microsoft YaHei" panose="020B0503020204020204" pitchFamily="34" charset="-122"/>
                <a:ea typeface="Microsoft YaHei" panose="020B0503020204020204" pitchFamily="34" charset="-122"/>
              </a:rPr>
              <a:t>。但C→</a:t>
            </a:r>
            <a:r>
              <a:rPr lang="en-US" altLang="zh-CN" sz="1600" dirty="0">
                <a:latin typeface="Microsoft YaHei" panose="020B0503020204020204" pitchFamily="34" charset="-122"/>
                <a:ea typeface="Microsoft YaHei" panose="020B0503020204020204" pitchFamily="34" charset="-122"/>
              </a:rPr>
              <a:t>D</a:t>
            </a:r>
            <a:r>
              <a:rPr lang="zh-CN" altLang="en-US" sz="1600" dirty="0">
                <a:latin typeface="Microsoft YaHei" panose="020B0503020204020204" pitchFamily="34" charset="-122"/>
                <a:ea typeface="Microsoft YaHei" panose="020B0503020204020204" pitchFamily="34" charset="-122"/>
              </a:rPr>
              <a:t>的左部未包含</a:t>
            </a:r>
            <a:r>
              <a:rPr lang="en-US" altLang="zh-CN" sz="1600" dirty="0">
                <a:latin typeface="Microsoft YaHei" panose="020B0503020204020204" pitchFamily="34" charset="-122"/>
                <a:ea typeface="Microsoft YaHei" panose="020B0503020204020204" pitchFamily="34" charset="-122"/>
              </a:rPr>
              <a:t>R3</a:t>
            </a:r>
            <a:r>
              <a:rPr lang="zh-CN" altLang="en-US" sz="1600" dirty="0">
                <a:latin typeface="Microsoft YaHei" panose="020B0503020204020204" pitchFamily="34" charset="-122"/>
                <a:ea typeface="Microsoft YaHei" panose="020B0503020204020204" pitchFamily="34" charset="-122"/>
              </a:rPr>
              <a:t>的仼一候选键，∴</a:t>
            </a:r>
            <a:r>
              <a:rPr lang="en-US" altLang="zh-CN" sz="1600" dirty="0">
                <a:latin typeface="Microsoft YaHei" panose="020B0503020204020204" pitchFamily="34" charset="-122"/>
                <a:ea typeface="Microsoft YaHei" panose="020B0503020204020204" pitchFamily="34" charset="-122"/>
              </a:rPr>
              <a:t>R3</a:t>
            </a:r>
            <a:r>
              <a:rPr lang="zh-CN" altLang="en-US" sz="1600" dirty="0">
                <a:latin typeface="Microsoft YaHei" panose="020B0503020204020204" pitchFamily="34" charset="-122"/>
                <a:ea typeface="Microsoft YaHei" panose="020B0503020204020204" pitchFamily="34" charset="-122"/>
              </a:rPr>
              <a:t>不是</a:t>
            </a:r>
            <a:r>
              <a:rPr lang="en-US" altLang="zh-CN" sz="1600" dirty="0">
                <a:latin typeface="Microsoft YaHei" panose="020B0503020204020204" pitchFamily="34" charset="-122"/>
                <a:ea typeface="Microsoft YaHei" panose="020B0503020204020204" pitchFamily="34" charset="-122"/>
              </a:rPr>
              <a:t>BCNF)</a:t>
            </a:r>
          </a:p>
          <a:p>
            <a:pPr eaLnBrk="1" hangingPunct="1">
              <a:buNone/>
            </a:pPr>
            <a:endParaRPr lang="zh-CN" altLang="en-US" sz="1600" dirty="0">
              <a:latin typeface="Microsoft YaHei" panose="020B0503020204020204" pitchFamily="34" charset="-122"/>
              <a:ea typeface="Microsoft YaHei" panose="020B0503020204020204" pitchFamily="34" charset="-122"/>
            </a:endParaRPr>
          </a:p>
          <a:p>
            <a:pPr eaLnBrk="1" hangingPunct="1">
              <a:buNone/>
            </a:pPr>
            <a:r>
              <a:rPr lang="en-US" altLang="zh-CN" sz="1600" dirty="0">
                <a:latin typeface="Microsoft YaHei" panose="020B0503020204020204" pitchFamily="34" charset="-122"/>
                <a:ea typeface="Microsoft YaHei" panose="020B0503020204020204" pitchFamily="34" charset="-122"/>
              </a:rPr>
              <a:t>(4)</a:t>
            </a:r>
            <a:r>
              <a:rPr lang="zh-CN" altLang="en-US" sz="1600" dirty="0">
                <a:latin typeface="Microsoft YaHei" panose="020B0503020204020204" pitchFamily="34" charset="-122"/>
                <a:ea typeface="Microsoft YaHei" panose="020B0503020204020204" pitchFamily="34" charset="-122"/>
              </a:rPr>
              <a:t>R4(A,B,C),F4={A→B,B→C}</a:t>
            </a:r>
            <a:endParaRPr lang="en-US" altLang="zh-CN" sz="1600" dirty="0">
              <a:latin typeface="Microsoft YaHei" panose="020B0503020204020204" pitchFamily="34" charset="-122"/>
              <a:ea typeface="Microsoft YaHei" panose="020B0503020204020204" pitchFamily="34" charset="-122"/>
            </a:endParaRPr>
          </a:p>
          <a:p>
            <a:pPr eaLnBrk="1" hangingPunct="1">
              <a:buNone/>
            </a:pPr>
            <a:r>
              <a:rPr lang="en-US" altLang="zh-CN" sz="1600" dirty="0">
                <a:latin typeface="Microsoft YaHei" panose="020B0503020204020204" pitchFamily="34" charset="-122"/>
                <a:ea typeface="Microsoft YaHei" panose="020B0503020204020204" pitchFamily="34" charset="-122"/>
              </a:rPr>
              <a:t>   </a:t>
            </a:r>
            <a:r>
              <a:rPr lang="zh-CN" altLang="en-US" sz="1600" dirty="0">
                <a:latin typeface="Microsoft YaHei" panose="020B0503020204020204" pitchFamily="34" charset="-122"/>
                <a:ea typeface="Microsoft YaHei" panose="020B0503020204020204" pitchFamily="34" charset="-122"/>
              </a:rPr>
              <a:t>  </a:t>
            </a:r>
            <a:r>
              <a:rPr lang="en-US" altLang="zh-CN" sz="1600" dirty="0">
                <a:latin typeface="Microsoft YaHei" panose="020B0503020204020204" pitchFamily="34" charset="-122"/>
                <a:ea typeface="Microsoft YaHei" panose="020B0503020204020204" pitchFamily="34" charset="-122"/>
              </a:rPr>
              <a:t>L</a:t>
            </a:r>
            <a:r>
              <a:rPr lang="zh-CN" altLang="en-US" sz="1600" dirty="0">
                <a:latin typeface="Microsoft YaHei" panose="020B0503020204020204" pitchFamily="34" charset="-122"/>
                <a:ea typeface="Microsoft YaHei" panose="020B0503020204020204" pitchFamily="34" charset="-122"/>
              </a:rPr>
              <a:t>类：</a:t>
            </a:r>
            <a:r>
              <a:rPr lang="en-US" altLang="zh-CN" sz="1600" dirty="0">
                <a:latin typeface="Microsoft YaHei" panose="020B0503020204020204" pitchFamily="34" charset="-122"/>
                <a:ea typeface="Microsoft YaHei" panose="020B0503020204020204" pitchFamily="34" charset="-122"/>
              </a:rPr>
              <a:t>A    (A)</a:t>
            </a:r>
            <a:r>
              <a:rPr lang="en-US" altLang="zh-CN" sz="1600" baseline="300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=ABC=U</a:t>
            </a:r>
          </a:p>
          <a:p>
            <a:pPr eaLnBrk="1" hangingPunct="1">
              <a:buNone/>
            </a:pPr>
            <a:r>
              <a:rPr lang="en-US" altLang="zh-CN" sz="1600" dirty="0">
                <a:latin typeface="Microsoft YaHei" panose="020B0503020204020204" pitchFamily="34" charset="-122"/>
                <a:ea typeface="Microsoft YaHei" panose="020B0503020204020204" pitchFamily="34" charset="-122"/>
              </a:rPr>
              <a:t>   ∴ A</a:t>
            </a:r>
            <a:r>
              <a:rPr lang="zh-CN" altLang="en-US" sz="1600" dirty="0">
                <a:latin typeface="Microsoft YaHei" panose="020B0503020204020204" pitchFamily="34" charset="-122"/>
                <a:ea typeface="Microsoft YaHei" panose="020B0503020204020204" pitchFamily="34" charset="-122"/>
              </a:rPr>
              <a:t>是</a:t>
            </a:r>
            <a:r>
              <a:rPr lang="en-US" altLang="zh-CN" sz="1600" dirty="0">
                <a:latin typeface="Microsoft YaHei" panose="020B0503020204020204" pitchFamily="34" charset="-122"/>
                <a:ea typeface="Microsoft YaHei" panose="020B0503020204020204" pitchFamily="34" charset="-122"/>
              </a:rPr>
              <a:t>R4</a:t>
            </a:r>
            <a:r>
              <a:rPr lang="zh-CN" altLang="en-US" sz="1600" dirty="0">
                <a:latin typeface="Microsoft YaHei" panose="020B0503020204020204" pitchFamily="34" charset="-122"/>
                <a:ea typeface="Microsoft YaHei" panose="020B0503020204020204" pitchFamily="34" charset="-122"/>
              </a:rPr>
              <a:t>惟一的候选键。</a:t>
            </a:r>
            <a:r>
              <a:rPr lang="en-US" altLang="zh-CN" sz="1600" dirty="0">
                <a:latin typeface="Microsoft YaHei" panose="020B0503020204020204" pitchFamily="34" charset="-122"/>
                <a:ea typeface="Microsoft YaHei" panose="020B0503020204020204" pitchFamily="34" charset="-122"/>
              </a:rPr>
              <a:t>B,C</a:t>
            </a:r>
            <a:r>
              <a:rPr lang="zh-CN" altLang="en-US" sz="1600" dirty="0">
                <a:latin typeface="Microsoft YaHei" panose="020B0503020204020204" pitchFamily="34" charset="-122"/>
                <a:ea typeface="Microsoft YaHei" panose="020B0503020204020204" pitchFamily="34" charset="-122"/>
              </a:rPr>
              <a:t>是非主属性。</a:t>
            </a:r>
            <a:endParaRPr lang="en-US" altLang="zh-CN" sz="1600" dirty="0">
              <a:latin typeface="Microsoft YaHei" panose="020B0503020204020204" pitchFamily="34" charset="-122"/>
              <a:ea typeface="Microsoft YaHei" panose="020B0503020204020204" pitchFamily="34" charset="-122"/>
            </a:endParaRPr>
          </a:p>
          <a:p>
            <a:pPr eaLnBrk="1" hangingPunct="1">
              <a:buNone/>
            </a:pPr>
            <a:r>
              <a:rPr lang="en-US" altLang="zh-CN" sz="1600" dirty="0">
                <a:latin typeface="Microsoft YaHei" panose="020B0503020204020204" pitchFamily="34" charset="-122"/>
                <a:ea typeface="Microsoft YaHei" panose="020B0503020204020204" pitchFamily="34" charset="-122"/>
              </a:rPr>
              <a:t>   ∴ R4∈2NF (∵</a:t>
            </a:r>
            <a:r>
              <a:rPr lang="zh-CN" altLang="en-US" sz="1600" dirty="0">
                <a:latin typeface="Microsoft YaHei" panose="020B0503020204020204" pitchFamily="34" charset="-122"/>
                <a:ea typeface="Microsoft YaHei" panose="020B0503020204020204" pitchFamily="34" charset="-122"/>
              </a:rPr>
              <a:t>所有候选键都是单属性的关系至少是</a:t>
            </a:r>
            <a:r>
              <a:rPr lang="en-US" altLang="zh-CN" sz="1600" dirty="0">
                <a:latin typeface="Microsoft YaHei" panose="020B0503020204020204" pitchFamily="34" charset="-122"/>
                <a:ea typeface="Microsoft YaHei" panose="020B0503020204020204" pitchFamily="34" charset="-122"/>
              </a:rPr>
              <a:t>2NF</a:t>
            </a:r>
            <a:r>
              <a:rPr lang="zh-CN" altLang="en-US" sz="1600" dirty="0">
                <a:latin typeface="Microsoft YaHei" panose="020B0503020204020204" pitchFamily="34" charset="-122"/>
                <a:ea typeface="Microsoft YaHei" panose="020B0503020204020204" pitchFamily="34" charset="-122"/>
              </a:rPr>
              <a:t>。但A→</a:t>
            </a:r>
            <a:r>
              <a:rPr lang="en-US" altLang="zh-CN" sz="1600" dirty="0">
                <a:latin typeface="Microsoft YaHei" panose="020B0503020204020204" pitchFamily="34" charset="-122"/>
                <a:ea typeface="Microsoft YaHei" panose="020B0503020204020204" pitchFamily="34" charset="-122"/>
              </a:rPr>
              <a:t>C</a:t>
            </a:r>
            <a:r>
              <a:rPr lang="zh-CN" altLang="en-US" sz="1600" dirty="0">
                <a:latin typeface="Microsoft YaHei" panose="020B0503020204020204" pitchFamily="34" charset="-122"/>
                <a:ea typeface="Microsoft YaHei" panose="020B0503020204020204" pitchFamily="34" charset="-122"/>
              </a:rPr>
              <a:t>是非主属性</a:t>
            </a:r>
            <a:r>
              <a:rPr lang="en-US" altLang="zh-CN" sz="1600" dirty="0">
                <a:latin typeface="Microsoft YaHei" panose="020B0503020204020204" pitchFamily="34" charset="-122"/>
                <a:ea typeface="Microsoft YaHei" panose="020B0503020204020204" pitchFamily="34" charset="-122"/>
              </a:rPr>
              <a:t>C</a:t>
            </a:r>
            <a:r>
              <a:rPr lang="zh-CN" altLang="en-US" sz="1600" dirty="0">
                <a:latin typeface="Microsoft YaHei" panose="020B0503020204020204" pitchFamily="34" charset="-122"/>
                <a:ea typeface="Microsoft YaHei" panose="020B0503020204020204" pitchFamily="34" charset="-122"/>
              </a:rPr>
              <a:t>对候选键</a:t>
            </a:r>
            <a:r>
              <a:rPr lang="en-US" altLang="zh-CN" sz="1600" dirty="0">
                <a:latin typeface="Microsoft YaHei" panose="020B0503020204020204" pitchFamily="34" charset="-122"/>
                <a:ea typeface="Microsoft YaHei" panose="020B0503020204020204" pitchFamily="34" charset="-122"/>
              </a:rPr>
              <a:t>A</a:t>
            </a:r>
            <a:r>
              <a:rPr lang="zh-CN" altLang="en-US" sz="1600" dirty="0">
                <a:latin typeface="Microsoft YaHei" panose="020B0503020204020204" pitchFamily="34" charset="-122"/>
                <a:ea typeface="Microsoft YaHei" panose="020B0503020204020204" pitchFamily="34" charset="-122"/>
              </a:rPr>
              <a:t>的传递函数依赖</a:t>
            </a:r>
            <a:r>
              <a:rPr lang="en-US" altLang="zh-CN" sz="1600" dirty="0">
                <a:latin typeface="Microsoft YaHei" panose="020B0503020204020204" pitchFamily="34" charset="-122"/>
                <a:ea typeface="Microsoft YaHei" panose="020B0503020204020204" pitchFamily="34" charset="-122"/>
              </a:rPr>
              <a:t>,</a:t>
            </a:r>
            <a:r>
              <a:rPr lang="zh-CN" altLang="en-US" sz="1600" dirty="0">
                <a:latin typeface="Microsoft YaHei" panose="020B0503020204020204" pitchFamily="34" charset="-122"/>
                <a:ea typeface="Microsoft YaHei" panose="020B0503020204020204" pitchFamily="34" charset="-122"/>
              </a:rPr>
              <a:t> ∴</a:t>
            </a:r>
            <a:r>
              <a:rPr lang="en-US" altLang="zh-CN" sz="1600" dirty="0">
                <a:latin typeface="Microsoft YaHei" panose="020B0503020204020204" pitchFamily="34" charset="-122"/>
                <a:ea typeface="Microsoft YaHei" panose="020B0503020204020204" pitchFamily="34" charset="-122"/>
              </a:rPr>
              <a:t>R4</a:t>
            </a:r>
            <a:r>
              <a:rPr lang="zh-CN" altLang="en-US" sz="1600" dirty="0">
                <a:latin typeface="Microsoft YaHei" panose="020B0503020204020204" pitchFamily="34" charset="-122"/>
                <a:ea typeface="Microsoft YaHei" panose="020B0503020204020204" pitchFamily="34" charset="-122"/>
              </a:rPr>
              <a:t>不是</a:t>
            </a:r>
            <a:r>
              <a:rPr lang="en-US" altLang="zh-CN" sz="1600" dirty="0">
                <a:latin typeface="Microsoft YaHei" panose="020B0503020204020204" pitchFamily="34" charset="-122"/>
                <a:ea typeface="Microsoft YaHei" panose="020B0503020204020204" pitchFamily="34" charset="-122"/>
              </a:rPr>
              <a:t>3NF)</a:t>
            </a:r>
            <a:endParaRPr lang="zh-CN" altLang="en-US" sz="1600" dirty="0">
              <a:latin typeface="Microsoft YaHei" panose="020B0503020204020204" pitchFamily="34" charset="-122"/>
              <a:ea typeface="Microsoft YaHei" panose="020B0503020204020204" pitchFamily="34" charset="-122"/>
            </a:endParaRPr>
          </a:p>
          <a:p>
            <a:pPr eaLnBrk="1" hangingPunct="1">
              <a:buNone/>
            </a:pPr>
            <a:endParaRPr lang="zh-CN" altLang="en-US" sz="1600" dirty="0">
              <a:solidFill>
                <a:schemeClr val="bg2"/>
              </a:solidFill>
              <a:latin typeface="Microsoft YaHei" panose="020B0503020204020204" pitchFamily="34" charset="-122"/>
              <a:ea typeface="Microsoft YaHei" panose="020B0503020204020204" pitchFamily="34" charset="-122"/>
            </a:endParaRPr>
          </a:p>
          <a:p>
            <a:pPr eaLnBrk="1" hangingPunct="1">
              <a:buNone/>
            </a:pPr>
            <a:endParaRPr lang="zh-CN" altLang="en-US" sz="1600" dirty="0">
              <a:solidFill>
                <a:schemeClr val="hlink"/>
              </a:solidFill>
              <a:latin typeface="Microsoft YaHei" panose="020B0503020204020204" pitchFamily="34" charset="-122"/>
              <a:ea typeface="Microsoft YaHei" panose="020B0503020204020204" pitchFamily="34" charset="-122"/>
            </a:endParaRPr>
          </a:p>
          <a:p>
            <a:pPr eaLnBrk="1" hangingPunct="1">
              <a:buNone/>
            </a:pPr>
            <a:endParaRPr lang="zh-CN" altLang="en-US" sz="1600" dirty="0">
              <a:solidFill>
                <a:schemeClr val="hlink"/>
              </a:solidFill>
              <a:latin typeface="Microsoft YaHei" panose="020B0503020204020204" pitchFamily="34" charset="-122"/>
              <a:ea typeface="Microsoft YaHei"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 calcmode="lin" valueType="num">
                                      <p:cBhvr additive="base">
                                        <p:cTn id="1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anim calcmode="lin" valueType="num">
                                      <p:cBhvr additive="base">
                                        <p:cTn id="23"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
                                            <p:txEl>
                                              <p:pRg st="8" end="8"/>
                                            </p:txEl>
                                          </p:spTgt>
                                        </p:tgtEl>
                                        <p:attrNameLst>
                                          <p:attrName>style.visibility</p:attrName>
                                        </p:attrNameLst>
                                      </p:cBhvr>
                                      <p:to>
                                        <p:strVal val="visible"/>
                                      </p:to>
                                    </p:set>
                                    <p:anim calcmode="lin" valueType="num">
                                      <p:cBhvr additive="base">
                                        <p:cTn id="29"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
                                            <p:txEl>
                                              <p:pRg st="8" end="8"/>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
                                            <p:txEl>
                                              <p:pRg st="9" end="9"/>
                                            </p:txEl>
                                          </p:spTgt>
                                        </p:tgtEl>
                                        <p:attrNameLst>
                                          <p:attrName>style.visibility</p:attrName>
                                        </p:attrNameLst>
                                      </p:cBhvr>
                                      <p:to>
                                        <p:strVal val="visible"/>
                                      </p:to>
                                    </p:set>
                                    <p:anim calcmode="lin" valueType="num">
                                      <p:cBhvr additive="base">
                                        <p:cTn id="33"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
                                            <p:txEl>
                                              <p:pRg st="9" end="9"/>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
                                            <p:txEl>
                                              <p:pRg st="10" end="10"/>
                                            </p:txEl>
                                          </p:spTgt>
                                        </p:tgtEl>
                                        <p:attrNameLst>
                                          <p:attrName>style.visibility</p:attrName>
                                        </p:attrNameLst>
                                      </p:cBhvr>
                                      <p:to>
                                        <p:strVal val="visible"/>
                                      </p:to>
                                    </p:set>
                                    <p:anim calcmode="lin" valueType="num">
                                      <p:cBhvr additive="base">
                                        <p:cTn id="37" dur="500" fill="hold"/>
                                        <p:tgtEl>
                                          <p:spTgt spid="2">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a:spLocks noGrp="1"/>
          </p:cNvSpPr>
          <p:nvPr>
            <p:ph type="title"/>
          </p:nvPr>
        </p:nvSpPr>
        <p:spPr/>
        <p:txBody>
          <a:bodyPr vert="horz" wrap="square" lIns="68580" tIns="34290" rIns="68580" bIns="34290" rtlCol="0" anchor="b" anchorCtr="0">
            <a:normAutofit/>
          </a:bodyPr>
          <a:lstStyle/>
          <a:p>
            <a:r>
              <a:rPr lang="zh-CN" altLang="en-US" dirty="0">
                <a:latin typeface="宋体" panose="02010600030101010101" pitchFamily="2" charset="-122"/>
              </a:rPr>
              <a:t>从函数依赖到候选键</a:t>
            </a:r>
            <a:endParaRPr lang="zh-CN" altLang="en-US" dirty="0">
              <a:effectLst/>
              <a:latin typeface="宋体" panose="02010600030101010101" pitchFamily="2" charset="-122"/>
              <a:ea typeface="Times New Roman" panose="02020603050405020304" pitchFamily="18" charset="0"/>
            </a:endParaRPr>
          </a:p>
        </p:txBody>
      </p:sp>
      <p:sp>
        <p:nvSpPr>
          <p:cNvPr id="2" name="Rectangle 3"/>
          <p:cNvSpPr>
            <a:spLocks noGrp="1"/>
          </p:cNvSpPr>
          <p:nvPr>
            <p:custDataLst>
              <p:tags r:id="rId1"/>
            </p:custDataLst>
          </p:nvPr>
        </p:nvSpPr>
        <p:spPr>
          <a:xfrm>
            <a:off x="486013" y="1280103"/>
            <a:ext cx="8171974" cy="3367087"/>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eaLnBrk="1" hangingPunct="1">
              <a:buNone/>
            </a:pPr>
            <a:r>
              <a:rPr lang="en-US" altLang="zh-CN" sz="1800" dirty="0">
                <a:latin typeface="Microsoft YaHei" panose="020B0503020204020204" pitchFamily="34" charset="-122"/>
                <a:ea typeface="Microsoft YaHei" panose="020B0503020204020204" pitchFamily="34" charset="-122"/>
              </a:rPr>
              <a:t>(5)</a:t>
            </a:r>
            <a:r>
              <a:rPr lang="zh-CN" altLang="en-US" sz="1800" dirty="0">
                <a:latin typeface="Microsoft YaHei" panose="020B0503020204020204" pitchFamily="34" charset="-122"/>
                <a:ea typeface="Microsoft YaHei" panose="020B0503020204020204" pitchFamily="34" charset="-122"/>
              </a:rPr>
              <a:t>R5(A,B,C,D),F5={AB→CD, C→A, D→B}</a:t>
            </a:r>
            <a:endParaRPr lang="en-US" altLang="zh-CN" sz="1800" dirty="0">
              <a:latin typeface="Microsoft YaHei" panose="020B0503020204020204" pitchFamily="34" charset="-122"/>
              <a:ea typeface="Microsoft YaHei" panose="020B0503020204020204" pitchFamily="34" charset="-122"/>
            </a:endParaRPr>
          </a:p>
          <a:p>
            <a:pPr eaLnBrk="1" hangingPunct="1">
              <a:buNone/>
            </a:pPr>
            <a:r>
              <a:rPr lang="en-US" altLang="zh-CN" sz="1800" dirty="0">
                <a:latin typeface="Microsoft YaHei" panose="020B0503020204020204" pitchFamily="34" charset="-122"/>
                <a:ea typeface="Microsoft YaHei" panose="020B0503020204020204" pitchFamily="34" charset="-122"/>
              </a:rPr>
              <a:t>   L,R</a:t>
            </a:r>
            <a:r>
              <a:rPr lang="zh-CN" altLang="en-US" sz="1800" dirty="0">
                <a:latin typeface="Microsoft YaHei" panose="020B0503020204020204" pitchFamily="34" charset="-122"/>
                <a:ea typeface="Microsoft YaHei" panose="020B0503020204020204" pitchFamily="34" charset="-122"/>
              </a:rPr>
              <a:t>类：无</a:t>
            </a:r>
            <a:endParaRPr lang="en-US" altLang="zh-CN" sz="1800" dirty="0">
              <a:latin typeface="Microsoft YaHei" panose="020B0503020204020204" pitchFamily="34" charset="-122"/>
              <a:ea typeface="Microsoft YaHei" panose="020B0503020204020204" pitchFamily="34" charset="-122"/>
            </a:endParaRPr>
          </a:p>
          <a:p>
            <a:pPr eaLnBrk="1" hangingPunct="1">
              <a:buNone/>
            </a:pPr>
            <a:r>
              <a:rPr lang="en-US" altLang="zh-CN" sz="1800" dirty="0">
                <a:latin typeface="Microsoft YaHei" panose="020B0503020204020204" pitchFamily="34" charset="-122"/>
                <a:ea typeface="Microsoft YaHei" panose="020B0503020204020204" pitchFamily="34" charset="-122"/>
              </a:rPr>
              <a:t>   A</a:t>
            </a:r>
            <a:r>
              <a:rPr lang="en-US" altLang="zh-CN" sz="1800" baseline="300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=A≠U       B</a:t>
            </a:r>
            <a:r>
              <a:rPr lang="en-US" altLang="zh-CN" sz="1800" baseline="300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=B≠U       C</a:t>
            </a:r>
            <a:r>
              <a:rPr lang="en-US" altLang="zh-CN" sz="1800" baseline="300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=CA≠U      D</a:t>
            </a:r>
            <a:r>
              <a:rPr lang="en-US" altLang="zh-CN" sz="1800" baseline="300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=DB≠U</a:t>
            </a:r>
          </a:p>
          <a:p>
            <a:pPr eaLnBrk="1" hangingPunct="1">
              <a:buNone/>
            </a:pPr>
            <a:r>
              <a:rPr lang="en-US" altLang="zh-CN" sz="1800" dirty="0">
                <a:latin typeface="Microsoft YaHei" panose="020B0503020204020204" pitchFamily="34" charset="-122"/>
                <a:ea typeface="Microsoft YaHei" panose="020B0503020204020204" pitchFamily="34" charset="-122"/>
              </a:rPr>
              <a:t>   (CB)</a:t>
            </a:r>
            <a:r>
              <a:rPr lang="en-US" altLang="zh-CN" sz="1800" baseline="300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=CBAD=U</a:t>
            </a:r>
          </a:p>
          <a:p>
            <a:pPr eaLnBrk="1" hangingPunct="1">
              <a:buNone/>
            </a:pPr>
            <a:r>
              <a:rPr lang="en-US" altLang="zh-CN" sz="1800" dirty="0">
                <a:latin typeface="Microsoft YaHei" panose="020B0503020204020204" pitchFamily="34" charset="-122"/>
                <a:ea typeface="Microsoft YaHei" panose="020B0503020204020204" pitchFamily="34" charset="-122"/>
              </a:rPr>
              <a:t>   (CD)</a:t>
            </a:r>
            <a:r>
              <a:rPr lang="en-US" altLang="zh-CN" sz="1800" baseline="300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=CDAB=U</a:t>
            </a:r>
          </a:p>
          <a:p>
            <a:pPr eaLnBrk="1" hangingPunct="1">
              <a:buNone/>
            </a:pPr>
            <a:r>
              <a:rPr lang="en-US" altLang="zh-CN" sz="1800" dirty="0">
                <a:latin typeface="Microsoft YaHei" panose="020B0503020204020204" pitchFamily="34" charset="-122"/>
                <a:ea typeface="Microsoft YaHei" panose="020B0503020204020204" pitchFamily="34" charset="-122"/>
              </a:rPr>
              <a:t>   (DA)</a:t>
            </a:r>
            <a:r>
              <a:rPr lang="en-US" altLang="zh-CN" sz="1800" baseline="300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=DABC=U</a:t>
            </a:r>
          </a:p>
          <a:p>
            <a:pPr eaLnBrk="1" hangingPunct="1">
              <a:buNone/>
            </a:pPr>
            <a:r>
              <a:rPr lang="en-US" altLang="zh-CN" sz="1800" dirty="0">
                <a:latin typeface="Microsoft YaHei" panose="020B0503020204020204" pitchFamily="34" charset="-122"/>
                <a:ea typeface="Microsoft YaHei" panose="020B0503020204020204" pitchFamily="34" charset="-122"/>
              </a:rPr>
              <a:t>   (AB)</a:t>
            </a:r>
            <a:r>
              <a:rPr lang="en-US" altLang="zh-CN" sz="1800" baseline="300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=ABCD=U</a:t>
            </a:r>
          </a:p>
          <a:p>
            <a:pPr eaLnBrk="1" hangingPunct="1">
              <a:buNone/>
            </a:pPr>
            <a:r>
              <a:rPr lang="en-US" altLang="zh-CN" sz="1800" dirty="0">
                <a:latin typeface="Microsoft YaHei" panose="020B0503020204020204" pitchFamily="34" charset="-122"/>
                <a:ea typeface="Microsoft YaHei" panose="020B0503020204020204" pitchFamily="34" charset="-122"/>
              </a:rPr>
              <a:t>   ∴ CB,CD,DA,AB</a:t>
            </a:r>
            <a:r>
              <a:rPr lang="zh-CN" altLang="en-US" sz="1800" dirty="0">
                <a:latin typeface="Microsoft YaHei" panose="020B0503020204020204" pitchFamily="34" charset="-122"/>
                <a:ea typeface="Microsoft YaHei" panose="020B0503020204020204" pitchFamily="34" charset="-122"/>
              </a:rPr>
              <a:t>是</a:t>
            </a:r>
            <a:r>
              <a:rPr lang="en-US" altLang="zh-CN" sz="1800" dirty="0">
                <a:latin typeface="Microsoft YaHei" panose="020B0503020204020204" pitchFamily="34" charset="-122"/>
                <a:ea typeface="Microsoft YaHei" panose="020B0503020204020204" pitchFamily="34" charset="-122"/>
              </a:rPr>
              <a:t>R5</a:t>
            </a:r>
            <a:r>
              <a:rPr lang="zh-CN" altLang="en-US" sz="1800" dirty="0">
                <a:latin typeface="Microsoft YaHei" panose="020B0503020204020204" pitchFamily="34" charset="-122"/>
                <a:ea typeface="Microsoft YaHei" panose="020B0503020204020204" pitchFamily="34" charset="-122"/>
              </a:rPr>
              <a:t>的候选键。 非主属性</a:t>
            </a:r>
            <a:r>
              <a:rPr lang="en-US" altLang="zh-CN" sz="18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无</a:t>
            </a:r>
            <a:endParaRPr lang="en-US" altLang="zh-CN" sz="1800" dirty="0">
              <a:latin typeface="Microsoft YaHei" panose="020B0503020204020204" pitchFamily="34" charset="-122"/>
              <a:ea typeface="Microsoft YaHei" panose="020B0503020204020204" pitchFamily="34" charset="-122"/>
            </a:endParaRPr>
          </a:p>
          <a:p>
            <a:pPr eaLnBrk="1" hangingPunct="1">
              <a:buNone/>
            </a:pPr>
            <a:r>
              <a:rPr lang="en-US" altLang="zh-CN" sz="1800" dirty="0">
                <a:latin typeface="Microsoft YaHei" panose="020B0503020204020204" pitchFamily="34" charset="-122"/>
                <a:ea typeface="Microsoft YaHei" panose="020B0503020204020204" pitchFamily="34" charset="-122"/>
              </a:rPr>
              <a:t>   ∴ R5∈3NF (∵</a:t>
            </a:r>
            <a:r>
              <a:rPr lang="zh-CN" altLang="en-US" sz="1800" dirty="0">
                <a:latin typeface="Microsoft YaHei" panose="020B0503020204020204" pitchFamily="34" charset="-122"/>
                <a:ea typeface="Microsoft YaHei" panose="020B0503020204020204" pitchFamily="34" charset="-122"/>
              </a:rPr>
              <a:t>全部属性都是主属性的关系至少是</a:t>
            </a:r>
            <a:r>
              <a:rPr lang="en-US" altLang="zh-CN" sz="1800" dirty="0">
                <a:latin typeface="Microsoft YaHei" panose="020B0503020204020204" pitchFamily="34" charset="-122"/>
                <a:ea typeface="Microsoft YaHei" panose="020B0503020204020204" pitchFamily="34" charset="-122"/>
              </a:rPr>
              <a:t>3NF</a:t>
            </a:r>
            <a:r>
              <a:rPr lang="zh-CN" altLang="en-US" sz="1800" dirty="0">
                <a:latin typeface="Microsoft YaHei" panose="020B0503020204020204" pitchFamily="34" charset="-122"/>
                <a:ea typeface="Microsoft YaHei" panose="020B0503020204020204" pitchFamily="34" charset="-122"/>
              </a:rPr>
              <a:t>。但C→</a:t>
            </a:r>
            <a:r>
              <a:rPr lang="en-US" altLang="zh-CN" sz="1800" dirty="0">
                <a:latin typeface="Microsoft YaHei" panose="020B0503020204020204" pitchFamily="34" charset="-122"/>
                <a:ea typeface="Microsoft YaHei" panose="020B0503020204020204" pitchFamily="34" charset="-122"/>
              </a:rPr>
              <a:t>A</a:t>
            </a:r>
            <a:r>
              <a:rPr lang="zh-CN" altLang="en-US" sz="1800" dirty="0">
                <a:latin typeface="Microsoft YaHei" panose="020B0503020204020204" pitchFamily="34" charset="-122"/>
                <a:ea typeface="Microsoft YaHei" panose="020B0503020204020204" pitchFamily="34" charset="-122"/>
              </a:rPr>
              <a:t>的左部未包含</a:t>
            </a:r>
            <a:r>
              <a:rPr lang="en-US" altLang="zh-CN" sz="1800" dirty="0">
                <a:latin typeface="Microsoft YaHei" panose="020B0503020204020204" pitchFamily="34" charset="-122"/>
                <a:ea typeface="Microsoft YaHei" panose="020B0503020204020204" pitchFamily="34" charset="-122"/>
              </a:rPr>
              <a:t>R5</a:t>
            </a:r>
            <a:r>
              <a:rPr lang="zh-CN" altLang="en-US" sz="1800" dirty="0">
                <a:latin typeface="Microsoft YaHei" panose="020B0503020204020204" pitchFamily="34" charset="-122"/>
                <a:ea typeface="Microsoft YaHei" panose="020B0503020204020204" pitchFamily="34" charset="-122"/>
              </a:rPr>
              <a:t>的仼一候选键，∴</a:t>
            </a:r>
            <a:r>
              <a:rPr lang="en-US" altLang="zh-CN" sz="1800" dirty="0">
                <a:latin typeface="Microsoft YaHei" panose="020B0503020204020204" pitchFamily="34" charset="-122"/>
                <a:ea typeface="Microsoft YaHei" panose="020B0503020204020204" pitchFamily="34" charset="-122"/>
              </a:rPr>
              <a:t>R5</a:t>
            </a:r>
            <a:r>
              <a:rPr lang="zh-CN" altLang="en-US" sz="1800" dirty="0">
                <a:latin typeface="Microsoft YaHei" panose="020B0503020204020204" pitchFamily="34" charset="-122"/>
                <a:ea typeface="Microsoft YaHei" panose="020B0503020204020204" pitchFamily="34" charset="-122"/>
              </a:rPr>
              <a:t>不是</a:t>
            </a:r>
            <a:r>
              <a:rPr lang="en-US" altLang="zh-CN" sz="1800" dirty="0">
                <a:latin typeface="Microsoft YaHei" panose="020B0503020204020204" pitchFamily="34" charset="-122"/>
                <a:ea typeface="Microsoft YaHei" panose="020B0503020204020204" pitchFamily="34" charset="-122"/>
              </a:rPr>
              <a:t>BCNF)</a:t>
            </a:r>
          </a:p>
          <a:p>
            <a:pPr eaLnBrk="1" hangingPunct="1">
              <a:buNone/>
            </a:pPr>
            <a:endParaRPr lang="en-US" altLang="zh-CN" sz="1800" dirty="0">
              <a:solidFill>
                <a:schemeClr val="bg2"/>
              </a:solidFill>
              <a:latin typeface="Microsoft YaHei" panose="020B0503020204020204" pitchFamily="34" charset="-122"/>
              <a:ea typeface="Microsoft YaHei" panose="020B0503020204020204" pitchFamily="34" charset="-122"/>
            </a:endParaRPr>
          </a:p>
          <a:p>
            <a:pPr eaLnBrk="1" hangingPunct="1">
              <a:buNone/>
            </a:pPr>
            <a:endParaRPr lang="en-US" altLang="zh-CN" sz="1800" dirty="0">
              <a:solidFill>
                <a:schemeClr val="bg2"/>
              </a:solidFill>
              <a:latin typeface="Microsoft YaHei" panose="020B0503020204020204" pitchFamily="34" charset="-122"/>
              <a:ea typeface="Microsoft YaHei" panose="020B0503020204020204" pitchFamily="34" charset="-122"/>
            </a:endParaRPr>
          </a:p>
          <a:p>
            <a:pPr eaLnBrk="1" hangingPunct="1">
              <a:buNone/>
            </a:pPr>
            <a:r>
              <a:rPr lang="en-US" altLang="zh-CN" sz="1800" dirty="0">
                <a:solidFill>
                  <a:schemeClr val="bg2"/>
                </a:solidFill>
                <a:latin typeface="Microsoft YaHei" panose="020B0503020204020204" pitchFamily="34" charset="-122"/>
                <a:ea typeface="Microsoft YaHei" panose="020B0503020204020204" pitchFamily="34" charset="-122"/>
              </a:rPr>
              <a:t>    </a:t>
            </a:r>
          </a:p>
          <a:p>
            <a:pPr eaLnBrk="1" hangingPunct="1">
              <a:buNone/>
            </a:pPr>
            <a:r>
              <a:rPr lang="en-US" altLang="zh-CN" sz="1800" dirty="0">
                <a:solidFill>
                  <a:schemeClr val="bg2"/>
                </a:solidFill>
                <a:latin typeface="Microsoft YaHei" panose="020B0503020204020204" pitchFamily="34" charset="-122"/>
                <a:ea typeface="Microsoft YaHei" panose="020B0503020204020204" pitchFamily="34" charset="-122"/>
              </a:rPr>
              <a:t>   </a:t>
            </a:r>
            <a:endParaRPr lang="zh-CN" altLang="en-US" sz="1800" dirty="0">
              <a:solidFill>
                <a:schemeClr val="bg2"/>
              </a:solidFill>
              <a:latin typeface="Microsoft YaHei" panose="020B0503020204020204" pitchFamily="34" charset="-122"/>
              <a:ea typeface="Microsoft YaHei" panose="020B0503020204020204" pitchFamily="34" charset="-122"/>
            </a:endParaRPr>
          </a:p>
          <a:p>
            <a:pPr eaLnBrk="1" hangingPunct="1">
              <a:buNone/>
            </a:pPr>
            <a:endParaRPr lang="zh-CN" altLang="en-US" sz="2100" dirty="0">
              <a:solidFill>
                <a:schemeClr val="bg2"/>
              </a:solidFill>
              <a:latin typeface="Microsoft YaHei" panose="020B0503020204020204" pitchFamily="34" charset="-122"/>
              <a:ea typeface="Microsoft YaHei" panose="020B0503020204020204" pitchFamily="34" charset="-122"/>
            </a:endParaRPr>
          </a:p>
          <a:p>
            <a:pPr eaLnBrk="1" hangingPunct="1">
              <a:buNone/>
            </a:pPr>
            <a:endParaRPr lang="zh-CN" altLang="en-US" sz="2100" dirty="0">
              <a:solidFill>
                <a:schemeClr val="hlink"/>
              </a:solidFill>
              <a:latin typeface="Microsoft YaHei" panose="020B0503020204020204" pitchFamily="34" charset="-122"/>
              <a:ea typeface="Microsoft YaHei" panose="020B0503020204020204" pitchFamily="34" charset="-122"/>
            </a:endParaRPr>
          </a:p>
          <a:p>
            <a:pPr eaLnBrk="1" hangingPunct="1">
              <a:buNone/>
            </a:pPr>
            <a:endParaRPr lang="zh-CN" altLang="en-US" sz="2100" dirty="0">
              <a:solidFill>
                <a:schemeClr val="hlink"/>
              </a:solidFill>
              <a:latin typeface="Microsoft YaHei" panose="020B0503020204020204" pitchFamily="34" charset="-122"/>
              <a:ea typeface="Microsoft YaHei"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 calcmode="lin" valueType="num">
                                      <p:cBhvr additive="base">
                                        <p:cTn id="1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anim calcmode="lin" valueType="num">
                                      <p:cBhvr additive="base">
                                        <p:cTn id="23"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 calcmode="lin" valueType="num">
                                      <p:cBhvr additive="base">
                                        <p:cTn id="27"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anim calcmode="lin" valueType="num">
                                      <p:cBhvr additive="base">
                                        <p:cTn id="31"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 calcmode="lin" valueType="num">
                                      <p:cBhvr additive="base">
                                        <p:cTn id="35"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p:cNvSpPr>
          <p:nvPr>
            <p:ph type="title"/>
          </p:nvPr>
        </p:nvSpPr>
        <p:spPr/>
        <p:txBody>
          <a:bodyPr vert="horz" wrap="square" lIns="68580" tIns="34290" rIns="68580" bIns="34290" rtlCol="0" anchor="b" anchorCtr="0">
            <a:normAutofit/>
          </a:bodyPr>
          <a:lstStyle/>
          <a:p>
            <a:r>
              <a:rPr lang="zh-CN" altLang="en-US" dirty="0">
                <a:latin typeface="宋体" panose="02010600030101010101" pitchFamily="2" charset="-122"/>
              </a:rPr>
              <a:t>从函数依赖到候选键</a:t>
            </a:r>
            <a:endParaRPr lang="zh-CN" altLang="en-US" dirty="0">
              <a:effectLst/>
              <a:latin typeface="宋体" panose="02010600030101010101" pitchFamily="2" charset="-122"/>
              <a:ea typeface="Times New Roman" panose="02020603050405020304" pitchFamily="18" charset="0"/>
            </a:endParaRPr>
          </a:p>
        </p:txBody>
      </p:sp>
      <p:sp>
        <p:nvSpPr>
          <p:cNvPr id="2" name="Rectangle 3"/>
          <p:cNvSpPr>
            <a:spLocks noGrp="1"/>
          </p:cNvSpPr>
          <p:nvPr>
            <p:custDataLst>
              <p:tags r:id="rId1"/>
            </p:custDataLst>
          </p:nvPr>
        </p:nvSpPr>
        <p:spPr>
          <a:xfrm>
            <a:off x="636383" y="1631400"/>
            <a:ext cx="7143765" cy="2235428"/>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eaLnBrk="1" hangingPunct="1">
              <a:buNone/>
            </a:pPr>
            <a:r>
              <a:rPr lang="en-US" altLang="zh-CN" sz="1800" dirty="0">
                <a:latin typeface="Microsoft YaHei" panose="020B0503020204020204" pitchFamily="34" charset="-122"/>
                <a:ea typeface="Microsoft YaHei" panose="020B0503020204020204" pitchFamily="34" charset="-122"/>
              </a:rPr>
              <a:t>(6)</a:t>
            </a:r>
            <a:r>
              <a:rPr lang="zh-CN" altLang="en-US" sz="1800" dirty="0">
                <a:latin typeface="Microsoft YaHei" panose="020B0503020204020204" pitchFamily="34" charset="-122"/>
                <a:ea typeface="Microsoft YaHei" panose="020B0503020204020204" pitchFamily="34" charset="-122"/>
              </a:rPr>
              <a:t>R6(A,B,C,D),F6={AB→CD, C→AB}</a:t>
            </a:r>
            <a:endParaRPr lang="en-US" altLang="zh-CN" sz="1800" dirty="0">
              <a:latin typeface="Microsoft YaHei" panose="020B0503020204020204" pitchFamily="34" charset="-122"/>
              <a:ea typeface="Microsoft YaHei" panose="020B0503020204020204" pitchFamily="34" charset="-122"/>
            </a:endParaRPr>
          </a:p>
          <a:p>
            <a:pPr eaLnBrk="1" hangingPunct="1">
              <a:buNone/>
            </a:pPr>
            <a:r>
              <a:rPr lang="en-US" altLang="zh-CN" sz="1800" dirty="0">
                <a:latin typeface="Microsoft YaHei" panose="020B0503020204020204" pitchFamily="34" charset="-122"/>
                <a:ea typeface="Microsoft YaHei" panose="020B0503020204020204" pitchFamily="34" charset="-122"/>
              </a:rPr>
              <a:t>   R</a:t>
            </a:r>
            <a:r>
              <a:rPr lang="zh-CN" altLang="en-US" sz="1800" dirty="0">
                <a:latin typeface="Microsoft YaHei" panose="020B0503020204020204" pitchFamily="34" charset="-122"/>
                <a:ea typeface="Microsoft YaHei" panose="020B0503020204020204" pitchFamily="34" charset="-122"/>
              </a:rPr>
              <a:t>类：</a:t>
            </a:r>
            <a:r>
              <a:rPr lang="en-US" altLang="zh-CN" sz="1800" dirty="0">
                <a:latin typeface="Microsoft YaHei" panose="020B0503020204020204" pitchFamily="34" charset="-122"/>
                <a:ea typeface="Microsoft YaHei" panose="020B0503020204020204" pitchFamily="34" charset="-122"/>
              </a:rPr>
              <a:t>D</a:t>
            </a:r>
          </a:p>
          <a:p>
            <a:pPr eaLnBrk="1" hangingPunct="1">
              <a:buNone/>
            </a:pPr>
            <a:r>
              <a:rPr lang="en-US" altLang="zh-CN" sz="1800" dirty="0">
                <a:latin typeface="Microsoft YaHei" panose="020B0503020204020204" pitchFamily="34" charset="-122"/>
                <a:ea typeface="Microsoft YaHei" panose="020B0503020204020204" pitchFamily="34" charset="-122"/>
              </a:rPr>
              <a:t>   R6</a:t>
            </a:r>
            <a:r>
              <a:rPr lang="zh-CN" altLang="en-US" sz="1800" dirty="0">
                <a:latin typeface="Microsoft YaHei" panose="020B0503020204020204" pitchFamily="34" charset="-122"/>
                <a:ea typeface="Microsoft YaHei" panose="020B0503020204020204" pitchFamily="34" charset="-122"/>
              </a:rPr>
              <a:t>的候选键</a:t>
            </a:r>
            <a:r>
              <a:rPr lang="en-US" altLang="zh-CN" sz="1800" dirty="0">
                <a:latin typeface="Microsoft YaHei" panose="020B0503020204020204" pitchFamily="34" charset="-122"/>
                <a:ea typeface="Microsoft YaHei" panose="020B0503020204020204" pitchFamily="34" charset="-122"/>
              </a:rPr>
              <a:t>: C,AB</a:t>
            </a:r>
          </a:p>
          <a:p>
            <a:pPr eaLnBrk="1" hangingPunct="1">
              <a:buNone/>
            </a:pPr>
            <a:r>
              <a:rPr lang="en-US" altLang="zh-CN" sz="1800" dirty="0">
                <a:latin typeface="Microsoft YaHei" panose="020B0503020204020204" pitchFamily="34" charset="-122"/>
                <a:ea typeface="Microsoft YaHei" panose="020B0503020204020204" pitchFamily="34" charset="-122"/>
              </a:rPr>
              <a:t>   R∈BCNF</a:t>
            </a:r>
            <a:endParaRPr lang="zh-CN" altLang="en-US" sz="1800" dirty="0">
              <a:latin typeface="Microsoft YaHei" panose="020B0503020204020204" pitchFamily="34" charset="-122"/>
              <a:ea typeface="Microsoft YaHei" panose="020B0503020204020204" pitchFamily="34" charset="-122"/>
            </a:endParaRPr>
          </a:p>
          <a:p>
            <a:pPr eaLnBrk="1" hangingPunct="1">
              <a:buNone/>
            </a:pPr>
            <a:endParaRPr lang="zh-CN" altLang="en-US" sz="1800" dirty="0">
              <a:latin typeface="Microsoft YaHei" panose="020B0503020204020204" pitchFamily="34" charset="-122"/>
              <a:ea typeface="Microsoft YaHei"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 calcmode="lin" valueType="num">
                                      <p:cBhvr additive="base">
                                        <p:cTn id="1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p:cNvSpPr>
            <a:spLocks noGrp="1"/>
          </p:cNvSpPr>
          <p:nvPr>
            <p:ph idx="1"/>
          </p:nvPr>
        </p:nvSpPr>
        <p:spPr/>
        <p:txBody>
          <a:bodyPr vert="horz" wrap="square" lIns="68580" tIns="34290" rIns="68580" bIns="34290" anchor="t" anchorCtr="0">
            <a:normAutofit fontScale="85000" lnSpcReduction="20000"/>
          </a:bodyPr>
          <a:lstStyle/>
          <a:p>
            <a:pPr marL="0" indent="0">
              <a:lnSpc>
                <a:spcPct val="100000"/>
              </a:lnSpc>
              <a:buNone/>
            </a:pPr>
            <a:r>
              <a:rPr lang="zh-CN" altLang="en-US" sz="1800" dirty="0">
                <a:solidFill>
                  <a:schemeClr val="folHlink"/>
                </a:solidFill>
              </a:rPr>
              <a:t>定义</a:t>
            </a:r>
            <a:r>
              <a:rPr lang="en-US" altLang="zh-CN" sz="1800" dirty="0">
                <a:solidFill>
                  <a:schemeClr val="folHlink"/>
                </a:solidFill>
              </a:rPr>
              <a:t>:</a:t>
            </a:r>
            <a:r>
              <a:rPr lang="en-US" altLang="zh-CN" sz="1800" dirty="0"/>
              <a:t> </a:t>
            </a:r>
            <a:r>
              <a:rPr lang="zh-CN" altLang="en-US" sz="1800" dirty="0"/>
              <a:t>如果 </a:t>
            </a:r>
            <a:r>
              <a:rPr lang="en-US" altLang="zh-CN" sz="1800" dirty="0"/>
              <a:t>F</a:t>
            </a:r>
            <a:r>
              <a:rPr lang="en-US" altLang="zh-CN" sz="1800" baseline="30000" dirty="0"/>
              <a:t>+</a:t>
            </a:r>
            <a:r>
              <a:rPr lang="en-US" altLang="zh-CN" sz="1800" dirty="0"/>
              <a:t>=G</a:t>
            </a:r>
            <a:r>
              <a:rPr lang="en-US" altLang="zh-CN" sz="1800" baseline="30000" dirty="0"/>
              <a:t>+</a:t>
            </a:r>
            <a:r>
              <a:rPr lang="en-US" altLang="zh-CN" sz="1800" dirty="0"/>
              <a:t> </a:t>
            </a:r>
            <a:r>
              <a:rPr lang="zh-CN" altLang="en-US" sz="1800" dirty="0"/>
              <a:t>，就说函数依赖集</a:t>
            </a:r>
            <a:r>
              <a:rPr lang="en-US" altLang="zh-CN" sz="1800" dirty="0"/>
              <a:t>F</a:t>
            </a:r>
            <a:r>
              <a:rPr lang="zh-CN" altLang="en-US" sz="1800" dirty="0"/>
              <a:t>覆盖</a:t>
            </a:r>
            <a:r>
              <a:rPr lang="en-US" altLang="zh-CN" sz="1800" dirty="0"/>
              <a:t>G</a:t>
            </a:r>
            <a:r>
              <a:rPr lang="zh-CN" altLang="en-US" sz="1800" dirty="0"/>
              <a:t>或</a:t>
            </a:r>
            <a:r>
              <a:rPr lang="en-US" altLang="zh-CN" sz="1800" dirty="0">
                <a:solidFill>
                  <a:schemeClr val="hlink"/>
                </a:solidFill>
              </a:rPr>
              <a:t>F</a:t>
            </a:r>
            <a:r>
              <a:rPr lang="zh-CN" altLang="en-US" sz="1800" dirty="0">
                <a:solidFill>
                  <a:schemeClr val="hlink"/>
                </a:solidFill>
              </a:rPr>
              <a:t>与</a:t>
            </a:r>
            <a:r>
              <a:rPr lang="en-US" altLang="zh-CN" sz="1800" dirty="0">
                <a:solidFill>
                  <a:schemeClr val="hlink"/>
                </a:solidFill>
              </a:rPr>
              <a:t>G</a:t>
            </a:r>
            <a:r>
              <a:rPr lang="zh-CN" altLang="en-US" sz="1800" dirty="0">
                <a:solidFill>
                  <a:schemeClr val="hlink"/>
                </a:solidFill>
              </a:rPr>
              <a:t>等价</a:t>
            </a:r>
            <a:r>
              <a:rPr lang="zh-CN" altLang="en-US" sz="1800" dirty="0"/>
              <a:t>。</a:t>
            </a:r>
          </a:p>
          <a:p>
            <a:pPr marL="0" indent="0">
              <a:buNone/>
            </a:pPr>
            <a:endParaRPr lang="en-US" altLang="zh-CN" sz="1800" dirty="0"/>
          </a:p>
          <a:p>
            <a:pPr marL="0" indent="0">
              <a:buNone/>
            </a:pPr>
            <a:endParaRPr lang="zh-CN" altLang="en-US" sz="1800" dirty="0"/>
          </a:p>
          <a:p>
            <a:pPr marL="0" indent="0">
              <a:lnSpc>
                <a:spcPct val="100000"/>
              </a:lnSpc>
              <a:buNone/>
            </a:pPr>
            <a:r>
              <a:rPr lang="zh-CN" altLang="en-US" sz="1800" b="1" dirty="0">
                <a:solidFill>
                  <a:schemeClr val="folHlink"/>
                </a:solidFill>
              </a:rPr>
              <a:t>定理</a:t>
            </a:r>
            <a:r>
              <a:rPr lang="en-US" altLang="zh-CN" sz="1800" b="1" dirty="0">
                <a:solidFill>
                  <a:schemeClr val="folHlink"/>
                </a:solidFill>
              </a:rPr>
              <a:t>4.6:</a:t>
            </a:r>
            <a:r>
              <a:rPr lang="en-US" altLang="zh-CN" sz="1800" dirty="0">
                <a:solidFill>
                  <a:schemeClr val="hlink"/>
                </a:solidFill>
              </a:rPr>
              <a:t> </a:t>
            </a:r>
            <a:r>
              <a:rPr lang="en-US" altLang="zh-CN" sz="1800" dirty="0"/>
              <a:t>F</a:t>
            </a:r>
            <a:r>
              <a:rPr lang="en-US" altLang="zh-CN" sz="1800" baseline="30000" dirty="0"/>
              <a:t>+</a:t>
            </a:r>
            <a:r>
              <a:rPr lang="en-US" altLang="zh-CN" sz="1800" dirty="0"/>
              <a:t>=G</a:t>
            </a:r>
            <a:r>
              <a:rPr lang="en-US" altLang="zh-CN" sz="1800" baseline="30000" dirty="0"/>
              <a:t>+</a:t>
            </a:r>
            <a:r>
              <a:rPr lang="en-US" altLang="zh-CN" sz="1800" dirty="0"/>
              <a:t> </a:t>
            </a:r>
            <a:r>
              <a:rPr lang="zh-CN" altLang="en-US" sz="1800" dirty="0"/>
              <a:t>的充分必要条件是</a:t>
            </a:r>
            <a:r>
              <a:rPr lang="en-US" altLang="zh-CN" sz="1800" dirty="0"/>
              <a:t>F⊆G</a:t>
            </a:r>
            <a:r>
              <a:rPr lang="en-US" altLang="zh-CN" sz="1800" baseline="30000" dirty="0"/>
              <a:t>+</a:t>
            </a:r>
            <a:r>
              <a:rPr lang="zh-CN" altLang="en-US" sz="1800" dirty="0"/>
              <a:t>，和</a:t>
            </a:r>
            <a:r>
              <a:rPr lang="en-US" altLang="zh-CN" sz="1800" dirty="0"/>
              <a:t>G⊆F</a:t>
            </a:r>
            <a:r>
              <a:rPr lang="en-US" altLang="zh-CN" sz="1800" baseline="30000" dirty="0"/>
              <a:t>+</a:t>
            </a:r>
            <a:r>
              <a:rPr lang="zh-CN" altLang="en-US" sz="1800" dirty="0"/>
              <a:t>。</a:t>
            </a:r>
          </a:p>
          <a:p>
            <a:pPr marL="0" indent="0" algn="just">
              <a:lnSpc>
                <a:spcPct val="100000"/>
              </a:lnSpc>
              <a:buNone/>
            </a:pPr>
            <a:r>
              <a:rPr lang="zh-CN" altLang="en-US" sz="1800" dirty="0"/>
              <a:t>（</a:t>
            </a:r>
            <a:r>
              <a:rPr lang="en-US" altLang="zh-CN" sz="1800" dirty="0"/>
              <a:t>1</a:t>
            </a:r>
            <a:r>
              <a:rPr lang="zh-CN" altLang="en-US" sz="1800" dirty="0"/>
              <a:t>）必要性 </a:t>
            </a:r>
            <a:r>
              <a:rPr lang="en-US" altLang="zh-CN" sz="1800" dirty="0"/>
              <a:t>(F</a:t>
            </a:r>
            <a:r>
              <a:rPr lang="en-US" altLang="zh-CN" sz="1800" baseline="30000" dirty="0"/>
              <a:t>+</a:t>
            </a:r>
            <a:r>
              <a:rPr lang="en-US" altLang="zh-CN" sz="1800" dirty="0"/>
              <a:t>=G</a:t>
            </a:r>
            <a:r>
              <a:rPr lang="en-US" altLang="zh-CN" sz="1800" baseline="30000" dirty="0"/>
              <a:t>+ </a:t>
            </a:r>
            <a:r>
              <a:rPr lang="en-US" altLang="zh-CN" sz="1800" dirty="0">
                <a:solidFill>
                  <a:schemeClr val="hlink"/>
                </a:solidFill>
              </a:rPr>
              <a:t>-&gt;</a:t>
            </a:r>
            <a:r>
              <a:rPr lang="en-US" altLang="zh-CN" sz="1800" dirty="0"/>
              <a:t> F⊆G</a:t>
            </a:r>
            <a:r>
              <a:rPr lang="en-US" altLang="zh-CN" sz="1800" baseline="30000" dirty="0"/>
              <a:t>+</a:t>
            </a:r>
            <a:r>
              <a:rPr lang="zh-CN" altLang="en-US" sz="1800" dirty="0"/>
              <a:t>，和</a:t>
            </a:r>
            <a:r>
              <a:rPr lang="en-US" altLang="zh-CN" sz="1800" dirty="0"/>
              <a:t>G⊆F</a:t>
            </a:r>
            <a:r>
              <a:rPr lang="en-US" altLang="zh-CN" sz="1800" baseline="30000" dirty="0"/>
              <a:t>+</a:t>
            </a:r>
            <a:r>
              <a:rPr lang="en-US" altLang="zh-CN" sz="1800" dirty="0"/>
              <a:t>)</a:t>
            </a:r>
          </a:p>
          <a:p>
            <a:pPr marL="0" indent="0" algn="just">
              <a:lnSpc>
                <a:spcPct val="100000"/>
              </a:lnSpc>
              <a:buNone/>
            </a:pPr>
            <a:r>
              <a:rPr lang="en-US" altLang="zh-CN" sz="1800" dirty="0"/>
              <a:t>∵F</a:t>
            </a:r>
            <a:r>
              <a:rPr lang="en-US" altLang="zh-CN" sz="1800" baseline="30000" dirty="0"/>
              <a:t>+</a:t>
            </a:r>
            <a:r>
              <a:rPr lang="en-US" altLang="zh-CN" sz="1800" dirty="0"/>
              <a:t>=G</a:t>
            </a:r>
            <a:r>
              <a:rPr lang="en-US" altLang="zh-CN" sz="1800" baseline="30000" dirty="0"/>
              <a:t>+</a:t>
            </a:r>
            <a:r>
              <a:rPr lang="zh-CN" altLang="en-US" sz="1800" dirty="0"/>
              <a:t>， ∴ </a:t>
            </a:r>
            <a:r>
              <a:rPr lang="en-US" altLang="zh-CN" sz="1800" dirty="0"/>
              <a:t>F</a:t>
            </a:r>
            <a:r>
              <a:rPr lang="en-US" altLang="zh-CN" sz="1800" baseline="30000" dirty="0"/>
              <a:t>+</a:t>
            </a:r>
            <a:r>
              <a:rPr lang="en-US" altLang="zh-CN" sz="1800" dirty="0"/>
              <a:t>⊆G</a:t>
            </a:r>
            <a:r>
              <a:rPr lang="en-US" altLang="zh-CN" sz="1800" baseline="30000" dirty="0"/>
              <a:t>+</a:t>
            </a:r>
            <a:r>
              <a:rPr lang="zh-CN" altLang="en-US" sz="1800" dirty="0"/>
              <a:t>，又∵</a:t>
            </a:r>
            <a:r>
              <a:rPr lang="en-US" altLang="zh-CN" sz="1800" dirty="0"/>
              <a:t>F⊆F</a:t>
            </a:r>
            <a:r>
              <a:rPr lang="en-US" altLang="zh-CN" sz="1800" baseline="30000" dirty="0"/>
              <a:t>+</a:t>
            </a:r>
            <a:r>
              <a:rPr lang="zh-CN" altLang="en-US" sz="1800" dirty="0"/>
              <a:t>，∴</a:t>
            </a:r>
            <a:r>
              <a:rPr lang="en-US" altLang="zh-CN" sz="1800" dirty="0"/>
              <a:t>F⊆G</a:t>
            </a:r>
            <a:r>
              <a:rPr lang="en-US" altLang="zh-CN" sz="1800" baseline="30000" dirty="0"/>
              <a:t>+</a:t>
            </a:r>
            <a:endParaRPr lang="en-US" altLang="zh-CN" sz="1800" dirty="0"/>
          </a:p>
          <a:p>
            <a:pPr marL="0" indent="0" algn="just">
              <a:lnSpc>
                <a:spcPct val="100000"/>
              </a:lnSpc>
              <a:buNone/>
            </a:pPr>
            <a:r>
              <a:rPr lang="zh-CN" altLang="en-US" sz="1800" dirty="0"/>
              <a:t>同理，∵</a:t>
            </a:r>
            <a:r>
              <a:rPr lang="en-US" altLang="zh-CN" sz="1800" dirty="0"/>
              <a:t>G⊆G</a:t>
            </a:r>
            <a:r>
              <a:rPr lang="en-US" altLang="zh-CN" sz="1800" baseline="30000" dirty="0"/>
              <a:t>+</a:t>
            </a:r>
            <a:r>
              <a:rPr lang="zh-CN" altLang="en-US" sz="1800" dirty="0"/>
              <a:t>，∴</a:t>
            </a:r>
            <a:r>
              <a:rPr lang="en-US" altLang="zh-CN" sz="1800" dirty="0"/>
              <a:t>G⊆F</a:t>
            </a:r>
            <a:r>
              <a:rPr lang="en-US" altLang="zh-CN" sz="1800" baseline="30000" dirty="0"/>
              <a:t>+</a:t>
            </a:r>
            <a:r>
              <a:rPr lang="zh-CN" altLang="en-US" sz="1800" dirty="0"/>
              <a:t>。</a:t>
            </a:r>
          </a:p>
          <a:p>
            <a:pPr marL="0" indent="0" algn="just">
              <a:lnSpc>
                <a:spcPct val="100000"/>
              </a:lnSpc>
              <a:buNone/>
            </a:pPr>
            <a:r>
              <a:rPr lang="zh-CN" altLang="en-US" sz="1800" dirty="0"/>
              <a:t>（</a:t>
            </a:r>
            <a:r>
              <a:rPr lang="en-US" altLang="zh-CN" sz="1800" dirty="0"/>
              <a:t>2</a:t>
            </a:r>
            <a:r>
              <a:rPr lang="zh-CN" altLang="en-US" sz="1800" dirty="0"/>
              <a:t>）充分性 </a:t>
            </a:r>
            <a:r>
              <a:rPr lang="en-US" altLang="zh-CN" sz="1800" dirty="0"/>
              <a:t>(F⊆G</a:t>
            </a:r>
            <a:r>
              <a:rPr lang="en-US" altLang="zh-CN" sz="1800" baseline="30000" dirty="0"/>
              <a:t>+</a:t>
            </a:r>
            <a:r>
              <a:rPr lang="zh-CN" altLang="en-US" sz="1800" dirty="0"/>
              <a:t>，和</a:t>
            </a:r>
            <a:r>
              <a:rPr lang="en-US" altLang="zh-CN" sz="1800" dirty="0"/>
              <a:t>G⊆F</a:t>
            </a:r>
            <a:r>
              <a:rPr lang="en-US" altLang="zh-CN" sz="1800" baseline="30000" dirty="0"/>
              <a:t>+ </a:t>
            </a:r>
            <a:r>
              <a:rPr lang="en-US" altLang="zh-CN" sz="1800" dirty="0">
                <a:solidFill>
                  <a:schemeClr val="hlink"/>
                </a:solidFill>
              </a:rPr>
              <a:t>-&gt; </a:t>
            </a:r>
            <a:r>
              <a:rPr lang="en-US" altLang="zh-CN" sz="1800" dirty="0"/>
              <a:t>F</a:t>
            </a:r>
            <a:r>
              <a:rPr lang="en-US" altLang="zh-CN" sz="1800" baseline="30000" dirty="0"/>
              <a:t>+</a:t>
            </a:r>
            <a:r>
              <a:rPr lang="en-US" altLang="zh-CN" sz="1800" dirty="0"/>
              <a:t>=G</a:t>
            </a:r>
            <a:r>
              <a:rPr lang="en-US" altLang="zh-CN" sz="1800" baseline="30000" dirty="0"/>
              <a:t>+</a:t>
            </a:r>
            <a:r>
              <a:rPr lang="en-US" altLang="zh-CN" sz="1800" dirty="0"/>
              <a:t> )</a:t>
            </a:r>
          </a:p>
          <a:p>
            <a:pPr marL="0" indent="0" algn="just">
              <a:lnSpc>
                <a:spcPct val="100000"/>
              </a:lnSpc>
              <a:buNone/>
            </a:pPr>
            <a:r>
              <a:rPr lang="zh-CN" altLang="en-US" sz="1800" dirty="0"/>
              <a:t>任取</a:t>
            </a:r>
            <a:r>
              <a:rPr lang="en-US" altLang="zh-CN" sz="1800" dirty="0"/>
              <a:t>X→Y∈F</a:t>
            </a:r>
            <a:r>
              <a:rPr lang="en-US" altLang="zh-CN" sz="1800" baseline="30000" dirty="0"/>
              <a:t>+</a:t>
            </a:r>
            <a:r>
              <a:rPr lang="zh-CN" altLang="en-US" sz="1800" dirty="0"/>
              <a:t>，则有</a:t>
            </a:r>
            <a:r>
              <a:rPr lang="en-US" altLang="zh-CN" sz="1800" dirty="0"/>
              <a:t>Y⊆X</a:t>
            </a:r>
            <a:r>
              <a:rPr lang="en-US" altLang="zh-CN" sz="1800" baseline="-30000" dirty="0"/>
              <a:t>F</a:t>
            </a:r>
            <a:r>
              <a:rPr lang="en-US" altLang="zh-CN" sz="1800" baseline="30000" dirty="0"/>
              <a:t>+  </a:t>
            </a:r>
            <a:r>
              <a:rPr lang="en-US" altLang="zh-CN" sz="1800" dirty="0"/>
              <a:t>(</a:t>
            </a:r>
            <a:r>
              <a:rPr lang="zh-CN" altLang="en-US" sz="1800" dirty="0"/>
              <a:t>定理</a:t>
            </a:r>
            <a:r>
              <a:rPr lang="en-US" altLang="zh-CN" sz="1800" dirty="0"/>
              <a:t>4-6)</a:t>
            </a:r>
          </a:p>
          <a:p>
            <a:pPr marL="0" indent="0" algn="just">
              <a:lnSpc>
                <a:spcPct val="100000"/>
              </a:lnSpc>
              <a:buNone/>
            </a:pPr>
            <a:r>
              <a:rPr lang="zh-CN" altLang="en-US" sz="1800" dirty="0"/>
              <a:t>又∵</a:t>
            </a:r>
            <a:r>
              <a:rPr lang="en-US" altLang="zh-CN" sz="1800" dirty="0"/>
              <a:t>F⊆G</a:t>
            </a:r>
            <a:r>
              <a:rPr lang="en-US" altLang="zh-CN" sz="1800" baseline="30000" dirty="0"/>
              <a:t>+</a:t>
            </a:r>
            <a:r>
              <a:rPr lang="zh-CN" altLang="en-US" sz="1800" dirty="0"/>
              <a:t>（已知），∴</a:t>
            </a:r>
            <a:r>
              <a:rPr lang="en-US" altLang="zh-CN" sz="1800" dirty="0"/>
              <a:t>Y⊆X</a:t>
            </a:r>
            <a:r>
              <a:rPr lang="en-US" altLang="zh-CN" sz="1800" baseline="-30000" dirty="0"/>
              <a:t>G</a:t>
            </a:r>
            <a:r>
              <a:rPr lang="en-US" altLang="zh-CN" sz="1800" dirty="0"/>
              <a:t>+</a:t>
            </a:r>
            <a:r>
              <a:rPr lang="en-US" altLang="zh-CN" sz="1800" baseline="30000" dirty="0"/>
              <a:t>+</a:t>
            </a:r>
            <a:endParaRPr lang="en-US" altLang="zh-CN" sz="1800" dirty="0"/>
          </a:p>
          <a:p>
            <a:pPr marL="0" indent="0" algn="just">
              <a:lnSpc>
                <a:spcPct val="100000"/>
              </a:lnSpc>
              <a:buNone/>
            </a:pPr>
            <a:r>
              <a:rPr lang="en-US" altLang="zh-CN" sz="1800" dirty="0"/>
              <a:t>∴X→Y∈(G</a:t>
            </a:r>
            <a:r>
              <a:rPr lang="en-US" altLang="zh-CN" sz="1800" baseline="30000" dirty="0"/>
              <a:t>+</a:t>
            </a:r>
            <a:r>
              <a:rPr lang="en-US" altLang="zh-CN" sz="1800" dirty="0"/>
              <a:t>)</a:t>
            </a:r>
            <a:r>
              <a:rPr lang="en-US" altLang="zh-CN" sz="1800" baseline="30000" dirty="0"/>
              <a:t>+</a:t>
            </a:r>
            <a:r>
              <a:rPr lang="en-US" altLang="zh-CN" sz="1800" dirty="0"/>
              <a:t>=G</a:t>
            </a:r>
            <a:r>
              <a:rPr lang="en-US" altLang="zh-CN" sz="1800" baseline="30000" dirty="0"/>
              <a:t>+</a:t>
            </a:r>
            <a:r>
              <a:rPr lang="zh-CN" altLang="en-US" sz="1800" dirty="0"/>
              <a:t>，∴</a:t>
            </a:r>
            <a:r>
              <a:rPr lang="en-US" altLang="zh-CN" sz="1800" dirty="0"/>
              <a:t>F</a:t>
            </a:r>
            <a:r>
              <a:rPr lang="en-US" altLang="zh-CN" sz="1800" baseline="30000" dirty="0"/>
              <a:t>+</a:t>
            </a:r>
            <a:r>
              <a:rPr lang="en-US" altLang="zh-CN" sz="1800" dirty="0"/>
              <a:t>⊆G</a:t>
            </a:r>
            <a:r>
              <a:rPr lang="en-US" altLang="zh-CN" sz="1800" baseline="30000" dirty="0"/>
              <a:t>+</a:t>
            </a:r>
            <a:r>
              <a:rPr lang="zh-CN" altLang="en-US" sz="1800" dirty="0"/>
              <a:t>。	</a:t>
            </a:r>
          </a:p>
          <a:p>
            <a:pPr marL="0" indent="0" algn="just">
              <a:lnSpc>
                <a:spcPct val="100000"/>
              </a:lnSpc>
              <a:buNone/>
            </a:pPr>
            <a:r>
              <a:rPr lang="zh-CN" altLang="en-US" sz="1800" dirty="0"/>
              <a:t>同理可证</a:t>
            </a:r>
            <a:r>
              <a:rPr lang="en-US" altLang="zh-CN" sz="1800" dirty="0"/>
              <a:t>G</a:t>
            </a:r>
            <a:r>
              <a:rPr lang="en-US" altLang="zh-CN" sz="1800" baseline="30000" dirty="0"/>
              <a:t>+</a:t>
            </a:r>
            <a:r>
              <a:rPr lang="en-US" altLang="zh-CN" sz="1800" dirty="0"/>
              <a:t>⊆F</a:t>
            </a:r>
            <a:r>
              <a:rPr lang="en-US" altLang="zh-CN" sz="1800" baseline="30000" dirty="0"/>
              <a:t>+</a:t>
            </a:r>
            <a:r>
              <a:rPr lang="zh-CN" altLang="en-US" sz="1800" dirty="0"/>
              <a:t>，∴</a:t>
            </a:r>
            <a:r>
              <a:rPr lang="en-US" altLang="zh-CN" sz="1800" dirty="0"/>
              <a:t>F</a:t>
            </a:r>
            <a:r>
              <a:rPr lang="en-US" altLang="zh-CN" sz="1800" baseline="30000" dirty="0"/>
              <a:t>+</a:t>
            </a:r>
            <a:r>
              <a:rPr lang="en-US" altLang="zh-CN" sz="1800" dirty="0"/>
              <a:t>=G</a:t>
            </a:r>
            <a:r>
              <a:rPr lang="en-US" altLang="zh-CN" sz="1800" baseline="30000" dirty="0"/>
              <a:t>+</a:t>
            </a:r>
            <a:r>
              <a:rPr lang="zh-CN" altLang="en-US" sz="1800" dirty="0"/>
              <a:t>，即</a:t>
            </a:r>
            <a:r>
              <a:rPr lang="en-US" altLang="zh-CN" sz="1800" dirty="0"/>
              <a:t>F</a:t>
            </a:r>
            <a:r>
              <a:rPr lang="zh-CN" altLang="en-US" sz="1800" dirty="0"/>
              <a:t>和</a:t>
            </a:r>
            <a:r>
              <a:rPr lang="en-US" altLang="zh-CN" sz="1800" dirty="0"/>
              <a:t>G</a:t>
            </a:r>
            <a:r>
              <a:rPr lang="zh-CN" altLang="en-US" sz="1800" dirty="0"/>
              <a:t>等价。定理证毕。</a:t>
            </a:r>
          </a:p>
        </p:txBody>
      </p:sp>
      <p:sp>
        <p:nvSpPr>
          <p:cNvPr id="74755" name="Text Box 4"/>
          <p:cNvSpPr txBox="1"/>
          <p:nvPr/>
        </p:nvSpPr>
        <p:spPr>
          <a:xfrm>
            <a:off x="1973048" y="1437282"/>
            <a:ext cx="3070071" cy="323165"/>
          </a:xfrm>
          <a:prstGeom prst="rect">
            <a:avLst/>
          </a:prstGeom>
          <a:noFill/>
          <a:ln w="38100" cap="flat" cmpd="sng">
            <a:solidFill>
              <a:schemeClr val="accent1"/>
            </a:solidFill>
            <a:prstDash val="solid"/>
            <a:miter/>
            <a:headEnd type="none" w="med" len="med"/>
            <a:tailEnd type="none" w="med" len="med"/>
          </a:ln>
        </p:spPr>
        <p:txBody>
          <a:bodyPr wrap="none" anchor="t" anchorCtr="0">
            <a:spAutoFit/>
          </a:bodyPr>
          <a:lstStyle/>
          <a:p>
            <a:pPr eaLnBrk="0" hangingPunct="0"/>
            <a:r>
              <a:rPr lang="zh-CN" altLang="en-US" sz="1500" dirty="0">
                <a:solidFill>
                  <a:srgbClr val="FF0000"/>
                </a:solidFill>
                <a:latin typeface="Microsoft YaHei" panose="020B0503020204020204" pitchFamily="34" charset="-122"/>
                <a:ea typeface="Microsoft YaHei" panose="020B0503020204020204" pitchFamily="34" charset="-122"/>
              </a:rPr>
              <a:t>等价具有自反性、对称性、传递性</a:t>
            </a:r>
          </a:p>
        </p:txBody>
      </p:sp>
      <p:sp>
        <p:nvSpPr>
          <p:cNvPr id="3" name="标题 2">
            <a:extLst>
              <a:ext uri="{FF2B5EF4-FFF2-40B4-BE49-F238E27FC236}">
                <a16:creationId xmlns:a16="http://schemas.microsoft.com/office/drawing/2014/main" id="{7C5C554D-C217-FBDF-64EC-205023665692}"/>
              </a:ext>
            </a:extLst>
          </p:cNvPr>
          <p:cNvSpPr>
            <a:spLocks noGrp="1"/>
          </p:cNvSpPr>
          <p:nvPr>
            <p:ph type="title"/>
          </p:nvPr>
        </p:nvSpPr>
        <p:spPr/>
        <p:txBody>
          <a:bodyPr/>
          <a:lstStyle/>
          <a:p>
            <a:r>
              <a:rPr lang="zh-CN" altLang="en-US" dirty="0"/>
              <a:t>函数依赖集的等价和覆盖</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p:cNvSpPr>
            <a:spLocks noGrp="1"/>
          </p:cNvSpPr>
          <p:nvPr>
            <p:ph idx="1"/>
          </p:nvPr>
        </p:nvSpPr>
        <p:spPr/>
        <p:txBody>
          <a:bodyPr vert="horz" wrap="square" lIns="68580" tIns="34290" rIns="68580" bIns="34290" anchor="t" anchorCtr="0">
            <a:normAutofit fontScale="85000" lnSpcReduction="20000"/>
          </a:bodyPr>
          <a:lstStyle/>
          <a:p>
            <a:pPr marL="0" indent="0" algn="just"/>
            <a:r>
              <a:rPr lang="zh-CN" altLang="en-US" sz="1800" dirty="0">
                <a:solidFill>
                  <a:schemeClr val="hlink"/>
                </a:solidFill>
              </a:rPr>
              <a:t> 如何判断函数依赖集F和G是否等价呢？</a:t>
            </a:r>
          </a:p>
          <a:p>
            <a:pPr marL="0" indent="0" algn="just">
              <a:lnSpc>
                <a:spcPct val="120000"/>
              </a:lnSpc>
              <a:buNone/>
            </a:pPr>
            <a:r>
              <a:rPr lang="zh-CN" altLang="en-US" sz="1800" dirty="0"/>
              <a:t>  只要验证F中的每一个函数依赖X→Y都在G</a:t>
            </a:r>
            <a:r>
              <a:rPr lang="zh-CN" altLang="en-US" sz="1800" baseline="30000" dirty="0"/>
              <a:t>+</a:t>
            </a:r>
            <a:r>
              <a:rPr lang="zh-CN" altLang="en-US" sz="1800" dirty="0"/>
              <a:t>中，同时验证G中的每一个函数依赖V→W都在F</a:t>
            </a:r>
            <a:r>
              <a:rPr lang="zh-CN" altLang="en-US" sz="1800" baseline="30000" dirty="0"/>
              <a:t>+</a:t>
            </a:r>
            <a:r>
              <a:rPr lang="zh-CN" altLang="en-US" sz="1800" dirty="0"/>
              <a:t>中。这不需要计算F</a:t>
            </a:r>
            <a:r>
              <a:rPr lang="zh-CN" altLang="en-US" sz="1800" baseline="30000" dirty="0"/>
              <a:t>+</a:t>
            </a:r>
            <a:r>
              <a:rPr lang="zh-CN" altLang="en-US" sz="1800" dirty="0"/>
              <a:t>和G</a:t>
            </a:r>
            <a:r>
              <a:rPr lang="zh-CN" altLang="en-US" sz="1800" baseline="30000" dirty="0"/>
              <a:t>+</a:t>
            </a:r>
            <a:r>
              <a:rPr lang="zh-CN" altLang="en-US" sz="1800" dirty="0"/>
              <a:t>，只要计算X</a:t>
            </a:r>
            <a:r>
              <a:rPr lang="zh-CN" altLang="en-US" sz="1800" baseline="-30000" dirty="0"/>
              <a:t>G</a:t>
            </a:r>
            <a:r>
              <a:rPr lang="zh-CN" altLang="en-US" sz="1800" baseline="30000" dirty="0"/>
              <a:t>+</a:t>
            </a:r>
            <a:r>
              <a:rPr lang="zh-CN" altLang="en-US" sz="1800" dirty="0"/>
              <a:t>，验证Y⊆X</a:t>
            </a:r>
            <a:r>
              <a:rPr lang="zh-CN" altLang="en-US" sz="1800" baseline="-30000" dirty="0"/>
              <a:t>G</a:t>
            </a:r>
            <a:r>
              <a:rPr lang="zh-CN" altLang="en-US" sz="1800" baseline="30000" dirty="0"/>
              <a:t>+</a:t>
            </a:r>
            <a:r>
              <a:rPr lang="zh-CN" altLang="en-US" sz="1800" dirty="0"/>
              <a:t>，同时计算V</a:t>
            </a:r>
            <a:r>
              <a:rPr lang="zh-CN" altLang="en-US" sz="1800" baseline="-30000" dirty="0"/>
              <a:t>F</a:t>
            </a:r>
            <a:r>
              <a:rPr lang="zh-CN" altLang="en-US" sz="1800" baseline="30000" dirty="0"/>
              <a:t>+</a:t>
            </a:r>
            <a:r>
              <a:rPr lang="zh-CN" altLang="en-US" sz="1800" dirty="0"/>
              <a:t>，验证W⊆V</a:t>
            </a:r>
            <a:r>
              <a:rPr lang="zh-CN" altLang="en-US" sz="1800" baseline="-30000" dirty="0"/>
              <a:t>F</a:t>
            </a:r>
            <a:r>
              <a:rPr lang="zh-CN" altLang="en-US" sz="1800" baseline="30000" dirty="0"/>
              <a:t>+</a:t>
            </a:r>
            <a:r>
              <a:rPr lang="zh-CN" altLang="en-US" sz="1800" dirty="0"/>
              <a:t>即可。</a:t>
            </a:r>
          </a:p>
          <a:p>
            <a:pPr marL="0" indent="0" algn="just">
              <a:buNone/>
            </a:pPr>
            <a:endParaRPr lang="zh-CN" altLang="en-US" sz="600" dirty="0"/>
          </a:p>
          <a:p>
            <a:pPr marL="0" indent="0" algn="just">
              <a:buNone/>
            </a:pPr>
            <a:r>
              <a:rPr lang="en-US" altLang="zh-CN" sz="1500" b="1" dirty="0">
                <a:solidFill>
                  <a:schemeClr val="hlink"/>
                </a:solidFill>
              </a:rPr>
              <a:t>【</a:t>
            </a:r>
            <a:r>
              <a:rPr lang="zh-CN" altLang="en-US" sz="1500" b="1" dirty="0">
                <a:solidFill>
                  <a:schemeClr val="hlink"/>
                </a:solidFill>
              </a:rPr>
              <a:t>例</a:t>
            </a:r>
            <a:r>
              <a:rPr lang="en-US" altLang="zh-CN" sz="1500" b="1" dirty="0">
                <a:solidFill>
                  <a:schemeClr val="hlink"/>
                </a:solidFill>
              </a:rPr>
              <a:t>】</a:t>
            </a:r>
            <a:r>
              <a:rPr lang="zh-CN" altLang="en-US" sz="1500" dirty="0"/>
              <a:t>F={A→B，B→C}，G={A→BC，B→C}，判断F和G是否等价。</a:t>
            </a:r>
          </a:p>
          <a:p>
            <a:pPr marL="0" indent="0" algn="just">
              <a:buNone/>
            </a:pPr>
            <a:r>
              <a:rPr lang="zh-CN" altLang="en-US" sz="1500" dirty="0"/>
              <a:t>解：（1）先检查F中的每一个函数依赖是否属于G</a:t>
            </a:r>
            <a:r>
              <a:rPr lang="zh-CN" altLang="en-US" sz="1500" baseline="30000" dirty="0"/>
              <a:t>+</a:t>
            </a:r>
            <a:r>
              <a:rPr lang="zh-CN" altLang="en-US" sz="1500" dirty="0"/>
              <a:t>。</a:t>
            </a:r>
          </a:p>
          <a:p>
            <a:pPr marL="0" indent="0" algn="just">
              <a:buNone/>
            </a:pPr>
            <a:r>
              <a:rPr lang="zh-CN" altLang="en-US" sz="1500" dirty="0"/>
              <a:t>     ∵A</a:t>
            </a:r>
            <a:r>
              <a:rPr lang="zh-CN" altLang="en-US" sz="1500" baseline="-30000" dirty="0"/>
              <a:t>G</a:t>
            </a:r>
            <a:r>
              <a:rPr lang="zh-CN" altLang="en-US" sz="1500" baseline="30000" dirty="0"/>
              <a:t>+</a:t>
            </a:r>
            <a:r>
              <a:rPr lang="zh-CN" altLang="en-US" sz="1500" dirty="0"/>
              <a:t>=ABC，∴B⊆A</a:t>
            </a:r>
            <a:r>
              <a:rPr lang="zh-CN" altLang="en-US" sz="1500" baseline="-30000" dirty="0"/>
              <a:t>G</a:t>
            </a:r>
            <a:r>
              <a:rPr lang="zh-CN" altLang="en-US" sz="1500" baseline="30000" dirty="0"/>
              <a:t>+</a:t>
            </a:r>
            <a:r>
              <a:rPr lang="zh-CN" altLang="en-US" sz="1500" dirty="0"/>
              <a:t>，∴A→B∈G</a:t>
            </a:r>
            <a:r>
              <a:rPr lang="zh-CN" altLang="en-US" sz="1500" baseline="30000" dirty="0"/>
              <a:t>+</a:t>
            </a:r>
            <a:endParaRPr lang="zh-CN" altLang="en-US" sz="1500" dirty="0"/>
          </a:p>
          <a:p>
            <a:pPr marL="0" indent="0" algn="just">
              <a:buNone/>
            </a:pPr>
            <a:r>
              <a:rPr lang="zh-CN" altLang="en-US" sz="1500" dirty="0"/>
              <a:t>       又∵B</a:t>
            </a:r>
            <a:r>
              <a:rPr lang="zh-CN" altLang="en-US" sz="1500" baseline="-30000" dirty="0"/>
              <a:t>G</a:t>
            </a:r>
            <a:r>
              <a:rPr lang="zh-CN" altLang="en-US" sz="1500" baseline="30000" dirty="0"/>
              <a:t>+</a:t>
            </a:r>
            <a:r>
              <a:rPr lang="zh-CN" altLang="en-US" sz="1500" dirty="0"/>
              <a:t>=BC，∴C⊆B</a:t>
            </a:r>
            <a:r>
              <a:rPr lang="zh-CN" altLang="en-US" sz="1500" baseline="-30000" dirty="0"/>
              <a:t>G</a:t>
            </a:r>
            <a:r>
              <a:rPr lang="zh-CN" altLang="en-US" sz="1500" baseline="30000" dirty="0"/>
              <a:t>+</a:t>
            </a:r>
            <a:r>
              <a:rPr lang="zh-CN" altLang="en-US" sz="1500" dirty="0"/>
              <a:t>，∴B→C∈G</a:t>
            </a:r>
            <a:r>
              <a:rPr lang="zh-CN" altLang="en-US" sz="1500" baseline="30000" dirty="0"/>
              <a:t>+</a:t>
            </a:r>
            <a:endParaRPr lang="zh-CN" altLang="en-US" sz="1500" dirty="0"/>
          </a:p>
          <a:p>
            <a:pPr marL="0" indent="0" algn="just">
              <a:buNone/>
            </a:pPr>
            <a:r>
              <a:rPr lang="zh-CN" altLang="en-US" sz="1500" baseline="30000" dirty="0"/>
              <a:t>               </a:t>
            </a:r>
            <a:r>
              <a:rPr lang="zh-CN" altLang="en-US" sz="1500" dirty="0"/>
              <a:t>∴F⊆G</a:t>
            </a:r>
            <a:r>
              <a:rPr lang="zh-CN" altLang="en-US" sz="1500" baseline="30000" dirty="0"/>
              <a:t>+</a:t>
            </a:r>
            <a:endParaRPr lang="zh-CN" altLang="en-US" sz="1500" dirty="0"/>
          </a:p>
          <a:p>
            <a:pPr marL="0" indent="0" algn="just">
              <a:buNone/>
            </a:pPr>
            <a:r>
              <a:rPr lang="zh-CN" altLang="en-US" sz="1500" dirty="0"/>
              <a:t> </a:t>
            </a:r>
            <a:r>
              <a:rPr lang="en-US" altLang="zh-CN" sz="1500" dirty="0"/>
              <a:t>  </a:t>
            </a:r>
            <a:r>
              <a:rPr lang="zh-CN" altLang="en-US" sz="1500" dirty="0"/>
              <a:t>（2）然后检查G中的每一个函数依赖是否属于F</a:t>
            </a:r>
            <a:r>
              <a:rPr lang="zh-CN" altLang="en-US" sz="1500" baseline="30000" dirty="0"/>
              <a:t>+</a:t>
            </a:r>
            <a:r>
              <a:rPr lang="zh-CN" altLang="en-US" sz="1500" dirty="0"/>
              <a:t>。</a:t>
            </a:r>
          </a:p>
          <a:p>
            <a:pPr marL="0" indent="0" algn="just">
              <a:buNone/>
            </a:pPr>
            <a:r>
              <a:rPr lang="zh-CN" altLang="en-US" sz="1500" dirty="0"/>
              <a:t>     ∵A</a:t>
            </a:r>
            <a:r>
              <a:rPr lang="zh-CN" altLang="en-US" sz="1500" baseline="-30000" dirty="0"/>
              <a:t>F</a:t>
            </a:r>
            <a:r>
              <a:rPr lang="zh-CN" altLang="en-US" sz="1500" baseline="30000" dirty="0"/>
              <a:t>+</a:t>
            </a:r>
            <a:r>
              <a:rPr lang="zh-CN" altLang="en-US" sz="1500" dirty="0"/>
              <a:t>=ABC，∴BC⊆A</a:t>
            </a:r>
            <a:r>
              <a:rPr lang="zh-CN" altLang="en-US" sz="1500" baseline="-30000" dirty="0"/>
              <a:t>F</a:t>
            </a:r>
            <a:r>
              <a:rPr lang="zh-CN" altLang="en-US" sz="1500" baseline="30000" dirty="0"/>
              <a:t>+</a:t>
            </a:r>
            <a:r>
              <a:rPr lang="zh-CN" altLang="en-US" sz="1500" dirty="0"/>
              <a:t>，∴A→BC∈F</a:t>
            </a:r>
            <a:r>
              <a:rPr lang="zh-CN" altLang="en-US" sz="1500" baseline="30000" dirty="0"/>
              <a:t>+</a:t>
            </a:r>
            <a:endParaRPr lang="zh-CN" altLang="en-US" sz="1500" dirty="0"/>
          </a:p>
          <a:p>
            <a:pPr marL="0" indent="0" algn="just">
              <a:buNone/>
            </a:pPr>
            <a:r>
              <a:rPr lang="zh-CN" altLang="en-US" sz="1500" dirty="0"/>
              <a:t>       又∵B</a:t>
            </a:r>
            <a:r>
              <a:rPr lang="zh-CN" altLang="en-US" sz="1500" baseline="-30000" dirty="0"/>
              <a:t>F</a:t>
            </a:r>
            <a:r>
              <a:rPr lang="zh-CN" altLang="en-US" sz="1500" baseline="30000" dirty="0"/>
              <a:t>+</a:t>
            </a:r>
            <a:r>
              <a:rPr lang="zh-CN" altLang="en-US" sz="1500" dirty="0"/>
              <a:t>=BC，∴C⊆B</a:t>
            </a:r>
            <a:r>
              <a:rPr lang="zh-CN" altLang="en-US" sz="1500" baseline="-30000" dirty="0"/>
              <a:t>F</a:t>
            </a:r>
            <a:r>
              <a:rPr lang="zh-CN" altLang="en-US" sz="1500" baseline="30000" dirty="0"/>
              <a:t>+</a:t>
            </a:r>
            <a:r>
              <a:rPr lang="zh-CN" altLang="en-US" sz="1500" dirty="0"/>
              <a:t>，∴B→C∈F</a:t>
            </a:r>
            <a:r>
              <a:rPr lang="zh-CN" altLang="en-US" sz="1500" baseline="30000" dirty="0"/>
              <a:t>+</a:t>
            </a:r>
            <a:endParaRPr lang="zh-CN" altLang="en-US" sz="1500" dirty="0"/>
          </a:p>
          <a:p>
            <a:pPr marL="0" indent="0" algn="just">
              <a:buNone/>
            </a:pPr>
            <a:r>
              <a:rPr lang="zh-CN" altLang="en-US" sz="1500" baseline="30000" dirty="0"/>
              <a:t>                </a:t>
            </a:r>
            <a:r>
              <a:rPr lang="zh-CN" altLang="en-US" sz="1500" dirty="0"/>
              <a:t>∴G⊆F</a:t>
            </a:r>
            <a:r>
              <a:rPr lang="zh-CN" altLang="en-US" sz="1500" baseline="30000" dirty="0"/>
              <a:t>+</a:t>
            </a:r>
            <a:endParaRPr lang="zh-CN" altLang="en-US" sz="1500" dirty="0"/>
          </a:p>
          <a:p>
            <a:pPr marL="0" indent="0" algn="just">
              <a:buNone/>
            </a:pPr>
            <a:r>
              <a:rPr lang="en-US" altLang="zh-CN" sz="1500" dirty="0"/>
              <a:t>  </a:t>
            </a:r>
            <a:r>
              <a:rPr lang="zh-CN" altLang="en-US" sz="1500" dirty="0"/>
              <a:t> 由（1）和（2）可得F和G等价。 </a:t>
            </a:r>
          </a:p>
        </p:txBody>
      </p:sp>
      <p:sp>
        <p:nvSpPr>
          <p:cNvPr id="3" name="标题 2">
            <a:extLst>
              <a:ext uri="{FF2B5EF4-FFF2-40B4-BE49-F238E27FC236}">
                <a16:creationId xmlns:a16="http://schemas.microsoft.com/office/drawing/2014/main" id="{5B5CE4DC-83E7-0247-499E-49142E0AF708}"/>
              </a:ext>
            </a:extLst>
          </p:cNvPr>
          <p:cNvSpPr>
            <a:spLocks noGrp="1"/>
          </p:cNvSpPr>
          <p:nvPr>
            <p:ph type="title"/>
          </p:nvPr>
        </p:nvSpPr>
        <p:spPr/>
        <p:txBody>
          <a:bodyPr/>
          <a:lstStyle/>
          <a:p>
            <a:r>
              <a:rPr lang="zh-CN" altLang="en-US" dirty="0"/>
              <a:t>函数依赖集等价判断</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8850">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8850">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8850">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8850">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8850">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8850">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8850">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8850">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idx="1"/>
          </p:nvPr>
        </p:nvSpPr>
        <p:spPr/>
        <p:txBody>
          <a:bodyPr vert="horz" wrap="square" lIns="68580" tIns="34290" rIns="68580" bIns="34290" numCol="1" rtlCol="0" anchor="t" anchorCtr="0" compatLnSpc="1">
            <a:normAutofit/>
          </a:bodyPr>
          <a:lstStyle/>
          <a:p>
            <a:pPr marL="257175" indent="-257175" algn="just" defTabSz="685800" fontAlgn="base">
              <a:lnSpc>
                <a:spcPct val="100000"/>
              </a:lnSpc>
              <a:spcBef>
                <a:spcPct val="20000"/>
              </a:spcBef>
              <a:spcAft>
                <a:spcPct val="0"/>
              </a:spcAft>
              <a:buClr>
                <a:schemeClr val="folHlink"/>
              </a:buClr>
              <a:buSzPct val="60000"/>
              <a:buFont typeface="Wingdings" panose="05000000000000000000" pitchFamily="2" charset="2"/>
              <a:buChar char="n"/>
              <a:defRPr/>
            </a:pPr>
            <a:r>
              <a:rPr lang="zh-CN" altLang="en-US" sz="1800" kern="0" dirty="0">
                <a:solidFill>
                  <a:schemeClr val="folHlink"/>
                </a:solidFill>
                <a:cs typeface="楷体" panose="02010609060101010101" pitchFamily="49" charset="-122"/>
              </a:rPr>
              <a:t>定义</a:t>
            </a:r>
            <a:r>
              <a:rPr lang="en-US" altLang="zh-CN" sz="1800" kern="0" dirty="0">
                <a:solidFill>
                  <a:schemeClr val="folHlink"/>
                </a:solidFill>
                <a:cs typeface="楷体" panose="02010609060101010101" pitchFamily="49" charset="-122"/>
              </a:rPr>
              <a:t>:</a:t>
            </a:r>
            <a:r>
              <a:rPr lang="zh-CN" altLang="en-US" sz="1800" kern="0" dirty="0">
                <a:cs typeface="楷体" panose="02010609060101010101" pitchFamily="49" charset="-122"/>
              </a:rPr>
              <a:t>若</a:t>
            </a:r>
            <a:r>
              <a:rPr lang="en-US" altLang="zh-CN" sz="1800" kern="0" dirty="0">
                <a:cs typeface="楷体" panose="02010609060101010101" pitchFamily="49" charset="-122"/>
              </a:rPr>
              <a:t>F</a:t>
            </a:r>
            <a:r>
              <a:rPr lang="zh-CN" altLang="en-US" sz="1800" kern="0" dirty="0">
                <a:cs typeface="楷体" panose="02010609060101010101" pitchFamily="49" charset="-122"/>
              </a:rPr>
              <a:t>满足下列条件，则称其为一个最小函数依赖集</a:t>
            </a:r>
            <a:r>
              <a:rPr lang="en-US" altLang="zh-CN" sz="1800" kern="0" dirty="0">
                <a:solidFill>
                  <a:schemeClr val="hlink"/>
                </a:solidFill>
                <a:cs typeface="楷体" panose="02010609060101010101" pitchFamily="49" charset="-122"/>
              </a:rPr>
              <a:t>F</a:t>
            </a:r>
            <a:r>
              <a:rPr lang="en-US" altLang="zh-CN" sz="1800" kern="0" baseline="-25000" dirty="0">
                <a:solidFill>
                  <a:schemeClr val="hlink"/>
                </a:solidFill>
                <a:cs typeface="楷体" panose="02010609060101010101" pitchFamily="49" charset="-122"/>
              </a:rPr>
              <a:t>m</a:t>
            </a:r>
            <a:r>
              <a:rPr lang="zh-CN" altLang="en-US" sz="1800" kern="0" dirty="0">
                <a:cs typeface="楷体" panose="02010609060101010101" pitchFamily="49" charset="-122"/>
              </a:rPr>
              <a:t>。</a:t>
            </a:r>
          </a:p>
          <a:p>
            <a:pPr marL="257175" indent="-257175" defTabSz="685800" fontAlgn="base">
              <a:lnSpc>
                <a:spcPct val="100000"/>
              </a:lnSpc>
              <a:spcBef>
                <a:spcPct val="20000"/>
              </a:spcBef>
              <a:spcAft>
                <a:spcPct val="0"/>
              </a:spcAft>
              <a:buClr>
                <a:schemeClr val="folHlink"/>
              </a:buClr>
              <a:buSzPct val="60000"/>
              <a:buNone/>
              <a:defRPr/>
            </a:pPr>
            <a:r>
              <a:rPr lang="zh-CN" altLang="en-US" sz="1800" kern="0" dirty="0">
                <a:cs typeface="楷体" panose="02010609060101010101" pitchFamily="49" charset="-122"/>
              </a:rPr>
              <a:t>  </a:t>
            </a:r>
            <a:r>
              <a:rPr lang="en-US" altLang="zh-CN" sz="1800" kern="0" dirty="0">
                <a:cs typeface="楷体" panose="02010609060101010101" pitchFamily="49" charset="-122"/>
              </a:rPr>
              <a:t>(1) F</a:t>
            </a:r>
            <a:r>
              <a:rPr lang="zh-CN" altLang="en-US" sz="1800" kern="0" dirty="0">
                <a:cs typeface="楷体" panose="02010609060101010101" pitchFamily="49" charset="-122"/>
              </a:rPr>
              <a:t>中每个函数依赖的右部都是单属性； </a:t>
            </a:r>
          </a:p>
          <a:p>
            <a:pPr marL="0" indent="0" defTabSz="685800" fontAlgn="base">
              <a:lnSpc>
                <a:spcPct val="100000"/>
              </a:lnSpc>
              <a:spcBef>
                <a:spcPct val="20000"/>
              </a:spcBef>
              <a:spcAft>
                <a:spcPct val="0"/>
              </a:spcAft>
              <a:buClr>
                <a:schemeClr val="folHlink"/>
              </a:buClr>
              <a:buSzPct val="60000"/>
              <a:buNone/>
              <a:defRPr/>
            </a:pPr>
            <a:r>
              <a:rPr lang="zh-CN" altLang="en-US" sz="1800" kern="0" dirty="0">
                <a:cs typeface="楷体" panose="02010609060101010101" pitchFamily="49" charset="-122"/>
              </a:rPr>
              <a:t>  </a:t>
            </a:r>
            <a:r>
              <a:rPr lang="en-US" altLang="zh-CN" sz="1800" kern="0" dirty="0">
                <a:cs typeface="楷体" panose="02010609060101010101" pitchFamily="49" charset="-122"/>
              </a:rPr>
              <a:t>(2) </a:t>
            </a:r>
            <a:r>
              <a:rPr lang="zh-CN" altLang="en-US" sz="1800" kern="0" dirty="0">
                <a:cs typeface="楷体" panose="02010609060101010101" pitchFamily="49" charset="-122"/>
              </a:rPr>
              <a:t>对于</a:t>
            </a:r>
            <a:r>
              <a:rPr lang="en-US" altLang="zh-CN" sz="1800" kern="0" dirty="0">
                <a:cs typeface="楷体" panose="02010609060101010101" pitchFamily="49" charset="-122"/>
              </a:rPr>
              <a:t>F</a:t>
            </a:r>
            <a:r>
              <a:rPr lang="zh-CN" altLang="en-US" sz="1800" kern="0" dirty="0">
                <a:cs typeface="楷体" panose="02010609060101010101" pitchFamily="49" charset="-122"/>
              </a:rPr>
              <a:t>中的任一函数依赖</a:t>
            </a:r>
            <a:r>
              <a:rPr lang="en-US" altLang="zh-CN" sz="1800" kern="0" dirty="0">
                <a:cs typeface="楷体" panose="02010609060101010101" pitchFamily="49" charset="-122"/>
              </a:rPr>
              <a:t>X→A</a:t>
            </a:r>
            <a:r>
              <a:rPr lang="zh-CN" altLang="en-US" sz="1800" kern="0" dirty="0">
                <a:cs typeface="楷体" panose="02010609060101010101" pitchFamily="49" charset="-122"/>
              </a:rPr>
              <a:t>，</a:t>
            </a:r>
            <a:r>
              <a:rPr lang="en-US" altLang="zh-CN" sz="1800" kern="0" dirty="0">
                <a:cs typeface="楷体" panose="02010609060101010101" pitchFamily="49" charset="-122"/>
              </a:rPr>
              <a:t>F</a:t>
            </a:r>
            <a:r>
              <a:rPr lang="zh-CN" altLang="en-US" sz="1800" kern="0" dirty="0">
                <a:cs typeface="楷体" panose="02010609060101010101" pitchFamily="49" charset="-122"/>
              </a:rPr>
              <a:t> </a:t>
            </a:r>
            <a:r>
              <a:rPr lang="en-US" altLang="zh-CN" sz="1800" kern="0" dirty="0">
                <a:cs typeface="楷体" panose="02010609060101010101" pitchFamily="49" charset="-122"/>
              </a:rPr>
              <a:t>-</a:t>
            </a:r>
            <a:r>
              <a:rPr lang="zh-CN" altLang="en-US" sz="1800" kern="0" dirty="0">
                <a:cs typeface="楷体" panose="02010609060101010101" pitchFamily="49" charset="-122"/>
              </a:rPr>
              <a:t> </a:t>
            </a:r>
            <a:r>
              <a:rPr lang="en-US" altLang="zh-CN" sz="1800" kern="0" dirty="0">
                <a:cs typeface="楷体" panose="02010609060101010101" pitchFamily="49" charset="-122"/>
              </a:rPr>
              <a:t>{X→A}</a:t>
            </a:r>
            <a:r>
              <a:rPr lang="zh-CN" altLang="en-US" sz="1800" kern="0" dirty="0">
                <a:cs typeface="楷体" panose="02010609060101010101" pitchFamily="49" charset="-122"/>
              </a:rPr>
              <a:t>与</a:t>
            </a:r>
            <a:r>
              <a:rPr lang="en-US" altLang="zh-CN" sz="1800" kern="0" dirty="0">
                <a:cs typeface="楷体" panose="02010609060101010101" pitchFamily="49" charset="-122"/>
              </a:rPr>
              <a:t>F</a:t>
            </a:r>
            <a:r>
              <a:rPr lang="zh-CN" altLang="en-US" sz="1800" kern="0" dirty="0">
                <a:cs typeface="楷体" panose="02010609060101010101" pitchFamily="49" charset="-122"/>
              </a:rPr>
              <a:t>都不等价；</a:t>
            </a:r>
          </a:p>
          <a:p>
            <a:pPr marL="257175" indent="-257175" defTabSz="685800" fontAlgn="base">
              <a:lnSpc>
                <a:spcPct val="100000"/>
              </a:lnSpc>
              <a:spcBef>
                <a:spcPct val="20000"/>
              </a:spcBef>
              <a:spcAft>
                <a:spcPct val="0"/>
              </a:spcAft>
              <a:buClr>
                <a:schemeClr val="folHlink"/>
              </a:buClr>
              <a:buSzPct val="60000"/>
              <a:buNone/>
              <a:defRPr/>
            </a:pPr>
            <a:r>
              <a:rPr lang="zh-CN" altLang="en-US" sz="1800" kern="0" dirty="0">
                <a:cs typeface="楷体" panose="02010609060101010101" pitchFamily="49" charset="-122"/>
              </a:rPr>
              <a:t>  </a:t>
            </a:r>
            <a:r>
              <a:rPr lang="en-US" altLang="zh-CN" sz="1800" kern="0" dirty="0">
                <a:cs typeface="楷体" panose="02010609060101010101" pitchFamily="49" charset="-122"/>
              </a:rPr>
              <a:t>(3) </a:t>
            </a:r>
            <a:r>
              <a:rPr lang="zh-CN" altLang="en-US" sz="1800" kern="0" dirty="0">
                <a:cs typeface="楷体" panose="02010609060101010101" pitchFamily="49" charset="-122"/>
              </a:rPr>
              <a:t>对于</a:t>
            </a:r>
            <a:r>
              <a:rPr lang="en-US" altLang="zh-CN" sz="1800" kern="0" dirty="0">
                <a:cs typeface="楷体" panose="02010609060101010101" pitchFamily="49" charset="-122"/>
              </a:rPr>
              <a:t>F</a:t>
            </a:r>
            <a:r>
              <a:rPr lang="zh-CN" altLang="en-US" sz="1800" kern="0" dirty="0">
                <a:cs typeface="楷体" panose="02010609060101010101" pitchFamily="49" charset="-122"/>
              </a:rPr>
              <a:t>中的任一函数依赖</a:t>
            </a:r>
            <a:r>
              <a:rPr lang="en-US" altLang="zh-CN" sz="1800" kern="0" dirty="0">
                <a:cs typeface="楷体" panose="02010609060101010101" pitchFamily="49" charset="-122"/>
              </a:rPr>
              <a:t>X→A</a:t>
            </a:r>
            <a:r>
              <a:rPr lang="zh-CN" altLang="en-US" sz="1800" kern="0" dirty="0">
                <a:cs typeface="楷体" panose="02010609060101010101" pitchFamily="49" charset="-122"/>
              </a:rPr>
              <a:t>和</a:t>
            </a:r>
            <a:r>
              <a:rPr lang="en-US" altLang="zh-CN" sz="1800" kern="0" dirty="0">
                <a:cs typeface="楷体" panose="02010609060101010101" pitchFamily="49" charset="-122"/>
              </a:rPr>
              <a:t>X</a:t>
            </a:r>
            <a:r>
              <a:rPr lang="zh-CN" altLang="en-US" sz="1800" kern="0" dirty="0">
                <a:cs typeface="楷体" panose="02010609060101010101" pitchFamily="49" charset="-122"/>
              </a:rPr>
              <a:t>的真子集</a:t>
            </a:r>
            <a:r>
              <a:rPr lang="en-US" altLang="zh-CN" sz="1800" kern="0" dirty="0">
                <a:cs typeface="楷体" panose="02010609060101010101" pitchFamily="49" charset="-122"/>
              </a:rPr>
              <a:t>Z</a:t>
            </a:r>
            <a:r>
              <a:rPr lang="zh-CN" altLang="en-US" sz="1800" kern="0" dirty="0">
                <a:cs typeface="楷体" panose="02010609060101010101" pitchFamily="49" charset="-122"/>
              </a:rPr>
              <a:t>，</a:t>
            </a:r>
          </a:p>
          <a:p>
            <a:pPr marL="257175" indent="-257175" defTabSz="685800" fontAlgn="base">
              <a:lnSpc>
                <a:spcPct val="100000"/>
              </a:lnSpc>
              <a:spcBef>
                <a:spcPct val="20000"/>
              </a:spcBef>
              <a:spcAft>
                <a:spcPct val="0"/>
              </a:spcAft>
              <a:buClr>
                <a:schemeClr val="folHlink"/>
              </a:buClr>
              <a:buSzPct val="60000"/>
              <a:buNone/>
              <a:defRPr/>
            </a:pPr>
            <a:r>
              <a:rPr lang="zh-CN" altLang="en-US" sz="1800" kern="0" dirty="0">
                <a:cs typeface="楷体" panose="02010609060101010101" pitchFamily="49" charset="-122"/>
              </a:rPr>
              <a:t>      </a:t>
            </a:r>
            <a:r>
              <a:rPr lang="en-US" altLang="zh-CN" sz="1800" kern="0" dirty="0">
                <a:cs typeface="楷体" panose="02010609060101010101" pitchFamily="49" charset="-122"/>
              </a:rPr>
              <a:t>(F</a:t>
            </a:r>
            <a:r>
              <a:rPr lang="zh-CN" altLang="en-US" sz="1800" kern="0" dirty="0">
                <a:cs typeface="楷体" panose="02010609060101010101" pitchFamily="49" charset="-122"/>
              </a:rPr>
              <a:t> </a:t>
            </a:r>
            <a:r>
              <a:rPr lang="en-US" altLang="zh-CN" sz="1800" kern="0" dirty="0">
                <a:cs typeface="楷体" panose="02010609060101010101" pitchFamily="49" charset="-122"/>
              </a:rPr>
              <a:t>-</a:t>
            </a:r>
            <a:r>
              <a:rPr lang="zh-CN" altLang="en-US" sz="1800" kern="0" dirty="0">
                <a:cs typeface="楷体" panose="02010609060101010101" pitchFamily="49" charset="-122"/>
              </a:rPr>
              <a:t> </a:t>
            </a:r>
            <a:r>
              <a:rPr lang="en-US" altLang="zh-CN" sz="1800" kern="0" dirty="0">
                <a:cs typeface="楷体" panose="02010609060101010101" pitchFamily="49" charset="-122"/>
              </a:rPr>
              <a:t>(X→A))</a:t>
            </a:r>
            <a:r>
              <a:rPr lang="zh-CN" altLang="en-US" sz="1800" kern="0" dirty="0">
                <a:cs typeface="楷体" panose="02010609060101010101" pitchFamily="49" charset="-122"/>
              </a:rPr>
              <a:t> </a:t>
            </a:r>
            <a:r>
              <a:rPr lang="en-US" altLang="zh-CN" sz="1800" kern="0" dirty="0">
                <a:cs typeface="楷体" panose="02010609060101010101" pitchFamily="49" charset="-122"/>
              </a:rPr>
              <a:t>U</a:t>
            </a:r>
            <a:r>
              <a:rPr lang="zh-CN" altLang="en-US" sz="1800" kern="0" dirty="0">
                <a:cs typeface="楷体" panose="02010609060101010101" pitchFamily="49" charset="-122"/>
              </a:rPr>
              <a:t> </a:t>
            </a:r>
            <a:r>
              <a:rPr lang="en-US" altLang="zh-CN" sz="1800" kern="0" dirty="0">
                <a:cs typeface="楷体" panose="02010609060101010101" pitchFamily="49" charset="-122"/>
              </a:rPr>
              <a:t>{Z→A}</a:t>
            </a:r>
            <a:r>
              <a:rPr lang="zh-CN" altLang="en-US" sz="1800" kern="0" dirty="0">
                <a:cs typeface="楷体" panose="02010609060101010101" pitchFamily="49" charset="-122"/>
              </a:rPr>
              <a:t>与</a:t>
            </a:r>
            <a:r>
              <a:rPr lang="en-US" altLang="zh-CN" sz="1800" kern="0" dirty="0">
                <a:cs typeface="楷体" panose="02010609060101010101" pitchFamily="49" charset="-122"/>
              </a:rPr>
              <a:t>F</a:t>
            </a:r>
            <a:r>
              <a:rPr lang="zh-CN" altLang="en-US" sz="1800" kern="0" dirty="0">
                <a:cs typeface="楷体" panose="02010609060101010101" pitchFamily="49" charset="-122"/>
              </a:rPr>
              <a:t>都不等价。 </a:t>
            </a:r>
          </a:p>
          <a:p>
            <a:pPr marL="257175" indent="-257175" defTabSz="685800" fontAlgn="base">
              <a:spcBef>
                <a:spcPct val="20000"/>
              </a:spcBef>
              <a:spcAft>
                <a:spcPct val="0"/>
              </a:spcAft>
              <a:buClr>
                <a:schemeClr val="folHlink"/>
              </a:buClr>
              <a:buSzPct val="60000"/>
              <a:buNone/>
              <a:defRPr/>
            </a:pPr>
            <a:endParaRPr lang="zh-CN" altLang="en-US" sz="1800" kern="0" dirty="0">
              <a:cs typeface="楷体" panose="02010609060101010101" pitchFamily="49" charset="-122"/>
            </a:endParaRPr>
          </a:p>
        </p:txBody>
      </p:sp>
      <p:sp>
        <p:nvSpPr>
          <p:cNvPr id="76803" name="Text Box 4"/>
          <p:cNvSpPr txBox="1"/>
          <p:nvPr/>
        </p:nvSpPr>
        <p:spPr>
          <a:xfrm>
            <a:off x="1294209" y="3320996"/>
            <a:ext cx="6555581" cy="1034129"/>
          </a:xfrm>
          <a:prstGeom prst="rect">
            <a:avLst/>
          </a:prstGeom>
          <a:solidFill>
            <a:srgbClr val="FF99CC"/>
          </a:solidFill>
          <a:ln w="9525">
            <a:noFill/>
          </a:ln>
        </p:spPr>
        <p:txBody>
          <a:bodyPr anchor="t" anchorCtr="0">
            <a:spAutoFit/>
          </a:bodyPr>
          <a:lstStyle/>
          <a:p>
            <a:pPr>
              <a:spcBef>
                <a:spcPct val="20000"/>
              </a:spcBef>
              <a:buClr>
                <a:schemeClr val="folHlink"/>
              </a:buClr>
              <a:buSzPct val="60000"/>
            </a:pP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1</a:t>
            </a:r>
            <a:r>
              <a:rPr lang="zh-CN" altLang="en-US" dirty="0">
                <a:latin typeface="Microsoft YaHei" panose="020B0503020204020204" pitchFamily="34" charset="-122"/>
                <a:ea typeface="Microsoft YaHei" panose="020B0503020204020204" pitchFamily="34" charset="-122"/>
              </a:rPr>
              <a:t>）保证在函数依赖的右部没有多余的属性；</a:t>
            </a:r>
          </a:p>
          <a:p>
            <a:pPr>
              <a:spcBef>
                <a:spcPct val="20000"/>
              </a:spcBef>
              <a:buClr>
                <a:schemeClr val="folHlink"/>
              </a:buClr>
              <a:buSzPct val="60000"/>
            </a:pP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2</a:t>
            </a:r>
            <a:r>
              <a:rPr lang="zh-CN" altLang="en-US" dirty="0">
                <a:latin typeface="Microsoft YaHei" panose="020B0503020204020204" pitchFamily="34" charset="-122"/>
                <a:ea typeface="Microsoft YaHei" panose="020B0503020204020204" pitchFamily="34" charset="-122"/>
              </a:rPr>
              <a:t>）保证</a:t>
            </a:r>
            <a:r>
              <a:rPr lang="en-US" altLang="zh-CN" dirty="0">
                <a:latin typeface="Microsoft YaHei" panose="020B0503020204020204" pitchFamily="34" charset="-122"/>
                <a:ea typeface="Microsoft YaHei" panose="020B0503020204020204" pitchFamily="34" charset="-122"/>
              </a:rPr>
              <a:t>F</a:t>
            </a:r>
            <a:r>
              <a:rPr lang="zh-CN" altLang="en-US" dirty="0">
                <a:latin typeface="Microsoft YaHei" panose="020B0503020204020204" pitchFamily="34" charset="-122"/>
                <a:ea typeface="Microsoft YaHei" panose="020B0503020204020204" pitchFamily="34" charset="-122"/>
              </a:rPr>
              <a:t>中不存在多余的函数依赖；</a:t>
            </a:r>
          </a:p>
          <a:p>
            <a:pPr>
              <a:spcBef>
                <a:spcPct val="20000"/>
              </a:spcBef>
              <a:buClr>
                <a:schemeClr val="folHlink"/>
              </a:buClr>
              <a:buSzPct val="60000"/>
            </a:pP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3</a:t>
            </a:r>
            <a:r>
              <a:rPr lang="zh-CN" altLang="en-US" dirty="0">
                <a:latin typeface="Microsoft YaHei" panose="020B0503020204020204" pitchFamily="34" charset="-122"/>
                <a:ea typeface="Microsoft YaHei" panose="020B0503020204020204" pitchFamily="34" charset="-122"/>
              </a:rPr>
              <a:t>）保证</a:t>
            </a:r>
            <a:r>
              <a:rPr lang="en-US" altLang="zh-CN" dirty="0">
                <a:latin typeface="Microsoft YaHei" panose="020B0503020204020204" pitchFamily="34" charset="-122"/>
                <a:ea typeface="Microsoft YaHei" panose="020B0503020204020204" pitchFamily="34" charset="-122"/>
              </a:rPr>
              <a:t>F</a:t>
            </a:r>
            <a:r>
              <a:rPr lang="zh-CN" altLang="en-US" dirty="0">
                <a:latin typeface="Microsoft YaHei" panose="020B0503020204020204" pitchFamily="34" charset="-122"/>
                <a:ea typeface="Microsoft YaHei" panose="020B0503020204020204" pitchFamily="34" charset="-122"/>
              </a:rPr>
              <a:t>中每个函数依赖的左部没有多余的属性。</a:t>
            </a:r>
          </a:p>
        </p:txBody>
      </p:sp>
      <p:sp>
        <p:nvSpPr>
          <p:cNvPr id="3" name="标题 2">
            <a:extLst>
              <a:ext uri="{FF2B5EF4-FFF2-40B4-BE49-F238E27FC236}">
                <a16:creationId xmlns:a16="http://schemas.microsoft.com/office/drawing/2014/main" id="{5657F0A0-FC74-297A-4D18-0C221E6A6948}"/>
              </a:ext>
            </a:extLst>
          </p:cNvPr>
          <p:cNvSpPr>
            <a:spLocks noGrp="1"/>
          </p:cNvSpPr>
          <p:nvPr>
            <p:ph type="title"/>
          </p:nvPr>
        </p:nvSpPr>
        <p:spPr/>
        <p:txBody>
          <a:bodyPr/>
          <a:lstStyle/>
          <a:p>
            <a:r>
              <a:rPr lang="zh-CN" altLang="en-US" dirty="0"/>
              <a:t>最小函数依赖集</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Grp="1"/>
          </p:cNvSpPr>
          <p:nvPr>
            <p:ph idx="1"/>
          </p:nvPr>
        </p:nvSpPr>
        <p:spPr/>
        <p:txBody>
          <a:bodyPr vert="horz" wrap="square" lIns="68580" tIns="34290" rIns="68580" bIns="34290" anchor="t" anchorCtr="0"/>
          <a:lstStyle/>
          <a:p>
            <a:pPr marL="0" indent="0">
              <a:buNone/>
            </a:pPr>
            <a:r>
              <a:rPr lang="en-US" altLang="zh-CN" sz="1800" b="1" dirty="0">
                <a:solidFill>
                  <a:schemeClr val="hlink"/>
                </a:solidFill>
              </a:rPr>
              <a:t>【</a:t>
            </a:r>
            <a:r>
              <a:rPr lang="zh-CN" altLang="en-US" sz="1800" b="1" dirty="0">
                <a:solidFill>
                  <a:schemeClr val="hlink"/>
                </a:solidFill>
              </a:rPr>
              <a:t>例</a:t>
            </a:r>
            <a:r>
              <a:rPr lang="en-US" altLang="zh-CN" sz="1800" b="1" dirty="0">
                <a:solidFill>
                  <a:schemeClr val="hlink"/>
                </a:solidFill>
              </a:rPr>
              <a:t>】</a:t>
            </a:r>
            <a:r>
              <a:rPr lang="zh-CN" altLang="en-US" sz="1800" dirty="0"/>
              <a:t>下列三个函数依赖集中哪一个是最小函数依赖集?</a:t>
            </a:r>
          </a:p>
          <a:p>
            <a:pPr marL="0" indent="0">
              <a:buNone/>
            </a:pPr>
            <a:r>
              <a:rPr lang="zh-CN" altLang="en-US" sz="1800" dirty="0"/>
              <a:t>(1) F1 = {A→D, BD→C, C→AD}</a:t>
            </a:r>
          </a:p>
          <a:p>
            <a:pPr marL="0" indent="0">
              <a:buNone/>
            </a:pPr>
            <a:r>
              <a:rPr lang="zh-CN" altLang="en-US" sz="1800" dirty="0"/>
              <a:t>(2) F2 = {AB→C, B→A, B→C}</a:t>
            </a:r>
          </a:p>
          <a:p>
            <a:pPr marL="0" indent="0">
              <a:buNone/>
            </a:pPr>
            <a:r>
              <a:rPr lang="zh-CN" altLang="en-US" sz="1800" dirty="0"/>
              <a:t>(3) F3 = {BC→D, D→A, A→D}</a:t>
            </a:r>
          </a:p>
          <a:p>
            <a:pPr marL="0" indent="0">
              <a:buNone/>
            </a:pPr>
            <a:endParaRPr lang="zh-CN" altLang="en-US" sz="1800" dirty="0">
              <a:solidFill>
                <a:schemeClr val="hlink"/>
              </a:solidFill>
            </a:endParaRPr>
          </a:p>
        </p:txBody>
      </p:sp>
      <p:sp>
        <p:nvSpPr>
          <p:cNvPr id="80899" name="文本框 1"/>
          <p:cNvSpPr txBox="1"/>
          <p:nvPr/>
        </p:nvSpPr>
        <p:spPr>
          <a:xfrm>
            <a:off x="636384" y="3049950"/>
            <a:ext cx="7109639" cy="1200329"/>
          </a:xfrm>
          <a:prstGeom prst="rect">
            <a:avLst/>
          </a:prstGeom>
          <a:noFill/>
          <a:ln w="9525">
            <a:noFill/>
          </a:ln>
        </p:spPr>
        <p:txBody>
          <a:bodyPr wrap="none" anchor="t" anchorCtr="0">
            <a:spAutoFit/>
          </a:bodyPr>
          <a:lstStyle/>
          <a:p>
            <a:r>
              <a:rPr lang="zh-CN" altLang="en-US" dirty="0">
                <a:latin typeface="Microsoft YaHei" panose="020B0503020204020204" pitchFamily="34" charset="-122"/>
                <a:ea typeface="Microsoft YaHei" panose="020B0503020204020204" pitchFamily="34" charset="-122"/>
              </a:rPr>
              <a:t>解: </a:t>
            </a:r>
            <a:r>
              <a:rPr lang="zh-CN" altLang="en-US" dirty="0">
                <a:solidFill>
                  <a:schemeClr val="hlink"/>
                </a:solidFill>
                <a:latin typeface="Microsoft YaHei" panose="020B0503020204020204" pitchFamily="34" charset="-122"/>
                <a:ea typeface="Microsoft YaHei" panose="020B0503020204020204" pitchFamily="34" charset="-122"/>
              </a:rPr>
              <a:t>F1不是。</a:t>
            </a:r>
            <a:r>
              <a:rPr lang="zh-CN" altLang="en-US" dirty="0">
                <a:latin typeface="Microsoft YaHei" panose="020B0503020204020204" pitchFamily="34" charset="-122"/>
                <a:ea typeface="Microsoft YaHei" panose="020B0503020204020204" pitchFamily="34" charset="-122"/>
              </a:rPr>
              <a:t>∵ C→AD，该函数依赖的右部不是单属性。</a:t>
            </a:r>
          </a:p>
          <a:p>
            <a:r>
              <a:rPr lang="zh-CN" altLang="en-US" dirty="0">
                <a:latin typeface="Microsoft YaHei" panose="020B0503020204020204" pitchFamily="34" charset="-122"/>
                <a:ea typeface="Microsoft YaHei" panose="020B0503020204020204" pitchFamily="34" charset="-122"/>
              </a:rPr>
              <a:t>    </a:t>
            </a:r>
            <a:r>
              <a:rPr lang="zh-CN" altLang="en-US" dirty="0">
                <a:solidFill>
                  <a:schemeClr val="hlink"/>
                </a:solidFill>
                <a:latin typeface="Microsoft YaHei" panose="020B0503020204020204" pitchFamily="34" charset="-122"/>
                <a:ea typeface="Microsoft YaHei" panose="020B0503020204020204" pitchFamily="34" charset="-122"/>
              </a:rPr>
              <a:t>F2不是。</a:t>
            </a:r>
            <a:r>
              <a:rPr lang="zh-CN" altLang="en-US" dirty="0">
                <a:latin typeface="Microsoft YaHei" panose="020B0503020204020204" pitchFamily="34" charset="-122"/>
                <a:ea typeface="Microsoft YaHei" panose="020B0503020204020204" pitchFamily="34" charset="-122"/>
              </a:rPr>
              <a:t>由B→C，能推出AB→C, ∴ AB→C中的A是多余的属性。</a:t>
            </a:r>
          </a:p>
          <a:p>
            <a:r>
              <a:rPr lang="zh-CN" altLang="en-US" dirty="0">
                <a:latin typeface="Microsoft YaHei" panose="020B0503020204020204" pitchFamily="34" charset="-122"/>
                <a:ea typeface="Microsoft YaHei" panose="020B0503020204020204" pitchFamily="34" charset="-122"/>
              </a:rPr>
              <a:t>    </a:t>
            </a:r>
            <a:r>
              <a:rPr lang="zh-CN" altLang="en-US" dirty="0">
                <a:solidFill>
                  <a:schemeClr val="hlink"/>
                </a:solidFill>
                <a:latin typeface="Microsoft YaHei" panose="020B0503020204020204" pitchFamily="34" charset="-122"/>
                <a:ea typeface="Microsoft YaHei" panose="020B0503020204020204" pitchFamily="34" charset="-122"/>
              </a:rPr>
              <a:t>F3是。</a:t>
            </a:r>
          </a:p>
          <a:p>
            <a:endParaRPr lang="zh-CN" altLang="en-US" dirty="0">
              <a:latin typeface="Microsoft YaHei" panose="020B0503020204020204" pitchFamily="34" charset="-122"/>
              <a:ea typeface="Microsoft YaHei" panose="020B0503020204020204" pitchFamily="34" charset="-122"/>
            </a:endParaRPr>
          </a:p>
        </p:txBody>
      </p:sp>
      <p:sp>
        <p:nvSpPr>
          <p:cNvPr id="3" name="标题 2">
            <a:extLst>
              <a:ext uri="{FF2B5EF4-FFF2-40B4-BE49-F238E27FC236}">
                <a16:creationId xmlns:a16="http://schemas.microsoft.com/office/drawing/2014/main" id="{BBB71C69-C5F3-4B31-A22C-664060A14106}"/>
              </a:ext>
            </a:extLst>
          </p:cNvPr>
          <p:cNvSpPr>
            <a:spLocks noGrp="1"/>
          </p:cNvSpPr>
          <p:nvPr>
            <p:ph type="title"/>
          </p:nvPr>
        </p:nvSpPr>
        <p:spPr/>
        <p:txBody>
          <a:bodyPr/>
          <a:lstStyle/>
          <a:p>
            <a:r>
              <a:rPr lang="zh-CN" altLang="en-US" dirty="0"/>
              <a:t>最小函数依赖集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8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8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08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p:cNvSpPr>
            <a:spLocks noGrp="1"/>
          </p:cNvSpPr>
          <p:nvPr>
            <p:ph idx="1"/>
          </p:nvPr>
        </p:nvSpPr>
        <p:spPr/>
        <p:txBody>
          <a:bodyPr vert="horz" wrap="square" lIns="68580" tIns="34290" rIns="68580" bIns="34290" anchor="t" anchorCtr="0">
            <a:normAutofit/>
          </a:bodyPr>
          <a:lstStyle/>
          <a:p>
            <a:pPr eaLnBrk="1" hangingPunct="1"/>
            <a:r>
              <a:rPr lang="zh-CN" altLang="en-US" sz="1800" dirty="0">
                <a:solidFill>
                  <a:schemeClr val="folHlink"/>
                </a:solidFill>
              </a:rPr>
              <a:t>定理</a:t>
            </a:r>
            <a:r>
              <a:rPr lang="en-US" altLang="zh-CN" sz="1800" dirty="0">
                <a:solidFill>
                  <a:schemeClr val="folHlink"/>
                </a:solidFill>
              </a:rPr>
              <a:t>4.7: </a:t>
            </a:r>
            <a:r>
              <a:rPr lang="zh-CN" altLang="en-US" sz="1800" dirty="0"/>
              <a:t>每个</a:t>
            </a:r>
            <a:r>
              <a:rPr lang="en-US" altLang="zh-CN" sz="1800" dirty="0"/>
              <a:t>F</a:t>
            </a:r>
            <a:r>
              <a:rPr lang="zh-CN" altLang="en-US" sz="1800" dirty="0"/>
              <a:t>与</a:t>
            </a:r>
            <a:r>
              <a:rPr lang="en-US" altLang="zh-CN" sz="1800" dirty="0"/>
              <a:t>Fm</a:t>
            </a:r>
            <a:r>
              <a:rPr lang="zh-CN" altLang="en-US" sz="1800" dirty="0"/>
              <a:t>等价。</a:t>
            </a:r>
            <a:endParaRPr lang="en-US" altLang="zh-CN" sz="1800" dirty="0"/>
          </a:p>
          <a:p>
            <a:pPr eaLnBrk="1" hangingPunct="1"/>
            <a:endParaRPr lang="zh-CN" altLang="en-US" sz="1800" dirty="0"/>
          </a:p>
          <a:p>
            <a:pPr eaLnBrk="1" hangingPunct="1"/>
            <a:r>
              <a:rPr lang="zh-CN" altLang="en-US" sz="1800" dirty="0">
                <a:solidFill>
                  <a:schemeClr val="folHlink"/>
                </a:solidFill>
              </a:rPr>
              <a:t>如何求最小函数依赖集</a:t>
            </a:r>
            <a:r>
              <a:rPr lang="en-US" altLang="zh-CN" sz="1800" dirty="0">
                <a:solidFill>
                  <a:schemeClr val="folHlink"/>
                </a:solidFill>
              </a:rPr>
              <a:t>Fm</a:t>
            </a:r>
            <a:r>
              <a:rPr lang="zh-CN" altLang="en-US" sz="1800" dirty="0">
                <a:solidFill>
                  <a:schemeClr val="folHlink"/>
                </a:solidFill>
              </a:rPr>
              <a:t>？</a:t>
            </a:r>
            <a:endParaRPr lang="zh-CN" altLang="en-US" sz="1800" dirty="0"/>
          </a:p>
          <a:p>
            <a:pPr eaLnBrk="1" hangingPunct="1">
              <a:buNone/>
            </a:pPr>
            <a:r>
              <a:rPr lang="zh-CN" altLang="en-US" sz="1800" dirty="0">
                <a:solidFill>
                  <a:schemeClr val="tx2"/>
                </a:solidFill>
              </a:rPr>
              <a:t>   </a:t>
            </a:r>
            <a:r>
              <a:rPr lang="en-US" altLang="zh-CN" sz="1800" dirty="0">
                <a:solidFill>
                  <a:schemeClr val="tx2"/>
                </a:solidFill>
              </a:rPr>
              <a:t>(1)</a:t>
            </a:r>
            <a:r>
              <a:rPr lang="zh-CN" altLang="en-US" sz="1800" dirty="0">
                <a:solidFill>
                  <a:schemeClr val="tx2"/>
                </a:solidFill>
              </a:rPr>
              <a:t>分解：</a:t>
            </a:r>
            <a:r>
              <a:rPr lang="zh-CN" altLang="en-US" sz="1800" dirty="0"/>
              <a:t>使</a:t>
            </a:r>
            <a:r>
              <a:rPr lang="en-US" altLang="zh-CN" sz="1800" dirty="0"/>
              <a:t>F</a:t>
            </a:r>
            <a:r>
              <a:rPr lang="zh-CN" altLang="en-US" sz="1800" dirty="0"/>
              <a:t>中任一函数依赖的右部仅含有单属性。 </a:t>
            </a:r>
          </a:p>
          <a:p>
            <a:pPr eaLnBrk="1" hangingPunct="1">
              <a:buNone/>
            </a:pPr>
            <a:r>
              <a:rPr lang="zh-CN" altLang="en-US" sz="1800" dirty="0">
                <a:solidFill>
                  <a:schemeClr val="tx2"/>
                </a:solidFill>
              </a:rPr>
              <a:t>   </a:t>
            </a:r>
            <a:r>
              <a:rPr lang="en-US" altLang="zh-CN" sz="1800" dirty="0">
                <a:solidFill>
                  <a:schemeClr val="tx2"/>
                </a:solidFill>
              </a:rPr>
              <a:t>(2)</a:t>
            </a:r>
            <a:r>
              <a:rPr lang="zh-CN" altLang="en-US" sz="1800" dirty="0">
                <a:solidFill>
                  <a:schemeClr val="tx2"/>
                </a:solidFill>
              </a:rPr>
              <a:t>去掉函数依赖左边多余的属性：</a:t>
            </a:r>
            <a:r>
              <a:rPr lang="zh-CN" altLang="en-US" sz="1800" dirty="0"/>
              <a:t> </a:t>
            </a:r>
          </a:p>
          <a:p>
            <a:pPr eaLnBrk="1" hangingPunct="1">
              <a:buNone/>
            </a:pPr>
            <a:r>
              <a:rPr lang="zh-CN" altLang="en-US" sz="1800" dirty="0"/>
              <a:t>       方法：对</a:t>
            </a:r>
            <a:r>
              <a:rPr lang="en-US" altLang="zh-CN" sz="1800" dirty="0"/>
              <a:t>F</a:t>
            </a:r>
            <a:r>
              <a:rPr lang="zh-CN" altLang="en-US" sz="1800" dirty="0"/>
              <a:t>中任一</a:t>
            </a:r>
            <a:r>
              <a:rPr lang="en-US" altLang="zh-CN" sz="1800" dirty="0"/>
              <a:t>XY</a:t>
            </a:r>
            <a:r>
              <a:rPr lang="en-US" altLang="zh-CN" sz="1800" dirty="0">
                <a:sym typeface="Wingdings" panose="05000000000000000000" pitchFamily="2" charset="2"/>
              </a:rPr>
              <a:t></a:t>
            </a:r>
            <a:r>
              <a:rPr lang="en-US" altLang="zh-CN" sz="1800" dirty="0"/>
              <a:t>A</a:t>
            </a:r>
            <a:r>
              <a:rPr lang="zh-CN" altLang="en-US" sz="1800" dirty="0"/>
              <a:t>，在</a:t>
            </a:r>
            <a:r>
              <a:rPr lang="en-US" altLang="zh-CN" sz="1800" dirty="0"/>
              <a:t>F</a:t>
            </a:r>
            <a:r>
              <a:rPr lang="zh-CN" altLang="en-US" sz="1800" dirty="0"/>
              <a:t>中求</a:t>
            </a:r>
            <a:r>
              <a:rPr lang="en-US" altLang="zh-CN" sz="1800" dirty="0"/>
              <a:t>X</a:t>
            </a:r>
            <a:r>
              <a:rPr lang="en-US" altLang="zh-CN" sz="1800" baseline="30000" dirty="0"/>
              <a:t>+</a:t>
            </a:r>
            <a:r>
              <a:rPr lang="zh-CN" altLang="en-US" sz="1800" dirty="0"/>
              <a:t>， </a:t>
            </a:r>
          </a:p>
          <a:p>
            <a:pPr eaLnBrk="1" hangingPunct="1">
              <a:buNone/>
            </a:pPr>
            <a:r>
              <a:rPr lang="zh-CN" altLang="en-US" sz="1800" dirty="0"/>
              <a:t>             若</a:t>
            </a:r>
            <a:r>
              <a:rPr lang="en-US" altLang="zh-CN" sz="1800" dirty="0"/>
              <a:t>A⊆X</a:t>
            </a:r>
            <a:r>
              <a:rPr lang="en-US" altLang="zh-CN" sz="1800" baseline="30000" dirty="0"/>
              <a:t>+ </a:t>
            </a:r>
            <a:r>
              <a:rPr lang="zh-CN" altLang="en-US" sz="1800" dirty="0"/>
              <a:t>，则</a:t>
            </a:r>
            <a:r>
              <a:rPr lang="en-US" altLang="zh-CN" sz="1800" dirty="0"/>
              <a:t>Y</a:t>
            </a:r>
            <a:r>
              <a:rPr lang="zh-CN" altLang="en-US" sz="1800" dirty="0"/>
              <a:t>为多余的。</a:t>
            </a:r>
          </a:p>
          <a:p>
            <a:pPr eaLnBrk="1" hangingPunct="1">
              <a:buNone/>
            </a:pPr>
            <a:r>
              <a:rPr lang="zh-CN" altLang="en-US" sz="1800" dirty="0">
                <a:solidFill>
                  <a:schemeClr val="tx2"/>
                </a:solidFill>
              </a:rPr>
              <a:t>   </a:t>
            </a:r>
            <a:r>
              <a:rPr lang="en-US" altLang="zh-CN" sz="1800" dirty="0">
                <a:solidFill>
                  <a:schemeClr val="tx2"/>
                </a:solidFill>
              </a:rPr>
              <a:t>(3)</a:t>
            </a:r>
            <a:r>
              <a:rPr lang="zh-CN" altLang="en-US" sz="1800" dirty="0">
                <a:solidFill>
                  <a:schemeClr val="tx2"/>
                </a:solidFill>
              </a:rPr>
              <a:t>去掉多余函数依赖：</a:t>
            </a:r>
          </a:p>
          <a:p>
            <a:pPr eaLnBrk="1" hangingPunct="1">
              <a:buNone/>
            </a:pPr>
            <a:r>
              <a:rPr lang="zh-CN" altLang="en-US" sz="1800" dirty="0"/>
              <a:t>        方法：对</a:t>
            </a:r>
            <a:r>
              <a:rPr lang="en-US" altLang="zh-CN" sz="1800" dirty="0"/>
              <a:t>F</a:t>
            </a:r>
            <a:r>
              <a:rPr lang="zh-CN" altLang="en-US" sz="1800" dirty="0"/>
              <a:t>中任一</a:t>
            </a:r>
            <a:r>
              <a:rPr lang="en-US" altLang="zh-CN" sz="1800" dirty="0"/>
              <a:t>X</a:t>
            </a:r>
            <a:r>
              <a:rPr lang="en-US" altLang="zh-CN" sz="1800" dirty="0">
                <a:sym typeface="Wingdings" panose="05000000000000000000" pitchFamily="2" charset="2"/>
              </a:rPr>
              <a:t></a:t>
            </a:r>
            <a:r>
              <a:rPr lang="en-US" altLang="zh-CN" sz="1800" dirty="0"/>
              <a:t>A</a:t>
            </a:r>
            <a:r>
              <a:rPr lang="zh-CN" altLang="en-US" sz="1800" dirty="0"/>
              <a:t>，在</a:t>
            </a:r>
            <a:r>
              <a:rPr lang="en-US" altLang="zh-CN" sz="1800" dirty="0"/>
              <a:t>F-{X</a:t>
            </a:r>
            <a:r>
              <a:rPr lang="en-US" altLang="zh-CN" sz="1800" dirty="0">
                <a:sym typeface="Wingdings" panose="05000000000000000000" pitchFamily="2" charset="2"/>
              </a:rPr>
              <a:t></a:t>
            </a:r>
            <a:r>
              <a:rPr lang="en-US" altLang="zh-CN" sz="1800" dirty="0"/>
              <a:t>A}</a:t>
            </a:r>
            <a:r>
              <a:rPr lang="zh-CN" altLang="en-US" sz="1800" dirty="0"/>
              <a:t>中求</a:t>
            </a:r>
            <a:r>
              <a:rPr lang="en-US" altLang="zh-CN" sz="1800" dirty="0"/>
              <a:t>X</a:t>
            </a:r>
            <a:r>
              <a:rPr lang="en-US" altLang="zh-CN" sz="1800" baseline="30000" dirty="0"/>
              <a:t>+</a:t>
            </a:r>
            <a:r>
              <a:rPr lang="zh-CN" altLang="en-US" sz="1800" dirty="0"/>
              <a:t>，</a:t>
            </a:r>
          </a:p>
          <a:p>
            <a:pPr eaLnBrk="1" hangingPunct="1">
              <a:buNone/>
            </a:pPr>
            <a:r>
              <a:rPr lang="zh-CN" altLang="en-US" sz="1800" dirty="0"/>
              <a:t>              若</a:t>
            </a:r>
            <a:r>
              <a:rPr lang="en-US" altLang="zh-CN" sz="1800" dirty="0"/>
              <a:t>A⊆X</a:t>
            </a:r>
            <a:r>
              <a:rPr lang="en-US" altLang="zh-CN" sz="1800" baseline="30000" dirty="0"/>
              <a:t>+</a:t>
            </a:r>
            <a:r>
              <a:rPr lang="zh-CN" altLang="en-US" sz="1800" dirty="0"/>
              <a:t>，则</a:t>
            </a:r>
            <a:r>
              <a:rPr lang="en-US" altLang="zh-CN" sz="1800" dirty="0"/>
              <a:t>X</a:t>
            </a:r>
            <a:r>
              <a:rPr lang="en-US" altLang="zh-CN" sz="1800" dirty="0">
                <a:sym typeface="Wingdings" panose="05000000000000000000" pitchFamily="2" charset="2"/>
              </a:rPr>
              <a:t></a:t>
            </a:r>
            <a:r>
              <a:rPr lang="en-US" altLang="zh-CN" sz="1800" dirty="0"/>
              <a:t>A</a:t>
            </a:r>
            <a:r>
              <a:rPr lang="zh-CN" altLang="en-US" sz="1800" dirty="0"/>
              <a:t>为多余的。</a:t>
            </a:r>
          </a:p>
        </p:txBody>
      </p:sp>
      <p:sp>
        <p:nvSpPr>
          <p:cNvPr id="3" name="标题 2">
            <a:extLst>
              <a:ext uri="{FF2B5EF4-FFF2-40B4-BE49-F238E27FC236}">
                <a16:creationId xmlns:a16="http://schemas.microsoft.com/office/drawing/2014/main" id="{E6E46735-22F8-55AC-B8A4-9E6DA2B2BE8B}"/>
              </a:ext>
            </a:extLst>
          </p:cNvPr>
          <p:cNvSpPr>
            <a:spLocks noGrp="1"/>
          </p:cNvSpPr>
          <p:nvPr>
            <p:ph type="title"/>
          </p:nvPr>
        </p:nvSpPr>
        <p:spPr/>
        <p:txBody>
          <a:bodyPr/>
          <a:lstStyle/>
          <a:p>
            <a:r>
              <a:rPr lang="zh-CN" altLang="en-US" dirty="0"/>
              <a:t>计算最小函数依赖集</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9874" name="Rectangle 3"/>
              <p:cNvSpPr>
                <a:spLocks noGrp="1"/>
              </p:cNvSpPr>
              <p:nvPr>
                <p:ph idx="1"/>
              </p:nvPr>
            </p:nvSpPr>
            <p:spPr>
              <a:xfrm>
                <a:off x="303186" y="1255382"/>
                <a:ext cx="8678082" cy="3618835"/>
              </a:xfrm>
            </p:spPr>
            <p:txBody>
              <a:bodyPr vert="horz" wrap="square" lIns="68580" tIns="34290" rIns="68580" bIns="34290" anchor="t" anchorCtr="0">
                <a:normAutofit fontScale="77500" lnSpcReduction="20000"/>
              </a:bodyPr>
              <a:lstStyle/>
              <a:p>
                <a:pPr marL="0" indent="0" algn="just">
                  <a:lnSpc>
                    <a:spcPct val="100000"/>
                  </a:lnSpc>
                  <a:buNone/>
                </a:pPr>
                <a:r>
                  <a:rPr lang="en-US" altLang="zh-CN" sz="1800" b="1" dirty="0">
                    <a:solidFill>
                      <a:schemeClr val="hlink"/>
                    </a:solidFill>
                  </a:rPr>
                  <a:t>【</a:t>
                </a:r>
                <a:r>
                  <a:rPr lang="zh-CN" altLang="en-US" sz="1800" b="1" dirty="0">
                    <a:solidFill>
                      <a:schemeClr val="hlink"/>
                    </a:solidFill>
                  </a:rPr>
                  <a:t>例</a:t>
                </a:r>
                <a:r>
                  <a:rPr lang="en-US" altLang="zh-CN" sz="1800" b="1" dirty="0">
                    <a:solidFill>
                      <a:schemeClr val="hlink"/>
                    </a:solidFill>
                  </a:rPr>
                  <a:t>】</a:t>
                </a:r>
                <a:r>
                  <a:rPr lang="zh-CN" altLang="en-US" sz="1800" dirty="0"/>
                  <a:t>设有函数依赖集F={B→C，C→AB，A→BC，BC→A}</a:t>
                </a:r>
              </a:p>
              <a:p>
                <a:pPr marL="0" indent="0">
                  <a:lnSpc>
                    <a:spcPct val="100000"/>
                  </a:lnSpc>
                  <a:buNone/>
                </a:pPr>
                <a:r>
                  <a:rPr lang="zh-CN" altLang="en-US" sz="1800" dirty="0"/>
                  <a:t>        求与F等价的最小函数依赖集。</a:t>
                </a:r>
              </a:p>
              <a:p>
                <a:pPr marL="0" indent="0">
                  <a:buNone/>
                </a:pPr>
                <a:r>
                  <a:rPr lang="zh-CN" altLang="en-US" sz="1400" dirty="0">
                    <a:solidFill>
                      <a:schemeClr val="folHlink"/>
                    </a:solidFill>
                  </a:rPr>
                  <a:t>解：</a:t>
                </a:r>
                <a:r>
                  <a:rPr lang="en-US" altLang="zh-CN" sz="1400" dirty="0"/>
                  <a:t>(1)</a:t>
                </a:r>
                <a:r>
                  <a:rPr lang="zh-CN" altLang="en-US" sz="1400" dirty="0"/>
                  <a:t>将</a:t>
                </a:r>
                <a:r>
                  <a:rPr lang="en-US" altLang="zh-CN" sz="1400" dirty="0"/>
                  <a:t>F</a:t>
                </a:r>
                <a:r>
                  <a:rPr lang="zh-CN" altLang="en-US" sz="1400" dirty="0"/>
                  <a:t>中函数依赖右部分解为单属性，得到</a:t>
                </a:r>
                <a:endParaRPr lang="en-US" altLang="zh-CN" sz="1400" dirty="0"/>
              </a:p>
              <a:p>
                <a:pPr marL="0" indent="0">
                  <a:buNone/>
                </a:pPr>
                <a:r>
                  <a:rPr lang="en-US" altLang="zh-CN" sz="1400" dirty="0"/>
                  <a:t>	F</a:t>
                </a:r>
                <a:r>
                  <a:rPr lang="en-US" altLang="zh-CN" sz="1400" baseline="-25000" dirty="0"/>
                  <a:t>1</a:t>
                </a:r>
                <a:r>
                  <a:rPr lang="en-US" altLang="zh-CN" sz="1400" dirty="0"/>
                  <a:t>={B</a:t>
                </a:r>
                <a:r>
                  <a:rPr lang="zh-CN" altLang="en-US" sz="1400" dirty="0"/>
                  <a:t>→</a:t>
                </a:r>
                <a:r>
                  <a:rPr lang="en-US" altLang="zh-CN" sz="1400" dirty="0"/>
                  <a:t>C,</a:t>
                </a:r>
                <a:r>
                  <a:rPr lang="zh-CN" altLang="en-US" sz="1400" dirty="0"/>
                  <a:t> </a:t>
                </a:r>
                <a:r>
                  <a:rPr lang="en-US" altLang="zh-CN" sz="1400" dirty="0"/>
                  <a:t>C</a:t>
                </a:r>
                <a:r>
                  <a:rPr lang="zh-CN" altLang="en-US" sz="1400" dirty="0"/>
                  <a:t>→</a:t>
                </a:r>
                <a:r>
                  <a:rPr lang="en-US" altLang="zh-CN" sz="1400" dirty="0"/>
                  <a:t>A,</a:t>
                </a:r>
                <a:r>
                  <a:rPr lang="zh-CN" altLang="en-US" sz="1400" dirty="0"/>
                  <a:t> </a:t>
                </a:r>
                <a:r>
                  <a:rPr lang="en-US" altLang="zh-CN" sz="1400" dirty="0"/>
                  <a:t>C</a:t>
                </a:r>
                <a:r>
                  <a:rPr lang="zh-CN" altLang="en-US" sz="1400" dirty="0"/>
                  <a:t>→</a:t>
                </a:r>
                <a:r>
                  <a:rPr lang="en-US" altLang="zh-CN" sz="1400" dirty="0"/>
                  <a:t>B,</a:t>
                </a:r>
                <a:r>
                  <a:rPr lang="zh-CN" altLang="en-US" sz="1400" dirty="0"/>
                  <a:t> </a:t>
                </a:r>
                <a:r>
                  <a:rPr lang="en-US" altLang="zh-CN" sz="1400" dirty="0"/>
                  <a:t>A</a:t>
                </a:r>
                <a:r>
                  <a:rPr lang="zh-CN" altLang="en-US" sz="1400" dirty="0"/>
                  <a:t>→</a:t>
                </a:r>
                <a:r>
                  <a:rPr lang="en-US" altLang="zh-CN" sz="1400" dirty="0"/>
                  <a:t>B,</a:t>
                </a:r>
                <a:r>
                  <a:rPr lang="zh-CN" altLang="en-US" sz="1400" dirty="0"/>
                  <a:t> </a:t>
                </a:r>
                <a:r>
                  <a:rPr lang="en-US" altLang="zh-CN" sz="1400" dirty="0"/>
                  <a:t>A</a:t>
                </a:r>
                <a:r>
                  <a:rPr lang="zh-CN" altLang="en-US" sz="1400" dirty="0"/>
                  <a:t>→</a:t>
                </a:r>
                <a:r>
                  <a:rPr lang="en-US" altLang="zh-CN" sz="1400" dirty="0"/>
                  <a:t>C,</a:t>
                </a:r>
                <a:r>
                  <a:rPr lang="zh-CN" altLang="en-US" sz="1400" dirty="0"/>
                  <a:t> </a:t>
                </a:r>
                <a:r>
                  <a:rPr lang="en-US" altLang="zh-CN" sz="1400" dirty="0"/>
                  <a:t>BC</a:t>
                </a:r>
                <a:r>
                  <a:rPr lang="zh-CN" altLang="en-US" sz="1400" dirty="0"/>
                  <a:t>→</a:t>
                </a:r>
                <a:r>
                  <a:rPr lang="en-US" altLang="zh-CN" sz="1400" dirty="0"/>
                  <a:t>A}</a:t>
                </a:r>
              </a:p>
              <a:p>
                <a:pPr marL="0" indent="0">
                  <a:buNone/>
                </a:pPr>
                <a:r>
                  <a:rPr lang="en-US" altLang="zh-CN" sz="1400" dirty="0"/>
                  <a:t>(2)</a:t>
                </a:r>
                <a:r>
                  <a:rPr lang="zh-CN" altLang="en-US" sz="1400" dirty="0"/>
                  <a:t>去掉</a:t>
                </a:r>
                <a:r>
                  <a:rPr lang="en-US" altLang="zh-CN" sz="1400" dirty="0"/>
                  <a:t>F</a:t>
                </a:r>
                <a:r>
                  <a:rPr lang="en-US" altLang="zh-CN" sz="1400" baseline="-25000" dirty="0"/>
                  <a:t>1</a:t>
                </a:r>
                <a:r>
                  <a:rPr lang="zh-CN" altLang="en-US" sz="1400" dirty="0"/>
                  <a:t>中函数依赖左部多余的属性。在</a:t>
                </a:r>
                <a:r>
                  <a:rPr lang="en-US" altLang="zh-CN" sz="1400" dirty="0"/>
                  <a:t>F</a:t>
                </a:r>
                <a:r>
                  <a:rPr lang="en-US" altLang="zh-CN" sz="1400" baseline="-25000" dirty="0"/>
                  <a:t>1</a:t>
                </a:r>
                <a:r>
                  <a:rPr lang="zh-CN" altLang="en-US" sz="1400" dirty="0"/>
                  <a:t>中考虑</a:t>
                </a:r>
                <a:r>
                  <a:rPr lang="en-US" altLang="zh-CN" sz="1400" dirty="0"/>
                  <a:t>BC</a:t>
                </a:r>
                <a:r>
                  <a:rPr lang="zh-CN" altLang="en-US" sz="1400" dirty="0"/>
                  <a:t> →</a:t>
                </a:r>
                <a:r>
                  <a:rPr lang="en-US" altLang="zh-CN" sz="1400" dirty="0"/>
                  <a:t>A</a:t>
                </a:r>
                <a:r>
                  <a:rPr lang="zh-CN" altLang="en-US" sz="1400" dirty="0"/>
                  <a:t>，因为</a:t>
                </a:r>
                <a14:m>
                  <m:oMath xmlns:m="http://schemas.openxmlformats.org/officeDocument/2006/math">
                    <m:sSubSup>
                      <m:sSubSupPr>
                        <m:ctrlPr>
                          <a:rPr lang="en-US" altLang="zh-CN" sz="1400" i="1" smtClean="0">
                            <a:latin typeface="Cambria Math" panose="02040503050406030204" pitchFamily="18" charset="0"/>
                          </a:rPr>
                        </m:ctrlPr>
                      </m:sSubSupPr>
                      <m:e>
                        <m:r>
                          <a:rPr lang="en-US" altLang="zh-CN" sz="1400" b="0" i="1" smtClean="0">
                            <a:latin typeface="Cambria Math" panose="02040503050406030204" pitchFamily="18" charset="0"/>
                          </a:rPr>
                          <m:t>𝐵</m:t>
                        </m:r>
                      </m:e>
                      <m:sub>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𝐹</m:t>
                            </m:r>
                          </m:e>
                          <m:sub>
                            <m:r>
                              <a:rPr lang="en-US" altLang="zh-CN" sz="1400" b="0" i="1" smtClean="0">
                                <a:latin typeface="Cambria Math" panose="02040503050406030204" pitchFamily="18" charset="0"/>
                              </a:rPr>
                              <m:t>1</m:t>
                            </m:r>
                          </m:sub>
                        </m:sSub>
                      </m:sub>
                      <m:sup>
                        <m:r>
                          <a:rPr lang="en-US" altLang="zh-CN" sz="1400" b="0" i="1" smtClean="0">
                            <a:latin typeface="Cambria Math" panose="02040503050406030204" pitchFamily="18" charset="0"/>
                          </a:rPr>
                          <m:t>+</m:t>
                        </m:r>
                      </m:sup>
                    </m:sSubSup>
                  </m:oMath>
                </a14:m>
                <a:r>
                  <a:rPr lang="en-US" altLang="zh-CN" sz="1400" dirty="0"/>
                  <a:t>=BCA</a:t>
                </a:r>
                <a:r>
                  <a:rPr lang="zh-CN" altLang="en-US" sz="1400" dirty="0"/>
                  <a:t>，所以</a:t>
                </a:r>
                <a:r>
                  <a:rPr lang="en-US" altLang="zh-CN" sz="1400" dirty="0"/>
                  <a:t>C</a:t>
                </a:r>
                <a:r>
                  <a:rPr lang="zh-CN" altLang="en-US" sz="1400" dirty="0"/>
                  <a:t>多余：</a:t>
                </a:r>
                <a:endParaRPr lang="en-US" altLang="zh-CN" sz="1400" dirty="0"/>
              </a:p>
              <a:p>
                <a:pPr marL="0" indent="0">
                  <a:buNone/>
                </a:pPr>
                <a:r>
                  <a:rPr lang="en-US" altLang="zh-CN" sz="1400" dirty="0"/>
                  <a:t>	F</a:t>
                </a:r>
                <a:r>
                  <a:rPr lang="en-US" altLang="zh-CN" sz="1400" baseline="-25000" dirty="0"/>
                  <a:t>2</a:t>
                </a:r>
                <a:r>
                  <a:rPr lang="en-US" altLang="zh-CN" sz="1400" dirty="0"/>
                  <a:t>={B</a:t>
                </a:r>
                <a:r>
                  <a:rPr lang="zh-CN" altLang="en-US" sz="1400" dirty="0"/>
                  <a:t>→</a:t>
                </a:r>
                <a:r>
                  <a:rPr lang="en-US" altLang="zh-CN" sz="1400" dirty="0"/>
                  <a:t>C,</a:t>
                </a:r>
                <a:r>
                  <a:rPr lang="zh-CN" altLang="en-US" sz="1400" dirty="0"/>
                  <a:t> </a:t>
                </a:r>
                <a:r>
                  <a:rPr lang="en-US" altLang="zh-CN" sz="1400" dirty="0"/>
                  <a:t>C</a:t>
                </a:r>
                <a:r>
                  <a:rPr lang="zh-CN" altLang="en-US" sz="1400" dirty="0"/>
                  <a:t>→</a:t>
                </a:r>
                <a:r>
                  <a:rPr lang="en-US" altLang="zh-CN" sz="1400" dirty="0"/>
                  <a:t>A,</a:t>
                </a:r>
                <a:r>
                  <a:rPr lang="zh-CN" altLang="en-US" sz="1400" dirty="0"/>
                  <a:t> </a:t>
                </a:r>
                <a:r>
                  <a:rPr lang="en-US" altLang="zh-CN" sz="1400" dirty="0"/>
                  <a:t>C</a:t>
                </a:r>
                <a:r>
                  <a:rPr lang="zh-CN" altLang="en-US" sz="1400" dirty="0"/>
                  <a:t>→</a:t>
                </a:r>
                <a:r>
                  <a:rPr lang="en-US" altLang="zh-CN" sz="1400" dirty="0"/>
                  <a:t>B,</a:t>
                </a:r>
                <a:r>
                  <a:rPr lang="zh-CN" altLang="en-US" sz="1400" dirty="0"/>
                  <a:t> </a:t>
                </a:r>
                <a:r>
                  <a:rPr lang="en-US" altLang="zh-CN" sz="1400" dirty="0"/>
                  <a:t>A</a:t>
                </a:r>
                <a:r>
                  <a:rPr lang="zh-CN" altLang="en-US" sz="1400" dirty="0"/>
                  <a:t>→</a:t>
                </a:r>
                <a:r>
                  <a:rPr lang="en-US" altLang="zh-CN" sz="1400" dirty="0"/>
                  <a:t>B,</a:t>
                </a:r>
                <a:r>
                  <a:rPr lang="zh-CN" altLang="en-US" sz="1400" dirty="0"/>
                  <a:t> </a:t>
                </a:r>
                <a:r>
                  <a:rPr lang="en-US" altLang="zh-CN" sz="1400" dirty="0"/>
                  <a:t>A</a:t>
                </a:r>
                <a:r>
                  <a:rPr lang="zh-CN" altLang="en-US" sz="1400" dirty="0"/>
                  <a:t>→</a:t>
                </a:r>
                <a:r>
                  <a:rPr lang="en-US" altLang="zh-CN" sz="1400" dirty="0"/>
                  <a:t>C,</a:t>
                </a:r>
                <a:r>
                  <a:rPr lang="zh-CN" altLang="en-US" sz="1400" dirty="0"/>
                  <a:t> </a:t>
                </a:r>
                <a:r>
                  <a:rPr lang="en-US" altLang="zh-CN" sz="1400" dirty="0"/>
                  <a:t>B</a:t>
                </a:r>
                <a:r>
                  <a:rPr lang="zh-CN" altLang="en-US" sz="1400" dirty="0"/>
                  <a:t>→</a:t>
                </a:r>
                <a:r>
                  <a:rPr lang="en-US" altLang="zh-CN" sz="1400" dirty="0"/>
                  <a:t>A}</a:t>
                </a:r>
              </a:p>
              <a:p>
                <a:pPr marL="0" indent="0">
                  <a:buNone/>
                </a:pPr>
                <a:r>
                  <a:rPr lang="en-US" altLang="zh-CN" sz="1400" dirty="0"/>
                  <a:t>(3)</a:t>
                </a:r>
                <a:r>
                  <a:rPr lang="zh-CN" altLang="en-US" sz="1400" dirty="0"/>
                  <a:t>去掉</a:t>
                </a:r>
                <a:r>
                  <a:rPr lang="en-US" altLang="zh-CN" sz="1400" dirty="0"/>
                  <a:t>F</a:t>
                </a:r>
                <a:r>
                  <a:rPr lang="en-US" altLang="zh-CN" sz="1400" baseline="-25000" dirty="0"/>
                  <a:t>2</a:t>
                </a:r>
                <a:r>
                  <a:rPr lang="zh-CN" altLang="en-US" sz="1400" dirty="0"/>
                  <a:t>中多余的函数依赖：</a:t>
                </a:r>
                <a:endParaRPr lang="en-US" altLang="zh-CN" sz="1400" dirty="0"/>
              </a:p>
              <a:p>
                <a:pPr marL="0" indent="0">
                  <a:buNone/>
                </a:pPr>
                <a:r>
                  <a:rPr lang="en-US" altLang="zh-CN" sz="1400" dirty="0"/>
                  <a:t>①</a:t>
                </a:r>
                <a:r>
                  <a:rPr lang="zh-CN" altLang="en-US" sz="1400" dirty="0"/>
                  <a:t>判断</a:t>
                </a:r>
                <a:r>
                  <a:rPr lang="en-US" altLang="zh-CN" sz="1400" dirty="0"/>
                  <a:t>B</a:t>
                </a:r>
                <a:r>
                  <a:rPr lang="zh-CN" altLang="en-US" sz="1400" dirty="0"/>
                  <a:t>→</a:t>
                </a:r>
                <a:r>
                  <a:rPr lang="en-US" altLang="zh-CN" sz="1400" dirty="0"/>
                  <a:t>C</a:t>
                </a:r>
                <a:r>
                  <a:rPr lang="zh-CN" altLang="en-US" sz="1400" dirty="0"/>
                  <a:t>，在</a:t>
                </a:r>
                <a:r>
                  <a:rPr lang="en-US" altLang="zh-CN" sz="1400" dirty="0"/>
                  <a:t>F</a:t>
                </a:r>
                <a:r>
                  <a:rPr lang="en-US" altLang="zh-CN" sz="1400" baseline="-25000" dirty="0"/>
                  <a:t>2</a:t>
                </a:r>
                <a:r>
                  <a:rPr lang="zh-CN" altLang="en-US" sz="1400" dirty="0"/>
                  <a:t>中去掉它，得到</a:t>
                </a:r>
                <a:r>
                  <a:rPr lang="en-US" altLang="zh-CN" sz="1400" dirty="0"/>
                  <a:t>G</a:t>
                </a:r>
                <a:r>
                  <a:rPr lang="en-US" altLang="zh-CN" sz="1400" baseline="-25000" dirty="0"/>
                  <a:t>1</a:t>
                </a:r>
                <a:r>
                  <a:rPr lang="en-US" altLang="zh-CN" sz="1400" dirty="0"/>
                  <a:t>={C</a:t>
                </a:r>
                <a:r>
                  <a:rPr lang="zh-CN" altLang="en-US" sz="1400" dirty="0"/>
                  <a:t>→</a:t>
                </a:r>
                <a:r>
                  <a:rPr lang="en-US" altLang="zh-CN" sz="1400" dirty="0"/>
                  <a:t>A,</a:t>
                </a:r>
                <a:r>
                  <a:rPr lang="zh-CN" altLang="en-US" sz="1400" dirty="0"/>
                  <a:t> </a:t>
                </a:r>
                <a:r>
                  <a:rPr lang="en-US" altLang="zh-CN" sz="1400" dirty="0"/>
                  <a:t>C</a:t>
                </a:r>
                <a:r>
                  <a:rPr lang="zh-CN" altLang="en-US" sz="1400" dirty="0"/>
                  <a:t>→</a:t>
                </a:r>
                <a:r>
                  <a:rPr lang="en-US" altLang="zh-CN" sz="1400" dirty="0"/>
                  <a:t>B,</a:t>
                </a:r>
                <a:r>
                  <a:rPr lang="zh-CN" altLang="en-US" sz="1400" dirty="0"/>
                  <a:t> </a:t>
                </a:r>
                <a:r>
                  <a:rPr lang="en-US" altLang="zh-CN" sz="1400" dirty="0"/>
                  <a:t>A</a:t>
                </a:r>
                <a:r>
                  <a:rPr lang="zh-CN" altLang="en-US" sz="1400" dirty="0"/>
                  <a:t>→</a:t>
                </a:r>
                <a:r>
                  <a:rPr lang="en-US" altLang="zh-CN" sz="1400" dirty="0"/>
                  <a:t>B,</a:t>
                </a:r>
                <a:r>
                  <a:rPr lang="zh-CN" altLang="en-US" sz="1400" dirty="0"/>
                  <a:t> </a:t>
                </a:r>
                <a:r>
                  <a:rPr lang="en-US" altLang="zh-CN" sz="1400" dirty="0"/>
                  <a:t>A</a:t>
                </a:r>
                <a:r>
                  <a:rPr lang="zh-CN" altLang="en-US" sz="1400" dirty="0"/>
                  <a:t>→</a:t>
                </a:r>
                <a:r>
                  <a:rPr lang="en-US" altLang="zh-CN" sz="1400" dirty="0"/>
                  <a:t>C,</a:t>
                </a:r>
                <a:r>
                  <a:rPr lang="zh-CN" altLang="en-US" sz="1400" dirty="0"/>
                  <a:t> </a:t>
                </a:r>
                <a:r>
                  <a:rPr lang="en-US" altLang="zh-CN" sz="1400" dirty="0"/>
                  <a:t>B</a:t>
                </a:r>
                <a:r>
                  <a:rPr lang="zh-CN" altLang="en-US" sz="1400" dirty="0"/>
                  <a:t>→</a:t>
                </a:r>
                <a:r>
                  <a:rPr lang="en-US" altLang="zh-CN" sz="1400" dirty="0"/>
                  <a:t>A}</a:t>
                </a:r>
                <a:r>
                  <a:rPr lang="zh-CN" altLang="en-US" sz="1400" dirty="0"/>
                  <a:t>，因为</a:t>
                </a:r>
                <a14:m>
                  <m:oMath xmlns:m="http://schemas.openxmlformats.org/officeDocument/2006/math">
                    <m:sSubSup>
                      <m:sSubSupPr>
                        <m:ctrlPr>
                          <a:rPr lang="en-US" altLang="zh-CN" sz="1400" i="1">
                            <a:latin typeface="Cambria Math" panose="02040503050406030204" pitchFamily="18" charset="0"/>
                          </a:rPr>
                        </m:ctrlPr>
                      </m:sSubSupPr>
                      <m:e>
                        <m:r>
                          <a:rPr lang="en-US" altLang="zh-CN" sz="1400" i="1">
                            <a:latin typeface="Cambria Math" panose="02040503050406030204" pitchFamily="18" charset="0"/>
                          </a:rPr>
                          <m:t>𝐵</m:t>
                        </m:r>
                      </m:e>
                      <m:sub>
                        <m:sSub>
                          <m:sSubPr>
                            <m:ctrlPr>
                              <a:rPr lang="en-US" altLang="zh-CN" sz="1400" i="1">
                                <a:latin typeface="Cambria Math" panose="02040503050406030204" pitchFamily="18" charset="0"/>
                              </a:rPr>
                            </m:ctrlPr>
                          </m:sSubPr>
                          <m:e>
                            <m:r>
                              <a:rPr lang="en-US" altLang="zh-CN" sz="1400" b="0" i="1" smtClean="0">
                                <a:latin typeface="Cambria Math" panose="02040503050406030204" pitchFamily="18" charset="0"/>
                              </a:rPr>
                              <m:t>𝐺</m:t>
                            </m:r>
                          </m:e>
                          <m:sub>
                            <m:r>
                              <a:rPr lang="en-US" altLang="zh-CN" sz="1400" i="1">
                                <a:latin typeface="Cambria Math" panose="02040503050406030204" pitchFamily="18" charset="0"/>
                              </a:rPr>
                              <m:t>1</m:t>
                            </m:r>
                          </m:sub>
                        </m:sSub>
                      </m:sub>
                      <m:sup>
                        <m:r>
                          <a:rPr lang="en-US" altLang="zh-CN" sz="1400" i="1">
                            <a:latin typeface="Cambria Math" panose="02040503050406030204" pitchFamily="18" charset="0"/>
                          </a:rPr>
                          <m:t>+</m:t>
                        </m:r>
                      </m:sup>
                    </m:sSubSup>
                    <m:r>
                      <a:rPr lang="en-US" altLang="zh-CN" sz="1400" i="1">
                        <a:latin typeface="Cambria Math" panose="02040503050406030204" pitchFamily="18" charset="0"/>
                      </a:rPr>
                      <m:t> </m:t>
                    </m:r>
                  </m:oMath>
                </a14:m>
                <a:r>
                  <a:rPr lang="en-US" altLang="zh-CN" sz="1400" dirty="0"/>
                  <a:t>=BAC</a:t>
                </a:r>
                <a:r>
                  <a:rPr lang="zh-CN" altLang="en-US" sz="1400" dirty="0"/>
                  <a:t>，所以</a:t>
                </a:r>
                <a:r>
                  <a:rPr lang="en-US" altLang="zh-CN" sz="1400" dirty="0"/>
                  <a:t>B</a:t>
                </a:r>
                <a:r>
                  <a:rPr lang="zh-CN" altLang="en-US" sz="1400" dirty="0"/>
                  <a:t>→</a:t>
                </a:r>
                <a:r>
                  <a:rPr lang="en-US" altLang="zh-CN" sz="1400" dirty="0"/>
                  <a:t>C</a:t>
                </a:r>
                <a:r>
                  <a:rPr lang="zh-CN" altLang="en-US" sz="1400" dirty="0"/>
                  <a:t>多余。</a:t>
                </a:r>
                <a:endParaRPr lang="en-US" altLang="zh-CN" sz="1400" dirty="0"/>
              </a:p>
              <a:p>
                <a:pPr marL="0" indent="0">
                  <a:buNone/>
                </a:pPr>
                <a:r>
                  <a:rPr lang="en-US" altLang="zh-CN" sz="1400" dirty="0"/>
                  <a:t>②</a:t>
                </a:r>
                <a:r>
                  <a:rPr lang="zh-CN" altLang="en-US" sz="1400" dirty="0"/>
                  <a:t>判断</a:t>
                </a:r>
                <a:r>
                  <a:rPr lang="en-US" altLang="zh-CN" sz="1400" dirty="0"/>
                  <a:t>C</a:t>
                </a:r>
                <a:r>
                  <a:rPr lang="zh-CN" altLang="en-US" sz="1400" dirty="0"/>
                  <a:t>→</a:t>
                </a:r>
                <a:r>
                  <a:rPr lang="en-US" altLang="zh-CN" sz="1400" dirty="0"/>
                  <a:t>A</a:t>
                </a:r>
                <a:r>
                  <a:rPr lang="zh-CN" altLang="en-US" sz="1400" dirty="0"/>
                  <a:t>，在</a:t>
                </a:r>
                <a:r>
                  <a:rPr lang="en-US" altLang="zh-CN" sz="1400" dirty="0"/>
                  <a:t>G</a:t>
                </a:r>
                <a:r>
                  <a:rPr lang="en-US" altLang="zh-CN" sz="1400" baseline="-25000" dirty="0"/>
                  <a:t>1</a:t>
                </a:r>
                <a:r>
                  <a:rPr lang="zh-CN" altLang="en-US" sz="1400" dirty="0"/>
                  <a:t>中去掉它，得到</a:t>
                </a:r>
                <a:r>
                  <a:rPr lang="en-US" altLang="zh-CN" sz="1400" dirty="0"/>
                  <a:t>G</a:t>
                </a:r>
                <a:r>
                  <a:rPr lang="en-US" altLang="zh-CN" sz="1400" baseline="-25000" dirty="0"/>
                  <a:t>2</a:t>
                </a:r>
                <a:r>
                  <a:rPr lang="en-US" altLang="zh-CN" sz="1400" dirty="0"/>
                  <a:t>={C</a:t>
                </a:r>
                <a:r>
                  <a:rPr lang="zh-CN" altLang="en-US" sz="1400" dirty="0"/>
                  <a:t>→</a:t>
                </a:r>
                <a:r>
                  <a:rPr lang="en-US" altLang="zh-CN" sz="1400" dirty="0"/>
                  <a:t>B,</a:t>
                </a:r>
                <a:r>
                  <a:rPr lang="zh-CN" altLang="en-US" sz="1400" dirty="0"/>
                  <a:t> </a:t>
                </a:r>
                <a:r>
                  <a:rPr lang="en-US" altLang="zh-CN" sz="1400" dirty="0"/>
                  <a:t>A</a:t>
                </a:r>
                <a:r>
                  <a:rPr lang="zh-CN" altLang="en-US" sz="1400" dirty="0"/>
                  <a:t>→</a:t>
                </a:r>
                <a:r>
                  <a:rPr lang="en-US" altLang="zh-CN" sz="1400" dirty="0"/>
                  <a:t>B,</a:t>
                </a:r>
                <a:r>
                  <a:rPr lang="zh-CN" altLang="en-US" sz="1400" dirty="0"/>
                  <a:t> </a:t>
                </a:r>
                <a:r>
                  <a:rPr lang="en-US" altLang="zh-CN" sz="1400" dirty="0"/>
                  <a:t>A</a:t>
                </a:r>
                <a:r>
                  <a:rPr lang="zh-CN" altLang="en-US" sz="1400" dirty="0"/>
                  <a:t>→</a:t>
                </a:r>
                <a:r>
                  <a:rPr lang="en-US" altLang="zh-CN" sz="1400" dirty="0"/>
                  <a:t>C,</a:t>
                </a:r>
                <a:r>
                  <a:rPr lang="zh-CN" altLang="en-US" sz="1400" dirty="0"/>
                  <a:t> </a:t>
                </a:r>
                <a:r>
                  <a:rPr lang="en-US" altLang="zh-CN" sz="1400" dirty="0"/>
                  <a:t>B</a:t>
                </a:r>
                <a:r>
                  <a:rPr lang="zh-CN" altLang="en-US" sz="1400" dirty="0"/>
                  <a:t>→</a:t>
                </a:r>
                <a:r>
                  <a:rPr lang="en-US" altLang="zh-CN" sz="1400" dirty="0"/>
                  <a:t>A}</a:t>
                </a:r>
                <a:r>
                  <a:rPr lang="zh-CN" altLang="en-US" sz="1400" dirty="0"/>
                  <a:t>，</a:t>
                </a:r>
                <a:r>
                  <a:rPr lang="en-US" altLang="zh-CN" sz="1400" dirty="0"/>
                  <a:t> </a:t>
                </a:r>
                <a14:m>
                  <m:oMath xmlns:m="http://schemas.openxmlformats.org/officeDocument/2006/math">
                    <m:sSubSup>
                      <m:sSubSupPr>
                        <m:ctrlPr>
                          <a:rPr lang="en-US" altLang="zh-CN" sz="1400" i="1">
                            <a:latin typeface="Cambria Math" panose="02040503050406030204" pitchFamily="18" charset="0"/>
                          </a:rPr>
                        </m:ctrlPr>
                      </m:sSubSupPr>
                      <m:e>
                        <m:r>
                          <a:rPr lang="en-US" altLang="zh-CN" sz="1400" b="0" i="1" smtClean="0">
                            <a:latin typeface="Cambria Math" panose="02040503050406030204" pitchFamily="18" charset="0"/>
                          </a:rPr>
                          <m:t>𝐶</m:t>
                        </m:r>
                      </m:e>
                      <m:sub>
                        <m:sSub>
                          <m:sSubPr>
                            <m:ctrlPr>
                              <a:rPr lang="en-US" altLang="zh-CN" sz="1400" i="1">
                                <a:latin typeface="Cambria Math" panose="02040503050406030204" pitchFamily="18" charset="0"/>
                              </a:rPr>
                            </m:ctrlPr>
                          </m:sSubPr>
                          <m:e>
                            <m:r>
                              <a:rPr lang="en-US" altLang="zh-CN" sz="1400" b="0" i="1" smtClean="0">
                                <a:latin typeface="Cambria Math" panose="02040503050406030204" pitchFamily="18" charset="0"/>
                              </a:rPr>
                              <m:t>𝐺</m:t>
                            </m:r>
                          </m:e>
                          <m:sub>
                            <m:r>
                              <a:rPr lang="en-US" altLang="zh-CN" sz="1400" b="0" i="1" smtClean="0">
                                <a:latin typeface="Cambria Math" panose="02040503050406030204" pitchFamily="18" charset="0"/>
                              </a:rPr>
                              <m:t>2</m:t>
                            </m:r>
                          </m:sub>
                        </m:sSub>
                      </m:sub>
                      <m:sup>
                        <m:r>
                          <a:rPr lang="en-US" altLang="zh-CN" sz="1400" i="1">
                            <a:latin typeface="Cambria Math" panose="02040503050406030204" pitchFamily="18" charset="0"/>
                          </a:rPr>
                          <m:t>+</m:t>
                        </m:r>
                      </m:sup>
                    </m:sSubSup>
                    <m:r>
                      <a:rPr lang="en-US" altLang="zh-CN" sz="1400" i="1">
                        <a:latin typeface="Cambria Math" panose="02040503050406030204" pitchFamily="18" charset="0"/>
                      </a:rPr>
                      <m:t> </m:t>
                    </m:r>
                  </m:oMath>
                </a14:m>
                <a:r>
                  <a:rPr lang="en-US" altLang="zh-CN" sz="1400" dirty="0"/>
                  <a:t>=CBA</a:t>
                </a:r>
                <a:r>
                  <a:rPr lang="zh-CN" altLang="en-US" sz="1400" dirty="0"/>
                  <a:t>，所以</a:t>
                </a:r>
                <a:r>
                  <a:rPr lang="en-US" altLang="zh-CN" sz="1400" dirty="0"/>
                  <a:t>C</a:t>
                </a:r>
                <a:r>
                  <a:rPr lang="zh-CN" altLang="en-US" sz="1400" dirty="0"/>
                  <a:t>→</a:t>
                </a:r>
                <a:r>
                  <a:rPr lang="en-US" altLang="zh-CN" sz="1400" dirty="0"/>
                  <a:t>A</a:t>
                </a:r>
                <a:r>
                  <a:rPr lang="zh-CN" altLang="en-US" sz="1400" dirty="0"/>
                  <a:t>多余。</a:t>
                </a:r>
                <a:endParaRPr lang="en-US" altLang="zh-CN" sz="1400" dirty="0"/>
              </a:p>
              <a:p>
                <a:pPr marL="0" indent="0">
                  <a:buNone/>
                </a:pPr>
                <a:r>
                  <a:rPr lang="en-US" altLang="zh-CN" sz="1400" dirty="0"/>
                  <a:t>③</a:t>
                </a:r>
                <a:r>
                  <a:rPr lang="zh-CN" altLang="en-US" sz="1400" dirty="0"/>
                  <a:t>判断</a:t>
                </a:r>
                <a:r>
                  <a:rPr lang="en-US" altLang="zh-CN" sz="1400" dirty="0"/>
                  <a:t>C</a:t>
                </a:r>
                <a:r>
                  <a:rPr lang="zh-CN" altLang="en-US" sz="1400" dirty="0"/>
                  <a:t>→</a:t>
                </a:r>
                <a:r>
                  <a:rPr lang="en-US" altLang="zh-CN" sz="1400" dirty="0"/>
                  <a:t>B</a:t>
                </a:r>
                <a:r>
                  <a:rPr lang="zh-CN" altLang="en-US" sz="1400" dirty="0"/>
                  <a:t>，在</a:t>
                </a:r>
                <a:r>
                  <a:rPr lang="en-US" altLang="zh-CN" sz="1400" dirty="0"/>
                  <a:t>G</a:t>
                </a:r>
                <a:r>
                  <a:rPr lang="en-US" altLang="zh-CN" sz="1400" baseline="-25000" dirty="0"/>
                  <a:t>2</a:t>
                </a:r>
                <a:r>
                  <a:rPr lang="zh-CN" altLang="en-US" sz="1400" dirty="0"/>
                  <a:t>中去掉它，得到</a:t>
                </a:r>
                <a:r>
                  <a:rPr lang="en-US" altLang="zh-CN" sz="1400" dirty="0"/>
                  <a:t>G</a:t>
                </a:r>
                <a:r>
                  <a:rPr lang="en-US" altLang="zh-CN" sz="1400" baseline="-25000" dirty="0"/>
                  <a:t>3</a:t>
                </a:r>
                <a:r>
                  <a:rPr lang="en-US" altLang="zh-CN" sz="1400" dirty="0"/>
                  <a:t>={A</a:t>
                </a:r>
                <a:r>
                  <a:rPr lang="zh-CN" altLang="en-US" sz="1400" dirty="0"/>
                  <a:t> →</a:t>
                </a:r>
                <a:r>
                  <a:rPr lang="en-US" altLang="zh-CN" sz="1400" dirty="0"/>
                  <a:t>B,</a:t>
                </a:r>
                <a:r>
                  <a:rPr lang="zh-CN" altLang="en-US" sz="1400" dirty="0"/>
                  <a:t> </a:t>
                </a:r>
                <a:r>
                  <a:rPr lang="en-US" altLang="zh-CN" sz="1400" dirty="0"/>
                  <a:t>A</a:t>
                </a:r>
                <a:r>
                  <a:rPr lang="zh-CN" altLang="en-US" sz="1400" dirty="0"/>
                  <a:t> →</a:t>
                </a:r>
                <a:r>
                  <a:rPr lang="en-US" altLang="zh-CN" sz="1400" dirty="0"/>
                  <a:t>C,</a:t>
                </a:r>
                <a:r>
                  <a:rPr lang="zh-CN" altLang="en-US" sz="1400" dirty="0"/>
                  <a:t> </a:t>
                </a:r>
                <a:r>
                  <a:rPr lang="en-US" altLang="zh-CN" sz="1400" dirty="0"/>
                  <a:t>B</a:t>
                </a:r>
                <a:r>
                  <a:rPr lang="zh-CN" altLang="en-US" sz="1400" dirty="0"/>
                  <a:t> →</a:t>
                </a:r>
                <a:r>
                  <a:rPr lang="en-US" altLang="zh-CN" sz="1400" dirty="0"/>
                  <a:t>A},</a:t>
                </a:r>
                <a:r>
                  <a:rPr lang="zh-CN" altLang="en-US" sz="1400" dirty="0"/>
                  <a:t> </a:t>
                </a:r>
                <a14:m>
                  <m:oMath xmlns:m="http://schemas.openxmlformats.org/officeDocument/2006/math">
                    <m:sSubSup>
                      <m:sSubSupPr>
                        <m:ctrlPr>
                          <a:rPr lang="en-US" altLang="zh-CN" sz="1400" i="1">
                            <a:latin typeface="Cambria Math" panose="02040503050406030204" pitchFamily="18" charset="0"/>
                          </a:rPr>
                        </m:ctrlPr>
                      </m:sSubSupPr>
                      <m:e>
                        <m:r>
                          <a:rPr lang="en-US" altLang="zh-CN" sz="1400" i="1">
                            <a:latin typeface="Cambria Math" panose="02040503050406030204" pitchFamily="18" charset="0"/>
                          </a:rPr>
                          <m:t>𝐶</m:t>
                        </m:r>
                      </m:e>
                      <m:sub>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𝐺</m:t>
                            </m:r>
                          </m:e>
                          <m:sub>
                            <m:r>
                              <a:rPr lang="en-US" altLang="zh-CN" sz="1400" b="0" i="1" smtClean="0">
                                <a:latin typeface="Cambria Math" panose="02040503050406030204" pitchFamily="18" charset="0"/>
                              </a:rPr>
                              <m:t>3</m:t>
                            </m:r>
                          </m:sub>
                        </m:sSub>
                      </m:sub>
                      <m:sup>
                        <m:r>
                          <a:rPr lang="en-US" altLang="zh-CN" sz="1400" i="1">
                            <a:latin typeface="Cambria Math" panose="02040503050406030204" pitchFamily="18" charset="0"/>
                          </a:rPr>
                          <m:t>+</m:t>
                        </m:r>
                      </m:sup>
                    </m:sSubSup>
                    <m:r>
                      <a:rPr lang="en-US" altLang="zh-CN" sz="1400" i="1">
                        <a:latin typeface="Cambria Math" panose="02040503050406030204" pitchFamily="18" charset="0"/>
                      </a:rPr>
                      <m:t> </m:t>
                    </m:r>
                  </m:oMath>
                </a14:m>
                <a:r>
                  <a:rPr lang="en-US" altLang="zh-CN" sz="1400" dirty="0"/>
                  <a:t>=C</a:t>
                </a:r>
                <a:r>
                  <a:rPr lang="zh-CN" altLang="en-US" sz="1400" dirty="0"/>
                  <a:t>，所以</a:t>
                </a:r>
                <a:r>
                  <a:rPr lang="en-US" altLang="zh-CN" sz="1400" dirty="0"/>
                  <a:t>C</a:t>
                </a:r>
                <a:r>
                  <a:rPr lang="zh-CN" altLang="en-US" sz="1400" dirty="0"/>
                  <a:t>→</a:t>
                </a:r>
                <a:r>
                  <a:rPr lang="en-US" altLang="zh-CN" sz="1400" dirty="0"/>
                  <a:t>B</a:t>
                </a:r>
                <a:r>
                  <a:rPr lang="zh-CN" altLang="en-US" sz="1400" dirty="0"/>
                  <a:t>不多余。</a:t>
                </a:r>
                <a:endParaRPr lang="en-US" altLang="zh-CN" sz="1400" dirty="0"/>
              </a:p>
              <a:p>
                <a:pPr marL="0" indent="0">
                  <a:buNone/>
                </a:pPr>
                <a:r>
                  <a:rPr lang="en-US" altLang="zh-CN" sz="1400" dirty="0"/>
                  <a:t>④</a:t>
                </a:r>
                <a:r>
                  <a:rPr lang="zh-CN" altLang="en-US" sz="1400" dirty="0"/>
                  <a:t>判断</a:t>
                </a:r>
                <a:r>
                  <a:rPr lang="en-US" altLang="zh-CN" sz="1400" dirty="0"/>
                  <a:t>A</a:t>
                </a:r>
                <a:r>
                  <a:rPr lang="zh-CN" altLang="en-US" sz="1400" dirty="0"/>
                  <a:t>→</a:t>
                </a:r>
                <a:r>
                  <a:rPr lang="en-US" altLang="zh-CN" sz="1400" dirty="0"/>
                  <a:t>B</a:t>
                </a:r>
                <a:r>
                  <a:rPr lang="zh-CN" altLang="en-US" sz="1400" dirty="0"/>
                  <a:t>，在</a:t>
                </a:r>
                <a:r>
                  <a:rPr lang="en-US" altLang="zh-CN" sz="1400" dirty="0"/>
                  <a:t>G</a:t>
                </a:r>
                <a:r>
                  <a:rPr lang="en-US" altLang="zh-CN" sz="1400" baseline="-25000" dirty="0"/>
                  <a:t>2</a:t>
                </a:r>
                <a:r>
                  <a:rPr lang="zh-CN" altLang="en-US" sz="1400" dirty="0"/>
                  <a:t>中去掉它，得到</a:t>
                </a:r>
                <a:r>
                  <a:rPr lang="en-US" altLang="zh-CN" sz="1400" dirty="0"/>
                  <a:t>G</a:t>
                </a:r>
                <a:r>
                  <a:rPr lang="en-US" altLang="zh-CN" sz="1400" baseline="-25000" dirty="0"/>
                  <a:t>4</a:t>
                </a:r>
                <a:r>
                  <a:rPr lang="en-US" altLang="zh-CN" sz="1400" dirty="0"/>
                  <a:t>={C</a:t>
                </a:r>
                <a:r>
                  <a:rPr lang="zh-CN" altLang="en-US" sz="1400" dirty="0"/>
                  <a:t>→</a:t>
                </a:r>
                <a:r>
                  <a:rPr lang="en-US" altLang="zh-CN" sz="1400" dirty="0"/>
                  <a:t>B,</a:t>
                </a:r>
                <a:r>
                  <a:rPr lang="zh-CN" altLang="en-US" sz="1400" dirty="0"/>
                  <a:t> </a:t>
                </a:r>
                <a:r>
                  <a:rPr lang="en-US" altLang="zh-CN" sz="1400" dirty="0"/>
                  <a:t>A</a:t>
                </a:r>
                <a:r>
                  <a:rPr lang="zh-CN" altLang="en-US" sz="1400" dirty="0"/>
                  <a:t>→</a:t>
                </a:r>
                <a:r>
                  <a:rPr lang="en-US" altLang="zh-CN" sz="1400" dirty="0"/>
                  <a:t>C,</a:t>
                </a:r>
                <a:r>
                  <a:rPr lang="zh-CN" altLang="en-US" sz="1400" dirty="0"/>
                  <a:t> </a:t>
                </a:r>
                <a:r>
                  <a:rPr lang="en-US" altLang="zh-CN" sz="1400" dirty="0"/>
                  <a:t>B</a:t>
                </a:r>
                <a:r>
                  <a:rPr lang="zh-CN" altLang="en-US" sz="1400" dirty="0"/>
                  <a:t>→</a:t>
                </a:r>
                <a:r>
                  <a:rPr lang="en-US" altLang="zh-CN" sz="1400" dirty="0"/>
                  <a:t>A}</a:t>
                </a:r>
                <a:r>
                  <a:rPr lang="zh-CN" altLang="en-US" sz="1400" dirty="0"/>
                  <a:t>，</a:t>
                </a:r>
                <a:r>
                  <a:rPr lang="en-US" altLang="zh-CN" sz="1400" dirty="0"/>
                  <a:t> </a:t>
                </a:r>
                <a14:m>
                  <m:oMath xmlns:m="http://schemas.openxmlformats.org/officeDocument/2006/math">
                    <m:sSubSup>
                      <m:sSubSupPr>
                        <m:ctrlPr>
                          <a:rPr lang="en-US" altLang="zh-CN" sz="1400" i="1">
                            <a:latin typeface="Cambria Math" panose="02040503050406030204" pitchFamily="18" charset="0"/>
                          </a:rPr>
                        </m:ctrlPr>
                      </m:sSubSupPr>
                      <m:e>
                        <m:r>
                          <a:rPr lang="en-US" altLang="zh-CN" sz="1400" b="0" i="1" smtClean="0">
                            <a:latin typeface="Cambria Math" panose="02040503050406030204" pitchFamily="18" charset="0"/>
                          </a:rPr>
                          <m:t>𝐴</m:t>
                        </m:r>
                      </m:e>
                      <m:sub>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𝐺</m:t>
                            </m:r>
                          </m:e>
                          <m:sub>
                            <m:r>
                              <a:rPr lang="en-US" altLang="zh-CN" sz="1400" b="0" i="1" smtClean="0">
                                <a:latin typeface="Cambria Math" panose="02040503050406030204" pitchFamily="18" charset="0"/>
                              </a:rPr>
                              <m:t>4</m:t>
                            </m:r>
                          </m:sub>
                        </m:sSub>
                      </m:sub>
                      <m:sup>
                        <m:r>
                          <a:rPr lang="en-US" altLang="zh-CN" sz="1400" i="1">
                            <a:latin typeface="Cambria Math" panose="02040503050406030204" pitchFamily="18" charset="0"/>
                          </a:rPr>
                          <m:t>+</m:t>
                        </m:r>
                      </m:sup>
                    </m:sSubSup>
                    <m:r>
                      <a:rPr lang="en-US" altLang="zh-CN" sz="1400" i="1">
                        <a:latin typeface="Cambria Math" panose="02040503050406030204" pitchFamily="18" charset="0"/>
                      </a:rPr>
                      <m:t> </m:t>
                    </m:r>
                  </m:oMath>
                </a14:m>
                <a:r>
                  <a:rPr lang="en-US" altLang="zh-CN" sz="1400" dirty="0"/>
                  <a:t>=ACB</a:t>
                </a:r>
                <a:r>
                  <a:rPr lang="zh-CN" altLang="en-US" sz="1400" dirty="0"/>
                  <a:t>，</a:t>
                </a:r>
                <a:r>
                  <a:rPr lang="en-US" altLang="zh-CN" sz="1400" dirty="0"/>
                  <a:t>A</a:t>
                </a:r>
                <a:r>
                  <a:rPr lang="zh-CN" altLang="en-US" sz="1400" dirty="0"/>
                  <a:t>→</a:t>
                </a:r>
                <a:r>
                  <a:rPr lang="en-US" altLang="zh-CN" sz="1400" dirty="0"/>
                  <a:t>B</a:t>
                </a:r>
                <a:r>
                  <a:rPr lang="zh-CN" altLang="en-US" sz="1400" dirty="0"/>
                  <a:t>多余。</a:t>
                </a:r>
                <a:endParaRPr lang="en-US" altLang="zh-CN" sz="1400" dirty="0"/>
              </a:p>
              <a:p>
                <a:pPr marL="0" indent="0">
                  <a:buNone/>
                </a:pPr>
                <a:r>
                  <a:rPr lang="en-US" altLang="zh-CN" sz="1400" dirty="0"/>
                  <a:t>⑤</a:t>
                </a:r>
                <a:r>
                  <a:rPr lang="zh-CN" altLang="en-US" sz="1400" dirty="0"/>
                  <a:t>类似得到</a:t>
                </a:r>
                <a:r>
                  <a:rPr lang="en-US" altLang="zh-CN" sz="1400" dirty="0"/>
                  <a:t>A</a:t>
                </a:r>
                <a:r>
                  <a:rPr lang="zh-CN" altLang="en-US" sz="1400" dirty="0"/>
                  <a:t>→</a:t>
                </a:r>
                <a:r>
                  <a:rPr lang="en-US" altLang="zh-CN" sz="1400" dirty="0"/>
                  <a:t>C</a:t>
                </a:r>
                <a:r>
                  <a:rPr lang="zh-CN" altLang="en-US" sz="1400" dirty="0"/>
                  <a:t>不多余，</a:t>
                </a:r>
                <a:r>
                  <a:rPr lang="en-US" altLang="zh-CN" sz="1400" dirty="0"/>
                  <a:t>B</a:t>
                </a:r>
                <a:r>
                  <a:rPr lang="zh-CN" altLang="en-US" sz="1400" dirty="0"/>
                  <a:t>→</a:t>
                </a:r>
                <a:r>
                  <a:rPr lang="en-US" altLang="zh-CN" sz="1400" dirty="0"/>
                  <a:t>A</a:t>
                </a:r>
                <a:r>
                  <a:rPr lang="zh-CN" altLang="en-US" sz="1400" dirty="0"/>
                  <a:t>不多余</a:t>
                </a:r>
                <a:endParaRPr lang="en-US" altLang="zh-CN" sz="1400" dirty="0"/>
              </a:p>
              <a:p>
                <a:pPr marL="0" indent="0">
                  <a:buNone/>
                </a:pPr>
                <a:endParaRPr lang="en-US" altLang="zh-CN" sz="1400" dirty="0"/>
              </a:p>
              <a:p>
                <a:pPr marL="0" indent="0">
                  <a:buNone/>
                </a:pPr>
                <a:r>
                  <a:rPr lang="zh-CN" altLang="en-US" sz="1400" dirty="0"/>
                  <a:t>最后得到与</a:t>
                </a:r>
                <a:r>
                  <a:rPr lang="en-US" altLang="zh-CN" sz="1400" dirty="0"/>
                  <a:t>F</a:t>
                </a:r>
                <a:r>
                  <a:rPr lang="zh-CN" altLang="en-US" sz="1400" dirty="0"/>
                  <a:t>等价的最小函数依赖集</a:t>
                </a:r>
                <a:r>
                  <a:rPr lang="en-US" altLang="zh-CN" sz="1400" dirty="0">
                    <a:solidFill>
                      <a:srgbClr val="FF0000"/>
                    </a:solidFill>
                  </a:rPr>
                  <a:t>F</a:t>
                </a:r>
                <a:r>
                  <a:rPr lang="en-US" altLang="zh-CN" sz="1400" baseline="-25000" dirty="0">
                    <a:solidFill>
                      <a:srgbClr val="FF0000"/>
                    </a:solidFill>
                  </a:rPr>
                  <a:t>m</a:t>
                </a:r>
                <a:r>
                  <a:rPr lang="en-US" altLang="zh-CN" sz="1400" dirty="0">
                    <a:solidFill>
                      <a:srgbClr val="FF0000"/>
                    </a:solidFill>
                  </a:rPr>
                  <a:t>={C→B,</a:t>
                </a:r>
                <a:r>
                  <a:rPr lang="zh-CN" altLang="en-US" sz="1400" dirty="0">
                    <a:solidFill>
                      <a:srgbClr val="FF0000"/>
                    </a:solidFill>
                  </a:rPr>
                  <a:t> </a:t>
                </a:r>
                <a:r>
                  <a:rPr lang="en-US" altLang="zh-CN" sz="1400" dirty="0">
                    <a:solidFill>
                      <a:srgbClr val="FF0000"/>
                    </a:solidFill>
                  </a:rPr>
                  <a:t>A→C,</a:t>
                </a:r>
                <a:r>
                  <a:rPr lang="zh-CN" altLang="en-US" sz="1400" dirty="0">
                    <a:solidFill>
                      <a:srgbClr val="FF0000"/>
                    </a:solidFill>
                  </a:rPr>
                  <a:t> </a:t>
                </a:r>
                <a:r>
                  <a:rPr lang="en-US" altLang="zh-CN" sz="1400" dirty="0">
                    <a:solidFill>
                      <a:srgbClr val="FF0000"/>
                    </a:solidFill>
                  </a:rPr>
                  <a:t>B→A}</a:t>
                </a:r>
                <a:endParaRPr lang="zh-CN" altLang="en-US" sz="1400" dirty="0"/>
              </a:p>
            </p:txBody>
          </p:sp>
        </mc:Choice>
        <mc:Fallback xmlns="">
          <p:sp>
            <p:nvSpPr>
              <p:cNvPr id="79874" name="Rectangle 3"/>
              <p:cNvSpPr>
                <a:spLocks noGrp="1" noRot="1" noChangeAspect="1" noMove="1" noResize="1" noEditPoints="1" noAdjustHandles="1" noChangeArrowheads="1" noChangeShapeType="1" noTextEdit="1"/>
              </p:cNvSpPr>
              <p:nvPr>
                <p:ph idx="1"/>
              </p:nvPr>
            </p:nvSpPr>
            <p:spPr>
              <a:xfrm>
                <a:off x="303186" y="1255382"/>
                <a:ext cx="8678082" cy="3618835"/>
              </a:xfrm>
              <a:blipFill>
                <a:blip r:embed="rId2"/>
                <a:stretch>
                  <a:fillRect l="-585" t="-1399"/>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0F99BD35-317E-C34A-A1B1-9E8360EAF1FA}"/>
              </a:ext>
            </a:extLst>
          </p:cNvPr>
          <p:cNvSpPr>
            <a:spLocks noGrp="1"/>
          </p:cNvSpPr>
          <p:nvPr>
            <p:ph type="title"/>
          </p:nvPr>
        </p:nvSpPr>
        <p:spPr/>
        <p:txBody>
          <a:bodyPr/>
          <a:lstStyle/>
          <a:p>
            <a:r>
              <a:rPr lang="zh-CN" altLang="en-US" dirty="0"/>
              <a:t>最小函数依赖集计算例子</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7840F-E8F3-AE62-2BA0-A07094E759F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340EDB3-B849-A762-D3D5-450FCE04D241}"/>
              </a:ext>
            </a:extLst>
          </p:cNvPr>
          <p:cNvSpPr txBox="1"/>
          <p:nvPr/>
        </p:nvSpPr>
        <p:spPr>
          <a:xfrm>
            <a:off x="1006545" y="2781596"/>
            <a:ext cx="7458075" cy="642035"/>
          </a:xfrm>
          <a:prstGeom prst="rect">
            <a:avLst/>
          </a:prstGeom>
          <a:noFill/>
          <a:ln/>
        </p:spPr>
        <p:txBody>
          <a:bodyPr wrap="square" lIns="0" tIns="0" rIns="0" bIns="0" rtlCol="0" anchor="t">
            <a:spAutoFit/>
          </a:bodyPr>
          <a:lstStyle/>
          <a:p>
            <a:pPr marL="0" indent="0" algn="l">
              <a:lnSpc>
                <a:spcPct val="96000"/>
              </a:lnSpc>
              <a:buNone/>
            </a:pP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分解算法</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7487E227-BFE4-4E66-2D6E-A24BC9D81191}"/>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CDAA29D1-1DA2-1B61-E88F-107E8E4A7A44}"/>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E6863DE3-AF37-327F-7560-93DFBC0C09B3}"/>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2DF98313-B697-B326-ADFA-AFD1EEBAB9F0}"/>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3C2A6FCC-BF16-0229-040D-71DA8E6F9DDE}"/>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BE1DB27F-E620-EB17-9F33-E58AF882C163}"/>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0B8D6270-98DA-1E40-ED5D-0316F6A12DF2}"/>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7B7B77AA-F080-D425-41E3-C29B70A39B7C}"/>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2E1C2B86-FA01-D666-D4A2-C536F5830F18}"/>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8CCB6021-701A-53F6-20DC-39B34603F843}"/>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DC61E705-B1BC-E8B5-C84E-EF0D67D6C480}"/>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651C2CAC-C54D-DAB9-DEE5-9A00CC140E93}"/>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1746C622-564E-0914-3217-9AF4EEC46EAD}"/>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6C1601DF-705F-223F-9803-AD912DD1192A}"/>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0126D15C-B4A5-9F76-6045-A72A189118A2}"/>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a:t>
            </a:r>
            <a:r>
              <a:rPr lang="en-US" altLang="zh-CN" sz="5250" b="1" dirty="0">
                <a:solidFill>
                  <a:srgbClr val="FD5220"/>
                </a:solidFill>
                <a:latin typeface="Microsoft YaHei" panose="020B0503020204020204" pitchFamily="34" charset="-122"/>
                <a:ea typeface="Microsoft YaHei" panose="020B0503020204020204" pitchFamily="34" charset="-122"/>
                <a:cs typeface="SourceHanSansSC-Regular"/>
              </a:rPr>
              <a:t>3</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6056743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noChangeArrowheads="1"/>
          </p:cNvSpPr>
          <p:nvPr>
            <p:custDataLst>
              <p:tags r:id="rId1"/>
            </p:custDataLst>
          </p:nvPr>
        </p:nvSpPr>
        <p:spPr>
          <a:xfrm>
            <a:off x="407193" y="1430308"/>
            <a:ext cx="8329613" cy="2931392"/>
          </a:xfrm>
          <a:prstGeom prst="rect">
            <a:avLst/>
          </a:prstGeom>
          <a:noFill/>
          <a:ln w="9525">
            <a:noFill/>
          </a:ln>
        </p:spPr>
        <p:txBody>
          <a:bodyPr vert="horz" wrap="square" lIns="68580" tIns="34290" rIns="68580" bIns="3429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marL="0" indent="0" defTabSz="685800" eaLnBrk="1" hangingPunct="1">
              <a:lnSpc>
                <a:spcPct val="120000"/>
              </a:lnSpc>
              <a:defRPr/>
            </a:pPr>
            <a:r>
              <a:rPr lang="zh-CN" altLang="en-US" sz="2000" kern="0" dirty="0">
                <a:latin typeface="Microsoft YaHei" panose="020B0503020204020204" pitchFamily="34" charset="-122"/>
                <a:ea typeface="Microsoft YaHei" panose="020B0503020204020204" pitchFamily="34" charset="-122"/>
              </a:rPr>
              <a:t> </a:t>
            </a:r>
            <a:r>
              <a:rPr lang="zh-CN" altLang="en-US" sz="2000" kern="0" dirty="0">
                <a:latin typeface="Microsoft YaHei" panose="020B0503020204020204" pitchFamily="34" charset="-122"/>
                <a:ea typeface="Microsoft YaHei" panose="020B0503020204020204" pitchFamily="34" charset="-122"/>
                <a:cs typeface="楷体" panose="02010609060101010101" pitchFamily="49" charset="-122"/>
              </a:rPr>
              <a:t>对于存在数据冗余、插入异常、删除异常的关系模式，可以通过对关系模式的分解来解决问题。关系模式分解后会带来两个问题：</a:t>
            </a:r>
            <a:endParaRPr lang="en-US" altLang="zh-CN" sz="2000" kern="0" dirty="0">
              <a:latin typeface="Microsoft YaHei" panose="020B0503020204020204" pitchFamily="34" charset="-122"/>
              <a:ea typeface="Microsoft YaHei" panose="020B0503020204020204" pitchFamily="34" charset="-122"/>
              <a:cs typeface="楷体" panose="02010609060101010101" pitchFamily="49" charset="-122"/>
            </a:endParaRPr>
          </a:p>
          <a:p>
            <a:pPr marL="0" indent="0" defTabSz="685800" eaLnBrk="1" hangingPunct="1">
              <a:lnSpc>
                <a:spcPct val="120000"/>
              </a:lnSpc>
              <a:defRPr/>
            </a:pPr>
            <a:endParaRPr lang="zh-CN" altLang="en-US" sz="2000" kern="0" dirty="0">
              <a:latin typeface="Microsoft YaHei" panose="020B0503020204020204" pitchFamily="34" charset="-122"/>
              <a:ea typeface="Microsoft YaHei" panose="020B0503020204020204" pitchFamily="34" charset="-122"/>
              <a:cs typeface="楷体" panose="02010609060101010101" pitchFamily="49" charset="-122"/>
            </a:endParaRPr>
          </a:p>
          <a:p>
            <a:pPr marL="0" indent="0" defTabSz="685800" eaLnBrk="1" hangingPunct="1">
              <a:lnSpc>
                <a:spcPct val="120000"/>
              </a:lnSpc>
              <a:buNone/>
              <a:defRPr/>
            </a:pPr>
            <a:r>
              <a:rPr lang="zh-CN" altLang="en-US" sz="2000" kern="0" dirty="0">
                <a:latin typeface="Microsoft YaHei" panose="020B0503020204020204" pitchFamily="34" charset="-122"/>
                <a:ea typeface="Microsoft YaHei" panose="020B0503020204020204" pitchFamily="34" charset="-122"/>
                <a:cs typeface="楷体" panose="02010609060101010101" pitchFamily="49" charset="-122"/>
              </a:rPr>
              <a:t>（</a:t>
            </a:r>
            <a:r>
              <a:rPr lang="en-US" altLang="zh-CN" sz="2000" kern="0" dirty="0">
                <a:latin typeface="Microsoft YaHei" panose="020B0503020204020204" pitchFamily="34" charset="-122"/>
                <a:ea typeface="Microsoft YaHei" panose="020B0503020204020204" pitchFamily="34" charset="-122"/>
                <a:cs typeface="楷体" panose="02010609060101010101" pitchFamily="49" charset="-122"/>
              </a:rPr>
              <a:t>1</a:t>
            </a:r>
            <a:r>
              <a:rPr lang="zh-CN" altLang="en-US" sz="2000" kern="0" dirty="0">
                <a:latin typeface="Microsoft YaHei" panose="020B0503020204020204" pitchFamily="34" charset="-122"/>
                <a:ea typeface="Microsoft YaHei" panose="020B0503020204020204" pitchFamily="34" charset="-122"/>
                <a:cs typeface="楷体" panose="02010609060101010101" pitchFamily="49" charset="-122"/>
              </a:rPr>
              <a:t>）查询时的连接操作是否会丢失某些信息或多出某些信息。这引出了</a:t>
            </a:r>
            <a:r>
              <a:rPr lang="zh-CN" altLang="en-US" sz="2000" b="1" kern="0" dirty="0">
                <a:solidFill>
                  <a:srgbClr val="C00000"/>
                </a:solidFill>
                <a:latin typeface="Microsoft YaHei" panose="020B0503020204020204" pitchFamily="34" charset="-122"/>
                <a:ea typeface="Microsoft YaHei" panose="020B0503020204020204" pitchFamily="34" charset="-122"/>
                <a:cs typeface="楷体" panose="02010609060101010101" pitchFamily="49" charset="-122"/>
              </a:rPr>
              <a:t>无损连接</a:t>
            </a:r>
            <a:r>
              <a:rPr lang="zh-CN" altLang="en-US" sz="2000" kern="0" dirty="0">
                <a:latin typeface="Microsoft YaHei" panose="020B0503020204020204" pitchFamily="34" charset="-122"/>
                <a:ea typeface="Microsoft YaHei" panose="020B0503020204020204" pitchFamily="34" charset="-122"/>
                <a:cs typeface="楷体" panose="02010609060101010101" pitchFamily="49" charset="-122"/>
              </a:rPr>
              <a:t>的概念。</a:t>
            </a:r>
            <a:endParaRPr lang="en-US" altLang="zh-CN" sz="2000" kern="0" dirty="0">
              <a:latin typeface="Microsoft YaHei" panose="020B0503020204020204" pitchFamily="34" charset="-122"/>
              <a:ea typeface="Microsoft YaHei" panose="020B0503020204020204" pitchFamily="34" charset="-122"/>
              <a:cs typeface="楷体" panose="02010609060101010101" pitchFamily="49" charset="-122"/>
            </a:endParaRPr>
          </a:p>
          <a:p>
            <a:pPr marL="0" indent="0" defTabSz="685800" eaLnBrk="1" hangingPunct="1">
              <a:lnSpc>
                <a:spcPct val="120000"/>
              </a:lnSpc>
              <a:buNone/>
              <a:defRPr/>
            </a:pPr>
            <a:endParaRPr lang="zh-CN" altLang="en-US" sz="2000" kern="0" dirty="0">
              <a:latin typeface="Microsoft YaHei" panose="020B0503020204020204" pitchFamily="34" charset="-122"/>
              <a:ea typeface="Microsoft YaHei" panose="020B0503020204020204" pitchFamily="34" charset="-122"/>
              <a:cs typeface="楷体" panose="02010609060101010101" pitchFamily="49" charset="-122"/>
            </a:endParaRPr>
          </a:p>
          <a:p>
            <a:pPr marL="0" indent="0" defTabSz="685800" eaLnBrk="1" hangingPunct="1">
              <a:lnSpc>
                <a:spcPct val="120000"/>
              </a:lnSpc>
              <a:buNone/>
              <a:defRPr/>
            </a:pPr>
            <a:r>
              <a:rPr lang="zh-CN" altLang="en-US" sz="2000" kern="0" dirty="0">
                <a:latin typeface="Microsoft YaHei" panose="020B0503020204020204" pitchFamily="34" charset="-122"/>
                <a:ea typeface="Microsoft YaHei" panose="020B0503020204020204" pitchFamily="34" charset="-122"/>
                <a:cs typeface="楷体" panose="02010609060101010101" pitchFamily="49" charset="-122"/>
              </a:rPr>
              <a:t>（</a:t>
            </a:r>
            <a:r>
              <a:rPr lang="en-US" altLang="zh-CN" sz="2000" kern="0" dirty="0">
                <a:latin typeface="Microsoft YaHei" panose="020B0503020204020204" pitchFamily="34" charset="-122"/>
                <a:ea typeface="Microsoft YaHei" panose="020B0503020204020204" pitchFamily="34" charset="-122"/>
                <a:cs typeface="楷体" panose="02010609060101010101" pitchFamily="49" charset="-122"/>
              </a:rPr>
              <a:t>2</a:t>
            </a:r>
            <a:r>
              <a:rPr lang="zh-CN" altLang="en-US" sz="2000" kern="0" dirty="0">
                <a:latin typeface="Microsoft YaHei" panose="020B0503020204020204" pitchFamily="34" charset="-122"/>
                <a:ea typeface="Microsoft YaHei" panose="020B0503020204020204" pitchFamily="34" charset="-122"/>
                <a:cs typeface="楷体" panose="02010609060101010101" pitchFamily="49" charset="-122"/>
              </a:rPr>
              <a:t>）分解后的关系模式是否保持了原来的函数依赖。这是</a:t>
            </a:r>
            <a:r>
              <a:rPr lang="zh-CN" altLang="en-US" sz="2000" b="1" kern="0" dirty="0">
                <a:solidFill>
                  <a:srgbClr val="C00000"/>
                </a:solidFill>
                <a:latin typeface="Microsoft YaHei" panose="020B0503020204020204" pitchFamily="34" charset="-122"/>
                <a:ea typeface="Microsoft YaHei" panose="020B0503020204020204" pitchFamily="34" charset="-122"/>
                <a:cs typeface="楷体" panose="02010609060101010101" pitchFamily="49" charset="-122"/>
              </a:rPr>
              <a:t>保持函数依赖性</a:t>
            </a:r>
            <a:r>
              <a:rPr lang="zh-CN" altLang="en-US" sz="2000" kern="0" dirty="0">
                <a:latin typeface="Microsoft YaHei" panose="020B0503020204020204" pitchFamily="34" charset="-122"/>
                <a:ea typeface="Microsoft YaHei" panose="020B0503020204020204" pitchFamily="34" charset="-122"/>
                <a:cs typeface="楷体" panose="02010609060101010101" pitchFamily="49" charset="-122"/>
              </a:rPr>
              <a:t>的问题。</a:t>
            </a:r>
          </a:p>
        </p:txBody>
      </p:sp>
      <p:sp>
        <p:nvSpPr>
          <p:cNvPr id="5" name="标题 4">
            <a:extLst>
              <a:ext uri="{FF2B5EF4-FFF2-40B4-BE49-F238E27FC236}">
                <a16:creationId xmlns:a16="http://schemas.microsoft.com/office/drawing/2014/main" id="{A77739DA-79F8-03BA-058D-4B2914DBFC57}"/>
              </a:ext>
            </a:extLst>
          </p:cNvPr>
          <p:cNvSpPr>
            <a:spLocks noGrp="1"/>
          </p:cNvSpPr>
          <p:nvPr>
            <p:ph type="title"/>
          </p:nvPr>
        </p:nvSpPr>
        <p:spPr/>
        <p:txBody>
          <a:bodyPr/>
          <a:lstStyle/>
          <a:p>
            <a:r>
              <a:rPr lang="zh-CN" altLang="en-US" dirty="0"/>
              <a:t>关系模式的分解</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298327" y="1075318"/>
            <a:ext cx="8562814" cy="3659415"/>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marL="0" indent="0" algn="just" eaLnBrk="1" hangingPunct="1">
              <a:buNone/>
            </a:pPr>
            <a:r>
              <a:rPr lang="en-US" altLang="zh-CN" sz="1800" dirty="0">
                <a:solidFill>
                  <a:schemeClr val="folHlink"/>
                </a:solidFill>
                <a:latin typeface="Microsoft YaHei" panose="020B0503020204020204" pitchFamily="34" charset="-122"/>
                <a:ea typeface="Microsoft YaHei" panose="020B0503020204020204" pitchFamily="34" charset="-122"/>
              </a:rPr>
              <a:t>1. </a:t>
            </a:r>
            <a:r>
              <a:rPr lang="zh-CN" altLang="en-US" sz="1800" dirty="0">
                <a:solidFill>
                  <a:schemeClr val="folHlink"/>
                </a:solidFill>
                <a:latin typeface="Microsoft YaHei" panose="020B0503020204020204" pitchFamily="34" charset="-122"/>
                <a:ea typeface="Microsoft YaHei" panose="020B0503020204020204" pitchFamily="34" charset="-122"/>
              </a:rPr>
              <a:t>等价模式分解的定义</a:t>
            </a:r>
          </a:p>
          <a:p>
            <a:pPr marL="0" indent="0" algn="just" eaLnBrk="1" hangingPunct="1">
              <a:buNone/>
            </a:pPr>
            <a:r>
              <a:rPr lang="zh-CN" altLang="en-US" sz="1800" dirty="0">
                <a:solidFill>
                  <a:schemeClr val="folHlink"/>
                </a:solidFill>
                <a:latin typeface="Microsoft YaHei" panose="020B0503020204020204" pitchFamily="34" charset="-122"/>
                <a:ea typeface="Microsoft YaHei" panose="020B0503020204020204" pitchFamily="34" charset="-122"/>
              </a:rPr>
              <a:t>    </a:t>
            </a:r>
            <a:r>
              <a:rPr lang="zh-CN" altLang="en-US" sz="1800" dirty="0">
                <a:latin typeface="Microsoft YaHei" panose="020B0503020204020204" pitchFamily="34" charset="-122"/>
                <a:ea typeface="Microsoft YaHei" panose="020B0503020204020204" pitchFamily="34" charset="-122"/>
              </a:rPr>
              <a:t>一个关系可以有多种分解方法，如何判断分解的好与坏呢？</a:t>
            </a:r>
          </a:p>
          <a:p>
            <a:pPr marL="0" indent="0" algn="just" eaLnBrk="1" hangingPunct="1">
              <a:buNone/>
            </a:pPr>
            <a:r>
              <a:rPr lang="en-US" altLang="zh-CN" sz="1800" dirty="0">
                <a:solidFill>
                  <a:schemeClr val="hlink"/>
                </a:solidFill>
                <a:latin typeface="Microsoft YaHei" panose="020B0503020204020204" pitchFamily="34" charset="-122"/>
                <a:ea typeface="Microsoft YaHei" panose="020B0503020204020204" pitchFamily="34" charset="-122"/>
              </a:rPr>
              <a:t>【</a:t>
            </a:r>
            <a:r>
              <a:rPr lang="zh-CN" altLang="en-US" sz="1800" dirty="0">
                <a:solidFill>
                  <a:schemeClr val="hlink"/>
                </a:solidFill>
                <a:latin typeface="Microsoft YaHei" panose="020B0503020204020204" pitchFamily="34" charset="-122"/>
                <a:ea typeface="Microsoft YaHei" panose="020B0503020204020204" pitchFamily="34" charset="-122"/>
              </a:rPr>
              <a:t>例</a:t>
            </a:r>
            <a:r>
              <a:rPr lang="en-US" altLang="zh-CN" sz="1800" dirty="0">
                <a:solidFill>
                  <a:schemeClr val="hlink"/>
                </a:solidFill>
                <a:latin typeface="Microsoft YaHei" panose="020B0503020204020204" pitchFamily="34" charset="-122"/>
                <a:ea typeface="Microsoft YaHei" panose="020B0503020204020204" pitchFamily="34" charset="-122"/>
              </a:rPr>
              <a:t>】</a:t>
            </a:r>
            <a:r>
              <a:rPr lang="zh-CN" altLang="zh-CN" sz="1800" dirty="0">
                <a:latin typeface="Microsoft YaHei" panose="020B0503020204020204" pitchFamily="34" charset="-122"/>
                <a:ea typeface="Microsoft YaHei" panose="020B0503020204020204" pitchFamily="34" charset="-122"/>
              </a:rPr>
              <a:t>已知一个学生（</a:t>
            </a:r>
            <a:r>
              <a:rPr lang="en-US" altLang="zh-CN" sz="1800" dirty="0">
                <a:latin typeface="Microsoft YaHei" panose="020B0503020204020204" pitchFamily="34" charset="-122"/>
                <a:ea typeface="Microsoft YaHei" panose="020B0503020204020204" pitchFamily="34" charset="-122"/>
              </a:rPr>
              <a:t>SNO</a:t>
            </a:r>
            <a:r>
              <a:rPr lang="zh-CN" altLang="zh-CN" sz="1800" dirty="0">
                <a:latin typeface="Microsoft YaHei" panose="020B0503020204020204" pitchFamily="34" charset="-122"/>
                <a:ea typeface="Microsoft YaHei" panose="020B0503020204020204" pitchFamily="34" charset="-122"/>
              </a:rPr>
              <a:t>）只在一个系（</a:t>
            </a:r>
            <a:r>
              <a:rPr lang="en-US" altLang="zh-CN" sz="1800" dirty="0">
                <a:latin typeface="Microsoft YaHei" panose="020B0503020204020204" pitchFamily="34" charset="-122"/>
                <a:ea typeface="Microsoft YaHei" panose="020B0503020204020204" pitchFamily="34" charset="-122"/>
              </a:rPr>
              <a:t>SD</a:t>
            </a:r>
            <a:r>
              <a:rPr lang="zh-CN" altLang="zh-CN" sz="1800" dirty="0">
                <a:latin typeface="Microsoft YaHei" panose="020B0503020204020204" pitchFamily="34" charset="-122"/>
                <a:ea typeface="Microsoft YaHei" panose="020B0503020204020204" pitchFamily="34" charset="-122"/>
              </a:rPr>
              <a:t>）学习，一个系只有一名系主任（</a:t>
            </a:r>
            <a:r>
              <a:rPr lang="en-US" altLang="zh-CN" sz="1800" dirty="0">
                <a:latin typeface="Microsoft YaHei" panose="020B0503020204020204" pitchFamily="34" charset="-122"/>
                <a:ea typeface="Microsoft YaHei" panose="020B0503020204020204" pitchFamily="34" charset="-122"/>
              </a:rPr>
              <a:t>MN</a:t>
            </a:r>
            <a:r>
              <a:rPr lang="zh-CN" altLang="zh-CN" sz="1800" dirty="0">
                <a:latin typeface="Microsoft YaHei" panose="020B0503020204020204" pitchFamily="34" charset="-122"/>
                <a:ea typeface="Microsoft YaHei" panose="020B0503020204020204" pitchFamily="34" charset="-122"/>
              </a:rPr>
              <a:t>）。</a:t>
            </a:r>
          </a:p>
          <a:p>
            <a:pPr marL="0" indent="0" algn="just" eaLnBrk="1" hangingPunct="1">
              <a:buNone/>
            </a:pPr>
            <a:r>
              <a:rPr lang="en-US" altLang="zh-CN" sz="1800" dirty="0">
                <a:latin typeface="Microsoft YaHei" panose="020B0503020204020204" pitchFamily="34" charset="-122"/>
                <a:ea typeface="Microsoft YaHei" panose="020B0503020204020204" pitchFamily="34" charset="-122"/>
              </a:rPr>
              <a:t>    </a:t>
            </a:r>
            <a:r>
              <a:rPr lang="zh-CN" altLang="en-US" sz="1800" dirty="0">
                <a:latin typeface="Microsoft YaHei" panose="020B0503020204020204" pitchFamily="34" charset="-122"/>
                <a:ea typeface="Microsoft YaHei" panose="020B0503020204020204" pitchFamily="34" charset="-122"/>
              </a:rPr>
              <a:t>关系模式</a:t>
            </a:r>
            <a:r>
              <a:rPr lang="en-US" altLang="zh-CN" sz="1800" dirty="0">
                <a:latin typeface="Microsoft YaHei" panose="020B0503020204020204" pitchFamily="34" charset="-122"/>
                <a:ea typeface="Microsoft YaHei" panose="020B0503020204020204" pitchFamily="34" charset="-122"/>
              </a:rPr>
              <a:t>R</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SNO</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SD</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MN</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F={SNO→SD</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SD→MN}</a:t>
            </a:r>
          </a:p>
          <a:p>
            <a:pPr marL="0" indent="0" algn="just" eaLnBrk="1" hangingPunct="1">
              <a:buNone/>
            </a:pPr>
            <a:endParaRPr lang="zh-CN" altLang="en-US" sz="1800" dirty="0">
              <a:latin typeface="Microsoft YaHei" panose="020B0503020204020204" pitchFamily="34" charset="-122"/>
              <a:ea typeface="Microsoft YaHei" panose="020B0503020204020204" pitchFamily="34" charset="-122"/>
            </a:endParaRPr>
          </a:p>
          <a:p>
            <a:pPr marL="0" indent="0" algn="just" eaLnBrk="1" hangingPunct="1">
              <a:buNone/>
            </a:pPr>
            <a:r>
              <a:rPr lang="zh-CN" altLang="en-US" sz="1800" dirty="0">
                <a:latin typeface="Microsoft YaHei" panose="020B0503020204020204" pitchFamily="34" charset="-122"/>
                <a:ea typeface="Microsoft YaHei" panose="020B0503020204020204" pitchFamily="34" charset="-122"/>
              </a:rPr>
              <a:t>分解一：</a:t>
            </a:r>
            <a:r>
              <a:rPr lang="en-US" altLang="zh-CN" sz="1800" dirty="0">
                <a:latin typeface="Microsoft YaHei" panose="020B0503020204020204" pitchFamily="34" charset="-122"/>
                <a:ea typeface="Microsoft YaHei" panose="020B0503020204020204" pitchFamily="34" charset="-122"/>
              </a:rPr>
              <a:t>ρ</a:t>
            </a:r>
            <a:r>
              <a:rPr lang="en-US" altLang="zh-CN" sz="1800" baseline="-25000" dirty="0">
                <a:latin typeface="Microsoft YaHei" panose="020B0503020204020204" pitchFamily="34" charset="-122"/>
                <a:ea typeface="Microsoft YaHei" panose="020B0503020204020204" pitchFamily="34" charset="-122"/>
              </a:rPr>
              <a:t>1</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1</a:t>
            </a:r>
            <a:r>
              <a:rPr lang="en-US" altLang="zh-CN" sz="1800" dirty="0">
                <a:latin typeface="Microsoft YaHei" panose="020B0503020204020204" pitchFamily="34" charset="-122"/>
                <a:ea typeface="Microsoft YaHei" panose="020B0503020204020204" pitchFamily="34" charset="-122"/>
              </a:rPr>
              <a:t>(SNO)</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2</a:t>
            </a:r>
            <a:r>
              <a:rPr lang="en-US" altLang="zh-CN" sz="1800" dirty="0">
                <a:latin typeface="Microsoft YaHei" panose="020B0503020204020204" pitchFamily="34" charset="-122"/>
                <a:ea typeface="Microsoft YaHei" panose="020B0503020204020204" pitchFamily="34" charset="-122"/>
              </a:rPr>
              <a:t>(SD)</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3</a:t>
            </a:r>
            <a:r>
              <a:rPr lang="en-US" altLang="zh-CN" sz="1800" dirty="0">
                <a:latin typeface="Microsoft YaHei" panose="020B0503020204020204" pitchFamily="34" charset="-122"/>
                <a:ea typeface="Microsoft YaHei" panose="020B0503020204020204" pitchFamily="34" charset="-122"/>
              </a:rPr>
              <a:t>(MN)}</a:t>
            </a:r>
            <a:r>
              <a:rPr lang="en-US" altLang="zh-CN" sz="1800" dirty="0">
                <a:solidFill>
                  <a:schemeClr val="bg2"/>
                </a:solidFill>
                <a:latin typeface="Microsoft YaHei" panose="020B0503020204020204" pitchFamily="34" charset="-122"/>
                <a:ea typeface="Microsoft YaHei" panose="020B0503020204020204" pitchFamily="34" charset="-122"/>
              </a:rPr>
              <a:t> 		</a:t>
            </a:r>
            <a:r>
              <a:rPr lang="zh-CN" altLang="en-US" sz="1800" dirty="0">
                <a:solidFill>
                  <a:schemeClr val="hlink"/>
                </a:solidFill>
                <a:latin typeface="Microsoft YaHei" panose="020B0503020204020204" pitchFamily="34" charset="-122"/>
                <a:ea typeface="Microsoft YaHei" panose="020B0503020204020204" pitchFamily="34" charset="-122"/>
              </a:rPr>
              <a:t>不好！</a:t>
            </a:r>
            <a:r>
              <a:rPr lang="zh-CN" altLang="en-US" sz="1800" dirty="0">
                <a:latin typeface="Microsoft YaHei" panose="020B0503020204020204" pitchFamily="34" charset="-122"/>
                <a:ea typeface="Microsoft YaHei" panose="020B0503020204020204" pitchFamily="34" charset="-122"/>
              </a:rPr>
              <a:t>无法恢复</a:t>
            </a:r>
            <a:r>
              <a:rPr lang="en-US" altLang="zh-CN" sz="1800" dirty="0">
                <a:latin typeface="Microsoft YaHei" panose="020B0503020204020204" pitchFamily="34" charset="-122"/>
                <a:ea typeface="Microsoft YaHei" panose="020B0503020204020204" pitchFamily="34" charset="-122"/>
              </a:rPr>
              <a:t>R</a:t>
            </a:r>
          </a:p>
          <a:p>
            <a:pPr marL="0" indent="0" algn="just" eaLnBrk="1" hangingPunct="1">
              <a:buNone/>
            </a:pPr>
            <a:endParaRPr lang="en-US" altLang="zh-CN" sz="1800" dirty="0">
              <a:latin typeface="Microsoft YaHei" panose="020B0503020204020204" pitchFamily="34" charset="-122"/>
              <a:ea typeface="Microsoft YaHei" panose="020B0503020204020204" pitchFamily="34" charset="-122"/>
            </a:endParaRPr>
          </a:p>
          <a:p>
            <a:pPr marL="0" indent="0" algn="just" eaLnBrk="1" hangingPunct="1">
              <a:buNone/>
            </a:pPr>
            <a:r>
              <a:rPr lang="zh-CN" altLang="en-US" sz="1800" dirty="0">
                <a:latin typeface="Microsoft YaHei" panose="020B0503020204020204" pitchFamily="34" charset="-122"/>
                <a:ea typeface="Microsoft YaHei" panose="020B0503020204020204" pitchFamily="34" charset="-122"/>
              </a:rPr>
              <a:t>分解二：</a:t>
            </a:r>
            <a:r>
              <a:rPr lang="en-US" altLang="zh-CN" sz="1800" dirty="0">
                <a:latin typeface="Microsoft YaHei" panose="020B0503020204020204" pitchFamily="34" charset="-122"/>
                <a:ea typeface="Microsoft YaHei" panose="020B0503020204020204" pitchFamily="34" charset="-122"/>
              </a:rPr>
              <a:t>ρ</a:t>
            </a:r>
            <a:r>
              <a:rPr lang="en-US" altLang="zh-CN" sz="1800" baseline="-25000" dirty="0">
                <a:latin typeface="Microsoft YaHei" panose="020B0503020204020204" pitchFamily="34" charset="-122"/>
                <a:ea typeface="Microsoft YaHei" panose="020B0503020204020204" pitchFamily="34" charset="-122"/>
              </a:rPr>
              <a:t>2</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1</a:t>
            </a:r>
            <a:r>
              <a:rPr lang="en-US" altLang="zh-CN" sz="1800" dirty="0">
                <a:latin typeface="Microsoft YaHei" panose="020B0503020204020204" pitchFamily="34" charset="-122"/>
                <a:ea typeface="Microsoft YaHei" panose="020B0503020204020204" pitchFamily="34" charset="-122"/>
              </a:rPr>
              <a:t>(SNO</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SD)</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2</a:t>
            </a:r>
            <a:r>
              <a:rPr lang="en-US" altLang="zh-CN" sz="1800" dirty="0">
                <a:latin typeface="Microsoft YaHei" panose="020B0503020204020204" pitchFamily="34" charset="-122"/>
                <a:ea typeface="Microsoft YaHei" panose="020B0503020204020204" pitchFamily="34" charset="-122"/>
              </a:rPr>
              <a:t>(SNO</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MN)}</a:t>
            </a:r>
            <a:r>
              <a:rPr lang="en-US" altLang="zh-CN" sz="1800" dirty="0">
                <a:solidFill>
                  <a:schemeClr val="bg2"/>
                </a:solidFill>
                <a:latin typeface="Microsoft YaHei" panose="020B0503020204020204" pitchFamily="34" charset="-122"/>
                <a:ea typeface="Microsoft YaHei" panose="020B0503020204020204" pitchFamily="34" charset="-122"/>
              </a:rPr>
              <a:t> 	</a:t>
            </a:r>
            <a:r>
              <a:rPr lang="zh-CN" altLang="en-US" sz="1800" dirty="0">
                <a:solidFill>
                  <a:schemeClr val="hlink"/>
                </a:solidFill>
                <a:latin typeface="Microsoft YaHei" panose="020B0503020204020204" pitchFamily="34" charset="-122"/>
                <a:ea typeface="Microsoft YaHei" panose="020B0503020204020204" pitchFamily="34" charset="-122"/>
              </a:rPr>
              <a:t>不好！</a:t>
            </a:r>
            <a:r>
              <a:rPr lang="zh-CN" altLang="en-US" sz="1800" dirty="0">
                <a:latin typeface="Microsoft YaHei" panose="020B0503020204020204" pitchFamily="34" charset="-122"/>
                <a:ea typeface="Microsoft YaHei" panose="020B0503020204020204" pitchFamily="34" charset="-122"/>
              </a:rPr>
              <a:t>丢失</a:t>
            </a:r>
            <a:r>
              <a:rPr lang="en-US" altLang="zh-CN" sz="1800" dirty="0">
                <a:latin typeface="Microsoft YaHei" panose="020B0503020204020204" pitchFamily="34" charset="-122"/>
                <a:ea typeface="Microsoft YaHei" panose="020B0503020204020204" pitchFamily="34" charset="-122"/>
              </a:rPr>
              <a:t>SD→MN</a:t>
            </a:r>
          </a:p>
          <a:p>
            <a:pPr marL="0" indent="0" algn="just" eaLnBrk="1" hangingPunct="1">
              <a:buNone/>
            </a:pPr>
            <a:endParaRPr lang="en-US" altLang="zh-CN" sz="1800" dirty="0">
              <a:latin typeface="Microsoft YaHei" panose="020B0503020204020204" pitchFamily="34" charset="-122"/>
              <a:ea typeface="Microsoft YaHei" panose="020B0503020204020204" pitchFamily="34" charset="-122"/>
            </a:endParaRPr>
          </a:p>
          <a:p>
            <a:pPr marL="0" indent="0" algn="just" eaLnBrk="1" hangingPunct="1">
              <a:buNone/>
            </a:pPr>
            <a:r>
              <a:rPr lang="zh-CN" altLang="en-US" sz="1800" dirty="0">
                <a:latin typeface="Microsoft YaHei" panose="020B0503020204020204" pitchFamily="34" charset="-122"/>
                <a:ea typeface="Microsoft YaHei" panose="020B0503020204020204" pitchFamily="34" charset="-122"/>
              </a:rPr>
              <a:t>分解三：</a:t>
            </a:r>
            <a:r>
              <a:rPr lang="en-US" altLang="zh-CN" sz="1800" dirty="0">
                <a:latin typeface="Microsoft YaHei" panose="020B0503020204020204" pitchFamily="34" charset="-122"/>
                <a:ea typeface="Microsoft YaHei" panose="020B0503020204020204" pitchFamily="34" charset="-122"/>
              </a:rPr>
              <a:t>ρ</a:t>
            </a:r>
            <a:r>
              <a:rPr lang="en-US" altLang="zh-CN" sz="1800" baseline="-25000" dirty="0">
                <a:latin typeface="Microsoft YaHei" panose="020B0503020204020204" pitchFamily="34" charset="-122"/>
                <a:ea typeface="Microsoft YaHei" panose="020B0503020204020204" pitchFamily="34" charset="-122"/>
              </a:rPr>
              <a:t>3</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1</a:t>
            </a:r>
            <a:r>
              <a:rPr lang="en-US" altLang="zh-CN" sz="1800" dirty="0">
                <a:latin typeface="Microsoft YaHei" panose="020B0503020204020204" pitchFamily="34" charset="-122"/>
                <a:ea typeface="Microsoft YaHei" panose="020B0503020204020204" pitchFamily="34" charset="-122"/>
              </a:rPr>
              <a:t>(SNO</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SD)</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2</a:t>
            </a:r>
            <a:r>
              <a:rPr lang="en-US" altLang="zh-CN" sz="1800" dirty="0">
                <a:latin typeface="Microsoft YaHei" panose="020B0503020204020204" pitchFamily="34" charset="-122"/>
                <a:ea typeface="Microsoft YaHei" panose="020B0503020204020204" pitchFamily="34" charset="-122"/>
              </a:rPr>
              <a:t>(SD</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MN)}		</a:t>
            </a:r>
            <a:r>
              <a:rPr lang="zh-CN" altLang="en-US" sz="1800" b="1" dirty="0">
                <a:solidFill>
                  <a:srgbClr val="C00000"/>
                </a:solidFill>
                <a:latin typeface="Microsoft YaHei" panose="020B0503020204020204" pitchFamily="34" charset="-122"/>
                <a:ea typeface="Microsoft YaHei" panose="020B0503020204020204" pitchFamily="34" charset="-122"/>
              </a:rPr>
              <a:t>好！</a:t>
            </a:r>
            <a:endParaRPr lang="zh-CN" altLang="en-US" sz="2400" b="1" dirty="0">
              <a:solidFill>
                <a:srgbClr val="C00000"/>
              </a:solidFill>
              <a:latin typeface="Microsoft YaHei" panose="020B0503020204020204" pitchFamily="34" charset="-122"/>
              <a:ea typeface="Microsoft YaHei" panose="020B0503020204020204" pitchFamily="34" charset="-122"/>
            </a:endParaRPr>
          </a:p>
        </p:txBody>
      </p:sp>
      <p:sp>
        <p:nvSpPr>
          <p:cNvPr id="5" name="标题 4">
            <a:extLst>
              <a:ext uri="{FF2B5EF4-FFF2-40B4-BE49-F238E27FC236}">
                <a16:creationId xmlns:a16="http://schemas.microsoft.com/office/drawing/2014/main" id="{065A6880-A291-FCC1-60D8-5B589F447266}"/>
              </a:ext>
            </a:extLst>
          </p:cNvPr>
          <p:cNvSpPr>
            <a:spLocks noGrp="1"/>
          </p:cNvSpPr>
          <p:nvPr>
            <p:ph type="title"/>
          </p:nvPr>
        </p:nvSpPr>
        <p:spPr/>
        <p:txBody>
          <a:bodyPr/>
          <a:lstStyle/>
          <a:p>
            <a:r>
              <a:rPr lang="zh-CN" altLang="en-US" dirty="0"/>
              <a:t>关系模式的分解</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3"/>
          <p:cNvSpPr>
            <a:spLocks noGrp="1"/>
          </p:cNvSpPr>
          <p:nvPr>
            <p:ph idx="1"/>
          </p:nvPr>
        </p:nvSpPr>
        <p:spPr/>
        <p:txBody>
          <a:bodyPr vert="horz" wrap="square" lIns="68580" tIns="34290" rIns="68580" bIns="34290" rtlCol="0" anchor="t" anchorCtr="0">
            <a:normAutofit/>
          </a:bodyPr>
          <a:lstStyle/>
          <a:p>
            <a:pPr eaLnBrk="1" hangingPunct="1">
              <a:buSzPct val="60000"/>
              <a:buFont typeface="Wingdings" panose="05000000000000000000" pitchFamily="2" charset="2"/>
              <a:buNone/>
            </a:pPr>
            <a:r>
              <a:rPr lang="en-US" altLang="zh-CN" sz="1800" dirty="0">
                <a:solidFill>
                  <a:schemeClr val="folHlink"/>
                </a:solidFill>
              </a:rPr>
              <a:t>2.</a:t>
            </a:r>
            <a:r>
              <a:rPr lang="zh-CN" altLang="en-US" sz="1800" dirty="0">
                <a:solidFill>
                  <a:schemeClr val="folHlink"/>
                </a:solidFill>
              </a:rPr>
              <a:t>无损连接性与依赖保持性</a:t>
            </a:r>
            <a:r>
              <a:rPr lang="zh-CN" altLang="en-US" sz="1800" dirty="0"/>
              <a:t> </a:t>
            </a:r>
          </a:p>
          <a:p>
            <a:pPr eaLnBrk="1" hangingPunct="1">
              <a:buSzPct val="60000"/>
            </a:pPr>
            <a:r>
              <a:rPr lang="zh-CN" altLang="en-US" sz="1800" dirty="0"/>
              <a:t>对于</a:t>
            </a:r>
            <a:r>
              <a:rPr lang="en-US" altLang="zh-CN" sz="1800" dirty="0"/>
              <a:t>R&lt;U</a:t>
            </a:r>
            <a:r>
              <a:rPr lang="zh-CN" altLang="en-US" sz="1800" dirty="0"/>
              <a:t>，</a:t>
            </a:r>
            <a:r>
              <a:rPr lang="en-US" altLang="zh-CN" sz="1800" dirty="0"/>
              <a:t>F&gt;</a:t>
            </a:r>
            <a:r>
              <a:rPr lang="zh-CN" altLang="en-US" sz="1800" dirty="0"/>
              <a:t>中任何一个关系</a:t>
            </a:r>
            <a:r>
              <a:rPr lang="en-US" altLang="zh-CN" sz="1800" dirty="0"/>
              <a:t>r</a:t>
            </a:r>
            <a:r>
              <a:rPr lang="zh-CN" altLang="en-US" sz="1800" dirty="0"/>
              <a:t>，</a:t>
            </a:r>
            <a:r>
              <a:rPr lang="en-US" altLang="zh-CN" sz="1800" dirty="0"/>
              <a:t>R</a:t>
            </a:r>
            <a:r>
              <a:rPr lang="zh-CN" altLang="en-US" sz="1800" dirty="0"/>
              <a:t>分解</a:t>
            </a:r>
            <a:r>
              <a:rPr lang="en-US" altLang="zh-CN" sz="1800" dirty="0"/>
              <a:t>ρ={R</a:t>
            </a:r>
            <a:r>
              <a:rPr lang="en-US" altLang="zh-CN" sz="1800" baseline="-25000" dirty="0"/>
              <a:t>1</a:t>
            </a:r>
            <a:r>
              <a:rPr lang="en-US" altLang="zh-CN" sz="1800" dirty="0"/>
              <a:t>, R</a:t>
            </a:r>
            <a:r>
              <a:rPr lang="en-US" altLang="zh-CN" sz="1800" baseline="-25000" dirty="0"/>
              <a:t>2</a:t>
            </a:r>
            <a:r>
              <a:rPr lang="en-US" altLang="zh-CN" sz="1800" dirty="0"/>
              <a:t>,….,R</a:t>
            </a:r>
            <a:r>
              <a:rPr lang="en-US" altLang="zh-CN" sz="1800" baseline="-25000" dirty="0"/>
              <a:t>K</a:t>
            </a:r>
            <a:r>
              <a:rPr lang="en-US" altLang="zh-CN" sz="1800" dirty="0"/>
              <a:t>}</a:t>
            </a:r>
            <a:r>
              <a:rPr lang="zh-CN" altLang="en-US" sz="1800" dirty="0"/>
              <a:t>具有</a:t>
            </a:r>
            <a:endParaRPr lang="en-US" altLang="zh-CN" sz="1800" dirty="0"/>
          </a:p>
          <a:p>
            <a:pPr eaLnBrk="1" hangingPunct="1">
              <a:buSzPct val="60000"/>
            </a:pPr>
            <a:r>
              <a:rPr lang="zh-CN" altLang="en-US" sz="1800" dirty="0">
                <a:solidFill>
                  <a:schemeClr val="hlink"/>
                </a:solidFill>
              </a:rPr>
              <a:t>无损连接性：</a:t>
            </a:r>
          </a:p>
          <a:p>
            <a:pPr eaLnBrk="1" hangingPunct="1">
              <a:buSzPct val="60000"/>
              <a:buFont typeface="Wingdings" panose="05000000000000000000" pitchFamily="2" charset="2"/>
              <a:buNone/>
            </a:pPr>
            <a:r>
              <a:rPr lang="zh-CN" altLang="en-US" sz="1800" dirty="0"/>
              <a:t>   </a:t>
            </a:r>
            <a:r>
              <a:rPr lang="en-US" altLang="zh-CN" sz="1800" dirty="0"/>
              <a:t>r=Π</a:t>
            </a:r>
            <a:r>
              <a:rPr lang="en-US" altLang="zh-CN" sz="1800" baseline="-25000" dirty="0"/>
              <a:t>R1</a:t>
            </a:r>
            <a:r>
              <a:rPr lang="en-US" altLang="zh-CN" sz="1800" dirty="0"/>
              <a:t>(r) </a:t>
            </a:r>
            <a:r>
              <a:rPr lang="en-US" altLang="zh-CN" sz="1800" dirty="0">
                <a:solidFill>
                  <a:srgbClr val="000000"/>
                </a:solidFill>
              </a:rPr>
              <a:t>⋈</a:t>
            </a:r>
            <a:r>
              <a:rPr lang="en-US" altLang="zh-CN" sz="1800" dirty="0"/>
              <a:t> Π</a:t>
            </a:r>
            <a:r>
              <a:rPr lang="en-US" altLang="zh-CN" sz="1800" baseline="-25000" dirty="0"/>
              <a:t>R2</a:t>
            </a:r>
            <a:r>
              <a:rPr lang="en-US" altLang="zh-CN" sz="1800" dirty="0"/>
              <a:t>(r) </a:t>
            </a:r>
            <a:r>
              <a:rPr lang="en-US" altLang="zh-CN" sz="1800" dirty="0">
                <a:solidFill>
                  <a:srgbClr val="000000"/>
                </a:solidFill>
              </a:rPr>
              <a:t>⋈</a:t>
            </a:r>
            <a:r>
              <a:rPr lang="en-US" altLang="zh-CN" sz="1800" dirty="0"/>
              <a:t> … </a:t>
            </a:r>
            <a:r>
              <a:rPr lang="en-US" altLang="zh-CN" sz="1800" dirty="0">
                <a:solidFill>
                  <a:srgbClr val="000000"/>
                </a:solidFill>
              </a:rPr>
              <a:t>⋈</a:t>
            </a:r>
            <a:r>
              <a:rPr lang="en-US" altLang="zh-CN" sz="1800" dirty="0"/>
              <a:t> Π</a:t>
            </a:r>
            <a:r>
              <a:rPr lang="en-US" altLang="zh-CN" sz="1800" baseline="-25000" dirty="0"/>
              <a:t>RK</a:t>
            </a:r>
            <a:r>
              <a:rPr lang="en-US" altLang="zh-CN" sz="1800" dirty="0"/>
              <a:t>(r) </a:t>
            </a:r>
          </a:p>
          <a:p>
            <a:pPr eaLnBrk="1" hangingPunct="1">
              <a:buSzPct val="60000"/>
            </a:pPr>
            <a:endParaRPr lang="en-US" altLang="zh-CN" sz="1800" dirty="0">
              <a:solidFill>
                <a:schemeClr val="hlink"/>
              </a:solidFill>
            </a:endParaRPr>
          </a:p>
          <a:p>
            <a:pPr eaLnBrk="1" hangingPunct="1">
              <a:buSzPct val="60000"/>
            </a:pPr>
            <a:r>
              <a:rPr lang="zh-CN" altLang="en-US" sz="1800" dirty="0">
                <a:solidFill>
                  <a:schemeClr val="hlink"/>
                </a:solidFill>
              </a:rPr>
              <a:t>保持函数依赖：</a:t>
            </a:r>
          </a:p>
          <a:p>
            <a:pPr eaLnBrk="1" hangingPunct="1">
              <a:buSzPct val="60000"/>
              <a:buFont typeface="Wingdings" panose="05000000000000000000" pitchFamily="2" charset="2"/>
              <a:buNone/>
            </a:pPr>
            <a:r>
              <a:rPr lang="zh-CN" altLang="en-US" sz="1800" dirty="0"/>
              <a:t>   </a:t>
            </a:r>
            <a:r>
              <a:rPr lang="en-US" altLang="zh-CN" sz="1800" dirty="0"/>
              <a:t>F ≡ Π</a:t>
            </a:r>
            <a:r>
              <a:rPr lang="en-US" altLang="zh-CN" sz="1800" baseline="-25000" dirty="0"/>
              <a:t>R1</a:t>
            </a:r>
            <a:r>
              <a:rPr lang="en-US" altLang="zh-CN" sz="1800" dirty="0"/>
              <a:t>(F)∪Π</a:t>
            </a:r>
            <a:r>
              <a:rPr lang="en-US" altLang="zh-CN" sz="1800" baseline="-25000" dirty="0"/>
              <a:t>R2</a:t>
            </a:r>
            <a:r>
              <a:rPr lang="en-US" altLang="zh-CN" sz="1800" dirty="0"/>
              <a:t>(F)∪…</a:t>
            </a:r>
            <a:r>
              <a:rPr lang="en-US" altLang="zh-CN" sz="1800" dirty="0">
                <a:solidFill>
                  <a:schemeClr val="folHlink"/>
                </a:solidFill>
              </a:rPr>
              <a:t> </a:t>
            </a:r>
            <a:r>
              <a:rPr lang="en-US" altLang="zh-CN" sz="1800" dirty="0"/>
              <a:t>Π</a:t>
            </a:r>
            <a:r>
              <a:rPr lang="en-US" altLang="zh-CN" sz="1800" baseline="-25000" dirty="0"/>
              <a:t>RK</a:t>
            </a:r>
            <a:r>
              <a:rPr lang="en-US" altLang="zh-CN" sz="1800" dirty="0"/>
              <a:t>(F)</a:t>
            </a:r>
          </a:p>
          <a:p>
            <a:pPr>
              <a:buSzPct val="60000"/>
              <a:buNone/>
            </a:pPr>
            <a:r>
              <a:rPr lang="en-US" altLang="zh-CN" sz="1800" dirty="0"/>
              <a:t>   </a:t>
            </a:r>
            <a:r>
              <a:rPr lang="en-US" altLang="zh-CN" sz="1800" dirty="0">
                <a:solidFill>
                  <a:schemeClr val="hlink"/>
                </a:solidFill>
              </a:rPr>
              <a:t>Π</a:t>
            </a:r>
            <a:r>
              <a:rPr lang="en-US" altLang="zh-CN" sz="1800" baseline="-25000" dirty="0">
                <a:solidFill>
                  <a:schemeClr val="hlink"/>
                </a:solidFill>
              </a:rPr>
              <a:t>Ri</a:t>
            </a:r>
            <a:r>
              <a:rPr lang="en-US" altLang="zh-CN" sz="1800" dirty="0">
                <a:solidFill>
                  <a:schemeClr val="hlink"/>
                </a:solidFill>
              </a:rPr>
              <a:t>(F)</a:t>
            </a:r>
            <a:r>
              <a:rPr lang="en-US" altLang="zh-CN" sz="1800" dirty="0"/>
              <a:t>={X → Y</a:t>
            </a:r>
            <a:r>
              <a:rPr lang="zh-CN" altLang="en-US" sz="1800" dirty="0"/>
              <a:t> </a:t>
            </a:r>
            <a:r>
              <a:rPr lang="en-US" altLang="zh-CN" sz="1800" dirty="0"/>
              <a:t>|</a:t>
            </a:r>
            <a:r>
              <a:rPr lang="zh-CN" altLang="en-US" sz="1800" dirty="0"/>
              <a:t> </a:t>
            </a:r>
            <a:r>
              <a:rPr lang="en-US" altLang="zh-CN" sz="1800" dirty="0"/>
              <a:t>X → Y∈F</a:t>
            </a:r>
            <a:r>
              <a:rPr lang="en-US" altLang="zh-CN" sz="1800" baseline="30000" dirty="0"/>
              <a:t>+</a:t>
            </a:r>
            <a:r>
              <a:rPr lang="en-US" altLang="zh-CN" sz="1800" dirty="0"/>
              <a:t>∧XY⊆R</a:t>
            </a:r>
            <a:r>
              <a:rPr lang="en-US" altLang="zh-CN" sz="1800" baseline="-25000" dirty="0"/>
              <a:t>i</a:t>
            </a:r>
            <a:r>
              <a:rPr lang="en-US" altLang="zh-CN" sz="1800" dirty="0"/>
              <a:t> }</a:t>
            </a:r>
          </a:p>
          <a:p>
            <a:pPr eaLnBrk="1" hangingPunct="1">
              <a:buSzPct val="60000"/>
            </a:pPr>
            <a:endParaRPr lang="en-US" altLang="zh-CN" sz="1800" dirty="0"/>
          </a:p>
          <a:p>
            <a:pPr eaLnBrk="1" hangingPunct="1">
              <a:buSzPct val="60000"/>
              <a:buFont typeface="Wingdings" panose="05000000000000000000" pitchFamily="2" charset="2"/>
              <a:buNone/>
            </a:pPr>
            <a:endParaRPr lang="en-US" altLang="zh-CN" baseline="30000" dirty="0"/>
          </a:p>
          <a:p>
            <a:pPr eaLnBrk="1" hangingPunct="1">
              <a:buSzPct val="60000"/>
              <a:buFont typeface="Wingdings" panose="05000000000000000000" pitchFamily="2" charset="2"/>
              <a:buNone/>
            </a:pPr>
            <a:endParaRPr lang="zh-CN" altLang="en-US" baseline="30000" dirty="0"/>
          </a:p>
        </p:txBody>
      </p:sp>
      <p:sp>
        <p:nvSpPr>
          <p:cNvPr id="83971" name="Text Box 4"/>
          <p:cNvSpPr txBox="1"/>
          <p:nvPr/>
        </p:nvSpPr>
        <p:spPr>
          <a:xfrm>
            <a:off x="2114550" y="4229100"/>
            <a:ext cx="400050" cy="300082"/>
          </a:xfrm>
          <a:prstGeom prst="rect">
            <a:avLst/>
          </a:prstGeom>
          <a:solidFill>
            <a:schemeClr val="bg1"/>
          </a:solidFill>
          <a:ln w="9525">
            <a:noFill/>
          </a:ln>
        </p:spPr>
        <p:txBody>
          <a:bodyPr anchor="t" anchorCtr="0">
            <a:spAutoFit/>
          </a:bodyPr>
          <a:lstStyle/>
          <a:p>
            <a:pPr>
              <a:spcBef>
                <a:spcPct val="50000"/>
              </a:spcBef>
            </a:pPr>
            <a:endParaRPr lang="zh-CN" altLang="en-US" sz="1350" dirty="0">
              <a:latin typeface="Tahoma" panose="020B0604030504040204" pitchFamily="34" charset="0"/>
              <a:ea typeface="宋体" panose="02010600030101010101" pitchFamily="2" charset="-122"/>
            </a:endParaRPr>
          </a:p>
        </p:txBody>
      </p:sp>
      <p:sp>
        <p:nvSpPr>
          <p:cNvPr id="83972" name="Rectangle 5"/>
          <p:cNvSpPr/>
          <p:nvPr/>
        </p:nvSpPr>
        <p:spPr>
          <a:xfrm>
            <a:off x="2171700" y="4286250"/>
            <a:ext cx="457200" cy="342900"/>
          </a:xfrm>
          <a:prstGeom prst="rect">
            <a:avLst/>
          </a:prstGeom>
          <a:solidFill>
            <a:schemeClr val="bg1"/>
          </a:solidFill>
          <a:ln w="9525">
            <a:noFill/>
          </a:ln>
        </p:spPr>
        <p:txBody>
          <a:bodyPr wrap="none" anchor="ctr" anchorCtr="0"/>
          <a:lstStyle/>
          <a:p>
            <a:endParaRPr lang="zh-CN" altLang="en-US" sz="1350" dirty="0">
              <a:latin typeface="Tahoma" panose="020B0604030504040204" pitchFamily="34" charset="0"/>
              <a:ea typeface="宋体" panose="02010600030101010101" pitchFamily="2" charset="-122"/>
            </a:endParaRPr>
          </a:p>
        </p:txBody>
      </p:sp>
      <p:sp>
        <p:nvSpPr>
          <p:cNvPr id="83973" name="AutoShape 6"/>
          <p:cNvSpPr/>
          <p:nvPr/>
        </p:nvSpPr>
        <p:spPr>
          <a:xfrm>
            <a:off x="5318219" y="3472089"/>
            <a:ext cx="2087166" cy="628650"/>
          </a:xfrm>
          <a:prstGeom prst="wedgeRoundRectCallout">
            <a:avLst>
              <a:gd name="adj1" fmla="val -100914"/>
              <a:gd name="adj2" fmla="val -45226"/>
              <a:gd name="adj3" fmla="val 16667"/>
            </a:avLst>
          </a:prstGeom>
          <a:solidFill>
            <a:srgbClr val="FFF1B5"/>
          </a:solidFill>
          <a:ln w="9525" cap="flat" cmpd="sng">
            <a:solidFill>
              <a:schemeClr val="tx1"/>
            </a:solidFill>
            <a:prstDash val="solid"/>
            <a:miter/>
            <a:headEnd type="none" w="med" len="med"/>
            <a:tailEnd type="none" w="med" len="med"/>
          </a:ln>
        </p:spPr>
        <p:txBody>
          <a:bodyPr anchor="t" anchorCtr="0"/>
          <a:lstStyle/>
          <a:p>
            <a:pPr algn="ctr"/>
            <a:r>
              <a:rPr lang="zh-CN" altLang="en-US" dirty="0">
                <a:latin typeface="Microsoft YaHei" panose="020B0503020204020204" pitchFamily="34" charset="-122"/>
                <a:ea typeface="Microsoft YaHei" panose="020B0503020204020204" pitchFamily="34" charset="-122"/>
              </a:rPr>
              <a:t>子模式</a:t>
            </a:r>
            <a:r>
              <a:rPr lang="en-US" altLang="zh-CN" dirty="0">
                <a:latin typeface="Microsoft YaHei" panose="020B0503020204020204" pitchFamily="34" charset="-122"/>
                <a:ea typeface="Microsoft YaHei" panose="020B0503020204020204" pitchFamily="34" charset="-122"/>
              </a:rPr>
              <a:t>Ri</a:t>
            </a:r>
            <a:r>
              <a:rPr lang="zh-CN" altLang="en-US" dirty="0">
                <a:latin typeface="Microsoft YaHei" panose="020B0503020204020204" pitchFamily="34" charset="-122"/>
                <a:ea typeface="Microsoft YaHei" panose="020B0503020204020204" pitchFamily="34" charset="-122"/>
              </a:rPr>
              <a:t>所蕴含的</a:t>
            </a:r>
            <a:r>
              <a:rPr lang="en-US" altLang="zh-CN" dirty="0">
                <a:latin typeface="Microsoft YaHei" panose="020B0503020204020204" pitchFamily="34" charset="-122"/>
                <a:ea typeface="Microsoft YaHei" panose="020B0503020204020204" pitchFamily="34" charset="-122"/>
              </a:rPr>
              <a:t>F</a:t>
            </a:r>
            <a:r>
              <a:rPr lang="en-US" altLang="zh-CN" baseline="30000"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中的函数依赖</a:t>
            </a:r>
          </a:p>
        </p:txBody>
      </p:sp>
      <p:sp>
        <p:nvSpPr>
          <p:cNvPr id="83974" name="AutoShape 6"/>
          <p:cNvSpPr/>
          <p:nvPr/>
        </p:nvSpPr>
        <p:spPr>
          <a:xfrm>
            <a:off x="5318219" y="2038717"/>
            <a:ext cx="2050256" cy="628650"/>
          </a:xfrm>
          <a:prstGeom prst="wedgeRoundRectCallout">
            <a:avLst>
              <a:gd name="adj1" fmla="val -100756"/>
              <a:gd name="adj2" fmla="val -4548"/>
              <a:gd name="adj3" fmla="val 16667"/>
            </a:avLst>
          </a:prstGeom>
          <a:solidFill>
            <a:srgbClr val="FFF1B5"/>
          </a:solidFill>
          <a:ln w="9525" cap="flat" cmpd="sng">
            <a:solidFill>
              <a:schemeClr val="tx1"/>
            </a:solidFill>
            <a:prstDash val="solid"/>
            <a:miter/>
            <a:headEnd type="none" w="med" len="med"/>
            <a:tailEnd type="none" w="med" len="med"/>
          </a:ln>
        </p:spPr>
        <p:txBody>
          <a:bodyPr anchor="t" anchorCtr="0"/>
          <a:lstStyle/>
          <a:p>
            <a:pPr algn="ctr"/>
            <a:r>
              <a:rPr lang="zh-CN" altLang="zh-CN" dirty="0">
                <a:latin typeface="Microsoft YaHei" panose="020B0503020204020204" pitchFamily="34" charset="-122"/>
                <a:ea typeface="Microsoft YaHei" panose="020B0503020204020204" pitchFamily="34" charset="-122"/>
              </a:rPr>
              <a:t>关系</a:t>
            </a:r>
            <a:r>
              <a:rPr lang="en-US" altLang="zh-CN" dirty="0">
                <a:latin typeface="Microsoft YaHei" panose="020B0503020204020204" pitchFamily="34" charset="-122"/>
                <a:ea typeface="Microsoft YaHei" panose="020B0503020204020204" pitchFamily="34" charset="-122"/>
              </a:rPr>
              <a:t>r</a:t>
            </a:r>
            <a:r>
              <a:rPr lang="zh-CN" altLang="en-US" dirty="0">
                <a:latin typeface="Microsoft YaHei" panose="020B0503020204020204" pitchFamily="34" charset="-122"/>
                <a:ea typeface="Microsoft YaHei" panose="020B0503020204020204" pitchFamily="34" charset="-122"/>
              </a:rPr>
              <a:t>在子模式</a:t>
            </a:r>
            <a:r>
              <a:rPr lang="en-US" altLang="zh-CN" dirty="0">
                <a:latin typeface="Microsoft YaHei" panose="020B0503020204020204" pitchFamily="34" charset="-122"/>
                <a:ea typeface="Microsoft YaHei" panose="020B0503020204020204" pitchFamily="34" charset="-122"/>
              </a:rPr>
              <a:t>Ri</a:t>
            </a:r>
            <a:r>
              <a:rPr lang="zh-CN" altLang="en-US" dirty="0">
                <a:latin typeface="Microsoft YaHei" panose="020B0503020204020204" pitchFamily="34" charset="-122"/>
                <a:ea typeface="Microsoft YaHei" panose="020B0503020204020204" pitchFamily="34" charset="-122"/>
              </a:rPr>
              <a:t>的属性上投影</a:t>
            </a:r>
          </a:p>
        </p:txBody>
      </p:sp>
      <p:sp>
        <p:nvSpPr>
          <p:cNvPr id="3" name="标题 2">
            <a:extLst>
              <a:ext uri="{FF2B5EF4-FFF2-40B4-BE49-F238E27FC236}">
                <a16:creationId xmlns:a16="http://schemas.microsoft.com/office/drawing/2014/main" id="{3D6696F8-79C9-8E6B-A85A-BC1DC4765E16}"/>
              </a:ext>
            </a:extLst>
          </p:cNvPr>
          <p:cNvSpPr>
            <a:spLocks noGrp="1"/>
          </p:cNvSpPr>
          <p:nvPr>
            <p:ph type="title"/>
          </p:nvPr>
        </p:nvSpPr>
        <p:spPr/>
        <p:txBody>
          <a:bodyPr/>
          <a:lstStyle/>
          <a:p>
            <a:r>
              <a:rPr lang="zh-CN" altLang="en-US" dirty="0"/>
              <a:t>关系模式的分解</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516" name="表格 64515"/>
          <p:cNvGraphicFramePr/>
          <p:nvPr>
            <p:extLst>
              <p:ext uri="{D42A27DB-BD31-4B8C-83A1-F6EECF244321}">
                <p14:modId xmlns:p14="http://schemas.microsoft.com/office/powerpoint/2010/main" val="126204394"/>
              </p:ext>
            </p:extLst>
          </p:nvPr>
        </p:nvGraphicFramePr>
        <p:xfrm>
          <a:off x="7067550" y="2152973"/>
          <a:ext cx="1485900" cy="1409700"/>
        </p:xfrm>
        <a:graphic>
          <a:graphicData uri="http://schemas.openxmlformats.org/drawingml/2006/table">
            <a:tbl>
              <a:tblPr/>
              <a:tblGrid>
                <a:gridCol w="4953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495300">
                  <a:extLst>
                    <a:ext uri="{9D8B030D-6E8A-4147-A177-3AD203B41FA5}">
                      <a16:colId xmlns:a16="http://schemas.microsoft.com/office/drawing/2014/main" val="20002"/>
                    </a:ext>
                  </a:extLst>
                </a:gridCol>
              </a:tblGrid>
              <a:tr h="352425">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1800" dirty="0">
                          <a:latin typeface="楷体" panose="02010609060101010101" pitchFamily="49" charset="-122"/>
                          <a:ea typeface="楷体" panose="02010609060101010101" pitchFamily="49" charset="-122"/>
                        </a:rPr>
                        <a:t>A</a:t>
                      </a:r>
                    </a:p>
                  </a:txBody>
                  <a:tcPr marL="68580" marR="68580" marT="34290" marB="3429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CC"/>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1800" dirty="0">
                          <a:latin typeface="楷体" panose="02010609060101010101" pitchFamily="49" charset="-122"/>
                          <a:ea typeface="楷体" panose="02010609060101010101" pitchFamily="49" charset="-122"/>
                        </a:rPr>
                        <a:t>B</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CC"/>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1800" dirty="0">
                          <a:latin typeface="楷体" panose="02010609060101010101" pitchFamily="49" charset="-122"/>
                          <a:ea typeface="楷体" panose="02010609060101010101" pitchFamily="49" charset="-122"/>
                        </a:rPr>
                        <a:t>C</a:t>
                      </a:r>
                    </a:p>
                  </a:txBody>
                  <a:tcPr marL="68580" marR="68580" marT="34290" marB="342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0"/>
                  </a:ext>
                </a:extLst>
              </a:tr>
              <a:tr h="352425">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1800" dirty="0">
                          <a:latin typeface="楷体" panose="02010609060101010101" pitchFamily="49" charset="-122"/>
                          <a:ea typeface="楷体" panose="02010609060101010101" pitchFamily="49" charset="-122"/>
                        </a:rPr>
                        <a:t>a1</a:t>
                      </a:r>
                    </a:p>
                  </a:txBody>
                  <a:tcPr marL="68580" marR="68580" marT="34290" marB="3429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CC"/>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1800" dirty="0">
                          <a:latin typeface="楷体" panose="02010609060101010101" pitchFamily="49" charset="-122"/>
                          <a:ea typeface="楷体" panose="02010609060101010101" pitchFamily="49" charset="-122"/>
                        </a:rPr>
                        <a:t>b1</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CC"/>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1800" dirty="0">
                          <a:latin typeface="楷体" panose="02010609060101010101" pitchFamily="49" charset="-122"/>
                          <a:ea typeface="楷体" panose="02010609060101010101" pitchFamily="49" charset="-122"/>
                        </a:rPr>
                        <a:t>c1</a:t>
                      </a:r>
                    </a:p>
                  </a:txBody>
                  <a:tcPr marL="68580" marR="68580" marT="34290" marB="342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1"/>
                  </a:ext>
                </a:extLst>
              </a:tr>
              <a:tr h="352425">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1800" dirty="0">
                          <a:latin typeface="楷体" panose="02010609060101010101" pitchFamily="49" charset="-122"/>
                          <a:ea typeface="楷体" panose="02010609060101010101" pitchFamily="49" charset="-122"/>
                        </a:rPr>
                        <a:t>a2</a:t>
                      </a:r>
                    </a:p>
                  </a:txBody>
                  <a:tcPr marL="68580" marR="68580" marT="34290" marB="3429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CC"/>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1800" dirty="0">
                          <a:latin typeface="楷体" panose="02010609060101010101" pitchFamily="49" charset="-122"/>
                          <a:ea typeface="楷体" panose="02010609060101010101" pitchFamily="49" charset="-122"/>
                        </a:rPr>
                        <a:t>b2</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CC"/>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1800" dirty="0">
                          <a:latin typeface="楷体" panose="02010609060101010101" pitchFamily="49" charset="-122"/>
                          <a:ea typeface="楷体" panose="02010609060101010101" pitchFamily="49" charset="-122"/>
                        </a:rPr>
                        <a:t>c2</a:t>
                      </a:r>
                    </a:p>
                  </a:txBody>
                  <a:tcPr marL="68580" marR="68580" marT="34290" marB="342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2"/>
                  </a:ext>
                </a:extLst>
              </a:tr>
              <a:tr h="352425">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1800" dirty="0">
                          <a:latin typeface="楷体" panose="02010609060101010101" pitchFamily="49" charset="-122"/>
                          <a:ea typeface="楷体" panose="02010609060101010101" pitchFamily="49" charset="-122"/>
                        </a:rPr>
                        <a:t>a3</a:t>
                      </a:r>
                    </a:p>
                  </a:txBody>
                  <a:tcPr marL="68580" marR="68580" marT="34290" marB="3429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CC"/>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1800" dirty="0">
                          <a:latin typeface="楷体" panose="02010609060101010101" pitchFamily="49" charset="-122"/>
                          <a:ea typeface="楷体" panose="02010609060101010101" pitchFamily="49" charset="-122"/>
                        </a:rPr>
                        <a:t>b1</a:t>
                      </a:r>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CC"/>
                    </a:solid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en-US" altLang="zh-CN" sz="1800" dirty="0">
                          <a:latin typeface="楷体" panose="02010609060101010101" pitchFamily="49" charset="-122"/>
                          <a:ea typeface="楷体" panose="02010609060101010101" pitchFamily="49" charset="-122"/>
                        </a:rPr>
                        <a:t>c2</a:t>
                      </a:r>
                    </a:p>
                  </a:txBody>
                  <a:tcPr marL="68580" marR="68580" marT="34290" marB="342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3"/>
                  </a:ext>
                </a:extLst>
              </a:tr>
            </a:tbl>
          </a:graphicData>
        </a:graphic>
      </p:graphicFrame>
      <p:sp>
        <p:nvSpPr>
          <p:cNvPr id="85017" name="Text Box 26"/>
          <p:cNvSpPr txBox="1"/>
          <p:nvPr/>
        </p:nvSpPr>
        <p:spPr>
          <a:xfrm>
            <a:off x="7067550" y="1810073"/>
            <a:ext cx="400050" cy="415498"/>
          </a:xfrm>
          <a:prstGeom prst="rect">
            <a:avLst/>
          </a:prstGeom>
          <a:noFill/>
          <a:ln w="9525">
            <a:noFill/>
          </a:ln>
        </p:spPr>
        <p:txBody>
          <a:bodyPr anchor="t" anchorCtr="0">
            <a:spAutoFit/>
          </a:bodyPr>
          <a:lstStyle/>
          <a:p>
            <a:pPr>
              <a:spcBef>
                <a:spcPct val="50000"/>
              </a:spcBef>
            </a:pPr>
            <a:r>
              <a:rPr lang="en-US" altLang="zh-CN" sz="2100" dirty="0">
                <a:latin typeface="楷体" panose="02010609060101010101" pitchFamily="49" charset="-122"/>
                <a:ea typeface="楷体" panose="02010609060101010101" pitchFamily="49" charset="-122"/>
              </a:rPr>
              <a:t>r</a:t>
            </a:r>
          </a:p>
        </p:txBody>
      </p:sp>
      <p:sp>
        <p:nvSpPr>
          <p:cNvPr id="2" name="Rectangle 3"/>
          <p:cNvSpPr>
            <a:spLocks noGrp="1"/>
          </p:cNvSpPr>
          <p:nvPr>
            <p:custDataLst>
              <p:tags r:id="rId1"/>
            </p:custDataLst>
          </p:nvPr>
        </p:nvSpPr>
        <p:spPr>
          <a:xfrm>
            <a:off x="590550" y="1381436"/>
            <a:ext cx="6300384" cy="3428850"/>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eaLnBrk="1" hangingPunct="1">
              <a:buNone/>
            </a:pPr>
            <a:r>
              <a:rPr lang="en-US" altLang="zh-CN" sz="1800" b="1" dirty="0">
                <a:solidFill>
                  <a:srgbClr val="467886"/>
                </a:solidFill>
                <a:latin typeface="Microsoft YaHei" panose="020B0503020204020204" pitchFamily="34" charset="-122"/>
                <a:ea typeface="Microsoft YaHei" panose="020B0503020204020204" pitchFamily="34" charset="-122"/>
              </a:rPr>
              <a:t>【</a:t>
            </a:r>
            <a:r>
              <a:rPr lang="zh-CN" altLang="en-US" sz="1800" b="1" dirty="0">
                <a:solidFill>
                  <a:srgbClr val="467886"/>
                </a:solidFill>
                <a:latin typeface="Microsoft YaHei" panose="020B0503020204020204" pitchFamily="34" charset="-122"/>
                <a:ea typeface="Microsoft YaHei" panose="020B0503020204020204" pitchFamily="34" charset="-122"/>
              </a:rPr>
              <a:t>例</a:t>
            </a:r>
            <a:r>
              <a:rPr lang="en-US" altLang="zh-CN" sz="1800" b="1" dirty="0">
                <a:solidFill>
                  <a:srgbClr val="467886"/>
                </a:solidFill>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R(A</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B</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C) </a:t>
            </a: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F={A→B</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A→C} </a:t>
            </a:r>
            <a:r>
              <a:rPr lang="zh-CN" altLang="en-US" sz="1800" dirty="0">
                <a:latin typeface="Microsoft YaHei" panose="020B0503020204020204" pitchFamily="34" charset="-122"/>
                <a:ea typeface="Microsoft YaHei" panose="020B0503020204020204" pitchFamily="34" charset="-122"/>
              </a:rPr>
              <a:t>，分解</a:t>
            </a:r>
            <a:r>
              <a:rPr lang="en-US" altLang="zh-CN" sz="1800" dirty="0">
                <a:latin typeface="Microsoft YaHei" panose="020B0503020204020204" pitchFamily="34" charset="-122"/>
                <a:ea typeface="Microsoft YaHei" panose="020B0503020204020204" pitchFamily="34" charset="-122"/>
              </a:rPr>
              <a:t>ρ={AB</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AC} </a:t>
            </a:r>
          </a:p>
          <a:p>
            <a:pPr eaLnBrk="1" hangingPunct="1">
              <a:buNone/>
            </a:pPr>
            <a:r>
              <a:rPr lang="en-US" altLang="zh-CN" sz="1800" dirty="0">
                <a:latin typeface="Microsoft YaHei" panose="020B0503020204020204" pitchFamily="34" charset="-122"/>
                <a:ea typeface="Microsoft YaHei" panose="020B0503020204020204" pitchFamily="34" charset="-122"/>
              </a:rPr>
              <a:t>    </a:t>
            </a:r>
            <a:r>
              <a:rPr lang="zh-CN" altLang="en-US" sz="1800" dirty="0">
                <a:latin typeface="Microsoft YaHei" panose="020B0503020204020204" pitchFamily="34" charset="-122"/>
                <a:ea typeface="Microsoft YaHei" panose="020B0503020204020204" pitchFamily="34" charset="-122"/>
              </a:rPr>
              <a:t>判断</a:t>
            </a:r>
            <a:r>
              <a:rPr lang="en-US" altLang="zh-CN" sz="1800" dirty="0">
                <a:latin typeface="Microsoft YaHei" panose="020B0503020204020204" pitchFamily="34" charset="-122"/>
                <a:ea typeface="Microsoft YaHei" panose="020B0503020204020204" pitchFamily="34" charset="-122"/>
              </a:rPr>
              <a:t>1</a:t>
            </a:r>
            <a:r>
              <a:rPr lang="zh-CN" altLang="en-US" sz="1800" dirty="0">
                <a:latin typeface="Microsoft YaHei" panose="020B0503020204020204" pitchFamily="34" charset="-122"/>
                <a:ea typeface="Microsoft YaHei" panose="020B0503020204020204" pitchFamily="34" charset="-122"/>
              </a:rPr>
              <a:t>：</a:t>
            </a:r>
            <a:r>
              <a:rPr lang="zh-CN" altLang="en-US" sz="1800" dirty="0">
                <a:solidFill>
                  <a:schemeClr val="folHlink"/>
                </a:solidFill>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r=Π</a:t>
            </a:r>
            <a:r>
              <a:rPr lang="en-US" altLang="zh-CN" sz="1800" baseline="-25000" dirty="0">
                <a:latin typeface="Microsoft YaHei" panose="020B0503020204020204" pitchFamily="34" charset="-122"/>
                <a:ea typeface="Microsoft YaHei" panose="020B0503020204020204" pitchFamily="34" charset="-122"/>
              </a:rPr>
              <a:t>AB</a:t>
            </a:r>
            <a:r>
              <a:rPr lang="en-US" altLang="zh-CN" sz="1800" dirty="0">
                <a:latin typeface="Microsoft YaHei" panose="020B0503020204020204" pitchFamily="34" charset="-122"/>
                <a:ea typeface="Microsoft YaHei" panose="020B0503020204020204" pitchFamily="34" charset="-122"/>
              </a:rPr>
              <a:t>(r) ⋈ Π</a:t>
            </a:r>
            <a:r>
              <a:rPr lang="en-US" altLang="zh-CN" sz="1800" baseline="-25000" dirty="0">
                <a:latin typeface="Microsoft YaHei" panose="020B0503020204020204" pitchFamily="34" charset="-122"/>
                <a:ea typeface="Microsoft YaHei" panose="020B0503020204020204" pitchFamily="34" charset="-122"/>
              </a:rPr>
              <a:t>AC</a:t>
            </a:r>
            <a:r>
              <a:rPr lang="en-US" altLang="zh-CN" sz="1800" dirty="0">
                <a:latin typeface="Microsoft YaHei" panose="020B0503020204020204" pitchFamily="34" charset="-122"/>
                <a:ea typeface="Microsoft YaHei" panose="020B0503020204020204" pitchFamily="34" charset="-122"/>
              </a:rPr>
              <a:t>(r)</a:t>
            </a:r>
          </a:p>
          <a:p>
            <a:pPr eaLnBrk="1" hangingPunct="1">
              <a:buNone/>
            </a:pPr>
            <a:r>
              <a:rPr lang="en-US" altLang="zh-CN" sz="1800" dirty="0">
                <a:latin typeface="Microsoft YaHei" panose="020B0503020204020204" pitchFamily="34" charset="-122"/>
                <a:ea typeface="Microsoft YaHei" panose="020B0503020204020204" pitchFamily="34" charset="-122"/>
              </a:rPr>
              <a:t>                 </a:t>
            </a:r>
            <a:r>
              <a:rPr lang="zh-CN" altLang="en-US" sz="1800" dirty="0">
                <a:latin typeface="Microsoft YaHei" panose="020B0503020204020204" pitchFamily="34" charset="-122"/>
                <a:ea typeface="Microsoft YaHei" panose="020B0503020204020204" pitchFamily="34" charset="-122"/>
              </a:rPr>
              <a:t>是无损连接分解。</a:t>
            </a:r>
            <a:endParaRPr lang="en-US" altLang="zh-CN" sz="1800" dirty="0">
              <a:latin typeface="Microsoft YaHei" panose="020B0503020204020204" pitchFamily="34" charset="-122"/>
              <a:ea typeface="Microsoft YaHei" panose="020B0503020204020204" pitchFamily="34" charset="-122"/>
            </a:endParaRPr>
          </a:p>
          <a:p>
            <a:pPr eaLnBrk="1" hangingPunct="1">
              <a:buNone/>
            </a:pPr>
            <a:endParaRPr lang="zh-CN" altLang="en-US" sz="1800" dirty="0">
              <a:latin typeface="Microsoft YaHei" panose="020B0503020204020204" pitchFamily="34" charset="-122"/>
              <a:ea typeface="Microsoft YaHei" panose="020B0503020204020204" pitchFamily="34" charset="-122"/>
            </a:endParaRPr>
          </a:p>
          <a:p>
            <a:pPr eaLnBrk="1" hangingPunct="1">
              <a:buNone/>
            </a:pPr>
            <a:r>
              <a:rPr lang="zh-CN" altLang="en-US" sz="1800" dirty="0">
                <a:latin typeface="Microsoft YaHei" panose="020B0503020204020204" pitchFamily="34" charset="-122"/>
                <a:ea typeface="Microsoft YaHei" panose="020B0503020204020204" pitchFamily="34" charset="-122"/>
              </a:rPr>
              <a:t>    判断</a:t>
            </a:r>
            <a:r>
              <a:rPr lang="en-US" altLang="zh-CN" sz="1800" dirty="0">
                <a:latin typeface="Microsoft YaHei" panose="020B0503020204020204" pitchFamily="34" charset="-122"/>
                <a:ea typeface="Microsoft YaHei" panose="020B0503020204020204" pitchFamily="34" charset="-122"/>
              </a:rPr>
              <a:t>2:    F</a:t>
            </a:r>
            <a:r>
              <a:rPr lang="en-US" altLang="zh-CN" sz="1800" dirty="0">
                <a:solidFill>
                  <a:schemeClr val="hlink"/>
                </a:solidFill>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Π</a:t>
            </a:r>
            <a:r>
              <a:rPr lang="en-US" altLang="zh-CN" sz="1800" baseline="-25000" dirty="0">
                <a:latin typeface="Microsoft YaHei" panose="020B0503020204020204" pitchFamily="34" charset="-122"/>
                <a:ea typeface="Microsoft YaHei" panose="020B0503020204020204" pitchFamily="34" charset="-122"/>
              </a:rPr>
              <a:t>AB</a:t>
            </a:r>
            <a:r>
              <a:rPr lang="en-US" altLang="zh-CN" sz="1800" dirty="0">
                <a:latin typeface="Microsoft YaHei" panose="020B0503020204020204" pitchFamily="34" charset="-122"/>
                <a:ea typeface="Microsoft YaHei" panose="020B0503020204020204" pitchFamily="34" charset="-122"/>
              </a:rPr>
              <a:t>(F)∪Π</a:t>
            </a:r>
            <a:r>
              <a:rPr lang="en-US" altLang="zh-CN" sz="1800" baseline="-25000" dirty="0">
                <a:latin typeface="Microsoft YaHei" panose="020B0503020204020204" pitchFamily="34" charset="-122"/>
                <a:ea typeface="Microsoft YaHei" panose="020B0503020204020204" pitchFamily="34" charset="-122"/>
              </a:rPr>
              <a:t>AC</a:t>
            </a:r>
            <a:r>
              <a:rPr lang="en-US" altLang="zh-CN" sz="1800" dirty="0">
                <a:latin typeface="Microsoft YaHei" panose="020B0503020204020204" pitchFamily="34" charset="-122"/>
                <a:ea typeface="Microsoft YaHei" panose="020B0503020204020204" pitchFamily="34" charset="-122"/>
              </a:rPr>
              <a:t>(F)</a:t>
            </a:r>
          </a:p>
          <a:p>
            <a:pPr eaLnBrk="1" hangingPunct="1">
              <a:buNone/>
            </a:pPr>
            <a:r>
              <a:rPr lang="en-US" altLang="zh-CN" sz="1800" dirty="0">
                <a:latin typeface="Microsoft YaHei" panose="020B0503020204020204" pitchFamily="34" charset="-122"/>
                <a:ea typeface="Microsoft YaHei" panose="020B0503020204020204" pitchFamily="34" charset="-122"/>
              </a:rPr>
              <a:t>                    = {A→B</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A→C}</a:t>
            </a:r>
          </a:p>
          <a:p>
            <a:pPr eaLnBrk="1" hangingPunct="1">
              <a:buNone/>
            </a:pPr>
            <a:r>
              <a:rPr lang="en-US" altLang="zh-CN" sz="1800" dirty="0">
                <a:latin typeface="Microsoft YaHei" panose="020B0503020204020204" pitchFamily="34" charset="-122"/>
                <a:ea typeface="Microsoft YaHei" panose="020B0503020204020204" pitchFamily="34" charset="-122"/>
              </a:rPr>
              <a:t>                 </a:t>
            </a:r>
            <a:r>
              <a:rPr lang="zh-CN" altLang="en-US" sz="1800" dirty="0">
                <a:latin typeface="Microsoft YaHei" panose="020B0503020204020204" pitchFamily="34" charset="-122"/>
                <a:ea typeface="Microsoft YaHei" panose="020B0503020204020204" pitchFamily="34" charset="-122"/>
              </a:rPr>
              <a:t>具有函数依赖保持性。 </a:t>
            </a:r>
          </a:p>
          <a:p>
            <a:pPr eaLnBrk="1" hangingPunct="1"/>
            <a:endParaRPr lang="zh-CN" altLang="en-US" sz="1800" dirty="0">
              <a:latin typeface="Microsoft YaHei" panose="020B0503020204020204" pitchFamily="34" charset="-122"/>
              <a:ea typeface="Microsoft YaHei" panose="020B0503020204020204" pitchFamily="34" charset="-122"/>
            </a:endParaRPr>
          </a:p>
        </p:txBody>
      </p:sp>
      <p:sp>
        <p:nvSpPr>
          <p:cNvPr id="5" name="标题 4">
            <a:extLst>
              <a:ext uri="{FF2B5EF4-FFF2-40B4-BE49-F238E27FC236}">
                <a16:creationId xmlns:a16="http://schemas.microsoft.com/office/drawing/2014/main" id="{CFF38946-1D54-B216-8CBF-0A1EA033A856}"/>
              </a:ext>
            </a:extLst>
          </p:cNvPr>
          <p:cNvSpPr>
            <a:spLocks noGrp="1"/>
          </p:cNvSpPr>
          <p:nvPr>
            <p:ph type="title"/>
          </p:nvPr>
        </p:nvSpPr>
        <p:spPr/>
        <p:txBody>
          <a:bodyPr/>
          <a:lstStyle/>
          <a:p>
            <a:r>
              <a:rPr lang="zh-CN" altLang="en-US" dirty="0"/>
              <a:t>关系模式的分解</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282829" y="1123627"/>
            <a:ext cx="8593810" cy="3324387"/>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marL="0" indent="0" eaLnBrk="1" hangingPunct="1"/>
            <a:r>
              <a:rPr lang="zh-CN" altLang="en-US" sz="1800" dirty="0">
                <a:solidFill>
                  <a:schemeClr val="folHlink"/>
                </a:solidFill>
                <a:latin typeface="Microsoft YaHei" panose="020B0503020204020204" pitchFamily="34" charset="-122"/>
                <a:ea typeface="Microsoft YaHei" panose="020B0503020204020204" pitchFamily="34" charset="-122"/>
              </a:rPr>
              <a:t>算法</a:t>
            </a:r>
            <a:r>
              <a:rPr lang="en-US" altLang="zh-CN" sz="1800" dirty="0">
                <a:solidFill>
                  <a:schemeClr val="folHlink"/>
                </a:solidFill>
                <a:latin typeface="Microsoft YaHei" panose="020B0503020204020204" pitchFamily="34" charset="-122"/>
                <a:ea typeface="Microsoft YaHei" panose="020B0503020204020204" pitchFamily="34" charset="-122"/>
              </a:rPr>
              <a:t>4.1</a:t>
            </a:r>
            <a:r>
              <a:rPr lang="zh-CN" altLang="en-US" sz="1800" dirty="0">
                <a:solidFill>
                  <a:schemeClr val="folHlink"/>
                </a:solidFill>
                <a:latin typeface="Microsoft YaHei" panose="020B0503020204020204" pitchFamily="34" charset="-122"/>
                <a:ea typeface="Microsoft YaHei" panose="020B0503020204020204" pitchFamily="34" charset="-122"/>
              </a:rPr>
              <a:t>：无损连接性检验</a:t>
            </a:r>
            <a:endParaRPr lang="zh-CN" altLang="en-US" sz="1800" dirty="0">
              <a:latin typeface="Microsoft YaHei" panose="020B0503020204020204" pitchFamily="34" charset="-122"/>
              <a:ea typeface="Microsoft YaHei" panose="020B0503020204020204" pitchFamily="34" charset="-122"/>
            </a:endParaRPr>
          </a:p>
          <a:p>
            <a:pPr marL="0" indent="0" eaLnBrk="1" hangingPunct="1">
              <a:buNone/>
            </a:pPr>
            <a:r>
              <a:rPr lang="zh-CN" altLang="en-US" sz="1800" dirty="0">
                <a:solidFill>
                  <a:schemeClr val="hlink"/>
                </a:solidFill>
                <a:latin typeface="Microsoft YaHei" panose="020B0503020204020204" pitchFamily="34" charset="-122"/>
                <a:ea typeface="Microsoft YaHei" panose="020B0503020204020204" pitchFamily="34" charset="-122"/>
              </a:rPr>
              <a:t>输入：</a:t>
            </a:r>
            <a:r>
              <a:rPr lang="zh-CN" altLang="en-US" sz="1800" dirty="0">
                <a:latin typeface="Microsoft YaHei" panose="020B0503020204020204" pitchFamily="34" charset="-122"/>
                <a:ea typeface="Microsoft YaHei" panose="020B0503020204020204" pitchFamily="34" charset="-122"/>
              </a:rPr>
              <a:t>关系模式</a:t>
            </a:r>
            <a:r>
              <a:rPr lang="en-US" altLang="zh-CN" sz="1800" dirty="0">
                <a:latin typeface="Microsoft YaHei" panose="020B0503020204020204" pitchFamily="34" charset="-122"/>
                <a:ea typeface="Microsoft YaHei" panose="020B0503020204020204" pitchFamily="34" charset="-122"/>
              </a:rPr>
              <a:t>R(A</a:t>
            </a:r>
            <a:r>
              <a:rPr lang="en-US" altLang="zh-CN" sz="1800" baseline="-30000" dirty="0">
                <a:latin typeface="Microsoft YaHei" panose="020B0503020204020204" pitchFamily="34" charset="-122"/>
                <a:ea typeface="Microsoft YaHei" panose="020B0503020204020204" pitchFamily="34" charset="-122"/>
              </a:rPr>
              <a:t>1</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A</a:t>
            </a:r>
            <a:r>
              <a:rPr lang="en-US" altLang="zh-CN" sz="1800" baseline="-30000" dirty="0">
                <a:latin typeface="Microsoft YaHei" panose="020B0503020204020204" pitchFamily="34" charset="-122"/>
                <a:ea typeface="Microsoft YaHei" panose="020B0503020204020204" pitchFamily="34" charset="-122"/>
              </a:rPr>
              <a:t>2</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A</a:t>
            </a:r>
            <a:r>
              <a:rPr lang="en-US" altLang="zh-CN" sz="1800" baseline="-30000" dirty="0">
                <a:latin typeface="Microsoft YaHei" panose="020B0503020204020204" pitchFamily="34" charset="-122"/>
                <a:ea typeface="Microsoft YaHei" panose="020B0503020204020204" pitchFamily="34" charset="-122"/>
              </a:rPr>
              <a:t>n</a:t>
            </a:r>
            <a:r>
              <a:rPr lang="en-US" altLang="zh-CN" sz="18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，它的函数依赖集</a:t>
            </a:r>
            <a:r>
              <a:rPr lang="en-US" altLang="zh-CN" sz="1800" dirty="0">
                <a:latin typeface="Microsoft YaHei" panose="020B0503020204020204" pitchFamily="34" charset="-122"/>
                <a:ea typeface="Microsoft YaHei" panose="020B0503020204020204" pitchFamily="34" charset="-122"/>
              </a:rPr>
              <a:t>F</a:t>
            </a:r>
            <a:r>
              <a:rPr lang="zh-CN" altLang="en-US" sz="1800" dirty="0">
                <a:latin typeface="Microsoft YaHei" panose="020B0503020204020204" pitchFamily="34" charset="-122"/>
                <a:ea typeface="Microsoft YaHei" panose="020B0503020204020204" pitchFamily="34" charset="-122"/>
              </a:rPr>
              <a:t>，以及分解</a:t>
            </a:r>
            <a:r>
              <a:rPr lang="en-US" altLang="zh-CN" sz="1800" dirty="0">
                <a:latin typeface="Microsoft YaHei" panose="020B0503020204020204" pitchFamily="34" charset="-122"/>
                <a:ea typeface="Microsoft YaHei" panose="020B0503020204020204" pitchFamily="34" charset="-122"/>
              </a:rPr>
              <a:t>ρ={R</a:t>
            </a:r>
            <a:r>
              <a:rPr lang="en-US" altLang="zh-CN" sz="1800" baseline="-30000" dirty="0">
                <a:latin typeface="Microsoft YaHei" panose="020B0503020204020204" pitchFamily="34" charset="-122"/>
                <a:ea typeface="Microsoft YaHei" panose="020B0503020204020204" pitchFamily="34" charset="-122"/>
              </a:rPr>
              <a:t>1</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R</a:t>
            </a:r>
            <a:r>
              <a:rPr lang="en-US" altLang="zh-CN" sz="1800" baseline="-30000" dirty="0">
                <a:latin typeface="Microsoft YaHei" panose="020B0503020204020204" pitchFamily="34" charset="-122"/>
                <a:ea typeface="Microsoft YaHei" panose="020B0503020204020204" pitchFamily="34" charset="-122"/>
              </a:rPr>
              <a:t>2</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R</a:t>
            </a:r>
            <a:r>
              <a:rPr lang="en-US" altLang="zh-CN" sz="1800" baseline="-30000" dirty="0">
                <a:latin typeface="Microsoft YaHei" panose="020B0503020204020204" pitchFamily="34" charset="-122"/>
                <a:ea typeface="Microsoft YaHei" panose="020B0503020204020204" pitchFamily="34" charset="-122"/>
              </a:rPr>
              <a:t>k</a:t>
            </a:r>
            <a:r>
              <a:rPr lang="en-US" altLang="zh-CN" sz="18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a:t>
            </a:r>
          </a:p>
          <a:p>
            <a:pPr marL="0" indent="0" eaLnBrk="1" hangingPunct="1">
              <a:buNone/>
            </a:pPr>
            <a:r>
              <a:rPr lang="zh-CN" altLang="en-US" sz="1800" dirty="0">
                <a:solidFill>
                  <a:schemeClr val="hlink"/>
                </a:solidFill>
                <a:latin typeface="Microsoft YaHei" panose="020B0503020204020204" pitchFamily="34" charset="-122"/>
                <a:ea typeface="Microsoft YaHei" panose="020B0503020204020204" pitchFamily="34" charset="-122"/>
              </a:rPr>
              <a:t>输出：</a:t>
            </a:r>
            <a:r>
              <a:rPr lang="zh-CN" altLang="en-US" sz="1800" dirty="0">
                <a:latin typeface="Microsoft YaHei" panose="020B0503020204020204" pitchFamily="34" charset="-122"/>
                <a:ea typeface="Microsoft YaHei" panose="020B0503020204020204" pitchFamily="34" charset="-122"/>
              </a:rPr>
              <a:t>确定</a:t>
            </a:r>
            <a:r>
              <a:rPr lang="en-US" altLang="zh-CN" sz="1800" dirty="0">
                <a:latin typeface="Microsoft YaHei" panose="020B0503020204020204" pitchFamily="34" charset="-122"/>
                <a:ea typeface="Microsoft YaHei" panose="020B0503020204020204" pitchFamily="34" charset="-122"/>
              </a:rPr>
              <a:t>ρ</a:t>
            </a:r>
            <a:r>
              <a:rPr lang="zh-CN" altLang="en-US" sz="1800" dirty="0">
                <a:latin typeface="Microsoft YaHei" panose="020B0503020204020204" pitchFamily="34" charset="-122"/>
                <a:ea typeface="Microsoft YaHei" panose="020B0503020204020204" pitchFamily="34" charset="-122"/>
              </a:rPr>
              <a:t>是否具有无损连接性。</a:t>
            </a:r>
          </a:p>
          <a:p>
            <a:pPr marL="0" indent="0" algn="just" eaLnBrk="1" hangingPunct="1">
              <a:buNone/>
            </a:pPr>
            <a:endParaRPr lang="en-US" altLang="zh-CN" sz="1800" dirty="0">
              <a:solidFill>
                <a:schemeClr val="hlink"/>
              </a:solidFill>
              <a:latin typeface="Microsoft YaHei" panose="020B0503020204020204" pitchFamily="34" charset="-122"/>
              <a:ea typeface="Microsoft YaHei" panose="020B0503020204020204" pitchFamily="34" charset="-122"/>
            </a:endParaRPr>
          </a:p>
          <a:p>
            <a:pPr marL="0" indent="0" algn="just" eaLnBrk="1" hangingPunct="1">
              <a:buNone/>
            </a:pPr>
            <a:r>
              <a:rPr lang="zh-CN" altLang="en-US" sz="1800" dirty="0">
                <a:solidFill>
                  <a:schemeClr val="hlink"/>
                </a:solidFill>
                <a:latin typeface="Microsoft YaHei" panose="020B0503020204020204" pitchFamily="34" charset="-122"/>
                <a:ea typeface="Microsoft YaHei" panose="020B0503020204020204" pitchFamily="34" charset="-122"/>
              </a:rPr>
              <a:t>方法：</a:t>
            </a:r>
            <a:r>
              <a:rPr lang="en-US" altLang="zh-CN" sz="1800" dirty="0">
                <a:latin typeface="Microsoft YaHei" panose="020B0503020204020204" pitchFamily="34" charset="-122"/>
                <a:ea typeface="Microsoft YaHei" panose="020B0503020204020204" pitchFamily="34" charset="-122"/>
              </a:rPr>
              <a:t>(1)</a:t>
            </a:r>
            <a:r>
              <a:rPr lang="zh-CN" altLang="en-US" sz="1800" dirty="0">
                <a:latin typeface="Microsoft YaHei" panose="020B0503020204020204" pitchFamily="34" charset="-122"/>
                <a:ea typeface="Microsoft YaHei" panose="020B0503020204020204" pitchFamily="34" charset="-122"/>
              </a:rPr>
              <a:t>构造一个</a:t>
            </a:r>
            <a:r>
              <a:rPr lang="en-US" altLang="zh-CN" sz="1800" dirty="0">
                <a:latin typeface="Microsoft YaHei" panose="020B0503020204020204" pitchFamily="34" charset="-122"/>
                <a:ea typeface="Microsoft YaHei" panose="020B0503020204020204" pitchFamily="34" charset="-122"/>
              </a:rPr>
              <a:t>k</a:t>
            </a:r>
            <a:r>
              <a:rPr lang="zh-CN" altLang="en-US" sz="1800" dirty="0">
                <a:latin typeface="Microsoft YaHei" panose="020B0503020204020204" pitchFamily="34" charset="-122"/>
                <a:ea typeface="Microsoft YaHei" panose="020B0503020204020204" pitchFamily="34" charset="-122"/>
              </a:rPr>
              <a:t>行</a:t>
            </a:r>
            <a:r>
              <a:rPr lang="en-US" altLang="zh-CN" sz="1800" dirty="0">
                <a:latin typeface="Microsoft YaHei" panose="020B0503020204020204" pitchFamily="34" charset="-122"/>
                <a:ea typeface="Microsoft YaHei" panose="020B0503020204020204" pitchFamily="34" charset="-122"/>
              </a:rPr>
              <a:t>n</a:t>
            </a:r>
            <a:r>
              <a:rPr lang="zh-CN" altLang="en-US" sz="1800" dirty="0">
                <a:latin typeface="Microsoft YaHei" panose="020B0503020204020204" pitchFamily="34" charset="-122"/>
                <a:ea typeface="Microsoft YaHei" panose="020B0503020204020204" pitchFamily="34" charset="-122"/>
              </a:rPr>
              <a:t>列的表，第</a:t>
            </a:r>
            <a:r>
              <a:rPr lang="en-US" altLang="zh-CN" sz="1800" dirty="0">
                <a:latin typeface="Microsoft YaHei" panose="020B0503020204020204" pitchFamily="34" charset="-122"/>
                <a:ea typeface="Microsoft YaHei" panose="020B0503020204020204" pitchFamily="34" charset="-122"/>
              </a:rPr>
              <a:t>i</a:t>
            </a:r>
            <a:r>
              <a:rPr lang="zh-CN" altLang="en-US" sz="1800" dirty="0">
                <a:latin typeface="Microsoft YaHei" panose="020B0503020204020204" pitchFamily="34" charset="-122"/>
                <a:ea typeface="Microsoft YaHei" panose="020B0503020204020204" pitchFamily="34" charset="-122"/>
              </a:rPr>
              <a:t>行对应于关系模式</a:t>
            </a:r>
            <a:r>
              <a:rPr lang="en-US" altLang="zh-CN" sz="1800" dirty="0">
                <a:latin typeface="Microsoft YaHei" panose="020B0503020204020204" pitchFamily="34" charset="-122"/>
                <a:ea typeface="Microsoft YaHei" panose="020B0503020204020204" pitchFamily="34" charset="-122"/>
              </a:rPr>
              <a:t>R</a:t>
            </a:r>
            <a:r>
              <a:rPr lang="en-US" altLang="zh-CN" sz="1800" baseline="-30000" dirty="0">
                <a:latin typeface="Microsoft YaHei" panose="020B0503020204020204" pitchFamily="34" charset="-122"/>
                <a:ea typeface="Microsoft YaHei" panose="020B0503020204020204" pitchFamily="34" charset="-122"/>
              </a:rPr>
              <a:t>i</a:t>
            </a:r>
            <a:r>
              <a:rPr lang="zh-CN" altLang="en-US" sz="1800" dirty="0">
                <a:latin typeface="Microsoft YaHei" panose="020B0503020204020204" pitchFamily="34" charset="-122"/>
                <a:ea typeface="Microsoft YaHei" panose="020B0503020204020204" pitchFamily="34" charset="-122"/>
              </a:rPr>
              <a:t>，第</a:t>
            </a:r>
            <a:r>
              <a:rPr lang="en-US" altLang="zh-CN" sz="1800" dirty="0">
                <a:latin typeface="Microsoft YaHei" panose="020B0503020204020204" pitchFamily="34" charset="-122"/>
                <a:ea typeface="Microsoft YaHei" panose="020B0503020204020204" pitchFamily="34" charset="-122"/>
              </a:rPr>
              <a:t>j</a:t>
            </a:r>
            <a:r>
              <a:rPr lang="zh-CN" altLang="en-US" sz="1800" dirty="0">
                <a:latin typeface="Microsoft YaHei" panose="020B0503020204020204" pitchFamily="34" charset="-122"/>
                <a:ea typeface="Microsoft YaHei" panose="020B0503020204020204" pitchFamily="34" charset="-122"/>
              </a:rPr>
              <a:t>列对应于属性</a:t>
            </a:r>
            <a:r>
              <a:rPr lang="en-US" altLang="zh-CN" sz="1800" dirty="0">
                <a:latin typeface="Microsoft YaHei" panose="020B0503020204020204" pitchFamily="34" charset="-122"/>
                <a:ea typeface="Microsoft YaHei" panose="020B0503020204020204" pitchFamily="34" charset="-122"/>
              </a:rPr>
              <a:t>A</a:t>
            </a:r>
            <a:r>
              <a:rPr lang="en-US" altLang="zh-CN" sz="1800" baseline="-30000" dirty="0">
                <a:latin typeface="Microsoft YaHei" panose="020B0503020204020204" pitchFamily="34" charset="-122"/>
                <a:ea typeface="Microsoft YaHei" panose="020B0503020204020204" pitchFamily="34" charset="-122"/>
              </a:rPr>
              <a:t>j</a:t>
            </a:r>
            <a:r>
              <a:rPr lang="zh-CN" altLang="en-US" sz="1800" dirty="0">
                <a:latin typeface="Microsoft YaHei" panose="020B0503020204020204" pitchFamily="34" charset="-122"/>
                <a:ea typeface="Microsoft YaHei" panose="020B0503020204020204" pitchFamily="34" charset="-122"/>
              </a:rPr>
              <a:t>。如果</a:t>
            </a:r>
            <a:r>
              <a:rPr lang="en-US" altLang="zh-CN" sz="1800" dirty="0">
                <a:latin typeface="Microsoft YaHei" panose="020B0503020204020204" pitchFamily="34" charset="-122"/>
                <a:ea typeface="Microsoft YaHei" panose="020B0503020204020204" pitchFamily="34" charset="-122"/>
              </a:rPr>
              <a:t>A</a:t>
            </a:r>
            <a:r>
              <a:rPr lang="en-US" altLang="zh-CN" sz="1800" baseline="-30000" dirty="0">
                <a:latin typeface="Microsoft YaHei" panose="020B0503020204020204" pitchFamily="34" charset="-122"/>
                <a:ea typeface="Microsoft YaHei" panose="020B0503020204020204" pitchFamily="34" charset="-122"/>
              </a:rPr>
              <a:t>j</a:t>
            </a:r>
            <a:r>
              <a:rPr lang="en-US" altLang="zh-CN" sz="1800" dirty="0">
                <a:latin typeface="Microsoft YaHei" panose="020B0503020204020204" pitchFamily="34" charset="-122"/>
                <a:ea typeface="Microsoft YaHei" panose="020B0503020204020204" pitchFamily="34" charset="-122"/>
              </a:rPr>
              <a:t>∈R</a:t>
            </a:r>
            <a:r>
              <a:rPr lang="en-US" altLang="zh-CN" sz="1800" baseline="-30000" dirty="0">
                <a:latin typeface="Microsoft YaHei" panose="020B0503020204020204" pitchFamily="34" charset="-122"/>
                <a:ea typeface="Microsoft YaHei" panose="020B0503020204020204" pitchFamily="34" charset="-122"/>
              </a:rPr>
              <a:t>i</a:t>
            </a:r>
            <a:r>
              <a:rPr lang="zh-CN" altLang="en-US" sz="1800" dirty="0">
                <a:latin typeface="Microsoft YaHei" panose="020B0503020204020204" pitchFamily="34" charset="-122"/>
                <a:ea typeface="Microsoft YaHei" panose="020B0503020204020204" pitchFamily="34" charset="-122"/>
              </a:rPr>
              <a:t>，则在第</a:t>
            </a:r>
            <a:r>
              <a:rPr lang="en-US" altLang="zh-CN" sz="1800" dirty="0">
                <a:latin typeface="Microsoft YaHei" panose="020B0503020204020204" pitchFamily="34" charset="-122"/>
                <a:ea typeface="Microsoft YaHei" panose="020B0503020204020204" pitchFamily="34" charset="-122"/>
              </a:rPr>
              <a:t>i</a:t>
            </a:r>
            <a:r>
              <a:rPr lang="zh-CN" altLang="en-US" sz="1800" dirty="0">
                <a:latin typeface="Microsoft YaHei" panose="020B0503020204020204" pitchFamily="34" charset="-122"/>
                <a:ea typeface="Microsoft YaHei" panose="020B0503020204020204" pitchFamily="34" charset="-122"/>
              </a:rPr>
              <a:t>行第</a:t>
            </a:r>
            <a:r>
              <a:rPr lang="en-US" altLang="zh-CN" sz="1800" dirty="0">
                <a:latin typeface="Microsoft YaHei" panose="020B0503020204020204" pitchFamily="34" charset="-122"/>
                <a:ea typeface="Microsoft YaHei" panose="020B0503020204020204" pitchFamily="34" charset="-122"/>
              </a:rPr>
              <a:t>j</a:t>
            </a:r>
            <a:r>
              <a:rPr lang="zh-CN" altLang="en-US" sz="1800" dirty="0">
                <a:latin typeface="Microsoft YaHei" panose="020B0503020204020204" pitchFamily="34" charset="-122"/>
                <a:ea typeface="Microsoft YaHei" panose="020B0503020204020204" pitchFamily="34" charset="-122"/>
              </a:rPr>
              <a:t>列上放符号</a:t>
            </a:r>
            <a:r>
              <a:rPr lang="en-US" altLang="zh-CN" sz="1800" dirty="0">
                <a:latin typeface="Microsoft YaHei" panose="020B0503020204020204" pitchFamily="34" charset="-122"/>
                <a:ea typeface="Microsoft YaHei" panose="020B0503020204020204" pitchFamily="34" charset="-122"/>
              </a:rPr>
              <a:t>a</a:t>
            </a:r>
            <a:r>
              <a:rPr lang="en-US" altLang="zh-CN" sz="1800" baseline="-25000" dirty="0">
                <a:latin typeface="Microsoft YaHei" panose="020B0503020204020204" pitchFamily="34" charset="-122"/>
                <a:ea typeface="Microsoft YaHei" panose="020B0503020204020204" pitchFamily="34" charset="-122"/>
              </a:rPr>
              <a:t>j</a:t>
            </a:r>
            <a:r>
              <a:rPr lang="zh-CN" altLang="en-US" sz="1800" dirty="0">
                <a:latin typeface="Microsoft YaHei" panose="020B0503020204020204" pitchFamily="34" charset="-122"/>
                <a:ea typeface="Microsoft YaHei" panose="020B0503020204020204" pitchFamily="34" charset="-122"/>
              </a:rPr>
              <a:t>，否则放符号</a:t>
            </a:r>
            <a:r>
              <a:rPr lang="en-US" altLang="zh-CN" sz="1800" dirty="0">
                <a:latin typeface="Microsoft YaHei" panose="020B0503020204020204" pitchFamily="34" charset="-122"/>
                <a:ea typeface="Microsoft YaHei" panose="020B0503020204020204" pitchFamily="34" charset="-122"/>
              </a:rPr>
              <a:t>b</a:t>
            </a:r>
            <a:r>
              <a:rPr lang="en-US" altLang="zh-CN" sz="1800" baseline="-30000" dirty="0">
                <a:latin typeface="Microsoft YaHei" panose="020B0503020204020204" pitchFamily="34" charset="-122"/>
                <a:ea typeface="Microsoft YaHei" panose="020B0503020204020204" pitchFamily="34" charset="-122"/>
              </a:rPr>
              <a:t>ij</a:t>
            </a:r>
            <a:r>
              <a:rPr lang="zh-CN" altLang="en-US" sz="1800" dirty="0">
                <a:latin typeface="Microsoft YaHei" panose="020B0503020204020204" pitchFamily="34" charset="-122"/>
                <a:ea typeface="Microsoft YaHei" panose="020B0503020204020204" pitchFamily="34" charset="-122"/>
              </a:rPr>
              <a:t>。</a:t>
            </a:r>
          </a:p>
          <a:p>
            <a:pPr marL="0" indent="0" algn="just" eaLnBrk="1" hangingPunct="1">
              <a:buNone/>
            </a:pP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(2)</a:t>
            </a:r>
            <a:r>
              <a:rPr lang="zh-CN" altLang="en-US" sz="1800" dirty="0">
                <a:latin typeface="Microsoft YaHei" panose="020B0503020204020204" pitchFamily="34" charset="-122"/>
                <a:ea typeface="Microsoft YaHei" panose="020B0503020204020204" pitchFamily="34" charset="-122"/>
              </a:rPr>
              <a:t>重复考察</a:t>
            </a:r>
            <a:r>
              <a:rPr lang="en-US" altLang="zh-CN" sz="1800" dirty="0">
                <a:latin typeface="Microsoft YaHei" panose="020B0503020204020204" pitchFamily="34" charset="-122"/>
                <a:ea typeface="Microsoft YaHei" panose="020B0503020204020204" pitchFamily="34" charset="-122"/>
              </a:rPr>
              <a:t>F</a:t>
            </a:r>
            <a:r>
              <a:rPr lang="zh-CN" altLang="en-US" sz="1800" dirty="0">
                <a:latin typeface="Microsoft YaHei" panose="020B0503020204020204" pitchFamily="34" charset="-122"/>
                <a:ea typeface="Microsoft YaHei" panose="020B0503020204020204" pitchFamily="34" charset="-122"/>
              </a:rPr>
              <a:t>中的每一个函数依赖，并修改表中的元素。其方法如下：取</a:t>
            </a:r>
            <a:r>
              <a:rPr lang="en-US" altLang="zh-CN" sz="1800" dirty="0">
                <a:latin typeface="Microsoft YaHei" panose="020B0503020204020204" pitchFamily="34" charset="-122"/>
                <a:ea typeface="Microsoft YaHei" panose="020B0503020204020204" pitchFamily="34" charset="-122"/>
              </a:rPr>
              <a:t>F</a:t>
            </a:r>
            <a:r>
              <a:rPr lang="zh-CN" altLang="en-US" sz="1800" dirty="0">
                <a:latin typeface="Microsoft YaHei" panose="020B0503020204020204" pitchFamily="34" charset="-122"/>
                <a:ea typeface="Microsoft YaHei" panose="020B0503020204020204" pitchFamily="34" charset="-122"/>
              </a:rPr>
              <a:t>中一个函数依赖</a:t>
            </a:r>
            <a:r>
              <a:rPr lang="en-US" altLang="zh-CN" sz="1800" dirty="0">
                <a:latin typeface="Microsoft YaHei" panose="020B0503020204020204" pitchFamily="34" charset="-122"/>
                <a:ea typeface="Microsoft YaHei" panose="020B0503020204020204" pitchFamily="34" charset="-122"/>
              </a:rPr>
              <a:t>X→Y</a:t>
            </a:r>
            <a:r>
              <a:rPr lang="zh-CN" altLang="en-US" sz="1800" dirty="0">
                <a:latin typeface="Microsoft YaHei" panose="020B0503020204020204" pitchFamily="34" charset="-122"/>
                <a:ea typeface="Microsoft YaHei" panose="020B0503020204020204" pitchFamily="34" charset="-122"/>
              </a:rPr>
              <a:t>，在</a:t>
            </a:r>
            <a:r>
              <a:rPr lang="en-US" altLang="zh-CN" sz="1800" dirty="0">
                <a:latin typeface="Microsoft YaHei" panose="020B0503020204020204" pitchFamily="34" charset="-122"/>
                <a:ea typeface="Microsoft YaHei" panose="020B0503020204020204" pitchFamily="34" charset="-122"/>
              </a:rPr>
              <a:t>X</a:t>
            </a:r>
            <a:r>
              <a:rPr lang="zh-CN" altLang="en-US" sz="1800" dirty="0">
                <a:latin typeface="Microsoft YaHei" panose="020B0503020204020204" pitchFamily="34" charset="-122"/>
                <a:ea typeface="Microsoft YaHei" panose="020B0503020204020204" pitchFamily="34" charset="-122"/>
              </a:rPr>
              <a:t>的分量中寻找相同的行，然后将这些行中</a:t>
            </a:r>
            <a:r>
              <a:rPr lang="en-US" altLang="zh-CN" sz="1800" dirty="0">
                <a:latin typeface="Microsoft YaHei" panose="020B0503020204020204" pitchFamily="34" charset="-122"/>
                <a:ea typeface="Microsoft YaHei" panose="020B0503020204020204" pitchFamily="34" charset="-122"/>
              </a:rPr>
              <a:t>Y</a:t>
            </a:r>
            <a:r>
              <a:rPr lang="zh-CN" altLang="en-US" sz="1800" dirty="0">
                <a:latin typeface="Microsoft YaHei" panose="020B0503020204020204" pitchFamily="34" charset="-122"/>
                <a:ea typeface="Microsoft YaHei" panose="020B0503020204020204" pitchFamily="34" charset="-122"/>
              </a:rPr>
              <a:t>的分量改为相同的符号，如果其中有</a:t>
            </a:r>
            <a:r>
              <a:rPr lang="en-US" altLang="zh-CN" sz="1800" dirty="0">
                <a:latin typeface="Microsoft YaHei" panose="020B0503020204020204" pitchFamily="34" charset="-122"/>
                <a:ea typeface="Microsoft YaHei" panose="020B0503020204020204" pitchFamily="34" charset="-122"/>
              </a:rPr>
              <a:t>a</a:t>
            </a:r>
            <a:r>
              <a:rPr lang="en-US" altLang="zh-CN" sz="1800" baseline="-30000" dirty="0">
                <a:latin typeface="Microsoft YaHei" panose="020B0503020204020204" pitchFamily="34" charset="-122"/>
                <a:ea typeface="Microsoft YaHei" panose="020B0503020204020204" pitchFamily="34" charset="-122"/>
              </a:rPr>
              <a:t>j</a:t>
            </a:r>
            <a:r>
              <a:rPr lang="zh-CN" altLang="en-US" sz="1800" dirty="0">
                <a:latin typeface="Microsoft YaHei" panose="020B0503020204020204" pitchFamily="34" charset="-122"/>
                <a:ea typeface="Microsoft YaHei" panose="020B0503020204020204" pitchFamily="34" charset="-122"/>
              </a:rPr>
              <a:t>，则将</a:t>
            </a:r>
            <a:r>
              <a:rPr lang="en-US" altLang="zh-CN" sz="1800" dirty="0">
                <a:latin typeface="Microsoft YaHei" panose="020B0503020204020204" pitchFamily="34" charset="-122"/>
                <a:ea typeface="Microsoft YaHei" panose="020B0503020204020204" pitchFamily="34" charset="-122"/>
              </a:rPr>
              <a:t>b</a:t>
            </a:r>
            <a:r>
              <a:rPr lang="en-US" altLang="zh-CN" sz="1800" baseline="-30000" dirty="0">
                <a:latin typeface="Microsoft YaHei" panose="020B0503020204020204" pitchFamily="34" charset="-122"/>
                <a:ea typeface="Microsoft YaHei" panose="020B0503020204020204" pitchFamily="34" charset="-122"/>
              </a:rPr>
              <a:t>ij</a:t>
            </a:r>
            <a:r>
              <a:rPr lang="zh-CN" altLang="en-US" sz="1800" dirty="0">
                <a:latin typeface="Microsoft YaHei" panose="020B0503020204020204" pitchFamily="34" charset="-122"/>
                <a:ea typeface="Microsoft YaHei" panose="020B0503020204020204" pitchFamily="34" charset="-122"/>
              </a:rPr>
              <a:t>改为</a:t>
            </a:r>
            <a:r>
              <a:rPr lang="en-US" altLang="zh-CN" sz="1800" dirty="0">
                <a:latin typeface="Microsoft YaHei" panose="020B0503020204020204" pitchFamily="34" charset="-122"/>
                <a:ea typeface="Microsoft YaHei" panose="020B0503020204020204" pitchFamily="34" charset="-122"/>
              </a:rPr>
              <a:t>a</a:t>
            </a:r>
            <a:r>
              <a:rPr lang="en-US" altLang="zh-CN" sz="1800" baseline="-30000" dirty="0">
                <a:latin typeface="Microsoft YaHei" panose="020B0503020204020204" pitchFamily="34" charset="-122"/>
                <a:ea typeface="Microsoft YaHei" panose="020B0503020204020204" pitchFamily="34" charset="-122"/>
              </a:rPr>
              <a:t>j</a:t>
            </a:r>
            <a:r>
              <a:rPr lang="zh-CN" altLang="en-US" sz="1800" dirty="0">
                <a:latin typeface="Microsoft YaHei" panose="020B0503020204020204" pitchFamily="34" charset="-122"/>
                <a:ea typeface="Microsoft YaHei" panose="020B0503020204020204" pitchFamily="34" charset="-122"/>
              </a:rPr>
              <a:t>；若其中无</a:t>
            </a:r>
            <a:r>
              <a:rPr lang="en-US" altLang="zh-CN" sz="1800" dirty="0">
                <a:latin typeface="Microsoft YaHei" panose="020B0503020204020204" pitchFamily="34" charset="-122"/>
                <a:ea typeface="Microsoft YaHei" panose="020B0503020204020204" pitchFamily="34" charset="-122"/>
              </a:rPr>
              <a:t>a</a:t>
            </a:r>
            <a:r>
              <a:rPr lang="en-US" altLang="zh-CN" sz="1800" baseline="-30000" dirty="0">
                <a:latin typeface="Microsoft YaHei" panose="020B0503020204020204" pitchFamily="34" charset="-122"/>
                <a:ea typeface="Microsoft YaHei" panose="020B0503020204020204" pitchFamily="34" charset="-122"/>
              </a:rPr>
              <a:t>j</a:t>
            </a:r>
            <a:r>
              <a:rPr lang="zh-CN" altLang="en-US" sz="1800" dirty="0">
                <a:latin typeface="Microsoft YaHei" panose="020B0503020204020204" pitchFamily="34" charset="-122"/>
                <a:ea typeface="Microsoft YaHei" panose="020B0503020204020204" pitchFamily="34" charset="-122"/>
              </a:rPr>
              <a:t>，则全部改为</a:t>
            </a:r>
            <a:r>
              <a:rPr lang="en-US" altLang="zh-CN" sz="1800" dirty="0">
                <a:latin typeface="Microsoft YaHei" panose="020B0503020204020204" pitchFamily="34" charset="-122"/>
                <a:ea typeface="Microsoft YaHei" panose="020B0503020204020204" pitchFamily="34" charset="-122"/>
              </a:rPr>
              <a:t>b</a:t>
            </a:r>
            <a:r>
              <a:rPr lang="en-US" altLang="zh-CN" sz="1800" baseline="-30000" dirty="0">
                <a:latin typeface="Microsoft YaHei" panose="020B0503020204020204" pitchFamily="34" charset="-122"/>
                <a:ea typeface="Microsoft YaHei" panose="020B0503020204020204" pitchFamily="34" charset="-122"/>
              </a:rPr>
              <a:t>ij</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i</a:t>
            </a:r>
            <a:r>
              <a:rPr lang="zh-CN" altLang="en-US" sz="1800" dirty="0">
                <a:latin typeface="Microsoft YaHei" panose="020B0503020204020204" pitchFamily="34" charset="-122"/>
                <a:ea typeface="Microsoft YaHei" panose="020B0503020204020204" pitchFamily="34" charset="-122"/>
              </a:rPr>
              <a:t>是这些行的行号最小值）。   </a:t>
            </a:r>
          </a:p>
        </p:txBody>
      </p:sp>
      <p:sp>
        <p:nvSpPr>
          <p:cNvPr id="5" name="标题 4">
            <a:extLst>
              <a:ext uri="{FF2B5EF4-FFF2-40B4-BE49-F238E27FC236}">
                <a16:creationId xmlns:a16="http://schemas.microsoft.com/office/drawing/2014/main" id="{9BEE5C5A-8EF7-C328-6295-70CB44A8676C}"/>
              </a:ext>
            </a:extLst>
          </p:cNvPr>
          <p:cNvSpPr>
            <a:spLocks noGrp="1"/>
          </p:cNvSpPr>
          <p:nvPr>
            <p:ph type="title"/>
          </p:nvPr>
        </p:nvSpPr>
        <p:spPr/>
        <p:txBody>
          <a:bodyPr/>
          <a:lstStyle/>
          <a:p>
            <a:r>
              <a:rPr lang="zh-CN" altLang="en-US" dirty="0"/>
              <a:t>关系模式的分解</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330846" y="1253547"/>
            <a:ext cx="8448943" cy="3031733"/>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marL="0" indent="0" eaLnBrk="1" hangingPunct="1">
              <a:buNone/>
            </a:pPr>
            <a:r>
              <a:rPr lang="zh-CN" altLang="en-US" sz="1800" dirty="0">
                <a:latin typeface="Microsoft YaHei" panose="020B0503020204020204" pitchFamily="34" charset="-122"/>
                <a:ea typeface="Microsoft YaHei" panose="020B0503020204020204" pitchFamily="34" charset="-122"/>
              </a:rPr>
              <a:t>(3)如果发现表中某一行变成了a</a:t>
            </a:r>
            <a:r>
              <a:rPr lang="zh-CN" altLang="en-US" sz="1800" baseline="-30000" dirty="0">
                <a:latin typeface="Microsoft YaHei" panose="020B0503020204020204" pitchFamily="34" charset="-122"/>
                <a:ea typeface="Microsoft YaHei" panose="020B0503020204020204" pitchFamily="34" charset="-122"/>
              </a:rPr>
              <a:t>l</a:t>
            </a:r>
            <a:r>
              <a:rPr lang="zh-CN" altLang="en-US" sz="1800" dirty="0">
                <a:latin typeface="Microsoft YaHei" panose="020B0503020204020204" pitchFamily="34" charset="-122"/>
                <a:ea typeface="Microsoft YaHei" panose="020B0503020204020204" pitchFamily="34" charset="-122"/>
              </a:rPr>
              <a:t>，a</a:t>
            </a:r>
            <a:r>
              <a:rPr lang="zh-CN" altLang="en-US" sz="1800" baseline="-30000" dirty="0">
                <a:latin typeface="Microsoft YaHei" panose="020B0503020204020204" pitchFamily="34" charset="-122"/>
                <a:ea typeface="Microsoft YaHei" panose="020B0503020204020204" pitchFamily="34" charset="-122"/>
              </a:rPr>
              <a:t>2</a:t>
            </a:r>
            <a:r>
              <a:rPr lang="zh-CN" altLang="en-US" sz="1800" dirty="0">
                <a:latin typeface="Microsoft YaHei" panose="020B0503020204020204" pitchFamily="34" charset="-122"/>
                <a:ea typeface="Microsoft YaHei" panose="020B0503020204020204" pitchFamily="34" charset="-122"/>
              </a:rPr>
              <a:t>，…，a</a:t>
            </a:r>
            <a:r>
              <a:rPr lang="zh-CN" altLang="en-US" sz="1800" baseline="-30000" dirty="0">
                <a:latin typeface="Microsoft YaHei" panose="020B0503020204020204" pitchFamily="34" charset="-122"/>
                <a:ea typeface="Microsoft YaHei" panose="020B0503020204020204" pitchFamily="34" charset="-122"/>
              </a:rPr>
              <a:t>n</a:t>
            </a:r>
            <a:r>
              <a:rPr lang="zh-CN" altLang="en-US" sz="1800" dirty="0">
                <a:latin typeface="Microsoft YaHei" panose="020B0503020204020204" pitchFamily="34" charset="-122"/>
                <a:ea typeface="Microsoft YaHei" panose="020B0503020204020204" pitchFamily="34" charset="-122"/>
              </a:rPr>
              <a:t>，则分解ρ具有无损连接性；如果F中所有函数依赖都不能再修改表中的内容，且没有发现这样的行，则分解ρ不具有无损连接性。</a:t>
            </a:r>
          </a:p>
          <a:p>
            <a:pPr marL="0" indent="0" eaLnBrk="1" hangingPunct="1">
              <a:buNone/>
            </a:pPr>
            <a:endParaRPr lang="zh-CN" altLang="en-US" sz="1800" dirty="0">
              <a:latin typeface="Microsoft YaHei" panose="020B0503020204020204" pitchFamily="34" charset="-122"/>
              <a:ea typeface="Microsoft YaHei" panose="020B0503020204020204" pitchFamily="34" charset="-122"/>
            </a:endParaRPr>
          </a:p>
          <a:p>
            <a:pPr marL="0" indent="0" algn="just" eaLnBrk="1" hangingPunct="1">
              <a:buNone/>
            </a:pPr>
            <a:r>
              <a:rPr lang="en-US" altLang="zh-CN" sz="1800" b="1" dirty="0">
                <a:solidFill>
                  <a:schemeClr val="hlink"/>
                </a:solidFill>
                <a:latin typeface="Microsoft YaHei" panose="020B0503020204020204" pitchFamily="34" charset="-122"/>
                <a:ea typeface="Microsoft YaHei" panose="020B0503020204020204" pitchFamily="34" charset="-122"/>
              </a:rPr>
              <a:t>【</a:t>
            </a:r>
            <a:r>
              <a:rPr lang="zh-CN" altLang="en-US" sz="1800" b="1" dirty="0">
                <a:solidFill>
                  <a:schemeClr val="hlink"/>
                </a:solidFill>
                <a:latin typeface="Microsoft YaHei" panose="020B0503020204020204" pitchFamily="34" charset="-122"/>
                <a:ea typeface="Microsoft YaHei" panose="020B0503020204020204" pitchFamily="34" charset="-122"/>
              </a:rPr>
              <a:t>例</a:t>
            </a:r>
            <a:r>
              <a:rPr lang="en-US" altLang="zh-CN" sz="1800" b="1" dirty="0">
                <a:solidFill>
                  <a:schemeClr val="hlink"/>
                </a:solidFill>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设R&lt;U，F&gt;，其中U={A，B，C，D，E}，F={A→C，B→C，C→D，DE→C，CE→A}</a:t>
            </a:r>
          </a:p>
          <a:p>
            <a:pPr marL="0" indent="0" algn="just" eaLnBrk="1" hangingPunct="1">
              <a:buNone/>
            </a:pPr>
            <a:r>
              <a:rPr lang="zh-CN" altLang="en-US" sz="1800" dirty="0">
                <a:latin typeface="Microsoft YaHei" panose="020B0503020204020204" pitchFamily="34" charset="-122"/>
                <a:ea typeface="Microsoft YaHei" panose="020B0503020204020204" pitchFamily="34" charset="-122"/>
              </a:rPr>
              <a:t>ρ={R</a:t>
            </a:r>
            <a:r>
              <a:rPr lang="zh-CN" altLang="en-US" sz="1800" baseline="-30000" dirty="0">
                <a:latin typeface="Microsoft YaHei" panose="020B0503020204020204" pitchFamily="34" charset="-122"/>
                <a:ea typeface="Microsoft YaHei" panose="020B0503020204020204" pitchFamily="34" charset="-122"/>
              </a:rPr>
              <a:t>1</a:t>
            </a:r>
            <a:r>
              <a:rPr lang="zh-CN" altLang="en-US" sz="1800" dirty="0">
                <a:latin typeface="Microsoft YaHei" panose="020B0503020204020204" pitchFamily="34" charset="-122"/>
                <a:ea typeface="Microsoft YaHei" panose="020B0503020204020204" pitchFamily="34" charset="-122"/>
              </a:rPr>
              <a:t>，R</a:t>
            </a:r>
            <a:r>
              <a:rPr lang="zh-CN" altLang="en-US" sz="1800" baseline="-30000" dirty="0">
                <a:latin typeface="Microsoft YaHei" panose="020B0503020204020204" pitchFamily="34" charset="-122"/>
                <a:ea typeface="Microsoft YaHei" panose="020B0503020204020204" pitchFamily="34" charset="-122"/>
              </a:rPr>
              <a:t>2</a:t>
            </a:r>
            <a:r>
              <a:rPr lang="zh-CN" altLang="en-US" sz="1800" dirty="0">
                <a:latin typeface="Microsoft YaHei" panose="020B0503020204020204" pitchFamily="34" charset="-122"/>
                <a:ea typeface="Microsoft YaHei" panose="020B0503020204020204" pitchFamily="34" charset="-122"/>
              </a:rPr>
              <a:t>，R</a:t>
            </a:r>
            <a:r>
              <a:rPr lang="zh-CN" altLang="en-US" sz="1800" baseline="-30000" dirty="0">
                <a:latin typeface="Microsoft YaHei" panose="020B0503020204020204" pitchFamily="34" charset="-122"/>
                <a:ea typeface="Microsoft YaHei" panose="020B0503020204020204" pitchFamily="34" charset="-122"/>
              </a:rPr>
              <a:t>3</a:t>
            </a:r>
            <a:r>
              <a:rPr lang="zh-CN" altLang="en-US" sz="1800" dirty="0">
                <a:latin typeface="Microsoft YaHei" panose="020B0503020204020204" pitchFamily="34" charset="-122"/>
                <a:ea typeface="Microsoft YaHei" panose="020B0503020204020204" pitchFamily="34" charset="-122"/>
              </a:rPr>
              <a:t>，R</a:t>
            </a:r>
            <a:r>
              <a:rPr lang="zh-CN" altLang="en-US" sz="1800" baseline="-30000" dirty="0">
                <a:latin typeface="Microsoft YaHei" panose="020B0503020204020204" pitchFamily="34" charset="-122"/>
                <a:ea typeface="Microsoft YaHei" panose="020B0503020204020204" pitchFamily="34" charset="-122"/>
              </a:rPr>
              <a:t>4</a:t>
            </a:r>
            <a:r>
              <a:rPr lang="zh-CN" altLang="en-US" sz="1800" dirty="0">
                <a:latin typeface="Microsoft YaHei" panose="020B0503020204020204" pitchFamily="34" charset="-122"/>
                <a:ea typeface="Microsoft YaHei" panose="020B0503020204020204" pitchFamily="34" charset="-122"/>
              </a:rPr>
              <a:t>，R</a:t>
            </a:r>
            <a:r>
              <a:rPr lang="zh-CN" altLang="en-US" sz="1800" baseline="-30000" dirty="0">
                <a:latin typeface="Microsoft YaHei" panose="020B0503020204020204" pitchFamily="34" charset="-122"/>
                <a:ea typeface="Microsoft YaHei" panose="020B0503020204020204" pitchFamily="34" charset="-122"/>
              </a:rPr>
              <a:t>5</a:t>
            </a:r>
            <a:r>
              <a:rPr lang="zh-CN" altLang="en-US" sz="1800" dirty="0">
                <a:latin typeface="Microsoft YaHei" panose="020B0503020204020204" pitchFamily="34" charset="-122"/>
                <a:ea typeface="Microsoft YaHei" panose="020B0503020204020204" pitchFamily="34" charset="-122"/>
              </a:rPr>
              <a:t>}，这里R</a:t>
            </a:r>
            <a:r>
              <a:rPr lang="zh-CN" altLang="en-US" sz="1800" baseline="-30000" dirty="0">
                <a:latin typeface="Microsoft YaHei" panose="020B0503020204020204" pitchFamily="34" charset="-122"/>
                <a:ea typeface="Microsoft YaHei" panose="020B0503020204020204" pitchFamily="34" charset="-122"/>
              </a:rPr>
              <a:t>1</a:t>
            </a:r>
            <a:r>
              <a:rPr lang="zh-CN" altLang="en-US" sz="1800" dirty="0">
                <a:latin typeface="Microsoft YaHei" panose="020B0503020204020204" pitchFamily="34" charset="-122"/>
                <a:ea typeface="Microsoft YaHei" panose="020B0503020204020204" pitchFamily="34" charset="-122"/>
              </a:rPr>
              <a:t>=AD，R</a:t>
            </a:r>
            <a:r>
              <a:rPr lang="zh-CN" altLang="en-US" sz="1800" baseline="-30000" dirty="0">
                <a:latin typeface="Microsoft YaHei" panose="020B0503020204020204" pitchFamily="34" charset="-122"/>
                <a:ea typeface="Microsoft YaHei" panose="020B0503020204020204" pitchFamily="34" charset="-122"/>
              </a:rPr>
              <a:t>2</a:t>
            </a:r>
            <a:r>
              <a:rPr lang="zh-CN" altLang="en-US" sz="1800" dirty="0">
                <a:latin typeface="Microsoft YaHei" panose="020B0503020204020204" pitchFamily="34" charset="-122"/>
                <a:ea typeface="Microsoft YaHei" panose="020B0503020204020204" pitchFamily="34" charset="-122"/>
              </a:rPr>
              <a:t>=AB，R</a:t>
            </a:r>
            <a:r>
              <a:rPr lang="zh-CN" altLang="en-US" sz="1800" baseline="-30000" dirty="0">
                <a:latin typeface="Microsoft YaHei" panose="020B0503020204020204" pitchFamily="34" charset="-122"/>
                <a:ea typeface="Microsoft YaHei" panose="020B0503020204020204" pitchFamily="34" charset="-122"/>
              </a:rPr>
              <a:t>3</a:t>
            </a:r>
            <a:r>
              <a:rPr lang="zh-CN" altLang="en-US" sz="1800" dirty="0">
                <a:latin typeface="Microsoft YaHei" panose="020B0503020204020204" pitchFamily="34" charset="-122"/>
                <a:ea typeface="Microsoft YaHei" panose="020B0503020204020204" pitchFamily="34" charset="-122"/>
              </a:rPr>
              <a:t>=BE，R</a:t>
            </a:r>
            <a:r>
              <a:rPr lang="zh-CN" altLang="en-US" sz="1800" baseline="-30000" dirty="0">
                <a:latin typeface="Microsoft YaHei" panose="020B0503020204020204" pitchFamily="34" charset="-122"/>
                <a:ea typeface="Microsoft YaHei" panose="020B0503020204020204" pitchFamily="34" charset="-122"/>
              </a:rPr>
              <a:t>4</a:t>
            </a:r>
            <a:r>
              <a:rPr lang="zh-CN" altLang="en-US" sz="1800" dirty="0">
                <a:latin typeface="Microsoft YaHei" panose="020B0503020204020204" pitchFamily="34" charset="-122"/>
                <a:ea typeface="Microsoft YaHei" panose="020B0503020204020204" pitchFamily="34" charset="-122"/>
              </a:rPr>
              <a:t>=CDE，R</a:t>
            </a:r>
            <a:r>
              <a:rPr lang="zh-CN" altLang="en-US" sz="1800" baseline="-30000" dirty="0">
                <a:latin typeface="Microsoft YaHei" panose="020B0503020204020204" pitchFamily="34" charset="-122"/>
                <a:ea typeface="Microsoft YaHei" panose="020B0503020204020204" pitchFamily="34" charset="-122"/>
              </a:rPr>
              <a:t>5</a:t>
            </a:r>
            <a:r>
              <a:rPr lang="zh-CN" altLang="en-US" sz="1800" dirty="0">
                <a:latin typeface="Microsoft YaHei" panose="020B0503020204020204" pitchFamily="34" charset="-122"/>
                <a:ea typeface="Microsoft YaHei" panose="020B0503020204020204" pitchFamily="34" charset="-122"/>
              </a:rPr>
              <a:t>=AE。</a:t>
            </a:r>
          </a:p>
          <a:p>
            <a:pPr marL="0" indent="0" eaLnBrk="1" hangingPunct="1">
              <a:buNone/>
            </a:pPr>
            <a:r>
              <a:rPr lang="zh-CN" altLang="en-US" sz="1800" dirty="0">
                <a:latin typeface="Microsoft YaHei" panose="020B0503020204020204" pitchFamily="34" charset="-122"/>
                <a:ea typeface="Microsoft YaHei" panose="020B0503020204020204" pitchFamily="34" charset="-122"/>
              </a:rPr>
              <a:t>  判断分解ρ是否具有无损连接性。 </a:t>
            </a:r>
          </a:p>
        </p:txBody>
      </p:sp>
      <p:sp>
        <p:nvSpPr>
          <p:cNvPr id="5" name="标题 4">
            <a:extLst>
              <a:ext uri="{FF2B5EF4-FFF2-40B4-BE49-F238E27FC236}">
                <a16:creationId xmlns:a16="http://schemas.microsoft.com/office/drawing/2014/main" id="{C8AFE830-7AD2-6527-DA53-341172D75F75}"/>
              </a:ext>
            </a:extLst>
          </p:cNvPr>
          <p:cNvSpPr>
            <a:spLocks noGrp="1"/>
          </p:cNvSpPr>
          <p:nvPr>
            <p:ph type="title"/>
          </p:nvPr>
        </p:nvSpPr>
        <p:spPr/>
        <p:txBody>
          <a:bodyPr/>
          <a:lstStyle/>
          <a:p>
            <a:r>
              <a:rPr lang="zh-CN" altLang="en-US" dirty="0"/>
              <a:t>关系模式的分解</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264424" y="108853"/>
            <a:ext cx="7886700" cy="450000"/>
          </a:xfrm>
        </p:spPr>
        <p:txBody>
          <a:bodyPr vert="horz" wrap="square" lIns="68580" tIns="34290" rIns="68580" bIns="34290" numCol="1" rtlCol="0" anchor="b" anchorCtr="0" compatLnSpc="1">
            <a:normAutofit/>
          </a:bodyPr>
          <a:lstStyle/>
          <a:p>
            <a:pPr algn="ctr" defTabSz="685800" fontAlgn="base">
              <a:lnSpc>
                <a:spcPct val="100000"/>
              </a:lnSpc>
              <a:spcAft>
                <a:spcPct val="0"/>
              </a:spcAft>
              <a:defRPr/>
            </a:pPr>
            <a:r>
              <a:rPr lang="zh-CN" altLang="en-US" sz="2400" b="1" i="1" kern="0" dirty="0">
                <a:solidFill>
                  <a:schemeClr val="tx2"/>
                </a:solidFill>
                <a:effectLst>
                  <a:outerShdw blurRad="38100" dist="38100" dir="2700000" algn="tl">
                    <a:srgbClr val="C0C0C0"/>
                  </a:outerShdw>
                </a:effectLst>
                <a:latin typeface="楷体" panose="02010609060101010101" pitchFamily="49" charset="-122"/>
                <a:ea typeface="楷体" panose="02010609060101010101" pitchFamily="49" charset="-122"/>
              </a:rPr>
              <a:t>F={A→C，B→C，C→D，DE→C，CE→A}</a:t>
            </a:r>
            <a:endParaRPr lang="zh-CN" altLang="en-US" sz="2400" b="1" kern="0" dirty="0">
              <a:solidFill>
                <a:schemeClr val="hlink"/>
              </a:solidFill>
              <a:latin typeface="+mj-lt"/>
              <a:ea typeface="+mj-ea"/>
            </a:endParaRPr>
          </a:p>
        </p:txBody>
      </p:sp>
      <p:graphicFrame>
        <p:nvGraphicFramePr>
          <p:cNvPr id="3" name="表格 2">
            <a:extLst>
              <a:ext uri="{FF2B5EF4-FFF2-40B4-BE49-F238E27FC236}">
                <a16:creationId xmlns:a16="http://schemas.microsoft.com/office/drawing/2014/main" id="{43B60970-EB46-6E24-B2E4-5FB982EFF345}"/>
              </a:ext>
            </a:extLst>
          </p:cNvPr>
          <p:cNvGraphicFramePr>
            <a:graphicFrameLocks noGrp="1"/>
          </p:cNvGraphicFramePr>
          <p:nvPr>
            <p:extLst>
              <p:ext uri="{D42A27DB-BD31-4B8C-83A1-F6EECF244321}">
                <p14:modId xmlns:p14="http://schemas.microsoft.com/office/powerpoint/2010/main" val="1412592842"/>
              </p:ext>
            </p:extLst>
          </p:nvPr>
        </p:nvGraphicFramePr>
        <p:xfrm>
          <a:off x="339227" y="663737"/>
          <a:ext cx="8487060" cy="2255520"/>
        </p:xfrm>
        <a:graphic>
          <a:graphicData uri="http://schemas.openxmlformats.org/drawingml/2006/table">
            <a:tbl>
              <a:tblPr firstRow="1" bandRow="1">
                <a:tableStyleId>{5C22544A-7EE6-4342-B048-85BDC9FD1C3A}</a:tableStyleId>
              </a:tblPr>
              <a:tblGrid>
                <a:gridCol w="1414510">
                  <a:extLst>
                    <a:ext uri="{9D8B030D-6E8A-4147-A177-3AD203B41FA5}">
                      <a16:colId xmlns:a16="http://schemas.microsoft.com/office/drawing/2014/main" val="3464401883"/>
                    </a:ext>
                  </a:extLst>
                </a:gridCol>
                <a:gridCol w="1414510">
                  <a:extLst>
                    <a:ext uri="{9D8B030D-6E8A-4147-A177-3AD203B41FA5}">
                      <a16:colId xmlns:a16="http://schemas.microsoft.com/office/drawing/2014/main" val="2701828476"/>
                    </a:ext>
                  </a:extLst>
                </a:gridCol>
                <a:gridCol w="1414510">
                  <a:extLst>
                    <a:ext uri="{9D8B030D-6E8A-4147-A177-3AD203B41FA5}">
                      <a16:colId xmlns:a16="http://schemas.microsoft.com/office/drawing/2014/main" val="1252186464"/>
                    </a:ext>
                  </a:extLst>
                </a:gridCol>
                <a:gridCol w="1414510">
                  <a:extLst>
                    <a:ext uri="{9D8B030D-6E8A-4147-A177-3AD203B41FA5}">
                      <a16:colId xmlns:a16="http://schemas.microsoft.com/office/drawing/2014/main" val="1182766684"/>
                    </a:ext>
                  </a:extLst>
                </a:gridCol>
                <a:gridCol w="1414510">
                  <a:extLst>
                    <a:ext uri="{9D8B030D-6E8A-4147-A177-3AD203B41FA5}">
                      <a16:colId xmlns:a16="http://schemas.microsoft.com/office/drawing/2014/main" val="1544040661"/>
                    </a:ext>
                  </a:extLst>
                </a:gridCol>
                <a:gridCol w="1414510">
                  <a:extLst>
                    <a:ext uri="{9D8B030D-6E8A-4147-A177-3AD203B41FA5}">
                      <a16:colId xmlns:a16="http://schemas.microsoft.com/office/drawing/2014/main" val="740829073"/>
                    </a:ext>
                  </a:extLst>
                </a:gridCol>
              </a:tblGrid>
              <a:tr h="201056">
                <a:tc>
                  <a:txBody>
                    <a:bodyPr/>
                    <a:lstStyle/>
                    <a:p>
                      <a:pPr algn="ctr"/>
                      <a:r>
                        <a:rPr lang="en-US" altLang="zh-CN" sz="1400" dirty="0"/>
                        <a:t>R</a:t>
                      </a:r>
                      <a:r>
                        <a:rPr lang="en-US" altLang="zh-CN" sz="1400" baseline="-25000" dirty="0"/>
                        <a:t>i</a:t>
                      </a:r>
                      <a:endParaRPr lang="zh-CN" altLang="en-US" sz="1400" baseline="-25000" dirty="0"/>
                    </a:p>
                  </a:txBody>
                  <a:tcPr/>
                </a:tc>
                <a:tc>
                  <a:txBody>
                    <a:bodyPr/>
                    <a:lstStyle/>
                    <a:p>
                      <a:pPr algn="ctr"/>
                      <a:r>
                        <a:rPr lang="en-US" altLang="zh-CN" sz="1400" dirty="0"/>
                        <a:t>A</a:t>
                      </a:r>
                      <a:endParaRPr lang="zh-CN" altLang="en-US" sz="1400" dirty="0"/>
                    </a:p>
                  </a:txBody>
                  <a:tcPr/>
                </a:tc>
                <a:tc>
                  <a:txBody>
                    <a:bodyPr/>
                    <a:lstStyle/>
                    <a:p>
                      <a:pPr algn="ctr"/>
                      <a:r>
                        <a:rPr lang="en-US" altLang="zh-CN" sz="1400" dirty="0"/>
                        <a:t>B</a:t>
                      </a:r>
                      <a:endParaRPr lang="zh-CN" altLang="en-US" sz="1400" dirty="0"/>
                    </a:p>
                  </a:txBody>
                  <a:tcPr/>
                </a:tc>
                <a:tc>
                  <a:txBody>
                    <a:bodyPr/>
                    <a:lstStyle/>
                    <a:p>
                      <a:pPr algn="ctr"/>
                      <a:r>
                        <a:rPr lang="en-US" altLang="zh-CN" sz="1400" dirty="0"/>
                        <a:t>C</a:t>
                      </a:r>
                      <a:endParaRPr lang="zh-CN" altLang="en-US" sz="1400" dirty="0"/>
                    </a:p>
                  </a:txBody>
                  <a:tcPr/>
                </a:tc>
                <a:tc>
                  <a:txBody>
                    <a:bodyPr/>
                    <a:lstStyle/>
                    <a:p>
                      <a:pPr algn="ctr"/>
                      <a:r>
                        <a:rPr lang="en-US" altLang="zh-CN" sz="1400" dirty="0"/>
                        <a:t>D</a:t>
                      </a:r>
                      <a:endParaRPr lang="zh-CN" altLang="en-US" sz="1400" dirty="0"/>
                    </a:p>
                  </a:txBody>
                  <a:tcPr/>
                </a:tc>
                <a:tc>
                  <a:txBody>
                    <a:bodyPr/>
                    <a:lstStyle/>
                    <a:p>
                      <a:pPr algn="ctr"/>
                      <a:r>
                        <a:rPr lang="en-US" altLang="zh-CN" sz="1400" dirty="0"/>
                        <a:t>E</a:t>
                      </a:r>
                      <a:endParaRPr lang="zh-CN" altLang="en-US" sz="1400" dirty="0"/>
                    </a:p>
                  </a:txBody>
                  <a:tcPr/>
                </a:tc>
                <a:extLst>
                  <a:ext uri="{0D108BD9-81ED-4DB2-BD59-A6C34878D82A}">
                    <a16:rowId xmlns:a16="http://schemas.microsoft.com/office/drawing/2014/main" val="2081097349"/>
                  </a:ext>
                </a:extLst>
              </a:tr>
              <a:tr h="201056">
                <a:tc>
                  <a:txBody>
                    <a:bodyPr/>
                    <a:lstStyle/>
                    <a:p>
                      <a:pPr algn="ctr"/>
                      <a:r>
                        <a:rPr lang="en-US" altLang="zh-CN" sz="1400" dirty="0"/>
                        <a:t>AD</a:t>
                      </a:r>
                      <a:endParaRPr lang="zh-CN" altLang="en-US" sz="1400" dirty="0"/>
                    </a:p>
                  </a:txBody>
                  <a:tcPr anchor="ctr"/>
                </a:tc>
                <a:tc>
                  <a:txBody>
                    <a:bodyPr/>
                    <a:lstStyle/>
                    <a:p>
                      <a:pPr algn="ctr"/>
                      <a:r>
                        <a:rPr lang="en-US" altLang="zh-CN" sz="1400" dirty="0"/>
                        <a:t>a</a:t>
                      </a:r>
                      <a:r>
                        <a:rPr lang="en-US" altLang="zh-CN" sz="1400" baseline="-25000" dirty="0"/>
                        <a:t>1</a:t>
                      </a:r>
                      <a:endParaRPr lang="zh-CN" altLang="en-US" sz="1400" baseline="-25000" dirty="0"/>
                    </a:p>
                  </a:txBody>
                  <a:tcPr anchor="ctr"/>
                </a:tc>
                <a:tc>
                  <a:txBody>
                    <a:bodyPr/>
                    <a:lstStyle/>
                    <a:p>
                      <a:pPr algn="ctr"/>
                      <a:r>
                        <a:rPr lang="en-US" altLang="zh-CN" sz="1400" dirty="0"/>
                        <a:t>b</a:t>
                      </a:r>
                      <a:r>
                        <a:rPr lang="en-US" altLang="zh-CN" sz="1400" baseline="-25000" dirty="0"/>
                        <a:t>12</a:t>
                      </a:r>
                      <a:endParaRPr lang="zh-CN" altLang="en-US" sz="1400" baseline="-25000" dirty="0"/>
                    </a:p>
                  </a:txBody>
                  <a:tcPr anchor="ctr"/>
                </a:tc>
                <a:tc>
                  <a:txBody>
                    <a:bodyPr/>
                    <a:lstStyle/>
                    <a:p>
                      <a:pPr algn="ctr"/>
                      <a:r>
                        <a:rPr lang="en-US" altLang="zh-CN" sz="1400" dirty="0"/>
                        <a:t>b</a:t>
                      </a:r>
                      <a:r>
                        <a:rPr lang="en-US" altLang="zh-CN" sz="1400" baseline="-25000" dirty="0"/>
                        <a:t>13</a:t>
                      </a:r>
                      <a:endParaRPr lang="zh-CN" altLang="en-US" sz="1400" baseline="-25000" dirty="0"/>
                    </a:p>
                  </a:txBody>
                  <a:tcPr anchor="ctr"/>
                </a:tc>
                <a:tc>
                  <a:txBody>
                    <a:bodyPr/>
                    <a:lstStyle/>
                    <a:p>
                      <a:pPr algn="ctr"/>
                      <a:r>
                        <a:rPr lang="en-US" altLang="zh-CN" sz="1400" dirty="0"/>
                        <a:t>a</a:t>
                      </a:r>
                      <a:r>
                        <a:rPr lang="en-US" altLang="zh-CN" sz="1400" baseline="-25000" dirty="0"/>
                        <a:t>4</a:t>
                      </a:r>
                      <a:endParaRPr lang="zh-CN" altLang="en-US" sz="1400" baseline="-25000" dirty="0"/>
                    </a:p>
                  </a:txBody>
                  <a:tcPr anchor="ctr"/>
                </a:tc>
                <a:tc>
                  <a:txBody>
                    <a:bodyPr/>
                    <a:lstStyle/>
                    <a:p>
                      <a:pPr algn="ctr"/>
                      <a:r>
                        <a:rPr lang="en-US" altLang="zh-CN" sz="1400" dirty="0"/>
                        <a:t>b</a:t>
                      </a:r>
                      <a:r>
                        <a:rPr lang="en-US" altLang="zh-CN" sz="1400" baseline="-25000" dirty="0"/>
                        <a:t>15</a:t>
                      </a:r>
                      <a:endParaRPr lang="zh-CN" altLang="en-US" sz="1400" baseline="-25000" dirty="0"/>
                    </a:p>
                  </a:txBody>
                  <a:tcPr anchor="ctr"/>
                </a:tc>
                <a:extLst>
                  <a:ext uri="{0D108BD9-81ED-4DB2-BD59-A6C34878D82A}">
                    <a16:rowId xmlns:a16="http://schemas.microsoft.com/office/drawing/2014/main" val="1443736089"/>
                  </a:ext>
                </a:extLst>
              </a:tr>
              <a:tr h="201056">
                <a:tc>
                  <a:txBody>
                    <a:bodyPr/>
                    <a:lstStyle/>
                    <a:p>
                      <a:pPr algn="ctr"/>
                      <a:r>
                        <a:rPr lang="en-US" altLang="zh-CN" sz="1400" dirty="0"/>
                        <a:t>AB</a:t>
                      </a:r>
                      <a:endParaRPr lang="zh-CN" altLang="en-US" sz="1400" dirty="0"/>
                    </a:p>
                  </a:txBody>
                  <a:tcPr anchor="ctr"/>
                </a:tc>
                <a:tc>
                  <a:txBody>
                    <a:bodyPr/>
                    <a:lstStyle/>
                    <a:p>
                      <a:pPr algn="ctr"/>
                      <a:r>
                        <a:rPr lang="en-US" altLang="zh-CN" sz="1400" dirty="0"/>
                        <a:t>a</a:t>
                      </a:r>
                      <a:r>
                        <a:rPr lang="en-US" altLang="zh-CN" sz="1400" baseline="-25000" dirty="0"/>
                        <a:t>1</a:t>
                      </a:r>
                      <a:endParaRPr lang="zh-CN" altLang="en-US" sz="1400" baseline="-25000" dirty="0"/>
                    </a:p>
                  </a:txBody>
                  <a:tcPr anchor="ctr"/>
                </a:tc>
                <a:tc>
                  <a:txBody>
                    <a:bodyPr/>
                    <a:lstStyle/>
                    <a:p>
                      <a:pPr algn="ctr"/>
                      <a:r>
                        <a:rPr lang="en-US" altLang="zh-CN" sz="1400" dirty="0"/>
                        <a:t>a</a:t>
                      </a:r>
                      <a:r>
                        <a:rPr lang="en-US" altLang="zh-CN" sz="1400" baseline="-25000" dirty="0"/>
                        <a:t>2</a:t>
                      </a:r>
                      <a:endParaRPr lang="zh-CN" altLang="en-US" sz="1400"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①b</a:t>
                      </a:r>
                      <a:r>
                        <a:rPr lang="en-US" altLang="zh-CN" sz="1400" baseline="-25000" dirty="0"/>
                        <a:t>23</a:t>
                      </a:r>
                      <a:r>
                        <a:rPr lang="zh-CN" altLang="en-US" sz="1400" dirty="0">
                          <a:latin typeface="Microsoft YaHei" panose="020B0503020204020204" pitchFamily="34" charset="-122"/>
                          <a:ea typeface="Microsoft YaHei" panose="020B0503020204020204" pitchFamily="34" charset="-122"/>
                        </a:rPr>
                        <a:t>→</a:t>
                      </a:r>
                      <a:r>
                        <a:rPr lang="en-US" altLang="zh-CN" sz="1400" dirty="0"/>
                        <a:t>b</a:t>
                      </a:r>
                      <a:r>
                        <a:rPr lang="en-US" altLang="zh-CN" sz="1400" baseline="-25000" dirty="0"/>
                        <a:t>13</a:t>
                      </a:r>
                      <a:endParaRPr lang="zh-CN" altLang="en-US" sz="1400" baseline="-25000" dirty="0"/>
                    </a:p>
                  </a:txBody>
                  <a:tcPr anchor="ctr"/>
                </a:tc>
                <a:tc>
                  <a:txBody>
                    <a:bodyPr/>
                    <a:lstStyle/>
                    <a:p>
                      <a:pPr algn="ctr"/>
                      <a:r>
                        <a:rPr lang="en-US" altLang="zh-CN" sz="1400" dirty="0"/>
                        <a:t>③b</a:t>
                      </a:r>
                      <a:r>
                        <a:rPr lang="en-US" altLang="zh-CN" sz="1400" baseline="-25000" dirty="0"/>
                        <a:t>24</a:t>
                      </a:r>
                      <a:r>
                        <a:rPr lang="zh-CN" altLang="en-US" sz="1400" dirty="0">
                          <a:latin typeface="Microsoft YaHei" panose="020B0503020204020204" pitchFamily="34" charset="-122"/>
                          <a:ea typeface="Microsoft YaHei" panose="020B0503020204020204" pitchFamily="34" charset="-122"/>
                        </a:rPr>
                        <a:t>→</a:t>
                      </a:r>
                      <a:r>
                        <a:rPr lang="en-US" altLang="zh-CN" sz="1400" dirty="0"/>
                        <a:t>a</a:t>
                      </a:r>
                      <a:r>
                        <a:rPr lang="en-US" altLang="zh-CN" sz="1400" baseline="-25000" dirty="0"/>
                        <a:t>4</a:t>
                      </a:r>
                      <a:endParaRPr lang="zh-CN" altLang="en-US" sz="1400" dirty="0"/>
                    </a:p>
                  </a:txBody>
                  <a:tcPr anchor="ctr"/>
                </a:tc>
                <a:tc>
                  <a:txBody>
                    <a:bodyPr/>
                    <a:lstStyle/>
                    <a:p>
                      <a:pPr algn="ctr"/>
                      <a:r>
                        <a:rPr lang="en-US" altLang="zh-CN" sz="1400" dirty="0"/>
                        <a:t>b</a:t>
                      </a:r>
                      <a:r>
                        <a:rPr lang="en-US" altLang="zh-CN" sz="1400" baseline="-25000" dirty="0"/>
                        <a:t>25</a:t>
                      </a:r>
                      <a:endParaRPr lang="zh-CN" altLang="en-US" sz="1400" baseline="-25000" dirty="0"/>
                    </a:p>
                  </a:txBody>
                  <a:tcPr anchor="ctr"/>
                </a:tc>
                <a:extLst>
                  <a:ext uri="{0D108BD9-81ED-4DB2-BD59-A6C34878D82A}">
                    <a16:rowId xmlns:a16="http://schemas.microsoft.com/office/drawing/2014/main" val="1335239063"/>
                  </a:ext>
                </a:extLst>
              </a:tr>
              <a:tr h="347027">
                <a:tc>
                  <a:txBody>
                    <a:bodyPr/>
                    <a:lstStyle/>
                    <a:p>
                      <a:pPr algn="ctr"/>
                      <a:r>
                        <a:rPr lang="en-US" altLang="zh-CN" sz="1400" dirty="0"/>
                        <a:t>BE</a:t>
                      </a:r>
                      <a:endParaRPr lang="zh-CN" altLang="en-US" sz="1400" dirty="0"/>
                    </a:p>
                  </a:txBody>
                  <a:tcPr anchor="ctr"/>
                </a:tc>
                <a:tc>
                  <a:txBody>
                    <a:bodyPr/>
                    <a:lstStyle/>
                    <a:p>
                      <a:pPr algn="ctr"/>
                      <a:r>
                        <a:rPr lang="en-US" altLang="zh-CN" sz="1400" dirty="0"/>
                        <a:t>⑤b</a:t>
                      </a:r>
                      <a:r>
                        <a:rPr lang="en-US" altLang="zh-CN" sz="1400" baseline="-25000" dirty="0"/>
                        <a:t>31</a:t>
                      </a:r>
                      <a:r>
                        <a:rPr lang="zh-CN" altLang="en-US" sz="1400" dirty="0">
                          <a:latin typeface="Microsoft YaHei" panose="020B0503020204020204" pitchFamily="34" charset="-122"/>
                          <a:ea typeface="Microsoft YaHei" panose="020B0503020204020204" pitchFamily="34" charset="-122"/>
                        </a:rPr>
                        <a:t>→</a:t>
                      </a:r>
                      <a:r>
                        <a:rPr lang="en-US" altLang="zh-CN" sz="1400" dirty="0"/>
                        <a:t>a</a:t>
                      </a:r>
                      <a:r>
                        <a:rPr lang="en-US" altLang="zh-CN" sz="1400" baseline="-25000" dirty="0"/>
                        <a:t>1</a:t>
                      </a:r>
                      <a:endParaRPr lang="zh-CN" altLang="en-US" sz="1400" dirty="0"/>
                    </a:p>
                  </a:txBody>
                  <a:tcPr anchor="ctr"/>
                </a:tc>
                <a:tc>
                  <a:txBody>
                    <a:bodyPr/>
                    <a:lstStyle/>
                    <a:p>
                      <a:pPr algn="ctr"/>
                      <a:r>
                        <a:rPr lang="en-US" altLang="zh-CN" sz="1400" dirty="0"/>
                        <a:t>a</a:t>
                      </a:r>
                      <a:r>
                        <a:rPr lang="en-US" altLang="zh-CN" sz="1400" baseline="-25000" dirty="0"/>
                        <a:t>2</a:t>
                      </a:r>
                      <a:endParaRPr lang="zh-CN" altLang="en-US" sz="1400"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②b</a:t>
                      </a:r>
                      <a:r>
                        <a:rPr lang="en-US" altLang="zh-CN" sz="1400" baseline="-25000" dirty="0"/>
                        <a:t>33</a:t>
                      </a:r>
                      <a:r>
                        <a:rPr lang="zh-CN" altLang="en-US" sz="1400" dirty="0">
                          <a:latin typeface="Microsoft YaHei" panose="020B0503020204020204" pitchFamily="34" charset="-122"/>
                          <a:ea typeface="Microsoft YaHei" panose="020B0503020204020204" pitchFamily="34" charset="-122"/>
                        </a:rPr>
                        <a:t>→</a:t>
                      </a:r>
                      <a:r>
                        <a:rPr lang="en-US" altLang="zh-CN" sz="1400" dirty="0"/>
                        <a:t>b</a:t>
                      </a:r>
                      <a:r>
                        <a:rPr lang="en-US" altLang="zh-CN" sz="1400" baseline="-25000" dirty="0"/>
                        <a:t>13</a:t>
                      </a:r>
                    </a:p>
                    <a:p>
                      <a:pPr algn="ctr"/>
                      <a:r>
                        <a:rPr lang="en-US" altLang="zh-CN" sz="1400" baseline="0" dirty="0"/>
                        <a:t>④</a:t>
                      </a:r>
                      <a:r>
                        <a:rPr lang="en-US" altLang="zh-CN" sz="1400" dirty="0"/>
                        <a:t>b</a:t>
                      </a:r>
                      <a:r>
                        <a:rPr lang="en-US" altLang="zh-CN" sz="1400" baseline="-25000" dirty="0"/>
                        <a:t>13</a:t>
                      </a:r>
                      <a:r>
                        <a:rPr lang="zh-CN" altLang="en-US" sz="1400" dirty="0">
                          <a:latin typeface="Microsoft YaHei" panose="020B0503020204020204" pitchFamily="34" charset="-122"/>
                          <a:ea typeface="Microsoft YaHei" panose="020B0503020204020204" pitchFamily="34" charset="-122"/>
                        </a:rPr>
                        <a:t>→</a:t>
                      </a:r>
                      <a:r>
                        <a:rPr lang="en-US" altLang="zh-CN" sz="1400" dirty="0"/>
                        <a:t>a</a:t>
                      </a:r>
                      <a:r>
                        <a:rPr lang="en-US" altLang="zh-CN" sz="1400" baseline="-25000" dirty="0"/>
                        <a:t>3</a:t>
                      </a:r>
                      <a:endParaRPr lang="zh-CN" altLang="en-US" sz="1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③b</a:t>
                      </a:r>
                      <a:r>
                        <a:rPr lang="en-US" altLang="zh-CN" sz="1400" baseline="-25000" dirty="0"/>
                        <a:t>34</a:t>
                      </a:r>
                      <a:r>
                        <a:rPr lang="zh-CN" altLang="en-US" sz="1400" dirty="0">
                          <a:latin typeface="Microsoft YaHei" panose="020B0503020204020204" pitchFamily="34" charset="-122"/>
                          <a:ea typeface="Microsoft YaHei" panose="020B0503020204020204" pitchFamily="34" charset="-122"/>
                        </a:rPr>
                        <a:t>→</a:t>
                      </a:r>
                      <a:r>
                        <a:rPr lang="en-US" altLang="zh-CN" sz="1400" dirty="0"/>
                        <a:t>a</a:t>
                      </a:r>
                      <a:r>
                        <a:rPr lang="en-US" altLang="zh-CN" sz="1400" baseline="-25000" dirty="0"/>
                        <a:t>4</a:t>
                      </a:r>
                      <a:endParaRPr lang="zh-CN" altLang="en-US" sz="1400" dirty="0"/>
                    </a:p>
                  </a:txBody>
                  <a:tcPr anchor="ctr"/>
                </a:tc>
                <a:tc>
                  <a:txBody>
                    <a:bodyPr/>
                    <a:lstStyle/>
                    <a:p>
                      <a:pPr algn="ctr"/>
                      <a:r>
                        <a:rPr lang="en-US" altLang="zh-CN" sz="1400" dirty="0"/>
                        <a:t>a</a:t>
                      </a:r>
                      <a:r>
                        <a:rPr lang="en-US" altLang="zh-CN" sz="1400" baseline="-25000" dirty="0"/>
                        <a:t>5</a:t>
                      </a:r>
                      <a:endParaRPr lang="zh-CN" altLang="en-US" sz="1400" baseline="-25000" dirty="0"/>
                    </a:p>
                  </a:txBody>
                  <a:tcPr anchor="ctr"/>
                </a:tc>
                <a:extLst>
                  <a:ext uri="{0D108BD9-81ED-4DB2-BD59-A6C34878D82A}">
                    <a16:rowId xmlns:a16="http://schemas.microsoft.com/office/drawing/2014/main" val="408438451"/>
                  </a:ext>
                </a:extLst>
              </a:tr>
              <a:tr h="201056">
                <a:tc>
                  <a:txBody>
                    <a:bodyPr/>
                    <a:lstStyle/>
                    <a:p>
                      <a:pPr algn="ctr"/>
                      <a:r>
                        <a:rPr lang="en-US" altLang="zh-CN" sz="1400" dirty="0"/>
                        <a:t>CDE</a:t>
                      </a:r>
                      <a:endParaRPr lang="zh-CN" altLang="en-US" sz="1400" dirty="0"/>
                    </a:p>
                  </a:txBody>
                  <a:tcPr anchor="ctr"/>
                </a:tc>
                <a:tc>
                  <a:txBody>
                    <a:bodyPr/>
                    <a:lstStyle/>
                    <a:p>
                      <a:pPr algn="ctr"/>
                      <a:r>
                        <a:rPr lang="en-US" altLang="zh-CN" sz="1400" dirty="0"/>
                        <a:t>⑤b</a:t>
                      </a:r>
                      <a:r>
                        <a:rPr lang="en-US" altLang="zh-CN" sz="1400" baseline="-25000" dirty="0"/>
                        <a:t>41</a:t>
                      </a:r>
                      <a:r>
                        <a:rPr lang="zh-CN" altLang="en-US" sz="1400" dirty="0">
                          <a:latin typeface="Microsoft YaHei" panose="020B0503020204020204" pitchFamily="34" charset="-122"/>
                          <a:ea typeface="Microsoft YaHei" panose="020B0503020204020204" pitchFamily="34" charset="-122"/>
                        </a:rPr>
                        <a:t>→</a:t>
                      </a:r>
                      <a:r>
                        <a:rPr lang="en-US" altLang="zh-CN" sz="1400" dirty="0"/>
                        <a:t>a</a:t>
                      </a:r>
                      <a:r>
                        <a:rPr lang="en-US" altLang="zh-CN" sz="1400" baseline="-25000" dirty="0"/>
                        <a:t>1</a:t>
                      </a:r>
                      <a:endParaRPr lang="zh-CN" altLang="en-US" sz="1400" dirty="0"/>
                    </a:p>
                  </a:txBody>
                  <a:tcPr anchor="ctr"/>
                </a:tc>
                <a:tc>
                  <a:txBody>
                    <a:bodyPr/>
                    <a:lstStyle/>
                    <a:p>
                      <a:pPr algn="ctr"/>
                      <a:r>
                        <a:rPr lang="en-US" altLang="zh-CN" sz="1400" dirty="0"/>
                        <a:t>b</a:t>
                      </a:r>
                      <a:r>
                        <a:rPr lang="en-US" altLang="zh-CN" sz="1400" baseline="-25000" dirty="0"/>
                        <a:t>42</a:t>
                      </a:r>
                      <a:endParaRPr lang="zh-CN" altLang="en-US" sz="1400" baseline="-25000" dirty="0"/>
                    </a:p>
                  </a:txBody>
                  <a:tcPr anchor="ctr"/>
                </a:tc>
                <a:tc>
                  <a:txBody>
                    <a:bodyPr/>
                    <a:lstStyle/>
                    <a:p>
                      <a:pPr algn="ctr"/>
                      <a:r>
                        <a:rPr lang="en-US" altLang="zh-CN" sz="1400" dirty="0"/>
                        <a:t>a</a:t>
                      </a:r>
                      <a:r>
                        <a:rPr lang="en-US" altLang="zh-CN" sz="1400" baseline="-25000" dirty="0"/>
                        <a:t>3</a:t>
                      </a:r>
                      <a:endParaRPr lang="zh-CN" altLang="en-US" sz="1400" baseline="-25000" dirty="0"/>
                    </a:p>
                  </a:txBody>
                  <a:tcPr anchor="ctr"/>
                </a:tc>
                <a:tc>
                  <a:txBody>
                    <a:bodyPr/>
                    <a:lstStyle/>
                    <a:p>
                      <a:pPr algn="ctr"/>
                      <a:r>
                        <a:rPr lang="en-US" altLang="zh-CN" sz="1400" dirty="0"/>
                        <a:t>a</a:t>
                      </a:r>
                      <a:r>
                        <a:rPr lang="en-US" altLang="zh-CN" sz="1400" baseline="-25000" dirty="0"/>
                        <a:t>4</a:t>
                      </a:r>
                      <a:endParaRPr lang="zh-CN" altLang="en-US" sz="1400" baseline="-25000" dirty="0"/>
                    </a:p>
                  </a:txBody>
                  <a:tcPr anchor="ctr"/>
                </a:tc>
                <a:tc>
                  <a:txBody>
                    <a:bodyPr/>
                    <a:lstStyle/>
                    <a:p>
                      <a:pPr algn="ctr"/>
                      <a:r>
                        <a:rPr lang="en-US" altLang="zh-CN" sz="1400" dirty="0"/>
                        <a:t>a</a:t>
                      </a:r>
                      <a:r>
                        <a:rPr lang="en-US" altLang="zh-CN" sz="1400" baseline="-25000" dirty="0"/>
                        <a:t>5</a:t>
                      </a:r>
                      <a:endParaRPr lang="zh-CN" altLang="en-US" sz="1400" baseline="-25000" dirty="0"/>
                    </a:p>
                  </a:txBody>
                  <a:tcPr anchor="ctr"/>
                </a:tc>
                <a:extLst>
                  <a:ext uri="{0D108BD9-81ED-4DB2-BD59-A6C34878D82A}">
                    <a16:rowId xmlns:a16="http://schemas.microsoft.com/office/drawing/2014/main" val="1638233092"/>
                  </a:ext>
                </a:extLst>
              </a:tr>
              <a:tr h="347027">
                <a:tc>
                  <a:txBody>
                    <a:bodyPr/>
                    <a:lstStyle/>
                    <a:p>
                      <a:pPr algn="ctr"/>
                      <a:r>
                        <a:rPr lang="en-US" altLang="zh-CN" sz="1400" dirty="0"/>
                        <a:t>AE</a:t>
                      </a:r>
                      <a:endParaRPr lang="zh-CN" altLang="en-US" sz="1400" dirty="0"/>
                    </a:p>
                  </a:txBody>
                  <a:tcPr anchor="ctr"/>
                </a:tc>
                <a:tc>
                  <a:txBody>
                    <a:bodyPr/>
                    <a:lstStyle/>
                    <a:p>
                      <a:pPr algn="ctr"/>
                      <a:r>
                        <a:rPr lang="en-US" altLang="zh-CN" sz="1400" dirty="0"/>
                        <a:t>a</a:t>
                      </a:r>
                      <a:r>
                        <a:rPr lang="en-US" altLang="zh-CN" sz="1400" baseline="-25000" dirty="0"/>
                        <a:t>1</a:t>
                      </a:r>
                      <a:endParaRPr lang="zh-CN" altLang="en-US" sz="1400" baseline="-25000" dirty="0"/>
                    </a:p>
                  </a:txBody>
                  <a:tcPr anchor="ctr"/>
                </a:tc>
                <a:tc>
                  <a:txBody>
                    <a:bodyPr/>
                    <a:lstStyle/>
                    <a:p>
                      <a:pPr algn="ctr"/>
                      <a:r>
                        <a:rPr lang="en-US" altLang="zh-CN" sz="1400" dirty="0"/>
                        <a:t>b</a:t>
                      </a:r>
                      <a:r>
                        <a:rPr lang="en-US" altLang="zh-CN" sz="1400" baseline="-25000" dirty="0"/>
                        <a:t>52</a:t>
                      </a:r>
                      <a:endParaRPr lang="zh-CN" altLang="en-US" sz="1400"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①b</a:t>
                      </a:r>
                      <a:r>
                        <a:rPr lang="en-US" altLang="zh-CN" sz="1400" baseline="-25000" dirty="0"/>
                        <a:t>53</a:t>
                      </a:r>
                      <a:r>
                        <a:rPr lang="zh-CN" altLang="en-US" sz="1400" dirty="0">
                          <a:latin typeface="Microsoft YaHei" panose="020B0503020204020204" pitchFamily="34" charset="-122"/>
                          <a:ea typeface="Microsoft YaHei" panose="020B0503020204020204" pitchFamily="34" charset="-122"/>
                        </a:rPr>
                        <a:t>→</a:t>
                      </a:r>
                      <a:r>
                        <a:rPr lang="en-US" altLang="zh-CN" sz="1400" dirty="0"/>
                        <a:t>b</a:t>
                      </a:r>
                      <a:r>
                        <a:rPr lang="en-US" altLang="zh-CN" sz="1400" baseline="-25000" dirty="0"/>
                        <a:t>13</a:t>
                      </a:r>
                    </a:p>
                    <a:p>
                      <a:pPr algn="ctr"/>
                      <a:r>
                        <a:rPr lang="en-US" altLang="zh-CN" sz="1400" baseline="0" dirty="0"/>
                        <a:t>④</a:t>
                      </a:r>
                      <a:r>
                        <a:rPr lang="en-US" altLang="zh-CN" sz="1400" dirty="0"/>
                        <a:t>b</a:t>
                      </a:r>
                      <a:r>
                        <a:rPr lang="en-US" altLang="zh-CN" sz="1400" baseline="-25000" dirty="0"/>
                        <a:t>13</a:t>
                      </a:r>
                      <a:r>
                        <a:rPr lang="zh-CN" altLang="en-US" sz="1400" dirty="0">
                          <a:latin typeface="Microsoft YaHei" panose="020B0503020204020204" pitchFamily="34" charset="-122"/>
                          <a:ea typeface="Microsoft YaHei" panose="020B0503020204020204" pitchFamily="34" charset="-122"/>
                        </a:rPr>
                        <a:t>→</a:t>
                      </a:r>
                      <a:r>
                        <a:rPr lang="en-US" altLang="zh-CN" sz="1400" dirty="0"/>
                        <a:t>a</a:t>
                      </a:r>
                      <a:r>
                        <a:rPr lang="en-US" altLang="zh-CN" sz="1400" baseline="-25000" dirty="0"/>
                        <a:t>3</a:t>
                      </a:r>
                      <a:endParaRPr lang="zh-CN" altLang="en-US" sz="1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③b</a:t>
                      </a:r>
                      <a:r>
                        <a:rPr lang="en-US" altLang="zh-CN" sz="1400" baseline="-25000" dirty="0"/>
                        <a:t>54</a:t>
                      </a:r>
                      <a:r>
                        <a:rPr lang="zh-CN" altLang="en-US" sz="1400" dirty="0">
                          <a:latin typeface="Microsoft YaHei" panose="020B0503020204020204" pitchFamily="34" charset="-122"/>
                          <a:ea typeface="Microsoft YaHei" panose="020B0503020204020204" pitchFamily="34" charset="-122"/>
                        </a:rPr>
                        <a:t>→</a:t>
                      </a:r>
                      <a:r>
                        <a:rPr lang="en-US" altLang="zh-CN" sz="1400" dirty="0"/>
                        <a:t>a</a:t>
                      </a:r>
                      <a:r>
                        <a:rPr lang="en-US" altLang="zh-CN" sz="1400" baseline="-25000" dirty="0"/>
                        <a:t>4</a:t>
                      </a:r>
                      <a:endParaRPr lang="zh-CN" altLang="en-US" sz="1400" dirty="0"/>
                    </a:p>
                  </a:txBody>
                  <a:tcPr anchor="ctr"/>
                </a:tc>
                <a:tc>
                  <a:txBody>
                    <a:bodyPr/>
                    <a:lstStyle/>
                    <a:p>
                      <a:pPr algn="ctr"/>
                      <a:r>
                        <a:rPr lang="en-US" altLang="zh-CN" sz="1400" dirty="0"/>
                        <a:t>a</a:t>
                      </a:r>
                      <a:r>
                        <a:rPr lang="en-US" altLang="zh-CN" sz="1400" baseline="-25000" dirty="0"/>
                        <a:t>5</a:t>
                      </a:r>
                      <a:endParaRPr lang="zh-CN" altLang="en-US" sz="1400" baseline="-25000" dirty="0"/>
                    </a:p>
                  </a:txBody>
                  <a:tcPr anchor="ctr"/>
                </a:tc>
                <a:extLst>
                  <a:ext uri="{0D108BD9-81ED-4DB2-BD59-A6C34878D82A}">
                    <a16:rowId xmlns:a16="http://schemas.microsoft.com/office/drawing/2014/main" val="2072572209"/>
                  </a:ext>
                </a:extLst>
              </a:tr>
            </a:tbl>
          </a:graphicData>
        </a:graphic>
      </p:graphicFrame>
      <p:sp>
        <p:nvSpPr>
          <p:cNvPr id="6" name="文本框 5">
            <a:extLst>
              <a:ext uri="{FF2B5EF4-FFF2-40B4-BE49-F238E27FC236}">
                <a16:creationId xmlns:a16="http://schemas.microsoft.com/office/drawing/2014/main" id="{EAA5680F-686F-473A-7B84-DD4E4107B643}"/>
              </a:ext>
            </a:extLst>
          </p:cNvPr>
          <p:cNvSpPr txBox="1"/>
          <p:nvPr/>
        </p:nvSpPr>
        <p:spPr>
          <a:xfrm>
            <a:off x="402089" y="3078385"/>
            <a:ext cx="8361335" cy="1600438"/>
          </a:xfrm>
          <a:prstGeom prst="rect">
            <a:avLst/>
          </a:prstGeom>
          <a:noFill/>
        </p:spPr>
        <p:txBody>
          <a:bodyPr wrap="square" rtlCol="0">
            <a:spAutoFit/>
          </a:bodyPr>
          <a:lstStyle/>
          <a:p>
            <a:r>
              <a:rPr kumimoji="1" lang="en-US" altLang="zh-CN" sz="1400" dirty="0">
                <a:latin typeface="Microsoft YaHei" panose="020B0503020204020204" pitchFamily="34" charset="-122"/>
                <a:ea typeface="Microsoft YaHei" panose="020B0503020204020204" pitchFamily="34" charset="-122"/>
              </a:rPr>
              <a:t>①</a:t>
            </a:r>
            <a:r>
              <a:rPr kumimoji="1" lang="zh-CN" altLang="en-US" sz="1400" dirty="0">
                <a:latin typeface="Microsoft YaHei" panose="020B0503020204020204" pitchFamily="34" charset="-122"/>
                <a:ea typeface="Microsoft YaHei" panose="020B0503020204020204" pitchFamily="34" charset="-122"/>
              </a:rPr>
              <a:t>考察</a:t>
            </a:r>
            <a:r>
              <a:rPr kumimoji="1" lang="en-US" altLang="zh-CN" sz="1400" dirty="0">
                <a:latin typeface="Microsoft YaHei" panose="020B0503020204020204" pitchFamily="34" charset="-122"/>
                <a:ea typeface="Microsoft YaHei" panose="020B0503020204020204" pitchFamily="34" charset="-122"/>
              </a:rPr>
              <a:t>A</a:t>
            </a:r>
            <a:r>
              <a:rPr lang="zh-CN" altLang="en-US" sz="1400" dirty="0">
                <a:latin typeface="Microsoft YaHei" panose="020B0503020204020204" pitchFamily="34" charset="-122"/>
                <a:ea typeface="Microsoft YaHei" panose="020B0503020204020204" pitchFamily="34" charset="-122"/>
              </a:rPr>
              <a:t>→</a:t>
            </a:r>
            <a:r>
              <a:rPr lang="en-US" altLang="zh-CN" sz="1400" dirty="0">
                <a:latin typeface="Microsoft YaHei" panose="020B0503020204020204" pitchFamily="34" charset="-122"/>
                <a:ea typeface="Microsoft YaHei" panose="020B0503020204020204" pitchFamily="34" charset="-122"/>
              </a:rPr>
              <a:t>C</a:t>
            </a:r>
            <a:r>
              <a:rPr lang="zh-CN" altLang="en-US" sz="1400" dirty="0">
                <a:latin typeface="Microsoft YaHei" panose="020B0503020204020204" pitchFamily="34" charset="-122"/>
                <a:ea typeface="Microsoft YaHei" panose="020B0503020204020204" pitchFamily="34" charset="-122"/>
              </a:rPr>
              <a:t>，发现第</a:t>
            </a:r>
            <a:r>
              <a:rPr lang="en-US" altLang="zh-CN" sz="1400" dirty="0">
                <a:latin typeface="Microsoft YaHei" panose="020B0503020204020204" pitchFamily="34" charset="-122"/>
                <a:ea typeface="Microsoft YaHei" panose="020B0503020204020204" pitchFamily="34" charset="-122"/>
              </a:rPr>
              <a:t>1</a:t>
            </a:r>
            <a:r>
              <a:rPr lang="zh-CN" altLang="en-US" sz="1400" dirty="0">
                <a:latin typeface="Microsoft YaHei" panose="020B0503020204020204" pitchFamily="34" charset="-122"/>
                <a:ea typeface="Microsoft YaHei" panose="020B0503020204020204" pitchFamily="34" charset="-122"/>
              </a:rPr>
              <a:t>、</a:t>
            </a:r>
            <a:r>
              <a:rPr lang="en-US" altLang="zh-CN" sz="1400" dirty="0">
                <a:latin typeface="Microsoft YaHei" panose="020B0503020204020204" pitchFamily="34" charset="-122"/>
                <a:ea typeface="Microsoft YaHei" panose="020B0503020204020204" pitchFamily="34" charset="-122"/>
              </a:rPr>
              <a:t>2</a:t>
            </a:r>
            <a:r>
              <a:rPr lang="zh-CN" altLang="en-US" sz="1400" dirty="0">
                <a:latin typeface="Microsoft YaHei" panose="020B0503020204020204" pitchFamily="34" charset="-122"/>
                <a:ea typeface="Microsoft YaHei" panose="020B0503020204020204" pitchFamily="34" charset="-122"/>
              </a:rPr>
              <a:t>、</a:t>
            </a:r>
            <a:r>
              <a:rPr lang="en-US" altLang="zh-CN" sz="1400" dirty="0">
                <a:latin typeface="Microsoft YaHei" panose="020B0503020204020204" pitchFamily="34" charset="-122"/>
                <a:ea typeface="Microsoft YaHei" panose="020B0503020204020204" pitchFamily="34" charset="-122"/>
              </a:rPr>
              <a:t>5</a:t>
            </a:r>
            <a:r>
              <a:rPr lang="zh-CN" altLang="en-US" sz="1400" dirty="0">
                <a:latin typeface="Microsoft YaHei" panose="020B0503020204020204" pitchFamily="34" charset="-122"/>
                <a:ea typeface="Microsoft YaHei" panose="020B0503020204020204" pitchFamily="34" charset="-122"/>
              </a:rPr>
              <a:t>行上对应于</a:t>
            </a:r>
            <a:r>
              <a:rPr lang="en-US" altLang="zh-CN" sz="1400" dirty="0">
                <a:latin typeface="Microsoft YaHei" panose="020B0503020204020204" pitchFamily="34" charset="-122"/>
                <a:ea typeface="Microsoft YaHei" panose="020B0503020204020204" pitchFamily="34" charset="-122"/>
              </a:rPr>
              <a:t>A</a:t>
            </a:r>
            <a:r>
              <a:rPr lang="zh-CN" altLang="en-US" sz="1400" dirty="0">
                <a:latin typeface="Microsoft YaHei" panose="020B0503020204020204" pitchFamily="34" charset="-122"/>
                <a:ea typeface="Microsoft YaHei" panose="020B0503020204020204" pitchFamily="34" charset="-122"/>
              </a:rPr>
              <a:t>列的值相同，因此把这</a:t>
            </a:r>
            <a:r>
              <a:rPr lang="en-US" altLang="zh-CN" sz="1400" dirty="0">
                <a:latin typeface="Microsoft YaHei" panose="020B0503020204020204" pitchFamily="34" charset="-122"/>
                <a:ea typeface="Microsoft YaHei" panose="020B0503020204020204" pitchFamily="34" charset="-122"/>
              </a:rPr>
              <a:t>3</a:t>
            </a:r>
            <a:r>
              <a:rPr lang="zh-CN" altLang="en-US" sz="1400" dirty="0">
                <a:latin typeface="Microsoft YaHei" panose="020B0503020204020204" pitchFamily="34" charset="-122"/>
                <a:ea typeface="Microsoft YaHei" panose="020B0503020204020204" pitchFamily="34" charset="-122"/>
              </a:rPr>
              <a:t>行对应于</a:t>
            </a:r>
            <a:r>
              <a:rPr lang="en-US" altLang="zh-CN" sz="1400" dirty="0">
                <a:latin typeface="Microsoft YaHei" panose="020B0503020204020204" pitchFamily="34" charset="-122"/>
                <a:ea typeface="Microsoft YaHei" panose="020B0503020204020204" pitchFamily="34" charset="-122"/>
              </a:rPr>
              <a:t>C</a:t>
            </a:r>
            <a:r>
              <a:rPr lang="zh-CN" altLang="en-US" sz="1400" dirty="0">
                <a:latin typeface="Microsoft YaHei" panose="020B0503020204020204" pitchFamily="34" charset="-122"/>
                <a:ea typeface="Microsoft YaHei" panose="020B0503020204020204" pitchFamily="34" charset="-122"/>
              </a:rPr>
              <a:t>列的值取一致，均改为</a:t>
            </a:r>
            <a:r>
              <a:rPr lang="en-US" altLang="zh-CN" sz="1400" dirty="0">
                <a:latin typeface="Microsoft YaHei" panose="020B0503020204020204" pitchFamily="34" charset="-122"/>
                <a:ea typeface="Microsoft YaHei" panose="020B0503020204020204" pitchFamily="34" charset="-122"/>
              </a:rPr>
              <a:t>b</a:t>
            </a:r>
            <a:r>
              <a:rPr lang="en-US" altLang="zh-CN" sz="1400" baseline="-25000" dirty="0">
                <a:latin typeface="Microsoft YaHei" panose="020B0503020204020204" pitchFamily="34" charset="-122"/>
                <a:ea typeface="Microsoft YaHei" panose="020B0503020204020204" pitchFamily="34" charset="-122"/>
              </a:rPr>
              <a:t>13</a:t>
            </a:r>
            <a:r>
              <a:rPr lang="zh-CN" altLang="en-US" sz="1400" dirty="0">
                <a:latin typeface="Microsoft YaHei" panose="020B0503020204020204" pitchFamily="34" charset="-122"/>
                <a:ea typeface="Microsoft YaHei" panose="020B0503020204020204" pitchFamily="34" charset="-122"/>
              </a:rPr>
              <a:t>。</a:t>
            </a:r>
            <a:endParaRPr lang="en-US" altLang="zh-CN" sz="1400" dirty="0">
              <a:latin typeface="Microsoft YaHei" panose="020B0503020204020204" pitchFamily="34" charset="-122"/>
              <a:ea typeface="Microsoft YaHei" panose="020B0503020204020204" pitchFamily="34" charset="-122"/>
            </a:endParaRPr>
          </a:p>
          <a:p>
            <a:r>
              <a:rPr kumimoji="1" lang="en-US" altLang="zh-CN" sz="1400" dirty="0">
                <a:latin typeface="Microsoft YaHei" panose="020B0503020204020204" pitchFamily="34" charset="-122"/>
                <a:ea typeface="Microsoft YaHei" panose="020B0503020204020204" pitchFamily="34" charset="-122"/>
              </a:rPr>
              <a:t>②</a:t>
            </a:r>
            <a:r>
              <a:rPr kumimoji="1" lang="zh-CN" altLang="en-US" sz="1400" dirty="0">
                <a:latin typeface="Microsoft YaHei" panose="020B0503020204020204" pitchFamily="34" charset="-122"/>
                <a:ea typeface="Microsoft YaHei" panose="020B0503020204020204" pitchFamily="34" charset="-122"/>
              </a:rPr>
              <a:t>考察</a:t>
            </a:r>
            <a:r>
              <a:rPr kumimoji="1" lang="en-US" altLang="zh-CN" sz="1400" dirty="0">
                <a:latin typeface="Microsoft YaHei" panose="020B0503020204020204" pitchFamily="34" charset="-122"/>
                <a:ea typeface="Microsoft YaHei" panose="020B0503020204020204" pitchFamily="34" charset="-122"/>
              </a:rPr>
              <a:t>B</a:t>
            </a:r>
            <a:r>
              <a:rPr lang="zh-CN" altLang="en-US" sz="1400" dirty="0">
                <a:latin typeface="Microsoft YaHei" panose="020B0503020204020204" pitchFamily="34" charset="-122"/>
                <a:ea typeface="Microsoft YaHei" panose="020B0503020204020204" pitchFamily="34" charset="-122"/>
              </a:rPr>
              <a:t>→</a:t>
            </a:r>
            <a:r>
              <a:rPr lang="en-US" altLang="zh-CN" sz="1400" dirty="0">
                <a:latin typeface="Microsoft YaHei" panose="020B0503020204020204" pitchFamily="34" charset="-122"/>
                <a:ea typeface="Microsoft YaHei" panose="020B0503020204020204" pitchFamily="34" charset="-122"/>
              </a:rPr>
              <a:t>C</a:t>
            </a:r>
            <a:r>
              <a:rPr lang="zh-CN" altLang="en-US" sz="1400" dirty="0">
                <a:latin typeface="Microsoft YaHei" panose="020B0503020204020204" pitchFamily="34" charset="-122"/>
                <a:ea typeface="Microsoft YaHei" panose="020B0503020204020204" pitchFamily="34" charset="-122"/>
              </a:rPr>
              <a:t>，发现第</a:t>
            </a:r>
            <a:r>
              <a:rPr lang="en-US" altLang="zh-CN" sz="1400" dirty="0">
                <a:latin typeface="Microsoft YaHei" panose="020B0503020204020204" pitchFamily="34" charset="-122"/>
                <a:ea typeface="Microsoft YaHei" panose="020B0503020204020204" pitchFamily="34" charset="-122"/>
              </a:rPr>
              <a:t>2</a:t>
            </a:r>
            <a:r>
              <a:rPr lang="zh-CN" altLang="en-US" sz="1400" dirty="0">
                <a:latin typeface="Microsoft YaHei" panose="020B0503020204020204" pitchFamily="34" charset="-122"/>
                <a:ea typeface="Microsoft YaHei" panose="020B0503020204020204" pitchFamily="34" charset="-122"/>
              </a:rPr>
              <a:t>、</a:t>
            </a:r>
            <a:r>
              <a:rPr lang="en-US" altLang="zh-CN" sz="1400" dirty="0">
                <a:latin typeface="Microsoft YaHei" panose="020B0503020204020204" pitchFamily="34" charset="-122"/>
                <a:ea typeface="Microsoft YaHei" panose="020B0503020204020204" pitchFamily="34" charset="-122"/>
              </a:rPr>
              <a:t>3</a:t>
            </a:r>
            <a:r>
              <a:rPr lang="zh-CN" altLang="en-US" sz="1400" dirty="0">
                <a:latin typeface="Microsoft YaHei" panose="020B0503020204020204" pitchFamily="34" charset="-122"/>
                <a:ea typeface="Microsoft YaHei" panose="020B0503020204020204" pitchFamily="34" charset="-122"/>
              </a:rPr>
              <a:t>行上对应于</a:t>
            </a:r>
            <a:r>
              <a:rPr lang="en-US" altLang="zh-CN" sz="1400" dirty="0">
                <a:latin typeface="Microsoft YaHei" panose="020B0503020204020204" pitchFamily="34" charset="-122"/>
                <a:ea typeface="Microsoft YaHei" panose="020B0503020204020204" pitchFamily="34" charset="-122"/>
              </a:rPr>
              <a:t>B</a:t>
            </a:r>
            <a:r>
              <a:rPr lang="zh-CN" altLang="en-US" sz="1400" dirty="0">
                <a:latin typeface="Microsoft YaHei" panose="020B0503020204020204" pitchFamily="34" charset="-122"/>
                <a:ea typeface="Microsoft YaHei" panose="020B0503020204020204" pitchFamily="34" charset="-122"/>
              </a:rPr>
              <a:t>列的值均为</a:t>
            </a:r>
            <a:r>
              <a:rPr lang="en-US" altLang="zh-CN" sz="1400" dirty="0">
                <a:latin typeface="Microsoft YaHei" panose="020B0503020204020204" pitchFamily="34" charset="-122"/>
                <a:ea typeface="Microsoft YaHei" panose="020B0503020204020204" pitchFamily="34" charset="-122"/>
              </a:rPr>
              <a:t>a</a:t>
            </a:r>
            <a:r>
              <a:rPr lang="en-US" altLang="zh-CN" sz="1400" baseline="-25000" dirty="0">
                <a:latin typeface="Microsoft YaHei" panose="020B0503020204020204" pitchFamily="34" charset="-122"/>
                <a:ea typeface="Microsoft YaHei" panose="020B0503020204020204" pitchFamily="34" charset="-122"/>
              </a:rPr>
              <a:t>2</a:t>
            </a:r>
            <a:r>
              <a:rPr lang="zh-CN" altLang="en-US" sz="1400" dirty="0">
                <a:latin typeface="Microsoft YaHei" panose="020B0503020204020204" pitchFamily="34" charset="-122"/>
                <a:ea typeface="Microsoft YaHei" panose="020B0503020204020204" pitchFamily="34" charset="-122"/>
              </a:rPr>
              <a:t>，因此把第</a:t>
            </a:r>
            <a:r>
              <a:rPr lang="en-US" altLang="zh-CN" sz="1400" dirty="0">
                <a:latin typeface="Microsoft YaHei" panose="020B0503020204020204" pitchFamily="34" charset="-122"/>
                <a:ea typeface="Microsoft YaHei" panose="020B0503020204020204" pitchFamily="34" charset="-122"/>
              </a:rPr>
              <a:t>3</a:t>
            </a:r>
            <a:r>
              <a:rPr lang="zh-CN" altLang="en-US" sz="1400" dirty="0">
                <a:latin typeface="Microsoft YaHei" panose="020B0503020204020204" pitchFamily="34" charset="-122"/>
                <a:ea typeface="Microsoft YaHei" panose="020B0503020204020204" pitchFamily="34" charset="-122"/>
              </a:rPr>
              <a:t>行</a:t>
            </a:r>
            <a:r>
              <a:rPr lang="en-US" altLang="zh-CN" sz="1400" dirty="0">
                <a:latin typeface="Microsoft YaHei" panose="020B0503020204020204" pitchFamily="34" charset="-122"/>
                <a:ea typeface="Microsoft YaHei" panose="020B0503020204020204" pitchFamily="34" charset="-122"/>
              </a:rPr>
              <a:t>C</a:t>
            </a:r>
            <a:r>
              <a:rPr lang="zh-CN" altLang="en-US" sz="1400" dirty="0">
                <a:latin typeface="Microsoft YaHei" panose="020B0503020204020204" pitchFamily="34" charset="-122"/>
                <a:ea typeface="Microsoft YaHei" panose="020B0503020204020204" pitchFamily="34" charset="-122"/>
              </a:rPr>
              <a:t>列上的</a:t>
            </a:r>
            <a:r>
              <a:rPr lang="en-US" altLang="zh-CN" sz="1400" dirty="0">
                <a:latin typeface="Microsoft YaHei" panose="020B0503020204020204" pitchFamily="34" charset="-122"/>
                <a:ea typeface="Microsoft YaHei" panose="020B0503020204020204" pitchFamily="34" charset="-122"/>
              </a:rPr>
              <a:t>b</a:t>
            </a:r>
            <a:r>
              <a:rPr lang="en-US" altLang="zh-CN" sz="1400" baseline="-25000" dirty="0">
                <a:latin typeface="Microsoft YaHei" panose="020B0503020204020204" pitchFamily="34" charset="-122"/>
                <a:ea typeface="Microsoft YaHei" panose="020B0503020204020204" pitchFamily="34" charset="-122"/>
              </a:rPr>
              <a:t>33</a:t>
            </a:r>
            <a:r>
              <a:rPr lang="zh-CN" altLang="en-US" sz="1400" dirty="0">
                <a:latin typeface="Microsoft YaHei" panose="020B0503020204020204" pitchFamily="34" charset="-122"/>
                <a:ea typeface="Microsoft YaHei" panose="020B0503020204020204" pitchFamily="34" charset="-122"/>
              </a:rPr>
              <a:t>改为</a:t>
            </a:r>
            <a:r>
              <a:rPr lang="en-US" altLang="zh-CN" sz="1400" dirty="0">
                <a:latin typeface="Microsoft YaHei" panose="020B0503020204020204" pitchFamily="34" charset="-122"/>
                <a:ea typeface="Microsoft YaHei" panose="020B0503020204020204" pitchFamily="34" charset="-122"/>
              </a:rPr>
              <a:t>b</a:t>
            </a:r>
            <a:r>
              <a:rPr lang="en-US" altLang="zh-CN" sz="1400" baseline="-25000" dirty="0">
                <a:latin typeface="Microsoft YaHei" panose="020B0503020204020204" pitchFamily="34" charset="-122"/>
                <a:ea typeface="Microsoft YaHei" panose="020B0503020204020204" pitchFamily="34" charset="-122"/>
              </a:rPr>
              <a:t>13</a:t>
            </a:r>
            <a:r>
              <a:rPr lang="zh-CN" altLang="en-US" sz="1400" dirty="0">
                <a:latin typeface="Microsoft YaHei" panose="020B0503020204020204" pitchFamily="34" charset="-122"/>
                <a:ea typeface="Microsoft YaHei" panose="020B0503020204020204" pitchFamily="34" charset="-122"/>
              </a:rPr>
              <a:t>。</a:t>
            </a:r>
            <a:endParaRPr lang="en-US" altLang="zh-CN" sz="1400" dirty="0">
              <a:latin typeface="Microsoft YaHei" panose="020B0503020204020204" pitchFamily="34" charset="-122"/>
              <a:ea typeface="Microsoft YaHei" panose="020B0503020204020204" pitchFamily="34" charset="-122"/>
            </a:endParaRPr>
          </a:p>
          <a:p>
            <a:r>
              <a:rPr kumimoji="1" lang="en-US" altLang="zh-CN" sz="1400" dirty="0">
                <a:latin typeface="Microsoft YaHei" panose="020B0503020204020204" pitchFamily="34" charset="-122"/>
                <a:ea typeface="Microsoft YaHei" panose="020B0503020204020204" pitchFamily="34" charset="-122"/>
              </a:rPr>
              <a:t>③</a:t>
            </a:r>
            <a:r>
              <a:rPr kumimoji="1" lang="zh-CN" altLang="en-US" sz="1400" dirty="0">
                <a:latin typeface="Microsoft YaHei" panose="020B0503020204020204" pitchFamily="34" charset="-122"/>
                <a:ea typeface="Microsoft YaHei" panose="020B0503020204020204" pitchFamily="34" charset="-122"/>
              </a:rPr>
              <a:t>考察</a:t>
            </a:r>
            <a:r>
              <a:rPr kumimoji="1" lang="en-US" altLang="zh-CN" sz="1400" dirty="0">
                <a:latin typeface="Microsoft YaHei" panose="020B0503020204020204" pitchFamily="34" charset="-122"/>
                <a:ea typeface="Microsoft YaHei" panose="020B0503020204020204" pitchFamily="34" charset="-122"/>
              </a:rPr>
              <a:t>C</a:t>
            </a:r>
            <a:r>
              <a:rPr lang="zh-CN" altLang="en-US" sz="1400" dirty="0">
                <a:latin typeface="Microsoft YaHei" panose="020B0503020204020204" pitchFamily="34" charset="-122"/>
                <a:ea typeface="Microsoft YaHei" panose="020B0503020204020204" pitchFamily="34" charset="-122"/>
              </a:rPr>
              <a:t>→</a:t>
            </a:r>
            <a:r>
              <a:rPr lang="en-US" altLang="zh-CN" sz="1400" dirty="0">
                <a:latin typeface="Microsoft YaHei" panose="020B0503020204020204" pitchFamily="34" charset="-122"/>
                <a:ea typeface="Microsoft YaHei" panose="020B0503020204020204" pitchFamily="34" charset="-122"/>
              </a:rPr>
              <a:t>D</a:t>
            </a:r>
            <a:r>
              <a:rPr lang="zh-CN" altLang="en-US" sz="1400" dirty="0">
                <a:latin typeface="Microsoft YaHei" panose="020B0503020204020204" pitchFamily="34" charset="-122"/>
                <a:ea typeface="Microsoft YaHei" panose="020B0503020204020204" pitchFamily="34" charset="-122"/>
              </a:rPr>
              <a:t>，发现第</a:t>
            </a:r>
            <a:r>
              <a:rPr lang="en-US" altLang="zh-CN" sz="1400" dirty="0">
                <a:latin typeface="Microsoft YaHei" panose="020B0503020204020204" pitchFamily="34" charset="-122"/>
                <a:ea typeface="Microsoft YaHei" panose="020B0503020204020204" pitchFamily="34" charset="-122"/>
              </a:rPr>
              <a:t>1</a:t>
            </a:r>
            <a:r>
              <a:rPr lang="zh-CN" altLang="en-US" sz="1400" dirty="0">
                <a:latin typeface="Microsoft YaHei" panose="020B0503020204020204" pitchFamily="34" charset="-122"/>
                <a:ea typeface="Microsoft YaHei" panose="020B0503020204020204" pitchFamily="34" charset="-122"/>
              </a:rPr>
              <a:t>、</a:t>
            </a:r>
            <a:r>
              <a:rPr lang="en-US" altLang="zh-CN" sz="1400" dirty="0">
                <a:latin typeface="Microsoft YaHei" panose="020B0503020204020204" pitchFamily="34" charset="-122"/>
                <a:ea typeface="Microsoft YaHei" panose="020B0503020204020204" pitchFamily="34" charset="-122"/>
              </a:rPr>
              <a:t>2</a:t>
            </a:r>
            <a:r>
              <a:rPr lang="zh-CN" altLang="en-US" sz="1400" dirty="0">
                <a:latin typeface="Microsoft YaHei" panose="020B0503020204020204" pitchFamily="34" charset="-122"/>
                <a:ea typeface="Microsoft YaHei" panose="020B0503020204020204" pitchFamily="34" charset="-122"/>
              </a:rPr>
              <a:t>、</a:t>
            </a:r>
            <a:r>
              <a:rPr lang="en-US" altLang="zh-CN" sz="1400" dirty="0">
                <a:latin typeface="Microsoft YaHei" panose="020B0503020204020204" pitchFamily="34" charset="-122"/>
                <a:ea typeface="Microsoft YaHei" panose="020B0503020204020204" pitchFamily="34" charset="-122"/>
              </a:rPr>
              <a:t>3</a:t>
            </a:r>
            <a:r>
              <a:rPr lang="zh-CN" altLang="en-US" sz="1400" dirty="0">
                <a:latin typeface="Microsoft YaHei" panose="020B0503020204020204" pitchFamily="34" charset="-122"/>
                <a:ea typeface="Microsoft YaHei" panose="020B0503020204020204" pitchFamily="34" charset="-122"/>
              </a:rPr>
              <a:t>、</a:t>
            </a:r>
            <a:r>
              <a:rPr lang="en-US" altLang="zh-CN" sz="1400" dirty="0">
                <a:latin typeface="Microsoft YaHei" panose="020B0503020204020204" pitchFamily="34" charset="-122"/>
                <a:ea typeface="Microsoft YaHei" panose="020B0503020204020204" pitchFamily="34" charset="-122"/>
              </a:rPr>
              <a:t>5</a:t>
            </a:r>
            <a:r>
              <a:rPr lang="zh-CN" altLang="en-US" sz="1400" dirty="0">
                <a:latin typeface="Microsoft YaHei" panose="020B0503020204020204" pitchFamily="34" charset="-122"/>
                <a:ea typeface="Microsoft YaHei" panose="020B0503020204020204" pitchFamily="34" charset="-122"/>
              </a:rPr>
              <a:t>行</a:t>
            </a:r>
            <a:r>
              <a:rPr lang="en-US" altLang="zh-CN" sz="1400" dirty="0">
                <a:latin typeface="Microsoft YaHei" panose="020B0503020204020204" pitchFamily="34" charset="-122"/>
                <a:ea typeface="Microsoft YaHei" panose="020B0503020204020204" pitchFamily="34" charset="-122"/>
              </a:rPr>
              <a:t>C</a:t>
            </a:r>
            <a:r>
              <a:rPr lang="zh-CN" altLang="en-US" sz="1400" dirty="0">
                <a:latin typeface="Microsoft YaHei" panose="020B0503020204020204" pitchFamily="34" charset="-122"/>
                <a:ea typeface="Microsoft YaHei" panose="020B0503020204020204" pitchFamily="34" charset="-122"/>
              </a:rPr>
              <a:t>列上均为</a:t>
            </a:r>
            <a:r>
              <a:rPr lang="en-US" altLang="zh-CN" sz="1400" dirty="0">
                <a:latin typeface="Microsoft YaHei" panose="020B0503020204020204" pitchFamily="34" charset="-122"/>
                <a:ea typeface="Microsoft YaHei" panose="020B0503020204020204" pitchFamily="34" charset="-122"/>
              </a:rPr>
              <a:t>b</a:t>
            </a:r>
            <a:r>
              <a:rPr lang="en-US" altLang="zh-CN" sz="1400" baseline="-25000" dirty="0">
                <a:latin typeface="Microsoft YaHei" panose="020B0503020204020204" pitchFamily="34" charset="-122"/>
                <a:ea typeface="Microsoft YaHei" panose="020B0503020204020204" pitchFamily="34" charset="-122"/>
              </a:rPr>
              <a:t>13</a:t>
            </a:r>
            <a:r>
              <a:rPr lang="zh-CN" altLang="en-US" sz="1400" dirty="0">
                <a:latin typeface="Microsoft YaHei" panose="020B0503020204020204" pitchFamily="34" charset="-122"/>
                <a:ea typeface="Microsoft YaHei" panose="020B0503020204020204" pitchFamily="34" charset="-122"/>
              </a:rPr>
              <a:t>，故把这几行</a:t>
            </a:r>
            <a:r>
              <a:rPr lang="en-US" altLang="zh-CN" sz="1400" dirty="0">
                <a:latin typeface="Microsoft YaHei" panose="020B0503020204020204" pitchFamily="34" charset="-122"/>
                <a:ea typeface="Microsoft YaHei" panose="020B0503020204020204" pitchFamily="34" charset="-122"/>
              </a:rPr>
              <a:t>D</a:t>
            </a:r>
            <a:r>
              <a:rPr lang="zh-CN" altLang="en-US" sz="1400" dirty="0">
                <a:latin typeface="Microsoft YaHei" panose="020B0503020204020204" pitchFamily="34" charset="-122"/>
                <a:ea typeface="Microsoft YaHei" panose="020B0503020204020204" pitchFamily="34" charset="-122"/>
              </a:rPr>
              <a:t>列的值全改为</a:t>
            </a:r>
            <a:r>
              <a:rPr lang="en-US" altLang="zh-CN" sz="1400" dirty="0">
                <a:latin typeface="Microsoft YaHei" panose="020B0503020204020204" pitchFamily="34" charset="-122"/>
                <a:ea typeface="Microsoft YaHei" panose="020B0503020204020204" pitchFamily="34" charset="-122"/>
              </a:rPr>
              <a:t>a</a:t>
            </a:r>
            <a:r>
              <a:rPr lang="en-US" altLang="zh-CN" sz="1400" baseline="-25000" dirty="0">
                <a:latin typeface="Microsoft YaHei" panose="020B0503020204020204" pitchFamily="34" charset="-122"/>
                <a:ea typeface="Microsoft YaHei" panose="020B0503020204020204" pitchFamily="34" charset="-122"/>
              </a:rPr>
              <a:t>4</a:t>
            </a:r>
            <a:r>
              <a:rPr lang="zh-CN" altLang="en-US" sz="1400" dirty="0">
                <a:latin typeface="Microsoft YaHei" panose="020B0503020204020204" pitchFamily="34" charset="-122"/>
                <a:ea typeface="Microsoft YaHei" panose="020B0503020204020204" pitchFamily="34" charset="-122"/>
              </a:rPr>
              <a:t>。</a:t>
            </a:r>
            <a:endParaRPr lang="en-US" altLang="zh-CN" sz="1400" dirty="0">
              <a:latin typeface="Microsoft YaHei" panose="020B0503020204020204" pitchFamily="34" charset="-122"/>
              <a:ea typeface="Microsoft YaHei" panose="020B0503020204020204" pitchFamily="34" charset="-122"/>
            </a:endParaRPr>
          </a:p>
          <a:p>
            <a:r>
              <a:rPr kumimoji="1" lang="en-US" altLang="zh-CN" sz="1400" dirty="0">
                <a:latin typeface="Microsoft YaHei" panose="020B0503020204020204" pitchFamily="34" charset="-122"/>
                <a:ea typeface="Microsoft YaHei" panose="020B0503020204020204" pitchFamily="34" charset="-122"/>
              </a:rPr>
              <a:t>④</a:t>
            </a:r>
            <a:r>
              <a:rPr kumimoji="1" lang="zh-CN" altLang="en-US" sz="1400" dirty="0">
                <a:latin typeface="Microsoft YaHei" panose="020B0503020204020204" pitchFamily="34" charset="-122"/>
                <a:ea typeface="Microsoft YaHei" panose="020B0503020204020204" pitchFamily="34" charset="-122"/>
              </a:rPr>
              <a:t>考察</a:t>
            </a:r>
            <a:r>
              <a:rPr kumimoji="1" lang="en-US" altLang="zh-CN" sz="1400" dirty="0">
                <a:latin typeface="Microsoft YaHei" panose="020B0503020204020204" pitchFamily="34" charset="-122"/>
                <a:ea typeface="Microsoft YaHei" panose="020B0503020204020204" pitchFamily="34" charset="-122"/>
              </a:rPr>
              <a:t>DE</a:t>
            </a:r>
            <a:r>
              <a:rPr lang="zh-CN" altLang="en-US" sz="1400" dirty="0">
                <a:latin typeface="Microsoft YaHei" panose="020B0503020204020204" pitchFamily="34" charset="-122"/>
                <a:ea typeface="Microsoft YaHei" panose="020B0503020204020204" pitchFamily="34" charset="-122"/>
              </a:rPr>
              <a:t>→</a:t>
            </a:r>
            <a:r>
              <a:rPr lang="en-US" altLang="zh-CN" sz="1400" dirty="0">
                <a:latin typeface="Microsoft YaHei" panose="020B0503020204020204" pitchFamily="34" charset="-122"/>
                <a:ea typeface="Microsoft YaHei" panose="020B0503020204020204" pitchFamily="34" charset="-122"/>
              </a:rPr>
              <a:t>C</a:t>
            </a:r>
            <a:r>
              <a:rPr lang="zh-CN" altLang="en-US" sz="1400" dirty="0">
                <a:latin typeface="Microsoft YaHei" panose="020B0503020204020204" pitchFamily="34" charset="-122"/>
                <a:ea typeface="Microsoft YaHei" panose="020B0503020204020204" pitchFamily="34" charset="-122"/>
              </a:rPr>
              <a:t>，发现第</a:t>
            </a:r>
            <a:r>
              <a:rPr lang="en-US" altLang="zh-CN" sz="1400" dirty="0">
                <a:latin typeface="Microsoft YaHei" panose="020B0503020204020204" pitchFamily="34" charset="-122"/>
                <a:ea typeface="Microsoft YaHei" panose="020B0503020204020204" pitchFamily="34" charset="-122"/>
              </a:rPr>
              <a:t>3</a:t>
            </a:r>
            <a:r>
              <a:rPr lang="zh-CN" altLang="en-US" sz="1400" dirty="0">
                <a:latin typeface="Microsoft YaHei" panose="020B0503020204020204" pitchFamily="34" charset="-122"/>
                <a:ea typeface="Microsoft YaHei" panose="020B0503020204020204" pitchFamily="34" charset="-122"/>
              </a:rPr>
              <a:t>、</a:t>
            </a:r>
            <a:r>
              <a:rPr lang="en-US" altLang="zh-CN" sz="1400" dirty="0">
                <a:latin typeface="Microsoft YaHei" panose="020B0503020204020204" pitchFamily="34" charset="-122"/>
                <a:ea typeface="Microsoft YaHei" panose="020B0503020204020204" pitchFamily="34" charset="-122"/>
              </a:rPr>
              <a:t>4</a:t>
            </a:r>
            <a:r>
              <a:rPr lang="zh-CN" altLang="en-US" sz="1400" dirty="0">
                <a:latin typeface="Microsoft YaHei" panose="020B0503020204020204" pitchFamily="34" charset="-122"/>
                <a:ea typeface="Microsoft YaHei" panose="020B0503020204020204" pitchFamily="34" charset="-122"/>
              </a:rPr>
              <a:t>、</a:t>
            </a:r>
            <a:r>
              <a:rPr lang="en-US" altLang="zh-CN" sz="1400" dirty="0">
                <a:latin typeface="Microsoft YaHei" panose="020B0503020204020204" pitchFamily="34" charset="-122"/>
                <a:ea typeface="Microsoft YaHei" panose="020B0503020204020204" pitchFamily="34" charset="-122"/>
              </a:rPr>
              <a:t>5</a:t>
            </a:r>
            <a:r>
              <a:rPr lang="zh-CN" altLang="en-US" sz="1400" dirty="0">
                <a:latin typeface="Microsoft YaHei" panose="020B0503020204020204" pitchFamily="34" charset="-122"/>
                <a:ea typeface="Microsoft YaHei" panose="020B0503020204020204" pitchFamily="34" charset="-122"/>
              </a:rPr>
              <a:t>行上</a:t>
            </a:r>
            <a:r>
              <a:rPr lang="en-US" altLang="zh-CN" sz="1400" dirty="0">
                <a:latin typeface="Microsoft YaHei" panose="020B0503020204020204" pitchFamily="34" charset="-122"/>
                <a:ea typeface="Microsoft YaHei" panose="020B0503020204020204" pitchFamily="34" charset="-122"/>
              </a:rPr>
              <a:t>D</a:t>
            </a:r>
            <a:r>
              <a:rPr lang="zh-CN" altLang="en-US" sz="1400" dirty="0">
                <a:latin typeface="Microsoft YaHei" panose="020B0503020204020204" pitchFamily="34" charset="-122"/>
                <a:ea typeface="Microsoft YaHei" panose="020B0503020204020204" pitchFamily="34" charset="-122"/>
              </a:rPr>
              <a:t>列的值均为</a:t>
            </a:r>
            <a:r>
              <a:rPr lang="en-US" altLang="zh-CN" sz="1400" dirty="0">
                <a:latin typeface="Microsoft YaHei" panose="020B0503020204020204" pitchFamily="34" charset="-122"/>
                <a:ea typeface="Microsoft YaHei" panose="020B0503020204020204" pitchFamily="34" charset="-122"/>
              </a:rPr>
              <a:t>a</a:t>
            </a:r>
            <a:r>
              <a:rPr lang="en-US" altLang="zh-CN" sz="1400" baseline="-25000" dirty="0">
                <a:latin typeface="Microsoft YaHei" panose="020B0503020204020204" pitchFamily="34" charset="-122"/>
                <a:ea typeface="Microsoft YaHei" panose="020B0503020204020204" pitchFamily="34" charset="-122"/>
              </a:rPr>
              <a:t>4</a:t>
            </a:r>
            <a:r>
              <a:rPr lang="zh-CN" altLang="en-US" sz="1400" dirty="0">
                <a:latin typeface="Microsoft YaHei" panose="020B0503020204020204" pitchFamily="34" charset="-122"/>
                <a:ea typeface="Microsoft YaHei" panose="020B0503020204020204" pitchFamily="34" charset="-122"/>
              </a:rPr>
              <a:t>，</a:t>
            </a:r>
            <a:r>
              <a:rPr lang="en-US" altLang="zh-CN" sz="1400" dirty="0">
                <a:latin typeface="Microsoft YaHei" panose="020B0503020204020204" pitchFamily="34" charset="-122"/>
                <a:ea typeface="Microsoft YaHei" panose="020B0503020204020204" pitchFamily="34" charset="-122"/>
              </a:rPr>
              <a:t>E</a:t>
            </a:r>
            <a:r>
              <a:rPr lang="zh-CN" altLang="en-US" sz="1400" dirty="0">
                <a:latin typeface="Microsoft YaHei" panose="020B0503020204020204" pitchFamily="34" charset="-122"/>
                <a:ea typeface="Microsoft YaHei" panose="020B0503020204020204" pitchFamily="34" charset="-122"/>
              </a:rPr>
              <a:t>列的值均为</a:t>
            </a:r>
            <a:r>
              <a:rPr lang="en-US" altLang="zh-CN" sz="1400" dirty="0">
                <a:latin typeface="Microsoft YaHei" panose="020B0503020204020204" pitchFamily="34" charset="-122"/>
                <a:ea typeface="Microsoft YaHei" panose="020B0503020204020204" pitchFamily="34" charset="-122"/>
              </a:rPr>
              <a:t>a</a:t>
            </a:r>
            <a:r>
              <a:rPr lang="en-US" altLang="zh-CN" sz="1400" baseline="-25000" dirty="0">
                <a:latin typeface="Microsoft YaHei" panose="020B0503020204020204" pitchFamily="34" charset="-122"/>
                <a:ea typeface="Microsoft YaHei" panose="020B0503020204020204" pitchFamily="34" charset="-122"/>
              </a:rPr>
              <a:t>5</a:t>
            </a:r>
            <a:r>
              <a:rPr lang="zh-CN" altLang="en-US" sz="1400" dirty="0">
                <a:latin typeface="Microsoft YaHei" panose="020B0503020204020204" pitchFamily="34" charset="-122"/>
                <a:ea typeface="Microsoft YaHei" panose="020B0503020204020204" pitchFamily="34" charset="-122"/>
              </a:rPr>
              <a:t>，因此把这</a:t>
            </a:r>
            <a:r>
              <a:rPr lang="en-US" altLang="zh-CN" sz="1400" dirty="0">
                <a:latin typeface="Microsoft YaHei" panose="020B0503020204020204" pitchFamily="34" charset="-122"/>
                <a:ea typeface="Microsoft YaHei" panose="020B0503020204020204" pitchFamily="34" charset="-122"/>
              </a:rPr>
              <a:t>3</a:t>
            </a:r>
            <a:r>
              <a:rPr lang="zh-CN" altLang="en-US" sz="1400" dirty="0">
                <a:latin typeface="Microsoft YaHei" panose="020B0503020204020204" pitchFamily="34" charset="-122"/>
                <a:ea typeface="Microsoft YaHei" panose="020B0503020204020204" pitchFamily="34" charset="-122"/>
              </a:rPr>
              <a:t>行</a:t>
            </a:r>
            <a:r>
              <a:rPr lang="en-US" altLang="zh-CN" sz="1400" dirty="0">
                <a:latin typeface="Microsoft YaHei" panose="020B0503020204020204" pitchFamily="34" charset="-122"/>
                <a:ea typeface="Microsoft YaHei" panose="020B0503020204020204" pitchFamily="34" charset="-122"/>
              </a:rPr>
              <a:t>C</a:t>
            </a:r>
            <a:r>
              <a:rPr lang="zh-CN" altLang="en-US" sz="1400" dirty="0">
                <a:latin typeface="Microsoft YaHei" panose="020B0503020204020204" pitchFamily="34" charset="-122"/>
                <a:ea typeface="Microsoft YaHei" panose="020B0503020204020204" pitchFamily="34" charset="-122"/>
              </a:rPr>
              <a:t>列的值改为</a:t>
            </a:r>
            <a:r>
              <a:rPr lang="en-US" altLang="zh-CN" sz="1400" dirty="0">
                <a:latin typeface="Microsoft YaHei" panose="020B0503020204020204" pitchFamily="34" charset="-122"/>
                <a:ea typeface="Microsoft YaHei" panose="020B0503020204020204" pitchFamily="34" charset="-122"/>
              </a:rPr>
              <a:t>a</a:t>
            </a:r>
            <a:r>
              <a:rPr lang="en-US" altLang="zh-CN" sz="1400" baseline="-25000" dirty="0">
                <a:latin typeface="Microsoft YaHei" panose="020B0503020204020204" pitchFamily="34" charset="-122"/>
                <a:ea typeface="Microsoft YaHei" panose="020B0503020204020204" pitchFamily="34" charset="-122"/>
              </a:rPr>
              <a:t>3</a:t>
            </a:r>
            <a:r>
              <a:rPr lang="zh-CN" altLang="en-US" sz="1400" dirty="0">
                <a:latin typeface="Microsoft YaHei" panose="020B0503020204020204" pitchFamily="34" charset="-122"/>
                <a:ea typeface="Microsoft YaHei" panose="020B0503020204020204" pitchFamily="34" charset="-122"/>
              </a:rPr>
              <a:t>。</a:t>
            </a:r>
            <a:endParaRPr lang="en-US" altLang="zh-CN" sz="1400" dirty="0">
              <a:latin typeface="Microsoft YaHei" panose="020B0503020204020204" pitchFamily="34" charset="-122"/>
              <a:ea typeface="Microsoft YaHei" panose="020B0503020204020204" pitchFamily="34" charset="-122"/>
            </a:endParaRPr>
          </a:p>
          <a:p>
            <a:r>
              <a:rPr kumimoji="1" lang="en-US" altLang="zh-CN" sz="1400" dirty="0">
                <a:latin typeface="Microsoft YaHei" panose="020B0503020204020204" pitchFamily="34" charset="-122"/>
                <a:ea typeface="Microsoft YaHei" panose="020B0503020204020204" pitchFamily="34" charset="-122"/>
              </a:rPr>
              <a:t>⑤</a:t>
            </a:r>
            <a:r>
              <a:rPr kumimoji="1" lang="zh-CN" altLang="en-US" sz="1400" dirty="0">
                <a:latin typeface="Microsoft YaHei" panose="020B0503020204020204" pitchFamily="34" charset="-122"/>
                <a:ea typeface="Microsoft YaHei" panose="020B0503020204020204" pitchFamily="34" charset="-122"/>
              </a:rPr>
              <a:t>考察</a:t>
            </a:r>
            <a:r>
              <a:rPr kumimoji="1" lang="en-US" altLang="zh-CN" sz="1400" dirty="0">
                <a:latin typeface="Microsoft YaHei" panose="020B0503020204020204" pitchFamily="34" charset="-122"/>
                <a:ea typeface="Microsoft YaHei" panose="020B0503020204020204" pitchFamily="34" charset="-122"/>
              </a:rPr>
              <a:t>CE</a:t>
            </a:r>
            <a:r>
              <a:rPr lang="zh-CN" altLang="en-US" sz="1400" dirty="0">
                <a:latin typeface="Microsoft YaHei" panose="020B0503020204020204" pitchFamily="34" charset="-122"/>
                <a:ea typeface="Microsoft YaHei" panose="020B0503020204020204" pitchFamily="34" charset="-122"/>
              </a:rPr>
              <a:t>→</a:t>
            </a:r>
            <a:r>
              <a:rPr lang="en-US" altLang="zh-CN" sz="1400" dirty="0">
                <a:latin typeface="Microsoft YaHei" panose="020B0503020204020204" pitchFamily="34" charset="-122"/>
                <a:ea typeface="Microsoft YaHei" panose="020B0503020204020204" pitchFamily="34" charset="-122"/>
              </a:rPr>
              <a:t>A</a:t>
            </a:r>
            <a:r>
              <a:rPr lang="zh-CN" altLang="en-US" sz="1400" dirty="0">
                <a:latin typeface="Microsoft YaHei" panose="020B0503020204020204" pitchFamily="34" charset="-122"/>
                <a:ea typeface="Microsoft YaHei" panose="020B0503020204020204" pitchFamily="34" charset="-122"/>
              </a:rPr>
              <a:t>，发现第</a:t>
            </a:r>
            <a:r>
              <a:rPr lang="en-US" altLang="zh-CN" sz="1400" dirty="0">
                <a:latin typeface="Microsoft YaHei" panose="020B0503020204020204" pitchFamily="34" charset="-122"/>
                <a:ea typeface="Microsoft YaHei" panose="020B0503020204020204" pitchFamily="34" charset="-122"/>
              </a:rPr>
              <a:t>3</a:t>
            </a:r>
            <a:r>
              <a:rPr lang="zh-CN" altLang="en-US" sz="1400" dirty="0">
                <a:latin typeface="Microsoft YaHei" panose="020B0503020204020204" pitchFamily="34" charset="-122"/>
                <a:ea typeface="Microsoft YaHei" panose="020B0503020204020204" pitchFamily="34" charset="-122"/>
              </a:rPr>
              <a:t>、</a:t>
            </a:r>
            <a:r>
              <a:rPr lang="en-US" altLang="zh-CN" sz="1400" dirty="0">
                <a:latin typeface="Microsoft YaHei" panose="020B0503020204020204" pitchFamily="34" charset="-122"/>
                <a:ea typeface="Microsoft YaHei" panose="020B0503020204020204" pitchFamily="34" charset="-122"/>
              </a:rPr>
              <a:t>4</a:t>
            </a:r>
            <a:r>
              <a:rPr lang="zh-CN" altLang="en-US" sz="1400" dirty="0">
                <a:latin typeface="Microsoft YaHei" panose="020B0503020204020204" pitchFamily="34" charset="-122"/>
                <a:ea typeface="Microsoft YaHei" panose="020B0503020204020204" pitchFamily="34" charset="-122"/>
              </a:rPr>
              <a:t>、</a:t>
            </a:r>
            <a:r>
              <a:rPr lang="en-US" altLang="zh-CN" sz="1400" dirty="0">
                <a:latin typeface="Microsoft YaHei" panose="020B0503020204020204" pitchFamily="34" charset="-122"/>
                <a:ea typeface="Microsoft YaHei" panose="020B0503020204020204" pitchFamily="34" charset="-122"/>
              </a:rPr>
              <a:t>5</a:t>
            </a:r>
            <a:r>
              <a:rPr lang="zh-CN" altLang="en-US" sz="1400" dirty="0">
                <a:latin typeface="Microsoft YaHei" panose="020B0503020204020204" pitchFamily="34" charset="-122"/>
                <a:ea typeface="Microsoft YaHei" panose="020B0503020204020204" pitchFamily="34" charset="-122"/>
              </a:rPr>
              <a:t>行上</a:t>
            </a:r>
            <a:r>
              <a:rPr lang="en-US" altLang="zh-CN" sz="1400" dirty="0">
                <a:latin typeface="Microsoft YaHei" panose="020B0503020204020204" pitchFamily="34" charset="-122"/>
                <a:ea typeface="Microsoft YaHei" panose="020B0503020204020204" pitchFamily="34" charset="-122"/>
              </a:rPr>
              <a:t>C</a:t>
            </a:r>
            <a:r>
              <a:rPr lang="zh-CN" altLang="en-US" sz="1400" dirty="0">
                <a:latin typeface="Microsoft YaHei" panose="020B0503020204020204" pitchFamily="34" charset="-122"/>
                <a:ea typeface="Microsoft YaHei" panose="020B0503020204020204" pitchFamily="34" charset="-122"/>
              </a:rPr>
              <a:t>列的值均为</a:t>
            </a:r>
            <a:r>
              <a:rPr lang="en-US" altLang="zh-CN" sz="1400" dirty="0">
                <a:latin typeface="Microsoft YaHei" panose="020B0503020204020204" pitchFamily="34" charset="-122"/>
                <a:ea typeface="Microsoft YaHei" panose="020B0503020204020204" pitchFamily="34" charset="-122"/>
              </a:rPr>
              <a:t>a</a:t>
            </a:r>
            <a:r>
              <a:rPr lang="en-US" altLang="zh-CN" sz="1400" baseline="-25000" dirty="0">
                <a:latin typeface="Microsoft YaHei" panose="020B0503020204020204" pitchFamily="34" charset="-122"/>
                <a:ea typeface="Microsoft YaHei" panose="020B0503020204020204" pitchFamily="34" charset="-122"/>
              </a:rPr>
              <a:t>3</a:t>
            </a:r>
            <a:r>
              <a:rPr lang="zh-CN" altLang="en-US" sz="1400" dirty="0">
                <a:latin typeface="Microsoft YaHei" panose="020B0503020204020204" pitchFamily="34" charset="-122"/>
                <a:ea typeface="Microsoft YaHei" panose="020B0503020204020204" pitchFamily="34" charset="-122"/>
              </a:rPr>
              <a:t>，</a:t>
            </a:r>
            <a:r>
              <a:rPr lang="en-US" altLang="zh-CN" sz="1400" dirty="0">
                <a:latin typeface="Microsoft YaHei" panose="020B0503020204020204" pitchFamily="34" charset="-122"/>
                <a:ea typeface="Microsoft YaHei" panose="020B0503020204020204" pitchFamily="34" charset="-122"/>
              </a:rPr>
              <a:t>E</a:t>
            </a:r>
            <a:r>
              <a:rPr lang="zh-CN" altLang="en-US" sz="1400" dirty="0">
                <a:latin typeface="Microsoft YaHei" panose="020B0503020204020204" pitchFamily="34" charset="-122"/>
                <a:ea typeface="Microsoft YaHei" panose="020B0503020204020204" pitchFamily="34" charset="-122"/>
              </a:rPr>
              <a:t>列的值均为</a:t>
            </a:r>
            <a:r>
              <a:rPr lang="en-US" altLang="zh-CN" sz="1400" dirty="0">
                <a:latin typeface="Microsoft YaHei" panose="020B0503020204020204" pitchFamily="34" charset="-122"/>
                <a:ea typeface="Microsoft YaHei" panose="020B0503020204020204" pitchFamily="34" charset="-122"/>
              </a:rPr>
              <a:t>a</a:t>
            </a:r>
            <a:r>
              <a:rPr lang="en-US" altLang="zh-CN" sz="1400" baseline="-25000" dirty="0">
                <a:latin typeface="Microsoft YaHei" panose="020B0503020204020204" pitchFamily="34" charset="-122"/>
                <a:ea typeface="Microsoft YaHei" panose="020B0503020204020204" pitchFamily="34" charset="-122"/>
              </a:rPr>
              <a:t>5</a:t>
            </a:r>
            <a:r>
              <a:rPr lang="zh-CN" altLang="en-US" sz="1400" dirty="0">
                <a:latin typeface="Microsoft YaHei" panose="020B0503020204020204" pitchFamily="34" charset="-122"/>
                <a:ea typeface="Microsoft YaHei" panose="020B0503020204020204" pitchFamily="34" charset="-122"/>
              </a:rPr>
              <a:t>，因此把这</a:t>
            </a:r>
            <a:r>
              <a:rPr lang="en-US" altLang="zh-CN" sz="1400" dirty="0">
                <a:latin typeface="Microsoft YaHei" panose="020B0503020204020204" pitchFamily="34" charset="-122"/>
                <a:ea typeface="Microsoft YaHei" panose="020B0503020204020204" pitchFamily="34" charset="-122"/>
              </a:rPr>
              <a:t>3</a:t>
            </a:r>
            <a:r>
              <a:rPr lang="zh-CN" altLang="en-US" sz="1400" dirty="0">
                <a:latin typeface="Microsoft YaHei" panose="020B0503020204020204" pitchFamily="34" charset="-122"/>
                <a:ea typeface="Microsoft YaHei" panose="020B0503020204020204" pitchFamily="34" charset="-122"/>
              </a:rPr>
              <a:t>行</a:t>
            </a:r>
            <a:r>
              <a:rPr lang="en-US" altLang="zh-CN" sz="1400" dirty="0">
                <a:latin typeface="Microsoft YaHei" panose="020B0503020204020204" pitchFamily="34" charset="-122"/>
                <a:ea typeface="Microsoft YaHei" panose="020B0503020204020204" pitchFamily="34" charset="-122"/>
              </a:rPr>
              <a:t>A</a:t>
            </a:r>
            <a:r>
              <a:rPr lang="zh-CN" altLang="en-US" sz="1400" dirty="0">
                <a:latin typeface="Microsoft YaHei" panose="020B0503020204020204" pitchFamily="34" charset="-122"/>
                <a:ea typeface="Microsoft YaHei" panose="020B0503020204020204" pitchFamily="34" charset="-122"/>
              </a:rPr>
              <a:t>列的值改为</a:t>
            </a:r>
            <a:r>
              <a:rPr lang="en-US" altLang="zh-CN" sz="1400" dirty="0">
                <a:latin typeface="Microsoft YaHei" panose="020B0503020204020204" pitchFamily="34" charset="-122"/>
                <a:ea typeface="Microsoft YaHei" panose="020B0503020204020204" pitchFamily="34" charset="-122"/>
              </a:rPr>
              <a:t>a</a:t>
            </a:r>
            <a:r>
              <a:rPr lang="en-US" altLang="zh-CN" sz="1400" baseline="-25000" dirty="0">
                <a:latin typeface="Microsoft YaHei" panose="020B0503020204020204" pitchFamily="34" charset="-122"/>
                <a:ea typeface="Microsoft YaHei" panose="020B0503020204020204" pitchFamily="34" charset="-122"/>
              </a:rPr>
              <a:t>1</a:t>
            </a:r>
            <a:r>
              <a:rPr lang="zh-CN" altLang="en-US" sz="1400" dirty="0">
                <a:latin typeface="Microsoft YaHei" panose="020B0503020204020204" pitchFamily="34" charset="-122"/>
                <a:ea typeface="Microsoft YaHei" panose="020B0503020204020204" pitchFamily="34" charset="-122"/>
              </a:rPr>
              <a:t>。</a:t>
            </a:r>
            <a:endParaRPr lang="en-US" altLang="zh-CN" sz="1400" dirty="0">
              <a:latin typeface="Microsoft YaHei" panose="020B0503020204020204" pitchFamily="34" charset="-122"/>
              <a:ea typeface="Microsoft YaHei" panose="020B0503020204020204" pitchFamily="34" charset="-122"/>
            </a:endParaRPr>
          </a:p>
          <a:p>
            <a:endParaRPr kumimoji="1" lang="en-US" altLang="zh-CN" sz="1400" dirty="0">
              <a:latin typeface="Microsoft YaHei" panose="020B0503020204020204" pitchFamily="34" charset="-122"/>
              <a:ea typeface="Microsoft YaHei" panose="020B0503020204020204" pitchFamily="34" charset="-122"/>
            </a:endParaRPr>
          </a:p>
          <a:p>
            <a:r>
              <a:rPr kumimoji="1" lang="zh-CN" altLang="en-US" sz="1400" dirty="0">
                <a:latin typeface="Microsoft YaHei" panose="020B0503020204020204" pitchFamily="34" charset="-122"/>
                <a:ea typeface="Microsoft YaHei" panose="020B0503020204020204" pitchFamily="34" charset="-122"/>
              </a:rPr>
              <a:t>至此，表中第</a:t>
            </a:r>
            <a:r>
              <a:rPr kumimoji="1" lang="en-US" altLang="zh-CN" sz="1400" dirty="0">
                <a:latin typeface="Microsoft YaHei" panose="020B0503020204020204" pitchFamily="34" charset="-122"/>
                <a:ea typeface="Microsoft YaHei" panose="020B0503020204020204" pitchFamily="34" charset="-122"/>
              </a:rPr>
              <a:t>3</a:t>
            </a:r>
            <a:r>
              <a:rPr kumimoji="1" lang="zh-CN" altLang="en-US" sz="1400" dirty="0">
                <a:latin typeface="Microsoft YaHei" panose="020B0503020204020204" pitchFamily="34" charset="-122"/>
                <a:ea typeface="Microsoft YaHei" panose="020B0503020204020204" pitchFamily="34" charset="-122"/>
              </a:rPr>
              <a:t>行由</a:t>
            </a:r>
            <a:r>
              <a:rPr kumimoji="1" lang="en-US" altLang="zh-CN" sz="1400" dirty="0">
                <a:latin typeface="Microsoft YaHei" panose="020B0503020204020204" pitchFamily="34" charset="-122"/>
                <a:ea typeface="Microsoft YaHei" panose="020B0503020204020204" pitchFamily="34" charset="-122"/>
              </a:rPr>
              <a:t>a</a:t>
            </a:r>
            <a:r>
              <a:rPr kumimoji="1" lang="en-US" altLang="zh-CN" sz="1400" baseline="-25000" dirty="0">
                <a:latin typeface="Microsoft YaHei" panose="020B0503020204020204" pitchFamily="34" charset="-122"/>
                <a:ea typeface="Microsoft YaHei" panose="020B0503020204020204" pitchFamily="34" charset="-122"/>
              </a:rPr>
              <a:t>1</a:t>
            </a:r>
            <a:r>
              <a:rPr kumimoji="1" lang="zh-CN" altLang="en-US" sz="1400" dirty="0">
                <a:latin typeface="Microsoft YaHei" panose="020B0503020204020204" pitchFamily="34" charset="-122"/>
                <a:ea typeface="Microsoft YaHei" panose="020B0503020204020204" pitchFamily="34" charset="-122"/>
              </a:rPr>
              <a:t>、</a:t>
            </a:r>
            <a:r>
              <a:rPr kumimoji="1" lang="en-US" altLang="zh-CN" sz="1400" dirty="0">
                <a:latin typeface="Microsoft YaHei" panose="020B0503020204020204" pitchFamily="34" charset="-122"/>
                <a:ea typeface="Microsoft YaHei" panose="020B0503020204020204" pitchFamily="34" charset="-122"/>
              </a:rPr>
              <a:t>a</a:t>
            </a:r>
            <a:r>
              <a:rPr kumimoji="1" lang="en-US" altLang="zh-CN" sz="1400" baseline="-25000" dirty="0">
                <a:latin typeface="Microsoft YaHei" panose="020B0503020204020204" pitchFamily="34" charset="-122"/>
                <a:ea typeface="Microsoft YaHei" panose="020B0503020204020204" pitchFamily="34" charset="-122"/>
              </a:rPr>
              <a:t>2</a:t>
            </a:r>
            <a:r>
              <a:rPr kumimoji="1" lang="zh-CN" altLang="en-US" sz="1400" dirty="0">
                <a:latin typeface="Microsoft YaHei" panose="020B0503020204020204" pitchFamily="34" charset="-122"/>
                <a:ea typeface="Microsoft YaHei" panose="020B0503020204020204" pitchFamily="34" charset="-122"/>
              </a:rPr>
              <a:t>、</a:t>
            </a:r>
            <a:r>
              <a:rPr kumimoji="1" lang="en-US" altLang="zh-CN" sz="1400" dirty="0">
                <a:latin typeface="Microsoft YaHei" panose="020B0503020204020204" pitchFamily="34" charset="-122"/>
                <a:ea typeface="Microsoft YaHei" panose="020B0503020204020204" pitchFamily="34" charset="-122"/>
              </a:rPr>
              <a:t> a</a:t>
            </a:r>
            <a:r>
              <a:rPr kumimoji="1" lang="en-US" altLang="zh-CN" sz="1400" baseline="-25000" dirty="0">
                <a:latin typeface="Microsoft YaHei" panose="020B0503020204020204" pitchFamily="34" charset="-122"/>
                <a:ea typeface="Microsoft YaHei" panose="020B0503020204020204" pitchFamily="34" charset="-122"/>
              </a:rPr>
              <a:t>3</a:t>
            </a:r>
            <a:r>
              <a:rPr kumimoji="1" lang="zh-CN" altLang="en-US" sz="1400" dirty="0">
                <a:latin typeface="Microsoft YaHei" panose="020B0503020204020204" pitchFamily="34" charset="-122"/>
                <a:ea typeface="Microsoft YaHei" panose="020B0503020204020204" pitchFamily="34" charset="-122"/>
              </a:rPr>
              <a:t>、</a:t>
            </a:r>
            <a:r>
              <a:rPr kumimoji="1" lang="en-US" altLang="zh-CN" sz="1400" dirty="0">
                <a:latin typeface="Microsoft YaHei" panose="020B0503020204020204" pitchFamily="34" charset="-122"/>
                <a:ea typeface="Microsoft YaHei" panose="020B0503020204020204" pitchFamily="34" charset="-122"/>
              </a:rPr>
              <a:t> a</a:t>
            </a:r>
            <a:r>
              <a:rPr kumimoji="1" lang="en-US" altLang="zh-CN" sz="1400" baseline="-25000" dirty="0">
                <a:latin typeface="Microsoft YaHei" panose="020B0503020204020204" pitchFamily="34" charset="-122"/>
                <a:ea typeface="Microsoft YaHei" panose="020B0503020204020204" pitchFamily="34" charset="-122"/>
              </a:rPr>
              <a:t>4</a:t>
            </a:r>
            <a:r>
              <a:rPr kumimoji="1" lang="zh-CN" altLang="en-US" sz="1400" dirty="0">
                <a:latin typeface="Microsoft YaHei" panose="020B0503020204020204" pitchFamily="34" charset="-122"/>
                <a:ea typeface="Microsoft YaHei" panose="020B0503020204020204" pitchFamily="34" charset="-122"/>
              </a:rPr>
              <a:t>、</a:t>
            </a:r>
            <a:r>
              <a:rPr kumimoji="1" lang="en-US" altLang="zh-CN" sz="1400" dirty="0">
                <a:latin typeface="Microsoft YaHei" panose="020B0503020204020204" pitchFamily="34" charset="-122"/>
                <a:ea typeface="Microsoft YaHei" panose="020B0503020204020204" pitchFamily="34" charset="-122"/>
              </a:rPr>
              <a:t> a</a:t>
            </a:r>
            <a:r>
              <a:rPr kumimoji="1" lang="en-US" altLang="zh-CN" sz="1400" baseline="-25000" dirty="0">
                <a:latin typeface="Microsoft YaHei" panose="020B0503020204020204" pitchFamily="34" charset="-122"/>
                <a:ea typeface="Microsoft YaHei" panose="020B0503020204020204" pitchFamily="34" charset="-122"/>
              </a:rPr>
              <a:t>5</a:t>
            </a:r>
            <a:r>
              <a:rPr kumimoji="1" lang="zh-CN" altLang="en-US" sz="1400" dirty="0">
                <a:latin typeface="Microsoft YaHei" panose="020B0503020204020204" pitchFamily="34" charset="-122"/>
                <a:ea typeface="Microsoft YaHei" panose="020B0503020204020204" pitchFamily="34" charset="-122"/>
              </a:rPr>
              <a:t>组成，可见该分解具有无损连接性。</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3"/>
          <p:cNvSpPr>
            <a:spLocks noGrp="1"/>
          </p:cNvSpPr>
          <p:nvPr>
            <p:ph idx="1"/>
          </p:nvPr>
        </p:nvSpPr>
        <p:spPr>
          <a:xfrm>
            <a:off x="247973" y="1253548"/>
            <a:ext cx="8671301" cy="2559990"/>
          </a:xfrm>
        </p:spPr>
        <p:txBody>
          <a:bodyPr vert="horz" wrap="square" lIns="68580" tIns="34290" rIns="68580" bIns="34290" anchor="t" anchorCtr="0">
            <a:normAutofit lnSpcReduction="10000"/>
          </a:bodyPr>
          <a:lstStyle/>
          <a:p>
            <a:pPr>
              <a:lnSpc>
                <a:spcPct val="100000"/>
              </a:lnSpc>
            </a:pPr>
            <a:r>
              <a:rPr lang="zh-CN" altLang="en-US" sz="1800" dirty="0">
                <a:solidFill>
                  <a:schemeClr val="folHlink"/>
                </a:solidFill>
              </a:rPr>
              <a:t>二项分解定理</a:t>
            </a:r>
            <a:r>
              <a:rPr lang="en-US" altLang="zh-CN" sz="1800" dirty="0"/>
              <a:t> </a:t>
            </a:r>
            <a:r>
              <a:rPr lang="zh-CN" altLang="en-US" sz="1800" dirty="0"/>
              <a:t>设ρ=(R</a:t>
            </a:r>
            <a:r>
              <a:rPr lang="zh-CN" altLang="en-US" sz="1800" baseline="-25000" dirty="0"/>
              <a:t>1</a:t>
            </a:r>
            <a:r>
              <a:rPr lang="zh-CN" altLang="en-US" sz="1800" dirty="0"/>
              <a:t>，R</a:t>
            </a:r>
            <a:r>
              <a:rPr lang="zh-CN" altLang="en-US" sz="1800" baseline="-25000" dirty="0"/>
              <a:t>2</a:t>
            </a:r>
            <a:r>
              <a:rPr lang="zh-CN" altLang="en-US" sz="1800" dirty="0"/>
              <a:t>)是R的一个分解，F是R上的函数依赖集，分解ρ具有无损连接性的充分必要条件是：</a:t>
            </a:r>
          </a:p>
          <a:p>
            <a:pPr algn="just">
              <a:lnSpc>
                <a:spcPct val="100000"/>
              </a:lnSpc>
              <a:buNone/>
            </a:pPr>
            <a:r>
              <a:rPr lang="zh-CN" altLang="en-US" sz="1800" dirty="0"/>
              <a:t>          R</a:t>
            </a:r>
            <a:r>
              <a:rPr lang="zh-CN" altLang="en-US" sz="1800" baseline="-25000" dirty="0"/>
              <a:t>1</a:t>
            </a:r>
            <a:r>
              <a:rPr lang="zh-CN" altLang="en-US" sz="1800" dirty="0"/>
              <a:t>∩R</a:t>
            </a:r>
            <a:r>
              <a:rPr lang="zh-CN" altLang="en-US" sz="1800" baseline="-25000" dirty="0"/>
              <a:t>2</a:t>
            </a:r>
            <a:r>
              <a:rPr lang="zh-CN" altLang="en-US" sz="1800" dirty="0"/>
              <a:t>→(R</a:t>
            </a:r>
            <a:r>
              <a:rPr lang="zh-CN" altLang="en-US" sz="1800" baseline="-25000" dirty="0"/>
              <a:t>1</a:t>
            </a:r>
            <a:r>
              <a:rPr lang="zh-CN" altLang="en-US" sz="1800" dirty="0"/>
              <a:t>-R</a:t>
            </a:r>
            <a:r>
              <a:rPr lang="zh-CN" altLang="en-US" sz="1800" baseline="-25000" dirty="0"/>
              <a:t>2</a:t>
            </a:r>
            <a:r>
              <a:rPr lang="zh-CN" altLang="en-US" sz="1800" dirty="0"/>
              <a:t>)∈F</a:t>
            </a:r>
            <a:r>
              <a:rPr lang="zh-CN" altLang="en-US" sz="1800" baseline="30000" dirty="0"/>
              <a:t>+</a:t>
            </a:r>
            <a:endParaRPr lang="zh-CN" altLang="en-US" sz="1800" dirty="0"/>
          </a:p>
          <a:p>
            <a:pPr algn="just">
              <a:lnSpc>
                <a:spcPct val="100000"/>
              </a:lnSpc>
              <a:buNone/>
            </a:pPr>
            <a:r>
              <a:rPr lang="zh-CN" altLang="en-US" sz="1800" dirty="0"/>
              <a:t>      或  R</a:t>
            </a:r>
            <a:r>
              <a:rPr lang="zh-CN" altLang="en-US" sz="1800" baseline="-25000" dirty="0"/>
              <a:t>1</a:t>
            </a:r>
            <a:r>
              <a:rPr lang="zh-CN" altLang="en-US" sz="1800" dirty="0"/>
              <a:t>∩R</a:t>
            </a:r>
            <a:r>
              <a:rPr lang="zh-CN" altLang="en-US" sz="1800" baseline="-25000" dirty="0"/>
              <a:t>2</a:t>
            </a:r>
            <a:r>
              <a:rPr lang="zh-CN" altLang="en-US" sz="1800" dirty="0"/>
              <a:t>→(R</a:t>
            </a:r>
            <a:r>
              <a:rPr lang="zh-CN" altLang="en-US" sz="1800" baseline="-25000" dirty="0"/>
              <a:t>2</a:t>
            </a:r>
            <a:r>
              <a:rPr lang="zh-CN" altLang="en-US" sz="1800" dirty="0"/>
              <a:t>-R</a:t>
            </a:r>
            <a:r>
              <a:rPr lang="zh-CN" altLang="en-US" sz="1800" baseline="-25000" dirty="0"/>
              <a:t>1</a:t>
            </a:r>
            <a:r>
              <a:rPr lang="zh-CN" altLang="en-US" sz="1800" dirty="0"/>
              <a:t>)∈F</a:t>
            </a:r>
            <a:r>
              <a:rPr lang="zh-CN" altLang="en-US" sz="1800" baseline="30000" dirty="0"/>
              <a:t>+</a:t>
            </a:r>
            <a:endParaRPr lang="zh-CN" altLang="en-US" sz="1800" dirty="0"/>
          </a:p>
          <a:p>
            <a:pPr algn="just">
              <a:lnSpc>
                <a:spcPct val="100000"/>
              </a:lnSpc>
              <a:buNone/>
            </a:pPr>
            <a:r>
              <a:rPr lang="zh-CN" altLang="en-US" sz="1800" dirty="0"/>
              <a:t>证明：</a:t>
            </a:r>
          </a:p>
          <a:p>
            <a:pPr algn="just">
              <a:lnSpc>
                <a:spcPct val="100000"/>
              </a:lnSpc>
              <a:buNone/>
            </a:pPr>
            <a:r>
              <a:rPr lang="zh-CN" altLang="en-US" sz="1800" dirty="0"/>
              <a:t>   （1）</a:t>
            </a:r>
            <a:r>
              <a:rPr lang="zh-CN" altLang="en-US" sz="1800" dirty="0">
                <a:solidFill>
                  <a:schemeClr val="hlink"/>
                </a:solidFill>
              </a:rPr>
              <a:t>充分性：</a:t>
            </a:r>
            <a:r>
              <a:rPr lang="zh-CN" altLang="en-US" sz="1800" dirty="0"/>
              <a:t>设R</a:t>
            </a:r>
            <a:r>
              <a:rPr lang="zh-CN" altLang="en-US" sz="1800" baseline="-25000" dirty="0"/>
              <a:t>1</a:t>
            </a:r>
            <a:r>
              <a:rPr lang="zh-CN" altLang="en-US" sz="1800" dirty="0"/>
              <a:t>∩R</a:t>
            </a:r>
            <a:r>
              <a:rPr lang="zh-CN" altLang="en-US" sz="1800" baseline="-25000" dirty="0"/>
              <a:t>2</a:t>
            </a:r>
            <a:r>
              <a:rPr lang="zh-CN" altLang="en-US" sz="1800" dirty="0"/>
              <a:t>→(R</a:t>
            </a:r>
            <a:r>
              <a:rPr lang="zh-CN" altLang="en-US" sz="1800" baseline="-25000" dirty="0"/>
              <a:t>1</a:t>
            </a:r>
            <a:r>
              <a:rPr lang="zh-CN" altLang="en-US" sz="1800" dirty="0"/>
              <a:t>-R</a:t>
            </a:r>
            <a:r>
              <a:rPr lang="zh-CN" altLang="en-US" sz="1800" baseline="-25000" dirty="0"/>
              <a:t>2</a:t>
            </a:r>
            <a:r>
              <a:rPr lang="zh-CN" altLang="en-US" sz="1800" dirty="0"/>
              <a:t>)，按无损连接检验算法可构造出下表。表中省略了a和b的下标，这无关紧要。  </a:t>
            </a:r>
            <a:r>
              <a:rPr lang="zh-CN" altLang="en-US" dirty="0"/>
              <a:t>                    </a:t>
            </a:r>
          </a:p>
        </p:txBody>
      </p:sp>
      <p:graphicFrame>
        <p:nvGraphicFramePr>
          <p:cNvPr id="58372" name="Group 4"/>
          <p:cNvGraphicFramePr>
            <a:graphicFrameLocks noGrp="1"/>
          </p:cNvGraphicFramePr>
          <p:nvPr>
            <p:custDataLst>
              <p:tags r:id="rId1"/>
            </p:custDataLst>
            <p:extLst>
              <p:ext uri="{D42A27DB-BD31-4B8C-83A1-F6EECF244321}">
                <p14:modId xmlns:p14="http://schemas.microsoft.com/office/powerpoint/2010/main" val="478073788"/>
              </p:ext>
            </p:extLst>
          </p:nvPr>
        </p:nvGraphicFramePr>
        <p:xfrm>
          <a:off x="4289723" y="3523240"/>
          <a:ext cx="3870137" cy="1123950"/>
        </p:xfrm>
        <a:graphic>
          <a:graphicData uri="http://schemas.openxmlformats.org/drawingml/2006/table">
            <a:tbl>
              <a:tblPr/>
              <a:tblGrid>
                <a:gridCol w="541196">
                  <a:extLst>
                    <a:ext uri="{9D8B030D-6E8A-4147-A177-3AD203B41FA5}">
                      <a16:colId xmlns:a16="http://schemas.microsoft.com/office/drawing/2014/main" val="20000"/>
                    </a:ext>
                  </a:extLst>
                </a:gridCol>
                <a:gridCol w="1109647">
                  <a:extLst>
                    <a:ext uri="{9D8B030D-6E8A-4147-A177-3AD203B41FA5}">
                      <a16:colId xmlns:a16="http://schemas.microsoft.com/office/drawing/2014/main" val="20001"/>
                    </a:ext>
                  </a:extLst>
                </a:gridCol>
                <a:gridCol w="1109647">
                  <a:extLst>
                    <a:ext uri="{9D8B030D-6E8A-4147-A177-3AD203B41FA5}">
                      <a16:colId xmlns:a16="http://schemas.microsoft.com/office/drawing/2014/main" val="20002"/>
                    </a:ext>
                  </a:extLst>
                </a:gridCol>
                <a:gridCol w="1109647">
                  <a:extLst>
                    <a:ext uri="{9D8B030D-6E8A-4147-A177-3AD203B41FA5}">
                      <a16:colId xmlns:a16="http://schemas.microsoft.com/office/drawing/2014/main" val="20003"/>
                    </a:ext>
                  </a:extLst>
                </a:gridCol>
              </a:tblGrid>
              <a:tr h="375047">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R</a:t>
                      </a:r>
                      <a:r>
                        <a:rPr kumimoji="0" lang="en-US" altLang="zh-CN" sz="1800" b="1" i="0" u="none" strike="noStrike" cap="none" normalizeH="0" baseline="-25000" dirty="0">
                          <a:ln>
                            <a:noFill/>
                          </a:ln>
                          <a:solidFill>
                            <a:schemeClr val="tx1"/>
                          </a:solidFill>
                          <a:effectLst/>
                          <a:latin typeface="楷体" panose="02010609060101010101" pitchFamily="49" charset="-122"/>
                          <a:ea typeface="楷体" panose="02010609060101010101" pitchFamily="49" charset="-122"/>
                        </a:rPr>
                        <a:t>i</a:t>
                      </a:r>
                    </a:p>
                  </a:txBody>
                  <a:tcPr marL="68573" marR="6857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R</a:t>
                      </a:r>
                      <a:r>
                        <a:rPr kumimoji="0" lang="en-US" altLang="zh-CN" sz="1800" b="1" i="0" u="none" strike="noStrike" cap="none" normalizeH="0" baseline="-25000" dirty="0">
                          <a:ln>
                            <a:noFill/>
                          </a:ln>
                          <a:solidFill>
                            <a:schemeClr val="tx1"/>
                          </a:solidFill>
                          <a:effectLst/>
                          <a:latin typeface="楷体" panose="02010609060101010101" pitchFamily="49" charset="-122"/>
                          <a:ea typeface="楷体" panose="02010609060101010101" pitchFamily="49" charset="-122"/>
                        </a:rPr>
                        <a:t>1</a:t>
                      </a:r>
                      <a:r>
                        <a:rPr kumimoji="0" lang="en-US" altLang="zh-CN" sz="1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∩R</a:t>
                      </a:r>
                      <a:r>
                        <a:rPr kumimoji="0" lang="en-US" altLang="zh-CN" sz="1800" b="1" i="0" u="none" strike="noStrike" cap="none" normalizeH="0" baseline="-25000" dirty="0">
                          <a:ln>
                            <a:noFill/>
                          </a:ln>
                          <a:solidFill>
                            <a:schemeClr val="tx1"/>
                          </a:solidFill>
                          <a:effectLst/>
                          <a:latin typeface="楷体" panose="02010609060101010101" pitchFamily="49" charset="-122"/>
                          <a:ea typeface="楷体" panose="02010609060101010101" pitchFamily="49" charset="-122"/>
                        </a:rPr>
                        <a:t>2</a:t>
                      </a:r>
                    </a:p>
                  </a:txBody>
                  <a:tcPr marL="68573" marR="6857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R</a:t>
                      </a:r>
                      <a:r>
                        <a:rPr kumimoji="0" lang="en-US" altLang="zh-CN" sz="1800" b="1" i="0" u="none" strike="noStrike" cap="none" normalizeH="0" baseline="-25000" dirty="0">
                          <a:ln>
                            <a:noFill/>
                          </a:ln>
                          <a:solidFill>
                            <a:schemeClr val="tx1"/>
                          </a:solidFill>
                          <a:effectLst/>
                          <a:latin typeface="楷体" panose="02010609060101010101" pitchFamily="49" charset="-122"/>
                          <a:ea typeface="楷体" panose="02010609060101010101" pitchFamily="49" charset="-122"/>
                        </a:rPr>
                        <a:t>1</a:t>
                      </a:r>
                      <a:r>
                        <a:rPr kumimoji="0" lang="en-US" altLang="zh-CN" sz="1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-R</a:t>
                      </a:r>
                      <a:r>
                        <a:rPr kumimoji="0" lang="en-US" altLang="zh-CN" sz="1800" b="1" i="0" u="none" strike="noStrike" cap="none" normalizeH="0" baseline="-25000" dirty="0">
                          <a:ln>
                            <a:noFill/>
                          </a:ln>
                          <a:solidFill>
                            <a:schemeClr val="tx1"/>
                          </a:solidFill>
                          <a:effectLst/>
                          <a:latin typeface="楷体" panose="02010609060101010101" pitchFamily="49" charset="-122"/>
                          <a:ea typeface="楷体" panose="02010609060101010101" pitchFamily="49" charset="-122"/>
                        </a:rPr>
                        <a:t>2</a:t>
                      </a:r>
                      <a:r>
                        <a:rPr kumimoji="0" lang="en-US" altLang="zh-CN" sz="1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 </a:t>
                      </a:r>
                    </a:p>
                  </a:txBody>
                  <a:tcPr marL="68573" marR="6857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R</a:t>
                      </a:r>
                      <a:r>
                        <a:rPr kumimoji="0" lang="en-US" altLang="zh-CN" sz="1800" b="1" i="0" u="none" strike="noStrike" cap="none" normalizeH="0" baseline="-25000" dirty="0">
                          <a:ln>
                            <a:noFill/>
                          </a:ln>
                          <a:solidFill>
                            <a:schemeClr val="tx1"/>
                          </a:solidFill>
                          <a:effectLst/>
                          <a:latin typeface="楷体" panose="02010609060101010101" pitchFamily="49" charset="-122"/>
                          <a:ea typeface="楷体" panose="02010609060101010101" pitchFamily="49" charset="-122"/>
                        </a:rPr>
                        <a:t>2</a:t>
                      </a:r>
                      <a:r>
                        <a:rPr kumimoji="0" lang="en-US" altLang="zh-CN" sz="1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-R</a:t>
                      </a:r>
                      <a:r>
                        <a:rPr kumimoji="0" lang="en-US" altLang="zh-CN" sz="1800" b="1" i="0" u="none" strike="noStrike" cap="none" normalizeH="0" baseline="-25000" dirty="0">
                          <a:ln>
                            <a:noFill/>
                          </a:ln>
                          <a:solidFill>
                            <a:schemeClr val="tx1"/>
                          </a:solidFill>
                          <a:effectLst/>
                          <a:latin typeface="楷体" panose="02010609060101010101" pitchFamily="49" charset="-122"/>
                          <a:ea typeface="楷体" panose="02010609060101010101" pitchFamily="49" charset="-122"/>
                        </a:rPr>
                        <a:t>1</a:t>
                      </a:r>
                      <a:r>
                        <a:rPr kumimoji="0" lang="en-US" altLang="zh-CN" sz="1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 </a:t>
                      </a:r>
                    </a:p>
                  </a:txBody>
                  <a:tcPr marL="68573" marR="6857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3856">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R</a:t>
                      </a:r>
                      <a:r>
                        <a:rPr kumimoji="0" lang="en-US" altLang="zh-CN" sz="1800" b="0" i="0" u="none" strike="noStrike" cap="none" normalizeH="0" baseline="-25000" dirty="0">
                          <a:ln>
                            <a:noFill/>
                          </a:ln>
                          <a:solidFill>
                            <a:schemeClr val="tx1"/>
                          </a:solidFill>
                          <a:effectLst/>
                          <a:latin typeface="楷体" panose="02010609060101010101" pitchFamily="49" charset="-122"/>
                          <a:ea typeface="楷体" panose="02010609060101010101" pitchFamily="49" charset="-122"/>
                        </a:rPr>
                        <a:t>1</a:t>
                      </a:r>
                    </a:p>
                  </a:txBody>
                  <a:tcPr marL="68573" marR="6857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aa…a</a:t>
                      </a:r>
                    </a:p>
                  </a:txBody>
                  <a:tcPr marL="68573" marR="6857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aa…a</a:t>
                      </a:r>
                    </a:p>
                  </a:txBody>
                  <a:tcPr marL="68573" marR="6857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bb…b</a:t>
                      </a:r>
                    </a:p>
                  </a:txBody>
                  <a:tcPr marL="68573" marR="6857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5047">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R</a:t>
                      </a:r>
                      <a:r>
                        <a:rPr kumimoji="0" lang="en-US" altLang="zh-CN" sz="1800" b="0" i="0" u="none" strike="noStrike" cap="none" normalizeH="0" baseline="-25000" dirty="0">
                          <a:ln>
                            <a:noFill/>
                          </a:ln>
                          <a:solidFill>
                            <a:schemeClr val="tx1"/>
                          </a:solidFill>
                          <a:effectLst/>
                          <a:latin typeface="楷体" panose="02010609060101010101" pitchFamily="49" charset="-122"/>
                          <a:ea typeface="楷体" panose="02010609060101010101" pitchFamily="49" charset="-122"/>
                        </a:rPr>
                        <a:t>2</a:t>
                      </a:r>
                    </a:p>
                  </a:txBody>
                  <a:tcPr marL="68573" marR="6857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aa…a</a:t>
                      </a:r>
                    </a:p>
                  </a:txBody>
                  <a:tcPr marL="68573" marR="6857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bb…b</a:t>
                      </a:r>
                    </a:p>
                  </a:txBody>
                  <a:tcPr marL="68573" marR="6857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aa…a</a:t>
                      </a:r>
                    </a:p>
                  </a:txBody>
                  <a:tcPr marL="68573" marR="6857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3" name="标题 2">
            <a:extLst>
              <a:ext uri="{FF2B5EF4-FFF2-40B4-BE49-F238E27FC236}">
                <a16:creationId xmlns:a16="http://schemas.microsoft.com/office/drawing/2014/main" id="{55699080-C6ED-DAD4-6B50-D347B9C3CDBA}"/>
              </a:ext>
            </a:extLst>
          </p:cNvPr>
          <p:cNvSpPr>
            <a:spLocks noGrp="1"/>
          </p:cNvSpPr>
          <p:nvPr>
            <p:ph type="title"/>
          </p:nvPr>
        </p:nvSpPr>
        <p:spPr/>
        <p:txBody>
          <a:bodyPr/>
          <a:lstStyle/>
          <a:p>
            <a:r>
              <a:rPr lang="zh-CN" altLang="en-US" dirty="0"/>
              <a:t>关系模式的分解</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196877" y="1253548"/>
            <a:ext cx="8750245" cy="3306587"/>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marL="0" indent="0" algn="just" eaLnBrk="1" hangingPunct="1">
              <a:buNone/>
            </a:pPr>
            <a:r>
              <a:rPr lang="zh-CN" altLang="en-US" sz="2100" dirty="0">
                <a:latin typeface="Microsoft YaHei" panose="020B0503020204020204" pitchFamily="34" charset="-122"/>
                <a:ea typeface="Microsoft YaHei" panose="020B0503020204020204" pitchFamily="34" charset="-122"/>
              </a:rPr>
              <a:t>   </a:t>
            </a:r>
            <a:r>
              <a:rPr lang="zh-CN" altLang="en-US" sz="1800" dirty="0">
                <a:latin typeface="Microsoft YaHei" panose="020B0503020204020204" pitchFamily="34" charset="-122"/>
                <a:ea typeface="Microsoft YaHei" panose="020B0503020204020204" pitchFamily="34" charset="-122"/>
              </a:rPr>
              <a:t>如果</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1</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2</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1</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2</a:t>
            </a:r>
            <a:r>
              <a:rPr lang="en-US" altLang="zh-CN" sz="18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在</a:t>
            </a:r>
            <a:r>
              <a:rPr lang="en-US" altLang="zh-CN" sz="1800" dirty="0">
                <a:latin typeface="Microsoft YaHei" panose="020B0503020204020204" pitchFamily="34" charset="-122"/>
                <a:ea typeface="Microsoft YaHei" panose="020B0503020204020204" pitchFamily="34" charset="-122"/>
              </a:rPr>
              <a:t>F</a:t>
            </a:r>
            <a:r>
              <a:rPr lang="zh-CN" altLang="en-US" sz="1800" dirty="0">
                <a:latin typeface="Microsoft YaHei" panose="020B0503020204020204" pitchFamily="34" charset="-122"/>
                <a:ea typeface="Microsoft YaHei" panose="020B0503020204020204" pitchFamily="34" charset="-122"/>
              </a:rPr>
              <a:t>中，则可将表中第</a:t>
            </a:r>
            <a:r>
              <a:rPr lang="en-US" altLang="zh-CN" sz="1800" dirty="0">
                <a:latin typeface="Microsoft YaHei" panose="020B0503020204020204" pitchFamily="34" charset="-122"/>
                <a:ea typeface="Microsoft YaHei" panose="020B0503020204020204" pitchFamily="34" charset="-122"/>
              </a:rPr>
              <a:t>2</a:t>
            </a:r>
            <a:r>
              <a:rPr lang="zh-CN" altLang="en-US" sz="1800" dirty="0">
                <a:latin typeface="Microsoft YaHei" panose="020B0503020204020204" pitchFamily="34" charset="-122"/>
                <a:ea typeface="Microsoft YaHei" panose="020B0503020204020204" pitchFamily="34" charset="-122"/>
              </a:rPr>
              <a:t>行位于</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1</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2</a:t>
            </a:r>
            <a:r>
              <a:rPr lang="en-US" altLang="zh-CN" sz="18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列中的所有符号都改为</a:t>
            </a:r>
            <a:r>
              <a:rPr lang="en-US" altLang="zh-CN" sz="1800" dirty="0">
                <a:latin typeface="Microsoft YaHei" panose="020B0503020204020204" pitchFamily="34" charset="-122"/>
                <a:ea typeface="Microsoft YaHei" panose="020B0503020204020204" pitchFamily="34" charset="-122"/>
              </a:rPr>
              <a:t>a</a:t>
            </a:r>
            <a:r>
              <a:rPr lang="zh-CN" altLang="en-US" sz="1800" dirty="0">
                <a:latin typeface="Microsoft YaHei" panose="020B0503020204020204" pitchFamily="34" charset="-122"/>
                <a:ea typeface="Microsoft YaHei" panose="020B0503020204020204" pitchFamily="34" charset="-122"/>
              </a:rPr>
              <a:t>，这样该表中第</a:t>
            </a:r>
            <a:r>
              <a:rPr lang="en-US" altLang="zh-CN" sz="1800" dirty="0">
                <a:latin typeface="Microsoft YaHei" panose="020B0503020204020204" pitchFamily="34" charset="-122"/>
                <a:ea typeface="Microsoft YaHei" panose="020B0503020204020204" pitchFamily="34" charset="-122"/>
              </a:rPr>
              <a:t>2</a:t>
            </a:r>
            <a:r>
              <a:rPr lang="zh-CN" altLang="en-US" sz="1800" dirty="0">
                <a:latin typeface="Microsoft YaHei" panose="020B0503020204020204" pitchFamily="34" charset="-122"/>
                <a:ea typeface="Microsoft YaHei" panose="020B0503020204020204" pitchFamily="34" charset="-122"/>
              </a:rPr>
              <a:t>行就全是</a:t>
            </a:r>
            <a:r>
              <a:rPr lang="en-US" altLang="zh-CN" sz="1800" dirty="0">
                <a:latin typeface="Microsoft YaHei" panose="020B0503020204020204" pitchFamily="34" charset="-122"/>
                <a:ea typeface="Microsoft YaHei" panose="020B0503020204020204" pitchFamily="34" charset="-122"/>
              </a:rPr>
              <a:t>a</a:t>
            </a:r>
            <a:r>
              <a:rPr lang="zh-CN" altLang="en-US" sz="1800" dirty="0">
                <a:latin typeface="Microsoft YaHei" panose="020B0503020204020204" pitchFamily="34" charset="-122"/>
                <a:ea typeface="Microsoft YaHei" panose="020B0503020204020204" pitchFamily="34" charset="-122"/>
              </a:rPr>
              <a:t>了，则</a:t>
            </a:r>
            <a:r>
              <a:rPr lang="en-US" altLang="zh-CN" sz="1800" dirty="0">
                <a:latin typeface="Microsoft YaHei" panose="020B0503020204020204" pitchFamily="34" charset="-122"/>
                <a:ea typeface="Microsoft YaHei" panose="020B0503020204020204" pitchFamily="34" charset="-122"/>
              </a:rPr>
              <a:t>ρ</a:t>
            </a:r>
            <a:r>
              <a:rPr lang="zh-CN" altLang="en-US" sz="1800" dirty="0">
                <a:latin typeface="Microsoft YaHei" panose="020B0503020204020204" pitchFamily="34" charset="-122"/>
                <a:ea typeface="Microsoft YaHei" panose="020B0503020204020204" pitchFamily="34" charset="-122"/>
              </a:rPr>
              <a:t>具有无损连接性。同理可证</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1</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2</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2</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1</a:t>
            </a:r>
            <a:r>
              <a:rPr lang="en-US" altLang="zh-CN" sz="18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的情况。</a:t>
            </a:r>
          </a:p>
          <a:p>
            <a:pPr marL="0" indent="0" algn="just" eaLnBrk="1" hangingPunct="1">
              <a:buNone/>
            </a:pPr>
            <a:r>
              <a:rPr lang="zh-CN" altLang="en-US" sz="1800" dirty="0">
                <a:latin typeface="Microsoft YaHei" panose="020B0503020204020204" pitchFamily="34" charset="-122"/>
                <a:ea typeface="Microsoft YaHei" panose="020B0503020204020204" pitchFamily="34" charset="-122"/>
              </a:rPr>
              <a:t>   如果</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1</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2</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1</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2</a:t>
            </a:r>
            <a:r>
              <a:rPr lang="en-US" altLang="zh-CN" sz="18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不在</a:t>
            </a:r>
            <a:r>
              <a:rPr lang="en-US" altLang="zh-CN" sz="1800" dirty="0">
                <a:latin typeface="Microsoft YaHei" panose="020B0503020204020204" pitchFamily="34" charset="-122"/>
                <a:ea typeface="Microsoft YaHei" panose="020B0503020204020204" pitchFamily="34" charset="-122"/>
              </a:rPr>
              <a:t>F</a:t>
            </a:r>
            <a:r>
              <a:rPr lang="zh-CN" altLang="en-US" sz="1800" dirty="0">
                <a:latin typeface="Microsoft YaHei" panose="020B0503020204020204" pitchFamily="34" charset="-122"/>
                <a:ea typeface="Microsoft YaHei" panose="020B0503020204020204" pitchFamily="34" charset="-122"/>
              </a:rPr>
              <a:t>中，但在</a:t>
            </a:r>
            <a:r>
              <a:rPr lang="en-US" altLang="zh-CN" sz="1800" dirty="0">
                <a:latin typeface="Microsoft YaHei" panose="020B0503020204020204" pitchFamily="34" charset="-122"/>
                <a:ea typeface="Microsoft YaHei" panose="020B0503020204020204" pitchFamily="34" charset="-122"/>
              </a:rPr>
              <a:t>F</a:t>
            </a:r>
            <a:r>
              <a:rPr lang="en-US" altLang="zh-CN" sz="1800" baseline="300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中，即它可以用公理从</a:t>
            </a:r>
            <a:r>
              <a:rPr lang="en-US" altLang="zh-CN" sz="1800" dirty="0">
                <a:latin typeface="Microsoft YaHei" panose="020B0503020204020204" pitchFamily="34" charset="-122"/>
                <a:ea typeface="Microsoft YaHei" panose="020B0503020204020204" pitchFamily="34" charset="-122"/>
              </a:rPr>
              <a:t>F</a:t>
            </a:r>
            <a:r>
              <a:rPr lang="zh-CN" altLang="en-US" sz="1800" dirty="0">
                <a:latin typeface="Microsoft YaHei" panose="020B0503020204020204" pitchFamily="34" charset="-122"/>
                <a:ea typeface="Microsoft YaHei" panose="020B0503020204020204" pitchFamily="34" charset="-122"/>
              </a:rPr>
              <a:t>中推出来，从而也能推出</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1</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2</a:t>
            </a:r>
            <a:r>
              <a:rPr lang="en-US" altLang="zh-CN" sz="1800" dirty="0">
                <a:latin typeface="Microsoft YaHei" panose="020B0503020204020204" pitchFamily="34" charset="-122"/>
                <a:ea typeface="Microsoft YaHei" panose="020B0503020204020204" pitchFamily="34" charset="-122"/>
              </a:rPr>
              <a:t>→A</a:t>
            </a:r>
            <a:r>
              <a:rPr lang="en-US" altLang="zh-CN" sz="1800" baseline="-25000" dirty="0">
                <a:latin typeface="Microsoft YaHei" panose="020B0503020204020204" pitchFamily="34" charset="-122"/>
                <a:ea typeface="Microsoft YaHei" panose="020B0503020204020204" pitchFamily="34" charset="-122"/>
              </a:rPr>
              <a:t>x</a:t>
            </a:r>
            <a:r>
              <a:rPr lang="en-US" altLang="zh-CN" sz="1800" dirty="0">
                <a:latin typeface="Microsoft YaHei" panose="020B0503020204020204" pitchFamily="34" charset="-122"/>
                <a:ea typeface="Microsoft YaHei" panose="020B0503020204020204" pitchFamily="34" charset="-122"/>
              </a:rPr>
              <a:t>, </a:t>
            </a:r>
            <a:r>
              <a:rPr lang="zh-CN" altLang="en-US" sz="1800" dirty="0">
                <a:latin typeface="Microsoft YaHei" panose="020B0503020204020204" pitchFamily="34" charset="-122"/>
                <a:ea typeface="Microsoft YaHei" panose="020B0503020204020204" pitchFamily="34" charset="-122"/>
              </a:rPr>
              <a:t>其中</a:t>
            </a:r>
            <a:r>
              <a:rPr lang="en-US" altLang="zh-CN" sz="1800" dirty="0">
                <a:latin typeface="Microsoft YaHei" panose="020B0503020204020204" pitchFamily="34" charset="-122"/>
                <a:ea typeface="Microsoft YaHei" panose="020B0503020204020204" pitchFamily="34" charset="-122"/>
              </a:rPr>
              <a:t>A</a:t>
            </a:r>
            <a:r>
              <a:rPr lang="en-US" altLang="zh-CN" sz="1800" baseline="-25000" dirty="0">
                <a:latin typeface="Microsoft YaHei" panose="020B0503020204020204" pitchFamily="34" charset="-122"/>
                <a:ea typeface="Microsoft YaHei" panose="020B0503020204020204" pitchFamily="34" charset="-122"/>
              </a:rPr>
              <a:t>x</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1</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2</a:t>
            </a:r>
            <a:r>
              <a:rPr lang="en-US" altLang="zh-CN" sz="18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分解规则</a:t>
            </a:r>
            <a:r>
              <a:rPr lang="en-US" altLang="zh-CN" sz="18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所以可以将</a:t>
            </a:r>
            <a:r>
              <a:rPr lang="en-US" altLang="zh-CN" sz="1800" dirty="0">
                <a:latin typeface="Microsoft YaHei" panose="020B0503020204020204" pitchFamily="34" charset="-122"/>
                <a:ea typeface="Microsoft YaHei" panose="020B0503020204020204" pitchFamily="34" charset="-122"/>
              </a:rPr>
              <a:t>A</a:t>
            </a:r>
            <a:r>
              <a:rPr lang="en-US" altLang="zh-CN" sz="1800" baseline="-25000" dirty="0">
                <a:latin typeface="Microsoft YaHei" panose="020B0503020204020204" pitchFamily="34" charset="-122"/>
                <a:ea typeface="Microsoft YaHei" panose="020B0503020204020204" pitchFamily="34" charset="-122"/>
              </a:rPr>
              <a:t>x</a:t>
            </a:r>
            <a:r>
              <a:rPr lang="zh-CN" altLang="en-US" sz="1800" dirty="0">
                <a:latin typeface="Microsoft YaHei" panose="020B0503020204020204" pitchFamily="34" charset="-122"/>
                <a:ea typeface="Microsoft YaHei" panose="020B0503020204020204" pitchFamily="34" charset="-122"/>
              </a:rPr>
              <a:t>列的第</a:t>
            </a:r>
            <a:r>
              <a:rPr lang="en-US" altLang="zh-CN" sz="1800" dirty="0">
                <a:latin typeface="Microsoft YaHei" panose="020B0503020204020204" pitchFamily="34" charset="-122"/>
                <a:ea typeface="Microsoft YaHei" panose="020B0503020204020204" pitchFamily="34" charset="-122"/>
              </a:rPr>
              <a:t>2</a:t>
            </a:r>
            <a:r>
              <a:rPr lang="zh-CN" altLang="en-US" sz="1800" dirty="0">
                <a:latin typeface="Microsoft YaHei" panose="020B0503020204020204" pitchFamily="34" charset="-122"/>
                <a:ea typeface="Microsoft YaHei" panose="020B0503020204020204" pitchFamily="34" charset="-122"/>
              </a:rPr>
              <a:t>行改为全</a:t>
            </a:r>
            <a:r>
              <a:rPr lang="en-US" altLang="zh-CN" sz="1800" dirty="0">
                <a:latin typeface="Microsoft YaHei" panose="020B0503020204020204" pitchFamily="34" charset="-122"/>
                <a:ea typeface="Microsoft YaHei" panose="020B0503020204020204" pitchFamily="34" charset="-122"/>
              </a:rPr>
              <a:t>a</a:t>
            </a:r>
            <a:r>
              <a:rPr lang="zh-CN" altLang="en-US" sz="1800" dirty="0">
                <a:latin typeface="Microsoft YaHei" panose="020B0503020204020204" pitchFamily="34" charset="-122"/>
                <a:ea typeface="Microsoft YaHei" panose="020B0503020204020204" pitchFamily="34" charset="-122"/>
              </a:rPr>
              <a:t>，同样可以将</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1</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2</a:t>
            </a:r>
            <a:r>
              <a:rPr lang="zh-CN" altLang="en-US" sz="1800" dirty="0">
                <a:latin typeface="Microsoft YaHei" panose="020B0503020204020204" pitchFamily="34" charset="-122"/>
                <a:ea typeface="Microsoft YaHei" panose="020B0503020204020204" pitchFamily="34" charset="-122"/>
              </a:rPr>
              <a:t>中的其他属性的第</a:t>
            </a:r>
            <a:r>
              <a:rPr lang="en-US" altLang="zh-CN" sz="1800" dirty="0">
                <a:latin typeface="Microsoft YaHei" panose="020B0503020204020204" pitchFamily="34" charset="-122"/>
                <a:ea typeface="Microsoft YaHei" panose="020B0503020204020204" pitchFamily="34" charset="-122"/>
              </a:rPr>
              <a:t>2</a:t>
            </a:r>
            <a:r>
              <a:rPr lang="zh-CN" altLang="en-US" sz="1800" dirty="0">
                <a:latin typeface="Microsoft YaHei" panose="020B0503020204020204" pitchFamily="34" charset="-122"/>
                <a:ea typeface="Microsoft YaHei" panose="020B0503020204020204" pitchFamily="34" charset="-122"/>
              </a:rPr>
              <a:t>行也改为</a:t>
            </a:r>
            <a:r>
              <a:rPr lang="en-US" altLang="zh-CN" sz="1800" dirty="0">
                <a:latin typeface="Microsoft YaHei" panose="020B0503020204020204" pitchFamily="34" charset="-122"/>
                <a:ea typeface="Microsoft YaHei" panose="020B0503020204020204" pitchFamily="34" charset="-122"/>
              </a:rPr>
              <a:t>a</a:t>
            </a:r>
            <a:r>
              <a:rPr lang="zh-CN" altLang="en-US" sz="1800" dirty="0">
                <a:latin typeface="Microsoft YaHei" panose="020B0503020204020204" pitchFamily="34" charset="-122"/>
                <a:ea typeface="Microsoft YaHei" panose="020B0503020204020204" pitchFamily="34" charset="-122"/>
              </a:rPr>
              <a:t>，这样第</a:t>
            </a:r>
            <a:r>
              <a:rPr lang="en-US" altLang="zh-CN" sz="1800" dirty="0">
                <a:latin typeface="Microsoft YaHei" panose="020B0503020204020204" pitchFamily="34" charset="-122"/>
                <a:ea typeface="Microsoft YaHei" panose="020B0503020204020204" pitchFamily="34" charset="-122"/>
              </a:rPr>
              <a:t>2</a:t>
            </a:r>
            <a:r>
              <a:rPr lang="zh-CN" altLang="en-US" sz="1800" dirty="0">
                <a:latin typeface="Microsoft YaHei" panose="020B0503020204020204" pitchFamily="34" charset="-122"/>
                <a:ea typeface="Microsoft YaHei" panose="020B0503020204020204" pitchFamily="34" charset="-122"/>
              </a:rPr>
              <a:t>行就变成全</a:t>
            </a:r>
            <a:r>
              <a:rPr lang="en-US" altLang="zh-CN" sz="1800" dirty="0">
                <a:latin typeface="Microsoft YaHei" panose="020B0503020204020204" pitchFamily="34" charset="-122"/>
                <a:ea typeface="Microsoft YaHei" panose="020B0503020204020204" pitchFamily="34" charset="-122"/>
              </a:rPr>
              <a:t>a</a:t>
            </a:r>
            <a:r>
              <a:rPr lang="zh-CN" altLang="en-US" sz="1800" dirty="0">
                <a:latin typeface="Microsoft YaHei" panose="020B0503020204020204" pitchFamily="34" charset="-122"/>
                <a:ea typeface="Microsoft YaHei" panose="020B0503020204020204" pitchFamily="34" charset="-122"/>
              </a:rPr>
              <a:t>行。所以分解</a:t>
            </a:r>
            <a:r>
              <a:rPr lang="en-US" altLang="zh-CN" sz="1800" dirty="0">
                <a:latin typeface="Microsoft YaHei" panose="020B0503020204020204" pitchFamily="34" charset="-122"/>
                <a:ea typeface="Microsoft YaHei" panose="020B0503020204020204" pitchFamily="34" charset="-122"/>
              </a:rPr>
              <a:t>ρ={R</a:t>
            </a:r>
            <a:r>
              <a:rPr lang="en-US" altLang="zh-CN" sz="1800" baseline="-25000" dirty="0">
                <a:latin typeface="Microsoft YaHei" panose="020B0503020204020204" pitchFamily="34" charset="-122"/>
                <a:ea typeface="Microsoft YaHei" panose="020B0503020204020204" pitchFamily="34" charset="-122"/>
              </a:rPr>
              <a:t>1</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2</a:t>
            </a:r>
            <a:r>
              <a:rPr lang="en-US" altLang="zh-CN" sz="18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具有无损连接性。</a:t>
            </a:r>
          </a:p>
          <a:p>
            <a:pPr marL="0" indent="0" algn="just" eaLnBrk="1" hangingPunct="1">
              <a:buNone/>
            </a:pPr>
            <a:r>
              <a:rPr lang="zh-CN" altLang="en-US" sz="1800" dirty="0">
                <a:latin typeface="Microsoft YaHei" panose="020B0503020204020204" pitchFamily="34" charset="-122"/>
                <a:ea typeface="Microsoft YaHei" panose="020B0503020204020204" pitchFamily="34" charset="-122"/>
              </a:rPr>
              <a:t>    同样可以证明</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1</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2</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2</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1</a:t>
            </a:r>
            <a:r>
              <a:rPr lang="en-US" altLang="zh-CN" sz="18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的情况。</a:t>
            </a:r>
            <a:endParaRPr lang="en-US" altLang="zh-CN" sz="1800" dirty="0">
              <a:latin typeface="Microsoft YaHei" panose="020B0503020204020204" pitchFamily="34" charset="-122"/>
              <a:ea typeface="Microsoft YaHei" panose="020B0503020204020204" pitchFamily="34" charset="-122"/>
            </a:endParaRPr>
          </a:p>
          <a:p>
            <a:pPr marL="0" indent="0" algn="just" eaLnBrk="1" hangingPunct="1">
              <a:buNone/>
            </a:pPr>
            <a:endParaRPr lang="zh-CN" altLang="en-US" sz="1800" dirty="0">
              <a:latin typeface="Microsoft YaHei" panose="020B0503020204020204" pitchFamily="34" charset="-122"/>
              <a:ea typeface="Microsoft YaHei" panose="020B0503020204020204" pitchFamily="34" charset="-122"/>
            </a:endParaRPr>
          </a:p>
          <a:p>
            <a:pPr marL="0" indent="0" algn="just" eaLnBrk="1" hangingPunct="1">
              <a:buNone/>
            </a:pPr>
            <a:r>
              <a:rPr lang="zh-CN" altLang="en-US" sz="1800" dirty="0">
                <a:latin typeface="Microsoft YaHei" panose="020B0503020204020204" pitchFamily="34" charset="-122"/>
                <a:ea typeface="Microsoft YaHei" panose="020B0503020204020204" pitchFamily="34" charset="-122"/>
              </a:rPr>
              <a:t> （</a:t>
            </a:r>
            <a:r>
              <a:rPr lang="en-US" altLang="zh-CN" sz="1800" dirty="0">
                <a:latin typeface="Microsoft YaHei" panose="020B0503020204020204" pitchFamily="34" charset="-122"/>
                <a:ea typeface="Microsoft YaHei" panose="020B0503020204020204" pitchFamily="34" charset="-122"/>
              </a:rPr>
              <a:t>2</a:t>
            </a:r>
            <a:r>
              <a:rPr lang="zh-CN" altLang="en-US" sz="1800" dirty="0">
                <a:latin typeface="Microsoft YaHei" panose="020B0503020204020204" pitchFamily="34" charset="-122"/>
                <a:ea typeface="Microsoft YaHei" panose="020B0503020204020204" pitchFamily="34" charset="-122"/>
              </a:rPr>
              <a:t>）</a:t>
            </a:r>
            <a:r>
              <a:rPr lang="zh-CN" altLang="en-US" sz="1800" dirty="0">
                <a:solidFill>
                  <a:schemeClr val="hlink"/>
                </a:solidFill>
                <a:latin typeface="Microsoft YaHei" panose="020B0503020204020204" pitchFamily="34" charset="-122"/>
                <a:ea typeface="Microsoft YaHei" panose="020B0503020204020204" pitchFamily="34" charset="-122"/>
              </a:rPr>
              <a:t>必要性：</a:t>
            </a:r>
            <a:r>
              <a:rPr lang="zh-CN" altLang="en-US" sz="1800" dirty="0">
                <a:latin typeface="Microsoft YaHei" panose="020B0503020204020204" pitchFamily="34" charset="-122"/>
                <a:ea typeface="Microsoft YaHei" panose="020B0503020204020204" pitchFamily="34" charset="-122"/>
              </a:rPr>
              <a:t>设构造的表中有一行全为</a:t>
            </a:r>
            <a:r>
              <a:rPr lang="en-US" altLang="zh-CN" sz="1800" dirty="0">
                <a:latin typeface="Microsoft YaHei" panose="020B0503020204020204" pitchFamily="34" charset="-122"/>
                <a:ea typeface="Microsoft YaHei" panose="020B0503020204020204" pitchFamily="34" charset="-122"/>
              </a:rPr>
              <a:t>a</a:t>
            </a:r>
            <a:r>
              <a:rPr lang="zh-CN" altLang="en-US" sz="1800" dirty="0">
                <a:latin typeface="Microsoft YaHei" panose="020B0503020204020204" pitchFamily="34" charset="-122"/>
                <a:ea typeface="Microsoft YaHei" panose="020B0503020204020204" pitchFamily="34" charset="-122"/>
              </a:rPr>
              <a:t>，例如第</a:t>
            </a:r>
            <a:r>
              <a:rPr lang="en-US" altLang="zh-CN" sz="1800" dirty="0">
                <a:latin typeface="Microsoft YaHei" panose="020B0503020204020204" pitchFamily="34" charset="-122"/>
                <a:ea typeface="Microsoft YaHei" panose="020B0503020204020204" pitchFamily="34" charset="-122"/>
              </a:rPr>
              <a:t>1</a:t>
            </a:r>
            <a:r>
              <a:rPr lang="zh-CN" altLang="en-US" sz="1800" dirty="0">
                <a:latin typeface="Microsoft YaHei" panose="020B0503020204020204" pitchFamily="34" charset="-122"/>
                <a:ea typeface="Microsoft YaHei" panose="020B0503020204020204" pitchFamily="34" charset="-122"/>
              </a:rPr>
              <a:t>行全为</a:t>
            </a:r>
            <a:r>
              <a:rPr lang="en-US" altLang="zh-CN" sz="1800" dirty="0">
                <a:latin typeface="Microsoft YaHei" panose="020B0503020204020204" pitchFamily="34" charset="-122"/>
                <a:ea typeface="Microsoft YaHei" panose="020B0503020204020204" pitchFamily="34" charset="-122"/>
              </a:rPr>
              <a:t>a</a:t>
            </a:r>
            <a:r>
              <a:rPr lang="zh-CN" altLang="en-US" sz="1800" dirty="0">
                <a:latin typeface="Microsoft YaHei" panose="020B0503020204020204" pitchFamily="34" charset="-122"/>
                <a:ea typeface="Microsoft YaHei" panose="020B0503020204020204" pitchFamily="34" charset="-122"/>
              </a:rPr>
              <a:t>，则由函数依赖定义可知</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1</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2</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2</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1</a:t>
            </a:r>
            <a:r>
              <a:rPr lang="en-US" altLang="zh-CN" sz="18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；如果是第</a:t>
            </a:r>
            <a:r>
              <a:rPr lang="en-US" altLang="zh-CN" sz="1800" dirty="0">
                <a:latin typeface="Microsoft YaHei" panose="020B0503020204020204" pitchFamily="34" charset="-122"/>
                <a:ea typeface="Microsoft YaHei" panose="020B0503020204020204" pitchFamily="34" charset="-122"/>
              </a:rPr>
              <a:t>2</a:t>
            </a:r>
            <a:r>
              <a:rPr lang="zh-CN" altLang="en-US" sz="1800" dirty="0">
                <a:latin typeface="Microsoft YaHei" panose="020B0503020204020204" pitchFamily="34" charset="-122"/>
                <a:ea typeface="Microsoft YaHei" panose="020B0503020204020204" pitchFamily="34" charset="-122"/>
              </a:rPr>
              <a:t>行全为</a:t>
            </a:r>
            <a:r>
              <a:rPr lang="en-US" altLang="zh-CN" sz="1800" dirty="0">
                <a:latin typeface="Microsoft YaHei" panose="020B0503020204020204" pitchFamily="34" charset="-122"/>
                <a:ea typeface="Microsoft YaHei" panose="020B0503020204020204" pitchFamily="34" charset="-122"/>
              </a:rPr>
              <a:t>a</a:t>
            </a:r>
            <a:r>
              <a:rPr lang="zh-CN" altLang="en-US" sz="1800" dirty="0">
                <a:latin typeface="Microsoft YaHei" panose="020B0503020204020204" pitchFamily="34" charset="-122"/>
                <a:ea typeface="Microsoft YaHei" panose="020B0503020204020204" pitchFamily="34" charset="-122"/>
              </a:rPr>
              <a:t>，则  </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1</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2</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1</a:t>
            </a:r>
            <a:r>
              <a:rPr lang="en-US" altLang="zh-CN" sz="1800" dirty="0">
                <a:latin typeface="Microsoft YaHei" panose="020B0503020204020204" pitchFamily="34" charset="-122"/>
                <a:ea typeface="Microsoft YaHei" panose="020B0503020204020204" pitchFamily="34" charset="-122"/>
              </a:rPr>
              <a:t>-R</a:t>
            </a:r>
            <a:r>
              <a:rPr lang="en-US" altLang="zh-CN" sz="1800" baseline="-25000" dirty="0">
                <a:latin typeface="Microsoft YaHei" panose="020B0503020204020204" pitchFamily="34" charset="-122"/>
                <a:ea typeface="Microsoft YaHei" panose="020B0503020204020204" pitchFamily="34" charset="-122"/>
              </a:rPr>
              <a:t>2</a:t>
            </a:r>
            <a:r>
              <a:rPr lang="en-US" altLang="zh-CN" sz="18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。定理证毕。</a:t>
            </a:r>
          </a:p>
          <a:p>
            <a:pPr marL="0" indent="0" eaLnBrk="1" hangingPunct="1"/>
            <a:endParaRPr lang="zh-CN" altLang="en-US" sz="2100" dirty="0">
              <a:latin typeface="Microsoft YaHei" panose="020B0503020204020204" pitchFamily="34" charset="-122"/>
              <a:ea typeface="Microsoft YaHei" panose="020B0503020204020204" pitchFamily="34" charset="-122"/>
            </a:endParaRPr>
          </a:p>
        </p:txBody>
      </p:sp>
      <p:sp>
        <p:nvSpPr>
          <p:cNvPr id="5" name="标题 4">
            <a:extLst>
              <a:ext uri="{FF2B5EF4-FFF2-40B4-BE49-F238E27FC236}">
                <a16:creationId xmlns:a16="http://schemas.microsoft.com/office/drawing/2014/main" id="{E0113153-A729-5CD7-9EE2-B138B778DE65}"/>
              </a:ext>
            </a:extLst>
          </p:cNvPr>
          <p:cNvSpPr>
            <a:spLocks noGrp="1"/>
          </p:cNvSpPr>
          <p:nvPr>
            <p:ph type="title"/>
          </p:nvPr>
        </p:nvSpPr>
        <p:spPr/>
        <p:txBody>
          <a:bodyPr/>
          <a:lstStyle/>
          <a:p>
            <a:r>
              <a:rPr lang="zh-CN" altLang="en-US" dirty="0"/>
              <a:t>关系模式的分解</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idx="1"/>
          </p:nvPr>
        </p:nvSpPr>
        <p:spPr>
          <a:xfrm>
            <a:off x="551158" y="1253548"/>
            <a:ext cx="7886700" cy="3408735"/>
          </a:xfrm>
        </p:spPr>
        <p:txBody>
          <a:bodyPr vert="horz" wrap="square" lIns="68580" tIns="34290" rIns="68580" bIns="34290" numCol="1" anchor="t" anchorCtr="0" compatLnSpc="1"/>
          <a:lstStyle/>
          <a:p>
            <a:pPr marL="0" indent="0" algn="just" defTabSz="685800" fontAlgn="base">
              <a:lnSpc>
                <a:spcPct val="100000"/>
              </a:lnSpc>
              <a:spcBef>
                <a:spcPct val="20000"/>
              </a:spcBef>
              <a:spcAft>
                <a:spcPct val="0"/>
              </a:spcAft>
              <a:buClr>
                <a:schemeClr val="folHlink"/>
              </a:buClr>
              <a:buSzPct val="60000"/>
              <a:buNone/>
              <a:defRPr/>
            </a:pPr>
            <a:r>
              <a:rPr lang="en-US" altLang="zh-CN" sz="1800" b="1" kern="0" dirty="0">
                <a:solidFill>
                  <a:schemeClr val="hlink"/>
                </a:solidFill>
              </a:rPr>
              <a:t>【</a:t>
            </a:r>
            <a:r>
              <a:rPr lang="zh-CN" altLang="en-US" sz="1800" b="1" kern="0" dirty="0">
                <a:solidFill>
                  <a:schemeClr val="hlink"/>
                </a:solidFill>
              </a:rPr>
              <a:t>例</a:t>
            </a:r>
            <a:r>
              <a:rPr lang="en-US" altLang="zh-CN" sz="1800" b="1" kern="0" dirty="0">
                <a:solidFill>
                  <a:schemeClr val="hlink"/>
                </a:solidFill>
              </a:rPr>
              <a:t>】</a:t>
            </a:r>
            <a:r>
              <a:rPr lang="zh-CN" altLang="en-US" sz="1800" kern="0" dirty="0"/>
              <a:t>试分析下列分解是否具有无损连接性和函数依赖保持性。</a:t>
            </a:r>
          </a:p>
          <a:p>
            <a:pPr marL="0" indent="0" algn="just" defTabSz="685800" fontAlgn="base">
              <a:lnSpc>
                <a:spcPct val="100000"/>
              </a:lnSpc>
              <a:spcBef>
                <a:spcPct val="20000"/>
              </a:spcBef>
              <a:spcAft>
                <a:spcPct val="0"/>
              </a:spcAft>
              <a:buClr>
                <a:schemeClr val="folHlink"/>
              </a:buClr>
              <a:buSzPct val="60000"/>
              <a:buNone/>
              <a:defRPr/>
            </a:pPr>
            <a:r>
              <a:rPr lang="zh-CN" altLang="en-US" sz="1800" kern="0" dirty="0"/>
              <a:t>  已知：R(A,B,C)   F={A→B，C→B}</a:t>
            </a:r>
          </a:p>
          <a:p>
            <a:pPr marL="0" indent="0" algn="just" defTabSz="685800" fontAlgn="base">
              <a:lnSpc>
                <a:spcPct val="100000"/>
              </a:lnSpc>
              <a:spcBef>
                <a:spcPct val="20000"/>
              </a:spcBef>
              <a:spcAft>
                <a:spcPct val="0"/>
              </a:spcAft>
              <a:buClr>
                <a:schemeClr val="folHlink"/>
              </a:buClr>
              <a:buSzPct val="60000"/>
              <a:buNone/>
              <a:defRPr/>
            </a:pPr>
            <a:r>
              <a:rPr lang="zh-CN" altLang="en-US" sz="1800" kern="0" dirty="0"/>
              <a:t> </a:t>
            </a:r>
            <a:r>
              <a:rPr lang="en-US" altLang="zh-CN" sz="1800" kern="0" dirty="0"/>
              <a:t>(</a:t>
            </a:r>
            <a:r>
              <a:rPr lang="zh-CN" altLang="en-US" sz="1800" kern="0" dirty="0"/>
              <a:t>1</a:t>
            </a:r>
            <a:r>
              <a:rPr lang="en-US" altLang="zh-CN" sz="1800" kern="0" dirty="0"/>
              <a:t>)</a:t>
            </a:r>
            <a:r>
              <a:rPr lang="zh-CN" altLang="en-US" sz="1800" kern="0" dirty="0"/>
              <a:t>ρ</a:t>
            </a:r>
            <a:r>
              <a:rPr lang="zh-CN" altLang="en-US" sz="1800" kern="0" baseline="-30000" dirty="0"/>
              <a:t>1</a:t>
            </a:r>
            <a:r>
              <a:rPr lang="zh-CN" altLang="en-US" sz="1800" kern="0" dirty="0"/>
              <a:t>={AB，AC}</a:t>
            </a:r>
          </a:p>
          <a:p>
            <a:pPr marL="0" indent="0" algn="just" defTabSz="685800" fontAlgn="base">
              <a:lnSpc>
                <a:spcPct val="100000"/>
              </a:lnSpc>
              <a:spcBef>
                <a:spcPct val="20000"/>
              </a:spcBef>
              <a:spcAft>
                <a:spcPct val="0"/>
              </a:spcAft>
              <a:buClr>
                <a:schemeClr val="folHlink"/>
              </a:buClr>
              <a:buSzPct val="60000"/>
              <a:buNone/>
              <a:defRPr/>
            </a:pPr>
            <a:r>
              <a:rPr lang="en-US" altLang="zh-CN" sz="1800" kern="0" dirty="0"/>
              <a:t> (</a:t>
            </a:r>
            <a:r>
              <a:rPr lang="zh-CN" altLang="en-US" sz="1800" kern="0" dirty="0"/>
              <a:t>2</a:t>
            </a:r>
            <a:r>
              <a:rPr lang="en-US" altLang="zh-CN" sz="1800" kern="0" dirty="0"/>
              <a:t>)</a:t>
            </a:r>
            <a:r>
              <a:rPr lang="zh-CN" altLang="en-US" sz="1800" kern="0" dirty="0"/>
              <a:t>ρ</a:t>
            </a:r>
            <a:r>
              <a:rPr lang="zh-CN" altLang="en-US" sz="1800" kern="0" baseline="-30000" dirty="0"/>
              <a:t>2</a:t>
            </a:r>
            <a:r>
              <a:rPr lang="zh-CN" altLang="en-US" sz="1800" kern="0" dirty="0"/>
              <a:t>={AB，BC}</a:t>
            </a:r>
            <a:endParaRPr lang="en-US" altLang="zh-CN" sz="1800" kern="0" dirty="0"/>
          </a:p>
          <a:p>
            <a:pPr marL="0" indent="0" algn="just" defTabSz="685800" fontAlgn="base">
              <a:lnSpc>
                <a:spcPct val="100000"/>
              </a:lnSpc>
              <a:spcBef>
                <a:spcPct val="20000"/>
              </a:spcBef>
              <a:spcAft>
                <a:spcPct val="0"/>
              </a:spcAft>
              <a:buClr>
                <a:schemeClr val="folHlink"/>
              </a:buClr>
              <a:buSzPct val="60000"/>
              <a:buNone/>
              <a:defRPr/>
            </a:pPr>
            <a:r>
              <a:rPr lang="en-US" altLang="zh-CN" sz="1800" kern="0" dirty="0">
                <a:solidFill>
                  <a:srgbClr val="FF0000"/>
                </a:solidFill>
              </a:rPr>
              <a:t>       </a:t>
            </a:r>
            <a:endParaRPr lang="zh-CN" altLang="en-US" sz="1800" kern="0" dirty="0">
              <a:solidFill>
                <a:srgbClr val="FF0000"/>
              </a:solidFill>
            </a:endParaRPr>
          </a:p>
          <a:p>
            <a:pPr marL="0" indent="0" algn="just" defTabSz="685800" fontAlgn="base">
              <a:lnSpc>
                <a:spcPct val="100000"/>
              </a:lnSpc>
              <a:spcBef>
                <a:spcPct val="20000"/>
              </a:spcBef>
              <a:spcAft>
                <a:spcPct val="0"/>
              </a:spcAft>
              <a:buClr>
                <a:schemeClr val="folHlink"/>
              </a:buClr>
              <a:buSzPct val="60000"/>
              <a:buNone/>
              <a:defRPr/>
            </a:pPr>
            <a:r>
              <a:rPr lang="en-US" altLang="zh-CN" sz="2100" kern="0" dirty="0"/>
              <a:t>   </a:t>
            </a:r>
            <a:endParaRPr lang="zh-CN" altLang="en-US" sz="2100" kern="0" dirty="0"/>
          </a:p>
          <a:p>
            <a:pPr marL="0" indent="0" algn="just" defTabSz="685800" fontAlgn="base">
              <a:lnSpc>
                <a:spcPct val="100000"/>
              </a:lnSpc>
              <a:spcBef>
                <a:spcPct val="20000"/>
              </a:spcBef>
              <a:spcAft>
                <a:spcPct val="0"/>
              </a:spcAft>
              <a:buClr>
                <a:schemeClr val="folHlink"/>
              </a:buClr>
              <a:buSzPct val="60000"/>
              <a:buNone/>
              <a:defRPr/>
            </a:pPr>
            <a:endParaRPr lang="zh-CN" altLang="en-US" sz="2100" kern="0" dirty="0">
              <a:solidFill>
                <a:schemeClr val="hlink"/>
              </a:solidFill>
            </a:endParaRPr>
          </a:p>
          <a:p>
            <a:pPr marL="0" indent="0" algn="just" defTabSz="685800" fontAlgn="base">
              <a:lnSpc>
                <a:spcPct val="100000"/>
              </a:lnSpc>
              <a:spcBef>
                <a:spcPct val="20000"/>
              </a:spcBef>
              <a:spcAft>
                <a:spcPct val="0"/>
              </a:spcAft>
              <a:buClr>
                <a:schemeClr val="folHlink"/>
              </a:buClr>
              <a:buSzPct val="60000"/>
              <a:buNone/>
              <a:defRPr/>
            </a:pPr>
            <a:endParaRPr lang="zh-CN" altLang="en-US" sz="2700" kern="0" dirty="0">
              <a:solidFill>
                <a:schemeClr val="hlink"/>
              </a:solidFill>
            </a:endParaRPr>
          </a:p>
        </p:txBody>
      </p:sp>
      <p:sp>
        <p:nvSpPr>
          <p:cNvPr id="2" name="文本框 1"/>
          <p:cNvSpPr txBox="1"/>
          <p:nvPr/>
        </p:nvSpPr>
        <p:spPr>
          <a:xfrm>
            <a:off x="216186" y="2594024"/>
            <a:ext cx="7408979" cy="1698927"/>
          </a:xfrm>
          <a:prstGeom prst="rect">
            <a:avLst/>
          </a:prstGeom>
          <a:noFill/>
        </p:spPr>
        <p:txBody>
          <a:bodyPr wrap="square" rtlCol="0">
            <a:spAutoFit/>
          </a:bodyPr>
          <a:lstStyle/>
          <a:p>
            <a:pPr algn="just" defTabSz="685800">
              <a:spcBef>
                <a:spcPct val="20000"/>
              </a:spcBef>
              <a:buClr>
                <a:schemeClr val="folHlink"/>
              </a:buClr>
              <a:buSzPct val="60000"/>
              <a:defRPr/>
            </a:pPr>
            <a:r>
              <a:rPr lang="zh-CN" altLang="en-US" kern="0" dirty="0">
                <a:latin typeface="Microsoft YaHei" panose="020B0503020204020204" pitchFamily="34" charset="-122"/>
                <a:ea typeface="Microsoft YaHei" panose="020B0503020204020204" pitchFamily="34" charset="-122"/>
                <a:sym typeface="+mn-ea"/>
              </a:rPr>
              <a:t>解</a:t>
            </a:r>
            <a:r>
              <a:rPr lang="en-US" altLang="zh-CN" kern="0" dirty="0">
                <a:latin typeface="Microsoft YaHei" panose="020B0503020204020204" pitchFamily="34" charset="-122"/>
                <a:ea typeface="Microsoft YaHei" panose="020B0503020204020204" pitchFamily="34" charset="-122"/>
                <a:sym typeface="+mn-ea"/>
              </a:rPr>
              <a:t>: (</a:t>
            </a:r>
            <a:r>
              <a:rPr lang="zh-CN" altLang="en-US" kern="0" dirty="0">
                <a:latin typeface="Microsoft YaHei" panose="020B0503020204020204" pitchFamily="34" charset="-122"/>
                <a:ea typeface="Microsoft YaHei" panose="020B0503020204020204" pitchFamily="34" charset="-122"/>
                <a:sym typeface="+mn-ea"/>
              </a:rPr>
              <a:t>1</a:t>
            </a:r>
            <a:r>
              <a:rPr lang="en-US" altLang="zh-CN" kern="0" dirty="0">
                <a:latin typeface="Microsoft YaHei" panose="020B0503020204020204" pitchFamily="34" charset="-122"/>
                <a:ea typeface="Microsoft YaHei" panose="020B0503020204020204" pitchFamily="34" charset="-122"/>
                <a:sym typeface="+mn-ea"/>
              </a:rPr>
              <a:t>)</a:t>
            </a:r>
            <a:r>
              <a:rPr lang="zh-CN" altLang="en-US" kern="0" dirty="0">
                <a:latin typeface="Microsoft YaHei" panose="020B0503020204020204" pitchFamily="34" charset="-122"/>
                <a:ea typeface="Microsoft YaHei" panose="020B0503020204020204" pitchFamily="34" charset="-122"/>
                <a:sym typeface="+mn-ea"/>
              </a:rPr>
              <a:t>设</a:t>
            </a:r>
            <a:r>
              <a:rPr lang="en-US" altLang="zh-CN" kern="0" dirty="0">
                <a:latin typeface="Microsoft YaHei" panose="020B0503020204020204" pitchFamily="34" charset="-122"/>
                <a:ea typeface="Microsoft YaHei" panose="020B0503020204020204" pitchFamily="34" charset="-122"/>
                <a:sym typeface="+mn-ea"/>
              </a:rPr>
              <a:t>R</a:t>
            </a:r>
            <a:r>
              <a:rPr lang="en-US" altLang="zh-CN" kern="0" baseline="-25000" dirty="0">
                <a:latin typeface="Microsoft YaHei" panose="020B0503020204020204" pitchFamily="34" charset="-122"/>
                <a:ea typeface="Microsoft YaHei" panose="020B0503020204020204" pitchFamily="34" charset="-122"/>
                <a:sym typeface="+mn-ea"/>
              </a:rPr>
              <a:t>1</a:t>
            </a:r>
            <a:r>
              <a:rPr lang="en-US" altLang="zh-CN" kern="0" dirty="0">
                <a:latin typeface="Microsoft YaHei" panose="020B0503020204020204" pitchFamily="34" charset="-122"/>
                <a:ea typeface="Microsoft YaHei" panose="020B0503020204020204" pitchFamily="34" charset="-122"/>
                <a:sym typeface="+mn-ea"/>
              </a:rPr>
              <a:t>=AB, R</a:t>
            </a:r>
            <a:r>
              <a:rPr lang="en-US" altLang="zh-CN" kern="0" baseline="-25000" dirty="0">
                <a:latin typeface="Microsoft YaHei" panose="020B0503020204020204" pitchFamily="34" charset="-122"/>
                <a:ea typeface="Microsoft YaHei" panose="020B0503020204020204" pitchFamily="34" charset="-122"/>
                <a:sym typeface="+mn-ea"/>
              </a:rPr>
              <a:t>2</a:t>
            </a:r>
            <a:r>
              <a:rPr lang="en-US" altLang="zh-CN" kern="0" dirty="0">
                <a:latin typeface="Microsoft YaHei" panose="020B0503020204020204" pitchFamily="34" charset="-122"/>
                <a:ea typeface="Microsoft YaHei" panose="020B0503020204020204" pitchFamily="34" charset="-122"/>
                <a:sym typeface="+mn-ea"/>
              </a:rPr>
              <a:t>=AC</a:t>
            </a:r>
            <a:endParaRPr lang="en-US" altLang="zh-CN" kern="0" dirty="0">
              <a:latin typeface="Microsoft YaHei" panose="020B0503020204020204" pitchFamily="34" charset="-122"/>
              <a:ea typeface="Microsoft YaHei" panose="020B0503020204020204" pitchFamily="34" charset="-122"/>
            </a:endParaRPr>
          </a:p>
          <a:p>
            <a:pPr algn="just" defTabSz="685800">
              <a:spcBef>
                <a:spcPct val="20000"/>
              </a:spcBef>
              <a:buClr>
                <a:schemeClr val="folHlink"/>
              </a:buClr>
              <a:buSzPct val="60000"/>
              <a:defRPr/>
            </a:pPr>
            <a:r>
              <a:rPr lang="en-US" altLang="zh-CN" kern="0" dirty="0">
                <a:latin typeface="Microsoft YaHei" panose="020B0503020204020204" pitchFamily="34" charset="-122"/>
                <a:ea typeface="Microsoft YaHei" panose="020B0503020204020204" pitchFamily="34" charset="-122"/>
                <a:sym typeface="+mn-ea"/>
              </a:rPr>
              <a:t>        R</a:t>
            </a:r>
            <a:r>
              <a:rPr lang="en-US" altLang="zh-CN" kern="0" baseline="-25000" dirty="0">
                <a:latin typeface="Microsoft YaHei" panose="020B0503020204020204" pitchFamily="34" charset="-122"/>
                <a:ea typeface="Microsoft YaHei" panose="020B0503020204020204" pitchFamily="34" charset="-122"/>
                <a:sym typeface="+mn-ea"/>
              </a:rPr>
              <a:t>1</a:t>
            </a:r>
            <a:r>
              <a:rPr lang="en-US" altLang="zh-CN" kern="0" dirty="0">
                <a:latin typeface="Microsoft YaHei" panose="020B0503020204020204" pitchFamily="34" charset="-122"/>
                <a:ea typeface="Microsoft YaHei" panose="020B0503020204020204" pitchFamily="34" charset="-122"/>
                <a:sym typeface="+mn-ea"/>
              </a:rPr>
              <a:t>∩R</a:t>
            </a:r>
            <a:r>
              <a:rPr lang="en-US" altLang="zh-CN" kern="0" baseline="-25000" dirty="0">
                <a:latin typeface="Microsoft YaHei" panose="020B0503020204020204" pitchFamily="34" charset="-122"/>
                <a:ea typeface="Microsoft YaHei" panose="020B0503020204020204" pitchFamily="34" charset="-122"/>
                <a:sym typeface="+mn-ea"/>
              </a:rPr>
              <a:t>2</a:t>
            </a:r>
            <a:r>
              <a:rPr lang="en-US" altLang="zh-CN" kern="0" dirty="0">
                <a:latin typeface="Microsoft YaHei" panose="020B0503020204020204" pitchFamily="34" charset="-122"/>
                <a:ea typeface="Microsoft YaHei" panose="020B0503020204020204" pitchFamily="34" charset="-122"/>
                <a:sym typeface="+mn-ea"/>
              </a:rPr>
              <a:t>=A,  R</a:t>
            </a:r>
            <a:r>
              <a:rPr lang="en-US" altLang="zh-CN" kern="0" baseline="-25000" dirty="0">
                <a:latin typeface="Microsoft YaHei" panose="020B0503020204020204" pitchFamily="34" charset="-122"/>
                <a:ea typeface="Microsoft YaHei" panose="020B0503020204020204" pitchFamily="34" charset="-122"/>
                <a:sym typeface="+mn-ea"/>
              </a:rPr>
              <a:t>1</a:t>
            </a:r>
            <a:r>
              <a:rPr lang="en-US" altLang="zh-CN" kern="0" dirty="0">
                <a:latin typeface="Microsoft YaHei" panose="020B0503020204020204" pitchFamily="34" charset="-122"/>
                <a:ea typeface="Microsoft YaHei" panose="020B0503020204020204" pitchFamily="34" charset="-122"/>
                <a:sym typeface="+mn-ea"/>
              </a:rPr>
              <a:t>-R</a:t>
            </a:r>
            <a:r>
              <a:rPr lang="en-US" altLang="zh-CN" kern="0" baseline="-25000" dirty="0">
                <a:latin typeface="Microsoft YaHei" panose="020B0503020204020204" pitchFamily="34" charset="-122"/>
                <a:ea typeface="Microsoft YaHei" panose="020B0503020204020204" pitchFamily="34" charset="-122"/>
                <a:sym typeface="+mn-ea"/>
              </a:rPr>
              <a:t>2</a:t>
            </a:r>
            <a:r>
              <a:rPr lang="en-US" altLang="zh-CN" kern="0" dirty="0">
                <a:latin typeface="Microsoft YaHei" panose="020B0503020204020204" pitchFamily="34" charset="-122"/>
                <a:ea typeface="Microsoft YaHei" panose="020B0503020204020204" pitchFamily="34" charset="-122"/>
                <a:sym typeface="+mn-ea"/>
              </a:rPr>
              <a:t>=B,  R</a:t>
            </a:r>
            <a:r>
              <a:rPr lang="en-US" altLang="zh-CN" kern="0" baseline="-25000" dirty="0">
                <a:latin typeface="Microsoft YaHei" panose="020B0503020204020204" pitchFamily="34" charset="-122"/>
                <a:ea typeface="Microsoft YaHei" panose="020B0503020204020204" pitchFamily="34" charset="-122"/>
                <a:sym typeface="+mn-ea"/>
              </a:rPr>
              <a:t>2</a:t>
            </a:r>
            <a:r>
              <a:rPr lang="en-US" altLang="zh-CN" kern="0" dirty="0">
                <a:latin typeface="Microsoft YaHei" panose="020B0503020204020204" pitchFamily="34" charset="-122"/>
                <a:ea typeface="Microsoft YaHei" panose="020B0503020204020204" pitchFamily="34" charset="-122"/>
                <a:sym typeface="+mn-ea"/>
              </a:rPr>
              <a:t>-R</a:t>
            </a:r>
            <a:r>
              <a:rPr lang="en-US" altLang="zh-CN" kern="0" baseline="-25000" dirty="0">
                <a:latin typeface="Microsoft YaHei" panose="020B0503020204020204" pitchFamily="34" charset="-122"/>
                <a:ea typeface="Microsoft YaHei" panose="020B0503020204020204" pitchFamily="34" charset="-122"/>
                <a:sym typeface="+mn-ea"/>
              </a:rPr>
              <a:t>1</a:t>
            </a:r>
            <a:r>
              <a:rPr lang="en-US" altLang="zh-CN" kern="0" dirty="0">
                <a:latin typeface="Microsoft YaHei" panose="020B0503020204020204" pitchFamily="34" charset="-122"/>
                <a:ea typeface="Microsoft YaHei" panose="020B0503020204020204" pitchFamily="34" charset="-122"/>
                <a:sym typeface="+mn-ea"/>
              </a:rPr>
              <a:t>=C</a:t>
            </a:r>
            <a:endParaRPr lang="en-US" altLang="zh-CN" kern="0" dirty="0">
              <a:latin typeface="Microsoft YaHei" panose="020B0503020204020204" pitchFamily="34" charset="-122"/>
              <a:ea typeface="Microsoft YaHei" panose="020B0503020204020204" pitchFamily="34" charset="-122"/>
            </a:endParaRPr>
          </a:p>
          <a:p>
            <a:pPr algn="just" defTabSz="685800">
              <a:spcBef>
                <a:spcPct val="20000"/>
              </a:spcBef>
              <a:buClr>
                <a:schemeClr val="folHlink"/>
              </a:buClr>
              <a:buSzPct val="60000"/>
              <a:defRPr/>
            </a:pPr>
            <a:r>
              <a:rPr lang="zh-CN" altLang="en-US" kern="0" dirty="0">
                <a:latin typeface="Microsoft YaHei" panose="020B0503020204020204" pitchFamily="34" charset="-122"/>
                <a:ea typeface="Microsoft YaHei" panose="020B0503020204020204" pitchFamily="34" charset="-122"/>
                <a:sym typeface="+mn-ea"/>
              </a:rPr>
              <a:t>        ∵R</a:t>
            </a:r>
            <a:r>
              <a:rPr lang="zh-CN" altLang="en-US" kern="0" baseline="-25000" dirty="0">
                <a:latin typeface="Microsoft YaHei" panose="020B0503020204020204" pitchFamily="34" charset="-122"/>
                <a:ea typeface="Microsoft YaHei" panose="020B0503020204020204" pitchFamily="34" charset="-122"/>
                <a:sym typeface="+mn-ea"/>
              </a:rPr>
              <a:t>1</a:t>
            </a:r>
            <a:r>
              <a:rPr lang="zh-CN" altLang="en-US" kern="0" dirty="0">
                <a:latin typeface="Microsoft YaHei" panose="020B0503020204020204" pitchFamily="34" charset="-122"/>
                <a:ea typeface="Microsoft YaHei" panose="020B0503020204020204" pitchFamily="34" charset="-122"/>
                <a:sym typeface="+mn-ea"/>
              </a:rPr>
              <a:t>∩R</a:t>
            </a:r>
            <a:r>
              <a:rPr lang="zh-CN" altLang="en-US" kern="0" baseline="-25000" dirty="0">
                <a:latin typeface="Microsoft YaHei" panose="020B0503020204020204" pitchFamily="34" charset="-122"/>
                <a:ea typeface="Microsoft YaHei" panose="020B0503020204020204" pitchFamily="34" charset="-122"/>
                <a:sym typeface="+mn-ea"/>
              </a:rPr>
              <a:t>2</a:t>
            </a:r>
            <a:r>
              <a:rPr lang="zh-CN" altLang="en-US" kern="0" dirty="0">
                <a:latin typeface="Microsoft YaHei" panose="020B0503020204020204" pitchFamily="34" charset="-122"/>
                <a:ea typeface="Microsoft YaHei" panose="020B0503020204020204" pitchFamily="34" charset="-122"/>
                <a:sym typeface="+mn-ea"/>
              </a:rPr>
              <a:t>→(R</a:t>
            </a:r>
            <a:r>
              <a:rPr lang="zh-CN" altLang="en-US" kern="0" baseline="-25000" dirty="0">
                <a:latin typeface="Microsoft YaHei" panose="020B0503020204020204" pitchFamily="34" charset="-122"/>
                <a:ea typeface="Microsoft YaHei" panose="020B0503020204020204" pitchFamily="34" charset="-122"/>
                <a:sym typeface="+mn-ea"/>
              </a:rPr>
              <a:t>1</a:t>
            </a:r>
            <a:r>
              <a:rPr lang="zh-CN" altLang="en-US" kern="0" dirty="0">
                <a:latin typeface="Microsoft YaHei" panose="020B0503020204020204" pitchFamily="34" charset="-122"/>
                <a:ea typeface="Microsoft YaHei" panose="020B0503020204020204" pitchFamily="34" charset="-122"/>
                <a:sym typeface="+mn-ea"/>
              </a:rPr>
              <a:t>-R</a:t>
            </a:r>
            <a:r>
              <a:rPr lang="zh-CN" altLang="en-US" kern="0" baseline="-25000" dirty="0">
                <a:latin typeface="Microsoft YaHei" panose="020B0503020204020204" pitchFamily="34" charset="-122"/>
                <a:ea typeface="Microsoft YaHei" panose="020B0503020204020204" pitchFamily="34" charset="-122"/>
                <a:sym typeface="+mn-ea"/>
              </a:rPr>
              <a:t>2</a:t>
            </a:r>
            <a:r>
              <a:rPr lang="zh-CN" altLang="en-US" kern="0" dirty="0">
                <a:latin typeface="Microsoft YaHei" panose="020B0503020204020204" pitchFamily="34" charset="-122"/>
                <a:ea typeface="Microsoft YaHei" panose="020B0503020204020204" pitchFamily="34" charset="-122"/>
                <a:sym typeface="+mn-ea"/>
              </a:rPr>
              <a:t>)∈F</a:t>
            </a:r>
            <a:r>
              <a:rPr lang="zh-CN" altLang="en-US" kern="0" baseline="30000" dirty="0">
                <a:latin typeface="Microsoft YaHei" panose="020B0503020204020204" pitchFamily="34" charset="-122"/>
                <a:ea typeface="Microsoft YaHei" panose="020B0503020204020204" pitchFamily="34" charset="-122"/>
                <a:sym typeface="+mn-ea"/>
              </a:rPr>
              <a:t>+   </a:t>
            </a:r>
            <a:r>
              <a:rPr lang="zh-CN" altLang="en-US" kern="0" dirty="0">
                <a:solidFill>
                  <a:srgbClr val="FF0000"/>
                </a:solidFill>
                <a:latin typeface="Microsoft YaHei" panose="020B0503020204020204" pitchFamily="34" charset="-122"/>
                <a:ea typeface="Microsoft YaHei" panose="020B0503020204020204" pitchFamily="34" charset="-122"/>
                <a:sym typeface="+mn-ea"/>
              </a:rPr>
              <a:t>∴ρ</a:t>
            </a:r>
            <a:r>
              <a:rPr lang="zh-CN" altLang="en-US" kern="0" baseline="-30000" dirty="0">
                <a:solidFill>
                  <a:srgbClr val="FF0000"/>
                </a:solidFill>
                <a:latin typeface="Microsoft YaHei" panose="020B0503020204020204" pitchFamily="34" charset="-122"/>
                <a:ea typeface="Microsoft YaHei" panose="020B0503020204020204" pitchFamily="34" charset="-122"/>
                <a:sym typeface="+mn-ea"/>
              </a:rPr>
              <a:t>1</a:t>
            </a:r>
            <a:r>
              <a:rPr lang="zh-CN" altLang="en-US" kern="0" dirty="0">
                <a:solidFill>
                  <a:srgbClr val="FF0000"/>
                </a:solidFill>
                <a:latin typeface="Microsoft YaHei" panose="020B0503020204020204" pitchFamily="34" charset="-122"/>
                <a:ea typeface="Microsoft YaHei" panose="020B0503020204020204" pitchFamily="34" charset="-122"/>
                <a:sym typeface="+mn-ea"/>
              </a:rPr>
              <a:t>具有无损连接性。</a:t>
            </a:r>
            <a:endParaRPr lang="en-US" altLang="zh-CN" kern="0" dirty="0">
              <a:solidFill>
                <a:srgbClr val="FF0000"/>
              </a:solidFill>
              <a:latin typeface="Microsoft YaHei" panose="020B0503020204020204" pitchFamily="34" charset="-122"/>
              <a:ea typeface="Microsoft YaHei" panose="020B0503020204020204" pitchFamily="34" charset="-122"/>
            </a:endParaRPr>
          </a:p>
          <a:p>
            <a:pPr marL="257175" indent="-257175" algn="just" defTabSz="685800">
              <a:spcBef>
                <a:spcPct val="20000"/>
              </a:spcBef>
              <a:buClr>
                <a:schemeClr val="folHlink"/>
              </a:buClr>
              <a:buSzPct val="60000"/>
              <a:defRPr/>
            </a:pPr>
            <a:r>
              <a:rPr lang="en-US" altLang="zh-CN" kern="0" dirty="0">
                <a:latin typeface="Microsoft YaHei" panose="020B0503020204020204" pitchFamily="34" charset="-122"/>
                <a:ea typeface="Microsoft YaHei" panose="020B0503020204020204" pitchFamily="34" charset="-122"/>
                <a:sym typeface="+mn-ea"/>
              </a:rPr>
              <a:t>        </a:t>
            </a:r>
            <a:r>
              <a:rPr lang="zh-CN" altLang="en-US" kern="0" dirty="0">
                <a:latin typeface="Microsoft YaHei" panose="020B0503020204020204" pitchFamily="34" charset="-122"/>
                <a:ea typeface="Microsoft YaHei" panose="020B0503020204020204" pitchFamily="34" charset="-122"/>
                <a:sym typeface="+mn-ea"/>
              </a:rPr>
              <a:t>∵</a:t>
            </a:r>
            <a:r>
              <a:rPr lang="en-US" altLang="zh-CN" kern="0" dirty="0">
                <a:latin typeface="Microsoft YaHei" panose="020B0503020204020204" pitchFamily="34" charset="-122"/>
                <a:ea typeface="Microsoft YaHei" panose="020B0503020204020204" pitchFamily="34" charset="-122"/>
                <a:sym typeface="+mn-ea"/>
              </a:rPr>
              <a:t>Π</a:t>
            </a:r>
            <a:r>
              <a:rPr lang="en-US" altLang="zh-CN" kern="0" baseline="-25000" dirty="0">
                <a:latin typeface="Microsoft YaHei" panose="020B0503020204020204" pitchFamily="34" charset="-122"/>
                <a:ea typeface="Microsoft YaHei" panose="020B0503020204020204" pitchFamily="34" charset="-122"/>
                <a:sym typeface="+mn-ea"/>
              </a:rPr>
              <a:t>AB</a:t>
            </a:r>
            <a:r>
              <a:rPr lang="en-US" altLang="zh-CN" kern="0" dirty="0">
                <a:latin typeface="Microsoft YaHei" panose="020B0503020204020204" pitchFamily="34" charset="-122"/>
                <a:ea typeface="Microsoft YaHei" panose="020B0503020204020204" pitchFamily="34" charset="-122"/>
                <a:sym typeface="+mn-ea"/>
              </a:rPr>
              <a:t>(F)∪Π</a:t>
            </a:r>
            <a:r>
              <a:rPr lang="en-US" altLang="zh-CN" kern="0" baseline="-25000" dirty="0">
                <a:latin typeface="Microsoft YaHei" panose="020B0503020204020204" pitchFamily="34" charset="-122"/>
                <a:ea typeface="Microsoft YaHei" panose="020B0503020204020204" pitchFamily="34" charset="-122"/>
                <a:sym typeface="+mn-ea"/>
              </a:rPr>
              <a:t>AC</a:t>
            </a:r>
            <a:r>
              <a:rPr lang="en-US" altLang="zh-CN" kern="0" dirty="0">
                <a:latin typeface="Microsoft YaHei" panose="020B0503020204020204" pitchFamily="34" charset="-122"/>
                <a:ea typeface="Microsoft YaHei" panose="020B0503020204020204" pitchFamily="34" charset="-122"/>
                <a:sym typeface="+mn-ea"/>
              </a:rPr>
              <a:t>(F)={A</a:t>
            </a:r>
            <a:r>
              <a:rPr lang="zh-CN" altLang="en-US" kern="0" dirty="0">
                <a:latin typeface="Microsoft YaHei" panose="020B0503020204020204" pitchFamily="34" charset="-122"/>
                <a:ea typeface="Microsoft YaHei" panose="020B0503020204020204" pitchFamily="34" charset="-122"/>
                <a:sym typeface="+mn-ea"/>
              </a:rPr>
              <a:t>→</a:t>
            </a:r>
            <a:r>
              <a:rPr lang="en-US" altLang="zh-CN" kern="0" dirty="0">
                <a:latin typeface="Microsoft YaHei" panose="020B0503020204020204" pitchFamily="34" charset="-122"/>
                <a:ea typeface="Microsoft YaHei" panose="020B0503020204020204" pitchFamily="34" charset="-122"/>
                <a:sym typeface="+mn-ea"/>
              </a:rPr>
              <a:t>B}, </a:t>
            </a:r>
            <a:r>
              <a:rPr lang="zh-CN" altLang="en-US" kern="0" dirty="0">
                <a:latin typeface="Microsoft YaHei" panose="020B0503020204020204" pitchFamily="34" charset="-122"/>
                <a:ea typeface="Microsoft YaHei" panose="020B0503020204020204" pitchFamily="34" charset="-122"/>
                <a:sym typeface="+mn-ea"/>
              </a:rPr>
              <a:t>丢失了C→B</a:t>
            </a:r>
            <a:endParaRPr lang="en-US" altLang="zh-CN" kern="0" dirty="0">
              <a:latin typeface="Microsoft YaHei" panose="020B0503020204020204" pitchFamily="34" charset="-122"/>
              <a:ea typeface="Microsoft YaHei" panose="020B0503020204020204" pitchFamily="34" charset="-122"/>
            </a:endParaRPr>
          </a:p>
          <a:p>
            <a:pPr marL="257175" indent="-257175" algn="just" defTabSz="685800">
              <a:spcBef>
                <a:spcPct val="20000"/>
              </a:spcBef>
              <a:buClr>
                <a:schemeClr val="folHlink"/>
              </a:buClr>
              <a:buSzPct val="60000"/>
              <a:defRPr/>
            </a:pPr>
            <a:r>
              <a:rPr lang="en-US" altLang="zh-CN" kern="0" dirty="0">
                <a:latin typeface="Microsoft YaHei" panose="020B0503020204020204" pitchFamily="34" charset="-122"/>
                <a:ea typeface="Microsoft YaHei" panose="020B0503020204020204" pitchFamily="34" charset="-122"/>
                <a:sym typeface="+mn-ea"/>
              </a:rPr>
              <a:t>        </a:t>
            </a:r>
            <a:r>
              <a:rPr lang="zh-CN" altLang="en-US" kern="0" dirty="0">
                <a:solidFill>
                  <a:srgbClr val="FF0000"/>
                </a:solidFill>
                <a:latin typeface="Microsoft YaHei" panose="020B0503020204020204" pitchFamily="34" charset="-122"/>
                <a:ea typeface="Microsoft YaHei" panose="020B0503020204020204" pitchFamily="34" charset="-122"/>
                <a:sym typeface="+mn-ea"/>
              </a:rPr>
              <a:t>∴ρ</a:t>
            </a:r>
            <a:r>
              <a:rPr lang="zh-CN" altLang="en-US" kern="0" baseline="-30000" dirty="0">
                <a:solidFill>
                  <a:srgbClr val="FF0000"/>
                </a:solidFill>
                <a:latin typeface="Microsoft YaHei" panose="020B0503020204020204" pitchFamily="34" charset="-122"/>
                <a:ea typeface="Microsoft YaHei" panose="020B0503020204020204" pitchFamily="34" charset="-122"/>
                <a:sym typeface="+mn-ea"/>
              </a:rPr>
              <a:t>1</a:t>
            </a:r>
            <a:r>
              <a:rPr lang="zh-CN" altLang="en-US" kern="0" dirty="0">
                <a:solidFill>
                  <a:srgbClr val="FF0000"/>
                </a:solidFill>
                <a:latin typeface="Microsoft YaHei" panose="020B0503020204020204" pitchFamily="34" charset="-122"/>
                <a:ea typeface="Microsoft YaHei" panose="020B0503020204020204" pitchFamily="34" charset="-122"/>
                <a:sym typeface="+mn-ea"/>
              </a:rPr>
              <a:t>不具有函数依赖保持性。</a:t>
            </a:r>
            <a:endParaRPr lang="en-US" altLang="zh-CN" noProof="1">
              <a:latin typeface="Microsoft YaHei" panose="020B0503020204020204" pitchFamily="34" charset="-122"/>
              <a:ea typeface="Microsoft YaHei" panose="020B0503020204020204" pitchFamily="34" charset="-122"/>
            </a:endParaRPr>
          </a:p>
        </p:txBody>
      </p:sp>
      <p:sp>
        <p:nvSpPr>
          <p:cNvPr id="94212" name="文本框 2"/>
          <p:cNvSpPr txBox="1"/>
          <p:nvPr/>
        </p:nvSpPr>
        <p:spPr>
          <a:xfrm>
            <a:off x="551158" y="4462524"/>
            <a:ext cx="7886700" cy="369332"/>
          </a:xfrm>
          <a:prstGeom prst="rect">
            <a:avLst/>
          </a:prstGeom>
          <a:noFill/>
          <a:ln w="9525">
            <a:noFill/>
          </a:ln>
        </p:spPr>
        <p:txBody>
          <a:bodyPr wrap="square" anchor="t" anchorCtr="0">
            <a:spAutoFit/>
          </a:bodyPr>
          <a:lstStyle/>
          <a:p>
            <a:pPr algn="just">
              <a:spcBef>
                <a:spcPct val="20000"/>
              </a:spcBef>
              <a:buClr>
                <a:schemeClr val="folHlink"/>
              </a:buClr>
              <a:buSzPct val="60000"/>
              <a:buFont typeface="Wingdings" panose="05000000000000000000" pitchFamily="2" charset="2"/>
            </a:pPr>
            <a:r>
              <a:rPr lang="en-US" altLang="zh-CN" dirty="0">
                <a:latin typeface="Microsoft YaHei" panose="020B0503020204020204" pitchFamily="34" charset="-122"/>
                <a:ea typeface="Microsoft YaHei" panose="020B0503020204020204" pitchFamily="34" charset="-122"/>
                <a:sym typeface="宋体" panose="02010600030101010101" pitchFamily="2" charset="-122"/>
              </a:rPr>
              <a:t>(</a:t>
            </a:r>
            <a:r>
              <a:rPr lang="zh-CN" altLang="en-US" dirty="0">
                <a:latin typeface="Microsoft YaHei" panose="020B0503020204020204" pitchFamily="34" charset="-122"/>
                <a:ea typeface="Microsoft YaHei" panose="020B0503020204020204" pitchFamily="34" charset="-122"/>
                <a:sym typeface="宋体" panose="02010600030101010101" pitchFamily="2" charset="-122"/>
              </a:rPr>
              <a:t>2</a:t>
            </a:r>
            <a:r>
              <a:rPr lang="en-US" altLang="zh-CN" dirty="0">
                <a:latin typeface="Microsoft YaHei" panose="020B0503020204020204" pitchFamily="34" charset="-122"/>
                <a:ea typeface="Microsoft YaHei" panose="020B0503020204020204" pitchFamily="34" charset="-122"/>
                <a:sym typeface="宋体" panose="02010600030101010101" pitchFamily="2" charset="-122"/>
              </a:rPr>
              <a:t>)</a:t>
            </a:r>
            <a:r>
              <a:rPr lang="zh-CN" altLang="en-US" dirty="0">
                <a:latin typeface="Microsoft YaHei" panose="020B0503020204020204" pitchFamily="34" charset="-122"/>
                <a:ea typeface="Microsoft YaHei" panose="020B0503020204020204" pitchFamily="34" charset="-122"/>
                <a:sym typeface="宋体" panose="02010600030101010101" pitchFamily="2" charset="-122"/>
              </a:rPr>
              <a:t>同理可判断出</a:t>
            </a:r>
            <a:r>
              <a:rPr lang="zh-CN" altLang="en-US" dirty="0">
                <a:solidFill>
                  <a:srgbClr val="FF0000"/>
                </a:solidFill>
                <a:latin typeface="Microsoft YaHei" panose="020B0503020204020204" pitchFamily="34" charset="-122"/>
                <a:ea typeface="Microsoft YaHei" panose="020B0503020204020204" pitchFamily="34" charset="-122"/>
                <a:sym typeface="宋体" panose="02010600030101010101" pitchFamily="2" charset="-122"/>
              </a:rPr>
              <a:t>ρ</a:t>
            </a:r>
            <a:r>
              <a:rPr lang="en-US" altLang="zh-CN" baseline="-30000" dirty="0">
                <a:solidFill>
                  <a:srgbClr val="FF0000"/>
                </a:solidFill>
                <a:latin typeface="Microsoft YaHei" panose="020B0503020204020204" pitchFamily="34" charset="-122"/>
                <a:ea typeface="Microsoft YaHei" panose="020B0503020204020204" pitchFamily="34" charset="-122"/>
                <a:sym typeface="宋体" panose="02010600030101010101" pitchFamily="2" charset="-122"/>
              </a:rPr>
              <a:t>2</a:t>
            </a:r>
            <a:r>
              <a:rPr lang="zh-CN" altLang="en-US" dirty="0">
                <a:solidFill>
                  <a:srgbClr val="FF0000"/>
                </a:solidFill>
                <a:latin typeface="Microsoft YaHei" panose="020B0503020204020204" pitchFamily="34" charset="-122"/>
                <a:ea typeface="Microsoft YaHei" panose="020B0503020204020204" pitchFamily="34" charset="-122"/>
                <a:sym typeface="宋体" panose="02010600030101010101" pitchFamily="2" charset="-122"/>
              </a:rPr>
              <a:t>不具有无损连接性</a:t>
            </a:r>
            <a:r>
              <a:rPr lang="en-US" altLang="zh-CN" dirty="0">
                <a:solidFill>
                  <a:srgbClr val="FF0000"/>
                </a:solidFill>
                <a:latin typeface="Microsoft YaHei" panose="020B0503020204020204" pitchFamily="34" charset="-122"/>
                <a:ea typeface="Microsoft YaHei" panose="020B0503020204020204" pitchFamily="34" charset="-122"/>
                <a:sym typeface="宋体" panose="02010600030101010101" pitchFamily="2" charset="-122"/>
              </a:rPr>
              <a:t>,</a:t>
            </a:r>
            <a:r>
              <a:rPr lang="zh-CN" altLang="en-US" dirty="0">
                <a:latin typeface="Microsoft YaHei" panose="020B0503020204020204" pitchFamily="34" charset="-122"/>
                <a:ea typeface="Microsoft YaHei" panose="020B0503020204020204" pitchFamily="34" charset="-122"/>
                <a:sym typeface="宋体" panose="02010600030101010101" pitchFamily="2" charset="-122"/>
              </a:rPr>
              <a:t>但</a:t>
            </a:r>
            <a:r>
              <a:rPr lang="zh-CN" altLang="en-US" dirty="0">
                <a:solidFill>
                  <a:srgbClr val="FF0000"/>
                </a:solidFill>
                <a:latin typeface="Microsoft YaHei" panose="020B0503020204020204" pitchFamily="34" charset="-122"/>
                <a:ea typeface="Microsoft YaHei" panose="020B0503020204020204" pitchFamily="34" charset="-122"/>
                <a:sym typeface="宋体" panose="02010600030101010101" pitchFamily="2" charset="-122"/>
              </a:rPr>
              <a:t>具有函数依赖保持性。</a:t>
            </a:r>
            <a:endParaRPr lang="zh-CN" altLang="en-US" dirty="0">
              <a:latin typeface="Microsoft YaHei" panose="020B0503020204020204" pitchFamily="34" charset="-122"/>
              <a:ea typeface="Microsoft YaHei" panose="020B0503020204020204" pitchFamily="34" charset="-122"/>
            </a:endParaRPr>
          </a:p>
        </p:txBody>
      </p:sp>
      <p:sp>
        <p:nvSpPr>
          <p:cNvPr id="4" name="标题 3">
            <a:extLst>
              <a:ext uri="{FF2B5EF4-FFF2-40B4-BE49-F238E27FC236}">
                <a16:creationId xmlns:a16="http://schemas.microsoft.com/office/drawing/2014/main" id="{7CA5DF31-90BA-A6A9-5880-CC9C5934CA9B}"/>
              </a:ext>
            </a:extLst>
          </p:cNvPr>
          <p:cNvSpPr>
            <a:spLocks noGrp="1"/>
          </p:cNvSpPr>
          <p:nvPr>
            <p:ph type="title"/>
          </p:nvPr>
        </p:nvSpPr>
        <p:spPr/>
        <p:txBody>
          <a:bodyPr/>
          <a:lstStyle/>
          <a:p>
            <a:r>
              <a:rPr lang="zh-CN" altLang="en-US" dirty="0"/>
              <a:t>关系模式的分解</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42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426963" y="1253547"/>
            <a:ext cx="8314081" cy="3473435"/>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marL="0" indent="0" eaLnBrk="1" hangingPunct="1">
              <a:buNone/>
            </a:pPr>
            <a:r>
              <a:rPr lang="en-US" altLang="zh-CN" sz="1500" dirty="0">
                <a:solidFill>
                  <a:schemeClr val="folHlink"/>
                </a:solidFill>
                <a:latin typeface="Microsoft YaHei" panose="020B0503020204020204" pitchFamily="34" charset="-122"/>
                <a:ea typeface="Microsoft YaHei" panose="020B0503020204020204" pitchFamily="34" charset="-122"/>
              </a:rPr>
              <a:t>3. </a:t>
            </a:r>
            <a:r>
              <a:rPr lang="zh-CN" altLang="en-US" sz="1500" dirty="0">
                <a:solidFill>
                  <a:schemeClr val="folHlink"/>
                </a:solidFill>
                <a:latin typeface="Microsoft YaHei" panose="020B0503020204020204" pitchFamily="34" charset="-122"/>
                <a:ea typeface="Microsoft YaHei" panose="020B0503020204020204" pitchFamily="34" charset="-122"/>
              </a:rPr>
              <a:t>模式分解的方法</a:t>
            </a:r>
          </a:p>
          <a:p>
            <a:pPr marL="0" indent="0" eaLnBrk="1" hangingPunct="1">
              <a:buNone/>
            </a:pPr>
            <a:r>
              <a:rPr lang="zh-CN" altLang="en-US" sz="1500" dirty="0">
                <a:solidFill>
                  <a:schemeClr val="hlink"/>
                </a:solidFill>
                <a:latin typeface="Microsoft YaHei" panose="020B0503020204020204" pitchFamily="34" charset="-122"/>
                <a:ea typeface="Microsoft YaHei" panose="020B0503020204020204" pitchFamily="34" charset="-122"/>
              </a:rPr>
              <a:t>算法</a:t>
            </a:r>
            <a:r>
              <a:rPr lang="en-US" altLang="zh-CN" sz="1500" dirty="0">
                <a:solidFill>
                  <a:schemeClr val="hlink"/>
                </a:solidFill>
                <a:latin typeface="Microsoft YaHei" panose="020B0503020204020204" pitchFamily="34" charset="-122"/>
                <a:ea typeface="Microsoft YaHei" panose="020B0503020204020204" pitchFamily="34" charset="-122"/>
              </a:rPr>
              <a:t>4.2:</a:t>
            </a:r>
            <a:r>
              <a:rPr lang="en-US" altLang="zh-CN" sz="1500" dirty="0">
                <a:latin typeface="Microsoft YaHei" panose="020B0503020204020204" pitchFamily="34" charset="-122"/>
                <a:ea typeface="Microsoft YaHei" panose="020B0503020204020204" pitchFamily="34" charset="-122"/>
              </a:rPr>
              <a:t> </a:t>
            </a:r>
            <a:r>
              <a:rPr lang="zh-CN" altLang="en-US" sz="1500" dirty="0">
                <a:latin typeface="Microsoft YaHei" panose="020B0503020204020204" pitchFamily="34" charset="-122"/>
                <a:ea typeface="Microsoft YaHei" panose="020B0503020204020204" pitchFamily="34" charset="-122"/>
              </a:rPr>
              <a:t>把一个关系模式分解为</a:t>
            </a:r>
            <a:r>
              <a:rPr lang="en-US" altLang="zh-CN" sz="1500" dirty="0">
                <a:latin typeface="Microsoft YaHei" panose="020B0503020204020204" pitchFamily="34" charset="-122"/>
                <a:ea typeface="Microsoft YaHei" panose="020B0503020204020204" pitchFamily="34" charset="-122"/>
              </a:rPr>
              <a:t>3NF,</a:t>
            </a:r>
            <a:r>
              <a:rPr lang="zh-CN" altLang="en-US" sz="1500" dirty="0">
                <a:latin typeface="Microsoft YaHei" panose="020B0503020204020204" pitchFamily="34" charset="-122"/>
                <a:ea typeface="Microsoft YaHei" panose="020B0503020204020204" pitchFamily="34" charset="-122"/>
              </a:rPr>
              <a:t>使它具有无损连接性和函数依赖保持性</a:t>
            </a:r>
            <a:r>
              <a:rPr lang="en-US" altLang="zh-CN" sz="1500" dirty="0">
                <a:latin typeface="Microsoft YaHei" panose="020B0503020204020204" pitchFamily="34" charset="-122"/>
                <a:ea typeface="Microsoft YaHei" panose="020B0503020204020204" pitchFamily="34" charset="-122"/>
              </a:rPr>
              <a:t>.</a:t>
            </a:r>
          </a:p>
          <a:p>
            <a:pPr marL="0" indent="0" eaLnBrk="1" hangingPunct="1">
              <a:buNone/>
            </a:pPr>
            <a:r>
              <a:rPr lang="zh-CN" altLang="en-US" sz="1500" dirty="0">
                <a:latin typeface="Microsoft YaHei" panose="020B0503020204020204" pitchFamily="34" charset="-122"/>
                <a:ea typeface="Microsoft YaHei" panose="020B0503020204020204" pitchFamily="34" charset="-122"/>
              </a:rPr>
              <a:t>输入</a:t>
            </a:r>
            <a:r>
              <a:rPr lang="en-US" altLang="zh-CN" sz="1500" dirty="0">
                <a:latin typeface="Microsoft YaHei" panose="020B0503020204020204" pitchFamily="34" charset="-122"/>
                <a:ea typeface="Microsoft YaHei" panose="020B0503020204020204" pitchFamily="34" charset="-122"/>
              </a:rPr>
              <a:t>:</a:t>
            </a:r>
            <a:r>
              <a:rPr lang="zh-CN" altLang="en-US" sz="1500" dirty="0">
                <a:latin typeface="Microsoft YaHei" panose="020B0503020204020204" pitchFamily="34" charset="-122"/>
                <a:ea typeface="Microsoft YaHei" panose="020B0503020204020204" pitchFamily="34" charset="-122"/>
              </a:rPr>
              <a:t>关系模式</a:t>
            </a:r>
            <a:r>
              <a:rPr lang="en-US" altLang="zh-CN" sz="1500" dirty="0">
                <a:latin typeface="Microsoft YaHei" panose="020B0503020204020204" pitchFamily="34" charset="-122"/>
                <a:ea typeface="Microsoft YaHei" panose="020B0503020204020204" pitchFamily="34" charset="-122"/>
              </a:rPr>
              <a:t>R&lt;U,F&gt;.</a:t>
            </a:r>
          </a:p>
          <a:p>
            <a:pPr marL="0" indent="0" eaLnBrk="1" hangingPunct="1">
              <a:buNone/>
            </a:pPr>
            <a:r>
              <a:rPr lang="zh-CN" altLang="en-US" sz="1500" dirty="0">
                <a:latin typeface="Microsoft YaHei" panose="020B0503020204020204" pitchFamily="34" charset="-122"/>
                <a:ea typeface="Microsoft YaHei" panose="020B0503020204020204" pitchFamily="34" charset="-122"/>
              </a:rPr>
              <a:t>输出</a:t>
            </a:r>
            <a:r>
              <a:rPr lang="en-US" altLang="zh-CN" sz="1500" dirty="0">
                <a:latin typeface="Microsoft YaHei" panose="020B0503020204020204" pitchFamily="34" charset="-122"/>
                <a:ea typeface="Microsoft YaHei" panose="020B0503020204020204" pitchFamily="34" charset="-122"/>
              </a:rPr>
              <a:t>:</a:t>
            </a:r>
            <a:r>
              <a:rPr lang="zh-CN" altLang="en-US" sz="1500" dirty="0">
                <a:latin typeface="Microsoft YaHei" panose="020B0503020204020204" pitchFamily="34" charset="-122"/>
                <a:ea typeface="Microsoft YaHei" panose="020B0503020204020204" pitchFamily="34" charset="-122"/>
              </a:rPr>
              <a:t>具有无损连接性和函数依赖保持性的</a:t>
            </a:r>
            <a:r>
              <a:rPr lang="en-US" altLang="zh-CN" sz="1500" dirty="0">
                <a:latin typeface="Microsoft YaHei" panose="020B0503020204020204" pitchFamily="34" charset="-122"/>
                <a:ea typeface="Microsoft YaHei" panose="020B0503020204020204" pitchFamily="34" charset="-122"/>
              </a:rPr>
              <a:t>3NF</a:t>
            </a:r>
            <a:r>
              <a:rPr lang="zh-CN" altLang="en-US" sz="1500" dirty="0">
                <a:latin typeface="Microsoft YaHei" panose="020B0503020204020204" pitchFamily="34" charset="-122"/>
                <a:ea typeface="Microsoft YaHei" panose="020B0503020204020204" pitchFamily="34" charset="-122"/>
              </a:rPr>
              <a:t>分解</a:t>
            </a:r>
            <a:r>
              <a:rPr lang="en-US" altLang="zh-CN" sz="1500" dirty="0">
                <a:latin typeface="Microsoft YaHei" panose="020B0503020204020204" pitchFamily="34" charset="-122"/>
                <a:ea typeface="Microsoft YaHei" panose="020B0503020204020204" pitchFamily="34" charset="-122"/>
              </a:rPr>
              <a:t>ρ={R</a:t>
            </a:r>
            <a:r>
              <a:rPr lang="en-US" altLang="zh-CN" sz="1500" baseline="-25000" dirty="0">
                <a:latin typeface="Microsoft YaHei" panose="020B0503020204020204" pitchFamily="34" charset="-122"/>
                <a:ea typeface="Microsoft YaHei" panose="020B0503020204020204" pitchFamily="34" charset="-122"/>
              </a:rPr>
              <a:t>1</a:t>
            </a:r>
            <a:r>
              <a:rPr lang="zh-CN" altLang="en-US" sz="1500" dirty="0">
                <a:latin typeface="Microsoft YaHei" panose="020B0503020204020204" pitchFamily="34" charset="-122"/>
                <a:ea typeface="Microsoft YaHei" panose="020B0503020204020204" pitchFamily="34" charset="-122"/>
              </a:rPr>
              <a:t>，</a:t>
            </a:r>
            <a:r>
              <a:rPr lang="en-US" altLang="zh-CN" sz="1500" dirty="0">
                <a:latin typeface="Microsoft YaHei" panose="020B0503020204020204" pitchFamily="34" charset="-122"/>
                <a:ea typeface="Microsoft YaHei" panose="020B0503020204020204" pitchFamily="34" charset="-122"/>
              </a:rPr>
              <a:t>R</a:t>
            </a:r>
            <a:r>
              <a:rPr lang="en-US" altLang="zh-CN" sz="1500" baseline="-25000" dirty="0">
                <a:latin typeface="Microsoft YaHei" panose="020B0503020204020204" pitchFamily="34" charset="-122"/>
                <a:ea typeface="Microsoft YaHei" panose="020B0503020204020204" pitchFamily="34" charset="-122"/>
              </a:rPr>
              <a:t>2</a:t>
            </a:r>
            <a:r>
              <a:rPr lang="zh-CN" altLang="en-US" sz="1500" dirty="0">
                <a:latin typeface="Microsoft YaHei" panose="020B0503020204020204" pitchFamily="34" charset="-122"/>
                <a:ea typeface="Microsoft YaHei" panose="020B0503020204020204" pitchFamily="34" charset="-122"/>
              </a:rPr>
              <a:t>，</a:t>
            </a:r>
            <a:r>
              <a:rPr lang="en-US" altLang="zh-CN" sz="1500" dirty="0">
                <a:latin typeface="Microsoft YaHei" panose="020B0503020204020204" pitchFamily="34" charset="-122"/>
                <a:ea typeface="Microsoft YaHei" panose="020B0503020204020204" pitchFamily="34" charset="-122"/>
              </a:rPr>
              <a:t>….R</a:t>
            </a:r>
            <a:r>
              <a:rPr lang="en-US" altLang="zh-CN" sz="1500" baseline="-25000" dirty="0">
                <a:latin typeface="Microsoft YaHei" panose="020B0503020204020204" pitchFamily="34" charset="-122"/>
                <a:ea typeface="Microsoft YaHei" panose="020B0503020204020204" pitchFamily="34" charset="-122"/>
              </a:rPr>
              <a:t>K</a:t>
            </a:r>
            <a:r>
              <a:rPr lang="en-US" altLang="zh-CN" sz="1500" dirty="0">
                <a:latin typeface="Microsoft YaHei" panose="020B0503020204020204" pitchFamily="34" charset="-122"/>
                <a:ea typeface="Microsoft YaHei" panose="020B0503020204020204" pitchFamily="34" charset="-122"/>
              </a:rPr>
              <a:t>}.</a:t>
            </a:r>
          </a:p>
          <a:p>
            <a:pPr marL="0" indent="0" eaLnBrk="1" hangingPunct="1">
              <a:buNone/>
            </a:pPr>
            <a:r>
              <a:rPr lang="zh-CN" altLang="en-US" sz="1500" dirty="0">
                <a:latin typeface="Microsoft YaHei" panose="020B0503020204020204" pitchFamily="34" charset="-122"/>
                <a:ea typeface="Microsoft YaHei" panose="020B0503020204020204" pitchFamily="34" charset="-122"/>
              </a:rPr>
              <a:t>方法</a:t>
            </a:r>
            <a:r>
              <a:rPr lang="en-US" altLang="zh-CN" sz="1500" dirty="0">
                <a:latin typeface="Microsoft YaHei" panose="020B0503020204020204" pitchFamily="34" charset="-122"/>
                <a:ea typeface="Microsoft YaHei" panose="020B0503020204020204" pitchFamily="34" charset="-122"/>
              </a:rPr>
              <a:t>:</a:t>
            </a:r>
          </a:p>
          <a:p>
            <a:pPr marL="0" indent="0" eaLnBrk="1" hangingPunct="1">
              <a:buNone/>
            </a:pPr>
            <a:r>
              <a:rPr lang="en-US" altLang="zh-CN" sz="1500" dirty="0">
                <a:latin typeface="Microsoft YaHei" panose="020B0503020204020204" pitchFamily="34" charset="-122"/>
                <a:ea typeface="Microsoft YaHei" panose="020B0503020204020204" pitchFamily="34" charset="-122"/>
              </a:rPr>
              <a:t>(1) </a:t>
            </a:r>
            <a:r>
              <a:rPr lang="zh-CN" altLang="en-US" sz="1500" dirty="0">
                <a:solidFill>
                  <a:schemeClr val="hlink"/>
                </a:solidFill>
                <a:latin typeface="Microsoft YaHei" panose="020B0503020204020204" pitchFamily="34" charset="-122"/>
                <a:ea typeface="Microsoft YaHei" panose="020B0503020204020204" pitchFamily="34" charset="-122"/>
              </a:rPr>
              <a:t>最小化</a:t>
            </a:r>
            <a:r>
              <a:rPr lang="en-US" altLang="zh-CN" sz="1500" dirty="0">
                <a:solidFill>
                  <a:schemeClr val="hlink"/>
                </a:solidFill>
                <a:latin typeface="Microsoft YaHei" panose="020B0503020204020204" pitchFamily="34" charset="-122"/>
                <a:ea typeface="Microsoft YaHei" panose="020B0503020204020204" pitchFamily="34" charset="-122"/>
              </a:rPr>
              <a:t>.</a:t>
            </a:r>
            <a:r>
              <a:rPr lang="en-US" altLang="zh-CN" sz="1500" dirty="0">
                <a:latin typeface="Microsoft YaHei" panose="020B0503020204020204" pitchFamily="34" charset="-122"/>
                <a:ea typeface="Microsoft YaHei" panose="020B0503020204020204" pitchFamily="34" charset="-122"/>
              </a:rPr>
              <a:t> </a:t>
            </a:r>
            <a:r>
              <a:rPr lang="zh-CN" altLang="en-US" sz="1500" dirty="0">
                <a:latin typeface="Microsoft YaHei" panose="020B0503020204020204" pitchFamily="34" charset="-122"/>
                <a:ea typeface="Microsoft YaHei" panose="020B0503020204020204" pitchFamily="34" charset="-122"/>
              </a:rPr>
              <a:t>求</a:t>
            </a:r>
            <a:r>
              <a:rPr lang="en-US" altLang="zh-CN" sz="1500" dirty="0">
                <a:latin typeface="Microsoft YaHei" panose="020B0503020204020204" pitchFamily="34" charset="-122"/>
                <a:ea typeface="Microsoft YaHei" panose="020B0503020204020204" pitchFamily="34" charset="-122"/>
              </a:rPr>
              <a:t>F</a:t>
            </a:r>
            <a:r>
              <a:rPr lang="zh-CN" altLang="en-US" sz="1500" dirty="0">
                <a:latin typeface="Microsoft YaHei" panose="020B0503020204020204" pitchFamily="34" charset="-122"/>
                <a:ea typeface="Microsoft YaHei" panose="020B0503020204020204" pitchFamily="34" charset="-122"/>
              </a:rPr>
              <a:t>的最小函数依赖集</a:t>
            </a:r>
            <a:r>
              <a:rPr lang="en-US" altLang="zh-CN" sz="1500" dirty="0">
                <a:latin typeface="Microsoft YaHei" panose="020B0503020204020204" pitchFamily="34" charset="-122"/>
                <a:ea typeface="Microsoft YaHei" panose="020B0503020204020204" pitchFamily="34" charset="-122"/>
              </a:rPr>
              <a:t>F</a:t>
            </a:r>
            <a:r>
              <a:rPr lang="en-US" altLang="zh-CN" sz="1500" baseline="-25000" dirty="0">
                <a:latin typeface="Microsoft YaHei" panose="020B0503020204020204" pitchFamily="34" charset="-122"/>
                <a:ea typeface="Microsoft YaHei" panose="020B0503020204020204" pitchFamily="34" charset="-122"/>
              </a:rPr>
              <a:t>m</a:t>
            </a:r>
            <a:r>
              <a:rPr lang="en-US" altLang="zh-CN" sz="1500" dirty="0">
                <a:latin typeface="Microsoft YaHei" panose="020B0503020204020204" pitchFamily="34" charset="-122"/>
                <a:ea typeface="Microsoft YaHei" panose="020B0503020204020204" pitchFamily="34" charset="-122"/>
              </a:rPr>
              <a:t>.</a:t>
            </a:r>
          </a:p>
          <a:p>
            <a:pPr marL="0" indent="0" eaLnBrk="1" hangingPunct="1">
              <a:buNone/>
            </a:pPr>
            <a:r>
              <a:rPr lang="en-US" altLang="zh-CN" sz="1500" dirty="0">
                <a:latin typeface="Microsoft YaHei" panose="020B0503020204020204" pitchFamily="34" charset="-122"/>
                <a:ea typeface="Microsoft YaHei" panose="020B0503020204020204" pitchFamily="34" charset="-122"/>
              </a:rPr>
              <a:t>(2)</a:t>
            </a:r>
            <a:r>
              <a:rPr lang="en-US" altLang="zh-CN" sz="1500" dirty="0">
                <a:solidFill>
                  <a:schemeClr val="hlink"/>
                </a:solidFill>
                <a:latin typeface="Microsoft YaHei" panose="020B0503020204020204" pitchFamily="34" charset="-122"/>
                <a:ea typeface="Microsoft YaHei" panose="020B0503020204020204" pitchFamily="34" charset="-122"/>
              </a:rPr>
              <a:t> </a:t>
            </a:r>
            <a:r>
              <a:rPr lang="zh-CN" altLang="en-US" sz="1500" dirty="0">
                <a:solidFill>
                  <a:schemeClr val="hlink"/>
                </a:solidFill>
                <a:latin typeface="Microsoft YaHei" panose="020B0503020204020204" pitchFamily="34" charset="-122"/>
                <a:ea typeface="Microsoft YaHei" panose="020B0503020204020204" pitchFamily="34" charset="-122"/>
              </a:rPr>
              <a:t>排除</a:t>
            </a:r>
            <a:r>
              <a:rPr lang="en-US" altLang="zh-CN" sz="1500" dirty="0">
                <a:solidFill>
                  <a:schemeClr val="hlink"/>
                </a:solidFill>
                <a:latin typeface="Microsoft YaHei" panose="020B0503020204020204" pitchFamily="34" charset="-122"/>
                <a:ea typeface="Microsoft YaHei" panose="020B0503020204020204" pitchFamily="34" charset="-122"/>
              </a:rPr>
              <a:t>.</a:t>
            </a:r>
            <a:r>
              <a:rPr lang="en-US" altLang="zh-CN" sz="1500" dirty="0">
                <a:latin typeface="Microsoft YaHei" panose="020B0503020204020204" pitchFamily="34" charset="-122"/>
                <a:ea typeface="Microsoft YaHei" panose="020B0503020204020204" pitchFamily="34" charset="-122"/>
              </a:rPr>
              <a:t> </a:t>
            </a:r>
            <a:r>
              <a:rPr lang="zh-CN" altLang="en-US" sz="1500" dirty="0">
                <a:latin typeface="Microsoft YaHei" panose="020B0503020204020204" pitchFamily="34" charset="-122"/>
                <a:ea typeface="Microsoft YaHei" panose="020B0503020204020204" pitchFamily="34" charset="-122"/>
              </a:rPr>
              <a:t>如果</a:t>
            </a:r>
            <a:r>
              <a:rPr lang="en-US" altLang="zh-CN" sz="1500" dirty="0">
                <a:latin typeface="Microsoft YaHei" panose="020B0503020204020204" pitchFamily="34" charset="-122"/>
                <a:ea typeface="Microsoft YaHei" panose="020B0503020204020204" pitchFamily="34" charset="-122"/>
              </a:rPr>
              <a:t>F</a:t>
            </a:r>
            <a:r>
              <a:rPr lang="en-US" altLang="zh-CN" sz="1500" baseline="-25000" dirty="0">
                <a:latin typeface="Microsoft YaHei" panose="020B0503020204020204" pitchFamily="34" charset="-122"/>
                <a:ea typeface="Microsoft YaHei" panose="020B0503020204020204" pitchFamily="34" charset="-122"/>
              </a:rPr>
              <a:t>m</a:t>
            </a:r>
            <a:r>
              <a:rPr lang="zh-CN" altLang="en-US" sz="1500" dirty="0">
                <a:latin typeface="Microsoft YaHei" panose="020B0503020204020204" pitchFamily="34" charset="-122"/>
                <a:ea typeface="Microsoft YaHei" panose="020B0503020204020204" pitchFamily="34" charset="-122"/>
              </a:rPr>
              <a:t>中有一依赖</a:t>
            </a:r>
            <a:r>
              <a:rPr lang="en-US" altLang="zh-CN" sz="1500" dirty="0">
                <a:latin typeface="Microsoft YaHei" panose="020B0503020204020204" pitchFamily="34" charset="-122"/>
                <a:ea typeface="Microsoft YaHei" panose="020B0503020204020204" pitchFamily="34" charset="-122"/>
              </a:rPr>
              <a:t>X</a:t>
            </a:r>
            <a:r>
              <a:rPr lang="zh-CN" altLang="en-US" sz="1600" kern="0" dirty="0">
                <a:latin typeface="Microsoft YaHei" panose="020B0503020204020204" pitchFamily="34" charset="-122"/>
                <a:ea typeface="Microsoft YaHei" panose="020B0503020204020204" pitchFamily="34" charset="-122"/>
                <a:sym typeface="+mn-ea"/>
              </a:rPr>
              <a:t>→</a:t>
            </a:r>
            <a:r>
              <a:rPr lang="en-US" altLang="zh-CN" sz="1500" dirty="0">
                <a:latin typeface="Microsoft YaHei" panose="020B0503020204020204" pitchFamily="34" charset="-122"/>
                <a:ea typeface="Microsoft YaHei" panose="020B0503020204020204" pitchFamily="34" charset="-122"/>
              </a:rPr>
              <a:t>A</a:t>
            </a:r>
            <a:r>
              <a:rPr lang="zh-CN" altLang="en-US" sz="1500" dirty="0">
                <a:latin typeface="Microsoft YaHei" panose="020B0503020204020204" pitchFamily="34" charset="-122"/>
                <a:ea typeface="Microsoft YaHei" panose="020B0503020204020204" pitchFamily="34" charset="-122"/>
              </a:rPr>
              <a:t>，且</a:t>
            </a:r>
            <a:r>
              <a:rPr lang="en-US" altLang="zh-CN" sz="1500" dirty="0">
                <a:latin typeface="Microsoft YaHei" panose="020B0503020204020204" pitchFamily="34" charset="-122"/>
                <a:ea typeface="Microsoft YaHei" panose="020B0503020204020204" pitchFamily="34" charset="-122"/>
              </a:rPr>
              <a:t>XA=U,</a:t>
            </a:r>
            <a:r>
              <a:rPr lang="zh-CN" altLang="en-US" sz="1500" dirty="0">
                <a:latin typeface="Microsoft YaHei" panose="020B0503020204020204" pitchFamily="34" charset="-122"/>
                <a:ea typeface="Microsoft YaHei" panose="020B0503020204020204" pitchFamily="34" charset="-122"/>
              </a:rPr>
              <a:t>则输出</a:t>
            </a:r>
            <a:r>
              <a:rPr lang="en-US" altLang="zh-CN" sz="1500" dirty="0">
                <a:latin typeface="Microsoft YaHei" panose="020B0503020204020204" pitchFamily="34" charset="-122"/>
                <a:ea typeface="Microsoft YaHei" panose="020B0503020204020204" pitchFamily="34" charset="-122"/>
              </a:rPr>
              <a:t>ρ={R},</a:t>
            </a:r>
            <a:r>
              <a:rPr lang="zh-CN" altLang="en-US" sz="1500" dirty="0">
                <a:latin typeface="Microsoft YaHei" panose="020B0503020204020204" pitchFamily="34" charset="-122"/>
                <a:ea typeface="Microsoft YaHei" panose="020B0503020204020204" pitchFamily="34" charset="-122"/>
              </a:rPr>
              <a:t>转</a:t>
            </a:r>
            <a:r>
              <a:rPr lang="en-US" altLang="zh-CN" sz="1500" dirty="0">
                <a:latin typeface="Microsoft YaHei" panose="020B0503020204020204" pitchFamily="34" charset="-122"/>
                <a:ea typeface="Microsoft YaHei" panose="020B0503020204020204" pitchFamily="34" charset="-122"/>
              </a:rPr>
              <a:t>(6).</a:t>
            </a:r>
          </a:p>
          <a:p>
            <a:pPr marL="0" indent="0" eaLnBrk="1" hangingPunct="1">
              <a:buNone/>
            </a:pPr>
            <a:r>
              <a:rPr lang="en-US" altLang="zh-CN" sz="1500" dirty="0">
                <a:latin typeface="Microsoft YaHei" panose="020B0503020204020204" pitchFamily="34" charset="-122"/>
                <a:ea typeface="Microsoft YaHei" panose="020B0503020204020204" pitchFamily="34" charset="-122"/>
              </a:rPr>
              <a:t>(3) </a:t>
            </a:r>
            <a:r>
              <a:rPr lang="zh-CN" altLang="en-US" sz="1500" dirty="0">
                <a:solidFill>
                  <a:schemeClr val="hlink"/>
                </a:solidFill>
                <a:latin typeface="Microsoft YaHei" panose="020B0503020204020204" pitchFamily="34" charset="-122"/>
                <a:ea typeface="Microsoft YaHei" panose="020B0503020204020204" pitchFamily="34" charset="-122"/>
              </a:rPr>
              <a:t>独立</a:t>
            </a:r>
            <a:r>
              <a:rPr lang="en-US" altLang="zh-CN" sz="1500" dirty="0">
                <a:solidFill>
                  <a:schemeClr val="hlink"/>
                </a:solidFill>
                <a:latin typeface="Microsoft YaHei" panose="020B0503020204020204" pitchFamily="34" charset="-122"/>
                <a:ea typeface="Microsoft YaHei" panose="020B0503020204020204" pitchFamily="34" charset="-122"/>
              </a:rPr>
              <a:t>.</a:t>
            </a:r>
            <a:r>
              <a:rPr lang="en-US" altLang="zh-CN" sz="1500" dirty="0">
                <a:latin typeface="Microsoft YaHei" panose="020B0503020204020204" pitchFamily="34" charset="-122"/>
                <a:ea typeface="Microsoft YaHei" panose="020B0503020204020204" pitchFamily="34" charset="-122"/>
              </a:rPr>
              <a:t> </a:t>
            </a:r>
            <a:r>
              <a:rPr lang="zh-CN" altLang="en-US" sz="1500" dirty="0">
                <a:latin typeface="Microsoft YaHei" panose="020B0503020204020204" pitchFamily="34" charset="-122"/>
                <a:ea typeface="Microsoft YaHei" panose="020B0503020204020204" pitchFamily="34" charset="-122"/>
              </a:rPr>
              <a:t>若</a:t>
            </a:r>
            <a:r>
              <a:rPr lang="en-US" altLang="zh-CN" sz="1500" dirty="0">
                <a:latin typeface="Microsoft YaHei" panose="020B0503020204020204" pitchFamily="34" charset="-122"/>
                <a:ea typeface="Microsoft YaHei" panose="020B0503020204020204" pitchFamily="34" charset="-122"/>
              </a:rPr>
              <a:t>R</a:t>
            </a:r>
            <a:r>
              <a:rPr lang="zh-CN" altLang="en-US" sz="1500" dirty="0">
                <a:latin typeface="Microsoft YaHei" panose="020B0503020204020204" pitchFamily="34" charset="-122"/>
                <a:ea typeface="Microsoft YaHei" panose="020B0503020204020204" pitchFamily="34" charset="-122"/>
              </a:rPr>
              <a:t>中某些属性未出现在</a:t>
            </a:r>
            <a:r>
              <a:rPr lang="en-US" altLang="zh-CN" sz="1500" dirty="0">
                <a:latin typeface="Microsoft YaHei" panose="020B0503020204020204" pitchFamily="34" charset="-122"/>
                <a:ea typeface="Microsoft YaHei" panose="020B0503020204020204" pitchFamily="34" charset="-122"/>
              </a:rPr>
              <a:t>F</a:t>
            </a:r>
            <a:r>
              <a:rPr lang="en-US" altLang="zh-CN" sz="1500" baseline="-25000" dirty="0">
                <a:latin typeface="Microsoft YaHei" panose="020B0503020204020204" pitchFamily="34" charset="-122"/>
                <a:ea typeface="Microsoft YaHei" panose="020B0503020204020204" pitchFamily="34" charset="-122"/>
              </a:rPr>
              <a:t>m</a:t>
            </a:r>
            <a:r>
              <a:rPr lang="zh-CN" altLang="en-US" sz="1500" dirty="0">
                <a:latin typeface="Microsoft YaHei" panose="020B0503020204020204" pitchFamily="34" charset="-122"/>
                <a:ea typeface="Microsoft YaHei" panose="020B0503020204020204" pitchFamily="34" charset="-122"/>
              </a:rPr>
              <a:t>中任一函数依赖的左部或右部</a:t>
            </a:r>
            <a:r>
              <a:rPr lang="en-US" altLang="zh-CN" sz="1500" dirty="0">
                <a:latin typeface="Microsoft YaHei" panose="020B0503020204020204" pitchFamily="34" charset="-122"/>
                <a:ea typeface="Microsoft YaHei" panose="020B0503020204020204" pitchFamily="34" charset="-122"/>
              </a:rPr>
              <a:t>,</a:t>
            </a:r>
            <a:r>
              <a:rPr lang="zh-CN" altLang="en-US" sz="1500" dirty="0">
                <a:latin typeface="Microsoft YaHei" panose="020B0503020204020204" pitchFamily="34" charset="-122"/>
                <a:ea typeface="Microsoft YaHei" panose="020B0503020204020204" pitchFamily="34" charset="-122"/>
              </a:rPr>
              <a:t>则将它们从</a:t>
            </a:r>
            <a:r>
              <a:rPr lang="en-US" altLang="zh-CN" sz="1500" dirty="0">
                <a:latin typeface="Microsoft YaHei" panose="020B0503020204020204" pitchFamily="34" charset="-122"/>
                <a:ea typeface="Microsoft YaHei" panose="020B0503020204020204" pitchFamily="34" charset="-122"/>
              </a:rPr>
              <a:t>R</a:t>
            </a:r>
            <a:r>
              <a:rPr lang="zh-CN" altLang="en-US" sz="1500" dirty="0">
                <a:latin typeface="Microsoft YaHei" panose="020B0503020204020204" pitchFamily="34" charset="-122"/>
                <a:ea typeface="Microsoft YaHei" panose="020B0503020204020204" pitchFamily="34" charset="-122"/>
              </a:rPr>
              <a:t>中分出去</a:t>
            </a:r>
            <a:r>
              <a:rPr lang="en-US" altLang="zh-CN" sz="1500" dirty="0">
                <a:latin typeface="Microsoft YaHei" panose="020B0503020204020204" pitchFamily="34" charset="-122"/>
                <a:ea typeface="Microsoft YaHei" panose="020B0503020204020204" pitchFamily="34" charset="-122"/>
              </a:rPr>
              <a:t>,</a:t>
            </a:r>
            <a:r>
              <a:rPr lang="zh-CN" altLang="en-US" sz="1500" dirty="0">
                <a:latin typeface="Microsoft YaHei" panose="020B0503020204020204" pitchFamily="34" charset="-122"/>
                <a:ea typeface="Microsoft YaHei" panose="020B0503020204020204" pitchFamily="34" charset="-122"/>
              </a:rPr>
              <a:t>单独构成一个关系子模式</a:t>
            </a:r>
            <a:r>
              <a:rPr lang="en-US" altLang="zh-CN" sz="1500" dirty="0">
                <a:latin typeface="Microsoft YaHei" panose="020B0503020204020204" pitchFamily="34" charset="-122"/>
                <a:ea typeface="Microsoft YaHei" panose="020B0503020204020204" pitchFamily="34" charset="-122"/>
              </a:rPr>
              <a:t>.</a:t>
            </a:r>
          </a:p>
          <a:p>
            <a:pPr marL="0" indent="0" eaLnBrk="1" hangingPunct="1">
              <a:buNone/>
            </a:pPr>
            <a:r>
              <a:rPr lang="en-US" altLang="zh-CN" sz="1500" dirty="0">
                <a:latin typeface="Microsoft YaHei" panose="020B0503020204020204" pitchFamily="34" charset="-122"/>
                <a:ea typeface="Microsoft YaHei" panose="020B0503020204020204" pitchFamily="34" charset="-122"/>
              </a:rPr>
              <a:t>(4) </a:t>
            </a:r>
            <a:r>
              <a:rPr lang="zh-CN" altLang="en-US" sz="1500" dirty="0">
                <a:solidFill>
                  <a:schemeClr val="hlink"/>
                </a:solidFill>
                <a:latin typeface="Microsoft YaHei" panose="020B0503020204020204" pitchFamily="34" charset="-122"/>
                <a:ea typeface="Microsoft YaHei" panose="020B0503020204020204" pitchFamily="34" charset="-122"/>
              </a:rPr>
              <a:t>分组</a:t>
            </a:r>
            <a:r>
              <a:rPr lang="en-US" altLang="zh-CN" sz="1500" dirty="0">
                <a:solidFill>
                  <a:schemeClr val="hlink"/>
                </a:solidFill>
                <a:latin typeface="Microsoft YaHei" panose="020B0503020204020204" pitchFamily="34" charset="-122"/>
                <a:ea typeface="Microsoft YaHei" panose="020B0503020204020204" pitchFamily="34" charset="-122"/>
              </a:rPr>
              <a:t>.</a:t>
            </a:r>
            <a:r>
              <a:rPr lang="en-US" altLang="zh-CN" sz="1500" dirty="0">
                <a:latin typeface="Microsoft YaHei" panose="020B0503020204020204" pitchFamily="34" charset="-122"/>
                <a:ea typeface="Microsoft YaHei" panose="020B0503020204020204" pitchFamily="34" charset="-122"/>
              </a:rPr>
              <a:t> </a:t>
            </a:r>
            <a:r>
              <a:rPr lang="zh-CN" altLang="en-US" sz="1500" dirty="0">
                <a:latin typeface="Microsoft YaHei" panose="020B0503020204020204" pitchFamily="34" charset="-122"/>
                <a:ea typeface="Microsoft YaHei" panose="020B0503020204020204" pitchFamily="34" charset="-122"/>
              </a:rPr>
              <a:t>对于</a:t>
            </a:r>
            <a:r>
              <a:rPr lang="en-US" altLang="zh-CN" sz="1500" dirty="0">
                <a:latin typeface="Microsoft YaHei" panose="020B0503020204020204" pitchFamily="34" charset="-122"/>
                <a:ea typeface="Microsoft YaHei" panose="020B0503020204020204" pitchFamily="34" charset="-122"/>
              </a:rPr>
              <a:t>F</a:t>
            </a:r>
            <a:r>
              <a:rPr lang="en-US" altLang="zh-CN" sz="1500" baseline="-25000" dirty="0">
                <a:latin typeface="Microsoft YaHei" panose="020B0503020204020204" pitchFamily="34" charset="-122"/>
                <a:ea typeface="Microsoft YaHei" panose="020B0503020204020204" pitchFamily="34" charset="-122"/>
              </a:rPr>
              <a:t>m</a:t>
            </a:r>
            <a:r>
              <a:rPr lang="zh-CN" altLang="en-US" sz="1500" dirty="0">
                <a:latin typeface="Microsoft YaHei" panose="020B0503020204020204" pitchFamily="34" charset="-122"/>
                <a:ea typeface="Microsoft YaHei" panose="020B0503020204020204" pitchFamily="34" charset="-122"/>
              </a:rPr>
              <a:t>中每一个</a:t>
            </a:r>
            <a:r>
              <a:rPr lang="en-US" altLang="zh-CN" sz="1500" dirty="0">
                <a:latin typeface="Microsoft YaHei" panose="020B0503020204020204" pitchFamily="34" charset="-122"/>
                <a:ea typeface="Microsoft YaHei" panose="020B0503020204020204" pitchFamily="34" charset="-122"/>
              </a:rPr>
              <a:t>X</a:t>
            </a:r>
            <a:r>
              <a:rPr lang="zh-CN" altLang="en-US" sz="1600" kern="0" dirty="0">
                <a:latin typeface="Microsoft YaHei" panose="020B0503020204020204" pitchFamily="34" charset="-122"/>
                <a:ea typeface="Microsoft YaHei" panose="020B0503020204020204" pitchFamily="34" charset="-122"/>
                <a:sym typeface="+mn-ea"/>
              </a:rPr>
              <a:t>→</a:t>
            </a:r>
            <a:r>
              <a:rPr lang="en-US" altLang="zh-CN" sz="1500" dirty="0">
                <a:latin typeface="Microsoft YaHei" panose="020B0503020204020204" pitchFamily="34" charset="-122"/>
                <a:ea typeface="Microsoft YaHei" panose="020B0503020204020204" pitchFamily="34" charset="-122"/>
              </a:rPr>
              <a:t>A ,</a:t>
            </a:r>
            <a:r>
              <a:rPr lang="zh-CN" altLang="en-US" sz="1500" dirty="0">
                <a:latin typeface="Microsoft YaHei" panose="020B0503020204020204" pitchFamily="34" charset="-122"/>
                <a:ea typeface="Microsoft YaHei" panose="020B0503020204020204" pitchFamily="34" charset="-122"/>
              </a:rPr>
              <a:t>都构成一个关系子模式</a:t>
            </a:r>
            <a:r>
              <a:rPr lang="en-US" altLang="zh-CN" sz="1500" dirty="0">
                <a:latin typeface="Microsoft YaHei" panose="020B0503020204020204" pitchFamily="34" charset="-122"/>
                <a:ea typeface="Microsoft YaHei" panose="020B0503020204020204" pitchFamily="34" charset="-122"/>
              </a:rPr>
              <a:t>XA(</a:t>
            </a:r>
            <a:r>
              <a:rPr lang="zh-CN" altLang="en-US" sz="1500" dirty="0">
                <a:latin typeface="Microsoft YaHei" panose="020B0503020204020204" pitchFamily="34" charset="-122"/>
                <a:ea typeface="Microsoft YaHei" panose="020B0503020204020204" pitchFamily="34" charset="-122"/>
              </a:rPr>
              <a:t>但若有</a:t>
            </a:r>
          </a:p>
          <a:p>
            <a:pPr marL="0" indent="0" eaLnBrk="1" hangingPunct="1">
              <a:buNone/>
            </a:pPr>
            <a:r>
              <a:rPr lang="en-US" altLang="zh-CN" sz="1500" dirty="0">
                <a:latin typeface="Microsoft YaHei" panose="020B0503020204020204" pitchFamily="34" charset="-122"/>
                <a:ea typeface="Microsoft YaHei" panose="020B0503020204020204" pitchFamily="34" charset="-122"/>
              </a:rPr>
              <a:t>X</a:t>
            </a:r>
            <a:r>
              <a:rPr lang="zh-CN" altLang="en-US" sz="1600" kern="0" dirty="0">
                <a:latin typeface="Microsoft YaHei" panose="020B0503020204020204" pitchFamily="34" charset="-122"/>
                <a:ea typeface="Microsoft YaHei" panose="020B0503020204020204" pitchFamily="34" charset="-122"/>
                <a:sym typeface="+mn-ea"/>
              </a:rPr>
              <a:t>→</a:t>
            </a:r>
            <a:r>
              <a:rPr lang="en-US" altLang="zh-CN" sz="1500" dirty="0">
                <a:latin typeface="Microsoft YaHei" panose="020B0503020204020204" pitchFamily="34" charset="-122"/>
                <a:ea typeface="Microsoft YaHei" panose="020B0503020204020204" pitchFamily="34" charset="-122"/>
              </a:rPr>
              <a:t>A</a:t>
            </a:r>
            <a:r>
              <a:rPr lang="en-US" altLang="zh-CN" sz="1500" baseline="-25000" dirty="0">
                <a:latin typeface="Microsoft YaHei" panose="020B0503020204020204" pitchFamily="34" charset="-122"/>
                <a:ea typeface="Microsoft YaHei" panose="020B0503020204020204" pitchFamily="34" charset="-122"/>
              </a:rPr>
              <a:t>1</a:t>
            </a:r>
            <a:r>
              <a:rPr lang="en-US" altLang="zh-CN" sz="1500" dirty="0">
                <a:latin typeface="Microsoft YaHei" panose="020B0503020204020204" pitchFamily="34" charset="-122"/>
                <a:ea typeface="Microsoft YaHei" panose="020B0503020204020204" pitchFamily="34" charset="-122"/>
              </a:rPr>
              <a:t>, X</a:t>
            </a:r>
            <a:r>
              <a:rPr lang="zh-CN" altLang="en-US" sz="1600" kern="0" dirty="0">
                <a:latin typeface="Microsoft YaHei" panose="020B0503020204020204" pitchFamily="34" charset="-122"/>
                <a:ea typeface="Microsoft YaHei" panose="020B0503020204020204" pitchFamily="34" charset="-122"/>
                <a:sym typeface="+mn-ea"/>
              </a:rPr>
              <a:t>→</a:t>
            </a:r>
            <a:r>
              <a:rPr lang="en-US" altLang="zh-CN" sz="1500" dirty="0">
                <a:latin typeface="Microsoft YaHei" panose="020B0503020204020204" pitchFamily="34" charset="-122"/>
                <a:ea typeface="Microsoft YaHei" panose="020B0503020204020204" pitchFamily="34" charset="-122"/>
              </a:rPr>
              <a:t>A</a:t>
            </a:r>
            <a:r>
              <a:rPr lang="en-US" altLang="zh-CN" sz="1500" baseline="-25000" dirty="0">
                <a:latin typeface="Microsoft YaHei" panose="020B0503020204020204" pitchFamily="34" charset="-122"/>
                <a:ea typeface="Microsoft YaHei" panose="020B0503020204020204" pitchFamily="34" charset="-122"/>
              </a:rPr>
              <a:t>2</a:t>
            </a:r>
            <a:r>
              <a:rPr lang="zh-CN" altLang="en-US" sz="1500" baseline="-25000" dirty="0">
                <a:latin typeface="Microsoft YaHei" panose="020B0503020204020204" pitchFamily="34" charset="-122"/>
                <a:ea typeface="Microsoft YaHei" panose="020B0503020204020204" pitchFamily="34" charset="-122"/>
              </a:rPr>
              <a:t> </a:t>
            </a:r>
            <a:r>
              <a:rPr lang="en-US" altLang="zh-CN" sz="1500" dirty="0">
                <a:latin typeface="Microsoft YaHei" panose="020B0503020204020204" pitchFamily="34" charset="-122"/>
                <a:ea typeface="Microsoft YaHei" panose="020B0503020204020204" pitchFamily="34" charset="-122"/>
              </a:rPr>
              <a:t>,</a:t>
            </a:r>
            <a:r>
              <a:rPr lang="zh-CN" altLang="en-US" sz="1500" dirty="0">
                <a:latin typeface="Microsoft YaHei" panose="020B0503020204020204" pitchFamily="34" charset="-122"/>
                <a:ea typeface="Microsoft YaHei" panose="020B0503020204020204" pitchFamily="34" charset="-122"/>
              </a:rPr>
              <a:t> </a:t>
            </a:r>
            <a:r>
              <a:rPr lang="en-US" altLang="zh-CN" sz="1500" dirty="0">
                <a:latin typeface="Microsoft YaHei" panose="020B0503020204020204" pitchFamily="34" charset="-122"/>
                <a:ea typeface="Microsoft YaHei" panose="020B0503020204020204" pitchFamily="34" charset="-122"/>
              </a:rPr>
              <a:t>…. ,X</a:t>
            </a:r>
            <a:r>
              <a:rPr lang="zh-CN" altLang="en-US" sz="1600" kern="0" dirty="0">
                <a:latin typeface="Microsoft YaHei" panose="020B0503020204020204" pitchFamily="34" charset="-122"/>
                <a:ea typeface="Microsoft YaHei" panose="020B0503020204020204" pitchFamily="34" charset="-122"/>
                <a:sym typeface="+mn-ea"/>
              </a:rPr>
              <a:t>→</a:t>
            </a:r>
            <a:r>
              <a:rPr lang="en-US" altLang="zh-CN" sz="1500" dirty="0">
                <a:latin typeface="Microsoft YaHei" panose="020B0503020204020204" pitchFamily="34" charset="-122"/>
                <a:ea typeface="Microsoft YaHei" panose="020B0503020204020204" pitchFamily="34" charset="-122"/>
              </a:rPr>
              <a:t>A</a:t>
            </a:r>
            <a:r>
              <a:rPr lang="en-US" altLang="zh-CN" sz="1500" baseline="-25000" dirty="0">
                <a:latin typeface="Microsoft YaHei" panose="020B0503020204020204" pitchFamily="34" charset="-122"/>
                <a:ea typeface="Microsoft YaHei" panose="020B0503020204020204" pitchFamily="34" charset="-122"/>
              </a:rPr>
              <a:t>n</a:t>
            </a:r>
            <a:r>
              <a:rPr lang="zh-CN" altLang="en-US" sz="1500" dirty="0">
                <a:latin typeface="Microsoft YaHei" panose="020B0503020204020204" pitchFamily="34" charset="-122"/>
                <a:ea typeface="Microsoft YaHei" panose="020B0503020204020204" pitchFamily="34" charset="-122"/>
              </a:rPr>
              <a:t>，则可用合并规则变为 </a:t>
            </a:r>
            <a:r>
              <a:rPr lang="en-US" altLang="zh-CN" sz="1500" dirty="0">
                <a:latin typeface="Microsoft YaHei" panose="020B0503020204020204" pitchFamily="34" charset="-122"/>
                <a:ea typeface="Microsoft YaHei" panose="020B0503020204020204" pitchFamily="34" charset="-122"/>
              </a:rPr>
              <a:t>X</a:t>
            </a:r>
            <a:r>
              <a:rPr lang="zh-CN" altLang="en-US" sz="1600" kern="0" dirty="0">
                <a:latin typeface="Microsoft YaHei" panose="020B0503020204020204" pitchFamily="34" charset="-122"/>
                <a:ea typeface="Microsoft YaHei" panose="020B0503020204020204" pitchFamily="34" charset="-122"/>
                <a:sym typeface="+mn-ea"/>
              </a:rPr>
              <a:t>→</a:t>
            </a:r>
            <a:r>
              <a:rPr lang="en-US" altLang="zh-CN" sz="1500" dirty="0">
                <a:latin typeface="Microsoft YaHei" panose="020B0503020204020204" pitchFamily="34" charset="-122"/>
                <a:ea typeface="Microsoft YaHei" panose="020B0503020204020204" pitchFamily="34" charset="-122"/>
              </a:rPr>
              <a:t>A</a:t>
            </a:r>
            <a:r>
              <a:rPr lang="en-US" altLang="zh-CN" sz="1500" baseline="-25000" dirty="0">
                <a:latin typeface="Microsoft YaHei" panose="020B0503020204020204" pitchFamily="34" charset="-122"/>
                <a:ea typeface="Microsoft YaHei" panose="020B0503020204020204" pitchFamily="34" charset="-122"/>
              </a:rPr>
              <a:t>1</a:t>
            </a:r>
            <a:r>
              <a:rPr lang="en-US" altLang="zh-CN" sz="1500" dirty="0">
                <a:latin typeface="Microsoft YaHei" panose="020B0503020204020204" pitchFamily="34" charset="-122"/>
                <a:ea typeface="Microsoft YaHei" panose="020B0503020204020204" pitchFamily="34" charset="-122"/>
              </a:rPr>
              <a:t>A</a:t>
            </a:r>
            <a:r>
              <a:rPr lang="en-US" altLang="zh-CN" sz="1500" baseline="-25000" dirty="0">
                <a:latin typeface="Microsoft YaHei" panose="020B0503020204020204" pitchFamily="34" charset="-122"/>
                <a:ea typeface="Microsoft YaHei" panose="020B0503020204020204" pitchFamily="34" charset="-122"/>
              </a:rPr>
              <a:t>2</a:t>
            </a:r>
            <a:r>
              <a:rPr lang="en-US" altLang="zh-CN" sz="1500" dirty="0">
                <a:latin typeface="Microsoft YaHei" panose="020B0503020204020204" pitchFamily="34" charset="-122"/>
                <a:ea typeface="Microsoft YaHei" panose="020B0503020204020204" pitchFamily="34" charset="-122"/>
              </a:rPr>
              <a:t>A</a:t>
            </a:r>
            <a:r>
              <a:rPr lang="en-US" altLang="zh-CN" sz="1500" baseline="-25000" dirty="0">
                <a:latin typeface="Microsoft YaHei" panose="020B0503020204020204" pitchFamily="34" charset="-122"/>
                <a:ea typeface="Microsoft YaHei" panose="020B0503020204020204" pitchFamily="34" charset="-122"/>
              </a:rPr>
              <a:t>n</a:t>
            </a:r>
            <a:r>
              <a:rPr lang="zh-CN" altLang="en-US" sz="1500" dirty="0">
                <a:latin typeface="Microsoft YaHei" panose="020B0503020204020204" pitchFamily="34" charset="-122"/>
                <a:ea typeface="Microsoft YaHei" panose="020B0503020204020204" pitchFamily="34" charset="-122"/>
              </a:rPr>
              <a:t>，再令</a:t>
            </a:r>
            <a:r>
              <a:rPr lang="en-US" altLang="zh-CN" sz="1500" dirty="0">
                <a:latin typeface="Microsoft YaHei" panose="020B0503020204020204" pitchFamily="34" charset="-122"/>
                <a:ea typeface="Microsoft YaHei" panose="020B0503020204020204" pitchFamily="34" charset="-122"/>
              </a:rPr>
              <a:t>X A</a:t>
            </a:r>
            <a:r>
              <a:rPr lang="en-US" altLang="zh-CN" sz="1500" baseline="-25000" dirty="0">
                <a:latin typeface="Microsoft YaHei" panose="020B0503020204020204" pitchFamily="34" charset="-122"/>
                <a:ea typeface="Microsoft YaHei" panose="020B0503020204020204" pitchFamily="34" charset="-122"/>
              </a:rPr>
              <a:t>1</a:t>
            </a:r>
            <a:r>
              <a:rPr lang="en-US" altLang="zh-CN" sz="1500" dirty="0">
                <a:latin typeface="Microsoft YaHei" panose="020B0503020204020204" pitchFamily="34" charset="-122"/>
                <a:ea typeface="Microsoft YaHei" panose="020B0503020204020204" pitchFamily="34" charset="-122"/>
              </a:rPr>
              <a:t>A</a:t>
            </a:r>
            <a:r>
              <a:rPr lang="en-US" altLang="zh-CN" sz="1500" baseline="-25000" dirty="0">
                <a:latin typeface="Microsoft YaHei" panose="020B0503020204020204" pitchFamily="34" charset="-122"/>
                <a:ea typeface="Microsoft YaHei" panose="020B0503020204020204" pitchFamily="34" charset="-122"/>
              </a:rPr>
              <a:t>2</a:t>
            </a:r>
            <a:r>
              <a:rPr lang="en-US" altLang="zh-CN" sz="1500" dirty="0">
                <a:latin typeface="Microsoft YaHei" panose="020B0503020204020204" pitchFamily="34" charset="-122"/>
                <a:ea typeface="Microsoft YaHei" panose="020B0503020204020204" pitchFamily="34" charset="-122"/>
              </a:rPr>
              <a:t>A</a:t>
            </a:r>
            <a:r>
              <a:rPr lang="en-US" altLang="zh-CN" sz="1500" baseline="-25000" dirty="0">
                <a:latin typeface="Microsoft YaHei" panose="020B0503020204020204" pitchFamily="34" charset="-122"/>
                <a:ea typeface="Microsoft YaHei" panose="020B0503020204020204" pitchFamily="34" charset="-122"/>
              </a:rPr>
              <a:t>n</a:t>
            </a:r>
            <a:r>
              <a:rPr lang="zh-CN" altLang="en-US" sz="1500" dirty="0">
                <a:latin typeface="Microsoft YaHei" panose="020B0503020204020204" pitchFamily="34" charset="-122"/>
                <a:ea typeface="Microsoft YaHei" panose="020B0503020204020204" pitchFamily="34" charset="-122"/>
              </a:rPr>
              <a:t>作为</a:t>
            </a:r>
            <a:r>
              <a:rPr lang="en-US" altLang="zh-CN" sz="1500" dirty="0">
                <a:latin typeface="Microsoft YaHei" panose="020B0503020204020204" pitchFamily="34" charset="-122"/>
                <a:ea typeface="Microsoft YaHei" panose="020B0503020204020204" pitchFamily="34" charset="-122"/>
              </a:rPr>
              <a:t>ρ</a:t>
            </a:r>
            <a:r>
              <a:rPr lang="zh-CN" altLang="en-US" sz="1500" dirty="0">
                <a:latin typeface="Microsoft YaHei" panose="020B0503020204020204" pitchFamily="34" charset="-122"/>
                <a:ea typeface="Microsoft YaHei" panose="020B0503020204020204" pitchFamily="34" charset="-122"/>
              </a:rPr>
              <a:t>的一个子模式</a:t>
            </a:r>
            <a:r>
              <a:rPr lang="en-US" altLang="zh-CN" sz="1500" dirty="0">
                <a:latin typeface="Microsoft YaHei" panose="020B0503020204020204" pitchFamily="34" charset="-122"/>
                <a:ea typeface="Microsoft YaHei" panose="020B0503020204020204" pitchFamily="34" charset="-122"/>
              </a:rPr>
              <a:t>).</a:t>
            </a:r>
          </a:p>
          <a:p>
            <a:pPr marL="0" indent="0" eaLnBrk="1" hangingPunct="1">
              <a:buNone/>
            </a:pPr>
            <a:r>
              <a:rPr lang="en-US" altLang="zh-CN" sz="1500" dirty="0">
                <a:latin typeface="Microsoft YaHei" panose="020B0503020204020204" pitchFamily="34" charset="-122"/>
                <a:ea typeface="Microsoft YaHei" panose="020B0503020204020204" pitchFamily="34" charset="-122"/>
              </a:rPr>
              <a:t>  </a:t>
            </a:r>
            <a:r>
              <a:rPr lang="zh-CN" altLang="en-US" sz="1500" dirty="0">
                <a:latin typeface="Microsoft YaHei" panose="020B0503020204020204" pitchFamily="34" charset="-122"/>
                <a:ea typeface="Microsoft YaHei" panose="020B0503020204020204" pitchFamily="34" charset="-122"/>
              </a:rPr>
              <a:t>经过上述几步</a:t>
            </a:r>
            <a:r>
              <a:rPr lang="en-US" altLang="zh-CN" sz="1500" dirty="0">
                <a:latin typeface="Microsoft YaHei" panose="020B0503020204020204" pitchFamily="34" charset="-122"/>
                <a:ea typeface="Microsoft YaHei" panose="020B0503020204020204" pitchFamily="34" charset="-122"/>
              </a:rPr>
              <a:t>,</a:t>
            </a:r>
            <a:r>
              <a:rPr lang="zh-CN" altLang="en-US" sz="1500" dirty="0">
                <a:latin typeface="Microsoft YaHei" panose="020B0503020204020204" pitchFamily="34" charset="-122"/>
                <a:ea typeface="Microsoft YaHei" panose="020B0503020204020204" pitchFamily="34" charset="-122"/>
              </a:rPr>
              <a:t>求出具有函数依赖保持性分解</a:t>
            </a:r>
            <a:r>
              <a:rPr lang="en-US" altLang="zh-CN" sz="1500" dirty="0">
                <a:latin typeface="Microsoft YaHei" panose="020B0503020204020204" pitchFamily="34" charset="-122"/>
                <a:ea typeface="Microsoft YaHei" panose="020B0503020204020204" pitchFamily="34" charset="-122"/>
              </a:rPr>
              <a:t>: ρ={R</a:t>
            </a:r>
            <a:r>
              <a:rPr lang="en-US" altLang="zh-CN" sz="1500" baseline="-25000" dirty="0">
                <a:latin typeface="Microsoft YaHei" panose="020B0503020204020204" pitchFamily="34" charset="-122"/>
                <a:ea typeface="Microsoft YaHei" panose="020B0503020204020204" pitchFamily="34" charset="-122"/>
              </a:rPr>
              <a:t>1</a:t>
            </a:r>
            <a:r>
              <a:rPr lang="zh-CN" altLang="en-US" sz="1500" dirty="0">
                <a:latin typeface="Microsoft YaHei" panose="020B0503020204020204" pitchFamily="34" charset="-122"/>
                <a:ea typeface="Microsoft YaHei" panose="020B0503020204020204" pitchFamily="34" charset="-122"/>
              </a:rPr>
              <a:t>，</a:t>
            </a:r>
            <a:r>
              <a:rPr lang="en-US" altLang="zh-CN" sz="1500" dirty="0">
                <a:latin typeface="Microsoft YaHei" panose="020B0503020204020204" pitchFamily="34" charset="-122"/>
                <a:ea typeface="Microsoft YaHei" panose="020B0503020204020204" pitchFamily="34" charset="-122"/>
              </a:rPr>
              <a:t>R</a:t>
            </a:r>
            <a:r>
              <a:rPr lang="en-US" altLang="zh-CN" sz="1500" baseline="-25000" dirty="0">
                <a:latin typeface="Microsoft YaHei" panose="020B0503020204020204" pitchFamily="34" charset="-122"/>
                <a:ea typeface="Microsoft YaHei" panose="020B0503020204020204" pitchFamily="34" charset="-122"/>
              </a:rPr>
              <a:t>2</a:t>
            </a:r>
            <a:r>
              <a:rPr lang="zh-CN" altLang="en-US" sz="1500" dirty="0">
                <a:latin typeface="Microsoft YaHei" panose="020B0503020204020204" pitchFamily="34" charset="-122"/>
                <a:ea typeface="Microsoft YaHei" panose="020B0503020204020204" pitchFamily="34" charset="-122"/>
              </a:rPr>
              <a:t>，</a:t>
            </a:r>
            <a:r>
              <a:rPr lang="en-US" altLang="zh-CN" sz="1500" dirty="0">
                <a:latin typeface="Microsoft YaHei" panose="020B0503020204020204" pitchFamily="34" charset="-122"/>
                <a:ea typeface="Microsoft YaHei" panose="020B0503020204020204" pitchFamily="34" charset="-122"/>
              </a:rPr>
              <a:t>….R</a:t>
            </a:r>
            <a:r>
              <a:rPr lang="en-US" altLang="zh-CN" sz="1500" baseline="-25000" dirty="0">
                <a:latin typeface="Microsoft YaHei" panose="020B0503020204020204" pitchFamily="34" charset="-122"/>
                <a:ea typeface="Microsoft YaHei" panose="020B0503020204020204" pitchFamily="34" charset="-122"/>
              </a:rPr>
              <a:t>K</a:t>
            </a:r>
            <a:r>
              <a:rPr lang="en-US" altLang="zh-CN" sz="1500" dirty="0">
                <a:latin typeface="Microsoft YaHei" panose="020B0503020204020204" pitchFamily="34" charset="-122"/>
                <a:ea typeface="Microsoft YaHei" panose="020B0503020204020204" pitchFamily="34" charset="-122"/>
              </a:rPr>
              <a:t>}.</a:t>
            </a:r>
          </a:p>
          <a:p>
            <a:pPr marL="0" indent="0" eaLnBrk="1" hangingPunct="1">
              <a:buNone/>
            </a:pPr>
            <a:endParaRPr lang="zh-CN" altLang="en-US" sz="1500" dirty="0">
              <a:latin typeface="Microsoft YaHei" panose="020B0503020204020204" pitchFamily="34" charset="-122"/>
              <a:ea typeface="Microsoft YaHei" panose="020B0503020204020204" pitchFamily="34" charset="-122"/>
            </a:endParaRPr>
          </a:p>
        </p:txBody>
      </p:sp>
      <p:sp>
        <p:nvSpPr>
          <p:cNvPr id="5" name="标题 4">
            <a:extLst>
              <a:ext uri="{FF2B5EF4-FFF2-40B4-BE49-F238E27FC236}">
                <a16:creationId xmlns:a16="http://schemas.microsoft.com/office/drawing/2014/main" id="{22CA75BB-949B-D48D-2642-0CC90F44D255}"/>
              </a:ext>
            </a:extLst>
          </p:cNvPr>
          <p:cNvSpPr>
            <a:spLocks noGrp="1"/>
          </p:cNvSpPr>
          <p:nvPr>
            <p:ph type="title"/>
          </p:nvPr>
        </p:nvSpPr>
        <p:spPr/>
        <p:txBody>
          <a:bodyPr/>
          <a:lstStyle/>
          <a:p>
            <a:r>
              <a:rPr lang="zh-CN" altLang="en-US" dirty="0"/>
              <a:t>关系模式的分解</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
          <p:cNvSpPr>
            <a:spLocks noGrp="1"/>
          </p:cNvSpPr>
          <p:nvPr>
            <p:ph idx="1"/>
          </p:nvPr>
        </p:nvSpPr>
        <p:spPr/>
        <p:txBody>
          <a:bodyPr vert="horz" wrap="square" lIns="68580" tIns="34290" rIns="68580" bIns="34290" anchor="t" anchorCtr="0">
            <a:normAutofit/>
          </a:bodyPr>
          <a:lstStyle/>
          <a:p>
            <a:pPr marL="0" indent="0">
              <a:buNone/>
            </a:pPr>
            <a:r>
              <a:rPr lang="en-US" altLang="zh-CN" sz="1800" dirty="0"/>
              <a:t>(5) </a:t>
            </a:r>
            <a:r>
              <a:rPr lang="zh-CN" altLang="en-US" sz="1800" dirty="0">
                <a:solidFill>
                  <a:schemeClr val="hlink"/>
                </a:solidFill>
              </a:rPr>
              <a:t>添键</a:t>
            </a:r>
            <a:r>
              <a:rPr lang="en-US" altLang="zh-CN" sz="1800" dirty="0">
                <a:solidFill>
                  <a:schemeClr val="hlink"/>
                </a:solidFill>
              </a:rPr>
              <a:t>.</a:t>
            </a:r>
            <a:r>
              <a:rPr lang="en-US" altLang="zh-CN" sz="1800" dirty="0"/>
              <a:t> </a:t>
            </a:r>
            <a:r>
              <a:rPr lang="zh-CN" altLang="en-US" sz="1800" dirty="0"/>
              <a:t>若</a:t>
            </a:r>
            <a:r>
              <a:rPr lang="en-US" altLang="zh-CN" sz="1800" dirty="0"/>
              <a:t>ρ</a:t>
            </a:r>
            <a:r>
              <a:rPr lang="zh-CN" altLang="en-US" sz="1800" dirty="0"/>
              <a:t>中没有一个子模式含</a:t>
            </a:r>
            <a:r>
              <a:rPr lang="en-US" altLang="zh-CN" sz="1800" dirty="0"/>
              <a:t>R</a:t>
            </a:r>
            <a:r>
              <a:rPr lang="zh-CN" altLang="en-US" sz="1800" dirty="0"/>
              <a:t>的侯选键</a:t>
            </a:r>
            <a:r>
              <a:rPr lang="en-US" altLang="zh-CN" sz="1800" dirty="0"/>
              <a:t>X,</a:t>
            </a:r>
            <a:r>
              <a:rPr lang="zh-CN" altLang="en-US" sz="1800" dirty="0"/>
              <a:t>则令</a:t>
            </a:r>
            <a:r>
              <a:rPr lang="en-US" altLang="zh-CN" sz="1800" dirty="0"/>
              <a:t>ρ= ρ∪{X};</a:t>
            </a:r>
            <a:r>
              <a:rPr lang="zh-CN" altLang="en-US" sz="1800" dirty="0"/>
              <a:t>若存在</a:t>
            </a:r>
            <a:r>
              <a:rPr lang="en-US" altLang="zh-CN" sz="1800" dirty="0"/>
              <a:t>R</a:t>
            </a:r>
            <a:r>
              <a:rPr lang="en-US" altLang="zh-CN" sz="1800" baseline="-25000" dirty="0"/>
              <a:t>i</a:t>
            </a:r>
            <a:r>
              <a:rPr lang="en-US" altLang="zh-CN" sz="1800" dirty="0"/>
              <a:t> ⊆R</a:t>
            </a:r>
            <a:r>
              <a:rPr lang="en-US" altLang="zh-CN" sz="1800" baseline="-25000" dirty="0"/>
              <a:t>j</a:t>
            </a:r>
            <a:r>
              <a:rPr lang="en-US" altLang="zh-CN" sz="1800" dirty="0"/>
              <a:t>(i≠j),</a:t>
            </a:r>
            <a:r>
              <a:rPr lang="zh-CN" altLang="en-US" sz="1800" dirty="0"/>
              <a:t>则</a:t>
            </a:r>
            <a:r>
              <a:rPr lang="zh-CN" altLang="en-US" sz="1800" dirty="0">
                <a:solidFill>
                  <a:srgbClr val="FF0000"/>
                </a:solidFill>
              </a:rPr>
              <a:t>删去</a:t>
            </a:r>
            <a:r>
              <a:rPr lang="en-US" altLang="zh-CN" sz="1800" dirty="0"/>
              <a:t>R</a:t>
            </a:r>
            <a:r>
              <a:rPr lang="en-US" altLang="zh-CN" sz="1800" baseline="-25000" dirty="0"/>
              <a:t>i</a:t>
            </a:r>
            <a:r>
              <a:rPr lang="en-US" altLang="zh-CN" sz="1800" dirty="0"/>
              <a:t>.</a:t>
            </a:r>
          </a:p>
          <a:p>
            <a:pPr marL="0" indent="0">
              <a:buNone/>
            </a:pPr>
            <a:r>
              <a:rPr lang="en-US" altLang="zh-CN" sz="1800" dirty="0"/>
              <a:t>(6) </a:t>
            </a:r>
            <a:r>
              <a:rPr lang="zh-CN" altLang="en-US" sz="1800" dirty="0"/>
              <a:t>停止分解</a:t>
            </a:r>
            <a:r>
              <a:rPr lang="en-US" altLang="zh-CN" sz="1800" dirty="0"/>
              <a:t>,</a:t>
            </a:r>
            <a:r>
              <a:rPr lang="zh-CN" altLang="en-US" sz="1800" dirty="0"/>
              <a:t>输出</a:t>
            </a:r>
            <a:r>
              <a:rPr lang="en-US" altLang="zh-CN" sz="1800" dirty="0" err="1"/>
              <a:t>ρ</a:t>
            </a:r>
            <a:r>
              <a:rPr lang="en-US" altLang="zh-CN" sz="1800" dirty="0"/>
              <a:t>.</a:t>
            </a:r>
          </a:p>
          <a:p>
            <a:pPr marL="0" indent="0">
              <a:buNone/>
            </a:pPr>
            <a:r>
              <a:rPr lang="en-US" altLang="zh-CN" sz="1800" dirty="0"/>
              <a:t>     </a:t>
            </a:r>
            <a:endParaRPr lang="zh-CN" altLang="en-US" sz="1800" dirty="0"/>
          </a:p>
          <a:p>
            <a:pPr marL="0" indent="0">
              <a:buNone/>
            </a:pPr>
            <a:endParaRPr lang="zh-CN" altLang="en-US" sz="1800" dirty="0"/>
          </a:p>
        </p:txBody>
      </p:sp>
      <p:sp>
        <p:nvSpPr>
          <p:cNvPr id="3" name="标题 2">
            <a:extLst>
              <a:ext uri="{FF2B5EF4-FFF2-40B4-BE49-F238E27FC236}">
                <a16:creationId xmlns:a16="http://schemas.microsoft.com/office/drawing/2014/main" id="{8D1798DF-2F0F-79B0-33EB-552103FD1A12}"/>
              </a:ext>
            </a:extLst>
          </p:cNvPr>
          <p:cNvSpPr>
            <a:spLocks noGrp="1"/>
          </p:cNvSpPr>
          <p:nvPr>
            <p:ph type="title"/>
          </p:nvPr>
        </p:nvSpPr>
        <p:spPr/>
        <p:txBody>
          <a:bodyPr/>
          <a:lstStyle/>
          <a:p>
            <a:r>
              <a:rPr lang="zh-CN" altLang="en-US" dirty="0"/>
              <a:t>关系模式的分解</a:t>
            </a: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3"/>
          <p:cNvSpPr>
            <a:spLocks noGrp="1"/>
          </p:cNvSpPr>
          <p:nvPr>
            <p:ph idx="1"/>
          </p:nvPr>
        </p:nvSpPr>
        <p:spPr>
          <a:xfrm>
            <a:off x="628650" y="1253549"/>
            <a:ext cx="7886700" cy="3500770"/>
          </a:xfrm>
        </p:spPr>
        <p:txBody>
          <a:bodyPr vert="horz" wrap="square" lIns="68580" tIns="34290" rIns="68580" bIns="34290" anchor="t" anchorCtr="0">
            <a:normAutofit fontScale="92500" lnSpcReduction="10000"/>
          </a:bodyPr>
          <a:lstStyle/>
          <a:p>
            <a:pPr marL="0" indent="0" algn="just">
              <a:buNone/>
            </a:pPr>
            <a:r>
              <a:rPr lang="zh-CN" altLang="en-US" sz="1800" dirty="0">
                <a:solidFill>
                  <a:schemeClr val="hlink"/>
                </a:solidFill>
              </a:rPr>
              <a:t>【例】</a:t>
            </a:r>
            <a:r>
              <a:rPr lang="zh-CN" altLang="en-US" sz="1800" dirty="0"/>
              <a:t>设有关系模式</a:t>
            </a:r>
            <a:r>
              <a:rPr lang="en-US" altLang="zh-CN" sz="1800" dirty="0"/>
              <a:t>R&lt;U,F&gt;,U={E</a:t>
            </a:r>
            <a:r>
              <a:rPr lang="zh-CN" altLang="en-US" sz="1800" dirty="0"/>
              <a:t>，</a:t>
            </a:r>
            <a:r>
              <a:rPr lang="en-US" altLang="zh-CN" sz="1800" dirty="0"/>
              <a:t>G</a:t>
            </a:r>
            <a:r>
              <a:rPr lang="zh-CN" altLang="en-US" sz="1800" dirty="0"/>
              <a:t>，</a:t>
            </a:r>
            <a:r>
              <a:rPr lang="en-US" altLang="zh-CN" sz="1800" dirty="0"/>
              <a:t>H</a:t>
            </a:r>
            <a:r>
              <a:rPr lang="zh-CN" altLang="en-US" sz="1800" dirty="0"/>
              <a:t>，</a:t>
            </a:r>
            <a:r>
              <a:rPr lang="en-US" altLang="zh-CN" sz="1800" dirty="0"/>
              <a:t>I</a:t>
            </a:r>
            <a:r>
              <a:rPr lang="zh-CN" altLang="en-US" sz="1800" dirty="0"/>
              <a:t>，</a:t>
            </a:r>
            <a:r>
              <a:rPr lang="en-US" altLang="zh-CN" sz="1800" dirty="0"/>
              <a:t>J}</a:t>
            </a:r>
            <a:r>
              <a:rPr lang="zh-CN" altLang="en-US" sz="1800" dirty="0"/>
              <a:t>，</a:t>
            </a:r>
            <a:endParaRPr lang="en-US" altLang="zh-CN" sz="1800" dirty="0"/>
          </a:p>
          <a:p>
            <a:pPr marL="0" indent="0" algn="just">
              <a:buNone/>
            </a:pPr>
            <a:r>
              <a:rPr lang="en-US" altLang="zh-CN" sz="1800" dirty="0"/>
              <a:t>F={E</a:t>
            </a:r>
            <a:r>
              <a:rPr lang="zh-CN" altLang="en-US" sz="1800" dirty="0"/>
              <a:t>→</a:t>
            </a:r>
            <a:r>
              <a:rPr lang="en-US" altLang="zh-CN" sz="1800" dirty="0"/>
              <a:t>I,</a:t>
            </a:r>
            <a:r>
              <a:rPr lang="zh-CN" altLang="en-US" sz="1800" dirty="0"/>
              <a:t> </a:t>
            </a:r>
            <a:r>
              <a:rPr lang="en-US" altLang="zh-CN" sz="1800" dirty="0"/>
              <a:t>J</a:t>
            </a:r>
            <a:r>
              <a:rPr lang="zh-CN" altLang="en-US" sz="1800" dirty="0"/>
              <a:t>→</a:t>
            </a:r>
            <a:r>
              <a:rPr lang="en-US" altLang="zh-CN" sz="1800" dirty="0"/>
              <a:t>I,</a:t>
            </a:r>
            <a:r>
              <a:rPr lang="zh-CN" altLang="en-US" sz="1800" dirty="0"/>
              <a:t> </a:t>
            </a:r>
            <a:r>
              <a:rPr lang="en-US" altLang="zh-CN" sz="1800" dirty="0"/>
              <a:t>I</a:t>
            </a:r>
            <a:r>
              <a:rPr lang="zh-CN" altLang="en-US" sz="1800" dirty="0"/>
              <a:t>→</a:t>
            </a:r>
            <a:r>
              <a:rPr lang="en-US" altLang="zh-CN" sz="1800" dirty="0"/>
              <a:t>G,</a:t>
            </a:r>
            <a:r>
              <a:rPr lang="zh-CN" altLang="en-US" sz="1800" dirty="0"/>
              <a:t> </a:t>
            </a:r>
            <a:r>
              <a:rPr lang="en-US" altLang="zh-CN" sz="1800" dirty="0"/>
              <a:t>GH</a:t>
            </a:r>
            <a:r>
              <a:rPr lang="zh-CN" altLang="en-US" sz="1800" dirty="0"/>
              <a:t>→</a:t>
            </a:r>
            <a:r>
              <a:rPr lang="en-US" altLang="zh-CN" sz="1800" dirty="0"/>
              <a:t>I,</a:t>
            </a:r>
            <a:r>
              <a:rPr lang="zh-CN" altLang="en-US" sz="1800" dirty="0"/>
              <a:t> </a:t>
            </a:r>
            <a:r>
              <a:rPr lang="en-US" altLang="zh-CN" sz="1800" dirty="0"/>
              <a:t>IH</a:t>
            </a:r>
            <a:r>
              <a:rPr lang="zh-CN" altLang="en-US" sz="1800" dirty="0"/>
              <a:t>→</a:t>
            </a:r>
            <a:r>
              <a:rPr lang="en-US" altLang="zh-CN" sz="1800" dirty="0"/>
              <a:t>E},</a:t>
            </a:r>
            <a:r>
              <a:rPr lang="zh-CN" altLang="en-US" sz="1800" dirty="0"/>
              <a:t>求其保持函数依赖和无损连接的</a:t>
            </a:r>
            <a:r>
              <a:rPr lang="en-US" altLang="zh-CN" sz="1800" dirty="0"/>
              <a:t>3NF</a:t>
            </a:r>
            <a:r>
              <a:rPr lang="zh-CN" altLang="en-US" sz="1800" dirty="0"/>
              <a:t>分解。</a:t>
            </a:r>
            <a:endParaRPr lang="en-US" altLang="zh-CN" sz="1800" dirty="0"/>
          </a:p>
          <a:p>
            <a:pPr marL="0" indent="0" algn="just">
              <a:buNone/>
            </a:pPr>
            <a:endParaRPr lang="en-US" altLang="zh-CN" sz="1800" dirty="0"/>
          </a:p>
          <a:p>
            <a:pPr marL="0" indent="0">
              <a:buNone/>
            </a:pPr>
            <a:r>
              <a:rPr lang="zh-CN" altLang="en-US" sz="1800" dirty="0"/>
              <a:t>解</a:t>
            </a:r>
            <a:r>
              <a:rPr lang="en-US" altLang="zh-CN" sz="1800" dirty="0"/>
              <a:t>:</a:t>
            </a:r>
            <a:r>
              <a:rPr lang="zh-CN" altLang="en-US" sz="1800" dirty="0"/>
              <a:t>求出最小函数依赖集</a:t>
            </a:r>
            <a:r>
              <a:rPr lang="en-US" altLang="zh-CN" sz="1800" dirty="0">
                <a:solidFill>
                  <a:srgbClr val="FF0000"/>
                </a:solidFill>
              </a:rPr>
              <a:t>Fm</a:t>
            </a:r>
            <a:r>
              <a:rPr lang="en-US" altLang="zh-CN" sz="1800" dirty="0"/>
              <a:t>={E</a:t>
            </a:r>
            <a:r>
              <a:rPr lang="zh-CN" altLang="en-US" sz="1800" dirty="0"/>
              <a:t>→</a:t>
            </a:r>
            <a:r>
              <a:rPr lang="en-US" altLang="zh-CN" sz="1800" dirty="0"/>
              <a:t>I,J</a:t>
            </a:r>
            <a:r>
              <a:rPr lang="zh-CN" altLang="en-US" sz="1800" dirty="0"/>
              <a:t>→</a:t>
            </a:r>
            <a:r>
              <a:rPr lang="en-US" altLang="zh-CN" sz="1800" dirty="0"/>
              <a:t>I,I</a:t>
            </a:r>
            <a:r>
              <a:rPr lang="zh-CN" altLang="en-US" sz="1800" dirty="0"/>
              <a:t>→</a:t>
            </a:r>
            <a:r>
              <a:rPr lang="en-US" altLang="zh-CN" sz="1800" dirty="0"/>
              <a:t>G,GH</a:t>
            </a:r>
            <a:r>
              <a:rPr lang="zh-CN" altLang="en-US" sz="1800" dirty="0"/>
              <a:t>→</a:t>
            </a:r>
            <a:r>
              <a:rPr lang="en-US" altLang="zh-CN" sz="1800" dirty="0"/>
              <a:t>I,IH</a:t>
            </a:r>
            <a:r>
              <a:rPr lang="zh-CN" altLang="en-US" sz="1800" dirty="0"/>
              <a:t>→</a:t>
            </a:r>
            <a:r>
              <a:rPr lang="en-US" altLang="zh-CN" sz="1800" dirty="0"/>
              <a:t>E},</a:t>
            </a:r>
          </a:p>
          <a:p>
            <a:pPr marL="0" indent="0">
              <a:buNone/>
            </a:pPr>
            <a:r>
              <a:rPr lang="en-US" altLang="zh-CN" sz="1800" dirty="0"/>
              <a:t>    L</a:t>
            </a:r>
            <a:r>
              <a:rPr lang="zh-CN" altLang="en-US" sz="1800" dirty="0"/>
              <a:t>类</a:t>
            </a:r>
            <a:r>
              <a:rPr lang="en-US" altLang="zh-CN" sz="1800" dirty="0"/>
              <a:t>:J,H</a:t>
            </a:r>
          </a:p>
          <a:p>
            <a:pPr marL="0" indent="0">
              <a:buNone/>
            </a:pPr>
            <a:r>
              <a:rPr lang="en-US" altLang="zh-CN" sz="1800" dirty="0">
                <a:solidFill>
                  <a:schemeClr val="bg2"/>
                </a:solidFill>
              </a:rPr>
              <a:t>   </a:t>
            </a:r>
            <a:r>
              <a:rPr lang="en-US" altLang="zh-CN" sz="1800" dirty="0"/>
              <a:t>(JH)</a:t>
            </a:r>
            <a:r>
              <a:rPr lang="en-US" altLang="zh-CN" sz="1800" baseline="30000" dirty="0"/>
              <a:t>+</a:t>
            </a:r>
            <a:r>
              <a:rPr lang="en-US" altLang="zh-CN" sz="1800" dirty="0"/>
              <a:t>=JHIGE=U</a:t>
            </a:r>
            <a:r>
              <a:rPr lang="zh-CN" altLang="en-US" sz="1800" dirty="0"/>
              <a:t>，</a:t>
            </a:r>
            <a:r>
              <a:rPr lang="en-US" altLang="zh-CN" sz="1800" dirty="0"/>
              <a:t>R</a:t>
            </a:r>
            <a:r>
              <a:rPr lang="zh-CN" altLang="en-US" sz="1800" dirty="0"/>
              <a:t>唯一的</a:t>
            </a:r>
            <a:r>
              <a:rPr lang="zh-CN" altLang="en-US" sz="1800" dirty="0">
                <a:solidFill>
                  <a:srgbClr val="FF0000"/>
                </a:solidFill>
              </a:rPr>
              <a:t>候选键</a:t>
            </a:r>
            <a:r>
              <a:rPr lang="en-US" altLang="zh-CN" sz="1800" dirty="0"/>
              <a:t>JH</a:t>
            </a:r>
          </a:p>
          <a:p>
            <a:pPr marL="0" indent="0">
              <a:buNone/>
            </a:pPr>
            <a:r>
              <a:rPr lang="zh-CN" altLang="en-US" sz="1800" dirty="0">
                <a:solidFill>
                  <a:srgbClr val="FF0000"/>
                </a:solidFill>
              </a:rPr>
              <a:t>   分解</a:t>
            </a:r>
            <a:r>
              <a:rPr lang="zh-CN" altLang="en-US" sz="1800" dirty="0"/>
              <a:t>为  </a:t>
            </a:r>
            <a:r>
              <a:rPr lang="en-US" altLang="zh-CN" sz="1800" dirty="0"/>
              <a:t>ρ={EI</a:t>
            </a:r>
            <a:r>
              <a:rPr lang="zh-CN" altLang="en-US" sz="1800" dirty="0"/>
              <a:t>，</a:t>
            </a:r>
            <a:r>
              <a:rPr lang="en-US" altLang="zh-CN" sz="1800" dirty="0"/>
              <a:t>JI</a:t>
            </a:r>
            <a:r>
              <a:rPr lang="zh-CN" altLang="en-US" sz="1800" dirty="0"/>
              <a:t>，</a:t>
            </a:r>
            <a:r>
              <a:rPr lang="en-US" altLang="zh-CN" sz="1800" dirty="0"/>
              <a:t>IG</a:t>
            </a:r>
            <a:r>
              <a:rPr lang="zh-CN" altLang="en-US" sz="1800" dirty="0"/>
              <a:t>，</a:t>
            </a:r>
            <a:r>
              <a:rPr lang="en-US" altLang="zh-CN" sz="1800" dirty="0"/>
              <a:t>GHI</a:t>
            </a:r>
            <a:r>
              <a:rPr lang="zh-CN" altLang="en-US" sz="1800" dirty="0"/>
              <a:t>，</a:t>
            </a:r>
            <a:r>
              <a:rPr lang="en-US" altLang="zh-CN" sz="1800" dirty="0"/>
              <a:t>IHE}</a:t>
            </a:r>
          </a:p>
          <a:p>
            <a:pPr marL="0" indent="0">
              <a:buNone/>
            </a:pPr>
            <a:r>
              <a:rPr lang="zh-CN" altLang="en-US" sz="1800" dirty="0">
                <a:solidFill>
                  <a:schemeClr val="hlink"/>
                </a:solidFill>
              </a:rPr>
              <a:t>   添键</a:t>
            </a:r>
            <a:r>
              <a:rPr lang="en-US" altLang="zh-CN" sz="1800" dirty="0">
                <a:solidFill>
                  <a:schemeClr val="hlink"/>
                </a:solidFill>
              </a:rPr>
              <a:t>:</a:t>
            </a:r>
            <a:r>
              <a:rPr lang="en-US" altLang="zh-CN" sz="1800" dirty="0"/>
              <a:t>{EI</a:t>
            </a:r>
            <a:r>
              <a:rPr lang="zh-CN" altLang="en-US" sz="1800" dirty="0"/>
              <a:t>，</a:t>
            </a:r>
            <a:r>
              <a:rPr lang="en-US" altLang="zh-CN" sz="1800" dirty="0"/>
              <a:t>JI</a:t>
            </a:r>
            <a:r>
              <a:rPr lang="zh-CN" altLang="en-US" sz="1800" dirty="0"/>
              <a:t>，</a:t>
            </a:r>
            <a:r>
              <a:rPr lang="en-US" altLang="zh-CN" sz="1800" dirty="0"/>
              <a:t>IG</a:t>
            </a:r>
            <a:r>
              <a:rPr lang="zh-CN" altLang="en-US" sz="1800" dirty="0"/>
              <a:t>，</a:t>
            </a:r>
            <a:r>
              <a:rPr lang="en-US" altLang="zh-CN" sz="1800" dirty="0"/>
              <a:t> GHI</a:t>
            </a:r>
            <a:r>
              <a:rPr lang="zh-CN" altLang="en-US" sz="1800" dirty="0"/>
              <a:t>，</a:t>
            </a:r>
            <a:r>
              <a:rPr lang="en-US" altLang="zh-CN" sz="1800" dirty="0"/>
              <a:t>IHE</a:t>
            </a:r>
            <a:r>
              <a:rPr lang="zh-CN" altLang="en-US" sz="1800" dirty="0"/>
              <a:t>，</a:t>
            </a:r>
            <a:r>
              <a:rPr lang="en-US" altLang="zh-CN" sz="1800" dirty="0"/>
              <a:t>JH}   </a:t>
            </a:r>
          </a:p>
          <a:p>
            <a:pPr marL="0" indent="0">
              <a:buNone/>
            </a:pPr>
            <a:r>
              <a:rPr lang="en-US" altLang="zh-CN" sz="1800" dirty="0"/>
              <a:t>   ∵EI⊆IHE,IG⊆GHI</a:t>
            </a:r>
            <a:r>
              <a:rPr lang="zh-CN" altLang="en-US" sz="1800" dirty="0">
                <a:solidFill>
                  <a:srgbClr val="FF0000"/>
                </a:solidFill>
              </a:rPr>
              <a:t>去掉</a:t>
            </a:r>
            <a:r>
              <a:rPr lang="zh-CN" altLang="en-US" sz="1800" dirty="0"/>
              <a:t>。</a:t>
            </a:r>
            <a:r>
              <a:rPr lang="en-US" altLang="zh-CN" sz="1800" dirty="0"/>
              <a:t> </a:t>
            </a:r>
          </a:p>
          <a:p>
            <a:pPr marL="0" indent="0">
              <a:buNone/>
            </a:pPr>
            <a:r>
              <a:rPr lang="en-US" altLang="zh-CN" sz="1800" dirty="0">
                <a:solidFill>
                  <a:schemeClr val="bg2"/>
                </a:solidFill>
              </a:rPr>
              <a:t>  ∴</a:t>
            </a:r>
            <a:r>
              <a:rPr lang="zh-CN" altLang="en-US" sz="1800" dirty="0"/>
              <a:t>保持函数依赖和无损连接的的</a:t>
            </a:r>
            <a:r>
              <a:rPr lang="en-US" altLang="zh-CN" sz="1800" dirty="0"/>
              <a:t>3NF</a:t>
            </a:r>
            <a:r>
              <a:rPr lang="zh-CN" altLang="en-US" sz="1800" dirty="0"/>
              <a:t>分解</a:t>
            </a:r>
            <a:r>
              <a:rPr lang="en-US" altLang="zh-CN" sz="1800" dirty="0"/>
              <a:t>:</a:t>
            </a:r>
            <a:r>
              <a:rPr lang="en-US" altLang="zh-CN" sz="1800" dirty="0">
                <a:solidFill>
                  <a:srgbClr val="FF0000"/>
                </a:solidFill>
              </a:rPr>
              <a:t>{JI</a:t>
            </a:r>
            <a:r>
              <a:rPr lang="zh-CN" altLang="en-US" sz="1800" dirty="0">
                <a:solidFill>
                  <a:srgbClr val="FF0000"/>
                </a:solidFill>
              </a:rPr>
              <a:t>，</a:t>
            </a:r>
            <a:r>
              <a:rPr lang="en-US" altLang="zh-CN" sz="1800" dirty="0">
                <a:solidFill>
                  <a:srgbClr val="FF0000"/>
                </a:solidFill>
              </a:rPr>
              <a:t> GHI</a:t>
            </a:r>
            <a:r>
              <a:rPr lang="zh-CN" altLang="en-US" sz="1800" dirty="0">
                <a:solidFill>
                  <a:srgbClr val="FF0000"/>
                </a:solidFill>
              </a:rPr>
              <a:t>，</a:t>
            </a:r>
            <a:r>
              <a:rPr lang="en-US" altLang="zh-CN" sz="1800" dirty="0">
                <a:solidFill>
                  <a:srgbClr val="FF0000"/>
                </a:solidFill>
              </a:rPr>
              <a:t>IHE</a:t>
            </a:r>
            <a:r>
              <a:rPr lang="zh-CN" altLang="en-US" sz="1800" dirty="0">
                <a:solidFill>
                  <a:srgbClr val="FF0000"/>
                </a:solidFill>
              </a:rPr>
              <a:t>，</a:t>
            </a:r>
            <a:r>
              <a:rPr lang="en-US" altLang="zh-CN" sz="1800" dirty="0">
                <a:solidFill>
                  <a:srgbClr val="FF0000"/>
                </a:solidFill>
              </a:rPr>
              <a:t>JH}</a:t>
            </a:r>
          </a:p>
        </p:txBody>
      </p:sp>
      <p:sp>
        <p:nvSpPr>
          <p:cNvPr id="3" name="标题 2">
            <a:extLst>
              <a:ext uri="{FF2B5EF4-FFF2-40B4-BE49-F238E27FC236}">
                <a16:creationId xmlns:a16="http://schemas.microsoft.com/office/drawing/2014/main" id="{2F862ABD-5CE6-8D8F-AE17-61818214B9F6}"/>
              </a:ext>
            </a:extLst>
          </p:cNvPr>
          <p:cNvSpPr>
            <a:spLocks noGrp="1"/>
          </p:cNvSpPr>
          <p:nvPr>
            <p:ph type="title"/>
          </p:nvPr>
        </p:nvSpPr>
        <p:spPr/>
        <p:txBody>
          <a:bodyPr/>
          <a:lstStyle/>
          <a:p>
            <a:r>
              <a:rPr lang="zh-CN" altLang="en-US" dirty="0"/>
              <a:t>关系模式的分解</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330">
                                            <p:txEl>
                                              <p:charRg st="200" end="2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3"/>
          <p:cNvSpPr>
            <a:spLocks noGrp="1"/>
          </p:cNvSpPr>
          <p:nvPr>
            <p:ph idx="1"/>
          </p:nvPr>
        </p:nvSpPr>
        <p:spPr/>
        <p:txBody>
          <a:bodyPr vert="horz" wrap="square" lIns="68580" tIns="34290" rIns="68580" bIns="34290" anchor="t" anchorCtr="0">
            <a:noAutofit/>
          </a:bodyPr>
          <a:lstStyle/>
          <a:p>
            <a:pPr marL="0" indent="0" algn="just">
              <a:spcBef>
                <a:spcPts val="0"/>
              </a:spcBef>
              <a:buNone/>
            </a:pPr>
            <a:r>
              <a:rPr lang="en-US" altLang="zh-CN" sz="1800" dirty="0">
                <a:solidFill>
                  <a:schemeClr val="hlink"/>
                </a:solidFill>
              </a:rPr>
              <a:t>【</a:t>
            </a:r>
            <a:r>
              <a:rPr lang="zh-CN" altLang="en-US" sz="1800" dirty="0">
                <a:solidFill>
                  <a:schemeClr val="hlink"/>
                </a:solidFill>
              </a:rPr>
              <a:t>例</a:t>
            </a:r>
            <a:r>
              <a:rPr lang="en-US" altLang="zh-CN" sz="1800" dirty="0">
                <a:solidFill>
                  <a:schemeClr val="hlink"/>
                </a:solidFill>
              </a:rPr>
              <a:t>】</a:t>
            </a:r>
            <a:r>
              <a:rPr lang="zh-CN" altLang="en-US" sz="1800" dirty="0"/>
              <a:t>设</a:t>
            </a:r>
            <a:r>
              <a:rPr lang="en-US" altLang="zh-CN" sz="1800" dirty="0"/>
              <a:t>R(A,B,C,D,E,G),</a:t>
            </a:r>
            <a:r>
              <a:rPr lang="zh-CN" altLang="en-US" sz="1800" dirty="0"/>
              <a:t> </a:t>
            </a:r>
            <a:r>
              <a:rPr lang="en-US" altLang="zh-CN" sz="1800" dirty="0"/>
              <a:t>F={AB</a:t>
            </a:r>
            <a:r>
              <a:rPr lang="zh-CN" altLang="en-US" sz="1800" dirty="0"/>
              <a:t>→</a:t>
            </a:r>
            <a:r>
              <a:rPr lang="en-US" altLang="zh-CN" sz="1800" dirty="0"/>
              <a:t>C,</a:t>
            </a:r>
            <a:r>
              <a:rPr lang="zh-CN" altLang="en-US" sz="1800" dirty="0"/>
              <a:t> </a:t>
            </a:r>
            <a:r>
              <a:rPr lang="en-US" altLang="zh-CN" sz="1800" dirty="0"/>
              <a:t>C</a:t>
            </a:r>
            <a:r>
              <a:rPr lang="zh-CN" altLang="en-US" sz="1800" dirty="0"/>
              <a:t>→</a:t>
            </a:r>
            <a:r>
              <a:rPr lang="en-US" altLang="zh-CN" sz="1800" dirty="0"/>
              <a:t>D,</a:t>
            </a:r>
            <a:r>
              <a:rPr lang="zh-CN" altLang="en-US" sz="1800" dirty="0"/>
              <a:t> </a:t>
            </a:r>
            <a:r>
              <a:rPr lang="en-US" altLang="zh-CN" sz="1800" dirty="0"/>
              <a:t>CA</a:t>
            </a:r>
            <a:r>
              <a:rPr lang="zh-CN" altLang="en-US" sz="1800" dirty="0"/>
              <a:t>→</a:t>
            </a:r>
            <a:r>
              <a:rPr lang="en-US" altLang="zh-CN" sz="1800" dirty="0"/>
              <a:t>E,</a:t>
            </a:r>
            <a:r>
              <a:rPr lang="zh-CN" altLang="en-US" sz="1800" dirty="0"/>
              <a:t> </a:t>
            </a:r>
            <a:r>
              <a:rPr lang="en-US" altLang="zh-CN" sz="1800" dirty="0"/>
              <a:t>E</a:t>
            </a:r>
            <a:r>
              <a:rPr lang="zh-CN" altLang="en-US" sz="1800" dirty="0"/>
              <a:t>→</a:t>
            </a:r>
            <a:r>
              <a:rPr lang="en-US" altLang="zh-CN" sz="1800" dirty="0"/>
              <a:t>A,</a:t>
            </a:r>
            <a:r>
              <a:rPr lang="zh-CN" altLang="en-US" sz="1800" dirty="0"/>
              <a:t> </a:t>
            </a:r>
            <a:r>
              <a:rPr lang="en-US" altLang="zh-CN" sz="1800" dirty="0"/>
              <a:t>BD</a:t>
            </a:r>
            <a:r>
              <a:rPr lang="zh-CN" altLang="en-US" sz="1800" dirty="0"/>
              <a:t>→</a:t>
            </a:r>
            <a:r>
              <a:rPr lang="en-US" altLang="zh-CN" sz="1800" dirty="0"/>
              <a:t>A,</a:t>
            </a:r>
            <a:r>
              <a:rPr lang="zh-CN" altLang="en-US" sz="1800" dirty="0"/>
              <a:t> </a:t>
            </a:r>
            <a:r>
              <a:rPr lang="en-US" altLang="zh-CN" sz="1800" dirty="0"/>
              <a:t>B</a:t>
            </a:r>
            <a:r>
              <a:rPr lang="zh-CN" altLang="en-US" sz="1800" dirty="0"/>
              <a:t>→</a:t>
            </a:r>
            <a:r>
              <a:rPr lang="en-US" altLang="zh-CN" sz="1800" dirty="0"/>
              <a:t>C},</a:t>
            </a:r>
            <a:r>
              <a:rPr lang="zh-CN" altLang="en-US" sz="1800" dirty="0"/>
              <a:t> 求其保持函数依赖和无损连接的</a:t>
            </a:r>
            <a:r>
              <a:rPr lang="en-US" altLang="zh-CN" sz="1800" dirty="0"/>
              <a:t>3NF</a:t>
            </a:r>
            <a:r>
              <a:rPr lang="zh-CN" altLang="en-US" sz="1800" dirty="0"/>
              <a:t>分解。</a:t>
            </a:r>
          </a:p>
          <a:p>
            <a:pPr marL="0" indent="0" algn="just">
              <a:spcBef>
                <a:spcPts val="0"/>
              </a:spcBef>
              <a:buNone/>
            </a:pPr>
            <a:r>
              <a:rPr lang="en-US" altLang="zh-CN" sz="1800" dirty="0"/>
              <a:t> </a:t>
            </a:r>
          </a:p>
          <a:p>
            <a:pPr marL="0" indent="0">
              <a:lnSpc>
                <a:spcPct val="100000"/>
              </a:lnSpc>
              <a:spcBef>
                <a:spcPts val="0"/>
              </a:spcBef>
              <a:buNone/>
            </a:pPr>
            <a:r>
              <a:rPr lang="zh-CN" altLang="en-US" sz="1800" dirty="0"/>
              <a:t>解</a:t>
            </a:r>
            <a:r>
              <a:rPr lang="en-US" altLang="zh-CN" sz="1800" dirty="0"/>
              <a:t>: ∵B</a:t>
            </a:r>
            <a:r>
              <a:rPr lang="zh-CN" altLang="en-US" sz="1800" dirty="0"/>
              <a:t>→</a:t>
            </a:r>
            <a:r>
              <a:rPr lang="en-US" altLang="zh-CN" sz="1800" dirty="0"/>
              <a:t>C ∴AB</a:t>
            </a:r>
            <a:r>
              <a:rPr lang="zh-CN" altLang="en-US" sz="1800" dirty="0"/>
              <a:t>→</a:t>
            </a:r>
            <a:r>
              <a:rPr lang="en-US" altLang="zh-CN" sz="1800" dirty="0"/>
              <a:t>C</a:t>
            </a:r>
            <a:r>
              <a:rPr lang="zh-CN" altLang="en-US" sz="1800" dirty="0"/>
              <a:t>多余</a:t>
            </a:r>
            <a:r>
              <a:rPr lang="en-US" altLang="zh-CN" sz="1800" dirty="0"/>
              <a:t>,</a:t>
            </a:r>
            <a:r>
              <a:rPr lang="zh-CN" altLang="en-US" sz="1800" dirty="0"/>
              <a:t>去掉。</a:t>
            </a:r>
            <a:endParaRPr lang="en-US" altLang="zh-CN" sz="1800" dirty="0"/>
          </a:p>
          <a:p>
            <a:pPr marL="0" indent="0">
              <a:lnSpc>
                <a:spcPct val="100000"/>
              </a:lnSpc>
              <a:spcBef>
                <a:spcPts val="0"/>
              </a:spcBef>
              <a:buNone/>
            </a:pPr>
            <a:r>
              <a:rPr lang="en-US" altLang="zh-CN" sz="1800" dirty="0"/>
              <a:t>    ∵B</a:t>
            </a:r>
            <a:r>
              <a:rPr lang="en-US" altLang="zh-CN" sz="1800" baseline="30000" dirty="0"/>
              <a:t>+</a:t>
            </a:r>
            <a:r>
              <a:rPr lang="en-US" altLang="zh-CN" sz="1800" dirty="0"/>
              <a:t>=BCDAE(</a:t>
            </a:r>
            <a:r>
              <a:rPr lang="zh-CN" altLang="en-US" sz="1800" dirty="0"/>
              <a:t>注意</a:t>
            </a:r>
            <a:r>
              <a:rPr lang="en-US" altLang="zh-CN" sz="1800" dirty="0"/>
              <a:t>BD</a:t>
            </a:r>
            <a:r>
              <a:rPr lang="zh-CN" altLang="en-US" sz="1800" dirty="0"/>
              <a:t>→</a:t>
            </a:r>
            <a:r>
              <a:rPr lang="en-US" altLang="zh-CN" sz="1800" dirty="0"/>
              <a:t>A</a:t>
            </a:r>
            <a:r>
              <a:rPr lang="zh-CN" altLang="en-US" sz="1800" dirty="0"/>
              <a:t>可以使用</a:t>
            </a:r>
            <a:r>
              <a:rPr lang="en-US" altLang="zh-CN" sz="1800" dirty="0"/>
              <a:t>)  ∴BD</a:t>
            </a:r>
            <a:r>
              <a:rPr lang="zh-CN" altLang="en-US" sz="1800" dirty="0"/>
              <a:t>→</a:t>
            </a:r>
            <a:r>
              <a:rPr lang="en-US" altLang="zh-CN" sz="1800" dirty="0"/>
              <a:t>A</a:t>
            </a:r>
            <a:r>
              <a:rPr lang="zh-CN" altLang="en-US" sz="1800" dirty="0"/>
              <a:t>中</a:t>
            </a:r>
            <a:r>
              <a:rPr lang="en-US" altLang="zh-CN" sz="1800" dirty="0"/>
              <a:t>D</a:t>
            </a:r>
            <a:r>
              <a:rPr lang="zh-CN" altLang="en-US" sz="1800" dirty="0"/>
              <a:t>多余</a:t>
            </a:r>
            <a:r>
              <a:rPr lang="en-US" altLang="zh-CN" sz="1800" dirty="0"/>
              <a:t>,</a:t>
            </a:r>
            <a:r>
              <a:rPr lang="zh-CN" altLang="en-US" sz="1800" dirty="0"/>
              <a:t>去掉。</a:t>
            </a:r>
            <a:endParaRPr lang="en-US" altLang="zh-CN" sz="1800" dirty="0"/>
          </a:p>
          <a:p>
            <a:pPr marL="0" indent="0">
              <a:lnSpc>
                <a:spcPct val="100000"/>
              </a:lnSpc>
              <a:spcBef>
                <a:spcPts val="0"/>
              </a:spcBef>
              <a:buNone/>
            </a:pPr>
            <a:r>
              <a:rPr lang="en-US" altLang="zh-CN" sz="1800" dirty="0"/>
              <a:t>    ∴ </a:t>
            </a:r>
            <a:r>
              <a:rPr lang="en-US" altLang="zh-CN" sz="1800" dirty="0">
                <a:solidFill>
                  <a:srgbClr val="28159B"/>
                </a:solidFill>
              </a:rPr>
              <a:t>Fm={C</a:t>
            </a:r>
            <a:r>
              <a:rPr lang="zh-CN" altLang="en-US" sz="1800" dirty="0">
                <a:solidFill>
                  <a:srgbClr val="28159B"/>
                </a:solidFill>
              </a:rPr>
              <a:t>→</a:t>
            </a:r>
            <a:r>
              <a:rPr lang="en-US" altLang="zh-CN" sz="1800" dirty="0">
                <a:solidFill>
                  <a:srgbClr val="28159B"/>
                </a:solidFill>
              </a:rPr>
              <a:t>D,CA</a:t>
            </a:r>
            <a:r>
              <a:rPr lang="zh-CN" altLang="en-US" sz="1800" dirty="0">
                <a:solidFill>
                  <a:srgbClr val="28159B"/>
                </a:solidFill>
              </a:rPr>
              <a:t>→</a:t>
            </a:r>
            <a:r>
              <a:rPr lang="en-US" altLang="zh-CN" sz="1800" dirty="0">
                <a:solidFill>
                  <a:srgbClr val="28159B"/>
                </a:solidFill>
              </a:rPr>
              <a:t>E,E</a:t>
            </a:r>
            <a:r>
              <a:rPr lang="zh-CN" altLang="en-US" sz="1800" dirty="0">
                <a:solidFill>
                  <a:srgbClr val="28159B"/>
                </a:solidFill>
              </a:rPr>
              <a:t>→</a:t>
            </a:r>
            <a:r>
              <a:rPr lang="en-US" altLang="zh-CN" sz="1800" dirty="0">
                <a:solidFill>
                  <a:srgbClr val="28159B"/>
                </a:solidFill>
              </a:rPr>
              <a:t>A,B</a:t>
            </a:r>
            <a:r>
              <a:rPr lang="zh-CN" altLang="en-US" sz="1800" dirty="0">
                <a:solidFill>
                  <a:srgbClr val="28159B"/>
                </a:solidFill>
              </a:rPr>
              <a:t>→</a:t>
            </a:r>
            <a:r>
              <a:rPr lang="en-US" altLang="zh-CN" sz="1800" dirty="0">
                <a:solidFill>
                  <a:srgbClr val="28159B"/>
                </a:solidFill>
              </a:rPr>
              <a:t>A,B</a:t>
            </a:r>
            <a:r>
              <a:rPr lang="zh-CN" altLang="en-US" sz="1800" dirty="0">
                <a:solidFill>
                  <a:srgbClr val="28159B"/>
                </a:solidFill>
              </a:rPr>
              <a:t>→</a:t>
            </a:r>
            <a:r>
              <a:rPr lang="en-US" altLang="zh-CN" sz="1800" dirty="0">
                <a:solidFill>
                  <a:srgbClr val="28159B"/>
                </a:solidFill>
              </a:rPr>
              <a:t>C}</a:t>
            </a:r>
          </a:p>
          <a:p>
            <a:pPr marL="0" indent="0">
              <a:lnSpc>
                <a:spcPct val="100000"/>
              </a:lnSpc>
              <a:spcBef>
                <a:spcPts val="0"/>
              </a:spcBef>
              <a:buNone/>
            </a:pPr>
            <a:r>
              <a:rPr lang="en-US" altLang="zh-CN" sz="1800" dirty="0">
                <a:solidFill>
                  <a:schemeClr val="bg2"/>
                </a:solidFill>
              </a:rPr>
              <a:t>     </a:t>
            </a:r>
            <a:r>
              <a:rPr lang="en-US" altLang="zh-CN" sz="1800" dirty="0"/>
              <a:t>L</a:t>
            </a:r>
            <a:r>
              <a:rPr lang="zh-CN" altLang="en-US" sz="1800" dirty="0"/>
              <a:t>类：</a:t>
            </a:r>
            <a:r>
              <a:rPr lang="en-US" altLang="zh-CN" sz="1800" dirty="0"/>
              <a:t>B      NLR</a:t>
            </a:r>
            <a:r>
              <a:rPr lang="zh-CN" altLang="en-US" sz="1800" dirty="0"/>
              <a:t>类：</a:t>
            </a:r>
            <a:r>
              <a:rPr lang="en-US" altLang="zh-CN" sz="1800" dirty="0"/>
              <a:t>G</a:t>
            </a:r>
          </a:p>
          <a:p>
            <a:pPr marL="0" indent="0">
              <a:lnSpc>
                <a:spcPct val="100000"/>
              </a:lnSpc>
              <a:spcBef>
                <a:spcPts val="0"/>
              </a:spcBef>
              <a:buNone/>
            </a:pPr>
            <a:r>
              <a:rPr lang="en-US" altLang="zh-CN" sz="1800" dirty="0"/>
              <a:t>     (BG)</a:t>
            </a:r>
            <a:r>
              <a:rPr lang="en-US" altLang="zh-CN" sz="1800" baseline="30000" dirty="0"/>
              <a:t>+</a:t>
            </a:r>
            <a:r>
              <a:rPr lang="en-US" altLang="zh-CN" sz="1800" dirty="0"/>
              <a:t>=BGCDAE=U    ∴</a:t>
            </a:r>
            <a:r>
              <a:rPr lang="en-US" altLang="zh-CN" sz="1800" dirty="0">
                <a:solidFill>
                  <a:schemeClr val="bg2"/>
                </a:solidFill>
              </a:rPr>
              <a:t> </a:t>
            </a:r>
            <a:r>
              <a:rPr lang="en-US" altLang="zh-CN" sz="1800" dirty="0">
                <a:solidFill>
                  <a:srgbClr val="28159B"/>
                </a:solidFill>
              </a:rPr>
              <a:t>BG</a:t>
            </a:r>
            <a:r>
              <a:rPr lang="zh-CN" altLang="en-US" sz="1800" dirty="0">
                <a:solidFill>
                  <a:srgbClr val="28159B"/>
                </a:solidFill>
              </a:rPr>
              <a:t>是</a:t>
            </a:r>
            <a:r>
              <a:rPr lang="en-US" altLang="zh-CN" sz="1800" dirty="0">
                <a:solidFill>
                  <a:srgbClr val="28159B"/>
                </a:solidFill>
              </a:rPr>
              <a:t>R</a:t>
            </a:r>
            <a:r>
              <a:rPr lang="zh-CN" altLang="en-US" sz="1800" dirty="0">
                <a:solidFill>
                  <a:srgbClr val="28159B"/>
                </a:solidFill>
              </a:rPr>
              <a:t>惟一的候选键</a:t>
            </a:r>
            <a:r>
              <a:rPr lang="zh-CN" altLang="en-US" sz="1800" dirty="0"/>
              <a:t>。</a:t>
            </a:r>
            <a:endParaRPr lang="en-US" altLang="zh-CN" sz="1800" dirty="0"/>
          </a:p>
          <a:p>
            <a:pPr marL="0" indent="0">
              <a:lnSpc>
                <a:spcPct val="100000"/>
              </a:lnSpc>
              <a:spcBef>
                <a:spcPts val="0"/>
              </a:spcBef>
              <a:buNone/>
            </a:pPr>
            <a:r>
              <a:rPr lang="zh-CN" altLang="en-US" sz="1800" dirty="0">
                <a:solidFill>
                  <a:schemeClr val="hlink"/>
                </a:solidFill>
              </a:rPr>
              <a:t>    独立</a:t>
            </a:r>
            <a:r>
              <a:rPr lang="en-US" altLang="zh-CN" sz="1800" dirty="0">
                <a:solidFill>
                  <a:schemeClr val="hlink"/>
                </a:solidFill>
              </a:rPr>
              <a:t>:G     </a:t>
            </a:r>
            <a:r>
              <a:rPr lang="zh-CN" altLang="en-US" sz="1800" dirty="0">
                <a:solidFill>
                  <a:schemeClr val="hlink"/>
                </a:solidFill>
              </a:rPr>
              <a:t>分组</a:t>
            </a:r>
            <a:r>
              <a:rPr lang="en-US" altLang="zh-CN" sz="1800" dirty="0">
                <a:solidFill>
                  <a:schemeClr val="hlink"/>
                </a:solidFill>
              </a:rPr>
              <a:t>:</a:t>
            </a:r>
            <a:r>
              <a:rPr lang="en-US" altLang="zh-CN" sz="1800" dirty="0"/>
              <a:t> B</a:t>
            </a:r>
            <a:r>
              <a:rPr lang="zh-CN" altLang="en-US" sz="1800" dirty="0"/>
              <a:t>→</a:t>
            </a:r>
            <a:r>
              <a:rPr lang="en-US" altLang="zh-CN" sz="1800" dirty="0"/>
              <a:t>A,B</a:t>
            </a:r>
            <a:r>
              <a:rPr lang="zh-CN" altLang="en-US" sz="1800" dirty="0"/>
              <a:t>→</a:t>
            </a:r>
            <a:r>
              <a:rPr lang="en-US" altLang="zh-CN" sz="1800" dirty="0"/>
              <a:t>C </a:t>
            </a:r>
            <a:r>
              <a:rPr lang="en-US" altLang="zh-CN" sz="1800" dirty="0">
                <a:solidFill>
                  <a:srgbClr val="FF0000"/>
                </a:solidFill>
                <a:sym typeface="Wingdings" panose="05000000000000000000" pitchFamily="2" charset="2"/>
              </a:rPr>
              <a:t></a:t>
            </a:r>
            <a:r>
              <a:rPr lang="en-US" altLang="zh-CN" sz="1800" dirty="0">
                <a:sym typeface="Wingdings" panose="05000000000000000000" pitchFamily="2" charset="2"/>
              </a:rPr>
              <a:t> B</a:t>
            </a:r>
            <a:r>
              <a:rPr lang="zh-CN" altLang="en-US" sz="1800" dirty="0"/>
              <a:t>→</a:t>
            </a:r>
            <a:r>
              <a:rPr lang="en-US" altLang="zh-CN" sz="1800" dirty="0"/>
              <a:t>AC</a:t>
            </a:r>
          </a:p>
          <a:p>
            <a:pPr marL="0" indent="0">
              <a:lnSpc>
                <a:spcPct val="100000"/>
              </a:lnSpc>
              <a:spcBef>
                <a:spcPts val="0"/>
              </a:spcBef>
              <a:buNone/>
            </a:pPr>
            <a:r>
              <a:rPr lang="zh-CN" altLang="en-US" sz="1800" dirty="0"/>
              <a:t>    </a:t>
            </a:r>
            <a:r>
              <a:rPr lang="en-US" altLang="zh-CN" sz="1800" dirty="0"/>
              <a:t>∴</a:t>
            </a:r>
            <a:r>
              <a:rPr lang="zh-CN" altLang="en-US" sz="1800" dirty="0"/>
              <a:t>保持函数依赖的</a:t>
            </a:r>
            <a:r>
              <a:rPr lang="en-US" altLang="zh-CN" sz="1800" dirty="0"/>
              <a:t>3NF</a:t>
            </a:r>
            <a:r>
              <a:rPr lang="zh-CN" altLang="en-US" sz="1800" dirty="0"/>
              <a:t>分解</a:t>
            </a:r>
            <a:r>
              <a:rPr lang="en-US" altLang="zh-CN" sz="1800" dirty="0"/>
              <a:t>:{CD,CAE,EA,BAC,G}</a:t>
            </a:r>
          </a:p>
          <a:p>
            <a:pPr marL="0" indent="0">
              <a:lnSpc>
                <a:spcPct val="100000"/>
              </a:lnSpc>
              <a:spcBef>
                <a:spcPts val="0"/>
              </a:spcBef>
              <a:buNone/>
            </a:pPr>
            <a:r>
              <a:rPr lang="zh-CN" altLang="en-US" sz="1800" dirty="0">
                <a:solidFill>
                  <a:schemeClr val="hlink"/>
                </a:solidFill>
              </a:rPr>
              <a:t>    添键</a:t>
            </a:r>
            <a:r>
              <a:rPr lang="en-US" altLang="zh-CN" sz="1800" dirty="0">
                <a:solidFill>
                  <a:schemeClr val="hlink"/>
                </a:solidFill>
              </a:rPr>
              <a:t>:</a:t>
            </a:r>
            <a:r>
              <a:rPr lang="en-US" altLang="zh-CN" sz="1800" dirty="0"/>
              <a:t>{CD,CAE,EA,BAC,G,BG}   ∵EA⊆CAE,G⊆BG</a:t>
            </a:r>
            <a:r>
              <a:rPr lang="zh-CN" altLang="en-US" sz="1800" dirty="0"/>
              <a:t>去掉。</a:t>
            </a:r>
            <a:r>
              <a:rPr lang="en-US" altLang="zh-CN" sz="1800" dirty="0"/>
              <a:t> </a:t>
            </a:r>
          </a:p>
          <a:p>
            <a:pPr marL="0" indent="0">
              <a:lnSpc>
                <a:spcPct val="100000"/>
              </a:lnSpc>
              <a:spcBef>
                <a:spcPts val="0"/>
              </a:spcBef>
              <a:buNone/>
            </a:pPr>
            <a:r>
              <a:rPr lang="en-US" altLang="zh-CN" sz="1800" dirty="0">
                <a:solidFill>
                  <a:schemeClr val="bg2"/>
                </a:solidFill>
              </a:rPr>
              <a:t>    ∴</a:t>
            </a:r>
            <a:r>
              <a:rPr lang="zh-CN" altLang="en-US" sz="1800" dirty="0"/>
              <a:t>保持函数依赖和无损连接的的</a:t>
            </a:r>
            <a:r>
              <a:rPr lang="en-US" altLang="zh-CN" sz="1800" dirty="0"/>
              <a:t>3NF</a:t>
            </a:r>
            <a:r>
              <a:rPr lang="zh-CN" altLang="en-US" sz="1800" dirty="0"/>
              <a:t>分解</a:t>
            </a:r>
            <a:r>
              <a:rPr lang="en-US" altLang="zh-CN" sz="1800" dirty="0"/>
              <a:t>:</a:t>
            </a:r>
            <a:r>
              <a:rPr lang="en-US" altLang="zh-CN" sz="1800" dirty="0">
                <a:solidFill>
                  <a:srgbClr val="FF0000"/>
                </a:solidFill>
              </a:rPr>
              <a:t>{CD,CAE,BAC,BG}</a:t>
            </a:r>
          </a:p>
        </p:txBody>
      </p:sp>
      <p:sp>
        <p:nvSpPr>
          <p:cNvPr id="3" name="标题 2">
            <a:extLst>
              <a:ext uri="{FF2B5EF4-FFF2-40B4-BE49-F238E27FC236}">
                <a16:creationId xmlns:a16="http://schemas.microsoft.com/office/drawing/2014/main" id="{EE094BC8-8DE8-0AB0-E17D-4E5F5981FD53}"/>
              </a:ext>
            </a:extLst>
          </p:cNvPr>
          <p:cNvSpPr>
            <a:spLocks noGrp="1"/>
          </p:cNvSpPr>
          <p:nvPr>
            <p:ph type="title"/>
          </p:nvPr>
        </p:nvSpPr>
        <p:spPr/>
        <p:txBody>
          <a:bodyPr/>
          <a:lstStyle/>
          <a:p>
            <a:r>
              <a:rPr lang="zh-CN" altLang="en-US" dirty="0"/>
              <a:t>关系模式的分解</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306">
                                            <p:txEl>
                                              <p:charRg st="71" end="9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8306">
                                            <p:txEl>
                                              <p:charRg st="91" end="13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8306">
                                            <p:txEl>
                                              <p:charRg st="132" end="16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8306">
                                            <p:txEl>
                                              <p:charRg st="164" end="18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8306">
                                            <p:txEl>
                                              <p:charRg st="186" end="20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8306">
                                            <p:txEl>
                                              <p:charRg st="206" end="22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8306">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8306">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8306">
                                            <p:txEl>
                                              <p:charRg st="292" end="32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8306">
                                            <p:txEl>
                                              <p:charRg st="323" end="34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830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407670" y="1348351"/>
            <a:ext cx="8328660" cy="3200401"/>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marL="0" indent="0" eaLnBrk="1" hangingPunct="1">
              <a:buNone/>
            </a:pPr>
            <a:r>
              <a:rPr lang="zh-CN" altLang="en-US" sz="1800" dirty="0">
                <a:solidFill>
                  <a:schemeClr val="hlink"/>
                </a:solidFill>
                <a:latin typeface="Microsoft YaHei" panose="020B0503020204020204" pitchFamily="34" charset="-122"/>
                <a:ea typeface="Microsoft YaHei" panose="020B0503020204020204" pitchFamily="34" charset="-122"/>
              </a:rPr>
              <a:t>算法</a:t>
            </a:r>
            <a:r>
              <a:rPr lang="en-US" altLang="zh-CN" sz="1800" dirty="0">
                <a:solidFill>
                  <a:schemeClr val="hlink"/>
                </a:solidFill>
                <a:latin typeface="Microsoft YaHei" panose="020B0503020204020204" pitchFamily="34" charset="-122"/>
                <a:ea typeface="Microsoft YaHei" panose="020B0503020204020204" pitchFamily="34" charset="-122"/>
              </a:rPr>
              <a:t>4.3</a:t>
            </a:r>
            <a:r>
              <a:rPr lang="zh-CN" altLang="en-US" sz="1800" dirty="0">
                <a:solidFill>
                  <a:schemeClr val="hlink"/>
                </a:solidFill>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 把一个关系模式分解为BCNF,使它具有无损连接性.</a:t>
            </a:r>
          </a:p>
          <a:p>
            <a:pPr marL="0" indent="0" eaLnBrk="1" hangingPunct="1">
              <a:buNone/>
            </a:pPr>
            <a:r>
              <a:rPr lang="zh-CN" altLang="en-US" sz="1800" dirty="0">
                <a:latin typeface="Microsoft YaHei" panose="020B0503020204020204" pitchFamily="34" charset="-122"/>
                <a:ea typeface="Microsoft YaHei" panose="020B0503020204020204" pitchFamily="34" charset="-122"/>
              </a:rPr>
              <a:t>输入:关系模式R&lt;U,F&gt;.</a:t>
            </a:r>
          </a:p>
          <a:p>
            <a:pPr marL="0" indent="0" eaLnBrk="1" hangingPunct="1">
              <a:buNone/>
            </a:pPr>
            <a:r>
              <a:rPr lang="zh-CN" altLang="en-US" sz="1800" dirty="0">
                <a:latin typeface="Microsoft YaHei" panose="020B0503020204020204" pitchFamily="34" charset="-122"/>
                <a:ea typeface="Microsoft YaHei" panose="020B0503020204020204" pitchFamily="34" charset="-122"/>
              </a:rPr>
              <a:t>输出:具有无损连接性BCNF分解ρ={R</a:t>
            </a:r>
            <a:r>
              <a:rPr lang="zh-CN" altLang="en-US" sz="1800" baseline="-25000" dirty="0">
                <a:latin typeface="Microsoft YaHei" panose="020B0503020204020204" pitchFamily="34" charset="-122"/>
                <a:ea typeface="Microsoft YaHei" panose="020B0503020204020204" pitchFamily="34" charset="-122"/>
              </a:rPr>
              <a:t>1</a:t>
            </a:r>
            <a:r>
              <a:rPr lang="zh-CN" altLang="en-US" sz="1800" dirty="0">
                <a:latin typeface="Microsoft YaHei" panose="020B0503020204020204" pitchFamily="34" charset="-122"/>
                <a:ea typeface="Microsoft YaHei" panose="020B0503020204020204" pitchFamily="34" charset="-122"/>
              </a:rPr>
              <a:t>，R</a:t>
            </a:r>
            <a:r>
              <a:rPr lang="zh-CN" altLang="en-US" sz="1800" baseline="-25000" dirty="0">
                <a:latin typeface="Microsoft YaHei" panose="020B0503020204020204" pitchFamily="34" charset="-122"/>
                <a:ea typeface="Microsoft YaHei" panose="020B0503020204020204" pitchFamily="34" charset="-122"/>
              </a:rPr>
              <a:t>2</a:t>
            </a:r>
            <a:r>
              <a:rPr lang="zh-CN" altLang="en-US" sz="1800" dirty="0">
                <a:latin typeface="Microsoft YaHei" panose="020B0503020204020204" pitchFamily="34" charset="-122"/>
                <a:ea typeface="Microsoft YaHei" panose="020B0503020204020204" pitchFamily="34" charset="-122"/>
              </a:rPr>
              <a:t>，….R</a:t>
            </a:r>
            <a:r>
              <a:rPr lang="zh-CN" altLang="en-US" sz="1800" baseline="-25000" dirty="0">
                <a:latin typeface="Microsoft YaHei" panose="020B0503020204020204" pitchFamily="34" charset="-122"/>
                <a:ea typeface="Microsoft YaHei" panose="020B0503020204020204" pitchFamily="34" charset="-122"/>
              </a:rPr>
              <a:t>K</a:t>
            </a:r>
            <a:r>
              <a:rPr lang="zh-CN" altLang="en-US" sz="1800" dirty="0">
                <a:latin typeface="Microsoft YaHei" panose="020B0503020204020204" pitchFamily="34" charset="-122"/>
                <a:ea typeface="Microsoft YaHei" panose="020B0503020204020204" pitchFamily="34" charset="-122"/>
              </a:rPr>
              <a:t>}.</a:t>
            </a:r>
          </a:p>
          <a:p>
            <a:pPr marL="0" indent="0" eaLnBrk="1" hangingPunct="1">
              <a:buNone/>
            </a:pPr>
            <a:r>
              <a:rPr lang="zh-CN" altLang="en-US" sz="1800" dirty="0">
                <a:latin typeface="Microsoft YaHei" panose="020B0503020204020204" pitchFamily="34" charset="-122"/>
                <a:ea typeface="Microsoft YaHei" panose="020B0503020204020204" pitchFamily="34" charset="-122"/>
              </a:rPr>
              <a:t>方法:</a:t>
            </a:r>
          </a:p>
          <a:p>
            <a:pPr marL="0" indent="0" eaLnBrk="1" hangingPunct="1">
              <a:buNone/>
            </a:pPr>
            <a:r>
              <a:rPr lang="zh-CN" altLang="en-US" sz="1800" dirty="0">
                <a:latin typeface="Microsoft YaHei" panose="020B0503020204020204" pitchFamily="34" charset="-122"/>
                <a:ea typeface="Microsoft YaHei" panose="020B0503020204020204" pitchFamily="34" charset="-122"/>
              </a:rPr>
              <a:t>（1）令ρ={R}；</a:t>
            </a:r>
          </a:p>
          <a:p>
            <a:pPr marL="0" indent="0" algn="just" eaLnBrk="1" hangingPunct="1">
              <a:buNone/>
            </a:pPr>
            <a:r>
              <a:rPr lang="zh-CN" altLang="en-US" sz="1800" dirty="0">
                <a:latin typeface="Microsoft YaHei" panose="020B0503020204020204" pitchFamily="34" charset="-122"/>
                <a:ea typeface="Microsoft YaHei" panose="020B0503020204020204" pitchFamily="34" charset="-122"/>
              </a:rPr>
              <a:t>（2）如果ρ中所有关系模式都是BCNF，则转（4）；</a:t>
            </a:r>
          </a:p>
          <a:p>
            <a:pPr marL="0" indent="0" algn="just" eaLnBrk="1" hangingPunct="1">
              <a:buNone/>
            </a:pPr>
            <a:r>
              <a:rPr lang="zh-CN" altLang="en-US" sz="1800" dirty="0">
                <a:latin typeface="Microsoft YaHei" panose="020B0503020204020204" pitchFamily="34" charset="-122"/>
                <a:ea typeface="Microsoft YaHei" panose="020B0503020204020204" pitchFamily="34" charset="-122"/>
              </a:rPr>
              <a:t>（3）如果ρ中有一个关系模式R</a:t>
            </a:r>
            <a:r>
              <a:rPr lang="zh-CN" altLang="en-US" sz="1800" baseline="-30000" dirty="0">
                <a:latin typeface="Microsoft YaHei" panose="020B0503020204020204" pitchFamily="34" charset="-122"/>
                <a:ea typeface="Microsoft YaHei" panose="020B0503020204020204" pitchFamily="34" charset="-122"/>
              </a:rPr>
              <a:t>i</a:t>
            </a:r>
            <a:r>
              <a:rPr lang="zh-CN" altLang="en-US" sz="1800" dirty="0">
                <a:latin typeface="Microsoft YaHei" panose="020B0503020204020204" pitchFamily="34" charset="-122"/>
                <a:ea typeface="Microsoft YaHei" panose="020B0503020204020204" pitchFamily="34" charset="-122"/>
              </a:rPr>
              <a:t>&lt;U</a:t>
            </a:r>
            <a:r>
              <a:rPr lang="zh-CN" altLang="en-US" sz="1800" baseline="-30000" dirty="0">
                <a:latin typeface="Microsoft YaHei" panose="020B0503020204020204" pitchFamily="34" charset="-122"/>
                <a:ea typeface="Microsoft YaHei" panose="020B0503020204020204" pitchFamily="34" charset="-122"/>
              </a:rPr>
              <a:t>i</a:t>
            </a:r>
            <a:r>
              <a:rPr lang="zh-CN" altLang="en-US" sz="1800" dirty="0">
                <a:latin typeface="Microsoft YaHei" panose="020B0503020204020204" pitchFamily="34" charset="-122"/>
                <a:ea typeface="Microsoft YaHei" panose="020B0503020204020204" pitchFamily="34" charset="-122"/>
              </a:rPr>
              <a:t>，F</a:t>
            </a:r>
            <a:r>
              <a:rPr lang="zh-CN" altLang="en-US" sz="1800" baseline="-30000" dirty="0">
                <a:latin typeface="Microsoft YaHei" panose="020B0503020204020204" pitchFamily="34" charset="-122"/>
                <a:ea typeface="Microsoft YaHei" panose="020B0503020204020204" pitchFamily="34" charset="-122"/>
              </a:rPr>
              <a:t>i</a:t>
            </a:r>
            <a:r>
              <a:rPr lang="zh-CN" altLang="en-US" sz="1800" dirty="0">
                <a:latin typeface="Microsoft YaHei" panose="020B0503020204020204" pitchFamily="34" charset="-122"/>
                <a:ea typeface="Microsoft YaHei" panose="020B0503020204020204" pitchFamily="34" charset="-122"/>
              </a:rPr>
              <a:t>&gt;不是BCNF，则R</a:t>
            </a:r>
            <a:r>
              <a:rPr lang="zh-CN" altLang="en-US" sz="1800" baseline="-30000" dirty="0">
                <a:latin typeface="Microsoft YaHei" panose="020B0503020204020204" pitchFamily="34" charset="-122"/>
                <a:ea typeface="Microsoft YaHei" panose="020B0503020204020204" pitchFamily="34" charset="-122"/>
              </a:rPr>
              <a:t>i</a:t>
            </a:r>
            <a:r>
              <a:rPr lang="zh-CN" altLang="en-US" sz="1800" dirty="0">
                <a:latin typeface="Microsoft YaHei" panose="020B0503020204020204" pitchFamily="34" charset="-122"/>
                <a:ea typeface="Microsoft YaHei" panose="020B0503020204020204" pitchFamily="34" charset="-122"/>
              </a:rPr>
              <a:t>中必有X→A∈F</a:t>
            </a:r>
            <a:r>
              <a:rPr lang="zh-CN" altLang="en-US" sz="1800" baseline="-30000" dirty="0">
                <a:latin typeface="Microsoft YaHei" panose="020B0503020204020204" pitchFamily="34" charset="-122"/>
                <a:ea typeface="Microsoft YaHei" panose="020B0503020204020204" pitchFamily="34" charset="-122"/>
              </a:rPr>
              <a:t>i</a:t>
            </a:r>
            <a:r>
              <a:rPr lang="zh-CN" altLang="en-US" sz="1800" baseline="300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(A</a:t>
            </a:r>
            <a:r>
              <a:rPr lang="zh-CN" altLang="en-US" sz="18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a:t>
            </a:r>
            <a:r>
              <a:rPr lang="zh-CN" altLang="en-US" sz="1800" dirty="0">
                <a:latin typeface="Microsoft YaHei" panose="020B0503020204020204" pitchFamily="34" charset="-122"/>
                <a:ea typeface="Microsoft YaHei" panose="020B0503020204020204" pitchFamily="34" charset="-122"/>
              </a:rPr>
              <a:t>X)，且X不是R</a:t>
            </a:r>
            <a:r>
              <a:rPr lang="zh-CN" altLang="en-US" sz="1800" baseline="-30000" dirty="0">
                <a:latin typeface="Microsoft YaHei" panose="020B0503020204020204" pitchFamily="34" charset="-122"/>
                <a:ea typeface="Microsoft YaHei" panose="020B0503020204020204" pitchFamily="34" charset="-122"/>
              </a:rPr>
              <a:t>i</a:t>
            </a:r>
            <a:r>
              <a:rPr lang="zh-CN" altLang="en-US" sz="1800" dirty="0">
                <a:latin typeface="Microsoft YaHei" panose="020B0503020204020204" pitchFamily="34" charset="-122"/>
                <a:ea typeface="Microsoft YaHei" panose="020B0503020204020204" pitchFamily="34" charset="-122"/>
              </a:rPr>
              <a:t>的</a:t>
            </a:r>
            <a:r>
              <a:rPr lang="en-US" altLang="zh-CN" sz="1800" dirty="0">
                <a:latin typeface="Microsoft YaHei" panose="020B0503020204020204" pitchFamily="34" charset="-122"/>
                <a:ea typeface="Microsoft YaHei" panose="020B0503020204020204" pitchFamily="34" charset="-122"/>
              </a:rPr>
              <a:t>键</a:t>
            </a:r>
            <a:r>
              <a:rPr lang="zh-CN" altLang="en-US" sz="1800" dirty="0">
                <a:latin typeface="Microsoft YaHei" panose="020B0503020204020204" pitchFamily="34" charset="-122"/>
                <a:ea typeface="Microsoft YaHei" panose="020B0503020204020204" pitchFamily="34" charset="-122"/>
              </a:rPr>
              <a:t>。设S</a:t>
            </a:r>
            <a:r>
              <a:rPr lang="zh-CN" altLang="en-US" sz="1800" baseline="-30000" dirty="0">
                <a:latin typeface="Microsoft YaHei" panose="020B0503020204020204" pitchFamily="34" charset="-122"/>
                <a:ea typeface="Microsoft YaHei" panose="020B0503020204020204" pitchFamily="34" charset="-122"/>
              </a:rPr>
              <a:t>1</a:t>
            </a:r>
            <a:r>
              <a:rPr lang="zh-CN" altLang="en-US" sz="1800" dirty="0">
                <a:latin typeface="Microsoft YaHei" panose="020B0503020204020204" pitchFamily="34" charset="-122"/>
                <a:ea typeface="Microsoft YaHei" panose="020B0503020204020204" pitchFamily="34" charset="-122"/>
              </a:rPr>
              <a:t>=XA，S</a:t>
            </a:r>
            <a:r>
              <a:rPr lang="zh-CN" altLang="en-US" sz="1800" baseline="-30000" dirty="0">
                <a:latin typeface="Microsoft YaHei" panose="020B0503020204020204" pitchFamily="34" charset="-122"/>
                <a:ea typeface="Microsoft YaHei" panose="020B0503020204020204" pitchFamily="34" charset="-122"/>
              </a:rPr>
              <a:t>2</a:t>
            </a:r>
            <a:r>
              <a:rPr lang="zh-CN" altLang="en-US" sz="1800" dirty="0">
                <a:latin typeface="Microsoft YaHei" panose="020B0503020204020204" pitchFamily="34" charset="-122"/>
                <a:ea typeface="Microsoft YaHei" panose="020B0503020204020204" pitchFamily="34" charset="-122"/>
              </a:rPr>
              <a:t>=U</a:t>
            </a:r>
            <a:r>
              <a:rPr lang="zh-CN" altLang="en-US" sz="1800" baseline="-30000" dirty="0">
                <a:latin typeface="Microsoft YaHei" panose="020B0503020204020204" pitchFamily="34" charset="-122"/>
                <a:ea typeface="Microsoft YaHei" panose="020B0503020204020204" pitchFamily="34" charset="-122"/>
              </a:rPr>
              <a:t>i</a:t>
            </a:r>
            <a:r>
              <a:rPr lang="zh-CN" altLang="en-US" sz="1800" dirty="0">
                <a:latin typeface="Microsoft YaHei" panose="020B0503020204020204" pitchFamily="34" charset="-122"/>
                <a:ea typeface="Microsoft YaHei" panose="020B0503020204020204" pitchFamily="34" charset="-122"/>
              </a:rPr>
              <a:t>-A，用分解{S</a:t>
            </a:r>
            <a:r>
              <a:rPr lang="zh-CN" altLang="en-US" sz="1800" baseline="-30000" dirty="0">
                <a:latin typeface="Microsoft YaHei" panose="020B0503020204020204" pitchFamily="34" charset="-122"/>
                <a:ea typeface="Microsoft YaHei" panose="020B0503020204020204" pitchFamily="34" charset="-122"/>
              </a:rPr>
              <a:t>1</a:t>
            </a:r>
            <a:r>
              <a:rPr lang="zh-CN" altLang="en-US" sz="1800" dirty="0">
                <a:latin typeface="Microsoft YaHei" panose="020B0503020204020204" pitchFamily="34" charset="-122"/>
                <a:ea typeface="Microsoft YaHei" panose="020B0503020204020204" pitchFamily="34" charset="-122"/>
              </a:rPr>
              <a:t>，S</a:t>
            </a:r>
            <a:r>
              <a:rPr lang="zh-CN" altLang="en-US" sz="1800" baseline="-30000" dirty="0">
                <a:latin typeface="Microsoft YaHei" panose="020B0503020204020204" pitchFamily="34" charset="-122"/>
                <a:ea typeface="Microsoft YaHei" panose="020B0503020204020204" pitchFamily="34" charset="-122"/>
              </a:rPr>
              <a:t>2</a:t>
            </a:r>
            <a:r>
              <a:rPr lang="zh-CN" altLang="en-US" sz="1800" dirty="0">
                <a:latin typeface="Microsoft YaHei" panose="020B0503020204020204" pitchFamily="34" charset="-122"/>
                <a:ea typeface="Microsoft YaHei" panose="020B0503020204020204" pitchFamily="34" charset="-122"/>
              </a:rPr>
              <a:t>}代替R</a:t>
            </a:r>
            <a:r>
              <a:rPr lang="zh-CN" altLang="en-US" sz="1800" baseline="-30000" dirty="0">
                <a:latin typeface="Microsoft YaHei" panose="020B0503020204020204" pitchFamily="34" charset="-122"/>
                <a:ea typeface="Microsoft YaHei" panose="020B0503020204020204" pitchFamily="34" charset="-122"/>
              </a:rPr>
              <a:t>i</a:t>
            </a:r>
            <a:r>
              <a:rPr lang="zh-CN" altLang="en-US" sz="1800" dirty="0">
                <a:latin typeface="Microsoft YaHei" panose="020B0503020204020204" pitchFamily="34" charset="-122"/>
                <a:ea typeface="Microsoft YaHei" panose="020B0503020204020204" pitchFamily="34" charset="-122"/>
              </a:rPr>
              <a:t>&lt;U</a:t>
            </a:r>
            <a:r>
              <a:rPr lang="zh-CN" altLang="en-US" sz="1800" baseline="-30000" dirty="0">
                <a:latin typeface="Microsoft YaHei" panose="020B0503020204020204" pitchFamily="34" charset="-122"/>
                <a:ea typeface="Microsoft YaHei" panose="020B0503020204020204" pitchFamily="34" charset="-122"/>
              </a:rPr>
              <a:t>i</a:t>
            </a:r>
            <a:r>
              <a:rPr lang="zh-CN" altLang="en-US" sz="1800" dirty="0">
                <a:latin typeface="Microsoft YaHei" panose="020B0503020204020204" pitchFamily="34" charset="-122"/>
                <a:ea typeface="Microsoft YaHei" panose="020B0503020204020204" pitchFamily="34" charset="-122"/>
              </a:rPr>
              <a:t>，F</a:t>
            </a:r>
            <a:r>
              <a:rPr lang="zh-CN" altLang="en-US" sz="1800" baseline="-30000" dirty="0">
                <a:latin typeface="Microsoft YaHei" panose="020B0503020204020204" pitchFamily="34" charset="-122"/>
                <a:ea typeface="Microsoft YaHei" panose="020B0503020204020204" pitchFamily="34" charset="-122"/>
              </a:rPr>
              <a:t>i</a:t>
            </a:r>
            <a:r>
              <a:rPr lang="zh-CN" altLang="en-US" sz="1800" dirty="0">
                <a:latin typeface="Microsoft YaHei" panose="020B0503020204020204" pitchFamily="34" charset="-122"/>
                <a:ea typeface="Microsoft YaHei" panose="020B0503020204020204" pitchFamily="34" charset="-122"/>
              </a:rPr>
              <a:t>&gt;，转（2）；</a:t>
            </a:r>
          </a:p>
          <a:p>
            <a:pPr marL="0" indent="0" algn="just" eaLnBrk="1" hangingPunct="1">
              <a:buNone/>
            </a:pPr>
            <a:r>
              <a:rPr lang="zh-CN" altLang="en-US" sz="1800" dirty="0">
                <a:latin typeface="Microsoft YaHei" panose="020B0503020204020204" pitchFamily="34" charset="-122"/>
                <a:ea typeface="Microsoft YaHei" panose="020B0503020204020204" pitchFamily="34" charset="-122"/>
              </a:rPr>
              <a:t>（4）分解结束，输出ρ。</a:t>
            </a:r>
          </a:p>
          <a:p>
            <a:pPr marL="0" indent="0" eaLnBrk="1" hangingPunct="1">
              <a:buNone/>
            </a:pPr>
            <a:endParaRPr lang="zh-CN" altLang="en-US" sz="1800" dirty="0">
              <a:solidFill>
                <a:schemeClr val="hlink"/>
              </a:solidFill>
              <a:latin typeface="Microsoft YaHei" panose="020B0503020204020204" pitchFamily="34" charset="-122"/>
              <a:ea typeface="Microsoft YaHei" panose="020B0503020204020204" pitchFamily="34" charset="-122"/>
            </a:endParaRPr>
          </a:p>
        </p:txBody>
      </p:sp>
      <p:sp>
        <p:nvSpPr>
          <p:cNvPr id="5" name="标题 4">
            <a:extLst>
              <a:ext uri="{FF2B5EF4-FFF2-40B4-BE49-F238E27FC236}">
                <a16:creationId xmlns:a16="http://schemas.microsoft.com/office/drawing/2014/main" id="{1EF0A56C-5BE6-9882-CB54-E5A58125FAB6}"/>
              </a:ext>
            </a:extLst>
          </p:cNvPr>
          <p:cNvSpPr>
            <a:spLocks noGrp="1"/>
          </p:cNvSpPr>
          <p:nvPr>
            <p:ph type="title"/>
          </p:nvPr>
        </p:nvSpPr>
        <p:spPr/>
        <p:txBody>
          <a:bodyPr>
            <a:noAutofit/>
          </a:bodyPr>
          <a:lstStyle/>
          <a:p>
            <a:r>
              <a:rPr lang="zh-CN" altLang="en-US" sz="3600" dirty="0"/>
              <a:t>关系模式的分解</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3"/>
          <p:cNvSpPr>
            <a:spLocks noGrp="1"/>
          </p:cNvSpPr>
          <p:nvPr>
            <p:ph idx="1"/>
          </p:nvPr>
        </p:nvSpPr>
        <p:spPr/>
        <p:txBody>
          <a:bodyPr vert="horz" wrap="square" lIns="68580" tIns="34290" rIns="68580" bIns="34290" anchor="t" anchorCtr="0">
            <a:normAutofit fontScale="92500" lnSpcReduction="20000"/>
          </a:bodyPr>
          <a:lstStyle/>
          <a:p>
            <a:pPr marL="0" indent="0">
              <a:lnSpc>
                <a:spcPct val="120000"/>
              </a:lnSpc>
              <a:spcBef>
                <a:spcPts val="0"/>
              </a:spcBef>
              <a:buNone/>
            </a:pPr>
            <a:r>
              <a:rPr lang="zh-CN" altLang="en-US" sz="1800" dirty="0">
                <a:solidFill>
                  <a:srgbClr val="467886"/>
                </a:solidFill>
              </a:rPr>
              <a:t>【例】</a:t>
            </a:r>
            <a:r>
              <a:rPr lang="en-US" altLang="zh-CN" sz="1800" dirty="0">
                <a:solidFill>
                  <a:srgbClr val="467886"/>
                </a:solidFill>
              </a:rPr>
              <a:t> </a:t>
            </a:r>
            <a:r>
              <a:rPr lang="zh-CN" altLang="en-US" sz="1800" dirty="0"/>
              <a:t>设</a:t>
            </a:r>
            <a:r>
              <a:rPr lang="en-US" altLang="zh-CN" sz="1800" dirty="0"/>
              <a:t>R&lt;U,F&gt;,U={C,T,H,R,S,G},F={CS→G</a:t>
            </a:r>
            <a:r>
              <a:rPr lang="zh-CN" altLang="en-US" sz="1800" dirty="0"/>
              <a:t>，</a:t>
            </a:r>
            <a:r>
              <a:rPr lang="en-US" altLang="zh-CN" sz="1800" dirty="0"/>
              <a:t>C→T</a:t>
            </a:r>
            <a:r>
              <a:rPr lang="zh-CN" altLang="en-US" sz="1800" dirty="0"/>
              <a:t>，</a:t>
            </a:r>
            <a:r>
              <a:rPr lang="en-US" altLang="zh-CN" sz="1800" dirty="0"/>
              <a:t>TH→R</a:t>
            </a:r>
            <a:r>
              <a:rPr lang="zh-CN" altLang="en-US" sz="1800" dirty="0"/>
              <a:t>，</a:t>
            </a:r>
            <a:r>
              <a:rPr lang="en-US" altLang="zh-CN" sz="1800" dirty="0"/>
              <a:t>HR→C</a:t>
            </a:r>
            <a:r>
              <a:rPr lang="zh-CN" altLang="en-US" sz="1800" dirty="0"/>
              <a:t>，</a:t>
            </a:r>
            <a:r>
              <a:rPr lang="en-US" altLang="zh-CN" sz="1800" dirty="0"/>
              <a:t>HS→R},</a:t>
            </a:r>
            <a:r>
              <a:rPr lang="zh-CN" altLang="en-US" sz="1800" dirty="0"/>
              <a:t>将其分解为</a:t>
            </a:r>
            <a:r>
              <a:rPr lang="en-US" altLang="zh-CN" sz="1800" dirty="0"/>
              <a:t>BCNF</a:t>
            </a:r>
            <a:r>
              <a:rPr lang="zh-CN" altLang="en-US" sz="1800" dirty="0"/>
              <a:t>且具有无损连接性。</a:t>
            </a:r>
            <a:endParaRPr lang="en-US" altLang="zh-CN" sz="1800" dirty="0"/>
          </a:p>
          <a:p>
            <a:pPr marL="0" indent="0">
              <a:lnSpc>
                <a:spcPct val="120000"/>
              </a:lnSpc>
              <a:spcBef>
                <a:spcPts val="0"/>
              </a:spcBef>
              <a:buNone/>
            </a:pPr>
            <a:endParaRPr lang="zh-CN" altLang="en-US" sz="1800" dirty="0"/>
          </a:p>
          <a:p>
            <a:pPr marL="0" indent="0">
              <a:lnSpc>
                <a:spcPct val="120000"/>
              </a:lnSpc>
              <a:spcBef>
                <a:spcPts val="0"/>
              </a:spcBef>
              <a:buNone/>
            </a:pPr>
            <a:r>
              <a:rPr lang="zh-CN" altLang="en-US" sz="1800" dirty="0"/>
              <a:t>解</a:t>
            </a:r>
            <a:r>
              <a:rPr lang="en-US" altLang="zh-CN" sz="1800" dirty="0"/>
              <a:t>: L</a:t>
            </a:r>
            <a:r>
              <a:rPr lang="zh-CN" altLang="en-US" sz="1800" dirty="0"/>
              <a:t>类：</a:t>
            </a:r>
            <a:r>
              <a:rPr lang="en-US" altLang="zh-CN" sz="1800" dirty="0"/>
              <a:t>H</a:t>
            </a:r>
            <a:r>
              <a:rPr lang="zh-CN" altLang="en-US" sz="1800" dirty="0"/>
              <a:t>、</a:t>
            </a:r>
            <a:r>
              <a:rPr lang="en-US" altLang="zh-CN" sz="1800" dirty="0"/>
              <a:t>S  </a:t>
            </a:r>
            <a:r>
              <a:rPr lang="en-US" altLang="zh-CN" sz="1800" dirty="0">
                <a:solidFill>
                  <a:schemeClr val="accent1"/>
                </a:solidFill>
              </a:rPr>
              <a:t>(HS)</a:t>
            </a:r>
            <a:r>
              <a:rPr lang="en-US" altLang="zh-CN" sz="1800" baseline="30000" dirty="0">
                <a:solidFill>
                  <a:schemeClr val="accent1"/>
                </a:solidFill>
              </a:rPr>
              <a:t>+</a:t>
            </a:r>
            <a:r>
              <a:rPr lang="en-US" altLang="zh-CN" sz="1800" dirty="0">
                <a:solidFill>
                  <a:schemeClr val="accent1"/>
                </a:solidFill>
              </a:rPr>
              <a:t>=HSRCTG=U </a:t>
            </a:r>
            <a:r>
              <a:rPr lang="en-US" altLang="zh-CN" sz="1800" dirty="0">
                <a:solidFill>
                  <a:schemeClr val="bg2"/>
                </a:solidFill>
              </a:rPr>
              <a:t>  </a:t>
            </a:r>
            <a:r>
              <a:rPr lang="en-US" altLang="zh-CN" sz="1800" dirty="0"/>
              <a:t>HS</a:t>
            </a:r>
            <a:r>
              <a:rPr lang="zh-CN" altLang="en-US" sz="1800" dirty="0"/>
              <a:t>是</a:t>
            </a:r>
            <a:r>
              <a:rPr lang="en-US" altLang="zh-CN" sz="1800" dirty="0"/>
              <a:t>R</a:t>
            </a:r>
            <a:r>
              <a:rPr lang="zh-CN" altLang="en-US" sz="1800" dirty="0"/>
              <a:t>惟一的候选键。</a:t>
            </a:r>
            <a:endParaRPr lang="en-US" altLang="zh-CN" sz="1800" dirty="0"/>
          </a:p>
          <a:p>
            <a:pPr marL="0" indent="0">
              <a:lnSpc>
                <a:spcPct val="120000"/>
              </a:lnSpc>
              <a:spcBef>
                <a:spcPts val="0"/>
              </a:spcBef>
              <a:buNone/>
            </a:pPr>
            <a:r>
              <a:rPr lang="en-US" altLang="zh-CN" sz="1800" dirty="0"/>
              <a:t>    F={CS→G</a:t>
            </a:r>
            <a:r>
              <a:rPr lang="zh-CN" altLang="en-US" sz="1800" dirty="0"/>
              <a:t>，</a:t>
            </a:r>
            <a:r>
              <a:rPr lang="en-US" altLang="zh-CN" sz="1800" dirty="0"/>
              <a:t>C→T</a:t>
            </a:r>
            <a:r>
              <a:rPr lang="zh-CN" altLang="en-US" sz="1800" dirty="0"/>
              <a:t>，</a:t>
            </a:r>
            <a:r>
              <a:rPr lang="en-US" altLang="zh-CN" sz="1800" dirty="0"/>
              <a:t>TH→R</a:t>
            </a:r>
            <a:r>
              <a:rPr lang="zh-CN" altLang="en-US" sz="1800" dirty="0"/>
              <a:t>，</a:t>
            </a:r>
            <a:r>
              <a:rPr lang="en-US" altLang="zh-CN" sz="1800" dirty="0"/>
              <a:t>HR→C</a:t>
            </a:r>
            <a:r>
              <a:rPr lang="zh-CN" altLang="en-US" sz="1800" dirty="0"/>
              <a:t>，</a:t>
            </a:r>
            <a:r>
              <a:rPr lang="en-US" altLang="zh-CN" sz="1800" dirty="0"/>
              <a:t>HS→R}</a:t>
            </a:r>
          </a:p>
          <a:p>
            <a:pPr marL="0" indent="0">
              <a:lnSpc>
                <a:spcPct val="120000"/>
              </a:lnSpc>
              <a:spcBef>
                <a:spcPts val="0"/>
              </a:spcBef>
              <a:buNone/>
            </a:pPr>
            <a:r>
              <a:rPr lang="en-US" altLang="zh-CN" sz="1800" dirty="0"/>
              <a:t>  </a:t>
            </a:r>
            <a:r>
              <a:rPr lang="en-US" altLang="zh-CN" sz="1800" dirty="0">
                <a:solidFill>
                  <a:schemeClr val="accent1"/>
                </a:solidFill>
              </a:rPr>
              <a:t> ∴R</a:t>
            </a:r>
            <a:r>
              <a:rPr lang="zh-CN" altLang="en-US" sz="1800" dirty="0">
                <a:solidFill>
                  <a:schemeClr val="accent1"/>
                </a:solidFill>
              </a:rPr>
              <a:t>不是</a:t>
            </a:r>
            <a:r>
              <a:rPr lang="en-US" altLang="zh-CN" sz="1800" dirty="0">
                <a:solidFill>
                  <a:schemeClr val="accent1"/>
                </a:solidFill>
              </a:rPr>
              <a:t>BCNF</a:t>
            </a:r>
            <a:r>
              <a:rPr lang="zh-CN" altLang="en-US" sz="1800" dirty="0"/>
              <a:t>。</a:t>
            </a:r>
            <a:endParaRPr lang="en-US" altLang="zh-CN" sz="1800" dirty="0"/>
          </a:p>
          <a:p>
            <a:pPr marL="0" indent="0">
              <a:lnSpc>
                <a:spcPct val="120000"/>
              </a:lnSpc>
              <a:spcBef>
                <a:spcPts val="0"/>
              </a:spcBef>
              <a:buNone/>
            </a:pPr>
            <a:r>
              <a:rPr lang="zh-CN" altLang="en-US" sz="1800" dirty="0"/>
              <a:t>   选</a:t>
            </a:r>
            <a:r>
              <a:rPr lang="en-US" altLang="zh-CN" sz="1800" dirty="0"/>
              <a:t>CS</a:t>
            </a:r>
            <a:r>
              <a:rPr lang="zh-CN" altLang="en-US" sz="1800" dirty="0"/>
              <a:t>→</a:t>
            </a:r>
            <a:r>
              <a:rPr lang="en-US" altLang="zh-CN" sz="1800" dirty="0"/>
              <a:t>G, S1=</a:t>
            </a:r>
            <a:r>
              <a:rPr lang="en-US" altLang="zh-CN" sz="1800" dirty="0">
                <a:solidFill>
                  <a:srgbClr val="FF0000"/>
                </a:solidFill>
              </a:rPr>
              <a:t>CSG</a:t>
            </a:r>
            <a:r>
              <a:rPr lang="en-US" altLang="zh-CN" sz="1800" dirty="0"/>
              <a:t>(</a:t>
            </a:r>
            <a:r>
              <a:rPr lang="zh-CN" altLang="en-US" sz="1800" dirty="0"/>
              <a:t>是</a:t>
            </a:r>
            <a:r>
              <a:rPr lang="en-US" altLang="zh-CN" sz="1800" dirty="0">
                <a:solidFill>
                  <a:schemeClr val="accent1"/>
                </a:solidFill>
              </a:rPr>
              <a:t>BCNF</a:t>
            </a:r>
            <a:r>
              <a:rPr lang="zh-CN" altLang="en-US" sz="1800" dirty="0">
                <a:solidFill>
                  <a:schemeClr val="accent1"/>
                </a:solidFill>
              </a:rPr>
              <a:t>，候选键是</a:t>
            </a:r>
            <a:r>
              <a:rPr lang="en-US" altLang="zh-CN" sz="1800" dirty="0">
                <a:solidFill>
                  <a:schemeClr val="accent1"/>
                </a:solidFill>
              </a:rPr>
              <a:t>CS</a:t>
            </a:r>
            <a:r>
              <a:rPr lang="en-US" altLang="zh-CN" sz="1800" dirty="0"/>
              <a:t>),</a:t>
            </a:r>
          </a:p>
          <a:p>
            <a:pPr marL="0" indent="0">
              <a:lnSpc>
                <a:spcPct val="120000"/>
              </a:lnSpc>
              <a:spcBef>
                <a:spcPts val="0"/>
              </a:spcBef>
              <a:buNone/>
            </a:pPr>
            <a:r>
              <a:rPr lang="en-US" altLang="zh-CN" sz="1800" dirty="0"/>
              <a:t>            S2=CTHRS (</a:t>
            </a:r>
            <a:r>
              <a:rPr lang="zh-CN" altLang="en-US" sz="1800" dirty="0">
                <a:solidFill>
                  <a:schemeClr val="accent1"/>
                </a:solidFill>
              </a:rPr>
              <a:t>不是</a:t>
            </a:r>
            <a:r>
              <a:rPr lang="en-US" altLang="zh-CN" sz="1800" dirty="0">
                <a:solidFill>
                  <a:schemeClr val="accent1"/>
                </a:solidFill>
              </a:rPr>
              <a:t>BCNF,</a:t>
            </a:r>
            <a:r>
              <a:rPr lang="zh-CN" altLang="en-US" sz="1800" dirty="0"/>
              <a:t>候选键</a:t>
            </a:r>
            <a:r>
              <a:rPr lang="zh-CN" altLang="en-US" sz="1800" dirty="0">
                <a:solidFill>
                  <a:schemeClr val="accent1"/>
                </a:solidFill>
              </a:rPr>
              <a:t>是</a:t>
            </a:r>
            <a:r>
              <a:rPr lang="en-US" altLang="zh-CN" sz="1800" dirty="0">
                <a:solidFill>
                  <a:schemeClr val="accent1"/>
                </a:solidFill>
              </a:rPr>
              <a:t>HS</a:t>
            </a:r>
            <a:r>
              <a:rPr lang="en-US" altLang="zh-CN" sz="1800" dirty="0"/>
              <a:t>)</a:t>
            </a:r>
          </a:p>
          <a:p>
            <a:pPr marL="0" indent="0">
              <a:lnSpc>
                <a:spcPct val="120000"/>
              </a:lnSpc>
              <a:spcBef>
                <a:spcPts val="0"/>
              </a:spcBef>
              <a:buNone/>
            </a:pPr>
            <a:r>
              <a:rPr lang="zh-CN" altLang="en-US" sz="1800" dirty="0"/>
              <a:t>   选</a:t>
            </a:r>
            <a:r>
              <a:rPr lang="en-US" altLang="zh-CN" sz="1800" dirty="0"/>
              <a:t>C</a:t>
            </a:r>
            <a:r>
              <a:rPr lang="zh-CN" altLang="en-US" sz="1800" dirty="0"/>
              <a:t>→</a:t>
            </a:r>
            <a:r>
              <a:rPr lang="en-US" altLang="zh-CN" sz="1800" dirty="0"/>
              <a:t>T,  S1=</a:t>
            </a:r>
            <a:r>
              <a:rPr lang="en-US" altLang="zh-CN" sz="1800" dirty="0">
                <a:solidFill>
                  <a:srgbClr val="FF0000"/>
                </a:solidFill>
              </a:rPr>
              <a:t>CT</a:t>
            </a:r>
            <a:r>
              <a:rPr lang="en-US" altLang="zh-CN" sz="1800" dirty="0"/>
              <a:t>(</a:t>
            </a:r>
            <a:r>
              <a:rPr lang="zh-CN" altLang="en-US" sz="1800" dirty="0">
                <a:solidFill>
                  <a:schemeClr val="accent1"/>
                </a:solidFill>
              </a:rPr>
              <a:t>是</a:t>
            </a:r>
            <a:r>
              <a:rPr lang="en-US" altLang="zh-CN" sz="1800" dirty="0">
                <a:solidFill>
                  <a:schemeClr val="accent1"/>
                </a:solidFill>
              </a:rPr>
              <a:t>BCNF</a:t>
            </a:r>
            <a:r>
              <a:rPr lang="en-US" altLang="zh-CN" sz="1800" dirty="0"/>
              <a:t>),</a:t>
            </a:r>
          </a:p>
          <a:p>
            <a:pPr marL="0" indent="0">
              <a:lnSpc>
                <a:spcPct val="120000"/>
              </a:lnSpc>
              <a:spcBef>
                <a:spcPts val="0"/>
              </a:spcBef>
              <a:buNone/>
            </a:pPr>
            <a:r>
              <a:rPr lang="en-US" altLang="zh-CN" sz="1800" dirty="0"/>
              <a:t>            S2=CHRS(</a:t>
            </a:r>
            <a:r>
              <a:rPr lang="zh-CN" altLang="en-US" sz="1800" dirty="0">
                <a:solidFill>
                  <a:schemeClr val="accent1"/>
                </a:solidFill>
              </a:rPr>
              <a:t>不是</a:t>
            </a:r>
            <a:r>
              <a:rPr lang="en-US" altLang="zh-CN" sz="1800" dirty="0">
                <a:solidFill>
                  <a:schemeClr val="accent1"/>
                </a:solidFill>
              </a:rPr>
              <a:t>BCNF,</a:t>
            </a:r>
            <a:r>
              <a:rPr lang="zh-CN" altLang="en-US" sz="1800" dirty="0"/>
              <a:t>候选键</a:t>
            </a:r>
            <a:r>
              <a:rPr lang="zh-CN" altLang="en-US" sz="1800" dirty="0">
                <a:solidFill>
                  <a:schemeClr val="accent1"/>
                </a:solidFill>
              </a:rPr>
              <a:t>是</a:t>
            </a:r>
            <a:r>
              <a:rPr lang="en-US" altLang="zh-CN" sz="1800" dirty="0">
                <a:solidFill>
                  <a:schemeClr val="accent1"/>
                </a:solidFill>
              </a:rPr>
              <a:t>HS</a:t>
            </a:r>
            <a:r>
              <a:rPr lang="en-US" altLang="zh-CN" sz="1800" dirty="0"/>
              <a:t>)</a:t>
            </a:r>
          </a:p>
          <a:p>
            <a:pPr marL="0" indent="0">
              <a:lnSpc>
                <a:spcPct val="120000"/>
              </a:lnSpc>
              <a:spcBef>
                <a:spcPts val="0"/>
              </a:spcBef>
              <a:buNone/>
            </a:pPr>
            <a:r>
              <a:rPr lang="zh-CN" altLang="en-US" sz="1800" dirty="0"/>
              <a:t>   选</a:t>
            </a:r>
            <a:r>
              <a:rPr lang="en-US" altLang="zh-CN" sz="1800" dirty="0"/>
              <a:t>HR→C, S1=</a:t>
            </a:r>
            <a:r>
              <a:rPr lang="en-US" altLang="zh-CN" sz="1800" dirty="0">
                <a:solidFill>
                  <a:srgbClr val="FF0000"/>
                </a:solidFill>
              </a:rPr>
              <a:t>HRC</a:t>
            </a:r>
            <a:r>
              <a:rPr lang="en-US" altLang="zh-CN" sz="1800" dirty="0"/>
              <a:t>(</a:t>
            </a:r>
            <a:r>
              <a:rPr lang="zh-CN" altLang="en-US" sz="1800" dirty="0">
                <a:solidFill>
                  <a:schemeClr val="accent1"/>
                </a:solidFill>
              </a:rPr>
              <a:t>是</a:t>
            </a:r>
            <a:r>
              <a:rPr lang="en-US" altLang="zh-CN" sz="1800" dirty="0">
                <a:solidFill>
                  <a:schemeClr val="accent1"/>
                </a:solidFill>
              </a:rPr>
              <a:t>BCNF</a:t>
            </a:r>
            <a:r>
              <a:rPr lang="en-US" altLang="zh-CN" sz="1800" dirty="0"/>
              <a:t>),</a:t>
            </a:r>
          </a:p>
          <a:p>
            <a:pPr marL="0" indent="0">
              <a:lnSpc>
                <a:spcPct val="120000"/>
              </a:lnSpc>
              <a:spcBef>
                <a:spcPts val="0"/>
              </a:spcBef>
              <a:buNone/>
            </a:pPr>
            <a:r>
              <a:rPr lang="en-US" altLang="zh-CN" sz="1800" dirty="0"/>
              <a:t>            S2=</a:t>
            </a:r>
            <a:r>
              <a:rPr lang="en-US" altLang="zh-CN" sz="1800" dirty="0">
                <a:solidFill>
                  <a:srgbClr val="FF0000"/>
                </a:solidFill>
              </a:rPr>
              <a:t>HRS</a:t>
            </a:r>
            <a:r>
              <a:rPr lang="en-US" altLang="zh-CN" sz="1800" dirty="0"/>
              <a:t>(</a:t>
            </a:r>
            <a:r>
              <a:rPr lang="zh-CN" altLang="en-US" sz="1800" dirty="0">
                <a:solidFill>
                  <a:schemeClr val="accent1"/>
                </a:solidFill>
              </a:rPr>
              <a:t>是</a:t>
            </a:r>
            <a:r>
              <a:rPr lang="en-US" altLang="zh-CN" sz="1800" dirty="0">
                <a:solidFill>
                  <a:schemeClr val="accent1"/>
                </a:solidFill>
              </a:rPr>
              <a:t>BCNF</a:t>
            </a:r>
            <a:r>
              <a:rPr lang="en-US" altLang="zh-CN" sz="1800" dirty="0"/>
              <a:t>)</a:t>
            </a:r>
          </a:p>
          <a:p>
            <a:pPr marL="0" indent="0">
              <a:lnSpc>
                <a:spcPct val="120000"/>
              </a:lnSpc>
              <a:spcBef>
                <a:spcPts val="0"/>
              </a:spcBef>
              <a:buNone/>
            </a:pPr>
            <a:r>
              <a:rPr lang="en-US" altLang="zh-CN" sz="1800" dirty="0">
                <a:solidFill>
                  <a:schemeClr val="bg2"/>
                </a:solidFill>
              </a:rPr>
              <a:t>∴</a:t>
            </a:r>
            <a:r>
              <a:rPr lang="zh-CN" altLang="en-US" sz="1800" dirty="0"/>
              <a:t>具有无损连接的的</a:t>
            </a:r>
            <a:r>
              <a:rPr lang="en-US" altLang="zh-CN" sz="1800" dirty="0"/>
              <a:t>BCNF</a:t>
            </a:r>
            <a:r>
              <a:rPr lang="zh-CN" altLang="en-US" sz="1800" dirty="0"/>
              <a:t>分解</a:t>
            </a:r>
            <a:r>
              <a:rPr lang="en-US" altLang="zh-CN" sz="1800" dirty="0"/>
              <a:t>:</a:t>
            </a:r>
            <a:r>
              <a:rPr lang="en-US" altLang="zh-CN" sz="1800" dirty="0">
                <a:solidFill>
                  <a:srgbClr val="FF0000"/>
                </a:solidFill>
              </a:rPr>
              <a:t>{CSG</a:t>
            </a:r>
            <a:r>
              <a:rPr lang="zh-CN" altLang="en-US" sz="1800" dirty="0">
                <a:solidFill>
                  <a:srgbClr val="FF0000"/>
                </a:solidFill>
              </a:rPr>
              <a:t>，</a:t>
            </a:r>
            <a:r>
              <a:rPr lang="en-US" altLang="zh-CN" sz="1800" dirty="0">
                <a:solidFill>
                  <a:srgbClr val="FF0000"/>
                </a:solidFill>
              </a:rPr>
              <a:t>CT</a:t>
            </a:r>
            <a:r>
              <a:rPr lang="zh-CN" altLang="en-US" sz="1800" dirty="0">
                <a:solidFill>
                  <a:srgbClr val="FF0000"/>
                </a:solidFill>
              </a:rPr>
              <a:t>，</a:t>
            </a:r>
            <a:r>
              <a:rPr lang="en-US" altLang="zh-CN" sz="1800" dirty="0">
                <a:solidFill>
                  <a:srgbClr val="FF0000"/>
                </a:solidFill>
              </a:rPr>
              <a:t>HRC</a:t>
            </a:r>
            <a:r>
              <a:rPr lang="zh-CN" altLang="en-US" sz="1800" dirty="0">
                <a:solidFill>
                  <a:srgbClr val="FF0000"/>
                </a:solidFill>
              </a:rPr>
              <a:t>，</a:t>
            </a:r>
            <a:r>
              <a:rPr lang="en-US" altLang="zh-CN" sz="1800" dirty="0">
                <a:solidFill>
                  <a:srgbClr val="FF0000"/>
                </a:solidFill>
              </a:rPr>
              <a:t>HRS}</a:t>
            </a:r>
            <a:endParaRPr lang="zh-CN" altLang="en-US" sz="1500" dirty="0"/>
          </a:p>
        </p:txBody>
      </p:sp>
      <p:sp>
        <p:nvSpPr>
          <p:cNvPr id="3" name="标题 2">
            <a:extLst>
              <a:ext uri="{FF2B5EF4-FFF2-40B4-BE49-F238E27FC236}">
                <a16:creationId xmlns:a16="http://schemas.microsoft.com/office/drawing/2014/main" id="{9B62475D-E237-23EF-D5AA-A659D708FC75}"/>
              </a:ext>
            </a:extLst>
          </p:cNvPr>
          <p:cNvSpPr>
            <a:spLocks noGrp="1"/>
          </p:cNvSpPr>
          <p:nvPr>
            <p:ph type="title"/>
          </p:nvPr>
        </p:nvSpPr>
        <p:spPr/>
        <p:txBody>
          <a:bodyPr/>
          <a:lstStyle/>
          <a:p>
            <a:r>
              <a:rPr lang="zh-CN" altLang="en-US" dirty="0"/>
              <a:t>关系模式的分解</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42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42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3426">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342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342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426">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3426">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3426">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3426">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342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3"/>
          <p:cNvSpPr>
            <a:spLocks noGrp="1"/>
          </p:cNvSpPr>
          <p:nvPr>
            <p:ph idx="1"/>
          </p:nvPr>
        </p:nvSpPr>
        <p:spPr/>
        <p:txBody>
          <a:bodyPr vert="horz" wrap="square" lIns="68580" tIns="34290" rIns="68580" bIns="34290" anchor="t" anchorCtr="0">
            <a:normAutofit lnSpcReduction="10000"/>
          </a:bodyPr>
          <a:lstStyle/>
          <a:p>
            <a:pPr marL="0" indent="0" algn="just">
              <a:lnSpc>
                <a:spcPct val="100000"/>
              </a:lnSpc>
              <a:spcBef>
                <a:spcPts val="0"/>
              </a:spcBef>
              <a:buNone/>
            </a:pPr>
            <a:r>
              <a:rPr lang="en-US" altLang="zh-CN" sz="1800" dirty="0">
                <a:solidFill>
                  <a:srgbClr val="467886"/>
                </a:solidFill>
              </a:rPr>
              <a:t>【</a:t>
            </a:r>
            <a:r>
              <a:rPr lang="zh-CN" altLang="en-US" sz="1800" dirty="0">
                <a:solidFill>
                  <a:srgbClr val="467886"/>
                </a:solidFill>
              </a:rPr>
              <a:t>例</a:t>
            </a:r>
            <a:r>
              <a:rPr lang="en-US" altLang="zh-CN" sz="1800" dirty="0">
                <a:solidFill>
                  <a:srgbClr val="467886"/>
                </a:solidFill>
              </a:rPr>
              <a:t>】</a:t>
            </a:r>
            <a:r>
              <a:rPr lang="zh-CN" altLang="en-US" sz="1800" dirty="0"/>
              <a:t>设</a:t>
            </a:r>
            <a:r>
              <a:rPr lang="en-US" altLang="zh-CN" sz="1800" dirty="0"/>
              <a:t>R(A,B,C,D,E,G),F={AB</a:t>
            </a:r>
            <a:r>
              <a:rPr lang="zh-CN" altLang="en-US" sz="1800" dirty="0"/>
              <a:t>→</a:t>
            </a:r>
            <a:r>
              <a:rPr lang="en-US" altLang="zh-CN" sz="1800" dirty="0"/>
              <a:t>C,C</a:t>
            </a:r>
            <a:r>
              <a:rPr lang="zh-CN" altLang="en-US" sz="1800" dirty="0"/>
              <a:t>→</a:t>
            </a:r>
            <a:r>
              <a:rPr lang="en-US" altLang="zh-CN" sz="1800" dirty="0"/>
              <a:t>D,CA</a:t>
            </a:r>
            <a:r>
              <a:rPr lang="zh-CN" altLang="en-US" sz="1800" dirty="0"/>
              <a:t>→</a:t>
            </a:r>
            <a:r>
              <a:rPr lang="en-US" altLang="zh-CN" sz="1800" dirty="0"/>
              <a:t>E,E</a:t>
            </a:r>
            <a:r>
              <a:rPr lang="zh-CN" altLang="en-US" sz="1800" dirty="0"/>
              <a:t>→</a:t>
            </a:r>
            <a:r>
              <a:rPr lang="en-US" altLang="zh-CN" sz="1800" dirty="0"/>
              <a:t>A,BD</a:t>
            </a:r>
            <a:r>
              <a:rPr lang="zh-CN" altLang="en-US" sz="1800" dirty="0"/>
              <a:t>→</a:t>
            </a:r>
            <a:r>
              <a:rPr lang="en-US" altLang="zh-CN" sz="1800" dirty="0"/>
              <a:t>A,B</a:t>
            </a:r>
            <a:r>
              <a:rPr lang="zh-CN" altLang="en-US" sz="1800" dirty="0"/>
              <a:t>→</a:t>
            </a:r>
            <a:r>
              <a:rPr lang="en-US" altLang="zh-CN" sz="1800" dirty="0"/>
              <a:t>C},</a:t>
            </a:r>
            <a:r>
              <a:rPr lang="zh-CN" altLang="en-US" sz="1800" dirty="0"/>
              <a:t>求其具有无损连接的</a:t>
            </a:r>
            <a:r>
              <a:rPr lang="en-US" altLang="zh-CN" sz="1800" dirty="0"/>
              <a:t>BCNF</a:t>
            </a:r>
            <a:r>
              <a:rPr lang="zh-CN" altLang="en-US" sz="1800" dirty="0"/>
              <a:t>分解。</a:t>
            </a:r>
            <a:endParaRPr lang="en-US" altLang="zh-CN" sz="1800" dirty="0"/>
          </a:p>
          <a:p>
            <a:pPr marL="0" indent="0" algn="just">
              <a:lnSpc>
                <a:spcPct val="100000"/>
              </a:lnSpc>
              <a:spcBef>
                <a:spcPts val="0"/>
              </a:spcBef>
              <a:buNone/>
            </a:pPr>
            <a:endParaRPr lang="zh-CN" altLang="en-US" sz="1800" dirty="0"/>
          </a:p>
          <a:p>
            <a:pPr marL="0" indent="0">
              <a:lnSpc>
                <a:spcPct val="100000"/>
              </a:lnSpc>
              <a:spcBef>
                <a:spcPts val="0"/>
              </a:spcBef>
              <a:buNone/>
            </a:pPr>
            <a:r>
              <a:rPr lang="zh-CN" altLang="en-US" sz="1800" dirty="0"/>
              <a:t>解</a:t>
            </a:r>
            <a:r>
              <a:rPr lang="en-US" altLang="zh-CN" sz="1800" dirty="0"/>
              <a:t>: BG</a:t>
            </a:r>
            <a:r>
              <a:rPr lang="zh-CN" altLang="en-US" sz="1800" dirty="0"/>
              <a:t>是</a:t>
            </a:r>
            <a:r>
              <a:rPr lang="en-US" altLang="zh-CN" sz="1800" dirty="0"/>
              <a:t>R</a:t>
            </a:r>
            <a:r>
              <a:rPr lang="zh-CN" altLang="en-US" sz="1800" dirty="0"/>
              <a:t>惟一的候选键。</a:t>
            </a:r>
            <a:endParaRPr lang="en-US" altLang="zh-CN" sz="1800" dirty="0"/>
          </a:p>
          <a:p>
            <a:pPr marL="0" indent="0">
              <a:lnSpc>
                <a:spcPct val="100000"/>
              </a:lnSpc>
              <a:spcBef>
                <a:spcPts val="0"/>
              </a:spcBef>
              <a:buNone/>
            </a:pPr>
            <a:r>
              <a:rPr lang="en-US" altLang="zh-CN" sz="1800" dirty="0"/>
              <a:t>    Fm={C</a:t>
            </a:r>
            <a:r>
              <a:rPr lang="zh-CN" altLang="en-US" sz="1800" dirty="0"/>
              <a:t>→</a:t>
            </a:r>
            <a:r>
              <a:rPr lang="en-US" altLang="zh-CN" sz="1800" dirty="0"/>
              <a:t>D,CA</a:t>
            </a:r>
            <a:r>
              <a:rPr lang="zh-CN" altLang="en-US" sz="1800" dirty="0"/>
              <a:t>→</a:t>
            </a:r>
            <a:r>
              <a:rPr lang="en-US" altLang="zh-CN" sz="1800" dirty="0"/>
              <a:t>E,E</a:t>
            </a:r>
            <a:r>
              <a:rPr lang="zh-CN" altLang="en-US" sz="1800" dirty="0"/>
              <a:t>→</a:t>
            </a:r>
            <a:r>
              <a:rPr lang="en-US" altLang="zh-CN" sz="1800" dirty="0"/>
              <a:t>A,B</a:t>
            </a:r>
            <a:r>
              <a:rPr lang="zh-CN" altLang="en-US" sz="1800" dirty="0"/>
              <a:t>→</a:t>
            </a:r>
            <a:r>
              <a:rPr lang="en-US" altLang="zh-CN" sz="1800" dirty="0"/>
              <a:t>A,B</a:t>
            </a:r>
            <a:r>
              <a:rPr lang="zh-CN" altLang="en-US" sz="1800" dirty="0"/>
              <a:t>→</a:t>
            </a:r>
            <a:r>
              <a:rPr lang="en-US" altLang="zh-CN" sz="1800" dirty="0"/>
              <a:t>C}(</a:t>
            </a:r>
            <a:r>
              <a:rPr lang="zh-CN" altLang="en-US" sz="1800" dirty="0"/>
              <a:t>也可以利用</a:t>
            </a:r>
            <a:r>
              <a:rPr lang="en-US" altLang="zh-CN" sz="1800" dirty="0"/>
              <a:t>F</a:t>
            </a:r>
            <a:r>
              <a:rPr lang="zh-CN" altLang="en-US" sz="1800" dirty="0"/>
              <a:t>进行分解</a:t>
            </a:r>
            <a:r>
              <a:rPr lang="en-US" altLang="zh-CN" sz="1800" dirty="0"/>
              <a:t>)</a:t>
            </a:r>
          </a:p>
          <a:p>
            <a:pPr marL="0" indent="0">
              <a:lnSpc>
                <a:spcPct val="100000"/>
              </a:lnSpc>
              <a:spcBef>
                <a:spcPts val="0"/>
              </a:spcBef>
              <a:buNone/>
            </a:pPr>
            <a:r>
              <a:rPr lang="en-US" altLang="zh-CN" sz="1800" dirty="0"/>
              <a:t>  </a:t>
            </a:r>
            <a:r>
              <a:rPr lang="en-US" altLang="zh-CN" sz="1800" dirty="0">
                <a:solidFill>
                  <a:schemeClr val="accent1"/>
                </a:solidFill>
              </a:rPr>
              <a:t> ∴R</a:t>
            </a:r>
            <a:r>
              <a:rPr lang="zh-CN" altLang="en-US" sz="1800" dirty="0">
                <a:solidFill>
                  <a:schemeClr val="accent1"/>
                </a:solidFill>
              </a:rPr>
              <a:t>不是</a:t>
            </a:r>
            <a:r>
              <a:rPr lang="en-US" altLang="zh-CN" sz="1800" dirty="0">
                <a:solidFill>
                  <a:schemeClr val="accent1"/>
                </a:solidFill>
              </a:rPr>
              <a:t>BCNF</a:t>
            </a:r>
            <a:r>
              <a:rPr lang="zh-CN" altLang="en-US" sz="1800" dirty="0">
                <a:solidFill>
                  <a:schemeClr val="accent1"/>
                </a:solidFill>
              </a:rPr>
              <a:t>。</a:t>
            </a:r>
            <a:endParaRPr lang="en-US" altLang="zh-CN" sz="1800" dirty="0">
              <a:solidFill>
                <a:schemeClr val="accent1"/>
              </a:solidFill>
            </a:endParaRPr>
          </a:p>
          <a:p>
            <a:pPr marL="0" indent="0">
              <a:lnSpc>
                <a:spcPct val="100000"/>
              </a:lnSpc>
              <a:spcBef>
                <a:spcPts val="0"/>
              </a:spcBef>
              <a:buNone/>
            </a:pPr>
            <a:r>
              <a:rPr lang="zh-CN" altLang="en-US" sz="1800" dirty="0"/>
              <a:t>   选</a:t>
            </a:r>
            <a:r>
              <a:rPr lang="en-US" altLang="zh-CN" sz="1800" dirty="0"/>
              <a:t>C</a:t>
            </a:r>
            <a:r>
              <a:rPr lang="zh-CN" altLang="en-US" sz="1800" dirty="0"/>
              <a:t>→</a:t>
            </a:r>
            <a:r>
              <a:rPr lang="en-US" altLang="zh-CN" sz="1800" dirty="0"/>
              <a:t>D, S1=</a:t>
            </a:r>
            <a:r>
              <a:rPr lang="en-US" altLang="zh-CN" sz="1800" dirty="0">
                <a:solidFill>
                  <a:srgbClr val="FF0000"/>
                </a:solidFill>
              </a:rPr>
              <a:t>CD</a:t>
            </a:r>
            <a:r>
              <a:rPr lang="en-US" altLang="zh-CN" sz="1800" dirty="0"/>
              <a:t>(</a:t>
            </a:r>
            <a:r>
              <a:rPr lang="zh-CN" altLang="en-US" sz="1800" dirty="0">
                <a:solidFill>
                  <a:schemeClr val="accent1"/>
                </a:solidFill>
              </a:rPr>
              <a:t>是</a:t>
            </a:r>
            <a:r>
              <a:rPr lang="en-US" altLang="zh-CN" sz="1800" dirty="0">
                <a:solidFill>
                  <a:schemeClr val="accent1"/>
                </a:solidFill>
              </a:rPr>
              <a:t>BCNF</a:t>
            </a:r>
            <a:r>
              <a:rPr lang="en-US" altLang="zh-CN" sz="1800" dirty="0"/>
              <a:t>),     S2=ABCDEG-D=ABCEG(</a:t>
            </a:r>
            <a:r>
              <a:rPr lang="zh-CN" altLang="en-US" sz="1800" dirty="0">
                <a:solidFill>
                  <a:schemeClr val="accent1"/>
                </a:solidFill>
              </a:rPr>
              <a:t>不是</a:t>
            </a:r>
            <a:r>
              <a:rPr lang="en-US" altLang="zh-CN" sz="1800" dirty="0">
                <a:solidFill>
                  <a:schemeClr val="accent1"/>
                </a:solidFill>
              </a:rPr>
              <a:t>BCNF,</a:t>
            </a:r>
            <a:r>
              <a:rPr lang="zh-CN" altLang="en-US" sz="1800" dirty="0"/>
              <a:t>候选键</a:t>
            </a:r>
            <a:r>
              <a:rPr lang="zh-CN" altLang="en-US" sz="1800" dirty="0">
                <a:solidFill>
                  <a:schemeClr val="accent1"/>
                </a:solidFill>
              </a:rPr>
              <a:t>是</a:t>
            </a:r>
            <a:r>
              <a:rPr lang="en-US" altLang="zh-CN" sz="1800" dirty="0">
                <a:solidFill>
                  <a:schemeClr val="accent1"/>
                </a:solidFill>
              </a:rPr>
              <a:t>BG</a:t>
            </a:r>
            <a:r>
              <a:rPr lang="en-US" altLang="zh-CN" sz="1800" dirty="0"/>
              <a:t>)</a:t>
            </a:r>
          </a:p>
          <a:p>
            <a:pPr marL="0" indent="0">
              <a:lnSpc>
                <a:spcPct val="100000"/>
              </a:lnSpc>
              <a:spcBef>
                <a:spcPts val="0"/>
              </a:spcBef>
              <a:buNone/>
            </a:pPr>
            <a:r>
              <a:rPr lang="zh-CN" altLang="en-US" sz="1800" dirty="0"/>
              <a:t>   选</a:t>
            </a:r>
            <a:r>
              <a:rPr lang="en-US" altLang="zh-CN" sz="1800" dirty="0"/>
              <a:t>CA</a:t>
            </a:r>
            <a:r>
              <a:rPr lang="zh-CN" altLang="en-US" sz="1800" dirty="0"/>
              <a:t>→</a:t>
            </a:r>
            <a:r>
              <a:rPr lang="en-US" altLang="zh-CN" sz="1800" dirty="0"/>
              <a:t>E,S1=CAE(</a:t>
            </a:r>
            <a:r>
              <a:rPr lang="zh-CN" altLang="en-US" sz="1800" dirty="0">
                <a:solidFill>
                  <a:schemeClr val="accent1"/>
                </a:solidFill>
              </a:rPr>
              <a:t>不是</a:t>
            </a:r>
            <a:r>
              <a:rPr lang="en-US" altLang="zh-CN" sz="1800" dirty="0">
                <a:solidFill>
                  <a:schemeClr val="accent1"/>
                </a:solidFill>
              </a:rPr>
              <a:t>BCNF,</a:t>
            </a:r>
            <a:r>
              <a:rPr lang="zh-CN" altLang="en-US" sz="1800" dirty="0"/>
              <a:t>候选键</a:t>
            </a:r>
            <a:r>
              <a:rPr lang="zh-CN" altLang="en-US" sz="1800" dirty="0">
                <a:solidFill>
                  <a:schemeClr val="accent1"/>
                </a:solidFill>
              </a:rPr>
              <a:t>是</a:t>
            </a:r>
            <a:r>
              <a:rPr lang="en-US" altLang="zh-CN" sz="1800" dirty="0">
                <a:solidFill>
                  <a:schemeClr val="accent1"/>
                </a:solidFill>
              </a:rPr>
              <a:t>AC,EC</a:t>
            </a:r>
            <a:r>
              <a:rPr lang="en-US" altLang="zh-CN" sz="1800" dirty="0"/>
              <a:t>),   S2=ABCEG-E=ABCG(</a:t>
            </a:r>
            <a:r>
              <a:rPr lang="zh-CN" altLang="en-US" sz="1800" dirty="0">
                <a:solidFill>
                  <a:schemeClr val="accent1"/>
                </a:solidFill>
              </a:rPr>
              <a:t>不是</a:t>
            </a:r>
            <a:r>
              <a:rPr lang="en-US" altLang="zh-CN" sz="1800" dirty="0">
                <a:solidFill>
                  <a:schemeClr val="accent1"/>
                </a:solidFill>
              </a:rPr>
              <a:t>BCNF,</a:t>
            </a:r>
            <a:r>
              <a:rPr lang="zh-CN" altLang="en-US" sz="1800" dirty="0"/>
              <a:t>候选键</a:t>
            </a:r>
            <a:r>
              <a:rPr lang="zh-CN" altLang="en-US" sz="1800" dirty="0">
                <a:solidFill>
                  <a:schemeClr val="accent1"/>
                </a:solidFill>
              </a:rPr>
              <a:t>是</a:t>
            </a:r>
            <a:r>
              <a:rPr lang="en-US" altLang="zh-CN" sz="1800" dirty="0">
                <a:solidFill>
                  <a:schemeClr val="accent1"/>
                </a:solidFill>
              </a:rPr>
              <a:t>BG</a:t>
            </a:r>
            <a:r>
              <a:rPr lang="en-US" altLang="zh-CN" sz="1800" dirty="0"/>
              <a:t>)</a:t>
            </a:r>
          </a:p>
          <a:p>
            <a:pPr marL="0" indent="0">
              <a:lnSpc>
                <a:spcPct val="100000"/>
              </a:lnSpc>
              <a:spcBef>
                <a:spcPts val="0"/>
              </a:spcBef>
              <a:buNone/>
            </a:pPr>
            <a:r>
              <a:rPr lang="zh-CN" altLang="en-US" sz="1800" dirty="0"/>
              <a:t>   选</a:t>
            </a:r>
            <a:r>
              <a:rPr lang="en-US" altLang="zh-CN" sz="1800" dirty="0"/>
              <a:t>E</a:t>
            </a:r>
            <a:r>
              <a:rPr lang="zh-CN" altLang="en-US" sz="1800" dirty="0"/>
              <a:t>→</a:t>
            </a:r>
            <a:r>
              <a:rPr lang="en-US" altLang="zh-CN" sz="1800" dirty="0"/>
              <a:t>A, S1=</a:t>
            </a:r>
            <a:r>
              <a:rPr lang="en-US" altLang="zh-CN" sz="1800" dirty="0">
                <a:solidFill>
                  <a:srgbClr val="FF0000"/>
                </a:solidFill>
              </a:rPr>
              <a:t>EA</a:t>
            </a:r>
            <a:r>
              <a:rPr lang="en-US" altLang="zh-CN" sz="1800" dirty="0"/>
              <a:t>(</a:t>
            </a:r>
            <a:r>
              <a:rPr lang="zh-CN" altLang="en-US" sz="1800" dirty="0">
                <a:solidFill>
                  <a:schemeClr val="accent1"/>
                </a:solidFill>
              </a:rPr>
              <a:t>是</a:t>
            </a:r>
            <a:r>
              <a:rPr lang="en-US" altLang="zh-CN" sz="1800" dirty="0">
                <a:solidFill>
                  <a:schemeClr val="accent1"/>
                </a:solidFill>
              </a:rPr>
              <a:t>BCNF</a:t>
            </a:r>
            <a:r>
              <a:rPr lang="en-US" altLang="zh-CN" sz="1800" dirty="0"/>
              <a:t>),     S2=CAE-A=</a:t>
            </a:r>
            <a:r>
              <a:rPr lang="en-US" altLang="zh-CN" sz="1800" dirty="0">
                <a:solidFill>
                  <a:srgbClr val="FF0000"/>
                </a:solidFill>
              </a:rPr>
              <a:t>CE</a:t>
            </a:r>
            <a:r>
              <a:rPr lang="en-US" altLang="zh-CN" sz="1800" dirty="0"/>
              <a:t>(</a:t>
            </a:r>
            <a:r>
              <a:rPr lang="zh-CN" altLang="en-US" sz="1800" dirty="0">
                <a:solidFill>
                  <a:schemeClr val="accent1"/>
                </a:solidFill>
              </a:rPr>
              <a:t>是</a:t>
            </a:r>
            <a:r>
              <a:rPr lang="en-US" altLang="zh-CN" sz="1800" dirty="0">
                <a:solidFill>
                  <a:schemeClr val="accent1"/>
                </a:solidFill>
              </a:rPr>
              <a:t>BCNF</a:t>
            </a:r>
            <a:r>
              <a:rPr lang="en-US" altLang="zh-CN" sz="1800" dirty="0"/>
              <a:t>)</a:t>
            </a:r>
          </a:p>
          <a:p>
            <a:pPr marL="0" indent="0">
              <a:lnSpc>
                <a:spcPct val="100000"/>
              </a:lnSpc>
              <a:spcBef>
                <a:spcPts val="0"/>
              </a:spcBef>
              <a:buNone/>
            </a:pPr>
            <a:r>
              <a:rPr lang="zh-CN" altLang="en-US" sz="1800" dirty="0"/>
              <a:t>   选</a:t>
            </a:r>
            <a:r>
              <a:rPr lang="en-US" altLang="zh-CN" sz="1800" dirty="0"/>
              <a:t>B</a:t>
            </a:r>
            <a:r>
              <a:rPr lang="zh-CN" altLang="en-US" sz="1800" dirty="0"/>
              <a:t>→</a:t>
            </a:r>
            <a:r>
              <a:rPr lang="en-US" altLang="zh-CN" sz="1800" dirty="0"/>
              <a:t>A, S1=</a:t>
            </a:r>
            <a:r>
              <a:rPr lang="en-US" altLang="zh-CN" sz="1800" dirty="0">
                <a:solidFill>
                  <a:srgbClr val="FF0000"/>
                </a:solidFill>
              </a:rPr>
              <a:t>BA</a:t>
            </a:r>
            <a:r>
              <a:rPr lang="en-US" altLang="zh-CN" sz="1800" dirty="0"/>
              <a:t>(</a:t>
            </a:r>
            <a:r>
              <a:rPr lang="zh-CN" altLang="en-US" sz="1800" dirty="0">
                <a:solidFill>
                  <a:schemeClr val="accent1"/>
                </a:solidFill>
              </a:rPr>
              <a:t>是</a:t>
            </a:r>
            <a:r>
              <a:rPr lang="en-US" altLang="zh-CN" sz="1800" dirty="0">
                <a:solidFill>
                  <a:schemeClr val="accent1"/>
                </a:solidFill>
              </a:rPr>
              <a:t>BCNF</a:t>
            </a:r>
            <a:r>
              <a:rPr lang="en-US" altLang="zh-CN" sz="1800" dirty="0"/>
              <a:t>),     S2=ABCG-A=BCG(</a:t>
            </a:r>
            <a:r>
              <a:rPr lang="zh-CN" altLang="en-US" sz="1800" dirty="0">
                <a:solidFill>
                  <a:schemeClr val="accent1"/>
                </a:solidFill>
              </a:rPr>
              <a:t>不是</a:t>
            </a:r>
            <a:r>
              <a:rPr lang="en-US" altLang="zh-CN" sz="1800" dirty="0">
                <a:solidFill>
                  <a:schemeClr val="accent1"/>
                </a:solidFill>
              </a:rPr>
              <a:t>BCNF,</a:t>
            </a:r>
            <a:r>
              <a:rPr lang="zh-CN" altLang="en-US" sz="1800" dirty="0"/>
              <a:t>候选键</a:t>
            </a:r>
            <a:r>
              <a:rPr lang="zh-CN" altLang="en-US" sz="1800" dirty="0">
                <a:solidFill>
                  <a:schemeClr val="accent1"/>
                </a:solidFill>
              </a:rPr>
              <a:t>是</a:t>
            </a:r>
            <a:r>
              <a:rPr lang="en-US" altLang="zh-CN" sz="1800" dirty="0">
                <a:solidFill>
                  <a:schemeClr val="accent1"/>
                </a:solidFill>
              </a:rPr>
              <a:t>BG</a:t>
            </a:r>
            <a:r>
              <a:rPr lang="en-US" altLang="zh-CN" sz="1800" dirty="0"/>
              <a:t>)</a:t>
            </a:r>
          </a:p>
          <a:p>
            <a:pPr marL="0" indent="0">
              <a:lnSpc>
                <a:spcPct val="100000"/>
              </a:lnSpc>
              <a:spcBef>
                <a:spcPts val="0"/>
              </a:spcBef>
              <a:buNone/>
            </a:pPr>
            <a:r>
              <a:rPr lang="zh-CN" altLang="en-US" sz="1800" dirty="0"/>
              <a:t>   选</a:t>
            </a:r>
            <a:r>
              <a:rPr lang="en-US" altLang="zh-CN" sz="1800" dirty="0"/>
              <a:t>B</a:t>
            </a:r>
            <a:r>
              <a:rPr lang="zh-CN" altLang="en-US" sz="1800" dirty="0"/>
              <a:t>→</a:t>
            </a:r>
            <a:r>
              <a:rPr lang="en-US" altLang="zh-CN" sz="1800" dirty="0"/>
              <a:t>C, S1=</a:t>
            </a:r>
            <a:r>
              <a:rPr lang="en-US" altLang="zh-CN" sz="1800" dirty="0">
                <a:solidFill>
                  <a:srgbClr val="FF0000"/>
                </a:solidFill>
              </a:rPr>
              <a:t>BC</a:t>
            </a:r>
            <a:r>
              <a:rPr lang="en-US" altLang="zh-CN" sz="1800" dirty="0"/>
              <a:t>(</a:t>
            </a:r>
            <a:r>
              <a:rPr lang="zh-CN" altLang="en-US" sz="1800" dirty="0">
                <a:solidFill>
                  <a:schemeClr val="accent1"/>
                </a:solidFill>
              </a:rPr>
              <a:t>是</a:t>
            </a:r>
            <a:r>
              <a:rPr lang="en-US" altLang="zh-CN" sz="1800" dirty="0">
                <a:solidFill>
                  <a:schemeClr val="accent1"/>
                </a:solidFill>
              </a:rPr>
              <a:t>BCNF</a:t>
            </a:r>
            <a:r>
              <a:rPr lang="en-US" altLang="zh-CN" sz="1800" dirty="0"/>
              <a:t>),     S2=BCG-C=</a:t>
            </a:r>
            <a:r>
              <a:rPr lang="en-US" altLang="zh-CN" sz="1800" dirty="0">
                <a:solidFill>
                  <a:srgbClr val="FF0000"/>
                </a:solidFill>
              </a:rPr>
              <a:t>BG</a:t>
            </a:r>
            <a:r>
              <a:rPr lang="en-US" altLang="zh-CN" sz="1800" dirty="0"/>
              <a:t> (</a:t>
            </a:r>
            <a:r>
              <a:rPr lang="zh-CN" altLang="en-US" sz="1800" dirty="0">
                <a:solidFill>
                  <a:schemeClr val="accent1"/>
                </a:solidFill>
              </a:rPr>
              <a:t>是</a:t>
            </a:r>
            <a:r>
              <a:rPr lang="en-US" altLang="zh-CN" sz="1800" dirty="0">
                <a:solidFill>
                  <a:schemeClr val="accent1"/>
                </a:solidFill>
              </a:rPr>
              <a:t>BCNF</a:t>
            </a:r>
            <a:r>
              <a:rPr lang="en-US" altLang="zh-CN" sz="1800" dirty="0"/>
              <a:t>)</a:t>
            </a:r>
          </a:p>
          <a:p>
            <a:pPr marL="0" indent="0">
              <a:lnSpc>
                <a:spcPct val="100000"/>
              </a:lnSpc>
              <a:spcBef>
                <a:spcPts val="0"/>
              </a:spcBef>
              <a:buNone/>
            </a:pPr>
            <a:r>
              <a:rPr lang="en-US" altLang="zh-CN" sz="1800" dirty="0">
                <a:solidFill>
                  <a:schemeClr val="bg2"/>
                </a:solidFill>
              </a:rPr>
              <a:t>  ∴</a:t>
            </a:r>
            <a:r>
              <a:rPr lang="zh-CN" altLang="en-US" sz="1800" dirty="0"/>
              <a:t>具有无损连接的的</a:t>
            </a:r>
            <a:r>
              <a:rPr lang="en-US" altLang="zh-CN" sz="1800" dirty="0"/>
              <a:t>BCNF</a:t>
            </a:r>
            <a:r>
              <a:rPr lang="zh-CN" altLang="en-US" sz="1800" dirty="0"/>
              <a:t>分解</a:t>
            </a:r>
            <a:r>
              <a:rPr lang="en-US" altLang="zh-CN" sz="1800" dirty="0"/>
              <a:t>:</a:t>
            </a:r>
            <a:r>
              <a:rPr lang="en-US" altLang="zh-CN" sz="1800" dirty="0">
                <a:solidFill>
                  <a:srgbClr val="FF0000"/>
                </a:solidFill>
              </a:rPr>
              <a:t>{CD,EA,CE,BA,BC,BG}</a:t>
            </a:r>
            <a:r>
              <a:rPr lang="en-US" altLang="zh-CN" sz="1800" dirty="0"/>
              <a:t>     </a:t>
            </a:r>
            <a:endParaRPr lang="zh-CN" altLang="en-US" sz="1800" dirty="0"/>
          </a:p>
        </p:txBody>
      </p:sp>
      <p:sp>
        <p:nvSpPr>
          <p:cNvPr id="3" name="标题 2">
            <a:extLst>
              <a:ext uri="{FF2B5EF4-FFF2-40B4-BE49-F238E27FC236}">
                <a16:creationId xmlns:a16="http://schemas.microsoft.com/office/drawing/2014/main" id="{19DF70D2-976C-5973-C0C4-7CAB8F56EE6D}"/>
              </a:ext>
            </a:extLst>
          </p:cNvPr>
          <p:cNvSpPr>
            <a:spLocks noGrp="1"/>
          </p:cNvSpPr>
          <p:nvPr>
            <p:ph type="title"/>
          </p:nvPr>
        </p:nvSpPr>
        <p:spPr/>
        <p:txBody>
          <a:bodyPr/>
          <a:lstStyle/>
          <a:p>
            <a:r>
              <a:rPr lang="zh-CN" altLang="en-US" dirty="0"/>
              <a:t>关系模式的分解</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37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1378">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1378">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1378">
                                            <p:txEl>
                                              <p:charRg st="137" end="16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1378">
                                            <p:txEl>
                                              <p:charRg st="160" end="20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1378">
                                            <p:txEl>
                                              <p:charRg st="204" end="23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1378">
                                            <p:txEl>
                                              <p:charRg st="239" end="28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1378">
                                            <p:txEl>
                                              <p:charRg st="281" end="30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1378">
                                            <p:txEl>
                                              <p:charRg st="304" end="33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1378">
                                            <p:txEl>
                                              <p:charRg st="334" end="35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1378">
                                            <p:txEl>
                                              <p:charRg st="357" end="39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1378">
                                            <p:txEl>
                                              <p:charRg st="397" end="42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1378">
                                            <p:txEl>
                                              <p:charRg st="420" end="45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1378">
                                            <p:txEl>
                                              <p:charRg st="451" end="45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3"/>
          <p:cNvSpPr>
            <a:spLocks noGrp="1"/>
          </p:cNvSpPr>
          <p:nvPr>
            <p:ph idx="1"/>
          </p:nvPr>
        </p:nvSpPr>
        <p:spPr>
          <a:xfrm>
            <a:off x="628650" y="1042761"/>
            <a:ext cx="7886700" cy="607808"/>
          </a:xfrm>
        </p:spPr>
        <p:txBody>
          <a:bodyPr vert="horz" wrap="square" lIns="68580" tIns="34290" rIns="68580" bIns="34290" anchor="t" anchorCtr="0"/>
          <a:lstStyle/>
          <a:p>
            <a:pPr marL="0" indent="0" algn="just">
              <a:buNone/>
            </a:pPr>
            <a:r>
              <a:rPr lang="en-US" altLang="zh-CN" sz="1800" dirty="0">
                <a:solidFill>
                  <a:srgbClr val="467886"/>
                </a:solidFill>
              </a:rPr>
              <a:t>【</a:t>
            </a:r>
            <a:r>
              <a:rPr lang="zh-CN" altLang="zh-CN" sz="1800" dirty="0">
                <a:solidFill>
                  <a:srgbClr val="467886"/>
                </a:solidFill>
              </a:rPr>
              <a:t>例</a:t>
            </a:r>
            <a:r>
              <a:rPr lang="en-US" altLang="zh-CN" sz="1800" dirty="0">
                <a:solidFill>
                  <a:srgbClr val="467886"/>
                </a:solidFill>
              </a:rPr>
              <a:t>】</a:t>
            </a:r>
            <a:r>
              <a:rPr lang="zh-CN" altLang="en-US" sz="1800" dirty="0"/>
              <a:t>设</a:t>
            </a:r>
            <a:r>
              <a:rPr lang="en-US" altLang="zh-CN" sz="1800" dirty="0"/>
              <a:t>R(A,B,C,D,E,G),F={AB</a:t>
            </a:r>
            <a:r>
              <a:rPr lang="zh-CN" altLang="en-US" sz="1800" dirty="0"/>
              <a:t>→</a:t>
            </a:r>
            <a:r>
              <a:rPr lang="en-US" altLang="zh-CN" sz="1800" dirty="0"/>
              <a:t>C,C</a:t>
            </a:r>
            <a:r>
              <a:rPr lang="zh-CN" altLang="en-US" sz="1800" dirty="0"/>
              <a:t>→</a:t>
            </a:r>
            <a:r>
              <a:rPr lang="en-US" altLang="zh-CN" sz="1800" dirty="0"/>
              <a:t>D,CA</a:t>
            </a:r>
            <a:r>
              <a:rPr lang="zh-CN" altLang="en-US" sz="1800" dirty="0"/>
              <a:t>→</a:t>
            </a:r>
            <a:r>
              <a:rPr lang="en-US" altLang="zh-CN" sz="1800" dirty="0"/>
              <a:t>E,E</a:t>
            </a:r>
            <a:r>
              <a:rPr lang="zh-CN" altLang="en-US" sz="1800" dirty="0"/>
              <a:t>→</a:t>
            </a:r>
            <a:r>
              <a:rPr lang="en-US" altLang="zh-CN" sz="1800" dirty="0"/>
              <a:t>A,BD</a:t>
            </a:r>
            <a:r>
              <a:rPr lang="zh-CN" altLang="en-US" sz="1800" dirty="0"/>
              <a:t>→</a:t>
            </a:r>
            <a:r>
              <a:rPr lang="en-US" altLang="zh-CN" sz="1800" dirty="0"/>
              <a:t>A,B</a:t>
            </a:r>
            <a:r>
              <a:rPr lang="zh-CN" altLang="en-US" sz="1800" dirty="0"/>
              <a:t>→</a:t>
            </a:r>
            <a:r>
              <a:rPr lang="en-US" altLang="zh-CN" sz="1800" dirty="0"/>
              <a:t>C},</a:t>
            </a:r>
            <a:r>
              <a:rPr lang="zh-CN" altLang="en-US" sz="1800" dirty="0"/>
              <a:t>求其具有无损连接的</a:t>
            </a:r>
            <a:r>
              <a:rPr lang="en-US" altLang="zh-CN" sz="1800" dirty="0"/>
              <a:t>BCNF</a:t>
            </a:r>
            <a:r>
              <a:rPr lang="zh-CN" altLang="en-US" sz="1800" dirty="0"/>
              <a:t>分解。</a:t>
            </a:r>
          </a:p>
        </p:txBody>
      </p:sp>
      <p:sp>
        <p:nvSpPr>
          <p:cNvPr id="99332" name="文本框 1"/>
          <p:cNvSpPr txBox="1"/>
          <p:nvPr/>
        </p:nvSpPr>
        <p:spPr>
          <a:xfrm>
            <a:off x="454116" y="4384986"/>
            <a:ext cx="5955476" cy="369332"/>
          </a:xfrm>
          <a:prstGeom prst="rect">
            <a:avLst/>
          </a:prstGeom>
          <a:noFill/>
          <a:ln w="9525">
            <a:noFill/>
          </a:ln>
        </p:spPr>
        <p:txBody>
          <a:bodyPr wrap="none" anchor="t" anchorCtr="0">
            <a:spAutoFit/>
          </a:bodyPr>
          <a:lstStyle/>
          <a:p>
            <a:r>
              <a:rPr lang="zh-CN" altLang="en-US" dirty="0">
                <a:latin typeface="Microsoft YaHei" panose="020B0503020204020204" pitchFamily="34" charset="-122"/>
                <a:ea typeface="Microsoft YaHei" panose="020B0503020204020204" pitchFamily="34" charset="-122"/>
                <a:sym typeface="宋体" panose="02010600030101010101" pitchFamily="2" charset="-122"/>
              </a:rPr>
              <a:t>解</a:t>
            </a:r>
            <a:r>
              <a:rPr lang="en-US" altLang="zh-CN" dirty="0">
                <a:latin typeface="Microsoft YaHei" panose="020B0503020204020204" pitchFamily="34" charset="-122"/>
                <a:ea typeface="Microsoft YaHei" panose="020B0503020204020204" pitchFamily="34" charset="-122"/>
                <a:sym typeface="宋体" panose="02010600030101010101" pitchFamily="2" charset="-122"/>
              </a:rPr>
              <a:t>: </a:t>
            </a:r>
            <a:r>
              <a:rPr lang="en-US" altLang="zh-CN" dirty="0">
                <a:solidFill>
                  <a:schemeClr val="bg2"/>
                </a:solidFill>
                <a:latin typeface="Microsoft YaHei" panose="020B0503020204020204" pitchFamily="34" charset="-122"/>
                <a:ea typeface="Microsoft YaHei" panose="020B0503020204020204" pitchFamily="34" charset="-122"/>
                <a:sym typeface="宋体" panose="02010600030101010101" pitchFamily="2" charset="-122"/>
              </a:rPr>
              <a:t>  </a:t>
            </a:r>
            <a:r>
              <a:rPr lang="zh-CN" altLang="en-US" dirty="0">
                <a:latin typeface="Microsoft YaHei" panose="020B0503020204020204" pitchFamily="34" charset="-122"/>
                <a:ea typeface="Microsoft YaHei" panose="020B0503020204020204" pitchFamily="34" charset="-122"/>
                <a:sym typeface="宋体" panose="02010600030101010101" pitchFamily="2" charset="-122"/>
              </a:rPr>
              <a:t>具有无损连接的的</a:t>
            </a:r>
            <a:r>
              <a:rPr lang="en-US" altLang="zh-CN" dirty="0">
                <a:latin typeface="Microsoft YaHei" panose="020B0503020204020204" pitchFamily="34" charset="-122"/>
                <a:ea typeface="Microsoft YaHei" panose="020B0503020204020204" pitchFamily="34" charset="-122"/>
                <a:sym typeface="宋体" panose="02010600030101010101" pitchFamily="2" charset="-122"/>
              </a:rPr>
              <a:t>BCNF</a:t>
            </a:r>
            <a:r>
              <a:rPr lang="zh-CN" altLang="en-US" dirty="0">
                <a:latin typeface="Microsoft YaHei" panose="020B0503020204020204" pitchFamily="34" charset="-122"/>
                <a:ea typeface="Microsoft YaHei" panose="020B0503020204020204" pitchFamily="34" charset="-122"/>
                <a:sym typeface="宋体" panose="02010600030101010101" pitchFamily="2" charset="-122"/>
              </a:rPr>
              <a:t>分解</a:t>
            </a:r>
            <a:r>
              <a:rPr lang="en-US" altLang="zh-CN" dirty="0">
                <a:latin typeface="Microsoft YaHei" panose="020B0503020204020204" pitchFamily="34" charset="-122"/>
                <a:ea typeface="Microsoft YaHei" panose="020B0503020204020204" pitchFamily="34" charset="-122"/>
                <a:sym typeface="宋体" panose="02010600030101010101" pitchFamily="2" charset="-122"/>
              </a:rPr>
              <a:t>:</a:t>
            </a:r>
            <a:r>
              <a:rPr lang="en-US" altLang="zh-CN" dirty="0">
                <a:solidFill>
                  <a:srgbClr val="FF0000"/>
                </a:solidFill>
                <a:latin typeface="Microsoft YaHei" panose="020B0503020204020204" pitchFamily="34" charset="-122"/>
                <a:ea typeface="Microsoft YaHei" panose="020B0503020204020204" pitchFamily="34" charset="-122"/>
                <a:sym typeface="宋体" panose="02010600030101010101" pitchFamily="2" charset="-122"/>
              </a:rPr>
              <a:t>{CD,EA,CE,BA,BC,BG}</a:t>
            </a:r>
            <a:endParaRPr lang="zh-CN" altLang="en-US" dirty="0">
              <a:solidFill>
                <a:srgbClr val="FF0000"/>
              </a:solidFill>
              <a:latin typeface="Microsoft YaHei" panose="020B0503020204020204" pitchFamily="34" charset="-122"/>
              <a:ea typeface="Microsoft YaHei" panose="020B0503020204020204" pitchFamily="34" charset="-122"/>
            </a:endParaRPr>
          </a:p>
        </p:txBody>
      </p:sp>
      <p:sp>
        <p:nvSpPr>
          <p:cNvPr id="3" name="标题 2">
            <a:extLst>
              <a:ext uri="{FF2B5EF4-FFF2-40B4-BE49-F238E27FC236}">
                <a16:creationId xmlns:a16="http://schemas.microsoft.com/office/drawing/2014/main" id="{1CFF1EC6-ACD3-BD9B-511B-3CDB8E93A838}"/>
              </a:ext>
            </a:extLst>
          </p:cNvPr>
          <p:cNvSpPr>
            <a:spLocks noGrp="1"/>
          </p:cNvSpPr>
          <p:nvPr>
            <p:ph type="title"/>
          </p:nvPr>
        </p:nvSpPr>
        <p:spPr/>
        <p:txBody>
          <a:bodyPr/>
          <a:lstStyle/>
          <a:p>
            <a:r>
              <a:rPr lang="zh-CN" altLang="en-US" dirty="0"/>
              <a:t>关系模式的分解</a:t>
            </a:r>
          </a:p>
        </p:txBody>
      </p:sp>
      <p:sp>
        <p:nvSpPr>
          <p:cNvPr id="2" name="文本框 1">
            <a:extLst>
              <a:ext uri="{FF2B5EF4-FFF2-40B4-BE49-F238E27FC236}">
                <a16:creationId xmlns:a16="http://schemas.microsoft.com/office/drawing/2014/main" id="{F35B6C15-D828-B7B3-9581-FFB24E20F8B1}"/>
              </a:ext>
            </a:extLst>
          </p:cNvPr>
          <p:cNvSpPr txBox="1"/>
          <p:nvPr/>
        </p:nvSpPr>
        <p:spPr>
          <a:xfrm>
            <a:off x="3431854" y="1432731"/>
            <a:ext cx="1681871" cy="369332"/>
          </a:xfrm>
          <a:prstGeom prst="rect">
            <a:avLst/>
          </a:prstGeom>
          <a:noFill/>
        </p:spPr>
        <p:txBody>
          <a:bodyPr wrap="none" rtlCol="0">
            <a:spAutoFit/>
          </a:bodyPr>
          <a:lstStyle/>
          <a:p>
            <a:r>
              <a:rPr kumimoji="1" lang="en-US" altLang="zh-CN" dirty="0"/>
              <a:t>ABCDEG(</a:t>
            </a:r>
            <a:r>
              <a:rPr kumimoji="1" lang="zh-CN" altLang="en-US" dirty="0"/>
              <a:t>键</a:t>
            </a:r>
            <a:r>
              <a:rPr kumimoji="1" lang="en-US" altLang="zh-CN" dirty="0"/>
              <a:t>BG)</a:t>
            </a:r>
            <a:endParaRPr kumimoji="1" lang="zh-CN" altLang="en-US" dirty="0"/>
          </a:p>
        </p:txBody>
      </p:sp>
      <p:sp>
        <p:nvSpPr>
          <p:cNvPr id="4" name="文本框 3">
            <a:extLst>
              <a:ext uri="{FF2B5EF4-FFF2-40B4-BE49-F238E27FC236}">
                <a16:creationId xmlns:a16="http://schemas.microsoft.com/office/drawing/2014/main" id="{7EDB9FC8-9AF0-E33D-6EE9-CF6466FE1862}"/>
              </a:ext>
            </a:extLst>
          </p:cNvPr>
          <p:cNvSpPr txBox="1"/>
          <p:nvPr/>
        </p:nvSpPr>
        <p:spPr>
          <a:xfrm>
            <a:off x="2635019" y="2110734"/>
            <a:ext cx="486030" cy="369332"/>
          </a:xfrm>
          <a:prstGeom prst="rect">
            <a:avLst/>
          </a:prstGeom>
          <a:noFill/>
        </p:spPr>
        <p:txBody>
          <a:bodyPr wrap="none" rtlCol="0">
            <a:spAutoFit/>
          </a:bodyPr>
          <a:lstStyle/>
          <a:p>
            <a:r>
              <a:rPr kumimoji="1" lang="en-US" altLang="zh-CN" dirty="0"/>
              <a:t>CD</a:t>
            </a:r>
            <a:endParaRPr kumimoji="1" lang="zh-CN" altLang="en-US" dirty="0"/>
          </a:p>
        </p:txBody>
      </p:sp>
      <p:sp>
        <p:nvSpPr>
          <p:cNvPr id="5" name="文本框 4">
            <a:extLst>
              <a:ext uri="{FF2B5EF4-FFF2-40B4-BE49-F238E27FC236}">
                <a16:creationId xmlns:a16="http://schemas.microsoft.com/office/drawing/2014/main" id="{6B7FEE4C-F375-37CD-CEDD-318AB1982E62}"/>
              </a:ext>
            </a:extLst>
          </p:cNvPr>
          <p:cNvSpPr txBox="1"/>
          <p:nvPr/>
        </p:nvSpPr>
        <p:spPr>
          <a:xfrm>
            <a:off x="5062254" y="2110734"/>
            <a:ext cx="1523174" cy="369332"/>
          </a:xfrm>
          <a:prstGeom prst="rect">
            <a:avLst/>
          </a:prstGeom>
          <a:noFill/>
        </p:spPr>
        <p:txBody>
          <a:bodyPr wrap="none" rtlCol="0">
            <a:spAutoFit/>
          </a:bodyPr>
          <a:lstStyle/>
          <a:p>
            <a:r>
              <a:rPr kumimoji="1" lang="en-US" altLang="zh-CN" dirty="0"/>
              <a:t>ABCEG(</a:t>
            </a:r>
            <a:r>
              <a:rPr kumimoji="1" lang="zh-CN" altLang="en-US" dirty="0"/>
              <a:t>键</a:t>
            </a:r>
            <a:r>
              <a:rPr kumimoji="1" lang="en-US" altLang="zh-CN" dirty="0"/>
              <a:t>BG)</a:t>
            </a:r>
            <a:endParaRPr kumimoji="1" lang="zh-CN" altLang="en-US" dirty="0"/>
          </a:p>
        </p:txBody>
      </p:sp>
      <p:sp>
        <p:nvSpPr>
          <p:cNvPr id="6" name="文本框 5">
            <a:extLst>
              <a:ext uri="{FF2B5EF4-FFF2-40B4-BE49-F238E27FC236}">
                <a16:creationId xmlns:a16="http://schemas.microsoft.com/office/drawing/2014/main" id="{8B169DD0-2232-8C76-FA4C-F34CF6B96957}"/>
              </a:ext>
            </a:extLst>
          </p:cNvPr>
          <p:cNvSpPr txBox="1"/>
          <p:nvPr/>
        </p:nvSpPr>
        <p:spPr>
          <a:xfrm>
            <a:off x="3618829" y="2825237"/>
            <a:ext cx="1617751" cy="369332"/>
          </a:xfrm>
          <a:prstGeom prst="rect">
            <a:avLst/>
          </a:prstGeom>
          <a:noFill/>
        </p:spPr>
        <p:txBody>
          <a:bodyPr wrap="none" rtlCol="0">
            <a:spAutoFit/>
          </a:bodyPr>
          <a:lstStyle/>
          <a:p>
            <a:r>
              <a:rPr kumimoji="1" lang="en-US" altLang="zh-CN" dirty="0"/>
              <a:t>ACE(</a:t>
            </a:r>
            <a:r>
              <a:rPr kumimoji="1" lang="zh-CN" altLang="en-US" dirty="0"/>
              <a:t>键</a:t>
            </a:r>
            <a:r>
              <a:rPr kumimoji="1" lang="en-US" altLang="zh-CN" dirty="0"/>
              <a:t>AC,</a:t>
            </a:r>
            <a:r>
              <a:rPr kumimoji="1" lang="zh-CN" altLang="en-US" dirty="0"/>
              <a:t> </a:t>
            </a:r>
            <a:r>
              <a:rPr kumimoji="1" lang="en-US" altLang="zh-CN" dirty="0"/>
              <a:t>CE)</a:t>
            </a:r>
            <a:endParaRPr kumimoji="1" lang="zh-CN" altLang="en-US" dirty="0"/>
          </a:p>
        </p:txBody>
      </p:sp>
      <p:sp>
        <p:nvSpPr>
          <p:cNvPr id="7" name="文本框 6">
            <a:extLst>
              <a:ext uri="{FF2B5EF4-FFF2-40B4-BE49-F238E27FC236}">
                <a16:creationId xmlns:a16="http://schemas.microsoft.com/office/drawing/2014/main" id="{BEC4F771-F574-F8F5-C270-731111FB5A8D}"/>
              </a:ext>
            </a:extLst>
          </p:cNvPr>
          <p:cNvSpPr txBox="1"/>
          <p:nvPr/>
        </p:nvSpPr>
        <p:spPr>
          <a:xfrm>
            <a:off x="3910513" y="1859245"/>
            <a:ext cx="691215" cy="261610"/>
          </a:xfrm>
          <a:prstGeom prst="rect">
            <a:avLst/>
          </a:prstGeom>
          <a:noFill/>
        </p:spPr>
        <p:txBody>
          <a:bodyPr wrap="none" rtlCol="0">
            <a:spAutoFit/>
          </a:bodyPr>
          <a:lstStyle/>
          <a:p>
            <a:r>
              <a:rPr kumimoji="1" lang="zh-CN" altLang="en-US" sz="1100" dirty="0"/>
              <a:t>选</a:t>
            </a:r>
            <a:r>
              <a:rPr kumimoji="1" lang="en-US" altLang="zh-CN" sz="1100" dirty="0"/>
              <a:t>C</a:t>
            </a:r>
            <a:r>
              <a:rPr lang="zh-CN" altLang="en-US" sz="1100" dirty="0"/>
              <a:t> →</a:t>
            </a:r>
            <a:r>
              <a:rPr lang="en-US" altLang="zh-CN" sz="1100" dirty="0"/>
              <a:t>D</a:t>
            </a:r>
            <a:endParaRPr kumimoji="1" lang="zh-CN" altLang="en-US" sz="1100" dirty="0"/>
          </a:p>
        </p:txBody>
      </p:sp>
      <p:sp>
        <p:nvSpPr>
          <p:cNvPr id="8" name="文本框 7">
            <a:extLst>
              <a:ext uri="{FF2B5EF4-FFF2-40B4-BE49-F238E27FC236}">
                <a16:creationId xmlns:a16="http://schemas.microsoft.com/office/drawing/2014/main" id="{AB94781B-CEED-30CB-88E5-8BEFE9DC3EDB}"/>
              </a:ext>
            </a:extLst>
          </p:cNvPr>
          <p:cNvSpPr txBox="1"/>
          <p:nvPr/>
        </p:nvSpPr>
        <p:spPr>
          <a:xfrm>
            <a:off x="6356893" y="2822919"/>
            <a:ext cx="1407758" cy="369332"/>
          </a:xfrm>
          <a:prstGeom prst="rect">
            <a:avLst/>
          </a:prstGeom>
          <a:noFill/>
        </p:spPr>
        <p:txBody>
          <a:bodyPr wrap="none" rtlCol="0">
            <a:spAutoFit/>
          </a:bodyPr>
          <a:lstStyle/>
          <a:p>
            <a:r>
              <a:rPr kumimoji="1" lang="en-US" altLang="zh-CN" dirty="0"/>
              <a:t>ABCG(</a:t>
            </a:r>
            <a:r>
              <a:rPr kumimoji="1" lang="zh-CN" altLang="en-US" dirty="0"/>
              <a:t>键</a:t>
            </a:r>
            <a:r>
              <a:rPr kumimoji="1" lang="en-US" altLang="zh-CN" dirty="0"/>
              <a:t>BG)</a:t>
            </a:r>
            <a:endParaRPr kumimoji="1" lang="zh-CN" altLang="en-US" dirty="0"/>
          </a:p>
        </p:txBody>
      </p:sp>
      <p:sp>
        <p:nvSpPr>
          <p:cNvPr id="9" name="文本框 8">
            <a:extLst>
              <a:ext uri="{FF2B5EF4-FFF2-40B4-BE49-F238E27FC236}">
                <a16:creationId xmlns:a16="http://schemas.microsoft.com/office/drawing/2014/main" id="{97164197-9741-3F3A-40EA-76BCF9154A37}"/>
              </a:ext>
            </a:extLst>
          </p:cNvPr>
          <p:cNvSpPr txBox="1"/>
          <p:nvPr/>
        </p:nvSpPr>
        <p:spPr>
          <a:xfrm>
            <a:off x="5407862" y="2562468"/>
            <a:ext cx="753732" cy="261610"/>
          </a:xfrm>
          <a:prstGeom prst="rect">
            <a:avLst/>
          </a:prstGeom>
          <a:noFill/>
        </p:spPr>
        <p:txBody>
          <a:bodyPr wrap="none" rtlCol="0">
            <a:spAutoFit/>
          </a:bodyPr>
          <a:lstStyle/>
          <a:p>
            <a:r>
              <a:rPr kumimoji="1" lang="zh-CN" altLang="en-US" sz="1100" dirty="0"/>
              <a:t>选</a:t>
            </a:r>
            <a:r>
              <a:rPr kumimoji="1" lang="en-US" altLang="zh-CN" sz="1100" dirty="0"/>
              <a:t>CA</a:t>
            </a:r>
            <a:r>
              <a:rPr lang="zh-CN" altLang="en-US" sz="1100" dirty="0"/>
              <a:t> →</a:t>
            </a:r>
            <a:r>
              <a:rPr lang="en-US" altLang="zh-CN" sz="1100" dirty="0"/>
              <a:t>E</a:t>
            </a:r>
            <a:endParaRPr kumimoji="1" lang="zh-CN" altLang="en-US" sz="1100" dirty="0"/>
          </a:p>
        </p:txBody>
      </p:sp>
      <p:sp>
        <p:nvSpPr>
          <p:cNvPr id="10" name="文本框 9">
            <a:extLst>
              <a:ext uri="{FF2B5EF4-FFF2-40B4-BE49-F238E27FC236}">
                <a16:creationId xmlns:a16="http://schemas.microsoft.com/office/drawing/2014/main" id="{9DCCBA4D-BD29-0826-CC72-50063B4673A8}"/>
              </a:ext>
            </a:extLst>
          </p:cNvPr>
          <p:cNvSpPr txBox="1"/>
          <p:nvPr/>
        </p:nvSpPr>
        <p:spPr>
          <a:xfrm>
            <a:off x="3304079" y="3546741"/>
            <a:ext cx="447558" cy="369332"/>
          </a:xfrm>
          <a:prstGeom prst="rect">
            <a:avLst/>
          </a:prstGeom>
          <a:noFill/>
        </p:spPr>
        <p:txBody>
          <a:bodyPr wrap="none" rtlCol="0">
            <a:spAutoFit/>
          </a:bodyPr>
          <a:lstStyle/>
          <a:p>
            <a:r>
              <a:rPr kumimoji="1" lang="en-US" altLang="zh-CN" dirty="0"/>
              <a:t>EA</a:t>
            </a:r>
            <a:endParaRPr kumimoji="1" lang="zh-CN" altLang="en-US" dirty="0"/>
          </a:p>
        </p:txBody>
      </p:sp>
      <p:sp>
        <p:nvSpPr>
          <p:cNvPr id="11" name="文本框 10">
            <a:extLst>
              <a:ext uri="{FF2B5EF4-FFF2-40B4-BE49-F238E27FC236}">
                <a16:creationId xmlns:a16="http://schemas.microsoft.com/office/drawing/2014/main" id="{6A0B2669-8E1C-898C-EBF9-42AEB46F3074}"/>
              </a:ext>
            </a:extLst>
          </p:cNvPr>
          <p:cNvSpPr txBox="1"/>
          <p:nvPr/>
        </p:nvSpPr>
        <p:spPr>
          <a:xfrm>
            <a:off x="5059433" y="3538581"/>
            <a:ext cx="442750" cy="369332"/>
          </a:xfrm>
          <a:prstGeom prst="rect">
            <a:avLst/>
          </a:prstGeom>
          <a:noFill/>
        </p:spPr>
        <p:txBody>
          <a:bodyPr wrap="none" rtlCol="0">
            <a:spAutoFit/>
          </a:bodyPr>
          <a:lstStyle/>
          <a:p>
            <a:r>
              <a:rPr kumimoji="1" lang="en-US" altLang="zh-CN" dirty="0"/>
              <a:t>CE</a:t>
            </a:r>
            <a:endParaRPr kumimoji="1" lang="zh-CN" altLang="en-US" dirty="0"/>
          </a:p>
        </p:txBody>
      </p:sp>
      <p:sp>
        <p:nvSpPr>
          <p:cNvPr id="12" name="文本框 11">
            <a:extLst>
              <a:ext uri="{FF2B5EF4-FFF2-40B4-BE49-F238E27FC236}">
                <a16:creationId xmlns:a16="http://schemas.microsoft.com/office/drawing/2014/main" id="{2391E2AE-163F-B50B-6EBB-DDEC08ED5B17}"/>
              </a:ext>
            </a:extLst>
          </p:cNvPr>
          <p:cNvSpPr txBox="1"/>
          <p:nvPr/>
        </p:nvSpPr>
        <p:spPr>
          <a:xfrm>
            <a:off x="6026345" y="3535104"/>
            <a:ext cx="460382" cy="369332"/>
          </a:xfrm>
          <a:prstGeom prst="rect">
            <a:avLst/>
          </a:prstGeom>
          <a:noFill/>
        </p:spPr>
        <p:txBody>
          <a:bodyPr wrap="none" rtlCol="0">
            <a:spAutoFit/>
          </a:bodyPr>
          <a:lstStyle/>
          <a:p>
            <a:r>
              <a:rPr kumimoji="1" lang="en-US" altLang="zh-CN" dirty="0"/>
              <a:t>AB</a:t>
            </a:r>
            <a:endParaRPr kumimoji="1" lang="zh-CN" altLang="en-US" dirty="0"/>
          </a:p>
        </p:txBody>
      </p:sp>
      <p:sp>
        <p:nvSpPr>
          <p:cNvPr id="13" name="文本框 12">
            <a:extLst>
              <a:ext uri="{FF2B5EF4-FFF2-40B4-BE49-F238E27FC236}">
                <a16:creationId xmlns:a16="http://schemas.microsoft.com/office/drawing/2014/main" id="{69E5A6E7-51CE-0E09-3CB8-1E1598C6D6F1}"/>
              </a:ext>
            </a:extLst>
          </p:cNvPr>
          <p:cNvSpPr txBox="1"/>
          <p:nvPr/>
        </p:nvSpPr>
        <p:spPr>
          <a:xfrm>
            <a:off x="7290963" y="3518517"/>
            <a:ext cx="1260281" cy="369332"/>
          </a:xfrm>
          <a:prstGeom prst="rect">
            <a:avLst/>
          </a:prstGeom>
          <a:noFill/>
        </p:spPr>
        <p:txBody>
          <a:bodyPr wrap="none" rtlCol="0">
            <a:spAutoFit/>
          </a:bodyPr>
          <a:lstStyle/>
          <a:p>
            <a:r>
              <a:rPr kumimoji="1" lang="en-US" altLang="zh-CN" dirty="0"/>
              <a:t>BCG(</a:t>
            </a:r>
            <a:r>
              <a:rPr kumimoji="1" lang="zh-CN" altLang="en-US" dirty="0"/>
              <a:t>键</a:t>
            </a:r>
            <a:r>
              <a:rPr kumimoji="1" lang="en-US" altLang="zh-CN" dirty="0"/>
              <a:t>BG)</a:t>
            </a:r>
            <a:endParaRPr kumimoji="1" lang="zh-CN" altLang="en-US" dirty="0"/>
          </a:p>
        </p:txBody>
      </p:sp>
      <p:sp>
        <p:nvSpPr>
          <p:cNvPr id="14" name="文本框 13">
            <a:extLst>
              <a:ext uri="{FF2B5EF4-FFF2-40B4-BE49-F238E27FC236}">
                <a16:creationId xmlns:a16="http://schemas.microsoft.com/office/drawing/2014/main" id="{3B5C3A32-31B6-0950-3E84-7E27AFCAC248}"/>
              </a:ext>
            </a:extLst>
          </p:cNvPr>
          <p:cNvSpPr txBox="1"/>
          <p:nvPr/>
        </p:nvSpPr>
        <p:spPr>
          <a:xfrm>
            <a:off x="6832984" y="4321535"/>
            <a:ext cx="455574" cy="369332"/>
          </a:xfrm>
          <a:prstGeom prst="rect">
            <a:avLst/>
          </a:prstGeom>
          <a:noFill/>
        </p:spPr>
        <p:txBody>
          <a:bodyPr wrap="none" rtlCol="0">
            <a:spAutoFit/>
          </a:bodyPr>
          <a:lstStyle/>
          <a:p>
            <a:r>
              <a:rPr kumimoji="1" lang="en-US" altLang="zh-CN" dirty="0"/>
              <a:t>BC</a:t>
            </a:r>
            <a:endParaRPr kumimoji="1" lang="zh-CN" altLang="en-US" dirty="0"/>
          </a:p>
        </p:txBody>
      </p:sp>
      <p:sp>
        <p:nvSpPr>
          <p:cNvPr id="15" name="文本框 14">
            <a:extLst>
              <a:ext uri="{FF2B5EF4-FFF2-40B4-BE49-F238E27FC236}">
                <a16:creationId xmlns:a16="http://schemas.microsoft.com/office/drawing/2014/main" id="{CE27A229-86B6-B08F-9CEB-FFE6F47828BE}"/>
              </a:ext>
            </a:extLst>
          </p:cNvPr>
          <p:cNvSpPr txBox="1"/>
          <p:nvPr/>
        </p:nvSpPr>
        <p:spPr>
          <a:xfrm>
            <a:off x="8551244" y="4321535"/>
            <a:ext cx="468398" cy="369332"/>
          </a:xfrm>
          <a:prstGeom prst="rect">
            <a:avLst/>
          </a:prstGeom>
          <a:noFill/>
        </p:spPr>
        <p:txBody>
          <a:bodyPr wrap="none" rtlCol="0">
            <a:spAutoFit/>
          </a:bodyPr>
          <a:lstStyle/>
          <a:p>
            <a:r>
              <a:rPr kumimoji="1" lang="en-US" altLang="zh-CN" dirty="0"/>
              <a:t>BG</a:t>
            </a:r>
            <a:endParaRPr kumimoji="1" lang="zh-CN" altLang="en-US" dirty="0"/>
          </a:p>
        </p:txBody>
      </p:sp>
      <p:sp>
        <p:nvSpPr>
          <p:cNvPr id="16" name="文本框 15">
            <a:extLst>
              <a:ext uri="{FF2B5EF4-FFF2-40B4-BE49-F238E27FC236}">
                <a16:creationId xmlns:a16="http://schemas.microsoft.com/office/drawing/2014/main" id="{A6C5AB6F-DE9A-78F1-8D72-CC40DC5F66A1}"/>
              </a:ext>
            </a:extLst>
          </p:cNvPr>
          <p:cNvSpPr txBox="1"/>
          <p:nvPr/>
        </p:nvSpPr>
        <p:spPr>
          <a:xfrm>
            <a:off x="4040315" y="3281051"/>
            <a:ext cx="691215" cy="261610"/>
          </a:xfrm>
          <a:prstGeom prst="rect">
            <a:avLst/>
          </a:prstGeom>
          <a:noFill/>
        </p:spPr>
        <p:txBody>
          <a:bodyPr wrap="none" rtlCol="0">
            <a:spAutoFit/>
          </a:bodyPr>
          <a:lstStyle/>
          <a:p>
            <a:r>
              <a:rPr kumimoji="1" lang="zh-CN" altLang="en-US" sz="1100" dirty="0"/>
              <a:t>选</a:t>
            </a:r>
            <a:r>
              <a:rPr kumimoji="1" lang="en-US" altLang="zh-CN" sz="1100" dirty="0"/>
              <a:t>E</a:t>
            </a:r>
            <a:r>
              <a:rPr lang="zh-CN" altLang="en-US" sz="1100" dirty="0"/>
              <a:t> →</a:t>
            </a:r>
            <a:r>
              <a:rPr lang="en-US" altLang="zh-CN" sz="1100" dirty="0"/>
              <a:t>A</a:t>
            </a:r>
            <a:endParaRPr kumimoji="1" lang="zh-CN" altLang="en-US" sz="1100" dirty="0"/>
          </a:p>
        </p:txBody>
      </p:sp>
      <p:sp>
        <p:nvSpPr>
          <p:cNvPr id="17" name="文本框 16">
            <a:extLst>
              <a:ext uri="{FF2B5EF4-FFF2-40B4-BE49-F238E27FC236}">
                <a16:creationId xmlns:a16="http://schemas.microsoft.com/office/drawing/2014/main" id="{58BEB7C6-7EFD-9036-0598-2316E21240FF}"/>
              </a:ext>
            </a:extLst>
          </p:cNvPr>
          <p:cNvSpPr txBox="1"/>
          <p:nvPr/>
        </p:nvSpPr>
        <p:spPr>
          <a:xfrm>
            <a:off x="6715164" y="3253089"/>
            <a:ext cx="691215" cy="261610"/>
          </a:xfrm>
          <a:prstGeom prst="rect">
            <a:avLst/>
          </a:prstGeom>
          <a:noFill/>
        </p:spPr>
        <p:txBody>
          <a:bodyPr wrap="none" rtlCol="0">
            <a:spAutoFit/>
          </a:bodyPr>
          <a:lstStyle/>
          <a:p>
            <a:r>
              <a:rPr kumimoji="1" lang="zh-CN" altLang="en-US" sz="1100" dirty="0"/>
              <a:t>选</a:t>
            </a:r>
            <a:r>
              <a:rPr kumimoji="1" lang="en-US" altLang="zh-CN" sz="1100" dirty="0"/>
              <a:t>B</a:t>
            </a:r>
            <a:r>
              <a:rPr lang="zh-CN" altLang="en-US" sz="1100" dirty="0"/>
              <a:t> →</a:t>
            </a:r>
            <a:r>
              <a:rPr lang="en-US" altLang="zh-CN" sz="1100" dirty="0"/>
              <a:t>A</a:t>
            </a:r>
            <a:endParaRPr kumimoji="1" lang="zh-CN" altLang="en-US" sz="1100" dirty="0"/>
          </a:p>
        </p:txBody>
      </p:sp>
      <p:sp>
        <p:nvSpPr>
          <p:cNvPr id="18" name="文本框 17">
            <a:extLst>
              <a:ext uri="{FF2B5EF4-FFF2-40B4-BE49-F238E27FC236}">
                <a16:creationId xmlns:a16="http://schemas.microsoft.com/office/drawing/2014/main" id="{FE87D2EF-FB82-E07F-2028-7F0B90318448}"/>
              </a:ext>
            </a:extLst>
          </p:cNvPr>
          <p:cNvSpPr txBox="1"/>
          <p:nvPr/>
        </p:nvSpPr>
        <p:spPr>
          <a:xfrm>
            <a:off x="7580304" y="3995571"/>
            <a:ext cx="681597" cy="261610"/>
          </a:xfrm>
          <a:prstGeom prst="rect">
            <a:avLst/>
          </a:prstGeom>
          <a:noFill/>
        </p:spPr>
        <p:txBody>
          <a:bodyPr wrap="none" rtlCol="0">
            <a:spAutoFit/>
          </a:bodyPr>
          <a:lstStyle/>
          <a:p>
            <a:r>
              <a:rPr kumimoji="1" lang="zh-CN" altLang="en-US" sz="1100" dirty="0"/>
              <a:t>选</a:t>
            </a:r>
            <a:r>
              <a:rPr kumimoji="1" lang="en-US" altLang="zh-CN" sz="1100" dirty="0"/>
              <a:t>B</a:t>
            </a:r>
            <a:r>
              <a:rPr lang="zh-CN" altLang="en-US" sz="1100" dirty="0"/>
              <a:t> →</a:t>
            </a:r>
            <a:r>
              <a:rPr lang="en-US" altLang="zh-CN" sz="1100" dirty="0"/>
              <a:t>C</a:t>
            </a:r>
            <a:endParaRPr kumimoji="1" lang="zh-CN" altLang="en-US" sz="1100" dirty="0"/>
          </a:p>
        </p:txBody>
      </p:sp>
      <p:cxnSp>
        <p:nvCxnSpPr>
          <p:cNvPr id="20" name="直线连接符 19">
            <a:extLst>
              <a:ext uri="{FF2B5EF4-FFF2-40B4-BE49-F238E27FC236}">
                <a16:creationId xmlns:a16="http://schemas.microsoft.com/office/drawing/2014/main" id="{9E338AA1-B392-A1F2-5616-7520E764CF11}"/>
              </a:ext>
            </a:extLst>
          </p:cNvPr>
          <p:cNvCxnSpPr>
            <a:stCxn id="2" idx="2"/>
            <a:endCxn id="4" idx="0"/>
          </p:cNvCxnSpPr>
          <p:nvPr/>
        </p:nvCxnSpPr>
        <p:spPr>
          <a:xfrm flipH="1">
            <a:off x="2878034" y="1802063"/>
            <a:ext cx="1394756" cy="308671"/>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直线连接符 21">
            <a:extLst>
              <a:ext uri="{FF2B5EF4-FFF2-40B4-BE49-F238E27FC236}">
                <a16:creationId xmlns:a16="http://schemas.microsoft.com/office/drawing/2014/main" id="{EF46B40C-59FE-532E-697E-1A811A55CB43}"/>
              </a:ext>
            </a:extLst>
          </p:cNvPr>
          <p:cNvCxnSpPr>
            <a:stCxn id="2" idx="2"/>
            <a:endCxn id="5" idx="0"/>
          </p:cNvCxnSpPr>
          <p:nvPr/>
        </p:nvCxnSpPr>
        <p:spPr>
          <a:xfrm>
            <a:off x="4272790" y="1802063"/>
            <a:ext cx="1551051" cy="308671"/>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直线连接符 23">
            <a:extLst>
              <a:ext uri="{FF2B5EF4-FFF2-40B4-BE49-F238E27FC236}">
                <a16:creationId xmlns:a16="http://schemas.microsoft.com/office/drawing/2014/main" id="{3924B50E-0518-B68D-E515-B2475DE26604}"/>
              </a:ext>
            </a:extLst>
          </p:cNvPr>
          <p:cNvCxnSpPr>
            <a:stCxn id="5" idx="2"/>
            <a:endCxn id="6" idx="0"/>
          </p:cNvCxnSpPr>
          <p:nvPr/>
        </p:nvCxnSpPr>
        <p:spPr>
          <a:xfrm flipH="1">
            <a:off x="4427705" y="2480066"/>
            <a:ext cx="1396136" cy="345171"/>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直线连接符 25">
            <a:extLst>
              <a:ext uri="{FF2B5EF4-FFF2-40B4-BE49-F238E27FC236}">
                <a16:creationId xmlns:a16="http://schemas.microsoft.com/office/drawing/2014/main" id="{84B6D485-5F1D-0112-AC49-44D1BEBFB929}"/>
              </a:ext>
            </a:extLst>
          </p:cNvPr>
          <p:cNvCxnSpPr>
            <a:stCxn id="5" idx="2"/>
            <a:endCxn id="8" idx="0"/>
          </p:cNvCxnSpPr>
          <p:nvPr/>
        </p:nvCxnSpPr>
        <p:spPr>
          <a:xfrm>
            <a:off x="5823841" y="2480066"/>
            <a:ext cx="1236931" cy="342853"/>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直线连接符 27">
            <a:extLst>
              <a:ext uri="{FF2B5EF4-FFF2-40B4-BE49-F238E27FC236}">
                <a16:creationId xmlns:a16="http://schemas.microsoft.com/office/drawing/2014/main" id="{597A88D8-FD71-23D9-92F7-FE392C71D588}"/>
              </a:ext>
            </a:extLst>
          </p:cNvPr>
          <p:cNvCxnSpPr>
            <a:stCxn id="6" idx="2"/>
            <a:endCxn id="10" idx="0"/>
          </p:cNvCxnSpPr>
          <p:nvPr/>
        </p:nvCxnSpPr>
        <p:spPr>
          <a:xfrm flipH="1">
            <a:off x="3527858" y="3194569"/>
            <a:ext cx="899847" cy="352172"/>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直线连接符 29">
            <a:extLst>
              <a:ext uri="{FF2B5EF4-FFF2-40B4-BE49-F238E27FC236}">
                <a16:creationId xmlns:a16="http://schemas.microsoft.com/office/drawing/2014/main" id="{72531EC9-1E0E-0336-6F92-61ED166C5770}"/>
              </a:ext>
            </a:extLst>
          </p:cNvPr>
          <p:cNvCxnSpPr>
            <a:cxnSpLocks/>
            <a:stCxn id="6" idx="2"/>
            <a:endCxn id="11" idx="0"/>
          </p:cNvCxnSpPr>
          <p:nvPr/>
        </p:nvCxnSpPr>
        <p:spPr>
          <a:xfrm>
            <a:off x="4427705" y="3194569"/>
            <a:ext cx="853103" cy="344012"/>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直线连接符 20">
            <a:extLst>
              <a:ext uri="{FF2B5EF4-FFF2-40B4-BE49-F238E27FC236}">
                <a16:creationId xmlns:a16="http://schemas.microsoft.com/office/drawing/2014/main" id="{08E8BE4D-8412-3326-D814-694FEC68FF8F}"/>
              </a:ext>
            </a:extLst>
          </p:cNvPr>
          <p:cNvCxnSpPr>
            <a:stCxn id="8" idx="2"/>
            <a:endCxn id="12" idx="0"/>
          </p:cNvCxnSpPr>
          <p:nvPr/>
        </p:nvCxnSpPr>
        <p:spPr>
          <a:xfrm flipH="1">
            <a:off x="6256536" y="3192251"/>
            <a:ext cx="804236" cy="342853"/>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直线连接符 24">
            <a:extLst>
              <a:ext uri="{FF2B5EF4-FFF2-40B4-BE49-F238E27FC236}">
                <a16:creationId xmlns:a16="http://schemas.microsoft.com/office/drawing/2014/main" id="{69AAD067-0A0D-8CDE-ACAF-E23D057946AF}"/>
              </a:ext>
            </a:extLst>
          </p:cNvPr>
          <p:cNvCxnSpPr>
            <a:cxnSpLocks/>
            <a:stCxn id="8" idx="2"/>
            <a:endCxn id="13" idx="0"/>
          </p:cNvCxnSpPr>
          <p:nvPr/>
        </p:nvCxnSpPr>
        <p:spPr>
          <a:xfrm>
            <a:off x="7060772" y="3192251"/>
            <a:ext cx="860332" cy="326266"/>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直线连接符 28">
            <a:extLst>
              <a:ext uri="{FF2B5EF4-FFF2-40B4-BE49-F238E27FC236}">
                <a16:creationId xmlns:a16="http://schemas.microsoft.com/office/drawing/2014/main" id="{61A4F9B1-76E6-CD13-3CFC-FF9F4E4D67B0}"/>
              </a:ext>
            </a:extLst>
          </p:cNvPr>
          <p:cNvCxnSpPr>
            <a:stCxn id="13" idx="2"/>
            <a:endCxn id="14" idx="0"/>
          </p:cNvCxnSpPr>
          <p:nvPr/>
        </p:nvCxnSpPr>
        <p:spPr>
          <a:xfrm flipH="1">
            <a:off x="7060771" y="3887849"/>
            <a:ext cx="860333" cy="433686"/>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直线连接符 31">
            <a:extLst>
              <a:ext uri="{FF2B5EF4-FFF2-40B4-BE49-F238E27FC236}">
                <a16:creationId xmlns:a16="http://schemas.microsoft.com/office/drawing/2014/main" id="{E3AA1E7C-5B8E-DBF4-AB03-7E2787B88050}"/>
              </a:ext>
            </a:extLst>
          </p:cNvPr>
          <p:cNvCxnSpPr>
            <a:cxnSpLocks/>
            <a:stCxn id="13" idx="2"/>
            <a:endCxn id="15" idx="0"/>
          </p:cNvCxnSpPr>
          <p:nvPr/>
        </p:nvCxnSpPr>
        <p:spPr>
          <a:xfrm>
            <a:off x="7921104" y="3887849"/>
            <a:ext cx="864339" cy="433686"/>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custDataLst>
              <p:tags r:id="rId1"/>
            </p:custDataLst>
          </p:nvPr>
        </p:nvSpPr>
        <p:spPr>
          <a:xfrm>
            <a:off x="891153" y="1126681"/>
            <a:ext cx="6943240" cy="3408736"/>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eaLnBrk="1" hangingPunct="1">
              <a:buSzTx/>
              <a:buNone/>
            </a:pPr>
            <a:r>
              <a:rPr lang="en-US" altLang="zh-CN" sz="2400" dirty="0">
                <a:latin typeface="Microsoft YaHei" panose="020B0503020204020204" pitchFamily="34" charset="-122"/>
                <a:ea typeface="Microsoft YaHei" panose="020B0503020204020204" pitchFamily="34" charset="-122"/>
              </a:rPr>
              <a:t>1. </a:t>
            </a:r>
            <a:r>
              <a:rPr lang="zh-CN" altLang="en-US" sz="2400" dirty="0">
                <a:latin typeface="Microsoft YaHei" panose="020B0503020204020204" pitchFamily="34" charset="-122"/>
                <a:ea typeface="Microsoft YaHei" panose="020B0503020204020204" pitchFamily="34" charset="-122"/>
              </a:rPr>
              <a:t>函数依赖关系</a:t>
            </a:r>
          </a:p>
          <a:p>
            <a:pPr eaLnBrk="1" hangingPunct="1">
              <a:buSzTx/>
              <a:buNone/>
            </a:pPr>
            <a:r>
              <a:rPr lang="en-US" altLang="zh-CN" sz="2400" dirty="0">
                <a:latin typeface="Microsoft YaHei" panose="020B0503020204020204" pitchFamily="34" charset="-122"/>
                <a:ea typeface="Microsoft YaHei" panose="020B0503020204020204" pitchFamily="34" charset="-122"/>
              </a:rPr>
              <a:t>2. </a:t>
            </a:r>
            <a:r>
              <a:rPr lang="zh-CN" altLang="en-US" sz="2400" dirty="0">
                <a:latin typeface="Microsoft YaHei" panose="020B0503020204020204" pitchFamily="34" charset="-122"/>
                <a:ea typeface="Microsoft YaHei" panose="020B0503020204020204" pitchFamily="34" charset="-122"/>
              </a:rPr>
              <a:t>关系模式的规范化</a:t>
            </a:r>
          </a:p>
          <a:p>
            <a:pPr lvl="1" eaLnBrk="1" hangingPunct="1"/>
            <a:r>
              <a:rPr lang="en-US" altLang="zh-CN" dirty="0">
                <a:solidFill>
                  <a:schemeClr val="folHlink"/>
                </a:solidFill>
                <a:latin typeface="Microsoft YaHei" panose="020B0503020204020204" pitchFamily="34" charset="-122"/>
                <a:ea typeface="Microsoft YaHei" panose="020B0503020204020204" pitchFamily="34" charset="-122"/>
              </a:rPr>
              <a:t>5</a:t>
            </a:r>
            <a:r>
              <a:rPr lang="zh-CN" altLang="en-US" dirty="0">
                <a:solidFill>
                  <a:schemeClr val="folHlink"/>
                </a:solidFill>
                <a:latin typeface="Microsoft YaHei" panose="020B0503020204020204" pitchFamily="34" charset="-122"/>
                <a:ea typeface="Microsoft YaHei" panose="020B0503020204020204" pitchFamily="34" charset="-122"/>
              </a:rPr>
              <a:t>种范式及转换</a:t>
            </a:r>
          </a:p>
          <a:p>
            <a:pPr eaLnBrk="1" hangingPunct="1">
              <a:buNone/>
            </a:pPr>
            <a:r>
              <a:rPr lang="en-US" altLang="zh-CN" sz="2400" dirty="0">
                <a:latin typeface="Microsoft YaHei" panose="020B0503020204020204" pitchFamily="34" charset="-122"/>
                <a:ea typeface="Microsoft YaHei" panose="020B0503020204020204" pitchFamily="34" charset="-122"/>
              </a:rPr>
              <a:t>3. </a:t>
            </a:r>
            <a:r>
              <a:rPr lang="zh-CN" altLang="en-US" sz="2400" dirty="0">
                <a:latin typeface="Microsoft YaHei" panose="020B0503020204020204" pitchFamily="34" charset="-122"/>
                <a:ea typeface="Microsoft YaHei" panose="020B0503020204020204" pitchFamily="34" charset="-122"/>
              </a:rPr>
              <a:t>阿氏公理及其推理规则</a:t>
            </a:r>
          </a:p>
          <a:p>
            <a:pPr eaLnBrk="1" hangingPunct="1">
              <a:buNone/>
            </a:pPr>
            <a:r>
              <a:rPr lang="en-US" altLang="zh-CN" sz="2400" dirty="0">
                <a:latin typeface="Microsoft YaHei" panose="020B0503020204020204" pitchFamily="34" charset="-122"/>
                <a:ea typeface="Microsoft YaHei" panose="020B0503020204020204" pitchFamily="34" charset="-122"/>
              </a:rPr>
              <a:t>4.  X</a:t>
            </a:r>
            <a:r>
              <a:rPr lang="en-US" altLang="zh-CN" sz="2400" baseline="-25000" dirty="0">
                <a:latin typeface="Microsoft YaHei" panose="020B0503020204020204" pitchFamily="34" charset="-122"/>
                <a:ea typeface="Microsoft YaHei" panose="020B0503020204020204" pitchFamily="34" charset="-122"/>
              </a:rPr>
              <a:t>F</a:t>
            </a:r>
            <a:r>
              <a:rPr lang="en-US" altLang="zh-CN" sz="2400" baseline="300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的定义及求</a:t>
            </a:r>
            <a:r>
              <a:rPr lang="en-US" altLang="zh-CN" sz="2400" dirty="0">
                <a:latin typeface="Microsoft YaHei" panose="020B0503020204020204" pitchFamily="34" charset="-122"/>
                <a:ea typeface="Microsoft YaHei" panose="020B0503020204020204" pitchFamily="34" charset="-122"/>
              </a:rPr>
              <a:t>X</a:t>
            </a:r>
            <a:r>
              <a:rPr lang="en-US" altLang="zh-CN" sz="2400" baseline="-25000" dirty="0">
                <a:latin typeface="Microsoft YaHei" panose="020B0503020204020204" pitchFamily="34" charset="-122"/>
                <a:ea typeface="Microsoft YaHei" panose="020B0503020204020204" pitchFamily="34" charset="-122"/>
              </a:rPr>
              <a:t>F</a:t>
            </a:r>
            <a:r>
              <a:rPr lang="en-US" altLang="zh-CN" sz="2400" baseline="30000" dirty="0">
                <a:latin typeface="Microsoft YaHei" panose="020B0503020204020204" pitchFamily="34" charset="-122"/>
                <a:ea typeface="Microsoft YaHei" panose="020B0503020204020204" pitchFamily="34" charset="-122"/>
              </a:rPr>
              <a:t>+</a:t>
            </a:r>
          </a:p>
          <a:p>
            <a:pPr eaLnBrk="1" hangingPunct="1">
              <a:buSzTx/>
              <a:buNone/>
            </a:pPr>
            <a:r>
              <a:rPr lang="en-US" altLang="zh-CN" sz="2400" dirty="0">
                <a:latin typeface="Microsoft YaHei" panose="020B0503020204020204" pitchFamily="34" charset="-122"/>
                <a:ea typeface="Microsoft YaHei" panose="020B0503020204020204" pitchFamily="34" charset="-122"/>
              </a:rPr>
              <a:t>5. </a:t>
            </a:r>
            <a:r>
              <a:rPr lang="zh-CN" altLang="en-US" sz="2400" dirty="0">
                <a:latin typeface="Microsoft YaHei" panose="020B0503020204020204" pitchFamily="34" charset="-122"/>
                <a:ea typeface="Microsoft YaHei" panose="020B0503020204020204" pitchFamily="34" charset="-122"/>
              </a:rPr>
              <a:t>用函数依赖或</a:t>
            </a:r>
            <a:r>
              <a:rPr lang="en-US" altLang="zh-CN" sz="2400" dirty="0">
                <a:latin typeface="Microsoft YaHei" panose="020B0503020204020204" pitchFamily="34" charset="-122"/>
                <a:ea typeface="Microsoft YaHei" panose="020B0503020204020204" pitchFamily="34" charset="-122"/>
              </a:rPr>
              <a:t>X</a:t>
            </a:r>
            <a:r>
              <a:rPr lang="en-US" altLang="zh-CN" sz="2400" baseline="-25000" dirty="0">
                <a:latin typeface="Microsoft YaHei" panose="020B0503020204020204" pitchFamily="34" charset="-122"/>
                <a:ea typeface="Microsoft YaHei" panose="020B0503020204020204" pitchFamily="34" charset="-122"/>
              </a:rPr>
              <a:t>F</a:t>
            </a:r>
            <a:r>
              <a:rPr lang="en-US" altLang="zh-CN" sz="2400" baseline="300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求键</a:t>
            </a:r>
          </a:p>
          <a:p>
            <a:pPr eaLnBrk="1" hangingPunct="1">
              <a:buNone/>
            </a:pPr>
            <a:r>
              <a:rPr lang="en-US" altLang="zh-CN" sz="2400" dirty="0">
                <a:latin typeface="Microsoft YaHei" panose="020B0503020204020204" pitchFamily="34" charset="-122"/>
                <a:ea typeface="Microsoft YaHei" panose="020B0503020204020204" pitchFamily="34" charset="-122"/>
              </a:rPr>
              <a:t>6.</a:t>
            </a:r>
            <a:r>
              <a:rPr lang="zh-CN" altLang="en-US" sz="2400" dirty="0">
                <a:latin typeface="Microsoft YaHei" panose="020B0503020204020204" pitchFamily="34" charset="-122"/>
                <a:ea typeface="Microsoft YaHei" panose="020B0503020204020204" pitchFamily="34" charset="-122"/>
              </a:rPr>
              <a:t>求最小函数依赖集</a:t>
            </a:r>
            <a:r>
              <a:rPr lang="en-US" altLang="zh-CN" sz="2400" dirty="0">
                <a:latin typeface="Microsoft YaHei" panose="020B0503020204020204" pitchFamily="34" charset="-122"/>
                <a:ea typeface="Microsoft YaHei" panose="020B0503020204020204" pitchFamily="34" charset="-122"/>
              </a:rPr>
              <a:t>F</a:t>
            </a:r>
            <a:r>
              <a:rPr lang="en-US" altLang="zh-CN" sz="2400" baseline="-25000" dirty="0">
                <a:latin typeface="Microsoft YaHei" panose="020B0503020204020204" pitchFamily="34" charset="-122"/>
                <a:ea typeface="Microsoft YaHei" panose="020B0503020204020204" pitchFamily="34" charset="-122"/>
              </a:rPr>
              <a:t>m</a:t>
            </a:r>
          </a:p>
          <a:p>
            <a:pPr eaLnBrk="1" hangingPunct="1">
              <a:buNone/>
            </a:pPr>
            <a:r>
              <a:rPr lang="en-US" altLang="zh-CN" sz="2400" dirty="0">
                <a:latin typeface="Microsoft YaHei" panose="020B0503020204020204" pitchFamily="34" charset="-122"/>
                <a:ea typeface="Microsoft YaHei" panose="020B0503020204020204" pitchFamily="34" charset="-122"/>
              </a:rPr>
              <a:t>7. </a:t>
            </a:r>
            <a:r>
              <a:rPr lang="zh-CN" altLang="en-US" sz="2400" dirty="0">
                <a:latin typeface="Microsoft YaHei" panose="020B0503020204020204" pitchFamily="34" charset="-122"/>
                <a:ea typeface="Microsoft YaHei" panose="020B0503020204020204" pitchFamily="34" charset="-122"/>
              </a:rPr>
              <a:t>模式分解的概念、方法</a:t>
            </a:r>
          </a:p>
        </p:txBody>
      </p:sp>
      <p:sp>
        <p:nvSpPr>
          <p:cNvPr id="6" name="标题 5">
            <a:extLst>
              <a:ext uri="{FF2B5EF4-FFF2-40B4-BE49-F238E27FC236}">
                <a16:creationId xmlns:a16="http://schemas.microsoft.com/office/drawing/2014/main" id="{E69535EB-BD4F-FEC6-F606-BDD6E8F795FF}"/>
              </a:ext>
            </a:extLst>
          </p:cNvPr>
          <p:cNvSpPr>
            <a:spLocks noGrp="1"/>
          </p:cNvSpPr>
          <p:nvPr>
            <p:ph type="title"/>
          </p:nvPr>
        </p:nvSpPr>
        <p:spPr/>
        <p:txBody>
          <a:bodyPr/>
          <a:lstStyle/>
          <a:p>
            <a:r>
              <a:rPr lang="zh-CN" altLang="en-US" dirty="0"/>
              <a:t>第</a:t>
            </a:r>
            <a:r>
              <a:rPr lang="en-US" altLang="zh-CN" dirty="0"/>
              <a:t>4</a:t>
            </a:r>
            <a:r>
              <a:rPr lang="zh-CN" altLang="en-US" dirty="0"/>
              <a:t>章 规范化理论</a:t>
            </a:r>
            <a:r>
              <a:rPr lang="zh-CN" altLang="en-US" dirty="0">
                <a:solidFill>
                  <a:srgbClr val="C00000"/>
                </a:solidFill>
              </a:rPr>
              <a:t>要点</a:t>
            </a:r>
          </a:p>
        </p:txBody>
      </p:sp>
      <p:sp>
        <p:nvSpPr>
          <p:cNvPr id="5" name="AutoShape 4">
            <a:extLst>
              <a:ext uri="{FF2B5EF4-FFF2-40B4-BE49-F238E27FC236}">
                <a16:creationId xmlns:a16="http://schemas.microsoft.com/office/drawing/2014/main" id="{5AD3B443-AB54-54BC-E18A-AAC2ED589280}"/>
              </a:ext>
            </a:extLst>
          </p:cNvPr>
          <p:cNvSpPr>
            <a:spLocks noChangeArrowheads="1"/>
          </p:cNvSpPr>
          <p:nvPr/>
        </p:nvSpPr>
        <p:spPr bwMode="auto">
          <a:xfrm>
            <a:off x="5765370" y="3431031"/>
            <a:ext cx="3089775" cy="1171575"/>
          </a:xfrm>
          <a:prstGeom prst="horizontalScroll">
            <a:avLst>
              <a:gd name="adj" fmla="val 22769"/>
            </a:avLst>
          </a:prstGeom>
          <a:solidFill>
            <a:srgbClr val="00FFFF"/>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spcBef>
                <a:spcPct val="20000"/>
              </a:spcBef>
              <a:buClr>
                <a:schemeClr val="folHlink"/>
              </a:buClr>
              <a:buSzPct val="60000"/>
              <a:buFont typeface="Wingdings" pitchFamily="2" charset="2"/>
              <a:buChar char="n"/>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spcBef>
                <a:spcPct val="20000"/>
              </a:spcBef>
              <a:buClr>
                <a:schemeClr val="folHlink"/>
              </a:buClr>
              <a:buSzPct val="60000"/>
              <a:buFont typeface="Wingdings" pitchFamily="2" charset="2"/>
              <a:buChar char="n"/>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spcBef>
                <a:spcPct val="20000"/>
              </a:spcBef>
              <a:buClr>
                <a:schemeClr val="folHlink"/>
              </a:buClr>
              <a:buSzPct val="60000"/>
              <a:buFont typeface="Wingdings" pitchFamily="2" charset="2"/>
              <a:buChar char="n"/>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spcBef>
                <a:spcPct val="20000"/>
              </a:spcBef>
              <a:buClr>
                <a:schemeClr val="folHlink"/>
              </a:buClr>
              <a:buSzPct val="60000"/>
              <a:buFont typeface="Wingdings" pitchFamily="2" charset="2"/>
              <a:buChar char="n"/>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100" dirty="0">
                <a:latin typeface="Microsoft YaHei" panose="020B0503020204020204" pitchFamily="34" charset="-122"/>
                <a:ea typeface="Microsoft YaHei" panose="020B0503020204020204" pitchFamily="34" charset="-122"/>
              </a:rPr>
              <a:t>作业（希冀平台提交）</a:t>
            </a:r>
            <a:endParaRPr lang="en-US" altLang="zh-CN" sz="2100" dirty="0">
              <a:latin typeface="Microsoft YaHei" panose="020B0503020204020204" pitchFamily="34" charset="-122"/>
              <a:ea typeface="Microsoft YaHei" panose="020B0503020204020204" pitchFamily="34" charset="-122"/>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4.xml><?xml version="1.0" encoding="utf-8"?>
<p:tagLst xmlns:a="http://schemas.openxmlformats.org/drawingml/2006/main" xmlns:r="http://schemas.openxmlformats.org/officeDocument/2006/relationships" xmlns:p="http://schemas.openxmlformats.org/presentationml/2006/main">
  <p:tag name="KSO_WM_UNIT_TABLE_BEAUTIFY" val="smartTable{f67a1921-ef51-4da1-bd1a-4057659b95f3}"/>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UNIT_TABLE_BEAUTIFY" val="smartTable{dc23ce14-af62-49ea-bfee-796caca1fb10}"/>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UNIT_TABLE_BEAUTIFY" val="smartTable{a87cecc2-a223-40ab-816f-925a75a924f1}"/>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4784</TotalTime>
  <Words>11516</Words>
  <Application>Microsoft Macintosh PowerPoint</Application>
  <PresentationFormat>全屏显示(16:9)</PresentationFormat>
  <Paragraphs>999</Paragraphs>
  <Slides>76</Slides>
  <Notes>7</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0</vt:i4>
      </vt:variant>
      <vt:variant>
        <vt:lpstr>幻灯片标题</vt:lpstr>
      </vt:variant>
      <vt:variant>
        <vt:i4>76</vt:i4>
      </vt:variant>
    </vt:vector>
  </HeadingPairs>
  <TitlesOfParts>
    <vt:vector size="88" baseType="lpstr">
      <vt:lpstr>Tahoma</vt:lpstr>
      <vt:lpstr>Microsoft YaHei</vt:lpstr>
      <vt:lpstr>Times New Roman</vt:lpstr>
      <vt:lpstr>Wingdings</vt:lpstr>
      <vt:lpstr>宋体</vt:lpstr>
      <vt:lpstr>等线</vt:lpstr>
      <vt:lpstr>Arial</vt:lpstr>
      <vt:lpstr>Symbol</vt:lpstr>
      <vt:lpstr>楷体</vt:lpstr>
      <vt:lpstr>Cambria Math</vt:lpstr>
      <vt:lpstr>Office Theme</vt:lpstr>
      <vt:lpstr>自定义设计方案</vt:lpstr>
      <vt:lpstr>PowerPoint 演示文稿</vt:lpstr>
      <vt:lpstr>PowerPoint 演示文稿</vt:lpstr>
      <vt:lpstr>PowerPoint 演示文稿</vt:lpstr>
      <vt:lpstr>关系模式的形式化定义</vt:lpstr>
      <vt:lpstr>怎样做好关系数据库的设计？</vt:lpstr>
      <vt:lpstr>怎样做好关系数据库的设计？</vt:lpstr>
      <vt:lpstr>关系模式实例</vt:lpstr>
      <vt:lpstr>实例存在的问题</vt:lpstr>
      <vt:lpstr>实例存在的问题</vt:lpstr>
      <vt:lpstr>函数依赖</vt:lpstr>
      <vt:lpstr>函数依赖实例</vt:lpstr>
      <vt:lpstr>函数依赖与属性间关系</vt:lpstr>
      <vt:lpstr>函数依赖实例</vt:lpstr>
      <vt:lpstr>函数依赖的术语与记号</vt:lpstr>
      <vt:lpstr>关系模式中的函数依赖</vt:lpstr>
      <vt:lpstr>函数依赖与键</vt:lpstr>
      <vt:lpstr>键的实例</vt:lpstr>
      <vt:lpstr>关系模式的规范化</vt:lpstr>
      <vt:lpstr>范式</vt:lpstr>
      <vt:lpstr>第二范式</vt:lpstr>
      <vt:lpstr>规范为2NF</vt:lpstr>
      <vt:lpstr>进一步规范的需求</vt:lpstr>
      <vt:lpstr>第三范式</vt:lpstr>
      <vt:lpstr>2NF和3NF</vt:lpstr>
      <vt:lpstr>进一步规范的需求</vt:lpstr>
      <vt:lpstr>3NF还可能存在的问题</vt:lpstr>
      <vt:lpstr>BCNF</vt:lpstr>
      <vt:lpstr>分解为BCNF</vt:lpstr>
      <vt:lpstr>规范化小结</vt:lpstr>
      <vt:lpstr>范式间的关系</vt:lpstr>
      <vt:lpstr>PowerPoint 演示文稿</vt:lpstr>
      <vt:lpstr>关系规范化理论</vt:lpstr>
      <vt:lpstr>阿氏公理</vt:lpstr>
      <vt:lpstr>阿氏公理</vt:lpstr>
      <vt:lpstr>阿氏公理</vt:lpstr>
      <vt:lpstr>阿氏公理</vt:lpstr>
      <vt:lpstr>阿氏公理</vt:lpstr>
      <vt:lpstr>函数依赖集闭包</vt:lpstr>
      <vt:lpstr>函数依赖集闭包</vt:lpstr>
      <vt:lpstr>属性集闭包</vt:lpstr>
      <vt:lpstr>属性集闭包</vt:lpstr>
      <vt:lpstr>属性集闭包</vt:lpstr>
      <vt:lpstr>属性集闭包</vt:lpstr>
      <vt:lpstr>阿氏公理系统的有效性和完备性</vt:lpstr>
      <vt:lpstr>何谓有效性？何谓完备性？</vt:lpstr>
      <vt:lpstr>从函数依赖到候选键</vt:lpstr>
      <vt:lpstr>从函数依赖到候选键</vt:lpstr>
      <vt:lpstr>从函数依赖到候选键</vt:lpstr>
      <vt:lpstr>从函数依赖到候选键</vt:lpstr>
      <vt:lpstr>从函数依赖到候选键</vt:lpstr>
      <vt:lpstr>函数依赖集的等价和覆盖</vt:lpstr>
      <vt:lpstr>函数依赖集等价判断</vt:lpstr>
      <vt:lpstr>最小函数依赖集</vt:lpstr>
      <vt:lpstr>最小函数依赖集</vt:lpstr>
      <vt:lpstr>计算最小函数依赖集</vt:lpstr>
      <vt:lpstr>最小函数依赖集计算例子</vt:lpstr>
      <vt:lpstr>PowerPoint 演示文稿</vt:lpstr>
      <vt:lpstr>关系模式的分解</vt:lpstr>
      <vt:lpstr>关系模式的分解</vt:lpstr>
      <vt:lpstr>关系模式的分解</vt:lpstr>
      <vt:lpstr>关系模式的分解</vt:lpstr>
      <vt:lpstr>关系模式的分解</vt:lpstr>
      <vt:lpstr>关系模式的分解</vt:lpstr>
      <vt:lpstr>F={A→C，B→C，C→D，DE→C，CE→A}</vt:lpstr>
      <vt:lpstr>关系模式的分解</vt:lpstr>
      <vt:lpstr>关系模式的分解</vt:lpstr>
      <vt:lpstr>关系模式的分解</vt:lpstr>
      <vt:lpstr>关系模式的分解</vt:lpstr>
      <vt:lpstr>关系模式的分解</vt:lpstr>
      <vt:lpstr>关系模式的分解</vt:lpstr>
      <vt:lpstr>关系模式的分解</vt:lpstr>
      <vt:lpstr>关系模式的分解</vt:lpstr>
      <vt:lpstr>关系模式的分解</vt:lpstr>
      <vt:lpstr>关系模式的分解</vt:lpstr>
      <vt:lpstr>关系模式的分解</vt:lpstr>
      <vt:lpstr>第4章 规范化理论要点</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彭煜玮</cp:lastModifiedBy>
  <cp:revision>381</cp:revision>
  <dcterms:modified xsi:type="dcterms:W3CDTF">2026-02-22T06:09:38Z</dcterms:modified>
</cp:coreProperties>
</file>