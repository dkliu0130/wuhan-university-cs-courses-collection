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2"/>
  </p:sldMasterIdLst>
  <p:notesMasterIdLst>
    <p:notesMasterId r:id="rId55"/>
  </p:notesMasterIdLst>
  <p:handoutMasterIdLst>
    <p:handoutMasterId r:id="rId56"/>
  </p:handoutMasterIdLst>
  <p:sldIdLst>
    <p:sldId id="256" r:id="rId3"/>
    <p:sldId id="526" r:id="rId4"/>
    <p:sldId id="527" r:id="rId5"/>
    <p:sldId id="2886" r:id="rId6"/>
    <p:sldId id="2884" r:id="rId7"/>
    <p:sldId id="2885" r:id="rId8"/>
    <p:sldId id="528" r:id="rId9"/>
    <p:sldId id="2833" r:id="rId10"/>
    <p:sldId id="2834" r:id="rId11"/>
    <p:sldId id="2835" r:id="rId12"/>
    <p:sldId id="2836" r:id="rId13"/>
    <p:sldId id="2837" r:id="rId14"/>
    <p:sldId id="2838" r:id="rId15"/>
    <p:sldId id="2839" r:id="rId16"/>
    <p:sldId id="2840" r:id="rId17"/>
    <p:sldId id="2841" r:id="rId18"/>
    <p:sldId id="2842" r:id="rId19"/>
    <p:sldId id="2843" r:id="rId20"/>
    <p:sldId id="2844" r:id="rId21"/>
    <p:sldId id="2845" r:id="rId22"/>
    <p:sldId id="2846" r:id="rId23"/>
    <p:sldId id="2847" r:id="rId24"/>
    <p:sldId id="2848" r:id="rId25"/>
    <p:sldId id="2922" r:id="rId26"/>
    <p:sldId id="532" r:id="rId27"/>
    <p:sldId id="2849" r:id="rId28"/>
    <p:sldId id="2850" r:id="rId29"/>
    <p:sldId id="2851" r:id="rId30"/>
    <p:sldId id="2852" r:id="rId31"/>
    <p:sldId id="2853" r:id="rId32"/>
    <p:sldId id="2861" r:id="rId33"/>
    <p:sldId id="2863" r:id="rId34"/>
    <p:sldId id="2864" r:id="rId35"/>
    <p:sldId id="2865" r:id="rId36"/>
    <p:sldId id="2867" r:id="rId37"/>
    <p:sldId id="2868" r:id="rId38"/>
    <p:sldId id="2869" r:id="rId39"/>
    <p:sldId id="2870" r:id="rId40"/>
    <p:sldId id="2871" r:id="rId41"/>
    <p:sldId id="2872" r:id="rId42"/>
    <p:sldId id="2873" r:id="rId43"/>
    <p:sldId id="2874" r:id="rId44"/>
    <p:sldId id="2876" r:id="rId45"/>
    <p:sldId id="2923" r:id="rId46"/>
    <p:sldId id="2881" r:id="rId47"/>
    <p:sldId id="2882" r:id="rId48"/>
    <p:sldId id="531" r:id="rId49"/>
    <p:sldId id="2925" r:id="rId50"/>
    <p:sldId id="2924" r:id="rId51"/>
    <p:sldId id="2920" r:id="rId52"/>
    <p:sldId id="2921" r:id="rId53"/>
    <p:sldId id="2919" r:id="rId54"/>
  </p:sldIdLst>
  <p:sldSz cx="9144000" cy="5143500" type="screen16x9"/>
  <p:notesSz cx="5143500" cy="9144000"/>
  <p:embeddedFontLst>
    <p:embeddedFont>
      <p:font typeface="Microsoft YaHei" panose="020B0503020204020204" pitchFamily="34" charset="-122"/>
      <p:regular r:id="rId57"/>
      <p:bold r:id="rId58"/>
    </p:embeddedFont>
    <p:embeddedFont>
      <p:font typeface="等线" panose="02010600030101010101" pitchFamily="2" charset="-122"/>
      <p:regular r:id="rId59"/>
      <p:bold r:id="rId60"/>
    </p:embeddedFont>
    <p:embeddedFont>
      <p:font typeface="楷体" panose="02010609060101010101" pitchFamily="49" charset="-122"/>
      <p:regular r:id="rId61"/>
    </p:embeddedFont>
    <p:embeddedFont>
      <p:font typeface="宋体" panose="02010600030101010101" pitchFamily="2" charset="-122"/>
      <p:regular r:id="rId62"/>
    </p:embeddedFont>
    <p:embeddedFont>
      <p:font typeface="Cambria Math" panose="02040503050406030204" pitchFamily="18" charset="0"/>
      <p:regular r:id="rId63"/>
    </p:embeddedFont>
    <p:embeddedFont>
      <p:font typeface="Tahoma" panose="020B0604030504040204" pitchFamily="34" charset="0"/>
      <p:regular r:id="rId64"/>
      <p:bold r:id="rId6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9CF"/>
    <a:srgbClr val="D1D9D2"/>
    <a:srgbClr val="CBC11E"/>
    <a:srgbClr val="DCE1CC"/>
    <a:srgbClr val="F8D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53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84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7.fntdata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2.fntdata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font" Target="fonts/font5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64" Type="http://schemas.openxmlformats.org/officeDocument/2006/relationships/font" Target="fonts/font8.fntdata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3.fntdata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A54FDA4-1F5A-8E9B-F685-24508D12D3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388EB6-7A6A-6C45-C8ED-51C2F3086E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365D0-91AF-7C42-AA19-7374AA81A0FF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51B93B-EB01-5753-6A27-D70A8D2215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D3C135-B8B3-7B34-CB44-D7AD55C9D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0F489-628A-E24B-97F8-426382C0165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6381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6BFEB-7536-E7CD-8AFB-36D307424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CB7FC-CD25-BA42-F707-5D78D2757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7B8CD-799F-0C58-085A-1B9784776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30EB3-0045-8652-2AB3-5017997CF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99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11DE-6186-BC75-2CD9-B114A6B63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2F406-038B-7210-ABE3-4913E85C1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64DC6-A124-8940-CD49-75A11A567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BF224-4C24-F808-0AA9-A1EF9B37B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47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66083-0EF0-48AB-C67C-FD55AF9FE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F72BB-E218-F384-6081-924DE4764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A41E3-5E4D-BB50-6B0D-E5B6603DF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E7D9D-69E1-EA4B-75DD-FB1C60ABE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8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non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b="1" dirty="0"/>
              <a:t>13</a:t>
            </a:fld>
            <a:endParaRPr lang="zh-CN" altLang="en-US" sz="1200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65BB7-4ECB-B74C-C5BE-FC234CB7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3F801-8CC1-232D-3995-718EFDECF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59871-C2D8-BD49-E653-BD59CB574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88C51-7E60-BF95-73E9-029E7920C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15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6" name="文本占位符 2"/>
          <p:cNvSpPr>
            <a:spLocks noGrp="1"/>
          </p:cNvSpPr>
          <p:nvPr>
            <p:ph type="body"/>
          </p:nvPr>
        </p:nvSpPr>
        <p:spPr/>
        <p:txBody>
          <a:bodyPr wrap="none" lIns="91440" tIns="45720" rIns="91440" bIns="45720" anchor="ctr" anchorCtr="0"/>
          <a:lstStyle/>
          <a:p>
            <a:pPr lvl="0"/>
            <a:endParaRPr lang="zh-CN" altLang="en-US" dirty="0"/>
          </a:p>
        </p:txBody>
      </p:sp>
      <p:sp>
        <p:nvSpPr>
          <p:cNvPr id="368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non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b="1" dirty="0"/>
              <a:t>29</a:t>
            </a:fld>
            <a:endParaRPr lang="zh-CN" altLang="en-US" sz="1200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8" name="文本占位符 2"/>
          <p:cNvSpPr>
            <a:spLocks noGrp="1"/>
          </p:cNvSpPr>
          <p:nvPr>
            <p:ph type="body"/>
          </p:nvPr>
        </p:nvSpPr>
        <p:spPr/>
        <p:txBody>
          <a:bodyPr wrap="none" lIns="91440" tIns="45720" rIns="91440" bIns="45720" anchor="ctr" anchorCtr="0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E89F6-7A8F-C273-EEB4-20897186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449A6-0416-F89C-5624-3310431AF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B529B-32B5-E124-AD51-80924F683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F9886-57CA-E487-B85A-49AA8E285C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1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4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4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B7416-F2C8-CB05-21A9-12D30740D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4082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0"/>
            <a:ext cx="6240462" cy="62865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800100"/>
            <a:ext cx="4495800" cy="4343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800100"/>
            <a:ext cx="4495800" cy="4343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DB317-737D-4E41-A6A0-70A94F917B0E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25189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03B5A-5684-9C48-B06E-1F29FFC2BF0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59415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800100"/>
            <a:ext cx="4495800" cy="4343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800100"/>
            <a:ext cx="4495800" cy="4343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21F39-B3A4-B24B-B9AD-B8BC9597B1E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77819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47735-1087-C94D-86AB-B0C7949F94E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74402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6786A0-5BD1-A934-990A-693BF6F4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C308B4-5DC2-C1FD-00A9-ABDE4167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3CA0C5-1531-25DA-DCFA-AB2596B4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989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00AFC62-34B5-A13D-FB5F-E40661A5E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6545" y="2791572"/>
            <a:ext cx="7458075" cy="642035"/>
          </a:xfr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lang="zh-CN" altLang="en-US" sz="4346" b="1" dirty="0">
                <a:solidFill>
                  <a:srgbClr val="4141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defRPr>
            </a:lvl1pPr>
          </a:lstStyle>
          <a:p>
            <a:pPr marL="0" lvl="0" indent="0">
              <a:lnSpc>
                <a:spcPct val="96000"/>
              </a:lnSpc>
              <a:buNone/>
            </a:pPr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A7C707-2645-9AE5-5C99-51D2133D75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20924" y="1307645"/>
            <a:ext cx="1018451" cy="806400"/>
          </a:xfr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buNone/>
              <a:defRPr lang="zh-CN" altLang="en-US" sz="5250" b="1" kern="1200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defRPr>
            </a:lvl1pPr>
          </a:lstStyle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5BC3DC-3551-4C56-4B66-4B2C0267A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B6C7-774E-CC40-B792-A0FBA87DFD06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09566B-4207-9F1C-6F9C-E40AACADC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23F73-AA4F-F3F5-5EE0-239EF208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E2EB-CEEE-154A-8E5F-E6E0C8C57AC1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4D58F47A-1125-D0D2-2F3C-498192C9F60A}"/>
              </a:ext>
            </a:extLst>
          </p:cNvPr>
          <p:cNvSpPr/>
          <p:nvPr userDrawn="1"/>
        </p:nvSpPr>
        <p:spPr>
          <a:xfrm>
            <a:off x="1006545" y="1145447"/>
            <a:ext cx="1266735" cy="1112002"/>
          </a:xfrm>
          <a:custGeom>
            <a:avLst/>
            <a:gdLst/>
            <a:ahLst/>
            <a:cxnLst/>
            <a:rect l="l" t="t" r="r" b="b"/>
            <a:pathLst>
              <a:path w="1266735" h="1112002">
                <a:moveTo>
                  <a:pt x="0" y="0"/>
                </a:moveTo>
                <a:lnTo>
                  <a:pt x="1266735" y="0"/>
                </a:lnTo>
                <a:lnTo>
                  <a:pt x="1266735" y="1112002"/>
                </a:lnTo>
                <a:lnTo>
                  <a:pt x="0" y="1112002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488300C-8889-426E-268C-5B43ADCA19A0}"/>
              </a:ext>
            </a:extLst>
          </p:cNvPr>
          <p:cNvSpPr txBox="1"/>
          <p:nvPr userDrawn="1"/>
        </p:nvSpPr>
        <p:spPr>
          <a:xfrm>
            <a:off x="861243" y="1476441"/>
            <a:ext cx="1557338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" altLang="en-US" sz="315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PART</a:t>
            </a:r>
            <a:endParaRPr lang="en-US" sz="455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63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EECE7-2D90-0988-7FA7-3E6BAB79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5BB336-767A-B00A-E2B3-F3F3F54D1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D4666-F48B-5CC8-7977-00AEA31A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32C5F372-D9EE-804B-82F0-7EE97B9B327A}" type="datetimeFigureOut">
              <a:rPr kumimoji="1" lang="zh-CN" altLang="en-US" smtClean="0"/>
              <a:pPr/>
              <a:t>2026/2/22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0BBD08-8FD4-51A4-0EE0-346DD7DBC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A1EE57-F824-9786-BAA2-7DE2E949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E4D6AEF-96BF-6F44-8EB2-095946A83C6B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866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ED544-7AF4-1F37-C85C-922D9099C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E4AAC7-EDD8-913C-F7CA-7D7B84E5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F17C8C-B6BD-5159-33BF-F7422735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717544-B996-63C5-02C2-01AF46E66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071376-4490-75B6-A232-E89FE6AE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656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E737B-37AB-E91D-09BB-3BC336B2B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5B75D6-3FFB-D406-B36C-D5DEA28B9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7FA96B-3CF5-ABF5-4D84-0B8706D0C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6D427A-B596-C059-1743-ED0788452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9E3BC4-302F-4ECD-A1C6-7DDE84348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D30B55-BDEF-4806-5187-C20611F6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297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42E18-F965-82DB-8445-4B705195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CC999B-05DA-EAFF-E31C-FCA9E61C7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8D98F0-D337-254F-D8EE-2A69629C2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DE8915-5AD3-503E-E554-5FAE3DA2F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DED0AB-75EE-7F92-347B-31250F55F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25EC75-CFC3-205E-E89B-9EE88145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D16864-A164-E4AF-67C3-92E642493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9FD7D92-855B-829A-08F7-8438951F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8412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3D8CD-A021-6048-FEAA-F8D769FA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06212A-2388-F748-C031-2726A973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32B23A-BA68-C10D-424C-68D40A3D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5CE0FD-D4DC-EF06-81DD-F4024227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727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6786A0-5BD1-A934-990A-693BF6F4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C308B4-5DC2-C1FD-00A9-ABDE4167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3CA0C5-1531-25DA-DCFA-AB2596B4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5377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B56D2-5451-6FA7-CFE5-D33A5092D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EE3269-34F1-5026-40AD-47F2FF060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CA5EC7-2435-42CD-7DCC-FE4D3BC9A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0E7A35-CAE0-3004-8567-FF935576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899ED9-EE45-B800-BD98-1F46D405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6210FE-A293-FF74-B239-6ABF6CB0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5324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75620-A6CE-4F9D-7854-C257E4F1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BCE01EC-DF29-0F4E-1AD8-1389EBCFF4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D98552-5972-F210-F913-701E660FE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28ED3A-C182-BDDC-8F1E-A10F25CE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110357-3DC8-AF80-3EE0-D4A3E9228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F2BD2B-2D37-71F1-BE6A-CC763011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49135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B02AE-3FF7-5CB9-E92C-9EB1B3F9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2C3DBD-CC41-35F3-781A-D22973DA4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B570F3-CFAD-5690-8DD9-A284FAA6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0D9D1E-9191-AFAF-A1BF-EAD2362F1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E1718-6DBA-269D-24F1-A485B3AA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122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A9AD65-A5B6-D86E-15AF-4685D903D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1B135F-567D-A3FA-205D-EF12A6DC5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C707C-F2E6-0EC4-8990-9447419C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21827-BAC7-CA1A-8E90-A85D23CA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1A12E-406F-BB74-FEBD-0EC52AD7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5275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9340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588565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213636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554600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41151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569955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02181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20572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757669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74004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863823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379421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32332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829926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267139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472907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73560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386987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34878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363269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56922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883000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983891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041342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1242295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466440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38475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822195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767173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35968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335055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010763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845804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704903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609045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02151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66150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803003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4115773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860474C0-7204-B142-9D8D-FBD67E2576A0}" type="datetime1">
              <a:rPr lang="en-US" altLang="zh-CN" smtClean="0"/>
              <a:t>2/22/26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198356" y="200676"/>
            <a:ext cx="5217795" cy="4719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750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53.xml"/><Relationship Id="rId50" Type="http://schemas.openxmlformats.org/officeDocument/2006/relationships/slideLayout" Target="../slideLayouts/slideLayout56.xml"/><Relationship Id="rId55" Type="http://schemas.openxmlformats.org/officeDocument/2006/relationships/image" Target="../media/image3.png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43.xml"/><Relationship Id="rId40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51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31" Type="http://schemas.openxmlformats.org/officeDocument/2006/relationships/slideLayout" Target="../slideLayouts/slideLayout37.xml"/><Relationship Id="rId44" Type="http://schemas.openxmlformats.org/officeDocument/2006/relationships/slideLayout" Target="../slideLayouts/slideLayout50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4.xml"/><Relationship Id="rId51" Type="http://schemas.openxmlformats.org/officeDocument/2006/relationships/slideLayout" Target="../slideLayouts/slideLayout57.xml"/><Relationship Id="rId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26.xml"/><Relationship Id="rId41" Type="http://schemas.openxmlformats.org/officeDocument/2006/relationships/slideLayout" Target="../slideLayouts/slideLayout47.xml"/><Relationship Id="rId54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42.xml"/><Relationship Id="rId49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7A5E09-A989-EE50-CBE0-5B84B7C6B823}"/>
              </a:ext>
            </a:extLst>
          </p:cNvPr>
          <p:cNvSpPr/>
          <p:nvPr userDrawn="1"/>
        </p:nvSpPr>
        <p:spPr>
          <a:xfrm>
            <a:off x="0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5EB4511-BE1F-4AF2-1BFB-CE1AC6C1889A}"/>
              </a:ext>
            </a:extLst>
          </p:cNvPr>
          <p:cNvSpPr/>
          <p:nvPr userDrawn="1"/>
        </p:nvSpPr>
        <p:spPr>
          <a:xfrm>
            <a:off x="2289867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46D629-FC4C-A26C-9ED7-964E26D8BC0B}"/>
              </a:ext>
            </a:extLst>
          </p:cNvPr>
          <p:cNvSpPr/>
          <p:nvPr userDrawn="1"/>
        </p:nvSpPr>
        <p:spPr>
          <a:xfrm>
            <a:off x="4562321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A6941C-C507-20E9-7488-DC37410E8AAD}"/>
              </a:ext>
            </a:extLst>
          </p:cNvPr>
          <p:cNvSpPr/>
          <p:nvPr userDrawn="1"/>
        </p:nvSpPr>
        <p:spPr>
          <a:xfrm>
            <a:off x="6852188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59E6006-31EA-7EC3-5B42-9B15E3826870}"/>
              </a:ext>
            </a:extLst>
          </p:cNvPr>
          <p:cNvSpPr/>
          <p:nvPr userDrawn="1"/>
        </p:nvSpPr>
        <p:spPr>
          <a:xfrm>
            <a:off x="9679" y="549846"/>
            <a:ext cx="3835005" cy="47625"/>
          </a:xfrm>
          <a:custGeom>
            <a:avLst/>
            <a:gdLst/>
            <a:ahLst/>
            <a:cxnLst/>
            <a:rect l="l" t="t" r="r" b="b"/>
            <a:pathLst>
              <a:path w="3835005" h="47625">
                <a:moveTo>
                  <a:pt x="0" y="0"/>
                </a:moveTo>
                <a:lnTo>
                  <a:pt x="3835005" y="0"/>
                </a:lnTo>
                <a:lnTo>
                  <a:pt x="383500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66885E7-16D3-570C-6E0C-5CEA1E47D30E}"/>
              </a:ext>
            </a:extLst>
          </p:cNvPr>
          <p:cNvSpPr/>
          <p:nvPr userDrawn="1"/>
        </p:nvSpPr>
        <p:spPr>
          <a:xfrm>
            <a:off x="5323689" y="549846"/>
            <a:ext cx="3835005" cy="47625"/>
          </a:xfrm>
          <a:custGeom>
            <a:avLst/>
            <a:gdLst/>
            <a:ahLst/>
            <a:cxnLst/>
            <a:rect l="l" t="t" r="r" b="b"/>
            <a:pathLst>
              <a:path w="3835005" h="47625">
                <a:moveTo>
                  <a:pt x="0" y="0"/>
                </a:moveTo>
                <a:lnTo>
                  <a:pt x="3835005" y="0"/>
                </a:lnTo>
                <a:lnTo>
                  <a:pt x="383500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DDDED04-DE6D-8A23-9734-CBD8EC18AFBB}"/>
              </a:ext>
            </a:extLst>
          </p:cNvPr>
          <p:cNvSpPr txBox="1"/>
          <p:nvPr userDrawn="1"/>
        </p:nvSpPr>
        <p:spPr>
          <a:xfrm>
            <a:off x="850696" y="1132005"/>
            <a:ext cx="74580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0" b="1" dirty="0" err="1">
                <a:solidFill>
                  <a:srgbClr val="148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现代数据库系统</a:t>
            </a:r>
            <a:endParaRPr lang="en-US" sz="7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A7A420D-D20D-ACF1-0AD2-FBB5D50E3E47}"/>
              </a:ext>
            </a:extLst>
          </p:cNvPr>
          <p:cNvSpPr/>
          <p:nvPr userDrawn="1"/>
        </p:nvSpPr>
        <p:spPr>
          <a:xfrm>
            <a:off x="0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B24FEC78-DC58-F365-B3A6-CF612C3C3D3D}"/>
              </a:ext>
            </a:extLst>
          </p:cNvPr>
          <p:cNvSpPr/>
          <p:nvPr userDrawn="1"/>
        </p:nvSpPr>
        <p:spPr>
          <a:xfrm>
            <a:off x="2289867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5E5AD7E-2EDB-102E-868E-5EDD3D3A5750}"/>
              </a:ext>
            </a:extLst>
          </p:cNvPr>
          <p:cNvSpPr/>
          <p:nvPr userDrawn="1"/>
        </p:nvSpPr>
        <p:spPr>
          <a:xfrm>
            <a:off x="4562321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6C0F6275-88C0-7C5A-C40B-0CAAB8E69EA0}"/>
              </a:ext>
            </a:extLst>
          </p:cNvPr>
          <p:cNvSpPr/>
          <p:nvPr userDrawn="1"/>
        </p:nvSpPr>
        <p:spPr>
          <a:xfrm>
            <a:off x="6852188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6" name="图片 15" descr="徽标&#10;&#10;AI 生成的内容可能不正确。">
            <a:extLst>
              <a:ext uri="{FF2B5EF4-FFF2-40B4-BE49-F238E27FC236}">
                <a16:creationId xmlns:a16="http://schemas.microsoft.com/office/drawing/2014/main" id="{EDE98BE7-674A-84A1-2E7B-FBEBE441873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202034" y="220502"/>
            <a:ext cx="720574" cy="7189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">
            <a:extLst>
              <a:ext uri="{FF2B5EF4-FFF2-40B4-BE49-F238E27FC236}">
                <a16:creationId xmlns:a16="http://schemas.microsoft.com/office/drawing/2014/main" id="{48BD775E-A6BB-AF91-6EFC-2B063F82EC31}"/>
              </a:ext>
            </a:extLst>
          </p:cNvPr>
          <p:cNvSpPr/>
          <p:nvPr userDrawn="1"/>
        </p:nvSpPr>
        <p:spPr>
          <a:xfrm>
            <a:off x="0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4166899-177E-5114-DE19-9E2BA37EF7E6}"/>
              </a:ext>
            </a:extLst>
          </p:cNvPr>
          <p:cNvSpPr/>
          <p:nvPr userDrawn="1"/>
        </p:nvSpPr>
        <p:spPr>
          <a:xfrm>
            <a:off x="2289867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4146F1E0-B708-B4FD-784D-C33CB18C5AC5}"/>
              </a:ext>
            </a:extLst>
          </p:cNvPr>
          <p:cNvSpPr/>
          <p:nvPr userDrawn="1"/>
        </p:nvSpPr>
        <p:spPr>
          <a:xfrm>
            <a:off x="4562321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C647A5F-A889-47DE-8145-E069CC2035D5}"/>
              </a:ext>
            </a:extLst>
          </p:cNvPr>
          <p:cNvSpPr/>
          <p:nvPr userDrawn="1"/>
        </p:nvSpPr>
        <p:spPr>
          <a:xfrm>
            <a:off x="6852188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78CDFA-2A25-E47E-291E-DAD54555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84" y="496310"/>
            <a:ext cx="7886700" cy="4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4D4848-4095-B8A8-7601-736321C30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042761"/>
            <a:ext cx="7886700" cy="3711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C317BE-E462-2C75-5469-1C523508E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8180" y="483786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5F372-D9EE-804B-82F0-7EE97B9B327A}" type="datetimeFigureOut">
              <a:rPr kumimoji="1" lang="zh-CN" altLang="en-US" smtClean="0"/>
              <a:t>2026/2/22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B16873-C63D-E592-2399-19A9BA46F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18580" y="4837864"/>
            <a:ext cx="4309321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976924-03DF-39F8-46BE-34E7CD690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6475" y="483786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D6AEF-96BF-6F44-8EB2-095946A83C6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1F21A128-D704-BDA2-A63B-684FE57E79B8}"/>
              </a:ext>
            </a:extLst>
          </p:cNvPr>
          <p:cNvSpPr/>
          <p:nvPr userDrawn="1"/>
        </p:nvSpPr>
        <p:spPr>
          <a:xfrm>
            <a:off x="0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4A059BF-47BE-5BB1-8DA8-90126974B398}"/>
              </a:ext>
            </a:extLst>
          </p:cNvPr>
          <p:cNvSpPr/>
          <p:nvPr userDrawn="1"/>
        </p:nvSpPr>
        <p:spPr>
          <a:xfrm>
            <a:off x="2289867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A7018654-3D44-3124-08A9-CA34B688DD24}"/>
              </a:ext>
            </a:extLst>
          </p:cNvPr>
          <p:cNvSpPr/>
          <p:nvPr userDrawn="1"/>
        </p:nvSpPr>
        <p:spPr>
          <a:xfrm>
            <a:off x="4562321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7E5317B9-228B-7072-CC18-E34F4B4EBA25}"/>
              </a:ext>
            </a:extLst>
          </p:cNvPr>
          <p:cNvSpPr/>
          <p:nvPr userDrawn="1"/>
        </p:nvSpPr>
        <p:spPr>
          <a:xfrm>
            <a:off x="6852188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4" name="图片 23" descr="徽标&#10;&#10;AI 生成的内容可能不正确。">
            <a:extLst>
              <a:ext uri="{FF2B5EF4-FFF2-40B4-BE49-F238E27FC236}">
                <a16:creationId xmlns:a16="http://schemas.microsoft.com/office/drawing/2014/main" id="{62C8AEBD-E604-303F-0750-962701B7B3EC}"/>
              </a:ext>
            </a:extLst>
          </p:cNvPr>
          <p:cNvPicPr>
            <a:picLocks noChangeAspect="1"/>
          </p:cNvPicPr>
          <p:nvPr userDrawn="1"/>
        </p:nvPicPr>
        <p:blipFill>
          <a:blip r:embed="rId53"/>
          <a:stretch>
            <a:fillRect/>
          </a:stretch>
        </p:blipFill>
        <p:spPr>
          <a:xfrm>
            <a:off x="108180" y="119599"/>
            <a:ext cx="334861" cy="334084"/>
          </a:xfrm>
          <a:prstGeom prst="rect">
            <a:avLst/>
          </a:prstGeom>
        </p:spPr>
      </p:pic>
      <p:pic>
        <p:nvPicPr>
          <p:cNvPr id="26" name="图片 25" descr="图标&#10;&#10;AI 生成的内容可能不正确。">
            <a:extLst>
              <a:ext uri="{FF2B5EF4-FFF2-40B4-BE49-F238E27FC236}">
                <a16:creationId xmlns:a16="http://schemas.microsoft.com/office/drawing/2014/main" id="{14CEF7CC-1A6F-833C-43E2-2A43880720CF}"/>
              </a:ext>
            </a:extLst>
          </p:cNvPr>
          <p:cNvPicPr>
            <a:picLocks noChangeAspect="1"/>
          </p:cNvPicPr>
          <p:nvPr userDrawn="1"/>
        </p:nvPicPr>
        <p:blipFill>
          <a:blip r:embed="rId54"/>
          <a:stretch>
            <a:fillRect/>
          </a:stretch>
        </p:blipFill>
        <p:spPr>
          <a:xfrm>
            <a:off x="502271" y="173422"/>
            <a:ext cx="775858" cy="22643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1E95B03-867E-A128-6B62-0A757D65EE27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469" y="109496"/>
            <a:ext cx="398937" cy="303725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621E1DA3-B30E-3828-B884-151B4CA5132C}"/>
              </a:ext>
            </a:extLst>
          </p:cNvPr>
          <p:cNvSpPr txBox="1"/>
          <p:nvPr userDrawn="1"/>
        </p:nvSpPr>
        <p:spPr>
          <a:xfrm>
            <a:off x="7482406" y="148141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珞珈图腾数据库实验室</a:t>
            </a:r>
          </a:p>
        </p:txBody>
      </p:sp>
    </p:spTree>
    <p:extLst>
      <p:ext uri="{BB962C8B-B14F-4D97-AF65-F5344CB8AC3E}">
        <p14:creationId xmlns:p14="http://schemas.microsoft.com/office/powerpoint/2010/main" val="171698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  <p:sldLayoutId id="2147483710" r:id="rId42"/>
    <p:sldLayoutId id="2147483711" r:id="rId43"/>
    <p:sldLayoutId id="2147483712" r:id="rId44"/>
    <p:sldLayoutId id="2147483713" r:id="rId45"/>
    <p:sldLayoutId id="2147483714" r:id="rId46"/>
    <p:sldLayoutId id="2147483715" r:id="rId47"/>
    <p:sldLayoutId id="2147483716" r:id="rId48"/>
    <p:sldLayoutId id="2147483717" r:id="rId49"/>
    <p:sldLayoutId id="2147483718" r:id="rId50"/>
    <p:sldLayoutId id="2147483719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rgbClr val="00B0F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289867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62321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2188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679" y="549846"/>
            <a:ext cx="3835005" cy="47625"/>
          </a:xfrm>
          <a:custGeom>
            <a:avLst/>
            <a:gdLst/>
            <a:ahLst/>
            <a:cxnLst/>
            <a:rect l="l" t="t" r="r" b="b"/>
            <a:pathLst>
              <a:path w="3835005" h="47625">
                <a:moveTo>
                  <a:pt x="0" y="0"/>
                </a:moveTo>
                <a:lnTo>
                  <a:pt x="3835005" y="0"/>
                </a:lnTo>
                <a:lnTo>
                  <a:pt x="383500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23689" y="549846"/>
            <a:ext cx="3835005" cy="47625"/>
          </a:xfrm>
          <a:custGeom>
            <a:avLst/>
            <a:gdLst/>
            <a:ahLst/>
            <a:cxnLst/>
            <a:rect l="l" t="t" r="r" b="b"/>
            <a:pathLst>
              <a:path w="3835005" h="47625">
                <a:moveTo>
                  <a:pt x="0" y="0"/>
                </a:moveTo>
                <a:lnTo>
                  <a:pt x="3835005" y="0"/>
                </a:lnTo>
                <a:lnTo>
                  <a:pt x="3835005" y="47625"/>
                </a:lnTo>
                <a:lnTo>
                  <a:pt x="0" y="47625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50696" y="2405632"/>
            <a:ext cx="7458075" cy="64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zh-CN" altLang="en-US" sz="4346" b="1" dirty="0">
                <a:solidFill>
                  <a:srgbClr val="4141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数据模型</a:t>
            </a:r>
            <a:endParaRPr lang="en-US" sz="4346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415301" y="3365015"/>
            <a:ext cx="2328863" cy="86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zh-CN" altLang="en-US" b="1" dirty="0">
                <a:solidFill>
                  <a:srgbClr val="4E46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彭煜玮</a:t>
            </a:r>
            <a:endParaRPr lang="en-US" altLang="zh-CN" b="1" dirty="0">
              <a:solidFill>
                <a:srgbClr val="4E464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ourceHanSansSC-Regular"/>
            </a:endParaRPr>
          </a:p>
          <a:p>
            <a:pPr marL="0" indent="0" algn="ctr">
              <a:lnSpc>
                <a:spcPct val="96000"/>
              </a:lnSpc>
              <a:buNone/>
            </a:pPr>
            <a:r>
              <a:rPr lang="en-US" altLang="zh-CN" sz="1350" dirty="0" err="1">
                <a:solidFill>
                  <a:srgbClr val="4E46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ywpeng@whu.edu.cn</a:t>
            </a:r>
            <a:endParaRPr lang="en-US" altLang="zh-CN" sz="1350" dirty="0">
              <a:solidFill>
                <a:srgbClr val="4E464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SourceHanSansSC-Regular"/>
            </a:endParaRPr>
          </a:p>
          <a:p>
            <a:pPr marL="0" indent="0" algn="ctr">
              <a:lnSpc>
                <a:spcPct val="96000"/>
              </a:lnSpc>
              <a:buNone/>
            </a:pPr>
            <a:r>
              <a:rPr lang="zh-CN" altLang="en-US" sz="1350" dirty="0">
                <a:solidFill>
                  <a:srgbClr val="4E46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珞珈图腾数据库实验室</a:t>
            </a:r>
            <a:endParaRPr lang="en-US" altLang="zh-CN" sz="1350" dirty="0">
              <a:solidFill>
                <a:srgbClr val="4E46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ctr">
              <a:lnSpc>
                <a:spcPct val="96000"/>
              </a:lnSpc>
              <a:buNone/>
            </a:pPr>
            <a:r>
              <a:rPr lang="en-US" altLang="zh-CN" sz="1350" dirty="0">
                <a:solidFill>
                  <a:srgbClr val="4E46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2025.9.1</a:t>
            </a:r>
            <a:endParaRPr lang="en-US" sz="13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50696" y="1132005"/>
            <a:ext cx="74580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7500" b="1" dirty="0" err="1">
                <a:solidFill>
                  <a:srgbClr val="14857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现代数据库系统</a:t>
            </a:r>
            <a:endParaRPr lang="en-US" sz="7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9867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62321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2188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8" name="图片 17" descr="徽标&#10;&#10;AI 生成的内容可能不正确。">
            <a:extLst>
              <a:ext uri="{FF2B5EF4-FFF2-40B4-BE49-F238E27FC236}">
                <a16:creationId xmlns:a16="http://schemas.microsoft.com/office/drawing/2014/main" id="{7F51767B-B579-4F1A-972C-0571B613E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2034" y="220502"/>
            <a:ext cx="720574" cy="7189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BEA37-B35A-461E-1D24-C13D7EC8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000886-AFFD-56BD-B952-DA7210E3E4FC}"/>
              </a:ext>
            </a:extLst>
          </p:cNvPr>
          <p:cNvSpPr/>
          <p:nvPr/>
        </p:nvSpPr>
        <p:spPr>
          <a:xfrm>
            <a:off x="0" y="0"/>
            <a:ext cx="2793931" cy="5137945"/>
          </a:xfrm>
          <a:custGeom>
            <a:avLst/>
            <a:gdLst/>
            <a:ahLst/>
            <a:cxnLst/>
            <a:rect l="l" t="t" r="r" b="b"/>
            <a:pathLst>
              <a:path w="2793931" h="5137945">
                <a:moveTo>
                  <a:pt x="0" y="0"/>
                </a:moveTo>
                <a:lnTo>
                  <a:pt x="0" y="5137945"/>
                </a:lnTo>
                <a:lnTo>
                  <a:pt x="2793931" y="5137945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Image 0" descr="//img.tukuppt.com/aippt_uploads/55004950/24/11/16/67383893e246f.png">
            <a:extLst>
              <a:ext uri="{FF2B5EF4-FFF2-40B4-BE49-F238E27FC236}">
                <a16:creationId xmlns:a16="http://schemas.microsoft.com/office/drawing/2014/main" id="{03F35EAD-5834-1449-36DA-1D10B7CA7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69" y="0"/>
            <a:ext cx="5168105" cy="5130104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448AEA9C-9DD2-33B3-EC02-608EF99CCE25}"/>
              </a:ext>
            </a:extLst>
          </p:cNvPr>
          <p:cNvSpPr/>
          <p:nvPr/>
        </p:nvSpPr>
        <p:spPr>
          <a:xfrm>
            <a:off x="3013642" y="1057042"/>
            <a:ext cx="511017" cy="511017"/>
          </a:xfrm>
          <a:custGeom>
            <a:avLst/>
            <a:gdLst/>
            <a:ahLst/>
            <a:cxnLst/>
            <a:rect l="l" t="t" r="r" b="b"/>
            <a:pathLst>
              <a:path w="511017" h="511017">
                <a:moveTo>
                  <a:pt x="255509" y="0"/>
                </a:moveTo>
                <a:cubicBezTo>
                  <a:pt x="396528" y="0"/>
                  <a:pt x="511017" y="114490"/>
                  <a:pt x="511017" y="255509"/>
                </a:cubicBezTo>
                <a:cubicBezTo>
                  <a:pt x="511017" y="396528"/>
                  <a:pt x="396528" y="511017"/>
                  <a:pt x="255509" y="511017"/>
                </a:cubicBezTo>
                <a:cubicBezTo>
                  <a:pt x="114490" y="511017"/>
                  <a:pt x="0" y="396528"/>
                  <a:pt x="0" y="255509"/>
                </a:cubicBezTo>
                <a:cubicBezTo>
                  <a:pt x="0" y="114490"/>
                  <a:pt x="114490" y="0"/>
                  <a:pt x="255509" y="0"/>
                </a:cubicBez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F92AF7E-451F-E748-BA2E-401C504E4DDA}"/>
              </a:ext>
            </a:extLst>
          </p:cNvPr>
          <p:cNvSpPr/>
          <p:nvPr/>
        </p:nvSpPr>
        <p:spPr>
          <a:xfrm>
            <a:off x="3442164" y="1829945"/>
            <a:ext cx="511017" cy="511017"/>
          </a:xfrm>
          <a:custGeom>
            <a:avLst/>
            <a:gdLst/>
            <a:ahLst/>
            <a:cxnLst/>
            <a:rect l="l" t="t" r="r" b="b"/>
            <a:pathLst>
              <a:path w="511017" h="511017">
                <a:moveTo>
                  <a:pt x="255509" y="0"/>
                </a:moveTo>
                <a:cubicBezTo>
                  <a:pt x="396528" y="0"/>
                  <a:pt x="511017" y="114490"/>
                  <a:pt x="511017" y="255509"/>
                </a:cubicBezTo>
                <a:cubicBezTo>
                  <a:pt x="511017" y="396528"/>
                  <a:pt x="396528" y="511017"/>
                  <a:pt x="255509" y="511017"/>
                </a:cubicBezTo>
                <a:cubicBezTo>
                  <a:pt x="114490" y="511017"/>
                  <a:pt x="0" y="396528"/>
                  <a:pt x="0" y="255509"/>
                </a:cubicBezTo>
                <a:cubicBezTo>
                  <a:pt x="0" y="114490"/>
                  <a:pt x="114490" y="0"/>
                  <a:pt x="255509" y="0"/>
                </a:cubicBez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61FA37D-075D-14BD-9645-F1C81C19CE65}"/>
              </a:ext>
            </a:extLst>
          </p:cNvPr>
          <p:cNvSpPr/>
          <p:nvPr/>
        </p:nvSpPr>
        <p:spPr>
          <a:xfrm>
            <a:off x="3898459" y="2713939"/>
            <a:ext cx="511017" cy="511017"/>
          </a:xfrm>
          <a:custGeom>
            <a:avLst/>
            <a:gdLst/>
            <a:ahLst/>
            <a:cxnLst/>
            <a:rect l="l" t="t" r="r" b="b"/>
            <a:pathLst>
              <a:path w="511017" h="511017">
                <a:moveTo>
                  <a:pt x="255509" y="0"/>
                </a:moveTo>
                <a:cubicBezTo>
                  <a:pt x="396528" y="0"/>
                  <a:pt x="511017" y="114490"/>
                  <a:pt x="511017" y="255509"/>
                </a:cubicBezTo>
                <a:cubicBezTo>
                  <a:pt x="511017" y="396528"/>
                  <a:pt x="396528" y="511017"/>
                  <a:pt x="255509" y="511017"/>
                </a:cubicBezTo>
                <a:cubicBezTo>
                  <a:pt x="114490" y="511017"/>
                  <a:pt x="0" y="396528"/>
                  <a:pt x="0" y="255509"/>
                </a:cubicBezTo>
                <a:cubicBezTo>
                  <a:pt x="0" y="114490"/>
                  <a:pt x="114490" y="0"/>
                  <a:pt x="255509" y="0"/>
                </a:cubicBez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667756B-9411-48D2-3564-A82E17B753C3}"/>
              </a:ext>
            </a:extLst>
          </p:cNvPr>
          <p:cNvSpPr/>
          <p:nvPr/>
        </p:nvSpPr>
        <p:spPr>
          <a:xfrm>
            <a:off x="4371417" y="3547943"/>
            <a:ext cx="511017" cy="511017"/>
          </a:xfrm>
          <a:custGeom>
            <a:avLst/>
            <a:gdLst/>
            <a:ahLst/>
            <a:cxnLst/>
            <a:rect l="l" t="t" r="r" b="b"/>
            <a:pathLst>
              <a:path w="511017" h="511017">
                <a:moveTo>
                  <a:pt x="255509" y="0"/>
                </a:moveTo>
                <a:cubicBezTo>
                  <a:pt x="396528" y="0"/>
                  <a:pt x="511017" y="114490"/>
                  <a:pt x="511017" y="255509"/>
                </a:cubicBezTo>
                <a:cubicBezTo>
                  <a:pt x="511017" y="396528"/>
                  <a:pt x="396528" y="511017"/>
                  <a:pt x="255509" y="511017"/>
                </a:cubicBezTo>
                <a:cubicBezTo>
                  <a:pt x="114490" y="511017"/>
                  <a:pt x="0" y="396528"/>
                  <a:pt x="0" y="255509"/>
                </a:cubicBezTo>
                <a:cubicBezTo>
                  <a:pt x="0" y="114490"/>
                  <a:pt x="114490" y="0"/>
                  <a:pt x="255509" y="0"/>
                </a:cubicBez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2E12E3-3875-727C-3AFC-A29B00A4EAC4}"/>
              </a:ext>
            </a:extLst>
          </p:cNvPr>
          <p:cNvSpPr txBox="1"/>
          <p:nvPr/>
        </p:nvSpPr>
        <p:spPr>
          <a:xfrm>
            <a:off x="3064363" y="1174438"/>
            <a:ext cx="40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01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187866-10A3-BE3C-1D06-10E193335959}"/>
              </a:ext>
            </a:extLst>
          </p:cNvPr>
          <p:cNvSpPr txBox="1"/>
          <p:nvPr/>
        </p:nvSpPr>
        <p:spPr>
          <a:xfrm>
            <a:off x="3492885" y="1947341"/>
            <a:ext cx="40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02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C2A02D7-A019-7510-A4B4-C1297A2AD4DB}"/>
              </a:ext>
            </a:extLst>
          </p:cNvPr>
          <p:cNvSpPr txBox="1"/>
          <p:nvPr/>
        </p:nvSpPr>
        <p:spPr>
          <a:xfrm>
            <a:off x="3953181" y="2831335"/>
            <a:ext cx="40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03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E862182-2E4F-2ECA-503D-327F44343547}"/>
              </a:ext>
            </a:extLst>
          </p:cNvPr>
          <p:cNvSpPr txBox="1"/>
          <p:nvPr/>
        </p:nvSpPr>
        <p:spPr>
          <a:xfrm>
            <a:off x="4422138" y="3665339"/>
            <a:ext cx="409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04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7138A35-2F47-02F9-F0EC-FF8863E74859}"/>
              </a:ext>
            </a:extLst>
          </p:cNvPr>
          <p:cNvSpPr txBox="1"/>
          <p:nvPr/>
        </p:nvSpPr>
        <p:spPr>
          <a:xfrm>
            <a:off x="7639544" y="1813676"/>
            <a:ext cx="952500" cy="1233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zh-CN" altLang="en-US" sz="405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目录</a:t>
            </a:r>
            <a:endParaRPr lang="en-US" sz="4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A1B1183-E5C6-D0DD-E1B3-F3C319386763}"/>
              </a:ext>
            </a:extLst>
          </p:cNvPr>
          <p:cNvSpPr txBox="1"/>
          <p:nvPr/>
        </p:nvSpPr>
        <p:spPr>
          <a:xfrm rot="5400000">
            <a:off x="7762079" y="2279595"/>
            <a:ext cx="1880497" cy="265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" altLang="en-US" sz="1800" b="1" kern="0" spc="525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CONTENTS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83B7563-B89B-B00F-0CF1-EE66E2BA755A}"/>
              </a:ext>
            </a:extLst>
          </p:cNvPr>
          <p:cNvSpPr txBox="1"/>
          <p:nvPr/>
        </p:nvSpPr>
        <p:spPr>
          <a:xfrm>
            <a:off x="3898459" y="1130002"/>
            <a:ext cx="31813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数据模型的概念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7F12135-AFBA-A1FF-77B6-1DC359B1B730}"/>
              </a:ext>
            </a:extLst>
          </p:cNvPr>
          <p:cNvSpPr txBox="1"/>
          <p:nvPr/>
        </p:nvSpPr>
        <p:spPr>
          <a:xfrm>
            <a:off x="4371417" y="1957062"/>
            <a:ext cx="2995613" cy="265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关系模型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401A08A-D327-49A0-3425-DE3180ECB0E7}"/>
              </a:ext>
            </a:extLst>
          </p:cNvPr>
          <p:cNvSpPr txBox="1"/>
          <p:nvPr/>
        </p:nvSpPr>
        <p:spPr>
          <a:xfrm>
            <a:off x="4794385" y="2784122"/>
            <a:ext cx="30813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关系代数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3906962-A359-10A3-A733-E6D5568BADBA}"/>
              </a:ext>
            </a:extLst>
          </p:cNvPr>
          <p:cNvSpPr txBox="1"/>
          <p:nvPr/>
        </p:nvSpPr>
        <p:spPr>
          <a:xfrm>
            <a:off x="5267343" y="3611182"/>
            <a:ext cx="2857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180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对象</a:t>
            </a:r>
            <a:r>
              <a:rPr lang="en-US" altLang="zh-CN" sz="180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-</a:t>
            </a:r>
            <a:r>
              <a:rPr lang="zh-CN" altLang="en-US" sz="180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关系模型</a:t>
            </a:r>
            <a:endParaRPr 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9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19C37-8C34-42FB-A8D0-C1CB25CE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40C33C-87DF-88A3-DB7A-87E56A0C2FCA}"/>
              </a:ext>
            </a:extLst>
          </p:cNvPr>
          <p:cNvSpPr txBox="1"/>
          <p:nvPr/>
        </p:nvSpPr>
        <p:spPr>
          <a:xfrm>
            <a:off x="1006545" y="2781596"/>
            <a:ext cx="7458075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4346" b="1" dirty="0">
                <a:solidFill>
                  <a:srgbClr val="4141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数据模型的概念</a:t>
            </a:r>
            <a:endParaRPr lang="en-US" sz="4346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287C26-2BB0-4492-F720-B1415CB57588}"/>
              </a:ext>
            </a:extLst>
          </p:cNvPr>
          <p:cNvSpPr/>
          <p:nvPr/>
        </p:nvSpPr>
        <p:spPr>
          <a:xfrm>
            <a:off x="1006545" y="1145447"/>
            <a:ext cx="1266735" cy="1112002"/>
          </a:xfrm>
          <a:custGeom>
            <a:avLst/>
            <a:gdLst/>
            <a:ahLst/>
            <a:cxnLst/>
            <a:rect l="l" t="t" r="r" b="b"/>
            <a:pathLst>
              <a:path w="1266735" h="1112002">
                <a:moveTo>
                  <a:pt x="0" y="0"/>
                </a:moveTo>
                <a:lnTo>
                  <a:pt x="1266735" y="0"/>
                </a:lnTo>
                <a:lnTo>
                  <a:pt x="1266735" y="1112002"/>
                </a:lnTo>
                <a:lnTo>
                  <a:pt x="0" y="1112002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1118C1-DBCE-1812-B5F1-FC55D1DBF034}"/>
              </a:ext>
            </a:extLst>
          </p:cNvPr>
          <p:cNvSpPr txBox="1"/>
          <p:nvPr/>
        </p:nvSpPr>
        <p:spPr>
          <a:xfrm>
            <a:off x="861243" y="1476441"/>
            <a:ext cx="1557338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" altLang="en-US" sz="315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PART</a:t>
            </a:r>
            <a:endParaRPr lang="en-US" sz="455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0267D86-771D-410F-69EE-3A181993182F}"/>
              </a:ext>
            </a:extLst>
          </p:cNvPr>
          <p:cNvSpPr/>
          <p:nvPr/>
        </p:nvSpPr>
        <p:spPr>
          <a:xfrm>
            <a:off x="0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00A6E83-077A-1AE8-D07A-E0D941EFDB01}"/>
              </a:ext>
            </a:extLst>
          </p:cNvPr>
          <p:cNvSpPr/>
          <p:nvPr/>
        </p:nvSpPr>
        <p:spPr>
          <a:xfrm>
            <a:off x="2289867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F3940E8-5F0C-466B-16D9-55F6F352CCE5}"/>
              </a:ext>
            </a:extLst>
          </p:cNvPr>
          <p:cNvSpPr/>
          <p:nvPr/>
        </p:nvSpPr>
        <p:spPr>
          <a:xfrm>
            <a:off x="4562321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1D37615-C527-0D56-4AF0-250EC773D738}"/>
              </a:ext>
            </a:extLst>
          </p:cNvPr>
          <p:cNvSpPr/>
          <p:nvPr/>
        </p:nvSpPr>
        <p:spPr>
          <a:xfrm>
            <a:off x="6852188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370916-FF8F-121F-D367-9EACBD726CDA}"/>
              </a:ext>
            </a:extLst>
          </p:cNvPr>
          <p:cNvSpPr/>
          <p:nvPr/>
        </p:nvSpPr>
        <p:spPr>
          <a:xfrm>
            <a:off x="0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6BD18FE-31AD-B225-A6F5-92477457325F}"/>
              </a:ext>
            </a:extLst>
          </p:cNvPr>
          <p:cNvSpPr/>
          <p:nvPr/>
        </p:nvSpPr>
        <p:spPr>
          <a:xfrm>
            <a:off x="2289867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3C9F3DC-F5F3-AE26-7BA2-D7DC6DC90AF2}"/>
              </a:ext>
            </a:extLst>
          </p:cNvPr>
          <p:cNvSpPr/>
          <p:nvPr/>
        </p:nvSpPr>
        <p:spPr>
          <a:xfrm>
            <a:off x="4562321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51AF575-D720-A41D-8A4C-3FA23EB68B4C}"/>
              </a:ext>
            </a:extLst>
          </p:cNvPr>
          <p:cNvSpPr/>
          <p:nvPr/>
        </p:nvSpPr>
        <p:spPr>
          <a:xfrm>
            <a:off x="6852188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70FDA58-C25E-B0FA-0C98-64AC387ADBD1}"/>
              </a:ext>
            </a:extLst>
          </p:cNvPr>
          <p:cNvSpPr/>
          <p:nvPr/>
        </p:nvSpPr>
        <p:spPr>
          <a:xfrm>
            <a:off x="7336119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6CA3DBD-A890-A61A-4D92-9A6FFBA13E5E}"/>
              </a:ext>
            </a:extLst>
          </p:cNvPr>
          <p:cNvSpPr/>
          <p:nvPr/>
        </p:nvSpPr>
        <p:spPr>
          <a:xfrm>
            <a:off x="7573491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223E36-06BF-F663-9D9C-17C0E56A333C}"/>
              </a:ext>
            </a:extLst>
          </p:cNvPr>
          <p:cNvSpPr/>
          <p:nvPr/>
        </p:nvSpPr>
        <p:spPr>
          <a:xfrm>
            <a:off x="7810862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5886B00-C629-5AEC-FDC0-14BE917DFA0D}"/>
              </a:ext>
            </a:extLst>
          </p:cNvPr>
          <p:cNvSpPr/>
          <p:nvPr/>
        </p:nvSpPr>
        <p:spPr>
          <a:xfrm>
            <a:off x="8048233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502BC6F-D77B-FD4C-CE7B-788839BA8C32}"/>
              </a:ext>
            </a:extLst>
          </p:cNvPr>
          <p:cNvSpPr txBox="1"/>
          <p:nvPr/>
        </p:nvSpPr>
        <p:spPr>
          <a:xfrm>
            <a:off x="2716533" y="1294012"/>
            <a:ext cx="846327" cy="8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01</a:t>
            </a:r>
            <a:endParaRPr lang="en-US" sz="52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352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283EC66-E43C-ACFE-77D8-EDC6F0AF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信息的三个世界</a:t>
            </a:r>
          </a:p>
        </p:txBody>
      </p:sp>
      <p:sp>
        <p:nvSpPr>
          <p:cNvPr id="22532" name="AutoShape 4"/>
          <p:cNvSpPr/>
          <p:nvPr/>
        </p:nvSpPr>
        <p:spPr>
          <a:xfrm>
            <a:off x="1204325" y="2245043"/>
            <a:ext cx="1028700" cy="857250"/>
          </a:xfrm>
          <a:prstGeom prst="cube">
            <a:avLst>
              <a:gd name="adj" fmla="val 25000"/>
            </a:avLst>
          </a:prstGeom>
          <a:solidFill>
            <a:srgbClr val="47FFC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现实</a:t>
            </a:r>
          </a:p>
          <a:p>
            <a:pPr algn="ctr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世界</a:t>
            </a:r>
          </a:p>
        </p:txBody>
      </p:sp>
      <p:sp>
        <p:nvSpPr>
          <p:cNvPr id="22533" name="Line 5"/>
          <p:cNvSpPr/>
          <p:nvPr/>
        </p:nvSpPr>
        <p:spPr>
          <a:xfrm>
            <a:off x="2228850" y="2699385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 sz="135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534" name="Line 6"/>
          <p:cNvSpPr/>
          <p:nvPr/>
        </p:nvSpPr>
        <p:spPr>
          <a:xfrm>
            <a:off x="3486150" y="2699385"/>
            <a:ext cx="5715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 sz="135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535" name="AutoShape 7"/>
          <p:cNvSpPr/>
          <p:nvPr/>
        </p:nvSpPr>
        <p:spPr>
          <a:xfrm>
            <a:off x="2686050" y="2470785"/>
            <a:ext cx="800100" cy="514350"/>
          </a:xfrm>
          <a:prstGeom prst="smileyFace">
            <a:avLst>
              <a:gd name="adj" fmla="val 4653"/>
            </a:avLst>
          </a:prstGeom>
          <a:solidFill>
            <a:srgbClr val="FFF1B5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 sz="13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536" name="Line 8"/>
          <p:cNvSpPr/>
          <p:nvPr/>
        </p:nvSpPr>
        <p:spPr>
          <a:xfrm>
            <a:off x="5086350" y="2756535"/>
            <a:ext cx="12573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 sz="135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537" name="AutoShape 9"/>
          <p:cNvSpPr/>
          <p:nvPr/>
        </p:nvSpPr>
        <p:spPr>
          <a:xfrm>
            <a:off x="2628900" y="1213485"/>
            <a:ext cx="1714500" cy="857250"/>
          </a:xfrm>
          <a:prstGeom prst="cloudCallout">
            <a:avLst>
              <a:gd name="adj1" fmla="val -22500"/>
              <a:gd name="adj2" fmla="val 111667"/>
            </a:avLst>
          </a:prstGeom>
          <a:solidFill>
            <a:srgbClr val="FFF1B5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认识、分析、抽象</a:t>
            </a:r>
          </a:p>
        </p:txBody>
      </p:sp>
      <p:grpSp>
        <p:nvGrpSpPr>
          <p:cNvPr id="22538" name="Group 10"/>
          <p:cNvGrpSpPr/>
          <p:nvPr/>
        </p:nvGrpSpPr>
        <p:grpSpPr>
          <a:xfrm>
            <a:off x="6351814" y="1851660"/>
            <a:ext cx="1600200" cy="1304925"/>
            <a:chOff x="0" y="8"/>
            <a:chExt cx="1296" cy="1096"/>
          </a:xfrm>
        </p:grpSpPr>
        <p:sp>
          <p:nvSpPr>
            <p:cNvPr id="22543" name="AutoShape 11"/>
            <p:cNvSpPr/>
            <p:nvPr/>
          </p:nvSpPr>
          <p:spPr>
            <a:xfrm>
              <a:off x="0" y="336"/>
              <a:ext cx="1296" cy="768"/>
            </a:xfrm>
            <a:prstGeom prst="flowChartInternalStorage">
              <a:avLst/>
            </a:prstGeom>
            <a:solidFill>
              <a:srgbClr val="00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DBMS</a:t>
              </a: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支持</a:t>
              </a:r>
            </a:p>
            <a:p>
              <a:pPr algn="ctr"/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</a:t>
              </a:r>
              <a:r>
                <a:rPr lang="zh-CN" altLang="en-US" dirty="0">
                  <a:solidFill>
                    <a:schemeClr val="hlin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数据模型</a:t>
              </a:r>
            </a:p>
          </p:txBody>
        </p:sp>
        <p:sp>
          <p:nvSpPr>
            <p:cNvPr id="22544" name="Text Box 12"/>
            <p:cNvSpPr txBox="1"/>
            <p:nvPr/>
          </p:nvSpPr>
          <p:spPr>
            <a:xfrm>
              <a:off x="168" y="8"/>
              <a:ext cx="96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机器世界</a:t>
              </a:r>
            </a:p>
          </p:txBody>
        </p:sp>
      </p:grpSp>
      <p:grpSp>
        <p:nvGrpSpPr>
          <p:cNvPr id="22539" name="Group 13"/>
          <p:cNvGrpSpPr/>
          <p:nvPr/>
        </p:nvGrpSpPr>
        <p:grpSpPr>
          <a:xfrm>
            <a:off x="4057650" y="1899285"/>
            <a:ext cx="1257300" cy="1257300"/>
            <a:chOff x="0" y="0"/>
            <a:chExt cx="1008" cy="1056"/>
          </a:xfrm>
        </p:grpSpPr>
        <p:sp>
          <p:nvSpPr>
            <p:cNvPr id="22541" name="AutoShape 14"/>
            <p:cNvSpPr/>
            <p:nvPr/>
          </p:nvSpPr>
          <p:spPr>
            <a:xfrm>
              <a:off x="0" y="288"/>
              <a:ext cx="864" cy="768"/>
            </a:xfrm>
            <a:prstGeom prst="flowChartMultidocument">
              <a:avLst/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概念</a:t>
              </a:r>
            </a:p>
            <a:p>
              <a:pPr algn="ctr"/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模型</a:t>
              </a:r>
            </a:p>
          </p:txBody>
        </p:sp>
        <p:sp>
          <p:nvSpPr>
            <p:cNvPr id="22542" name="Text Box 15"/>
            <p:cNvSpPr txBox="1"/>
            <p:nvPr/>
          </p:nvSpPr>
          <p:spPr>
            <a:xfrm>
              <a:off x="48" y="0"/>
              <a:ext cx="96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信息世界</a:t>
              </a:r>
            </a:p>
          </p:txBody>
        </p:sp>
      </p:grpSp>
      <p:sp>
        <p:nvSpPr>
          <p:cNvPr id="22540" name="AutoShape 16"/>
          <p:cNvSpPr/>
          <p:nvPr/>
        </p:nvSpPr>
        <p:spPr>
          <a:xfrm>
            <a:off x="5372100" y="1442085"/>
            <a:ext cx="742950" cy="971550"/>
          </a:xfrm>
          <a:prstGeom prst="wedgeRoundRectCallout">
            <a:avLst>
              <a:gd name="adj1" fmla="val -9778"/>
              <a:gd name="adj2" fmla="val 86273"/>
              <a:gd name="adj3" fmla="val 16667"/>
            </a:avLst>
          </a:prstGeom>
          <a:solidFill>
            <a:srgbClr val="47FFC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描述</a:t>
            </a:r>
          </a:p>
          <a:p>
            <a:pPr algn="ctr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规范转换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80105" y="3439477"/>
            <a:ext cx="5672260" cy="1246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客观对象的抽象过程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---</a:t>
            </a:r>
            <a:r>
              <a:rPr lang="zh-CN" altLang="en-US" sz="1500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两步抽象：</a:t>
            </a:r>
            <a:endParaRPr lang="zh-CN" altLang="en-US" sz="1500" dirty="0">
              <a:solidFill>
                <a:schemeClr val="folHlin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 algn="just">
              <a:buFont typeface="Wingdings" pitchFamily="2" charset="2"/>
              <a:buChar char="Ø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现实世界中的客观对象抽象为信息模型（概念模型）；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 algn="just">
              <a:buFont typeface="Wingdings" pitchFamily="2" charset="2"/>
              <a:buChar char="Ø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把概念模型转换为某一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DBMS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支持的数据模型。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algn="just">
              <a:buNone/>
            </a:pP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>
              <a:buNone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信息模型是现实世界到机器世界的一个中间层次。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271BF57-32DF-703D-C5E0-F5D592D1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数据模型的三要素</a:t>
            </a:r>
          </a:p>
        </p:txBody>
      </p:sp>
      <p:sp>
        <p:nvSpPr>
          <p:cNvPr id="32771" name="Rectangle 3"/>
          <p:cNvSpPr>
            <a:spLocks noGrp="1"/>
          </p:cNvSpPr>
          <p:nvPr>
            <p:ph sz="half" idx="1"/>
          </p:nvPr>
        </p:nvSpPr>
        <p:spPr>
          <a:xfrm>
            <a:off x="799171" y="1129549"/>
            <a:ext cx="7545658" cy="3424458"/>
          </a:xfrm>
        </p:spPr>
        <p:txBody>
          <a:bodyPr vert="horz" wrap="square" lIns="68580" tIns="34290" rIns="68580" bIns="34290" rtlCol="0" anchor="t">
            <a:normAutofit lnSpcReduction="10000"/>
          </a:bodyPr>
          <a:lstStyle/>
          <a:p>
            <a:pPr eaLnBrk="1" hangingPunct="1">
              <a:lnSpc>
                <a:spcPct val="100000"/>
              </a:lnSpc>
              <a:buSzPct val="60000"/>
              <a:buNone/>
            </a:pPr>
            <a:r>
              <a:rPr lang="zh-CN" altLang="en-US" sz="1500" b="1" dirty="0">
                <a:solidFill>
                  <a:schemeClr val="folHlink"/>
                </a:solidFill>
              </a:rPr>
              <a:t>(1)数据结构</a:t>
            </a:r>
            <a:r>
              <a:rPr lang="zh-CN" altLang="en-US" sz="1500" b="1" dirty="0"/>
              <a:t>（描述数据库的静态特性）</a:t>
            </a:r>
          </a:p>
          <a:p>
            <a:pPr marL="446088" indent="-446088" eaLnBrk="1" hangingPunct="1">
              <a:lnSpc>
                <a:spcPct val="100000"/>
              </a:lnSpc>
              <a:buSzPct val="60000"/>
              <a:buNone/>
            </a:pPr>
            <a:r>
              <a:rPr lang="en-US" altLang="zh-CN" sz="1500" dirty="0"/>
              <a:t>	</a:t>
            </a:r>
            <a:r>
              <a:rPr lang="zh-CN" altLang="en-US" sz="1500" dirty="0"/>
              <a:t>数据结构是指数据对象类型的集合。</a:t>
            </a:r>
            <a:endParaRPr lang="en-US" altLang="zh-CN" sz="1500" dirty="0"/>
          </a:p>
          <a:p>
            <a:pPr marL="446088" indent="0" eaLnBrk="1" hangingPunct="1">
              <a:lnSpc>
                <a:spcPct val="100000"/>
              </a:lnSpc>
              <a:buSzPct val="60000"/>
              <a:buNone/>
            </a:pPr>
            <a:r>
              <a:rPr lang="zh-CN" altLang="en-US" sz="1500" dirty="0"/>
              <a:t>① 数据库对象类型：</a:t>
            </a:r>
          </a:p>
          <a:p>
            <a:pPr lvl="2" eaLnBrk="1" hangingPunct="1">
              <a:lnSpc>
                <a:spcPct val="100000"/>
              </a:lnSpc>
              <a:buSzTx/>
              <a:buFont typeface="Wingdings" pitchFamily="2" charset="2"/>
              <a:buChar char="Ø"/>
            </a:pPr>
            <a:r>
              <a:rPr lang="zh-CN" altLang="en-US" sz="1500" dirty="0"/>
              <a:t>与数据类型、内容、性质有关的对象；</a:t>
            </a:r>
          </a:p>
          <a:p>
            <a:pPr lvl="2" eaLnBrk="1" hangingPunct="1">
              <a:lnSpc>
                <a:spcPct val="100000"/>
              </a:lnSpc>
              <a:buSzTx/>
              <a:buFont typeface="Wingdings" pitchFamily="2" charset="2"/>
              <a:buChar char="Ø"/>
            </a:pPr>
            <a:r>
              <a:rPr lang="zh-CN" altLang="en-US" sz="1500" dirty="0"/>
              <a:t>与数据之间联系有关的对象。</a:t>
            </a:r>
          </a:p>
          <a:p>
            <a:pPr indent="217488" eaLnBrk="1" hangingPunct="1">
              <a:lnSpc>
                <a:spcPct val="100000"/>
              </a:lnSpc>
              <a:buSzTx/>
              <a:buNone/>
            </a:pPr>
            <a:r>
              <a:rPr lang="zh-CN" altLang="en-US" sz="1500" dirty="0"/>
              <a:t>② 数据之间的联系：隐式和显式。</a:t>
            </a:r>
          </a:p>
          <a:p>
            <a:pPr eaLnBrk="1" hangingPunct="1">
              <a:lnSpc>
                <a:spcPct val="100000"/>
              </a:lnSpc>
              <a:buSzPct val="60000"/>
              <a:buNone/>
            </a:pPr>
            <a:r>
              <a:rPr lang="zh-CN" altLang="en-US" sz="1500" b="1" dirty="0"/>
              <a:t> </a:t>
            </a:r>
            <a:r>
              <a:rPr lang="zh-CN" altLang="en-US" sz="1500" b="1" dirty="0">
                <a:solidFill>
                  <a:schemeClr val="folHlink"/>
                </a:solidFill>
              </a:rPr>
              <a:t>(2)数据操作</a:t>
            </a:r>
            <a:r>
              <a:rPr lang="zh-CN" altLang="en-US" sz="1500" b="1" dirty="0"/>
              <a:t>（描述数据库的动态特性）</a:t>
            </a:r>
          </a:p>
          <a:p>
            <a:pPr marL="446088" indent="0" eaLnBrk="1" hangingPunct="1">
              <a:lnSpc>
                <a:spcPct val="100000"/>
              </a:lnSpc>
              <a:buSzPct val="60000"/>
              <a:buNone/>
              <a:tabLst>
                <a:tab pos="438150" algn="l"/>
              </a:tabLst>
            </a:pPr>
            <a:r>
              <a:rPr lang="zh-CN" altLang="en-US" sz="1500" dirty="0"/>
              <a:t>数据操作是指对数据库各种对象允许执行的操作集合</a:t>
            </a:r>
            <a:r>
              <a:rPr lang="zh-CN" altLang="en-US" sz="1500" dirty="0">
                <a:sym typeface="Arial" panose="020B0604020202020204" pitchFamily="34" charset="0"/>
              </a:rPr>
              <a:t>，包括操作语言及有关操作规则的定义。</a:t>
            </a:r>
          </a:p>
          <a:p>
            <a:pPr eaLnBrk="1" hangingPunct="1">
              <a:lnSpc>
                <a:spcPct val="100000"/>
              </a:lnSpc>
              <a:buSzPct val="60000"/>
              <a:buNone/>
            </a:pPr>
            <a:r>
              <a:rPr lang="zh-CN" altLang="en-US" sz="1500" b="1" dirty="0"/>
              <a:t> </a:t>
            </a:r>
            <a:r>
              <a:rPr lang="zh-CN" altLang="en-US" sz="1500" b="1" dirty="0">
                <a:solidFill>
                  <a:schemeClr val="folHlink"/>
                </a:solidFill>
              </a:rPr>
              <a:t>(3)数据的完整性约束</a:t>
            </a:r>
          </a:p>
          <a:p>
            <a:pPr marL="446088" indent="-7938" eaLnBrk="1" hangingPunct="1">
              <a:lnSpc>
                <a:spcPct val="100000"/>
              </a:lnSpc>
              <a:buSzPct val="60000"/>
              <a:buNone/>
            </a:pPr>
            <a:r>
              <a:rPr lang="zh-CN" altLang="en-US" sz="1500" dirty="0"/>
              <a:t>是一组完整性规则的集合。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06B3BB9-51E9-665C-94DA-1F710FF4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数据模型的分类</a:t>
            </a: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628650" y="1105361"/>
            <a:ext cx="7886700" cy="3408735"/>
          </a:xfrm>
        </p:spPr>
        <p:txBody>
          <a:bodyPr vert="horz" wrap="square" lIns="68580" tIns="34290" rIns="68580" bIns="34290" anchor="t">
            <a:noAutofit/>
          </a:bodyPr>
          <a:lstStyle/>
          <a:p>
            <a:pPr eaLnBrk="1" hangingPunct="1">
              <a:lnSpc>
                <a:spcPct val="100000"/>
              </a:lnSpc>
              <a:buNone/>
            </a:pPr>
            <a:r>
              <a:rPr lang="zh-CN" altLang="en-US" sz="1600" dirty="0"/>
              <a:t>（1）三种基本数据模型 </a:t>
            </a:r>
          </a:p>
          <a:p>
            <a:pPr indent="309563" eaLnBrk="1" hangingPunct="1">
              <a:lnSpc>
                <a:spcPct val="100000"/>
              </a:lnSpc>
              <a:buNone/>
            </a:pPr>
            <a:r>
              <a:rPr lang="zh-CN" altLang="en-US" sz="1600" dirty="0"/>
              <a:t>层次模型、网状模型、</a:t>
            </a:r>
            <a:r>
              <a:rPr lang="zh-CN" altLang="en-US" sz="1600" dirty="0">
                <a:solidFill>
                  <a:srgbClr val="FF0000"/>
                </a:solidFill>
              </a:rPr>
              <a:t>关系模型</a:t>
            </a:r>
            <a:r>
              <a:rPr lang="zh-CN" altLang="en-US" sz="1600" dirty="0"/>
              <a:t>。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600" dirty="0"/>
              <a:t>（2）面向对象模型 </a:t>
            </a:r>
          </a:p>
          <a:p>
            <a:pPr indent="309563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600" dirty="0"/>
              <a:t>以对象类和类层次为基本的数据结构。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600" dirty="0"/>
              <a:t>（3）文档模型</a:t>
            </a:r>
          </a:p>
          <a:p>
            <a:pPr indent="263525" eaLnBrk="1" hangingPunct="1">
              <a:lnSpc>
                <a:spcPct val="100000"/>
              </a:lnSpc>
              <a:buNone/>
            </a:pPr>
            <a:r>
              <a:rPr lang="en-US" altLang="zh-CN" sz="1600" dirty="0"/>
              <a:t>JSON</a:t>
            </a:r>
            <a:r>
              <a:rPr lang="zh-CN" altLang="en-US" sz="1600" dirty="0"/>
              <a:t>是互联网上数据表示和交换的标准。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600" dirty="0"/>
              <a:t>（4）图模型 </a:t>
            </a:r>
          </a:p>
          <a:p>
            <a:pPr indent="263525" eaLnBrk="1" hangingPunct="1">
              <a:lnSpc>
                <a:spcPct val="100000"/>
              </a:lnSpc>
              <a:buNone/>
            </a:pPr>
            <a:r>
              <a:rPr lang="zh-CN" altLang="en-US" sz="1600" dirty="0"/>
              <a:t>是一种基于图的数据模型。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600" dirty="0"/>
              <a:t>（5）扩充的数据模型 </a:t>
            </a:r>
          </a:p>
          <a:p>
            <a:pPr indent="263525" eaLnBrk="1" hangingPunct="1">
              <a:lnSpc>
                <a:spcPct val="100000"/>
              </a:lnSpc>
              <a:buNone/>
            </a:pPr>
            <a:r>
              <a:rPr lang="zh-CN" altLang="en-US" sz="1600" dirty="0"/>
              <a:t>例如</a:t>
            </a:r>
            <a:r>
              <a:rPr lang="zh-CN" altLang="en-US" sz="1600" b="1" dirty="0">
                <a:solidFill>
                  <a:srgbClr val="FF0000"/>
                </a:solidFill>
              </a:rPr>
              <a:t>对象</a:t>
            </a:r>
            <a:r>
              <a:rPr lang="en-US" altLang="zh-CN" sz="1600" b="1" dirty="0">
                <a:solidFill>
                  <a:srgbClr val="FF0000"/>
                </a:solidFill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</a:rPr>
              <a:t>关系模型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28B85-3F0D-D6F6-2A29-68005C28B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B565A9-953C-A774-D8D0-7F5C9F24C65C}"/>
              </a:ext>
            </a:extLst>
          </p:cNvPr>
          <p:cNvSpPr txBox="1"/>
          <p:nvPr/>
        </p:nvSpPr>
        <p:spPr>
          <a:xfrm>
            <a:off x="1006545" y="2781596"/>
            <a:ext cx="7458075" cy="64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4346" b="1" dirty="0">
                <a:solidFill>
                  <a:srgbClr val="4141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关系模型</a:t>
            </a:r>
            <a:endParaRPr lang="en-US" sz="4346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43DEB5-03FE-417C-00CE-03333CDF1759}"/>
              </a:ext>
            </a:extLst>
          </p:cNvPr>
          <p:cNvSpPr/>
          <p:nvPr/>
        </p:nvSpPr>
        <p:spPr>
          <a:xfrm>
            <a:off x="1006545" y="1145447"/>
            <a:ext cx="1266735" cy="1112002"/>
          </a:xfrm>
          <a:custGeom>
            <a:avLst/>
            <a:gdLst/>
            <a:ahLst/>
            <a:cxnLst/>
            <a:rect l="l" t="t" r="r" b="b"/>
            <a:pathLst>
              <a:path w="1266735" h="1112002">
                <a:moveTo>
                  <a:pt x="0" y="0"/>
                </a:moveTo>
                <a:lnTo>
                  <a:pt x="1266735" y="0"/>
                </a:lnTo>
                <a:lnTo>
                  <a:pt x="1266735" y="1112002"/>
                </a:lnTo>
                <a:lnTo>
                  <a:pt x="0" y="1112002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8BC0A4-0216-4ADD-6755-7367796A12A3}"/>
              </a:ext>
            </a:extLst>
          </p:cNvPr>
          <p:cNvSpPr txBox="1"/>
          <p:nvPr/>
        </p:nvSpPr>
        <p:spPr>
          <a:xfrm>
            <a:off x="861243" y="1476441"/>
            <a:ext cx="1557338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" altLang="en-US" sz="315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PART</a:t>
            </a:r>
            <a:endParaRPr lang="en-US" sz="455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5AC4E7-F143-C98B-AA51-F1C09A3E7A9E}"/>
              </a:ext>
            </a:extLst>
          </p:cNvPr>
          <p:cNvSpPr/>
          <p:nvPr/>
        </p:nvSpPr>
        <p:spPr>
          <a:xfrm>
            <a:off x="0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24D051E-5F7D-222B-53F3-437BE7F2056B}"/>
              </a:ext>
            </a:extLst>
          </p:cNvPr>
          <p:cNvSpPr/>
          <p:nvPr/>
        </p:nvSpPr>
        <p:spPr>
          <a:xfrm>
            <a:off x="2289867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9561106-12DD-7AB1-C065-A93D1F0522FD}"/>
              </a:ext>
            </a:extLst>
          </p:cNvPr>
          <p:cNvSpPr/>
          <p:nvPr/>
        </p:nvSpPr>
        <p:spPr>
          <a:xfrm>
            <a:off x="4562321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3BC18EF-2AA4-9D9C-E50A-71378F5F82D8}"/>
              </a:ext>
            </a:extLst>
          </p:cNvPr>
          <p:cNvSpPr/>
          <p:nvPr/>
        </p:nvSpPr>
        <p:spPr>
          <a:xfrm>
            <a:off x="6852188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F7CD47-0FD4-522A-3E58-AB9C1D994CA4}"/>
              </a:ext>
            </a:extLst>
          </p:cNvPr>
          <p:cNvSpPr/>
          <p:nvPr/>
        </p:nvSpPr>
        <p:spPr>
          <a:xfrm>
            <a:off x="0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EA002ED-17BD-67A3-7406-C12729FA8D54}"/>
              </a:ext>
            </a:extLst>
          </p:cNvPr>
          <p:cNvSpPr/>
          <p:nvPr/>
        </p:nvSpPr>
        <p:spPr>
          <a:xfrm>
            <a:off x="2289867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21CBB21-4F84-5ED6-E19B-D1744C7AE209}"/>
              </a:ext>
            </a:extLst>
          </p:cNvPr>
          <p:cNvSpPr/>
          <p:nvPr/>
        </p:nvSpPr>
        <p:spPr>
          <a:xfrm>
            <a:off x="4562321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4AD34B9-A839-2724-F7FD-DAD93EBACC65}"/>
              </a:ext>
            </a:extLst>
          </p:cNvPr>
          <p:cNvSpPr/>
          <p:nvPr/>
        </p:nvSpPr>
        <p:spPr>
          <a:xfrm>
            <a:off x="6852188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0D4E2A3-6556-6940-5EF3-4E7A700C6A86}"/>
              </a:ext>
            </a:extLst>
          </p:cNvPr>
          <p:cNvSpPr/>
          <p:nvPr/>
        </p:nvSpPr>
        <p:spPr>
          <a:xfrm>
            <a:off x="7336119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15EC9FA-7770-E9A3-9A41-39864E8C01CC}"/>
              </a:ext>
            </a:extLst>
          </p:cNvPr>
          <p:cNvSpPr/>
          <p:nvPr/>
        </p:nvSpPr>
        <p:spPr>
          <a:xfrm>
            <a:off x="7573491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9CDAE09-98D5-D878-C794-2C5E97C057DF}"/>
              </a:ext>
            </a:extLst>
          </p:cNvPr>
          <p:cNvSpPr/>
          <p:nvPr/>
        </p:nvSpPr>
        <p:spPr>
          <a:xfrm>
            <a:off x="7810862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BB7E911-5362-1F80-71A9-BE8EB8F7AAB9}"/>
              </a:ext>
            </a:extLst>
          </p:cNvPr>
          <p:cNvSpPr/>
          <p:nvPr/>
        </p:nvSpPr>
        <p:spPr>
          <a:xfrm>
            <a:off x="8048233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D4B315-39E0-8B8B-7E9A-54E22759E150}"/>
              </a:ext>
            </a:extLst>
          </p:cNvPr>
          <p:cNvSpPr txBox="1"/>
          <p:nvPr/>
        </p:nvSpPr>
        <p:spPr>
          <a:xfrm>
            <a:off x="2716533" y="1294012"/>
            <a:ext cx="846327" cy="8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0</a:t>
            </a:r>
            <a:r>
              <a:rPr lang="en-US" altLang="zh-CN" sz="525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2</a:t>
            </a:r>
            <a:endParaRPr lang="en-US" sz="52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3790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 anchorCtr="0">
            <a:normAutofit/>
          </a:bodyPr>
          <a:lstStyle/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</a:pPr>
            <a:r>
              <a:rPr lang="zh-CN" altLang="en-US" sz="1800" b="1" kern="0" noProof="1"/>
              <a:t>（</a:t>
            </a:r>
            <a:r>
              <a:rPr lang="en-US" altLang="zh-CN" sz="1800" b="1" kern="0" noProof="1"/>
              <a:t>1</a:t>
            </a:r>
            <a:r>
              <a:rPr lang="zh-CN" altLang="en-US" sz="1800" b="1" kern="0" noProof="1"/>
              <a:t>）</a:t>
            </a:r>
            <a:r>
              <a:rPr lang="zh-CN" altLang="en-US" sz="1800" b="1" kern="0" noProof="1">
                <a:solidFill>
                  <a:schemeClr val="hlink"/>
                </a:solidFill>
              </a:rPr>
              <a:t>域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None/>
            </a:pPr>
            <a:r>
              <a:rPr lang="zh-CN" altLang="en-US" sz="2100" kern="0" noProof="1">
                <a:solidFill>
                  <a:srgbClr val="FF0000"/>
                </a:solidFill>
              </a:rPr>
              <a:t>   </a:t>
            </a:r>
            <a:r>
              <a:rPr lang="zh-CN" altLang="en-US" sz="1800" kern="0" noProof="1">
                <a:solidFill>
                  <a:srgbClr val="FF0000"/>
                </a:solidFill>
              </a:rPr>
              <a:t> </a:t>
            </a:r>
            <a:r>
              <a:rPr lang="zh-CN" altLang="en-US" sz="1800" kern="0" noProof="1"/>
              <a:t>定义</a:t>
            </a:r>
            <a:r>
              <a:rPr lang="en-US" altLang="zh-CN" sz="1800" kern="0" noProof="1"/>
              <a:t>:  </a:t>
            </a:r>
            <a:r>
              <a:rPr lang="zh-CN" altLang="en-US" sz="1800" kern="0" noProof="1"/>
              <a:t>域是一组具有相同数据类型的值的集合。</a:t>
            </a:r>
            <a:endParaRPr lang="zh-CN" altLang="en-US" sz="2100" kern="0" noProof="1"/>
          </a:p>
          <a:p>
            <a:pPr marL="0" indent="0" defTabSz="6858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</a:pPr>
            <a:r>
              <a:rPr lang="zh-CN" altLang="en-US" sz="1350" kern="0" noProof="1">
                <a:sym typeface="+mn-ea"/>
              </a:rPr>
              <a:t>        </a:t>
            </a:r>
          </a:p>
          <a:p>
            <a:pPr marL="257175" indent="-257175" defTabSz="6858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zh-CN" altLang="en-US" sz="1350" kern="0" noProof="1">
              <a:sym typeface="+mn-ea"/>
            </a:endParaRPr>
          </a:p>
          <a:p>
            <a:pPr marL="0" indent="0" defTabSz="6858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</a:pPr>
            <a:r>
              <a:rPr lang="zh-CN" altLang="en-US" sz="1350" kern="0" noProof="1">
                <a:sym typeface="+mn-ea"/>
              </a:rPr>
              <a:t>  </a:t>
            </a:r>
          </a:p>
          <a:p>
            <a:pPr marL="0" indent="0" defTabSz="6858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</a:pPr>
            <a:r>
              <a:rPr lang="zh-CN" altLang="en-US" sz="1350" kern="0" noProof="1">
                <a:sym typeface="+mn-ea"/>
              </a:rPr>
              <a:t>      </a:t>
            </a:r>
            <a:r>
              <a:rPr lang="en-US" altLang="zh-CN" sz="1350" kern="0" noProof="1">
                <a:sym typeface="+mn-ea"/>
              </a:rPr>
              <a:t>【</a:t>
            </a:r>
            <a:r>
              <a:rPr lang="zh-CN" altLang="en-US" sz="1500" kern="0" noProof="1">
                <a:sym typeface="+mn-ea"/>
              </a:rPr>
              <a:t>例</a:t>
            </a:r>
            <a:r>
              <a:rPr lang="en-US" altLang="zh-CN" sz="1500" kern="0" noProof="1">
                <a:sym typeface="+mn-ea"/>
              </a:rPr>
              <a:t>】 </a:t>
            </a:r>
            <a:r>
              <a:rPr lang="zh-CN" altLang="en-US" sz="1500" kern="0" noProof="1">
                <a:sym typeface="+mn-ea"/>
              </a:rPr>
              <a:t>全体整数，</a:t>
            </a:r>
            <a:endParaRPr lang="zh-CN" altLang="en-US" sz="1500" kern="0" noProof="1"/>
          </a:p>
          <a:p>
            <a:pPr marL="0" indent="0" defTabSz="6858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</a:pPr>
            <a:r>
              <a:rPr lang="zh-CN" altLang="en-US" sz="1500" kern="0" noProof="1">
                <a:sym typeface="+mn-ea"/>
              </a:rPr>
              <a:t>              </a:t>
            </a:r>
            <a:r>
              <a:rPr lang="en-US" altLang="zh-CN" sz="1500" kern="0" noProof="1">
                <a:sym typeface="+mn-ea"/>
              </a:rPr>
              <a:t>    0</a:t>
            </a:r>
            <a:r>
              <a:rPr lang="zh-CN" altLang="en-US" sz="1500" kern="0" noProof="1">
                <a:sym typeface="+mn-ea"/>
              </a:rPr>
              <a:t>到</a:t>
            </a:r>
            <a:r>
              <a:rPr lang="en-US" altLang="zh-CN" sz="1500" kern="0" noProof="1">
                <a:sym typeface="+mn-ea"/>
              </a:rPr>
              <a:t>100</a:t>
            </a:r>
            <a:r>
              <a:rPr lang="zh-CN" altLang="en-US" sz="1500" kern="0" noProof="1">
                <a:sym typeface="+mn-ea"/>
              </a:rPr>
              <a:t>之间的整数，</a:t>
            </a:r>
            <a:endParaRPr lang="zh-CN" altLang="en-US" sz="1500" kern="0" noProof="1"/>
          </a:p>
          <a:p>
            <a:pPr marL="0" indent="0" defTabSz="6858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</a:pPr>
            <a:r>
              <a:rPr lang="zh-CN" altLang="en-US" sz="1500" kern="0" noProof="1">
                <a:sym typeface="+mn-ea"/>
              </a:rPr>
              <a:t>              </a:t>
            </a:r>
            <a:r>
              <a:rPr lang="en-US" altLang="zh-CN" sz="1500" kern="0" noProof="1">
                <a:sym typeface="+mn-ea"/>
              </a:rPr>
              <a:t>   </a:t>
            </a:r>
            <a:r>
              <a:rPr lang="zh-CN" altLang="en-US" sz="1500" kern="0" noProof="1">
                <a:sym typeface="+mn-ea"/>
              </a:rPr>
              <a:t>长度不超过</a:t>
            </a:r>
            <a:r>
              <a:rPr lang="en-US" altLang="zh-CN" sz="1500" kern="0" noProof="1">
                <a:sym typeface="+mn-ea"/>
              </a:rPr>
              <a:t>10</a:t>
            </a:r>
            <a:r>
              <a:rPr lang="zh-CN" altLang="en-US" sz="1500" kern="0" noProof="1">
                <a:sym typeface="+mn-ea"/>
              </a:rPr>
              <a:t>的字符串集合</a:t>
            </a:r>
            <a:endParaRPr lang="zh-CN" altLang="en-US" sz="1500" kern="0" noProof="1"/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None/>
            </a:pPr>
            <a:endParaRPr lang="zh-CN" altLang="en-US" sz="1350" kern="0" noProof="1"/>
          </a:p>
        </p:txBody>
      </p:sp>
      <p:sp>
        <p:nvSpPr>
          <p:cNvPr id="196622" name="Rectangle 14"/>
          <p:cNvSpPr>
            <a:spLocks noChangeArrowheads="1"/>
          </p:cNvSpPr>
          <p:nvPr/>
        </p:nvSpPr>
        <p:spPr bwMode="auto">
          <a:xfrm>
            <a:off x="1398499" y="1831709"/>
            <a:ext cx="4879181" cy="6694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70C0"/>
              </a:buClr>
              <a:buSzPct val="130000"/>
              <a:buFont typeface="Wingdings" panose="05000000000000000000" pitchFamily="2" charset="2"/>
              <a:buChar char="Ø"/>
              <a:defRPr/>
            </a:pPr>
            <a:r>
              <a:rPr lang="zh-CN" altLang="en-US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 在关系中用域来表示属性的取值范围</a:t>
            </a:r>
          </a:p>
          <a:p>
            <a:pPr marL="342900"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70C0"/>
              </a:buClr>
              <a:buSzPct val="130000"/>
              <a:buFont typeface="Wingdings" panose="05000000000000000000" pitchFamily="2" charset="2"/>
              <a:buChar char="Ø"/>
              <a:defRPr/>
            </a:pPr>
            <a:r>
              <a:rPr lang="zh-CN" altLang="en-US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 域中所包含的值的个数称</a:t>
            </a:r>
            <a:r>
              <a:rPr lang="zh-CN" altLang="en-US" sz="15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域的基数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用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altLang="en-US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表示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96624" name="Rectangle 16"/>
          <p:cNvSpPr>
            <a:spLocks noChangeArrowheads="1"/>
          </p:cNvSpPr>
          <p:nvPr/>
        </p:nvSpPr>
        <p:spPr bwMode="auto">
          <a:xfrm>
            <a:off x="696031" y="3959485"/>
            <a:ext cx="6284119" cy="7948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23838" lvl="1" defTabSz="685800" fontAlgn="base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defRPr/>
            </a:pP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】D</a:t>
            </a:r>
            <a:r>
              <a:rPr lang="en-US" altLang="zh-CN" sz="15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={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 , 2 , 3 , … , Q , K 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} </a:t>
            </a:r>
            <a:r>
              <a:rPr lang="zh-CN" altLang="en-US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                        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en-US" altLang="zh-CN" sz="15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= 13</a:t>
            </a:r>
          </a:p>
          <a:p>
            <a:pPr marL="342900" lvl="1" defTabSz="685800" fontAlgn="base">
              <a:lnSpc>
                <a:spcPct val="135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defRPr/>
            </a:pP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12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{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数据库原理，面向对象数据库技术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                  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en-US" altLang="zh-CN" sz="1200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15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= 2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99CBE94-DA4E-CBBB-F4DB-37D42B5D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关系及其性质 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3"/>
          <p:cNvSpPr>
            <a:spLocks noGrp="1"/>
          </p:cNvSpPr>
          <p:nvPr>
            <p:ph sz="half" idx="1"/>
          </p:nvPr>
        </p:nvSpPr>
        <p:spPr>
          <a:xfrm>
            <a:off x="439338" y="1079817"/>
            <a:ext cx="7471886" cy="1310640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r>
              <a:rPr lang="zh-CN" altLang="en-US" sz="1800" b="1" dirty="0">
                <a:solidFill>
                  <a:schemeClr val="hlink"/>
                </a:solidFill>
              </a:rPr>
              <a:t>笛卡尔积</a:t>
            </a: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zh-CN" altLang="en-US" sz="1500" dirty="0"/>
              <a:t>定义</a:t>
            </a:r>
            <a:r>
              <a:rPr lang="en-US" altLang="zh-CN" sz="1500" dirty="0"/>
              <a:t>:  </a:t>
            </a:r>
            <a:r>
              <a:rPr lang="zh-CN" altLang="en-US" sz="1500" dirty="0"/>
              <a:t>给定一组域 </a:t>
            </a:r>
            <a:r>
              <a:rPr lang="en-US" altLang="zh-CN" sz="1500" dirty="0"/>
              <a:t>D</a:t>
            </a:r>
            <a:r>
              <a:rPr lang="en-US" altLang="zh-CN" sz="1500" baseline="-25000" dirty="0"/>
              <a:t>1</a:t>
            </a:r>
            <a:r>
              <a:rPr lang="zh-CN" altLang="en-US" sz="1500" dirty="0"/>
              <a:t>，</a:t>
            </a:r>
            <a:r>
              <a:rPr lang="en-US" altLang="zh-CN" sz="1500" dirty="0"/>
              <a:t>…</a:t>
            </a:r>
            <a:r>
              <a:rPr lang="zh-CN" altLang="en-US" sz="1500" dirty="0"/>
              <a:t>，</a:t>
            </a:r>
            <a:r>
              <a:rPr lang="en-US" altLang="zh-CN" sz="1500" dirty="0"/>
              <a:t>D</a:t>
            </a:r>
            <a:r>
              <a:rPr lang="en-US" altLang="zh-CN" sz="1500" baseline="-25000" dirty="0"/>
              <a:t>n</a:t>
            </a:r>
            <a:r>
              <a:rPr lang="en-US" altLang="zh-CN" sz="1500" dirty="0"/>
              <a:t>   (</a:t>
            </a:r>
            <a:r>
              <a:rPr lang="zh-CN" altLang="en-US" sz="1500" dirty="0"/>
              <a:t>可有相同的域</a:t>
            </a:r>
            <a:r>
              <a:rPr lang="en-US" altLang="zh-CN" sz="1500" dirty="0"/>
              <a:t>)</a:t>
            </a:r>
            <a:r>
              <a:rPr lang="zh-CN" altLang="en-US" sz="1500" dirty="0"/>
              <a:t>。</a:t>
            </a:r>
            <a:endParaRPr lang="en-US" altLang="zh-CN" sz="1500" dirty="0"/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zh-CN" altLang="en-US" sz="1500" dirty="0"/>
              <a:t>其笛卡尔积为：</a:t>
            </a:r>
            <a:r>
              <a:rPr lang="en-US" altLang="zh-CN" sz="1500" dirty="0"/>
              <a:t>D</a:t>
            </a:r>
            <a:r>
              <a:rPr lang="en-US" altLang="zh-CN" sz="1500" baseline="-25000" dirty="0"/>
              <a:t>1</a:t>
            </a:r>
            <a:r>
              <a:rPr lang="en-US" altLang="zh-CN" sz="1500" dirty="0">
                <a:solidFill>
                  <a:srgbClr val="000000"/>
                </a:solidFill>
              </a:rPr>
              <a:t>×</a:t>
            </a:r>
            <a:r>
              <a:rPr lang="en-US" altLang="zh-CN" sz="1500" dirty="0"/>
              <a:t>D</a:t>
            </a:r>
            <a:r>
              <a:rPr lang="en-US" altLang="zh-CN" sz="1500" baseline="-25000" dirty="0"/>
              <a:t>2</a:t>
            </a:r>
            <a:r>
              <a:rPr lang="en-US" altLang="zh-CN" sz="1500" dirty="0">
                <a:solidFill>
                  <a:srgbClr val="000000"/>
                </a:solidFill>
              </a:rPr>
              <a:t>×</a:t>
            </a:r>
            <a:r>
              <a:rPr lang="en-US" altLang="zh-CN" sz="1500" dirty="0"/>
              <a:t>…</a:t>
            </a:r>
            <a:r>
              <a:rPr lang="en-US" altLang="zh-CN" sz="1500" dirty="0">
                <a:solidFill>
                  <a:srgbClr val="000000"/>
                </a:solidFill>
              </a:rPr>
              <a:t>×</a:t>
            </a:r>
            <a:r>
              <a:rPr lang="en-US" altLang="zh-CN" sz="1500" dirty="0"/>
              <a:t>D</a:t>
            </a:r>
            <a:r>
              <a:rPr lang="en-US" altLang="zh-CN" sz="1500" baseline="-25000" dirty="0"/>
              <a:t>n</a:t>
            </a:r>
            <a:r>
              <a:rPr lang="en-US" altLang="zh-CN" sz="1500" dirty="0"/>
              <a:t>={(d</a:t>
            </a:r>
            <a:r>
              <a:rPr lang="en-US" altLang="zh-CN" sz="1500" baseline="-25000" dirty="0"/>
              <a:t>1</a:t>
            </a:r>
            <a:r>
              <a:rPr lang="zh-CN" altLang="en-US" sz="1500" dirty="0"/>
              <a:t>，</a:t>
            </a:r>
            <a:r>
              <a:rPr lang="en-US" altLang="zh-CN" sz="1500" dirty="0"/>
              <a:t>d</a:t>
            </a:r>
            <a:r>
              <a:rPr lang="en-US" altLang="zh-CN" sz="1500" baseline="-25000" dirty="0"/>
              <a:t>2</a:t>
            </a:r>
            <a:r>
              <a:rPr lang="zh-CN" altLang="en-US" sz="1500" dirty="0"/>
              <a:t>，</a:t>
            </a:r>
            <a:r>
              <a:rPr lang="en-US" altLang="zh-CN" sz="1500" dirty="0"/>
              <a:t>…</a:t>
            </a:r>
            <a:r>
              <a:rPr lang="zh-CN" altLang="en-US" sz="1500" dirty="0"/>
              <a:t>，</a:t>
            </a:r>
            <a:r>
              <a:rPr lang="en-US" altLang="zh-CN" sz="1500" dirty="0"/>
              <a:t>d</a:t>
            </a:r>
            <a:r>
              <a:rPr lang="en-US" altLang="zh-CN" sz="1500" baseline="-25000" dirty="0"/>
              <a:t>n</a:t>
            </a:r>
            <a:r>
              <a:rPr lang="en-US" altLang="zh-CN" sz="1500" dirty="0"/>
              <a:t>)  | d</a:t>
            </a:r>
            <a:r>
              <a:rPr lang="en-US" altLang="zh-CN" sz="1500" baseline="-25000" dirty="0"/>
              <a:t>i</a:t>
            </a:r>
            <a:r>
              <a:rPr lang="en-US" altLang="zh-CN" sz="1500" dirty="0"/>
              <a:t>∈D</a:t>
            </a:r>
            <a:r>
              <a:rPr lang="en-US" altLang="zh-CN" sz="1500" baseline="-25000" dirty="0"/>
              <a:t>i</a:t>
            </a:r>
            <a:r>
              <a:rPr lang="zh-CN" altLang="en-US" sz="1500" dirty="0"/>
              <a:t>，</a:t>
            </a:r>
            <a:r>
              <a:rPr lang="en-US" altLang="zh-CN" sz="1500" dirty="0"/>
              <a:t>i=1,2…,n}</a:t>
            </a:r>
          </a:p>
          <a:p>
            <a:pPr eaLnBrk="1" hangingPunct="1">
              <a:lnSpc>
                <a:spcPct val="70000"/>
              </a:lnSpc>
              <a:buSzTx/>
              <a:buFont typeface="Wingdings" panose="05000000000000000000" pitchFamily="2" charset="2"/>
              <a:buChar char="§"/>
            </a:pPr>
            <a:endParaRPr lang="en-US" altLang="zh-CN" sz="1500" dirty="0"/>
          </a:p>
        </p:txBody>
      </p:sp>
      <p:sp>
        <p:nvSpPr>
          <p:cNvPr id="15362" name="AutoShape 4"/>
          <p:cNvSpPr/>
          <p:nvPr/>
        </p:nvSpPr>
        <p:spPr>
          <a:xfrm>
            <a:off x="5016219" y="2192829"/>
            <a:ext cx="857250" cy="342900"/>
          </a:xfrm>
          <a:prstGeom prst="wedgeRoundRectCallout">
            <a:avLst>
              <a:gd name="adj1" fmla="val -85970"/>
              <a:gd name="adj2" fmla="val -83489"/>
              <a:gd name="adj3" fmla="val 16667"/>
            </a:avLst>
          </a:prstGeom>
          <a:solidFill>
            <a:srgbClr val="FFF1B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元组</a:t>
            </a:r>
          </a:p>
        </p:txBody>
      </p:sp>
      <p:sp>
        <p:nvSpPr>
          <p:cNvPr id="15363" name="AutoShape 5"/>
          <p:cNvSpPr/>
          <p:nvPr/>
        </p:nvSpPr>
        <p:spPr>
          <a:xfrm flipH="1">
            <a:off x="5168807" y="1160719"/>
            <a:ext cx="917972" cy="322659"/>
          </a:xfrm>
          <a:prstGeom prst="wedgeRoundRectCallout">
            <a:avLst>
              <a:gd name="adj1" fmla="val 37102"/>
              <a:gd name="adj2" fmla="val 141173"/>
              <a:gd name="adj3" fmla="val 16667"/>
            </a:avLst>
          </a:prstGeom>
          <a:solidFill>
            <a:srgbClr val="47FFC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为分量</a:t>
            </a:r>
          </a:p>
        </p:txBody>
      </p:sp>
      <p:sp>
        <p:nvSpPr>
          <p:cNvPr id="15364" name="Line 6"/>
          <p:cNvSpPr/>
          <p:nvPr/>
        </p:nvSpPr>
        <p:spPr>
          <a:xfrm flipV="1">
            <a:off x="3301142" y="2067292"/>
            <a:ext cx="1480088" cy="0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261128" name="Rectangle 8"/>
          <p:cNvSpPr>
            <a:spLocks noChangeArrowheads="1"/>
          </p:cNvSpPr>
          <p:nvPr/>
        </p:nvSpPr>
        <p:spPr bwMode="auto">
          <a:xfrm>
            <a:off x="439338" y="2187081"/>
            <a:ext cx="2764631" cy="3231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笛卡儿积也是一个集合</a:t>
            </a:r>
          </a:p>
        </p:txBody>
      </p:sp>
      <p:sp>
        <p:nvSpPr>
          <p:cNvPr id="15366" name="AutoShape 9"/>
          <p:cNvSpPr/>
          <p:nvPr/>
        </p:nvSpPr>
        <p:spPr>
          <a:xfrm>
            <a:off x="439338" y="2666107"/>
            <a:ext cx="5343081" cy="692851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7500" tIns="35100" rIns="67500" bIns="35100" anchor="ctr" anchorCtr="0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其中每一个元素</a:t>
            </a:r>
            <a:r>
              <a:rPr lang="en-US" altLang="zh-CN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(d</a:t>
            </a:r>
            <a:r>
              <a:rPr lang="en-US" altLang="zh-CN" sz="135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135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…</a:t>
            </a: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135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叫作一个</a:t>
            </a:r>
            <a:r>
              <a:rPr lang="en-US" altLang="zh-CN" sz="13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13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元组</a:t>
            </a:r>
            <a:r>
              <a:rPr lang="en-US" altLang="zh-CN" sz="13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(n-Tuple)</a:t>
            </a:r>
            <a:r>
              <a:rPr lang="en-US" altLang="zh-CN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</a:p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或简称为</a:t>
            </a:r>
            <a:r>
              <a:rPr lang="zh-CN" altLang="en-US" sz="135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元组</a:t>
            </a: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。元素中的每一个值</a:t>
            </a:r>
            <a:r>
              <a:rPr lang="en-US" altLang="zh-CN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</a:t>
            </a: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叫作一个分量（</a:t>
            </a:r>
            <a:r>
              <a:rPr lang="en-US" altLang="zh-CN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Component</a:t>
            </a: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）。 </a:t>
            </a:r>
          </a:p>
        </p:txBody>
      </p:sp>
      <p:sp>
        <p:nvSpPr>
          <p:cNvPr id="15368" name="Text Box 2"/>
          <p:cNvSpPr txBox="1"/>
          <p:nvPr/>
        </p:nvSpPr>
        <p:spPr>
          <a:xfrm>
            <a:off x="925664" y="3945974"/>
            <a:ext cx="2185214" cy="276999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12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笛卡尔积可以写成一个二维表</a:t>
            </a:r>
          </a:p>
        </p:txBody>
      </p:sp>
      <p:sp>
        <p:nvSpPr>
          <p:cNvPr id="15369" name="Text Box 3"/>
          <p:cNvSpPr txBox="1"/>
          <p:nvPr/>
        </p:nvSpPr>
        <p:spPr>
          <a:xfrm>
            <a:off x="3309463" y="3377932"/>
            <a:ext cx="2571538" cy="126925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none" anchor="t" anchorCtr="0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例如：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设 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={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张三，李四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={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数学，语文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={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优，良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</a:p>
          <a:p>
            <a:pPr eaLnBrk="0" hangingPunct="0">
              <a:lnSpc>
                <a:spcPct val="130000"/>
              </a:lnSpc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则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×D</a:t>
            </a:r>
            <a:r>
              <a:rPr lang="en-US" altLang="zh-CN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×D</a:t>
            </a:r>
            <a:r>
              <a:rPr lang="en-US" altLang="zh-CN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可用二维表表示为：</a:t>
            </a:r>
          </a:p>
        </p:txBody>
      </p:sp>
      <p:sp>
        <p:nvSpPr>
          <p:cNvPr id="15370" name="Text Box 4"/>
          <p:cNvSpPr txBox="1"/>
          <p:nvPr/>
        </p:nvSpPr>
        <p:spPr>
          <a:xfrm>
            <a:off x="6863025" y="2737382"/>
            <a:ext cx="1943100" cy="1901867"/>
          </a:xfrm>
          <a:prstGeom prst="rect">
            <a:avLst/>
          </a:prstGeom>
          <a:solidFill>
            <a:srgbClr val="FFD1C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张三    数学    优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张三    数学    良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张三    语文    优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张三    语文    良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李四    数学    优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李四    数学    良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李四    语文    优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李四    语文    良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6F08D8B-1FF0-8D23-14C7-20159BFC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关系及其性质</a:t>
            </a:r>
          </a:p>
        </p:txBody>
      </p:sp>
      <p:sp>
        <p:nvSpPr>
          <p:cNvPr id="5" name="上箭头 4">
            <a:extLst>
              <a:ext uri="{FF2B5EF4-FFF2-40B4-BE49-F238E27FC236}">
                <a16:creationId xmlns:a16="http://schemas.microsoft.com/office/drawing/2014/main" id="{8B69A951-9967-1DC8-6FC9-21F0A41FFBC6}"/>
              </a:ext>
            </a:extLst>
          </p:cNvPr>
          <p:cNvSpPr/>
          <p:nvPr/>
        </p:nvSpPr>
        <p:spPr>
          <a:xfrm rot="4279000">
            <a:off x="6261498" y="3573670"/>
            <a:ext cx="221031" cy="866074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3" name="Rectangle 5"/>
          <p:cNvSpPr>
            <a:spLocks noChangeArrowheads="1"/>
          </p:cNvSpPr>
          <p:nvPr/>
        </p:nvSpPr>
        <p:spPr bwMode="auto">
          <a:xfrm>
            <a:off x="1919700" y="1310420"/>
            <a:ext cx="6649879" cy="6938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noAutofit/>
          </a:bodyPr>
          <a:lstStyle/>
          <a:p>
            <a:pPr defTabSz="685800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D</a:t>
            </a:r>
            <a:r>
              <a:rPr lang="en-US" altLang="zh-CN" baseline="-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×D</a:t>
            </a:r>
            <a:r>
              <a:rPr lang="en-US" altLang="zh-CN" baseline="-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×…×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baseline="-30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有意义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的子集称为在域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baseline="-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baseline="-30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,…,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baseline="-30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上的关系，记为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R(D</a:t>
            </a:r>
            <a:r>
              <a:rPr lang="en-US" altLang="zh-CN" baseline="-300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,D</a:t>
            </a:r>
            <a:r>
              <a:rPr lang="en-US" altLang="zh-CN" baseline="-300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,…,</a:t>
            </a:r>
            <a:r>
              <a:rPr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zh-CN" baseline="-30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263174" name="Rectangle 6"/>
          <p:cNvSpPr>
            <a:spLocks noChangeArrowheads="1"/>
          </p:cNvSpPr>
          <p:nvPr/>
        </p:nvSpPr>
        <p:spPr bwMode="auto">
          <a:xfrm>
            <a:off x="2023360" y="2131253"/>
            <a:ext cx="6629400" cy="33855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其中：</a:t>
            </a:r>
            <a:r>
              <a:rPr lang="en-US" altLang="zh-CN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为关系的名；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为关系的</a:t>
            </a:r>
            <a:r>
              <a:rPr lang="zh-CN" altLang="en-US" sz="1600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度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（目）；</a:t>
            </a:r>
            <a:r>
              <a:rPr lang="en-US" altLang="zh-CN" sz="16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r∈R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表示 </a:t>
            </a:r>
            <a:r>
              <a:rPr lang="en-US" altLang="zh-CN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r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 </a:t>
            </a:r>
            <a:r>
              <a:rPr lang="en-US" altLang="zh-CN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R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中的元组。</a:t>
            </a:r>
          </a:p>
        </p:txBody>
      </p:sp>
      <p:sp>
        <p:nvSpPr>
          <p:cNvPr id="263175" name="Rectangle 7"/>
          <p:cNvSpPr>
            <a:spLocks noChangeArrowheads="1"/>
          </p:cNvSpPr>
          <p:nvPr/>
        </p:nvSpPr>
        <p:spPr bwMode="auto">
          <a:xfrm>
            <a:off x="1562527" y="2801161"/>
            <a:ext cx="6343650" cy="1018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342900" lvl="1" defTabSz="685800" fontAlgn="base">
              <a:spcBef>
                <a:spcPct val="65000"/>
              </a:spcBef>
              <a:spcAft>
                <a:spcPct val="0"/>
              </a:spcAft>
              <a:buClr>
                <a:srgbClr val="00FFFF"/>
              </a:buClr>
              <a:buSzPct val="125000"/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子集元素是关系中的元组；</a:t>
            </a:r>
          </a:p>
          <a:p>
            <a:pPr marL="342900" lvl="1" defTabSz="685800" fontAlgn="base">
              <a:spcBef>
                <a:spcPct val="65000"/>
              </a:spcBef>
              <a:spcAft>
                <a:spcPct val="0"/>
              </a:spcAft>
              <a:buClr>
                <a:srgbClr val="00FFFF"/>
              </a:buClr>
              <a:buSzPct val="125000"/>
              <a:buFont typeface="Wingdings" panose="05000000000000000000" pitchFamily="2" charset="2"/>
              <a:buChar char="Ø"/>
              <a:defRPr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关系中的元组个数是关系的</a:t>
            </a:r>
            <a:r>
              <a:rPr lang="zh-CN" altLang="en-US" sz="1400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基数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  <a:p>
            <a:pPr marL="342900" lvl="1" defTabSz="685800" fontAlgn="base">
              <a:spcBef>
                <a:spcPct val="65000"/>
              </a:spcBef>
              <a:spcAft>
                <a:spcPct val="0"/>
              </a:spcAft>
              <a:buClr>
                <a:srgbClr val="00FFFF"/>
              </a:buClr>
              <a:buSzPct val="125000"/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同样可以把关系看作是一个二维表：</a:t>
            </a:r>
          </a:p>
        </p:txBody>
      </p:sp>
      <p:sp>
        <p:nvSpPr>
          <p:cNvPr id="16388" name="Rectangle 8"/>
          <p:cNvSpPr/>
          <p:nvPr/>
        </p:nvSpPr>
        <p:spPr>
          <a:xfrm>
            <a:off x="1461789" y="3872901"/>
            <a:ext cx="5600700" cy="598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1">
              <a:spcBef>
                <a:spcPct val="35000"/>
              </a:spcBef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每一行对应一个元组；</a:t>
            </a:r>
          </a:p>
          <a:p>
            <a:pPr lvl="1">
              <a:spcBef>
                <a:spcPct val="35000"/>
              </a:spcBef>
              <a:buClr>
                <a:srgbClr val="FFFF00"/>
              </a:buClr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表的每一列对应一个域，每个域起一个名字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称为属性</a:t>
            </a:r>
            <a:r>
              <a:rPr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;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5EE5DFC-3700-50AE-470C-2A0976E98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关系及其性质</a:t>
            </a:r>
          </a:p>
        </p:txBody>
      </p:sp>
      <p:sp>
        <p:nvSpPr>
          <p:cNvPr id="16389" name="Rectangle 10"/>
          <p:cNvSpPr>
            <a:spLocks noGrp="1"/>
          </p:cNvSpPr>
          <p:nvPr>
            <p:ph idx="1"/>
          </p:nvPr>
        </p:nvSpPr>
        <p:spPr>
          <a:xfrm>
            <a:off x="424266" y="1128608"/>
            <a:ext cx="1729998" cy="363624"/>
          </a:xfrm>
        </p:spPr>
        <p:txBody>
          <a:bodyPr vert="horz" wrap="square" lIns="68580" tIns="34290" rIns="68580" bIns="34290" anchor="t" anchorCtr="0">
            <a:normAutofit/>
          </a:bodyPr>
          <a:lstStyle/>
          <a:p>
            <a:pPr eaLnBrk="1" hangingPunct="1">
              <a:buNone/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</a:t>
            </a:r>
            <a:r>
              <a:rPr lang="zh-CN" altLang="en-US" sz="2000" b="1" dirty="0">
                <a:solidFill>
                  <a:schemeClr val="hlink"/>
                </a:solidFill>
              </a:rPr>
              <a:t>关系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6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8580" tIns="34290" rIns="68580" bIns="34290" numCol="1" rtlCol="0" anchor="b" anchorCtr="0" compatLnSpc="1">
            <a:normAutofit/>
          </a:bodyPr>
          <a:lstStyle/>
          <a:p>
            <a:pPr defTabSz="685800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关系实例</a:t>
            </a:r>
          </a:p>
        </p:txBody>
      </p:sp>
      <p:sp>
        <p:nvSpPr>
          <p:cNvPr id="17410" name="Rectangle 5"/>
          <p:cNvSpPr/>
          <p:nvPr/>
        </p:nvSpPr>
        <p:spPr>
          <a:xfrm>
            <a:off x="237375" y="1093561"/>
            <a:ext cx="4487465" cy="2065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设 </a:t>
            </a:r>
            <a:r>
              <a:rPr lang="en-US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en-US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男人集合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(MAN) = { 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王强、李东、张兵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</a:p>
          <a:p>
            <a:pPr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   </a:t>
            </a:r>
            <a:r>
              <a:rPr lang="en-US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en-US" altLang="en-US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=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女人集合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(WOMAN) = { 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赵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红、吴芳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</a:p>
          <a:p>
            <a:pPr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D</a:t>
            </a:r>
            <a:r>
              <a:rPr lang="en-US" altLang="zh-CN" sz="12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儿童集合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(CHILD) = { </a:t>
            </a: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王一、李一、李二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</a:p>
          <a:p>
            <a:pPr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endParaRPr lang="en-US" altLang="zh-CN" sz="13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）求上面三个集合的笛卡儿积</a:t>
            </a:r>
            <a:endParaRPr lang="en-US" altLang="zh-CN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）构造一个家庭关系，可表示为：</a:t>
            </a:r>
          </a:p>
          <a:p>
            <a:pPr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FAMILY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MAN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WOMAN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CHILD</a:t>
            </a: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graphicFrame>
        <p:nvGraphicFramePr>
          <p:cNvPr id="11268" name="表格 11267"/>
          <p:cNvGraphicFramePr/>
          <p:nvPr>
            <p:extLst>
              <p:ext uri="{D42A27DB-BD31-4B8C-83A1-F6EECF244321}">
                <p14:modId xmlns:p14="http://schemas.microsoft.com/office/powerpoint/2010/main" val="1456159462"/>
              </p:ext>
            </p:extLst>
          </p:nvPr>
        </p:nvGraphicFramePr>
        <p:xfrm>
          <a:off x="7596106" y="649498"/>
          <a:ext cx="1371600" cy="406384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dirty="0">
                          <a:latin typeface="Tahoma" panose="020B0604030504040204" pitchFamily="34" charset="0"/>
                        </a:rPr>
                        <a:t>M</a:t>
                      </a: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dirty="0">
                          <a:latin typeface="Tahoma" panose="020B0604030504040204" pitchFamily="34" charset="0"/>
                        </a:rPr>
                        <a:t>W</a:t>
                      </a: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400" dirty="0">
                          <a:latin typeface="Tahoma" panose="020B0604030504040204" pitchFamily="34" charset="0"/>
                        </a:rPr>
                        <a:t>C</a:t>
                      </a: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88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FF"/>
                          </a:solidFill>
                          <a:latin typeface="Arial" panose="020B0604020202020204" pitchFamily="34" charset="0"/>
                        </a:rPr>
                        <a:t>王强</a:t>
                      </a:r>
                      <a:endParaRPr lang="zh-CN" altLang="en-US" sz="900" b="1" dirty="0">
                        <a:solidFill>
                          <a:srgbClr val="00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王一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FF"/>
                          </a:solidFill>
                          <a:latin typeface="Arial" panose="020B0604020202020204" pitchFamily="34" charset="0"/>
                        </a:rPr>
                        <a:t>王强</a:t>
                      </a:r>
                      <a:endParaRPr lang="zh-CN" altLang="en-US" sz="900" b="1" dirty="0">
                        <a:solidFill>
                          <a:srgbClr val="00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97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FF"/>
                          </a:solidFill>
                          <a:latin typeface="Arial" panose="020B0604020202020204" pitchFamily="34" charset="0"/>
                        </a:rPr>
                        <a:t>王强</a:t>
                      </a:r>
                      <a:endParaRPr lang="zh-CN" altLang="en-US" sz="900" b="1" dirty="0">
                        <a:solidFill>
                          <a:srgbClr val="00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李二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93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FF"/>
                          </a:solidFill>
                          <a:latin typeface="Arial" panose="020B0604020202020204" pitchFamily="34" charset="0"/>
                        </a:rPr>
                        <a:t>王强</a:t>
                      </a:r>
                      <a:endParaRPr lang="zh-CN" altLang="en-US" sz="900" b="1" dirty="0">
                        <a:solidFill>
                          <a:srgbClr val="00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王一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97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FF"/>
                          </a:solidFill>
                          <a:latin typeface="Arial" panose="020B0604020202020204" pitchFamily="34" charset="0"/>
                        </a:rPr>
                        <a:t>王强</a:t>
                      </a:r>
                      <a:endParaRPr lang="zh-CN" altLang="en-US" sz="900" b="1" dirty="0">
                        <a:solidFill>
                          <a:srgbClr val="00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97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FF"/>
                          </a:solidFill>
                          <a:latin typeface="Arial" panose="020B0604020202020204" pitchFamily="34" charset="0"/>
                        </a:rPr>
                        <a:t>王强</a:t>
                      </a:r>
                      <a:endParaRPr lang="zh-CN" altLang="en-US" sz="900" b="1" dirty="0">
                        <a:solidFill>
                          <a:srgbClr val="00FF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李二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97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李东</a:t>
                      </a:r>
                      <a:endParaRPr lang="zh-CN" altLang="en-US" sz="900" b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王一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7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李东</a:t>
                      </a:r>
                      <a:endParaRPr lang="zh-CN" altLang="en-US" sz="900" b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97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李东</a:t>
                      </a:r>
                      <a:endParaRPr lang="zh-CN" altLang="en-US" sz="900" b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李二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97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李东</a:t>
                      </a:r>
                      <a:endParaRPr lang="zh-CN" altLang="en-US" sz="900" b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王一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97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李东</a:t>
                      </a:r>
                      <a:endParaRPr lang="zh-CN" altLang="en-US" sz="900" b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97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李东</a:t>
                      </a:r>
                      <a:endParaRPr lang="zh-CN" altLang="en-US" sz="900" b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李二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7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</a:rPr>
                        <a:t>张兵</a:t>
                      </a:r>
                      <a:endParaRPr lang="zh-CN" altLang="en-US" sz="9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王一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597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</a:rPr>
                        <a:t>张兵</a:t>
                      </a:r>
                      <a:endParaRPr lang="zh-CN" altLang="en-US" sz="9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597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</a:rPr>
                        <a:t>张兵</a:t>
                      </a:r>
                      <a:endParaRPr lang="zh-CN" altLang="en-US" sz="9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赵</a:t>
                      </a:r>
                      <a:r>
                        <a:rPr lang="zh-CN" altLang="zh-CN" sz="900" b="1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</a:rPr>
                        <a:t>红</a:t>
                      </a:r>
                      <a:endParaRPr lang="zh-CN" altLang="en-US" sz="900" b="1" dirty="0">
                        <a:solidFill>
                          <a:srgbClr val="FF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李二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979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</a:rPr>
                        <a:t>张兵</a:t>
                      </a:r>
                      <a:endParaRPr lang="zh-CN" altLang="en-US" sz="9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王一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597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</a:rPr>
                        <a:t>张兵</a:t>
                      </a:r>
                      <a:endParaRPr lang="zh-CN" altLang="en-US" sz="9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李一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57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FF00"/>
                          </a:solidFill>
                          <a:latin typeface="Arial" panose="020B0604020202020204" pitchFamily="34" charset="0"/>
                        </a:rPr>
                        <a:t>张兵</a:t>
                      </a:r>
                      <a:endParaRPr lang="zh-CN" altLang="en-US" sz="900" b="1" dirty="0">
                        <a:solidFill>
                          <a:srgbClr val="FF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FF9900"/>
                          </a:solidFill>
                          <a:latin typeface="Arial" panose="020B0604020202020204" pitchFamily="34" charset="0"/>
                        </a:rPr>
                        <a:t>吴芳</a:t>
                      </a:r>
                      <a:endParaRPr lang="zh-CN" altLang="en-US" sz="900" b="1" dirty="0">
                        <a:solidFill>
                          <a:srgbClr val="FF99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lang="zh-CN" altLang="zh-CN" sz="9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</a:rPr>
                        <a:t>李二</a:t>
                      </a:r>
                      <a:endParaRPr lang="zh-CN" altLang="en-US" sz="9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>
                    <a:lnL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hlink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7493" name="Rectangle 88"/>
          <p:cNvSpPr/>
          <p:nvPr/>
        </p:nvSpPr>
        <p:spPr>
          <a:xfrm>
            <a:off x="7610394" y="906673"/>
            <a:ext cx="1371600" cy="215503"/>
          </a:xfrm>
          <a:prstGeom prst="rect">
            <a:avLst/>
          </a:prstGeom>
          <a:solidFill>
            <a:schemeClr val="hlink">
              <a:alpha val="50195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7494" name="Group 89"/>
          <p:cNvGrpSpPr/>
          <p:nvPr/>
        </p:nvGrpSpPr>
        <p:grpSpPr>
          <a:xfrm>
            <a:off x="7596106" y="3267681"/>
            <a:ext cx="1371600" cy="400050"/>
            <a:chOff x="4464" y="2583"/>
            <a:chExt cx="1152" cy="336"/>
          </a:xfrm>
        </p:grpSpPr>
        <p:sp>
          <p:nvSpPr>
            <p:cNvPr id="17495" name="Rectangle 90"/>
            <p:cNvSpPr/>
            <p:nvPr/>
          </p:nvSpPr>
          <p:spPr>
            <a:xfrm>
              <a:off x="4464" y="2583"/>
              <a:ext cx="1152" cy="144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96" name="Rectangle 91"/>
            <p:cNvSpPr/>
            <p:nvPr/>
          </p:nvSpPr>
          <p:spPr>
            <a:xfrm>
              <a:off x="4464" y="2775"/>
              <a:ext cx="1152" cy="144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498" name="组合 3"/>
          <p:cNvGrpSpPr/>
          <p:nvPr/>
        </p:nvGrpSpPr>
        <p:grpSpPr>
          <a:xfrm>
            <a:off x="3538456" y="1013829"/>
            <a:ext cx="4057650" cy="3618310"/>
            <a:chOff x="1447800" y="1701006"/>
            <a:chExt cx="5410200" cy="4824339"/>
          </a:xfrm>
        </p:grpSpPr>
        <p:sp>
          <p:nvSpPr>
            <p:cNvPr id="17499" name="Line 93"/>
            <p:cNvSpPr/>
            <p:nvPr/>
          </p:nvSpPr>
          <p:spPr>
            <a:xfrm flipH="1">
              <a:off x="5638800" y="4377456"/>
              <a:ext cx="661392" cy="30480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7500" name="Group 94"/>
            <p:cNvGrpSpPr/>
            <p:nvPr/>
          </p:nvGrpSpPr>
          <p:grpSpPr>
            <a:xfrm>
              <a:off x="1447800" y="4306019"/>
              <a:ext cx="4038600" cy="2219326"/>
              <a:chOff x="912" y="2643"/>
              <a:chExt cx="2544" cy="1398"/>
            </a:xfrm>
          </p:grpSpPr>
          <p:sp>
            <p:nvSpPr>
              <p:cNvPr id="264287" name="Rectangle 95"/>
              <p:cNvSpPr>
                <a:spLocks noChangeArrowheads="1"/>
              </p:cNvSpPr>
              <p:nvPr/>
            </p:nvSpPr>
            <p:spPr bwMode="auto">
              <a:xfrm>
                <a:off x="2608" y="3753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李二</a:t>
                </a:r>
              </a:p>
            </p:txBody>
          </p:sp>
          <p:sp>
            <p:nvSpPr>
              <p:cNvPr id="264288" name="Rectangle 96"/>
              <p:cNvSpPr>
                <a:spLocks noChangeArrowheads="1"/>
              </p:cNvSpPr>
              <p:nvPr/>
            </p:nvSpPr>
            <p:spPr bwMode="auto">
              <a:xfrm>
                <a:off x="1760" y="3753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zh-CN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吴</a:t>
                </a: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芳</a:t>
                </a:r>
              </a:p>
            </p:txBody>
          </p:sp>
          <p:sp>
            <p:nvSpPr>
              <p:cNvPr id="264289" name="Rectangle 97"/>
              <p:cNvSpPr>
                <a:spLocks noChangeArrowheads="1"/>
              </p:cNvSpPr>
              <p:nvPr/>
            </p:nvSpPr>
            <p:spPr bwMode="auto">
              <a:xfrm>
                <a:off x="912" y="3753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李东</a:t>
                </a:r>
              </a:p>
            </p:txBody>
          </p:sp>
          <p:sp>
            <p:nvSpPr>
              <p:cNvPr id="264290" name="Rectangle 98"/>
              <p:cNvSpPr>
                <a:spLocks noChangeArrowheads="1"/>
              </p:cNvSpPr>
              <p:nvPr/>
            </p:nvSpPr>
            <p:spPr bwMode="auto">
              <a:xfrm>
                <a:off x="2608" y="3465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李一</a:t>
                </a:r>
              </a:p>
            </p:txBody>
          </p:sp>
          <p:sp>
            <p:nvSpPr>
              <p:cNvPr id="264291" name="Rectangle 99"/>
              <p:cNvSpPr>
                <a:spLocks noChangeArrowheads="1"/>
              </p:cNvSpPr>
              <p:nvPr/>
            </p:nvSpPr>
            <p:spPr bwMode="auto">
              <a:xfrm>
                <a:off x="1760" y="3465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zh-CN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吴</a:t>
                </a: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芳</a:t>
                </a:r>
              </a:p>
            </p:txBody>
          </p:sp>
          <p:sp>
            <p:nvSpPr>
              <p:cNvPr id="264292" name="Rectangle 100"/>
              <p:cNvSpPr>
                <a:spLocks noChangeArrowheads="1"/>
              </p:cNvSpPr>
              <p:nvPr/>
            </p:nvSpPr>
            <p:spPr bwMode="auto">
              <a:xfrm>
                <a:off x="912" y="3465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李东</a:t>
                </a:r>
              </a:p>
            </p:txBody>
          </p:sp>
          <p:sp>
            <p:nvSpPr>
              <p:cNvPr id="264293" name="Rectangle 101"/>
              <p:cNvSpPr>
                <a:spLocks noChangeArrowheads="1"/>
              </p:cNvSpPr>
              <p:nvPr/>
            </p:nvSpPr>
            <p:spPr bwMode="auto">
              <a:xfrm>
                <a:off x="2608" y="3177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王一</a:t>
                </a:r>
              </a:p>
            </p:txBody>
          </p:sp>
          <p:sp>
            <p:nvSpPr>
              <p:cNvPr id="264294" name="Rectangle 102"/>
              <p:cNvSpPr>
                <a:spLocks noChangeArrowheads="1"/>
              </p:cNvSpPr>
              <p:nvPr/>
            </p:nvSpPr>
            <p:spPr bwMode="auto">
              <a:xfrm>
                <a:off x="1760" y="3177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赵</a:t>
                </a:r>
                <a:r>
                  <a:rPr lang="zh-CN" altLang="zh-CN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红</a:t>
                </a:r>
                <a:endParaRPr lang="zh-CN" altLang="en-US" sz="135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4295" name="Rectangle 103"/>
              <p:cNvSpPr>
                <a:spLocks noChangeArrowheads="1"/>
              </p:cNvSpPr>
              <p:nvPr/>
            </p:nvSpPr>
            <p:spPr bwMode="auto">
              <a:xfrm>
                <a:off x="912" y="3177"/>
                <a:ext cx="848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zh-CN" altLang="en-US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王</a:t>
                </a:r>
                <a:r>
                  <a:rPr lang="zh-CN" altLang="zh-CN" sz="135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强</a:t>
                </a:r>
                <a:endParaRPr lang="zh-CN" altLang="en-US" sz="135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4296" name="Rectangle 104"/>
              <p:cNvSpPr>
                <a:spLocks noChangeArrowheads="1"/>
              </p:cNvSpPr>
              <p:nvPr/>
            </p:nvSpPr>
            <p:spPr bwMode="auto">
              <a:xfrm>
                <a:off x="2608" y="2928"/>
                <a:ext cx="848" cy="24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en-US" altLang="zh-CN" sz="135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CHILD</a:t>
                </a:r>
              </a:p>
            </p:txBody>
          </p:sp>
          <p:sp>
            <p:nvSpPr>
              <p:cNvPr id="264297" name="Rectangle 105"/>
              <p:cNvSpPr>
                <a:spLocks noChangeArrowheads="1"/>
              </p:cNvSpPr>
              <p:nvPr/>
            </p:nvSpPr>
            <p:spPr bwMode="auto">
              <a:xfrm>
                <a:off x="1760" y="2928"/>
                <a:ext cx="848" cy="24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en-US" altLang="zh-CN" sz="135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WOMAN</a:t>
                </a:r>
              </a:p>
            </p:txBody>
          </p:sp>
          <p:sp>
            <p:nvSpPr>
              <p:cNvPr id="264298" name="Rectangle 106"/>
              <p:cNvSpPr>
                <a:spLocks noChangeArrowheads="1"/>
              </p:cNvSpPr>
              <p:nvPr/>
            </p:nvSpPr>
            <p:spPr bwMode="auto">
              <a:xfrm>
                <a:off x="912" y="2928"/>
                <a:ext cx="848" cy="24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pPr algn="ctr" defTabSz="68580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defRPr/>
                </a:pPr>
                <a:r>
                  <a:rPr lang="en-US" altLang="zh-CN" sz="135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MAN</a:t>
                </a:r>
              </a:p>
            </p:txBody>
          </p:sp>
          <p:sp>
            <p:nvSpPr>
              <p:cNvPr id="17513" name="Line 107"/>
              <p:cNvSpPr/>
              <p:nvPr/>
            </p:nvSpPr>
            <p:spPr>
              <a:xfrm>
                <a:off x="912" y="3177"/>
                <a:ext cx="25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14" name="Line 108"/>
              <p:cNvSpPr/>
              <p:nvPr/>
            </p:nvSpPr>
            <p:spPr>
              <a:xfrm>
                <a:off x="912" y="3465"/>
                <a:ext cx="2544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15" name="Line 109"/>
              <p:cNvSpPr/>
              <p:nvPr/>
            </p:nvSpPr>
            <p:spPr>
              <a:xfrm>
                <a:off x="912" y="3753"/>
                <a:ext cx="2544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16" name="Line 110"/>
              <p:cNvSpPr/>
              <p:nvPr/>
            </p:nvSpPr>
            <p:spPr>
              <a:xfrm>
                <a:off x="912" y="4041"/>
                <a:ext cx="2544" cy="0"/>
              </a:xfrm>
              <a:prstGeom prst="line">
                <a:avLst/>
              </a:prstGeom>
              <a:ln w="28575" cap="sq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17" name="Line 111"/>
              <p:cNvSpPr/>
              <p:nvPr/>
            </p:nvSpPr>
            <p:spPr>
              <a:xfrm>
                <a:off x="912" y="2928"/>
                <a:ext cx="0" cy="249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18" name="Line 112"/>
              <p:cNvSpPr/>
              <p:nvPr/>
            </p:nvSpPr>
            <p:spPr>
              <a:xfrm>
                <a:off x="1760" y="2928"/>
                <a:ext cx="0" cy="1113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19" name="Line 113"/>
              <p:cNvSpPr/>
              <p:nvPr/>
            </p:nvSpPr>
            <p:spPr>
              <a:xfrm>
                <a:off x="2608" y="2928"/>
                <a:ext cx="0" cy="1113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20" name="Line 114"/>
              <p:cNvSpPr/>
              <p:nvPr/>
            </p:nvSpPr>
            <p:spPr>
              <a:xfrm>
                <a:off x="3456" y="2928"/>
                <a:ext cx="0" cy="249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21" name="Line 115"/>
              <p:cNvSpPr/>
              <p:nvPr/>
            </p:nvSpPr>
            <p:spPr>
              <a:xfrm>
                <a:off x="912" y="2928"/>
                <a:ext cx="2544" cy="0"/>
              </a:xfrm>
              <a:prstGeom prst="line">
                <a:avLst/>
              </a:prstGeom>
              <a:ln w="28575" cap="flat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22" name="Line 116"/>
              <p:cNvSpPr/>
              <p:nvPr/>
            </p:nvSpPr>
            <p:spPr>
              <a:xfrm>
                <a:off x="912" y="3177"/>
                <a:ext cx="0" cy="864"/>
              </a:xfrm>
              <a:prstGeom prst="line">
                <a:avLst/>
              </a:prstGeom>
              <a:ln w="28575" cap="sq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523" name="Line 117"/>
              <p:cNvSpPr/>
              <p:nvPr/>
            </p:nvSpPr>
            <p:spPr>
              <a:xfrm>
                <a:off x="3456" y="3177"/>
                <a:ext cx="0" cy="864"/>
              </a:xfrm>
              <a:prstGeom prst="line">
                <a:avLst/>
              </a:prstGeom>
              <a:ln w="28575" cap="sq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4310" name="Rectangle 118"/>
              <p:cNvSpPr>
                <a:spLocks noChangeArrowheads="1"/>
              </p:cNvSpPr>
              <p:nvPr/>
            </p:nvSpPr>
            <p:spPr bwMode="auto">
              <a:xfrm>
                <a:off x="1929" y="2643"/>
                <a:ext cx="535" cy="23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defTabSz="685800" fontAlgn="base"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defRPr/>
                </a:pPr>
                <a:r>
                  <a:rPr lang="en-US" altLang="zh-CN" sz="120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Family</a:t>
                </a:r>
              </a:p>
            </p:txBody>
          </p:sp>
        </p:grpSp>
        <p:sp>
          <p:nvSpPr>
            <p:cNvPr id="17525" name="Line 93"/>
            <p:cNvSpPr/>
            <p:nvPr/>
          </p:nvSpPr>
          <p:spPr>
            <a:xfrm flipH="1">
              <a:off x="6300192" y="1701006"/>
              <a:ext cx="557808" cy="267645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526" name="Line 93"/>
            <p:cNvSpPr/>
            <p:nvPr/>
          </p:nvSpPr>
          <p:spPr>
            <a:xfrm flipH="1" flipV="1">
              <a:off x="6324600" y="4377456"/>
              <a:ext cx="533400" cy="457200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527" name="Line 93"/>
            <p:cNvSpPr/>
            <p:nvPr/>
          </p:nvSpPr>
          <p:spPr>
            <a:xfrm flipH="1" flipV="1">
              <a:off x="6300192" y="4377456"/>
              <a:ext cx="557808" cy="746994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3" name="组合 3"/>
          <p:cNvGrpSpPr/>
          <p:nvPr/>
        </p:nvGrpSpPr>
        <p:grpSpPr>
          <a:xfrm>
            <a:off x="1215629" y="3286013"/>
            <a:ext cx="2646878" cy="895558"/>
            <a:chOff x="4216152" y="2294075"/>
            <a:chExt cx="3529171" cy="1195425"/>
          </a:xfrm>
        </p:grpSpPr>
        <p:sp>
          <p:nvSpPr>
            <p:cNvPr id="18434" name="Rectangle 6"/>
            <p:cNvSpPr/>
            <p:nvPr/>
          </p:nvSpPr>
          <p:spPr>
            <a:xfrm>
              <a:off x="4216152" y="2708920"/>
              <a:ext cx="3529171" cy="780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一个关系有多个候选码时，</a:t>
              </a:r>
            </a:p>
            <a:p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选定其中的一个作为主码。</a:t>
              </a:r>
            </a:p>
          </p:txBody>
        </p:sp>
        <p:sp>
          <p:nvSpPr>
            <p:cNvPr id="18435" name="Rectangle 8"/>
            <p:cNvSpPr/>
            <p:nvPr/>
          </p:nvSpPr>
          <p:spPr>
            <a:xfrm>
              <a:off x="4216152" y="2294075"/>
              <a:ext cx="3200400" cy="42328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主码</a:t>
              </a:r>
              <a:r>
                <a:rPr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(Primary Key)</a:t>
              </a:r>
            </a:p>
          </p:txBody>
        </p:sp>
      </p:grpSp>
      <p:grpSp>
        <p:nvGrpSpPr>
          <p:cNvPr id="18436" name="组合 4"/>
          <p:cNvGrpSpPr/>
          <p:nvPr/>
        </p:nvGrpSpPr>
        <p:grpSpPr>
          <a:xfrm>
            <a:off x="5371112" y="1809033"/>
            <a:ext cx="3086100" cy="1107288"/>
            <a:chOff x="4216152" y="3420987"/>
            <a:chExt cx="4114800" cy="1475042"/>
          </a:xfrm>
        </p:grpSpPr>
        <p:sp>
          <p:nvSpPr>
            <p:cNvPr id="18437" name="Rectangle 7"/>
            <p:cNvSpPr/>
            <p:nvPr/>
          </p:nvSpPr>
          <p:spPr>
            <a:xfrm>
              <a:off x="4231704" y="3789040"/>
              <a:ext cx="4099248" cy="110698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关系</a:t>
              </a:r>
              <a:r>
                <a:rPr lang="en-US" altLang="zh-CN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</a:t>
              </a:r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的某一属性组</a:t>
              </a:r>
              <a:r>
                <a:rPr lang="en-US" altLang="zh-CN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X</a:t>
              </a:r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不是</a:t>
              </a:r>
              <a:r>
                <a:rPr lang="en-US" altLang="zh-CN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</a:t>
              </a:r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的码，但是是其它某一关系的码，称</a:t>
              </a:r>
              <a:r>
                <a:rPr lang="en-US" altLang="zh-CN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X</a:t>
              </a:r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</a:t>
              </a:r>
              <a:r>
                <a:rPr lang="en-US" altLang="zh-CN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</a:t>
              </a:r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的外码。</a:t>
              </a:r>
            </a:p>
          </p:txBody>
        </p:sp>
        <p:sp>
          <p:nvSpPr>
            <p:cNvPr id="18438" name="Rectangle 9"/>
            <p:cNvSpPr/>
            <p:nvPr/>
          </p:nvSpPr>
          <p:spPr>
            <a:xfrm>
              <a:off x="4216152" y="3420987"/>
              <a:ext cx="3352800" cy="42242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外码</a:t>
              </a:r>
              <a:r>
                <a:rPr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(Foreign Key)</a:t>
              </a:r>
            </a:p>
          </p:txBody>
        </p:sp>
      </p:grpSp>
      <p:grpSp>
        <p:nvGrpSpPr>
          <p:cNvPr id="18439" name="组合 5"/>
          <p:cNvGrpSpPr/>
          <p:nvPr/>
        </p:nvGrpSpPr>
        <p:grpSpPr>
          <a:xfrm>
            <a:off x="5371112" y="3286013"/>
            <a:ext cx="3078956" cy="915010"/>
            <a:chOff x="4211960" y="4500970"/>
            <a:chExt cx="4104456" cy="1219693"/>
          </a:xfrm>
        </p:grpSpPr>
        <p:sp>
          <p:nvSpPr>
            <p:cNvPr id="18440" name="Rectangle 5"/>
            <p:cNvSpPr/>
            <p:nvPr/>
          </p:nvSpPr>
          <p:spPr>
            <a:xfrm>
              <a:off x="4211960" y="4941168"/>
              <a:ext cx="4104456" cy="7794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若关系</a:t>
              </a:r>
              <a:r>
                <a:rPr lang="en-US" altLang="zh-CN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</a:t>
              </a:r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整个属性的集合是</a:t>
              </a:r>
              <a:r>
                <a:rPr lang="en-US" altLang="zh-CN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</a:t>
              </a:r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的候选码，则该候选码为全码。</a:t>
              </a:r>
            </a:p>
          </p:txBody>
        </p:sp>
        <p:sp>
          <p:nvSpPr>
            <p:cNvPr id="18441" name="Rectangle 10"/>
            <p:cNvSpPr/>
            <p:nvPr/>
          </p:nvSpPr>
          <p:spPr>
            <a:xfrm>
              <a:off x="4216152" y="4500970"/>
              <a:ext cx="3276600" cy="42269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全码</a:t>
              </a:r>
              <a:r>
                <a:rPr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(All Key)</a:t>
              </a:r>
            </a:p>
          </p:txBody>
        </p:sp>
      </p:grpSp>
      <p:grpSp>
        <p:nvGrpSpPr>
          <p:cNvPr id="18442" name="组合 2"/>
          <p:cNvGrpSpPr/>
          <p:nvPr/>
        </p:nvGrpSpPr>
        <p:grpSpPr>
          <a:xfrm>
            <a:off x="1215629" y="1809033"/>
            <a:ext cx="3086100" cy="1123170"/>
            <a:chOff x="4216152" y="1239313"/>
            <a:chExt cx="4114800" cy="1497265"/>
          </a:xfrm>
        </p:grpSpPr>
        <p:sp>
          <p:nvSpPr>
            <p:cNvPr id="18443" name="Rectangle 11"/>
            <p:cNvSpPr/>
            <p:nvPr/>
          </p:nvSpPr>
          <p:spPr>
            <a:xfrm>
              <a:off x="4216153" y="1628800"/>
              <a:ext cx="4114799" cy="110777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sz="16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值能唯一标识一个元组的属性组，且不含多余属性，称该属性组为候选码。</a:t>
              </a:r>
            </a:p>
          </p:txBody>
        </p:sp>
        <p:sp>
          <p:nvSpPr>
            <p:cNvPr id="18444" name="Rectangle 12"/>
            <p:cNvSpPr/>
            <p:nvPr/>
          </p:nvSpPr>
          <p:spPr>
            <a:xfrm>
              <a:off x="4216152" y="1239313"/>
              <a:ext cx="3200400" cy="422726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500" tIns="35100" rIns="67500" bIns="35100" anchor="ctr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候选码</a:t>
              </a:r>
              <a:r>
                <a:rPr lang="en-US" altLang="zh-CN" sz="160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(Candidate Key)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AFB004C5-0470-B153-59B1-77962507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关系及其性质</a:t>
            </a:r>
          </a:p>
        </p:txBody>
      </p:sp>
      <p:sp>
        <p:nvSpPr>
          <p:cNvPr id="18445" name="Rectangle 13"/>
          <p:cNvSpPr>
            <a:spLocks noGrp="1"/>
          </p:cNvSpPr>
          <p:nvPr>
            <p:ph idx="1"/>
          </p:nvPr>
        </p:nvSpPr>
        <p:spPr>
          <a:xfrm>
            <a:off x="628650" y="1345584"/>
            <a:ext cx="7886700" cy="450322"/>
          </a:xfrm>
        </p:spPr>
        <p:txBody>
          <a:bodyPr vert="horz" wrap="square" lIns="68580" tIns="34290" rIns="68580" bIns="34290" anchor="t" anchorCtr="0"/>
          <a:lstStyle/>
          <a:p>
            <a:pPr eaLnBrk="1" hangingPunct="1"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chemeClr val="hlink"/>
                </a:solidFill>
              </a:rPr>
              <a:t>关系中常用术语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/>
          </p:cNvSpPr>
          <p:nvPr>
            <p:ph idx="1"/>
          </p:nvPr>
        </p:nvSpPr>
        <p:spPr>
          <a:xfrm>
            <a:off x="628650" y="2096914"/>
            <a:ext cx="7886700" cy="2657404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Pct val="60000"/>
            </a:pPr>
            <a:r>
              <a:rPr lang="en-US" altLang="zh-CN" sz="1800" b="1" dirty="0">
                <a:latin typeface="+mn-lt"/>
                <a:ea typeface="+mn-ea"/>
              </a:rPr>
              <a:t>S(</a:t>
            </a:r>
            <a:r>
              <a:rPr lang="en-US" altLang="zh-CN" sz="1800" b="1" dirty="0">
                <a:solidFill>
                  <a:schemeClr val="hlink"/>
                </a:solidFill>
                <a:latin typeface="+mn-lt"/>
                <a:ea typeface="+mn-ea"/>
              </a:rPr>
              <a:t>Sno</a:t>
            </a:r>
            <a:r>
              <a:rPr lang="en-US" altLang="zh-CN" sz="1800" b="1" dirty="0">
                <a:latin typeface="+mn-lt"/>
                <a:ea typeface="+mn-ea"/>
              </a:rPr>
              <a:t>, Cardno, Dno, Sname, Sage, …)</a:t>
            </a:r>
          </a:p>
          <a:p>
            <a:pPr eaLnBrk="1" hangingPunct="1">
              <a:buSzPct val="60000"/>
            </a:pPr>
            <a:endParaRPr lang="en-US" altLang="zh-CN" sz="1800" b="1" dirty="0">
              <a:latin typeface="+mn-lt"/>
              <a:ea typeface="+mn-ea"/>
            </a:endParaRPr>
          </a:p>
          <a:p>
            <a:pPr eaLnBrk="1" hangingPunct="1">
              <a:spcBef>
                <a:spcPct val="50000"/>
              </a:spcBef>
              <a:buSzPct val="60000"/>
            </a:pPr>
            <a:r>
              <a:rPr lang="en-US" altLang="zh-CN" sz="1800" b="1" dirty="0">
                <a:latin typeface="+mn-lt"/>
                <a:ea typeface="+mn-ea"/>
              </a:rPr>
              <a:t>D(</a:t>
            </a:r>
            <a:r>
              <a:rPr lang="en-US" altLang="zh-CN" sz="1800" b="1" dirty="0">
                <a:solidFill>
                  <a:schemeClr val="hlink"/>
                </a:solidFill>
                <a:latin typeface="+mn-lt"/>
                <a:ea typeface="+mn-ea"/>
              </a:rPr>
              <a:t>Dno</a:t>
            </a:r>
            <a:r>
              <a:rPr lang="en-US" altLang="zh-CN" sz="1800" b="1" dirty="0">
                <a:latin typeface="+mn-lt"/>
                <a:ea typeface="+mn-ea"/>
              </a:rPr>
              <a:t>, Dname, Location)</a:t>
            </a:r>
          </a:p>
          <a:p>
            <a:pPr eaLnBrk="1" hangingPunct="1">
              <a:buSzPct val="60000"/>
            </a:pPr>
            <a:endParaRPr lang="en-US" altLang="zh-CN" sz="1800" b="1" dirty="0">
              <a:latin typeface="+mn-lt"/>
              <a:ea typeface="+mn-ea"/>
            </a:endParaRPr>
          </a:p>
        </p:txBody>
      </p:sp>
      <p:grpSp>
        <p:nvGrpSpPr>
          <p:cNvPr id="19458" name="Group 5"/>
          <p:cNvGrpSpPr/>
          <p:nvPr/>
        </p:nvGrpSpPr>
        <p:grpSpPr>
          <a:xfrm>
            <a:off x="2137172" y="1475032"/>
            <a:ext cx="1143000" cy="628650"/>
            <a:chOff x="2736" y="576"/>
            <a:chExt cx="960" cy="528"/>
          </a:xfrm>
        </p:grpSpPr>
        <p:sp>
          <p:nvSpPr>
            <p:cNvPr id="19459" name="AutoShape 6"/>
            <p:cNvSpPr/>
            <p:nvPr/>
          </p:nvSpPr>
          <p:spPr>
            <a:xfrm>
              <a:off x="2736" y="576"/>
              <a:ext cx="960" cy="336"/>
            </a:xfrm>
            <a:prstGeom prst="flowChartTerminator">
              <a:avLst/>
            </a:prstGeom>
            <a:solidFill>
              <a:srgbClr val="FFF1B5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候选码</a:t>
              </a:r>
            </a:p>
          </p:txBody>
        </p:sp>
        <p:sp>
          <p:nvSpPr>
            <p:cNvPr id="19460" name="Line 7"/>
            <p:cNvSpPr/>
            <p:nvPr/>
          </p:nvSpPr>
          <p:spPr>
            <a:xfrm flipH="1">
              <a:off x="2832" y="912"/>
              <a:ext cx="144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2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61" name="Line 8"/>
            <p:cNvSpPr/>
            <p:nvPr/>
          </p:nvSpPr>
          <p:spPr>
            <a:xfrm>
              <a:off x="3456" y="912"/>
              <a:ext cx="144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2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9462" name="AutoShape 9"/>
          <p:cNvSpPr/>
          <p:nvPr/>
        </p:nvSpPr>
        <p:spPr>
          <a:xfrm>
            <a:off x="757838" y="1384809"/>
            <a:ext cx="857250" cy="342900"/>
          </a:xfrm>
          <a:prstGeom prst="wedgeRoundRectCallout">
            <a:avLst>
              <a:gd name="adj1" fmla="val 4935"/>
              <a:gd name="adj2" fmla="val 170144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>
              <a:lnSpc>
                <a:spcPct val="80000"/>
              </a:lnSpc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主码</a:t>
            </a:r>
          </a:p>
        </p:txBody>
      </p:sp>
      <p:sp>
        <p:nvSpPr>
          <p:cNvPr id="19463" name="AutoShape 10"/>
          <p:cNvSpPr/>
          <p:nvPr/>
        </p:nvSpPr>
        <p:spPr>
          <a:xfrm>
            <a:off x="779265" y="3436143"/>
            <a:ext cx="914400" cy="280988"/>
          </a:xfrm>
          <a:prstGeom prst="wedgeRoundRectCallout">
            <a:avLst>
              <a:gd name="adj1" fmla="val 15889"/>
              <a:gd name="adj2" fmla="val -156366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主码</a:t>
            </a:r>
          </a:p>
        </p:txBody>
      </p:sp>
      <p:sp>
        <p:nvSpPr>
          <p:cNvPr id="19464" name="AutoShape 11"/>
          <p:cNvSpPr/>
          <p:nvPr/>
        </p:nvSpPr>
        <p:spPr>
          <a:xfrm>
            <a:off x="2969717" y="2472887"/>
            <a:ext cx="742950" cy="294971"/>
          </a:xfrm>
          <a:prstGeom prst="wedgeRoundRectCallout">
            <a:avLst>
              <a:gd name="adj1" fmla="val -72398"/>
              <a:gd name="adj2" fmla="val -93015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外码</a:t>
            </a:r>
          </a:p>
        </p:txBody>
      </p:sp>
      <p:grpSp>
        <p:nvGrpSpPr>
          <p:cNvPr id="19465" name="Group 12"/>
          <p:cNvGrpSpPr/>
          <p:nvPr/>
        </p:nvGrpSpPr>
        <p:grpSpPr>
          <a:xfrm>
            <a:off x="6474619" y="2295524"/>
            <a:ext cx="2514600" cy="2463404"/>
            <a:chOff x="3648" y="2203"/>
            <a:chExt cx="2112" cy="2069"/>
          </a:xfrm>
        </p:grpSpPr>
        <p:sp>
          <p:nvSpPr>
            <p:cNvPr id="19466" name="Rectangle 13"/>
            <p:cNvSpPr/>
            <p:nvPr/>
          </p:nvSpPr>
          <p:spPr>
            <a:xfrm>
              <a:off x="3648" y="2539"/>
              <a:ext cx="2112" cy="173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67" name="Rectangle 14"/>
            <p:cNvSpPr/>
            <p:nvPr/>
          </p:nvSpPr>
          <p:spPr>
            <a:xfrm>
              <a:off x="3760" y="2540"/>
              <a:ext cx="549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9801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68" name="Rectangle 15"/>
            <p:cNvSpPr/>
            <p:nvPr/>
          </p:nvSpPr>
          <p:spPr>
            <a:xfrm>
              <a:off x="4286" y="2562"/>
              <a:ext cx="69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69" name="Rectangle 16"/>
            <p:cNvSpPr/>
            <p:nvPr/>
          </p:nvSpPr>
          <p:spPr>
            <a:xfrm>
              <a:off x="4522" y="2534"/>
              <a:ext cx="275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0" name="Rectangle 17"/>
            <p:cNvSpPr/>
            <p:nvPr/>
          </p:nvSpPr>
          <p:spPr>
            <a:xfrm>
              <a:off x="5012" y="2544"/>
              <a:ext cx="460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95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1" name="Rectangle 18"/>
            <p:cNvSpPr/>
            <p:nvPr/>
          </p:nvSpPr>
          <p:spPr>
            <a:xfrm>
              <a:off x="3760" y="2840"/>
              <a:ext cx="549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9801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2" name="Rectangle 19"/>
            <p:cNvSpPr/>
            <p:nvPr/>
          </p:nvSpPr>
          <p:spPr>
            <a:xfrm>
              <a:off x="4286" y="2862"/>
              <a:ext cx="69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3" name="Rectangle 20"/>
            <p:cNvSpPr/>
            <p:nvPr/>
          </p:nvSpPr>
          <p:spPr>
            <a:xfrm>
              <a:off x="4529" y="2830"/>
              <a:ext cx="275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4" name="Rectangle 21"/>
            <p:cNvSpPr/>
            <p:nvPr/>
          </p:nvSpPr>
          <p:spPr>
            <a:xfrm>
              <a:off x="5012" y="2832"/>
              <a:ext cx="460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80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5" name="Rectangle 22"/>
            <p:cNvSpPr/>
            <p:nvPr/>
          </p:nvSpPr>
          <p:spPr>
            <a:xfrm>
              <a:off x="3760" y="3139"/>
              <a:ext cx="549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9802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6" name="Rectangle 23"/>
            <p:cNvSpPr/>
            <p:nvPr/>
          </p:nvSpPr>
          <p:spPr>
            <a:xfrm>
              <a:off x="4286" y="3161"/>
              <a:ext cx="69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7" name="Rectangle 24"/>
            <p:cNvSpPr/>
            <p:nvPr/>
          </p:nvSpPr>
          <p:spPr>
            <a:xfrm>
              <a:off x="4529" y="3116"/>
              <a:ext cx="275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01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8" name="Rectangle 25"/>
            <p:cNvSpPr/>
            <p:nvPr/>
          </p:nvSpPr>
          <p:spPr>
            <a:xfrm>
              <a:off x="5012" y="3139"/>
              <a:ext cx="508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88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79" name="Rectangle 26"/>
            <p:cNvSpPr/>
            <p:nvPr/>
          </p:nvSpPr>
          <p:spPr>
            <a:xfrm>
              <a:off x="3760" y="3437"/>
              <a:ext cx="549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9802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0" name="Rectangle 28"/>
            <p:cNvSpPr/>
            <p:nvPr/>
          </p:nvSpPr>
          <p:spPr>
            <a:xfrm>
              <a:off x="4464" y="3421"/>
              <a:ext cx="333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03</a:t>
              </a:r>
            </a:p>
          </p:txBody>
        </p:sp>
        <p:sp>
          <p:nvSpPr>
            <p:cNvPr id="19481" name="Rectangle 29"/>
            <p:cNvSpPr/>
            <p:nvPr/>
          </p:nvSpPr>
          <p:spPr>
            <a:xfrm>
              <a:off x="4911" y="3437"/>
              <a:ext cx="137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2" name="Rectangle 30"/>
            <p:cNvSpPr/>
            <p:nvPr/>
          </p:nvSpPr>
          <p:spPr>
            <a:xfrm>
              <a:off x="5153" y="3437"/>
              <a:ext cx="275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92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3" name="Rectangle 31"/>
            <p:cNvSpPr/>
            <p:nvPr/>
          </p:nvSpPr>
          <p:spPr>
            <a:xfrm>
              <a:off x="3760" y="3717"/>
              <a:ext cx="687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9803  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4" name="Rectangle 32"/>
            <p:cNvSpPr/>
            <p:nvPr/>
          </p:nvSpPr>
          <p:spPr>
            <a:xfrm>
              <a:off x="4528" y="3735"/>
              <a:ext cx="275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02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5" name="Rectangle 33"/>
            <p:cNvSpPr/>
            <p:nvPr/>
          </p:nvSpPr>
          <p:spPr>
            <a:xfrm>
              <a:off x="5011" y="3717"/>
              <a:ext cx="137" cy="28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75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</a:t>
              </a:r>
              <a:endPara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6" name="Line 34"/>
            <p:cNvSpPr/>
            <p:nvPr/>
          </p:nvSpPr>
          <p:spPr>
            <a:xfrm>
              <a:off x="3648" y="2820"/>
              <a:ext cx="2112" cy="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7" name="Line 35"/>
            <p:cNvSpPr/>
            <p:nvPr/>
          </p:nvSpPr>
          <p:spPr>
            <a:xfrm>
              <a:off x="3648" y="3108"/>
              <a:ext cx="2112" cy="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8" name="Line 36"/>
            <p:cNvSpPr/>
            <p:nvPr/>
          </p:nvSpPr>
          <p:spPr>
            <a:xfrm>
              <a:off x="3648" y="3408"/>
              <a:ext cx="2112" cy="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89" name="Line 37"/>
            <p:cNvSpPr/>
            <p:nvPr/>
          </p:nvSpPr>
          <p:spPr>
            <a:xfrm>
              <a:off x="3648" y="3732"/>
              <a:ext cx="2112" cy="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90" name="Text Box 38"/>
            <p:cNvSpPr txBox="1"/>
            <p:nvPr/>
          </p:nvSpPr>
          <p:spPr>
            <a:xfrm>
              <a:off x="3696" y="2203"/>
              <a:ext cx="2064" cy="349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</a:t>
              </a:r>
            </a:p>
          </p:txBody>
        </p:sp>
        <p:sp>
          <p:nvSpPr>
            <p:cNvPr id="19491" name="Line 39"/>
            <p:cNvSpPr/>
            <p:nvPr/>
          </p:nvSpPr>
          <p:spPr>
            <a:xfrm>
              <a:off x="4320" y="2539"/>
              <a:ext cx="0" cy="17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92" name="Line 40"/>
            <p:cNvSpPr/>
            <p:nvPr/>
          </p:nvSpPr>
          <p:spPr>
            <a:xfrm>
              <a:off x="5040" y="2539"/>
              <a:ext cx="0" cy="17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93" name="Rectangle 41"/>
            <p:cNvSpPr/>
            <p:nvPr/>
          </p:nvSpPr>
          <p:spPr>
            <a:xfrm>
              <a:off x="3648" y="2246"/>
              <a:ext cx="2112" cy="2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r>
                <a:rPr lang="en-US" altLang="zh-CN" sz="21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  <a:r>
                <a:rPr lang="zh-CN" altLang="en-US" sz="21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</a:t>
              </a:r>
              <a:r>
                <a:rPr lang="en-US" altLang="zh-CN" b="1" dirty="0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Sno</a:t>
              </a:r>
              <a:r>
                <a:rPr lang="en-US" altLang="zh-CN" b="1" dirty="0">
                  <a:solidFill>
                    <a:schemeClr val="hlin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 </a:t>
              </a:r>
              <a:r>
                <a:rPr lang="en-US" altLang="zh-CN" b="1" dirty="0" err="1">
                  <a:solidFill>
                    <a:srgbClr val="FF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Cno</a:t>
              </a:r>
              <a:r>
                <a:rPr lang="en-US" altLang="zh-CN" b="1" dirty="0">
                  <a:solidFill>
                    <a:schemeClr val="hlink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   </a:t>
              </a:r>
              <a:r>
                <a:rPr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Grade</a:t>
              </a:r>
              <a:r>
                <a:rPr lang="en-US" altLang="zh-CN" sz="21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</a:t>
              </a:r>
            </a:p>
          </p:txBody>
        </p:sp>
        <p:sp>
          <p:nvSpPr>
            <p:cNvPr id="19494" name="Line 42"/>
            <p:cNvSpPr/>
            <p:nvPr/>
          </p:nvSpPr>
          <p:spPr>
            <a:xfrm>
              <a:off x="4320" y="2251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95" name="Line 43"/>
            <p:cNvSpPr/>
            <p:nvPr/>
          </p:nvSpPr>
          <p:spPr>
            <a:xfrm>
              <a:off x="5040" y="2251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96" name="Text Box 44"/>
            <p:cNvSpPr txBox="1"/>
            <p:nvPr/>
          </p:nvSpPr>
          <p:spPr>
            <a:xfrm>
              <a:off x="5094" y="3709"/>
              <a:ext cx="480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1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80</a:t>
              </a:r>
            </a:p>
          </p:txBody>
        </p:sp>
        <p:sp>
          <p:nvSpPr>
            <p:cNvPr id="19497" name="Text Box 45"/>
            <p:cNvSpPr txBox="1"/>
            <p:nvPr/>
          </p:nvSpPr>
          <p:spPr>
            <a:xfrm>
              <a:off x="3744" y="4080"/>
              <a:ext cx="528" cy="16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altLang="zh-CN" sz="12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……</a:t>
              </a:r>
            </a:p>
          </p:txBody>
        </p:sp>
        <p:sp>
          <p:nvSpPr>
            <p:cNvPr id="19498" name="Line 46"/>
            <p:cNvSpPr/>
            <p:nvPr/>
          </p:nvSpPr>
          <p:spPr>
            <a:xfrm>
              <a:off x="3648" y="4032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9499" name="Text Box 47"/>
          <p:cNvSpPr txBox="1"/>
          <p:nvPr/>
        </p:nvSpPr>
        <p:spPr>
          <a:xfrm>
            <a:off x="2137172" y="3814763"/>
            <a:ext cx="3051572" cy="369332"/>
          </a:xfrm>
          <a:prstGeom prst="rect">
            <a:avLst/>
          </a:prstGeom>
          <a:solidFill>
            <a:srgbClr val="FFF1B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购买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  <a:r>
              <a:rPr lang="zh-CN" altLang="en-US" b="1" u="sng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顾客</a:t>
            </a:r>
            <a:r>
              <a:rPr lang="en-US" altLang="zh-CN" b="1" u="sng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u="sng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，商品，售货员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9500" name="AutoShape 49"/>
          <p:cNvSpPr/>
          <p:nvPr/>
        </p:nvSpPr>
        <p:spPr>
          <a:xfrm>
            <a:off x="3807768" y="4454128"/>
            <a:ext cx="857250" cy="312347"/>
          </a:xfrm>
          <a:prstGeom prst="wedgeRoundRectCallout">
            <a:avLst>
              <a:gd name="adj1" fmla="val -47566"/>
              <a:gd name="adj2" fmla="val -148404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>
              <a:lnSpc>
                <a:spcPct val="80000"/>
              </a:lnSpc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全码</a:t>
            </a:r>
          </a:p>
        </p:txBody>
      </p:sp>
      <p:sp>
        <p:nvSpPr>
          <p:cNvPr id="19501" name="AutoShape 50"/>
          <p:cNvSpPr/>
          <p:nvPr/>
        </p:nvSpPr>
        <p:spPr>
          <a:xfrm>
            <a:off x="5246176" y="1872793"/>
            <a:ext cx="857250" cy="265206"/>
          </a:xfrm>
          <a:prstGeom prst="wedgeRoundRectCallout">
            <a:avLst>
              <a:gd name="adj1" fmla="val -103944"/>
              <a:gd name="adj2" fmla="val 8828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参照关系</a:t>
            </a:r>
          </a:p>
        </p:txBody>
      </p:sp>
      <p:sp>
        <p:nvSpPr>
          <p:cNvPr id="19502" name="AutoShape 51"/>
          <p:cNvSpPr/>
          <p:nvPr/>
        </p:nvSpPr>
        <p:spPr>
          <a:xfrm>
            <a:off x="4093369" y="2911266"/>
            <a:ext cx="1095375" cy="333274"/>
          </a:xfrm>
          <a:prstGeom prst="wedgeRoundRectCallout">
            <a:avLst>
              <a:gd name="adj1" fmla="val -99216"/>
              <a:gd name="adj2" fmla="val -15140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被参照关系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BDE11EB-492B-E81F-F4AE-252254F1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各种码的例子</a:t>
            </a:r>
          </a:p>
        </p:txBody>
      </p:sp>
      <p:sp>
        <p:nvSpPr>
          <p:cNvPr id="5" name="AutoShape 9">
            <a:extLst>
              <a:ext uri="{FF2B5EF4-FFF2-40B4-BE49-F238E27FC236}">
                <a16:creationId xmlns:a16="http://schemas.microsoft.com/office/drawing/2014/main" id="{A9067134-39ED-2827-0757-D3CD94A726B1}"/>
              </a:ext>
            </a:extLst>
          </p:cNvPr>
          <p:cNvSpPr/>
          <p:nvPr/>
        </p:nvSpPr>
        <p:spPr>
          <a:xfrm>
            <a:off x="6821685" y="1553757"/>
            <a:ext cx="1438871" cy="342900"/>
          </a:xfrm>
          <a:prstGeom prst="wedgeRoundRectCallout">
            <a:avLst>
              <a:gd name="adj1" fmla="val -17684"/>
              <a:gd name="adj2" fmla="val 176924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>
              <a:lnSpc>
                <a:spcPct val="80000"/>
              </a:lnSpc>
            </a:pPr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多属性构成主码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3"/>
          <p:cNvSpPr>
            <a:spLocks noGrp="1"/>
          </p:cNvSpPr>
          <p:nvPr>
            <p:ph idx="1"/>
          </p:nvPr>
        </p:nvSpPr>
        <p:spPr>
          <a:xfrm>
            <a:off x="429606" y="1065305"/>
            <a:ext cx="7886700" cy="3408735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solidFill>
                  <a:schemeClr val="hlink"/>
                </a:solidFill>
              </a:rPr>
              <a:t>关系的性质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400" dirty="0"/>
              <a:t>        </a:t>
            </a:r>
            <a:r>
              <a:rPr lang="zh-CN" altLang="en-US" sz="1400" dirty="0">
                <a:solidFill>
                  <a:srgbClr val="000000"/>
                </a:solidFill>
              </a:rPr>
              <a:t>① </a:t>
            </a:r>
            <a:r>
              <a:rPr lang="zh-CN" altLang="en-US" sz="1400" dirty="0"/>
              <a:t>每列的值为同一类型。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400" dirty="0"/>
              <a:t>        </a:t>
            </a:r>
            <a:r>
              <a:rPr lang="zh-CN" altLang="en-US" sz="1400" dirty="0">
                <a:solidFill>
                  <a:srgbClr val="000000"/>
                </a:solidFill>
              </a:rPr>
              <a:t>② </a:t>
            </a:r>
            <a:r>
              <a:rPr lang="zh-CN" altLang="en-US" sz="1400" dirty="0"/>
              <a:t>每列具有不同的属性名</a:t>
            </a:r>
            <a:r>
              <a:rPr lang="en-US" altLang="zh-CN" sz="1400" dirty="0"/>
              <a:t>(</a:t>
            </a:r>
            <a:r>
              <a:rPr lang="zh-CN" altLang="en-US" sz="1400" dirty="0"/>
              <a:t>可同域</a:t>
            </a:r>
            <a:r>
              <a:rPr lang="en-US" altLang="zh-CN" sz="1400" dirty="0"/>
              <a:t>) 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zh-CN" sz="1400" dirty="0"/>
              <a:t>        </a:t>
            </a:r>
            <a:r>
              <a:rPr lang="en-US" altLang="zh-CN" sz="1400" dirty="0">
                <a:solidFill>
                  <a:srgbClr val="000000"/>
                </a:solidFill>
              </a:rPr>
              <a:t>③ </a:t>
            </a:r>
            <a:r>
              <a:rPr lang="zh-CN" altLang="en-US" sz="1400" dirty="0"/>
              <a:t>任意两元组不能完全相同。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400" dirty="0"/>
              <a:t>        </a:t>
            </a:r>
            <a:r>
              <a:rPr lang="zh-CN" altLang="en-US" sz="1400" dirty="0">
                <a:solidFill>
                  <a:srgbClr val="000000"/>
                </a:solidFill>
              </a:rPr>
              <a:t>④ </a:t>
            </a:r>
            <a:r>
              <a:rPr lang="zh-CN" altLang="en-US" sz="1400" dirty="0"/>
              <a:t>行的次序可以互换。 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400" dirty="0"/>
              <a:t>        </a:t>
            </a:r>
            <a:r>
              <a:rPr lang="zh-CN" altLang="en-US" sz="1400" dirty="0">
                <a:solidFill>
                  <a:srgbClr val="000000"/>
                </a:solidFill>
              </a:rPr>
              <a:t>⑤ </a:t>
            </a:r>
            <a:r>
              <a:rPr lang="zh-CN" altLang="en-US" sz="1400" dirty="0"/>
              <a:t>列的次序可以互换。    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400" dirty="0"/>
              <a:t>        </a:t>
            </a:r>
            <a:r>
              <a:rPr lang="zh-CN" altLang="en-US" sz="1400" dirty="0">
                <a:solidFill>
                  <a:srgbClr val="000000"/>
                </a:solidFill>
              </a:rPr>
              <a:t>⑥ </a:t>
            </a:r>
            <a:r>
              <a:rPr lang="zh-CN" altLang="en-US" sz="1400" dirty="0"/>
              <a:t>分量值是原子的。 </a:t>
            </a:r>
          </a:p>
        </p:txBody>
      </p:sp>
      <p:sp>
        <p:nvSpPr>
          <p:cNvPr id="21506" name="Rectangle 4"/>
          <p:cNvSpPr>
            <a:spLocks noGrp="1"/>
          </p:cNvSpPr>
          <p:nvPr>
            <p:ph sz="half" idx="4294967295"/>
          </p:nvPr>
        </p:nvSpPr>
        <p:spPr>
          <a:xfrm>
            <a:off x="5261486" y="1089013"/>
            <a:ext cx="3867150" cy="3262312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Pct val="60000"/>
            </a:pPr>
            <a:endParaRPr lang="en-US" altLang="zh-CN" sz="1800" dirty="0">
              <a:latin typeface="+mn-lt"/>
              <a:ea typeface="+mn-ea"/>
            </a:endParaRPr>
          </a:p>
          <a:p>
            <a:pPr eaLnBrk="1" hangingPunct="1">
              <a:buSzPct val="60000"/>
            </a:pPr>
            <a:endParaRPr lang="en-US" altLang="zh-CN" sz="1800" dirty="0">
              <a:latin typeface="+mn-lt"/>
              <a:ea typeface="+mn-ea"/>
            </a:endParaRPr>
          </a:p>
        </p:txBody>
      </p:sp>
      <p:sp>
        <p:nvSpPr>
          <p:cNvPr id="21521" name="AutoShape 19"/>
          <p:cNvSpPr/>
          <p:nvPr/>
        </p:nvSpPr>
        <p:spPr>
          <a:xfrm>
            <a:off x="5246122" y="1521463"/>
            <a:ext cx="914400" cy="400050"/>
          </a:xfrm>
          <a:prstGeom prst="wedgeRoundRectCallout">
            <a:avLst>
              <a:gd name="adj1" fmla="val 75276"/>
              <a:gd name="adj2" fmla="val 119226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元组</a:t>
            </a:r>
          </a:p>
        </p:txBody>
      </p:sp>
      <p:sp>
        <p:nvSpPr>
          <p:cNvPr id="21524" name="AutoShape 22"/>
          <p:cNvSpPr/>
          <p:nvPr/>
        </p:nvSpPr>
        <p:spPr>
          <a:xfrm>
            <a:off x="7376088" y="841858"/>
            <a:ext cx="800100" cy="400050"/>
          </a:xfrm>
          <a:prstGeom prst="wedgeRoundRectCallout">
            <a:avLst>
              <a:gd name="adj1" fmla="val -3722"/>
              <a:gd name="adj2" fmla="val 140773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属性名</a:t>
            </a:r>
          </a:p>
        </p:txBody>
      </p:sp>
      <p:sp>
        <p:nvSpPr>
          <p:cNvPr id="21525" name="Rectangle 23"/>
          <p:cNvSpPr/>
          <p:nvPr/>
        </p:nvSpPr>
        <p:spPr>
          <a:xfrm>
            <a:off x="3134956" y="3340362"/>
            <a:ext cx="2457450" cy="1276381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关系的类型 ：</a:t>
            </a:r>
          </a:p>
          <a:p>
            <a:pPr marL="257175" indent="-25717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基本关系（基表）</a:t>
            </a:r>
          </a:p>
          <a:p>
            <a:pPr marL="257175" indent="-25717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查询表</a:t>
            </a:r>
          </a:p>
          <a:p>
            <a:pPr marL="257175" indent="-25717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视图表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64DDEA90-0A01-D617-903B-E346199E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关系及其性质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CE895F0-3150-2313-5E63-4D35A3D6E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935691"/>
              </p:ext>
            </p:extLst>
          </p:nvPr>
        </p:nvGraphicFramePr>
        <p:xfrm>
          <a:off x="6486923" y="1623898"/>
          <a:ext cx="2425407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93">
                  <a:extLst>
                    <a:ext uri="{9D8B030D-6E8A-4147-A177-3AD203B41FA5}">
                      <a16:colId xmlns:a16="http://schemas.microsoft.com/office/drawing/2014/main" val="3299237219"/>
                    </a:ext>
                  </a:extLst>
                </a:gridCol>
                <a:gridCol w="911845">
                  <a:extLst>
                    <a:ext uri="{9D8B030D-6E8A-4147-A177-3AD203B41FA5}">
                      <a16:colId xmlns:a16="http://schemas.microsoft.com/office/drawing/2014/main" val="1800490204"/>
                    </a:ext>
                  </a:extLst>
                </a:gridCol>
                <a:gridCol w="808469">
                  <a:extLst>
                    <a:ext uri="{9D8B030D-6E8A-4147-A177-3AD203B41FA5}">
                      <a16:colId xmlns:a16="http://schemas.microsoft.com/office/drawing/2014/main" val="599813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007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黄林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56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966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9803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张英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66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175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王刚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、球迷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</a:p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+5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233842"/>
                  </a:ext>
                </a:extLst>
              </a:tr>
            </a:tbl>
          </a:graphicData>
        </a:graphic>
      </p:graphicFrame>
      <p:sp>
        <p:nvSpPr>
          <p:cNvPr id="21522" name="AutoShape 20"/>
          <p:cNvSpPr/>
          <p:nvPr/>
        </p:nvSpPr>
        <p:spPr>
          <a:xfrm>
            <a:off x="8103622" y="410612"/>
            <a:ext cx="857250" cy="400050"/>
          </a:xfrm>
          <a:prstGeom prst="wedgeRoundRectCallout">
            <a:avLst>
              <a:gd name="adj1" fmla="val -5501"/>
              <a:gd name="adj2" fmla="val 376058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分量值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8015370-21A1-41D4-371B-F016E2ABAEAE}"/>
              </a:ext>
            </a:extLst>
          </p:cNvPr>
          <p:cNvSpPr/>
          <p:nvPr/>
        </p:nvSpPr>
        <p:spPr>
          <a:xfrm>
            <a:off x="6400934" y="1997251"/>
            <a:ext cx="2559938" cy="3590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520" name="AutoShape 18"/>
          <p:cNvSpPr/>
          <p:nvPr/>
        </p:nvSpPr>
        <p:spPr>
          <a:xfrm>
            <a:off x="5703322" y="4289425"/>
            <a:ext cx="1085850" cy="400050"/>
          </a:xfrm>
          <a:prstGeom prst="wedgeRoundRectCallout">
            <a:avLst>
              <a:gd name="adj1" fmla="val 160217"/>
              <a:gd name="adj2" fmla="val -79767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不允许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6439FF9-7DA7-BCEA-CABF-7E0BDA4FDCE0}"/>
              </a:ext>
            </a:extLst>
          </p:cNvPr>
          <p:cNvSpPr/>
          <p:nvPr/>
        </p:nvSpPr>
        <p:spPr>
          <a:xfrm>
            <a:off x="7252278" y="3508336"/>
            <a:ext cx="851344" cy="6304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B491688-D265-C252-096F-35D4DEAA71A2}"/>
              </a:ext>
            </a:extLst>
          </p:cNvPr>
          <p:cNvSpPr/>
          <p:nvPr/>
        </p:nvSpPr>
        <p:spPr>
          <a:xfrm>
            <a:off x="8214025" y="3508336"/>
            <a:ext cx="587389" cy="6098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/>
              <a:t>关系模式定义：</a:t>
            </a:r>
          </a:p>
          <a:p>
            <a:pPr>
              <a:buSzPct val="60000"/>
              <a:buNone/>
            </a:pPr>
            <a:r>
              <a:rPr lang="zh-CN" altLang="en-US" sz="1500" dirty="0"/>
              <a:t>关系模式是关系的结构描述和定义，其表示为：</a:t>
            </a:r>
            <a:r>
              <a:rPr lang="en-US" altLang="zh-CN" sz="1500" dirty="0"/>
              <a:t>R(U</a:t>
            </a:r>
            <a:r>
              <a:rPr lang="zh-CN" altLang="en-US" sz="1500" dirty="0"/>
              <a:t>，</a:t>
            </a:r>
            <a:r>
              <a:rPr lang="en-US" altLang="zh-CN" sz="1500" dirty="0"/>
              <a:t>D</a:t>
            </a:r>
            <a:r>
              <a:rPr lang="zh-CN" altLang="en-US" sz="1500" dirty="0"/>
              <a:t>，</a:t>
            </a:r>
            <a:r>
              <a:rPr lang="en-US" altLang="zh-CN" sz="1500" dirty="0"/>
              <a:t>Dom</a:t>
            </a:r>
            <a:r>
              <a:rPr lang="zh-CN" altLang="en-US" sz="1500" dirty="0"/>
              <a:t>，</a:t>
            </a:r>
            <a:r>
              <a:rPr lang="en-US" altLang="zh-CN" sz="1500" dirty="0"/>
              <a:t>F)</a:t>
            </a:r>
          </a:p>
        </p:txBody>
      </p:sp>
      <p:sp>
        <p:nvSpPr>
          <p:cNvPr id="22530" name="Rectangle 4"/>
          <p:cNvSpPr>
            <a:spLocks noGrp="1"/>
          </p:cNvSpPr>
          <p:nvPr>
            <p:ph sz="half" idx="4294967295"/>
          </p:nvPr>
        </p:nvSpPr>
        <p:spPr>
          <a:xfrm>
            <a:off x="278970" y="3049950"/>
            <a:ext cx="4448175" cy="1257300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Pct val="60000"/>
            </a:pPr>
            <a:r>
              <a:rPr lang="zh-CN" altLang="en-US" sz="1500" dirty="0"/>
              <a:t>关系模式可简记为关系的属性名表。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500" dirty="0">
                <a:solidFill>
                  <a:schemeClr val="hlink"/>
                </a:solidFill>
              </a:rPr>
              <a:t>    </a:t>
            </a:r>
            <a:r>
              <a:rPr lang="en-US" altLang="zh-CN" sz="1500" dirty="0"/>
              <a:t>R(U)=R(A</a:t>
            </a:r>
            <a:r>
              <a:rPr lang="en-US" altLang="zh-CN" sz="1500" baseline="-25000" dirty="0"/>
              <a:t>1</a:t>
            </a:r>
            <a:r>
              <a:rPr lang="en-US" altLang="zh-CN" sz="1500" dirty="0"/>
              <a:t> </a:t>
            </a:r>
            <a:r>
              <a:rPr lang="zh-CN" altLang="en-US" sz="1500" dirty="0"/>
              <a:t>，</a:t>
            </a:r>
            <a:r>
              <a:rPr lang="en-US" altLang="zh-CN" sz="1500" dirty="0"/>
              <a:t>A</a:t>
            </a:r>
            <a:r>
              <a:rPr lang="en-US" altLang="zh-CN" sz="1500" baseline="-25000" dirty="0"/>
              <a:t>2</a:t>
            </a:r>
            <a:r>
              <a:rPr lang="zh-CN" altLang="en-US" sz="1500" dirty="0"/>
              <a:t>，</a:t>
            </a:r>
            <a:r>
              <a:rPr lang="en-US" altLang="zh-CN" sz="1500" dirty="0"/>
              <a:t>A</a:t>
            </a:r>
            <a:r>
              <a:rPr lang="en-US" altLang="zh-CN" sz="1500" baseline="-25000" dirty="0"/>
              <a:t>3</a:t>
            </a:r>
            <a:r>
              <a:rPr lang="zh-CN" altLang="en-US" sz="1500" dirty="0"/>
              <a:t>，</a:t>
            </a:r>
            <a:r>
              <a:rPr lang="en-US" altLang="zh-CN" sz="1500" dirty="0"/>
              <a:t>….A</a:t>
            </a:r>
            <a:r>
              <a:rPr lang="en-US" altLang="zh-CN" sz="1500" baseline="-25000" dirty="0"/>
              <a:t>n</a:t>
            </a:r>
            <a:r>
              <a:rPr lang="en-US" altLang="zh-CN" sz="1500" dirty="0"/>
              <a:t>)</a:t>
            </a:r>
            <a:r>
              <a:rPr lang="en-US" altLang="zh-CN" sz="1500" dirty="0">
                <a:solidFill>
                  <a:schemeClr val="folHlink"/>
                </a:solidFill>
              </a:rPr>
              <a:t> </a:t>
            </a:r>
            <a:endParaRPr lang="en-US" altLang="zh-CN" sz="1500" dirty="0"/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zh-CN" sz="1500" dirty="0"/>
              <a:t>    【</a:t>
            </a:r>
            <a:r>
              <a:rPr lang="zh-CN" altLang="en-US" sz="1500" dirty="0"/>
              <a:t>例</a:t>
            </a:r>
            <a:r>
              <a:rPr lang="en-US" altLang="zh-CN" sz="1500" dirty="0"/>
              <a:t>】</a:t>
            </a:r>
            <a:r>
              <a:rPr lang="zh-CN" altLang="en-US" sz="1500" dirty="0"/>
              <a:t>学生（学号，姓名，总成绩）</a:t>
            </a:r>
            <a:endParaRPr lang="zh-CN" altLang="en-US" sz="1500" dirty="0">
              <a:solidFill>
                <a:schemeClr val="hlink"/>
              </a:solidFill>
            </a:endParaRPr>
          </a:p>
        </p:txBody>
      </p:sp>
      <p:sp>
        <p:nvSpPr>
          <p:cNvPr id="22531" name="AutoShape 5"/>
          <p:cNvSpPr/>
          <p:nvPr/>
        </p:nvSpPr>
        <p:spPr>
          <a:xfrm>
            <a:off x="5089413" y="1954014"/>
            <a:ext cx="1028700" cy="323850"/>
          </a:xfrm>
          <a:prstGeom prst="wedgeRoundRectCallout">
            <a:avLst>
              <a:gd name="adj1" fmla="val -29503"/>
              <a:gd name="adj2" fmla="val -137382"/>
              <a:gd name="adj3" fmla="val 16667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域名集</a:t>
            </a:r>
          </a:p>
        </p:txBody>
      </p:sp>
      <p:sp>
        <p:nvSpPr>
          <p:cNvPr id="22532" name="AutoShape 6"/>
          <p:cNvSpPr/>
          <p:nvPr/>
        </p:nvSpPr>
        <p:spPr>
          <a:xfrm>
            <a:off x="3745945" y="2093235"/>
            <a:ext cx="1145381" cy="323850"/>
          </a:xfrm>
          <a:prstGeom prst="wedgeRoundRectCallout">
            <a:avLst>
              <a:gd name="adj1" fmla="val 52786"/>
              <a:gd name="adj2" fmla="val -182167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属性全集</a:t>
            </a:r>
          </a:p>
        </p:txBody>
      </p:sp>
      <p:sp>
        <p:nvSpPr>
          <p:cNvPr id="22533" name="AutoShape 7"/>
          <p:cNvSpPr/>
          <p:nvPr/>
        </p:nvSpPr>
        <p:spPr>
          <a:xfrm>
            <a:off x="6987060" y="1091662"/>
            <a:ext cx="1033313" cy="571500"/>
          </a:xfrm>
          <a:prstGeom prst="wedgeRoundRectCallout">
            <a:avLst>
              <a:gd name="adj1" fmla="val -118600"/>
              <a:gd name="adj2" fmla="val 29334"/>
              <a:gd name="adj3" fmla="val 16667"/>
            </a:avLst>
          </a:prstGeom>
          <a:solidFill>
            <a:srgbClr val="FFF1B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属性间的依赖关系集</a:t>
            </a:r>
          </a:p>
        </p:txBody>
      </p:sp>
      <p:sp>
        <p:nvSpPr>
          <p:cNvPr id="22534" name="AutoShape 8"/>
          <p:cNvSpPr/>
          <p:nvPr/>
        </p:nvSpPr>
        <p:spPr>
          <a:xfrm>
            <a:off x="5197902" y="929737"/>
            <a:ext cx="1522325" cy="323850"/>
          </a:xfrm>
          <a:prstGeom prst="wedgeRoundRectCallout">
            <a:avLst>
              <a:gd name="adj1" fmla="val -16507"/>
              <a:gd name="adj2" fmla="val 110682"/>
              <a:gd name="adj3" fmla="val 16667"/>
            </a:avLst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属性向域的映像集</a:t>
            </a:r>
          </a:p>
        </p:txBody>
      </p:sp>
      <p:pic>
        <p:nvPicPr>
          <p:cNvPr id="22535" name="Picture 9" descr="NA00864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371" y="3502971"/>
            <a:ext cx="1450181" cy="125134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6" name="Rectangle 11"/>
          <p:cNvSpPr/>
          <p:nvPr/>
        </p:nvSpPr>
        <p:spPr>
          <a:xfrm>
            <a:off x="4328749" y="3285568"/>
            <a:ext cx="4536281" cy="62324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lvl="1">
              <a:lnSpc>
                <a:spcPct val="90000"/>
              </a:lnSpc>
              <a:spcBef>
                <a:spcPct val="50000"/>
              </a:spcBef>
              <a:buClr>
                <a:srgbClr val="00FFFF"/>
              </a:buClr>
              <a:buSzPct val="120000"/>
              <a:buFont typeface="Wingdings" panose="05000000000000000000" pitchFamily="2" charset="2"/>
              <a:buChar char="§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关系模式就是关系的框架（表框架）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rgbClr val="00FFFF"/>
              </a:buClr>
              <a:buSzPct val="120000"/>
              <a:buFont typeface="Wingdings" panose="05000000000000000000" pitchFamily="2" charset="2"/>
              <a:buChar char="§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它是对关系结构的描述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C06EA4F-8362-6141-C554-DAECF85EF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关系模式与关系数据库 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anchor="t" anchorCtr="0"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在关系模型中，实体以及实体间的联系都是用关系来表示。在一个给定的现实世界领域中，相应于所有实体及实体之间的联系的</a:t>
            </a:r>
            <a:r>
              <a:rPr lang="zh-CN" altLang="en-US" sz="2400" dirty="0">
                <a:solidFill>
                  <a:srgbClr val="FF3300"/>
                </a:solidFill>
              </a:rPr>
              <a:t>关系的集合</a:t>
            </a:r>
            <a:r>
              <a:rPr lang="zh-CN" altLang="en-US" sz="2400" dirty="0"/>
              <a:t>构成一个关系数据库。 </a:t>
            </a: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2400" dirty="0"/>
              <a:t> </a:t>
            </a:r>
          </a:p>
          <a:p>
            <a:pPr eaLnBrk="1" hangingPunct="1">
              <a:lnSpc>
                <a:spcPct val="100000"/>
              </a:lnSpc>
            </a:pPr>
            <a:r>
              <a:rPr lang="zh-CN" altLang="en-US" sz="2400" dirty="0"/>
              <a:t>关系数据库也有</a:t>
            </a:r>
            <a:r>
              <a:rPr lang="zh-CN" altLang="en-US" sz="2400" dirty="0">
                <a:solidFill>
                  <a:srgbClr val="FF0000"/>
                </a:solidFill>
              </a:rPr>
              <a:t>型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FF0000"/>
                </a:solidFill>
              </a:rPr>
              <a:t>值</a:t>
            </a:r>
            <a:r>
              <a:rPr lang="zh-CN" altLang="en-US" sz="2400" dirty="0"/>
              <a:t>之分。关系数据库的</a:t>
            </a:r>
            <a:r>
              <a:rPr lang="zh-CN" altLang="en-US" sz="2400" dirty="0">
                <a:solidFill>
                  <a:srgbClr val="FF0000"/>
                </a:solidFill>
              </a:rPr>
              <a:t>型</a:t>
            </a:r>
            <a:r>
              <a:rPr lang="zh-CN" altLang="en-US" sz="2400" dirty="0"/>
              <a:t>也称为</a:t>
            </a:r>
            <a:r>
              <a:rPr lang="zh-CN" altLang="en-US" sz="2400" dirty="0">
                <a:solidFill>
                  <a:srgbClr val="FF3300"/>
                </a:solidFill>
              </a:rPr>
              <a:t>关系数据库模式</a:t>
            </a:r>
            <a:r>
              <a:rPr lang="zh-CN" altLang="en-US" sz="2400" dirty="0"/>
              <a:t>，是对关系数据库的描述，是关系模式的集合。关系数据库的</a:t>
            </a:r>
            <a:r>
              <a:rPr lang="zh-CN" altLang="en-US" sz="2400" dirty="0">
                <a:solidFill>
                  <a:srgbClr val="FF0000"/>
                </a:solidFill>
              </a:rPr>
              <a:t>值</a:t>
            </a:r>
            <a:r>
              <a:rPr lang="zh-CN" altLang="en-US" sz="2400" dirty="0"/>
              <a:t>也称为</a:t>
            </a:r>
            <a:r>
              <a:rPr lang="zh-CN" altLang="en-US" sz="2400" dirty="0">
                <a:solidFill>
                  <a:srgbClr val="FF3300"/>
                </a:solidFill>
              </a:rPr>
              <a:t>关系数据库</a:t>
            </a:r>
            <a:r>
              <a:rPr lang="zh-CN" altLang="en-US" sz="2400" dirty="0"/>
              <a:t>，是关系的集合。关系数据库模式与关系数据库通常统称为关系数据库。 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6282E75-9999-1E65-2B99-83470B98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关系数据库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68580" tIns="34290" rIns="68580" bIns="34290" numCol="1" anchor="t" anchorCtr="0" compatLnSpc="1">
            <a:normAutofit/>
          </a:bodyPr>
          <a:lstStyle/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b="1" kern="0" dirty="0">
                <a:solidFill>
                  <a:schemeClr val="hlink"/>
                </a:solidFill>
              </a:rPr>
              <a:t>关系模型的组成：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dirty="0">
                <a:cs typeface="Courier New" panose="02070309020205020404" pitchFamily="49" charset="0"/>
              </a:rPr>
              <a:t>关系数据结构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en-US" altLang="zh-CN" sz="1800" kern="0" dirty="0">
              <a:cs typeface="Courier New" panose="02070309020205020404" pitchFamily="49" charset="0"/>
            </a:endParaRP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dirty="0">
                <a:cs typeface="Courier New" panose="02070309020205020404" pitchFamily="49" charset="0"/>
              </a:rPr>
              <a:t>关系数据操作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en-US" altLang="zh-CN" sz="1800" kern="0" dirty="0"/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dirty="0"/>
              <a:t>关系完整性约束</a:t>
            </a:r>
            <a:r>
              <a:rPr lang="zh-CN" altLang="en-US" sz="1800" kern="0" dirty="0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24578" name="Text Box 4"/>
          <p:cNvSpPr txBox="1"/>
          <p:nvPr/>
        </p:nvSpPr>
        <p:spPr>
          <a:xfrm>
            <a:off x="4572000" y="1807075"/>
            <a:ext cx="3860006" cy="2031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关系模型的数据操作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查询操作：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选择、投影、连接、除、并、交、差</a:t>
            </a:r>
            <a:endParaRPr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(2)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维护操作 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增加、删除、修改  </a:t>
            </a:r>
            <a:endParaRPr lang="zh-CN" altLang="en-US" b="1" dirty="0">
              <a:solidFill>
                <a:schemeClr val="folHlin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801216E-0974-33D1-2E7B-FE89A105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关系模型的组成</a:t>
            </a:r>
          </a:p>
        </p:txBody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6DE51AB5-02FA-4F06-0F7D-ABADAF94546F}"/>
              </a:ext>
            </a:extLst>
          </p:cNvPr>
          <p:cNvSpPr/>
          <p:nvPr/>
        </p:nvSpPr>
        <p:spPr>
          <a:xfrm>
            <a:off x="2590153" y="2101543"/>
            <a:ext cx="1690007" cy="236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 anchorCtr="0">
            <a:normAutofit/>
          </a:bodyPr>
          <a:lstStyle/>
          <a:p>
            <a:pPr marL="0" indent="0" eaLnBrk="1" hangingPunct="1">
              <a:buSzPct val="60000"/>
              <a:buNone/>
            </a:pPr>
            <a:r>
              <a:rPr lang="zh-CN" altLang="en-US" sz="2400" b="1" dirty="0"/>
              <a:t>三类完整性约束：</a:t>
            </a:r>
          </a:p>
          <a:p>
            <a:pPr lvl="1" eaLnBrk="1" hangingPunct="1">
              <a:buSzPct val="60000"/>
              <a:buFont typeface="Wingdings" pitchFamily="2" charset="2"/>
              <a:buChar char="l"/>
            </a:pPr>
            <a:r>
              <a:rPr lang="zh-CN" altLang="en-US" dirty="0"/>
              <a:t>实体完整性</a:t>
            </a:r>
            <a:endParaRPr lang="en-US" altLang="zh-CN" dirty="0"/>
          </a:p>
          <a:p>
            <a:pPr lvl="1" eaLnBrk="1" hangingPunct="1">
              <a:buSzPct val="60000"/>
              <a:buFont typeface="Wingdings" pitchFamily="2" charset="2"/>
              <a:buChar char="l"/>
            </a:pPr>
            <a:r>
              <a:rPr lang="zh-CN" altLang="en-US" dirty="0"/>
              <a:t>参照完整性</a:t>
            </a:r>
          </a:p>
          <a:p>
            <a:pPr lvl="1" eaLnBrk="1" hangingPunct="1">
              <a:buSzTx/>
              <a:buFont typeface="Wingdings" panose="05000000000000000000" pitchFamily="2" charset="2"/>
              <a:buChar char="§"/>
            </a:pPr>
            <a:r>
              <a:rPr lang="zh-CN" altLang="en-US" dirty="0"/>
              <a:t>用户定义的完整性</a:t>
            </a:r>
          </a:p>
          <a:p>
            <a:pPr eaLnBrk="1" hangingPunct="1">
              <a:buSzPct val="60000"/>
            </a:pPr>
            <a:endParaRPr lang="en-US" altLang="zh-CN" sz="2400" b="1" dirty="0"/>
          </a:p>
        </p:txBody>
      </p:sp>
      <p:sp>
        <p:nvSpPr>
          <p:cNvPr id="25603" name="Rectangle 4"/>
          <p:cNvSpPr>
            <a:spLocks noGrp="1"/>
          </p:cNvSpPr>
          <p:nvPr>
            <p:ph sz="half" idx="4294967295"/>
          </p:nvPr>
        </p:nvSpPr>
        <p:spPr>
          <a:xfrm>
            <a:off x="4815493" y="3005108"/>
            <a:ext cx="3233737" cy="1595438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marL="0" indent="0" eaLnBrk="1" hangingPunct="1">
              <a:buSzPct val="60000"/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说明：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500" dirty="0"/>
              <a:t>    </a:t>
            </a:r>
            <a:r>
              <a:rPr lang="zh-CN" altLang="en-US" sz="1500" dirty="0">
                <a:solidFill>
                  <a:srgbClr val="000000"/>
                </a:solidFill>
              </a:rPr>
              <a:t>① </a:t>
            </a:r>
            <a:r>
              <a:rPr lang="zh-CN" altLang="en-US" sz="1500" dirty="0"/>
              <a:t>实体完整性规则是对基本关系的约束和限定。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500" dirty="0"/>
              <a:t>    </a:t>
            </a:r>
            <a:r>
              <a:rPr lang="zh-CN" altLang="en-US" sz="1500" dirty="0">
                <a:solidFill>
                  <a:srgbClr val="000000"/>
                </a:solidFill>
              </a:rPr>
              <a:t>② </a:t>
            </a:r>
            <a:r>
              <a:rPr lang="zh-CN" altLang="en-US" sz="1500" dirty="0"/>
              <a:t>实体具有唯一性标识</a:t>
            </a:r>
            <a:r>
              <a:rPr lang="en-US" altLang="zh-CN" sz="1500" dirty="0"/>
              <a:t>—</a:t>
            </a:r>
            <a:r>
              <a:rPr lang="zh-CN" altLang="en-US" sz="1500" dirty="0"/>
              <a:t>主码。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500" dirty="0"/>
              <a:t>    </a:t>
            </a:r>
            <a:r>
              <a:rPr lang="zh-CN" altLang="en-US" sz="1500" dirty="0">
                <a:solidFill>
                  <a:srgbClr val="000000"/>
                </a:solidFill>
              </a:rPr>
              <a:t>③ </a:t>
            </a:r>
            <a:r>
              <a:rPr lang="zh-CN" altLang="en-US" sz="1500" dirty="0"/>
              <a:t>主码属性不能取空值。</a:t>
            </a:r>
          </a:p>
        </p:txBody>
      </p:sp>
      <p:sp>
        <p:nvSpPr>
          <p:cNvPr id="25604" name="Rectangle 6"/>
          <p:cNvSpPr/>
          <p:nvPr/>
        </p:nvSpPr>
        <p:spPr>
          <a:xfrm>
            <a:off x="1040021" y="3167125"/>
            <a:ext cx="3371850" cy="1428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2100" b="1" dirty="0">
                <a:solidFill>
                  <a:srgbClr val="1216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</a:t>
            </a:r>
            <a:r>
              <a:rPr lang="en-US" altLang="zh-CN" b="1" dirty="0">
                <a:solidFill>
                  <a:srgbClr val="1216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(1) </a:t>
            </a:r>
            <a:r>
              <a:rPr lang="zh-CN" altLang="en-US" b="1" dirty="0">
                <a:solidFill>
                  <a:srgbClr val="1216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实体完整性</a:t>
            </a:r>
          </a:p>
          <a:p>
            <a:pPr marL="257175" indent="-25717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5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实体完整性规则 </a:t>
            </a:r>
            <a:r>
              <a:rPr lang="en-US" altLang="zh-CN" sz="15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pPr marL="40640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若属性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是基本关系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的主码属性，则属性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不能取空值。</a:t>
            </a:r>
          </a:p>
        </p:txBody>
      </p:sp>
      <p:sp>
        <p:nvSpPr>
          <p:cNvPr id="25605" name="AutoShape 7"/>
          <p:cNvSpPr/>
          <p:nvPr/>
        </p:nvSpPr>
        <p:spPr>
          <a:xfrm>
            <a:off x="2981081" y="1585222"/>
            <a:ext cx="471488" cy="514350"/>
          </a:xfrm>
          <a:prstGeom prst="rightBrace">
            <a:avLst>
              <a:gd name="adj1" fmla="val 9030"/>
              <a:gd name="adj2" fmla="val 50000"/>
            </a:avLst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6" name="AutoShape 8"/>
          <p:cNvSpPr/>
          <p:nvPr/>
        </p:nvSpPr>
        <p:spPr>
          <a:xfrm>
            <a:off x="4404122" y="1423297"/>
            <a:ext cx="2400300" cy="419100"/>
          </a:xfrm>
          <a:prstGeom prst="wedgeRoundRectCallout">
            <a:avLst>
              <a:gd name="adj1" fmla="val -87759"/>
              <a:gd name="adj2" fmla="val 46681"/>
              <a:gd name="adj3" fmla="val 16667"/>
            </a:avLst>
          </a:prstGeom>
          <a:solidFill>
            <a:srgbClr val="FFF1B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由关系系统自动支持</a:t>
            </a:r>
          </a:p>
        </p:txBody>
      </p:sp>
      <p:sp>
        <p:nvSpPr>
          <p:cNvPr id="2" name="左箭头标注 1"/>
          <p:cNvSpPr/>
          <p:nvPr/>
        </p:nvSpPr>
        <p:spPr>
          <a:xfrm>
            <a:off x="3975628" y="2135547"/>
            <a:ext cx="2035374" cy="574494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78615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5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是应用领域需要遵循的约束条件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7C91CA8A-92D6-7E50-819B-F84D0D33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关系模型的完整性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本占位符 320514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anchor="t" anchorCtr="0"/>
          <a:lstStyle/>
          <a:p>
            <a:pPr algn="just">
              <a:lnSpc>
                <a:spcPct val="100000"/>
              </a:lnSpc>
              <a:buNone/>
            </a:pPr>
            <a:r>
              <a:rPr lang="en-US" altLang="zh-CN" sz="1500" dirty="0"/>
              <a:t>(1) </a:t>
            </a:r>
            <a:r>
              <a:rPr lang="zh-CN" altLang="en-US" sz="1500" dirty="0"/>
              <a:t>实体完整性规则是针对基本关系而言的。一个基本表通常对应现实世界的一个实体集或多对多联系。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zh-CN" sz="1500" dirty="0"/>
              <a:t>(2) </a:t>
            </a:r>
            <a:r>
              <a:rPr lang="zh-CN" altLang="en-US" sz="1500" dirty="0"/>
              <a:t>现实世界中的实体和实体间的联系都是可区分的，即它们具有某种唯一性标识。</a:t>
            </a:r>
          </a:p>
          <a:p>
            <a:pPr algn="just">
              <a:lnSpc>
                <a:spcPct val="100000"/>
              </a:lnSpc>
              <a:buNone/>
            </a:pPr>
            <a:r>
              <a:rPr lang="en-US" altLang="zh-CN" sz="1500" dirty="0"/>
              <a:t>(3) </a:t>
            </a:r>
            <a:r>
              <a:rPr lang="zh-CN" altLang="en-US" sz="1500" dirty="0"/>
              <a:t>相应地，关系模型中以主码作为唯一性标识。</a:t>
            </a:r>
            <a:endParaRPr lang="en-US" altLang="zh-CN" sz="1500" dirty="0"/>
          </a:p>
          <a:p>
            <a:pPr algn="just">
              <a:lnSpc>
                <a:spcPct val="100000"/>
              </a:lnSpc>
              <a:spcAft>
                <a:spcPct val="30000"/>
              </a:spcAft>
              <a:buNone/>
            </a:pPr>
            <a:r>
              <a:rPr lang="en-US" altLang="zh-CN" sz="1500" dirty="0"/>
              <a:t>(4) </a:t>
            </a:r>
            <a:r>
              <a:rPr lang="zh-CN" altLang="en-US" sz="1500" dirty="0"/>
              <a:t>主码中的属性即主属性不能取空值。空值就是“不知道”或“无意义”的值。</a:t>
            </a:r>
            <a:endParaRPr lang="en-US" altLang="zh-CN" sz="1500" dirty="0"/>
          </a:p>
        </p:txBody>
      </p:sp>
      <p:sp>
        <p:nvSpPr>
          <p:cNvPr id="27650" name="文本占位符 323586"/>
          <p:cNvSpPr>
            <a:spLocks noGrp="1"/>
          </p:cNvSpPr>
          <p:nvPr/>
        </p:nvSpPr>
        <p:spPr>
          <a:xfrm>
            <a:off x="2179302" y="2898540"/>
            <a:ext cx="5406151" cy="170116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lstStyle/>
          <a:p>
            <a:pPr marL="257175" indent="-257175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</a:t>
            </a:r>
          </a:p>
          <a:p>
            <a:pPr marL="257175" indent="-257175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en-US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实体完整性规则规定基本关系的</a:t>
            </a:r>
            <a:r>
              <a:rPr lang="zh-CN" altLang="en-US" sz="15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所有主属性</a:t>
            </a:r>
            <a:r>
              <a:rPr lang="zh-CN" altLang="en-US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都不能取空值</a:t>
            </a:r>
          </a:p>
          <a:p>
            <a:pPr marL="257175" indent="-257175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【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57213" lvl="1" indent="-214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选修（</a:t>
            </a:r>
            <a:r>
              <a:rPr lang="zh-CN" altLang="en-US" sz="1500" u="sng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学号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en-US" sz="1500" u="sng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课程号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，成绩）</a:t>
            </a:r>
          </a:p>
          <a:p>
            <a:pPr marL="557213" lvl="1" indent="-21431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“学号、课程号”为主码，则两个属性都不能取空值。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11D08AD-37BF-35D0-087A-E2A70F4A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实体完整性规则存在的意义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7032CD3-98BB-3882-6B37-DFF5B3563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参照完整性</a:t>
            </a:r>
          </a:p>
        </p:txBody>
      </p:sp>
      <p:sp>
        <p:nvSpPr>
          <p:cNvPr id="286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 anchorCtr="0">
            <a:normAutofit/>
          </a:bodyPr>
          <a:lstStyle/>
          <a:p>
            <a:pPr marL="0" indent="0" eaLnBrk="1" hangingPunct="1">
              <a:buSzPct val="60000"/>
              <a:buNone/>
            </a:pPr>
            <a:r>
              <a:rPr lang="zh-CN" altLang="en-US" b="1" dirty="0">
                <a:solidFill>
                  <a:schemeClr val="folHlink"/>
                </a:solidFill>
              </a:rPr>
              <a:t>引用关系：</a:t>
            </a:r>
          </a:p>
          <a:p>
            <a:pPr eaLnBrk="1" hangingPunct="1"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r>
              <a:rPr lang="zh-CN" altLang="en-US" sz="1800" dirty="0"/>
              <a:t>关系中的某属性的值需要参照另一关系的属性来取值。</a:t>
            </a: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800" dirty="0"/>
              <a:t>   </a:t>
            </a:r>
            <a:r>
              <a:rPr lang="en-US" altLang="zh-CN" sz="1800" dirty="0"/>
              <a:t>【</a:t>
            </a:r>
            <a:r>
              <a:rPr lang="zh-CN" altLang="en-US" sz="1800" dirty="0"/>
              <a:t>例</a:t>
            </a:r>
            <a:r>
              <a:rPr lang="en-US" altLang="zh-CN" sz="1800" dirty="0"/>
              <a:t>】</a:t>
            </a:r>
            <a:r>
              <a:rPr lang="zh-CN" altLang="en-US" sz="1800" dirty="0"/>
              <a:t>学生</a:t>
            </a:r>
            <a:r>
              <a:rPr lang="en-US" altLang="zh-CN" sz="1800" dirty="0"/>
              <a:t>(</a:t>
            </a:r>
            <a:r>
              <a:rPr lang="zh-CN" altLang="en-US" sz="1800" u="sng" dirty="0">
                <a:solidFill>
                  <a:schemeClr val="hlink"/>
                </a:solidFill>
              </a:rPr>
              <a:t>学号</a:t>
            </a:r>
            <a:r>
              <a:rPr lang="zh-CN" altLang="en-US" sz="1800" dirty="0"/>
              <a:t>，姓名，性别，专业号，年龄</a:t>
            </a:r>
            <a:r>
              <a:rPr lang="en-US" altLang="zh-CN" sz="1800" dirty="0"/>
              <a:t>)</a:t>
            </a:r>
          </a:p>
          <a:p>
            <a:pPr eaLnBrk="1" hangingPunct="1">
              <a:buSzPct val="60000"/>
            </a:pPr>
            <a:endParaRPr lang="en-US" altLang="zh-CN" sz="1500" dirty="0"/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zh-CN" sz="1800" dirty="0"/>
              <a:t>           </a:t>
            </a:r>
            <a:r>
              <a:rPr lang="zh-CN" altLang="en-US" sz="1800" dirty="0"/>
              <a:t>专业</a:t>
            </a:r>
            <a:r>
              <a:rPr lang="en-US" altLang="zh-CN" sz="1800" dirty="0"/>
              <a:t>(</a:t>
            </a:r>
            <a:r>
              <a:rPr lang="zh-CN" altLang="en-US" sz="1800" u="sng" dirty="0">
                <a:solidFill>
                  <a:schemeClr val="hlink"/>
                </a:solidFill>
              </a:rPr>
              <a:t>专业号</a:t>
            </a:r>
            <a:r>
              <a:rPr lang="zh-CN" altLang="en-US" sz="1800" dirty="0"/>
              <a:t>，专业名</a:t>
            </a:r>
            <a:r>
              <a:rPr lang="en-US" altLang="zh-CN" sz="1800" dirty="0"/>
              <a:t>)</a:t>
            </a:r>
          </a:p>
        </p:txBody>
      </p:sp>
      <p:sp>
        <p:nvSpPr>
          <p:cNvPr id="28674" name="Rectangle 4"/>
          <p:cNvSpPr>
            <a:spLocks noGrp="1"/>
          </p:cNvSpPr>
          <p:nvPr>
            <p:ph sz="half" idx="4294967295"/>
          </p:nvPr>
        </p:nvSpPr>
        <p:spPr>
          <a:xfrm>
            <a:off x="2727325" y="3840163"/>
            <a:ext cx="6416675" cy="790575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+mn-lt"/>
                <a:ea typeface="+mn-ea"/>
              </a:rPr>
              <a:t>   </a:t>
            </a:r>
            <a:r>
              <a:rPr lang="zh-CN" altLang="en-US" sz="1800" b="1" dirty="0">
                <a:latin typeface="+mn-lt"/>
                <a:ea typeface="+mn-ea"/>
              </a:rPr>
              <a:t>例</a:t>
            </a:r>
            <a:r>
              <a:rPr lang="en-US" altLang="zh-CN" sz="1800" b="1" dirty="0">
                <a:latin typeface="+mn-lt"/>
                <a:ea typeface="+mn-ea"/>
              </a:rPr>
              <a:t>2:  </a:t>
            </a:r>
            <a:r>
              <a:rPr lang="zh-CN" altLang="en-US" sz="1800" b="1" dirty="0">
                <a:latin typeface="+mn-lt"/>
                <a:ea typeface="+mn-ea"/>
              </a:rPr>
              <a:t>学生</a:t>
            </a:r>
            <a:r>
              <a:rPr lang="en-US" altLang="zh-CN" sz="1800" b="1" dirty="0">
                <a:latin typeface="+mn-lt"/>
                <a:ea typeface="+mn-ea"/>
              </a:rPr>
              <a:t>(</a:t>
            </a:r>
            <a:r>
              <a:rPr lang="zh-CN" altLang="en-US" sz="1800" b="1" u="sng" dirty="0">
                <a:solidFill>
                  <a:schemeClr val="hlink"/>
                </a:solidFill>
                <a:latin typeface="+mn-lt"/>
                <a:ea typeface="+mn-ea"/>
              </a:rPr>
              <a:t>学号</a:t>
            </a:r>
            <a:r>
              <a:rPr lang="zh-CN" altLang="en-US" sz="1800" b="1" dirty="0">
                <a:latin typeface="+mn-lt"/>
                <a:ea typeface="+mn-ea"/>
              </a:rPr>
              <a:t>，姓名，性别，专业号，年龄，班长</a:t>
            </a:r>
            <a:r>
              <a:rPr lang="en-US" altLang="zh-CN" sz="1800" b="1" dirty="0">
                <a:latin typeface="+mn-lt"/>
                <a:ea typeface="+mn-ea"/>
              </a:rPr>
              <a:t>)</a:t>
            </a:r>
          </a:p>
          <a:p>
            <a:pPr eaLnBrk="1" hangingPunct="1">
              <a:buSzPct val="60000"/>
            </a:pPr>
            <a:endParaRPr lang="en-US" altLang="zh-CN" sz="1800" b="1" dirty="0">
              <a:latin typeface="+mn-lt"/>
              <a:ea typeface="+mn-ea"/>
            </a:endParaRPr>
          </a:p>
        </p:txBody>
      </p:sp>
      <p:pic>
        <p:nvPicPr>
          <p:cNvPr id="28675" name="Picture 5" descr="BD05680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5" y="609600"/>
            <a:ext cx="1485900" cy="1028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6" name="Line 6"/>
          <p:cNvSpPr/>
          <p:nvPr/>
        </p:nvSpPr>
        <p:spPr>
          <a:xfrm flipH="1">
            <a:off x="2358026" y="2206777"/>
            <a:ext cx="1942753" cy="375761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28677" name="AutoShape 7"/>
          <p:cNvSpPr/>
          <p:nvPr/>
        </p:nvSpPr>
        <p:spPr>
          <a:xfrm>
            <a:off x="4199541" y="2339182"/>
            <a:ext cx="800100" cy="400050"/>
          </a:xfrm>
          <a:prstGeom prst="wedgeRoundRectCallout">
            <a:avLst>
              <a:gd name="adj1" fmla="val -98361"/>
              <a:gd name="adj2" fmla="val -46727"/>
              <a:gd name="adj3" fmla="val 16667"/>
            </a:avLst>
          </a:prstGeom>
          <a:solidFill>
            <a:srgbClr val="9BFFE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引用</a:t>
            </a:r>
          </a:p>
        </p:txBody>
      </p:sp>
      <p:sp>
        <p:nvSpPr>
          <p:cNvPr id="28678" name="Freeform 8"/>
          <p:cNvSpPr/>
          <p:nvPr/>
        </p:nvSpPr>
        <p:spPr>
          <a:xfrm>
            <a:off x="4451699" y="4078166"/>
            <a:ext cx="3543300" cy="4095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0" t="0" r="0" b="0"/>
            <a:pathLst>
              <a:path w="2976" h="296">
                <a:moveTo>
                  <a:pt x="2976" y="48"/>
                </a:moveTo>
                <a:cubicBezTo>
                  <a:pt x="2384" y="172"/>
                  <a:pt x="1792" y="296"/>
                  <a:pt x="1296" y="288"/>
                </a:cubicBezTo>
                <a:cubicBezTo>
                  <a:pt x="800" y="280"/>
                  <a:pt x="216" y="48"/>
                  <a:pt x="0" y="0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28679" name="AutoShape 9"/>
          <p:cNvSpPr/>
          <p:nvPr/>
        </p:nvSpPr>
        <p:spPr>
          <a:xfrm>
            <a:off x="7994999" y="4359215"/>
            <a:ext cx="800100" cy="400050"/>
          </a:xfrm>
          <a:prstGeom prst="wedgeRoundRectCallout">
            <a:avLst>
              <a:gd name="adj1" fmla="val -93306"/>
              <a:gd name="adj2" fmla="val -77681"/>
              <a:gd name="adj3" fmla="val 16667"/>
            </a:avLst>
          </a:prstGeom>
          <a:solidFill>
            <a:srgbClr val="9BFFE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algn="ctr"/>
            <a:r>
              <a:rPr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引用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3"/>
          <p:cNvSpPr>
            <a:spLocks noGrp="1"/>
          </p:cNvSpPr>
          <p:nvPr>
            <p:ph idx="1"/>
          </p:nvPr>
        </p:nvSpPr>
        <p:spPr>
          <a:xfrm>
            <a:off x="228600" y="1073982"/>
            <a:ext cx="7886700" cy="3408735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定义：</a:t>
            </a:r>
            <a:endParaRPr lang="zh-CN" altLang="en-US" b="1" dirty="0">
              <a:latin typeface="+mn-lt"/>
              <a:ea typeface="+mn-ea"/>
              <a:cs typeface="+mn-cs"/>
            </a:endParaRP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+mn-lt"/>
                <a:ea typeface="+mn-ea"/>
              </a:rPr>
              <a:t>  设：基本关系</a:t>
            </a:r>
            <a:r>
              <a:rPr lang="en-US" altLang="zh-CN" sz="1800" b="1" dirty="0">
                <a:latin typeface="+mn-lt"/>
                <a:ea typeface="+mn-ea"/>
              </a:rPr>
              <a:t>R</a:t>
            </a:r>
            <a:r>
              <a:rPr lang="zh-CN" altLang="en-US" sz="1800" b="1" dirty="0">
                <a:latin typeface="+mn-lt"/>
                <a:ea typeface="+mn-ea"/>
              </a:rPr>
              <a:t>、</a:t>
            </a:r>
            <a:r>
              <a:rPr lang="en-US" altLang="zh-CN" sz="1800" b="1" dirty="0">
                <a:latin typeface="+mn-lt"/>
                <a:ea typeface="+mn-ea"/>
              </a:rPr>
              <a:t>S(</a:t>
            </a:r>
            <a:r>
              <a:rPr lang="zh-CN" altLang="en-US" sz="1800" b="1" dirty="0">
                <a:latin typeface="+mn-lt"/>
                <a:ea typeface="+mn-ea"/>
              </a:rPr>
              <a:t>可为同一关系</a:t>
            </a:r>
            <a:r>
              <a:rPr lang="en-US" altLang="zh-CN" sz="1800" b="1" dirty="0">
                <a:latin typeface="+mn-lt"/>
                <a:ea typeface="+mn-ea"/>
              </a:rPr>
              <a:t>)</a:t>
            </a:r>
            <a:r>
              <a:rPr lang="zh-CN" altLang="en-US" sz="1800" b="1" dirty="0">
                <a:latin typeface="+mn-lt"/>
                <a:ea typeface="+mn-ea"/>
              </a:rPr>
              <a:t>。</a:t>
            </a: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+mn-lt"/>
                <a:ea typeface="+mn-ea"/>
              </a:rPr>
              <a:t>  若</a:t>
            </a:r>
            <a:r>
              <a:rPr lang="en-US" altLang="zh-CN" sz="1800" b="1" dirty="0">
                <a:latin typeface="+mn-lt"/>
                <a:ea typeface="+mn-ea"/>
              </a:rPr>
              <a:t>F</a:t>
            </a:r>
            <a:r>
              <a:rPr lang="zh-CN" altLang="en-US" sz="1800" b="1" dirty="0">
                <a:latin typeface="+mn-lt"/>
                <a:ea typeface="+mn-ea"/>
              </a:rPr>
              <a:t>是</a:t>
            </a:r>
            <a:r>
              <a:rPr lang="en-US" altLang="zh-CN" sz="1800" b="1" dirty="0">
                <a:latin typeface="+mn-lt"/>
                <a:ea typeface="+mn-ea"/>
              </a:rPr>
              <a:t>R</a:t>
            </a:r>
            <a:r>
              <a:rPr lang="zh-CN" altLang="en-US" sz="1800" b="1" dirty="0">
                <a:latin typeface="+mn-lt"/>
                <a:ea typeface="+mn-ea"/>
              </a:rPr>
              <a:t>的一个</a:t>
            </a:r>
            <a:r>
              <a:rPr lang="en-US" altLang="zh-CN" sz="1800" b="1" dirty="0">
                <a:latin typeface="+mn-lt"/>
                <a:ea typeface="+mn-ea"/>
              </a:rPr>
              <a:t>(</a:t>
            </a:r>
            <a:r>
              <a:rPr lang="zh-CN" altLang="en-US" sz="1800" b="1" dirty="0">
                <a:latin typeface="+mn-lt"/>
                <a:ea typeface="+mn-ea"/>
              </a:rPr>
              <a:t>组</a:t>
            </a:r>
            <a:r>
              <a:rPr lang="en-US" altLang="zh-CN" sz="1800" b="1" dirty="0">
                <a:latin typeface="+mn-lt"/>
                <a:ea typeface="+mn-ea"/>
              </a:rPr>
              <a:t>)</a:t>
            </a:r>
            <a:r>
              <a:rPr lang="zh-CN" altLang="en-US" sz="1800" b="1" dirty="0">
                <a:latin typeface="+mn-lt"/>
                <a:ea typeface="+mn-ea"/>
              </a:rPr>
              <a:t>属性，但不是</a:t>
            </a:r>
            <a:r>
              <a:rPr lang="en-US" altLang="zh-CN" sz="1800" b="1" dirty="0">
                <a:latin typeface="+mn-lt"/>
                <a:ea typeface="+mn-ea"/>
              </a:rPr>
              <a:t>R</a:t>
            </a:r>
            <a:r>
              <a:rPr lang="zh-CN" altLang="en-US" sz="1800" b="1" dirty="0">
                <a:latin typeface="+mn-lt"/>
                <a:ea typeface="+mn-ea"/>
              </a:rPr>
              <a:t>的码。</a:t>
            </a: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+mn-lt"/>
                <a:ea typeface="+mn-ea"/>
              </a:rPr>
              <a:t>  如果</a:t>
            </a:r>
            <a:r>
              <a:rPr lang="en-US" altLang="zh-CN" sz="1800" b="1" dirty="0">
                <a:latin typeface="+mn-lt"/>
                <a:ea typeface="+mn-ea"/>
              </a:rPr>
              <a:t>F</a:t>
            </a:r>
            <a:r>
              <a:rPr lang="zh-CN" altLang="en-US" sz="1800" b="1" dirty="0">
                <a:latin typeface="+mn-lt"/>
                <a:ea typeface="+mn-ea"/>
              </a:rPr>
              <a:t>与</a:t>
            </a:r>
            <a:r>
              <a:rPr lang="en-US" altLang="zh-CN" sz="1800" b="1" dirty="0">
                <a:latin typeface="+mn-lt"/>
                <a:ea typeface="+mn-ea"/>
              </a:rPr>
              <a:t>S</a:t>
            </a:r>
            <a:r>
              <a:rPr lang="zh-CN" altLang="en-US" sz="1800" b="1" dirty="0">
                <a:latin typeface="+mn-lt"/>
                <a:ea typeface="+mn-ea"/>
              </a:rPr>
              <a:t>的主码 </a:t>
            </a:r>
            <a:r>
              <a:rPr lang="en-US" altLang="zh-CN" sz="1800" b="1" dirty="0">
                <a:latin typeface="+mn-lt"/>
                <a:ea typeface="+mn-ea"/>
              </a:rPr>
              <a:t>K</a:t>
            </a:r>
            <a:r>
              <a:rPr lang="zh-CN" altLang="en-US" sz="1800" b="1" dirty="0">
                <a:solidFill>
                  <a:schemeClr val="folHlink"/>
                </a:solidFill>
                <a:latin typeface="+mn-lt"/>
                <a:ea typeface="+mn-ea"/>
              </a:rPr>
              <a:t>相对应</a:t>
            </a:r>
            <a:r>
              <a:rPr lang="zh-CN" altLang="en-US" sz="1800" b="1" dirty="0">
                <a:latin typeface="+mn-lt"/>
                <a:ea typeface="+mn-ea"/>
              </a:rPr>
              <a:t>，则称</a:t>
            </a:r>
            <a:r>
              <a:rPr lang="en-US" altLang="zh-CN" sz="1800" b="1" dirty="0">
                <a:latin typeface="+mn-lt"/>
                <a:ea typeface="+mn-ea"/>
              </a:rPr>
              <a:t>F</a:t>
            </a:r>
            <a:r>
              <a:rPr lang="zh-CN" altLang="en-US" sz="1800" b="1" dirty="0">
                <a:latin typeface="+mn-lt"/>
                <a:ea typeface="+mn-ea"/>
              </a:rPr>
              <a:t>是</a:t>
            </a:r>
            <a:r>
              <a:rPr lang="en-US" altLang="zh-CN" sz="1800" b="1" dirty="0">
                <a:latin typeface="+mn-lt"/>
                <a:ea typeface="+mn-ea"/>
              </a:rPr>
              <a:t>R</a:t>
            </a:r>
            <a:r>
              <a:rPr lang="zh-CN" altLang="en-US" sz="1800" b="1" dirty="0">
                <a:latin typeface="+mn-lt"/>
                <a:ea typeface="+mn-ea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+mn-lt"/>
                <a:ea typeface="+mn-ea"/>
              </a:rPr>
              <a:t>外码</a:t>
            </a:r>
            <a:r>
              <a:rPr lang="zh-CN" altLang="en-US" sz="1800" b="1" dirty="0">
                <a:latin typeface="+mn-lt"/>
                <a:ea typeface="+mn-ea"/>
              </a:rPr>
              <a:t>。</a:t>
            </a:r>
          </a:p>
          <a:p>
            <a:pPr eaLnBrk="1" hangingPunct="1">
              <a:buSzTx/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+mn-lt"/>
                <a:ea typeface="+mn-ea"/>
              </a:rPr>
              <a:t>  并称</a:t>
            </a:r>
            <a:r>
              <a:rPr lang="en-US" altLang="zh-CN" sz="1800" b="1" dirty="0">
                <a:latin typeface="+mn-lt"/>
                <a:ea typeface="+mn-ea"/>
              </a:rPr>
              <a:t>R</a:t>
            </a:r>
            <a:r>
              <a:rPr lang="zh-CN" altLang="en-US" sz="1800" b="1" dirty="0">
                <a:latin typeface="+mn-lt"/>
                <a:ea typeface="+mn-ea"/>
              </a:rPr>
              <a:t>为</a:t>
            </a:r>
            <a:r>
              <a:rPr lang="zh-CN" altLang="en-US" sz="1800" b="1" dirty="0">
                <a:solidFill>
                  <a:srgbClr val="FF0000"/>
                </a:solidFill>
                <a:latin typeface="+mn-lt"/>
                <a:ea typeface="+mn-ea"/>
              </a:rPr>
              <a:t>参照关系</a:t>
            </a:r>
            <a:r>
              <a:rPr lang="zh-CN" altLang="en-US" sz="1800" b="1" dirty="0">
                <a:latin typeface="+mn-lt"/>
                <a:ea typeface="+mn-ea"/>
              </a:rPr>
              <a:t>（依赖表） ，</a:t>
            </a:r>
            <a:r>
              <a:rPr lang="en-US" altLang="zh-CN" sz="1800" b="1" dirty="0">
                <a:latin typeface="+mn-lt"/>
                <a:ea typeface="+mn-ea"/>
              </a:rPr>
              <a:t>S</a:t>
            </a:r>
            <a:r>
              <a:rPr lang="zh-CN" altLang="en-US" sz="1800" b="1" dirty="0">
                <a:latin typeface="+mn-lt"/>
                <a:ea typeface="+mn-ea"/>
              </a:rPr>
              <a:t>为</a:t>
            </a:r>
            <a:r>
              <a:rPr lang="zh-CN" altLang="en-US" sz="1800" b="1" dirty="0">
                <a:solidFill>
                  <a:srgbClr val="FF0000"/>
                </a:solidFill>
                <a:latin typeface="+mn-lt"/>
                <a:ea typeface="+mn-ea"/>
              </a:rPr>
              <a:t>被参照关系</a:t>
            </a:r>
            <a:r>
              <a:rPr lang="zh-CN" altLang="en-US" sz="1800" b="1" dirty="0">
                <a:latin typeface="+mn-lt"/>
                <a:ea typeface="+mn-ea"/>
              </a:rPr>
              <a:t>（目标表）。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r>
              <a:rPr lang="zh-CN" altLang="en-US" sz="1800" b="1" dirty="0">
                <a:solidFill>
                  <a:schemeClr val="folHlink"/>
                </a:solidFill>
                <a:latin typeface="+mn-lt"/>
                <a:ea typeface="+mn-ea"/>
              </a:rPr>
              <a:t>说明：</a:t>
            </a:r>
            <a:r>
              <a:rPr lang="en-US" altLang="zh-CN" sz="1800" b="1" dirty="0">
                <a:latin typeface="+mn-lt"/>
                <a:ea typeface="+mn-ea"/>
              </a:rPr>
              <a:t>S</a:t>
            </a:r>
            <a:r>
              <a:rPr lang="zh-CN" altLang="en-US" sz="1800" b="1" dirty="0">
                <a:latin typeface="+mn-lt"/>
                <a:ea typeface="+mn-ea"/>
              </a:rPr>
              <a:t>的主码</a:t>
            </a:r>
            <a:r>
              <a:rPr lang="en-US" altLang="zh-CN" sz="1800" b="1" dirty="0">
                <a:latin typeface="+mn-lt"/>
                <a:ea typeface="+mn-ea"/>
              </a:rPr>
              <a:t>K</a:t>
            </a:r>
            <a:r>
              <a:rPr lang="zh-CN" altLang="en-US" sz="1800" b="1" dirty="0">
                <a:latin typeface="+mn-lt"/>
                <a:ea typeface="+mn-ea"/>
              </a:rPr>
              <a:t>和</a:t>
            </a:r>
            <a:r>
              <a:rPr lang="en-US" altLang="zh-CN" sz="1800" b="1" dirty="0">
                <a:latin typeface="+mn-lt"/>
                <a:ea typeface="+mn-ea"/>
              </a:rPr>
              <a:t>R</a:t>
            </a:r>
            <a:r>
              <a:rPr lang="zh-CN" altLang="en-US" sz="1800" b="1" dirty="0">
                <a:latin typeface="+mn-lt"/>
                <a:ea typeface="+mn-ea"/>
              </a:rPr>
              <a:t>的外码</a:t>
            </a:r>
            <a:r>
              <a:rPr lang="en-US" altLang="zh-CN" sz="1800" b="1" dirty="0">
                <a:latin typeface="+mn-lt"/>
                <a:ea typeface="+mn-ea"/>
              </a:rPr>
              <a:t>F</a:t>
            </a:r>
            <a:r>
              <a:rPr lang="zh-CN" altLang="en-US" sz="1800" b="1" dirty="0">
                <a:latin typeface="+mn-lt"/>
                <a:ea typeface="+mn-ea"/>
              </a:rPr>
              <a:t>必须定义在同一个</a:t>
            </a:r>
            <a:r>
              <a:rPr lang="en-US" altLang="zh-CN" sz="1800" b="1" dirty="0">
                <a:latin typeface="+mn-lt"/>
                <a:ea typeface="+mn-ea"/>
              </a:rPr>
              <a:t>(</a:t>
            </a:r>
            <a:r>
              <a:rPr lang="zh-CN" altLang="en-US" sz="1800" b="1" dirty="0">
                <a:latin typeface="+mn-lt"/>
                <a:ea typeface="+mn-ea"/>
              </a:rPr>
              <a:t>或一组</a:t>
            </a:r>
            <a:r>
              <a:rPr lang="en-US" altLang="zh-CN" sz="1800" b="1" dirty="0">
                <a:latin typeface="+mn-lt"/>
                <a:ea typeface="+mn-ea"/>
              </a:rPr>
              <a:t>)</a:t>
            </a:r>
            <a:r>
              <a:rPr lang="zh-CN" altLang="en-US" sz="1800" b="1" dirty="0">
                <a:latin typeface="+mn-lt"/>
                <a:ea typeface="+mn-ea"/>
              </a:rPr>
              <a:t>域上。</a:t>
            </a: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zh-CN" altLang="en-US" sz="1800" b="1" dirty="0">
              <a:latin typeface="+mn-lt"/>
              <a:ea typeface="+mn-ea"/>
            </a:endParaRPr>
          </a:p>
          <a:p>
            <a:pPr eaLnBrk="1" hangingPunct="1">
              <a:buSzTx/>
              <a:buFont typeface="Wingdings" panose="05000000000000000000" pitchFamily="2" charset="2"/>
              <a:buChar char="§"/>
            </a:pPr>
            <a:endParaRPr lang="zh-CN" altLang="en-US" sz="1800" dirty="0">
              <a:latin typeface="+mn-lt"/>
              <a:ea typeface="+mn-ea"/>
            </a:endParaRPr>
          </a:p>
          <a:p>
            <a:pPr eaLnBrk="1" hangingPunct="1">
              <a:buSzPct val="60000"/>
            </a:pPr>
            <a:endParaRPr lang="en-US" altLang="zh-CN" sz="1800" dirty="0">
              <a:latin typeface="+mn-lt"/>
              <a:ea typeface="+mn-ea"/>
            </a:endParaRPr>
          </a:p>
        </p:txBody>
      </p:sp>
      <p:sp>
        <p:nvSpPr>
          <p:cNvPr id="29698" name="Rectangle 4"/>
          <p:cNvSpPr>
            <a:spLocks noGrp="1"/>
          </p:cNvSpPr>
          <p:nvPr>
            <p:ph sz="half" idx="4294967295"/>
          </p:nvPr>
        </p:nvSpPr>
        <p:spPr>
          <a:xfrm>
            <a:off x="228600" y="3662623"/>
            <a:ext cx="5143500" cy="1074737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+mn-lt"/>
                <a:ea typeface="+mn-ea"/>
              </a:rPr>
              <a:t>【</a:t>
            </a:r>
            <a:r>
              <a:rPr lang="zh-CN" altLang="en-US" sz="1800" b="1" dirty="0">
                <a:latin typeface="+mn-lt"/>
                <a:ea typeface="+mn-ea"/>
              </a:rPr>
              <a:t>例</a:t>
            </a:r>
            <a:r>
              <a:rPr lang="en-US" altLang="zh-CN" sz="1800" b="1" dirty="0">
                <a:latin typeface="+mn-lt"/>
                <a:ea typeface="+mn-ea"/>
              </a:rPr>
              <a:t>】</a:t>
            </a:r>
            <a:r>
              <a:rPr lang="zh-CN" altLang="en-US" sz="1800" b="1" dirty="0">
                <a:latin typeface="+mn-lt"/>
                <a:ea typeface="+mn-ea"/>
              </a:rPr>
              <a:t>学生</a:t>
            </a:r>
            <a:r>
              <a:rPr lang="en-US" altLang="zh-CN" sz="1800" b="1" dirty="0">
                <a:latin typeface="+mn-lt"/>
                <a:ea typeface="+mn-ea"/>
              </a:rPr>
              <a:t>(</a:t>
            </a:r>
            <a:r>
              <a:rPr lang="zh-CN" altLang="en-US" sz="1800" b="1" u="sng" dirty="0">
                <a:solidFill>
                  <a:schemeClr val="hlink"/>
                </a:solidFill>
                <a:latin typeface="+mn-lt"/>
                <a:ea typeface="+mn-ea"/>
              </a:rPr>
              <a:t>学号</a:t>
            </a:r>
            <a:r>
              <a:rPr lang="zh-CN" altLang="en-US" sz="1800" b="1" dirty="0">
                <a:latin typeface="+mn-lt"/>
                <a:ea typeface="+mn-ea"/>
              </a:rPr>
              <a:t>，姓名，性别，</a:t>
            </a:r>
            <a:r>
              <a:rPr lang="zh-CN" altLang="en-US" sz="1800" b="1" dirty="0">
                <a:solidFill>
                  <a:schemeClr val="folHlink"/>
                </a:solidFill>
                <a:latin typeface="+mn-lt"/>
                <a:ea typeface="+mn-ea"/>
              </a:rPr>
              <a:t>专业号</a:t>
            </a:r>
            <a:r>
              <a:rPr lang="zh-CN" altLang="en-US" sz="1800" b="1" dirty="0">
                <a:latin typeface="+mn-lt"/>
                <a:ea typeface="+mn-ea"/>
              </a:rPr>
              <a:t>，年龄</a:t>
            </a:r>
            <a:r>
              <a:rPr lang="en-US" altLang="zh-CN" sz="1800" b="1" dirty="0">
                <a:latin typeface="+mn-lt"/>
                <a:ea typeface="+mn-ea"/>
              </a:rPr>
              <a:t>)</a:t>
            </a:r>
          </a:p>
          <a:p>
            <a:pPr eaLnBrk="1" hangingPunct="1">
              <a:buSzPct val="60000"/>
            </a:pPr>
            <a:endParaRPr lang="en-US" altLang="zh-CN" sz="750" b="1" dirty="0">
              <a:latin typeface="+mn-lt"/>
              <a:ea typeface="+mn-ea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lang="zh-CN" altLang="en-US" sz="1800" b="1" dirty="0">
                <a:latin typeface="+mn-lt"/>
                <a:ea typeface="+mn-ea"/>
              </a:rPr>
              <a:t>          专业</a:t>
            </a:r>
            <a:r>
              <a:rPr lang="en-US" altLang="zh-CN" sz="1800" b="1" dirty="0">
                <a:latin typeface="+mn-lt"/>
                <a:ea typeface="+mn-ea"/>
              </a:rPr>
              <a:t>(</a:t>
            </a:r>
            <a:r>
              <a:rPr lang="zh-CN" altLang="en-US" sz="1800" b="1" u="sng" dirty="0">
                <a:solidFill>
                  <a:schemeClr val="hlink"/>
                </a:solidFill>
                <a:latin typeface="+mn-lt"/>
                <a:ea typeface="+mn-ea"/>
              </a:rPr>
              <a:t>专业号</a:t>
            </a:r>
            <a:r>
              <a:rPr lang="zh-CN" altLang="en-US" sz="1800" b="1" dirty="0">
                <a:latin typeface="+mn-lt"/>
                <a:ea typeface="+mn-ea"/>
              </a:rPr>
              <a:t>，专业名</a:t>
            </a:r>
            <a:r>
              <a:rPr lang="en-US" altLang="zh-CN" sz="1800" b="1" dirty="0">
                <a:latin typeface="+mn-lt"/>
                <a:ea typeface="+mn-ea"/>
              </a:rPr>
              <a:t>)</a:t>
            </a:r>
          </a:p>
          <a:p>
            <a:pPr eaLnBrk="1" hangingPunct="1">
              <a:buSzPct val="60000"/>
            </a:pPr>
            <a:endParaRPr lang="en-US" altLang="zh-CN" sz="1800" b="1" dirty="0">
              <a:latin typeface="+mn-lt"/>
              <a:ea typeface="+mn-ea"/>
            </a:endParaRPr>
          </a:p>
        </p:txBody>
      </p:sp>
      <p:pic>
        <p:nvPicPr>
          <p:cNvPr id="29699" name="Picture 5" descr="PE01682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695325"/>
            <a:ext cx="1371600" cy="12096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700" name="Group 6"/>
          <p:cNvGrpSpPr/>
          <p:nvPr/>
        </p:nvGrpSpPr>
        <p:grpSpPr>
          <a:xfrm>
            <a:off x="1989850" y="3883963"/>
            <a:ext cx="2171700" cy="571500"/>
            <a:chOff x="1680" y="3360"/>
            <a:chExt cx="1824" cy="480"/>
          </a:xfrm>
        </p:grpSpPr>
        <p:sp>
          <p:nvSpPr>
            <p:cNvPr id="29701" name="Line 7"/>
            <p:cNvSpPr/>
            <p:nvPr/>
          </p:nvSpPr>
          <p:spPr>
            <a:xfrm flipH="1">
              <a:off x="1680" y="3360"/>
              <a:ext cx="1440" cy="336"/>
            </a:xfrm>
            <a:prstGeom prst="line">
              <a:avLst/>
            </a:prstGeom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702" name="AutoShape 8"/>
            <p:cNvSpPr/>
            <p:nvPr/>
          </p:nvSpPr>
          <p:spPr>
            <a:xfrm>
              <a:off x="2832" y="3504"/>
              <a:ext cx="672" cy="336"/>
            </a:xfrm>
            <a:prstGeom prst="wedgeRoundRectCallout">
              <a:avLst>
                <a:gd name="adj1" fmla="val -98361"/>
                <a:gd name="adj2" fmla="val -46727"/>
                <a:gd name="adj3" fmla="val 16667"/>
              </a:avLst>
            </a:prstGeom>
            <a:solidFill>
              <a:srgbClr val="FFF1B5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ctr"/>
              <a:r>
                <a:rPr lang="zh-CN" altLang="en-US" dirty="0">
                  <a:latin typeface="Tahoma" panose="020B0604030504040204" pitchFamily="34" charset="0"/>
                  <a:ea typeface="宋体" panose="02010600030101010101" pitchFamily="2" charset="-122"/>
                </a:rPr>
                <a:t>引用</a:t>
              </a:r>
            </a:p>
          </p:txBody>
        </p:sp>
      </p:grpSp>
      <p:sp>
        <p:nvSpPr>
          <p:cNvPr id="29703" name="AutoShape 9"/>
          <p:cNvSpPr/>
          <p:nvPr/>
        </p:nvSpPr>
        <p:spPr>
          <a:xfrm>
            <a:off x="4579734" y="4199991"/>
            <a:ext cx="1266986" cy="447199"/>
          </a:xfrm>
          <a:prstGeom prst="leftArrow">
            <a:avLst>
              <a:gd name="adj1" fmla="val 50000"/>
              <a:gd name="adj2" fmla="val 51670"/>
            </a:avLst>
          </a:prstGeom>
          <a:solidFill>
            <a:srgbClr val="9BFFE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被参照关系</a:t>
            </a:r>
          </a:p>
        </p:txBody>
      </p:sp>
      <p:sp>
        <p:nvSpPr>
          <p:cNvPr id="29704" name="AutoShape 10"/>
          <p:cNvSpPr/>
          <p:nvPr/>
        </p:nvSpPr>
        <p:spPr>
          <a:xfrm>
            <a:off x="5065550" y="3568075"/>
            <a:ext cx="1266986" cy="467921"/>
          </a:xfrm>
          <a:prstGeom prst="leftArrow">
            <a:avLst>
              <a:gd name="adj1" fmla="val 50000"/>
              <a:gd name="adj2" fmla="val 51670"/>
            </a:avLst>
          </a:prstGeom>
          <a:solidFill>
            <a:srgbClr val="9BFFE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参照关系</a:t>
            </a:r>
          </a:p>
        </p:txBody>
      </p:sp>
      <p:sp>
        <p:nvSpPr>
          <p:cNvPr id="29705" name="AutoShape 11"/>
          <p:cNvSpPr/>
          <p:nvPr/>
        </p:nvSpPr>
        <p:spPr>
          <a:xfrm>
            <a:off x="4288020" y="3437198"/>
            <a:ext cx="567959" cy="227276"/>
          </a:xfrm>
          <a:prstGeom prst="wedgeRoundRectCallout">
            <a:avLst>
              <a:gd name="adj1" fmla="val -71463"/>
              <a:gd name="adj2" fmla="val 71435"/>
              <a:gd name="adj3" fmla="val 16667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12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外码</a:t>
            </a:r>
          </a:p>
        </p:txBody>
      </p:sp>
      <p:sp>
        <p:nvSpPr>
          <p:cNvPr id="29706" name="Text Box 12"/>
          <p:cNvSpPr txBox="1"/>
          <p:nvPr/>
        </p:nvSpPr>
        <p:spPr>
          <a:xfrm>
            <a:off x="7294400" y="3435831"/>
            <a:ext cx="179189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</a:pPr>
            <a:r>
              <a:rPr lang="en-US" altLang="zh-CN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参照完整性规则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定义了外码与主码之间的引用规则。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B5B5363-27E4-A358-6D24-556D68B1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参照完整性的定义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rtlCol="0" anchor="t" anchorCtr="0">
            <a:noAutofit/>
          </a:bodyPr>
          <a:lstStyle/>
          <a:p>
            <a:pPr marL="0" indent="0" eaLnBrk="1" hangingPunct="1">
              <a:lnSpc>
                <a:spcPct val="90000"/>
              </a:lnSpc>
              <a:buSzTx/>
              <a:buNone/>
            </a:pPr>
            <a:r>
              <a:rPr lang="zh-CN" altLang="en-US" sz="1800" dirty="0"/>
              <a:t>若属性</a:t>
            </a:r>
            <a:r>
              <a:rPr lang="en-US" altLang="zh-CN" sz="1800" dirty="0"/>
              <a:t>(</a:t>
            </a:r>
            <a:r>
              <a:rPr lang="zh-CN" altLang="en-US" sz="1800" dirty="0"/>
              <a:t>组</a:t>
            </a:r>
            <a:r>
              <a:rPr lang="en-US" altLang="zh-CN" sz="1800" dirty="0"/>
              <a:t>) F</a:t>
            </a:r>
            <a:r>
              <a:rPr lang="zh-CN" altLang="en-US" sz="1800" dirty="0"/>
              <a:t>是</a:t>
            </a:r>
            <a:r>
              <a:rPr lang="en-US" altLang="zh-CN" sz="1800" dirty="0"/>
              <a:t>R</a:t>
            </a:r>
            <a:r>
              <a:rPr lang="zh-CN" altLang="en-US" sz="1800" dirty="0"/>
              <a:t>的外码它与</a:t>
            </a:r>
            <a:r>
              <a:rPr lang="en-US" altLang="zh-CN" sz="1800" dirty="0"/>
              <a:t>S</a:t>
            </a:r>
            <a:r>
              <a:rPr lang="zh-CN" altLang="en-US" sz="1800" dirty="0"/>
              <a:t>的主码</a:t>
            </a:r>
            <a:r>
              <a:rPr lang="en-US" altLang="zh-CN" sz="1800" dirty="0"/>
              <a:t>K</a:t>
            </a:r>
            <a:r>
              <a:rPr lang="zh-CN" altLang="en-US" sz="1800" dirty="0"/>
              <a:t>相对应，则对于</a:t>
            </a:r>
            <a:r>
              <a:rPr lang="en-US" altLang="zh-CN" sz="1800" dirty="0"/>
              <a:t>R</a:t>
            </a:r>
            <a:r>
              <a:rPr lang="zh-CN" altLang="en-US" sz="1800" dirty="0"/>
              <a:t>中每个元组在</a:t>
            </a:r>
            <a:r>
              <a:rPr lang="en-US" altLang="zh-CN" sz="1800" dirty="0"/>
              <a:t>F</a:t>
            </a:r>
            <a:r>
              <a:rPr lang="zh-CN" altLang="en-US" sz="1800" dirty="0"/>
              <a:t>上的值必须为：</a:t>
            </a:r>
          </a:p>
          <a:p>
            <a:pPr lvl="1" eaLnBrk="1" hangingPunct="1">
              <a:lnSpc>
                <a:spcPct val="90000"/>
              </a:lnSpc>
              <a:buSzTx/>
              <a:buFont typeface="Wingdings" panose="05000000000000000000" pitchFamily="2" charset="2"/>
              <a:buChar char="§"/>
            </a:pPr>
            <a:r>
              <a:rPr lang="zh-CN" altLang="en-US" sz="1800" dirty="0"/>
              <a:t> 或者取空值</a:t>
            </a:r>
            <a:r>
              <a:rPr lang="en-US" altLang="zh-CN" sz="1800" dirty="0"/>
              <a:t>(F</a:t>
            </a:r>
            <a:r>
              <a:rPr lang="zh-CN" altLang="en-US" sz="1800" dirty="0"/>
              <a:t>的每个属性值均为空值</a:t>
            </a:r>
            <a:r>
              <a:rPr lang="en-US" altLang="zh-CN" sz="1800" dirty="0"/>
              <a:t>)</a:t>
            </a:r>
            <a:r>
              <a:rPr lang="zh-CN" altLang="en-US" sz="1800" dirty="0"/>
              <a:t>；</a:t>
            </a:r>
          </a:p>
          <a:p>
            <a:pPr lvl="1" eaLnBrk="1" hangingPunct="1">
              <a:lnSpc>
                <a:spcPct val="90000"/>
              </a:lnSpc>
              <a:buSzTx/>
              <a:buFont typeface="Wingdings" panose="05000000000000000000" pitchFamily="2" charset="2"/>
              <a:buChar char="§"/>
            </a:pPr>
            <a:r>
              <a:rPr lang="zh-CN" altLang="en-US" sz="1800" dirty="0"/>
              <a:t> 或者等于</a:t>
            </a:r>
            <a:r>
              <a:rPr lang="en-US" altLang="zh-CN" sz="1800" dirty="0"/>
              <a:t>S</a:t>
            </a:r>
            <a:r>
              <a:rPr lang="zh-CN" altLang="en-US" sz="1800" dirty="0"/>
              <a:t>中某个元组的主码值。</a:t>
            </a:r>
          </a:p>
          <a:p>
            <a:pPr eaLnBrk="1" hangingPunct="1"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r>
              <a:rPr lang="zh-CN" altLang="en-US" sz="1800" dirty="0"/>
              <a:t>   </a:t>
            </a:r>
          </a:p>
          <a:p>
            <a:pPr eaLnBrk="1" hangingPunct="1"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eaLnBrk="1" hangingPunct="1"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1800" dirty="0"/>
              <a:t>【</a:t>
            </a:r>
            <a:r>
              <a:rPr lang="zh-CN" altLang="en-US" sz="1800" dirty="0"/>
              <a:t>例</a:t>
            </a:r>
            <a:r>
              <a:rPr lang="en-US" altLang="zh-CN" sz="1800" dirty="0"/>
              <a:t>】</a:t>
            </a:r>
            <a:r>
              <a:rPr lang="zh-CN" altLang="en-US" sz="1800" dirty="0"/>
              <a:t>学生</a:t>
            </a:r>
            <a:r>
              <a:rPr lang="en-US" altLang="zh-CN" sz="1800" dirty="0"/>
              <a:t>(</a:t>
            </a:r>
            <a:r>
              <a:rPr lang="zh-CN" altLang="en-US" sz="1800" u="sng" dirty="0"/>
              <a:t>学号</a:t>
            </a:r>
            <a:r>
              <a:rPr lang="zh-CN" altLang="en-US" sz="1800" dirty="0"/>
              <a:t>，姓名，性别，</a:t>
            </a:r>
            <a:r>
              <a:rPr lang="zh-CN" altLang="en-US" sz="1800" dirty="0">
                <a:solidFill>
                  <a:schemeClr val="hlink"/>
                </a:solidFill>
              </a:rPr>
              <a:t>专业号</a:t>
            </a:r>
            <a:r>
              <a:rPr lang="zh-CN" altLang="en-US" sz="1800" dirty="0"/>
              <a:t>，年龄</a:t>
            </a:r>
            <a:r>
              <a:rPr lang="en-US" altLang="zh-CN" sz="1800" dirty="0"/>
              <a:t>)</a:t>
            </a:r>
          </a:p>
          <a:p>
            <a:pPr eaLnBrk="1" hangingPunct="1"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r>
              <a:rPr lang="en-US" altLang="zh-CN" sz="1800" dirty="0"/>
              <a:t>   </a:t>
            </a:r>
            <a:r>
              <a:rPr lang="zh-CN" altLang="en-US" sz="1800" dirty="0"/>
              <a:t>关系中每个元组的专业号取值：</a:t>
            </a:r>
          </a:p>
          <a:p>
            <a:pPr eaLnBrk="1" hangingPunct="1"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r>
              <a:rPr lang="zh-CN" altLang="en-US" sz="1800" dirty="0"/>
              <a:t>   </a:t>
            </a:r>
            <a:r>
              <a:rPr lang="zh-CN" altLang="en-US" sz="1800" dirty="0">
                <a:solidFill>
                  <a:srgbClr val="000000"/>
                </a:solidFill>
              </a:rPr>
              <a:t>① </a:t>
            </a:r>
            <a:r>
              <a:rPr lang="zh-CN" altLang="en-US" sz="1800" dirty="0"/>
              <a:t>空值</a:t>
            </a:r>
            <a:r>
              <a:rPr lang="en-US" altLang="zh-CN" sz="1800" dirty="0"/>
              <a:t>(</a:t>
            </a:r>
            <a:r>
              <a:rPr lang="zh-CN" altLang="en-US" sz="1800" dirty="0"/>
              <a:t>未给该学生分配专业</a:t>
            </a:r>
            <a:r>
              <a:rPr lang="en-US" altLang="zh-CN" sz="1800" dirty="0"/>
              <a:t>)</a:t>
            </a:r>
            <a:r>
              <a:rPr lang="zh-CN" altLang="en-US" sz="1800" dirty="0"/>
              <a:t>；</a:t>
            </a:r>
          </a:p>
          <a:p>
            <a:pPr eaLnBrk="1" hangingPunct="1">
              <a:lnSpc>
                <a:spcPct val="90000"/>
              </a:lnSpc>
              <a:buSzTx/>
              <a:buFont typeface="Wingdings" panose="05000000000000000000" pitchFamily="2" charset="2"/>
              <a:buNone/>
            </a:pPr>
            <a:r>
              <a:rPr lang="zh-CN" altLang="en-US" sz="1800" dirty="0"/>
              <a:t>   </a:t>
            </a:r>
            <a:r>
              <a:rPr lang="zh-CN" altLang="en-US" sz="1800" dirty="0">
                <a:solidFill>
                  <a:srgbClr val="000000"/>
                </a:solidFill>
              </a:rPr>
              <a:t>② </a:t>
            </a:r>
            <a:r>
              <a:rPr lang="zh-CN" altLang="en-US" sz="1800" dirty="0"/>
              <a:t>非空值</a:t>
            </a:r>
            <a:r>
              <a:rPr lang="en-US" altLang="zh-CN" sz="1800" dirty="0"/>
              <a:t>(</a:t>
            </a:r>
            <a:r>
              <a:rPr lang="zh-CN" altLang="en-US" sz="1800" dirty="0"/>
              <a:t>是专业关系中某个元组的专业号值</a:t>
            </a:r>
            <a:r>
              <a:rPr lang="en-US" altLang="zh-CN" sz="1800" dirty="0"/>
              <a:t>)</a:t>
            </a:r>
            <a:r>
              <a:rPr lang="zh-CN" altLang="en-US" sz="1800" dirty="0"/>
              <a:t>。</a:t>
            </a:r>
          </a:p>
        </p:txBody>
      </p:sp>
      <p:pic>
        <p:nvPicPr>
          <p:cNvPr id="30722" name="Picture 5" descr="BD06711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456" y="2685082"/>
            <a:ext cx="1318022" cy="12203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F5B4B119-9149-DC43-7253-C39D801E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参照完整性规则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6"/>
          <p:cNvSpPr/>
          <p:nvPr/>
        </p:nvSpPr>
        <p:spPr>
          <a:xfrm>
            <a:off x="711142" y="1362302"/>
            <a:ext cx="7665692" cy="14228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30000"/>
              </a:spcBef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用户自定义完整性是针对某一具体数据的约束条件，反映某一具体应用所涉及的数据必须满足的语义要求，由应用环境决定。一经定义，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DBMS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会自动检查，从而不必在应用程序中作检查。</a:t>
            </a:r>
          </a:p>
        </p:txBody>
      </p: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1605028" y="3315955"/>
            <a:ext cx="5397104" cy="10618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【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例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】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属性的取值范围        属性的非空限制</a:t>
            </a:r>
          </a:p>
          <a:p>
            <a:pPr marL="622300" indent="-622300" defTabSz="68580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kern="0" dirty="0">
                <a:solidFill>
                  <a:srgbClr val="00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" panose="02010609060101010101" pitchFamily="49" charset="-122"/>
                <a:sym typeface="+mn-ea"/>
              </a:rPr>
              <a:t>【</a:t>
            </a:r>
            <a:r>
              <a:rPr lang="zh-CN" altLang="en-US" kern="0" dirty="0">
                <a:solidFill>
                  <a:srgbClr val="00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" panose="02010609060101010101" pitchFamily="49" charset="-122"/>
                <a:sym typeface="+mn-ea"/>
              </a:rPr>
              <a:t>例</a:t>
            </a:r>
            <a:r>
              <a:rPr lang="en-US" altLang="zh-CN" kern="0" dirty="0">
                <a:solidFill>
                  <a:srgbClr val="00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" panose="02010609060101010101" pitchFamily="49" charset="-122"/>
                <a:sym typeface="+mn-ea"/>
              </a:rPr>
              <a:t>】</a:t>
            </a:r>
            <a:r>
              <a:rPr lang="zh-CN" altLang="en-US" kern="0" dirty="0">
                <a:solidFill>
                  <a:srgbClr val="0066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楷体" panose="02010609060101010101" pitchFamily="49" charset="-122"/>
                <a:sym typeface="+mn-ea"/>
              </a:rPr>
              <a:t>   </a:t>
            </a:r>
            <a:r>
              <a:rPr lang="zh-CN" altLang="en-US" kern="0" dirty="0">
                <a:latin typeface="Microsoft YaHei" panose="020B0503020204020204" pitchFamily="34" charset="-122"/>
                <a:ea typeface="Microsoft YaHei" panose="020B0503020204020204" pitchFamily="34" charset="-122"/>
                <a:cs typeface="楷体" panose="02010609060101010101" pitchFamily="49" charset="-122"/>
                <a:sym typeface="+mn-ea"/>
              </a:rPr>
              <a:t>学生关系中的年龄在15~45之间，选修关系中的成绩在0~100之间。</a:t>
            </a:r>
            <a:endParaRPr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3EB306C-8CE0-BAEF-09B4-B27BE9F1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用户定义的完整性</a:t>
            </a: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4C617-46E0-309F-BAF1-C4CA1B1B7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关系模型的特点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3FBC3E-6462-99E6-FD83-6C6C20272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kern="0" dirty="0">
                <a:latin typeface="宋体" panose="02010600030101010101" pitchFamily="2" charset="-122"/>
              </a:rPr>
              <a:t>结构简单，表达力强</a:t>
            </a:r>
            <a:r>
              <a:rPr lang="zh-CN" altLang="en-US" b="1" kern="0" dirty="0">
                <a:solidFill>
                  <a:schemeClr val="folHlink"/>
                </a:solidFill>
                <a:latin typeface="宋体" panose="02010600030101010101" pitchFamily="2" charset="-122"/>
              </a:rPr>
              <a:t> </a:t>
            </a:r>
            <a:endParaRPr lang="en-US" altLang="zh-CN" b="1" kern="0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b="1" kern="0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kern="0" dirty="0">
                <a:latin typeface="宋体" panose="02010600030101010101" pitchFamily="2" charset="-122"/>
              </a:rPr>
              <a:t>语言的一体化 </a:t>
            </a:r>
            <a:endParaRPr lang="en-US" altLang="zh-CN" b="1" kern="0" dirty="0">
              <a:latin typeface="宋体" panose="02010600030101010101" pitchFamily="2" charset="-122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b="1" kern="0" dirty="0">
              <a:latin typeface="宋体" panose="02010600030101010101" pitchFamily="2" charset="-122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kern="0" dirty="0">
                <a:latin typeface="宋体" panose="02010600030101010101" pitchFamily="2" charset="-122"/>
              </a:rPr>
              <a:t>非过程化的操作 </a:t>
            </a:r>
            <a:endParaRPr lang="en-US" altLang="zh-CN" b="1" kern="0" dirty="0">
              <a:latin typeface="宋体" panose="02010600030101010101" pitchFamily="2" charset="-122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b="1" kern="0" dirty="0">
              <a:latin typeface="宋体" panose="02010600030101010101" pitchFamily="2" charset="-122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kern="0" dirty="0">
                <a:latin typeface="宋体" panose="02010600030101010101" pitchFamily="2" charset="-122"/>
              </a:rPr>
              <a:t>坚实的数学基础 </a:t>
            </a:r>
          </a:p>
        </p:txBody>
      </p:sp>
    </p:spTree>
    <p:extLst>
      <p:ext uri="{BB962C8B-B14F-4D97-AF65-F5344CB8AC3E}">
        <p14:creationId xmlns:p14="http://schemas.microsoft.com/office/powerpoint/2010/main" val="3189465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840F-E8F3-AE62-2BA0-A07094E7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40EDB3-B849-A762-D3D5-450FCE04D241}"/>
              </a:ext>
            </a:extLst>
          </p:cNvPr>
          <p:cNvSpPr txBox="1"/>
          <p:nvPr/>
        </p:nvSpPr>
        <p:spPr>
          <a:xfrm>
            <a:off x="1006545" y="2781596"/>
            <a:ext cx="7458075" cy="64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zh-CN" altLang="en-US" sz="4346" b="1" dirty="0">
                <a:solidFill>
                  <a:srgbClr val="4141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关系代数</a:t>
            </a:r>
            <a:endParaRPr lang="en-US" sz="4346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87E227-BFE4-4E66-2D6E-A24BC9D81191}"/>
              </a:ext>
            </a:extLst>
          </p:cNvPr>
          <p:cNvSpPr/>
          <p:nvPr/>
        </p:nvSpPr>
        <p:spPr>
          <a:xfrm>
            <a:off x="1006545" y="1145447"/>
            <a:ext cx="1266735" cy="1112002"/>
          </a:xfrm>
          <a:custGeom>
            <a:avLst/>
            <a:gdLst/>
            <a:ahLst/>
            <a:cxnLst/>
            <a:rect l="l" t="t" r="r" b="b"/>
            <a:pathLst>
              <a:path w="1266735" h="1112002">
                <a:moveTo>
                  <a:pt x="0" y="0"/>
                </a:moveTo>
                <a:lnTo>
                  <a:pt x="1266735" y="0"/>
                </a:lnTo>
                <a:lnTo>
                  <a:pt x="1266735" y="1112002"/>
                </a:lnTo>
                <a:lnTo>
                  <a:pt x="0" y="1112002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AA29D1-1DA2-1B61-E88F-107E8E4A7A44}"/>
              </a:ext>
            </a:extLst>
          </p:cNvPr>
          <p:cNvSpPr txBox="1"/>
          <p:nvPr/>
        </p:nvSpPr>
        <p:spPr>
          <a:xfrm>
            <a:off x="861243" y="1476441"/>
            <a:ext cx="1557338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" altLang="en-US" sz="315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PART</a:t>
            </a:r>
            <a:endParaRPr lang="en-US" sz="455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863DE3-AF37-327F-7560-93DFBC0C09B3}"/>
              </a:ext>
            </a:extLst>
          </p:cNvPr>
          <p:cNvSpPr/>
          <p:nvPr/>
        </p:nvSpPr>
        <p:spPr>
          <a:xfrm>
            <a:off x="0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F98313-B697-B326-ADFA-AFD1EEBAB9F0}"/>
              </a:ext>
            </a:extLst>
          </p:cNvPr>
          <p:cNvSpPr/>
          <p:nvPr/>
        </p:nvSpPr>
        <p:spPr>
          <a:xfrm>
            <a:off x="2289867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C2A6FCC-BF16-0229-040D-71DA8E6F9DDE}"/>
              </a:ext>
            </a:extLst>
          </p:cNvPr>
          <p:cNvSpPr/>
          <p:nvPr/>
        </p:nvSpPr>
        <p:spPr>
          <a:xfrm>
            <a:off x="4562321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E1DB27F-E620-EB17-9F33-E58AF882C163}"/>
              </a:ext>
            </a:extLst>
          </p:cNvPr>
          <p:cNvSpPr/>
          <p:nvPr/>
        </p:nvSpPr>
        <p:spPr>
          <a:xfrm>
            <a:off x="6852188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B8D6270-98DA-1E40-ED5D-0316F6A12DF2}"/>
              </a:ext>
            </a:extLst>
          </p:cNvPr>
          <p:cNvSpPr/>
          <p:nvPr/>
        </p:nvSpPr>
        <p:spPr>
          <a:xfrm>
            <a:off x="0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B7B77AA-F080-D425-41E3-C29B70A39B7C}"/>
              </a:ext>
            </a:extLst>
          </p:cNvPr>
          <p:cNvSpPr/>
          <p:nvPr/>
        </p:nvSpPr>
        <p:spPr>
          <a:xfrm>
            <a:off x="2289867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E1C2B86-FA01-D666-D4A2-C536F5830F18}"/>
              </a:ext>
            </a:extLst>
          </p:cNvPr>
          <p:cNvSpPr/>
          <p:nvPr/>
        </p:nvSpPr>
        <p:spPr>
          <a:xfrm>
            <a:off x="4562321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CCB6021-701A-53F6-20DC-39B34603F843}"/>
              </a:ext>
            </a:extLst>
          </p:cNvPr>
          <p:cNvSpPr/>
          <p:nvPr/>
        </p:nvSpPr>
        <p:spPr>
          <a:xfrm>
            <a:off x="6852188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61E705-B1BC-E8B5-C84E-EF0D67D6C480}"/>
              </a:ext>
            </a:extLst>
          </p:cNvPr>
          <p:cNvSpPr/>
          <p:nvPr/>
        </p:nvSpPr>
        <p:spPr>
          <a:xfrm>
            <a:off x="7336119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51C2CAC-C54D-DAB9-DEE5-9A00CC140E93}"/>
              </a:ext>
            </a:extLst>
          </p:cNvPr>
          <p:cNvSpPr/>
          <p:nvPr/>
        </p:nvSpPr>
        <p:spPr>
          <a:xfrm>
            <a:off x="7573491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746C622-564E-0914-3217-9AF4EEC46EAD}"/>
              </a:ext>
            </a:extLst>
          </p:cNvPr>
          <p:cNvSpPr/>
          <p:nvPr/>
        </p:nvSpPr>
        <p:spPr>
          <a:xfrm>
            <a:off x="7810862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C1601DF-705F-223F-9803-AD912DD1192A}"/>
              </a:ext>
            </a:extLst>
          </p:cNvPr>
          <p:cNvSpPr/>
          <p:nvPr/>
        </p:nvSpPr>
        <p:spPr>
          <a:xfrm>
            <a:off x="8048233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126D15C-B4A5-9F76-6045-A72A189118A2}"/>
              </a:ext>
            </a:extLst>
          </p:cNvPr>
          <p:cNvSpPr txBox="1"/>
          <p:nvPr/>
        </p:nvSpPr>
        <p:spPr>
          <a:xfrm>
            <a:off x="2716533" y="1294012"/>
            <a:ext cx="846327" cy="8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0</a:t>
            </a:r>
            <a:r>
              <a:rPr lang="en-US" altLang="zh-CN" sz="525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3</a:t>
            </a:r>
            <a:endParaRPr lang="en-US" sz="52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56743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文本框 272386"/>
          <p:cNvSpPr txBox="1"/>
          <p:nvPr/>
        </p:nvSpPr>
        <p:spPr>
          <a:xfrm>
            <a:off x="1277542" y="2680097"/>
            <a:ext cx="1620440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关系数据语言</a:t>
            </a:r>
          </a:p>
        </p:txBody>
      </p:sp>
      <p:sp>
        <p:nvSpPr>
          <p:cNvPr id="32770" name="文本框 272387"/>
          <p:cNvSpPr txBox="1"/>
          <p:nvPr/>
        </p:nvSpPr>
        <p:spPr>
          <a:xfrm>
            <a:off x="3059907" y="1600200"/>
            <a:ext cx="3132535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关系代数语言  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ISBL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2771" name="文本框 272388"/>
          <p:cNvSpPr txBox="1"/>
          <p:nvPr/>
        </p:nvSpPr>
        <p:spPr>
          <a:xfrm>
            <a:off x="3059906" y="2680097"/>
            <a:ext cx="1620441" cy="36933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关系演算语言</a:t>
            </a:r>
          </a:p>
        </p:txBody>
      </p:sp>
      <p:sp>
        <p:nvSpPr>
          <p:cNvPr id="32772" name="文本框 272389"/>
          <p:cNvSpPr txBox="1"/>
          <p:nvPr/>
        </p:nvSpPr>
        <p:spPr>
          <a:xfrm>
            <a:off x="3059906" y="3975497"/>
            <a:ext cx="4725591" cy="6463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具有关系代数和关系演算双重特点的语言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SQL</a:t>
            </a:r>
          </a:p>
        </p:txBody>
      </p:sp>
      <p:sp>
        <p:nvSpPr>
          <p:cNvPr id="32773" name="文本框 272390"/>
          <p:cNvSpPr txBox="1"/>
          <p:nvPr/>
        </p:nvSpPr>
        <p:spPr>
          <a:xfrm>
            <a:off x="4950619" y="2356248"/>
            <a:ext cx="2268141" cy="6463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元组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关系演算语言（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ALPHA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QUEL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2774" name="文本框 272391"/>
          <p:cNvSpPr txBox="1"/>
          <p:nvPr/>
        </p:nvSpPr>
        <p:spPr>
          <a:xfrm>
            <a:off x="4950619" y="3003947"/>
            <a:ext cx="2052638" cy="646331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域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关系演算语言（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QBE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32775" name="左大括号 272392"/>
          <p:cNvSpPr/>
          <p:nvPr/>
        </p:nvSpPr>
        <p:spPr>
          <a:xfrm>
            <a:off x="2789635" y="1653779"/>
            <a:ext cx="216694" cy="2483644"/>
          </a:xfrm>
          <a:prstGeom prst="leftBrace">
            <a:avLst>
              <a:gd name="adj1" fmla="val 94876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776" name="左大括号 272393"/>
          <p:cNvSpPr/>
          <p:nvPr/>
        </p:nvSpPr>
        <p:spPr>
          <a:xfrm>
            <a:off x="4625579" y="2463404"/>
            <a:ext cx="161925" cy="810815"/>
          </a:xfrm>
          <a:prstGeom prst="leftBrace">
            <a:avLst>
              <a:gd name="adj1" fmla="val 41449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7121B8F-0C74-20FD-C22C-D187DF95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关系数据语言的分类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2"/>
          <p:cNvSpPr txBox="1"/>
          <p:nvPr/>
        </p:nvSpPr>
        <p:spPr>
          <a:xfrm>
            <a:off x="840107" y="1214679"/>
            <a:ext cx="7463785" cy="286232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关系代数、元组关系演算和域关系演算三种语言在表达能力上是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完全等价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的。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关系代数、元组关系演算和域关系演算都是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抽象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的查询语言，与实际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DBMS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中实现的语言（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SQL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）不完全一样，可以用来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评估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实际系统中查询语言的能力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57175" indent="-257175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关系数据语言共同特点：完备的表达能力、非过程化、功能强且有多种使用方式。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CD8051F-E096-56F4-EF7A-1BE68615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关系数据语言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69B311-5835-4276-D0E7-79A80612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关系代数</a:t>
            </a:r>
          </a:p>
        </p:txBody>
      </p:sp>
      <p:sp>
        <p:nvSpPr>
          <p:cNvPr id="34817" name="文本占位符 353282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anchor="t" anchorCtr="0"/>
          <a:lstStyle/>
          <a:p>
            <a:pPr algn="just">
              <a:lnSpc>
                <a:spcPct val="150000"/>
              </a:lnSpc>
              <a:buNone/>
            </a:pPr>
            <a:r>
              <a:rPr lang="en-US" altLang="zh-CN" sz="1800" b="1" dirty="0"/>
              <a:t>1.</a:t>
            </a:r>
            <a:r>
              <a:rPr lang="zh-CN" altLang="en-US" sz="1800" b="1" dirty="0"/>
              <a:t>关系代数</a:t>
            </a:r>
          </a:p>
          <a:p>
            <a:pPr algn="just">
              <a:lnSpc>
                <a:spcPct val="150000"/>
              </a:lnSpc>
              <a:buNone/>
            </a:pPr>
            <a:r>
              <a:rPr lang="zh-CN" altLang="en-US" sz="1500" dirty="0"/>
              <a:t>一种</a:t>
            </a:r>
            <a:r>
              <a:rPr lang="zh-CN" altLang="en-US" sz="1500" dirty="0">
                <a:solidFill>
                  <a:srgbClr val="FF0000"/>
                </a:solidFill>
              </a:rPr>
              <a:t>抽象</a:t>
            </a:r>
            <a:r>
              <a:rPr lang="zh-CN" altLang="en-US" sz="1500" dirty="0"/>
              <a:t>的查询语言</a:t>
            </a:r>
          </a:p>
          <a:p>
            <a:pPr algn="just">
              <a:lnSpc>
                <a:spcPct val="150000"/>
              </a:lnSpc>
              <a:buNone/>
            </a:pPr>
            <a:r>
              <a:rPr lang="zh-CN" altLang="en-US" sz="1500" dirty="0"/>
              <a:t>用对</a:t>
            </a:r>
            <a:r>
              <a:rPr lang="zh-CN" altLang="en-US" sz="1500" dirty="0">
                <a:solidFill>
                  <a:srgbClr val="FF0000"/>
                </a:solidFill>
              </a:rPr>
              <a:t>关系的运算</a:t>
            </a:r>
            <a:r>
              <a:rPr lang="zh-CN" altLang="en-US" sz="1500" dirty="0"/>
              <a:t>来表达查询</a:t>
            </a:r>
          </a:p>
          <a:p>
            <a:pPr>
              <a:buNone/>
            </a:pPr>
            <a:endParaRPr lang="zh-CN" altLang="en-US" sz="1500" dirty="0"/>
          </a:p>
        </p:txBody>
      </p:sp>
      <p:pic>
        <p:nvPicPr>
          <p:cNvPr id="34818" name="图片 353283" descr="BS00823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9" y="3148170"/>
            <a:ext cx="2000250" cy="170378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0" name="文本占位符 354306"/>
          <p:cNvSpPr>
            <a:spLocks noGrp="1"/>
          </p:cNvSpPr>
          <p:nvPr/>
        </p:nvSpPr>
        <p:spPr>
          <a:xfrm>
            <a:off x="3311631" y="1639672"/>
            <a:ext cx="4214813" cy="214669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 algn="just">
              <a:lnSpc>
                <a:spcPct val="150000"/>
              </a:lnSpc>
              <a:spcBef>
                <a:spcPct val="20000"/>
              </a:spcBef>
              <a:buClr>
                <a:srgbClr val="7F7F7F"/>
              </a:buClr>
              <a:buFont typeface="Wingdings" panose="05000000000000000000" pitchFamily="2" charset="2"/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．关系代数运算的三个要素</a:t>
            </a:r>
          </a:p>
          <a:p>
            <a:pPr marL="557213" lvl="1" indent="-214313"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运算对象：关系</a:t>
            </a:r>
          </a:p>
          <a:p>
            <a:pPr marL="557213" lvl="1" indent="-214313"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运算结果：关系</a:t>
            </a:r>
          </a:p>
          <a:p>
            <a:pPr marL="557213" lvl="1" indent="-214313" algn="just">
              <a:lnSpc>
                <a:spcPct val="150000"/>
              </a:lnSpc>
              <a:spcBef>
                <a:spcPct val="20000"/>
              </a:spcBef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运算符：四类</a:t>
            </a:r>
          </a:p>
        </p:txBody>
      </p:sp>
      <p:sp>
        <p:nvSpPr>
          <p:cNvPr id="34821" name="文本占位符 355330"/>
          <p:cNvSpPr>
            <a:spLocks noGrp="1"/>
          </p:cNvSpPr>
          <p:nvPr/>
        </p:nvSpPr>
        <p:spPr>
          <a:xfrm>
            <a:off x="5122191" y="2286181"/>
            <a:ext cx="3851327" cy="2361009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lstStyle/>
          <a:p>
            <a:pPr marL="557213" lvl="1" indent="-214313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集合运算符</a:t>
            </a:r>
          </a:p>
          <a:p>
            <a:pPr marL="857250" lvl="2" indent="-17145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将关系看成元组的集合</a:t>
            </a:r>
          </a:p>
          <a:p>
            <a:pPr marL="857250" lvl="2" indent="-17145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运算是从关系的“水平”方向即行的角度来进行</a:t>
            </a:r>
            <a:endParaRPr lang="zh-CN" altLang="en-US" sz="15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557213" lvl="1" indent="-214313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专门的关系运算符</a:t>
            </a:r>
          </a:p>
          <a:p>
            <a:pPr marL="857250" lvl="2" indent="-17145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不仅涉及行而且涉及列</a:t>
            </a:r>
          </a:p>
          <a:p>
            <a:pPr marL="557213" lvl="1" indent="-214313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算术比较符</a:t>
            </a:r>
          </a:p>
          <a:p>
            <a:pPr marL="857250" lvl="2" indent="-17145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辅助专门的关系运算符进行操作</a:t>
            </a:r>
          </a:p>
          <a:p>
            <a:pPr marL="557213" lvl="1" indent="-214313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5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逻辑运算符</a:t>
            </a:r>
          </a:p>
          <a:p>
            <a:pPr marL="857250" lvl="2" indent="-171450" algn="just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13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辅助专门的关系运算符进行操作</a:t>
            </a:r>
          </a:p>
        </p:txBody>
      </p:sp>
      <p:sp>
        <p:nvSpPr>
          <p:cNvPr id="34822" name="左大括号 272392"/>
          <p:cNvSpPr/>
          <p:nvPr/>
        </p:nvSpPr>
        <p:spPr>
          <a:xfrm>
            <a:off x="5199963" y="2382622"/>
            <a:ext cx="216694" cy="2107406"/>
          </a:xfrm>
          <a:prstGeom prst="leftBrace">
            <a:avLst>
              <a:gd name="adj1" fmla="val 94911"/>
              <a:gd name="adj2" fmla="val 39991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6370" name="表格 356369"/>
              <p:cNvGraphicFramePr/>
              <p:nvPr>
                <p:extLst>
                  <p:ext uri="{D42A27DB-BD31-4B8C-83A1-F6EECF244321}">
                    <p14:modId xmlns:p14="http://schemas.microsoft.com/office/powerpoint/2010/main" val="1964000321"/>
                  </p:ext>
                </p:extLst>
              </p:nvPr>
            </p:nvGraphicFramePr>
            <p:xfrm>
              <a:off x="989938" y="1239252"/>
              <a:ext cx="7179591" cy="3289300"/>
            </p:xfrm>
            <a:graphic>
              <a:graphicData uri="http://schemas.openxmlformats.org/drawingml/2006/table">
                <a:tbl>
                  <a:tblPr/>
                  <a:tblGrid>
                    <a:gridCol w="9735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3548">
                      <a:extLst>
                        <a:ext uri="{9D8B030D-6E8A-4147-A177-3AD203B41FA5}">
                          <a16:colId xmlns:a16="http://schemas.microsoft.com/office/drawing/2014/main" val="1927629628"/>
                        </a:ext>
                      </a:extLst>
                    </a:gridCol>
                    <a:gridCol w="15853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2042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0421">
                      <a:extLst>
                        <a:ext uri="{9D8B030D-6E8A-4147-A177-3AD203B41FA5}">
                          <a16:colId xmlns:a16="http://schemas.microsoft.com/office/drawing/2014/main" val="3249019499"/>
                        </a:ext>
                      </a:extLst>
                    </a:gridCol>
                    <a:gridCol w="18062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>
                          <a:lvl1pPr marL="34290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Char char="n"/>
                            <a:defRPr sz="280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lvl="1" indent="-28575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24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lvl="2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20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lvl="3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lvl="4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</a:lstStyle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运算符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>
                          <a:lvl1pPr marL="34290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Char char="n"/>
                            <a:defRPr sz="280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lvl="1" indent="-28575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24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lvl="2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20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lvl="3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lvl="4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</a:lstStyle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含义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>
                          <a:lvl1pPr marL="34290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Char char="n"/>
                            <a:defRPr sz="280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lvl="1" indent="-28575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24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lvl="2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20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lvl="3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lvl="4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</a:lstStyle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运算符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>
                          <a:lvl1pPr marL="34290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Char char="n"/>
                            <a:defRPr sz="280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lvl="1" indent="-28575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24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lvl="2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20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lvl="3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lvl="4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</a:lstStyle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含义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 rowSpan="7">
                      <a:txBody>
                        <a:bodyPr/>
                        <a:lstStyle/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集合</a:t>
                          </a:r>
                        </a:p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运算符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∪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并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比较</a:t>
                          </a:r>
                        </a:p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运算符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＞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大于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34909431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≥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大于等于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192579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-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差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>
                              <a:latin typeface="Arial" panose="020B0604020202020204" pitchFamily="34" charset="0"/>
                            </a:rPr>
                            <a:t>＜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小于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9443848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>
                              <a:latin typeface="Arial" panose="020B0604020202020204" pitchFamily="34" charset="0"/>
                            </a:rPr>
                            <a:t>∩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交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>
                              <a:latin typeface="Arial" panose="020B0604020202020204" pitchFamily="34" charset="0"/>
                            </a:rPr>
                            <a:t>≤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小于等于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3891206"/>
                      </a:ext>
                    </a:extLst>
                  </a:tr>
                  <a:tr h="18796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×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广义笛卡尔积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652695"/>
                      </a:ext>
                    </a:extLst>
                  </a:tr>
                  <a:tr h="109746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>
                              <a:latin typeface="Arial" panose="020B0604020202020204" pitchFamily="34" charset="0"/>
                            </a:rPr>
                            <a:t>＝</a:t>
                          </a:r>
                          <a:endParaRPr lang="zh-CN" altLang="en-US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等于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07282972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≠ 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不等于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7485493"/>
                      </a:ext>
                    </a:extLst>
                  </a:tr>
                  <a:tr h="0">
                    <a:tc rowSpan="6">
                      <a:txBody>
                        <a:bodyPr/>
                        <a:lstStyle/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专门的关系</a:t>
                          </a:r>
                        </a:p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运算符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 err="1">
                              <a:latin typeface="Arial" panose="020B0604020202020204" pitchFamily="34" charset="0"/>
                            </a:rPr>
                            <a:t>σ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选择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逻辑</a:t>
                          </a:r>
                        </a:p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运算符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  <a:sym typeface="Symbol" panose="05050102010706020507" pitchFamily="18" charset="2"/>
                            </a:rPr>
                            <a:t>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非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6484471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π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投影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8166716"/>
                      </a:ext>
                    </a:extLst>
                  </a:tr>
                  <a:tr h="71287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Arial" panose="020B0604020202020204" pitchFamily="34" charset="0"/>
                            </a:rPr>
                            <a:t>∧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0321916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÷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除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017168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∨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或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9397204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400" i="1" smtClean="0">
                                    <a:latin typeface="Cambria Math" panose="02040503050406030204" pitchFamily="18" charset="0"/>
                                  </a:rPr>
                                  <m:t>⋈</m:t>
                                </m:r>
                              </m:oMath>
                            </m:oMathPara>
                          </a14:m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连接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16371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6370" name="表格 356369"/>
              <p:cNvGraphicFramePr/>
              <p:nvPr>
                <p:extLst>
                  <p:ext uri="{D42A27DB-BD31-4B8C-83A1-F6EECF244321}">
                    <p14:modId xmlns:p14="http://schemas.microsoft.com/office/powerpoint/2010/main" val="1964000321"/>
                  </p:ext>
                </p:extLst>
              </p:nvPr>
            </p:nvGraphicFramePr>
            <p:xfrm>
              <a:off x="989938" y="1239252"/>
              <a:ext cx="7179591" cy="3289300"/>
            </p:xfrm>
            <a:graphic>
              <a:graphicData uri="http://schemas.openxmlformats.org/drawingml/2006/table">
                <a:tbl>
                  <a:tblPr/>
                  <a:tblGrid>
                    <a:gridCol w="9735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73548">
                      <a:extLst>
                        <a:ext uri="{9D8B030D-6E8A-4147-A177-3AD203B41FA5}">
                          <a16:colId xmlns:a16="http://schemas.microsoft.com/office/drawing/2014/main" val="1927629628"/>
                        </a:ext>
                      </a:extLst>
                    </a:gridCol>
                    <a:gridCol w="15853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2042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20421">
                      <a:extLst>
                        <a:ext uri="{9D8B030D-6E8A-4147-A177-3AD203B41FA5}">
                          <a16:colId xmlns:a16="http://schemas.microsoft.com/office/drawing/2014/main" val="3249019499"/>
                        </a:ext>
                      </a:extLst>
                    </a:gridCol>
                    <a:gridCol w="18062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81940">
                    <a:tc gridSpan="2">
                      <a:txBody>
                        <a:bodyPr/>
                        <a:lstStyle>
                          <a:lvl1pPr marL="34290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Char char="n"/>
                            <a:defRPr sz="280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lvl="1" indent="-28575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24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lvl="2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20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lvl="3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lvl="4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</a:lstStyle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运算符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>
                          <a:lvl1pPr marL="34290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Char char="n"/>
                            <a:defRPr sz="280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lvl="1" indent="-28575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24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lvl="2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20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lvl="3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lvl="4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</a:lstStyle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含义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gridSpan="2">
                      <a:txBody>
                        <a:bodyPr/>
                        <a:lstStyle>
                          <a:lvl1pPr marL="34290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Char char="n"/>
                            <a:defRPr sz="280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lvl="1" indent="-28575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24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lvl="2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20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lvl="3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lvl="4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</a:lstStyle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运算符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>
                          <a:lvl1pPr marL="342900" lvl="0" indent="-3429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Char char="n"/>
                            <a:defRPr sz="280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lvl="1" indent="-28575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hlink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24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lvl="2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20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lvl="3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2"/>
                            </a:buClr>
                            <a:buSzPct val="55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lvl="4" indent="-22860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1800" b="0" i="0" u="none" kern="1200" baseline="0">
                              <a:solidFill>
                                <a:schemeClr val="tx1"/>
                              </a:solidFill>
                              <a:latin typeface="Tahoma" panose="020B0604030504040204" pitchFamily="34" charset="0"/>
                              <a:ea typeface="宋体" panose="02010600030101010101" pitchFamily="2" charset="-122"/>
                            </a:defRPr>
                          </a:lvl5pPr>
                        </a:lstStyle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含义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 rowSpan="7">
                      <a:txBody>
                        <a:bodyPr/>
                        <a:lstStyle/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集合</a:t>
                          </a:r>
                        </a:p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运算符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∪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并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7">
                      <a:txBody>
                        <a:bodyPr/>
                        <a:lstStyle/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比较</a:t>
                          </a:r>
                        </a:p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运算符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＞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大于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34909431"/>
                      </a:ext>
                    </a:extLst>
                  </a:tr>
                  <a:tr h="28194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≥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大于等于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91925796"/>
                      </a:ext>
                    </a:extLst>
                  </a:tr>
                  <a:tr h="28194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-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差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>
                              <a:latin typeface="Arial" panose="020B0604020202020204" pitchFamily="34" charset="0"/>
                            </a:rPr>
                            <a:t>＜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小于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9443848"/>
                      </a:ext>
                    </a:extLst>
                  </a:tr>
                  <a:tr h="28194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>
                              <a:latin typeface="Arial" panose="020B0604020202020204" pitchFamily="34" charset="0"/>
                            </a:rPr>
                            <a:t>∩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交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>
                              <a:latin typeface="Arial" panose="020B0604020202020204" pitchFamily="34" charset="0"/>
                            </a:rPr>
                            <a:t>≤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小于等于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63891206"/>
                      </a:ext>
                    </a:extLst>
                  </a:tr>
                  <a:tr h="18796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×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广义笛卡尔积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0652695"/>
                      </a:ext>
                    </a:extLst>
                  </a:tr>
                  <a:tr h="28194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>
                              <a:latin typeface="Arial" panose="020B0604020202020204" pitchFamily="34" charset="0"/>
                            </a:rPr>
                            <a:t>＝</a:t>
                          </a:r>
                          <a:endParaRPr lang="zh-CN" altLang="en-US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等于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07282972"/>
                      </a:ext>
                    </a:extLst>
                  </a:tr>
                  <a:tr h="28194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≠ 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不等于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67485493"/>
                      </a:ext>
                    </a:extLst>
                  </a:tr>
                  <a:tr h="281940">
                    <a:tc rowSpan="6">
                      <a:txBody>
                        <a:bodyPr/>
                        <a:lstStyle/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专门的关系</a:t>
                          </a:r>
                        </a:p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运算符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 err="1">
                              <a:latin typeface="Arial" panose="020B0604020202020204" pitchFamily="34" charset="0"/>
                            </a:rPr>
                            <a:t>σ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选择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逻辑</a:t>
                          </a:r>
                        </a:p>
                        <a:p>
                          <a:pPr marL="0" lvl="0" indent="0" algn="ctr">
                            <a:spcBef>
                              <a:spcPct val="0"/>
                            </a:spcBef>
                            <a:buClrTx/>
                            <a:buSzPct val="100000"/>
                            <a:buNone/>
                          </a:pPr>
                          <a:r>
                            <a:rPr lang="zh-CN" altLang="en-US" sz="1400" b="1" dirty="0">
                              <a:solidFill>
                                <a:schemeClr val="hlink"/>
                              </a:solidFill>
                              <a:latin typeface="Arial" panose="020B0604020202020204" pitchFamily="34" charset="0"/>
                            </a:rPr>
                            <a:t>运算符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  <a:sym typeface="Symbol" panose="05050102010706020507" pitchFamily="18" charset="2"/>
                            </a:rPr>
                            <a:t>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非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6484471"/>
                      </a:ext>
                    </a:extLst>
                  </a:tr>
                  <a:tr h="5969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π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投影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8166716"/>
                      </a:ext>
                    </a:extLst>
                  </a:tr>
                  <a:tr h="22225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dirty="0">
                              <a:latin typeface="Arial" panose="020B0604020202020204" pitchFamily="34" charset="0"/>
                            </a:rPr>
                            <a:t>∧</a:t>
                          </a:r>
                          <a:endParaRPr lang="zh-CN" altLang="en-US" dirty="0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与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0321916"/>
                      </a:ext>
                    </a:extLst>
                  </a:tr>
                  <a:tr h="12065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÷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除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017168"/>
                      </a:ext>
                    </a:extLst>
                  </a:tr>
                  <a:tr h="16129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400" dirty="0">
                              <a:latin typeface="Arial" panose="020B0604020202020204" pitchFamily="34" charset="0"/>
                            </a:rPr>
                            <a:t>∨</a:t>
                          </a:r>
                          <a:endParaRPr lang="zh-CN" altLang="en-US" sz="1400" dirty="0">
                            <a:latin typeface="Arial" panose="020B0604020202020204" pitchFamily="34" charset="0"/>
                          </a:endParaRP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或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9397204"/>
                      </a:ext>
                    </a:extLst>
                  </a:tr>
                  <a:tr h="281940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3"/>
                          <a:stretch>
                            <a:fillRect l="-101299" t="-1086364" r="-538961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ts val="0"/>
                            </a:spcAft>
                            <a:buClrTx/>
                            <a:buSzPct val="100000"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400" dirty="0">
                              <a:latin typeface="Arial" panose="020B0604020202020204" pitchFamily="34" charset="0"/>
                            </a:rPr>
                            <a:t>连接</a:t>
                          </a:r>
                        </a:p>
                      </a:txBody>
                      <a:tcPr marL="68580" marR="68580" marT="34290" marB="3429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163711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02D9B881-79A6-C63E-8959-D027D38B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关系代数运算符表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 vert="horz" wrap="square" lIns="68580" tIns="34290" rIns="68580" bIns="34290" numCol="1" anchor="t" anchorCtr="0" compatLnSpc="1"/>
          <a:lstStyle/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b="1" kern="0" dirty="0">
                <a:solidFill>
                  <a:schemeClr val="folHlink"/>
                </a:solidFill>
              </a:rPr>
              <a:t> 1.</a:t>
            </a:r>
            <a:r>
              <a:rPr lang="zh-CN" altLang="en-US" sz="1800" b="1" kern="0" dirty="0">
                <a:solidFill>
                  <a:schemeClr val="folHlink"/>
                </a:solidFill>
              </a:rPr>
              <a:t>集合运算 </a:t>
            </a:r>
          </a:p>
          <a:p>
            <a:pPr marL="0" indent="0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kern="0" dirty="0">
                <a:solidFill>
                  <a:schemeClr val="hlink"/>
                </a:solidFill>
              </a:rPr>
              <a:t>   </a:t>
            </a:r>
            <a:r>
              <a:rPr lang="zh-CN" altLang="en-US" sz="1500" kern="0" dirty="0">
                <a:solidFill>
                  <a:schemeClr val="hlink"/>
                </a:solidFill>
              </a:rPr>
              <a:t>关系代数</a:t>
            </a:r>
            <a:r>
              <a:rPr lang="zh-CN" altLang="en-US" sz="1500" kern="0" dirty="0"/>
              <a:t>是一种抽象的查询语言。它以关系为运算对象，通过对关系进行“组合”或“分割”，得到所需的数据集合</a:t>
            </a:r>
            <a:r>
              <a:rPr lang="en-US" altLang="zh-CN" sz="1500" kern="0" dirty="0"/>
              <a:t>—</a:t>
            </a:r>
            <a:r>
              <a:rPr lang="zh-CN" altLang="en-US" sz="1500" kern="0" dirty="0">
                <a:solidFill>
                  <a:schemeClr val="folHlink"/>
                </a:solidFill>
              </a:rPr>
              <a:t>关系</a:t>
            </a:r>
            <a:r>
              <a:rPr lang="zh-CN" altLang="en-US" sz="1500" kern="0" dirty="0"/>
              <a:t>。</a:t>
            </a:r>
          </a:p>
          <a:p>
            <a:pPr marL="0" indent="0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endParaRPr lang="zh-CN" altLang="en-US" sz="1500" kern="0" dirty="0"/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b="1" kern="0" dirty="0"/>
              <a:t>分类</a:t>
            </a:r>
            <a:r>
              <a:rPr lang="zh-CN" altLang="en-US" sz="1800" kern="0" dirty="0"/>
              <a:t>：   </a:t>
            </a:r>
            <a:r>
              <a:rPr lang="en-US" altLang="zh-CN" sz="1800" kern="0" dirty="0"/>
              <a:t> </a:t>
            </a:r>
            <a:r>
              <a:rPr lang="zh-CN" altLang="en-US" sz="1800" kern="0" dirty="0"/>
              <a:t> </a:t>
            </a:r>
            <a:r>
              <a:rPr lang="zh-CN" altLang="en-US" sz="1500" b="1" kern="0" dirty="0"/>
              <a:t>集合运算</a:t>
            </a:r>
            <a:r>
              <a:rPr lang="zh-CN" altLang="en-US" sz="1500" kern="0" dirty="0"/>
              <a:t>（并、交、差；广义笛卡尔积）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500" b="1" kern="0" dirty="0"/>
              <a:t>            </a:t>
            </a:r>
            <a:r>
              <a:rPr lang="en-US" altLang="zh-CN" sz="1500" b="1" kern="0" dirty="0"/>
              <a:t>    </a:t>
            </a:r>
            <a:r>
              <a:rPr lang="zh-CN" altLang="en-US" sz="1500" b="1" kern="0" dirty="0"/>
              <a:t>      关系运算</a:t>
            </a:r>
            <a:r>
              <a:rPr lang="zh-CN" altLang="en-US" sz="1500" kern="0" dirty="0"/>
              <a:t>（投影、选择、连接和除运算）</a:t>
            </a:r>
          </a:p>
        </p:txBody>
      </p:sp>
      <p:sp>
        <p:nvSpPr>
          <p:cNvPr id="37890" name="AutoShape 4"/>
          <p:cNvSpPr/>
          <p:nvPr/>
        </p:nvSpPr>
        <p:spPr>
          <a:xfrm>
            <a:off x="1714116" y="2371725"/>
            <a:ext cx="228600" cy="400050"/>
          </a:xfrm>
          <a:prstGeom prst="leftBrace">
            <a:avLst>
              <a:gd name="adj1" fmla="val 14486"/>
              <a:gd name="adj2" fmla="val 50000"/>
            </a:avLst>
          </a:pr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2779927" y="3293939"/>
            <a:ext cx="6101954" cy="155241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/>
          <a:lstStyle/>
          <a:p>
            <a:pPr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defRPr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设：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为元组变量；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zh-CN" altLang="en-US" sz="15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同类关系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同元、相应属性同域）；</a:t>
            </a: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下列运算结果为同类关系：</a:t>
            </a: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defRPr/>
            </a:pP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(1)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并运算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RUS ={t |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5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t∈R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）∨（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 ∈ S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defRPr/>
            </a:pP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(2)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差运算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R-S  ={t |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5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t∈R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）∧（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en-US" altLang="zh-CN" sz="15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ymbol" panose="05050102010706020507" pitchFamily="18" charset="2"/>
              </a:rPr>
              <a:t>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S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}  </a:t>
            </a: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defRPr/>
            </a:pP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(3)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交运算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R∩S ={t |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5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t∈R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）∧（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 ∈ S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}</a:t>
            </a:r>
          </a:p>
        </p:txBody>
      </p:sp>
      <p:sp>
        <p:nvSpPr>
          <p:cNvPr id="37892" name="Oval 7"/>
          <p:cNvSpPr/>
          <p:nvPr/>
        </p:nvSpPr>
        <p:spPr>
          <a:xfrm>
            <a:off x="6791163" y="802821"/>
            <a:ext cx="1200150" cy="685800"/>
          </a:xfrm>
          <a:prstGeom prst="ellipse">
            <a:avLst/>
          </a:prstGeom>
          <a:solidFill>
            <a:srgbClr val="47FFC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37893" name="Oval 8"/>
          <p:cNvSpPr/>
          <p:nvPr/>
        </p:nvSpPr>
        <p:spPr>
          <a:xfrm>
            <a:off x="7591263" y="631371"/>
            <a:ext cx="1200150" cy="6858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3C7D821-81C2-271D-0499-23C6FE699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集合运算</a:t>
            </a: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文本占位符 375810"/>
          <p:cNvSpPr>
            <a:spLocks noGrp="1"/>
          </p:cNvSpPr>
          <p:nvPr>
            <p:ph idx="1"/>
          </p:nvPr>
        </p:nvSpPr>
        <p:spPr>
          <a:xfrm>
            <a:off x="55216" y="1345583"/>
            <a:ext cx="4299808" cy="3408735"/>
          </a:xfrm>
        </p:spPr>
        <p:txBody>
          <a:bodyPr vert="horz" wrap="square" lIns="68580" tIns="34290" rIns="68580" bIns="34290" anchor="t" anchorCtr="0"/>
          <a:lstStyle/>
          <a:p>
            <a:pPr algn="just">
              <a:lnSpc>
                <a:spcPct val="100000"/>
              </a:lnSpc>
            </a:pPr>
            <a:r>
              <a:rPr lang="en-US" altLang="zh-CN" sz="1500" dirty="0"/>
              <a:t>R</a:t>
            </a:r>
          </a:p>
          <a:p>
            <a:pPr lvl="1" algn="just">
              <a:lnSpc>
                <a:spcPct val="100000"/>
              </a:lnSpc>
            </a:pPr>
            <a:r>
              <a:rPr lang="en-US" altLang="zh-CN" sz="1500" i="1" dirty="0"/>
              <a:t>n </a:t>
            </a:r>
            <a:r>
              <a:rPr lang="zh-CN" altLang="en-US" sz="1500" dirty="0"/>
              <a:t>目关系，</a:t>
            </a:r>
            <a:r>
              <a:rPr lang="en-US" altLang="zh-CN" sz="1500" i="1" dirty="0"/>
              <a:t>k</a:t>
            </a:r>
            <a:r>
              <a:rPr lang="en-US" altLang="zh-CN" sz="1500" baseline="-30000" dirty="0"/>
              <a:t>1</a:t>
            </a:r>
            <a:r>
              <a:rPr lang="zh-CN" altLang="en-US" sz="1500" dirty="0"/>
              <a:t>个元组</a:t>
            </a:r>
          </a:p>
          <a:p>
            <a:pPr algn="just">
              <a:lnSpc>
                <a:spcPct val="100000"/>
              </a:lnSpc>
            </a:pPr>
            <a:r>
              <a:rPr lang="en-US" altLang="zh-CN" sz="1500" dirty="0"/>
              <a:t>S</a:t>
            </a:r>
          </a:p>
          <a:p>
            <a:pPr lvl="1" algn="just">
              <a:lnSpc>
                <a:spcPct val="100000"/>
              </a:lnSpc>
            </a:pPr>
            <a:r>
              <a:rPr lang="en-US" altLang="zh-CN" sz="1500" i="1" dirty="0"/>
              <a:t>m </a:t>
            </a:r>
            <a:r>
              <a:rPr lang="zh-CN" altLang="en-US" sz="1500" dirty="0"/>
              <a:t>目关系，</a:t>
            </a:r>
            <a:r>
              <a:rPr lang="en-US" altLang="zh-CN" sz="1500" i="1" dirty="0"/>
              <a:t>k</a:t>
            </a:r>
            <a:r>
              <a:rPr lang="en-US" altLang="zh-CN" sz="1500" baseline="-30000" dirty="0"/>
              <a:t>2</a:t>
            </a:r>
            <a:r>
              <a:rPr lang="zh-CN" altLang="en-US" sz="1500" dirty="0"/>
              <a:t>个元组</a:t>
            </a:r>
          </a:p>
          <a:p>
            <a:pPr algn="just">
              <a:lnSpc>
                <a:spcPct val="100000"/>
              </a:lnSpc>
            </a:pPr>
            <a:r>
              <a:rPr lang="en-US" altLang="zh-CN" sz="1500" i="1" dirty="0"/>
              <a:t>R</a:t>
            </a:r>
            <a:r>
              <a:rPr lang="en-US" altLang="zh-CN" sz="1500" dirty="0"/>
              <a:t>×</a:t>
            </a:r>
            <a:r>
              <a:rPr lang="en-US" altLang="zh-CN" sz="1500" i="1" dirty="0"/>
              <a:t>S</a:t>
            </a:r>
            <a:r>
              <a:rPr lang="en-US" altLang="zh-CN" sz="1500" dirty="0"/>
              <a:t> </a:t>
            </a:r>
          </a:p>
          <a:p>
            <a:pPr lvl="1" algn="just">
              <a:lnSpc>
                <a:spcPct val="100000"/>
              </a:lnSpc>
            </a:pPr>
            <a:r>
              <a:rPr lang="zh-CN" altLang="en-US" sz="1500" dirty="0"/>
              <a:t>列：（</a:t>
            </a:r>
            <a:r>
              <a:rPr lang="en-US" altLang="zh-CN" sz="1500" i="1" dirty="0"/>
              <a:t>n</a:t>
            </a:r>
            <a:r>
              <a:rPr lang="en-US" altLang="zh-CN" sz="1500" dirty="0"/>
              <a:t>+</a:t>
            </a:r>
            <a:r>
              <a:rPr lang="en-US" altLang="zh-CN" sz="1500" i="1" dirty="0"/>
              <a:t>m</a:t>
            </a:r>
            <a:r>
              <a:rPr lang="zh-CN" altLang="en-US" sz="1500" dirty="0"/>
              <a:t>）列的元组的集合</a:t>
            </a:r>
          </a:p>
          <a:p>
            <a:pPr lvl="2" algn="just">
              <a:lnSpc>
                <a:spcPct val="100000"/>
              </a:lnSpc>
            </a:pPr>
            <a:r>
              <a:rPr lang="zh-CN" altLang="en-US" sz="1500" dirty="0"/>
              <a:t>元组的前 </a:t>
            </a:r>
            <a:r>
              <a:rPr lang="en-US" altLang="zh-CN" sz="1500" i="1" dirty="0"/>
              <a:t>n</a:t>
            </a:r>
            <a:r>
              <a:rPr lang="zh-CN" altLang="en-US" sz="1500" i="1" dirty="0"/>
              <a:t> </a:t>
            </a:r>
            <a:r>
              <a:rPr lang="zh-CN" altLang="en-US" sz="1500" dirty="0"/>
              <a:t>列是关系 </a:t>
            </a:r>
            <a:r>
              <a:rPr lang="en-US" altLang="zh-CN" sz="1500" i="1" dirty="0"/>
              <a:t>R</a:t>
            </a:r>
            <a:r>
              <a:rPr lang="zh-CN" altLang="en-US" sz="1500" i="1" dirty="0"/>
              <a:t> </a:t>
            </a:r>
            <a:r>
              <a:rPr lang="zh-CN" altLang="en-US" sz="1500" dirty="0"/>
              <a:t>的一个元组</a:t>
            </a:r>
          </a:p>
          <a:p>
            <a:pPr lvl="2" algn="just">
              <a:lnSpc>
                <a:spcPct val="100000"/>
              </a:lnSpc>
            </a:pPr>
            <a:r>
              <a:rPr lang="zh-CN" altLang="en-US" sz="1500" dirty="0"/>
              <a:t>后 </a:t>
            </a:r>
            <a:r>
              <a:rPr lang="en-US" altLang="zh-CN" sz="1500" i="1" dirty="0"/>
              <a:t>m</a:t>
            </a:r>
            <a:r>
              <a:rPr lang="zh-CN" altLang="en-US" sz="1500" i="1" dirty="0"/>
              <a:t> </a:t>
            </a:r>
            <a:r>
              <a:rPr lang="zh-CN" altLang="en-US" sz="1500" dirty="0"/>
              <a:t>列是关系 </a:t>
            </a:r>
            <a:r>
              <a:rPr lang="en-US" altLang="zh-CN" sz="1500" i="1" dirty="0"/>
              <a:t>S</a:t>
            </a:r>
            <a:r>
              <a:rPr lang="zh-CN" altLang="en-US" sz="1500" i="1" dirty="0"/>
              <a:t> </a:t>
            </a:r>
            <a:r>
              <a:rPr lang="zh-CN" altLang="en-US" sz="1500" dirty="0"/>
              <a:t>的一个元组</a:t>
            </a:r>
          </a:p>
          <a:p>
            <a:pPr lvl="1" algn="just">
              <a:lnSpc>
                <a:spcPct val="100000"/>
              </a:lnSpc>
            </a:pPr>
            <a:r>
              <a:rPr lang="zh-CN" altLang="en-US" sz="1500" dirty="0"/>
              <a:t>行：</a:t>
            </a:r>
            <a:r>
              <a:rPr lang="en-US" altLang="zh-CN" sz="1500" i="1" dirty="0"/>
              <a:t>k</a:t>
            </a:r>
            <a:r>
              <a:rPr lang="en-US" altLang="zh-CN" sz="1500" baseline="-30000" dirty="0"/>
              <a:t>1</a:t>
            </a:r>
            <a:r>
              <a:rPr lang="en-US" altLang="zh-CN" sz="1500" dirty="0"/>
              <a:t>×</a:t>
            </a:r>
            <a:r>
              <a:rPr lang="en-US" altLang="zh-CN" sz="1500" i="1" dirty="0"/>
              <a:t>k</a:t>
            </a:r>
            <a:r>
              <a:rPr lang="en-US" altLang="zh-CN" sz="1500" baseline="-30000" dirty="0"/>
              <a:t>2</a:t>
            </a:r>
            <a:r>
              <a:rPr lang="zh-CN" altLang="en-US" sz="1500" dirty="0"/>
              <a:t>个元组</a:t>
            </a:r>
          </a:p>
          <a:p>
            <a:pPr lvl="2" algn="just">
              <a:lnSpc>
                <a:spcPct val="100000"/>
              </a:lnSpc>
            </a:pPr>
            <a:r>
              <a:rPr lang="en-US" altLang="zh-CN" sz="1500" i="1" dirty="0"/>
              <a:t>R</a:t>
            </a:r>
            <a:r>
              <a:rPr lang="en-US" altLang="zh-CN" sz="1500" dirty="0"/>
              <a:t>×</a:t>
            </a:r>
            <a:r>
              <a:rPr lang="en-US" altLang="zh-CN" sz="1500" i="1" dirty="0"/>
              <a:t>S</a:t>
            </a:r>
            <a:r>
              <a:rPr lang="en-US" altLang="zh-CN" sz="1500" dirty="0"/>
              <a:t> = {</a:t>
            </a:r>
            <a:r>
              <a:rPr lang="en-US" altLang="zh-CN" sz="1500" i="1" dirty="0"/>
              <a:t>t</a:t>
            </a:r>
            <a:r>
              <a:rPr lang="en-US" altLang="zh-CN" sz="1500" baseline="-30000" dirty="0"/>
              <a:t>r</a:t>
            </a:r>
            <a:r>
              <a:rPr lang="en-US" altLang="zh-CN" sz="1500" dirty="0"/>
              <a:t> </a:t>
            </a:r>
            <a:r>
              <a:rPr lang="en-US" altLang="zh-CN" sz="1500" i="1" dirty="0"/>
              <a:t>t</a:t>
            </a:r>
            <a:r>
              <a:rPr lang="en-US" altLang="zh-CN" sz="1500" baseline="-30000" dirty="0"/>
              <a:t>s</a:t>
            </a:r>
            <a:r>
              <a:rPr lang="en-US" altLang="zh-CN" sz="1500" dirty="0"/>
              <a:t> |</a:t>
            </a:r>
            <a:r>
              <a:rPr lang="en-US" altLang="zh-CN" sz="1500" i="1" dirty="0"/>
              <a:t>t</a:t>
            </a:r>
            <a:r>
              <a:rPr lang="en-US" altLang="zh-CN" sz="1500" baseline="-30000" dirty="0"/>
              <a:t>r</a:t>
            </a:r>
            <a:r>
              <a:rPr lang="en-US" altLang="zh-CN" sz="1500" dirty="0"/>
              <a:t> </a:t>
            </a:r>
            <a:r>
              <a:rPr lang="en-US" altLang="zh-CN" sz="1500" dirty="0">
                <a:sym typeface="Symbol" panose="05050102010706020507" pitchFamily="18" charset="2"/>
              </a:rPr>
              <a:t></a:t>
            </a:r>
            <a:r>
              <a:rPr lang="en-US" altLang="zh-CN" sz="1500" i="1" dirty="0"/>
              <a:t>R</a:t>
            </a:r>
            <a:r>
              <a:rPr lang="en-US" altLang="zh-CN" sz="1500" dirty="0"/>
              <a:t> ∧ </a:t>
            </a:r>
            <a:r>
              <a:rPr lang="en-US" altLang="zh-CN" sz="1500" i="1" dirty="0"/>
              <a:t>t</a:t>
            </a:r>
            <a:r>
              <a:rPr lang="en-US" altLang="zh-CN" sz="1500" baseline="-30000" dirty="0"/>
              <a:t>s</a:t>
            </a:r>
            <a:r>
              <a:rPr lang="en-US" altLang="zh-CN" sz="1500" dirty="0">
                <a:sym typeface="Symbol" panose="05050102010706020507" pitchFamily="18" charset="2"/>
              </a:rPr>
              <a:t></a:t>
            </a:r>
            <a:r>
              <a:rPr lang="en-US" altLang="zh-CN" sz="1500" i="1" dirty="0"/>
              <a:t>S</a:t>
            </a:r>
            <a:r>
              <a:rPr lang="en-US" altLang="zh-CN" sz="1500" dirty="0"/>
              <a:t> }</a:t>
            </a:r>
          </a:p>
        </p:txBody>
      </p:sp>
      <p:sp>
        <p:nvSpPr>
          <p:cNvPr id="46083" name="任意多边形 4"/>
          <p:cNvSpPr/>
          <p:nvPr/>
        </p:nvSpPr>
        <p:spPr>
          <a:xfrm>
            <a:off x="2589492" y="4082291"/>
            <a:ext cx="233363" cy="97631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96" h="82">
                <a:moveTo>
                  <a:pt x="0" y="43"/>
                </a:moveTo>
                <a:cubicBezTo>
                  <a:pt x="64" y="0"/>
                  <a:pt x="75" y="4"/>
                  <a:pt x="156" y="17"/>
                </a:cubicBezTo>
                <a:cubicBezTo>
                  <a:pt x="165" y="26"/>
                  <a:pt x="176" y="32"/>
                  <a:pt x="183" y="43"/>
                </a:cubicBezTo>
                <a:cubicBezTo>
                  <a:pt x="190" y="55"/>
                  <a:pt x="196" y="82"/>
                  <a:pt x="196" y="8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C74DED2-0ECB-87E9-A3BB-9C2B90B6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广义笛卡尔积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905EF37-6D71-AE74-B8BC-F444DD6FB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8542395"/>
              </p:ext>
            </p:extLst>
          </p:nvPr>
        </p:nvGraphicFramePr>
        <p:xfrm>
          <a:off x="4381218" y="700685"/>
          <a:ext cx="1428750" cy="1552576"/>
        </p:xfrm>
        <a:graphic>
          <a:graphicData uri="http://schemas.openxmlformats.org/drawingml/2006/table">
            <a:tbl>
              <a:tblPr/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latin typeface="Arial" panose="020B0604020202020204" pitchFamily="34" charset="0"/>
                        </a:rPr>
                        <a:t>A</a:t>
                      </a:r>
                      <a:endParaRPr lang="zh-CN" altLang="en-US" sz="14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latin typeface="Arial" panose="020B0604020202020204" pitchFamily="34" charset="0"/>
                        </a:rPr>
                        <a:t>B</a:t>
                      </a:r>
                      <a:endParaRPr lang="zh-CN" altLang="en-US" sz="14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latin typeface="Arial" panose="020B0604020202020204" pitchFamily="34" charset="0"/>
                        </a:rPr>
                        <a:t>C</a:t>
                      </a:r>
                      <a:endParaRPr lang="zh-CN" altLang="en-US" sz="14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400" i="1" dirty="0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b1</a:t>
                      </a:r>
                      <a:endParaRPr lang="zh-CN" altLang="en-US" sz="1400" i="1" dirty="0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400" i="1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400" i="1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400" i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400" i="1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a2</a:t>
                      </a:r>
                      <a:endParaRPr lang="zh-CN" altLang="en-US" sz="1400" i="1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400" i="1" dirty="0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400" i="1" dirty="0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6081A7D-7AD3-4712-D834-BFC2C0BDC8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018197"/>
              </p:ext>
            </p:extLst>
          </p:nvPr>
        </p:nvGraphicFramePr>
        <p:xfrm>
          <a:off x="6231284" y="1075317"/>
          <a:ext cx="1428750" cy="3574255"/>
        </p:xfrm>
        <a:graphic>
          <a:graphicData uri="http://schemas.openxmlformats.org/drawingml/2006/table">
            <a:tbl>
              <a:tblPr/>
              <a:tblGrid>
                <a:gridCol w="483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latin typeface="Arial" panose="020B0604020202020204" pitchFamily="34" charset="0"/>
                        </a:rPr>
                        <a:t>R.A</a:t>
                      </a:r>
                      <a:endParaRPr lang="zh-CN" altLang="en-US" sz="14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latin typeface="Arial" panose="020B0604020202020204" pitchFamily="34" charset="0"/>
                        </a:rPr>
                        <a:t>R.B</a:t>
                      </a:r>
                      <a:endParaRPr lang="zh-CN" altLang="en-US" sz="14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latin typeface="Arial" panose="020B0604020202020204" pitchFamily="34" charset="0"/>
                        </a:rPr>
                        <a:t>R.C</a:t>
                      </a:r>
                      <a:endParaRPr lang="zh-CN" altLang="en-US" sz="14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1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 dirty="0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b1</a:t>
                      </a:r>
                      <a:endParaRPr lang="zh-CN" altLang="en-US" sz="1800" i="1" dirty="0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b1</a:t>
                      </a:r>
                      <a:endParaRPr lang="zh-CN" altLang="en-US" sz="1800" i="1" dirty="0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80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b1</a:t>
                      </a:r>
                      <a:endParaRPr lang="zh-CN" altLang="en-US" sz="1800" i="1" dirty="0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chemeClr val="hlink"/>
                          </a:solidFill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 dirty="0">
                        <a:solidFill>
                          <a:schemeClr val="hlink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80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61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61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00FF00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 dirty="0">
                        <a:solidFill>
                          <a:srgbClr val="00FF00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61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a2</a:t>
                      </a:r>
                      <a:endParaRPr lang="zh-CN" altLang="en-US" sz="1800" i="1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 dirty="0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61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a2</a:t>
                      </a:r>
                      <a:endParaRPr lang="zh-CN" altLang="en-US" sz="1800" i="1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 dirty="0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61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a2</a:t>
                      </a:r>
                      <a:endParaRPr lang="zh-CN" altLang="en-US" sz="1800" i="1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CC66FF"/>
                          </a:solidFill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 dirty="0">
                        <a:solidFill>
                          <a:srgbClr val="CC66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59103B1-014C-0A81-93AC-58B6809CCB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2288339"/>
              </p:ext>
            </p:extLst>
          </p:nvPr>
        </p:nvGraphicFramePr>
        <p:xfrm>
          <a:off x="4547823" y="3173608"/>
          <a:ext cx="1371600" cy="15525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latin typeface="Arial" panose="020B0604020202020204" pitchFamily="34" charset="0"/>
                        </a:rPr>
                        <a:t>A</a:t>
                      </a:r>
                      <a:endParaRPr lang="zh-CN" altLang="en-US" sz="14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latin typeface="Arial" panose="020B0604020202020204" pitchFamily="34" charset="0"/>
                        </a:rPr>
                        <a:t>B</a:t>
                      </a:r>
                      <a:endParaRPr lang="zh-CN" altLang="en-US" sz="14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latin typeface="Arial" panose="020B0604020202020204" pitchFamily="34" charset="0"/>
                        </a:rPr>
                        <a:t>C</a:t>
                      </a:r>
                      <a:endParaRPr lang="zh-CN" altLang="en-US" sz="14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400" i="1" dirty="0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400" i="1" dirty="0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400" i="1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400" i="1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b3</a:t>
                      </a:r>
                      <a:endParaRPr lang="zh-CN" altLang="en-US" sz="1400" i="1" dirty="0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400" i="1" dirty="0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latin typeface="Arial" panose="020B0604020202020204" pitchFamily="34" charset="0"/>
                        </a:rPr>
                        <a:t>a2</a:t>
                      </a:r>
                      <a:endParaRPr lang="zh-CN" altLang="en-US" sz="14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4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4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376930">
            <a:extLst>
              <a:ext uri="{FF2B5EF4-FFF2-40B4-BE49-F238E27FC236}">
                <a16:creationId xmlns:a16="http://schemas.microsoft.com/office/drawing/2014/main" id="{4B24BA92-A59F-004A-6237-2F9AB4B90008}"/>
              </a:ext>
            </a:extLst>
          </p:cNvPr>
          <p:cNvSpPr/>
          <p:nvPr/>
        </p:nvSpPr>
        <p:spPr>
          <a:xfrm>
            <a:off x="4095468" y="1193604"/>
            <a:ext cx="228600" cy="6286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>
              <a:buClr>
                <a:schemeClr val="bg1"/>
              </a:buClr>
            </a:pP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7" name="矩形 376931">
            <a:extLst>
              <a:ext uri="{FF2B5EF4-FFF2-40B4-BE49-F238E27FC236}">
                <a16:creationId xmlns:a16="http://schemas.microsoft.com/office/drawing/2014/main" id="{9C8B429A-610F-BACE-BDC6-27E4D2402A5C}"/>
              </a:ext>
            </a:extLst>
          </p:cNvPr>
          <p:cNvSpPr/>
          <p:nvPr/>
        </p:nvSpPr>
        <p:spPr>
          <a:xfrm>
            <a:off x="4262073" y="3516508"/>
            <a:ext cx="228600" cy="6286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>
              <a:buClr>
                <a:schemeClr val="bg1"/>
              </a:buClr>
            </a:pP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8" name="矩形 376932">
            <a:extLst>
              <a:ext uri="{FF2B5EF4-FFF2-40B4-BE49-F238E27FC236}">
                <a16:creationId xmlns:a16="http://schemas.microsoft.com/office/drawing/2014/main" id="{EAB748BD-A649-F4F4-80AB-76B9B616CC49}"/>
              </a:ext>
            </a:extLst>
          </p:cNvPr>
          <p:cNvSpPr/>
          <p:nvPr/>
        </p:nvSpPr>
        <p:spPr>
          <a:xfrm>
            <a:off x="5488334" y="2446916"/>
            <a:ext cx="628650" cy="5715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>
              <a:buClr>
                <a:schemeClr val="bg1"/>
              </a:buClr>
            </a:pPr>
            <a:r>
              <a:rPr lang="en-US" altLang="zh-CN" sz="15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lang="en-US" altLang="zh-CN" sz="1500" b="1" dirty="0">
                <a:latin typeface="Times New Roman" panose="02020603050405020304" pitchFamily="18" charset="0"/>
                <a:ea typeface="宋体" panose="02010600030101010101" pitchFamily="2" charset="-122"/>
              </a:rPr>
              <a:t>×</a:t>
            </a:r>
            <a:r>
              <a:rPr lang="en-US" altLang="zh-CN" sz="15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A932913-D930-7D7A-AC27-43366A8366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0688211"/>
              </p:ext>
            </p:extLst>
          </p:nvPr>
        </p:nvGraphicFramePr>
        <p:xfrm>
          <a:off x="7662981" y="1075316"/>
          <a:ext cx="1402556" cy="3571874"/>
        </p:xfrm>
        <a:graphic>
          <a:graphicData uri="http://schemas.openxmlformats.org/drawingml/2006/table">
            <a:tbl>
              <a:tblPr/>
              <a:tblGrid>
                <a:gridCol w="488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14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latin typeface="Arial" panose="020B0604020202020204" pitchFamily="34" charset="0"/>
                        </a:rPr>
                        <a:t>S.A</a:t>
                      </a:r>
                      <a:endParaRPr lang="zh-CN" altLang="en-US" sz="14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 dirty="0">
                          <a:latin typeface="Arial" panose="020B0604020202020204" pitchFamily="34" charset="0"/>
                        </a:rPr>
                        <a:t>S.B</a:t>
                      </a:r>
                      <a:endParaRPr lang="zh-CN" altLang="en-US" sz="14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400" i="1">
                          <a:latin typeface="Arial" panose="020B0604020202020204" pitchFamily="34" charset="0"/>
                        </a:rPr>
                        <a:t>S.C</a:t>
                      </a:r>
                      <a:endParaRPr lang="zh-CN" altLang="en-US" sz="14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1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 dirty="0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80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 dirty="0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b3</a:t>
                      </a:r>
                      <a:endParaRPr lang="zh-CN" altLang="en-US" sz="1800" i="1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1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latin typeface="Arial" panose="020B0604020202020204" pitchFamily="34" charset="0"/>
                        </a:rPr>
                        <a:t>a2</a:t>
                      </a:r>
                      <a:endParaRPr lang="zh-CN" altLang="en-US" sz="18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61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 dirty="0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61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b3</a:t>
                      </a:r>
                      <a:endParaRPr lang="zh-CN" altLang="en-US" sz="1800" i="1" dirty="0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61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latin typeface="Arial" panose="020B0604020202020204" pitchFamily="34" charset="0"/>
                        </a:rPr>
                        <a:t>a2</a:t>
                      </a:r>
                      <a:endParaRPr lang="zh-CN" altLang="en-US" sz="18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61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 dirty="0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66CCFF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>
                        <a:solidFill>
                          <a:srgbClr val="66CCF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616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a1</a:t>
                      </a:r>
                      <a:endParaRPr lang="zh-CN" altLang="en-US" sz="1800" i="1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b3</a:t>
                      </a:r>
                      <a:endParaRPr lang="zh-CN" altLang="en-US" sz="1800" i="1" dirty="0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solidFill>
                            <a:srgbClr val="CC0099"/>
                          </a:solidFill>
                          <a:latin typeface="Arial" panose="020B0604020202020204" pitchFamily="34" charset="0"/>
                        </a:rPr>
                        <a:t>c2</a:t>
                      </a:r>
                      <a:endParaRPr lang="zh-CN" altLang="en-US" sz="1800" i="1">
                        <a:solidFill>
                          <a:srgbClr val="CC0099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61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>
                          <a:latin typeface="Arial" panose="020B0604020202020204" pitchFamily="34" charset="0"/>
                        </a:rPr>
                        <a:t>a2</a:t>
                      </a:r>
                      <a:endParaRPr lang="zh-CN" altLang="en-US" sz="1800" i="1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latin typeface="Arial" panose="020B0604020202020204" pitchFamily="34" charset="0"/>
                        </a:rPr>
                        <a:t>b2</a:t>
                      </a:r>
                      <a:endParaRPr lang="zh-CN" altLang="en-US" sz="18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SzPct val="100000"/>
                        <a:buNone/>
                      </a:pPr>
                      <a:r>
                        <a:rPr lang="en-US" altLang="zh-CN" sz="1800" i="1" dirty="0">
                          <a:latin typeface="Arial" panose="020B0604020202020204" pitchFamily="34" charset="0"/>
                        </a:rPr>
                        <a:t>c1</a:t>
                      </a:r>
                      <a:endParaRPr lang="zh-CN" altLang="en-US" sz="1800" i="1" dirty="0">
                        <a:latin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E362358-7114-5641-EFA4-FD8D670F6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269400"/>
              </p:ext>
            </p:extLst>
          </p:nvPr>
        </p:nvGraphicFramePr>
        <p:xfrm>
          <a:off x="6307810" y="2365189"/>
          <a:ext cx="242540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93">
                  <a:extLst>
                    <a:ext uri="{9D8B030D-6E8A-4147-A177-3AD203B41FA5}">
                      <a16:colId xmlns:a16="http://schemas.microsoft.com/office/drawing/2014/main" val="3299237219"/>
                    </a:ext>
                  </a:extLst>
                </a:gridCol>
                <a:gridCol w="911845">
                  <a:extLst>
                    <a:ext uri="{9D8B030D-6E8A-4147-A177-3AD203B41FA5}">
                      <a16:colId xmlns:a16="http://schemas.microsoft.com/office/drawing/2014/main" val="1800490204"/>
                    </a:ext>
                  </a:extLst>
                </a:gridCol>
                <a:gridCol w="808469">
                  <a:extLst>
                    <a:ext uri="{9D8B030D-6E8A-4147-A177-3AD203B41FA5}">
                      <a16:colId xmlns:a16="http://schemas.microsoft.com/office/drawing/2014/main" val="599813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007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9801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黄林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569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966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9803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张英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866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175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9830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王刚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233842"/>
                  </a:ext>
                </a:extLst>
              </a:tr>
            </a:tbl>
          </a:graphicData>
        </a:graphic>
      </p:graphicFrame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0" indent="0"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kern="0" dirty="0"/>
              <a:t>设 </a:t>
            </a:r>
            <a:r>
              <a:rPr lang="en-US" altLang="zh-CN" sz="1800" kern="0" dirty="0"/>
              <a:t>t</a:t>
            </a:r>
            <a:r>
              <a:rPr lang="zh-CN" altLang="en-US" sz="1800" kern="0" dirty="0"/>
              <a:t> 为 </a:t>
            </a:r>
            <a:r>
              <a:rPr lang="en-US" altLang="zh-CN" sz="1800" kern="0" dirty="0"/>
              <a:t>R</a:t>
            </a:r>
            <a:r>
              <a:rPr lang="zh-CN" altLang="en-US" sz="1800" kern="0" dirty="0"/>
              <a:t> 的元组变量，设：</a:t>
            </a:r>
            <a:r>
              <a:rPr lang="en-US" altLang="zh-CN" sz="1800" kern="0" dirty="0"/>
              <a:t>R</a:t>
            </a:r>
            <a:r>
              <a:rPr lang="zh-CN" altLang="en-US" sz="1800" kern="0" dirty="0"/>
              <a:t>（</a:t>
            </a:r>
            <a:r>
              <a:rPr lang="en-US" altLang="zh-CN" sz="1800" kern="0" dirty="0"/>
              <a:t>A</a:t>
            </a:r>
            <a:r>
              <a:rPr lang="en-US" altLang="zh-CN" sz="1800" kern="0" baseline="-25000" dirty="0"/>
              <a:t>1</a:t>
            </a:r>
            <a:r>
              <a:rPr lang="zh-CN" altLang="en-US" sz="1800" kern="0" dirty="0"/>
              <a:t>，</a:t>
            </a:r>
            <a:r>
              <a:rPr lang="en-US" altLang="zh-CN" sz="1800" kern="0" dirty="0"/>
              <a:t>A</a:t>
            </a:r>
            <a:r>
              <a:rPr lang="en-US" altLang="zh-CN" sz="1800" kern="0" baseline="-25000" dirty="0"/>
              <a:t>2</a:t>
            </a:r>
            <a:r>
              <a:rPr lang="zh-CN" altLang="en-US" sz="1800" kern="0" dirty="0"/>
              <a:t>，</a:t>
            </a:r>
            <a:r>
              <a:rPr lang="en-US" altLang="zh-CN" sz="1800" kern="0" dirty="0"/>
              <a:t>…A</a:t>
            </a:r>
            <a:r>
              <a:rPr lang="en-US" altLang="zh-CN" sz="1800" kern="0" baseline="-25000" dirty="0"/>
              <a:t>n</a:t>
            </a:r>
            <a:r>
              <a:rPr lang="en-US" altLang="zh-CN" sz="1800" kern="0" dirty="0"/>
              <a:t>) = R(U)</a:t>
            </a: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Font typeface="Wingdings" panose="05000000000000000000" pitchFamily="2" charset="2"/>
              <a:buChar char="Ø"/>
              <a:defRPr/>
            </a:pPr>
            <a:r>
              <a:rPr lang="en-US" altLang="zh-CN" sz="1800" kern="0" dirty="0"/>
              <a:t>t[A</a:t>
            </a:r>
            <a:r>
              <a:rPr lang="en-US" altLang="zh-CN" sz="1800" kern="0" baseline="-25000" dirty="0"/>
              <a:t>i</a:t>
            </a:r>
            <a:r>
              <a:rPr lang="en-US" altLang="zh-CN" sz="1800" kern="0" dirty="0"/>
              <a:t>] (A</a:t>
            </a:r>
            <a:r>
              <a:rPr lang="en-US" altLang="zh-CN" sz="1800" kern="0" baseline="-25000" dirty="0"/>
              <a:t>i</a:t>
            </a:r>
            <a:r>
              <a:rPr lang="zh-CN" altLang="en-US" sz="1800" kern="0" dirty="0"/>
              <a:t>为属性</a:t>
            </a:r>
            <a:r>
              <a:rPr lang="en-US" altLang="zh-CN" sz="1800" kern="0" dirty="0"/>
              <a:t>)</a:t>
            </a:r>
            <a:r>
              <a:rPr lang="zh-CN" altLang="en-US" sz="1800" kern="0" dirty="0"/>
              <a:t>： </a:t>
            </a:r>
            <a:r>
              <a:rPr lang="en-US" altLang="zh-CN" sz="1800" kern="0" dirty="0"/>
              <a:t>R</a:t>
            </a:r>
            <a:r>
              <a:rPr lang="zh-CN" altLang="en-US" sz="1800" kern="0" dirty="0"/>
              <a:t> 在属性集 </a:t>
            </a:r>
            <a:r>
              <a:rPr lang="en-US" altLang="zh-CN" sz="1800" kern="0" dirty="0"/>
              <a:t>A</a:t>
            </a:r>
            <a:r>
              <a:rPr lang="en-US" altLang="zh-CN" sz="1800" kern="0" baseline="-25000" dirty="0"/>
              <a:t>i</a:t>
            </a:r>
            <a:r>
              <a:rPr lang="zh-CN" altLang="en-US" sz="1800" kern="0" baseline="-25000" dirty="0"/>
              <a:t> </a:t>
            </a:r>
            <a:r>
              <a:rPr lang="zh-CN" altLang="en-US" sz="1800" kern="0" dirty="0"/>
              <a:t>上的所有值。</a:t>
            </a: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Font typeface="Wingdings" panose="05000000000000000000" pitchFamily="2" charset="2"/>
              <a:buChar char="Ø"/>
              <a:defRPr/>
            </a:pPr>
            <a:r>
              <a:rPr lang="en-US" altLang="zh-CN" sz="1800" kern="0" dirty="0"/>
              <a:t>t[A]  (A</a:t>
            </a:r>
            <a:r>
              <a:rPr lang="zh-CN" altLang="en-US" sz="1800" kern="0" dirty="0"/>
              <a:t>为属性集</a:t>
            </a:r>
            <a:r>
              <a:rPr lang="en-US" altLang="zh-CN" sz="1800" kern="0" dirty="0"/>
              <a:t>)</a:t>
            </a:r>
            <a:r>
              <a:rPr lang="zh-CN" altLang="en-US" sz="1800" kern="0" dirty="0"/>
              <a:t>，</a:t>
            </a:r>
            <a:r>
              <a:rPr lang="en-US" altLang="zh-CN" sz="1800" kern="0" dirty="0"/>
              <a:t>R</a:t>
            </a:r>
            <a:r>
              <a:rPr lang="zh-CN" altLang="en-US" sz="1800" kern="0" dirty="0"/>
              <a:t>在属性集 </a:t>
            </a:r>
            <a:r>
              <a:rPr lang="en-US" altLang="zh-CN" sz="1800" kern="0" dirty="0"/>
              <a:t>A</a:t>
            </a:r>
            <a:r>
              <a:rPr lang="zh-CN" altLang="en-US" sz="1800" kern="0" dirty="0"/>
              <a:t> 上的所有值。</a:t>
            </a: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Font typeface="Wingdings" panose="05000000000000000000" pitchFamily="2" charset="2"/>
              <a:buChar char="Ø"/>
              <a:defRPr/>
            </a:pPr>
            <a:endParaRPr lang="zh-CN" altLang="en-US" sz="1800" b="1" kern="0" dirty="0"/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None/>
              <a:defRPr/>
            </a:pPr>
            <a:r>
              <a:rPr lang="zh-CN" altLang="en-US" sz="1800" b="1" kern="0" dirty="0"/>
              <a:t>  </a:t>
            </a:r>
            <a:r>
              <a:rPr lang="en-US" altLang="zh-CN" sz="1800" b="1" kern="0" dirty="0"/>
              <a:t>【</a:t>
            </a:r>
            <a:r>
              <a:rPr lang="zh-CN" altLang="en-US" sz="1800" b="1" kern="0" dirty="0"/>
              <a:t>例</a:t>
            </a:r>
            <a:r>
              <a:rPr lang="en-US" altLang="zh-CN" sz="1800" b="1" kern="0" dirty="0"/>
              <a:t>】</a:t>
            </a:r>
            <a:r>
              <a:rPr lang="en-US" altLang="zh-CN" sz="1800" kern="0" dirty="0">
                <a:solidFill>
                  <a:srgbClr val="FF0000"/>
                </a:solidFill>
              </a:rPr>
              <a:t>t[</a:t>
            </a:r>
            <a:r>
              <a:rPr kumimoji="1" lang="zh-CN" altLang="en-US" sz="1800" kern="0" dirty="0">
                <a:solidFill>
                  <a:srgbClr val="FF0000"/>
                </a:solidFill>
              </a:rPr>
              <a:t>学号</a:t>
            </a:r>
            <a:r>
              <a:rPr kumimoji="1" lang="en-US" altLang="zh-CN" sz="1800" kern="0" dirty="0">
                <a:solidFill>
                  <a:srgbClr val="FF0000"/>
                </a:solidFill>
              </a:rPr>
              <a:t>]</a:t>
            </a:r>
            <a:r>
              <a:rPr kumimoji="1" lang="en-US" altLang="zh-CN" sz="1800" kern="0" dirty="0"/>
              <a:t>--R</a:t>
            </a:r>
            <a:r>
              <a:rPr kumimoji="1" lang="zh-CN" altLang="en-US" sz="1800" kern="0" dirty="0"/>
              <a:t>中学号上的值</a:t>
            </a:r>
            <a:endParaRPr lang="zh-CN" altLang="en-US" sz="1800" kern="0" dirty="0"/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None/>
              <a:defRPr/>
            </a:pPr>
            <a:r>
              <a:rPr lang="zh-CN" altLang="en-US" sz="1800" kern="0" dirty="0"/>
              <a:t>    </a:t>
            </a:r>
            <a:r>
              <a:rPr lang="en-US" altLang="zh-CN" sz="1800" kern="0" dirty="0"/>
              <a:t> </a:t>
            </a:r>
            <a:r>
              <a:rPr lang="zh-CN" altLang="en-US" sz="1800" kern="0" dirty="0"/>
              <a:t>  </a:t>
            </a:r>
            <a:r>
              <a:rPr lang="en-US" altLang="zh-CN" sz="1800" kern="0" dirty="0"/>
              <a:t> </a:t>
            </a:r>
            <a:r>
              <a:rPr lang="zh-CN" altLang="en-US" sz="1800" kern="0" dirty="0"/>
              <a:t>    </a:t>
            </a:r>
            <a:r>
              <a:rPr lang="en-US" altLang="zh-CN" sz="1800" kern="0" dirty="0">
                <a:solidFill>
                  <a:srgbClr val="0070C0"/>
                </a:solidFill>
              </a:rPr>
              <a:t>t[</a:t>
            </a:r>
            <a:r>
              <a:rPr kumimoji="1" lang="zh-CN" altLang="en-US" sz="1800" kern="0" dirty="0">
                <a:solidFill>
                  <a:srgbClr val="0070C0"/>
                </a:solidFill>
              </a:rPr>
              <a:t>学号，姓名</a:t>
            </a:r>
            <a:r>
              <a:rPr kumimoji="1" lang="en-US" altLang="zh-CN" sz="1800" kern="0" dirty="0">
                <a:solidFill>
                  <a:srgbClr val="0070C0"/>
                </a:solidFill>
              </a:rPr>
              <a:t>] </a:t>
            </a:r>
          </a:p>
        </p:txBody>
      </p:sp>
      <p:sp>
        <p:nvSpPr>
          <p:cNvPr id="48138" name="AutoShape 13"/>
          <p:cNvSpPr/>
          <p:nvPr/>
        </p:nvSpPr>
        <p:spPr>
          <a:xfrm>
            <a:off x="5663682" y="3358830"/>
            <a:ext cx="571500" cy="5715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47FFC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/>
            <a:r>
              <a:rPr lang="en-US" altLang="zh-CN" sz="2100" dirty="0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48139" name="Oval 14"/>
          <p:cNvSpPr/>
          <p:nvPr/>
        </p:nvSpPr>
        <p:spPr>
          <a:xfrm>
            <a:off x="6307810" y="2689698"/>
            <a:ext cx="800100" cy="190053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lg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40" name="AutoShape 15"/>
          <p:cNvSpPr/>
          <p:nvPr/>
        </p:nvSpPr>
        <p:spPr>
          <a:xfrm>
            <a:off x="6307810" y="2750949"/>
            <a:ext cx="1657350" cy="1767550"/>
          </a:xfrm>
          <a:prstGeom prst="flowChartAlternateProcess">
            <a:avLst/>
          </a:prstGeom>
          <a:noFill/>
          <a:ln w="38100" cap="flat" cmpd="sng">
            <a:solidFill>
              <a:srgbClr val="00B0F0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2546EF3-7DBC-9D65-C44D-7C5B0BD3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记号定义</a:t>
            </a: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b="1" kern="0" dirty="0">
                <a:solidFill>
                  <a:srgbClr val="FF0000"/>
                </a:solidFill>
              </a:rPr>
              <a:t>（</a:t>
            </a:r>
            <a:r>
              <a:rPr lang="en-US" altLang="zh-CN" sz="1800" b="1" kern="0" dirty="0">
                <a:solidFill>
                  <a:srgbClr val="FF0000"/>
                </a:solidFill>
              </a:rPr>
              <a:t>1</a:t>
            </a:r>
            <a:r>
              <a:rPr lang="zh-CN" altLang="en-US" sz="1800" b="1" kern="0" dirty="0">
                <a:solidFill>
                  <a:srgbClr val="FF0000"/>
                </a:solidFill>
              </a:rPr>
              <a:t>）选择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dirty="0"/>
              <a:t>是</a:t>
            </a:r>
            <a:r>
              <a:rPr lang="zh-CN" altLang="en-US" sz="1800" kern="0" dirty="0">
                <a:solidFill>
                  <a:srgbClr val="FF0000"/>
                </a:solidFill>
              </a:rPr>
              <a:t>行</a:t>
            </a:r>
            <a:r>
              <a:rPr lang="zh-CN" altLang="en-US" sz="1800" kern="0" dirty="0"/>
              <a:t>上的选择，产生同类关系。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b="1" kern="0" dirty="0">
                <a:latin typeface="+mn-lt"/>
                <a:ea typeface="+mn-ea"/>
              </a:rPr>
              <a:t>  </a:t>
            </a:r>
            <a:r>
              <a:rPr lang="en-US" altLang="zh-CN" sz="2700" b="1" kern="0" dirty="0">
                <a:latin typeface="宋体" panose="02010600030101010101" pitchFamily="2" charset="-122"/>
                <a:ea typeface="+mn-ea"/>
              </a:rPr>
              <a:t>σ</a:t>
            </a:r>
            <a:r>
              <a:rPr lang="en-US" altLang="zh-CN" sz="1800" b="1" kern="0" dirty="0">
                <a:latin typeface="+mn-lt"/>
                <a:ea typeface="+mn-ea"/>
              </a:rPr>
              <a:t> </a:t>
            </a:r>
            <a:r>
              <a:rPr lang="en-US" altLang="zh-CN" sz="1800" b="1" kern="0" baseline="-25000" dirty="0">
                <a:latin typeface="+mn-lt"/>
                <a:ea typeface="+mn-ea"/>
              </a:rPr>
              <a:t>F</a:t>
            </a:r>
            <a:r>
              <a:rPr lang="en-US" altLang="zh-CN" sz="1800" b="1" kern="0" dirty="0">
                <a:latin typeface="宋体" panose="02010600030101010101" pitchFamily="2" charset="-122"/>
                <a:ea typeface="+mn-ea"/>
              </a:rPr>
              <a:t>(R)={t|(</a:t>
            </a:r>
            <a:r>
              <a:rPr lang="en-US" altLang="zh-CN" sz="1800" b="1" kern="0" dirty="0" err="1">
                <a:latin typeface="宋体" panose="02010600030101010101" pitchFamily="2" charset="-122"/>
                <a:ea typeface="+mn-ea"/>
              </a:rPr>
              <a:t>t∈R</a:t>
            </a:r>
            <a:r>
              <a:rPr lang="en-US" altLang="zh-CN" sz="1800" b="1" kern="0" dirty="0">
                <a:latin typeface="宋体" panose="02010600030101010101" pitchFamily="2" charset="-122"/>
                <a:ea typeface="+mn-ea"/>
              </a:rPr>
              <a:t>)∧F( t )=true}}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dirty="0"/>
              <a:t>含义：</a:t>
            </a:r>
            <a:r>
              <a:rPr lang="zh-CN" altLang="en-US" sz="1800" kern="0" dirty="0">
                <a:solidFill>
                  <a:srgbClr val="FF0000"/>
                </a:solidFill>
              </a:rPr>
              <a:t>由</a:t>
            </a:r>
            <a:r>
              <a:rPr lang="en-US" altLang="zh-CN" sz="1800" kern="0" dirty="0">
                <a:solidFill>
                  <a:srgbClr val="FF0000"/>
                </a:solidFill>
              </a:rPr>
              <a:t>R</a:t>
            </a:r>
            <a:r>
              <a:rPr lang="zh-CN" altLang="en-US" sz="1800" kern="0" dirty="0">
                <a:solidFill>
                  <a:srgbClr val="FF0000"/>
                </a:solidFill>
              </a:rPr>
              <a:t>中满足</a:t>
            </a:r>
            <a:r>
              <a:rPr lang="en-US" altLang="zh-CN" sz="1800" kern="0" dirty="0">
                <a:solidFill>
                  <a:srgbClr val="FF0000"/>
                </a:solidFill>
              </a:rPr>
              <a:t>F</a:t>
            </a:r>
            <a:r>
              <a:rPr lang="zh-CN" altLang="en-US" sz="1800" kern="0" dirty="0">
                <a:solidFill>
                  <a:srgbClr val="FF0000"/>
                </a:solidFill>
              </a:rPr>
              <a:t>条件的元组组成。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dirty="0"/>
              <a:t>其中：</a:t>
            </a:r>
            <a:r>
              <a:rPr lang="en-US" altLang="zh-CN" sz="1800" kern="0" dirty="0"/>
              <a:t>F</a:t>
            </a:r>
            <a:r>
              <a:rPr lang="zh-CN" altLang="en-US" sz="1800" kern="0" dirty="0"/>
              <a:t>由属性名（值）、比较符、逻辑运算符组成。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b="1" kern="0" dirty="0">
                <a:latin typeface="+mn-lt"/>
                <a:ea typeface="+mn-ea"/>
              </a:rPr>
              <a:t>     例</a:t>
            </a:r>
            <a:r>
              <a:rPr lang="zh-CN" altLang="en-US" sz="1800" kern="0" dirty="0">
                <a:latin typeface="+mn-lt"/>
                <a:ea typeface="+mn-ea"/>
              </a:rPr>
              <a:t>： </a:t>
            </a:r>
            <a:r>
              <a:rPr lang="en-US" altLang="zh-CN" sz="2400" b="1" kern="0" dirty="0">
                <a:latin typeface="宋体" panose="02010600030101010101" pitchFamily="2" charset="-122"/>
                <a:ea typeface="+mn-ea"/>
              </a:rPr>
              <a:t>σ</a:t>
            </a:r>
            <a:r>
              <a:rPr lang="en-US" altLang="zh-CN" sz="1800" kern="0" dirty="0">
                <a:latin typeface="+mn-lt"/>
                <a:ea typeface="+mn-ea"/>
              </a:rPr>
              <a:t> </a:t>
            </a:r>
            <a:r>
              <a:rPr lang="en-US" altLang="zh-CN" sz="1800" kern="0" baseline="-25000" dirty="0">
                <a:latin typeface="+mn-lt"/>
                <a:ea typeface="+mn-ea"/>
              </a:rPr>
              <a:t>A2&gt;5</a:t>
            </a:r>
            <a:r>
              <a:rPr lang="en-US" altLang="zh-CN" sz="1800" b="1" kern="0" dirty="0">
                <a:latin typeface="+mn-lt"/>
                <a:ea typeface="+mn-ea"/>
              </a:rPr>
              <a:t> </a:t>
            </a:r>
            <a:r>
              <a:rPr kumimoji="1" lang="en-US" altLang="zh-CN" sz="1800" b="1" kern="0" baseline="-25000" dirty="0">
                <a:latin typeface="宋体" panose="02010600030101010101" pitchFamily="2" charset="-122"/>
                <a:ea typeface="+mn-ea"/>
              </a:rPr>
              <a:t>∨A3 ≠</a:t>
            </a:r>
            <a:r>
              <a:rPr kumimoji="1" lang="en-US" altLang="zh-CN" sz="1800" b="1" kern="0" baseline="-25000" dirty="0">
                <a:latin typeface="+mn-lt"/>
                <a:ea typeface="+mn-ea"/>
              </a:rPr>
              <a:t>“f”</a:t>
            </a:r>
            <a:r>
              <a:rPr kumimoji="1" lang="en-US" altLang="zh-CN" sz="1800" b="1" kern="0" dirty="0">
                <a:latin typeface="宋体" panose="02010600030101010101" pitchFamily="2" charset="-122"/>
                <a:ea typeface="+mn-ea"/>
              </a:rPr>
              <a:t>(</a:t>
            </a:r>
            <a:r>
              <a:rPr kumimoji="1" lang="en-US" altLang="zh-CN" sz="1800" kern="0" dirty="0">
                <a:latin typeface="+mn-lt"/>
                <a:ea typeface="+mn-ea"/>
              </a:rPr>
              <a:t>R</a:t>
            </a:r>
            <a:r>
              <a:rPr kumimoji="1" lang="en-US" altLang="zh-CN" sz="1800" b="1" kern="0" dirty="0">
                <a:latin typeface="宋体" panose="02010600030101010101" pitchFamily="2" charset="-122"/>
                <a:ea typeface="+mn-ea"/>
              </a:rPr>
              <a:t>)</a:t>
            </a:r>
            <a:endParaRPr lang="en-US" altLang="zh-CN" sz="1800" b="1" kern="0" dirty="0">
              <a:latin typeface="+mn-lt"/>
              <a:ea typeface="+mn-ea"/>
            </a:endParaRPr>
          </a:p>
          <a:p>
            <a:pPr marL="257175" indent="-257175" defTabSz="6858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b="1" kern="0" dirty="0">
                <a:latin typeface="+mn-lt"/>
                <a:ea typeface="+mn-ea"/>
              </a:rPr>
              <a:t>     </a:t>
            </a:r>
            <a:r>
              <a:rPr lang="zh-CN" altLang="en-US" sz="1800" b="1" kern="0" dirty="0">
                <a:latin typeface="+mn-lt"/>
                <a:ea typeface="+mn-ea"/>
              </a:rPr>
              <a:t>或</a:t>
            </a:r>
            <a:r>
              <a:rPr lang="zh-CN" altLang="en-US" sz="1800" kern="0" dirty="0">
                <a:latin typeface="+mn-lt"/>
                <a:ea typeface="+mn-ea"/>
              </a:rPr>
              <a:t>： </a:t>
            </a:r>
            <a:r>
              <a:rPr lang="en-US" altLang="zh-CN" sz="2400" b="1" kern="0" dirty="0">
                <a:latin typeface="宋体" panose="02010600030101010101" pitchFamily="2" charset="-122"/>
                <a:ea typeface="+mn-ea"/>
              </a:rPr>
              <a:t>σ</a:t>
            </a:r>
            <a:r>
              <a:rPr lang="en-US" altLang="zh-CN" sz="1800" kern="0" dirty="0">
                <a:latin typeface="+mn-lt"/>
                <a:ea typeface="+mn-ea"/>
              </a:rPr>
              <a:t> </a:t>
            </a:r>
            <a:r>
              <a:rPr lang="en-US" altLang="zh-CN" sz="1800" kern="0" baseline="-25000" dirty="0">
                <a:latin typeface="+mn-lt"/>
                <a:ea typeface="+mn-ea"/>
              </a:rPr>
              <a:t>[2]&gt;5</a:t>
            </a:r>
            <a:r>
              <a:rPr lang="en-US" altLang="zh-CN" sz="1800" b="1" kern="0" dirty="0">
                <a:latin typeface="+mn-lt"/>
                <a:ea typeface="+mn-ea"/>
              </a:rPr>
              <a:t> </a:t>
            </a:r>
            <a:r>
              <a:rPr kumimoji="1" lang="en-US" altLang="zh-CN" sz="1800" b="1" kern="0" baseline="-25000" dirty="0">
                <a:latin typeface="宋体" panose="02010600030101010101" pitchFamily="2" charset="-122"/>
                <a:ea typeface="+mn-ea"/>
              </a:rPr>
              <a:t>∨[3] ≠</a:t>
            </a:r>
            <a:r>
              <a:rPr kumimoji="1" lang="en-US" altLang="zh-CN" sz="1800" b="1" kern="0" baseline="-25000" dirty="0">
                <a:latin typeface="+mn-lt"/>
                <a:ea typeface="+mn-ea"/>
              </a:rPr>
              <a:t>“f”</a:t>
            </a:r>
            <a:r>
              <a:rPr kumimoji="1" lang="en-US" altLang="zh-CN" sz="1800" b="1" kern="0" dirty="0">
                <a:latin typeface="宋体" panose="02010600030101010101" pitchFamily="2" charset="-122"/>
                <a:ea typeface="+mn-ea"/>
              </a:rPr>
              <a:t>(</a:t>
            </a:r>
            <a:r>
              <a:rPr kumimoji="1" lang="en-US" altLang="zh-CN" sz="1800" kern="0" dirty="0">
                <a:latin typeface="+mn-lt"/>
                <a:ea typeface="+mn-ea"/>
              </a:rPr>
              <a:t>R</a:t>
            </a:r>
            <a:r>
              <a:rPr kumimoji="1" lang="en-US" altLang="zh-CN" sz="1800" b="1" kern="0" dirty="0">
                <a:latin typeface="宋体" panose="02010600030101010101" pitchFamily="2" charset="-122"/>
                <a:ea typeface="+mn-ea"/>
              </a:rPr>
              <a:t>)</a:t>
            </a:r>
            <a:endParaRPr lang="zh-CN" altLang="en-US" sz="1800" kern="0" dirty="0">
              <a:latin typeface="+mn-lt"/>
              <a:ea typeface="+mn-ea"/>
            </a:endParaRPr>
          </a:p>
          <a:p>
            <a:pPr marL="0" indent="0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endParaRPr lang="en-US" altLang="zh-CN" sz="675" b="1" kern="0" dirty="0">
              <a:solidFill>
                <a:schemeClr val="hlink"/>
              </a:solidFill>
              <a:latin typeface="+mn-lt"/>
              <a:ea typeface="+mn-ea"/>
            </a:endParaRP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dirty="0"/>
              <a:t>选择运算是从</a:t>
            </a:r>
            <a:r>
              <a:rPr lang="zh-CN" altLang="en-US" sz="1800" kern="0" dirty="0">
                <a:solidFill>
                  <a:srgbClr val="FF0000"/>
                </a:solidFill>
              </a:rPr>
              <a:t>行</a:t>
            </a:r>
            <a:r>
              <a:rPr lang="zh-CN" altLang="en-US" sz="1800" kern="0" dirty="0"/>
              <a:t>的角度进行的运算</a:t>
            </a:r>
          </a:p>
        </p:txBody>
      </p:sp>
      <p:sp>
        <p:nvSpPr>
          <p:cNvPr id="49154" name="Rectangle 31"/>
          <p:cNvSpPr/>
          <p:nvPr/>
        </p:nvSpPr>
        <p:spPr>
          <a:xfrm>
            <a:off x="9152009" y="2632473"/>
            <a:ext cx="72136" cy="27699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5" name="Rectangle 32"/>
          <p:cNvSpPr/>
          <p:nvPr/>
        </p:nvSpPr>
        <p:spPr>
          <a:xfrm>
            <a:off x="6802907" y="2632472"/>
            <a:ext cx="65" cy="41549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 lang="zh-CN" altLang="zh-CN" sz="2700" dirty="0">
              <a:solidFill>
                <a:schemeClr val="hlin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Rectangle 33"/>
          <p:cNvSpPr/>
          <p:nvPr/>
        </p:nvSpPr>
        <p:spPr>
          <a:xfrm>
            <a:off x="6802906" y="2678907"/>
            <a:ext cx="2298706" cy="36933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σ</a:t>
            </a:r>
            <a:r>
              <a:rPr lang="en-US" altLang="zh-CN" sz="2400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100" baseline="-25000" dirty="0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[2]&gt;5</a:t>
            </a:r>
            <a:r>
              <a:rPr lang="en-US" altLang="zh-CN" sz="2400" b="1" dirty="0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1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∨</a:t>
            </a:r>
            <a:r>
              <a:rPr lang="en-US" altLang="zh-CN" sz="2100" b="1" baseline="-25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[3] ≠</a:t>
            </a:r>
            <a:r>
              <a:rPr lang="en-US" altLang="zh-CN" sz="2100" b="1" baseline="-2500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“f”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R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Text Box 59"/>
          <p:cNvSpPr txBox="1"/>
          <p:nvPr/>
        </p:nvSpPr>
        <p:spPr>
          <a:xfrm>
            <a:off x="7105325" y="1988345"/>
            <a:ext cx="457200" cy="3231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500" b="1" dirty="0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√</a:t>
            </a:r>
          </a:p>
        </p:txBody>
      </p:sp>
      <p:sp>
        <p:nvSpPr>
          <p:cNvPr id="49158" name="Text Box 60"/>
          <p:cNvSpPr txBox="1"/>
          <p:nvPr/>
        </p:nvSpPr>
        <p:spPr>
          <a:xfrm>
            <a:off x="7126756" y="2282429"/>
            <a:ext cx="457200" cy="3231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500" b="1" dirty="0">
                <a:solidFill>
                  <a:srgbClr val="00B0F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√</a:t>
            </a:r>
          </a:p>
        </p:txBody>
      </p:sp>
      <p:sp>
        <p:nvSpPr>
          <p:cNvPr id="49159" name="Text Box 61"/>
          <p:cNvSpPr txBox="1"/>
          <p:nvPr/>
        </p:nvSpPr>
        <p:spPr>
          <a:xfrm>
            <a:off x="7124375" y="1718073"/>
            <a:ext cx="457200" cy="3231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5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√</a:t>
            </a:r>
          </a:p>
        </p:txBody>
      </p:sp>
      <p:sp>
        <p:nvSpPr>
          <p:cNvPr id="49160" name="Text Box 62"/>
          <p:cNvSpPr txBox="1"/>
          <p:nvPr/>
        </p:nvSpPr>
        <p:spPr>
          <a:xfrm>
            <a:off x="7126756" y="1447801"/>
            <a:ext cx="457200" cy="3231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5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√</a:t>
            </a:r>
          </a:p>
        </p:txBody>
      </p:sp>
      <p:grpSp>
        <p:nvGrpSpPr>
          <p:cNvPr id="49161" name="Group 73"/>
          <p:cNvGrpSpPr/>
          <p:nvPr/>
        </p:nvGrpSpPr>
        <p:grpSpPr>
          <a:xfrm>
            <a:off x="4644770" y="4073415"/>
            <a:ext cx="2268141" cy="681038"/>
            <a:chOff x="2448" y="1728"/>
            <a:chExt cx="2640" cy="768"/>
          </a:xfrm>
        </p:grpSpPr>
        <p:sp>
          <p:nvSpPr>
            <p:cNvPr id="49162" name="Rectangle 74"/>
            <p:cNvSpPr/>
            <p:nvPr/>
          </p:nvSpPr>
          <p:spPr>
            <a:xfrm>
              <a:off x="2448" y="172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3" name="Rectangle 75" descr="浅色下对角线"/>
            <p:cNvSpPr/>
            <p:nvPr/>
          </p:nvSpPr>
          <p:spPr>
            <a:xfrm>
              <a:off x="2448" y="1824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4" name="Rectangle 76"/>
            <p:cNvSpPr/>
            <p:nvPr/>
          </p:nvSpPr>
          <p:spPr>
            <a:xfrm>
              <a:off x="2448" y="192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5" name="Rectangle 77"/>
            <p:cNvSpPr/>
            <p:nvPr/>
          </p:nvSpPr>
          <p:spPr>
            <a:xfrm>
              <a:off x="2448" y="2400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6" name="Rectangle 78"/>
            <p:cNvSpPr/>
            <p:nvPr/>
          </p:nvSpPr>
          <p:spPr>
            <a:xfrm>
              <a:off x="2448" y="2016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7" name="Rectangle 79" descr="浅色下对角线"/>
            <p:cNvSpPr/>
            <p:nvPr/>
          </p:nvSpPr>
          <p:spPr>
            <a:xfrm>
              <a:off x="2448" y="2112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8" name="Rectangle 80"/>
            <p:cNvSpPr/>
            <p:nvPr/>
          </p:nvSpPr>
          <p:spPr>
            <a:xfrm>
              <a:off x="2448" y="2208"/>
              <a:ext cx="912" cy="96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9" name="Rectangle 81" descr="浅色下对角线"/>
            <p:cNvSpPr/>
            <p:nvPr/>
          </p:nvSpPr>
          <p:spPr>
            <a:xfrm>
              <a:off x="2448" y="2304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70" name="Rectangle 82" descr="浅色下对角线"/>
            <p:cNvSpPr/>
            <p:nvPr/>
          </p:nvSpPr>
          <p:spPr>
            <a:xfrm>
              <a:off x="4176" y="2112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71" name="Rectangle 83" descr="浅色下对角线"/>
            <p:cNvSpPr/>
            <p:nvPr/>
          </p:nvSpPr>
          <p:spPr>
            <a:xfrm>
              <a:off x="4176" y="2016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72" name="Rectangle 84" descr="浅色下对角线"/>
            <p:cNvSpPr/>
            <p:nvPr/>
          </p:nvSpPr>
          <p:spPr>
            <a:xfrm>
              <a:off x="4176" y="1920"/>
              <a:ext cx="912" cy="96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73" name="AutoShape 85"/>
            <p:cNvSpPr/>
            <p:nvPr/>
          </p:nvSpPr>
          <p:spPr>
            <a:xfrm>
              <a:off x="3552" y="2016"/>
              <a:ext cx="528" cy="144"/>
            </a:xfrm>
            <a:prstGeom prst="rightArrow">
              <a:avLst>
                <a:gd name="adj1" fmla="val 50000"/>
                <a:gd name="adj2" fmla="val 91462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74" name="Text Box 86"/>
            <p:cNvSpPr txBox="1"/>
            <p:nvPr/>
          </p:nvSpPr>
          <p:spPr>
            <a:xfrm>
              <a:off x="3553" y="1728"/>
              <a:ext cx="430" cy="41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σ</a:t>
              </a:r>
              <a:endParaRPr lang="en-US" altLang="zh-CN" sz="15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87" name="表格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640166"/>
              </p:ext>
            </p:extLst>
          </p:nvPr>
        </p:nvGraphicFramePr>
        <p:xfrm>
          <a:off x="7427985" y="608410"/>
          <a:ext cx="1518762" cy="197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754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R</a:t>
                      </a:r>
                      <a:endParaRPr lang="zh-CN" altLang="en-US" sz="14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1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2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3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b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e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8" name="表格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041056"/>
              </p:ext>
            </p:extLst>
          </p:nvPr>
        </p:nvGraphicFramePr>
        <p:xfrm>
          <a:off x="7444653" y="3284935"/>
          <a:ext cx="1518762" cy="1409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1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2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3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b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e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20C4787F-3101-D729-9615-87BE99D0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专门的关系运算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68580" tIns="34290" rIns="68580" bIns="34290" numCol="1" anchor="t" anchorCtr="0" compatLnSpc="1">
            <a:normAutofit/>
          </a:bodyPr>
          <a:lstStyle/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b="1" kern="0" dirty="0">
                <a:solidFill>
                  <a:srgbClr val="FF0000"/>
                </a:solidFill>
              </a:rPr>
              <a:t>（</a:t>
            </a:r>
            <a:r>
              <a:rPr lang="en-US" altLang="zh-CN" sz="1800" b="1" kern="0" dirty="0">
                <a:solidFill>
                  <a:srgbClr val="FF0000"/>
                </a:solidFill>
              </a:rPr>
              <a:t>2</a:t>
            </a:r>
            <a:r>
              <a:rPr lang="zh-CN" altLang="en-US" sz="1800" b="1" kern="0" dirty="0">
                <a:solidFill>
                  <a:srgbClr val="FF0000"/>
                </a:solidFill>
              </a:rPr>
              <a:t>）投影运算</a:t>
            </a:r>
            <a:endParaRPr lang="zh-CN" altLang="en-US" sz="1800" kern="0" dirty="0"/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kern="0" dirty="0"/>
              <a:t>是</a:t>
            </a:r>
            <a:r>
              <a:rPr lang="zh-CN" altLang="en-US" sz="1800" kern="0" dirty="0">
                <a:solidFill>
                  <a:srgbClr val="FF0000"/>
                </a:solidFill>
              </a:rPr>
              <a:t>列</a:t>
            </a:r>
            <a:r>
              <a:rPr lang="zh-CN" altLang="en-US" sz="1800" kern="0" dirty="0"/>
              <a:t>上的选择，产生不同类关系。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b="1" kern="0" dirty="0">
                <a:latin typeface="+mn-lt"/>
                <a:ea typeface="+mn-ea"/>
              </a:rPr>
              <a:t>   </a:t>
            </a:r>
            <a:r>
              <a:rPr lang="en-US" altLang="zh-CN" sz="1800" b="1" kern="0" dirty="0">
                <a:latin typeface="+mn-lt"/>
                <a:ea typeface="楷体_GB2312" pitchFamily="49" charset="-122"/>
              </a:rPr>
              <a:t>Π</a:t>
            </a:r>
            <a:r>
              <a:rPr lang="en-US" altLang="zh-CN" sz="1800" b="1" kern="0" baseline="-25000" dirty="0">
                <a:latin typeface="+mn-lt"/>
                <a:ea typeface="+mn-ea"/>
              </a:rPr>
              <a:t>A</a:t>
            </a:r>
            <a:r>
              <a:rPr lang="en-US" altLang="zh-CN" sz="1800" b="1" kern="0" dirty="0">
                <a:latin typeface="+mn-lt"/>
                <a:ea typeface="+mn-ea"/>
              </a:rPr>
              <a:t>(R)=</a:t>
            </a:r>
            <a:r>
              <a:rPr lang="en-US" altLang="zh-CN" sz="1800" kern="0" dirty="0">
                <a:latin typeface="+mn-lt"/>
                <a:ea typeface="+mn-ea"/>
              </a:rPr>
              <a:t>{t[A] |(</a:t>
            </a:r>
            <a:r>
              <a:rPr lang="en-US" altLang="zh-CN" sz="1800" kern="0" dirty="0" err="1">
                <a:latin typeface="+mn-lt"/>
                <a:ea typeface="+mn-ea"/>
              </a:rPr>
              <a:t>t∈R</a:t>
            </a:r>
            <a:r>
              <a:rPr lang="en-US" altLang="zh-CN" sz="1800" kern="0" dirty="0">
                <a:latin typeface="+mn-lt"/>
                <a:ea typeface="+mn-ea"/>
              </a:rPr>
              <a:t>) }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endParaRPr lang="en-US" altLang="zh-CN" sz="1800" kern="0" dirty="0">
              <a:latin typeface="+mn-lt"/>
              <a:ea typeface="+mn-ea"/>
            </a:endParaRP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b="1" kern="0" dirty="0"/>
              <a:t>含义：</a:t>
            </a:r>
            <a:r>
              <a:rPr lang="en-US" altLang="zh-CN" sz="1800" kern="0" dirty="0">
                <a:solidFill>
                  <a:srgbClr val="FF0000"/>
                </a:solidFill>
              </a:rPr>
              <a:t>R</a:t>
            </a:r>
            <a:r>
              <a:rPr lang="zh-CN" altLang="en-US" sz="1800" kern="0" dirty="0">
                <a:solidFill>
                  <a:srgbClr val="FF0000"/>
                </a:solidFill>
              </a:rPr>
              <a:t>中取属性名表</a:t>
            </a:r>
            <a:r>
              <a:rPr lang="en-US" altLang="zh-CN" sz="1800" kern="0" dirty="0">
                <a:solidFill>
                  <a:srgbClr val="FF0000"/>
                </a:solidFill>
              </a:rPr>
              <a:t>A</a:t>
            </a:r>
            <a:r>
              <a:rPr lang="zh-CN" altLang="en-US" sz="1800" kern="0" dirty="0">
                <a:solidFill>
                  <a:srgbClr val="FF0000"/>
                </a:solidFill>
              </a:rPr>
              <a:t>中指定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kern="0" dirty="0">
                <a:solidFill>
                  <a:srgbClr val="FF0000"/>
                </a:solidFill>
              </a:rPr>
              <a:t>              的列，消除重复元组。</a:t>
            </a: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endParaRPr lang="en-US" altLang="zh-CN" sz="1800" b="1" kern="0" dirty="0">
              <a:solidFill>
                <a:srgbClr val="FF0000"/>
              </a:solidFill>
              <a:latin typeface="+mn-lt"/>
              <a:ea typeface="+mn-ea"/>
            </a:endParaRP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en-US" altLang="zh-CN" sz="1800" kern="0" dirty="0">
                <a:latin typeface="+mn-lt"/>
                <a:ea typeface="+mn-ea"/>
              </a:rPr>
              <a:t> </a:t>
            </a:r>
            <a:r>
              <a:rPr lang="zh-CN" altLang="en-US" sz="1800" kern="0" dirty="0">
                <a:latin typeface="+mn-lt"/>
                <a:ea typeface="+mn-ea"/>
              </a:rPr>
              <a:t>例： </a:t>
            </a:r>
            <a:r>
              <a:rPr lang="en-US" altLang="zh-CN" sz="1800" b="1" dirty="0">
                <a:latin typeface="宋体" panose="02010600030101010101" pitchFamily="2" charset="-122"/>
                <a:ea typeface="+mn-ea"/>
              </a:rPr>
              <a:t>Π</a:t>
            </a:r>
            <a:r>
              <a:rPr lang="en-US" altLang="zh-CN" sz="1800" kern="0" baseline="-25000" dirty="0">
                <a:solidFill>
                  <a:srgbClr val="FF0000"/>
                </a:solidFill>
                <a:latin typeface="+mn-lt"/>
                <a:ea typeface="+mn-ea"/>
              </a:rPr>
              <a:t>A3</a:t>
            </a:r>
            <a:r>
              <a:rPr lang="zh-CN" altLang="en-US" sz="1800" kern="0" baseline="-25000" dirty="0">
                <a:latin typeface="+mn-lt"/>
                <a:ea typeface="+mn-ea"/>
              </a:rPr>
              <a:t>，</a:t>
            </a:r>
            <a:r>
              <a:rPr lang="en-US" altLang="zh-CN" sz="1800" kern="0" baseline="-25000" dirty="0">
                <a:solidFill>
                  <a:srgbClr val="00B0F0"/>
                </a:solidFill>
                <a:latin typeface="+mn-lt"/>
                <a:ea typeface="+mn-ea"/>
              </a:rPr>
              <a:t>A2</a:t>
            </a:r>
            <a:r>
              <a:rPr lang="en-US" altLang="zh-CN" sz="1800" kern="0" dirty="0">
                <a:latin typeface="+mn-lt"/>
                <a:ea typeface="+mn-ea"/>
              </a:rPr>
              <a:t>(R)</a:t>
            </a:r>
            <a:endParaRPr lang="zh-CN" altLang="en-US" sz="1800" kern="0" dirty="0">
              <a:latin typeface="+mn-lt"/>
              <a:ea typeface="+mn-ea"/>
            </a:endParaRPr>
          </a:p>
        </p:txBody>
      </p:sp>
      <p:sp>
        <p:nvSpPr>
          <p:cNvPr id="51202" name="Rectangle 7"/>
          <p:cNvSpPr/>
          <p:nvPr/>
        </p:nvSpPr>
        <p:spPr>
          <a:xfrm>
            <a:off x="3371850" y="0"/>
            <a:ext cx="539354" cy="36933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 dirty="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sz="2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1203" name="Group 22"/>
          <p:cNvGrpSpPr/>
          <p:nvPr/>
        </p:nvGrpSpPr>
        <p:grpSpPr>
          <a:xfrm>
            <a:off x="5381626" y="2934086"/>
            <a:ext cx="1594247" cy="509588"/>
            <a:chOff x="2976" y="336"/>
            <a:chExt cx="1339" cy="428"/>
          </a:xfrm>
        </p:grpSpPr>
        <p:sp>
          <p:nvSpPr>
            <p:cNvPr id="51204" name="Rectangle 23"/>
            <p:cNvSpPr/>
            <p:nvPr/>
          </p:nvSpPr>
          <p:spPr>
            <a:xfrm>
              <a:off x="3120" y="336"/>
              <a:ext cx="880" cy="428"/>
            </a:xfrm>
            <a:prstGeom prst="rect">
              <a:avLst/>
            </a:prstGeom>
            <a:solidFill>
              <a:srgbClr val="FFFFFF"/>
            </a:solidFill>
            <a:ln w="17463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5" name="Rectangle 24"/>
            <p:cNvSpPr/>
            <p:nvPr/>
          </p:nvSpPr>
          <p:spPr>
            <a:xfrm>
              <a:off x="3360" y="528"/>
              <a:ext cx="14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500" dirty="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3</a:t>
              </a:r>
              <a:r>
                <a:rPr lang="en-US" altLang="zh-CN" dirty="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,</a:t>
              </a:r>
            </a:p>
          </p:txBody>
        </p:sp>
        <p:sp>
          <p:nvSpPr>
            <p:cNvPr id="51206" name="Rectangle 25"/>
            <p:cNvSpPr/>
            <p:nvPr/>
          </p:nvSpPr>
          <p:spPr>
            <a:xfrm>
              <a:off x="3744" y="528"/>
              <a:ext cx="247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r>
                <a:rPr lang="en-US" altLang="zh-CN" sz="1500" dirty="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1207" name="Rectangle 26"/>
            <p:cNvSpPr/>
            <p:nvPr/>
          </p:nvSpPr>
          <p:spPr>
            <a:xfrm>
              <a:off x="2976" y="336"/>
              <a:ext cx="152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100" dirty="0">
                  <a:solidFill>
                    <a:schemeClr val="hlink"/>
                  </a:solidFill>
                  <a:latin typeface="Tahoma" panose="020B0604030504040204" pitchFamily="34" charset="0"/>
                  <a:ea typeface="楷体_GB2312"/>
                </a:rPr>
                <a:t>Π</a:t>
              </a:r>
            </a:p>
          </p:txBody>
        </p:sp>
        <p:sp>
          <p:nvSpPr>
            <p:cNvPr id="51208" name="Rectangle 27"/>
            <p:cNvSpPr/>
            <p:nvPr/>
          </p:nvSpPr>
          <p:spPr>
            <a:xfrm>
              <a:off x="3216" y="480"/>
              <a:ext cx="11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i="1" dirty="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  <a:endPara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09" name="Rectangle 28"/>
            <p:cNvSpPr/>
            <p:nvPr/>
          </p:nvSpPr>
          <p:spPr>
            <a:xfrm>
              <a:off x="3600" y="480"/>
              <a:ext cx="116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i="1" dirty="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A</a:t>
              </a:r>
              <a:endPara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0" name="Text Box 29"/>
            <p:cNvSpPr txBox="1"/>
            <p:nvPr/>
          </p:nvSpPr>
          <p:spPr>
            <a:xfrm>
              <a:off x="3883" y="367"/>
              <a:ext cx="43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lang="en-US" altLang="zh-CN" sz="2400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endParaRPr lang="en-US" altLang="zh-CN" dirty="0">
                <a:solidFill>
                  <a:schemeClr val="hlink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11" name="Freeform 97"/>
          <p:cNvSpPr/>
          <p:nvPr/>
        </p:nvSpPr>
        <p:spPr>
          <a:xfrm>
            <a:off x="7110413" y="1653779"/>
            <a:ext cx="17145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112" h="336">
                <a:moveTo>
                  <a:pt x="0" y="0"/>
                </a:moveTo>
                <a:cubicBezTo>
                  <a:pt x="40" y="28"/>
                  <a:pt x="80" y="56"/>
                  <a:pt x="96" y="96"/>
                </a:cubicBezTo>
                <a:cubicBezTo>
                  <a:pt x="112" y="136"/>
                  <a:pt x="112" y="200"/>
                  <a:pt x="96" y="240"/>
                </a:cubicBezTo>
                <a:cubicBezTo>
                  <a:pt x="80" y="280"/>
                  <a:pt x="40" y="308"/>
                  <a:pt x="0" y="336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miter/>
            <a:headEnd type="arrow" w="med" len="med"/>
            <a:tailEnd type="arrow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51212" name="Freeform 98"/>
          <p:cNvSpPr/>
          <p:nvPr/>
        </p:nvSpPr>
        <p:spPr>
          <a:xfrm>
            <a:off x="7128272" y="2188369"/>
            <a:ext cx="171450" cy="457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</a:cxnLst>
            <a:rect l="0" t="0" r="0" b="0"/>
            <a:pathLst>
              <a:path w="112" h="336">
                <a:moveTo>
                  <a:pt x="0" y="0"/>
                </a:moveTo>
                <a:cubicBezTo>
                  <a:pt x="40" y="28"/>
                  <a:pt x="80" y="56"/>
                  <a:pt x="96" y="96"/>
                </a:cubicBezTo>
                <a:cubicBezTo>
                  <a:pt x="112" y="136"/>
                  <a:pt x="112" y="200"/>
                  <a:pt x="96" y="240"/>
                </a:cubicBezTo>
                <a:cubicBezTo>
                  <a:pt x="80" y="280"/>
                  <a:pt x="40" y="308"/>
                  <a:pt x="0" y="336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miter/>
            <a:headEnd type="arrow" w="med" len="med"/>
            <a:tailEnd type="arrow" w="med" len="med"/>
          </a:ln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58" name="表格 57"/>
          <p:cNvGraphicFramePr>
            <a:graphicFrameLocks noGrp="1"/>
          </p:cNvGraphicFramePr>
          <p:nvPr/>
        </p:nvGraphicFramePr>
        <p:xfrm>
          <a:off x="5572126" y="769144"/>
          <a:ext cx="1518762" cy="1973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754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R</a:t>
                      </a:r>
                      <a:endParaRPr lang="zh-CN" altLang="en-US" sz="14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1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2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3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b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e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9" name="表格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802446"/>
              </p:ext>
            </p:extLst>
          </p:nvPr>
        </p:nvGraphicFramePr>
        <p:xfrm>
          <a:off x="5760244" y="3552020"/>
          <a:ext cx="864870" cy="1127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3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r>
                        <a:rPr lang="en-US" altLang="zh-CN" sz="1400" baseline="-25000" dirty="0"/>
                        <a:t>2</a:t>
                      </a:r>
                      <a:endParaRPr lang="zh-CN" altLang="en-US" sz="14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9CFE5BA7-2176-C434-EC6B-0F847168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专门的关系运算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6018700-E24C-F325-9B28-086DA33FEAA4}"/>
              </a:ext>
            </a:extLst>
          </p:cNvPr>
          <p:cNvGrpSpPr/>
          <p:nvPr/>
        </p:nvGrpSpPr>
        <p:grpSpPr>
          <a:xfrm>
            <a:off x="2771836" y="3552020"/>
            <a:ext cx="2057400" cy="1200150"/>
            <a:chOff x="1536" y="1584"/>
            <a:chExt cx="1728" cy="1008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932144D4-7440-61A4-6540-D9DD378C2B85}"/>
                </a:ext>
              </a:extLst>
            </p:cNvPr>
            <p:cNvSpPr/>
            <p:nvPr/>
          </p:nvSpPr>
          <p:spPr>
            <a:xfrm>
              <a:off x="2352" y="2016"/>
              <a:ext cx="528" cy="144"/>
            </a:xfrm>
            <a:prstGeom prst="rightArrow">
              <a:avLst>
                <a:gd name="adj1" fmla="val 50000"/>
                <a:gd name="adj2" fmla="val 91462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B5CA42DF-9604-FFF5-225C-3C3B40B7ABE4}"/>
                </a:ext>
              </a:extLst>
            </p:cNvPr>
            <p:cNvSpPr txBox="1"/>
            <p:nvPr/>
          </p:nvSpPr>
          <p:spPr>
            <a:xfrm>
              <a:off x="2352" y="1728"/>
              <a:ext cx="432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π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D8A0549-C299-DEFE-6257-45988B065866}"/>
                </a:ext>
              </a:extLst>
            </p:cNvPr>
            <p:cNvSpPr/>
            <p:nvPr/>
          </p:nvSpPr>
          <p:spPr>
            <a:xfrm>
              <a:off x="153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Rectangle 8" descr="浅色下对角线">
              <a:extLst>
                <a:ext uri="{FF2B5EF4-FFF2-40B4-BE49-F238E27FC236}">
                  <a16:creationId xmlns:a16="http://schemas.microsoft.com/office/drawing/2014/main" id="{C9891C93-3173-3212-5DBF-24E9FC7B8BB4}"/>
                </a:ext>
              </a:extLst>
            </p:cNvPr>
            <p:cNvSpPr/>
            <p:nvPr/>
          </p:nvSpPr>
          <p:spPr>
            <a:xfrm>
              <a:off x="1632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A04A72-B6ED-FF9B-E912-9069F587138B}"/>
                </a:ext>
              </a:extLst>
            </p:cNvPr>
            <p:cNvSpPr/>
            <p:nvPr/>
          </p:nvSpPr>
          <p:spPr>
            <a:xfrm>
              <a:off x="1728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07F3062-DC1B-81C8-5186-CCC8422F0C83}"/>
                </a:ext>
              </a:extLst>
            </p:cNvPr>
            <p:cNvSpPr/>
            <p:nvPr/>
          </p:nvSpPr>
          <p:spPr>
            <a:xfrm>
              <a:off x="1824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Rectangle 11" descr="浅色下对角线">
              <a:extLst>
                <a:ext uri="{FF2B5EF4-FFF2-40B4-BE49-F238E27FC236}">
                  <a16:creationId xmlns:a16="http://schemas.microsoft.com/office/drawing/2014/main" id="{A97821F8-13EF-DD10-C80D-4D45371A7C42}"/>
                </a:ext>
              </a:extLst>
            </p:cNvPr>
            <p:cNvSpPr/>
            <p:nvPr/>
          </p:nvSpPr>
          <p:spPr>
            <a:xfrm>
              <a:off x="1920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183E9C-A063-8E45-F469-419C28F0FCBC}"/>
                </a:ext>
              </a:extLst>
            </p:cNvPr>
            <p:cNvSpPr/>
            <p:nvPr/>
          </p:nvSpPr>
          <p:spPr>
            <a:xfrm>
              <a:off x="2016" y="1584"/>
              <a:ext cx="96" cy="1008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Rectangle 13" descr="浅色下对角线">
              <a:extLst>
                <a:ext uri="{FF2B5EF4-FFF2-40B4-BE49-F238E27FC236}">
                  <a16:creationId xmlns:a16="http://schemas.microsoft.com/office/drawing/2014/main" id="{5FC7DBBC-C416-730D-2D5A-72FB5812AA53}"/>
                </a:ext>
              </a:extLst>
            </p:cNvPr>
            <p:cNvSpPr/>
            <p:nvPr/>
          </p:nvSpPr>
          <p:spPr>
            <a:xfrm>
              <a:off x="3072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Rectangle 14" descr="浅色下对角线">
              <a:extLst>
                <a:ext uri="{FF2B5EF4-FFF2-40B4-BE49-F238E27FC236}">
                  <a16:creationId xmlns:a16="http://schemas.microsoft.com/office/drawing/2014/main" id="{A6D254CB-7E25-2436-1403-8030605439D2}"/>
                </a:ext>
              </a:extLst>
            </p:cNvPr>
            <p:cNvSpPr/>
            <p:nvPr/>
          </p:nvSpPr>
          <p:spPr>
            <a:xfrm>
              <a:off x="3168" y="1584"/>
              <a:ext cx="96" cy="1008"/>
            </a:xfrm>
            <a:prstGeom prst="rect">
              <a:avLst/>
            </a:prstGeom>
            <a:pattFill prst="ltDnDiag">
              <a:fgClr>
                <a:srgbClr val="000000"/>
              </a:fgClr>
              <a:bgClr>
                <a:srgbClr val="FFFFFF"/>
              </a:bgClr>
            </a:patt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68580" tIns="34290" rIns="68580" bIns="34290" numCol="1" anchor="t" anchorCtr="0" compatLnSpc="1">
            <a:normAutofit/>
          </a:bodyPr>
          <a:lstStyle/>
          <a:p>
            <a:pPr marL="257175" indent="-257175" defTabSz="685800" fontAlgn="base"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2100" b="1" kern="0" dirty="0">
                <a:solidFill>
                  <a:srgbClr val="FF0000"/>
                </a:solidFill>
              </a:rPr>
              <a:t>（</a:t>
            </a:r>
            <a:r>
              <a:rPr lang="en-US" altLang="zh-CN" sz="2100" b="1" kern="0" dirty="0">
                <a:solidFill>
                  <a:srgbClr val="FF0000"/>
                </a:solidFill>
              </a:rPr>
              <a:t>3</a:t>
            </a:r>
            <a:r>
              <a:rPr lang="zh-CN" altLang="en-US" sz="2100" b="1" kern="0" dirty="0">
                <a:solidFill>
                  <a:srgbClr val="FF0000"/>
                </a:solidFill>
              </a:rPr>
              <a:t>）连接运算：</a:t>
            </a:r>
          </a:p>
          <a:p>
            <a:pPr marL="257175" indent="-257175" defTabSz="685800" fontAlgn="base"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kumimoji="1" lang="zh-CN" altLang="en-US" sz="1800" kern="0" dirty="0">
                <a:solidFill>
                  <a:srgbClr val="000000"/>
                </a:solidFill>
                <a:cs typeface="Times New Roman" panose="02020603050405020304" pitchFamily="18" charset="0"/>
              </a:rPr>
              <a:t>① </a:t>
            </a:r>
            <a:r>
              <a:rPr lang="zh-CN" altLang="en-US" sz="1800" kern="0" dirty="0">
                <a:solidFill>
                  <a:schemeClr val="hlink"/>
                </a:solidFill>
              </a:rPr>
              <a:t>一般连接</a:t>
            </a:r>
          </a:p>
          <a:p>
            <a:pPr marL="257175" indent="-257175" defTabSz="685800" fontAlgn="base"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kumimoji="1" lang="zh-CN" altLang="en-US" sz="1800" kern="0" dirty="0"/>
              <a:t>它从两个关系的笛卡尔积中选取属性间满足一定条件的元组。</a:t>
            </a: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endParaRPr lang="en-US" altLang="zh-CN" sz="1800" kern="0" dirty="0">
              <a:latin typeface="+mn-lt"/>
              <a:ea typeface="+mn-ea"/>
            </a:endParaRP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kern="0" dirty="0">
                <a:latin typeface="+mn-lt"/>
                <a:ea typeface="+mn-ea"/>
              </a:rPr>
              <a:t>      </a:t>
            </a:r>
            <a:r>
              <a:rPr lang="en-US" altLang="zh-CN" sz="1800" kern="0" dirty="0">
                <a:latin typeface="+mn-lt"/>
                <a:ea typeface="+mn-ea"/>
              </a:rPr>
              <a:t>R </a:t>
            </a:r>
            <a:r>
              <a:rPr lang="en-US" altLang="zh-CN" sz="2700" b="1" kern="0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</a:rPr>
              <a:t>⋈</a:t>
            </a:r>
            <a:r>
              <a:rPr lang="en-US" altLang="zh-CN" sz="2700" b="1" kern="0" dirty="0">
                <a:latin typeface="+mn-lt"/>
                <a:ea typeface="+mn-ea"/>
              </a:rPr>
              <a:t> </a:t>
            </a:r>
            <a:r>
              <a:rPr lang="en-US" altLang="zh-CN" sz="1800" kern="0" dirty="0">
                <a:latin typeface="+mn-lt"/>
                <a:ea typeface="+mn-ea"/>
              </a:rPr>
              <a:t>S</a:t>
            </a:r>
            <a:r>
              <a:rPr lang="en-US" altLang="zh-CN" sz="2100" kern="0" dirty="0">
                <a:latin typeface="+mn-lt"/>
                <a:ea typeface="+mn-ea"/>
              </a:rPr>
              <a:t>={</a:t>
            </a:r>
            <a:r>
              <a:rPr lang="en-US" altLang="zh-CN" sz="2100" kern="0" dirty="0" err="1">
                <a:latin typeface="+mn-lt"/>
                <a:ea typeface="+mn-ea"/>
              </a:rPr>
              <a:t>t</a:t>
            </a:r>
            <a:r>
              <a:rPr lang="en-US" altLang="zh-CN" sz="1500" b="1" kern="0" dirty="0" err="1">
                <a:latin typeface="+mn-lt"/>
                <a:ea typeface="+mn-ea"/>
              </a:rPr>
              <a:t>r</a:t>
            </a:r>
            <a:r>
              <a:rPr lang="en-US" altLang="zh-CN" sz="2100" kern="0" dirty="0">
                <a:latin typeface="+mn-lt"/>
                <a:ea typeface="+mn-ea"/>
              </a:rPr>
              <a:t> </a:t>
            </a:r>
            <a:r>
              <a:rPr lang="en-US" altLang="zh-CN" sz="2100" kern="0" dirty="0" err="1">
                <a:latin typeface="+mn-lt"/>
                <a:ea typeface="+mn-ea"/>
              </a:rPr>
              <a:t>t</a:t>
            </a:r>
            <a:r>
              <a:rPr lang="en-US" altLang="zh-CN" sz="1500" b="1" kern="0" dirty="0" err="1">
                <a:latin typeface="+mn-lt"/>
                <a:ea typeface="+mn-ea"/>
              </a:rPr>
              <a:t>s</a:t>
            </a:r>
            <a:r>
              <a:rPr lang="en-US" altLang="zh-CN" sz="2100" kern="0" dirty="0">
                <a:latin typeface="+mn-lt"/>
                <a:ea typeface="+mn-ea"/>
              </a:rPr>
              <a:t>|(</a:t>
            </a:r>
            <a:r>
              <a:rPr lang="en-US" altLang="zh-CN" sz="2100" kern="0" dirty="0" err="1">
                <a:latin typeface="+mn-lt"/>
                <a:ea typeface="+mn-ea"/>
              </a:rPr>
              <a:t>t</a:t>
            </a:r>
            <a:r>
              <a:rPr lang="en-US" altLang="zh-CN" sz="1500" b="1" kern="0" dirty="0" err="1">
                <a:latin typeface="+mn-lt"/>
                <a:ea typeface="+mn-ea"/>
              </a:rPr>
              <a:t>r</a:t>
            </a:r>
            <a:r>
              <a:rPr lang="en-US" altLang="zh-CN" sz="2100" b="1" kern="0" dirty="0" err="1">
                <a:latin typeface="+mn-lt"/>
                <a:ea typeface="+mn-ea"/>
              </a:rPr>
              <a:t>∈</a:t>
            </a:r>
            <a:r>
              <a:rPr lang="en-US" altLang="zh-CN" sz="2100" kern="0" dirty="0" err="1">
                <a:latin typeface="+mn-lt"/>
                <a:ea typeface="+mn-ea"/>
              </a:rPr>
              <a:t>R</a:t>
            </a:r>
            <a:r>
              <a:rPr lang="en-US" altLang="zh-CN" sz="2100" kern="0" dirty="0">
                <a:latin typeface="+mn-lt"/>
                <a:ea typeface="+mn-ea"/>
              </a:rPr>
              <a:t>)</a:t>
            </a:r>
            <a:r>
              <a:rPr lang="en-US" altLang="zh-CN" sz="1800" b="1" kern="0" dirty="0">
                <a:latin typeface="+mn-lt"/>
                <a:ea typeface="+mn-ea"/>
              </a:rPr>
              <a:t>∧</a:t>
            </a:r>
            <a:r>
              <a:rPr lang="en-US" altLang="zh-CN" sz="1800" kern="0" dirty="0">
                <a:latin typeface="+mn-lt"/>
                <a:ea typeface="+mn-ea"/>
              </a:rPr>
              <a:t>(</a:t>
            </a:r>
            <a:r>
              <a:rPr lang="en-US" altLang="zh-CN" sz="2100" kern="0" dirty="0" err="1">
                <a:latin typeface="+mn-lt"/>
                <a:ea typeface="+mn-ea"/>
              </a:rPr>
              <a:t>t</a:t>
            </a:r>
            <a:r>
              <a:rPr lang="en-US" altLang="zh-CN" sz="1500" b="1" kern="0" dirty="0" err="1">
                <a:latin typeface="+mn-lt"/>
                <a:ea typeface="+mn-ea"/>
              </a:rPr>
              <a:t>s</a:t>
            </a:r>
            <a:r>
              <a:rPr lang="en-US" altLang="zh-CN" sz="2100" b="1" kern="0" dirty="0" err="1">
                <a:latin typeface="+mn-lt"/>
                <a:ea typeface="+mn-ea"/>
              </a:rPr>
              <a:t>∈</a:t>
            </a:r>
            <a:r>
              <a:rPr lang="en-US" altLang="zh-CN" sz="2100" kern="0" dirty="0" err="1">
                <a:latin typeface="+mn-lt"/>
                <a:ea typeface="+mn-ea"/>
              </a:rPr>
              <a:t>S</a:t>
            </a:r>
            <a:r>
              <a:rPr lang="en-US" altLang="zh-CN" sz="2100" kern="0" dirty="0">
                <a:latin typeface="+mn-lt"/>
                <a:ea typeface="+mn-ea"/>
              </a:rPr>
              <a:t>)</a:t>
            </a:r>
            <a:r>
              <a:rPr lang="en-US" altLang="zh-CN" sz="1800" b="1" kern="0" dirty="0">
                <a:latin typeface="+mn-lt"/>
                <a:ea typeface="+mn-ea"/>
              </a:rPr>
              <a:t>∧</a:t>
            </a:r>
            <a:r>
              <a:rPr lang="en-US" altLang="zh-CN" sz="2100" kern="0" dirty="0" err="1">
                <a:latin typeface="+mn-lt"/>
                <a:ea typeface="+mn-ea"/>
              </a:rPr>
              <a:t>t</a:t>
            </a:r>
            <a:r>
              <a:rPr lang="en-US" altLang="zh-CN" sz="1500" b="1" kern="0" dirty="0" err="1">
                <a:latin typeface="+mn-lt"/>
                <a:ea typeface="+mn-ea"/>
              </a:rPr>
              <a:t>r</a:t>
            </a:r>
            <a:r>
              <a:rPr lang="en-US" altLang="zh-CN" sz="1500" b="1" kern="0" dirty="0">
                <a:latin typeface="+mn-lt"/>
                <a:ea typeface="+mn-ea"/>
              </a:rPr>
              <a:t>[A]</a:t>
            </a:r>
            <a:r>
              <a:rPr lang="en-US" altLang="zh-CN" sz="1500" kern="0" dirty="0">
                <a:latin typeface="+mn-lt"/>
                <a:ea typeface="+mn-ea"/>
              </a:rPr>
              <a:t> </a:t>
            </a:r>
            <a:r>
              <a:rPr kumimoji="1" lang="en-US" altLang="zh-CN" sz="2400" b="1" kern="0" dirty="0">
                <a:latin typeface="Times New Roman" panose="02020603050405020304" pitchFamily="18" charset="0"/>
                <a:ea typeface="+mn-ea"/>
              </a:rPr>
              <a:t>θ</a:t>
            </a:r>
            <a:r>
              <a:rPr lang="en-US" altLang="zh-CN" sz="1500" kern="0" dirty="0">
                <a:latin typeface="+mn-lt"/>
                <a:ea typeface="+mn-ea"/>
              </a:rPr>
              <a:t> </a:t>
            </a:r>
            <a:r>
              <a:rPr lang="en-US" altLang="zh-CN" sz="2100" kern="0" dirty="0" err="1">
                <a:latin typeface="+mn-lt"/>
                <a:ea typeface="+mn-ea"/>
              </a:rPr>
              <a:t>t</a:t>
            </a:r>
            <a:r>
              <a:rPr lang="en-US" altLang="zh-CN" sz="1500" b="1" kern="0" dirty="0" err="1">
                <a:latin typeface="+mn-lt"/>
                <a:ea typeface="+mn-ea"/>
              </a:rPr>
              <a:t>s</a:t>
            </a:r>
            <a:r>
              <a:rPr lang="en-US" altLang="zh-CN" sz="1500" b="1" kern="0" dirty="0">
                <a:latin typeface="+mn-lt"/>
                <a:ea typeface="+mn-ea"/>
              </a:rPr>
              <a:t>[B]</a:t>
            </a:r>
            <a:r>
              <a:rPr lang="en-US" altLang="zh-CN" sz="2100" kern="0" dirty="0">
                <a:latin typeface="+mn-lt"/>
                <a:ea typeface="+mn-ea"/>
              </a:rPr>
              <a:t>}</a:t>
            </a:r>
            <a:endParaRPr lang="en-US" altLang="zh-CN" sz="1800" kern="0" dirty="0">
              <a:latin typeface="+mn-lt"/>
              <a:ea typeface="+mn-ea"/>
            </a:endParaRPr>
          </a:p>
          <a:p>
            <a:pPr marL="257175" indent="-257175" defTabSz="68580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None/>
              <a:defRPr/>
            </a:pPr>
            <a:r>
              <a:rPr kumimoji="1" lang="en-US" altLang="zh-CN" sz="1500" kern="0" dirty="0">
                <a:latin typeface="Times New Roman" panose="02020603050405020304" pitchFamily="18" charset="0"/>
                <a:ea typeface="+mn-ea"/>
              </a:rPr>
              <a:t>  </a:t>
            </a:r>
            <a:r>
              <a:rPr kumimoji="1" lang="en-US" altLang="zh-CN" sz="1800" kern="0" dirty="0">
                <a:latin typeface="Times New Roman" panose="02020603050405020304" pitchFamily="18" charset="0"/>
                <a:ea typeface="+mn-ea"/>
              </a:rPr>
              <a:t>        </a:t>
            </a:r>
            <a:r>
              <a:rPr kumimoji="1" lang="en-US" altLang="zh-CN" sz="1800" b="1" kern="0" baseline="30000" dirty="0">
                <a:latin typeface="+mn-lt"/>
                <a:ea typeface="+mn-ea"/>
              </a:rPr>
              <a:t>A</a:t>
            </a:r>
            <a:r>
              <a:rPr kumimoji="1" lang="en-US" altLang="zh-CN" sz="1800" b="1" kern="0" baseline="30000" dirty="0">
                <a:latin typeface="Times New Roman" panose="02020603050405020304" pitchFamily="18" charset="0"/>
                <a:ea typeface="+mn-ea"/>
              </a:rPr>
              <a:t> θ</a:t>
            </a:r>
            <a:r>
              <a:rPr kumimoji="1" lang="en-US" altLang="zh-CN" sz="1800" b="1" kern="0" baseline="30000" dirty="0">
                <a:latin typeface="+mn-lt"/>
                <a:ea typeface="+mn-ea"/>
              </a:rPr>
              <a:t> B</a:t>
            </a:r>
            <a:r>
              <a:rPr kumimoji="1" lang="en-US" altLang="zh-CN" sz="1500" b="1" kern="0" baseline="30000" dirty="0">
                <a:latin typeface="Times New Roman" panose="02020603050405020304" pitchFamily="18" charset="0"/>
                <a:ea typeface="+mn-ea"/>
              </a:rPr>
              <a:t> </a:t>
            </a:r>
          </a:p>
        </p:txBody>
      </p:sp>
      <p:sp>
        <p:nvSpPr>
          <p:cNvPr id="53250" name="Rectangle 4"/>
          <p:cNvSpPr/>
          <p:nvPr/>
        </p:nvSpPr>
        <p:spPr>
          <a:xfrm>
            <a:off x="1143000" y="3543300"/>
            <a:ext cx="66294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</a:pPr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251" name="Freeform 5"/>
          <p:cNvSpPr/>
          <p:nvPr/>
        </p:nvSpPr>
        <p:spPr>
          <a:xfrm>
            <a:off x="2027624" y="2428877"/>
            <a:ext cx="340962" cy="45719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0" t="0" r="0" b="0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52" y="80"/>
                  <a:pt x="384" y="96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53252" name="AutoShape 6"/>
          <p:cNvSpPr/>
          <p:nvPr/>
        </p:nvSpPr>
        <p:spPr>
          <a:xfrm>
            <a:off x="5679160" y="3015421"/>
            <a:ext cx="1428750" cy="342900"/>
          </a:xfrm>
          <a:prstGeom prst="wedgeRoundRectCallout">
            <a:avLst>
              <a:gd name="adj1" fmla="val -99324"/>
              <a:gd name="adj2" fmla="val -127878"/>
              <a:gd name="adj3" fmla="val 16667"/>
            </a:avLst>
          </a:prstGeom>
          <a:solidFill>
            <a:srgbClr val="5DFFD5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比较运算符</a:t>
            </a:r>
          </a:p>
        </p:txBody>
      </p:sp>
      <p:grpSp>
        <p:nvGrpSpPr>
          <p:cNvPr id="53253" name="Group 8"/>
          <p:cNvGrpSpPr/>
          <p:nvPr/>
        </p:nvGrpSpPr>
        <p:grpSpPr>
          <a:xfrm>
            <a:off x="1124423" y="2060732"/>
            <a:ext cx="2103834" cy="369094"/>
            <a:chOff x="1152" y="1536"/>
            <a:chExt cx="2850" cy="310"/>
          </a:xfrm>
        </p:grpSpPr>
        <p:sp>
          <p:nvSpPr>
            <p:cNvPr id="53254" name="Line 9"/>
            <p:cNvSpPr/>
            <p:nvPr/>
          </p:nvSpPr>
          <p:spPr>
            <a:xfrm>
              <a:off x="1152" y="1536"/>
              <a:ext cx="285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255" name="Text Box 10"/>
            <p:cNvSpPr txBox="1"/>
            <p:nvPr/>
          </p:nvSpPr>
          <p:spPr>
            <a:xfrm>
              <a:off x="1872" y="1536"/>
              <a:ext cx="33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①</a:t>
              </a:r>
            </a:p>
          </p:txBody>
        </p:sp>
      </p:grpSp>
      <p:grpSp>
        <p:nvGrpSpPr>
          <p:cNvPr id="53256" name="Group 11"/>
          <p:cNvGrpSpPr/>
          <p:nvPr/>
        </p:nvGrpSpPr>
        <p:grpSpPr>
          <a:xfrm>
            <a:off x="3909477" y="2052876"/>
            <a:ext cx="1962326" cy="398860"/>
            <a:chOff x="3936" y="1536"/>
            <a:chExt cx="1780" cy="335"/>
          </a:xfrm>
        </p:grpSpPr>
        <p:sp>
          <p:nvSpPr>
            <p:cNvPr id="53257" name="Line 12"/>
            <p:cNvSpPr/>
            <p:nvPr/>
          </p:nvSpPr>
          <p:spPr>
            <a:xfrm>
              <a:off x="3936" y="1536"/>
              <a:ext cx="178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258" name="Text Box 13"/>
            <p:cNvSpPr txBox="1"/>
            <p:nvPr/>
          </p:nvSpPr>
          <p:spPr>
            <a:xfrm>
              <a:off x="4080" y="1584"/>
              <a:ext cx="480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</a:pPr>
              <a:r>
                <a:rPr lang="en-US" altLang="zh-CN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②</a:t>
              </a:r>
            </a:p>
          </p:txBody>
        </p:sp>
      </p:grpSp>
      <p:sp>
        <p:nvSpPr>
          <p:cNvPr id="53259" name="Rectangle 17"/>
          <p:cNvSpPr/>
          <p:nvPr/>
        </p:nvSpPr>
        <p:spPr>
          <a:xfrm>
            <a:off x="1005957" y="3565210"/>
            <a:ext cx="6101953" cy="108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120000"/>
              <a:buFont typeface="Wingdings" panose="05000000000000000000" pitchFamily="2" charset="2"/>
            </a:pPr>
            <a:r>
              <a:rPr lang="zh-CN" altLang="en-US" sz="2100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含义：</a:t>
            </a:r>
          </a:p>
          <a:p>
            <a:pPr marL="257175" indent="-257175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120000"/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 X S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中选取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关系在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属性组上的值与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关系在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属性组上值满足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θ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关系的元组。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70C41C5-42E4-7DC7-69F7-98626D839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专门的关系运算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表格 92"/>
          <p:cNvGraphicFramePr>
            <a:graphicFrameLocks noGrp="1"/>
          </p:cNvGraphicFramePr>
          <p:nvPr/>
        </p:nvGraphicFramePr>
        <p:xfrm>
          <a:off x="1385888" y="1437085"/>
          <a:ext cx="1518762" cy="2331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R</a:t>
                      </a: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C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6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4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4" name="表格 93"/>
          <p:cNvGraphicFramePr>
            <a:graphicFrameLocks noGrp="1"/>
          </p:cNvGraphicFramePr>
          <p:nvPr/>
        </p:nvGraphicFramePr>
        <p:xfrm>
          <a:off x="3168254" y="1329929"/>
          <a:ext cx="1012032" cy="2720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S</a:t>
                      </a: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E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10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4331" name="Rectangle 398"/>
          <p:cNvSpPr txBox="1"/>
          <p:nvPr/>
        </p:nvSpPr>
        <p:spPr>
          <a:xfrm>
            <a:off x="5598319" y="1239441"/>
            <a:ext cx="123229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spcBef>
                <a:spcPct val="20000"/>
              </a:spcBef>
              <a:buClr>
                <a:srgbClr val="7F7F7F"/>
              </a:buClr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96" name="表格 95"/>
          <p:cNvGraphicFramePr>
            <a:graphicFrameLocks noGrp="1"/>
          </p:cNvGraphicFramePr>
          <p:nvPr/>
        </p:nvGraphicFramePr>
        <p:xfrm>
          <a:off x="4463654" y="1524000"/>
          <a:ext cx="3402805" cy="2613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94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R.B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C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aseline="0" dirty="0"/>
                        <a:t>S.B</a:t>
                      </a:r>
                      <a:endParaRPr lang="zh-CN" altLang="en-US" sz="21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aseline="0" dirty="0"/>
                        <a:t>E</a:t>
                      </a:r>
                      <a:endParaRPr lang="zh-CN" altLang="en-US" sz="21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10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6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6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10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10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4384" name="Rectangle 497"/>
          <p:cNvSpPr/>
          <p:nvPr/>
        </p:nvSpPr>
        <p:spPr>
          <a:xfrm>
            <a:off x="5765006" y="1445419"/>
            <a:ext cx="742950" cy="434579"/>
          </a:xfrm>
          <a:prstGeom prst="rect">
            <a:avLst/>
          </a:prstGeom>
          <a:noFill/>
          <a:ln w="9525">
            <a:noFill/>
          </a:ln>
        </p:spPr>
        <p:txBody>
          <a:bodyPr wrap="none" lIns="67500" tIns="35100" rIns="67500" bIns="35100" anchor="ctr" anchorCtr="0"/>
          <a:lstStyle/>
          <a:p>
            <a:pPr algn="ctr" eaLnBrk="0" hangingPunct="0">
              <a:lnSpc>
                <a:spcPct val="80000"/>
              </a:lnSpc>
            </a:pPr>
            <a:r>
              <a:rPr lang="en-US" altLang="zh-CN" sz="1200" i="1" dirty="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1200" dirty="0">
                <a:latin typeface="Tahoma" panose="020B0604030504040204" pitchFamily="34" charset="0"/>
                <a:ea typeface="宋体" panose="02010600030101010101" pitchFamily="2" charset="-122"/>
              </a:rPr>
              <a:t>＜</a:t>
            </a:r>
            <a:r>
              <a:rPr lang="en-US" altLang="zh-CN" sz="1200" i="1" dirty="0">
                <a:latin typeface="Tahoma" panose="020B0604030504040204" pitchFamily="34" charset="0"/>
                <a:ea typeface="宋体" panose="02010600030101010101" pitchFamily="2" charset="-122"/>
              </a:rPr>
              <a:t>E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385888" y="2247900"/>
            <a:ext cx="1512094" cy="3238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750"/>
          </a:p>
        </p:txBody>
      </p:sp>
      <p:sp>
        <p:nvSpPr>
          <p:cNvPr id="4" name="圆角矩形 3"/>
          <p:cNvSpPr/>
          <p:nvPr/>
        </p:nvSpPr>
        <p:spPr>
          <a:xfrm>
            <a:off x="3168254" y="2571750"/>
            <a:ext cx="971550" cy="647700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75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045F395A-3F88-87DC-F801-AABF402FB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连接举例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06" name="Group 16"/>
          <p:cNvGrpSpPr/>
          <p:nvPr/>
        </p:nvGrpSpPr>
        <p:grpSpPr>
          <a:xfrm>
            <a:off x="4780371" y="3029154"/>
            <a:ext cx="4114800" cy="1714500"/>
            <a:chOff x="1728" y="1632"/>
            <a:chExt cx="3456" cy="1440"/>
          </a:xfrm>
        </p:grpSpPr>
        <p:grpSp>
          <p:nvGrpSpPr>
            <p:cNvPr id="55307" name="Group 17"/>
            <p:cNvGrpSpPr/>
            <p:nvPr/>
          </p:nvGrpSpPr>
          <p:grpSpPr>
            <a:xfrm>
              <a:off x="2064" y="1680"/>
              <a:ext cx="912" cy="768"/>
              <a:chOff x="1536" y="1632"/>
              <a:chExt cx="912" cy="768"/>
            </a:xfrm>
          </p:grpSpPr>
          <p:sp>
            <p:nvSpPr>
              <p:cNvPr id="55308" name="Rectangle 18"/>
              <p:cNvSpPr/>
              <p:nvPr/>
            </p:nvSpPr>
            <p:spPr>
              <a:xfrm>
                <a:off x="1536" y="16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09" name="Rectangle 19" descr="浅色下对角线"/>
              <p:cNvSpPr/>
              <p:nvPr/>
            </p:nvSpPr>
            <p:spPr>
              <a:xfrm>
                <a:off x="1536" y="172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10" name="Rectangle 20"/>
              <p:cNvSpPr/>
              <p:nvPr/>
            </p:nvSpPr>
            <p:spPr>
              <a:xfrm>
                <a:off x="1536" y="182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11" name="Rectangle 21"/>
              <p:cNvSpPr/>
              <p:nvPr/>
            </p:nvSpPr>
            <p:spPr>
              <a:xfrm>
                <a:off x="1536" y="230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12" name="Rectangle 22"/>
              <p:cNvSpPr/>
              <p:nvPr/>
            </p:nvSpPr>
            <p:spPr>
              <a:xfrm>
                <a:off x="1536" y="1920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13" name="Rectangle 23" descr="浅色下对角线"/>
              <p:cNvSpPr/>
              <p:nvPr/>
            </p:nvSpPr>
            <p:spPr>
              <a:xfrm>
                <a:off x="1536" y="2016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14" name="Rectangle 24"/>
              <p:cNvSpPr/>
              <p:nvPr/>
            </p:nvSpPr>
            <p:spPr>
              <a:xfrm>
                <a:off x="1536" y="211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15" name="Rectangle 25" descr="浅色下对角线"/>
              <p:cNvSpPr/>
              <p:nvPr/>
            </p:nvSpPr>
            <p:spPr>
              <a:xfrm>
                <a:off x="1536" y="220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316" name="AutoShape 26"/>
            <p:cNvSpPr/>
            <p:nvPr/>
          </p:nvSpPr>
          <p:spPr>
            <a:xfrm rot="2235391">
              <a:off x="3072" y="2352"/>
              <a:ext cx="480" cy="144"/>
            </a:xfrm>
            <a:prstGeom prst="rightArrow">
              <a:avLst>
                <a:gd name="adj1" fmla="val 50000"/>
                <a:gd name="adj2" fmla="val 83148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317" name="Group 27"/>
            <p:cNvGrpSpPr/>
            <p:nvPr/>
          </p:nvGrpSpPr>
          <p:grpSpPr>
            <a:xfrm>
              <a:off x="2304" y="2688"/>
              <a:ext cx="528" cy="384"/>
              <a:chOff x="1536" y="2544"/>
              <a:chExt cx="912" cy="384"/>
            </a:xfrm>
          </p:grpSpPr>
          <p:sp>
            <p:nvSpPr>
              <p:cNvPr id="55318" name="Rectangle 28"/>
              <p:cNvSpPr/>
              <p:nvPr/>
            </p:nvSpPr>
            <p:spPr>
              <a:xfrm>
                <a:off x="1536" y="2544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19" name="Rectangle 29" descr="浅色下对角线"/>
              <p:cNvSpPr/>
              <p:nvPr/>
            </p:nvSpPr>
            <p:spPr>
              <a:xfrm>
                <a:off x="1536" y="2640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20" name="Rectangle 30"/>
              <p:cNvSpPr/>
              <p:nvPr/>
            </p:nvSpPr>
            <p:spPr>
              <a:xfrm>
                <a:off x="1536" y="2736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21" name="Rectangle 31"/>
              <p:cNvSpPr/>
              <p:nvPr/>
            </p:nvSpPr>
            <p:spPr>
              <a:xfrm>
                <a:off x="1536" y="2832"/>
                <a:ext cx="912" cy="96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5322" name="Group 32"/>
            <p:cNvGrpSpPr/>
            <p:nvPr/>
          </p:nvGrpSpPr>
          <p:grpSpPr>
            <a:xfrm>
              <a:off x="2688" y="2448"/>
              <a:ext cx="1008" cy="432"/>
              <a:chOff x="2688" y="2448"/>
              <a:chExt cx="1008" cy="432"/>
            </a:xfrm>
          </p:grpSpPr>
          <p:grpSp>
            <p:nvGrpSpPr>
              <p:cNvPr id="55323" name="Group 33"/>
              <p:cNvGrpSpPr/>
              <p:nvPr/>
            </p:nvGrpSpPr>
            <p:grpSpPr>
              <a:xfrm>
                <a:off x="2688" y="2496"/>
                <a:ext cx="1008" cy="384"/>
                <a:chOff x="2325" y="6446"/>
                <a:chExt cx="705" cy="367"/>
              </a:xfrm>
            </p:grpSpPr>
            <p:sp>
              <p:nvSpPr>
                <p:cNvPr id="55324" name="AutoShape 34"/>
                <p:cNvSpPr/>
                <p:nvPr/>
              </p:nvSpPr>
              <p:spPr>
                <a:xfrm rot="5400000" flipV="1">
                  <a:off x="2612" y="6414"/>
                  <a:ext cx="78" cy="142"/>
                </a:xfrm>
                <a:prstGeom prst="flowChartCollate">
                  <a:avLst/>
                </a:prstGeom>
                <a:solidFill>
                  <a:srgbClr val="FFFFFF"/>
                </a:solidFill>
                <a:ln w="635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t" anchorCtr="0"/>
                <a:lstStyle/>
                <a:p>
                  <a:endParaRPr lang="zh-CN" altLang="en-US" sz="1350" dirty="0"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325" name="Text Box 35"/>
                <p:cNvSpPr txBox="1"/>
                <p:nvPr/>
              </p:nvSpPr>
              <p:spPr>
                <a:xfrm flipV="1">
                  <a:off x="2325" y="6450"/>
                  <a:ext cx="705" cy="36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rot="10800000" anchor="t" anchorCtr="0"/>
                <a:lstStyle/>
                <a:p>
                  <a:pPr algn="just" eaLnBrk="0" hangingPunct="0">
                    <a:lnSpc>
                      <a:spcPct val="80000"/>
                    </a:lnSpc>
                  </a:pPr>
                  <a:endParaRPr lang="zh-CN" altLang="zh-CN" sz="45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5326" name="Rectangle 36"/>
              <p:cNvSpPr/>
              <p:nvPr/>
            </p:nvSpPr>
            <p:spPr>
              <a:xfrm>
                <a:off x="2832" y="2448"/>
                <a:ext cx="576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zh-CN" sz="2100" i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r>
                  <a:rPr lang="en-US" altLang="zh-CN" sz="1200" i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A </a:t>
                </a:r>
                <a:r>
                  <a:rPr lang="en-US" altLang="zh-CN" sz="1200" dirty="0">
                    <a:latin typeface="Tahoma" panose="020B0604030504040204" pitchFamily="34" charset="0"/>
                    <a:ea typeface="宋体" panose="02010600030101010101" pitchFamily="2" charset="-122"/>
                  </a:rPr>
                  <a:t>θ</a:t>
                </a:r>
                <a:r>
                  <a:rPr lang="en-US" altLang="zh-CN" sz="1200" i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sp>
          <p:nvSpPr>
            <p:cNvPr id="55327" name="AutoShape 37"/>
            <p:cNvSpPr/>
            <p:nvPr/>
          </p:nvSpPr>
          <p:spPr>
            <a:xfrm rot="-1832436">
              <a:off x="3120" y="2736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328" name="Group 38"/>
            <p:cNvGrpSpPr/>
            <p:nvPr/>
          </p:nvGrpSpPr>
          <p:grpSpPr>
            <a:xfrm>
              <a:off x="3744" y="2400"/>
              <a:ext cx="1440" cy="288"/>
              <a:chOff x="3216" y="2352"/>
              <a:chExt cx="1440" cy="288"/>
            </a:xfrm>
          </p:grpSpPr>
          <p:sp>
            <p:nvSpPr>
              <p:cNvPr id="55329" name="Rectangle 39" descr="浅色下对角线"/>
              <p:cNvSpPr/>
              <p:nvPr/>
            </p:nvSpPr>
            <p:spPr>
              <a:xfrm>
                <a:off x="3216" y="2544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30" name="Rectangle 40" descr="浅色下对角线"/>
              <p:cNvSpPr/>
              <p:nvPr/>
            </p:nvSpPr>
            <p:spPr>
              <a:xfrm>
                <a:off x="3216" y="2448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31" name="Rectangle 41" descr="浅色下对角线"/>
              <p:cNvSpPr/>
              <p:nvPr/>
            </p:nvSpPr>
            <p:spPr>
              <a:xfrm>
                <a:off x="3216" y="2352"/>
                <a:ext cx="912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32" name="Rectangle 42" descr="浅色下对角线"/>
              <p:cNvSpPr/>
              <p:nvPr/>
            </p:nvSpPr>
            <p:spPr>
              <a:xfrm>
                <a:off x="4128" y="2352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33" name="Rectangle 43" descr="浅色下对角线"/>
              <p:cNvSpPr/>
              <p:nvPr/>
            </p:nvSpPr>
            <p:spPr>
              <a:xfrm>
                <a:off x="4128" y="2448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34" name="Rectangle 44" descr="浅色下对角线"/>
              <p:cNvSpPr/>
              <p:nvPr/>
            </p:nvSpPr>
            <p:spPr>
              <a:xfrm>
                <a:off x="4128" y="2544"/>
                <a:ext cx="528" cy="96"/>
              </a:xfrm>
              <a:prstGeom prst="rect">
                <a:avLst/>
              </a:prstGeom>
              <a:pattFill prst="ltDnDiag">
                <a:fgClr>
                  <a:srgbClr val="000000"/>
                </a:fgClr>
                <a:bgClr>
                  <a:srgbClr val="FFFFFF"/>
                </a:bgClr>
              </a:patt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sz="1350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5335" name="Text Box 45"/>
            <p:cNvSpPr txBox="1"/>
            <p:nvPr/>
          </p:nvSpPr>
          <p:spPr>
            <a:xfrm>
              <a:off x="1728" y="1632"/>
              <a:ext cx="28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5336" name="Text Box 46"/>
            <p:cNvSpPr txBox="1"/>
            <p:nvPr/>
          </p:nvSpPr>
          <p:spPr>
            <a:xfrm>
              <a:off x="1920" y="2688"/>
              <a:ext cx="28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48829" y="1008443"/>
            <a:ext cx="6172200" cy="367307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8580" tIns="34290" rIns="68580" bIns="3429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14313" lvl="1" eaLnBrk="1" hangingPunct="1">
              <a:buNone/>
            </a:pPr>
            <a:r>
              <a:rPr lang="en-US" altLang="zh-CN" sz="18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② </a:t>
            </a:r>
            <a:r>
              <a:rPr lang="zh-CN" altLang="en-US" sz="1800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等值连接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473869" lvl="2" algn="just" eaLnBrk="1" hangingPunct="1"/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什么是等值连接</a:t>
            </a:r>
          </a:p>
          <a:p>
            <a:pPr marL="680085" lvl="3" eaLnBrk="1" hangingPunct="1"/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θ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为“</a:t>
            </a:r>
            <a:r>
              <a:rPr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”的连接运算称为等值连接 </a:t>
            </a:r>
          </a:p>
          <a:p>
            <a:pPr marL="473869" lvl="2" algn="just" eaLnBrk="1" hangingPunct="1"/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等值连接的含义</a:t>
            </a:r>
          </a:p>
          <a:p>
            <a:pPr marL="680085" lvl="3" algn="just" eaLnBrk="1" hangingPunct="1"/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从关系 </a:t>
            </a:r>
            <a:r>
              <a:rPr lang="en-US" altLang="zh-CN" sz="15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15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5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sz="15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的广义笛卡尔积中选取</a:t>
            </a:r>
            <a:r>
              <a:rPr lang="en-US" altLang="zh-CN" sz="15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1500" i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属性值</a:t>
            </a:r>
            <a:r>
              <a:rPr lang="zh-CN" altLang="en-US" sz="15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相等</a:t>
            </a:r>
            <a:r>
              <a:rPr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的那些元组，即等值连接为：</a:t>
            </a:r>
          </a:p>
          <a:p>
            <a:pPr marL="473869" lvl="2" eaLnBrk="1" hangingPunct="1">
              <a:buNone/>
            </a:pPr>
            <a:r>
              <a:rPr lang="zh-CN" altLang="en-US" sz="1800" b="1" dirty="0"/>
              <a:t>        </a:t>
            </a:r>
            <a:r>
              <a:rPr lang="en-US" altLang="zh-CN" sz="1800" b="1" i="1" dirty="0"/>
              <a:t>R     S</a:t>
            </a:r>
            <a:r>
              <a:rPr lang="en-US" altLang="zh-CN" sz="1800" b="1" dirty="0"/>
              <a:t> = {        | </a:t>
            </a:r>
            <a:r>
              <a:rPr lang="en-US" altLang="zh-CN" sz="1800" b="1" i="1" dirty="0"/>
              <a:t>t</a:t>
            </a:r>
            <a:r>
              <a:rPr lang="en-US" altLang="zh-CN" sz="1800" b="1" baseline="-30000" dirty="0"/>
              <a:t>r</a:t>
            </a:r>
            <a:r>
              <a:rPr lang="en-US" altLang="zh-CN" sz="1800" b="1" i="1" baseline="-30000" dirty="0"/>
              <a:t> </a:t>
            </a:r>
            <a:r>
              <a:rPr lang="en-US" altLang="zh-CN" sz="1800" b="1" dirty="0">
                <a:sym typeface="Symbol" panose="05050102010706020507" pitchFamily="18" charset="2"/>
              </a:rPr>
              <a:t></a:t>
            </a:r>
            <a:r>
              <a:rPr lang="en-US" altLang="zh-CN" sz="1800" b="1" i="1" dirty="0"/>
              <a:t>R</a:t>
            </a:r>
            <a:r>
              <a:rPr lang="en-US" altLang="zh-CN" sz="1800" b="1" dirty="0"/>
              <a:t>∧</a:t>
            </a:r>
            <a:r>
              <a:rPr lang="en-US" altLang="zh-CN" sz="1800" b="1" i="1" dirty="0"/>
              <a:t>t</a:t>
            </a:r>
            <a:r>
              <a:rPr lang="en-US" altLang="zh-CN" sz="1800" b="1" baseline="-30000" dirty="0"/>
              <a:t>s </a:t>
            </a:r>
            <a:r>
              <a:rPr lang="en-US" altLang="zh-CN" sz="1800" b="1" dirty="0">
                <a:sym typeface="Symbol" panose="05050102010706020507" pitchFamily="18" charset="2"/>
              </a:rPr>
              <a:t></a:t>
            </a:r>
            <a:r>
              <a:rPr lang="en-US" altLang="zh-CN" sz="1800" b="1" i="1" dirty="0"/>
              <a:t>S</a:t>
            </a:r>
            <a:r>
              <a:rPr lang="en-US" altLang="zh-CN" sz="1800" b="1" dirty="0"/>
              <a:t>∧</a:t>
            </a:r>
            <a:r>
              <a:rPr lang="en-US" altLang="zh-CN" sz="1800" b="1" i="1" dirty="0"/>
              <a:t>t</a:t>
            </a:r>
            <a:r>
              <a:rPr lang="en-US" altLang="zh-CN" sz="1800" b="1" baseline="-30000" dirty="0"/>
              <a:t>r</a:t>
            </a:r>
            <a:r>
              <a:rPr lang="en-US" altLang="zh-CN" sz="1800" b="1" dirty="0"/>
              <a:t>[</a:t>
            </a:r>
            <a:r>
              <a:rPr lang="en-US" altLang="zh-CN" sz="1800" b="1" i="1" dirty="0"/>
              <a:t>A</a:t>
            </a:r>
            <a:r>
              <a:rPr lang="en-US" altLang="zh-CN" sz="1800" b="1" dirty="0"/>
              <a:t>] = </a:t>
            </a:r>
            <a:r>
              <a:rPr lang="en-US" altLang="zh-CN" sz="1800" b="1" i="1" dirty="0"/>
              <a:t>t</a:t>
            </a:r>
            <a:r>
              <a:rPr lang="en-US" altLang="zh-CN" sz="1800" b="1" baseline="-30000" dirty="0"/>
              <a:t>s</a:t>
            </a:r>
            <a:r>
              <a:rPr lang="en-US" altLang="zh-CN" sz="1800" b="1" dirty="0"/>
              <a:t>[</a:t>
            </a:r>
            <a:r>
              <a:rPr lang="en-US" altLang="zh-CN" sz="1800" b="1" i="1" dirty="0"/>
              <a:t>B</a:t>
            </a:r>
            <a:r>
              <a:rPr lang="en-US" altLang="zh-CN" sz="1800" b="1" dirty="0"/>
              <a:t>] }  </a:t>
            </a:r>
          </a:p>
          <a:p>
            <a:pPr marL="473869" indent="-171450" eaLnBrk="1" hangingPunct="1"/>
            <a:endParaRPr lang="en-US" altLang="zh-CN" sz="1800" b="1" dirty="0"/>
          </a:p>
        </p:txBody>
      </p:sp>
      <p:sp>
        <p:nvSpPr>
          <p:cNvPr id="7" name="Text Box 14"/>
          <p:cNvSpPr txBox="1"/>
          <p:nvPr>
            <p:custDataLst>
              <p:tags r:id="rId2"/>
            </p:custDataLst>
          </p:nvPr>
        </p:nvSpPr>
        <p:spPr>
          <a:xfrm>
            <a:off x="2080658" y="2726683"/>
            <a:ext cx="457200" cy="276999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b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9" name="Freeform 15"/>
          <p:cNvSpPr/>
          <p:nvPr>
            <p:custDataLst>
              <p:tags r:id="rId3"/>
            </p:custDataLst>
          </p:nvPr>
        </p:nvSpPr>
        <p:spPr>
          <a:xfrm>
            <a:off x="2200891" y="2701031"/>
            <a:ext cx="185738" cy="73819"/>
          </a:xfrm>
          <a:custGeom>
            <a:avLst/>
            <a:gdLst/>
            <a:ahLst/>
            <a:cxnLst>
              <a:cxn ang="0">
                <a:pos x="0" y="62"/>
              </a:cxn>
              <a:cxn ang="0">
                <a:pos x="117" y="23"/>
              </a:cxn>
              <a:cxn ang="0">
                <a:pos x="156" y="62"/>
              </a:cxn>
            </a:cxnLst>
            <a:rect l="0" t="0" r="0" b="0"/>
            <a:pathLst>
              <a:path w="156" h="62">
                <a:moveTo>
                  <a:pt x="0" y="62"/>
                </a:moveTo>
                <a:cubicBezTo>
                  <a:pt x="89" y="2"/>
                  <a:pt x="48" y="0"/>
                  <a:pt x="117" y="23"/>
                </a:cubicBezTo>
                <a:cubicBezTo>
                  <a:pt x="130" y="36"/>
                  <a:pt x="156" y="62"/>
                  <a:pt x="156" y="62"/>
                </a:cubicBez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12" name="Rectangle 12"/>
          <p:cNvSpPr/>
          <p:nvPr>
            <p:custDataLst>
              <p:tags r:id="rId4"/>
            </p:custDataLst>
          </p:nvPr>
        </p:nvSpPr>
        <p:spPr>
          <a:xfrm>
            <a:off x="958375" y="2746507"/>
            <a:ext cx="857250" cy="514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/>
            <a:r>
              <a:rPr lang="en-US" altLang="zh-CN" sz="1200" i="1" dirty="0">
                <a:latin typeface="Tahoma" panose="020B0604030504040204" pitchFamily="34" charset="0"/>
                <a:ea typeface="宋体" panose="02010600030101010101" pitchFamily="2" charset="-122"/>
              </a:rPr>
              <a:t>A=B</a:t>
            </a:r>
          </a:p>
        </p:txBody>
      </p:sp>
      <p:sp>
        <p:nvSpPr>
          <p:cNvPr id="13" name="AutoShape 10"/>
          <p:cNvSpPr/>
          <p:nvPr>
            <p:custDataLst>
              <p:tags r:id="rId5"/>
            </p:custDataLst>
          </p:nvPr>
        </p:nvSpPr>
        <p:spPr>
          <a:xfrm rot="5400000" flipV="1">
            <a:off x="1332231" y="2767552"/>
            <a:ext cx="109538" cy="195263"/>
          </a:xfrm>
          <a:prstGeom prst="flowChartCollate">
            <a:avLst/>
          </a:prstGeom>
          <a:solidFill>
            <a:srgbClr val="FFFFFF"/>
          </a:solidFill>
          <a:ln w="635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t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66E4140B-6088-957C-5EBC-EAB24B14D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专门的关系运算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398"/>
          <p:cNvSpPr txBox="1"/>
          <p:nvPr/>
        </p:nvSpPr>
        <p:spPr>
          <a:xfrm>
            <a:off x="5598319" y="1239441"/>
            <a:ext cx="123229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spcBef>
                <a:spcPct val="20000"/>
              </a:spcBef>
              <a:buClr>
                <a:srgbClr val="7F7F7F"/>
              </a:buClr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8" name="表格 87"/>
          <p:cNvGraphicFramePr>
            <a:graphicFrameLocks noGrp="1"/>
          </p:cNvGraphicFramePr>
          <p:nvPr/>
        </p:nvGraphicFramePr>
        <p:xfrm>
          <a:off x="4463654" y="1524000"/>
          <a:ext cx="3402805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94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R.B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C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aseline="0" dirty="0"/>
                        <a:t>S.B</a:t>
                      </a:r>
                      <a:endParaRPr lang="zh-CN" altLang="en-US" sz="21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aseline="0" dirty="0"/>
                        <a:t>E</a:t>
                      </a:r>
                      <a:endParaRPr lang="zh-CN" altLang="en-US" sz="21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6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10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368" name="Rectangle 497"/>
          <p:cNvSpPr/>
          <p:nvPr/>
        </p:nvSpPr>
        <p:spPr>
          <a:xfrm>
            <a:off x="5765006" y="1445419"/>
            <a:ext cx="742950" cy="434579"/>
          </a:xfrm>
          <a:prstGeom prst="rect">
            <a:avLst/>
          </a:prstGeom>
          <a:noFill/>
          <a:ln w="9525">
            <a:noFill/>
          </a:ln>
        </p:spPr>
        <p:txBody>
          <a:bodyPr wrap="none" lIns="67500" tIns="35100" rIns="67500" bIns="35100" anchor="ctr" anchorCtr="0"/>
          <a:lstStyle/>
          <a:p>
            <a:pPr algn="ctr" eaLnBrk="0" hangingPunct="0">
              <a:lnSpc>
                <a:spcPct val="80000"/>
              </a:lnSpc>
            </a:pPr>
            <a:r>
              <a:rPr lang="en-US" altLang="zh-CN" sz="1200" i="1" dirty="0">
                <a:latin typeface="Tahoma" panose="020B0604030504040204" pitchFamily="34" charset="0"/>
                <a:ea typeface="宋体" panose="02010600030101010101" pitchFamily="2" charset="-122"/>
              </a:rPr>
              <a:t>R.B</a:t>
            </a:r>
            <a:r>
              <a:rPr lang="en-US" altLang="zh-CN" sz="1200" dirty="0">
                <a:latin typeface="Tahoma" panose="020B0604030504040204" pitchFamily="34" charset="0"/>
                <a:ea typeface="宋体" panose="02010600030101010101" pitchFamily="2" charset="-122"/>
              </a:rPr>
              <a:t>=S.B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1" name="表格 90"/>
          <p:cNvGraphicFramePr>
            <a:graphicFrameLocks noGrp="1"/>
          </p:cNvGraphicFramePr>
          <p:nvPr/>
        </p:nvGraphicFramePr>
        <p:xfrm>
          <a:off x="1385888" y="1437085"/>
          <a:ext cx="1518762" cy="2331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R</a:t>
                      </a: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C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6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4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2" name="表格 91"/>
          <p:cNvGraphicFramePr>
            <a:graphicFrameLocks noGrp="1"/>
          </p:cNvGraphicFramePr>
          <p:nvPr/>
        </p:nvGraphicFramePr>
        <p:xfrm>
          <a:off x="3168254" y="1329929"/>
          <a:ext cx="1012032" cy="2720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6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7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S</a:t>
                      </a: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E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10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3" name="圆角矩形 92"/>
          <p:cNvSpPr/>
          <p:nvPr/>
        </p:nvSpPr>
        <p:spPr>
          <a:xfrm>
            <a:off x="1385888" y="2247900"/>
            <a:ext cx="1512094" cy="3238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750"/>
          </a:p>
        </p:txBody>
      </p:sp>
      <p:sp>
        <p:nvSpPr>
          <p:cNvPr id="94" name="圆角矩形 93"/>
          <p:cNvSpPr/>
          <p:nvPr/>
        </p:nvSpPr>
        <p:spPr>
          <a:xfrm>
            <a:off x="3168254" y="2139554"/>
            <a:ext cx="971550" cy="323850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75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C54DC444-A0AE-8726-E988-56ADCFD7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等值连接举例</a:t>
            </a: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anchor="t" anchorCtr="0"/>
          <a:lstStyle/>
          <a:p>
            <a:pPr eaLnBrk="1" hangingPunct="1">
              <a:buNone/>
            </a:pPr>
            <a:r>
              <a:rPr lang="en-US" altLang="zh-CN" sz="2000" b="1" dirty="0">
                <a:solidFill>
                  <a:srgbClr val="000000"/>
                </a:solidFill>
              </a:rPr>
              <a:t>③</a:t>
            </a:r>
            <a:r>
              <a:rPr lang="en-US" altLang="zh-CN" sz="2000" b="1" dirty="0"/>
              <a:t> </a:t>
            </a:r>
            <a:r>
              <a:rPr lang="zh-CN" altLang="en-US" sz="2000" b="1" dirty="0">
                <a:solidFill>
                  <a:schemeClr val="hlink"/>
                </a:solidFill>
              </a:rPr>
              <a:t>自然连接</a:t>
            </a:r>
          </a:p>
          <a:p>
            <a:pPr eaLnBrk="1" hangingPunct="1">
              <a:buNone/>
            </a:pPr>
            <a:r>
              <a:rPr lang="zh-CN" altLang="en-US" sz="1500" b="1" dirty="0"/>
              <a:t>设</a:t>
            </a:r>
            <a:r>
              <a:rPr lang="en-US" altLang="zh-CN" sz="1500" b="1" dirty="0"/>
              <a:t>R</a:t>
            </a:r>
            <a:r>
              <a:rPr lang="zh-CN" altLang="en-US" sz="1500" b="1" dirty="0"/>
              <a:t>、</a:t>
            </a:r>
            <a:r>
              <a:rPr lang="en-US" altLang="zh-CN" sz="1500" b="1" dirty="0"/>
              <a:t>S</a:t>
            </a:r>
            <a:r>
              <a:rPr lang="zh-CN" altLang="en-US" sz="1500" b="1" dirty="0"/>
              <a:t>有同名属性 </a:t>
            </a:r>
            <a:r>
              <a:rPr lang="en-US" altLang="zh-CN" sz="1500" b="1" dirty="0"/>
              <a:t>Bi ( i=1,2….k)</a:t>
            </a:r>
          </a:p>
          <a:p>
            <a:pPr eaLnBrk="1" hangingPunct="1">
              <a:buNone/>
            </a:pPr>
            <a:endParaRPr lang="en-US" altLang="zh-CN" sz="1500" b="1" dirty="0"/>
          </a:p>
          <a:p>
            <a:pPr lvl="1">
              <a:buNone/>
            </a:pPr>
            <a:r>
              <a:rPr lang="en-US" altLang="zh-CN" sz="2100" dirty="0"/>
              <a:t>R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</a:rPr>
              <a:t> ⋈ </a:t>
            </a:r>
            <a:r>
              <a:rPr lang="en-US" altLang="zh-CN" sz="2100" dirty="0"/>
              <a:t>S= {t</a:t>
            </a:r>
            <a:r>
              <a:rPr lang="en-US" altLang="zh-CN" sz="2100" b="1" dirty="0"/>
              <a:t>r</a:t>
            </a:r>
            <a:r>
              <a:rPr lang="en-US" altLang="zh-CN" sz="2100" dirty="0"/>
              <a:t> t</a:t>
            </a:r>
            <a:r>
              <a:rPr lang="en-US" altLang="zh-CN" sz="2100" b="1" dirty="0"/>
              <a:t>s</a:t>
            </a:r>
            <a:r>
              <a:rPr lang="en-US" altLang="zh-CN" sz="2100" dirty="0"/>
              <a:t>|(t</a:t>
            </a:r>
            <a:r>
              <a:rPr lang="en-US" altLang="zh-CN" sz="2100" b="1" dirty="0"/>
              <a:t>r∈</a:t>
            </a:r>
            <a:r>
              <a:rPr lang="en-US" altLang="zh-CN" sz="2100" dirty="0"/>
              <a:t>R)</a:t>
            </a:r>
            <a:r>
              <a:rPr lang="en-US" altLang="zh-CN" sz="2100" b="1" dirty="0"/>
              <a:t>∧</a:t>
            </a:r>
            <a:r>
              <a:rPr lang="en-US" altLang="zh-CN" sz="2100" dirty="0"/>
              <a:t>(t</a:t>
            </a:r>
            <a:r>
              <a:rPr lang="en-US" altLang="zh-CN" sz="2100" b="1" dirty="0"/>
              <a:t>s∈</a:t>
            </a:r>
            <a:r>
              <a:rPr lang="en-US" altLang="zh-CN" sz="2100" dirty="0"/>
              <a:t>S)</a:t>
            </a:r>
            <a:r>
              <a:rPr lang="en-US" altLang="zh-CN" sz="2100" b="1" dirty="0"/>
              <a:t>∧</a:t>
            </a:r>
            <a:r>
              <a:rPr lang="en-US" altLang="zh-CN" sz="2100" dirty="0"/>
              <a:t>t</a:t>
            </a:r>
            <a:r>
              <a:rPr lang="en-US" altLang="zh-CN" sz="2100" b="1" dirty="0"/>
              <a:t>r[B]</a:t>
            </a:r>
            <a:r>
              <a:rPr lang="en-US" altLang="zh-CN" sz="2100" dirty="0"/>
              <a:t> </a:t>
            </a:r>
            <a:r>
              <a:rPr lang="en-US" altLang="zh-CN" sz="2100" b="1" dirty="0">
                <a:latin typeface="Times New Roman" panose="02020603050405020304" pitchFamily="18" charset="0"/>
              </a:rPr>
              <a:t>=</a:t>
            </a:r>
            <a:r>
              <a:rPr lang="en-US" altLang="zh-CN" sz="2100" dirty="0"/>
              <a:t> t</a:t>
            </a:r>
            <a:r>
              <a:rPr lang="en-US" altLang="zh-CN" sz="2100" b="1" dirty="0"/>
              <a:t>s[B]</a:t>
            </a:r>
            <a:r>
              <a:rPr lang="en-US" altLang="zh-CN" sz="2100" dirty="0"/>
              <a:t>}</a:t>
            </a:r>
          </a:p>
        </p:txBody>
      </p:sp>
      <p:pic>
        <p:nvPicPr>
          <p:cNvPr id="57347" name="Picture 14" descr="BD06711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029" y="3216030"/>
            <a:ext cx="1900238" cy="1538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8" name="Freeform 18"/>
          <p:cNvSpPr/>
          <p:nvPr/>
        </p:nvSpPr>
        <p:spPr>
          <a:xfrm>
            <a:off x="2439308" y="2005646"/>
            <a:ext cx="402431" cy="114300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0"/>
              </a:cxn>
              <a:cxn ang="0">
                <a:pos x="2147483647" y="2147483647"/>
              </a:cxn>
            </a:cxnLst>
            <a:rect l="0" t="0" r="0" b="0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52" y="80"/>
                  <a:pt x="384" y="96"/>
                </a:cubicBezTo>
              </a:path>
            </a:pathLst>
          </a:custGeom>
          <a:noFill/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57349" name="Text Box 19"/>
          <p:cNvSpPr txBox="1"/>
          <p:nvPr/>
        </p:nvSpPr>
        <p:spPr>
          <a:xfrm>
            <a:off x="516136" y="3321845"/>
            <a:ext cx="5999560" cy="985654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zh-CN" altLang="en-US" sz="2100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公共属性</a:t>
            </a: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，并且在形成的新关系中要去掉重复的属性。</a:t>
            </a:r>
          </a:p>
          <a:p>
            <a:pPr>
              <a:spcBef>
                <a:spcPct val="50000"/>
              </a:spcBef>
            </a:pPr>
            <a:endParaRPr lang="en-US" altLang="zh-CN" sz="13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ECD44F1-BF76-43EE-6DE3-E40D0EAB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专门的关系运算</a:t>
            </a: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398"/>
          <p:cNvSpPr txBox="1"/>
          <p:nvPr/>
        </p:nvSpPr>
        <p:spPr>
          <a:xfrm>
            <a:off x="5760244" y="1239441"/>
            <a:ext cx="123229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spcBef>
                <a:spcPct val="20000"/>
              </a:spcBef>
              <a:buClr>
                <a:srgbClr val="7F7F7F"/>
              </a:buClr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8" name="表格 87"/>
          <p:cNvGraphicFramePr>
            <a:graphicFrameLocks noGrp="1"/>
          </p:cNvGraphicFramePr>
          <p:nvPr/>
        </p:nvGraphicFramePr>
        <p:xfrm>
          <a:off x="5036344" y="1524000"/>
          <a:ext cx="2721768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94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C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aseline="0" dirty="0"/>
                        <a:t>E</a:t>
                      </a:r>
                      <a:endParaRPr lang="zh-CN" altLang="en-US" sz="21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6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10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409" name="Rectangle 398"/>
          <p:cNvSpPr txBox="1"/>
          <p:nvPr/>
        </p:nvSpPr>
        <p:spPr>
          <a:xfrm>
            <a:off x="2519363" y="1239441"/>
            <a:ext cx="1232297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spcBef>
                <a:spcPct val="20000"/>
              </a:spcBef>
              <a:buClr>
                <a:srgbClr val="7F7F7F"/>
              </a:buClr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R  </a:t>
            </a:r>
            <a:r>
              <a:rPr lang="en-US" altLang="zh-CN" sz="2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1385888" y="1524000"/>
          <a:ext cx="3402805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0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940"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100" baseline="-25000" dirty="0">
                        <a:latin typeface="+mn-lt"/>
                      </a:endParaRPr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/>
                        <a:t>R.B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C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aseline="0" dirty="0"/>
                        <a:t>S.B</a:t>
                      </a:r>
                      <a:endParaRPr lang="zh-CN" altLang="en-US" sz="21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baseline="0" dirty="0"/>
                        <a:t>E</a:t>
                      </a:r>
                      <a:endParaRPr lang="zh-CN" altLang="en-US" sz="2100" baseline="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5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1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6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7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10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a</a:t>
                      </a:r>
                      <a:r>
                        <a:rPr lang="en-US" altLang="zh-CN" sz="2100" baseline="-25000" dirty="0"/>
                        <a:t>2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8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/>
                        <a:t>b</a:t>
                      </a:r>
                      <a:r>
                        <a:rPr lang="en-US" altLang="zh-CN" sz="2100" baseline="-25000" dirty="0"/>
                        <a:t>3</a:t>
                      </a:r>
                      <a:endParaRPr lang="zh-CN" altLang="en-US" sz="2100" baseline="-250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/>
                        <a:t>2</a:t>
                      </a:r>
                      <a:endParaRPr lang="zh-CN" altLang="en-US" sz="21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456" name="Rectangle 497"/>
          <p:cNvSpPr/>
          <p:nvPr/>
        </p:nvSpPr>
        <p:spPr>
          <a:xfrm>
            <a:off x="2687241" y="1445419"/>
            <a:ext cx="742950" cy="434579"/>
          </a:xfrm>
          <a:prstGeom prst="rect">
            <a:avLst/>
          </a:prstGeom>
          <a:noFill/>
          <a:ln w="9525">
            <a:noFill/>
          </a:ln>
        </p:spPr>
        <p:txBody>
          <a:bodyPr wrap="none" lIns="67500" tIns="35100" rIns="67500" bIns="35100" anchor="ctr" anchorCtr="0"/>
          <a:lstStyle/>
          <a:p>
            <a:pPr algn="ctr" eaLnBrk="0" hangingPunct="0">
              <a:lnSpc>
                <a:spcPct val="80000"/>
              </a:lnSpc>
            </a:pPr>
            <a:r>
              <a:rPr lang="en-US" altLang="zh-CN" sz="1200" i="1" dirty="0">
                <a:latin typeface="Tahoma" panose="020B0604030504040204" pitchFamily="34" charset="0"/>
                <a:ea typeface="宋体" panose="02010600030101010101" pitchFamily="2" charset="-122"/>
              </a:rPr>
              <a:t>R.B</a:t>
            </a:r>
            <a:r>
              <a:rPr lang="en-US" altLang="zh-CN" sz="1200" dirty="0">
                <a:latin typeface="Tahoma" panose="020B0604030504040204" pitchFamily="34" charset="0"/>
                <a:ea typeface="宋体" panose="02010600030101010101" pitchFamily="2" charset="-122"/>
              </a:rPr>
              <a:t>=S.B</a:t>
            </a:r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4410076" y="1383507"/>
            <a:ext cx="917972" cy="279797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750"/>
          </a:p>
        </p:txBody>
      </p:sp>
      <p:grpSp>
        <p:nvGrpSpPr>
          <p:cNvPr id="58458" name="组合 8"/>
          <p:cNvGrpSpPr/>
          <p:nvPr/>
        </p:nvGrpSpPr>
        <p:grpSpPr>
          <a:xfrm>
            <a:off x="3492104" y="1879997"/>
            <a:ext cx="539353" cy="1771650"/>
            <a:chOff x="3131840" y="2506991"/>
            <a:chExt cx="720080" cy="2362169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3131840" y="2506991"/>
              <a:ext cx="720080" cy="236216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3131840" y="2506991"/>
              <a:ext cx="720080" cy="236216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标题 6">
            <a:extLst>
              <a:ext uri="{FF2B5EF4-FFF2-40B4-BE49-F238E27FC236}">
                <a16:creationId xmlns:a16="http://schemas.microsoft.com/office/drawing/2014/main" id="{163A6D68-A674-0464-2E5D-202B81D9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自然连接举例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68580" tIns="34290" rIns="68580" bIns="34290" numCol="1" anchor="t" anchorCtr="0" compatLnSpc="1">
            <a:normAutofit/>
          </a:bodyPr>
          <a:lstStyle/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100" b="1" kern="0" dirty="0">
                <a:solidFill>
                  <a:schemeClr val="hlink"/>
                </a:solidFill>
              </a:rPr>
              <a:t>等值连接与自然连接的区别：</a:t>
            </a:r>
            <a:endParaRPr lang="en-US" altLang="zh-CN" sz="2100" b="1" kern="0" dirty="0">
              <a:solidFill>
                <a:schemeClr val="hlink"/>
              </a:solidFill>
            </a:endParaRP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lang="zh-CN" altLang="en-US" sz="2100" b="1" kern="0" dirty="0">
              <a:solidFill>
                <a:schemeClr val="hlink"/>
              </a:solidFill>
            </a:endParaRPr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2100" b="1" kern="0" dirty="0">
                <a:solidFill>
                  <a:schemeClr val="hlink"/>
                </a:solidFill>
              </a:rPr>
              <a:t>   </a:t>
            </a:r>
            <a:r>
              <a:rPr lang="zh-CN" altLang="en-US" sz="2100" kern="0" dirty="0"/>
              <a:t>（</a:t>
            </a:r>
            <a:r>
              <a:rPr lang="en-US" altLang="zh-CN" sz="2100" kern="0" dirty="0"/>
              <a:t>1</a:t>
            </a:r>
            <a:r>
              <a:rPr lang="zh-CN" altLang="en-US" sz="2100" kern="0" dirty="0"/>
              <a:t>）自然连接一定是等值连接，但等值连接不一定是自然连接。因为自然连接要求相等的分量必须是公共属性，而等值连接相等的分量不一定是公共属性。</a:t>
            </a:r>
            <a:endParaRPr lang="en-US" altLang="zh-CN" sz="2100" kern="0" dirty="0"/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endParaRPr lang="zh-CN" altLang="en-US" sz="2100" kern="0" dirty="0"/>
          </a:p>
          <a:p>
            <a:pPr marL="257175" indent="-257175" defTabSz="6858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2100" kern="0" dirty="0"/>
              <a:t>   （</a:t>
            </a:r>
            <a:r>
              <a:rPr lang="en-US" altLang="zh-CN" sz="2100" kern="0" dirty="0"/>
              <a:t>2</a:t>
            </a:r>
            <a:r>
              <a:rPr lang="zh-CN" altLang="en-US" sz="2100" kern="0" dirty="0"/>
              <a:t>）等值连接不把重复的属性去掉，而自然连接要把重复属性去掉。</a:t>
            </a:r>
          </a:p>
        </p:txBody>
      </p:sp>
      <p:sp>
        <p:nvSpPr>
          <p:cNvPr id="59395" name="AutoShape 5"/>
          <p:cNvSpPr/>
          <p:nvPr/>
        </p:nvSpPr>
        <p:spPr>
          <a:xfrm>
            <a:off x="1600200" y="4229100"/>
            <a:ext cx="514350" cy="400050"/>
          </a:xfrm>
          <a:prstGeom prst="actionButtonHelp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396" name="Text Box 6"/>
          <p:cNvSpPr txBox="1"/>
          <p:nvPr/>
        </p:nvSpPr>
        <p:spPr>
          <a:xfrm>
            <a:off x="2400300" y="4229100"/>
            <a:ext cx="4057650" cy="41549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若</a:t>
            </a:r>
            <a:r>
              <a:rPr lang="en-US" altLang="zh-CN" sz="21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21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1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CN" altLang="en-US" sz="21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无公共属性，</a:t>
            </a:r>
            <a:r>
              <a:rPr lang="en-US" altLang="zh-CN" sz="21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   S=</a:t>
            </a:r>
            <a:r>
              <a:rPr lang="zh-CN" altLang="en-US" sz="21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？</a:t>
            </a:r>
          </a:p>
        </p:txBody>
      </p:sp>
      <p:pic>
        <p:nvPicPr>
          <p:cNvPr id="59397" name="Picture 8" descr="PE01931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999" y="3439868"/>
            <a:ext cx="1714500" cy="13144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9398" name="Group 5"/>
          <p:cNvGrpSpPr/>
          <p:nvPr/>
        </p:nvGrpSpPr>
        <p:grpSpPr>
          <a:xfrm rot="10800000">
            <a:off x="4950094" y="3832345"/>
            <a:ext cx="742950" cy="685800"/>
            <a:chOff x="6431" y="11824"/>
            <a:chExt cx="705" cy="367"/>
          </a:xfrm>
        </p:grpSpPr>
        <p:sp>
          <p:nvSpPr>
            <p:cNvPr id="59399" name="AutoShape 6"/>
            <p:cNvSpPr/>
            <p:nvPr/>
          </p:nvSpPr>
          <p:spPr>
            <a:xfrm rot="5400000" flipV="1">
              <a:off x="6793" y="11792"/>
              <a:ext cx="78" cy="142"/>
            </a:xfrm>
            <a:prstGeom prst="flowChartCollate">
              <a:avLst/>
            </a:prstGeom>
            <a:solidFill>
              <a:srgbClr val="FFFFFF"/>
            </a:solidFill>
            <a:ln w="63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anchor="t" anchorCtr="0"/>
            <a:lstStyle/>
            <a:p>
              <a:endParaRPr lang="zh-CN" altLang="en-US" sz="135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00" name="Text Box 7"/>
            <p:cNvSpPr txBox="1"/>
            <p:nvPr/>
          </p:nvSpPr>
          <p:spPr>
            <a:xfrm flipV="1">
              <a:off x="6431" y="11828"/>
              <a:ext cx="705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algn="just" eaLnBrk="0" hangingPunct="0"/>
              <a:r>
                <a:rPr lang="en-US" altLang="zh-CN" sz="45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6E802E63-AAD4-A93A-6767-7BFD6CFDF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专门的关系运算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文本占位符 407554"/>
          <p:cNvSpPr>
            <a:spLocks noGrp="1"/>
          </p:cNvSpPr>
          <p:nvPr>
            <p:ph idx="1"/>
          </p:nvPr>
        </p:nvSpPr>
        <p:spPr>
          <a:xfrm>
            <a:off x="636384" y="1253548"/>
            <a:ext cx="7886700" cy="3408735"/>
          </a:xfrm>
        </p:spPr>
        <p:txBody>
          <a:bodyPr vert="horz" wrap="square" lIns="68580" tIns="34290" rIns="68580" bIns="34290" anchor="t" anchorCtr="0">
            <a:normAutofit/>
          </a:bodyPr>
          <a:lstStyle/>
          <a:p>
            <a:pPr algn="just">
              <a:lnSpc>
                <a:spcPct val="140000"/>
              </a:lnSpc>
              <a:buNone/>
            </a:pPr>
            <a:r>
              <a:rPr lang="zh-CN" altLang="en-US" sz="20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（</a:t>
            </a:r>
            <a:r>
              <a:rPr lang="en-US" altLang="zh-CN" sz="20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4</a:t>
            </a:r>
            <a:r>
              <a:rPr lang="zh-CN" altLang="en-US" sz="20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） 除（</a:t>
            </a:r>
            <a:r>
              <a:rPr lang="en" altLang="zh-CN" sz="20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Division）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6350" indent="-6350" algn="just">
              <a:lnSpc>
                <a:spcPct val="140000"/>
              </a:lnSpc>
              <a:buNone/>
            </a:pPr>
            <a:r>
              <a:rPr lang="zh-CN" altLang="en-US" sz="1800" b="1" dirty="0"/>
              <a:t>给定关系</a:t>
            </a:r>
            <a:r>
              <a:rPr lang="en-US" altLang="zh-CN" sz="1800" i="1" dirty="0"/>
              <a:t>R </a:t>
            </a:r>
            <a:r>
              <a:rPr lang="en-US" altLang="zh-CN" sz="1800" dirty="0"/>
              <a:t>(</a:t>
            </a:r>
            <a:r>
              <a:rPr lang="en-US" altLang="zh-CN" sz="1800" b="1" i="1" dirty="0">
                <a:solidFill>
                  <a:schemeClr val="hlink"/>
                </a:solidFill>
              </a:rPr>
              <a:t>X</a:t>
            </a:r>
            <a:r>
              <a:rPr lang="zh-CN" altLang="en-US" sz="1800" b="1" dirty="0"/>
              <a:t>，</a:t>
            </a:r>
            <a:r>
              <a:rPr lang="en-US" altLang="zh-CN" sz="1800" b="1" i="1" dirty="0">
                <a:solidFill>
                  <a:srgbClr val="0033CC"/>
                </a:solidFill>
              </a:rPr>
              <a:t>Y</a:t>
            </a:r>
            <a:r>
              <a:rPr lang="en-US" altLang="zh-CN" sz="1800" i="1" dirty="0"/>
              <a:t>)</a:t>
            </a:r>
            <a:r>
              <a:rPr lang="en-US" altLang="zh-CN" sz="1800" b="1" i="1" dirty="0"/>
              <a:t> </a:t>
            </a:r>
            <a:r>
              <a:rPr lang="zh-CN" altLang="en-US" sz="1800" b="1" dirty="0"/>
              <a:t>和</a:t>
            </a:r>
            <a:r>
              <a:rPr lang="en-US" altLang="zh-CN" sz="1800" b="1" i="1" dirty="0"/>
              <a:t>S </a:t>
            </a:r>
            <a:r>
              <a:rPr lang="en-US" altLang="zh-CN" sz="1800" dirty="0"/>
              <a:t>(</a:t>
            </a:r>
            <a:r>
              <a:rPr lang="en-US" altLang="zh-CN" sz="1800" b="1" i="1" dirty="0">
                <a:solidFill>
                  <a:srgbClr val="0033CC"/>
                </a:solidFill>
              </a:rPr>
              <a:t>Y</a:t>
            </a:r>
            <a:r>
              <a:rPr lang="zh-CN" altLang="en-US" sz="1800" b="1" dirty="0"/>
              <a:t>，</a:t>
            </a:r>
            <a:r>
              <a:rPr lang="en-US" altLang="zh-CN" sz="1800" b="1" i="1" dirty="0"/>
              <a:t>Z</a:t>
            </a:r>
            <a:r>
              <a:rPr lang="zh-CN" altLang="en-US" sz="1800" i="1" dirty="0"/>
              <a:t> </a:t>
            </a:r>
            <a:r>
              <a:rPr lang="en-US" altLang="zh-CN" sz="1800" dirty="0"/>
              <a:t>)</a:t>
            </a:r>
            <a:r>
              <a:rPr lang="zh-CN" altLang="en-US" sz="1800" dirty="0"/>
              <a:t>，</a:t>
            </a:r>
            <a:r>
              <a:rPr lang="zh-CN" altLang="en-US" sz="1800" b="1" dirty="0"/>
              <a:t>其中</a:t>
            </a:r>
            <a:r>
              <a:rPr lang="en-US" altLang="zh-CN" sz="1800" b="1" i="1" dirty="0"/>
              <a:t>X</a:t>
            </a:r>
            <a:r>
              <a:rPr lang="zh-CN" altLang="en-US" sz="1800" b="1" dirty="0"/>
              <a:t>，</a:t>
            </a:r>
            <a:r>
              <a:rPr lang="en-US" altLang="zh-CN" sz="1800" b="1" i="1" dirty="0"/>
              <a:t>Y</a:t>
            </a:r>
            <a:r>
              <a:rPr lang="zh-CN" altLang="en-US" sz="1800" b="1" dirty="0"/>
              <a:t>，</a:t>
            </a:r>
            <a:r>
              <a:rPr lang="en-US" altLang="zh-CN" sz="1800" b="1" i="1" dirty="0"/>
              <a:t>Z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为属性组。</a:t>
            </a:r>
            <a:r>
              <a:rPr lang="en-US" altLang="zh-CN" sz="1800" b="1" i="1" dirty="0"/>
              <a:t>R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中的</a:t>
            </a:r>
            <a:r>
              <a:rPr lang="en-US" altLang="zh-CN" sz="1800" b="1" i="1" dirty="0"/>
              <a:t>Y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与 </a:t>
            </a:r>
            <a:r>
              <a:rPr lang="en-US" altLang="zh-CN" sz="1800" b="1" i="1" dirty="0"/>
              <a:t>S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中的</a:t>
            </a:r>
            <a:r>
              <a:rPr lang="en-US" altLang="zh-CN" sz="1800" b="1" i="1" dirty="0"/>
              <a:t>Y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可以有不同的属性名，但必须出自相同的域集。</a:t>
            </a:r>
            <a:r>
              <a:rPr lang="en-US" altLang="zh-CN" sz="1800" b="1" i="1" dirty="0"/>
              <a:t>R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与 </a:t>
            </a:r>
            <a:r>
              <a:rPr lang="en-US" altLang="zh-CN" sz="1800" b="1" i="1" dirty="0"/>
              <a:t>S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的除运算得到一个新的关系</a:t>
            </a:r>
            <a:r>
              <a:rPr lang="en-US" altLang="zh-CN" sz="1800" b="1" i="1" dirty="0">
                <a:solidFill>
                  <a:schemeClr val="hlink"/>
                </a:solidFill>
              </a:rPr>
              <a:t>P(X)</a:t>
            </a:r>
            <a:r>
              <a:rPr lang="zh-CN" altLang="en-US" sz="1800" b="1" i="1" dirty="0">
                <a:solidFill>
                  <a:schemeClr val="hlink"/>
                </a:solidFill>
              </a:rPr>
              <a:t>，</a:t>
            </a:r>
            <a:r>
              <a:rPr lang="en-US" altLang="zh-CN" sz="1800" b="1" i="1" dirty="0"/>
              <a:t>P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是 </a:t>
            </a:r>
            <a:r>
              <a:rPr lang="en-US" altLang="zh-CN" sz="1800" b="1" i="1" dirty="0">
                <a:solidFill>
                  <a:schemeClr val="hlink"/>
                </a:solidFill>
              </a:rPr>
              <a:t>R</a:t>
            </a:r>
            <a:r>
              <a:rPr lang="zh-CN" altLang="en-US" sz="1800" b="1" i="1" dirty="0">
                <a:solidFill>
                  <a:schemeClr val="hlink"/>
                </a:solidFill>
              </a:rPr>
              <a:t> </a:t>
            </a:r>
            <a:r>
              <a:rPr lang="zh-CN" altLang="en-US" sz="1800" b="1" i="1" dirty="0"/>
              <a:t>中满足下列条件的元组在 </a:t>
            </a:r>
            <a:r>
              <a:rPr lang="en-US" altLang="zh-CN" sz="1800" b="1" i="1" dirty="0">
                <a:solidFill>
                  <a:srgbClr val="FF0000"/>
                </a:solidFill>
              </a:rPr>
              <a:t>X</a:t>
            </a:r>
            <a:r>
              <a:rPr lang="zh-CN" altLang="en-US" sz="1800" b="1" i="1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/>
              <a:t>属性列上的</a:t>
            </a:r>
            <a:r>
              <a:rPr lang="zh-CN" altLang="en-US" sz="1800" b="1" dirty="0">
                <a:solidFill>
                  <a:srgbClr val="FF0000"/>
                </a:solidFill>
              </a:rPr>
              <a:t>投影</a:t>
            </a:r>
            <a:r>
              <a:rPr lang="zh-CN" altLang="en-US" sz="1800" b="1" dirty="0"/>
              <a:t>：元组在</a:t>
            </a:r>
            <a:r>
              <a:rPr lang="en-US" altLang="zh-CN" sz="1800" b="1" i="1" dirty="0"/>
              <a:t>X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上分量值 </a:t>
            </a:r>
            <a:r>
              <a:rPr lang="en-US" altLang="zh-CN" sz="1800" b="1" i="1" dirty="0">
                <a:solidFill>
                  <a:srgbClr val="FF0000"/>
                </a:solidFill>
              </a:rPr>
              <a:t>x</a:t>
            </a:r>
            <a:r>
              <a:rPr lang="zh-CN" altLang="en-US" sz="1800" b="1" i="1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</a:rPr>
              <a:t>的象集</a:t>
            </a:r>
            <a:r>
              <a:rPr lang="en-US" altLang="zh-CN" sz="1800" b="1" i="1" dirty="0" err="1">
                <a:solidFill>
                  <a:srgbClr val="FF0000"/>
                </a:solidFill>
              </a:rPr>
              <a:t>Y</a:t>
            </a:r>
            <a:r>
              <a:rPr lang="en-US" altLang="zh-CN" sz="1800" b="1" i="1" baseline="-30000" dirty="0" err="1">
                <a:solidFill>
                  <a:srgbClr val="FF0000"/>
                </a:solidFill>
              </a:rPr>
              <a:t>x</a:t>
            </a:r>
            <a:r>
              <a:rPr lang="zh-CN" altLang="en-US" sz="1800" b="1" i="1" baseline="-30000" dirty="0">
                <a:solidFill>
                  <a:srgbClr val="FF0000"/>
                </a:solidFill>
              </a:rPr>
              <a:t> </a:t>
            </a:r>
            <a:r>
              <a:rPr lang="zh-CN" altLang="en-US" sz="1800" b="1" dirty="0"/>
              <a:t>包含 </a:t>
            </a:r>
            <a:r>
              <a:rPr lang="en-US" altLang="zh-CN" sz="1800" b="1" i="1" dirty="0">
                <a:solidFill>
                  <a:schemeClr val="hlink"/>
                </a:solidFill>
              </a:rPr>
              <a:t>S</a:t>
            </a:r>
            <a:r>
              <a:rPr lang="zh-CN" altLang="en-US" sz="1800" b="1" i="1" dirty="0">
                <a:solidFill>
                  <a:schemeClr val="hlink"/>
                </a:solidFill>
              </a:rPr>
              <a:t> </a:t>
            </a:r>
            <a:r>
              <a:rPr lang="zh-CN" altLang="en-US" sz="1800" b="1" dirty="0">
                <a:solidFill>
                  <a:schemeClr val="hlink"/>
                </a:solidFill>
              </a:rPr>
              <a:t>在 </a:t>
            </a:r>
            <a:r>
              <a:rPr lang="en-US" altLang="zh-CN" sz="1800" b="1" i="1" dirty="0">
                <a:solidFill>
                  <a:schemeClr val="hlink"/>
                </a:solidFill>
              </a:rPr>
              <a:t>Y</a:t>
            </a:r>
            <a:r>
              <a:rPr lang="zh-CN" altLang="en-US" sz="1800" b="1" i="1" dirty="0">
                <a:solidFill>
                  <a:schemeClr val="hlink"/>
                </a:solidFill>
              </a:rPr>
              <a:t> </a:t>
            </a:r>
            <a:r>
              <a:rPr lang="zh-CN" altLang="en-US" sz="1800" b="1" dirty="0">
                <a:solidFill>
                  <a:schemeClr val="hlink"/>
                </a:solidFill>
              </a:rPr>
              <a:t>上投影</a:t>
            </a:r>
            <a:r>
              <a:rPr lang="zh-CN" altLang="en-US" sz="1800" b="1" dirty="0"/>
              <a:t>的集合。</a:t>
            </a:r>
            <a:endParaRPr lang="zh-CN" altLang="en-US" b="1" dirty="0"/>
          </a:p>
          <a:p>
            <a:pPr lvl="1" algn="just">
              <a:lnSpc>
                <a:spcPct val="140000"/>
              </a:lnSpc>
              <a:buNone/>
            </a:pPr>
            <a:r>
              <a:rPr lang="en-US" altLang="zh-CN" sz="1500" i="1" dirty="0"/>
              <a:t>R</a:t>
            </a:r>
            <a:r>
              <a:rPr lang="en-US" altLang="zh-CN" sz="1500" dirty="0"/>
              <a:t>÷</a:t>
            </a:r>
            <a:r>
              <a:rPr lang="en-US" altLang="zh-CN" sz="1500" i="1" dirty="0"/>
              <a:t>S</a:t>
            </a:r>
            <a:r>
              <a:rPr lang="en-US" altLang="zh-CN" sz="1500" dirty="0"/>
              <a:t> = {</a:t>
            </a:r>
            <a:r>
              <a:rPr lang="en-US" altLang="zh-CN" sz="1500" i="1" dirty="0"/>
              <a:t>t</a:t>
            </a:r>
            <a:r>
              <a:rPr lang="en-US" altLang="zh-CN" sz="1500" baseline="-30000" dirty="0"/>
              <a:t>r </a:t>
            </a:r>
            <a:r>
              <a:rPr lang="en-US" altLang="zh-CN" sz="1500" dirty="0"/>
              <a:t>[</a:t>
            </a:r>
            <a:r>
              <a:rPr lang="en-US" altLang="zh-CN" sz="1500" i="1" dirty="0"/>
              <a:t>X</a:t>
            </a:r>
            <a:r>
              <a:rPr lang="zh-CN" altLang="en-US" sz="1500" i="1" dirty="0"/>
              <a:t> </a:t>
            </a:r>
            <a:r>
              <a:rPr lang="en-US" altLang="zh-CN" sz="1500" dirty="0"/>
              <a:t>] | </a:t>
            </a:r>
            <a:r>
              <a:rPr lang="en-US" altLang="zh-CN" sz="1500" i="1" dirty="0"/>
              <a:t>t</a:t>
            </a:r>
            <a:r>
              <a:rPr lang="en-US" altLang="zh-CN" sz="1500" baseline="-30000" dirty="0"/>
              <a:t>r </a:t>
            </a:r>
            <a:r>
              <a:rPr lang="en-US" altLang="zh-CN" sz="1500" dirty="0">
                <a:sym typeface="Symbol" panose="05050102010706020507" pitchFamily="18" charset="2"/>
              </a:rPr>
              <a:t></a:t>
            </a:r>
            <a:r>
              <a:rPr lang="en-US" altLang="zh-CN" sz="1500" dirty="0"/>
              <a:t> </a:t>
            </a:r>
            <a:r>
              <a:rPr lang="en-US" altLang="zh-CN" sz="1500" i="1" dirty="0"/>
              <a:t>R</a:t>
            </a:r>
            <a:r>
              <a:rPr lang="en-US" altLang="zh-CN" sz="1500" dirty="0"/>
              <a:t>∧π</a:t>
            </a:r>
            <a:r>
              <a:rPr lang="en-US" altLang="zh-CN" sz="1500" baseline="-30000" dirty="0"/>
              <a:t>Y</a:t>
            </a:r>
            <a:r>
              <a:rPr lang="en-US" altLang="zh-CN" sz="1500" dirty="0"/>
              <a:t> (</a:t>
            </a:r>
            <a:r>
              <a:rPr lang="en-US" altLang="zh-CN" sz="1500" i="1" dirty="0"/>
              <a:t>S</a:t>
            </a:r>
            <a:r>
              <a:rPr lang="zh-CN" altLang="en-US" sz="1500" i="1" dirty="0"/>
              <a:t> </a:t>
            </a:r>
            <a:r>
              <a:rPr lang="en-US" altLang="zh-CN" sz="1500" dirty="0"/>
              <a:t>) </a:t>
            </a:r>
            <a:r>
              <a:rPr lang="en-US" altLang="zh-CN" sz="1500" dirty="0">
                <a:sym typeface="Symbol" panose="05050102010706020507" pitchFamily="18" charset="2"/>
              </a:rPr>
              <a:t></a:t>
            </a:r>
            <a:r>
              <a:rPr lang="en-US" altLang="zh-CN" sz="1500" dirty="0"/>
              <a:t> </a:t>
            </a:r>
            <a:r>
              <a:rPr lang="en-US" altLang="zh-CN" sz="1500" i="1" dirty="0"/>
              <a:t>Y</a:t>
            </a:r>
            <a:r>
              <a:rPr lang="en-US" altLang="zh-CN" sz="1500" i="1" baseline="-30000" dirty="0"/>
              <a:t>x</a:t>
            </a:r>
            <a:r>
              <a:rPr lang="en-US" altLang="zh-CN" sz="1500" dirty="0"/>
              <a:t> }</a:t>
            </a:r>
            <a:endParaRPr lang="en-US" altLang="zh-CN" sz="1500" b="1" dirty="0"/>
          </a:p>
          <a:p>
            <a:pPr marL="6350" lvl="1" indent="0" algn="just">
              <a:lnSpc>
                <a:spcPct val="140000"/>
              </a:lnSpc>
              <a:buNone/>
            </a:pPr>
            <a:r>
              <a:rPr lang="en-US" altLang="zh-CN" sz="1800" i="1" dirty="0" err="1"/>
              <a:t>Y</a:t>
            </a:r>
            <a:r>
              <a:rPr lang="en-US" altLang="zh-CN" sz="1800" i="1" baseline="-30000" dirty="0" err="1"/>
              <a:t>x</a:t>
            </a:r>
            <a:r>
              <a:rPr lang="zh-CN" altLang="en-US" sz="1800" b="1" dirty="0"/>
              <a:t>：</a:t>
            </a:r>
            <a:r>
              <a:rPr lang="en-US" altLang="zh-CN" sz="1800" b="1" i="1" dirty="0"/>
              <a:t>x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在</a:t>
            </a:r>
            <a:r>
              <a:rPr lang="en-US" altLang="zh-CN" sz="1800" b="1" i="1" dirty="0"/>
              <a:t>R</a:t>
            </a:r>
            <a:r>
              <a:rPr lang="zh-CN" altLang="en-US" sz="1800" b="1" i="1" dirty="0"/>
              <a:t> </a:t>
            </a:r>
            <a:r>
              <a:rPr lang="zh-CN" altLang="en-US" sz="1800" b="1" dirty="0"/>
              <a:t>中的象集，</a:t>
            </a:r>
            <a:r>
              <a:rPr lang="en-US" altLang="zh-CN" sz="1800" b="1" i="1" dirty="0"/>
              <a:t>x</a:t>
            </a:r>
            <a:r>
              <a:rPr lang="en-US" altLang="zh-CN" sz="1800" b="1" dirty="0"/>
              <a:t> = </a:t>
            </a:r>
            <a:r>
              <a:rPr lang="en-US" altLang="zh-CN" sz="1800" b="1" i="1" dirty="0"/>
              <a:t>t</a:t>
            </a:r>
            <a:r>
              <a:rPr lang="en-US" altLang="zh-CN" sz="1800" b="1" baseline="-30000" dirty="0"/>
              <a:t>r</a:t>
            </a:r>
            <a:r>
              <a:rPr lang="en-US" altLang="zh-CN" sz="1800" b="1" dirty="0"/>
              <a:t>[</a:t>
            </a:r>
            <a:r>
              <a:rPr lang="en-US" altLang="zh-CN" sz="1800" b="1" i="1" dirty="0"/>
              <a:t>X</a:t>
            </a:r>
            <a:r>
              <a:rPr lang="en-US" altLang="zh-CN" sz="1800" b="1" dirty="0"/>
              <a:t>]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97BBB2B-204C-A570-D89F-4BAAD680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专门的关系运算</a:t>
            </a:r>
          </a:p>
        </p:txBody>
      </p:sp>
      <p:sp>
        <p:nvSpPr>
          <p:cNvPr id="4" name="文本占位符 408578">
            <a:extLst>
              <a:ext uri="{FF2B5EF4-FFF2-40B4-BE49-F238E27FC236}">
                <a16:creationId xmlns:a16="http://schemas.microsoft.com/office/drawing/2014/main" id="{00279D33-246D-1982-79F0-A4F14459DF94}"/>
              </a:ext>
            </a:extLst>
          </p:cNvPr>
          <p:cNvSpPr txBox="1">
            <a:spLocks/>
          </p:cNvSpPr>
          <p:nvPr/>
        </p:nvSpPr>
        <p:spPr>
          <a:xfrm>
            <a:off x="5773119" y="3713326"/>
            <a:ext cx="3184901" cy="99597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wrap="square" lIns="68580" tIns="34290" rIns="68580" bIns="34290" rtlCol="0" anchor="t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sz="1500" dirty="0"/>
              <a:t>1</a:t>
            </a:r>
            <a:r>
              <a:rPr lang="zh-CN" altLang="en-US" sz="1500" dirty="0"/>
              <a:t>、前提：两个关系</a:t>
            </a:r>
            <a:r>
              <a:rPr lang="en-US" altLang="zh-CN" sz="1500" dirty="0"/>
              <a:t>R</a:t>
            </a:r>
            <a:r>
              <a:rPr lang="zh-CN" altLang="en-US" sz="1500" dirty="0"/>
              <a:t>（</a:t>
            </a:r>
            <a:r>
              <a:rPr lang="en-US" altLang="zh-CN" sz="1500" dirty="0"/>
              <a:t>X</a:t>
            </a:r>
            <a:r>
              <a:rPr lang="zh-CN" altLang="en-US" sz="1500" dirty="0"/>
              <a:t>，</a:t>
            </a:r>
            <a:r>
              <a:rPr lang="en-US" altLang="zh-CN" sz="1500" dirty="0">
                <a:solidFill>
                  <a:srgbClr val="FF0000"/>
                </a:solidFill>
              </a:rPr>
              <a:t>Y</a:t>
            </a:r>
            <a:r>
              <a:rPr lang="zh-CN" altLang="en-US" sz="1500" dirty="0"/>
              <a:t>）和</a:t>
            </a:r>
            <a:r>
              <a:rPr lang="en-US" altLang="zh-CN" sz="1500" dirty="0"/>
              <a:t>S</a:t>
            </a:r>
            <a:r>
              <a:rPr lang="zh-CN" altLang="en-US" sz="1500" dirty="0"/>
              <a:t>（</a:t>
            </a:r>
            <a:r>
              <a:rPr lang="en-US" altLang="zh-CN" sz="1500" dirty="0">
                <a:solidFill>
                  <a:srgbClr val="FF0000"/>
                </a:solidFill>
              </a:rPr>
              <a:t>Y</a:t>
            </a:r>
            <a:r>
              <a:rPr lang="zh-CN" altLang="en-US" sz="1500" dirty="0"/>
              <a:t>，</a:t>
            </a:r>
            <a:r>
              <a:rPr lang="en-US" altLang="zh-CN" sz="1500" dirty="0"/>
              <a:t>Z</a:t>
            </a:r>
            <a:r>
              <a:rPr lang="zh-CN" altLang="en-US" sz="1500" dirty="0"/>
              <a:t>）应该有</a:t>
            </a:r>
            <a:r>
              <a:rPr lang="zh-CN" altLang="en-US" sz="1500" b="1" dirty="0">
                <a:solidFill>
                  <a:srgbClr val="FF0000"/>
                </a:solidFill>
              </a:rPr>
              <a:t>公共</a:t>
            </a:r>
            <a:r>
              <a:rPr lang="zh-CN" altLang="en-US" sz="1500" dirty="0"/>
              <a:t>属性列。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1500" dirty="0"/>
              <a:t>2</a:t>
            </a:r>
            <a:r>
              <a:rPr lang="zh-CN" altLang="en-US" sz="1500" dirty="0"/>
              <a:t>、运算的结果：为</a:t>
            </a:r>
            <a:r>
              <a:rPr lang="en-US" altLang="zh-CN" sz="1500" dirty="0"/>
              <a:t>P</a:t>
            </a:r>
            <a:r>
              <a:rPr lang="zh-CN" altLang="en-US" sz="1500" dirty="0"/>
              <a:t>（</a:t>
            </a:r>
            <a:r>
              <a:rPr lang="en-US" altLang="zh-CN" sz="1500" dirty="0"/>
              <a:t>X</a:t>
            </a:r>
            <a:r>
              <a:rPr lang="zh-CN" altLang="en-US" sz="1500" dirty="0"/>
              <a:t>），元组来自于</a:t>
            </a:r>
            <a:r>
              <a:rPr lang="en-US" altLang="zh-CN" sz="1500" dirty="0"/>
              <a:t>R</a:t>
            </a:r>
            <a:r>
              <a:rPr lang="zh-CN" altLang="en-US" sz="1500" dirty="0"/>
              <a:t>关系，只包含</a:t>
            </a:r>
            <a:r>
              <a:rPr lang="en-US" altLang="zh-CN" sz="1500" dirty="0"/>
              <a:t>X</a:t>
            </a:r>
            <a:r>
              <a:rPr lang="zh-CN" altLang="en-US" sz="1500" dirty="0"/>
              <a:t>属性列</a:t>
            </a: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anchor="t" anchorCtr="0"/>
          <a:lstStyle/>
          <a:p>
            <a:pPr eaLnBrk="1" hangingPunct="1">
              <a:buNone/>
            </a:pPr>
            <a:r>
              <a:rPr lang="zh-CN" altLang="en-US" sz="1800" b="1" dirty="0"/>
              <a:t>设关系</a:t>
            </a:r>
            <a:r>
              <a:rPr lang="en-US" altLang="zh-CN" sz="1800" b="1" dirty="0"/>
              <a:t>R(X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Y)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S(Y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Z)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X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Y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Z</a:t>
            </a:r>
            <a:r>
              <a:rPr lang="zh-CN" altLang="en-US" sz="1800" b="1" dirty="0"/>
              <a:t>为属性组</a:t>
            </a:r>
          </a:p>
          <a:p>
            <a:pPr eaLnBrk="1" hangingPunct="1">
              <a:buNone/>
            </a:pPr>
            <a:r>
              <a:rPr lang="zh-CN" altLang="en-US" dirty="0"/>
              <a:t>    </a:t>
            </a:r>
            <a:r>
              <a:rPr lang="en-US" altLang="zh-CN" b="1" dirty="0">
                <a:latin typeface="宋体" panose="02010600030101010101" pitchFamily="2" charset="-122"/>
              </a:rPr>
              <a:t>R÷S={t[X]|t∈R ∧</a:t>
            </a:r>
            <a:r>
              <a:rPr lang="en-US" altLang="zh-CN" sz="3000" b="1" dirty="0">
                <a:latin typeface="宋体" panose="02010600030101010101" pitchFamily="2" charset="-122"/>
              </a:rPr>
              <a:t>π</a:t>
            </a:r>
            <a:r>
              <a:rPr lang="en-US" altLang="zh-CN" b="1" baseline="-25000" dirty="0">
                <a:latin typeface="宋体" panose="02010600030101010101" pitchFamily="2" charset="-122"/>
              </a:rPr>
              <a:t>Y</a:t>
            </a:r>
            <a:r>
              <a:rPr lang="en-US" altLang="zh-CN" b="1" dirty="0">
                <a:latin typeface="宋体" panose="02010600030101010101" pitchFamily="2" charset="-122"/>
              </a:rPr>
              <a:t>(S)⊆Yx}</a:t>
            </a:r>
          </a:p>
          <a:p>
            <a:pPr eaLnBrk="1" hangingPunct="1">
              <a:buNone/>
            </a:pPr>
            <a:r>
              <a:rPr lang="en-US" altLang="zh-CN" dirty="0"/>
              <a:t>                   </a:t>
            </a:r>
            <a:r>
              <a:rPr lang="en-US" altLang="zh-CN" sz="1800" b="1" dirty="0">
                <a:solidFill>
                  <a:schemeClr val="folHlink"/>
                </a:solidFill>
              </a:rPr>
              <a:t>①               </a:t>
            </a:r>
            <a:r>
              <a:rPr lang="zh-CN" altLang="en-US" sz="1800" b="1" dirty="0">
                <a:solidFill>
                  <a:schemeClr val="folHlink"/>
                </a:solidFill>
              </a:rPr>
              <a:t>        </a:t>
            </a:r>
            <a:r>
              <a:rPr lang="en-US" altLang="zh-CN" sz="1800" b="1" dirty="0">
                <a:solidFill>
                  <a:schemeClr val="folHlink"/>
                </a:solidFill>
              </a:rPr>
              <a:t> ②            </a:t>
            </a:r>
            <a:r>
              <a:rPr lang="zh-CN" altLang="en-US" sz="1800" b="1" dirty="0">
                <a:solidFill>
                  <a:schemeClr val="folHlink"/>
                </a:solidFill>
              </a:rPr>
              <a:t> </a:t>
            </a:r>
            <a:r>
              <a:rPr lang="en-US" altLang="zh-CN" sz="1800" b="1" dirty="0">
                <a:solidFill>
                  <a:schemeClr val="folHlink"/>
                </a:solidFill>
              </a:rPr>
              <a:t>③</a:t>
            </a:r>
          </a:p>
          <a:p>
            <a:pPr eaLnBrk="1" hangingPunct="1">
              <a:buNone/>
            </a:pPr>
            <a:r>
              <a:rPr lang="en-US" altLang="zh-CN" dirty="0"/>
              <a:t>                                          </a:t>
            </a:r>
            <a:r>
              <a:rPr lang="en-US" altLang="zh-CN" sz="1800" b="1" dirty="0">
                <a:solidFill>
                  <a:schemeClr val="folHlink"/>
                </a:solidFill>
              </a:rPr>
              <a:t>④</a:t>
            </a:r>
          </a:p>
        </p:txBody>
      </p:sp>
      <p:sp>
        <p:nvSpPr>
          <p:cNvPr id="62468" name="Line 5"/>
          <p:cNvSpPr/>
          <p:nvPr/>
        </p:nvSpPr>
        <p:spPr>
          <a:xfrm flipV="1">
            <a:off x="2122872" y="1882381"/>
            <a:ext cx="1588971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62469" name="Line 6"/>
          <p:cNvSpPr/>
          <p:nvPr/>
        </p:nvSpPr>
        <p:spPr>
          <a:xfrm>
            <a:off x="5595534" y="1883655"/>
            <a:ext cx="400050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62470" name="Line 7"/>
          <p:cNvSpPr/>
          <p:nvPr/>
        </p:nvSpPr>
        <p:spPr>
          <a:xfrm flipV="1">
            <a:off x="4582799" y="2437107"/>
            <a:ext cx="1278611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pic>
        <p:nvPicPr>
          <p:cNvPr id="62472" name="图片 1" descr="PWE7_HEYNPY@USMFI1LIM7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414120" y="3183933"/>
            <a:ext cx="2314575" cy="1385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E2DCFE7C-9C4D-72F4-63F5-F8AF81C5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关系除的计算</a:t>
            </a:r>
          </a:p>
        </p:txBody>
      </p:sp>
      <p:sp>
        <p:nvSpPr>
          <p:cNvPr id="4" name="Line 6">
            <a:extLst>
              <a:ext uri="{FF2B5EF4-FFF2-40B4-BE49-F238E27FC236}">
                <a16:creationId xmlns:a16="http://schemas.microsoft.com/office/drawing/2014/main" id="{2D757DC0-A030-1C70-8BC7-E2668627FB71}"/>
              </a:ext>
            </a:extLst>
          </p:cNvPr>
          <p:cNvSpPr/>
          <p:nvPr/>
        </p:nvSpPr>
        <p:spPr>
          <a:xfrm>
            <a:off x="4364561" y="1883655"/>
            <a:ext cx="857544" cy="0"/>
          </a:xfrm>
          <a:prstGeom prst="line">
            <a:avLst/>
          </a:prstGeom>
          <a:ln w="285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62471" name="Rectangle 8"/>
          <p:cNvSpPr/>
          <p:nvPr/>
        </p:nvSpPr>
        <p:spPr>
          <a:xfrm>
            <a:off x="128587" y="2330876"/>
            <a:ext cx="5314950" cy="2514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257175" indent="-25717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① </a:t>
            </a:r>
            <a:r>
              <a:rPr lang="en-US" altLang="zh-CN" sz="3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π</a:t>
            </a:r>
            <a:r>
              <a:rPr lang="en-US" altLang="zh-CN" sz="15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(R) </a:t>
            </a:r>
          </a:p>
          <a:p>
            <a:pPr marL="257175" indent="-25717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③ </a:t>
            </a:r>
            <a:r>
              <a:rPr lang="en-US" altLang="zh-CN" sz="21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en-US" altLang="zh-CN" sz="2100" baseline="-250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中的象集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: </a:t>
            </a:r>
          </a:p>
          <a:p>
            <a:pPr marL="857250" lvl="2" indent="-17145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对于每个值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x∈</a:t>
            </a:r>
            <a:r>
              <a:rPr lang="en-US" altLang="zh-CN" sz="3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π</a:t>
            </a:r>
            <a:r>
              <a:rPr lang="en-US" altLang="zh-CN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 </a:t>
            </a:r>
          </a:p>
          <a:p>
            <a:pPr marL="857250" lvl="2" indent="-17145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求：</a:t>
            </a:r>
            <a:r>
              <a:rPr lang="en-US" altLang="zh-CN" sz="28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π</a:t>
            </a:r>
            <a:r>
              <a:rPr lang="en-US" altLang="zh-CN" sz="27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en-US" altLang="zh-CN" sz="27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σ</a:t>
            </a:r>
            <a:r>
              <a:rPr lang="en-US" altLang="zh-CN" sz="20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X=x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(R))</a:t>
            </a:r>
          </a:p>
          <a:p>
            <a:pPr marL="257175" indent="-25717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④  </a:t>
            </a:r>
            <a:r>
              <a:rPr lang="zh-CN" altLang="en-US" dirty="0">
                <a:solidFill>
                  <a:schemeClr val="fol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结果为：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象集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lang="en-US" altLang="zh-CN" sz="21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包含了</a:t>
            </a:r>
            <a:r>
              <a:rPr lang="en-US" altLang="zh-CN" sz="30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π</a:t>
            </a:r>
            <a:r>
              <a:rPr lang="en-US" altLang="zh-CN" sz="1500" baseline="-25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 </a:t>
            </a:r>
            <a:r>
              <a:rPr lang="en-US" altLang="zh-CN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(S)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</a:t>
            </a: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E12BC-D59A-58FF-A1A8-CF542F66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使用除表达查询需求的方法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D69469-AA80-0EA6-C834-0B3675629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zh-CN" altLang="en-US" dirty="0"/>
              <a:t>查询需求一般可以写为：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r>
              <a:rPr kumimoji="1" lang="zh-CN" altLang="en-US" dirty="0"/>
              <a:t>查询</a:t>
            </a:r>
            <a:r>
              <a:rPr kumimoji="1" lang="en-US" altLang="zh-CN" dirty="0"/>
              <a:t>A</a:t>
            </a:r>
            <a:r>
              <a:rPr kumimoji="1" lang="zh-CN" altLang="en-US" dirty="0"/>
              <a:t>类实体的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属性集，要求</a:t>
            </a:r>
            <a:r>
              <a:rPr kumimoji="1" lang="en-US" altLang="zh-CN" dirty="0"/>
              <a:t>A</a:t>
            </a:r>
            <a:r>
              <a:rPr kumimoji="1" lang="zh-CN" altLang="en-US" dirty="0"/>
              <a:t>类实体与</a:t>
            </a:r>
            <a:r>
              <a:rPr kumimoji="1" lang="en-US" altLang="zh-CN" dirty="0"/>
              <a:t>B</a:t>
            </a:r>
            <a:r>
              <a:rPr kumimoji="1" lang="zh-CN" altLang="en-US" dirty="0"/>
              <a:t>类实体的一个子集存在联系</a:t>
            </a:r>
            <a:endParaRPr kumimoji="1" lang="en-US" altLang="zh-CN" dirty="0"/>
          </a:p>
          <a:p>
            <a:pPr lvl="1">
              <a:lnSpc>
                <a:spcPct val="120000"/>
              </a:lnSpc>
            </a:pPr>
            <a:endParaRPr kumimoji="1"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kumimoji="1" lang="zh-CN" altLang="en-US" dirty="0"/>
              <a:t>分析</a:t>
            </a:r>
            <a:endParaRPr kumimoji="1" lang="en-US" altLang="zh-CN" dirty="0"/>
          </a:p>
          <a:p>
            <a:pPr marL="914400" lvl="1" indent="-457200">
              <a:lnSpc>
                <a:spcPct val="120000"/>
              </a:lnSpc>
              <a:buFont typeface="+mj-ea"/>
              <a:buAutoNum type="circleNumDbPlain"/>
            </a:pPr>
            <a:r>
              <a:rPr kumimoji="1" lang="zh-CN" altLang="en-US" dirty="0"/>
              <a:t>找</a:t>
            </a:r>
            <a:r>
              <a:rPr kumimoji="1" lang="en-US" altLang="zh-CN" dirty="0"/>
              <a:t>A</a:t>
            </a:r>
            <a:r>
              <a:rPr kumimoji="1" lang="zh-CN" altLang="en-US" dirty="0"/>
              <a:t>与</a:t>
            </a:r>
            <a:r>
              <a:rPr kumimoji="1" lang="en-US" altLang="zh-CN" dirty="0"/>
              <a:t>B</a:t>
            </a:r>
            <a:r>
              <a:rPr kumimoji="1" lang="zh-CN" altLang="en-US" dirty="0"/>
              <a:t>两类实体的联系，可能是关系</a:t>
            </a:r>
            <a:r>
              <a:rPr kumimoji="1" lang="en-US" altLang="zh-CN" dirty="0"/>
              <a:t>A</a:t>
            </a:r>
            <a:r>
              <a:rPr kumimoji="1" lang="zh-CN" altLang="en-US" dirty="0"/>
              <a:t>，也可能是关系</a:t>
            </a:r>
            <a:r>
              <a:rPr kumimoji="1" lang="en-US" altLang="zh-CN" dirty="0"/>
              <a:t>C</a:t>
            </a:r>
            <a:r>
              <a:rPr kumimoji="1" lang="zh-CN" altLang="en-US" dirty="0"/>
              <a:t>，构造</a:t>
            </a:r>
            <a:r>
              <a:rPr kumimoji="1" lang="en-US" altLang="zh-CN" dirty="0"/>
              <a:t>R</a:t>
            </a:r>
            <a:r>
              <a:rPr kumimoji="1" lang="zh-CN" altLang="en-US" dirty="0"/>
              <a:t>：只包括最终的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以及</a:t>
            </a:r>
            <a:r>
              <a:rPr kumimoji="1" lang="en-US" altLang="zh-CN" dirty="0"/>
              <a:t>B</a:t>
            </a:r>
            <a:r>
              <a:rPr kumimoji="1" lang="zh-CN" altLang="en-US" dirty="0"/>
              <a:t>类实体的标识符属性集</a:t>
            </a:r>
            <a:r>
              <a:rPr kumimoji="1" lang="en-US" altLang="zh-CN" dirty="0"/>
              <a:t>Y</a:t>
            </a:r>
            <a:r>
              <a:rPr kumimoji="1" lang="zh-CN" altLang="en-US" dirty="0"/>
              <a:t>。如果</a:t>
            </a:r>
            <a:r>
              <a:rPr kumimoji="1" lang="en-US" altLang="zh-CN" dirty="0"/>
              <a:t>X</a:t>
            </a:r>
            <a:r>
              <a:rPr kumimoji="1" lang="zh-CN" altLang="en-US" dirty="0"/>
              <a:t>来自于</a:t>
            </a:r>
            <a:r>
              <a:rPr kumimoji="1" lang="en-US" altLang="zh-CN" dirty="0"/>
              <a:t>A</a:t>
            </a:r>
            <a:r>
              <a:rPr kumimoji="1" lang="zh-CN" altLang="en-US" dirty="0"/>
              <a:t>关系和其他关系，则先将它们连接起来，然后做投影构造出</a:t>
            </a:r>
            <a:r>
              <a:rPr kumimoji="1" lang="en-US" altLang="zh-CN" dirty="0"/>
              <a:t>R</a:t>
            </a:r>
          </a:p>
          <a:p>
            <a:pPr marL="914400" lvl="1" indent="-457200">
              <a:lnSpc>
                <a:spcPct val="120000"/>
              </a:lnSpc>
              <a:buFont typeface="+mj-ea"/>
              <a:buAutoNum type="circleNumDbPlain"/>
            </a:pPr>
            <a:r>
              <a:rPr kumimoji="1" lang="zh-CN" altLang="en-US" dirty="0"/>
              <a:t>从</a:t>
            </a:r>
            <a:r>
              <a:rPr kumimoji="1" lang="en-US" altLang="zh-CN" dirty="0"/>
              <a:t>B</a:t>
            </a:r>
            <a:r>
              <a:rPr kumimoji="1" lang="zh-CN" altLang="en-US" dirty="0"/>
              <a:t>类实体构造</a:t>
            </a:r>
            <a:r>
              <a:rPr kumimoji="1" lang="en-US" altLang="zh-CN" dirty="0"/>
              <a:t>S</a:t>
            </a:r>
            <a:r>
              <a:rPr kumimoji="1" lang="zh-CN" altLang="en-US" dirty="0"/>
              <a:t>：利用选择从</a:t>
            </a:r>
            <a:r>
              <a:rPr kumimoji="1" lang="en-US" altLang="zh-CN" dirty="0"/>
              <a:t>B</a:t>
            </a:r>
            <a:r>
              <a:rPr kumimoji="1" lang="zh-CN" altLang="en-US" dirty="0"/>
              <a:t>中选一个子集，但一定要包含</a:t>
            </a:r>
            <a:r>
              <a:rPr kumimoji="1" lang="en-US" altLang="zh-CN" dirty="0"/>
              <a:t>Y</a:t>
            </a:r>
            <a:r>
              <a:rPr kumimoji="1" lang="zh-CN" altLang="en-US" dirty="0"/>
              <a:t>属性集</a:t>
            </a:r>
            <a:endParaRPr kumimoji="1" lang="en-US" altLang="zh-CN" dirty="0"/>
          </a:p>
          <a:p>
            <a:pPr marL="914400" lvl="1" indent="-457200">
              <a:lnSpc>
                <a:spcPct val="120000"/>
              </a:lnSpc>
              <a:buFont typeface="+mj-ea"/>
              <a:buAutoNum type="circleNumDbPlain"/>
            </a:pPr>
            <a:r>
              <a:rPr kumimoji="1" lang="zh-CN" altLang="en-US" dirty="0"/>
              <a:t>构造除法</a:t>
            </a:r>
            <a:r>
              <a:rPr kumimoji="1" lang="en-US" altLang="zh-CN" dirty="0"/>
              <a:t>R÷S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2984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68580" tIns="34290" rIns="68580" bIns="34290" anchor="t" anchorCtr="0">
            <a:normAutofit lnSpcReduction="10000"/>
          </a:bodyPr>
          <a:lstStyle/>
          <a:p>
            <a:pPr marL="6350" lvl="1" indent="0" eaLnBrk="1" hangingPunct="1">
              <a:lnSpc>
                <a:spcPct val="90000"/>
              </a:lnSpc>
              <a:buNone/>
            </a:pPr>
            <a:r>
              <a:rPr lang="zh-CN" altLang="en-US" sz="2200" dirty="0"/>
              <a:t>求同时选修了</a:t>
            </a:r>
            <a:r>
              <a:rPr lang="en-US" altLang="zh-CN" sz="2200" dirty="0"/>
              <a:t>001</a:t>
            </a:r>
            <a:r>
              <a:rPr lang="zh-CN" altLang="en-US" sz="2200" dirty="0"/>
              <a:t>和</a:t>
            </a:r>
            <a:r>
              <a:rPr lang="en-US" altLang="zh-CN" sz="2200" dirty="0"/>
              <a:t>002</a:t>
            </a:r>
            <a:r>
              <a:rPr lang="zh-CN" altLang="en-US" sz="2200" dirty="0"/>
              <a:t>号课程的学生号</a:t>
            </a:r>
            <a:endParaRPr lang="en-US" altLang="zh-CN" sz="22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100" dirty="0">
                <a:sym typeface="Symbol" panose="05050102010706020507" pitchFamily="18" charset="2"/>
              </a:rPr>
              <a:t>SC</a:t>
            </a:r>
            <a:r>
              <a:rPr lang="zh-CN" altLang="en-US" sz="2100" dirty="0">
                <a:sym typeface="Symbol" panose="05050102010706020507" pitchFamily="18" charset="2"/>
              </a:rPr>
              <a:t>（</a:t>
            </a:r>
            <a:r>
              <a:rPr lang="en-US" altLang="zh-CN" baseline="-25000" dirty="0">
                <a:sym typeface="Symbol" panose="05050102010706020507" pitchFamily="18" charset="2"/>
              </a:rPr>
              <a:t>S#</a:t>
            </a:r>
            <a:r>
              <a:rPr lang="zh-CN" altLang="en-US" baseline="-25000" dirty="0">
                <a:sym typeface="Symbol" panose="05050102010706020507" pitchFamily="18" charset="2"/>
              </a:rPr>
              <a:t>，</a:t>
            </a:r>
            <a:r>
              <a:rPr lang="en-US" altLang="zh-CN" baseline="-25000" dirty="0">
                <a:sym typeface="Symbol" panose="05050102010706020507" pitchFamily="18" charset="2"/>
              </a:rPr>
              <a:t>C#</a:t>
            </a:r>
            <a:r>
              <a:rPr lang="zh-CN" altLang="en-US" baseline="-25000" dirty="0">
                <a:sym typeface="Symbol" panose="05050102010706020507" pitchFamily="18" charset="2"/>
              </a:rPr>
              <a:t>，</a:t>
            </a:r>
            <a:r>
              <a:rPr lang="en-US" altLang="zh-CN" baseline="-25000" dirty="0">
                <a:sym typeface="Symbol" panose="05050102010706020507" pitchFamily="18" charset="2"/>
              </a:rPr>
              <a:t>Grade</a:t>
            </a:r>
            <a:r>
              <a:rPr lang="zh-CN" altLang="en-US" sz="2100" dirty="0">
                <a:sym typeface="Symbol" panose="05050102010706020507" pitchFamily="18" charset="2"/>
              </a:rPr>
              <a:t>）</a:t>
            </a:r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sz="21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dirty="0"/>
              <a:t>   </a:t>
            </a:r>
            <a:r>
              <a:rPr lang="zh-CN" altLang="en-US" sz="2100" dirty="0"/>
              <a:t>方案</a:t>
            </a:r>
            <a:r>
              <a:rPr lang="en-US" altLang="zh-CN" sz="2100" dirty="0"/>
              <a:t>1</a:t>
            </a:r>
            <a:r>
              <a:rPr lang="zh-CN" altLang="en-US" sz="2100" dirty="0"/>
              <a:t>：</a:t>
            </a:r>
          </a:p>
          <a:p>
            <a:pPr lvl="1" algn="ctr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∏</a:t>
            </a:r>
            <a:r>
              <a:rPr lang="en-US" altLang="zh-CN" baseline="-25000" dirty="0">
                <a:sym typeface="Symbol" panose="05050102010706020507" pitchFamily="18" charset="2"/>
              </a:rPr>
              <a:t>S#</a:t>
            </a:r>
            <a:r>
              <a:rPr lang="zh-CN" altLang="en-US" baseline="-25000" dirty="0">
                <a:sym typeface="Symbol" panose="05050102010706020507" pitchFamily="18" charset="2"/>
              </a:rPr>
              <a:t>，</a:t>
            </a:r>
            <a:r>
              <a:rPr lang="en-US" altLang="zh-CN" baseline="-25000" dirty="0">
                <a:sym typeface="Symbol" panose="05050102010706020507" pitchFamily="18" charset="2"/>
              </a:rPr>
              <a:t>C#</a:t>
            </a:r>
            <a:r>
              <a:rPr lang="en-US" altLang="zh-CN" dirty="0">
                <a:sym typeface="Symbol" panose="05050102010706020507" pitchFamily="18" charset="2"/>
              </a:rPr>
              <a:t>(SC)  </a:t>
            </a:r>
            <a:r>
              <a:rPr lang="en-US" altLang="zh-CN" sz="2700" dirty="0"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ym typeface="Symbol" panose="05050102010706020507" pitchFamily="18" charset="2"/>
              </a:rPr>
              <a:t>C# = 001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aseline="-20000" dirty="0">
                <a:sym typeface="Symbol" panose="05050102010706020507" pitchFamily="18" charset="2"/>
              </a:rPr>
              <a:t>C# = 002 </a:t>
            </a:r>
            <a:r>
              <a:rPr lang="en-US" altLang="zh-CN" dirty="0">
                <a:sym typeface="Symbol" panose="05050102010706020507" pitchFamily="18" charset="2"/>
              </a:rPr>
              <a:t>(C)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/>
              <a:t>  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/>
              <a:t>   </a:t>
            </a:r>
            <a:r>
              <a:rPr lang="zh-CN" altLang="en-US" sz="2100" dirty="0"/>
              <a:t>方案</a:t>
            </a:r>
            <a:r>
              <a:rPr lang="en-US" altLang="zh-CN" sz="2100" dirty="0"/>
              <a:t>2</a:t>
            </a:r>
            <a:r>
              <a:rPr lang="zh-CN" altLang="en-US" sz="2100" dirty="0"/>
              <a:t>：</a:t>
            </a:r>
          </a:p>
          <a:p>
            <a:pPr lvl="1" algn="ctr" eaLnBrk="1" hangingPunct="1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∏</a:t>
            </a:r>
            <a:r>
              <a:rPr lang="en-US" altLang="zh-CN" baseline="-25000" dirty="0">
                <a:sym typeface="Symbol" panose="05050102010706020507" pitchFamily="18" charset="2"/>
              </a:rPr>
              <a:t>S#</a:t>
            </a:r>
            <a:r>
              <a:rPr lang="en-US" altLang="zh-CN" dirty="0">
                <a:sym typeface="Symbol" panose="05050102010706020507" pitchFamily="18" charset="2"/>
              </a:rPr>
              <a:t>(SC  </a:t>
            </a:r>
            <a:r>
              <a:rPr lang="en-US" altLang="zh-CN" sz="2700" dirty="0">
                <a:sym typeface="Symbol" panose="05050102010706020507" pitchFamily="18" charset="2"/>
              </a:rPr>
              <a:t></a:t>
            </a:r>
            <a:r>
              <a:rPr lang="en-US" altLang="zh-CN" baseline="-20000" dirty="0">
                <a:sym typeface="Symbol" panose="05050102010706020507" pitchFamily="18" charset="2"/>
              </a:rPr>
              <a:t>C# = 001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baseline="-20000" dirty="0">
                <a:sym typeface="Symbol" panose="05050102010706020507" pitchFamily="18" charset="2"/>
              </a:rPr>
              <a:t>C# = 002 </a:t>
            </a:r>
            <a:r>
              <a:rPr lang="en-US" altLang="zh-CN" dirty="0">
                <a:sym typeface="Symbol" panose="05050102010706020507" pitchFamily="18" charset="2"/>
              </a:rPr>
              <a:t>(C))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  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100" dirty="0">
                <a:sym typeface="Symbol" panose="05050102010706020507" pitchFamily="18" charset="2"/>
              </a:rPr>
              <a:t>   </a:t>
            </a:r>
            <a:r>
              <a:rPr lang="zh-CN" altLang="zh-CN" sz="2100" dirty="0">
                <a:solidFill>
                  <a:srgbClr val="FF0000"/>
                </a:solidFill>
                <a:sym typeface="Symbol" panose="05050102010706020507" pitchFamily="18" charset="2"/>
              </a:rPr>
              <a:t>哪一个正确？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E94683B-264B-AEB8-191C-D99659304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除计算的示例</a:t>
            </a: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1" name="Picture 4" descr="BD04912_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116" y="1253548"/>
            <a:ext cx="1143000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8161" y="1253548"/>
            <a:ext cx="6858000" cy="339364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68580" tIns="34290" rIns="68580" bIns="34290"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30029" indent="-230029" eaLnBrk="1" hangingPunct="1">
              <a:lnSpc>
                <a:spcPct val="90000"/>
              </a:lnSpc>
            </a:pPr>
            <a:r>
              <a:rPr lang="zh-CN" altLang="en-US" sz="1800" b="1" dirty="0">
                <a:solidFill>
                  <a:srgbClr val="FF3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关系代数五种基本运算：</a:t>
            </a:r>
          </a:p>
          <a:p>
            <a:pPr marL="230029" indent="-230029" eaLnBrk="1" hangingPunct="1">
              <a:lnSpc>
                <a:spcPct val="90000"/>
              </a:lnSpc>
              <a:buNone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  并、差、笛卡尔积、投影、选择</a:t>
            </a:r>
          </a:p>
          <a:p>
            <a:pPr marL="230029" indent="-230029" eaLnBrk="1" hangingPunct="1">
              <a:lnSpc>
                <a:spcPct val="90000"/>
              </a:lnSpc>
            </a:pPr>
            <a:r>
              <a:rPr lang="zh-CN" altLang="en-US" sz="1800" b="1" dirty="0">
                <a:solidFill>
                  <a:schemeClr val="hlin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非基本运算用基本运算的表示</a:t>
            </a:r>
          </a:p>
          <a:p>
            <a:pPr marL="230029" indent="-230029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</a:t>
            </a:r>
          </a:p>
          <a:p>
            <a:pPr marL="230029" indent="-230029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连接</a:t>
            </a:r>
          </a:p>
          <a:p>
            <a:pPr marL="230029" indent="-230029" algn="just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除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30029" indent="-230029" algn="just" eaLnBrk="1" hangingPunct="1">
              <a:lnSpc>
                <a:spcPct val="90000"/>
              </a:lnSpc>
              <a:buNone/>
            </a:pPr>
            <a:endParaRPr lang="en-US" altLang="zh-CN" sz="1800" dirty="0">
              <a:solidFill>
                <a:schemeClr val="folHlin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30029" indent="-230029" eaLnBrk="1" hangingPunct="1">
              <a:lnSpc>
                <a:spcPct val="90000"/>
              </a:lnSpc>
            </a:pPr>
            <a:r>
              <a:rPr lang="zh-CN" altLang="en-US" sz="1800" b="1" dirty="0">
                <a:solidFill>
                  <a:srgbClr val="FF33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关系代数表达式：</a:t>
            </a:r>
          </a:p>
          <a:p>
            <a:pPr lvl="1">
              <a:buNone/>
            </a:pPr>
            <a:r>
              <a:rPr lang="zh-CN" altLang="en-US" sz="1800" dirty="0">
                <a:latin typeface="Arial" panose="020B0604020202020204" pitchFamily="34" charset="0"/>
              </a:rPr>
              <a:t>关系代数运算经有限次复合后形成的式子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CEAEAB1-8838-502D-3966-5E8399B0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FEFE-8F0B-A434-0929-865DAF6C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1D1FEB-ED00-8D86-E7F6-E098FE56E529}"/>
              </a:ext>
            </a:extLst>
          </p:cNvPr>
          <p:cNvSpPr txBox="1"/>
          <p:nvPr/>
        </p:nvSpPr>
        <p:spPr>
          <a:xfrm>
            <a:off x="1006545" y="2781596"/>
            <a:ext cx="7458075" cy="64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zh-CN" altLang="en-US" sz="4346" b="1" dirty="0">
                <a:solidFill>
                  <a:srgbClr val="4141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对象</a:t>
            </a:r>
            <a:r>
              <a:rPr lang="en-US" altLang="zh-CN" sz="4346" b="1" dirty="0">
                <a:solidFill>
                  <a:srgbClr val="4141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-</a:t>
            </a:r>
            <a:r>
              <a:rPr lang="zh-CN" altLang="en-US" sz="4346" b="1" dirty="0">
                <a:solidFill>
                  <a:srgbClr val="4141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关系模型</a:t>
            </a:r>
            <a:endParaRPr lang="en-US" sz="4346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D7F502D-E4C9-AF71-3658-275AF4482C54}"/>
              </a:ext>
            </a:extLst>
          </p:cNvPr>
          <p:cNvSpPr/>
          <p:nvPr/>
        </p:nvSpPr>
        <p:spPr>
          <a:xfrm>
            <a:off x="1006545" y="1145447"/>
            <a:ext cx="1266735" cy="1112002"/>
          </a:xfrm>
          <a:custGeom>
            <a:avLst/>
            <a:gdLst/>
            <a:ahLst/>
            <a:cxnLst/>
            <a:rect l="l" t="t" r="r" b="b"/>
            <a:pathLst>
              <a:path w="1266735" h="1112002">
                <a:moveTo>
                  <a:pt x="0" y="0"/>
                </a:moveTo>
                <a:lnTo>
                  <a:pt x="1266735" y="0"/>
                </a:lnTo>
                <a:lnTo>
                  <a:pt x="1266735" y="1112002"/>
                </a:lnTo>
                <a:lnTo>
                  <a:pt x="0" y="1112002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EE274F-18E4-C79F-EE88-9E0D7E7324BB}"/>
              </a:ext>
            </a:extLst>
          </p:cNvPr>
          <p:cNvSpPr txBox="1"/>
          <p:nvPr/>
        </p:nvSpPr>
        <p:spPr>
          <a:xfrm>
            <a:off x="861243" y="1476441"/>
            <a:ext cx="1557338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" altLang="en-US" sz="315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PART</a:t>
            </a:r>
            <a:endParaRPr lang="en-US" sz="455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7027EDD-E42A-EC62-7EDA-10342BE046DD}"/>
              </a:ext>
            </a:extLst>
          </p:cNvPr>
          <p:cNvSpPr/>
          <p:nvPr/>
        </p:nvSpPr>
        <p:spPr>
          <a:xfrm>
            <a:off x="0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19951A2-BC7D-AD02-50D2-7CCF24B88D53}"/>
              </a:ext>
            </a:extLst>
          </p:cNvPr>
          <p:cNvSpPr/>
          <p:nvPr/>
        </p:nvSpPr>
        <p:spPr>
          <a:xfrm>
            <a:off x="2289867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7DA4DCA-AB8F-EA6F-E5BE-2BA7130CC62D}"/>
              </a:ext>
            </a:extLst>
          </p:cNvPr>
          <p:cNvSpPr/>
          <p:nvPr/>
        </p:nvSpPr>
        <p:spPr>
          <a:xfrm>
            <a:off x="4562321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751FCE7-53A2-60FE-15D6-CE00B17E3AC6}"/>
              </a:ext>
            </a:extLst>
          </p:cNvPr>
          <p:cNvSpPr/>
          <p:nvPr/>
        </p:nvSpPr>
        <p:spPr>
          <a:xfrm>
            <a:off x="6852188" y="4808141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5F43D1F-6C52-C53D-1448-54B3D7889BCF}"/>
              </a:ext>
            </a:extLst>
          </p:cNvPr>
          <p:cNvSpPr/>
          <p:nvPr/>
        </p:nvSpPr>
        <p:spPr>
          <a:xfrm>
            <a:off x="0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B2D01C3-C999-F355-53CF-ADC34F6BEF35}"/>
              </a:ext>
            </a:extLst>
          </p:cNvPr>
          <p:cNvSpPr/>
          <p:nvPr/>
        </p:nvSpPr>
        <p:spPr>
          <a:xfrm>
            <a:off x="2289867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4629905-6CA7-C175-EE39-E6463E1AC5FC}"/>
              </a:ext>
            </a:extLst>
          </p:cNvPr>
          <p:cNvSpPr/>
          <p:nvPr/>
        </p:nvSpPr>
        <p:spPr>
          <a:xfrm>
            <a:off x="4562321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A809A4A-0783-06D2-2B45-3B15DC190D01}"/>
              </a:ext>
            </a:extLst>
          </p:cNvPr>
          <p:cNvSpPr/>
          <p:nvPr/>
        </p:nvSpPr>
        <p:spPr>
          <a:xfrm>
            <a:off x="6852188" y="-244209"/>
            <a:ext cx="2289867" cy="334084"/>
          </a:xfrm>
          <a:custGeom>
            <a:avLst/>
            <a:gdLst/>
            <a:ahLst/>
            <a:cxnLst/>
            <a:rect l="l" t="t" r="r" b="b"/>
            <a:pathLst>
              <a:path w="2289867" h="334084">
                <a:moveTo>
                  <a:pt x="0" y="0"/>
                </a:moveTo>
                <a:lnTo>
                  <a:pt x="2289867" y="0"/>
                </a:lnTo>
                <a:lnTo>
                  <a:pt x="2289867" y="334084"/>
                </a:lnTo>
                <a:lnTo>
                  <a:pt x="0" y="334084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86ECA3F-4126-F8D5-CEB5-DF131796F559}"/>
              </a:ext>
            </a:extLst>
          </p:cNvPr>
          <p:cNvSpPr/>
          <p:nvPr/>
        </p:nvSpPr>
        <p:spPr>
          <a:xfrm>
            <a:off x="7336119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FD5220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9A4FAD3-3F33-A37D-8FC0-E670CF4C996A}"/>
              </a:ext>
            </a:extLst>
          </p:cNvPr>
          <p:cNvSpPr/>
          <p:nvPr/>
        </p:nvSpPr>
        <p:spPr>
          <a:xfrm>
            <a:off x="7573491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FDA32F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E0D9F22-384E-3E15-178A-49BF086D786D}"/>
              </a:ext>
            </a:extLst>
          </p:cNvPr>
          <p:cNvSpPr/>
          <p:nvPr/>
        </p:nvSpPr>
        <p:spPr>
          <a:xfrm>
            <a:off x="7810862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148577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893ADCB-00BE-37F3-F7A4-09CD4168C29A}"/>
              </a:ext>
            </a:extLst>
          </p:cNvPr>
          <p:cNvSpPr/>
          <p:nvPr/>
        </p:nvSpPr>
        <p:spPr>
          <a:xfrm>
            <a:off x="8048233" y="4018658"/>
            <a:ext cx="139067" cy="129483"/>
          </a:xfrm>
          <a:custGeom>
            <a:avLst/>
            <a:gdLst/>
            <a:ahLst/>
            <a:cxnLst/>
            <a:rect l="l" t="t" r="r" b="b"/>
            <a:pathLst>
              <a:path w="139067" h="129483">
                <a:moveTo>
                  <a:pt x="0" y="0"/>
                </a:moveTo>
                <a:lnTo>
                  <a:pt x="139067" y="0"/>
                </a:lnTo>
                <a:lnTo>
                  <a:pt x="139067" y="129483"/>
                </a:lnTo>
                <a:lnTo>
                  <a:pt x="0" y="129483"/>
                </a:lnTo>
                <a:close/>
              </a:path>
            </a:pathLst>
          </a:custGeom>
          <a:solidFill>
            <a:srgbClr val="153033"/>
          </a:solidFill>
          <a:ln/>
        </p:spPr>
        <p:txBody>
          <a:bodyPr/>
          <a:lstStyle/>
          <a:p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3B4CF2E-D928-464A-1972-86A40CA7F485}"/>
              </a:ext>
            </a:extLst>
          </p:cNvPr>
          <p:cNvSpPr txBox="1"/>
          <p:nvPr/>
        </p:nvSpPr>
        <p:spPr>
          <a:xfrm>
            <a:off x="2716533" y="1294012"/>
            <a:ext cx="846327" cy="8079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525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0</a:t>
            </a:r>
            <a:r>
              <a:rPr lang="en-US" altLang="zh-CN" sz="5250" b="1" dirty="0">
                <a:solidFill>
                  <a:srgbClr val="FD52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SourceHanSansSC-Regular"/>
              </a:rPr>
              <a:t>4</a:t>
            </a:r>
            <a:endParaRPr lang="en-US" sz="52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52431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A0D294B-4485-A071-C81A-9067CD2F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</a:t>
            </a:r>
            <a:r>
              <a:rPr lang="en-US" altLang="zh-CN" dirty="0"/>
              <a:t>-</a:t>
            </a:r>
            <a:r>
              <a:rPr lang="zh-CN" altLang="en-US" dirty="0"/>
              <a:t>关系模型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F64E14A-621C-0499-48DC-4CED1A092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对象</a:t>
            </a:r>
            <a:r>
              <a:rPr lang="en-US" altLang="zh-CN" dirty="0"/>
              <a:t>-</a:t>
            </a:r>
            <a:r>
              <a:rPr lang="zh-CN" altLang="en-US" dirty="0"/>
              <a:t>关系模型（</a:t>
            </a:r>
            <a:r>
              <a:rPr lang="en-US" altLang="zh-CN" dirty="0"/>
              <a:t>Object</a:t>
            </a:r>
            <a:r>
              <a:rPr lang="zh-CN" altLang="en-US" dirty="0"/>
              <a:t> </a:t>
            </a:r>
            <a:r>
              <a:rPr lang="en-US" altLang="zh-CN" dirty="0"/>
              <a:t>Relational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Model</a:t>
            </a:r>
            <a:r>
              <a:rPr lang="zh-CN" altLang="en-US" dirty="0"/>
              <a:t>）是面向对象模型和关系模型的结合体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但“面向对象”和“关系”之间并非简单的对半分，是以“关系”为基础，扩展和补充了一部分“面向对象”模型的概念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87689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8882B-B398-3AFF-3AA0-A883BE04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对象和类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22D139-24B5-9870-8236-9DECD5C4C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面向对象中最基本的组成元素：对象（</a:t>
            </a:r>
            <a:r>
              <a:rPr kumimoji="1" lang="en-US" altLang="zh-CN" dirty="0"/>
              <a:t>Object</a:t>
            </a:r>
            <a:r>
              <a:rPr kumimoji="1" lang="zh-CN" altLang="en-US" dirty="0"/>
              <a:t>）和类（</a:t>
            </a:r>
            <a:r>
              <a:rPr kumimoji="1" lang="en-US" altLang="zh-CN" dirty="0"/>
              <a:t>Class</a:t>
            </a:r>
            <a:r>
              <a:rPr kumimoji="1" lang="zh-CN" altLang="en-US" dirty="0"/>
              <a:t>），对象是类的实例，类是对象的结构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ORDBMS</a:t>
            </a:r>
            <a:r>
              <a:rPr kumimoji="1" lang="zh-CN" altLang="en-US" dirty="0"/>
              <a:t>中：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对象：行（元组），每个对象有</a:t>
            </a:r>
            <a:r>
              <a:rPr kumimoji="1" lang="en-US" altLang="zh-CN" dirty="0"/>
              <a:t>OID</a:t>
            </a:r>
            <a:r>
              <a:rPr kumimoji="1" lang="zh-CN" altLang="en-US" dirty="0"/>
              <a:t>（</a:t>
            </a:r>
            <a:r>
              <a:rPr kumimoji="1" lang="en-US" altLang="zh-CN" dirty="0"/>
              <a:t>Object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Identifier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类：表（关系），但是</a:t>
            </a:r>
            <a:r>
              <a:rPr kumimoji="1" lang="zh-CN" altLang="en-US" b="1" dirty="0">
                <a:solidFill>
                  <a:srgbClr val="FF0000"/>
                </a:solidFill>
              </a:rPr>
              <a:t>没有封装“方法”</a:t>
            </a:r>
          </a:p>
        </p:txBody>
      </p:sp>
    </p:spTree>
    <p:extLst>
      <p:ext uri="{BB962C8B-B14F-4D97-AF65-F5344CB8AC3E}">
        <p14:creationId xmlns:p14="http://schemas.microsoft.com/office/powerpoint/2010/main" val="27658608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93753FB-3A0F-F48F-FB1C-9A1D6C59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表继承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9DAADFA-7A36-3B75-DC5A-64A377192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OO</a:t>
            </a:r>
            <a:r>
              <a:rPr lang="zh-CN" altLang="en-US" dirty="0"/>
              <a:t>模型中有类层次（继承）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OR</a:t>
            </a:r>
            <a:r>
              <a:rPr lang="zh-CN" altLang="en-US" dirty="0"/>
              <a:t>模型中用表继承来模拟类继承：</a:t>
            </a:r>
            <a:endParaRPr lang="en-US" altLang="zh-CN" dirty="0"/>
          </a:p>
          <a:p>
            <a:pPr lvl="1"/>
            <a:r>
              <a:rPr lang="zh-CN" altLang="en-US" dirty="0"/>
              <a:t>表</a:t>
            </a:r>
            <a:r>
              <a:rPr lang="en-US" altLang="zh-CN" dirty="0"/>
              <a:t>B</a:t>
            </a:r>
            <a:r>
              <a:rPr lang="zh-CN" altLang="en-US" dirty="0"/>
              <a:t>继承表</a:t>
            </a:r>
            <a:r>
              <a:rPr lang="en-US" altLang="zh-CN" dirty="0"/>
              <a:t>A</a:t>
            </a:r>
            <a:r>
              <a:rPr lang="zh-CN" altLang="en-US" dirty="0"/>
              <a:t>，意味着：</a:t>
            </a:r>
            <a:endParaRPr lang="en-US" altLang="zh-CN" dirty="0"/>
          </a:p>
          <a:p>
            <a:pPr lvl="2"/>
            <a:r>
              <a:rPr lang="zh-CN" altLang="en-US" dirty="0"/>
              <a:t>表</a:t>
            </a:r>
            <a:r>
              <a:rPr lang="en-US" altLang="zh-CN" dirty="0"/>
              <a:t>B</a:t>
            </a:r>
            <a:r>
              <a:rPr lang="zh-CN" altLang="en-US" dirty="0"/>
              <a:t>的属性集合是表</a:t>
            </a:r>
            <a:r>
              <a:rPr lang="en-US" altLang="zh-CN" dirty="0"/>
              <a:t>A</a:t>
            </a:r>
            <a:r>
              <a:rPr lang="zh-CN" altLang="en-US" dirty="0"/>
              <a:t>属性集合的超集，即</a:t>
            </a:r>
            <a:r>
              <a:rPr lang="en-US" altLang="zh-CN" dirty="0"/>
              <a:t>B</a:t>
            </a:r>
            <a:r>
              <a:rPr lang="zh-CN" altLang="en-US" dirty="0"/>
              <a:t>能扩展比</a:t>
            </a:r>
            <a:r>
              <a:rPr lang="en-US" altLang="zh-CN" dirty="0"/>
              <a:t>A</a:t>
            </a:r>
            <a:r>
              <a:rPr lang="zh-CN" altLang="en-US" dirty="0"/>
              <a:t>更多的属性</a:t>
            </a:r>
            <a:endParaRPr lang="en-US" altLang="zh-CN" dirty="0"/>
          </a:p>
          <a:p>
            <a:pPr lvl="2"/>
            <a:r>
              <a:rPr lang="zh-CN" altLang="en-US" dirty="0"/>
              <a:t>类</a:t>
            </a:r>
            <a:r>
              <a:rPr lang="en-US" altLang="zh-CN" dirty="0"/>
              <a:t>B</a:t>
            </a:r>
            <a:r>
              <a:rPr lang="zh-CN" altLang="en-US" dirty="0"/>
              <a:t>中的每一个对象（行）都是类</a:t>
            </a:r>
            <a:r>
              <a:rPr lang="en-US" altLang="zh-CN" dirty="0"/>
              <a:t>A</a:t>
            </a:r>
            <a:r>
              <a:rPr lang="zh-CN" altLang="en-US" dirty="0"/>
              <a:t>中的对象（行），即查询</a:t>
            </a:r>
            <a:r>
              <a:rPr lang="en-US" altLang="zh-CN" dirty="0"/>
              <a:t>A</a:t>
            </a:r>
            <a:r>
              <a:rPr lang="zh-CN" altLang="en-US" dirty="0"/>
              <a:t>时，会将</a:t>
            </a:r>
            <a:r>
              <a:rPr lang="en-US" altLang="zh-CN" dirty="0"/>
              <a:t>A</a:t>
            </a:r>
            <a:r>
              <a:rPr lang="zh-CN" altLang="en-US" dirty="0"/>
              <a:t>的所有子类中的对象都</a:t>
            </a:r>
            <a:r>
              <a:rPr lang="zh-CN" altLang="en-US"/>
              <a:t>考虑在内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C26161-85F3-DEB6-B706-48E1662CE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512" y="772574"/>
            <a:ext cx="3231504" cy="12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580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161DFA-2AFD-0BA8-B704-D7B0B5A3E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复杂数据类型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C4FDFA-1DBE-2559-DF5D-EF314101E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嵌套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对象的属性值是另一</a:t>
            </a:r>
            <a:br>
              <a:rPr kumimoji="1" lang="en-US" altLang="zh-CN" dirty="0"/>
            </a:br>
            <a:r>
              <a:rPr kumimoji="1" lang="zh-CN" altLang="en-US" dirty="0"/>
              <a:t>个对象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行类型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集合、数组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ARRAY</a:t>
            </a:r>
            <a:r>
              <a:rPr kumimoji="1" lang="zh-CN" altLang="en-US" dirty="0"/>
              <a:t>，目前主要是一维数组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ADT</a:t>
            </a:r>
            <a:r>
              <a:rPr kumimoji="1" lang="zh-CN" altLang="en-US" dirty="0"/>
              <a:t>（抽象数据类型）、</a:t>
            </a:r>
            <a:r>
              <a:rPr kumimoji="1" lang="en-US" altLang="zh-CN" dirty="0"/>
              <a:t>UDT</a:t>
            </a:r>
            <a:r>
              <a:rPr kumimoji="1" lang="zh-CN" altLang="en-US" dirty="0"/>
              <a:t>（用户自定义类型）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66DC50-20BC-1238-6F19-2B130B03F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517" y="1345583"/>
            <a:ext cx="4754332" cy="182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857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/>
          <p:cNvSpPr>
            <a:spLocks noGrp="1"/>
          </p:cNvSpPr>
          <p:nvPr>
            <p:ph sz="half" idx="1"/>
          </p:nvPr>
        </p:nvSpPr>
        <p:spPr>
          <a:xfrm>
            <a:off x="763291" y="1327043"/>
            <a:ext cx="3314700" cy="3481388"/>
          </a:xfrm>
        </p:spPr>
        <p:txBody>
          <a:bodyPr vert="horz" wrap="square" lIns="68580" tIns="34290" rIns="68580" bIns="34290" rtlCol="0" anchor="t" anchorCtr="0">
            <a:normAutofit/>
          </a:bodyPr>
          <a:lstStyle/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3B6A30"/>
                </a:solidFill>
              </a:rPr>
              <a:t>1、定义</a:t>
            </a:r>
            <a:endParaRPr lang="zh-CN" altLang="en-US" b="1" dirty="0">
              <a:solidFill>
                <a:srgbClr val="3B6A30"/>
              </a:solidFill>
            </a:endParaRPr>
          </a:p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Char char="§"/>
            </a:pPr>
            <a:r>
              <a:rPr lang="zh-CN" altLang="en-US" sz="1800" dirty="0"/>
              <a:t>关系模式、关系、关系DB、元组、属性、域、键等</a:t>
            </a:r>
          </a:p>
          <a:p>
            <a:pPr eaLnBrk="1" hangingPunct="1">
              <a:lnSpc>
                <a:spcPct val="110000"/>
              </a:lnSpc>
              <a:buSzTx/>
              <a:buFont typeface="Wingdings" panose="05000000000000000000" pitchFamily="2" charset="2"/>
              <a:buChar char="§"/>
            </a:pPr>
            <a:endParaRPr lang="zh-CN" altLang="en-US" sz="1800" b="1" dirty="0"/>
          </a:p>
          <a:p>
            <a:pPr eaLnBrk="1" hangingPunct="1">
              <a:lnSpc>
                <a:spcPct val="110000"/>
              </a:lnSpc>
              <a:buSzPct val="60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B6A30"/>
                </a:solidFill>
              </a:rPr>
              <a:t>2、关系模型的组成</a:t>
            </a:r>
          </a:p>
          <a:p>
            <a:pPr lvl="1" eaLnBrk="1" hangingPunct="1">
              <a:lnSpc>
                <a:spcPct val="110000"/>
              </a:lnSpc>
              <a:buSzPct val="60000"/>
            </a:pPr>
            <a:r>
              <a:rPr lang="zh-CN" altLang="en-US" sz="1800" dirty="0"/>
              <a:t>关系数据结构</a:t>
            </a:r>
          </a:p>
          <a:p>
            <a:pPr lvl="1" eaLnBrk="1" hangingPunct="1">
              <a:lnSpc>
                <a:spcPct val="110000"/>
              </a:lnSpc>
              <a:buSzPct val="60000"/>
            </a:pPr>
            <a:r>
              <a:rPr lang="zh-CN" altLang="en-US" sz="1800" dirty="0"/>
              <a:t>关系操作集合</a:t>
            </a:r>
          </a:p>
          <a:p>
            <a:pPr lvl="1" eaLnBrk="1" hangingPunct="1">
              <a:lnSpc>
                <a:spcPct val="110000"/>
              </a:lnSpc>
              <a:buSzPct val="60000"/>
            </a:pPr>
            <a:r>
              <a:rPr lang="zh-CN" altLang="en-US" sz="1800" dirty="0"/>
              <a:t>关系完整性约束</a:t>
            </a:r>
          </a:p>
        </p:txBody>
      </p:sp>
      <p:sp>
        <p:nvSpPr>
          <p:cNvPr id="53252" name="Rectangle 4"/>
          <p:cNvSpPr>
            <a:spLocks noGrp="1"/>
          </p:cNvSpPr>
          <p:nvPr>
            <p:ph sz="half" idx="2"/>
          </p:nvPr>
        </p:nvSpPr>
        <p:spPr>
          <a:xfrm>
            <a:off x="4690174" y="1286483"/>
            <a:ext cx="3543300" cy="3496866"/>
          </a:xfrm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 marL="257175" indent="-257175" defTabSz="6858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b="1" kern="0" noProof="1">
                <a:solidFill>
                  <a:srgbClr val="3B6A30"/>
                </a:solidFill>
                <a:cs typeface="楷体" panose="02010609060101010101" pitchFamily="49" charset="-122"/>
              </a:rPr>
              <a:t>3、关系数据语言</a:t>
            </a:r>
          </a:p>
          <a:p>
            <a:pPr marL="257175" indent="-257175" defTabSz="6858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100" b="1" kern="0" noProof="1">
                <a:solidFill>
                  <a:srgbClr val="3B6A30"/>
                </a:solidFill>
                <a:cs typeface="楷体" panose="02010609060101010101" pitchFamily="49" charset="-122"/>
              </a:rPr>
              <a:t>关系代数</a:t>
            </a:r>
          </a:p>
          <a:p>
            <a:pPr marL="557213" lvl="1" indent="-214313" defTabSz="6858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noProof="1">
                <a:cs typeface="楷体" panose="02010609060101010101" pitchFamily="49" charset="-122"/>
              </a:rPr>
              <a:t>集合运算：</a:t>
            </a:r>
          </a:p>
          <a:p>
            <a:pPr marL="557213" lvl="1" indent="-214313" defTabSz="6858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kern="0" noProof="1">
                <a:cs typeface="楷体" panose="02010609060101010101" pitchFamily="49" charset="-122"/>
              </a:rPr>
              <a:t>(并、交、差、广义笛卡尔积)</a:t>
            </a:r>
          </a:p>
          <a:p>
            <a:pPr marL="557213" lvl="1" indent="-214313" defTabSz="6858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1800" kern="0" noProof="1">
                <a:cs typeface="楷体" panose="02010609060101010101" pitchFamily="49" charset="-122"/>
              </a:rPr>
              <a:t>关系运算：</a:t>
            </a:r>
          </a:p>
          <a:p>
            <a:pPr marL="557213" lvl="1" indent="-214313" defTabSz="6858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r>
              <a:rPr lang="zh-CN" altLang="en-US" sz="1800" kern="0" noProof="1">
                <a:cs typeface="楷体" panose="02010609060101010101" pitchFamily="49" charset="-122"/>
              </a:rPr>
              <a:t>(投影、选择、连接、除运算)</a:t>
            </a:r>
          </a:p>
          <a:p>
            <a:pPr marL="557213" lvl="1" indent="-214313" defTabSz="6858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None/>
              <a:defRPr/>
            </a:pPr>
            <a:endParaRPr lang="zh-CN" altLang="en-US" sz="1500" b="1" kern="0" noProof="1">
              <a:cs typeface="楷体" panose="02010609060101010101" pitchFamily="49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C6F591E-95AD-9EA7-B469-F595C3B1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模型</a:t>
            </a:r>
            <a:r>
              <a:rPr lang="zh-CN" altLang="en-US" dirty="0">
                <a:solidFill>
                  <a:srgbClr val="C00000"/>
                </a:solidFill>
              </a:rPr>
              <a:t>要点</a:t>
            </a:r>
            <a:endParaRPr lang="zh-CN" altLang="en-US" dirty="0"/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4E124B37-B8AA-9952-BFC3-C7F4B3152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614" y="3832505"/>
            <a:ext cx="2967925" cy="950844"/>
          </a:xfrm>
          <a:prstGeom prst="horizontalScroll">
            <a:avLst>
              <a:gd name="adj" fmla="val 22769"/>
            </a:avLst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作业（希冀平台提交）</a:t>
            </a:r>
            <a:endParaRPr lang="en-US" altLang="zh-CN" sz="2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910,&quot;width&quot;:4860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5073</TotalTime>
  <Words>4874</Words>
  <Application>Microsoft Macintosh PowerPoint</Application>
  <PresentationFormat>全屏显示(16:9)</PresentationFormat>
  <Paragraphs>982</Paragraphs>
  <Slides>52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5" baseType="lpstr">
      <vt:lpstr>Courier New</vt:lpstr>
      <vt:lpstr>等线</vt:lpstr>
      <vt:lpstr>Arial</vt:lpstr>
      <vt:lpstr>Symbol</vt:lpstr>
      <vt:lpstr>Cambria Math</vt:lpstr>
      <vt:lpstr>楷体</vt:lpstr>
      <vt:lpstr>Tahoma</vt:lpstr>
      <vt:lpstr>Microsoft YaHei</vt:lpstr>
      <vt:lpstr>Times New Roman</vt:lpstr>
      <vt:lpstr>Wingdings</vt:lpstr>
      <vt:lpstr>宋体</vt:lpstr>
      <vt:lpstr>Office Theme</vt:lpstr>
      <vt:lpstr>自定义设计方案</vt:lpstr>
      <vt:lpstr>PowerPoint 演示文稿</vt:lpstr>
      <vt:lpstr>PowerPoint 演示文稿</vt:lpstr>
      <vt:lpstr>PowerPoint 演示文稿</vt:lpstr>
      <vt:lpstr>信息的三个世界</vt:lpstr>
      <vt:lpstr>数据模型的三要素</vt:lpstr>
      <vt:lpstr>数据模型的分类</vt:lpstr>
      <vt:lpstr>PowerPoint 演示文稿</vt:lpstr>
      <vt:lpstr>关系及其性质 </vt:lpstr>
      <vt:lpstr>关系及其性质</vt:lpstr>
      <vt:lpstr>关系及其性质</vt:lpstr>
      <vt:lpstr>关系实例</vt:lpstr>
      <vt:lpstr>关系及其性质</vt:lpstr>
      <vt:lpstr>各种码的例子</vt:lpstr>
      <vt:lpstr>关系及其性质</vt:lpstr>
      <vt:lpstr>关系模式与关系数据库 </vt:lpstr>
      <vt:lpstr>关系数据库</vt:lpstr>
      <vt:lpstr>关系模型的组成</vt:lpstr>
      <vt:lpstr>关系模型的完整性</vt:lpstr>
      <vt:lpstr>实体完整性规则存在的意义</vt:lpstr>
      <vt:lpstr>参照完整性</vt:lpstr>
      <vt:lpstr>参照完整性的定义</vt:lpstr>
      <vt:lpstr>参照完整性规则</vt:lpstr>
      <vt:lpstr>用户定义的完整性</vt:lpstr>
      <vt:lpstr>关系模型的特点</vt:lpstr>
      <vt:lpstr>PowerPoint 演示文稿</vt:lpstr>
      <vt:lpstr>关系数据语言的分类</vt:lpstr>
      <vt:lpstr>关系数据语言</vt:lpstr>
      <vt:lpstr>关系代数</vt:lpstr>
      <vt:lpstr>关系代数运算符表</vt:lpstr>
      <vt:lpstr>集合运算</vt:lpstr>
      <vt:lpstr>广义笛卡尔积</vt:lpstr>
      <vt:lpstr>记号定义</vt:lpstr>
      <vt:lpstr>专门的关系运算</vt:lpstr>
      <vt:lpstr>专门的关系运算</vt:lpstr>
      <vt:lpstr>专门的关系运算</vt:lpstr>
      <vt:lpstr>连接举例</vt:lpstr>
      <vt:lpstr>专门的关系运算</vt:lpstr>
      <vt:lpstr>等值连接举例</vt:lpstr>
      <vt:lpstr>专门的关系运算</vt:lpstr>
      <vt:lpstr>自然连接举例</vt:lpstr>
      <vt:lpstr>专门的关系运算</vt:lpstr>
      <vt:lpstr>专门的关系运算</vt:lpstr>
      <vt:lpstr>关系除的计算</vt:lpstr>
      <vt:lpstr>使用除表达查询需求的方法</vt:lpstr>
      <vt:lpstr>除计算的示例</vt:lpstr>
      <vt:lpstr>小结</vt:lpstr>
      <vt:lpstr>PowerPoint 演示文稿</vt:lpstr>
      <vt:lpstr>对象-关系模型</vt:lpstr>
      <vt:lpstr>对象和类</vt:lpstr>
      <vt:lpstr>表继承</vt:lpstr>
      <vt:lpstr>复杂数据类型</vt:lpstr>
      <vt:lpstr>第2章 模型要点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煜玮 彭</cp:lastModifiedBy>
  <cp:revision>351</cp:revision>
  <dcterms:modified xsi:type="dcterms:W3CDTF">2026-02-22T01:35:58Z</dcterms:modified>
</cp:coreProperties>
</file>