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53"/>
  </p:notesMasterIdLst>
  <p:sldIdLst>
    <p:sldId id="486" r:id="rId2"/>
    <p:sldId id="579" r:id="rId3"/>
    <p:sldId id="580" r:id="rId4"/>
    <p:sldId id="582" r:id="rId5"/>
    <p:sldId id="595" r:id="rId6"/>
    <p:sldId id="596" r:id="rId7"/>
    <p:sldId id="597" r:id="rId8"/>
    <p:sldId id="598" r:id="rId9"/>
    <p:sldId id="601" r:id="rId10"/>
    <p:sldId id="576" r:id="rId11"/>
    <p:sldId id="586" r:id="rId12"/>
    <p:sldId id="588" r:id="rId13"/>
    <p:sldId id="589" r:id="rId14"/>
    <p:sldId id="587" r:id="rId15"/>
    <p:sldId id="602" r:id="rId16"/>
    <p:sldId id="583" r:id="rId17"/>
    <p:sldId id="591" r:id="rId18"/>
    <p:sldId id="592" r:id="rId19"/>
    <p:sldId id="593" r:id="rId20"/>
    <p:sldId id="590" r:id="rId21"/>
    <p:sldId id="594" r:id="rId22"/>
    <p:sldId id="585" r:id="rId23"/>
    <p:sldId id="600" r:id="rId24"/>
    <p:sldId id="599" r:id="rId25"/>
    <p:sldId id="584" r:id="rId26"/>
    <p:sldId id="603" r:id="rId27"/>
    <p:sldId id="604" r:id="rId28"/>
    <p:sldId id="607" r:id="rId29"/>
    <p:sldId id="608" r:id="rId30"/>
    <p:sldId id="609" r:id="rId31"/>
    <p:sldId id="605" r:id="rId32"/>
    <p:sldId id="606" r:id="rId33"/>
    <p:sldId id="610" r:id="rId34"/>
    <p:sldId id="611" r:id="rId35"/>
    <p:sldId id="510" r:id="rId36"/>
    <p:sldId id="612" r:id="rId37"/>
    <p:sldId id="512" r:id="rId38"/>
    <p:sldId id="613" r:id="rId39"/>
    <p:sldId id="614" r:id="rId40"/>
    <p:sldId id="615" r:id="rId41"/>
    <p:sldId id="617" r:id="rId42"/>
    <p:sldId id="618" r:id="rId43"/>
    <p:sldId id="619" r:id="rId44"/>
    <p:sldId id="620" r:id="rId45"/>
    <p:sldId id="622" r:id="rId46"/>
    <p:sldId id="621" r:id="rId47"/>
    <p:sldId id="616" r:id="rId48"/>
    <p:sldId id="575" r:id="rId49"/>
    <p:sldId id="623" r:id="rId50"/>
    <p:sldId id="534" r:id="rId51"/>
    <p:sldId id="624" r:id="rId52"/>
  </p:sldIdLst>
  <p:sldSz cx="9144000" cy="6858000" type="screen4x3"/>
  <p:notesSz cx="6858000" cy="9144000"/>
  <p:custDataLst>
    <p:tags r:id="rId54"/>
  </p:custDataLst>
  <p:defaultTextStyle>
    <a:defPPr>
      <a:defRPr lang="en-US"/>
    </a:defPPr>
    <a:lvl1pPr algn="l" rtl="0" fontAlgn="base">
      <a:lnSpc>
        <a:spcPct val="90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itchFamily="2" charset="2"/>
      <a:buChar char="n"/>
      <a:defRPr sz="28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lnSpc>
        <a:spcPct val="90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itchFamily="2" charset="2"/>
      <a:buChar char="n"/>
      <a:defRPr sz="28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lnSpc>
        <a:spcPct val="90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itchFamily="2" charset="2"/>
      <a:buChar char="n"/>
      <a:defRPr sz="28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lnSpc>
        <a:spcPct val="90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itchFamily="2" charset="2"/>
      <a:buChar char="n"/>
      <a:defRPr sz="28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lnSpc>
        <a:spcPct val="90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itchFamily="2" charset="2"/>
      <a:buChar char="n"/>
      <a:defRPr sz="28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997" autoAdjust="0"/>
    <p:restoredTop sz="94674" autoAdjust="0"/>
  </p:normalViewPr>
  <p:slideViewPr>
    <p:cSldViewPr>
      <p:cViewPr>
        <p:scale>
          <a:sx n="66" d="100"/>
          <a:sy n="66" d="100"/>
        </p:scale>
        <p:origin x="1548" y="7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B5DA864E-A433-05E4-3270-1627E13E7F0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1"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EBC50EDE-9A1F-80B3-8809-943E8A8AF2F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1"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CB8C905C-F598-EB4D-143A-43B0CEEE6D0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3" name="Rectangle 5">
            <a:extLst>
              <a:ext uri="{FF2B5EF4-FFF2-40B4-BE49-F238E27FC236}">
                <a16:creationId xmlns:a16="http://schemas.microsoft.com/office/drawing/2014/main" id="{88816047-E33E-052F-4C08-976023C171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4694" name="Rectangle 6">
            <a:extLst>
              <a:ext uri="{FF2B5EF4-FFF2-40B4-BE49-F238E27FC236}">
                <a16:creationId xmlns:a16="http://schemas.microsoft.com/office/drawing/2014/main" id="{C01BC2FD-C25A-6B80-34CA-A726D951D15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1"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4695" name="Rectangle 7">
            <a:extLst>
              <a:ext uri="{FF2B5EF4-FFF2-40B4-BE49-F238E27FC236}">
                <a16:creationId xmlns:a16="http://schemas.microsoft.com/office/drawing/2014/main" id="{5AD16A3D-815F-957D-6AB3-B695565E66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36F72435-F338-904B-BC54-7262E441F2C4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F72435-F338-904B-BC54-7262E441F2C4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549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CB31256-4040-D574-1352-7BF9958E21CB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EA6626CB-3703-E0DB-640B-674546674C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B2311AE7-2C4F-8267-D2B8-353BB03769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8CF3E795-8736-A25F-18DB-60F4331090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332554FD-EA9F-C7BC-4962-5BD0321F09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247E854-890A-8AB4-8D1E-21A25F6EC4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9BD07B4-2FE4-0227-16AD-D37B05C8FC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CC6F0594-41E8-FEBD-7452-6A6E1E2446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E3D8FBF2-0838-B26A-51A0-086A51CFA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7B338C99-4BFA-EC8E-7B91-F5844CDD83B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69E201AF-481D-D7F5-F5A3-B7C5682D25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701192B2-B64A-92F9-322E-CE658D3C1F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1003B9B5-2387-F5A9-AE3D-CEEB0E2137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B6F798D-A431-694C-B66B-13A47D786A0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9112777"/>
      </p:ext>
    </p:extLst>
  </p:cSld>
  <p:clrMapOvr>
    <a:masterClrMapping/>
  </p:clrMapOvr>
  <p:transition spd="med"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entury" panose="020406040505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algn="l" eaLnBrk="1" hangingPunct="1">
              <a:buClr>
                <a:schemeClr val="accent4"/>
              </a:buClr>
              <a:defRPr sz="3000">
                <a:latin typeface="Century" panose="02040604050505020304" pitchFamily="18" charset="0"/>
              </a:defRPr>
            </a:lvl1pPr>
            <a:lvl2pPr algn="l" eaLnBrk="1" hangingPunct="1">
              <a:buClr>
                <a:srgbClr val="C00000"/>
              </a:buClr>
              <a:defRPr>
                <a:latin typeface="Century" panose="02040604050505020304" pitchFamily="18" charset="0"/>
              </a:defRPr>
            </a:lvl2pPr>
            <a:lvl3pPr algn="l" eaLnBrk="1" hangingPunct="1">
              <a:buClr>
                <a:schemeClr val="tx2"/>
              </a:buClr>
              <a:defRPr>
                <a:latin typeface="Century" panose="02040604050505020304" pitchFamily="18" charset="0"/>
              </a:defRPr>
            </a:lvl3pPr>
            <a:lvl4pPr algn="l" eaLnBrk="1" hangingPunct="1">
              <a:buClr>
                <a:schemeClr val="accent2">
                  <a:lumMod val="50000"/>
                </a:schemeClr>
              </a:buClr>
              <a:defRPr>
                <a:latin typeface="Century" panose="02040604050505020304" pitchFamily="18" charset="0"/>
              </a:defRPr>
            </a:lvl4pPr>
            <a:lvl5pPr algn="l" eaLnBrk="1" hangingPunct="1">
              <a:buClr>
                <a:schemeClr val="accent5">
                  <a:lumMod val="25000"/>
                </a:schemeClr>
              </a:buClr>
              <a:defRPr>
                <a:latin typeface="Century" panose="02040604050505020304" pitchFamily="18" charset="0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84B8634-86D3-A0AE-194D-6A15AFAFFA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723DE67-FDB7-4E97-1714-22C53D101C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24CAC9F-9A1C-2025-A160-151BDB7FFF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93CC90-4002-504C-BD88-C9A1D374048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9702804"/>
      </p:ext>
    </p:extLst>
  </p:cSld>
  <p:clrMapOvr>
    <a:masterClrMapping/>
  </p:clrMapOvr>
  <p:transition spd="med"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FBDFF65-8CBE-FC8E-C2AB-BF39F778E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57BB269-8BCF-19AE-2E4C-4F50A72F7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C4B4EC5-8D14-B9F8-3A0E-6B6E3FB2C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D78D-38BD-D44D-8D86-2D2DB0BEC18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7073454"/>
      </p:ext>
    </p:extLst>
  </p:cSld>
  <p:clrMapOvr>
    <a:masterClrMapping/>
  </p:clrMapOvr>
  <p:transition spd="med"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35038" y="1233488"/>
            <a:ext cx="3810000" cy="4895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97438" y="1233488"/>
            <a:ext cx="3810000" cy="4895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77088FB-A6B7-73F5-7F94-4748D69CAC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B037231-D77C-7620-5048-020218A567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1616081F-299F-D60B-0ECC-280BE114E5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968A19-278A-0A41-BBE8-65E5D3125EB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09441"/>
      </p:ext>
    </p:extLst>
  </p:cSld>
  <p:clrMapOvr>
    <a:masterClrMapping/>
  </p:clrMapOvr>
  <p:transition spd="med"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68794170-3BE8-63A8-84A0-433E04CC41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4EE836C1-36AB-35B2-63E3-C5C32DFB7D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A14EBA2A-C5A1-FF69-4383-F487A84086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5D52E0-A696-0244-8333-2084DA18EEE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793981"/>
      </p:ext>
    </p:extLst>
  </p:cSld>
  <p:clrMapOvr>
    <a:masterClrMapping/>
  </p:clrMapOvr>
  <p:transition spd="med"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90622892-0589-9624-9441-6D3D8D420A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DE3302D8-0022-5549-6AF3-C9DF37FD08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5BAF381E-A9DD-B4FB-A99D-D6A7443039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E15609-3D60-D842-9ED4-D898F320B19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896237"/>
      </p:ext>
    </p:extLst>
  </p:cSld>
  <p:clrMapOvr>
    <a:masterClrMapping/>
  </p:clrMapOvr>
  <p:transition spd="med"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31F610FA-62F8-3A69-9BB8-68EAD4093A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030F8BB0-0FEC-EDAC-A497-49A707FDB0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1004B668-435E-6B54-9B71-30E6E86C67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438AA8-90D7-9745-B439-F7E019CC101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728615"/>
      </p:ext>
    </p:extLst>
  </p:cSld>
  <p:clrMapOvr>
    <a:masterClrMapping/>
  </p:clrMapOvr>
  <p:transition spd="med"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077BF47D-FB2C-CA75-3290-9D390F1A1B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CEDDD16-8334-8815-AE79-D96BE28013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EF672E88-31B4-2E74-6924-50EA7B00DF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0B590F-D627-7E4E-9EE8-F0575448761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068213"/>
      </p:ext>
    </p:extLst>
  </p:cSld>
  <p:clrMapOvr>
    <a:masterClrMapping/>
  </p:clrMapOvr>
  <p:transition spd="med"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7DF7E1FA-7229-6F80-9195-95494C6B6D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A7BEB0C-60AB-4B90-0858-DC9F851CFC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C8113A4C-B97F-6D35-E97A-9BCA743B10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5CE171-2466-3E49-953C-8D9416E27C4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312601"/>
      </p:ext>
    </p:extLst>
  </p:cSld>
  <p:clrMapOvr>
    <a:masterClrMapping/>
  </p:clrMapOvr>
  <p:transition spd="med"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969790B-5FDE-ACFE-CBF8-D6D25FB978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42DD340-A062-ECA2-BACD-72DF641D7A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A990D87-E397-DDBA-9741-B7BDB82788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6A2B9D-4C43-344E-A3AD-CDEFA12D460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2675996"/>
      </p:ext>
    </p:extLst>
  </p:cSld>
  <p:clrMapOvr>
    <a:masterClrMapping/>
  </p:clrMapOvr>
  <p:transition spd="med"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04038" y="225425"/>
            <a:ext cx="1989137" cy="5903913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35038" y="225425"/>
            <a:ext cx="5816600" cy="5903913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B6D72A0-9ACC-FB01-B500-09347F0725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C2E9BFB-3F4C-57E7-BA00-4AD71CFAAD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4462F64-AE9C-AD7E-F866-AAEDC027A6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4D01F4-2BF8-A745-90E2-0A334AE3AAF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990392"/>
      </p:ext>
    </p:extLst>
  </p:cSld>
  <p:clrMapOvr>
    <a:masterClrMapping/>
  </p:clrMapOvr>
  <p:transition spd="med"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标题，文本与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225425"/>
            <a:ext cx="7850187" cy="7461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35038" y="1233488"/>
            <a:ext cx="3810000" cy="48958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图表占位符 3"/>
          <p:cNvSpPr>
            <a:spLocks noGrp="1"/>
          </p:cNvSpPr>
          <p:nvPr>
            <p:ph type="chart" sz="half" idx="2"/>
          </p:nvPr>
        </p:nvSpPr>
        <p:spPr>
          <a:xfrm>
            <a:off x="4897438" y="1233488"/>
            <a:ext cx="3810000" cy="489585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F4DAB6F-0109-F932-D41D-114D2B361E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3B9B9A9B-4F44-E332-8013-87B918E445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1D42F48-85F2-C1B3-34A9-42D4A700CC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310DF3-193F-E44C-B1F0-408591F45CF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6229018"/>
      </p:ext>
    </p:extLst>
  </p:cSld>
  <p:clrMapOvr>
    <a:masterClrMapping/>
  </p:clrMapOvr>
  <p:transition spd="med"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225425"/>
            <a:ext cx="7850187" cy="7461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935038" y="1233488"/>
            <a:ext cx="7772400" cy="489585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708D4BC-3A8D-E878-0802-13BCC7E23D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25FD2C4-690E-646E-8669-143AD1BD9F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4E36240-FA62-8027-3821-D40DEB78E1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BB1C6D-14C1-844E-9115-70642E9631D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878566"/>
      </p:ext>
    </p:extLst>
  </p:cSld>
  <p:clrMapOvr>
    <a:masterClrMapping/>
  </p:clrMapOvr>
  <p:transition spd="med"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tif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>
            <a:extLst>
              <a:ext uri="{FF2B5EF4-FFF2-40B4-BE49-F238E27FC236}">
                <a16:creationId xmlns:a16="http://schemas.microsoft.com/office/drawing/2014/main" id="{A9824247-C8A8-C57F-CAEC-3A223BA6F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269875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027" name="Rectangle 8">
            <a:extLst>
              <a:ext uri="{FF2B5EF4-FFF2-40B4-BE49-F238E27FC236}">
                <a16:creationId xmlns:a16="http://schemas.microsoft.com/office/drawing/2014/main" id="{4A0B2333-B6EA-176D-0028-5AB7711DF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3" y="10604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028" name="Rectangle 9">
            <a:extLst>
              <a:ext uri="{FF2B5EF4-FFF2-40B4-BE49-F238E27FC236}">
                <a16:creationId xmlns:a16="http://schemas.microsoft.com/office/drawing/2014/main" id="{0D3A9279-CA87-4E7F-DAC6-015EE242A97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042988" y="225425"/>
            <a:ext cx="7850187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Rectangle 10">
            <a:extLst>
              <a:ext uri="{FF2B5EF4-FFF2-40B4-BE49-F238E27FC236}">
                <a16:creationId xmlns:a16="http://schemas.microsoft.com/office/drawing/2014/main" id="{86AE627A-1B93-6388-397F-5C8186FBAFE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935038" y="1233488"/>
            <a:ext cx="7772400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4523" name="Rectangle 11">
            <a:extLst>
              <a:ext uri="{FF2B5EF4-FFF2-40B4-BE49-F238E27FC236}">
                <a16:creationId xmlns:a16="http://schemas.microsoft.com/office/drawing/2014/main" id="{DE3D8E3B-D458-C570-9919-DE02EA9FC78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40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4525" name="Rectangle 13">
            <a:extLst>
              <a:ext uri="{FF2B5EF4-FFF2-40B4-BE49-F238E27FC236}">
                <a16:creationId xmlns:a16="http://schemas.microsoft.com/office/drawing/2014/main" id="{C2D98F74-F2B6-4A7D-03A8-AB9BF3598B9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fld id="{6F73D78D-38BD-D44D-8D86-2D2DB0BEC18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3BB9AFC-C9BC-E655-334A-DE8EBC2F172F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532440" y="5624512"/>
            <a:ext cx="512549" cy="110680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CE6F6BF-4B21-EBA8-0316-496A78B2CDF2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 rot="3532301">
            <a:off x="53063" y="512497"/>
            <a:ext cx="678101" cy="376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524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</p:sldLayoutIdLst>
  <p:transition spd="med">
    <p:zoom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lnSpc>
          <a:spcPct val="114000"/>
        </a:lnSpc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14000"/>
        </a:lnSpc>
        <a:spcBef>
          <a:spcPct val="20000"/>
        </a:spcBef>
        <a:spcAft>
          <a:spcPct val="0"/>
        </a:spcAft>
        <a:buClr>
          <a:srgbClr val="C00000"/>
        </a:buClr>
        <a:buSzPct val="55000"/>
        <a:buFont typeface="Wingdings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4000"/>
        </a:lnSpc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" pitchFamily="2" charset="2"/>
        <a:buChar char="n"/>
        <a:defRPr sz="22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14000"/>
        </a:lnSpc>
        <a:spcBef>
          <a:spcPct val="20000"/>
        </a:spcBef>
        <a:spcAft>
          <a:spcPct val="0"/>
        </a:spcAft>
        <a:buClr>
          <a:schemeClr val="accent6">
            <a:lumMod val="50000"/>
          </a:schemeClr>
        </a:buClr>
        <a:buSzPct val="55000"/>
        <a:buFont typeface="Wingdings" pitchFamily="2" charset="2"/>
        <a:buChar char="n"/>
        <a:defRPr sz="18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14000"/>
        </a:lnSpc>
        <a:spcBef>
          <a:spcPct val="20000"/>
        </a:spcBef>
        <a:spcAft>
          <a:spcPct val="0"/>
        </a:spcAft>
        <a:buClr>
          <a:schemeClr val="accent5">
            <a:lumMod val="25000"/>
          </a:schemeClr>
        </a:buClr>
        <a:buSzPct val="50000"/>
        <a:buFont typeface="Wingdings" pitchFamily="2" charset="2"/>
        <a:buChar char="n"/>
        <a:defRPr sz="18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>
            <a:extLst>
              <a:ext uri="{FF2B5EF4-FFF2-40B4-BE49-F238E27FC236}">
                <a16:creationId xmlns:a16="http://schemas.microsoft.com/office/drawing/2014/main" id="{36B631A6-2CC6-D95A-33D1-AF1C0EB56F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2988" y="225425"/>
            <a:ext cx="7850187" cy="746125"/>
          </a:xfrm>
        </p:spPr>
        <p:txBody>
          <a:bodyPr/>
          <a:lstStyle/>
          <a:p>
            <a:r>
              <a:rPr lang="zh-CN" altLang="en-US" sz="3200" dirty="0"/>
              <a:t>第</a:t>
            </a:r>
            <a:r>
              <a:rPr lang="en-US" altLang="zh-CN" sz="3200" dirty="0"/>
              <a:t>2</a:t>
            </a:r>
            <a:r>
              <a:rPr lang="zh-CN" altLang="en-US" sz="3200" dirty="0"/>
              <a:t>章 操作系统的运行环境和运行机制</a:t>
            </a:r>
            <a:endParaRPr lang="en-US" altLang="zh-CN" sz="3200" dirty="0"/>
          </a:p>
        </p:txBody>
      </p:sp>
      <p:sp>
        <p:nvSpPr>
          <p:cNvPr id="353283" name="Rectangle 3">
            <a:extLst>
              <a:ext uri="{FF2B5EF4-FFF2-40B4-BE49-F238E27FC236}">
                <a16:creationId xmlns:a16="http://schemas.microsoft.com/office/drawing/2014/main" id="{B0D15D6C-4E52-25D0-6528-0C2D9ECB07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/>
          <a:lstStyle/>
          <a:p>
            <a:r>
              <a:rPr lang="zh-CN" altLang="en-US" dirty="0"/>
              <a:t>本章内容</a:t>
            </a:r>
            <a:endParaRPr lang="en-US" altLang="zh-CN" dirty="0"/>
          </a:p>
          <a:p>
            <a:pPr lvl="1"/>
            <a:r>
              <a:rPr lang="en-US" altLang="zh-CN" dirty="0"/>
              <a:t>1.</a:t>
            </a:r>
            <a:r>
              <a:rPr lang="zh-CN" altLang="zh-CN" dirty="0"/>
              <a:t>计算机硬件系统对操作系统的支持，重要寄存器的作用</a:t>
            </a:r>
            <a:endParaRPr lang="en-US" altLang="en-US" dirty="0"/>
          </a:p>
          <a:p>
            <a:pPr lvl="1"/>
            <a:r>
              <a:rPr lang="en-US" altLang="zh-CN" dirty="0"/>
              <a:t>2.</a:t>
            </a:r>
            <a:r>
              <a:rPr lang="zh-CN" altLang="en-US" dirty="0"/>
              <a:t> 中断的基本知识</a:t>
            </a:r>
            <a:endParaRPr lang="en-US" altLang="en-US" dirty="0"/>
          </a:p>
          <a:p>
            <a:pPr lvl="1"/>
            <a:r>
              <a:rPr lang="en-US" altLang="zh-CN" dirty="0"/>
              <a:t>3.</a:t>
            </a:r>
            <a:r>
              <a:rPr lang="zh-CN" altLang="en-US" dirty="0"/>
              <a:t> 中断</a:t>
            </a:r>
            <a:r>
              <a:rPr lang="en-US" altLang="zh-CN" dirty="0"/>
              <a:t>/</a:t>
            </a:r>
            <a:r>
              <a:rPr lang="zh-CN" altLang="zh-CN" dirty="0"/>
              <a:t>异常</a:t>
            </a:r>
            <a:r>
              <a:rPr lang="zh-CN" altLang="en-US" dirty="0"/>
              <a:t>机制的实现</a:t>
            </a:r>
            <a:endParaRPr lang="en-US" altLang="en-US" dirty="0"/>
          </a:p>
          <a:p>
            <a:pPr lvl="1"/>
            <a:r>
              <a:rPr lang="en-US" altLang="zh-CN" dirty="0"/>
              <a:t>4.</a:t>
            </a:r>
            <a:r>
              <a:rPr lang="zh-CN" altLang="en-US" dirty="0"/>
              <a:t> 系统调用及其实现</a:t>
            </a:r>
            <a:endParaRPr lang="en-US" altLang="zh-CN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513C3B7-5A8A-EBFF-54D8-7130C2BFB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/>
          <a:p>
            <a:fld id="{4093CC90-4002-504C-BD88-C9A1D374048E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</p:cSld>
  <p:clrMapOvr>
    <a:masterClrMapping/>
  </p:clrMapOvr>
  <p:transition spd="med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AF8125-3BC9-057B-6101-3B85FBF4F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计算机系统的抽象结构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5DE3F6C-1148-C566-A1A6-BF30B5136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4800" y="1233488"/>
            <a:ext cx="3222638" cy="4895850"/>
          </a:xfrm>
        </p:spPr>
        <p:txBody>
          <a:bodyPr/>
          <a:lstStyle/>
          <a:p>
            <a:r>
              <a:rPr lang="en-US" altLang="en-US" sz="2400" dirty="0" err="1"/>
              <a:t>用户</a:t>
            </a:r>
            <a:endParaRPr lang="en-US" altLang="en-US" sz="2400" dirty="0"/>
          </a:p>
          <a:p>
            <a:pPr lvl="1"/>
            <a:r>
              <a:rPr lang="en-US" altLang="en-US" sz="1800" dirty="0" err="1"/>
              <a:t>人</a:t>
            </a:r>
            <a:r>
              <a:rPr lang="en-US" altLang="zh-CN" sz="1800" dirty="0"/>
              <a:t>,</a:t>
            </a:r>
            <a:r>
              <a:rPr lang="zh-CN" altLang="en-US" sz="1800" dirty="0"/>
              <a:t> 机器</a:t>
            </a:r>
            <a:r>
              <a:rPr lang="en-US" altLang="zh-CN" sz="1800" dirty="0"/>
              <a:t>,</a:t>
            </a:r>
            <a:r>
              <a:rPr lang="zh-CN" altLang="en-US" sz="1800" dirty="0"/>
              <a:t> 其它计算机</a:t>
            </a:r>
            <a:endParaRPr lang="en-US" altLang="en-US" dirty="0"/>
          </a:p>
          <a:p>
            <a:r>
              <a:rPr lang="en-US" altLang="en-US" sz="2400" dirty="0" err="1"/>
              <a:t>应用程序</a:t>
            </a:r>
            <a:endParaRPr lang="en-US" altLang="en-US" sz="2400" dirty="0"/>
          </a:p>
          <a:p>
            <a:pPr lvl="1"/>
            <a:r>
              <a:rPr lang="en-US" altLang="en-US" sz="1800" dirty="0"/>
              <a:t>Word, </a:t>
            </a:r>
            <a:r>
              <a:rPr lang="en-US" altLang="en-US" sz="1800" dirty="0" err="1"/>
              <a:t>编译器</a:t>
            </a:r>
            <a:r>
              <a:rPr lang="en-US" altLang="en-US" sz="1800" dirty="0"/>
              <a:t>, web </a:t>
            </a:r>
            <a:r>
              <a:rPr lang="en-US" altLang="en-US" sz="1800" dirty="0" err="1"/>
              <a:t>浏览器</a:t>
            </a:r>
            <a:r>
              <a:rPr lang="en-US" altLang="en-US" sz="1800" dirty="0"/>
              <a:t>, </a:t>
            </a:r>
            <a:r>
              <a:rPr lang="en-US" altLang="en-US" sz="1800" dirty="0" err="1"/>
              <a:t>数据库系统</a:t>
            </a:r>
            <a:r>
              <a:rPr lang="en-US" altLang="en-US" sz="1800" dirty="0"/>
              <a:t>, </a:t>
            </a:r>
            <a:r>
              <a:rPr lang="en-US" altLang="en-US" sz="1800" dirty="0" err="1"/>
              <a:t>视频游戏</a:t>
            </a:r>
            <a:endParaRPr lang="en-US" altLang="en-US" sz="1800" dirty="0"/>
          </a:p>
          <a:p>
            <a:r>
              <a:rPr lang="en-US" altLang="en-US" sz="2400" dirty="0" err="1"/>
              <a:t>操作系统</a:t>
            </a:r>
            <a:endParaRPr lang="en-US" altLang="en-US" sz="2400" dirty="0"/>
          </a:p>
          <a:p>
            <a:pPr lvl="1"/>
            <a:r>
              <a:rPr lang="en-US" altLang="en-US" sz="1800" dirty="0" err="1"/>
              <a:t>控制和协调不同应用程序和用户之间对硬件的使用</a:t>
            </a:r>
            <a:endParaRPr lang="en-US" altLang="en-US" sz="1800" dirty="0"/>
          </a:p>
          <a:p>
            <a:r>
              <a:rPr lang="en-US" altLang="en-US" sz="2400" dirty="0" err="1"/>
              <a:t>硬件</a:t>
            </a:r>
            <a:endParaRPr lang="en-US" altLang="en-US" sz="2400" dirty="0"/>
          </a:p>
          <a:p>
            <a:pPr lvl="1"/>
            <a:r>
              <a:rPr lang="en-US" altLang="en-US" sz="1800" dirty="0"/>
              <a:t>CPU, </a:t>
            </a:r>
            <a:r>
              <a:rPr lang="en-US" altLang="en-US" sz="1800" dirty="0" err="1"/>
              <a:t>内存</a:t>
            </a:r>
            <a:r>
              <a:rPr lang="en-US" altLang="en-US" sz="1800" dirty="0"/>
              <a:t>, I/O </a:t>
            </a:r>
            <a:r>
              <a:rPr lang="en-US" altLang="en-US" sz="1800" dirty="0" err="1"/>
              <a:t>设备</a:t>
            </a:r>
            <a:endParaRPr lang="en-US" altLang="en-US" sz="18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E1C38B-63CE-43FD-197F-510BE41C2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FAF9FCFE-3732-6E65-6C8E-422AB8DBB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588" y="1873220"/>
            <a:ext cx="4428492" cy="3139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4849737"/>
      </p:ext>
    </p:extLst>
  </p:cSld>
  <p:clrMapOvr>
    <a:masterClrMapping/>
  </p:clrMapOvr>
  <p:transition spd="med"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5B0BAB-B6A1-0A37-9049-15998CBB3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CPU</a:t>
            </a:r>
            <a:r>
              <a:rPr kumimoji="1" lang="zh-CN" altLang="en-US" dirty="0"/>
              <a:t>的内部结构图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D38120-22FF-2619-9129-FEC2AEBCA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0CAE83-E6C0-83BB-B803-93349088F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4BEFC3B-3409-D887-1951-CD9D6CBBB6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37" b="7113"/>
          <a:stretch/>
        </p:blipFill>
        <p:spPr bwMode="auto">
          <a:xfrm>
            <a:off x="1003300" y="1233488"/>
            <a:ext cx="7137400" cy="4967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826631"/>
      </p:ext>
    </p:extLst>
  </p:cSld>
  <p:clrMapOvr>
    <a:masterClrMapping/>
  </p:clrMapOvr>
  <p:transition spd="med"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03E6D7-F8C8-E331-4751-D92D33B44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CPU</a:t>
            </a:r>
            <a:r>
              <a:rPr kumimoji="1" lang="zh-CN" altLang="en-US" dirty="0"/>
              <a:t>的工作流程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95DC71-A654-46C5-446D-5CC926E88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6502" y="1233488"/>
            <a:ext cx="3320935" cy="4895850"/>
          </a:xfrm>
        </p:spPr>
        <p:txBody>
          <a:bodyPr/>
          <a:lstStyle/>
          <a:p>
            <a:r>
              <a:rPr kumimoji="1" lang="zh-CN" altLang="en-US" sz="2000" b="1" dirty="0">
                <a:solidFill>
                  <a:srgbClr val="FF0000"/>
                </a:solidFill>
              </a:rPr>
              <a:t>取指</a:t>
            </a:r>
            <a:r>
              <a:rPr kumimoji="1" lang="zh-CN" altLang="en-US" sz="2000" dirty="0"/>
              <a:t>：</a:t>
            </a:r>
            <a:r>
              <a:rPr kumimoji="1" lang="en" altLang="zh-CN" sz="2000" dirty="0"/>
              <a:t>CPU</a:t>
            </a:r>
            <a:r>
              <a:rPr kumimoji="1" lang="zh-CN" altLang="en-US" sz="2000" dirty="0"/>
              <a:t>读取程序计数器（</a:t>
            </a:r>
            <a:r>
              <a:rPr kumimoji="1" lang="en" altLang="zh-CN" sz="2000" dirty="0"/>
              <a:t>PC</a:t>
            </a:r>
            <a:r>
              <a:rPr kumimoji="1" lang="zh-CN" altLang="en" sz="2000" dirty="0"/>
              <a:t>）</a:t>
            </a:r>
            <a:r>
              <a:rPr kumimoji="1" lang="zh-CN" altLang="en-US" sz="2000" dirty="0"/>
              <a:t>中的地址作为指令的地址，从内存中读取指令。</a:t>
            </a:r>
          </a:p>
          <a:p>
            <a:r>
              <a:rPr kumimoji="1" lang="zh-CN" altLang="en-US" sz="2000" b="1" dirty="0">
                <a:solidFill>
                  <a:srgbClr val="FF0000"/>
                </a:solidFill>
              </a:rPr>
              <a:t>译码</a:t>
            </a:r>
            <a:r>
              <a:rPr kumimoji="1" lang="zh-CN" altLang="en-US" sz="2000" dirty="0"/>
              <a:t>：</a:t>
            </a:r>
            <a:r>
              <a:rPr kumimoji="1" lang="en" altLang="zh-CN" sz="2000" dirty="0"/>
              <a:t>CPU</a:t>
            </a:r>
            <a:r>
              <a:rPr kumimoji="1" lang="zh-CN" altLang="en-US" sz="2000" dirty="0"/>
              <a:t>将取得的指令进行译码，以确定它要执行的操作。</a:t>
            </a:r>
          </a:p>
          <a:p>
            <a:r>
              <a:rPr kumimoji="1" lang="zh-CN" altLang="en-US" sz="2000" b="1" dirty="0">
                <a:solidFill>
                  <a:srgbClr val="FF0000"/>
                </a:solidFill>
              </a:rPr>
              <a:t>执行</a:t>
            </a:r>
            <a:r>
              <a:rPr kumimoji="1" lang="zh-CN" altLang="en-US" sz="2000" dirty="0"/>
              <a:t>：</a:t>
            </a:r>
            <a:r>
              <a:rPr kumimoji="1" lang="en" altLang="zh-CN" sz="2000" dirty="0"/>
              <a:t>CPU</a:t>
            </a:r>
            <a:r>
              <a:rPr kumimoji="1" lang="zh-CN" altLang="en-US" sz="2000" dirty="0"/>
              <a:t>执行指令的操作，可能涉及到算术、逻辑、移位等操作。</a:t>
            </a:r>
          </a:p>
          <a:p>
            <a:r>
              <a:rPr kumimoji="1" lang="zh-CN" altLang="en-US" sz="2000" b="1" dirty="0">
                <a:solidFill>
                  <a:srgbClr val="FF0000"/>
                </a:solidFill>
              </a:rPr>
              <a:t>写回</a:t>
            </a:r>
            <a:r>
              <a:rPr kumimoji="1" lang="zh-CN" altLang="en-US" sz="2000" dirty="0"/>
              <a:t>：</a:t>
            </a:r>
            <a:r>
              <a:rPr kumimoji="1" lang="en" altLang="zh-CN" sz="2000" dirty="0"/>
              <a:t>CPU</a:t>
            </a:r>
            <a:r>
              <a:rPr kumimoji="1" lang="zh-CN" altLang="en-US" sz="2000" dirty="0"/>
              <a:t>将执行结果写回到寄存器或内存中。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01109E-2775-1CE6-7C3C-8EA1F92E0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28F7C76-796B-CB2B-A1CC-A6FFE4F63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756" y="1448780"/>
            <a:ext cx="4810947" cy="356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52192"/>
      </p:ext>
    </p:extLst>
  </p:cSld>
  <p:clrMapOvr>
    <a:masterClrMapping/>
  </p:clrMapOvr>
  <p:transition spd="med"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883955-5FAD-2886-F61E-DF5E3139E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CPU</a:t>
            </a:r>
            <a:r>
              <a:rPr kumimoji="1" lang="zh-CN" altLang="en-US" dirty="0"/>
              <a:t>的状态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5F58BA-6C63-4CB4-CBF7-CE257242A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什么是</a:t>
            </a:r>
            <a:r>
              <a:rPr kumimoji="1" lang="en-US" altLang="zh-CN" dirty="0"/>
              <a:t>CPU</a:t>
            </a:r>
            <a:r>
              <a:rPr kumimoji="1" lang="zh-CN" altLang="en-US" dirty="0"/>
              <a:t>的状态？</a:t>
            </a:r>
            <a:endParaRPr kumimoji="1" lang="en-US" altLang="zh-CN" sz="2600" dirty="0"/>
          </a:p>
          <a:p>
            <a:pPr lvl="1"/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</a:rPr>
              <a:t>CPU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</a:rPr>
              <a:t>的态，又称为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</a:rPr>
              <a:t>CPU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</a:rPr>
              <a:t>的特权级，是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</a:rPr>
              <a:t>CPU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</a:rPr>
              <a:t>的工作状态。当前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</a:rPr>
              <a:t>CPU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</a:rPr>
              <a:t>正在执行哪类程序，决定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</a:rPr>
              <a:t>CPU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</a:rPr>
              <a:t>的态。</a:t>
            </a:r>
          </a:p>
          <a:p>
            <a:r>
              <a:rPr kumimoji="1" lang="zh-CN" altLang="en-US" dirty="0"/>
              <a:t>为什么要区分</a:t>
            </a:r>
            <a:r>
              <a:rPr kumimoji="1" lang="en-US" altLang="zh-CN" dirty="0"/>
              <a:t>CPU</a:t>
            </a:r>
            <a:r>
              <a:rPr kumimoji="1" lang="zh-CN" altLang="en-US" dirty="0"/>
              <a:t>的状态？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485B59-0E3E-F5AD-4DB5-8648A98FC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46F24A7-DFC0-28FB-0CEC-7D77D660F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6563" y="3969060"/>
            <a:ext cx="6229350" cy="2007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marL="533400" indent="-533400"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Ø"/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Ø"/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Ø"/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Ø"/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       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管理程序                         用户程序</a:t>
            </a:r>
          </a:p>
          <a:p>
            <a:pPr algn="l" eaLnBrk="1" hangingPunct="1">
              <a:lnSpc>
                <a:spcPct val="13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    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管理系统资源             使用资源，提出申请</a:t>
            </a:r>
          </a:p>
          <a:p>
            <a:pPr algn="l" eaLnBrk="1" hangingPunct="1">
              <a:lnSpc>
                <a:spcPct val="13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    控制程序运行                     被控制</a:t>
            </a:r>
          </a:p>
          <a:p>
            <a:pPr algn="l" eaLnBrk="1" hangingPunct="1">
              <a:lnSpc>
                <a:spcPct val="130000"/>
              </a:lnSpc>
              <a:spcBef>
                <a:spcPts val="936"/>
              </a:spcBef>
              <a:buFont typeface="Wingdings" pitchFamily="2" charset="2"/>
              <a:buNone/>
            </a:pPr>
            <a:r>
              <a:rPr lang="zh-CN" altLang="en-US" sz="24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区分处理机状态的目的：保护操作系统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0A174ABC-9C9A-D167-C2A9-5548BBCF59B7}"/>
              </a:ext>
            </a:extLst>
          </p:cNvPr>
          <p:cNvCxnSpPr/>
          <p:nvPr/>
        </p:nvCxnSpPr>
        <p:spPr bwMode="auto">
          <a:xfrm>
            <a:off x="1727684" y="4437112"/>
            <a:ext cx="6192688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B7E4D918-F86F-BB1C-3BBE-64842579A75C}"/>
              </a:ext>
            </a:extLst>
          </p:cNvPr>
          <p:cNvCxnSpPr/>
          <p:nvPr/>
        </p:nvCxnSpPr>
        <p:spPr bwMode="auto">
          <a:xfrm>
            <a:off x="1724894" y="4934824"/>
            <a:ext cx="6192688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51675ADD-334B-A2EC-8B87-6A8470D99784}"/>
              </a:ext>
            </a:extLst>
          </p:cNvPr>
          <p:cNvCxnSpPr>
            <a:cxnSpLocks/>
          </p:cNvCxnSpPr>
          <p:nvPr/>
        </p:nvCxnSpPr>
        <p:spPr bwMode="auto">
          <a:xfrm>
            <a:off x="4644008" y="3969060"/>
            <a:ext cx="0" cy="1463476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71931"/>
      </p:ext>
    </p:extLst>
  </p:cSld>
  <p:clrMapOvr>
    <a:masterClrMapping/>
  </p:clrMapOvr>
  <p:transition spd="med"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B00625-3C1A-F2D3-B8AB-D1DA8A135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CPU</a:t>
            </a:r>
            <a:r>
              <a:rPr kumimoji="1" lang="zh-CN" altLang="en-US" dirty="0"/>
              <a:t>状态的分类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75E936-AADB-5A1B-CCE2-3C4B07FE5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内核态</a:t>
            </a:r>
            <a:endParaRPr kumimoji="1" lang="en-US" altLang="zh-CN" dirty="0"/>
          </a:p>
          <a:p>
            <a:pPr lvl="1"/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操作系统的管理程序执行时机器所处的状态，在此状态下处理机可使用全部指令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包括一组特权指令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；使用全部系统资源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包括整个存储区域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。</a:t>
            </a:r>
            <a:endParaRPr kumimoji="1" lang="en-US" altLang="zh-CN" dirty="0"/>
          </a:p>
          <a:p>
            <a:r>
              <a:rPr kumimoji="1" lang="zh-CN" altLang="en-US" dirty="0"/>
              <a:t>用户态</a:t>
            </a:r>
            <a:endParaRPr kumimoji="1" lang="en-US" altLang="zh-CN" dirty="0"/>
          </a:p>
          <a:p>
            <a:pPr lvl="1"/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用户程序执行时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CPU</a:t>
            </a: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所处的状态，在此状态下禁止使用特权指令，不能直接取用资源与改变机器状态，并且只允许用户程序访问自己的存储区域。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7C719F-EF07-CD2E-F7F3-F289F6240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2045519"/>
      </p:ext>
    </p:extLst>
  </p:cSld>
  <p:clrMapOvr>
    <a:masterClrMapping/>
  </p:clrMapOvr>
  <p:transition spd="med"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0AC7EF-13EE-BFE7-5A2F-B8BB289E4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CPU</a:t>
            </a:r>
            <a:r>
              <a:rPr kumimoji="1" lang="zh-CN" altLang="en-US" dirty="0"/>
              <a:t>的状态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1D3133-1568-22C7-AC8D-1112FCBD1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1" lang="zh-CN" altLang="en-US" dirty="0"/>
              <a:t>内核态与用户态的区别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CPU</a:t>
            </a:r>
            <a:r>
              <a:rPr kumimoji="1" lang="zh-CN" altLang="en-US" dirty="0"/>
              <a:t>的特权指令集</a:t>
            </a:r>
            <a:endParaRPr kumimoji="1" lang="en-US" altLang="zh-CN" dirty="0"/>
          </a:p>
          <a:p>
            <a:pPr lvl="1"/>
            <a:r>
              <a:rPr lang="zh-CN" altLang="en-US" sz="2800" dirty="0">
                <a:latin typeface="Times New Roman" panose="02020603050405020304" pitchFamily="18" charset="0"/>
              </a:rPr>
              <a:t>涉及外部设备的输入</a:t>
            </a:r>
            <a:r>
              <a:rPr lang="en-US" altLang="zh-CN" sz="2800" dirty="0">
                <a:latin typeface="Times New Roman" panose="02020603050405020304" pitchFamily="18" charset="0"/>
              </a:rPr>
              <a:t>/</a:t>
            </a:r>
            <a:r>
              <a:rPr lang="zh-CN" altLang="en-US" sz="2800" dirty="0">
                <a:latin typeface="Times New Roman" panose="02020603050405020304" pitchFamily="18" charset="0"/>
              </a:rPr>
              <a:t>输出指令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，</a:t>
            </a:r>
            <a:r>
              <a:rPr lang="zh-CN" altLang="en-US" sz="2800" dirty="0">
                <a:latin typeface="Times New Roman" panose="02020603050405020304" pitchFamily="18" charset="0"/>
              </a:rPr>
              <a:t>修改特殊寄存器的指令，改变机器状态的指令</a:t>
            </a:r>
            <a:endParaRPr kumimoji="1" lang="en-US" altLang="zh-CN" sz="2800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2A92D0-3CE9-056C-716F-128B638D2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grpSp>
        <p:nvGrpSpPr>
          <p:cNvPr id="5" name="Group 16">
            <a:extLst>
              <a:ext uri="{FF2B5EF4-FFF2-40B4-BE49-F238E27FC236}">
                <a16:creationId xmlns:a16="http://schemas.microsoft.com/office/drawing/2014/main" id="{944A0682-8BE6-EC46-A9B9-DAEE030F13EC}"/>
              </a:ext>
            </a:extLst>
          </p:cNvPr>
          <p:cNvGrpSpPr>
            <a:grpSpLocks/>
          </p:cNvGrpSpPr>
          <p:nvPr/>
        </p:nvGrpSpPr>
        <p:grpSpPr bwMode="auto">
          <a:xfrm>
            <a:off x="968003" y="1714165"/>
            <a:ext cx="7564437" cy="2974975"/>
            <a:chOff x="485" y="366"/>
            <a:chExt cx="4765" cy="1874"/>
          </a:xfrm>
        </p:grpSpPr>
        <p:sp>
          <p:nvSpPr>
            <p:cNvPr id="6" name="Rectangle 9">
              <a:extLst>
                <a:ext uri="{FF2B5EF4-FFF2-40B4-BE49-F238E27FC236}">
                  <a16:creationId xmlns:a16="http://schemas.microsoft.com/office/drawing/2014/main" id="{0DEBAD03-2A1E-B6C3-F33C-48B23310C5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" y="454"/>
              <a:ext cx="4761" cy="1786"/>
            </a:xfrm>
            <a:prstGeom prst="rect">
              <a:avLst/>
            </a:prstGeom>
            <a:solidFill>
              <a:srgbClr val="CCEC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914400" indent="-341313">
                <a:buFont typeface="Wingdings" pitchFamily="2" charset="2"/>
                <a:buBlip>
                  <a:blip r:embed="rId2"/>
                </a:buBlip>
                <a:defRPr/>
              </a:pPr>
              <a:endParaRPr lang="zh-CN" altLang="zh-CN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endParaRPr>
            </a:p>
          </p:txBody>
        </p:sp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CBE32C8C-0ACD-D21F-FF96-7F96F6DE6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" y="366"/>
              <a:ext cx="4642" cy="1837"/>
            </a:xfrm>
            <a:prstGeom prst="rect">
              <a:avLst/>
            </a:prstGeom>
          </p:spPr>
          <p:txBody>
            <a:bodyPr>
              <a:spAutoFit/>
            </a:bodyPr>
            <a:lstStyle>
              <a:lvl1pPr marL="571500" indent="-5715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30000"/>
                </a:lnSpc>
                <a:spcBef>
                  <a:spcPct val="30000"/>
                </a:spcBef>
                <a:buFont typeface="Wingdings" pitchFamily="2" charset="2"/>
                <a:buNone/>
              </a:pPr>
              <a:r>
                <a:rPr lang="en-US" altLang="zh-CN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             </a:t>
              </a:r>
              <a:r>
                <a:rPr lang="zh-CN" altLang="en-US" sz="2400" dirty="0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内核态                                      用户态</a:t>
              </a:r>
              <a:endParaRPr lang="zh-CN" altLang="en-US" sz="24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itchFamily="2" charset="2"/>
              </a:endParaRPr>
            </a:p>
            <a:p>
              <a:pPr algn="l" eaLnBrk="1" hangingPunct="1">
                <a:lnSpc>
                  <a:spcPct val="130000"/>
                </a:lnSpc>
                <a:spcBef>
                  <a:spcPct val="30000"/>
                </a:spcBef>
                <a:buFont typeface="Wingdings" pitchFamily="2" charset="2"/>
                <a:buNone/>
              </a:pPr>
              <a:r>
                <a:rPr lang="zh-CN" altLang="en-US" sz="2400" b="0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sym typeface="Symbol" pitchFamily="2" charset="2"/>
                </a:rPr>
                <a:t>      </a:t>
              </a:r>
              <a:r>
                <a:rPr lang="zh-CN" altLang="en-US" sz="2400" b="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操作系统的程序执行               用户程序执行</a:t>
              </a:r>
            </a:p>
            <a:p>
              <a:pPr algn="just" eaLnBrk="1" hangingPunct="1">
                <a:lnSpc>
                  <a:spcPct val="130000"/>
                </a:lnSpc>
                <a:spcBef>
                  <a:spcPct val="30000"/>
                </a:spcBef>
                <a:buFont typeface="Wingdings" pitchFamily="2" charset="2"/>
                <a:buNone/>
              </a:pPr>
              <a:r>
                <a:rPr lang="zh-CN" altLang="en-US" sz="2400" b="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使用全部指令                           禁止使用特权指令</a:t>
              </a:r>
            </a:p>
            <a:p>
              <a:pPr algn="just" eaLnBrk="1" hangingPunct="1">
                <a:lnSpc>
                  <a:spcPct val="130000"/>
                </a:lnSpc>
                <a:spcBef>
                  <a:spcPct val="30000"/>
                </a:spcBef>
                <a:buFont typeface="Wingdings" pitchFamily="2" charset="2"/>
                <a:buNone/>
              </a:pPr>
              <a:r>
                <a:rPr lang="zh-CN" altLang="en-US" sz="2400" b="0" dirty="0">
                  <a:solidFill>
                    <a:schemeClr val="tx1"/>
                  </a:solidFill>
                  <a:latin typeface="Times New Roman" panose="02020603050405020304" pitchFamily="18" charset="0"/>
                  <a:sym typeface="Symbol" pitchFamily="2" charset="2"/>
                </a:rPr>
                <a:t>      </a:t>
              </a:r>
              <a:r>
                <a:rPr lang="zh-CN" altLang="en-US" sz="2400" b="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使用全部系统资源                   只允许用户程序</a:t>
              </a:r>
            </a:p>
            <a:p>
              <a:pPr algn="l" eaLnBrk="1" hangingPunct="1">
                <a:lnSpc>
                  <a:spcPct val="110000"/>
                </a:lnSpc>
                <a:spcBef>
                  <a:spcPct val="10000"/>
                </a:spcBef>
                <a:buFont typeface="Wingdings" pitchFamily="2" charset="2"/>
                <a:buNone/>
              </a:pPr>
              <a:r>
                <a:rPr lang="zh-CN" altLang="en-US" sz="2400" b="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 </a:t>
              </a:r>
              <a:r>
                <a:rPr lang="en-US" altLang="zh-CN" sz="2400" b="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</a:t>
              </a:r>
              <a:r>
                <a:rPr lang="zh-CN" altLang="en-US" sz="2400" b="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包括整个存储区域</a:t>
              </a:r>
              <a:r>
                <a:rPr lang="en-US" altLang="zh-CN" sz="2400" b="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)               </a:t>
              </a:r>
              <a:r>
                <a:rPr lang="zh-CN" altLang="en-US" sz="2400" b="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访问自己的存储区域</a:t>
              </a:r>
            </a:p>
          </p:txBody>
        </p:sp>
        <p:sp>
          <p:nvSpPr>
            <p:cNvPr id="8" name="Line 10">
              <a:extLst>
                <a:ext uri="{FF2B5EF4-FFF2-40B4-BE49-F238E27FC236}">
                  <a16:creationId xmlns:a16="http://schemas.microsoft.com/office/drawing/2014/main" id="{18CFC9B8-E608-7D3B-CEBB-80244C9BD3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" y="804"/>
              <a:ext cx="47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9" name="Line 11">
              <a:extLst>
                <a:ext uri="{FF2B5EF4-FFF2-40B4-BE49-F238E27FC236}">
                  <a16:creationId xmlns:a16="http://schemas.microsoft.com/office/drawing/2014/main" id="{32232980-F3DC-9DA9-D291-A50B85C9BA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6" y="1201"/>
              <a:ext cx="47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10" name="Line 12">
              <a:extLst>
                <a:ext uri="{FF2B5EF4-FFF2-40B4-BE49-F238E27FC236}">
                  <a16:creationId xmlns:a16="http://schemas.microsoft.com/office/drawing/2014/main" id="{59A57686-F5A5-B4E5-DE35-7F6458FF7D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" y="1598"/>
              <a:ext cx="47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11" name="Line 14">
              <a:extLst>
                <a:ext uri="{FF2B5EF4-FFF2-40B4-BE49-F238E27FC236}">
                  <a16:creationId xmlns:a16="http://schemas.microsoft.com/office/drawing/2014/main" id="{A973F4CB-4C85-4860-00AB-42521A5986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3" y="457"/>
              <a:ext cx="0" cy="17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6932831"/>
      </p:ext>
    </p:extLst>
  </p:cSld>
  <p:clrMapOvr>
    <a:masterClrMapping/>
  </p:clrMapOvr>
  <p:transition spd="med"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3BF63D-8683-9D2A-168D-FC2D514C2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不同架构的</a:t>
            </a:r>
            <a:r>
              <a:rPr kumimoji="1" lang="en-US" altLang="zh-CN" dirty="0"/>
              <a:t>CPU</a:t>
            </a:r>
            <a:r>
              <a:rPr kumimoji="1" lang="zh-CN" altLang="en-US" dirty="0"/>
              <a:t>的特权级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78D14C-311F-A74C-2A88-35104B8A0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7772400" cy="5091112"/>
          </a:xfrm>
        </p:spPr>
        <p:txBody>
          <a:bodyPr>
            <a:normAutofit fontScale="77500" lnSpcReduction="20000"/>
          </a:bodyPr>
          <a:lstStyle/>
          <a:p>
            <a:r>
              <a:rPr kumimoji="1" lang="en" altLang="zh-CN" dirty="0"/>
              <a:t>ARM</a:t>
            </a:r>
            <a:r>
              <a:rPr kumimoji="1" lang="zh-CN" altLang="en-US" dirty="0"/>
              <a:t>架构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定义了四个特权级别，分别是</a:t>
            </a:r>
            <a:r>
              <a:rPr kumimoji="1" lang="en" altLang="zh-CN" dirty="0"/>
              <a:t>User</a:t>
            </a:r>
            <a:r>
              <a:rPr kumimoji="1" lang="zh-CN" altLang="en" dirty="0"/>
              <a:t>（</a:t>
            </a:r>
            <a:r>
              <a:rPr kumimoji="1" lang="zh-CN" altLang="en-US" dirty="0"/>
              <a:t>用户模式），</a:t>
            </a:r>
            <a:r>
              <a:rPr kumimoji="1" lang="en" altLang="zh-CN" dirty="0"/>
              <a:t>FIQ</a:t>
            </a:r>
            <a:r>
              <a:rPr kumimoji="1" lang="zh-CN" altLang="en" dirty="0"/>
              <a:t>（</a:t>
            </a:r>
            <a:r>
              <a:rPr kumimoji="1" lang="zh-CN" altLang="en-US" dirty="0"/>
              <a:t>快速中断模式），</a:t>
            </a:r>
            <a:r>
              <a:rPr kumimoji="1" lang="en" altLang="zh-CN" dirty="0"/>
              <a:t>IRQ</a:t>
            </a:r>
            <a:r>
              <a:rPr kumimoji="1" lang="zh-CN" altLang="en" dirty="0"/>
              <a:t>（</a:t>
            </a:r>
            <a:r>
              <a:rPr kumimoji="1" lang="zh-CN" altLang="en-US" dirty="0"/>
              <a:t>中断请求模式）和</a:t>
            </a:r>
            <a:r>
              <a:rPr kumimoji="1" lang="en" altLang="zh-CN" dirty="0"/>
              <a:t>SVC</a:t>
            </a:r>
            <a:r>
              <a:rPr kumimoji="1" lang="zh-CN" altLang="en" dirty="0"/>
              <a:t>（</a:t>
            </a:r>
            <a:r>
              <a:rPr kumimoji="1" lang="zh-CN" altLang="en-US" dirty="0"/>
              <a:t>超级用户模式）。用户模式是普通应用程序运行的模式，而其他三种模式主要用于处理各种中断和异常。</a:t>
            </a:r>
          </a:p>
          <a:p>
            <a:r>
              <a:rPr kumimoji="1" lang="en" altLang="zh-CN" dirty="0"/>
              <a:t>RISC-V</a:t>
            </a:r>
            <a:r>
              <a:rPr kumimoji="1" lang="zh-CN" altLang="en-US" dirty="0"/>
              <a:t>架构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定义了四种特权级别，分别是</a:t>
            </a:r>
            <a:r>
              <a:rPr kumimoji="1" lang="en" altLang="zh-CN" dirty="0"/>
              <a:t>User</a:t>
            </a:r>
            <a:r>
              <a:rPr kumimoji="1" lang="zh-CN" altLang="en" dirty="0"/>
              <a:t>（</a:t>
            </a:r>
            <a:r>
              <a:rPr kumimoji="1" lang="en" altLang="zh-CN" dirty="0"/>
              <a:t>U</a:t>
            </a:r>
            <a:r>
              <a:rPr kumimoji="1" lang="zh-CN" altLang="en" dirty="0"/>
              <a:t>），</a:t>
            </a:r>
            <a:r>
              <a:rPr kumimoji="1" lang="en" altLang="zh-CN" dirty="0"/>
              <a:t>Supervisor</a:t>
            </a:r>
            <a:r>
              <a:rPr kumimoji="1" lang="zh-CN" altLang="en" dirty="0"/>
              <a:t>（</a:t>
            </a:r>
            <a:r>
              <a:rPr kumimoji="1" lang="en" altLang="zh-CN" dirty="0"/>
              <a:t>S</a:t>
            </a:r>
            <a:r>
              <a:rPr kumimoji="1" lang="zh-CN" altLang="en" dirty="0"/>
              <a:t>），</a:t>
            </a:r>
            <a:r>
              <a:rPr kumimoji="1" lang="en" altLang="zh-CN" dirty="0"/>
              <a:t>Hypervisor</a:t>
            </a:r>
            <a:r>
              <a:rPr kumimoji="1" lang="zh-CN" altLang="en" dirty="0"/>
              <a:t>（</a:t>
            </a:r>
            <a:r>
              <a:rPr kumimoji="1" lang="en" altLang="zh-CN" dirty="0"/>
              <a:t>H</a:t>
            </a:r>
            <a:r>
              <a:rPr kumimoji="1" lang="zh-CN" altLang="en" dirty="0"/>
              <a:t>），</a:t>
            </a:r>
            <a:r>
              <a:rPr kumimoji="1" lang="en" altLang="zh-CN" dirty="0"/>
              <a:t>Machine</a:t>
            </a:r>
            <a:r>
              <a:rPr kumimoji="1" lang="zh-CN" altLang="en" dirty="0"/>
              <a:t>（</a:t>
            </a:r>
            <a:r>
              <a:rPr kumimoji="1" lang="en" altLang="zh-CN" dirty="0"/>
              <a:t>M</a:t>
            </a:r>
            <a:r>
              <a:rPr kumimoji="1" lang="zh-CN" altLang="en" dirty="0"/>
              <a:t>）。</a:t>
            </a:r>
            <a:r>
              <a:rPr kumimoji="1" lang="en" altLang="zh-CN" dirty="0"/>
              <a:t>User</a:t>
            </a:r>
            <a:r>
              <a:rPr kumimoji="1" lang="zh-CN" altLang="en-US" dirty="0"/>
              <a:t>级别用于运行用户程序，</a:t>
            </a:r>
            <a:r>
              <a:rPr kumimoji="1" lang="en" altLang="zh-CN" dirty="0"/>
              <a:t>Supervisor</a:t>
            </a:r>
            <a:r>
              <a:rPr kumimoji="1" lang="zh-CN" altLang="en-US" dirty="0"/>
              <a:t>级别用于运行操作系统内核，</a:t>
            </a:r>
            <a:r>
              <a:rPr kumimoji="1" lang="en" altLang="zh-CN" dirty="0"/>
              <a:t>Hypervisor</a:t>
            </a:r>
            <a:r>
              <a:rPr kumimoji="1" lang="zh-CN" altLang="en-US" dirty="0"/>
              <a:t>级别用于运行虚拟机管理器，</a:t>
            </a:r>
            <a:r>
              <a:rPr kumimoji="1" lang="en" altLang="zh-CN" dirty="0"/>
              <a:t>Machine</a:t>
            </a:r>
            <a:r>
              <a:rPr kumimoji="1" lang="zh-CN" altLang="en-US" dirty="0"/>
              <a:t>级别则是硬件级别，具有最高的特权。</a:t>
            </a:r>
          </a:p>
          <a:p>
            <a:r>
              <a:rPr kumimoji="1" lang="en" altLang="zh-CN" dirty="0"/>
              <a:t>x86</a:t>
            </a:r>
            <a:r>
              <a:rPr kumimoji="1" lang="zh-CN" altLang="en-US" dirty="0"/>
              <a:t>架构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定义了四个特权级别，从</a:t>
            </a:r>
            <a:r>
              <a:rPr kumimoji="1" lang="en" altLang="zh-CN" dirty="0"/>
              <a:t>Ring 0</a:t>
            </a:r>
            <a:r>
              <a:rPr kumimoji="1" lang="zh-CN" altLang="en-US" dirty="0"/>
              <a:t>到</a:t>
            </a:r>
            <a:r>
              <a:rPr kumimoji="1" lang="en" altLang="zh-CN" dirty="0"/>
              <a:t>Ring 3</a:t>
            </a:r>
            <a:r>
              <a:rPr kumimoji="1" lang="zh-CN" altLang="en" dirty="0"/>
              <a:t>。</a:t>
            </a:r>
            <a:r>
              <a:rPr kumimoji="1" lang="zh-CN" altLang="en-US" dirty="0"/>
              <a:t>其中，</a:t>
            </a:r>
            <a:r>
              <a:rPr kumimoji="1" lang="en" altLang="zh-CN" dirty="0"/>
              <a:t>Ring 0</a:t>
            </a:r>
            <a:r>
              <a:rPr kumimoji="1" lang="zh-CN" altLang="en-US" dirty="0"/>
              <a:t>具有最高的特权，通常用于运行操作系统内核。</a:t>
            </a:r>
            <a:r>
              <a:rPr kumimoji="1" lang="en" altLang="zh-CN" dirty="0"/>
              <a:t>Ring 1</a:t>
            </a:r>
            <a:r>
              <a:rPr kumimoji="1" lang="zh-CN" altLang="en-US" dirty="0"/>
              <a:t>和</a:t>
            </a:r>
            <a:r>
              <a:rPr kumimoji="1" lang="en" altLang="zh-CN" dirty="0"/>
              <a:t>Ring 2</a:t>
            </a:r>
            <a:r>
              <a:rPr kumimoji="1" lang="zh-CN" altLang="en-US" dirty="0"/>
              <a:t>很少使用，而</a:t>
            </a:r>
            <a:r>
              <a:rPr kumimoji="1" lang="en" altLang="zh-CN" dirty="0"/>
              <a:t>Ring 3</a:t>
            </a:r>
            <a:r>
              <a:rPr kumimoji="1" lang="zh-CN" altLang="en-US" dirty="0"/>
              <a:t>具有最低的特权，用于运行用户程序。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486708-25BE-4FFF-C9E5-F08498A72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9635354"/>
      </p:ext>
    </p:extLst>
  </p:cSld>
  <p:clrMapOvr>
    <a:masterClrMapping/>
  </p:clrMapOvr>
  <p:transition spd="med"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871827-41E4-1B9E-9802-8AE8064F3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CPU</a:t>
            </a:r>
            <a:r>
              <a:rPr kumimoji="1" lang="zh-CN" altLang="en-US" dirty="0"/>
              <a:t>特权级切换的三个场景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686C63-5DD9-31D5-DA9E-9B1013BA2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7772400" cy="525585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应用程序调用操作系统提供的</a:t>
            </a:r>
            <a:r>
              <a:rPr kumimoji="1" lang="zh-CN" altLang="en-US" b="1" dirty="0">
                <a:solidFill>
                  <a:srgbClr val="FF0000"/>
                </a:solidFill>
              </a:rPr>
              <a:t>系统调用</a:t>
            </a:r>
            <a:r>
              <a:rPr kumimoji="1" lang="zh-CN" altLang="en-US" dirty="0"/>
              <a:t>，此时应用程序通过执行系统调用指令将</a:t>
            </a:r>
            <a:r>
              <a:rPr kumimoji="1" lang="en-US" altLang="zh-CN" dirty="0"/>
              <a:t>CPU</a:t>
            </a:r>
            <a:r>
              <a:rPr kumimoji="1" lang="zh-CN" altLang="en-US" dirty="0"/>
              <a:t>的特权级从用户态切换到内核态</a:t>
            </a:r>
            <a:endParaRPr kumimoji="1" lang="en-US" altLang="zh-CN" dirty="0"/>
          </a:p>
          <a:p>
            <a:r>
              <a:rPr kumimoji="1" lang="zh-CN" altLang="en-US" dirty="0"/>
              <a:t>应用程序执行一条指令触发了</a:t>
            </a:r>
            <a:r>
              <a:rPr kumimoji="1" lang="zh-CN" altLang="en-US" b="1" dirty="0">
                <a:solidFill>
                  <a:srgbClr val="FF0000"/>
                </a:solidFill>
              </a:rPr>
              <a:t>异常</a:t>
            </a:r>
            <a:r>
              <a:rPr kumimoji="1" lang="zh-CN" altLang="en-US" dirty="0"/>
              <a:t>，导致</a:t>
            </a:r>
            <a:r>
              <a:rPr kumimoji="1" lang="en-US" altLang="zh-CN" dirty="0"/>
              <a:t>CPU</a:t>
            </a:r>
            <a:r>
              <a:rPr kumimoji="1" lang="zh-CN" altLang="en-US" dirty="0"/>
              <a:t>的特权级从用户态切换到内核态，比如访内存指令触发了缺页异常</a:t>
            </a:r>
            <a:endParaRPr kumimoji="1" lang="en-US" altLang="zh-CN" dirty="0"/>
          </a:p>
          <a:p>
            <a:r>
              <a:rPr kumimoji="1" lang="zh-CN" altLang="en-US" dirty="0"/>
              <a:t>应用程序执行过程中，</a:t>
            </a:r>
            <a:r>
              <a:rPr kumimoji="1" lang="en-US" altLang="zh-CN" dirty="0"/>
              <a:t>CPU</a:t>
            </a:r>
            <a:r>
              <a:rPr kumimoji="1" lang="zh-CN" altLang="en-US" dirty="0"/>
              <a:t>收到一条来自外设的</a:t>
            </a:r>
            <a:r>
              <a:rPr kumimoji="1" lang="zh-CN" altLang="en-US" b="1" dirty="0">
                <a:solidFill>
                  <a:srgbClr val="FF0000"/>
                </a:solidFill>
              </a:rPr>
              <a:t>中断</a:t>
            </a:r>
            <a:r>
              <a:rPr kumimoji="1" lang="zh-CN" altLang="en-US" dirty="0"/>
              <a:t>，对中断的处理导致</a:t>
            </a:r>
            <a:r>
              <a:rPr kumimoji="1" lang="en-US" altLang="zh-CN" dirty="0"/>
              <a:t>CPU</a:t>
            </a:r>
            <a:r>
              <a:rPr kumimoji="1" lang="zh-CN" altLang="en-US" dirty="0"/>
              <a:t>的特权级从用户态切换到内核态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3FB765-6A58-78EC-4555-F95F408E2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8993077"/>
      </p:ext>
    </p:extLst>
  </p:cSld>
  <p:clrMapOvr>
    <a:masterClrMapping/>
  </p:clrMapOvr>
  <p:transition spd="med"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065DBE-3CD0-7A19-E333-E408811D4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225425"/>
            <a:ext cx="7850187" cy="746125"/>
          </a:xfrm>
        </p:spPr>
        <p:txBody>
          <a:bodyPr/>
          <a:lstStyle/>
          <a:p>
            <a:r>
              <a:rPr lang="en-US" altLang="en-US" dirty="0" err="1"/>
              <a:t>CPU中的重要寄存器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77A979-51F2-0EA8-0C0E-D60560E7F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>
            <a:normAutofit fontScale="70000" lnSpcReduction="20000"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程序计数器（</a:t>
            </a:r>
            <a:r>
              <a:rPr lang="en" altLang="zh-CN" b="1" dirty="0">
                <a:solidFill>
                  <a:srgbClr val="FF0000"/>
                </a:solidFill>
              </a:rPr>
              <a:t>PC</a:t>
            </a:r>
            <a:r>
              <a:rPr lang="zh-CN" altLang="en" b="1" dirty="0">
                <a:solidFill>
                  <a:srgbClr val="FF0000"/>
                </a:solidFill>
              </a:rPr>
              <a:t>）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用于记录下一条要执行的指令的地址。当处理器执行完一条指令后，</a:t>
            </a:r>
            <a:r>
              <a:rPr lang="en" altLang="zh-CN" dirty="0"/>
              <a:t>PC</a:t>
            </a:r>
            <a:r>
              <a:rPr lang="zh-CN" altLang="en-US" dirty="0"/>
              <a:t>寄存器会自动更新为下一条指令的地址。</a:t>
            </a:r>
          </a:p>
          <a:p>
            <a:r>
              <a:rPr lang="zh-CN" altLang="en-US" dirty="0"/>
              <a:t>指令寄存器（</a:t>
            </a:r>
            <a:r>
              <a:rPr lang="en" altLang="zh-CN" dirty="0"/>
              <a:t>IR</a:t>
            </a:r>
            <a:r>
              <a:rPr lang="zh-CN" altLang="en" dirty="0"/>
              <a:t>）</a:t>
            </a:r>
            <a:endParaRPr lang="en-US" altLang="zh-CN" dirty="0"/>
          </a:p>
          <a:p>
            <a:pPr lvl="1"/>
            <a:r>
              <a:rPr lang="en" altLang="zh-CN" dirty="0"/>
              <a:t>IR</a:t>
            </a:r>
            <a:r>
              <a:rPr lang="zh-CN" altLang="en-US" dirty="0"/>
              <a:t>寄存器用于记录最近取出并解码的指令。</a:t>
            </a:r>
          </a:p>
          <a:p>
            <a:r>
              <a:rPr lang="zh-CN" altLang="en-US" b="1" dirty="0">
                <a:solidFill>
                  <a:srgbClr val="FF0000"/>
                </a:solidFill>
              </a:rPr>
              <a:t>程序状态字（</a:t>
            </a:r>
            <a:r>
              <a:rPr lang="en" altLang="zh-CN" b="1" dirty="0">
                <a:solidFill>
                  <a:srgbClr val="FF0000"/>
                </a:solidFill>
              </a:rPr>
              <a:t>PSW</a:t>
            </a:r>
            <a:r>
              <a:rPr lang="zh-CN" altLang="en" b="1" dirty="0">
                <a:solidFill>
                  <a:srgbClr val="FF0000"/>
                </a:solidFill>
              </a:rPr>
              <a:t>）</a:t>
            </a:r>
            <a:r>
              <a:rPr lang="zh-CN" altLang="en-US" b="1" dirty="0">
                <a:solidFill>
                  <a:srgbClr val="FF0000"/>
                </a:solidFill>
              </a:rPr>
              <a:t>寄存器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r>
              <a:rPr lang="en" altLang="zh-CN" dirty="0"/>
              <a:t>PSW</a:t>
            </a:r>
            <a:r>
              <a:rPr lang="zh-CN" altLang="en-US" dirty="0"/>
              <a:t>寄存器用于记录处理器的运行状态，如条件码、模式、控制位等。</a:t>
            </a:r>
            <a:r>
              <a:rPr lang="en" altLang="zh-CN" dirty="0"/>
              <a:t>PSW</a:t>
            </a:r>
            <a:r>
              <a:rPr lang="zh-CN" altLang="en-US" dirty="0"/>
              <a:t>寄存器中的一些位可以影响处理器的行为，如中断允许位、处理器状态位等。</a:t>
            </a:r>
          </a:p>
          <a:p>
            <a:r>
              <a:rPr lang="zh-CN" altLang="en-US" dirty="0"/>
              <a:t>通用寄存器（</a:t>
            </a:r>
            <a:r>
              <a:rPr lang="en" altLang="zh-CN" dirty="0"/>
              <a:t>General Registers</a:t>
            </a:r>
            <a:r>
              <a:rPr lang="zh-CN" altLang="en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通用寄存器是一组可以被用户程序和操作系统程序使用的寄存器，用于保存数据或地址。</a:t>
            </a:r>
            <a:endParaRPr lang="en-US" altLang="zh-CN" dirty="0"/>
          </a:p>
          <a:p>
            <a:r>
              <a:rPr lang="zh-CN" altLang="en-US" dirty="0"/>
              <a:t>控制寄存器（</a:t>
            </a:r>
            <a:r>
              <a:rPr lang="en" altLang="zh-CN" dirty="0"/>
              <a:t>Control Registers</a:t>
            </a:r>
            <a:r>
              <a:rPr lang="zh-CN" altLang="en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控制寄存器是一组只能被操作系统程序使用的寄存器，用于控制和配置处理器的一些特性和功能。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F88C1B3-F19D-A4D1-5199-BEE1B3ABC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/>
          <a:p>
            <a:fld id="{4093CC90-4002-504C-BD88-C9A1D374048E}" type="slidenum">
              <a:rPr lang="zh-CN" altLang="en-US" smtClean="0"/>
              <a:pPr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2009075"/>
      </p:ext>
    </p:extLst>
  </p:cSld>
  <p:clrMapOvr>
    <a:masterClrMapping/>
  </p:clrMapOvr>
  <p:transition spd="med"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5D04EE-06D2-2BE0-21D9-46DEA5B7E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计算机系统的硬件结构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C5169B-8838-08B0-04A2-5C5E7CA30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CPU</a:t>
            </a:r>
            <a:r>
              <a:rPr kumimoji="1" lang="zh-CN" altLang="en-US" dirty="0"/>
              <a:t>、设备控制器通过公共总线连接，从而可以访问共享内存</a:t>
            </a:r>
            <a:endParaRPr kumimoji="1" lang="en-US" altLang="zh-CN" dirty="0"/>
          </a:p>
          <a:p>
            <a:r>
              <a:rPr kumimoji="1" lang="en" altLang="zh-CN" dirty="0"/>
              <a:t>CPU</a:t>
            </a:r>
            <a:r>
              <a:rPr kumimoji="1" lang="zh-CN" altLang="en-US" dirty="0"/>
              <a:t>和设备并发执行，竞争内存周期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C22B4E-A76D-B354-4BC4-1DF60B01C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11</a:t>
            </a:fld>
            <a:endParaRPr lang="zh-CN" alt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C8D7746-05BC-0300-A69B-34E36CEF0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650" y="3169183"/>
            <a:ext cx="6216650" cy="303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2622583"/>
      </p:ext>
    </p:extLst>
  </p:cSld>
  <p:clrMapOvr>
    <a:masterClrMapping/>
  </p:clrMapOvr>
  <p:transition spd="med"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ED534F-07E9-54CE-A523-F2ADDA7CA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计算机系统的运行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CF4A10-DC84-85EF-F9D3-96D2030EF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7772400" cy="5183844"/>
          </a:xfrm>
        </p:spPr>
        <p:txBody>
          <a:bodyPr>
            <a:normAutofit fontScale="92500" lnSpcReduction="20000"/>
          </a:bodyPr>
          <a:lstStyle/>
          <a:p>
            <a:r>
              <a:rPr kumimoji="1" lang="en" altLang="zh-CN" dirty="0"/>
              <a:t>I/O </a:t>
            </a:r>
            <a:r>
              <a:rPr kumimoji="1" lang="zh-CN" altLang="en-US" dirty="0"/>
              <a:t>设备和 </a:t>
            </a:r>
            <a:r>
              <a:rPr kumimoji="1" lang="en" altLang="zh-CN" dirty="0"/>
              <a:t>CPU </a:t>
            </a:r>
            <a:r>
              <a:rPr kumimoji="1" lang="zh-CN" altLang="en-US" dirty="0"/>
              <a:t>可以并行执行</a:t>
            </a:r>
          </a:p>
          <a:p>
            <a:r>
              <a:rPr kumimoji="1" lang="zh-CN" altLang="en-US" dirty="0"/>
              <a:t>每个设备控制器负责特定的设备类型</a:t>
            </a:r>
          </a:p>
          <a:p>
            <a:r>
              <a:rPr kumimoji="1" lang="zh-CN" altLang="en-US" dirty="0"/>
              <a:t>每个设备控制器都有一个本地缓冲区</a:t>
            </a:r>
          </a:p>
          <a:p>
            <a:r>
              <a:rPr kumimoji="1" lang="zh-CN" altLang="en-US" dirty="0"/>
              <a:t>每个设备控制器类型都有一个操作系统设备驱动程序来管理它</a:t>
            </a:r>
          </a:p>
          <a:p>
            <a:r>
              <a:rPr kumimoji="1" lang="en" altLang="zh-CN" dirty="0"/>
              <a:t>CPU </a:t>
            </a:r>
            <a:r>
              <a:rPr kumimoji="1" lang="zh-CN" altLang="en-US" dirty="0"/>
              <a:t>将数据从主存移动到本地缓冲区，或者从本地缓冲区移到主存</a:t>
            </a:r>
          </a:p>
          <a:p>
            <a:r>
              <a:rPr kumimoji="1" lang="en" altLang="zh-CN" dirty="0"/>
              <a:t>I/O </a:t>
            </a:r>
            <a:r>
              <a:rPr kumimoji="1" lang="zh-CN" altLang="en" dirty="0"/>
              <a:t>就</a:t>
            </a:r>
            <a:r>
              <a:rPr kumimoji="1" lang="zh-CN" altLang="en-US" dirty="0"/>
              <a:t>是从设备到控制器的本地缓冲区之间的数据传输</a:t>
            </a:r>
            <a:endParaRPr kumimoji="1" lang="en-US" altLang="zh-CN" dirty="0"/>
          </a:p>
          <a:p>
            <a:r>
              <a:rPr kumimoji="1" lang="zh-CN" altLang="en-US" dirty="0"/>
              <a:t>设备控制器通过引发中断来通知 </a:t>
            </a:r>
            <a:r>
              <a:rPr kumimoji="1" lang="en" altLang="zh-CN" dirty="0"/>
              <a:t>CPU </a:t>
            </a:r>
            <a:r>
              <a:rPr kumimoji="1" lang="zh-CN" altLang="en" dirty="0"/>
              <a:t>它</a:t>
            </a:r>
            <a:r>
              <a:rPr kumimoji="1" lang="zh-CN" altLang="en-US" dirty="0"/>
              <a:t>完成了操作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28AA92-CA7C-251C-B969-86029EB2E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1139415"/>
      </p:ext>
    </p:extLst>
  </p:cSld>
  <p:clrMapOvr>
    <a:masterClrMapping/>
  </p:clrMapOvr>
  <p:transition spd="med"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AE1E05-CDBB-AF60-B1E2-755E318FB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中断机制中的常见功能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E294C1-5437-F015-1394-BE839DFAB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中断一般通过中断向量将控制权转移到中断服务例程，中断向量包含所有服务例程的地址</a:t>
            </a:r>
          </a:p>
          <a:p>
            <a:r>
              <a:rPr kumimoji="1" lang="zh-CN" altLang="en-US" dirty="0"/>
              <a:t>中断架构必须保存被中断指令的地址</a:t>
            </a:r>
          </a:p>
          <a:p>
            <a:r>
              <a:rPr kumimoji="1" lang="zh-CN" altLang="en-US" dirty="0"/>
              <a:t>陷阱或异常是由错误或用户请求引起的软件生成的中断</a:t>
            </a:r>
          </a:p>
          <a:p>
            <a:r>
              <a:rPr kumimoji="1" lang="zh-CN" altLang="en-US" dirty="0"/>
              <a:t>操作系统是中断驱动的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003D99-2D70-CA61-5A2B-19D1CD461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1506033"/>
      </p:ext>
    </p:extLst>
  </p:cSld>
  <p:clrMapOvr>
    <a:masterClrMapping/>
  </p:clrMapOvr>
  <p:transition spd="med"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9419A8-F30D-6B0A-634A-733962C41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中断的时间线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FBA92F-5493-41DD-F45D-4410F534B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88B734-64C0-4556-3B5D-F52BBDC3E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64282F1-8D75-2269-7F18-6A069F477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63" y="1908175"/>
            <a:ext cx="8355012" cy="364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4838133"/>
      </p:ext>
    </p:extLst>
  </p:cSld>
  <p:clrMapOvr>
    <a:masterClrMapping/>
  </p:clrMapOvr>
  <p:transition spd="med"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CF9F05-58D4-CB14-D7E0-40B4E8F55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中断驱动的</a:t>
            </a:r>
            <a:r>
              <a:rPr kumimoji="1" lang="en-US" altLang="zh-CN" dirty="0"/>
              <a:t>I/O</a:t>
            </a:r>
            <a:r>
              <a:rPr kumimoji="1" lang="zh-CN" altLang="en-US" dirty="0"/>
              <a:t>循环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BDC8A0-49F9-6965-9D5B-D6DC66E6A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15</a:t>
            </a:fld>
            <a:endParaRPr lang="zh-CN" altLang="en-US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32633B26-A4FD-23AE-1754-80CE756B9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00" y="1116802"/>
            <a:ext cx="5777135" cy="5694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1908001"/>
      </p:ext>
    </p:extLst>
  </p:cSld>
  <p:clrMapOvr>
    <a:masterClrMapping/>
  </p:clrMapOvr>
  <p:transition spd="med"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89C14-A332-0CEA-FBEE-676B78BEB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225425"/>
            <a:ext cx="7850187" cy="746125"/>
          </a:xfrm>
        </p:spPr>
        <p:txBody>
          <a:bodyPr/>
          <a:lstStyle/>
          <a:p>
            <a:r>
              <a:rPr lang="zh-CN" altLang="en-US" dirty="0"/>
              <a:t>中断响应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7D91AA-AF64-52CB-494C-C830BEBA5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9932" y="1233488"/>
            <a:ext cx="4933243" cy="4895850"/>
          </a:xfrm>
        </p:spPr>
        <p:txBody>
          <a:bodyPr>
            <a:normAutofit fontScale="92500"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中断响应</a:t>
            </a:r>
            <a:r>
              <a:rPr lang="zh-CN" altLang="en-US" dirty="0"/>
              <a:t>：当中央处理机</a:t>
            </a:r>
            <a:r>
              <a:rPr lang="en-US" altLang="zh-CN" dirty="0"/>
              <a:t>CPU</a:t>
            </a:r>
            <a:r>
              <a:rPr lang="zh-CN" altLang="en-US" dirty="0"/>
              <a:t>发现已有中断请求时，中止现行程序执行，并自动引出中断处理程序的过程。</a:t>
            </a:r>
            <a:endParaRPr lang="en-US" altLang="zh-CN" dirty="0"/>
          </a:p>
          <a:p>
            <a:r>
              <a:rPr lang="zh-CN" altLang="en-US" dirty="0"/>
              <a:t>中断响应需要硬件支持</a:t>
            </a:r>
            <a:endParaRPr lang="en-US" altLang="zh-CN" dirty="0"/>
          </a:p>
          <a:p>
            <a:pPr lvl="1"/>
            <a:r>
              <a:rPr lang="en-US" altLang="zh-CN" dirty="0"/>
              <a:t>PC—</a:t>
            </a:r>
            <a:r>
              <a:rPr lang="zh-CN" altLang="en-US" dirty="0"/>
              <a:t>指令计数器</a:t>
            </a:r>
            <a:endParaRPr lang="en-US" altLang="zh-CN" dirty="0"/>
          </a:p>
          <a:p>
            <a:pPr lvl="1"/>
            <a:r>
              <a:rPr lang="en-US" altLang="zh-CN" dirty="0"/>
              <a:t>PSW—</a:t>
            </a:r>
            <a:r>
              <a:rPr lang="zh-CN" altLang="en-US" dirty="0"/>
              <a:t>状态寄存器</a:t>
            </a:r>
            <a:endParaRPr lang="en-US" altLang="zh-CN" dirty="0"/>
          </a:p>
          <a:p>
            <a:pPr lvl="1"/>
            <a:r>
              <a:rPr lang="zh-CN" altLang="en-US" dirty="0"/>
              <a:t>系统堆栈</a:t>
            </a:r>
            <a:r>
              <a:rPr lang="en-US" altLang="zh-CN" dirty="0"/>
              <a:t>—</a:t>
            </a:r>
            <a:r>
              <a:rPr lang="zh-CN" altLang="en-US" dirty="0"/>
              <a:t>内存的固定区域</a:t>
            </a:r>
            <a:endParaRPr lang="en-US" altLang="zh-CN" dirty="0"/>
          </a:p>
          <a:p>
            <a:pPr lvl="1"/>
            <a:r>
              <a:rPr lang="zh-CN" altLang="en-US" dirty="0"/>
              <a:t>中断向量表</a:t>
            </a:r>
            <a:r>
              <a:rPr lang="en-US" altLang="zh-CN" dirty="0"/>
              <a:t>—</a:t>
            </a:r>
            <a:r>
              <a:rPr lang="zh-CN" altLang="en-US" dirty="0"/>
              <a:t>内存的固定区域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670971-84E4-1D75-F311-A23CF700F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/>
          <a:p>
            <a:fld id="{4093CC90-4002-504C-BD88-C9A1D374048E}" type="slidenum">
              <a:rPr lang="zh-CN" altLang="en-US" smtClean="0"/>
              <a:pPr/>
              <a:t>16</a:t>
            </a:fld>
            <a:endParaRPr lang="zh-CN" altLang="en-US" dirty="0"/>
          </a:p>
        </p:txBody>
      </p:sp>
      <p:grpSp>
        <p:nvGrpSpPr>
          <p:cNvPr id="5" name="Group 34">
            <a:extLst>
              <a:ext uri="{FF2B5EF4-FFF2-40B4-BE49-F238E27FC236}">
                <a16:creationId xmlns:a16="http://schemas.microsoft.com/office/drawing/2014/main" id="{FDC78436-204F-DCDF-9F55-22385E591526}"/>
              </a:ext>
            </a:extLst>
          </p:cNvPr>
          <p:cNvGrpSpPr>
            <a:grpSpLocks/>
          </p:cNvGrpSpPr>
          <p:nvPr/>
        </p:nvGrpSpPr>
        <p:grpSpPr bwMode="auto">
          <a:xfrm>
            <a:off x="423863" y="1552575"/>
            <a:ext cx="3681412" cy="3892550"/>
            <a:chOff x="267" y="978"/>
            <a:chExt cx="2319" cy="2452"/>
          </a:xfrm>
        </p:grpSpPr>
        <p:sp>
          <p:nvSpPr>
            <p:cNvPr id="6" name="Line 9">
              <a:extLst>
                <a:ext uri="{FF2B5EF4-FFF2-40B4-BE49-F238E27FC236}">
                  <a16:creationId xmlns:a16="http://schemas.microsoft.com/office/drawing/2014/main" id="{E148A40E-B413-5E25-0251-977121C8D5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4" y="1914"/>
              <a:ext cx="85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 type="triangle" w="sm" len="med"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7" name="Line 11">
              <a:extLst>
                <a:ext uri="{FF2B5EF4-FFF2-40B4-BE49-F238E27FC236}">
                  <a16:creationId xmlns:a16="http://schemas.microsoft.com/office/drawing/2014/main" id="{B2C1BFC4-8BE7-C335-5F2B-A15C00956E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20" y="1914"/>
              <a:ext cx="840" cy="91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 type="triangle" w="sm" len="med"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grpSp>
          <p:nvGrpSpPr>
            <p:cNvPr id="8" name="Group 29">
              <a:extLst>
                <a:ext uri="{FF2B5EF4-FFF2-40B4-BE49-F238E27FC236}">
                  <a16:creationId xmlns:a16="http://schemas.microsoft.com/office/drawing/2014/main" id="{6B0FE034-3873-102A-600B-E406C4DCFA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7" y="1926"/>
              <a:ext cx="685" cy="1504"/>
              <a:chOff x="1143" y="1962"/>
              <a:chExt cx="576" cy="1224"/>
            </a:xfrm>
          </p:grpSpPr>
          <p:sp>
            <p:nvSpPr>
              <p:cNvPr id="22" name="Line 13">
                <a:extLst>
                  <a:ext uri="{FF2B5EF4-FFF2-40B4-BE49-F238E27FC236}">
                    <a16:creationId xmlns:a16="http://schemas.microsoft.com/office/drawing/2014/main" id="{9EFA94C9-5021-08EE-2819-C0124F98D0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9" y="1962"/>
                <a:ext cx="0" cy="100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sm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23" name="Text Box 14">
                <a:extLst>
                  <a:ext uri="{FF2B5EF4-FFF2-40B4-BE49-F238E27FC236}">
                    <a16:creationId xmlns:a16="http://schemas.microsoft.com/office/drawing/2014/main" id="{2ADEF9AC-28B2-DEB6-B24E-C995549FB2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43" y="3014"/>
                <a:ext cx="576" cy="1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zh-CN" altLang="en-US" sz="16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继续执行</a:t>
                </a:r>
              </a:p>
            </p:txBody>
          </p:sp>
        </p:grpSp>
        <p:sp>
          <p:nvSpPr>
            <p:cNvPr id="9" name="Text Box 15">
              <a:extLst>
                <a:ext uri="{FF2B5EF4-FFF2-40B4-BE49-F238E27FC236}">
                  <a16:creationId xmlns:a16="http://schemas.microsoft.com/office/drawing/2014/main" id="{6BDFC034-7283-491E-C042-51771D2C4C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7" y="1627"/>
              <a:ext cx="68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中断进入</a:t>
              </a:r>
            </a:p>
          </p:txBody>
        </p:sp>
        <p:sp>
          <p:nvSpPr>
            <p:cNvPr id="10" name="Text Box 16">
              <a:extLst>
                <a:ext uri="{FF2B5EF4-FFF2-40B4-BE49-F238E27FC236}">
                  <a16:creationId xmlns:a16="http://schemas.microsoft.com/office/drawing/2014/main" id="{CE1D3619-0FEA-732C-4ABE-ECB60E335D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6" y="2432"/>
              <a:ext cx="571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中断</a:t>
              </a:r>
            </a:p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返回</a:t>
              </a:r>
            </a:p>
          </p:txBody>
        </p:sp>
        <p:grpSp>
          <p:nvGrpSpPr>
            <p:cNvPr id="11" name="Group 27">
              <a:extLst>
                <a:ext uri="{FF2B5EF4-FFF2-40B4-BE49-F238E27FC236}">
                  <a16:creationId xmlns:a16="http://schemas.microsoft.com/office/drawing/2014/main" id="{CC6469B1-CD23-47E4-96C9-2EC863C902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7" y="1914"/>
              <a:ext cx="975" cy="1159"/>
              <a:chOff x="503" y="1914"/>
              <a:chExt cx="820" cy="943"/>
            </a:xfrm>
          </p:grpSpPr>
          <p:grpSp>
            <p:nvGrpSpPr>
              <p:cNvPr id="17" name="Group 17">
                <a:extLst>
                  <a:ext uri="{FF2B5EF4-FFF2-40B4-BE49-F238E27FC236}">
                    <a16:creationId xmlns:a16="http://schemas.microsoft.com/office/drawing/2014/main" id="{D9303079-FA54-8F07-F6B6-4B914A7EF6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3" y="1914"/>
                <a:ext cx="720" cy="720"/>
                <a:chOff x="288" y="2352"/>
                <a:chExt cx="720" cy="720"/>
              </a:xfrm>
            </p:grpSpPr>
            <p:sp>
              <p:nvSpPr>
                <p:cNvPr id="19" name="Line 18">
                  <a:extLst>
                    <a:ext uri="{FF2B5EF4-FFF2-40B4-BE49-F238E27FC236}">
                      <a16:creationId xmlns:a16="http://schemas.microsoft.com/office/drawing/2014/main" id="{324564CF-D25C-8E2B-B316-9BC4C51347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" y="2640"/>
                  <a:ext cx="576" cy="4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20" name="Line 19">
                  <a:extLst>
                    <a:ext uri="{FF2B5EF4-FFF2-40B4-BE49-F238E27FC236}">
                      <a16:creationId xmlns:a16="http://schemas.microsoft.com/office/drawing/2014/main" id="{F00BF82A-D20C-9175-FCBE-B4EF1BB37D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0" y="2352"/>
                  <a:ext cx="528" cy="384"/>
                </a:xfrm>
                <a:prstGeom prst="line">
                  <a:avLst/>
                </a:prstGeom>
                <a:noFill/>
                <a:ln w="28575">
                  <a:solidFill>
                    <a:srgbClr val="003300"/>
                  </a:solidFill>
                  <a:round/>
                  <a:headEnd/>
                  <a:tailEnd type="triangle" w="sm" len="med"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21" name="Line 20">
                  <a:extLst>
                    <a:ext uri="{FF2B5EF4-FFF2-40B4-BE49-F238E27FC236}">
                      <a16:creationId xmlns:a16="http://schemas.microsoft.com/office/drawing/2014/main" id="{D96888EC-F700-3D76-BF94-442935A8A1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0" y="2640"/>
                  <a:ext cx="384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</p:grpSp>
          <p:sp>
            <p:nvSpPr>
              <p:cNvPr id="18" name="Text Box 21">
                <a:extLst>
                  <a:ext uri="{FF2B5EF4-FFF2-40B4-BE49-F238E27FC236}">
                    <a16:creationId xmlns:a16="http://schemas.microsoft.com/office/drawing/2014/main" id="{7AF77841-D042-6E29-0DFB-8D56CF8040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" y="2685"/>
                <a:ext cx="576" cy="1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zh-CN" altLang="en-US" sz="16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中断信号</a:t>
                </a:r>
              </a:p>
            </p:txBody>
          </p:sp>
        </p:grpSp>
        <p:grpSp>
          <p:nvGrpSpPr>
            <p:cNvPr id="12" name="Group 30">
              <a:extLst>
                <a:ext uri="{FF2B5EF4-FFF2-40B4-BE49-F238E27FC236}">
                  <a16:creationId xmlns:a16="http://schemas.microsoft.com/office/drawing/2014/main" id="{042A5388-081D-F12F-30F6-950BCEB389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2" y="978"/>
              <a:ext cx="707" cy="943"/>
              <a:chOff x="824" y="1122"/>
              <a:chExt cx="595" cy="768"/>
            </a:xfrm>
          </p:grpSpPr>
          <p:sp>
            <p:nvSpPr>
              <p:cNvPr id="15" name="Line 7">
                <a:extLst>
                  <a:ext uri="{FF2B5EF4-FFF2-40B4-BE49-F238E27FC236}">
                    <a16:creationId xmlns:a16="http://schemas.microsoft.com/office/drawing/2014/main" id="{2902E9DB-9270-8836-8055-968302A53E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9" y="1122"/>
                <a:ext cx="0" cy="76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sm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16" name="Text Box 22">
                <a:extLst>
                  <a:ext uri="{FF2B5EF4-FFF2-40B4-BE49-F238E27FC236}">
                    <a16:creationId xmlns:a16="http://schemas.microsoft.com/office/drawing/2014/main" id="{46D46763-9969-2301-AA9A-777775E359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4" y="1313"/>
                <a:ext cx="576" cy="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lnSpc>
                    <a:spcPct val="100000"/>
                  </a:lnSpc>
                  <a:spcBef>
                    <a:spcPct val="20000"/>
                  </a:spcBef>
                  <a:buClrTx/>
                  <a:buSzTx/>
                  <a:buFontTx/>
                  <a:buNone/>
                </a:pPr>
                <a:r>
                  <a:rPr kumimoji="1" lang="zh-CN" altLang="en-US" sz="16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正在执行</a:t>
                </a:r>
              </a:p>
              <a:p>
                <a:pPr algn="l" eaLnBrk="1" hangingPunct="1">
                  <a:lnSpc>
                    <a:spcPct val="100000"/>
                  </a:lnSpc>
                  <a:spcBef>
                    <a:spcPct val="20000"/>
                  </a:spcBef>
                  <a:buClrTx/>
                  <a:buSzTx/>
                  <a:buFontTx/>
                  <a:buNone/>
                </a:pPr>
                <a:r>
                  <a:rPr kumimoji="1" lang="zh-CN" altLang="en-US" sz="16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的程序</a:t>
                </a:r>
              </a:p>
            </p:txBody>
          </p:sp>
        </p:grp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230897A2-D277-B53C-0EA5-E88F243A22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0" y="1914"/>
              <a:ext cx="0" cy="943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sm" len="med"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14" name="Text Box 25">
              <a:extLst>
                <a:ext uri="{FF2B5EF4-FFF2-40B4-BE49-F238E27FC236}">
                  <a16:creationId xmlns:a16="http://schemas.microsoft.com/office/drawing/2014/main" id="{AE7D4B3E-4961-E6FB-4FA5-52AE0C84A1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3" y="2034"/>
              <a:ext cx="543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中断处</a:t>
              </a:r>
            </a:p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理程序</a:t>
              </a:r>
            </a:p>
          </p:txBody>
        </p:sp>
      </p:grpSp>
      <p:sp>
        <p:nvSpPr>
          <p:cNvPr id="24" name="Text Box 36">
            <a:extLst>
              <a:ext uri="{FF2B5EF4-FFF2-40B4-BE49-F238E27FC236}">
                <a16:creationId xmlns:a16="http://schemas.microsoft.com/office/drawing/2014/main" id="{792E851F-1A03-237D-8626-814D14DDD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5713" y="5729288"/>
            <a:ext cx="2016125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Ø"/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Ø"/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Ø"/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Ø"/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 typeface="Wingdings" pitchFamily="2" charset="2"/>
              <a:buNone/>
            </a:pPr>
            <a:r>
              <a: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中断概念示意图</a:t>
            </a:r>
          </a:p>
        </p:txBody>
      </p:sp>
    </p:spTree>
    <p:extLst>
      <p:ext uri="{BB962C8B-B14F-4D97-AF65-F5344CB8AC3E}">
        <p14:creationId xmlns:p14="http://schemas.microsoft.com/office/powerpoint/2010/main" val="3151115085"/>
      </p:ext>
    </p:extLst>
  </p:cSld>
  <p:clrMapOvr>
    <a:masterClrMapping/>
  </p:clrMapOvr>
  <p:transition spd="med"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AEEC70-106D-EA75-6929-83518FC8E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保存现场与恢复现场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0B6010-5959-DEE1-E766-403D85582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什么是现场？</a:t>
            </a:r>
            <a:endParaRPr kumimoji="1" lang="en-US" altLang="zh-CN" dirty="0"/>
          </a:p>
          <a:p>
            <a:pPr lvl="1" eaLnBrk="1">
              <a:lnSpc>
                <a:spcPct val="130000"/>
              </a:lnSpc>
              <a:spcBef>
                <a:spcPct val="3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在中断的那一时刻能确保程序继续运行的有关信息</a:t>
            </a:r>
          </a:p>
          <a:p>
            <a:pPr lvl="2" eaLnBrk="1">
              <a:lnSpc>
                <a:spcPct val="130000"/>
              </a:lnSpc>
              <a:spcBef>
                <a:spcPct val="30000"/>
              </a:spcBef>
              <a:buNone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①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后继指令所在主存的单元号</a:t>
            </a:r>
          </a:p>
          <a:p>
            <a:pPr lvl="2" algn="l" eaLnBrk="1" hangingPunct="1">
              <a:lnSpc>
                <a:spcPct val="13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②</a:t>
            </a:r>
            <a:r>
              <a:rPr lang="en-US" altLang="zh-CN" sz="2400" b="0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程序运行所处的状态</a:t>
            </a:r>
          </a:p>
          <a:p>
            <a:pPr lvl="2" algn="l" eaLnBrk="1" hangingPunct="1">
              <a:lnSpc>
                <a:spcPct val="13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③</a:t>
            </a:r>
            <a:r>
              <a:rPr lang="en-US" altLang="zh-CN" sz="2400" b="0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指令执行情况</a:t>
            </a:r>
          </a:p>
          <a:p>
            <a:pPr lvl="2" algn="l" eaLnBrk="1" hangingPunct="1">
              <a:lnSpc>
                <a:spcPct val="13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④</a:t>
            </a:r>
            <a:r>
              <a:rPr lang="en-US" altLang="zh-CN" sz="2400" b="0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程序执行的中间结果等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7835B2-3135-2418-1E26-932654BBC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7661269"/>
      </p:ext>
    </p:extLst>
  </p:cSld>
  <p:clrMapOvr>
    <a:masterClrMapping/>
  </p:clrMapOvr>
  <p:transition spd="med"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AE9435-521B-7441-0AFE-6BDCDD9F6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保存现场与恢复现场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CD55F5-1C05-F415-F7A9-E616E4ADD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保存现场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pPr lvl="1" eaLnBrk="1">
              <a:lnSpc>
                <a:spcPct val="130000"/>
              </a:lnSpc>
              <a:spcBef>
                <a:spcPct val="30000"/>
              </a:spcBef>
            </a:pP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当中断发生时，必须立即把现场信息保存在主存中，这一工作称之为保存现场</a:t>
            </a:r>
            <a:endParaRPr lang="en-US" altLang="zh-CN" sz="2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>
              <a:lnSpc>
                <a:spcPct val="130000"/>
              </a:lnSpc>
              <a:spcBef>
                <a:spcPct val="30000"/>
              </a:spcBef>
            </a:pP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恢复现场</a:t>
            </a:r>
            <a:endParaRPr kumimoji="1" lang="en-US" altLang="zh-CN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1" eaLnBrk="1">
              <a:lnSpc>
                <a:spcPct val="130000"/>
              </a:lnSpc>
              <a:spcBef>
                <a:spcPct val="30000"/>
              </a:spcBef>
            </a:pP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程序重新运行之前，把保留的该程序现场信息从主存中送至相应的指令计数器、通用寄存器或一些特殊的寄存器中。完成这些工作称为恢复现场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6497C6-C654-970A-9CF9-92E960CC7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142766"/>
      </p:ext>
    </p:extLst>
  </p:cSld>
  <p:clrMapOvr>
    <a:masterClrMapping/>
  </p:clrMapOvr>
  <p:transition spd="med"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712AA4-6A21-6646-D8EE-B8FEC98D6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保存现场与恢复现场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B8F900-7513-328C-C15D-C27EC9367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/>
            <a:r>
              <a:rPr kumimoji="1" lang="zh-CN" altLang="en-US" dirty="0"/>
              <a:t>程序状态字（</a:t>
            </a:r>
            <a:r>
              <a:rPr kumimoji="1" lang="en-US" altLang="zh-CN" dirty="0"/>
              <a:t>PSW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 eaLnBrk="1"/>
            <a:r>
              <a:rPr kumimoji="1" lang="zh-CN" altLang="en-US" dirty="0"/>
              <a:t>当前程序执行时机器所处的状态信息</a:t>
            </a:r>
            <a:endParaRPr kumimoji="1" lang="en-US" altLang="zh-CN" dirty="0"/>
          </a:p>
          <a:p>
            <a:pPr lvl="1" eaLnBrk="1"/>
            <a:r>
              <a:rPr kumimoji="1" lang="zh-CN" altLang="en-US" dirty="0"/>
              <a:t>通常存储在</a:t>
            </a:r>
            <a:r>
              <a:rPr kumimoji="1" lang="en-US" altLang="zh-CN" dirty="0"/>
              <a:t>CPU</a:t>
            </a:r>
            <a:r>
              <a:rPr kumimoji="1" lang="zh-CN" altLang="en-US" dirty="0"/>
              <a:t>的一个特殊寄存器中，不同的</a:t>
            </a:r>
            <a:r>
              <a:rPr kumimoji="1" lang="en-US" altLang="zh-CN" dirty="0"/>
              <a:t>CPU</a:t>
            </a:r>
            <a:r>
              <a:rPr kumimoji="1" lang="zh-CN" altLang="en-US" dirty="0"/>
              <a:t>架构有不同的定义</a:t>
            </a:r>
            <a:endParaRPr kumimoji="1" lang="en-US" altLang="zh-CN" dirty="0"/>
          </a:p>
          <a:p>
            <a:pPr lvl="1" eaLnBrk="1"/>
            <a:r>
              <a:rPr kumimoji="1" lang="zh-CN" altLang="en-US" dirty="0"/>
              <a:t>通常包含以下信息</a:t>
            </a:r>
            <a:endParaRPr kumimoji="1" lang="en-US" altLang="zh-CN" dirty="0"/>
          </a:p>
          <a:p>
            <a:pPr lvl="2" eaLnBrk="1"/>
            <a:r>
              <a:rPr kumimoji="1" lang="zh-CN" altLang="en-US" dirty="0"/>
              <a:t>条件码：记录最近一次算术或逻辑操作的结果，比如：结果是否为零、是否有进位或借位、是否溢出等</a:t>
            </a:r>
          </a:p>
          <a:p>
            <a:pPr lvl="2" eaLnBrk="1"/>
            <a:r>
              <a:rPr kumimoji="1" lang="zh-CN" altLang="en-US" dirty="0"/>
              <a:t>中断使能</a:t>
            </a:r>
            <a:r>
              <a:rPr kumimoji="1" lang="en-US" altLang="zh-CN" dirty="0"/>
              <a:t>/</a:t>
            </a:r>
            <a:r>
              <a:rPr kumimoji="1" lang="zh-CN" altLang="en-US" dirty="0"/>
              <a:t>禁止位：决定是否允许响应中断</a:t>
            </a:r>
          </a:p>
          <a:p>
            <a:pPr lvl="2" eaLnBrk="1"/>
            <a:r>
              <a:rPr kumimoji="1" lang="zh-CN" altLang="en-US" dirty="0"/>
              <a:t>用户</a:t>
            </a:r>
            <a:r>
              <a:rPr kumimoji="1" lang="en-US" altLang="zh-CN" dirty="0"/>
              <a:t>/</a:t>
            </a:r>
            <a:r>
              <a:rPr kumimoji="1" lang="zh-CN" altLang="en-US" dirty="0"/>
              <a:t>内核模式位：标识当前</a:t>
            </a:r>
            <a:r>
              <a:rPr kumimoji="1" lang="en-US" altLang="zh-CN" dirty="0"/>
              <a:t>CPU</a:t>
            </a:r>
            <a:r>
              <a:rPr kumimoji="1" lang="zh-CN" altLang="en-US" dirty="0"/>
              <a:t>处于用户模式还是内核模式</a:t>
            </a:r>
          </a:p>
          <a:p>
            <a:pPr lvl="2" eaLnBrk="1"/>
            <a:r>
              <a:rPr kumimoji="1" lang="zh-CN" altLang="en-US" dirty="0"/>
              <a:t>其他特定于具体处理器架构的标志位</a:t>
            </a:r>
            <a:endParaRPr kumimoji="1" lang="en-US" altLang="zh-CN" dirty="0"/>
          </a:p>
          <a:p>
            <a:pPr lvl="1" eaLnBrk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FA25A3-D9DB-BA11-75B2-B40AFFCE4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1105"/>
      </p:ext>
    </p:extLst>
  </p:cSld>
  <p:clrMapOvr>
    <a:masterClrMapping/>
  </p:clrMapOvr>
  <p:transition spd="med"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E23FB1-685B-1D6C-82FF-99D8D7758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中断响应的详细过程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6246CB-C0E8-05E8-4D27-A848BB369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7864" y="1233488"/>
            <a:ext cx="3619573" cy="4895850"/>
          </a:xfrm>
        </p:spPr>
        <p:txBody>
          <a:bodyPr/>
          <a:lstStyle/>
          <a:p>
            <a:r>
              <a:rPr kumimoji="1" lang="zh-CN" altLang="en-US" dirty="0"/>
              <a:t>中断响应过程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保留程序断点及</a:t>
            </a:r>
            <a:r>
              <a:rPr kumimoji="1" lang="en-US" altLang="zh-CN" dirty="0"/>
              <a:t>CPU</a:t>
            </a:r>
            <a:r>
              <a:rPr kumimoji="1" lang="zh-CN" altLang="en-US" dirty="0"/>
              <a:t>的状态信息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自动转入相应的中断处理程序</a:t>
            </a:r>
            <a:endParaRPr kumimoji="1" lang="en-US" altLang="zh-CN" dirty="0"/>
          </a:p>
          <a:p>
            <a:r>
              <a:rPr kumimoji="1" lang="zh-CN" altLang="en-US" dirty="0"/>
              <a:t>中断响应的实质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交换指令的地址和</a:t>
            </a:r>
            <a:r>
              <a:rPr kumimoji="1" lang="en-US" altLang="zh-CN" dirty="0"/>
              <a:t>CPU</a:t>
            </a:r>
            <a:r>
              <a:rPr kumimoji="1" lang="zh-CN" altLang="en-US" dirty="0"/>
              <a:t>的状态信息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116325-6803-5328-F337-7F4D3ED98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20</a:t>
            </a:fld>
            <a:endParaRPr lang="zh-CN" altLang="en-US" dirty="0"/>
          </a:p>
        </p:txBody>
      </p:sp>
      <p:grpSp>
        <p:nvGrpSpPr>
          <p:cNvPr id="5" name="Group 37">
            <a:extLst>
              <a:ext uri="{FF2B5EF4-FFF2-40B4-BE49-F238E27FC236}">
                <a16:creationId xmlns:a16="http://schemas.microsoft.com/office/drawing/2014/main" id="{008F33C2-1C53-E9AD-BE76-F2BDCAA017E2}"/>
              </a:ext>
            </a:extLst>
          </p:cNvPr>
          <p:cNvGrpSpPr>
            <a:grpSpLocks/>
          </p:cNvGrpSpPr>
          <p:nvPr/>
        </p:nvGrpSpPr>
        <p:grpSpPr bwMode="auto">
          <a:xfrm>
            <a:off x="755576" y="1336066"/>
            <a:ext cx="4187825" cy="4151311"/>
            <a:chOff x="2956" y="731"/>
            <a:chExt cx="2638" cy="2615"/>
          </a:xfrm>
        </p:grpSpPr>
        <p:sp>
          <p:nvSpPr>
            <p:cNvPr id="6" name="Line 23">
              <a:extLst>
                <a:ext uri="{FF2B5EF4-FFF2-40B4-BE49-F238E27FC236}">
                  <a16:creationId xmlns:a16="http://schemas.microsoft.com/office/drawing/2014/main" id="{4AFC6372-3006-7C21-2AC1-9583241C10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0" y="1904"/>
              <a:ext cx="1087" cy="8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med"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7" name="Line 25">
              <a:extLst>
                <a:ext uri="{FF2B5EF4-FFF2-40B4-BE49-F238E27FC236}">
                  <a16:creationId xmlns:a16="http://schemas.microsoft.com/office/drawing/2014/main" id="{8EC8B8E2-F1E8-3A3E-B122-FF6E1A9955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5" y="1589"/>
              <a:ext cx="1133" cy="1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med"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8" name="Line 21">
              <a:extLst>
                <a:ext uri="{FF2B5EF4-FFF2-40B4-BE49-F238E27FC236}">
                  <a16:creationId xmlns:a16="http://schemas.microsoft.com/office/drawing/2014/main" id="{781A8438-69E6-D95C-8C3A-57A2DAAD81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70" y="1247"/>
              <a:ext cx="1206" cy="592"/>
            </a:xfrm>
            <a:prstGeom prst="line">
              <a:avLst/>
            </a:prstGeom>
            <a:noFill/>
            <a:ln w="25400">
              <a:solidFill>
                <a:srgbClr val="660033"/>
              </a:solidFill>
              <a:round/>
              <a:headEnd/>
              <a:tailEnd type="triangle" w="sm" len="med"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9" name="Line 27">
              <a:extLst>
                <a:ext uri="{FF2B5EF4-FFF2-40B4-BE49-F238E27FC236}">
                  <a16:creationId xmlns:a16="http://schemas.microsoft.com/office/drawing/2014/main" id="{A30B9773-24EA-4BAE-50D4-DDC136E9F3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7" y="1025"/>
              <a:ext cx="1316" cy="481"/>
            </a:xfrm>
            <a:prstGeom prst="line">
              <a:avLst/>
            </a:prstGeom>
            <a:noFill/>
            <a:ln w="25400">
              <a:solidFill>
                <a:srgbClr val="660033"/>
              </a:solidFill>
              <a:round/>
              <a:headEnd/>
              <a:tailEnd type="triangle" w="sm" len="med"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10" name="Text Box 5">
              <a:extLst>
                <a:ext uri="{FF2B5EF4-FFF2-40B4-BE49-F238E27FC236}">
                  <a16:creationId xmlns:a16="http://schemas.microsoft.com/office/drawing/2014/main" id="{C1944989-B45F-C3E6-5AA6-00FDFDDBBA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0" y="731"/>
              <a:ext cx="1094" cy="132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buClrTx/>
                <a:buSzTx/>
                <a:buFontTx/>
                <a:buNone/>
              </a:pPr>
              <a:endParaRPr kumimoji="1"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80000"/>
                </a:lnSpc>
                <a:buClrTx/>
                <a:buSzTx/>
                <a:buFontTx/>
                <a:buNone/>
              </a:pPr>
              <a:endParaRPr kumimoji="1"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80000"/>
                </a:lnSpc>
                <a:buClrTx/>
                <a:buSzTx/>
                <a:buFontTx/>
                <a:buNone/>
              </a:pPr>
              <a:r>
                <a:rPr kumimoji="1"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中断处理程序的</a:t>
              </a:r>
              <a:r>
                <a:rPr kumimoji="1"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PC</a:t>
              </a:r>
            </a:p>
            <a:p>
              <a:pPr algn="just" eaLnBrk="1" hangingPunct="1">
                <a:lnSpc>
                  <a:spcPct val="80000"/>
                </a:lnSpc>
                <a:buClrTx/>
                <a:buSzTx/>
                <a:buFontTx/>
                <a:buNone/>
              </a:pPr>
              <a:endParaRPr kumimoji="1"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80000"/>
                </a:lnSpc>
                <a:buClrTx/>
                <a:buSzTx/>
                <a:buFontTx/>
                <a:buNone/>
              </a:pPr>
              <a:r>
                <a:rPr kumimoji="1"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中断处理程序的</a:t>
              </a:r>
              <a:r>
                <a:rPr kumimoji="1"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PS</a:t>
              </a:r>
            </a:p>
            <a:p>
              <a:pPr algn="just" eaLnBrk="1" hangingPunct="1">
                <a:lnSpc>
                  <a:spcPct val="80000"/>
                </a:lnSpc>
                <a:buClrTx/>
                <a:buSzTx/>
                <a:buFontTx/>
                <a:buNone/>
              </a:pPr>
              <a:endParaRPr kumimoji="1"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80000"/>
                </a:lnSpc>
                <a:buClrTx/>
                <a:buSzTx/>
                <a:buFontTx/>
                <a:buNone/>
              </a:pPr>
              <a:endParaRPr kumimoji="1"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" name="Line 6">
              <a:extLst>
                <a:ext uri="{FF2B5EF4-FFF2-40B4-BE49-F238E27FC236}">
                  <a16:creationId xmlns:a16="http://schemas.microsoft.com/office/drawing/2014/main" id="{501FB4D9-FD4A-68CA-0756-BCCA8788CF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9" y="965"/>
              <a:ext cx="109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12" name="Line 7">
              <a:extLst>
                <a:ext uri="{FF2B5EF4-FFF2-40B4-BE49-F238E27FC236}">
                  <a16:creationId xmlns:a16="http://schemas.microsoft.com/office/drawing/2014/main" id="{74A919B1-6CB0-4DD8-30A8-2580116940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9" y="1479"/>
              <a:ext cx="109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13" name="Text Box 8">
              <a:extLst>
                <a:ext uri="{FF2B5EF4-FFF2-40B4-BE49-F238E27FC236}">
                  <a16:creationId xmlns:a16="http://schemas.microsoft.com/office/drawing/2014/main" id="{792E2036-79C8-0B08-B87F-3BE9256EF5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3" y="2097"/>
              <a:ext cx="42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主存</a:t>
              </a:r>
            </a:p>
          </p:txBody>
        </p:sp>
        <p:grpSp>
          <p:nvGrpSpPr>
            <p:cNvPr id="14" name="Group 9">
              <a:extLst>
                <a:ext uri="{FF2B5EF4-FFF2-40B4-BE49-F238E27FC236}">
                  <a16:creationId xmlns:a16="http://schemas.microsoft.com/office/drawing/2014/main" id="{6E0F36C0-BA64-F75F-A8F8-99CA12E621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56" y="1313"/>
              <a:ext cx="585" cy="675"/>
              <a:chOff x="1152" y="1228"/>
              <a:chExt cx="768" cy="874"/>
            </a:xfrm>
          </p:grpSpPr>
          <p:sp>
            <p:nvSpPr>
              <p:cNvPr id="27" name="Rectangle 10">
                <a:extLst>
                  <a:ext uri="{FF2B5EF4-FFF2-40B4-BE49-F238E27FC236}">
                    <a16:creationId xmlns:a16="http://schemas.microsoft.com/office/drawing/2014/main" id="{A87040F7-61E8-353B-F085-0528FE5D43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1478"/>
                <a:ext cx="768" cy="192"/>
              </a:xfrm>
              <a:prstGeom prst="rect">
                <a:avLst/>
              </a:prstGeom>
              <a:solidFill>
                <a:srgbClr val="CC99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28" name="Rectangle 11">
                <a:extLst>
                  <a:ext uri="{FF2B5EF4-FFF2-40B4-BE49-F238E27FC236}">
                    <a16:creationId xmlns:a16="http://schemas.microsoft.com/office/drawing/2014/main" id="{1AF8590A-3E68-5189-F694-629CB7ECF3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1910"/>
                <a:ext cx="768" cy="192"/>
              </a:xfrm>
              <a:prstGeom prst="rect">
                <a:avLst/>
              </a:prstGeom>
              <a:solidFill>
                <a:srgbClr val="CC99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29" name="Text Box 12">
                <a:extLst>
                  <a:ext uri="{FF2B5EF4-FFF2-40B4-BE49-F238E27FC236}">
                    <a16:creationId xmlns:a16="http://schemas.microsoft.com/office/drawing/2014/main" id="{6C49C96E-DB60-B2BA-968D-67ED66B7DA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6" y="1228"/>
                <a:ext cx="528" cy="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en-US" altLang="zh-CN" sz="14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PC</a:t>
                </a:r>
              </a:p>
            </p:txBody>
          </p:sp>
          <p:sp>
            <p:nvSpPr>
              <p:cNvPr id="30" name="Text Box 13">
                <a:extLst>
                  <a:ext uri="{FF2B5EF4-FFF2-40B4-BE49-F238E27FC236}">
                    <a16:creationId xmlns:a16="http://schemas.microsoft.com/office/drawing/2014/main" id="{CF45F26D-14C3-6A0A-35CE-781AA2B649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6" y="1671"/>
                <a:ext cx="528" cy="2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PSW</a:t>
                </a:r>
              </a:p>
            </p:txBody>
          </p:sp>
        </p:grp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40DDF2EA-4963-0227-C741-DC32297AE2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3" y="2364"/>
              <a:ext cx="558" cy="70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endParaRPr kumimoji="1"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   PC</a:t>
              </a:r>
            </a:p>
            <a:p>
              <a:pPr algn="just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   PSW</a:t>
              </a:r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CF45ED05-0673-51D0-9DF1-6B19498148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3" y="2861"/>
              <a:ext cx="55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AF6E74B8-3335-5D40-10AD-2584F63DD7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3" y="2691"/>
              <a:ext cx="55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D94C57C6-295A-C3A8-2B45-A716A64FA6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3" y="2542"/>
              <a:ext cx="55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FCF37385-DDB9-2382-3795-FADA0DBA5E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8" y="3134"/>
              <a:ext cx="40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堆栈</a:t>
              </a:r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1BFA67BD-4965-EC2E-2E52-1C2D3626A9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2" y="2851"/>
              <a:ext cx="586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med"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1" name="Text Box 20">
              <a:extLst>
                <a:ext uri="{FF2B5EF4-FFF2-40B4-BE49-F238E27FC236}">
                  <a16:creationId xmlns:a16="http://schemas.microsoft.com/office/drawing/2014/main" id="{E619A1CC-32BC-8179-A366-BAD5B7FB61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5" y="2865"/>
              <a:ext cx="585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堆栈栈</a:t>
              </a:r>
            </a:p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顶指针</a:t>
              </a:r>
            </a:p>
          </p:txBody>
        </p:sp>
        <p:sp>
          <p:nvSpPr>
            <p:cNvPr id="22" name="Text Box 22">
              <a:extLst>
                <a:ext uri="{FF2B5EF4-FFF2-40B4-BE49-F238E27FC236}">
                  <a16:creationId xmlns:a16="http://schemas.microsoft.com/office/drawing/2014/main" id="{16DB8960-7233-CA97-EF90-B90F0C15CE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7" y="1333"/>
              <a:ext cx="2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(4)</a:t>
              </a:r>
            </a:p>
          </p:txBody>
        </p:sp>
        <p:sp>
          <p:nvSpPr>
            <p:cNvPr id="23" name="Text Box 24">
              <a:extLst>
                <a:ext uri="{FF2B5EF4-FFF2-40B4-BE49-F238E27FC236}">
                  <a16:creationId xmlns:a16="http://schemas.microsoft.com/office/drawing/2014/main" id="{32240431-CAC5-7AE7-329A-8E91CED814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6" y="2172"/>
              <a:ext cx="27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(1)</a:t>
              </a:r>
            </a:p>
          </p:txBody>
        </p:sp>
        <p:sp>
          <p:nvSpPr>
            <p:cNvPr id="24" name="Text Box 26">
              <a:extLst>
                <a:ext uri="{FF2B5EF4-FFF2-40B4-BE49-F238E27FC236}">
                  <a16:creationId xmlns:a16="http://schemas.microsoft.com/office/drawing/2014/main" id="{C6C262C6-CE22-9B0A-C1A5-F243037D6B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3" y="1881"/>
              <a:ext cx="27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(2)</a:t>
              </a:r>
            </a:p>
          </p:txBody>
        </p:sp>
        <p:sp>
          <p:nvSpPr>
            <p:cNvPr id="25" name="Text Box 28">
              <a:extLst>
                <a:ext uri="{FF2B5EF4-FFF2-40B4-BE49-F238E27FC236}">
                  <a16:creationId xmlns:a16="http://schemas.microsoft.com/office/drawing/2014/main" id="{5A199F03-722B-86DE-1199-7190E66091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9" y="982"/>
              <a:ext cx="2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(3)</a:t>
              </a:r>
            </a:p>
          </p:txBody>
        </p:sp>
        <p:sp>
          <p:nvSpPr>
            <p:cNvPr id="26" name="Line 31">
              <a:extLst>
                <a:ext uri="{FF2B5EF4-FFF2-40B4-BE49-F238E27FC236}">
                  <a16:creationId xmlns:a16="http://schemas.microsoft.com/office/drawing/2014/main" id="{CE57BD5E-0021-887B-5309-8EE6683E5B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9" y="1207"/>
              <a:ext cx="109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31" name="Text Box 38">
            <a:extLst>
              <a:ext uri="{FF2B5EF4-FFF2-40B4-BE49-F238E27FC236}">
                <a16:creationId xmlns:a16="http://schemas.microsoft.com/office/drawing/2014/main" id="{5FF64E60-9026-A920-EF62-C73C6C040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8576" y="5699596"/>
            <a:ext cx="2414588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Ø"/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Ø"/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Ø"/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Ø"/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 typeface="Wingdings" pitchFamily="2" charset="2"/>
              <a:buNone/>
            </a:pPr>
            <a:r>
              <a: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中断响应过程示意图</a:t>
            </a:r>
          </a:p>
        </p:txBody>
      </p:sp>
    </p:spTree>
    <p:extLst>
      <p:ext uri="{BB962C8B-B14F-4D97-AF65-F5344CB8AC3E}">
        <p14:creationId xmlns:p14="http://schemas.microsoft.com/office/powerpoint/2010/main" val="3936229317"/>
      </p:ext>
    </p:extLst>
  </p:cSld>
  <p:clrMapOvr>
    <a:masterClrMapping/>
  </p:clrMapOvr>
  <p:transition spd="med"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EFE403-3765-10B2-1C52-6C3298A78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中断处理程序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E46379-41CE-2AED-AC33-8CE990BEE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>
              <a:spcBef>
                <a:spcPts val="600"/>
              </a:spcBef>
            </a:pPr>
            <a:r>
              <a:rPr kumimoji="1" lang="zh-CN" altLang="en-US" dirty="0"/>
              <a:t>当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</a:rPr>
              <a:t>硬件完成了中断进入过程后，由相应的中断处理程序得到控制权，进入了软件的中断处理过程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D02F66-291F-D831-643E-7680F24DD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21</a:t>
            </a:fld>
            <a:endParaRPr lang="zh-CN" altLang="en-US" dirty="0"/>
          </a:p>
        </p:txBody>
      </p:sp>
      <p:grpSp>
        <p:nvGrpSpPr>
          <p:cNvPr id="5" name="Group 56">
            <a:extLst>
              <a:ext uri="{FF2B5EF4-FFF2-40B4-BE49-F238E27FC236}">
                <a16:creationId xmlns:a16="http://schemas.microsoft.com/office/drawing/2014/main" id="{76C020EC-2851-C049-A599-9D369792AC57}"/>
              </a:ext>
            </a:extLst>
          </p:cNvPr>
          <p:cNvGrpSpPr>
            <a:grpSpLocks/>
          </p:cNvGrpSpPr>
          <p:nvPr/>
        </p:nvGrpSpPr>
        <p:grpSpPr bwMode="auto">
          <a:xfrm>
            <a:off x="1439652" y="2810603"/>
            <a:ext cx="5980113" cy="3314700"/>
            <a:chOff x="672" y="1728"/>
            <a:chExt cx="3767" cy="2088"/>
          </a:xfrm>
        </p:grpSpPr>
        <p:sp>
          <p:nvSpPr>
            <p:cNvPr id="6" name="Line 53">
              <a:extLst>
                <a:ext uri="{FF2B5EF4-FFF2-40B4-BE49-F238E27FC236}">
                  <a16:creationId xmlns:a16="http://schemas.microsoft.com/office/drawing/2014/main" id="{71B481F3-4C67-7A80-C411-80E34ABA86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0" y="2402"/>
              <a:ext cx="51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7" name="Text Box 32">
              <a:extLst>
                <a:ext uri="{FF2B5EF4-FFF2-40B4-BE49-F238E27FC236}">
                  <a16:creationId xmlns:a16="http://schemas.microsoft.com/office/drawing/2014/main" id="{F24E5913-F390-786A-C970-D6F7C195C5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7" y="2182"/>
              <a:ext cx="1834" cy="311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   </a:t>
              </a: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保留被中断程序的现场</a:t>
              </a:r>
            </a:p>
          </p:txBody>
        </p:sp>
        <p:sp>
          <p:nvSpPr>
            <p:cNvPr id="8" name="Text Box 33">
              <a:extLst>
                <a:ext uri="{FF2B5EF4-FFF2-40B4-BE49-F238E27FC236}">
                  <a16:creationId xmlns:a16="http://schemas.microsoft.com/office/drawing/2014/main" id="{20A73D4B-8251-3F82-45B0-7831F49AAC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7" y="2654"/>
              <a:ext cx="1834" cy="326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  </a:t>
              </a: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进入相应的中断服务例程</a:t>
              </a:r>
            </a:p>
          </p:txBody>
        </p:sp>
        <p:sp>
          <p:nvSpPr>
            <p:cNvPr id="9" name="Text Box 34">
              <a:extLst>
                <a:ext uri="{FF2B5EF4-FFF2-40B4-BE49-F238E27FC236}">
                  <a16:creationId xmlns:a16="http://schemas.microsoft.com/office/drawing/2014/main" id="{3B398CE6-36D8-8A58-9CCB-AD94D90D3B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7" y="3144"/>
              <a:ext cx="1834" cy="326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    </a:t>
              </a: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恢复被中断程序的现场</a:t>
              </a:r>
            </a:p>
          </p:txBody>
        </p:sp>
        <p:sp>
          <p:nvSpPr>
            <p:cNvPr id="10" name="Line 35">
              <a:extLst>
                <a:ext uri="{FF2B5EF4-FFF2-40B4-BE49-F238E27FC236}">
                  <a16:creationId xmlns:a16="http://schemas.microsoft.com/office/drawing/2014/main" id="{C038244D-9DD9-0199-AB79-D18705AF17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1" y="1917"/>
              <a:ext cx="0" cy="26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11" name="Rectangle 36">
              <a:extLst>
                <a:ext uri="{FF2B5EF4-FFF2-40B4-BE49-F238E27FC236}">
                  <a16:creationId xmlns:a16="http://schemas.microsoft.com/office/drawing/2014/main" id="{6DA0AA4D-48CA-F834-17D8-A060554C5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" y="2218"/>
              <a:ext cx="548" cy="703"/>
            </a:xfrm>
            <a:prstGeom prst="rect">
              <a:avLst/>
            </a:prstGeom>
            <a:solidFill>
              <a:srgbClr val="99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914400" indent="-341313">
                <a:buFont typeface="Wingdings" pitchFamily="2" charset="2"/>
                <a:buBlip>
                  <a:blip r:embed="rId2"/>
                </a:buBlip>
                <a:defRPr/>
              </a:pPr>
              <a:endParaRPr lang="zh-CN" altLang="zh-CN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12" name="Line 37">
              <a:extLst>
                <a:ext uri="{FF2B5EF4-FFF2-40B4-BE49-F238E27FC236}">
                  <a16:creationId xmlns:a16="http://schemas.microsoft.com/office/drawing/2014/main" id="{72FFA38A-535D-1F20-A0BF-BB8ABE843B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4" y="1923"/>
              <a:ext cx="122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13" name="Line 38">
              <a:extLst>
                <a:ext uri="{FF2B5EF4-FFF2-40B4-BE49-F238E27FC236}">
                  <a16:creationId xmlns:a16="http://schemas.microsoft.com/office/drawing/2014/main" id="{158AB7D8-B500-FFFE-897F-7AF3509E8B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9" y="1728"/>
              <a:ext cx="0" cy="20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14" name="Text Box 39">
              <a:extLst>
                <a:ext uri="{FF2B5EF4-FFF2-40B4-BE49-F238E27FC236}">
                  <a16:creationId xmlns:a16="http://schemas.microsoft.com/office/drawing/2014/main" id="{FE0AB485-236C-4E01-10C6-782AA7028E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5" y="2545"/>
              <a:ext cx="494" cy="4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中断</a:t>
              </a:r>
            </a:p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返回</a:t>
              </a:r>
            </a:p>
          </p:txBody>
        </p:sp>
        <p:sp>
          <p:nvSpPr>
            <p:cNvPr id="15" name="Text Box 40">
              <a:extLst>
                <a:ext uri="{FF2B5EF4-FFF2-40B4-BE49-F238E27FC236}">
                  <a16:creationId xmlns:a16="http://schemas.microsoft.com/office/drawing/2014/main" id="{EAED7858-ACCC-4F69-9AC2-C84CCC66F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4" y="1945"/>
              <a:ext cx="446" cy="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中断进入</a:t>
              </a:r>
            </a:p>
          </p:txBody>
        </p:sp>
        <p:sp>
          <p:nvSpPr>
            <p:cNvPr id="16" name="Text Box 41">
              <a:extLst>
                <a:ext uri="{FF2B5EF4-FFF2-40B4-BE49-F238E27FC236}">
                  <a16:creationId xmlns:a16="http://schemas.microsoft.com/office/drawing/2014/main" id="{A3DACB64-F838-ADFA-79F8-36DDC33047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72"/>
              <a:ext cx="3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k+0</a:t>
              </a:r>
            </a:p>
          </p:txBody>
        </p:sp>
        <p:sp>
          <p:nvSpPr>
            <p:cNvPr id="17" name="Text Box 42">
              <a:extLst>
                <a:ext uri="{FF2B5EF4-FFF2-40B4-BE49-F238E27FC236}">
                  <a16:creationId xmlns:a16="http://schemas.microsoft.com/office/drawing/2014/main" id="{AD94270D-8E54-A538-D572-1006F6885F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9" y="2989"/>
              <a:ext cx="743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现行程序</a:t>
              </a:r>
            </a:p>
          </p:txBody>
        </p:sp>
        <p:sp>
          <p:nvSpPr>
            <p:cNvPr id="18" name="Text Box 43">
              <a:extLst>
                <a:ext uri="{FF2B5EF4-FFF2-40B4-BE49-F238E27FC236}">
                  <a16:creationId xmlns:a16="http://schemas.microsoft.com/office/drawing/2014/main" id="{EDB6C6F4-9D07-6424-4A3E-547CC608AF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496"/>
              <a:ext cx="3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k+1</a:t>
              </a:r>
            </a:p>
          </p:txBody>
        </p:sp>
        <p:sp>
          <p:nvSpPr>
            <p:cNvPr id="19" name="Line 44">
              <a:extLst>
                <a:ext uri="{FF2B5EF4-FFF2-40B4-BE49-F238E27FC236}">
                  <a16:creationId xmlns:a16="http://schemas.microsoft.com/office/drawing/2014/main" id="{6648A0AF-C60D-8F11-FC26-3D13DEAE5E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9" y="2490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0" name="Line 45">
              <a:extLst>
                <a:ext uri="{FF2B5EF4-FFF2-40B4-BE49-F238E27FC236}">
                  <a16:creationId xmlns:a16="http://schemas.microsoft.com/office/drawing/2014/main" id="{56A161D4-F87B-1BBD-1611-66047383F0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9" y="2980"/>
              <a:ext cx="0" cy="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1" name="Line 46">
              <a:extLst>
                <a:ext uri="{FF2B5EF4-FFF2-40B4-BE49-F238E27FC236}">
                  <a16:creationId xmlns:a16="http://schemas.microsoft.com/office/drawing/2014/main" id="{E1400530-64F4-7B69-5F6E-73EB1541F2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9" y="3470"/>
              <a:ext cx="0" cy="1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2" name="Line 47">
              <a:extLst>
                <a:ext uri="{FF2B5EF4-FFF2-40B4-BE49-F238E27FC236}">
                  <a16:creationId xmlns:a16="http://schemas.microsoft.com/office/drawing/2014/main" id="{07E7AC2B-66AC-C769-5F5E-2BD15F9921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3" y="3631"/>
              <a:ext cx="122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3" name="Line 48">
              <a:extLst>
                <a:ext uri="{FF2B5EF4-FFF2-40B4-BE49-F238E27FC236}">
                  <a16:creationId xmlns:a16="http://schemas.microsoft.com/office/drawing/2014/main" id="{442DB77B-495F-CB23-2124-A010859D1A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9" y="1728"/>
              <a:ext cx="22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4" name="Line 49">
              <a:extLst>
                <a:ext uri="{FF2B5EF4-FFF2-40B4-BE49-F238E27FC236}">
                  <a16:creationId xmlns:a16="http://schemas.microsoft.com/office/drawing/2014/main" id="{17452F09-337D-4AD4-D790-1E17A705EF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9" y="3815"/>
              <a:ext cx="22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5" name="Line 50">
              <a:extLst>
                <a:ext uri="{FF2B5EF4-FFF2-40B4-BE49-F238E27FC236}">
                  <a16:creationId xmlns:a16="http://schemas.microsoft.com/office/drawing/2014/main" id="{B5184492-ECF9-06EF-C78E-141729A54F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9" y="1728"/>
              <a:ext cx="0" cy="20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6" name="Line 51">
              <a:extLst>
                <a:ext uri="{FF2B5EF4-FFF2-40B4-BE49-F238E27FC236}">
                  <a16:creationId xmlns:a16="http://schemas.microsoft.com/office/drawing/2014/main" id="{A91B5D2E-D207-900C-E857-EBADDC65C9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5" y="1917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7" name="Line 52">
              <a:extLst>
                <a:ext uri="{FF2B5EF4-FFF2-40B4-BE49-F238E27FC236}">
                  <a16:creationId xmlns:a16="http://schemas.microsoft.com/office/drawing/2014/main" id="{4B80CA25-ADAE-D7F0-B068-5FA4627FCA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3" y="2545"/>
              <a:ext cx="0" cy="10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8" name="Line 54">
              <a:extLst>
                <a:ext uri="{FF2B5EF4-FFF2-40B4-BE49-F238E27FC236}">
                  <a16:creationId xmlns:a16="http://schemas.microsoft.com/office/drawing/2014/main" id="{780FD935-77F6-F632-CAD8-BA0F3B7B3B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2" y="2545"/>
              <a:ext cx="51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none" w="sm" len="med"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29" name="Text Box 57">
            <a:extLst>
              <a:ext uri="{FF2B5EF4-FFF2-40B4-BE49-F238E27FC236}">
                <a16:creationId xmlns:a16="http://schemas.microsoft.com/office/drawing/2014/main" id="{9A9597C3-DC6F-09E2-7E8F-093652169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1365" y="6139731"/>
            <a:ext cx="245247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Ø"/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Ø"/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Ø"/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Ø"/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 typeface="Wingdings" pitchFamily="2" charset="2"/>
              <a:buNone/>
            </a:pPr>
            <a:r>
              <a: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中断处理过程示意图</a:t>
            </a:r>
          </a:p>
        </p:txBody>
      </p:sp>
    </p:spTree>
    <p:extLst>
      <p:ext uri="{BB962C8B-B14F-4D97-AF65-F5344CB8AC3E}">
        <p14:creationId xmlns:p14="http://schemas.microsoft.com/office/powerpoint/2010/main" val="1848351004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E39068-5685-C0D0-75DD-D50D7C022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中断的分类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6E0097-9804-0067-BC6B-D74926BEB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9"/>
            <a:ext cx="7772400" cy="1414458"/>
          </a:xfrm>
        </p:spPr>
        <p:txBody>
          <a:bodyPr>
            <a:normAutofit fontScale="92500" lnSpcReduction="20000"/>
          </a:bodyPr>
          <a:lstStyle/>
          <a:p>
            <a:r>
              <a:rPr kumimoji="1" lang="zh-CN" altLang="en-US" dirty="0"/>
              <a:t>按中断来源分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中断：</a:t>
            </a: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由处理机外部事件引起的中断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trap</a:t>
            </a:r>
            <a:r>
              <a:rPr kumimoji="1" lang="zh-CN" altLang="en-US" dirty="0"/>
              <a:t>：</a:t>
            </a: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由处理机内部事件引起的中断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92F7C4-9689-9D57-DF67-BECD18F74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22</a:t>
            </a:fld>
            <a:endParaRPr lang="zh-CN" altLang="en-US" dirty="0"/>
          </a:p>
        </p:txBody>
      </p:sp>
      <p:grpSp>
        <p:nvGrpSpPr>
          <p:cNvPr id="5" name="Group 43">
            <a:extLst>
              <a:ext uri="{FF2B5EF4-FFF2-40B4-BE49-F238E27FC236}">
                <a16:creationId xmlns:a16="http://schemas.microsoft.com/office/drawing/2014/main" id="{5408874B-B48E-C2D3-8820-C0BA7D22B05B}"/>
              </a:ext>
            </a:extLst>
          </p:cNvPr>
          <p:cNvGrpSpPr>
            <a:grpSpLocks/>
          </p:cNvGrpSpPr>
          <p:nvPr/>
        </p:nvGrpSpPr>
        <p:grpSpPr bwMode="auto">
          <a:xfrm>
            <a:off x="742950" y="2785256"/>
            <a:ext cx="7507288" cy="3848100"/>
            <a:chOff x="414" y="1479"/>
            <a:chExt cx="4729" cy="2424"/>
          </a:xfrm>
        </p:grpSpPr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0B3CF2DB-DDB0-A3A3-0AFE-D22FBD5837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8" y="2346"/>
              <a:ext cx="0" cy="33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CCBA23DD-2139-470D-94EF-131945D586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9" y="2347"/>
              <a:ext cx="196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00F374FB-B663-8D8A-C31C-63502C264B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5" y="2341"/>
              <a:ext cx="174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2518C261-628F-DD06-5243-E4F1602D79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0" y="2390"/>
              <a:ext cx="322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  <a:sym typeface="Symbol" pitchFamily="2" charset="2"/>
                </a:rPr>
                <a:t></a:t>
              </a:r>
              <a:endParaRPr kumimoji="1" lang="en-US" altLang="zh-CN" sz="1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FCD23A4C-5EB8-ADAB-8A03-1A4E88975F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1" y="2346"/>
              <a:ext cx="0" cy="33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AD0AAD8A-7E51-E5CB-5C26-42797FD525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3" y="2346"/>
              <a:ext cx="0" cy="33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8EEA80FD-3A98-218A-4136-1619AFFF03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6" y="2346"/>
              <a:ext cx="0" cy="33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048C33DA-8750-426D-8232-002C1ABB21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8" y="3010"/>
              <a:ext cx="0" cy="33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BFCDE56D-6505-A996-9D6B-81DA240118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3" y="2653"/>
              <a:ext cx="462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trap</a:t>
              </a:r>
            </a:p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指令</a:t>
              </a:r>
              <a:endParaRPr kumimoji="1" lang="zh-CN" altLang="en-US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AE286C51-ECD4-3608-DB70-01F945A339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6" y="2653"/>
              <a:ext cx="463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浮点</a:t>
              </a:r>
              <a:endParaRPr kumimoji="1"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溢出</a:t>
              </a:r>
              <a:endParaRPr kumimoji="1"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5394C211-D8BE-212C-582A-79AA6A7213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" y="2653"/>
              <a:ext cx="462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地址</a:t>
              </a:r>
              <a:endParaRPr kumimoji="1" lang="en-US" altLang="en-US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越界</a:t>
              </a:r>
              <a:endParaRPr kumimoji="1" lang="zh-CN" altLang="en-US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F529FCD5-53DA-87D9-C100-F2CE69D69A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0" y="2653"/>
              <a:ext cx="462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非法</a:t>
              </a:r>
              <a:endParaRPr kumimoji="1" lang="en-US" altLang="en-US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指令</a:t>
              </a:r>
              <a:endParaRPr kumimoji="1" lang="zh-CN" altLang="en-US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9272B89D-2D76-E165-6936-01D1B2945B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4" y="3360"/>
              <a:ext cx="13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7CA14CAE-D72E-D954-AB04-CC5080BA4D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9" y="3360"/>
              <a:ext cx="0" cy="33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684474A6-6163-915A-CA95-0BC7308639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3" y="3360"/>
              <a:ext cx="0" cy="33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76000408-1C72-65F4-1265-5241E6786A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3" y="3360"/>
              <a:ext cx="0" cy="33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CAAE6024-C179-4BF9-EDA1-D42F604BBD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4" y="3360"/>
              <a:ext cx="0" cy="33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3" name="Text Box 23">
              <a:extLst>
                <a:ext uri="{FF2B5EF4-FFF2-40B4-BE49-F238E27FC236}">
                  <a16:creationId xmlns:a16="http://schemas.microsoft.com/office/drawing/2014/main" id="{66C79B9C-A2F3-795A-A19E-00BB5EC916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3" y="3710"/>
              <a:ext cx="36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exit</a:t>
              </a:r>
            </a:p>
          </p:txBody>
        </p:sp>
        <p:sp>
          <p:nvSpPr>
            <p:cNvPr id="24" name="Text Box 24">
              <a:extLst>
                <a:ext uri="{FF2B5EF4-FFF2-40B4-BE49-F238E27FC236}">
                  <a16:creationId xmlns:a16="http://schemas.microsoft.com/office/drawing/2014/main" id="{04EF3CA4-6E30-34B6-1AC0-8420519EC1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9" y="3710"/>
              <a:ext cx="36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fork</a:t>
              </a:r>
            </a:p>
          </p:txBody>
        </p:sp>
        <p:sp>
          <p:nvSpPr>
            <p:cNvPr id="25" name="Text Box 25">
              <a:extLst>
                <a:ext uri="{FF2B5EF4-FFF2-40B4-BE49-F238E27FC236}">
                  <a16:creationId xmlns:a16="http://schemas.microsoft.com/office/drawing/2014/main" id="{3B42090F-9C19-F40F-A64D-3A2E6B7578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4" y="3710"/>
              <a:ext cx="416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read</a:t>
              </a:r>
            </a:p>
          </p:txBody>
        </p:sp>
        <p:sp>
          <p:nvSpPr>
            <p:cNvPr id="26" name="Text Box 26">
              <a:extLst>
                <a:ext uri="{FF2B5EF4-FFF2-40B4-BE49-F238E27FC236}">
                  <a16:creationId xmlns:a16="http://schemas.microsoft.com/office/drawing/2014/main" id="{136427E5-6B64-4573-0267-9DF694977D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4" y="3386"/>
              <a:ext cx="32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  <a:sym typeface="Symbol" pitchFamily="2" charset="2"/>
                </a:rPr>
                <a:t></a:t>
              </a:r>
              <a:endParaRPr kumimoji="1" lang="en-US" altLang="zh-CN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5A824C8D-0EEE-1865-CD61-890E78870A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1" y="1996"/>
              <a:ext cx="0" cy="33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8" name="Line 28">
              <a:extLst>
                <a:ext uri="{FF2B5EF4-FFF2-40B4-BE49-F238E27FC236}">
                  <a16:creationId xmlns:a16="http://schemas.microsoft.com/office/drawing/2014/main" id="{FDF9068B-3B8B-94C7-B1D7-5A66979E58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6" y="1996"/>
              <a:ext cx="0" cy="33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9" name="Line 29">
              <a:extLst>
                <a:ext uri="{FF2B5EF4-FFF2-40B4-BE49-F238E27FC236}">
                  <a16:creationId xmlns:a16="http://schemas.microsoft.com/office/drawing/2014/main" id="{6251D416-39F6-592F-2C18-66B67C097E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5" y="2346"/>
              <a:ext cx="0" cy="33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30" name="Line 30">
              <a:extLst>
                <a:ext uri="{FF2B5EF4-FFF2-40B4-BE49-F238E27FC236}">
                  <a16:creationId xmlns:a16="http://schemas.microsoft.com/office/drawing/2014/main" id="{6717C660-937F-903E-B903-C4E6DA7680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7" y="2346"/>
              <a:ext cx="0" cy="33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31" name="Line 31">
              <a:extLst>
                <a:ext uri="{FF2B5EF4-FFF2-40B4-BE49-F238E27FC236}">
                  <a16:creationId xmlns:a16="http://schemas.microsoft.com/office/drawing/2014/main" id="{2CE7B571-39CA-97AD-1424-378EFC0E58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6" y="2346"/>
              <a:ext cx="0" cy="33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32" name="Line 32">
              <a:extLst>
                <a:ext uri="{FF2B5EF4-FFF2-40B4-BE49-F238E27FC236}">
                  <a16:creationId xmlns:a16="http://schemas.microsoft.com/office/drawing/2014/main" id="{78638833-3E38-1520-C528-41E0EEEA2C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2" y="2346"/>
              <a:ext cx="0" cy="33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33" name="Text Box 33">
              <a:extLst>
                <a:ext uri="{FF2B5EF4-FFF2-40B4-BE49-F238E27FC236}">
                  <a16:creationId xmlns:a16="http://schemas.microsoft.com/office/drawing/2014/main" id="{70950870-DD05-7954-0CD4-F7E08937C0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" y="2653"/>
              <a:ext cx="462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clock</a:t>
              </a:r>
            </a:p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时钟</a:t>
              </a:r>
              <a:endParaRPr kumimoji="1" lang="zh-CN" altLang="en-US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" name="Text Box 34">
              <a:extLst>
                <a:ext uri="{FF2B5EF4-FFF2-40B4-BE49-F238E27FC236}">
                  <a16:creationId xmlns:a16="http://schemas.microsoft.com/office/drawing/2014/main" id="{E30E7A64-7B8B-C1ED-1162-172E025A8F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2" y="2653"/>
              <a:ext cx="462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en-US" altLang="zh-CN" sz="14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  </a:t>
              </a:r>
              <a:r>
                <a:rPr kumimoji="1"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rk</a:t>
              </a:r>
            </a:p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磁盘</a:t>
              </a:r>
            </a:p>
          </p:txBody>
        </p:sp>
        <p:sp>
          <p:nvSpPr>
            <p:cNvPr id="35" name="Text Box 35">
              <a:extLst>
                <a:ext uri="{FF2B5EF4-FFF2-40B4-BE49-F238E27FC236}">
                  <a16:creationId xmlns:a16="http://schemas.microsoft.com/office/drawing/2014/main" id="{D6E7A349-1ACD-4186-F1FE-C5FF67AB35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4" y="2653"/>
              <a:ext cx="463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en-US" altLang="zh-CN" sz="14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  </a:t>
              </a:r>
              <a:r>
                <a:rPr kumimoji="1"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tty</a:t>
              </a:r>
            </a:p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终端</a:t>
              </a:r>
            </a:p>
          </p:txBody>
        </p:sp>
        <p:sp>
          <p:nvSpPr>
            <p:cNvPr id="36" name="Text Box 36">
              <a:extLst>
                <a:ext uri="{FF2B5EF4-FFF2-40B4-BE49-F238E27FC236}">
                  <a16:creationId xmlns:a16="http://schemas.microsoft.com/office/drawing/2014/main" id="{416B7F24-4EE1-91CB-B21F-00BECA7D05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8" y="2410"/>
              <a:ext cx="322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  <a:sym typeface="Symbol" pitchFamily="2" charset="2"/>
                </a:rPr>
                <a:t></a:t>
              </a:r>
              <a:endParaRPr kumimoji="1" lang="en-US" altLang="zh-CN" sz="1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" name="Line 37">
              <a:extLst>
                <a:ext uri="{FF2B5EF4-FFF2-40B4-BE49-F238E27FC236}">
                  <a16:creationId xmlns:a16="http://schemas.microsoft.com/office/drawing/2014/main" id="{0983D343-0976-5DC9-9EED-EBFFC35379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6" y="1996"/>
              <a:ext cx="21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38" name="Line 38">
              <a:extLst>
                <a:ext uri="{FF2B5EF4-FFF2-40B4-BE49-F238E27FC236}">
                  <a16:creationId xmlns:a16="http://schemas.microsoft.com/office/drawing/2014/main" id="{7854F49B-E40D-66DC-7892-611851B78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2" y="1654"/>
              <a:ext cx="0" cy="3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39" name="Text Box 39">
              <a:extLst>
                <a:ext uri="{FF2B5EF4-FFF2-40B4-BE49-F238E27FC236}">
                  <a16:creationId xmlns:a16="http://schemas.microsoft.com/office/drawing/2014/main" id="{AFBEB934-723B-1261-7EE6-C98791A346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9" y="1479"/>
              <a:ext cx="101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中断与陷阱</a:t>
              </a:r>
            </a:p>
          </p:txBody>
        </p:sp>
        <p:sp>
          <p:nvSpPr>
            <p:cNvPr id="40" name="Text Box 40">
              <a:extLst>
                <a:ext uri="{FF2B5EF4-FFF2-40B4-BE49-F238E27FC236}">
                  <a16:creationId xmlns:a16="http://schemas.microsoft.com/office/drawing/2014/main" id="{EE5443CB-76A7-8274-99A3-6E10CD76FA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2005"/>
              <a:ext cx="46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中断</a:t>
              </a:r>
            </a:p>
          </p:txBody>
        </p:sp>
        <p:sp>
          <p:nvSpPr>
            <p:cNvPr id="41" name="Text Box 41">
              <a:extLst>
                <a:ext uri="{FF2B5EF4-FFF2-40B4-BE49-F238E27FC236}">
                  <a16:creationId xmlns:a16="http://schemas.microsoft.com/office/drawing/2014/main" id="{D2D71CEB-12F4-C8AB-A9EF-279EC1BFDB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8" y="2005"/>
              <a:ext cx="50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陷阱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9026083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554C5A-BF4C-2B65-6A80-DCAE32986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中断的分类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6ADA2-984D-7E33-40FD-81783566E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7772400" cy="5091112"/>
          </a:xfrm>
        </p:spPr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按中断功能分类</a:t>
            </a:r>
            <a:endParaRPr kumimoji="1" lang="en-US" altLang="zh-CN" dirty="0"/>
          </a:p>
          <a:p>
            <a:pPr lvl="1"/>
            <a:r>
              <a:rPr lang="zh-CN" altLang="en-US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输入输出中断：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I/O</a:t>
            </a: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传输结束或出错中断</a:t>
            </a:r>
            <a:endParaRPr kumimoji="1" lang="en-US" altLang="zh-CN" sz="2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lvl="1"/>
            <a:r>
              <a:rPr lang="zh-CN" altLang="en-US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外中断：</a:t>
            </a: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时钟中断、操作员控制台中断、通信中断等</a:t>
            </a:r>
          </a:p>
          <a:p>
            <a:pPr lvl="1"/>
            <a:r>
              <a:rPr lang="zh-CN" altLang="en-US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机器故障中断：</a:t>
            </a: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电源故障、主存取指令错等</a:t>
            </a:r>
          </a:p>
          <a:p>
            <a:pPr lvl="1"/>
            <a:r>
              <a:rPr lang="zh-CN" altLang="en-US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程序性中断：</a:t>
            </a: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定点溢出、用户态下用内核态指令</a:t>
            </a:r>
            <a:endParaRPr lang="en-US" altLang="zh-CN" sz="2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lvl="1"/>
            <a:r>
              <a:rPr lang="zh-CN" altLang="en-US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访管中断：</a:t>
            </a: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对操作系统提出某种需求时所发出的中断、非法操作有时也被称为系统调</a:t>
            </a:r>
            <a:r>
              <a:rPr lang="zh-CN" altLang="en-US" sz="2800" dirty="0">
                <a:latin typeface="Times New Roman" panose="02020603050405020304" pitchFamily="18" charset="0"/>
              </a:rPr>
              <a:t>用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System Call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zh-CN" altLang="e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陷阱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Trap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或者软件中断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Software Interrupt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119F36-B997-D37B-9AEF-FCF4B14EC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9818390"/>
      </p:ext>
    </p:extLst>
  </p:cSld>
  <p:clrMapOvr>
    <a:masterClrMapping/>
  </p:clrMapOvr>
  <p:transition spd="med"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A92883-D98B-03B0-2D42-CFC4E9AF6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中断的分类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291B31-25BD-D69A-FD70-20F47D6FA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按中断方式分类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强迫性中断</a:t>
            </a:r>
            <a:endParaRPr kumimoji="1" lang="en-US" altLang="zh-CN" dirty="0"/>
          </a:p>
          <a:p>
            <a:pPr lvl="2"/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不是正在运行的程序所期待的中断，如：输入输出中断、外中断、机器故障中断、程序性中断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自愿中断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是运行程序所期待的事件。如：访管中断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7470C9-574C-A8AF-C5A2-2780B0E47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6656082"/>
      </p:ext>
    </p:extLst>
  </p:cSld>
  <p:clrMapOvr>
    <a:masterClrMapping/>
  </p:clrMapOvr>
  <p:transition spd="med"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60A599-D271-244D-AC93-6BD553628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CCC513-F508-086C-12D8-40CF970C2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什么是系统调用？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3746BE-7452-3019-5EEA-6C14C2182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25</a:t>
            </a:fld>
            <a:endParaRPr lang="zh-CN" altLang="en-US" dirty="0"/>
          </a:p>
        </p:txBody>
      </p:sp>
      <p:grpSp>
        <p:nvGrpSpPr>
          <p:cNvPr id="5" name="Group 25">
            <a:extLst>
              <a:ext uri="{FF2B5EF4-FFF2-40B4-BE49-F238E27FC236}">
                <a16:creationId xmlns:a16="http://schemas.microsoft.com/office/drawing/2014/main" id="{15C8CC0D-B290-1082-D4A3-2F8AD03A81C5}"/>
              </a:ext>
            </a:extLst>
          </p:cNvPr>
          <p:cNvGrpSpPr>
            <a:grpSpLocks/>
          </p:cNvGrpSpPr>
          <p:nvPr/>
        </p:nvGrpSpPr>
        <p:grpSpPr bwMode="auto">
          <a:xfrm>
            <a:off x="1545059" y="1987723"/>
            <a:ext cx="5619229" cy="3615793"/>
            <a:chOff x="940" y="970"/>
            <a:chExt cx="2950" cy="1679"/>
          </a:xfrm>
        </p:grpSpPr>
        <p:sp>
          <p:nvSpPr>
            <p:cNvPr id="6" name="Text Box 7">
              <a:extLst>
                <a:ext uri="{FF2B5EF4-FFF2-40B4-BE49-F238E27FC236}">
                  <a16:creationId xmlns:a16="http://schemas.microsoft.com/office/drawing/2014/main" id="{78E368A1-1F20-3946-DE3F-31B73B301A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0" y="1311"/>
              <a:ext cx="292" cy="6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应</a:t>
              </a:r>
            </a:p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用</a:t>
              </a:r>
            </a:p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程</a:t>
              </a:r>
            </a:p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序</a:t>
              </a:r>
            </a:p>
          </p:txBody>
        </p:sp>
        <p:sp>
          <p:nvSpPr>
            <p:cNvPr id="7" name="Line 9">
              <a:extLst>
                <a:ext uri="{FF2B5EF4-FFF2-40B4-BE49-F238E27FC236}">
                  <a16:creationId xmlns:a16="http://schemas.microsoft.com/office/drawing/2014/main" id="{4F1810F4-4EAC-2F56-6EF2-AAB5B098A8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8" y="1713"/>
              <a:ext cx="908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8" name="Text Box 10">
              <a:extLst>
                <a:ext uri="{FF2B5EF4-FFF2-40B4-BE49-F238E27FC236}">
                  <a16:creationId xmlns:a16="http://schemas.microsoft.com/office/drawing/2014/main" id="{956E8DFF-F698-9DB4-18FB-68D66C5095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4" y="1467"/>
              <a:ext cx="73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en-US" altLang="zh-CN" sz="1600" b="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zh-CN" altLang="en-US" sz="1800" b="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系统调用 </a:t>
              </a:r>
            </a:p>
          </p:txBody>
        </p:sp>
        <p:sp>
          <p:nvSpPr>
            <p:cNvPr id="9" name="Line 11">
              <a:extLst>
                <a:ext uri="{FF2B5EF4-FFF2-40B4-BE49-F238E27FC236}">
                  <a16:creationId xmlns:a16="http://schemas.microsoft.com/office/drawing/2014/main" id="{C7ADFABE-7226-A5EB-60A0-5F80A73DDB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4" y="970"/>
              <a:ext cx="0" cy="16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grpSp>
          <p:nvGrpSpPr>
            <p:cNvPr id="10" name="Group 21">
              <a:extLst>
                <a:ext uri="{FF2B5EF4-FFF2-40B4-BE49-F238E27FC236}">
                  <a16:creationId xmlns:a16="http://schemas.microsoft.com/office/drawing/2014/main" id="{857F51D9-5576-D075-1551-EB1C1759E2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5" y="1195"/>
              <a:ext cx="1385" cy="1002"/>
              <a:chOff x="2505" y="1195"/>
              <a:chExt cx="1385" cy="1002"/>
            </a:xfrm>
          </p:grpSpPr>
          <p:sp>
            <p:nvSpPr>
              <p:cNvPr id="12" name="Text Box 13">
                <a:extLst>
                  <a:ext uri="{FF2B5EF4-FFF2-40B4-BE49-F238E27FC236}">
                    <a16:creationId xmlns:a16="http://schemas.microsoft.com/office/drawing/2014/main" id="{8B50536C-A19E-7716-F4AD-C47B5F59A0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05" y="1196"/>
                <a:ext cx="543" cy="342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buClrTx/>
                  <a:buSzTx/>
                  <a:buFontTx/>
                  <a:buNone/>
                </a:pPr>
                <a:r>
                  <a:rPr kumimoji="1" lang="zh-CN" altLang="en-US" sz="16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中  央</a:t>
                </a:r>
              </a:p>
              <a:p>
                <a:pPr eaLnBrk="1" hangingPunct="1">
                  <a:lnSpc>
                    <a:spcPct val="90000"/>
                  </a:lnSpc>
                  <a:buClrTx/>
                  <a:buSzTx/>
                  <a:buFontTx/>
                  <a:buNone/>
                </a:pPr>
                <a:r>
                  <a:rPr kumimoji="1" lang="zh-CN" altLang="en-US" sz="16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处理机</a:t>
                </a:r>
              </a:p>
            </p:txBody>
          </p:sp>
          <p:sp>
            <p:nvSpPr>
              <p:cNvPr id="13" name="Text Box 17">
                <a:extLst>
                  <a:ext uri="{FF2B5EF4-FFF2-40B4-BE49-F238E27FC236}">
                    <a16:creationId xmlns:a16="http://schemas.microsoft.com/office/drawing/2014/main" id="{B4F8A552-DD9F-1EB1-81D1-45928A5EB1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56" y="1195"/>
                <a:ext cx="525" cy="418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buClrTx/>
                  <a:buSzTx/>
                  <a:buFontTx/>
                  <a:buNone/>
                </a:pPr>
                <a:r>
                  <a:rPr kumimoji="1" lang="zh-CN" altLang="en-US" sz="16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存储器</a:t>
                </a:r>
              </a:p>
              <a:p>
                <a:pPr algn="l" eaLnBrk="1" hangingPunct="1">
                  <a:lnSpc>
                    <a:spcPct val="80000"/>
                  </a:lnSpc>
                  <a:buClrTx/>
                  <a:buSzTx/>
                  <a:buFontTx/>
                  <a:buNone/>
                </a:pPr>
                <a:endParaRPr kumimoji="1"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Text Box 18">
                <a:extLst>
                  <a:ext uri="{FF2B5EF4-FFF2-40B4-BE49-F238E27FC236}">
                    <a16:creationId xmlns:a16="http://schemas.microsoft.com/office/drawing/2014/main" id="{372182E3-D6D8-48B1-FC0A-29924D5E28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05" y="1854"/>
                <a:ext cx="543" cy="342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buClrTx/>
                  <a:buSzTx/>
                  <a:buFontTx/>
                  <a:buNone/>
                </a:pPr>
                <a:r>
                  <a:rPr kumimoji="1" lang="zh-CN" altLang="en-US" sz="1600" b="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外  部</a:t>
                </a:r>
              </a:p>
              <a:p>
                <a:pPr eaLnBrk="1" hangingPunct="1">
                  <a:lnSpc>
                    <a:spcPct val="90000"/>
                  </a:lnSpc>
                  <a:buClrTx/>
                  <a:buSzTx/>
                  <a:buFontTx/>
                  <a:buNone/>
                </a:pPr>
                <a:r>
                  <a:rPr kumimoji="1" lang="zh-CN" altLang="en-US" sz="1600" b="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设  备</a:t>
                </a:r>
              </a:p>
            </p:txBody>
          </p:sp>
          <p:sp>
            <p:nvSpPr>
              <p:cNvPr id="15" name="Text Box 19">
                <a:extLst>
                  <a:ext uri="{FF2B5EF4-FFF2-40B4-BE49-F238E27FC236}">
                    <a16:creationId xmlns:a16="http://schemas.microsoft.com/office/drawing/2014/main" id="{7A15C166-CB59-EB61-3BF9-00E990EDE4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47" y="1855"/>
                <a:ext cx="543" cy="342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buClrTx/>
                  <a:buSzTx/>
                  <a:buFontTx/>
                  <a:buNone/>
                </a:pPr>
                <a:r>
                  <a:rPr kumimoji="1" lang="zh-CN" altLang="en-US" sz="16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应  用</a:t>
                </a:r>
              </a:p>
              <a:p>
                <a:pPr eaLnBrk="1" hangingPunct="1">
                  <a:lnSpc>
                    <a:spcPct val="90000"/>
                  </a:lnSpc>
                  <a:buClrTx/>
                  <a:buSzTx/>
                  <a:buFontTx/>
                  <a:buNone/>
                </a:pPr>
                <a:r>
                  <a:rPr kumimoji="1" lang="zh-CN" altLang="en-US" sz="16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程  序</a:t>
                </a:r>
              </a:p>
            </p:txBody>
          </p:sp>
        </p:grpSp>
        <p:sp>
          <p:nvSpPr>
            <p:cNvPr id="11" name="Text Box 23">
              <a:extLst>
                <a:ext uri="{FF2B5EF4-FFF2-40B4-BE49-F238E27FC236}">
                  <a16:creationId xmlns:a16="http://schemas.microsoft.com/office/drawing/2014/main" id="{7D552304-6E06-85C1-C241-06A17EFDD3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6" y="2406"/>
              <a:ext cx="1526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914400" indent="-341313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sz="1600" dirty="0">
                  <a:solidFill>
                    <a:schemeClr val="tx1"/>
                  </a:solidFill>
                </a:rPr>
                <a:t>计算机系统部件</a:t>
              </a:r>
            </a:p>
          </p:txBody>
        </p:sp>
      </p:grpSp>
      <p:sp>
        <p:nvSpPr>
          <p:cNvPr id="16" name="Text Box 26">
            <a:extLst>
              <a:ext uri="{FF2B5EF4-FFF2-40B4-BE49-F238E27FC236}">
                <a16:creationId xmlns:a16="http://schemas.microsoft.com/office/drawing/2014/main" id="{5EF4381B-FC5A-C3E0-5E88-DC4F75811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7513" y="5836973"/>
            <a:ext cx="27088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Ø"/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Ø"/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Ø"/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Ø"/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系统调用示意图</a:t>
            </a:r>
          </a:p>
        </p:txBody>
      </p:sp>
    </p:spTree>
    <p:extLst>
      <p:ext uri="{BB962C8B-B14F-4D97-AF65-F5344CB8AC3E}">
        <p14:creationId xmlns:p14="http://schemas.microsoft.com/office/powerpoint/2010/main" val="639346846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C05A1C-5BFA-5039-D4CC-E395F6798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217D58-6197-7057-053E-D1BCD98E8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是操作系统提供的服务的编程接口</a:t>
            </a:r>
          </a:p>
          <a:p>
            <a:r>
              <a:rPr kumimoji="1" lang="zh-CN" altLang="en-US" dirty="0"/>
              <a:t>通常用高级语言（如 </a:t>
            </a:r>
            <a:r>
              <a:rPr kumimoji="1" lang="en" altLang="zh-CN" dirty="0"/>
              <a:t>C </a:t>
            </a:r>
            <a:r>
              <a:rPr kumimoji="1" lang="zh-CN" altLang="en-US" dirty="0"/>
              <a:t>或 </a:t>
            </a:r>
            <a:r>
              <a:rPr kumimoji="1" lang="en" altLang="zh-CN" dirty="0"/>
              <a:t>C++</a:t>
            </a:r>
            <a:r>
              <a:rPr kumimoji="1" lang="zh-CN" altLang="en" dirty="0"/>
              <a:t>）</a:t>
            </a:r>
            <a:r>
              <a:rPr kumimoji="1" lang="zh-CN" altLang="en-US" dirty="0"/>
              <a:t>编写</a:t>
            </a:r>
          </a:p>
          <a:p>
            <a:r>
              <a:rPr kumimoji="1" lang="zh-CN" altLang="en-US" dirty="0"/>
              <a:t>大多数程序通过高级应用程序编程接口（</a:t>
            </a:r>
            <a:r>
              <a:rPr kumimoji="1" lang="en" altLang="zh-CN" dirty="0"/>
              <a:t>API</a:t>
            </a:r>
            <a:r>
              <a:rPr kumimoji="1" lang="zh-CN" altLang="en" dirty="0"/>
              <a:t>）</a:t>
            </a:r>
            <a:r>
              <a:rPr kumimoji="1" lang="zh-CN" altLang="en-US" dirty="0"/>
              <a:t>而不是直接使用系统调用</a:t>
            </a:r>
          </a:p>
          <a:p>
            <a:r>
              <a:rPr kumimoji="1" lang="zh-CN" altLang="en-US" dirty="0"/>
              <a:t>最常见的三个 </a:t>
            </a:r>
            <a:r>
              <a:rPr kumimoji="1" lang="en" altLang="zh-CN" dirty="0"/>
              <a:t>API</a:t>
            </a:r>
            <a:r>
              <a:rPr kumimoji="1" lang="zh-CN" altLang="en-US" dirty="0"/>
              <a:t>：</a:t>
            </a:r>
            <a:r>
              <a:rPr kumimoji="1" lang="en" altLang="zh-CN" dirty="0"/>
              <a:t>Windows </a:t>
            </a:r>
            <a:r>
              <a:rPr kumimoji="1" lang="zh-CN" altLang="en-US" dirty="0"/>
              <a:t>的 </a:t>
            </a:r>
            <a:r>
              <a:rPr kumimoji="1" lang="en" altLang="zh-CN" dirty="0"/>
              <a:t>Win32 API</a:t>
            </a:r>
            <a:r>
              <a:rPr kumimoji="1" lang="zh-CN" altLang="en" dirty="0"/>
              <a:t>，</a:t>
            </a:r>
            <a:r>
              <a:rPr kumimoji="1" lang="zh-CN" altLang="en-US" dirty="0"/>
              <a:t>基于 </a:t>
            </a:r>
            <a:r>
              <a:rPr kumimoji="1" lang="en" altLang="zh-CN" dirty="0"/>
              <a:t>POSIX </a:t>
            </a:r>
            <a:r>
              <a:rPr kumimoji="1" lang="zh-CN" altLang="en-US" dirty="0"/>
              <a:t>的系统（包括几乎所有版本的 </a:t>
            </a:r>
            <a:r>
              <a:rPr kumimoji="1" lang="en" altLang="zh-CN" dirty="0"/>
              <a:t>UNIX</a:t>
            </a:r>
            <a:r>
              <a:rPr kumimoji="1" lang="zh-CN" altLang="en" dirty="0"/>
              <a:t>、</a:t>
            </a:r>
            <a:r>
              <a:rPr kumimoji="1" lang="en" altLang="zh-CN" dirty="0"/>
              <a:t>Linux </a:t>
            </a:r>
            <a:r>
              <a:rPr kumimoji="1" lang="zh-CN" altLang="en-US" dirty="0"/>
              <a:t>和 </a:t>
            </a:r>
            <a:r>
              <a:rPr kumimoji="1" lang="en" altLang="zh-CN" dirty="0"/>
              <a:t>Mac OS X</a:t>
            </a:r>
            <a:r>
              <a:rPr kumimoji="1" lang="zh-CN" altLang="en" dirty="0"/>
              <a:t>）</a:t>
            </a:r>
            <a:r>
              <a:rPr kumimoji="1" lang="zh-CN" altLang="en-US" dirty="0"/>
              <a:t>的 </a:t>
            </a:r>
            <a:r>
              <a:rPr kumimoji="1" lang="en" altLang="zh-CN" dirty="0"/>
              <a:t>POSIX API</a:t>
            </a:r>
            <a:r>
              <a:rPr kumimoji="1" lang="zh-CN" altLang="en" dirty="0"/>
              <a:t>，</a:t>
            </a:r>
            <a:r>
              <a:rPr kumimoji="1" lang="zh-CN" altLang="en-US" dirty="0"/>
              <a:t>以及 </a:t>
            </a:r>
            <a:r>
              <a:rPr kumimoji="1" lang="en" altLang="zh-CN" dirty="0"/>
              <a:t>Java </a:t>
            </a:r>
            <a:r>
              <a:rPr kumimoji="1" lang="zh-CN" altLang="en-US" dirty="0"/>
              <a:t>虚拟机（</a:t>
            </a:r>
            <a:r>
              <a:rPr kumimoji="1" lang="en" altLang="zh-CN" dirty="0"/>
              <a:t>JVM</a:t>
            </a:r>
            <a:r>
              <a:rPr kumimoji="1" lang="zh-CN" altLang="en" dirty="0"/>
              <a:t>）</a:t>
            </a:r>
            <a:r>
              <a:rPr kumimoji="1" lang="zh-CN" altLang="en-US" dirty="0"/>
              <a:t>的 </a:t>
            </a:r>
            <a:r>
              <a:rPr kumimoji="1" lang="en" altLang="zh-CN" dirty="0"/>
              <a:t>Java API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BB4FC9-01CF-7F58-3EF3-9ACB14CB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9078408"/>
      </p:ext>
    </p:extLst>
  </p:cSld>
  <p:clrMapOvr>
    <a:masterClrMapping/>
  </p:clrMapOvr>
  <p:transition spd="med"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5A9548-E38F-5030-9804-4D675A981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E5D7CA-9FC1-F1BC-4DF9-2463BC392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如何调用操作系统服务？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通过</a:t>
            </a:r>
            <a:r>
              <a:rPr kumimoji="1" lang="en-US" altLang="zh-CN" dirty="0"/>
              <a:t>API</a:t>
            </a:r>
            <a:r>
              <a:rPr kumimoji="1" lang="zh-CN" altLang="en-US" dirty="0"/>
              <a:t>而不是直接访问系统调用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683C17-D553-D89D-46B0-10CBF708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27</a:t>
            </a:fld>
            <a:endParaRPr lang="zh-CN" altLang="en-US" dirty="0"/>
          </a:p>
        </p:txBody>
      </p:sp>
      <p:grpSp>
        <p:nvGrpSpPr>
          <p:cNvPr id="5" name="Group 34">
            <a:extLst>
              <a:ext uri="{FF2B5EF4-FFF2-40B4-BE49-F238E27FC236}">
                <a16:creationId xmlns:a16="http://schemas.microsoft.com/office/drawing/2014/main" id="{58D45615-6B8D-02BC-9F7C-712CB15BBEFD}"/>
              </a:ext>
            </a:extLst>
          </p:cNvPr>
          <p:cNvGrpSpPr>
            <a:grpSpLocks/>
          </p:cNvGrpSpPr>
          <p:nvPr/>
        </p:nvGrpSpPr>
        <p:grpSpPr bwMode="auto">
          <a:xfrm>
            <a:off x="1465065" y="1971126"/>
            <a:ext cx="5330825" cy="2786062"/>
            <a:chOff x="827" y="1276"/>
            <a:chExt cx="3358" cy="1755"/>
          </a:xfrm>
        </p:grpSpPr>
        <p:sp>
          <p:nvSpPr>
            <p:cNvPr id="6" name="Line 16">
              <a:extLst>
                <a:ext uri="{FF2B5EF4-FFF2-40B4-BE49-F238E27FC236}">
                  <a16:creationId xmlns:a16="http://schemas.microsoft.com/office/drawing/2014/main" id="{898F58C5-2342-B4DC-BF69-7D68D8B29B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3" y="1276"/>
              <a:ext cx="0" cy="169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7" name="Text Box 18">
              <a:extLst>
                <a:ext uri="{FF2B5EF4-FFF2-40B4-BE49-F238E27FC236}">
                  <a16:creationId xmlns:a16="http://schemas.microsoft.com/office/drawing/2014/main" id="{851732FA-7AC3-DD0E-8323-3E90BC3D02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1" y="1371"/>
              <a:ext cx="533" cy="208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50000"/>
                </a:lnSpc>
                <a:spcBef>
                  <a:spcPct val="30000"/>
                </a:spcBef>
                <a:spcAft>
                  <a:spcPct val="30000"/>
                </a:spcAft>
                <a:buClrTx/>
                <a:buSzTx/>
                <a:buFontTx/>
                <a:buNone/>
              </a:pPr>
              <a:r>
                <a:rPr kumimoji="1" lang="en-US" altLang="zh-CN" sz="16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8" name="Text Box 21">
              <a:extLst>
                <a:ext uri="{FF2B5EF4-FFF2-40B4-BE49-F238E27FC236}">
                  <a16:creationId xmlns:a16="http://schemas.microsoft.com/office/drawing/2014/main" id="{FF545C4A-640A-D4BA-16AC-643FDED43B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6" y="2138"/>
              <a:ext cx="27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 b="0">
                  <a:solidFill>
                    <a:schemeClr val="tx1"/>
                  </a:solidFill>
                  <a:latin typeface="宋体" panose="02010600030101010101" pitchFamily="2" charset="-122"/>
                  <a:sym typeface="MT Extra" pitchFamily="18" charset="2"/>
                </a:rPr>
                <a:t>︙</a:t>
              </a:r>
            </a:p>
          </p:txBody>
        </p:sp>
        <p:sp>
          <p:nvSpPr>
            <p:cNvPr id="9" name="Text Box 22">
              <a:extLst>
                <a:ext uri="{FF2B5EF4-FFF2-40B4-BE49-F238E27FC236}">
                  <a16:creationId xmlns:a16="http://schemas.microsoft.com/office/drawing/2014/main" id="{691570B2-90CB-732D-A68E-306C258262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0" y="1292"/>
              <a:ext cx="815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显示一个  字符串</a:t>
              </a:r>
            </a:p>
          </p:txBody>
        </p:sp>
        <p:sp>
          <p:nvSpPr>
            <p:cNvPr id="10" name="Text Box 23">
              <a:extLst>
                <a:ext uri="{FF2B5EF4-FFF2-40B4-BE49-F238E27FC236}">
                  <a16:creationId xmlns:a16="http://schemas.microsoft.com/office/drawing/2014/main" id="{3C5CC398-C308-5BB3-416D-BA410BC5F7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0" y="1794"/>
              <a:ext cx="72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文打开件</a:t>
              </a:r>
            </a:p>
          </p:txBody>
        </p:sp>
        <p:sp>
          <p:nvSpPr>
            <p:cNvPr id="11" name="Text Box 25">
              <a:extLst>
                <a:ext uri="{FF2B5EF4-FFF2-40B4-BE49-F238E27FC236}">
                  <a16:creationId xmlns:a16="http://schemas.microsoft.com/office/drawing/2014/main" id="{34A94B57-9034-B68F-3D6D-63A388DC87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" y="1377"/>
              <a:ext cx="87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en-US" altLang="zh-CN" sz="1600" b="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应用程序</a:t>
              </a:r>
              <a:endPara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" name="Text Box 26">
              <a:extLst>
                <a:ext uri="{FF2B5EF4-FFF2-40B4-BE49-F238E27FC236}">
                  <a16:creationId xmlns:a16="http://schemas.microsoft.com/office/drawing/2014/main" id="{D62B191F-BB2B-C71F-4BF9-187AAD9D66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5" y="1632"/>
              <a:ext cx="651" cy="94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 b="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</a:t>
              </a:r>
              <a:r>
                <a:rPr kumimoji="1" lang="en-US" altLang="zh-CN" sz="1600" b="0" dirty="0">
                  <a:solidFill>
                    <a:schemeClr val="tx1"/>
                  </a:solidFill>
                  <a:latin typeface="宋体" panose="02010600030101010101" pitchFamily="2" charset="-122"/>
                  <a:sym typeface="MT Extra" pitchFamily="18" charset="2"/>
                </a:rPr>
                <a:t>︙</a:t>
              </a:r>
              <a:endParaRPr kumimoji="1" lang="en-US" altLang="zh-CN" sz="1600" b="0" dirty="0">
                <a:solidFill>
                  <a:schemeClr val="tx1"/>
                </a:solidFill>
                <a:latin typeface="Times New Roman" panose="02020603050405020304" pitchFamily="18" charset="0"/>
                <a:sym typeface="MT Extra" pitchFamily="18" charset="2"/>
              </a:endParaRPr>
            </a:p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800" b="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  open( );</a:t>
              </a:r>
            </a:p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 b="0" dirty="0">
                  <a:solidFill>
                    <a:schemeClr val="tx1"/>
                  </a:solidFill>
                  <a:latin typeface="宋体" panose="02010600030101010101" pitchFamily="2" charset="-122"/>
                  <a:sym typeface="MT Extra" pitchFamily="18" charset="2"/>
                </a:rPr>
                <a:t>   ︙</a:t>
              </a:r>
            </a:p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 b="0" dirty="0">
                  <a:solidFill>
                    <a:schemeClr val="tx1"/>
                  </a:solidFill>
                  <a:latin typeface="宋体" panose="02010600030101010101" pitchFamily="2" charset="-122"/>
                  <a:sym typeface="MT Extra" pitchFamily="18" charset="2"/>
                </a:rPr>
                <a:t>   ︙</a:t>
              </a:r>
            </a:p>
          </p:txBody>
        </p:sp>
        <p:sp>
          <p:nvSpPr>
            <p:cNvPr id="13" name="Line 27">
              <a:extLst>
                <a:ext uri="{FF2B5EF4-FFF2-40B4-BE49-F238E27FC236}">
                  <a16:creationId xmlns:a16="http://schemas.microsoft.com/office/drawing/2014/main" id="{CCA11EB2-3D85-2317-ADCC-D6CFC82E6F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7" y="2020"/>
              <a:ext cx="864" cy="0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 type="triangle" w="sm" len="med"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14" name="Text Box 28">
              <a:extLst>
                <a:ext uri="{FF2B5EF4-FFF2-40B4-BE49-F238E27FC236}">
                  <a16:creationId xmlns:a16="http://schemas.microsoft.com/office/drawing/2014/main" id="{A6C0668E-7A60-C9BE-BA4D-32840D3022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1" y="1801"/>
              <a:ext cx="533" cy="208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50000"/>
                </a:lnSpc>
                <a:spcBef>
                  <a:spcPct val="30000"/>
                </a:spcBef>
                <a:spcAft>
                  <a:spcPct val="30000"/>
                </a:spcAft>
                <a:buClrTx/>
                <a:buSzTx/>
                <a:buFontTx/>
                <a:buNone/>
              </a:pPr>
              <a:r>
                <a:rPr kumimoji="1" lang="en-US" altLang="zh-CN" sz="16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5" name="Text Box 29">
              <a:extLst>
                <a:ext uri="{FF2B5EF4-FFF2-40B4-BE49-F238E27FC236}">
                  <a16:creationId xmlns:a16="http://schemas.microsoft.com/office/drawing/2014/main" id="{0A4337BC-322E-DA98-02FA-42D4DACA68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2" y="2468"/>
              <a:ext cx="533" cy="208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50000"/>
                </a:lnSpc>
                <a:spcBef>
                  <a:spcPct val="30000"/>
                </a:spcBef>
                <a:spcAft>
                  <a:spcPct val="30000"/>
                </a:spcAft>
                <a:buClrTx/>
                <a:buSzTx/>
                <a:buFontTx/>
                <a:buNone/>
              </a:pPr>
              <a:r>
                <a:rPr kumimoji="1" lang="en-US" altLang="zh-CN" sz="16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6" name="Text Box 33">
              <a:extLst>
                <a:ext uri="{FF2B5EF4-FFF2-40B4-BE49-F238E27FC236}">
                  <a16:creationId xmlns:a16="http://schemas.microsoft.com/office/drawing/2014/main" id="{8672D486-4111-CAC6-A45C-218C46B189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2" y="2816"/>
              <a:ext cx="1810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914400" indent="-341313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sz="1800" b="0" dirty="0">
                  <a:solidFill>
                    <a:schemeClr val="tx1"/>
                  </a:solidFill>
                </a:rPr>
                <a:t>操作系统功能模块</a:t>
              </a:r>
            </a:p>
          </p:txBody>
        </p:sp>
      </p:grpSp>
      <p:sp>
        <p:nvSpPr>
          <p:cNvPr id="17" name="Text Box 36">
            <a:extLst>
              <a:ext uri="{FF2B5EF4-FFF2-40B4-BE49-F238E27FC236}">
                <a16:creationId xmlns:a16="http://schemas.microsoft.com/office/drawing/2014/main" id="{CEB508F9-4F73-ED5A-71FB-C991F4F36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9740" y="4979627"/>
            <a:ext cx="2705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Ø"/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Ø"/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Ø"/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Ø"/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系统功能调用示意图</a:t>
            </a:r>
          </a:p>
        </p:txBody>
      </p:sp>
    </p:spTree>
    <p:extLst>
      <p:ext uri="{BB962C8B-B14F-4D97-AF65-F5344CB8AC3E}">
        <p14:creationId xmlns:p14="http://schemas.microsoft.com/office/powerpoint/2010/main" val="1440792199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36E373-B5FE-77AB-8C8E-6FEF249CE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标准</a:t>
            </a:r>
            <a:r>
              <a:rPr kumimoji="1" lang="en-US" altLang="zh-CN" dirty="0"/>
              <a:t>API</a:t>
            </a:r>
            <a:r>
              <a:rPr kumimoji="1" lang="zh-CN" altLang="en-US" dirty="0"/>
              <a:t>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2B82A0-0713-6841-DDA7-6C7F12EC1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B58C3E-EFEC-70D3-C475-1415C78F5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28</a:t>
            </a:fld>
            <a:endParaRPr lang="zh-CN" alt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97F1794-78AC-298E-5456-CD899FEC1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676" y="1064930"/>
            <a:ext cx="5605568" cy="5716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5503738"/>
      </p:ext>
    </p:extLst>
  </p:cSld>
  <p:clrMapOvr>
    <a:masterClrMapping/>
  </p:clrMapOvr>
  <p:transition spd="med"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3A0382-2431-A9FC-1E7E-23F5B31E8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系统调用的实现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A5183F-ABC6-97EF-92A3-2ED43178D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每个系统调用都与一个编号相关联</a:t>
            </a:r>
          </a:p>
          <a:p>
            <a:pPr lvl="1"/>
            <a:r>
              <a:rPr kumimoji="1" lang="zh-CN" altLang="en-US" dirty="0"/>
              <a:t>系统调用接口根据这些编号维护一个索引表</a:t>
            </a:r>
          </a:p>
          <a:p>
            <a:r>
              <a:rPr kumimoji="1" lang="zh-CN" altLang="en-US" dirty="0"/>
              <a:t>系统调用接口在操作系统内核中调用所需的系统调用，并返回系统调用的状态和任何返回值</a:t>
            </a:r>
          </a:p>
          <a:p>
            <a:r>
              <a:rPr kumimoji="1" lang="zh-CN" altLang="en-US" dirty="0"/>
              <a:t>调用者不需要了解系统调用的具体实现方式</a:t>
            </a:r>
          </a:p>
          <a:p>
            <a:pPr lvl="1"/>
            <a:r>
              <a:rPr kumimoji="1" lang="zh-CN" altLang="en-US" dirty="0"/>
              <a:t>只需要遵循 </a:t>
            </a:r>
            <a:r>
              <a:rPr kumimoji="1" lang="en" altLang="zh-CN" dirty="0"/>
              <a:t>API </a:t>
            </a:r>
            <a:r>
              <a:rPr kumimoji="1" lang="zh-CN" altLang="en-US" dirty="0"/>
              <a:t>并理解操作系统对调用的结果会做什么</a:t>
            </a:r>
          </a:p>
          <a:p>
            <a:pPr lvl="1"/>
            <a:r>
              <a:rPr kumimoji="1" lang="en" altLang="zh-CN" dirty="0"/>
              <a:t>API </a:t>
            </a:r>
            <a:r>
              <a:rPr kumimoji="1" lang="zh-CN" altLang="en-US" dirty="0"/>
              <a:t>将操作系统接口的大部分细节隐藏起来，对程序员不可见</a:t>
            </a:r>
          </a:p>
          <a:p>
            <a:pPr lvl="2"/>
            <a:r>
              <a:rPr kumimoji="1" lang="zh-CN" altLang="en-US" dirty="0"/>
              <a:t>由运行时支持库管理（一组内置于编译器所包含的库中的函数）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B9F0DE-428F-848C-03A2-6318DC499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9430532"/>
      </p:ext>
    </p:extLst>
  </p:cSld>
  <p:clrMapOvr>
    <a:masterClrMapping/>
  </p:clrMapOvr>
  <p:transition spd="med"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B6C805-62A1-180F-7DE2-12DC2BF86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API</a:t>
            </a:r>
            <a:r>
              <a:rPr kumimoji="1" lang="zh-CN" altLang="en-US" dirty="0"/>
              <a:t>：打开文件的系统调用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A41434-4438-64C3-369E-6A970EC72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1697C4-C58A-FDCA-D520-6865B5811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30</a:t>
            </a:fld>
            <a:endParaRPr lang="zh-CN" alt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3759A31-2C5F-F26A-C0E4-8B49CAD49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325" y="1217613"/>
            <a:ext cx="7559675" cy="4614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3064348"/>
      </p:ext>
    </p:extLst>
  </p:cSld>
  <p:clrMapOvr>
    <a:masterClrMapping/>
  </p:clrMapOvr>
  <p:transition spd="med"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557C7F-0F31-CD1D-00FB-957F78145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访管中断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842722-7D8A-AB27-1EE9-ED159E2D3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eaLnBrk="1">
              <a:buClrTx/>
              <a:buSzTx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当处理机执行到访管指令时发生中断，该中断称为访管中断，它表示正在运行的程序对操作系统的某种需求。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</a:t>
            </a:r>
            <a:endParaRPr lang="en-US" altLang="zh-CN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>
              <a:buClrTx/>
              <a:buSzTx/>
            </a:pP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</a:rPr>
              <a:t>操作系统提供实现各种功能的例行子程序，其中的每一个功能对应访管指令的一个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功能号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</a:rPr>
              <a:t>。例如：</a:t>
            </a:r>
          </a:p>
          <a:p>
            <a:pPr algn="l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svc  0      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显示一个字符      </a:t>
            </a:r>
          </a:p>
          <a:p>
            <a:pPr algn="l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svc  1      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打印一个字符串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>
              <a:buClrTx/>
              <a:buSzTx/>
            </a:pPr>
            <a:r>
              <a:rPr lang="zh-CN" altLang="en-US" sz="3100" dirty="0">
                <a:latin typeface="Times New Roman" panose="02020603050405020304" pitchFamily="18" charset="0"/>
              </a:rPr>
              <a:t>系统调用是用户在程序一级请求操作系统服务的一种手段，它是带有一定功能号的“访管指令”。其功能是由操作系统中的程序完成的，即由软件方法实现的。</a:t>
            </a:r>
          </a:p>
          <a:p>
            <a:pPr eaLnBrk="1">
              <a:lnSpc>
                <a:spcPct val="110000"/>
              </a:lnSpc>
            </a:pP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75018F-8B95-3118-642F-996E12C24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31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1588948"/>
      </p:ext>
    </p:extLst>
  </p:cSld>
  <p:clrMapOvr>
    <a:masterClrMapping/>
  </p:clrMapOvr>
  <p:transition spd="med"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233FAD-1E75-C297-DD7B-BA7706311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系统调用的实现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C1602E-1437-8EE9-AD12-08F203C2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32</a:t>
            </a:fld>
            <a:endParaRPr lang="zh-CN" altLang="en-US" dirty="0"/>
          </a:p>
        </p:txBody>
      </p:sp>
      <p:sp>
        <p:nvSpPr>
          <p:cNvPr id="5" name="Line 32">
            <a:extLst>
              <a:ext uri="{FF2B5EF4-FFF2-40B4-BE49-F238E27FC236}">
                <a16:creationId xmlns:a16="http://schemas.microsoft.com/office/drawing/2014/main" id="{AF1E3125-7B6A-C7CD-BF5A-8A67438710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03425" y="2578100"/>
            <a:ext cx="696913" cy="685800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 type="triangle" w="sm" len="med"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grpSp>
        <p:nvGrpSpPr>
          <p:cNvPr id="6" name="Group 69">
            <a:extLst>
              <a:ext uri="{FF2B5EF4-FFF2-40B4-BE49-F238E27FC236}">
                <a16:creationId xmlns:a16="http://schemas.microsoft.com/office/drawing/2014/main" id="{B6BEB26F-F681-B24C-9962-6C22FB6DB0B1}"/>
              </a:ext>
            </a:extLst>
          </p:cNvPr>
          <p:cNvGrpSpPr>
            <a:grpSpLocks/>
          </p:cNvGrpSpPr>
          <p:nvPr/>
        </p:nvGrpSpPr>
        <p:grpSpPr bwMode="auto">
          <a:xfrm>
            <a:off x="4837113" y="1620838"/>
            <a:ext cx="1841500" cy="3602037"/>
            <a:chOff x="3047" y="1021"/>
            <a:chExt cx="1160" cy="2269"/>
          </a:xfrm>
        </p:grpSpPr>
        <p:sp>
          <p:nvSpPr>
            <p:cNvPr id="7" name="Text Box 10">
              <a:extLst>
                <a:ext uri="{FF2B5EF4-FFF2-40B4-BE49-F238E27FC236}">
                  <a16:creationId xmlns:a16="http://schemas.microsoft.com/office/drawing/2014/main" id="{B9D92626-C46F-0BCA-9B62-9D052F0038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4" y="3078"/>
              <a:ext cx="36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kumimoji="1" lang="zh-CN" altLang="zh-CN" sz="16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" name="Text Box 11">
              <a:extLst>
                <a:ext uri="{FF2B5EF4-FFF2-40B4-BE49-F238E27FC236}">
                  <a16:creationId xmlns:a16="http://schemas.microsoft.com/office/drawing/2014/main" id="{340D42D0-D777-B9C4-BAA3-3690830A4B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3" y="1547"/>
              <a:ext cx="706" cy="1674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en-US" altLang="zh-CN" sz="16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     </a:t>
              </a:r>
            </a:p>
          </p:txBody>
        </p:sp>
        <p:sp>
          <p:nvSpPr>
            <p:cNvPr id="9" name="Line 12">
              <a:extLst>
                <a:ext uri="{FF2B5EF4-FFF2-40B4-BE49-F238E27FC236}">
                  <a16:creationId xmlns:a16="http://schemas.microsoft.com/office/drawing/2014/main" id="{625800B9-D31E-8D5C-AD60-9A1D64AB5F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6" y="1834"/>
              <a:ext cx="7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10" name="Line 13">
              <a:extLst>
                <a:ext uri="{FF2B5EF4-FFF2-40B4-BE49-F238E27FC236}">
                  <a16:creationId xmlns:a16="http://schemas.microsoft.com/office/drawing/2014/main" id="{0C1618B8-03F8-7639-EC70-D63BE2F3C0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2" y="2121"/>
              <a:ext cx="7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11" name="Text Box 14">
              <a:extLst>
                <a:ext uri="{FF2B5EF4-FFF2-40B4-BE49-F238E27FC236}">
                  <a16:creationId xmlns:a16="http://schemas.microsoft.com/office/drawing/2014/main" id="{8C289F46-6460-44A1-9EE1-A65CF930A2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6" y="1847"/>
              <a:ext cx="27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16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2" name="Text Box 15">
              <a:extLst>
                <a:ext uri="{FF2B5EF4-FFF2-40B4-BE49-F238E27FC236}">
                  <a16:creationId xmlns:a16="http://schemas.microsoft.com/office/drawing/2014/main" id="{3CD0017B-682B-7882-FDD0-6073F85E58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2" y="1560"/>
              <a:ext cx="27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16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3" name="Line 16">
              <a:extLst>
                <a:ext uri="{FF2B5EF4-FFF2-40B4-BE49-F238E27FC236}">
                  <a16:creationId xmlns:a16="http://schemas.microsoft.com/office/drawing/2014/main" id="{1004FCB2-DB43-6486-8AFE-D6ACA10C31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2" y="2408"/>
              <a:ext cx="7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14" name="Text Box 17">
              <a:extLst>
                <a:ext uri="{FF2B5EF4-FFF2-40B4-BE49-F238E27FC236}">
                  <a16:creationId xmlns:a16="http://schemas.microsoft.com/office/drawing/2014/main" id="{A3DCB55D-641C-A477-5254-4C29DE655E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8" y="2139"/>
              <a:ext cx="18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 b="0">
                  <a:solidFill>
                    <a:schemeClr val="tx1"/>
                  </a:solidFill>
                  <a:latin typeface="宋体" panose="02010600030101010101" pitchFamily="2" charset="-122"/>
                  <a:sym typeface="MT Extra" pitchFamily="18" charset="2"/>
                </a:rPr>
                <a:t>︙</a:t>
              </a:r>
              <a:endParaRPr kumimoji="1" lang="en-US" altLang="zh-CN" sz="1600" b="0">
                <a:solidFill>
                  <a:schemeClr val="tx1"/>
                </a:solidFill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15" name="Text Box 18">
              <a:extLst>
                <a:ext uri="{FF2B5EF4-FFF2-40B4-BE49-F238E27FC236}">
                  <a16:creationId xmlns:a16="http://schemas.microsoft.com/office/drawing/2014/main" id="{7D815598-AFF6-B6D2-41B7-50D1D71E5A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6" y="2404"/>
              <a:ext cx="273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16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6" name="Text Box 19">
              <a:extLst>
                <a:ext uri="{FF2B5EF4-FFF2-40B4-BE49-F238E27FC236}">
                  <a16:creationId xmlns:a16="http://schemas.microsoft.com/office/drawing/2014/main" id="{3CF6D8F0-4E06-EA29-54F5-B9AE29F96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1" y="1021"/>
              <a:ext cx="876" cy="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例行子程序</a:t>
              </a:r>
            </a:p>
            <a:p>
              <a:pPr algn="just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入口地址表</a:t>
              </a:r>
            </a:p>
          </p:txBody>
        </p:sp>
        <p:sp>
          <p:nvSpPr>
            <p:cNvPr id="17" name="Text Box 20">
              <a:extLst>
                <a:ext uri="{FF2B5EF4-FFF2-40B4-BE49-F238E27FC236}">
                  <a16:creationId xmlns:a16="http://schemas.microsoft.com/office/drawing/2014/main" id="{4A143A93-C5C9-F558-EB6B-2E0A3567C3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5" y="1404"/>
              <a:ext cx="4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A+0</a:t>
              </a:r>
              <a:endParaRPr kumimoji="1" lang="en-US" altLang="zh-CN" sz="16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" name="Text Box 21">
              <a:extLst>
                <a:ext uri="{FF2B5EF4-FFF2-40B4-BE49-F238E27FC236}">
                  <a16:creationId xmlns:a16="http://schemas.microsoft.com/office/drawing/2014/main" id="{EBC090E3-0B6E-2A4C-4B30-EF480F7E62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7" y="1707"/>
              <a:ext cx="4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A+1</a:t>
              </a:r>
              <a:endParaRPr kumimoji="1" lang="en-US" altLang="zh-CN" sz="16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" name="Line 22">
              <a:extLst>
                <a:ext uri="{FF2B5EF4-FFF2-40B4-BE49-F238E27FC236}">
                  <a16:creationId xmlns:a16="http://schemas.microsoft.com/office/drawing/2014/main" id="{3B45B35E-744C-CEE1-C64C-97CD89CDE0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7" y="2695"/>
              <a:ext cx="7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0" name="Text Box 23">
              <a:extLst>
                <a:ext uri="{FF2B5EF4-FFF2-40B4-BE49-F238E27FC236}">
                  <a16:creationId xmlns:a16="http://schemas.microsoft.com/office/drawing/2014/main" id="{1667B73C-FDB2-E710-AFB5-388D3ED122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2821"/>
              <a:ext cx="22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 b="0">
                  <a:solidFill>
                    <a:schemeClr val="tx1"/>
                  </a:solidFill>
                  <a:latin typeface="宋体" panose="02010600030101010101" pitchFamily="2" charset="-122"/>
                  <a:sym typeface="MT Extra" pitchFamily="18" charset="2"/>
                </a:rPr>
                <a:t>︙</a:t>
              </a:r>
              <a:endParaRPr kumimoji="1" lang="en-US" altLang="zh-CN" sz="1600" b="0">
                <a:solidFill>
                  <a:schemeClr val="tx1"/>
                </a:solidFill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21" name="Text Box 24">
              <a:extLst>
                <a:ext uri="{FF2B5EF4-FFF2-40B4-BE49-F238E27FC236}">
                  <a16:creationId xmlns:a16="http://schemas.microsoft.com/office/drawing/2014/main" id="{3D9ABE66-FF4B-325A-A3EF-34330DCF53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8" y="2280"/>
              <a:ext cx="35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A+i</a:t>
              </a:r>
              <a:endParaRPr kumimoji="1" lang="en-US" altLang="zh-CN" sz="16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" name="Group 63">
            <a:extLst>
              <a:ext uri="{FF2B5EF4-FFF2-40B4-BE49-F238E27FC236}">
                <a16:creationId xmlns:a16="http://schemas.microsoft.com/office/drawing/2014/main" id="{CE24B2E5-84DE-6C1D-8C85-F94198B3A882}"/>
              </a:ext>
            </a:extLst>
          </p:cNvPr>
          <p:cNvGrpSpPr>
            <a:grpSpLocks/>
          </p:cNvGrpSpPr>
          <p:nvPr/>
        </p:nvGrpSpPr>
        <p:grpSpPr bwMode="auto">
          <a:xfrm>
            <a:off x="2700338" y="1819275"/>
            <a:ext cx="1357312" cy="3192463"/>
            <a:chOff x="1640" y="1849"/>
            <a:chExt cx="769" cy="1654"/>
          </a:xfrm>
        </p:grpSpPr>
        <p:sp>
          <p:nvSpPr>
            <p:cNvPr id="23" name="Text Box 26">
              <a:extLst>
                <a:ext uri="{FF2B5EF4-FFF2-40B4-BE49-F238E27FC236}">
                  <a16:creationId xmlns:a16="http://schemas.microsoft.com/office/drawing/2014/main" id="{A2A18C51-B152-87D1-04E8-F93A8E5A87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0" y="2242"/>
              <a:ext cx="769" cy="1261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zh-CN" altLang="en-US" sz="16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保护现场；</a:t>
              </a:r>
            </a:p>
            <a:p>
              <a:pPr algn="just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6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 取  </a:t>
              </a:r>
              <a:r>
                <a:rPr kumimoji="1" lang="en-US" altLang="zh-CN" sz="16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i  </a:t>
              </a:r>
              <a:r>
                <a:rPr kumimoji="1" lang="zh-CN" altLang="en-US" sz="16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值；</a:t>
              </a:r>
            </a:p>
            <a:p>
              <a:pPr algn="just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6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 按 </a:t>
              </a:r>
              <a:r>
                <a:rPr kumimoji="1" lang="en-US" altLang="zh-CN" sz="16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i </a:t>
              </a:r>
              <a:r>
                <a:rPr kumimoji="1" lang="zh-CN" altLang="en-US" sz="16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值转移；</a:t>
              </a:r>
            </a:p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1600" b="0">
                  <a:solidFill>
                    <a:schemeClr val="tx1"/>
                  </a:solidFill>
                  <a:latin typeface="Times New Roman" panose="02020603050405020304" pitchFamily="18" charset="0"/>
                  <a:sym typeface="Symbol" pitchFamily="2" charset="2"/>
                </a:rPr>
                <a:t>       </a:t>
              </a:r>
              <a:r>
                <a:rPr kumimoji="1" lang="en-US" altLang="zh-CN" sz="1600" b="0">
                  <a:solidFill>
                    <a:schemeClr val="tx1"/>
                  </a:solidFill>
                  <a:latin typeface="宋体" panose="02010600030101010101" pitchFamily="2" charset="-122"/>
                  <a:sym typeface="MT Extra" pitchFamily="18" charset="2"/>
                </a:rPr>
                <a:t>︙</a:t>
              </a:r>
              <a:endParaRPr kumimoji="1" lang="en-US" altLang="zh-CN" sz="1600" b="0">
                <a:solidFill>
                  <a:schemeClr val="tx1"/>
                </a:solidFill>
                <a:latin typeface="Times New Roman" panose="02020603050405020304" pitchFamily="18" charset="0"/>
                <a:sym typeface="Symbol" pitchFamily="2" charset="2"/>
              </a:endParaRPr>
            </a:p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6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 恢复现场；</a:t>
              </a:r>
            </a:p>
          </p:txBody>
        </p:sp>
        <p:sp>
          <p:nvSpPr>
            <p:cNvPr id="24" name="Text Box 27">
              <a:extLst>
                <a:ext uri="{FF2B5EF4-FFF2-40B4-BE49-F238E27FC236}">
                  <a16:creationId xmlns:a16="http://schemas.microsoft.com/office/drawing/2014/main" id="{37736868-5E15-8C0F-4B55-AFCE793F25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" y="1849"/>
              <a:ext cx="577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访管中断</a:t>
              </a:r>
            </a:p>
            <a:p>
              <a:pPr algn="just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处理程序</a:t>
              </a:r>
            </a:p>
          </p:txBody>
        </p:sp>
      </p:grpSp>
      <p:grpSp>
        <p:nvGrpSpPr>
          <p:cNvPr id="25" name="Group 64">
            <a:extLst>
              <a:ext uri="{FF2B5EF4-FFF2-40B4-BE49-F238E27FC236}">
                <a16:creationId xmlns:a16="http://schemas.microsoft.com/office/drawing/2014/main" id="{32CCCCA9-D045-FFD4-4786-5751B3F2CD66}"/>
              </a:ext>
            </a:extLst>
          </p:cNvPr>
          <p:cNvGrpSpPr>
            <a:grpSpLocks/>
          </p:cNvGrpSpPr>
          <p:nvPr/>
        </p:nvGrpSpPr>
        <p:grpSpPr bwMode="auto">
          <a:xfrm>
            <a:off x="930275" y="2006600"/>
            <a:ext cx="1178597" cy="2773363"/>
            <a:chOff x="649" y="1946"/>
            <a:chExt cx="699" cy="1437"/>
          </a:xfrm>
        </p:grpSpPr>
        <p:sp>
          <p:nvSpPr>
            <p:cNvPr id="26" name="Text Box 29">
              <a:extLst>
                <a:ext uri="{FF2B5EF4-FFF2-40B4-BE49-F238E27FC236}">
                  <a16:creationId xmlns:a16="http://schemas.microsoft.com/office/drawing/2014/main" id="{0752A7AA-4AB0-36A9-86D1-D2B6A5C3A6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" y="2242"/>
              <a:ext cx="647" cy="1141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endParaRPr kumimoji="1" lang="en-US" altLang="zh-CN" sz="1600" b="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00000"/>
                </a:lnSpc>
                <a:buClrTx/>
                <a:buSzTx/>
                <a:buFont typeface="Wingdings" pitchFamily="2" charset="2"/>
                <a:buNone/>
              </a:pPr>
              <a:r>
                <a:rPr kumimoji="1" lang="en-US" altLang="zh-CN" sz="1600" b="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 </a:t>
              </a:r>
              <a:r>
                <a:rPr kumimoji="1" lang="en-US" altLang="zh-CN" sz="1600" b="0" dirty="0">
                  <a:solidFill>
                    <a:schemeClr val="tx1"/>
                  </a:solidFill>
                  <a:latin typeface="宋体" panose="02010600030101010101" pitchFamily="2" charset="-122"/>
                  <a:sym typeface="MT Extra" pitchFamily="18" charset="2"/>
                </a:rPr>
                <a:t>︙</a:t>
              </a:r>
              <a:endParaRPr kumimoji="1" lang="en-US" altLang="zh-CN" sz="1600" b="0" dirty="0">
                <a:solidFill>
                  <a:schemeClr val="tx1"/>
                </a:solidFill>
                <a:latin typeface="Times New Roman" panose="02020603050405020304" pitchFamily="18" charset="0"/>
                <a:sym typeface="MT Extra" pitchFamily="18" charset="2"/>
              </a:endParaRPr>
            </a:p>
            <a:p>
              <a:pPr algn="just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en-US" altLang="zh-CN" sz="1600" b="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   svc </a:t>
              </a:r>
              <a:r>
                <a:rPr kumimoji="1" lang="en-US" altLang="zh-CN" sz="1600" b="0" dirty="0" err="1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endParaRPr kumimoji="1" lang="en-US" altLang="zh-CN" sz="1600" b="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 b="0" dirty="0">
                  <a:solidFill>
                    <a:schemeClr val="tx1"/>
                  </a:solidFill>
                  <a:latin typeface="Times New Roman" panose="02020603050405020304" pitchFamily="18" charset="0"/>
                  <a:sym typeface="Symbol" pitchFamily="2" charset="2"/>
                </a:rPr>
                <a:t>       </a:t>
              </a:r>
              <a:r>
                <a:rPr kumimoji="1" lang="en-US" altLang="zh-CN" sz="1600" b="0" dirty="0">
                  <a:solidFill>
                    <a:schemeClr val="tx1"/>
                  </a:solidFill>
                  <a:latin typeface="宋体" panose="02010600030101010101" pitchFamily="2" charset="-122"/>
                  <a:sym typeface="MT Extra" pitchFamily="18" charset="2"/>
                </a:rPr>
                <a:t>︙</a:t>
              </a:r>
              <a:endParaRPr kumimoji="1" lang="en-US" altLang="zh-CN" sz="16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itchFamily="2" charset="2"/>
              </a:endParaRPr>
            </a:p>
            <a:p>
              <a:pPr algn="just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endParaRPr kumimoji="1" lang="en-US" altLang="zh-CN" sz="1600" b="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endParaRPr kumimoji="1" lang="en-US" altLang="zh-CN" sz="1600" b="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endParaRPr kumimoji="1" lang="en-US" altLang="zh-CN" sz="1600" b="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" name="Text Box 30">
              <a:extLst>
                <a:ext uri="{FF2B5EF4-FFF2-40B4-BE49-F238E27FC236}">
                  <a16:creationId xmlns:a16="http://schemas.microsoft.com/office/drawing/2014/main" id="{26582727-AA64-2F4D-3B3E-2A4D45663D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4" y="1946"/>
              <a:ext cx="634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用户程序</a:t>
              </a:r>
            </a:p>
          </p:txBody>
        </p:sp>
      </p:grpSp>
      <p:sp>
        <p:nvSpPr>
          <p:cNvPr id="28" name="Line 31">
            <a:extLst>
              <a:ext uri="{FF2B5EF4-FFF2-40B4-BE49-F238E27FC236}">
                <a16:creationId xmlns:a16="http://schemas.microsoft.com/office/drawing/2014/main" id="{D655FD33-46D6-E57A-EE1D-AC3426E4FFF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9825" y="1590675"/>
            <a:ext cx="0" cy="4479925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grpSp>
        <p:nvGrpSpPr>
          <p:cNvPr id="29" name="Group 65">
            <a:extLst>
              <a:ext uri="{FF2B5EF4-FFF2-40B4-BE49-F238E27FC236}">
                <a16:creationId xmlns:a16="http://schemas.microsoft.com/office/drawing/2014/main" id="{7873B281-4406-2485-A573-12C993C4672F}"/>
              </a:ext>
            </a:extLst>
          </p:cNvPr>
          <p:cNvGrpSpPr>
            <a:grpSpLocks/>
          </p:cNvGrpSpPr>
          <p:nvPr/>
        </p:nvGrpSpPr>
        <p:grpSpPr bwMode="auto">
          <a:xfrm>
            <a:off x="4070350" y="2178050"/>
            <a:ext cx="874713" cy="1649413"/>
            <a:chOff x="2408" y="2035"/>
            <a:chExt cx="519" cy="854"/>
          </a:xfrm>
        </p:grpSpPr>
        <p:sp>
          <p:nvSpPr>
            <p:cNvPr id="30" name="Line 34">
              <a:extLst>
                <a:ext uri="{FF2B5EF4-FFF2-40B4-BE49-F238E27FC236}">
                  <a16:creationId xmlns:a16="http://schemas.microsoft.com/office/drawing/2014/main" id="{25DCDEBF-A4CB-581B-3A22-4D0099D0DA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6" y="2217"/>
              <a:ext cx="0" cy="30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grpSp>
          <p:nvGrpSpPr>
            <p:cNvPr id="31" name="Group 35">
              <a:extLst>
                <a:ext uri="{FF2B5EF4-FFF2-40B4-BE49-F238E27FC236}">
                  <a16:creationId xmlns:a16="http://schemas.microsoft.com/office/drawing/2014/main" id="{36567F85-0063-1B8F-FF58-CA396AC366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5" y="2519"/>
              <a:ext cx="282" cy="268"/>
              <a:chOff x="8102" y="3566"/>
              <a:chExt cx="578" cy="455"/>
            </a:xfrm>
          </p:grpSpPr>
          <p:sp>
            <p:nvSpPr>
              <p:cNvPr id="36" name="Oval 36">
                <a:extLst>
                  <a:ext uri="{FF2B5EF4-FFF2-40B4-BE49-F238E27FC236}">
                    <a16:creationId xmlns:a16="http://schemas.microsoft.com/office/drawing/2014/main" id="{DB1181FB-0F0A-63EF-80C3-DEE88C008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05" y="3568"/>
                <a:ext cx="417" cy="304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37" name="Text Box 37">
                <a:extLst>
                  <a:ext uri="{FF2B5EF4-FFF2-40B4-BE49-F238E27FC236}">
                    <a16:creationId xmlns:a16="http://schemas.microsoft.com/office/drawing/2014/main" id="{D3D105F7-0506-B06A-15A6-57B0BC7E02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49" y="3566"/>
                <a:ext cx="531" cy="4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Ø"/>
                  <a:defRPr sz="3200" b="1">
                    <a:solidFill>
                      <a:srgbClr val="4138FA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kumimoji="1" lang="en-US" altLang="zh-CN" sz="16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+</a:t>
                </a:r>
              </a:p>
            </p:txBody>
          </p:sp>
        </p:grpSp>
        <p:sp>
          <p:nvSpPr>
            <p:cNvPr id="32" name="Line 38">
              <a:extLst>
                <a:ext uri="{FF2B5EF4-FFF2-40B4-BE49-F238E27FC236}">
                  <a16:creationId xmlns:a16="http://schemas.microsoft.com/office/drawing/2014/main" id="{6054C86C-F818-D9F1-8EF2-0189FEB646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8" y="2612"/>
              <a:ext cx="24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33" name="Text Box 39">
              <a:extLst>
                <a:ext uri="{FF2B5EF4-FFF2-40B4-BE49-F238E27FC236}">
                  <a16:creationId xmlns:a16="http://schemas.microsoft.com/office/drawing/2014/main" id="{916E141C-EAD4-7D10-3367-07D10E04D1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7" y="2035"/>
              <a:ext cx="216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4" name="Line 40">
              <a:extLst>
                <a:ext uri="{FF2B5EF4-FFF2-40B4-BE49-F238E27FC236}">
                  <a16:creationId xmlns:a16="http://schemas.microsoft.com/office/drawing/2014/main" id="{86C5A7CD-77EB-AB20-3AB2-ECFF647D7A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2" y="2889"/>
              <a:ext cx="1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35" name="Line 41">
              <a:extLst>
                <a:ext uri="{FF2B5EF4-FFF2-40B4-BE49-F238E27FC236}">
                  <a16:creationId xmlns:a16="http://schemas.microsoft.com/office/drawing/2014/main" id="{7D868FD5-297A-5920-5C8E-16FE7E1C13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2" y="2703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38" name="Line 42">
            <a:extLst>
              <a:ext uri="{FF2B5EF4-FFF2-40B4-BE49-F238E27FC236}">
                <a16:creationId xmlns:a16="http://schemas.microsoft.com/office/drawing/2014/main" id="{C3DCD3BD-2EB0-12FB-35B7-67770826594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2238" y="4005263"/>
            <a:ext cx="792162" cy="0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 type="triangle" w="sm" len="med"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grpSp>
        <p:nvGrpSpPr>
          <p:cNvPr id="39" name="Group 72">
            <a:extLst>
              <a:ext uri="{FF2B5EF4-FFF2-40B4-BE49-F238E27FC236}">
                <a16:creationId xmlns:a16="http://schemas.microsoft.com/office/drawing/2014/main" id="{F06D82AD-21CB-220A-A980-2E0A88E90801}"/>
              </a:ext>
            </a:extLst>
          </p:cNvPr>
          <p:cNvGrpSpPr>
            <a:grpSpLocks/>
          </p:cNvGrpSpPr>
          <p:nvPr/>
        </p:nvGrpSpPr>
        <p:grpSpPr bwMode="auto">
          <a:xfrm>
            <a:off x="4070350" y="4214813"/>
            <a:ext cx="3203575" cy="1619250"/>
            <a:chOff x="2558" y="2667"/>
            <a:chExt cx="2008" cy="1003"/>
          </a:xfrm>
        </p:grpSpPr>
        <p:grpSp>
          <p:nvGrpSpPr>
            <p:cNvPr id="40" name="Group 71">
              <a:extLst>
                <a:ext uri="{FF2B5EF4-FFF2-40B4-BE49-F238E27FC236}">
                  <a16:creationId xmlns:a16="http://schemas.microsoft.com/office/drawing/2014/main" id="{3F33F506-A10D-6AC4-1B23-D0AD1677C5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1" y="2690"/>
              <a:ext cx="1305" cy="980"/>
              <a:chOff x="3261" y="2690"/>
              <a:chExt cx="1305" cy="980"/>
            </a:xfrm>
          </p:grpSpPr>
          <p:sp>
            <p:nvSpPr>
              <p:cNvPr id="42" name="Line 44">
                <a:extLst>
                  <a:ext uri="{FF2B5EF4-FFF2-40B4-BE49-F238E27FC236}">
                    <a16:creationId xmlns:a16="http://schemas.microsoft.com/office/drawing/2014/main" id="{3397C9A8-F694-C8D4-0118-0BC9390AC6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82" y="2690"/>
                <a:ext cx="584" cy="980"/>
              </a:xfrm>
              <a:prstGeom prst="line">
                <a:avLst/>
              </a:prstGeom>
              <a:noFill/>
              <a:ln w="38100">
                <a:solidFill>
                  <a:srgbClr val="663300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43" name="Line 45">
                <a:extLst>
                  <a:ext uri="{FF2B5EF4-FFF2-40B4-BE49-F238E27FC236}">
                    <a16:creationId xmlns:a16="http://schemas.microsoft.com/office/drawing/2014/main" id="{5F79B678-5B1C-8104-E0C4-971505E31A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61" y="3664"/>
                <a:ext cx="718" cy="0"/>
              </a:xfrm>
              <a:prstGeom prst="line">
                <a:avLst/>
              </a:prstGeom>
              <a:noFill/>
              <a:ln w="38100">
                <a:solidFill>
                  <a:srgbClr val="663300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</p:grpSp>
        <p:sp>
          <p:nvSpPr>
            <p:cNvPr id="41" name="Line 46">
              <a:extLst>
                <a:ext uri="{FF2B5EF4-FFF2-40B4-BE49-F238E27FC236}">
                  <a16:creationId xmlns:a16="http://schemas.microsoft.com/office/drawing/2014/main" id="{74868E99-2B5D-A96E-05C7-9854B4D153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58" y="2667"/>
              <a:ext cx="708" cy="993"/>
            </a:xfrm>
            <a:prstGeom prst="line">
              <a:avLst/>
            </a:prstGeom>
            <a:noFill/>
            <a:ln w="38100">
              <a:solidFill>
                <a:srgbClr val="663300"/>
              </a:solidFill>
              <a:round/>
              <a:headEnd/>
              <a:tailEnd type="triangle" w="sm" len="med"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44" name="Line 47">
            <a:extLst>
              <a:ext uri="{FF2B5EF4-FFF2-40B4-BE49-F238E27FC236}">
                <a16:creationId xmlns:a16="http://schemas.microsoft.com/office/drawing/2014/main" id="{C54B9284-302A-3867-178B-5A8E3AD6982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032000" y="3416300"/>
            <a:ext cx="668338" cy="855663"/>
          </a:xfrm>
          <a:prstGeom prst="line">
            <a:avLst/>
          </a:prstGeom>
          <a:noFill/>
          <a:ln w="38100">
            <a:solidFill>
              <a:srgbClr val="663300"/>
            </a:solidFill>
            <a:round/>
            <a:headEnd/>
            <a:tailEnd type="triangle" w="sm" len="med"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grpSp>
        <p:nvGrpSpPr>
          <p:cNvPr id="45" name="Group 70">
            <a:extLst>
              <a:ext uri="{FF2B5EF4-FFF2-40B4-BE49-F238E27FC236}">
                <a16:creationId xmlns:a16="http://schemas.microsoft.com/office/drawing/2014/main" id="{16A0B29F-53A1-07A2-426E-D37BBF0A3FE3}"/>
              </a:ext>
            </a:extLst>
          </p:cNvPr>
          <p:cNvGrpSpPr>
            <a:grpSpLocks/>
          </p:cNvGrpSpPr>
          <p:nvPr/>
        </p:nvGrpSpPr>
        <p:grpSpPr bwMode="auto">
          <a:xfrm>
            <a:off x="6927850" y="1662113"/>
            <a:ext cx="1501775" cy="3670300"/>
            <a:chOff x="4364" y="1047"/>
            <a:chExt cx="946" cy="2312"/>
          </a:xfrm>
        </p:grpSpPr>
        <p:sp>
          <p:nvSpPr>
            <p:cNvPr id="46" name="Text Box 53">
              <a:extLst>
                <a:ext uri="{FF2B5EF4-FFF2-40B4-BE49-F238E27FC236}">
                  <a16:creationId xmlns:a16="http://schemas.microsoft.com/office/drawing/2014/main" id="{D34B6F24-9135-0046-42AD-98465866ED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8" y="3072"/>
              <a:ext cx="457" cy="287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Sub</a:t>
              </a:r>
              <a:r>
                <a:rPr kumimoji="1" lang="en-US" altLang="zh-CN" sz="16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 m</a:t>
              </a:r>
              <a:endParaRPr kumimoji="1"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" name="Text Box 58">
              <a:extLst>
                <a:ext uri="{FF2B5EF4-FFF2-40B4-BE49-F238E27FC236}">
                  <a16:creationId xmlns:a16="http://schemas.microsoft.com/office/drawing/2014/main" id="{4E2E1A2F-CEFF-3EAF-63AE-9D45DAF76D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4" y="2931"/>
              <a:ext cx="297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16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48" name="Text Box 49">
              <a:extLst>
                <a:ext uri="{FF2B5EF4-FFF2-40B4-BE49-F238E27FC236}">
                  <a16:creationId xmlns:a16="http://schemas.microsoft.com/office/drawing/2014/main" id="{C32625A4-3E3D-D9FA-A16C-589BCCEA43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5" y="1047"/>
              <a:ext cx="915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例行子程序</a:t>
              </a:r>
            </a:p>
          </p:txBody>
        </p:sp>
        <p:sp>
          <p:nvSpPr>
            <p:cNvPr id="49" name="Text Box 50">
              <a:extLst>
                <a:ext uri="{FF2B5EF4-FFF2-40B4-BE49-F238E27FC236}">
                  <a16:creationId xmlns:a16="http://schemas.microsoft.com/office/drawing/2014/main" id="{33DB13BE-7940-6BD5-76DE-CE1BF1EF1A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8" y="1365"/>
              <a:ext cx="457" cy="287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Sub</a:t>
              </a:r>
              <a:r>
                <a:rPr kumimoji="1" lang="en-US" altLang="zh-CN" sz="16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 0</a:t>
              </a:r>
              <a:endParaRPr kumimoji="1"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" name="Text Box 51">
              <a:extLst>
                <a:ext uri="{FF2B5EF4-FFF2-40B4-BE49-F238E27FC236}">
                  <a16:creationId xmlns:a16="http://schemas.microsoft.com/office/drawing/2014/main" id="{37169357-748C-BA7F-1E2A-66A6DA1BC5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8" y="1846"/>
              <a:ext cx="457" cy="288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Sub</a:t>
              </a:r>
              <a:r>
                <a:rPr kumimoji="1" lang="en-US" altLang="zh-CN" sz="16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 1</a:t>
              </a:r>
              <a:endParaRPr kumimoji="1"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" name="Text Box 52">
              <a:extLst>
                <a:ext uri="{FF2B5EF4-FFF2-40B4-BE49-F238E27FC236}">
                  <a16:creationId xmlns:a16="http://schemas.microsoft.com/office/drawing/2014/main" id="{E11E9610-912F-F986-314C-683B7906B7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8" y="2415"/>
              <a:ext cx="457" cy="287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Sub</a:t>
              </a:r>
              <a:r>
                <a:rPr kumimoji="1" lang="en-US" altLang="zh-CN" sz="16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 i</a:t>
              </a:r>
              <a:endParaRPr kumimoji="1"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" name="Text Box 54">
              <a:extLst>
                <a:ext uri="{FF2B5EF4-FFF2-40B4-BE49-F238E27FC236}">
                  <a16:creationId xmlns:a16="http://schemas.microsoft.com/office/drawing/2014/main" id="{B254765B-B417-9E56-D6C5-963FE4D1F4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7" y="2766"/>
              <a:ext cx="23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 b="0">
                  <a:solidFill>
                    <a:schemeClr val="tx1"/>
                  </a:solidFill>
                  <a:latin typeface="宋体" panose="02010600030101010101" pitchFamily="2" charset="-122"/>
                  <a:sym typeface="MT Extra" pitchFamily="18" charset="2"/>
                </a:rPr>
                <a:t>︙</a:t>
              </a:r>
              <a:endParaRPr kumimoji="1" lang="en-US" altLang="zh-CN" sz="1600" b="0">
                <a:solidFill>
                  <a:schemeClr val="tx1"/>
                </a:solidFill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53" name="Text Box 55">
              <a:extLst>
                <a:ext uri="{FF2B5EF4-FFF2-40B4-BE49-F238E27FC236}">
                  <a16:creationId xmlns:a16="http://schemas.microsoft.com/office/drawing/2014/main" id="{D6853FC5-6188-AC0B-412D-35B7D344F7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5" y="1216"/>
              <a:ext cx="27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16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4" name="Text Box 56">
              <a:extLst>
                <a:ext uri="{FF2B5EF4-FFF2-40B4-BE49-F238E27FC236}">
                  <a16:creationId xmlns:a16="http://schemas.microsoft.com/office/drawing/2014/main" id="{03276A3E-63FF-6976-F08B-0C2B23A952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5" y="1714"/>
              <a:ext cx="27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16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5" name="Text Box 57">
              <a:extLst>
                <a:ext uri="{FF2B5EF4-FFF2-40B4-BE49-F238E27FC236}">
                  <a16:creationId xmlns:a16="http://schemas.microsoft.com/office/drawing/2014/main" id="{3651C9F1-3FF9-0593-214E-5CB3D9EF44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7" y="2260"/>
              <a:ext cx="27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16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56" name="Text Box 59">
              <a:extLst>
                <a:ext uri="{FF2B5EF4-FFF2-40B4-BE49-F238E27FC236}">
                  <a16:creationId xmlns:a16="http://schemas.microsoft.com/office/drawing/2014/main" id="{908290EB-9E45-4B9B-B969-09BB38454E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7" y="2145"/>
              <a:ext cx="23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 b="0">
                  <a:solidFill>
                    <a:schemeClr val="tx1"/>
                  </a:solidFill>
                  <a:latin typeface="宋体" panose="02010600030101010101" pitchFamily="2" charset="-122"/>
                  <a:sym typeface="MT Extra" pitchFamily="18" charset="2"/>
                </a:rPr>
                <a:t>︙</a:t>
              </a:r>
              <a:endParaRPr kumimoji="1" lang="en-US" altLang="zh-CN" sz="1600" b="0">
                <a:solidFill>
                  <a:schemeClr val="tx1"/>
                </a:solidFill>
                <a:latin typeface="Times New Roman" panose="02020603050405020304" pitchFamily="18" charset="0"/>
                <a:sym typeface="Symbol" pitchFamily="2" charset="2"/>
              </a:endParaRPr>
            </a:p>
          </p:txBody>
        </p:sp>
      </p:grpSp>
      <p:sp>
        <p:nvSpPr>
          <p:cNvPr id="57" name="Text Box 73">
            <a:extLst>
              <a:ext uri="{FF2B5EF4-FFF2-40B4-BE49-F238E27FC236}">
                <a16:creationId xmlns:a16="http://schemas.microsoft.com/office/drawing/2014/main" id="{E2579AB4-51D8-9450-80D0-42F4C411F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4425" y="6048375"/>
            <a:ext cx="2528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Ø"/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Ø"/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Ø"/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Ø"/>
              <a:defRPr sz="32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系统调用的执行过程</a:t>
            </a:r>
          </a:p>
        </p:txBody>
      </p:sp>
    </p:spTree>
    <p:extLst>
      <p:ext uri="{BB962C8B-B14F-4D97-AF65-F5344CB8AC3E}">
        <p14:creationId xmlns:p14="http://schemas.microsoft.com/office/powerpoint/2010/main" val="3032364811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D314D6-C3EB-E5BE-E3AD-2D2BC1B0F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系统调用的参数传递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415434-8B99-A6FF-BDC3-41AE804EB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kumimoji="1" lang="zh-CN" altLang="en-US" dirty="0"/>
              <a:t>除了所需系统调用的标识符之外，还需要更多的信息</a:t>
            </a:r>
          </a:p>
          <a:p>
            <a:r>
              <a:rPr kumimoji="1" lang="zh-CN" altLang="en-US" dirty="0"/>
              <a:t>具体的信息类型和数量根据操作系统和调用而变化</a:t>
            </a:r>
          </a:p>
          <a:p>
            <a:r>
              <a:rPr kumimoji="1" lang="zh-CN" altLang="en-US" dirty="0"/>
              <a:t>有三种常见的方法用于将参数传递给操作系统</a:t>
            </a:r>
          </a:p>
          <a:p>
            <a:pPr lvl="1"/>
            <a:r>
              <a:rPr kumimoji="1" lang="zh-CN" altLang="en-US" dirty="0"/>
              <a:t>将参数传递到寄存器中</a:t>
            </a:r>
          </a:p>
          <a:p>
            <a:pPr lvl="2"/>
            <a:r>
              <a:rPr kumimoji="1" lang="zh-CN" altLang="en-US" dirty="0"/>
              <a:t>在某些情况下，可能会有多个参数超过寄存器数量</a:t>
            </a:r>
          </a:p>
          <a:p>
            <a:pPr lvl="1"/>
            <a:r>
              <a:rPr kumimoji="1" lang="zh-CN" altLang="en-US" dirty="0"/>
              <a:t>将参数存储在内存中的块或表中，并将块的地址作为参数传递到寄存器中</a:t>
            </a:r>
          </a:p>
          <a:p>
            <a:pPr lvl="2"/>
            <a:r>
              <a:rPr kumimoji="1" lang="zh-CN" altLang="en-US" dirty="0"/>
              <a:t>这种方法被 </a:t>
            </a:r>
            <a:r>
              <a:rPr kumimoji="1" lang="en" altLang="zh-CN" dirty="0"/>
              <a:t>Linux </a:t>
            </a:r>
            <a:r>
              <a:rPr kumimoji="1" lang="zh-CN" altLang="en-US" dirty="0"/>
              <a:t>和 </a:t>
            </a:r>
            <a:r>
              <a:rPr kumimoji="1" lang="en" altLang="zh-CN" dirty="0"/>
              <a:t>Solaris </a:t>
            </a:r>
            <a:r>
              <a:rPr kumimoji="1" lang="zh-CN" altLang="en-US" dirty="0"/>
              <a:t>使用</a:t>
            </a:r>
          </a:p>
          <a:p>
            <a:pPr lvl="1"/>
            <a:r>
              <a:rPr kumimoji="1" lang="zh-CN" altLang="en-US" dirty="0"/>
              <a:t>程序将参数放置或推送到堆栈中，并由操作系统从堆栈中弹出</a:t>
            </a:r>
          </a:p>
          <a:p>
            <a:pPr lvl="1"/>
            <a:r>
              <a:rPr kumimoji="1" lang="zh-CN" altLang="en-US" dirty="0"/>
              <a:t>块和堆栈方法不限制传递的参数数量或长度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95C887-8A42-FB88-6004-848814F37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33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292022"/>
      </p:ext>
    </p:extLst>
  </p:cSld>
  <p:clrMapOvr>
    <a:masterClrMapping/>
  </p:clrMapOvr>
  <p:transition spd="med"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17C1AB-0D97-B08F-CBA1-19A76248E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通过表来进行参数传递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A29ACE-96F7-4AFF-FF65-DFF861205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91D2BE-9221-0DF0-D5FC-0BDDAD1CF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34</a:t>
            </a:fld>
            <a:endParaRPr lang="zh-CN" alt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1B83EFE-D2C8-D23E-8CFF-18F7AE0B1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065" y="1248064"/>
            <a:ext cx="7129869" cy="3747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1156420"/>
      </p:ext>
    </p:extLst>
  </p:cSld>
  <p:clrMapOvr>
    <a:masterClrMapping/>
  </p:clrMapOvr>
  <p:transition spd="med"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B324133C-BE17-4222-310E-1701644D51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2988" y="225425"/>
            <a:ext cx="7850187" cy="746125"/>
          </a:xfrm>
        </p:spPr>
        <p:txBody>
          <a:bodyPr/>
          <a:lstStyle/>
          <a:p>
            <a:r>
              <a:rPr lang="zh-CN" altLang="en-US" dirty="0"/>
              <a:t>系统调用的类型</a:t>
            </a:r>
          </a:p>
        </p:txBody>
      </p:sp>
      <p:sp>
        <p:nvSpPr>
          <p:cNvPr id="379907" name="Rectangle 3">
            <a:extLst>
              <a:ext uri="{FF2B5EF4-FFF2-40B4-BE49-F238E27FC236}">
                <a16:creationId xmlns:a16="http://schemas.microsoft.com/office/drawing/2014/main" id="{2FC7E35A-6C90-DE2B-10C8-216B4CCABF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>
            <a:normAutofit fontScale="77500" lnSpcReduction="20000"/>
          </a:bodyPr>
          <a:lstStyle/>
          <a:p>
            <a:r>
              <a:rPr lang="zh-CN" altLang="en-US" dirty="0"/>
              <a:t>进程控制</a:t>
            </a:r>
            <a:endParaRPr lang="en-US" altLang="zh-CN" dirty="0"/>
          </a:p>
          <a:p>
            <a:pPr lvl="1"/>
            <a:r>
              <a:rPr lang="en-US" altLang="en-US" dirty="0"/>
              <a:t>create process, terminate process</a:t>
            </a:r>
          </a:p>
          <a:p>
            <a:pPr lvl="1"/>
            <a:r>
              <a:rPr lang="en-US" altLang="en-US" dirty="0"/>
              <a:t>end, abort</a:t>
            </a:r>
          </a:p>
          <a:p>
            <a:pPr lvl="1"/>
            <a:r>
              <a:rPr lang="en-US" altLang="en-US" dirty="0"/>
              <a:t>load, execute</a:t>
            </a:r>
          </a:p>
          <a:p>
            <a:pPr lvl="1"/>
            <a:r>
              <a:rPr lang="en-US" altLang="en-US" dirty="0"/>
              <a:t>get process attributes, set process attributes</a:t>
            </a:r>
          </a:p>
          <a:p>
            <a:pPr lvl="1"/>
            <a:r>
              <a:rPr lang="en-US" altLang="en-US" dirty="0"/>
              <a:t>wait for time</a:t>
            </a:r>
          </a:p>
          <a:p>
            <a:pPr lvl="1"/>
            <a:r>
              <a:rPr lang="en-US" altLang="en-US" dirty="0"/>
              <a:t>wait event, signal event</a:t>
            </a:r>
          </a:p>
          <a:p>
            <a:pPr lvl="1"/>
            <a:r>
              <a:rPr lang="en-US" altLang="en-US" dirty="0"/>
              <a:t>allocate and free memory</a:t>
            </a:r>
          </a:p>
          <a:p>
            <a:pPr lvl="1"/>
            <a:r>
              <a:rPr lang="en-US" altLang="en-US" dirty="0"/>
              <a:t>dump memory if error</a:t>
            </a:r>
          </a:p>
          <a:p>
            <a:pPr lvl="1"/>
            <a:r>
              <a:rPr kumimoji="1" lang="en-US" altLang="en-US" b="1" dirty="0">
                <a:solidFill>
                  <a:srgbClr val="006699"/>
                </a:solidFill>
                <a:ea typeface="MS PGothic" pitchFamily="34" charset="-128"/>
              </a:rPr>
              <a:t>Debugger</a:t>
            </a:r>
            <a:r>
              <a:rPr lang="en-US" altLang="en-US" dirty="0"/>
              <a:t> for determining </a:t>
            </a:r>
            <a:r>
              <a:rPr kumimoji="1" lang="en-US" altLang="en-US" b="1" dirty="0">
                <a:solidFill>
                  <a:srgbClr val="006699"/>
                </a:solidFill>
                <a:ea typeface="MS PGothic" pitchFamily="34" charset="-128"/>
              </a:rPr>
              <a:t>bugs, single step </a:t>
            </a:r>
            <a:r>
              <a:rPr lang="en-US" altLang="en-US" dirty="0"/>
              <a:t>execution</a:t>
            </a:r>
          </a:p>
          <a:p>
            <a:pPr lvl="1"/>
            <a:r>
              <a:rPr kumimoji="1" lang="en-US" altLang="en-US" b="1" dirty="0">
                <a:solidFill>
                  <a:srgbClr val="006699"/>
                </a:solidFill>
                <a:ea typeface="MS PGothic" pitchFamily="34" charset="-128"/>
              </a:rPr>
              <a:t>Locks </a:t>
            </a:r>
            <a:r>
              <a:rPr lang="en-US" altLang="en-US" dirty="0"/>
              <a:t>for managing access to shared data between processes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197C59C-F43B-0643-E658-B51D05C02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/>
          <a:p>
            <a:fld id="{4093CC90-4002-504C-BD88-C9A1D374048E}" type="slidenum">
              <a:rPr lang="zh-CN" altLang="en-US" smtClean="0"/>
              <a:pPr/>
              <a:t>35</a:t>
            </a:fld>
            <a:endParaRPr lang="zh-CN" altLang="en-US" dirty="0"/>
          </a:p>
        </p:txBody>
      </p:sp>
    </p:spTree>
  </p:cSld>
  <p:clrMapOvr>
    <a:masterClrMapping/>
  </p:clrMapOvr>
  <p:transition spd="med"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F34D84-1628-5DA0-8A9C-A01C33B95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系统调用的类型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D4655D-052C-7AAE-7C99-16736AB25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文件管理</a:t>
            </a:r>
            <a:endParaRPr lang="zh-CN" altLang="zh-CN" dirty="0"/>
          </a:p>
          <a:p>
            <a:pPr lvl="1"/>
            <a:r>
              <a:rPr lang="en-US" altLang="zh-CN" dirty="0"/>
              <a:t>create file</a:t>
            </a:r>
            <a:r>
              <a:rPr lang="zh-CN" altLang="en-US" dirty="0"/>
              <a:t>，</a:t>
            </a:r>
            <a:r>
              <a:rPr lang="en-US" altLang="zh-CN" dirty="0"/>
              <a:t>delete file</a:t>
            </a:r>
          </a:p>
          <a:p>
            <a:pPr lvl="1"/>
            <a:r>
              <a:rPr lang="en-US" altLang="zh-CN" dirty="0"/>
              <a:t>open</a:t>
            </a:r>
            <a:r>
              <a:rPr lang="zh-CN" altLang="en-US" dirty="0"/>
              <a:t>，</a:t>
            </a:r>
            <a:r>
              <a:rPr lang="en-US" altLang="zh-CN" dirty="0"/>
              <a:t>close</a:t>
            </a:r>
            <a:r>
              <a:rPr lang="zh-CN" altLang="en-US" dirty="0"/>
              <a:t> </a:t>
            </a:r>
            <a:r>
              <a:rPr lang="en-US" altLang="zh-CN" dirty="0"/>
              <a:t>file</a:t>
            </a:r>
          </a:p>
          <a:p>
            <a:pPr lvl="1"/>
            <a:r>
              <a:rPr lang="en-US" altLang="zh-CN" dirty="0"/>
              <a:t>read</a:t>
            </a:r>
            <a:r>
              <a:rPr lang="zh-CN" altLang="en-US" dirty="0"/>
              <a:t>， </a:t>
            </a:r>
            <a:r>
              <a:rPr lang="en-US" altLang="zh-CN" dirty="0"/>
              <a:t>write</a:t>
            </a:r>
            <a:r>
              <a:rPr lang="zh-CN" altLang="en-US" dirty="0"/>
              <a:t>，</a:t>
            </a:r>
            <a:r>
              <a:rPr lang="en-US" altLang="zh-CN" dirty="0"/>
              <a:t>reposition</a:t>
            </a:r>
          </a:p>
          <a:p>
            <a:pPr lvl="1"/>
            <a:r>
              <a:rPr lang="en-US" altLang="en-US" dirty="0"/>
              <a:t>get and set file attributes</a:t>
            </a:r>
          </a:p>
          <a:p>
            <a:r>
              <a:rPr lang="en-US" altLang="en-US" dirty="0" err="1"/>
              <a:t>设备管理</a:t>
            </a:r>
            <a:endParaRPr lang="en-US" altLang="en-US" dirty="0"/>
          </a:p>
          <a:p>
            <a:pPr lvl="1"/>
            <a:r>
              <a:rPr lang="en-US" altLang="en-US" dirty="0"/>
              <a:t>request device, release device</a:t>
            </a:r>
          </a:p>
          <a:p>
            <a:pPr lvl="1"/>
            <a:r>
              <a:rPr lang="en-US" altLang="en-US" dirty="0"/>
              <a:t>read, write, reposition</a:t>
            </a:r>
          </a:p>
          <a:p>
            <a:pPr lvl="1"/>
            <a:r>
              <a:rPr lang="en-US" altLang="en-US" dirty="0"/>
              <a:t>get device attributes, set device attributes</a:t>
            </a:r>
          </a:p>
          <a:p>
            <a:pPr lvl="1"/>
            <a:r>
              <a:rPr lang="en-US" altLang="en-US" dirty="0"/>
              <a:t>logically attach or detach devices</a:t>
            </a:r>
          </a:p>
          <a:p>
            <a:endParaRPr lang="zh-CN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A4D3A5-D181-3D12-F81A-6192A7014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36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7167528"/>
      </p:ext>
    </p:extLst>
  </p:cSld>
  <p:clrMapOvr>
    <a:masterClrMapping/>
  </p:clrMapOvr>
  <p:transition spd="med"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0BE016F8-EB80-5DDF-39A7-6489E541D5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2988" y="225425"/>
            <a:ext cx="7850187" cy="746125"/>
          </a:xfrm>
        </p:spPr>
        <p:txBody>
          <a:bodyPr/>
          <a:lstStyle/>
          <a:p>
            <a:r>
              <a:rPr lang="zh-CN" altLang="en-US" dirty="0"/>
              <a:t>系统调用的类型</a:t>
            </a:r>
          </a:p>
        </p:txBody>
      </p:sp>
      <p:sp>
        <p:nvSpPr>
          <p:cNvPr id="381955" name="Rectangle 3">
            <a:extLst>
              <a:ext uri="{FF2B5EF4-FFF2-40B4-BE49-F238E27FC236}">
                <a16:creationId xmlns:a16="http://schemas.microsoft.com/office/drawing/2014/main" id="{B31DA514-E078-ED5D-769D-C119123B7A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>
            <a:normAutofit fontScale="77500" lnSpcReduction="20000"/>
          </a:bodyPr>
          <a:lstStyle/>
          <a:p>
            <a:r>
              <a:rPr lang="zh-CN" altLang="en-US" dirty="0"/>
              <a:t>信息维护   </a:t>
            </a:r>
            <a:r>
              <a:rPr lang="en-US" altLang="zh-CN" dirty="0"/>
              <a:t>Information maintenance</a:t>
            </a:r>
          </a:p>
          <a:p>
            <a:pPr lvl="1"/>
            <a:r>
              <a:rPr lang="en-US" altLang="en-US" dirty="0"/>
              <a:t>get time or date, set time or date</a:t>
            </a:r>
          </a:p>
          <a:p>
            <a:pPr lvl="1"/>
            <a:r>
              <a:rPr lang="en-US" altLang="en-US" dirty="0"/>
              <a:t>get system data, set system data</a:t>
            </a:r>
          </a:p>
          <a:p>
            <a:pPr lvl="1"/>
            <a:r>
              <a:rPr lang="en-US" altLang="en-US" dirty="0"/>
              <a:t>get and set process, file, or device attributes</a:t>
            </a:r>
          </a:p>
          <a:p>
            <a:r>
              <a:rPr lang="zh-CN" altLang="en-US" dirty="0"/>
              <a:t>通信    </a:t>
            </a:r>
            <a:r>
              <a:rPr lang="en-US" altLang="zh-CN" dirty="0"/>
              <a:t>Communications</a:t>
            </a:r>
          </a:p>
          <a:p>
            <a:pPr lvl="1"/>
            <a:r>
              <a:rPr lang="en-US" altLang="en-US" dirty="0"/>
              <a:t>create, delete communication connection</a:t>
            </a:r>
          </a:p>
          <a:p>
            <a:pPr lvl="1"/>
            <a:r>
              <a:rPr lang="en-US" altLang="en-US" dirty="0"/>
              <a:t>send, receive messages if </a:t>
            </a:r>
            <a:r>
              <a:rPr lang="en-US" altLang="en-US" b="1" dirty="0">
                <a:solidFill>
                  <a:srgbClr val="006699"/>
                </a:solidFill>
              </a:rPr>
              <a:t>message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passing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model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to </a:t>
            </a:r>
            <a:r>
              <a:rPr lang="en-US" altLang="en-US" b="1" dirty="0">
                <a:solidFill>
                  <a:srgbClr val="006699"/>
                </a:solidFill>
              </a:rPr>
              <a:t>host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name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006699"/>
                </a:solidFill>
              </a:rPr>
              <a:t>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name</a:t>
            </a:r>
          </a:p>
          <a:p>
            <a:pPr lvl="2"/>
            <a:r>
              <a:rPr lang="en-US" altLang="en-US" dirty="0"/>
              <a:t>From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client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to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server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</a:rPr>
              <a:t>shared-memory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model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create and gain access to memory regions</a:t>
            </a:r>
          </a:p>
          <a:p>
            <a:pPr lvl="1"/>
            <a:r>
              <a:rPr lang="en-US" altLang="en-US" dirty="0"/>
              <a:t>transfer status information</a:t>
            </a:r>
          </a:p>
          <a:p>
            <a:pPr lvl="1"/>
            <a:r>
              <a:rPr lang="en-US" altLang="en-US" dirty="0"/>
              <a:t>attach and detach remote devices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F629DFA-7FF9-DF7D-7F43-757CE7002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/>
          <a:p>
            <a:fld id="{4093CC90-4002-504C-BD88-C9A1D374048E}" type="slidenum">
              <a:rPr lang="zh-CN" altLang="en-US" smtClean="0"/>
              <a:pPr/>
              <a:t>37</a:t>
            </a:fld>
            <a:endParaRPr lang="zh-CN" altLang="en-US" dirty="0"/>
          </a:p>
        </p:txBody>
      </p:sp>
    </p:spTree>
  </p:cSld>
  <p:clrMapOvr>
    <a:masterClrMapping/>
  </p:clrMapOvr>
  <p:transition spd="med"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C438AF-6816-8F57-D1B4-FA24DE1C3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系统调用的类型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D310A5-C8A5-C40C-6192-3E25F941C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err="1"/>
              <a:t>保护</a:t>
            </a:r>
            <a:endParaRPr lang="en-US" altLang="en-US" dirty="0"/>
          </a:p>
          <a:p>
            <a:pPr lvl="1"/>
            <a:r>
              <a:rPr lang="en-US" altLang="en-US" dirty="0"/>
              <a:t>control access to resources</a:t>
            </a:r>
          </a:p>
          <a:p>
            <a:pPr lvl="1"/>
            <a:r>
              <a:rPr lang="en-US" altLang="en-US" dirty="0"/>
              <a:t>get and set permissions</a:t>
            </a:r>
          </a:p>
          <a:p>
            <a:pPr lvl="1"/>
            <a:r>
              <a:rPr lang="en-US" altLang="en-US" dirty="0"/>
              <a:t>allow and deny user access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9C5FA4-A8BD-B35B-5515-A747E46E2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38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471528"/>
      </p:ext>
    </p:extLst>
  </p:cSld>
  <p:clrMapOvr>
    <a:masterClrMapping/>
  </p:clrMapOvr>
  <p:transition spd="med"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C3F424-5963-1DA1-B815-E016E5043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Windows</a:t>
            </a:r>
            <a:r>
              <a:rPr kumimoji="1" lang="zh-CN" altLang="en-US" dirty="0"/>
              <a:t>和</a:t>
            </a:r>
            <a:r>
              <a:rPr kumimoji="1" lang="en-US" altLang="zh-CN" dirty="0"/>
              <a:t>Unix</a:t>
            </a:r>
            <a:r>
              <a:rPr kumimoji="1" lang="zh-CN" altLang="en-US" dirty="0"/>
              <a:t>的系统调用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5BC4E7-CB51-BCB1-7266-1E1366D70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16289A-068D-6DBD-C8C9-953CCF1E6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39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9CB048-196E-7613-19E3-4BC0FDC2F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152525"/>
            <a:ext cx="5135463" cy="5550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5887183"/>
      </p:ext>
    </p:extLst>
  </p:cSld>
  <p:clrMapOvr>
    <a:masterClrMapping/>
  </p:clrMapOvr>
  <p:transition spd="med"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D91DCE-9FEB-9529-408A-C81B55956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标准</a:t>
            </a:r>
            <a:r>
              <a:rPr kumimoji="1" lang="en-US" altLang="zh-CN" dirty="0"/>
              <a:t>C</a:t>
            </a:r>
            <a:r>
              <a:rPr kumimoji="1" lang="zh-CN" altLang="en-US" dirty="0"/>
              <a:t>函数库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5C9A9A-8631-9AD8-C59C-5A7303522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2200" dirty="0"/>
              <a:t>C </a:t>
            </a:r>
            <a:r>
              <a:rPr kumimoji="1" lang="zh-CN" altLang="en-US" sz="2200" dirty="0"/>
              <a:t>程序调用 </a:t>
            </a:r>
            <a:r>
              <a:rPr kumimoji="1" lang="en" altLang="zh-CN" sz="2200" dirty="0" err="1"/>
              <a:t>printf</a:t>
            </a:r>
            <a:r>
              <a:rPr kumimoji="1" lang="en" altLang="zh-CN" sz="2200" dirty="0"/>
              <a:t>() </a:t>
            </a:r>
            <a:r>
              <a:rPr kumimoji="1" lang="zh-CN" altLang="en-US" sz="2200" dirty="0"/>
              <a:t>库函数，该函数调用 </a:t>
            </a:r>
            <a:r>
              <a:rPr kumimoji="1" lang="en" altLang="zh-CN" sz="2200" dirty="0"/>
              <a:t>write() </a:t>
            </a:r>
            <a:r>
              <a:rPr kumimoji="1" lang="zh-CN" altLang="en-US" sz="2200" dirty="0"/>
              <a:t>系统调用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137874-F685-4E1B-F2E1-E2C46CB2C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40</a:t>
            </a:fld>
            <a:endParaRPr lang="zh-CN" alt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7E2ED60-3C9F-C543-6735-C02D7DABE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1704975"/>
            <a:ext cx="4864955" cy="499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8808555"/>
      </p:ext>
    </p:extLst>
  </p:cSld>
  <p:clrMapOvr>
    <a:masterClrMapping/>
  </p:clrMapOvr>
  <p:transition spd="med"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8925E6-299D-60FE-AE1E-66596584F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Linux</a:t>
            </a:r>
            <a:r>
              <a:rPr kumimoji="1" lang="zh-CN" altLang="en-US" dirty="0"/>
              <a:t>的系统调用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A0A0D5-9C3A-211D-8231-DAE9E7F12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41</a:t>
            </a:fld>
            <a:endParaRPr lang="zh-CN" altLang="en-US" dirty="0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08F00F51-3831-DEC9-A855-FB11A088D8EE}"/>
              </a:ext>
            </a:extLst>
          </p:cNvPr>
          <p:cNvGrpSpPr>
            <a:grpSpLocks/>
          </p:cNvGrpSpPr>
          <p:nvPr/>
        </p:nvGrpSpPr>
        <p:grpSpPr bwMode="auto">
          <a:xfrm>
            <a:off x="1177925" y="1504950"/>
            <a:ext cx="6361113" cy="3486150"/>
            <a:chOff x="742" y="867"/>
            <a:chExt cx="4007" cy="2196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BD21FAFB-3848-0523-0F17-41617C297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2" y="867"/>
              <a:ext cx="2007" cy="16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pPr marL="914400" indent="-341313"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/>
              </a:pPr>
              <a:endParaRPr lang="zh-CN" altLang="zh-CN" sz="160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endParaRP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B044626A-4F2E-DEB8-2DCA-21CCAD8D79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" y="870"/>
              <a:ext cx="1819" cy="165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pPr marL="914400" indent="-341313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itchFamily="2" charset="2"/>
                <a:buNone/>
                <a:defRPr/>
              </a:pPr>
              <a:endParaRPr lang="zh-CN" altLang="zh-CN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06D1CE95-8F6C-6E26-3BBE-384EA646C1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07" y="1162"/>
              <a:ext cx="186" cy="46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itchFamily="2" charset="2"/>
                <a:buChar char="Ø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C13F4F73-EF60-ED17-C316-0A0A6B97F5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35" y="1161"/>
              <a:ext cx="439" cy="65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itchFamily="2" charset="2"/>
                <a:buChar char="Ø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7432168C-6B5B-FAEE-538F-E272A01636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577" y="1602"/>
              <a:ext cx="242" cy="56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itchFamily="2" charset="2"/>
                <a:buChar char="Ø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7A183717-6A76-B989-FA15-08DEBE6FC8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28" y="1789"/>
              <a:ext cx="195" cy="25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itchFamily="2" charset="2"/>
                <a:buChar char="Ø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169DF98B-97E2-EEBC-6EE6-5471D8C7C6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9" y="1167"/>
              <a:ext cx="612" cy="703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None/>
                <a:defRPr/>
              </a:pPr>
              <a:r>
                <a:rPr kumimoji="1" lang="en-US" altLang="zh-CN" sz="18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sym typeface="MT Extra" pitchFamily="18" charset="2"/>
                </a:rPr>
                <a:t>      </a:t>
              </a:r>
              <a:r>
                <a:rPr kumimoji="1" lang="en-US" altLang="zh-CN" sz="1800" b="0" dirty="0">
                  <a:solidFill>
                    <a:schemeClr val="tx1"/>
                  </a:solidFill>
                  <a:latin typeface="宋体"/>
                  <a:ea typeface="宋体"/>
                  <a:sym typeface="MT Extra" pitchFamily="18" charset="2"/>
                </a:rPr>
                <a:t>︙</a:t>
              </a:r>
              <a:endParaRPr kumimoji="1" lang="en-US" altLang="zh-CN" sz="1800" b="0" dirty="0">
                <a:solidFill>
                  <a:schemeClr val="tx1"/>
                </a:solidFill>
                <a:latin typeface="Times New Roman" pitchFamily="18" charset="0"/>
                <a:sym typeface="MT Extra" pitchFamily="18" charset="2"/>
              </a:endParaRPr>
            </a:p>
            <a:p>
              <a:pPr eaLnBrk="1" hangingPunct="1">
                <a:spcBef>
                  <a:spcPct val="20000"/>
                </a:spcBef>
                <a:buNone/>
                <a:defRPr/>
              </a:pPr>
              <a:r>
                <a:rPr kumimoji="1" lang="en-US" altLang="zh-CN" sz="1800" b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  </a:t>
              </a:r>
              <a:r>
                <a:rPr kumimoji="1" lang="en-US" altLang="zh-CN" sz="1800" b="0" dirty="0" err="1">
                  <a:solidFill>
                    <a:schemeClr val="tx1"/>
                  </a:solidFill>
                  <a:latin typeface="Times New Roman" pitchFamily="18" charset="0"/>
                </a:rPr>
                <a:t>abc</a:t>
              </a:r>
              <a:r>
                <a:rPr kumimoji="1" lang="en-US" altLang="zh-CN" sz="1800" b="0" dirty="0">
                  <a:solidFill>
                    <a:schemeClr val="tx1"/>
                  </a:solidFill>
                  <a:latin typeface="Times New Roman" pitchFamily="18" charset="0"/>
                </a:rPr>
                <a:t>();</a:t>
              </a:r>
            </a:p>
            <a:p>
              <a:pPr eaLnBrk="1" hangingPunct="1">
                <a:spcBef>
                  <a:spcPct val="20000"/>
                </a:spcBef>
                <a:buNone/>
                <a:defRPr/>
              </a:pPr>
              <a:r>
                <a:rPr kumimoji="1" lang="en-US" altLang="zh-CN" sz="1800" b="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  <a:sym typeface="MT Extra" pitchFamily="18" charset="2"/>
                </a:rPr>
                <a:t>     </a:t>
              </a:r>
              <a:r>
                <a:rPr kumimoji="1" lang="en-US" altLang="zh-CN" sz="1800" b="0" dirty="0">
                  <a:solidFill>
                    <a:schemeClr val="tx1"/>
                  </a:solidFill>
                  <a:latin typeface="宋体"/>
                  <a:ea typeface="宋体"/>
                  <a:sym typeface="MT Extra" pitchFamily="18" charset="2"/>
                </a:rPr>
                <a:t>︙</a:t>
              </a:r>
              <a:endParaRPr kumimoji="1" lang="en-US" altLang="zh-CN" sz="1800" b="0" dirty="0">
                <a:solidFill>
                  <a:schemeClr val="tx1"/>
                </a:solidFill>
                <a:latin typeface="Times New Roman" pitchFamily="18" charset="0"/>
                <a:sym typeface="MT Extra" pitchFamily="18" charset="2"/>
              </a:endParaRPr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9FA87D06-94D1-F69F-3841-1280AF3151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0" y="1167"/>
              <a:ext cx="612" cy="1268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en-US" altLang="zh-CN" sz="18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abc();</a:t>
              </a:r>
              <a:r>
                <a:rPr kumimoji="1" lang="en-US" altLang="zh-CN" sz="1800" b="0">
                  <a:solidFill>
                    <a:schemeClr val="tx1"/>
                  </a:solidFill>
                  <a:latin typeface="Times New Roman" panose="02020603050405020304" pitchFamily="18" charset="0"/>
                  <a:sym typeface="MT Extra" pitchFamily="18" charset="2"/>
                </a:rPr>
                <a:t> </a:t>
              </a:r>
            </a:p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en-US" altLang="zh-CN" sz="1800" b="0">
                  <a:solidFill>
                    <a:schemeClr val="tx1"/>
                  </a:solidFill>
                  <a:latin typeface="Times New Roman" panose="02020603050405020304" pitchFamily="18" charset="0"/>
                  <a:sym typeface="MT Extra" pitchFamily="18" charset="2"/>
                </a:rPr>
                <a:t>{</a:t>
              </a:r>
            </a:p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en-US" altLang="zh-CN" sz="1800" b="0">
                  <a:solidFill>
                    <a:schemeClr val="tx1"/>
                  </a:solidFill>
                  <a:latin typeface="宋体" panose="02010600030101010101" pitchFamily="2" charset="-122"/>
                  <a:sym typeface="MT Extra" pitchFamily="18" charset="2"/>
                </a:rPr>
                <a:t>  ︙</a:t>
              </a:r>
              <a:r>
                <a:rPr kumimoji="1" lang="en-US" altLang="zh-CN" sz="18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  syscall;</a:t>
              </a:r>
            </a:p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en-US" altLang="zh-CN" sz="1800" b="0">
                  <a:solidFill>
                    <a:srgbClr val="4138FA"/>
                  </a:solidFill>
                  <a:sym typeface="MT Extra" pitchFamily="18" charset="2"/>
                </a:rPr>
                <a:t>   </a:t>
              </a:r>
              <a:r>
                <a:rPr kumimoji="1" lang="en-US" altLang="zh-CN" sz="1800" b="0">
                  <a:solidFill>
                    <a:schemeClr val="tx1"/>
                  </a:solidFill>
                  <a:latin typeface="宋体" panose="02010600030101010101" pitchFamily="2" charset="-122"/>
                  <a:sym typeface="MT Extra" pitchFamily="18" charset="2"/>
                </a:rPr>
                <a:t>︙</a:t>
              </a:r>
              <a:endParaRPr kumimoji="1" lang="en-US" altLang="zh-CN" sz="1800" b="0">
                <a:solidFill>
                  <a:schemeClr val="tx1"/>
                </a:solidFill>
                <a:latin typeface="Times New Roman" panose="02020603050405020304" pitchFamily="18" charset="0"/>
                <a:sym typeface="MT Extra" pitchFamily="18" charset="2"/>
              </a:endParaRPr>
            </a:p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en-US" altLang="zh-CN" sz="1800" b="0">
                  <a:solidFill>
                    <a:schemeClr val="tx1"/>
                  </a:solidFill>
                  <a:latin typeface="Times New Roman" panose="02020603050405020304" pitchFamily="18" charset="0"/>
                  <a:sym typeface="MT Extra" pitchFamily="18" charset="2"/>
                </a:rPr>
                <a:t>}</a:t>
              </a:r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6359C144-671A-BC87-EB7C-D214BF1B21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8" y="1167"/>
              <a:ext cx="849" cy="1256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en-US" altLang="zh-CN" sz="1800" b="0">
                  <a:solidFill>
                    <a:schemeClr val="tx1"/>
                  </a:solidFill>
                  <a:latin typeface="Times New Roman" panose="02020603050405020304" pitchFamily="18" charset="0"/>
                  <a:sym typeface="MT Extra" pitchFamily="18" charset="2"/>
                </a:rPr>
                <a:t>system_call: </a:t>
              </a:r>
            </a:p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en-US" altLang="zh-CN" sz="1800" b="0">
                  <a:solidFill>
                    <a:schemeClr val="tx1"/>
                  </a:solidFill>
                  <a:latin typeface="宋体" panose="02010600030101010101" pitchFamily="2" charset="-122"/>
                  <a:sym typeface="MT Extra" pitchFamily="18" charset="2"/>
                </a:rPr>
                <a:t>    ︙</a:t>
              </a:r>
            </a:p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en-US" altLang="zh-CN" sz="18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  sys_abc</a:t>
              </a:r>
            </a:p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en-US" altLang="zh-CN" sz="1800" b="0">
                  <a:solidFill>
                    <a:srgbClr val="4138FA"/>
                  </a:solidFill>
                  <a:sym typeface="MT Extra" pitchFamily="18" charset="2"/>
                </a:rPr>
                <a:t>       </a:t>
              </a:r>
              <a:r>
                <a:rPr kumimoji="1" lang="en-US" altLang="zh-CN" sz="1800" b="0">
                  <a:solidFill>
                    <a:schemeClr val="tx1"/>
                  </a:solidFill>
                  <a:latin typeface="宋体" panose="02010600030101010101" pitchFamily="2" charset="-122"/>
                  <a:sym typeface="MT Extra" pitchFamily="18" charset="2"/>
                </a:rPr>
                <a:t>︙</a:t>
              </a:r>
              <a:endParaRPr kumimoji="1" lang="en-US" altLang="zh-CN" sz="1800" b="0">
                <a:solidFill>
                  <a:schemeClr val="tx1"/>
                </a:solidFill>
                <a:latin typeface="Times New Roman" panose="02020603050405020304" pitchFamily="18" charset="0"/>
                <a:sym typeface="MT Extra" pitchFamily="18" charset="2"/>
              </a:endParaRPr>
            </a:p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en-US" altLang="zh-CN" sz="1800" b="0">
                  <a:solidFill>
                    <a:schemeClr val="tx1"/>
                  </a:solidFill>
                  <a:latin typeface="Times New Roman" panose="02020603050405020304" pitchFamily="18" charset="0"/>
                  <a:sym typeface="MT Extra" pitchFamily="18" charset="2"/>
                </a:rPr>
                <a:t>  SYSEXIT</a:t>
              </a:r>
            </a:p>
          </p:txBody>
        </p:sp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941DE6C9-B95C-50AE-3587-2CDE311019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8" y="1167"/>
              <a:ext cx="630" cy="1250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en-US" altLang="zh-CN" sz="1800" b="0">
                  <a:solidFill>
                    <a:schemeClr val="tx1"/>
                  </a:solidFill>
                  <a:latin typeface="Times New Roman" panose="02020603050405020304" pitchFamily="18" charset="0"/>
                  <a:sym typeface="MT Extra" pitchFamily="18" charset="2"/>
                </a:rPr>
                <a:t>sysabc()</a:t>
              </a:r>
            </a:p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en-US" altLang="zh-CN" sz="1800" b="0">
                  <a:solidFill>
                    <a:schemeClr val="tx1"/>
                  </a:solidFill>
                  <a:latin typeface="Times New Roman" panose="02020603050405020304" pitchFamily="18" charset="0"/>
                  <a:sym typeface="MT Extra" pitchFamily="18" charset="2"/>
                </a:rPr>
                <a:t>{</a:t>
              </a:r>
            </a:p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en-US" altLang="zh-CN" sz="1800" b="0">
                  <a:solidFill>
                    <a:schemeClr val="tx1"/>
                  </a:solidFill>
                  <a:latin typeface="Times New Roman" panose="02020603050405020304" pitchFamily="18" charset="0"/>
                  <a:sym typeface="MT Extra" pitchFamily="18" charset="2"/>
                </a:rPr>
                <a:t>      </a:t>
              </a:r>
              <a:r>
                <a:rPr kumimoji="1" lang="en-US" altLang="zh-CN" sz="1800" b="0">
                  <a:solidFill>
                    <a:schemeClr val="tx1"/>
                  </a:solidFill>
                  <a:latin typeface="宋体" panose="02010600030101010101" pitchFamily="2" charset="-122"/>
                  <a:sym typeface="MT Extra" pitchFamily="18" charset="2"/>
                </a:rPr>
                <a:t>︙</a:t>
              </a:r>
              <a:endParaRPr kumimoji="1" lang="en-US" altLang="zh-CN" sz="1800" b="0">
                <a:solidFill>
                  <a:schemeClr val="tx1"/>
                </a:solidFill>
                <a:latin typeface="Times New Roman" panose="02020603050405020304" pitchFamily="18" charset="0"/>
                <a:sym typeface="MT Extra" pitchFamily="18" charset="2"/>
              </a:endParaRPr>
            </a:p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en-US" altLang="zh-CN" sz="18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</a:t>
              </a:r>
              <a:r>
                <a:rPr kumimoji="1" lang="en-US" altLang="zh-CN" sz="1800" b="0">
                  <a:solidFill>
                    <a:schemeClr val="tx1"/>
                  </a:solidFill>
                  <a:latin typeface="宋体" panose="02010600030101010101" pitchFamily="2" charset="-122"/>
                  <a:sym typeface="MT Extra" pitchFamily="18" charset="2"/>
                </a:rPr>
                <a:t>︙</a:t>
              </a:r>
              <a:endParaRPr kumimoji="1" lang="en-US" altLang="zh-CN" sz="1800" b="0">
                <a:solidFill>
                  <a:schemeClr val="tx1"/>
                </a:solidFill>
                <a:latin typeface="Times New Roman" panose="02020603050405020304" pitchFamily="18" charset="0"/>
                <a:sym typeface="MT Extra" pitchFamily="18" charset="2"/>
              </a:endParaRPr>
            </a:p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en-US" altLang="zh-CN" sz="1800" b="0">
                  <a:solidFill>
                    <a:schemeClr val="tx1"/>
                  </a:solidFill>
                  <a:latin typeface="Times New Roman" panose="02020603050405020304" pitchFamily="18" charset="0"/>
                  <a:sym typeface="MT Extra" pitchFamily="18" charset="2"/>
                </a:rPr>
                <a:t>}</a:t>
              </a:r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238CE9B3-E7FE-9BE1-E1F1-16FA04D371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5" y="893"/>
              <a:ext cx="78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用户态</a:t>
              </a:r>
              <a:endParaRPr kumimoji="1" lang="zh-CN" altLang="en-US" sz="18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8B72AB21-3A77-9172-65A8-8CBA392319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1" y="885"/>
              <a:ext cx="63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核心态</a:t>
              </a:r>
              <a:endParaRPr kumimoji="1" lang="zh-CN" altLang="en-US" sz="18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13C6E8D9-9745-435C-3C7E-CFC9C786DE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1" y="2666"/>
              <a:ext cx="675" cy="3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用户程序</a:t>
              </a:r>
            </a:p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系统调用</a:t>
              </a:r>
              <a:endParaRPr kumimoji="1" lang="zh-CN" altLang="en-US" sz="16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id="{2AA5B5D1-C275-B23C-F3E4-BC02D0EEA4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0" y="2666"/>
              <a:ext cx="973" cy="36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>
              <a:lvl1pPr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Char char="Ø"/>
                <a:defRPr sz="3200" b="1">
                  <a:solidFill>
                    <a:srgbClr val="4138FA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None/>
                <a:defRPr/>
              </a:pPr>
              <a:r>
                <a:rPr kumimoji="1" lang="en-US" altLang="zh-CN" sz="16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 </a:t>
              </a:r>
              <a:r>
                <a:rPr kumimoji="1"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在</a:t>
              </a:r>
              <a:r>
                <a:rPr kumimoji="1" lang="en-US" altLang="zh-CN" sz="1600" dirty="0" err="1">
                  <a:solidFill>
                    <a:schemeClr val="tx1"/>
                  </a:solidFill>
                  <a:latin typeface="Times New Roman" panose="02020603050405020304" pitchFamily="18" charset="0"/>
                </a:rPr>
                <a:t>libc</a:t>
              </a:r>
              <a:r>
                <a:rPr kumimoji="1"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标准库</a:t>
              </a:r>
            </a:p>
            <a:p>
              <a:pPr eaLnBrk="1" hangingPunct="1">
                <a:spcBef>
                  <a:spcPct val="20000"/>
                </a:spcBef>
                <a:buNone/>
                <a:defRPr/>
              </a:pPr>
              <a:r>
                <a:rPr kumimoji="1"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中的封装例程</a:t>
              </a:r>
              <a:endParaRPr kumimoji="1" lang="zh-CN" altLang="en-US" sz="16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" name="Text Box 20">
              <a:extLst>
                <a:ext uri="{FF2B5EF4-FFF2-40B4-BE49-F238E27FC236}">
                  <a16:creationId xmlns:a16="http://schemas.microsoft.com/office/drawing/2014/main" id="{D2963E91-E13A-5CFA-8450-D0E28DCBBB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7" y="2666"/>
              <a:ext cx="675" cy="3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系统调用</a:t>
              </a:r>
            </a:p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处理程序</a:t>
              </a:r>
              <a:endParaRPr kumimoji="1" lang="zh-CN" altLang="en-US" sz="16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" name="Text Box 21">
              <a:extLst>
                <a:ext uri="{FF2B5EF4-FFF2-40B4-BE49-F238E27FC236}">
                  <a16:creationId xmlns:a16="http://schemas.microsoft.com/office/drawing/2014/main" id="{F5911706-5325-642E-D517-99339B0196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6" y="2666"/>
              <a:ext cx="675" cy="3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系统调用</a:t>
              </a:r>
            </a:p>
            <a:p>
              <a:pPr eaLnBrk="1" hangingPunct="1">
                <a:lnSpc>
                  <a:spcPct val="100000"/>
                </a:lnSpc>
                <a:spcBef>
                  <a:spcPct val="20000"/>
                </a:spcBef>
                <a:buClrTx/>
                <a:buSzTx/>
                <a:buFontTx/>
                <a:buNone/>
              </a:pPr>
              <a:r>
                <a:rPr kumimoji="1"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服务例程</a:t>
              </a:r>
              <a:endParaRPr kumimoji="1" lang="zh-CN" altLang="en-US" sz="16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2" name="Text Box 23">
            <a:extLst>
              <a:ext uri="{FF2B5EF4-FFF2-40B4-BE49-F238E27FC236}">
                <a16:creationId xmlns:a16="http://schemas.microsoft.com/office/drawing/2014/main" id="{B5D7A563-9D50-17D3-52FF-91A87F530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7688" y="5424488"/>
            <a:ext cx="24463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1" lang="en-US" altLang="zh-CN" sz="2000">
                <a:solidFill>
                  <a:schemeClr val="tx1"/>
                </a:solidFill>
                <a:latin typeface="Times New Roman" panose="02020603050405020304" pitchFamily="18" charset="0"/>
              </a:rPr>
              <a:t>Linux</a:t>
            </a:r>
            <a:r>
              <a:rPr kumimoji="1"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系统调用过程</a:t>
            </a:r>
          </a:p>
        </p:txBody>
      </p:sp>
    </p:spTree>
    <p:extLst>
      <p:ext uri="{BB962C8B-B14F-4D97-AF65-F5344CB8AC3E}">
        <p14:creationId xmlns:p14="http://schemas.microsoft.com/office/powerpoint/2010/main" val="2423316181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40CC8B-E376-F7D7-F841-D94282284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225425"/>
            <a:ext cx="7850187" cy="746125"/>
          </a:xfrm>
        </p:spPr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的系统调用实现机制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234A71-DB42-6FD3-708E-5D3B090E9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系统调用的进入</a:t>
            </a:r>
            <a:endParaRPr lang="en-US" altLang="zh-CN" dirty="0"/>
          </a:p>
          <a:p>
            <a:pPr lvl="1"/>
            <a:r>
              <a:rPr lang="zh-CN" altLang="en-US" dirty="0"/>
              <a:t>① 执行指令触发系统调用</a:t>
            </a:r>
            <a:endParaRPr lang="en-US" altLang="zh-CN" dirty="0"/>
          </a:p>
          <a:p>
            <a:pPr lvl="2"/>
            <a:r>
              <a:rPr lang="en-US" altLang="zh-CN" dirty="0"/>
              <a:t>X86</a:t>
            </a:r>
            <a:r>
              <a:rPr lang="zh-CN" altLang="en-US" dirty="0"/>
              <a:t>触发系统调用的指令为</a:t>
            </a:r>
            <a:r>
              <a:rPr lang="en" altLang="zh-CN" dirty="0"/>
              <a:t>int 0x80</a:t>
            </a:r>
            <a:r>
              <a:rPr lang="zh-CN" altLang="en-US" dirty="0"/>
              <a:t>或</a:t>
            </a:r>
            <a:r>
              <a:rPr lang="en" altLang="zh-CN" dirty="0" err="1"/>
              <a:t>syscall</a:t>
            </a:r>
            <a:endParaRPr lang="en" altLang="zh-CN" dirty="0"/>
          </a:p>
          <a:p>
            <a:pPr lvl="2"/>
            <a:r>
              <a:rPr lang="en-US" altLang="zh-CN" dirty="0" err="1"/>
              <a:t>Riscv</a:t>
            </a:r>
            <a:r>
              <a:rPr lang="zh-CN" altLang="en-US" dirty="0"/>
              <a:t>触发系统调用的指令为</a:t>
            </a:r>
            <a:r>
              <a:rPr lang="en-US" altLang="zh-CN" dirty="0" err="1"/>
              <a:t>ecall</a:t>
            </a:r>
            <a:endParaRPr lang="zh-CN" altLang="en-US" dirty="0"/>
          </a:p>
          <a:p>
            <a:pPr lvl="1"/>
            <a:r>
              <a:rPr lang="zh-CN" altLang="en-US" dirty="0"/>
              <a:t>② </a:t>
            </a:r>
            <a:r>
              <a:rPr lang="en-US" altLang="zh-CN" dirty="0"/>
              <a:t>OS</a:t>
            </a:r>
            <a:r>
              <a:rPr lang="zh-CN" altLang="en-US" dirty="0"/>
              <a:t>查看寄存器中的值来决定具体执行哪个系统调用</a:t>
            </a:r>
          </a:p>
          <a:p>
            <a:pPr lvl="1"/>
            <a:r>
              <a:rPr lang="zh-CN" altLang="en-US" dirty="0"/>
              <a:t>③ 处理机的状态由用户态陷入到内核态</a:t>
            </a:r>
          </a:p>
          <a:p>
            <a:pPr lvl="1"/>
            <a:r>
              <a:rPr lang="zh-CN" altLang="en-US" dirty="0"/>
              <a:t>④ 执行系统调用处理程序。</a:t>
            </a:r>
          </a:p>
          <a:p>
            <a:pPr lvl="1"/>
            <a:r>
              <a:rPr lang="zh-CN" altLang="en-US" dirty="0"/>
              <a:t>⑤ 当系统调用处理完毕后，通过特定的指令返回到用户态。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5297E9-3CF2-A242-F0F3-E64AFB9AA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/>
          <a:p>
            <a:fld id="{4093CC90-4002-504C-BD88-C9A1D374048E}" type="slidenum">
              <a:rPr lang="zh-CN" altLang="en-US" smtClean="0"/>
              <a:pPr/>
              <a:t>42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4764762"/>
      </p:ext>
    </p:extLst>
  </p:cSld>
  <p:clrMapOvr>
    <a:masterClrMapping/>
  </p:clrMapOvr>
  <p:transition spd="med"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A66128-B4C6-1B0E-E9D7-5950DAA4C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的系统调用实现机制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702C60-2F58-41BF-7F14-485BA6A46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zh-CN" altLang="en-US" dirty="0"/>
              <a:t>系统调用号</a:t>
            </a:r>
            <a:endParaRPr kumimoji="1" lang="en-US" altLang="zh-CN" dirty="0"/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itchFamily="2" charset="2"/>
              <a:buNone/>
              <a:defRPr/>
            </a:pPr>
            <a:r>
              <a:rPr lang="zh-CN" altLang="en-US" sz="3200" dirty="0">
                <a:solidFill>
                  <a:srgbClr val="000099"/>
                </a:solidFill>
                <a:latin typeface="宋体" panose="02010600030101010101" pitchFamily="2" charset="-122"/>
              </a:rPr>
              <a:t>① </a:t>
            </a:r>
            <a:r>
              <a:rPr lang="en-US" altLang="zh-CN" sz="32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linux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中，每个系统调用被赋予一个唯一的系统调用号</a:t>
            </a:r>
            <a:r>
              <a:rPr lang="zh-CN" altLang="en-US" sz="3200" dirty="0">
                <a:solidFill>
                  <a:srgbClr val="000099"/>
                </a:solidFill>
                <a:latin typeface="Times New Roman" panose="02020603050405020304" pitchFamily="18" charset="0"/>
              </a:rPr>
              <a:t> 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itchFamily="2" charset="2"/>
              <a:buNone/>
              <a:defRPr/>
            </a:pPr>
            <a:r>
              <a:rPr lang="zh-CN" altLang="en-US" sz="3200" dirty="0">
                <a:solidFill>
                  <a:srgbClr val="000099"/>
                </a:solidFill>
                <a:latin typeface="宋体" panose="02010600030101010101" pitchFamily="2" charset="-122"/>
              </a:rPr>
              <a:t>② 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系统调用号定义在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include/asm-i386/</a:t>
            </a:r>
            <a:r>
              <a:rPr lang="en-US" altLang="zh-CN" sz="32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unistd.h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头文件中</a:t>
            </a:r>
            <a:r>
              <a:rPr lang="zh-CN" altLang="en-US" sz="3200" dirty="0">
                <a:solidFill>
                  <a:srgbClr val="000099"/>
                </a:solidFill>
                <a:latin typeface="宋体" panose="02010600030101010101" pitchFamily="2" charset="-122"/>
              </a:rPr>
              <a:t> 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itchFamily="2" charset="2"/>
              <a:buNone/>
              <a:defRPr/>
            </a:pPr>
            <a:r>
              <a:rPr lang="zh-CN" altLang="en-US" sz="3200" dirty="0">
                <a:solidFill>
                  <a:srgbClr val="000099"/>
                </a:solidFill>
                <a:latin typeface="宋体" panose="02010600030101010101" pitchFamily="2" charset="-122"/>
              </a:rPr>
              <a:t>③ 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系统调用号格式如下</a:t>
            </a:r>
            <a:r>
              <a:rPr lang="zh-CN" altLang="en-US" sz="3200" dirty="0">
                <a:solidFill>
                  <a:srgbClr val="000099"/>
                </a:solidFill>
                <a:latin typeface="Times New Roman" panose="02020603050405020304" pitchFamily="18" charset="0"/>
              </a:rPr>
              <a:t> 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itchFamily="2" charset="2"/>
              <a:buNone/>
              <a:defRPr/>
            </a:pPr>
            <a:r>
              <a:rPr lang="zh-CN" altLang="en-US" sz="2800" b="0" dirty="0">
                <a:solidFill>
                  <a:schemeClr val="bg2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#define  __</a:t>
            </a:r>
            <a:r>
              <a:rPr lang="en-US" altLang="zh-CN" sz="28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NR_restart_syscall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0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itchFamily="2" charset="2"/>
              <a:buNone/>
              <a:defRPr/>
            </a:pP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#define  __</a:t>
            </a:r>
            <a:r>
              <a:rPr lang="en-US" altLang="zh-CN" sz="28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NR_exit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		       1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itchFamily="2" charset="2"/>
              <a:buNone/>
              <a:defRPr/>
            </a:pP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#define  __</a:t>
            </a:r>
            <a:r>
              <a:rPr lang="en-US" altLang="zh-CN" sz="28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NR_fork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		       2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itchFamily="2" charset="2"/>
              <a:buNone/>
              <a:defRPr/>
            </a:pP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#define  __</a:t>
            </a:r>
            <a:r>
              <a:rPr lang="en-US" altLang="zh-CN" sz="28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NR_read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		       3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itchFamily="2" charset="2"/>
              <a:buNone/>
              <a:defRPr/>
            </a:pP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#define  __</a:t>
            </a:r>
            <a:r>
              <a:rPr lang="en-US" altLang="zh-CN" sz="28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NR_write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	                     4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itchFamily="2" charset="2"/>
              <a:buNone/>
              <a:defRPr/>
            </a:pP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#define  __</a:t>
            </a:r>
            <a:r>
              <a:rPr lang="en-US" altLang="zh-CN" sz="28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NR_open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	                     5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itchFamily="2" charset="2"/>
              <a:buNone/>
              <a:defRPr/>
            </a:pP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…………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itchFamily="2" charset="2"/>
              <a:buNone/>
              <a:defRPr/>
            </a:pP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…………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itchFamily="2" charset="2"/>
              <a:buNone/>
              <a:defRPr/>
            </a:pP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#define  __</a:t>
            </a:r>
            <a:r>
              <a:rPr lang="en-US" altLang="zh-CN" sz="28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NR_mq_getsetattr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      282</a:t>
            </a:r>
            <a:r>
              <a:rPr lang="en-US" altLang="zh-CN" sz="2800" b="0" dirty="0">
                <a:solidFill>
                  <a:schemeClr val="bg2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800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	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8E58BB-18ED-E6D8-0565-F4EE8F5DA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43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4645217"/>
      </p:ext>
    </p:extLst>
  </p:cSld>
  <p:clrMapOvr>
    <a:masterClrMapping/>
  </p:clrMapOvr>
  <p:transition spd="med"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0CDE90-CBC5-6CF9-B6C7-214F9707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的系统调用实现机制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E13E01-B7FB-822C-B412-FCE555FDF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zh-CN" altLang="en-US" dirty="0"/>
              <a:t>系统调用表</a:t>
            </a:r>
            <a:endParaRPr kumimoji="1" lang="en-US" altLang="zh-CN" dirty="0"/>
          </a:p>
          <a:p>
            <a:pPr lvl="1" eaLnBrk="1" hangingPunct="1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itchFamily="2" charset="2"/>
              <a:buNone/>
              <a:defRPr/>
            </a:pPr>
            <a:r>
              <a:rPr lang="zh-CN" altLang="en-US" sz="2800" dirty="0">
                <a:solidFill>
                  <a:srgbClr val="000099"/>
                </a:solidFill>
                <a:latin typeface="宋体" panose="02010600030101010101" pitchFamily="2" charset="-122"/>
              </a:rPr>
              <a:t>①</a:t>
            </a:r>
            <a:r>
              <a:rPr lang="zh-CN" altLang="en-US" sz="2800" b="0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系统调用表记录了内核中所有已注册过的系统调用，</a:t>
            </a:r>
          </a:p>
          <a:p>
            <a:pPr lvl="1" eaLnBrk="1" hangingPunct="1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itchFamily="2" charset="2"/>
              <a:buNone/>
              <a:defRPr/>
            </a:pP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它是系统调用的跳转表。 </a:t>
            </a:r>
          </a:p>
          <a:p>
            <a:pPr lvl="1" eaLnBrk="1" hangingPunct="1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itchFamily="2" charset="2"/>
              <a:buNone/>
              <a:defRPr/>
            </a:pPr>
            <a:r>
              <a:rPr lang="zh-CN" altLang="en-US" sz="2800" dirty="0">
                <a:solidFill>
                  <a:srgbClr val="000099"/>
                </a:solidFill>
                <a:latin typeface="宋体" panose="02010600030101010101" pitchFamily="2" charset="-122"/>
              </a:rPr>
              <a:t>②</a:t>
            </a:r>
            <a:r>
              <a:rPr lang="zh-CN" altLang="en-US" sz="2800" b="0" dirty="0">
                <a:solidFill>
                  <a:schemeClr val="bg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800" b="0" dirty="0">
                <a:solidFill>
                  <a:schemeClr val="tx1"/>
                </a:solidFill>
                <a:latin typeface="宋体" panose="02010600030101010101" pitchFamily="2" charset="-122"/>
              </a:rPr>
              <a:t>系统调用表</a:t>
            </a: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是一个函数指针数组，表中依次保存所有</a:t>
            </a:r>
          </a:p>
          <a:p>
            <a:pPr lvl="1" eaLnBrk="1" hangingPunct="1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itchFamily="2" charset="2"/>
              <a:buNone/>
              <a:defRPr/>
            </a:pP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系统调用的函数指针</a:t>
            </a:r>
            <a:endParaRPr lang="zh-CN" altLang="en-US" sz="2800" b="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itchFamily="2" charset="2"/>
              <a:buNone/>
              <a:defRPr/>
            </a:pPr>
            <a:r>
              <a:rPr lang="zh-CN" altLang="en-US" sz="2800" dirty="0">
                <a:solidFill>
                  <a:srgbClr val="000099"/>
                </a:solidFill>
                <a:latin typeface="宋体" panose="02010600030101010101" pitchFamily="2" charset="-122"/>
              </a:rPr>
              <a:t>③</a:t>
            </a:r>
            <a:r>
              <a:rPr lang="zh-CN" altLang="en-US" sz="2800" b="0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Linux</a:t>
            </a: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系统调用表保存在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arch/i386/kernel/</a:t>
            </a: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下的</a:t>
            </a:r>
            <a:r>
              <a:rPr lang="en-US" altLang="zh-CN" sz="28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entry.S</a:t>
            </a: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中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6E5E4E-66AA-C056-E0B1-3EA43C609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44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2416907"/>
      </p:ext>
    </p:extLst>
  </p:cSld>
  <p:clrMapOvr>
    <a:masterClrMapping/>
  </p:clrMapOvr>
  <p:transition spd="med"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641BCC-B333-2709-2F04-D0045581B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的系统调用实现机制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8C5C42-23BC-E724-776F-8F2ECEC7B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7772400" cy="5548312"/>
          </a:xfrm>
        </p:spPr>
        <p:txBody>
          <a:bodyPr>
            <a:normAutofit fontScale="77500" lnSpcReduction="20000"/>
          </a:bodyPr>
          <a:lstStyle/>
          <a:p>
            <a:r>
              <a:rPr kumimoji="1" lang="zh-CN" altLang="en-US" dirty="0"/>
              <a:t>系统调用表</a:t>
            </a:r>
            <a:endParaRPr kumimoji="1" lang="en-US" altLang="zh-CN" dirty="0"/>
          </a:p>
          <a:p>
            <a:pPr lvl="1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3200" dirty="0">
                <a:solidFill>
                  <a:srgbClr val="000099"/>
                </a:solidFill>
                <a:latin typeface="宋体" panose="02010600030101010101" pitchFamily="2" charset="-122"/>
              </a:rPr>
              <a:t>④</a:t>
            </a:r>
            <a:r>
              <a:rPr lang="en-US" altLang="zh-CN" sz="3200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系统调用表格式如下</a:t>
            </a:r>
            <a:r>
              <a:rPr lang="zh-CN" altLang="en-US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	</a:t>
            </a:r>
            <a:endParaRPr lang="zh-CN" altLang="en-US" sz="32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ENTRY(</a:t>
            </a:r>
            <a:r>
              <a:rPr lang="en-US" altLang="zh-CN" sz="28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sys_call_table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	.long </a:t>
            </a:r>
            <a:r>
              <a:rPr lang="en-US" altLang="zh-CN" sz="28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sys_restart_syscall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    /* 0 */</a:t>
            </a:r>
          </a:p>
          <a:p>
            <a:pPr lvl="1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	.long </a:t>
            </a:r>
            <a:r>
              <a:rPr lang="en-US" altLang="zh-CN" sz="28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sys_exit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                     /* 1 */</a:t>
            </a:r>
          </a:p>
          <a:p>
            <a:pPr lvl="1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	.long </a:t>
            </a:r>
            <a:r>
              <a:rPr lang="en-US" altLang="zh-CN" sz="28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sys_fork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		         /* 2 */</a:t>
            </a:r>
          </a:p>
          <a:p>
            <a:pPr lvl="1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	.long </a:t>
            </a:r>
            <a:r>
              <a:rPr lang="en-US" altLang="zh-CN" sz="28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sys_read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		         /* 3 */</a:t>
            </a:r>
          </a:p>
          <a:p>
            <a:pPr lvl="1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	.long </a:t>
            </a:r>
            <a:r>
              <a:rPr lang="en-US" altLang="zh-CN" sz="28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sys_write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		         /* 4 */</a:t>
            </a:r>
          </a:p>
          <a:p>
            <a:pPr lvl="1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	.long </a:t>
            </a:r>
            <a:r>
              <a:rPr lang="en-US" altLang="zh-CN" sz="28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sys_open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		         /* 5 */</a:t>
            </a:r>
          </a:p>
          <a:p>
            <a:pPr lvl="1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           …………</a:t>
            </a:r>
          </a:p>
          <a:p>
            <a:pPr lvl="1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           …………</a:t>
            </a:r>
          </a:p>
          <a:p>
            <a:pPr lvl="1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	.long </a:t>
            </a:r>
            <a:r>
              <a:rPr lang="en-US" altLang="zh-CN" sz="28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sys_mq_getsetattr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     /* 282 */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050CDF-70DA-4B66-44A6-6B7450F7B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45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3370701"/>
      </p:ext>
    </p:extLst>
  </p:cSld>
  <p:clrMapOvr>
    <a:masterClrMapping/>
  </p:clrMapOvr>
  <p:transition spd="med"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02B02-A6CE-6BE6-385B-640E537E4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的系统调用实现机制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B264B5-117A-0CAB-9435-3124DA6E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系统调用处理程序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保存和恢复用户空间的上下文（即寄存器的状态）。</a:t>
            </a:r>
          </a:p>
          <a:p>
            <a:pPr lvl="1"/>
            <a:r>
              <a:rPr kumimoji="1" lang="zh-CN" altLang="en-US" dirty="0"/>
              <a:t>从寄存器中获取系统调用的编号和参数。</a:t>
            </a:r>
          </a:p>
          <a:p>
            <a:pPr lvl="1"/>
            <a:r>
              <a:rPr kumimoji="1" lang="zh-CN" altLang="en-US" dirty="0"/>
              <a:t>根据系统调用的编号在系统调用表中查找对应的处理函数并执行。</a:t>
            </a:r>
          </a:p>
          <a:p>
            <a:pPr lvl="1"/>
            <a:r>
              <a:rPr kumimoji="1" lang="zh-CN" altLang="en-US" dirty="0"/>
              <a:t>将系统调用的结果返回给用户空间。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DB034A-428C-73E6-1482-7F68FBA84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46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1676799"/>
      </p:ext>
    </p:extLst>
  </p:cSld>
  <p:clrMapOvr>
    <a:masterClrMapping/>
  </p:clrMapOvr>
  <p:transition spd="med"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2D35D8-F797-6EA2-3F77-A4AACEE87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为什么应用程序是</a:t>
            </a:r>
            <a:r>
              <a:rPr kumimoji="1" lang="en-US" altLang="zh-CN" dirty="0"/>
              <a:t>OS</a:t>
            </a:r>
            <a:r>
              <a:rPr kumimoji="1" lang="zh-CN" altLang="en-US" dirty="0"/>
              <a:t>特定的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766EA1-8E81-5C7D-632E-D13C9948F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kumimoji="1" lang="zh-CN" altLang="en-US" dirty="0"/>
              <a:t>在一个系统上编译的应用程序通常无法在其他操作系统上执行</a:t>
            </a:r>
          </a:p>
          <a:p>
            <a:r>
              <a:rPr kumimoji="1" lang="zh-CN" altLang="en-US" dirty="0"/>
              <a:t>每个操作系统都提供自己独特的系统调用</a:t>
            </a:r>
          </a:p>
          <a:p>
            <a:pPr lvl="1"/>
            <a:r>
              <a:rPr kumimoji="1" lang="zh-CN" altLang="en-US" dirty="0"/>
              <a:t>拥有自己的文件格式等</a:t>
            </a:r>
          </a:p>
          <a:p>
            <a:r>
              <a:rPr kumimoji="1" lang="zh-CN" altLang="en-US" dirty="0"/>
              <a:t>应用程序可以是多操作系统的</a:t>
            </a:r>
          </a:p>
          <a:p>
            <a:pPr lvl="1"/>
            <a:r>
              <a:rPr kumimoji="1" lang="zh-CN" altLang="en-US" dirty="0"/>
              <a:t>使用解释型语言编写，如 </a:t>
            </a:r>
            <a:r>
              <a:rPr kumimoji="1" lang="en" altLang="zh-CN" dirty="0"/>
              <a:t>Python</a:t>
            </a:r>
            <a:r>
              <a:rPr kumimoji="1" lang="zh-CN" altLang="en" dirty="0"/>
              <a:t>，</a:t>
            </a:r>
            <a:r>
              <a:rPr kumimoji="1" lang="en" altLang="zh-CN" dirty="0"/>
              <a:t>Ruby</a:t>
            </a:r>
            <a:r>
              <a:rPr kumimoji="1" lang="zh-CN" altLang="en" dirty="0"/>
              <a:t>，</a:t>
            </a:r>
            <a:r>
              <a:rPr kumimoji="1" lang="zh-CN" altLang="en-US" dirty="0"/>
              <a:t>并且解释器可用于多个操作系统</a:t>
            </a:r>
          </a:p>
          <a:p>
            <a:pPr lvl="1"/>
            <a:r>
              <a:rPr kumimoji="1" lang="zh-CN" altLang="en-US" dirty="0"/>
              <a:t>使用包含运行应用程序的虚拟机的语言编写的应用程序（如 </a:t>
            </a:r>
            <a:r>
              <a:rPr kumimoji="1" lang="en" altLang="zh-CN" dirty="0"/>
              <a:t>Java</a:t>
            </a:r>
            <a:r>
              <a:rPr kumimoji="1" lang="zh-CN" altLang="en" dirty="0"/>
              <a:t>）</a:t>
            </a:r>
          </a:p>
          <a:p>
            <a:pPr lvl="1"/>
            <a:r>
              <a:rPr kumimoji="1" lang="zh-CN" altLang="en-US" dirty="0"/>
              <a:t>使用标准语言（如 </a:t>
            </a:r>
            <a:r>
              <a:rPr kumimoji="1" lang="en" altLang="zh-CN" dirty="0"/>
              <a:t>C</a:t>
            </a:r>
            <a:r>
              <a:rPr kumimoji="1" lang="zh-CN" altLang="en" dirty="0"/>
              <a:t>），</a:t>
            </a:r>
            <a:r>
              <a:rPr kumimoji="1" lang="zh-CN" altLang="en-US" dirty="0"/>
              <a:t>在每个操作系统上单独编译以便在每个操作系统上运行</a:t>
            </a:r>
          </a:p>
          <a:p>
            <a:r>
              <a:rPr kumimoji="1" lang="zh-CN" altLang="en-US" dirty="0"/>
              <a:t>应用程序二进制接口（</a:t>
            </a:r>
            <a:r>
              <a:rPr kumimoji="1" lang="en" altLang="zh-CN" dirty="0"/>
              <a:t>ABI</a:t>
            </a:r>
            <a:r>
              <a:rPr kumimoji="1" lang="zh-CN" altLang="en" dirty="0"/>
              <a:t>）</a:t>
            </a:r>
            <a:r>
              <a:rPr kumimoji="1" lang="zh-CN" altLang="en-US" dirty="0"/>
              <a:t>是 </a:t>
            </a:r>
            <a:r>
              <a:rPr kumimoji="1" lang="en" altLang="zh-CN" dirty="0"/>
              <a:t>API </a:t>
            </a:r>
            <a:r>
              <a:rPr kumimoji="1" lang="zh-CN" altLang="en-US" dirty="0"/>
              <a:t>的体系结构等价物，定义了不同二进制代码组件如何在给定操作系统、体系结构、</a:t>
            </a:r>
            <a:r>
              <a:rPr kumimoji="1" lang="en" altLang="zh-CN" dirty="0"/>
              <a:t>CPU </a:t>
            </a:r>
            <a:r>
              <a:rPr kumimoji="1" lang="zh-CN" altLang="en-US" dirty="0"/>
              <a:t>等条件下进行接口。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915398-5731-F64F-4821-D03E84F7A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47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5937764"/>
      </p:ext>
    </p:extLst>
  </p:cSld>
  <p:clrMapOvr>
    <a:masterClrMapping/>
  </p:clrMapOvr>
  <p:transition spd="med">
    <p:zo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FF7637A7-EA02-0DDE-39E4-372EFEBA27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练习题</a:t>
            </a:r>
            <a:endParaRPr lang="en-US" altLang="zh-CN" dirty="0"/>
          </a:p>
        </p:txBody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12C421F3-F715-979C-79F8-A8C09B6DEF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从应用程序的视角来看，异常和中断的区别是什么？</a:t>
            </a:r>
            <a:endParaRPr lang="en-US" altLang="zh-CN" dirty="0"/>
          </a:p>
          <a:p>
            <a:r>
              <a:rPr lang="zh-CN" altLang="en-US" dirty="0"/>
              <a:t>在发生</a:t>
            </a:r>
            <a:r>
              <a:rPr lang="en-US" altLang="zh-CN" dirty="0"/>
              <a:t>CPU</a:t>
            </a:r>
            <a:r>
              <a:rPr lang="zh-CN" altLang="en-US" dirty="0"/>
              <a:t>的特权级切换时，</a:t>
            </a:r>
            <a:r>
              <a:rPr lang="en-US" altLang="zh-CN" dirty="0"/>
              <a:t>CPU</a:t>
            </a:r>
            <a:r>
              <a:rPr lang="zh-CN" altLang="en-US" dirty="0"/>
              <a:t>会自动保存当前的执行状态，包括程序计器</a:t>
            </a:r>
            <a:r>
              <a:rPr lang="en-US" altLang="zh-CN" dirty="0"/>
              <a:t>(PC)</a:t>
            </a:r>
            <a:r>
              <a:rPr lang="zh-CN" altLang="en-US" dirty="0"/>
              <a:t>、栈指针</a:t>
            </a:r>
            <a:r>
              <a:rPr lang="en-US" altLang="zh-CN" dirty="0"/>
              <a:t>(Stack</a:t>
            </a:r>
            <a:r>
              <a:rPr lang="zh-CN" altLang="en-US" dirty="0"/>
              <a:t> </a:t>
            </a:r>
            <a:r>
              <a:rPr lang="en-US" altLang="zh-CN" dirty="0"/>
              <a:t>Pointer,</a:t>
            </a:r>
            <a:r>
              <a:rPr lang="zh-CN" altLang="en-US" dirty="0"/>
              <a:t> </a:t>
            </a:r>
            <a:r>
              <a:rPr lang="en-US" altLang="zh-CN" dirty="0"/>
              <a:t>SP)</a:t>
            </a:r>
            <a:r>
              <a:rPr lang="zh-CN" altLang="en-US" dirty="0"/>
              <a:t>等。请分析：如果不保存</a:t>
            </a:r>
            <a:r>
              <a:rPr lang="en-US" altLang="zh-CN" dirty="0"/>
              <a:t>PC</a:t>
            </a:r>
            <a:r>
              <a:rPr lang="zh-CN" altLang="en-US" dirty="0"/>
              <a:t>和</a:t>
            </a:r>
            <a:r>
              <a:rPr lang="en-US" altLang="zh-CN" dirty="0"/>
              <a:t>SP</a:t>
            </a:r>
            <a:r>
              <a:rPr lang="zh-CN" altLang="en-US" dirty="0"/>
              <a:t>，会出现什么问题？</a:t>
            </a:r>
            <a:endParaRPr lang="en-US" altLang="zh-CN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0308D5D-9657-2165-1202-EA72B24FC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47BC-2A60-7146-8956-E61BEEDE2B56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</p:cSld>
  <p:clrMapOvr>
    <a:masterClrMapping/>
  </p:clrMapOvr>
  <p:transition spd="med"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99B5F0-C9C5-4220-9915-119B9B89A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练习题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124F35-16C5-03DF-0578-844BF9522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系统调用和库函数或</a:t>
            </a:r>
            <a:r>
              <a:rPr lang="en-US" altLang="zh-CN" dirty="0"/>
              <a:t>API</a:t>
            </a:r>
            <a:r>
              <a:rPr lang="zh-CN" altLang="en-US" dirty="0"/>
              <a:t>之间是什么关系？</a:t>
            </a:r>
            <a:endParaRPr lang="en-US" altLang="zh-CN" dirty="0"/>
          </a:p>
          <a:p>
            <a:r>
              <a:rPr lang="zh-CN" altLang="en-US" dirty="0"/>
              <a:t>操作系统提供的系统调用有哪几种参数传递的方法？</a:t>
            </a:r>
            <a:endParaRPr lang="en-US" altLang="zh-CN" dirty="0"/>
          </a:p>
          <a:p>
            <a:r>
              <a:rPr kumimoji="1" lang="zh-CN" altLang="en-US" dirty="0"/>
              <a:t>请解释说明系统调用机制涉及的概念：访管指令、系统调用号、参数传递、系统调用表、系统调用实现函数。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028986-3F5E-9460-137C-A366FD4A6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49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1873547"/>
      </p:ext>
    </p:extLst>
  </p:cSld>
  <p:clrMapOvr>
    <a:masterClrMapping/>
  </p:clrMapOvr>
  <p:transition spd="med">
    <p:zo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>
            <a:extLst>
              <a:ext uri="{FF2B5EF4-FFF2-40B4-BE49-F238E27FC236}">
                <a16:creationId xmlns:a16="http://schemas.microsoft.com/office/drawing/2014/main" id="{FB0A0225-8CBC-18A1-DDA9-75D71D71C8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选择题</a:t>
            </a:r>
            <a:r>
              <a:rPr lang="en-US" altLang="zh-CN"/>
              <a:t>1</a:t>
            </a:r>
          </a:p>
        </p:txBody>
      </p:sp>
      <p:sp>
        <p:nvSpPr>
          <p:cNvPr id="57346" name="Rectangle 3">
            <a:extLst>
              <a:ext uri="{FF2B5EF4-FFF2-40B4-BE49-F238E27FC236}">
                <a16:creationId xmlns:a16="http://schemas.microsoft.com/office/drawing/2014/main" id="{DDE2502A-C7B2-8680-8BC4-905556643C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68413"/>
            <a:ext cx="8393113" cy="5000625"/>
          </a:xfrm>
        </p:spPr>
        <p:txBody>
          <a:bodyPr/>
          <a:lstStyle/>
          <a:p>
            <a:pPr algn="just" eaLnBrk="1" hangingPunct="1"/>
            <a:r>
              <a:rPr lang="zh-CN" altLang="en-US" dirty="0">
                <a:latin typeface="Times New Roman" panose="02020603050405020304" pitchFamily="18" charset="0"/>
              </a:rPr>
              <a:t>操作系统提供给编程人员的接口是</a:t>
            </a:r>
            <a:r>
              <a:rPr lang="zh-CN" altLang="en-US" dirty="0"/>
              <a:t>_____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zh-CN" altLang="en-US" dirty="0"/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 dirty="0"/>
              <a:t>A.</a:t>
            </a:r>
            <a:r>
              <a:rPr lang="zh-CN" altLang="en-US" dirty="0">
                <a:latin typeface="Times New Roman" panose="02020603050405020304" pitchFamily="18" charset="0"/>
              </a:rPr>
              <a:t>系统调用</a:t>
            </a:r>
            <a:r>
              <a:rPr lang="zh-CN" altLang="en-US" dirty="0"/>
              <a:t>           </a:t>
            </a:r>
            <a:r>
              <a:rPr lang="en-US" altLang="zh-CN" dirty="0"/>
              <a:t>B.</a:t>
            </a:r>
            <a:r>
              <a:rPr lang="zh-CN" altLang="en-US" dirty="0">
                <a:latin typeface="Times New Roman" panose="02020603050405020304" pitchFamily="18" charset="0"/>
              </a:rPr>
              <a:t>子程序</a:t>
            </a:r>
            <a:endParaRPr lang="zh-CN" altLang="en-US" dirty="0"/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 dirty="0"/>
              <a:t>C.</a:t>
            </a:r>
            <a:r>
              <a:rPr lang="zh-CN" altLang="en-US">
                <a:latin typeface="Times New Roman" panose="02020603050405020304" pitchFamily="18" charset="0"/>
              </a:rPr>
              <a:t>库函数                 </a:t>
            </a:r>
            <a:r>
              <a:rPr lang="en-US" altLang="zh-CN"/>
              <a:t>D.</a:t>
            </a:r>
            <a:r>
              <a:rPr lang="zh-CN" altLang="en-US" dirty="0">
                <a:latin typeface="Times New Roman" panose="02020603050405020304" pitchFamily="18" charset="0"/>
              </a:rPr>
              <a:t>高级语言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80E0803-9FA5-9868-3DF5-CC4FE17D4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50</a:t>
            </a:fld>
            <a:endParaRPr lang="zh-CN" altLang="en-US" dirty="0"/>
          </a:p>
        </p:txBody>
      </p:sp>
    </p:spTree>
  </p:cSld>
  <p:clrMapOvr>
    <a:masterClrMapping/>
  </p:clrMapOvr>
  <p:transition spd="med">
    <p:zo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矩形: 单圆角 466">
            <a:extLst>
              <a:ext uri="{FF2B5EF4-FFF2-40B4-BE49-F238E27FC236}">
                <a16:creationId xmlns:a16="http://schemas.microsoft.com/office/drawing/2014/main" id="{135C6D8F-CFBE-2273-0D7B-4231FDBCEE2E}"/>
              </a:ext>
            </a:extLst>
          </p:cNvPr>
          <p:cNvSpPr/>
          <p:nvPr/>
        </p:nvSpPr>
        <p:spPr>
          <a:xfrm>
            <a:off x="566750" y="1303489"/>
            <a:ext cx="1368691" cy="1317975"/>
          </a:xfrm>
          <a:prstGeom prst="round1Rect">
            <a:avLst/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6" name="矩形: 单圆角 305">
            <a:extLst>
              <a:ext uri="{FF2B5EF4-FFF2-40B4-BE49-F238E27FC236}">
                <a16:creationId xmlns:a16="http://schemas.microsoft.com/office/drawing/2014/main" id="{E6713890-C65F-3ABE-72FD-F7E691D33FEB}"/>
              </a:ext>
            </a:extLst>
          </p:cNvPr>
          <p:cNvSpPr/>
          <p:nvPr/>
        </p:nvSpPr>
        <p:spPr>
          <a:xfrm>
            <a:off x="2864545" y="3956148"/>
            <a:ext cx="1622024" cy="1777108"/>
          </a:xfrm>
          <a:prstGeom prst="round1Rect">
            <a:avLst/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8" name="文本框 337">
            <a:extLst>
              <a:ext uri="{FF2B5EF4-FFF2-40B4-BE49-F238E27FC236}">
                <a16:creationId xmlns:a16="http://schemas.microsoft.com/office/drawing/2014/main" id="{76783DA6-5103-CF6C-6D04-A6F7EDB1BD8F}"/>
              </a:ext>
            </a:extLst>
          </p:cNvPr>
          <p:cNvSpPr txBox="1"/>
          <p:nvPr/>
        </p:nvSpPr>
        <p:spPr>
          <a:xfrm>
            <a:off x="8179993" y="2511002"/>
            <a:ext cx="661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INT</a:t>
            </a:r>
            <a:endParaRPr lang="zh-CN" altLang="en-US" sz="1400" dirty="0">
              <a:solidFill>
                <a:prstClr val="black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339" name="矩形 338">
            <a:extLst>
              <a:ext uri="{FF2B5EF4-FFF2-40B4-BE49-F238E27FC236}">
                <a16:creationId xmlns:a16="http://schemas.microsoft.com/office/drawing/2014/main" id="{30CC756F-BCD8-EE7E-745E-70132CC679E5}"/>
              </a:ext>
            </a:extLst>
          </p:cNvPr>
          <p:cNvSpPr/>
          <p:nvPr/>
        </p:nvSpPr>
        <p:spPr>
          <a:xfrm>
            <a:off x="5063911" y="2482029"/>
            <a:ext cx="1289093" cy="2705100"/>
          </a:xfrm>
          <a:prstGeom prst="rect">
            <a:avLst/>
          </a:prstGeom>
          <a:solidFill>
            <a:srgbClr val="70AD47">
              <a:lumMod val="20000"/>
              <a:lumOff val="80000"/>
            </a:srgbClr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40" name="矩形 339">
            <a:extLst>
              <a:ext uri="{FF2B5EF4-FFF2-40B4-BE49-F238E27FC236}">
                <a16:creationId xmlns:a16="http://schemas.microsoft.com/office/drawing/2014/main" id="{73B6B582-CF4C-2CF1-0C16-9E276063FBCC}"/>
              </a:ext>
            </a:extLst>
          </p:cNvPr>
          <p:cNvSpPr/>
          <p:nvPr/>
        </p:nvSpPr>
        <p:spPr>
          <a:xfrm>
            <a:off x="2878543" y="1421480"/>
            <a:ext cx="1416277" cy="1840903"/>
          </a:xfrm>
          <a:prstGeom prst="rect">
            <a:avLst/>
          </a:prstGeom>
          <a:solidFill>
            <a:srgbClr val="70AD47">
              <a:lumMod val="20000"/>
              <a:lumOff val="80000"/>
            </a:srgbClr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41" name="文本框 340">
            <a:extLst>
              <a:ext uri="{FF2B5EF4-FFF2-40B4-BE49-F238E27FC236}">
                <a16:creationId xmlns:a16="http://schemas.microsoft.com/office/drawing/2014/main" id="{EA6B5783-C26D-7591-20F5-1B54B7C52AAD}"/>
              </a:ext>
            </a:extLst>
          </p:cNvPr>
          <p:cNvSpPr txBox="1"/>
          <p:nvPr/>
        </p:nvSpPr>
        <p:spPr>
          <a:xfrm>
            <a:off x="4286486" y="1447106"/>
            <a:ext cx="15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8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0000:0000H</a:t>
            </a:r>
            <a:endParaRPr lang="zh-CN" altLang="en-US" sz="1800" dirty="0">
              <a:solidFill>
                <a:prstClr val="black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342" name="文本框 341">
            <a:extLst>
              <a:ext uri="{FF2B5EF4-FFF2-40B4-BE49-F238E27FC236}">
                <a16:creationId xmlns:a16="http://schemas.microsoft.com/office/drawing/2014/main" id="{8BBF1447-8C33-3850-B159-72EC0C634890}"/>
              </a:ext>
            </a:extLst>
          </p:cNvPr>
          <p:cNvSpPr txBox="1"/>
          <p:nvPr/>
        </p:nvSpPr>
        <p:spPr>
          <a:xfrm>
            <a:off x="2968919" y="1082926"/>
            <a:ext cx="1517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中断向量表</a:t>
            </a:r>
          </a:p>
        </p:txBody>
      </p:sp>
      <p:sp>
        <p:nvSpPr>
          <p:cNvPr id="343" name="文本框 342">
            <a:extLst>
              <a:ext uri="{FF2B5EF4-FFF2-40B4-BE49-F238E27FC236}">
                <a16:creationId xmlns:a16="http://schemas.microsoft.com/office/drawing/2014/main" id="{75FB4D31-D59D-E9FB-3161-6A9EC1A8C97D}"/>
              </a:ext>
            </a:extLst>
          </p:cNvPr>
          <p:cNvSpPr txBox="1"/>
          <p:nvPr/>
        </p:nvSpPr>
        <p:spPr>
          <a:xfrm>
            <a:off x="2878543" y="1593054"/>
            <a:ext cx="10699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4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类型</a:t>
            </a:r>
            <a:r>
              <a:rPr lang="en-US" altLang="zh-CN" sz="14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0</a:t>
            </a:r>
            <a:endParaRPr lang="zh-CN" altLang="en-US" sz="1400" dirty="0">
              <a:solidFill>
                <a:prstClr val="black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344" name="文本框 343">
            <a:extLst>
              <a:ext uri="{FF2B5EF4-FFF2-40B4-BE49-F238E27FC236}">
                <a16:creationId xmlns:a16="http://schemas.microsoft.com/office/drawing/2014/main" id="{D53387E4-7AA0-4720-3749-086EDC9272CA}"/>
              </a:ext>
            </a:extLst>
          </p:cNvPr>
          <p:cNvSpPr txBox="1"/>
          <p:nvPr/>
        </p:nvSpPr>
        <p:spPr>
          <a:xfrm>
            <a:off x="3598420" y="1367212"/>
            <a:ext cx="568437" cy="705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IP</a:t>
            </a:r>
          </a:p>
          <a:p>
            <a:pPr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CS</a:t>
            </a:r>
            <a:endParaRPr lang="zh-CN" altLang="en-US" sz="1400" dirty="0">
              <a:solidFill>
                <a:prstClr val="black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cxnSp>
        <p:nvCxnSpPr>
          <p:cNvPr id="345" name="直接连接符 344">
            <a:extLst>
              <a:ext uri="{FF2B5EF4-FFF2-40B4-BE49-F238E27FC236}">
                <a16:creationId xmlns:a16="http://schemas.microsoft.com/office/drawing/2014/main" id="{C8387A62-4D0B-A5D9-E2E8-EE53EF542C8A}"/>
              </a:ext>
            </a:extLst>
          </p:cNvPr>
          <p:cNvCxnSpPr/>
          <p:nvPr/>
        </p:nvCxnSpPr>
        <p:spPr>
          <a:xfrm>
            <a:off x="2878543" y="2072405"/>
            <a:ext cx="1416277" cy="0"/>
          </a:xfrm>
          <a:prstGeom prst="line">
            <a:avLst/>
          </a:prstGeom>
          <a:noFill/>
          <a:ln w="12700" cap="flat" cmpd="sng" algn="ctr">
            <a:solidFill>
              <a:srgbClr val="4472C4">
                <a:lumMod val="50000"/>
              </a:srgbClr>
            </a:solidFill>
            <a:prstDash val="solid"/>
            <a:miter lim="800000"/>
          </a:ln>
          <a:effectLst/>
        </p:spPr>
      </p:cxnSp>
      <p:cxnSp>
        <p:nvCxnSpPr>
          <p:cNvPr id="346" name="直接连接符 345">
            <a:extLst>
              <a:ext uri="{FF2B5EF4-FFF2-40B4-BE49-F238E27FC236}">
                <a16:creationId xmlns:a16="http://schemas.microsoft.com/office/drawing/2014/main" id="{84783FF2-23AF-D388-010D-BD03BE678DC8}"/>
              </a:ext>
            </a:extLst>
          </p:cNvPr>
          <p:cNvCxnSpPr/>
          <p:nvPr/>
        </p:nvCxnSpPr>
        <p:spPr>
          <a:xfrm>
            <a:off x="2870209" y="2614989"/>
            <a:ext cx="1416277" cy="0"/>
          </a:xfrm>
          <a:prstGeom prst="line">
            <a:avLst/>
          </a:prstGeom>
          <a:noFill/>
          <a:ln w="12700" cap="flat" cmpd="sng" algn="ctr">
            <a:solidFill>
              <a:srgbClr val="4472C4">
                <a:lumMod val="50000"/>
              </a:srgbClr>
            </a:solidFill>
            <a:prstDash val="solid"/>
            <a:miter lim="800000"/>
          </a:ln>
          <a:effectLst/>
        </p:spPr>
      </p:cxnSp>
      <p:cxnSp>
        <p:nvCxnSpPr>
          <p:cNvPr id="347" name="直接连接符 346">
            <a:extLst>
              <a:ext uri="{FF2B5EF4-FFF2-40B4-BE49-F238E27FC236}">
                <a16:creationId xmlns:a16="http://schemas.microsoft.com/office/drawing/2014/main" id="{3C480AB0-D235-2143-B9DF-87A974DB5041}"/>
              </a:ext>
            </a:extLst>
          </p:cNvPr>
          <p:cNvCxnSpPr>
            <a:cxnSpLocks/>
          </p:cNvCxnSpPr>
          <p:nvPr/>
        </p:nvCxnSpPr>
        <p:spPr>
          <a:xfrm>
            <a:off x="3498949" y="1421480"/>
            <a:ext cx="0" cy="650925"/>
          </a:xfrm>
          <a:prstGeom prst="line">
            <a:avLst/>
          </a:prstGeom>
          <a:noFill/>
          <a:ln w="12700" cap="flat" cmpd="sng" algn="ctr">
            <a:solidFill>
              <a:srgbClr val="4472C4">
                <a:lumMod val="50000"/>
              </a:srgbClr>
            </a:solidFill>
            <a:prstDash val="solid"/>
            <a:miter lim="800000"/>
          </a:ln>
          <a:effectLst/>
        </p:spPr>
      </p:cxnSp>
      <p:cxnSp>
        <p:nvCxnSpPr>
          <p:cNvPr id="348" name="直接连接符 347">
            <a:extLst>
              <a:ext uri="{FF2B5EF4-FFF2-40B4-BE49-F238E27FC236}">
                <a16:creationId xmlns:a16="http://schemas.microsoft.com/office/drawing/2014/main" id="{F2CD33C6-E8EE-FD6F-08E6-188C12A98447}"/>
              </a:ext>
            </a:extLst>
          </p:cNvPr>
          <p:cNvCxnSpPr>
            <a:cxnSpLocks/>
          </p:cNvCxnSpPr>
          <p:nvPr/>
        </p:nvCxnSpPr>
        <p:spPr>
          <a:xfrm>
            <a:off x="3498949" y="1745911"/>
            <a:ext cx="795871" cy="0"/>
          </a:xfrm>
          <a:prstGeom prst="line">
            <a:avLst/>
          </a:prstGeom>
          <a:noFill/>
          <a:ln w="12700" cap="flat" cmpd="sng" algn="ctr">
            <a:solidFill>
              <a:srgbClr val="4472C4">
                <a:lumMod val="50000"/>
              </a:srgbClr>
            </a:solidFill>
            <a:prstDash val="solid"/>
            <a:miter lim="800000"/>
          </a:ln>
          <a:effectLst/>
        </p:spPr>
      </p:cxnSp>
      <p:sp>
        <p:nvSpPr>
          <p:cNvPr id="349" name="文本框 348">
            <a:extLst>
              <a:ext uri="{FF2B5EF4-FFF2-40B4-BE49-F238E27FC236}">
                <a16:creationId xmlns:a16="http://schemas.microsoft.com/office/drawing/2014/main" id="{10946F32-44BE-42CE-968D-178E09C71BF1}"/>
              </a:ext>
            </a:extLst>
          </p:cNvPr>
          <p:cNvSpPr txBox="1"/>
          <p:nvPr/>
        </p:nvSpPr>
        <p:spPr>
          <a:xfrm>
            <a:off x="2826909" y="2786563"/>
            <a:ext cx="1069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2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类型</a:t>
            </a:r>
            <a:r>
              <a:rPr lang="en-US" altLang="zh-CN" sz="12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255</a:t>
            </a:r>
            <a:endParaRPr lang="zh-CN" altLang="en-US" sz="1200" dirty="0">
              <a:solidFill>
                <a:prstClr val="black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350" name="文本框 349">
            <a:extLst>
              <a:ext uri="{FF2B5EF4-FFF2-40B4-BE49-F238E27FC236}">
                <a16:creationId xmlns:a16="http://schemas.microsoft.com/office/drawing/2014/main" id="{2A9B8653-010E-F135-6B15-B84FB3CF56F4}"/>
              </a:ext>
            </a:extLst>
          </p:cNvPr>
          <p:cNvSpPr txBox="1"/>
          <p:nvPr/>
        </p:nvSpPr>
        <p:spPr>
          <a:xfrm>
            <a:off x="3598420" y="2553806"/>
            <a:ext cx="568437" cy="705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IP</a:t>
            </a:r>
          </a:p>
          <a:p>
            <a:pPr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CS</a:t>
            </a:r>
            <a:endParaRPr lang="zh-CN" altLang="en-US" sz="1400" dirty="0">
              <a:solidFill>
                <a:prstClr val="black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cxnSp>
        <p:nvCxnSpPr>
          <p:cNvPr id="351" name="直接连接符 350">
            <a:extLst>
              <a:ext uri="{FF2B5EF4-FFF2-40B4-BE49-F238E27FC236}">
                <a16:creationId xmlns:a16="http://schemas.microsoft.com/office/drawing/2014/main" id="{3C109ABD-C69F-B205-64ED-4B5EC4628F94}"/>
              </a:ext>
            </a:extLst>
          </p:cNvPr>
          <p:cNvCxnSpPr>
            <a:cxnSpLocks/>
          </p:cNvCxnSpPr>
          <p:nvPr/>
        </p:nvCxnSpPr>
        <p:spPr>
          <a:xfrm>
            <a:off x="3498949" y="2608074"/>
            <a:ext cx="0" cy="650925"/>
          </a:xfrm>
          <a:prstGeom prst="line">
            <a:avLst/>
          </a:prstGeom>
          <a:noFill/>
          <a:ln w="12700" cap="flat" cmpd="sng" algn="ctr">
            <a:solidFill>
              <a:srgbClr val="4472C4">
                <a:lumMod val="50000"/>
              </a:srgbClr>
            </a:solidFill>
            <a:prstDash val="solid"/>
            <a:miter lim="800000"/>
          </a:ln>
          <a:effectLst/>
        </p:spPr>
      </p:cxnSp>
      <p:cxnSp>
        <p:nvCxnSpPr>
          <p:cNvPr id="352" name="直接连接符 351">
            <a:extLst>
              <a:ext uri="{FF2B5EF4-FFF2-40B4-BE49-F238E27FC236}">
                <a16:creationId xmlns:a16="http://schemas.microsoft.com/office/drawing/2014/main" id="{1E281A63-9493-2AC8-AB8C-5DE076CE2082}"/>
              </a:ext>
            </a:extLst>
          </p:cNvPr>
          <p:cNvCxnSpPr>
            <a:cxnSpLocks/>
          </p:cNvCxnSpPr>
          <p:nvPr/>
        </p:nvCxnSpPr>
        <p:spPr>
          <a:xfrm>
            <a:off x="3498949" y="2932505"/>
            <a:ext cx="795871" cy="0"/>
          </a:xfrm>
          <a:prstGeom prst="line">
            <a:avLst/>
          </a:prstGeom>
          <a:noFill/>
          <a:ln w="12700" cap="flat" cmpd="sng" algn="ctr">
            <a:solidFill>
              <a:srgbClr val="4472C4">
                <a:lumMod val="50000"/>
              </a:srgbClr>
            </a:solidFill>
            <a:prstDash val="solid"/>
            <a:miter lim="800000"/>
          </a:ln>
          <a:effectLst/>
        </p:spPr>
      </p:cxnSp>
      <p:cxnSp>
        <p:nvCxnSpPr>
          <p:cNvPr id="353" name="直接连接符 352">
            <a:extLst>
              <a:ext uri="{FF2B5EF4-FFF2-40B4-BE49-F238E27FC236}">
                <a16:creationId xmlns:a16="http://schemas.microsoft.com/office/drawing/2014/main" id="{F50E44A2-FEC2-A9B2-8077-00269C639F3F}"/>
              </a:ext>
            </a:extLst>
          </p:cNvPr>
          <p:cNvCxnSpPr>
            <a:cxnSpLocks/>
          </p:cNvCxnSpPr>
          <p:nvPr/>
        </p:nvCxnSpPr>
        <p:spPr>
          <a:xfrm>
            <a:off x="3498949" y="2072405"/>
            <a:ext cx="0" cy="650925"/>
          </a:xfrm>
          <a:prstGeom prst="line">
            <a:avLst/>
          </a:prstGeom>
          <a:noFill/>
          <a:ln w="12700" cap="flat" cmpd="sng" algn="ctr">
            <a:solidFill>
              <a:srgbClr val="4472C4">
                <a:lumMod val="50000"/>
              </a:srgbClr>
            </a:solidFill>
            <a:prstDash val="solid"/>
            <a:miter lim="800000"/>
          </a:ln>
          <a:effectLst/>
        </p:spPr>
      </p:cxnSp>
      <p:sp>
        <p:nvSpPr>
          <p:cNvPr id="354" name="文本框 353">
            <a:extLst>
              <a:ext uri="{FF2B5EF4-FFF2-40B4-BE49-F238E27FC236}">
                <a16:creationId xmlns:a16="http://schemas.microsoft.com/office/drawing/2014/main" id="{7DCED74D-686E-A3D9-5263-F44A32F91392}"/>
              </a:ext>
            </a:extLst>
          </p:cNvPr>
          <p:cNvSpPr txBox="1"/>
          <p:nvPr/>
        </p:nvSpPr>
        <p:spPr>
          <a:xfrm rot="5400000">
            <a:off x="3054295" y="2152492"/>
            <a:ext cx="384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8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...</a:t>
            </a:r>
            <a:endParaRPr lang="zh-CN" altLang="en-US" sz="1800" dirty="0">
              <a:solidFill>
                <a:prstClr val="black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355" name="文本框 354">
            <a:extLst>
              <a:ext uri="{FF2B5EF4-FFF2-40B4-BE49-F238E27FC236}">
                <a16:creationId xmlns:a16="http://schemas.microsoft.com/office/drawing/2014/main" id="{9DDB32DE-D419-A3B8-92C2-7DC05B16F2A6}"/>
              </a:ext>
            </a:extLst>
          </p:cNvPr>
          <p:cNvSpPr txBox="1"/>
          <p:nvPr/>
        </p:nvSpPr>
        <p:spPr>
          <a:xfrm rot="5400000">
            <a:off x="3769624" y="2152492"/>
            <a:ext cx="384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8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...</a:t>
            </a:r>
            <a:endParaRPr lang="zh-CN" altLang="en-US" sz="1800" dirty="0">
              <a:solidFill>
                <a:prstClr val="black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356" name="文本框 355">
            <a:extLst>
              <a:ext uri="{FF2B5EF4-FFF2-40B4-BE49-F238E27FC236}">
                <a16:creationId xmlns:a16="http://schemas.microsoft.com/office/drawing/2014/main" id="{0712E7B1-636C-0FE0-A3BF-85A1DCBA67CA}"/>
              </a:ext>
            </a:extLst>
          </p:cNvPr>
          <p:cNvSpPr txBox="1"/>
          <p:nvPr/>
        </p:nvSpPr>
        <p:spPr>
          <a:xfrm>
            <a:off x="3476890" y="3288009"/>
            <a:ext cx="1379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4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中断向量</a:t>
            </a:r>
          </a:p>
        </p:txBody>
      </p:sp>
      <p:cxnSp>
        <p:nvCxnSpPr>
          <p:cNvPr id="357" name="直接箭头连接符 356">
            <a:extLst>
              <a:ext uri="{FF2B5EF4-FFF2-40B4-BE49-F238E27FC236}">
                <a16:creationId xmlns:a16="http://schemas.microsoft.com/office/drawing/2014/main" id="{18C95E0D-BDE5-43E9-AC1D-7E6FC68CD1D5}"/>
              </a:ext>
            </a:extLst>
          </p:cNvPr>
          <p:cNvCxnSpPr>
            <a:cxnSpLocks/>
          </p:cNvCxnSpPr>
          <p:nvPr/>
        </p:nvCxnSpPr>
        <p:spPr>
          <a:xfrm flipH="1">
            <a:off x="4286486" y="1440231"/>
            <a:ext cx="876279" cy="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58" name="文本框 357">
            <a:extLst>
              <a:ext uri="{FF2B5EF4-FFF2-40B4-BE49-F238E27FC236}">
                <a16:creationId xmlns:a16="http://schemas.microsoft.com/office/drawing/2014/main" id="{585FC7FA-769B-67F8-561B-AC6513391A8F}"/>
              </a:ext>
            </a:extLst>
          </p:cNvPr>
          <p:cNvSpPr txBox="1"/>
          <p:nvPr/>
        </p:nvSpPr>
        <p:spPr>
          <a:xfrm>
            <a:off x="5147773" y="1257109"/>
            <a:ext cx="24745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4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向量地址 </a:t>
            </a:r>
            <a:r>
              <a:rPr lang="en-US" altLang="zh-CN" sz="14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= </a:t>
            </a:r>
            <a:r>
              <a:rPr lang="zh-CN" altLang="en-US" sz="14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中断类型号 </a:t>
            </a:r>
            <a:r>
              <a:rPr lang="en-US" altLang="zh-CN" sz="14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× 4</a:t>
            </a:r>
            <a:endParaRPr lang="zh-CN" altLang="en-US" sz="1400" dirty="0">
              <a:solidFill>
                <a:prstClr val="black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359" name="矩形 358">
            <a:extLst>
              <a:ext uri="{FF2B5EF4-FFF2-40B4-BE49-F238E27FC236}">
                <a16:creationId xmlns:a16="http://schemas.microsoft.com/office/drawing/2014/main" id="{AEA894EA-4FB1-7209-5E38-0D378D1AF558}"/>
              </a:ext>
            </a:extLst>
          </p:cNvPr>
          <p:cNvSpPr/>
          <p:nvPr/>
        </p:nvSpPr>
        <p:spPr>
          <a:xfrm>
            <a:off x="5763880" y="2621465"/>
            <a:ext cx="432690" cy="327994"/>
          </a:xfrm>
          <a:prstGeom prst="rect">
            <a:avLst/>
          </a:prstGeom>
          <a:noFill/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</a:srgbClr>
                </a:solidFill>
                <a:effectLst/>
                <a:uLnTx/>
                <a:uFillTx/>
                <a:latin typeface="方正大标宋简体" panose="02010601030101010101" pitchFamily="2" charset="-122"/>
                <a:ea typeface="方正大标宋简体" panose="02010601030101010101" pitchFamily="2" charset="-122"/>
                <a:cs typeface="+mn-cs"/>
              </a:rPr>
              <a:t>IF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ED7D31">
                  <a:lumMod val="60000"/>
                  <a:lumOff val="40000"/>
                </a:srgbClr>
              </a:solidFill>
              <a:effectLst/>
              <a:uLnTx/>
              <a:uFillTx/>
              <a:latin typeface="方正大标宋简体" panose="02010601030101010101" pitchFamily="2" charset="-122"/>
              <a:ea typeface="方正大标宋简体" panose="02010601030101010101" pitchFamily="2" charset="-122"/>
              <a:cs typeface="+mn-cs"/>
            </a:endParaRPr>
          </a:p>
        </p:txBody>
      </p:sp>
      <p:sp>
        <p:nvSpPr>
          <p:cNvPr id="360" name="文本框 359">
            <a:extLst>
              <a:ext uri="{FF2B5EF4-FFF2-40B4-BE49-F238E27FC236}">
                <a16:creationId xmlns:a16="http://schemas.microsoft.com/office/drawing/2014/main" id="{12657226-36B5-4BED-C4F7-B422FF0ACB78}"/>
              </a:ext>
            </a:extLst>
          </p:cNvPr>
          <p:cNvSpPr txBox="1"/>
          <p:nvPr/>
        </p:nvSpPr>
        <p:spPr>
          <a:xfrm>
            <a:off x="6342389" y="2513270"/>
            <a:ext cx="661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INTR</a:t>
            </a:r>
            <a:endParaRPr lang="zh-CN" altLang="en-US" sz="1400" dirty="0">
              <a:solidFill>
                <a:prstClr val="black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361" name="文本框 360">
            <a:extLst>
              <a:ext uri="{FF2B5EF4-FFF2-40B4-BE49-F238E27FC236}">
                <a16:creationId xmlns:a16="http://schemas.microsoft.com/office/drawing/2014/main" id="{8C83746D-D6B1-C454-5977-2B1282FE6413}"/>
              </a:ext>
            </a:extLst>
          </p:cNvPr>
          <p:cNvSpPr txBox="1"/>
          <p:nvPr/>
        </p:nvSpPr>
        <p:spPr>
          <a:xfrm>
            <a:off x="7374938" y="5579765"/>
            <a:ext cx="2485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C00000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不可屏蔽中断</a:t>
            </a:r>
          </a:p>
        </p:txBody>
      </p:sp>
      <p:cxnSp>
        <p:nvCxnSpPr>
          <p:cNvPr id="362" name="连接符: 肘形 361">
            <a:extLst>
              <a:ext uri="{FF2B5EF4-FFF2-40B4-BE49-F238E27FC236}">
                <a16:creationId xmlns:a16="http://schemas.microsoft.com/office/drawing/2014/main" id="{3DAB9556-EA8E-2CFC-37C8-256545A2AFD7}"/>
              </a:ext>
            </a:extLst>
          </p:cNvPr>
          <p:cNvCxnSpPr>
            <a:cxnSpLocks/>
          </p:cNvCxnSpPr>
          <p:nvPr/>
        </p:nvCxnSpPr>
        <p:spPr>
          <a:xfrm rot="10800000">
            <a:off x="5708456" y="5202519"/>
            <a:ext cx="1666480" cy="561913"/>
          </a:xfrm>
          <a:prstGeom prst="bentConnector2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63" name="文本框 362">
            <a:extLst>
              <a:ext uri="{FF2B5EF4-FFF2-40B4-BE49-F238E27FC236}">
                <a16:creationId xmlns:a16="http://schemas.microsoft.com/office/drawing/2014/main" id="{7895D426-5005-E0D2-D235-35B0D923D678}"/>
              </a:ext>
            </a:extLst>
          </p:cNvPr>
          <p:cNvSpPr txBox="1"/>
          <p:nvPr/>
        </p:nvSpPr>
        <p:spPr>
          <a:xfrm>
            <a:off x="5724253" y="5171740"/>
            <a:ext cx="1003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6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NMI</a:t>
            </a:r>
            <a:endParaRPr lang="zh-CN" altLang="en-US" sz="1600" dirty="0">
              <a:solidFill>
                <a:prstClr val="black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372" name="文本框 371">
            <a:extLst>
              <a:ext uri="{FF2B5EF4-FFF2-40B4-BE49-F238E27FC236}">
                <a16:creationId xmlns:a16="http://schemas.microsoft.com/office/drawing/2014/main" id="{561232C7-A2B9-48A7-1EAD-0C47F688741F}"/>
              </a:ext>
            </a:extLst>
          </p:cNvPr>
          <p:cNvSpPr txBox="1"/>
          <p:nvPr/>
        </p:nvSpPr>
        <p:spPr>
          <a:xfrm>
            <a:off x="6984268" y="2420888"/>
            <a:ext cx="2485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C00000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可屏蔽中断</a:t>
            </a:r>
          </a:p>
        </p:txBody>
      </p:sp>
      <p:sp>
        <p:nvSpPr>
          <p:cNvPr id="373" name="文本框 372">
            <a:extLst>
              <a:ext uri="{FF2B5EF4-FFF2-40B4-BE49-F238E27FC236}">
                <a16:creationId xmlns:a16="http://schemas.microsoft.com/office/drawing/2014/main" id="{421AD63A-92D3-D99D-DB6D-2B2299035884}"/>
              </a:ext>
            </a:extLst>
          </p:cNvPr>
          <p:cNvSpPr txBox="1"/>
          <p:nvPr/>
        </p:nvSpPr>
        <p:spPr>
          <a:xfrm>
            <a:off x="5684737" y="2157863"/>
            <a:ext cx="1104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INTA</a:t>
            </a:r>
            <a:endParaRPr lang="zh-CN" altLang="en-US" sz="1400" dirty="0">
              <a:solidFill>
                <a:prstClr val="black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cxnSp>
        <p:nvCxnSpPr>
          <p:cNvPr id="374" name="直接连接符 373">
            <a:extLst>
              <a:ext uri="{FF2B5EF4-FFF2-40B4-BE49-F238E27FC236}">
                <a16:creationId xmlns:a16="http://schemas.microsoft.com/office/drawing/2014/main" id="{605EED90-729C-BB1E-AEB9-4F8E4E7360C9}"/>
              </a:ext>
            </a:extLst>
          </p:cNvPr>
          <p:cNvCxnSpPr>
            <a:cxnSpLocks/>
          </p:cNvCxnSpPr>
          <p:nvPr/>
        </p:nvCxnSpPr>
        <p:spPr>
          <a:xfrm>
            <a:off x="5791436" y="2206574"/>
            <a:ext cx="427434" cy="0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375" name="连接符: 肘形 374">
            <a:extLst>
              <a:ext uri="{FF2B5EF4-FFF2-40B4-BE49-F238E27FC236}">
                <a16:creationId xmlns:a16="http://schemas.microsoft.com/office/drawing/2014/main" id="{A9070FE7-CE10-D006-B7D4-216B7C5C9C63}"/>
              </a:ext>
            </a:extLst>
          </p:cNvPr>
          <p:cNvCxnSpPr>
            <a:cxnSpLocks/>
            <a:stCxn id="339" idx="0"/>
          </p:cNvCxnSpPr>
          <p:nvPr/>
        </p:nvCxnSpPr>
        <p:spPr>
          <a:xfrm rot="5400000" flipH="1" flipV="1">
            <a:off x="6031455" y="1602976"/>
            <a:ext cx="556057" cy="1202051"/>
          </a:xfrm>
          <a:prstGeom prst="bentConnector2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83" name="直接箭头连接符 382">
            <a:extLst>
              <a:ext uri="{FF2B5EF4-FFF2-40B4-BE49-F238E27FC236}">
                <a16:creationId xmlns:a16="http://schemas.microsoft.com/office/drawing/2014/main" id="{B36220E6-C042-65E1-8F9F-CFA2E375EDC1}"/>
              </a:ext>
            </a:extLst>
          </p:cNvPr>
          <p:cNvCxnSpPr>
            <a:cxnSpLocks/>
          </p:cNvCxnSpPr>
          <p:nvPr/>
        </p:nvCxnSpPr>
        <p:spPr>
          <a:xfrm flipH="1" flipV="1">
            <a:off x="6191151" y="2784655"/>
            <a:ext cx="2504018" cy="80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84" name="文本框 383">
            <a:extLst>
              <a:ext uri="{FF2B5EF4-FFF2-40B4-BE49-F238E27FC236}">
                <a16:creationId xmlns:a16="http://schemas.microsoft.com/office/drawing/2014/main" id="{E41C6B10-ADA3-B45D-0881-5BCB18040973}"/>
              </a:ext>
            </a:extLst>
          </p:cNvPr>
          <p:cNvSpPr txBox="1"/>
          <p:nvPr/>
        </p:nvSpPr>
        <p:spPr>
          <a:xfrm>
            <a:off x="5135505" y="4824992"/>
            <a:ext cx="1311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6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8086/8088</a:t>
            </a:r>
            <a:endParaRPr lang="zh-CN" altLang="en-US" sz="1600" dirty="0">
              <a:solidFill>
                <a:prstClr val="black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B55AE989-683C-87F9-D1F9-3561EBD3C89C}"/>
              </a:ext>
            </a:extLst>
          </p:cNvPr>
          <p:cNvSpPr txBox="1"/>
          <p:nvPr/>
        </p:nvSpPr>
        <p:spPr>
          <a:xfrm>
            <a:off x="5044839" y="3030753"/>
            <a:ext cx="1297550" cy="1351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4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执行完指令</a:t>
            </a:r>
            <a:endParaRPr lang="en-US" altLang="zh-CN" sz="1400" dirty="0">
              <a:solidFill>
                <a:prstClr val="black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  <a:p>
            <a:pPr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rgbClr val="FF0000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F</a:t>
            </a:r>
            <a:r>
              <a:rPr lang="zh-CN" altLang="en-US" sz="1400" dirty="0">
                <a:solidFill>
                  <a:srgbClr val="FF0000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压栈</a:t>
            </a:r>
            <a:endParaRPr lang="en-US" altLang="zh-CN" sz="1400" dirty="0">
              <a:solidFill>
                <a:srgbClr val="FF0000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  <a:p>
            <a:pPr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rgbClr val="FF0000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IF</a:t>
            </a:r>
            <a:r>
              <a:rPr lang="zh-CN" altLang="en-US" sz="1400" dirty="0">
                <a:solidFill>
                  <a:srgbClr val="FF0000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、</a:t>
            </a:r>
            <a:r>
              <a:rPr lang="en-US" altLang="zh-CN" sz="1400" dirty="0">
                <a:solidFill>
                  <a:srgbClr val="FF0000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TF=0</a:t>
            </a:r>
          </a:p>
          <a:p>
            <a:pPr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rgbClr val="FF0000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CS</a:t>
            </a:r>
            <a:r>
              <a:rPr lang="zh-CN" altLang="en-US" sz="1400" dirty="0">
                <a:solidFill>
                  <a:srgbClr val="FF0000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、</a:t>
            </a:r>
            <a:r>
              <a:rPr lang="en-US" altLang="zh-CN" sz="1400" dirty="0">
                <a:solidFill>
                  <a:srgbClr val="FF0000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IP</a:t>
            </a:r>
            <a:r>
              <a:rPr lang="zh-CN" altLang="en-US" sz="1400" dirty="0">
                <a:solidFill>
                  <a:srgbClr val="FF0000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压栈</a:t>
            </a:r>
          </a:p>
        </p:txBody>
      </p:sp>
      <p:cxnSp>
        <p:nvCxnSpPr>
          <p:cNvPr id="386" name="连接符: 肘形 385">
            <a:extLst>
              <a:ext uri="{FF2B5EF4-FFF2-40B4-BE49-F238E27FC236}">
                <a16:creationId xmlns:a16="http://schemas.microsoft.com/office/drawing/2014/main" id="{ACBE395C-0247-8F17-FF3A-3EEEDD4B4FBD}"/>
              </a:ext>
            </a:extLst>
          </p:cNvPr>
          <p:cNvCxnSpPr>
            <a:stCxn id="359" idx="1"/>
            <a:endCxn id="385" idx="0"/>
          </p:cNvCxnSpPr>
          <p:nvPr/>
        </p:nvCxnSpPr>
        <p:spPr>
          <a:xfrm rot="10800000" flipV="1">
            <a:off x="5693614" y="2785461"/>
            <a:ext cx="70266" cy="245291"/>
          </a:xfrm>
          <a:prstGeom prst="bentConnector2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87" name="直接箭头连接符 386">
            <a:extLst>
              <a:ext uri="{FF2B5EF4-FFF2-40B4-BE49-F238E27FC236}">
                <a16:creationId xmlns:a16="http://schemas.microsoft.com/office/drawing/2014/main" id="{B98F239A-4240-577E-947E-BC59CEDD5772}"/>
              </a:ext>
            </a:extLst>
          </p:cNvPr>
          <p:cNvCxnSpPr/>
          <p:nvPr/>
        </p:nvCxnSpPr>
        <p:spPr>
          <a:xfrm>
            <a:off x="5691791" y="3358184"/>
            <a:ext cx="0" cy="12282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88" name="直接箭头连接符 387">
            <a:extLst>
              <a:ext uri="{FF2B5EF4-FFF2-40B4-BE49-F238E27FC236}">
                <a16:creationId xmlns:a16="http://schemas.microsoft.com/office/drawing/2014/main" id="{42356DA1-0C1E-AEBA-420E-E3D1B6542860}"/>
              </a:ext>
            </a:extLst>
          </p:cNvPr>
          <p:cNvCxnSpPr/>
          <p:nvPr/>
        </p:nvCxnSpPr>
        <p:spPr>
          <a:xfrm>
            <a:off x="5697564" y="3685255"/>
            <a:ext cx="0" cy="12282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89" name="直接箭头连接符 388">
            <a:extLst>
              <a:ext uri="{FF2B5EF4-FFF2-40B4-BE49-F238E27FC236}">
                <a16:creationId xmlns:a16="http://schemas.microsoft.com/office/drawing/2014/main" id="{B080FD08-512C-711A-607A-28B4C62F6C8C}"/>
              </a:ext>
            </a:extLst>
          </p:cNvPr>
          <p:cNvCxnSpPr/>
          <p:nvPr/>
        </p:nvCxnSpPr>
        <p:spPr>
          <a:xfrm>
            <a:off x="5697564" y="4001753"/>
            <a:ext cx="0" cy="12282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99" name="箭头: 上下 398">
            <a:extLst>
              <a:ext uri="{FF2B5EF4-FFF2-40B4-BE49-F238E27FC236}">
                <a16:creationId xmlns:a16="http://schemas.microsoft.com/office/drawing/2014/main" id="{B4386A48-E5EF-D805-E4B1-F1EF3FC52A72}"/>
              </a:ext>
            </a:extLst>
          </p:cNvPr>
          <p:cNvSpPr/>
          <p:nvPr/>
        </p:nvSpPr>
        <p:spPr>
          <a:xfrm rot="16200000">
            <a:off x="7391389" y="1994885"/>
            <a:ext cx="248156" cy="2303046"/>
          </a:xfrm>
          <a:prstGeom prst="upDownArrow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00" name="文本框 399">
            <a:extLst>
              <a:ext uri="{FF2B5EF4-FFF2-40B4-BE49-F238E27FC236}">
                <a16:creationId xmlns:a16="http://schemas.microsoft.com/office/drawing/2014/main" id="{E00C4B42-80F3-0235-5645-0137C681D88A}"/>
              </a:ext>
            </a:extLst>
          </p:cNvPr>
          <p:cNvSpPr txBox="1"/>
          <p:nvPr/>
        </p:nvSpPr>
        <p:spPr>
          <a:xfrm>
            <a:off x="2891671" y="4051694"/>
            <a:ext cx="161473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4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① 保护现场</a:t>
            </a:r>
            <a:endParaRPr lang="en-US" altLang="zh-CN" sz="1400" dirty="0">
              <a:solidFill>
                <a:prstClr val="black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400" dirty="0">
                <a:solidFill>
                  <a:srgbClr val="FF0000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② </a:t>
            </a:r>
            <a:r>
              <a:rPr lang="en-US" altLang="zh-CN" sz="1400" dirty="0">
                <a:solidFill>
                  <a:srgbClr val="FF0000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IF=1</a:t>
            </a:r>
            <a:r>
              <a:rPr lang="zh-CN" altLang="en-US" sz="1400" dirty="0">
                <a:solidFill>
                  <a:srgbClr val="FF0000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（</a:t>
            </a:r>
            <a:r>
              <a:rPr lang="en-US" altLang="zh-CN" sz="1400" dirty="0">
                <a:solidFill>
                  <a:srgbClr val="FF0000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STI</a:t>
            </a:r>
            <a:r>
              <a:rPr lang="zh-CN" altLang="en-US" sz="1400" dirty="0">
                <a:solidFill>
                  <a:srgbClr val="FF0000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）</a:t>
            </a:r>
            <a:endParaRPr lang="en-US" altLang="zh-CN" sz="1400" dirty="0">
              <a:solidFill>
                <a:srgbClr val="FF0000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400" dirty="0">
                <a:solidFill>
                  <a:srgbClr val="FF0000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③ 中断服务</a:t>
            </a:r>
            <a:endParaRPr lang="en-US" altLang="zh-CN" sz="1400" dirty="0">
              <a:solidFill>
                <a:srgbClr val="FF0000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400" dirty="0">
                <a:solidFill>
                  <a:srgbClr val="FF0000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④ </a:t>
            </a:r>
            <a:r>
              <a:rPr lang="en-US" altLang="zh-CN" sz="1400" dirty="0">
                <a:solidFill>
                  <a:srgbClr val="FF0000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IF=0</a:t>
            </a:r>
            <a:r>
              <a:rPr lang="zh-CN" altLang="en-US" sz="1400" dirty="0">
                <a:solidFill>
                  <a:srgbClr val="FF0000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（</a:t>
            </a:r>
            <a:r>
              <a:rPr lang="en-US" altLang="zh-CN" sz="1400" dirty="0">
                <a:solidFill>
                  <a:srgbClr val="FF0000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CLI</a:t>
            </a:r>
            <a:r>
              <a:rPr lang="zh-CN" altLang="en-US" sz="1400" dirty="0">
                <a:solidFill>
                  <a:srgbClr val="FF0000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）</a:t>
            </a:r>
            <a:endParaRPr lang="en-US" altLang="zh-CN" sz="1400" dirty="0">
              <a:solidFill>
                <a:srgbClr val="FF0000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4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⑤ 恢复现场</a:t>
            </a:r>
            <a:endParaRPr lang="en-US" altLang="zh-CN" sz="1400" dirty="0">
              <a:solidFill>
                <a:prstClr val="black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4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⑥ </a:t>
            </a:r>
            <a:r>
              <a:rPr lang="en-US" altLang="zh-CN" sz="14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IRET</a:t>
            </a:r>
            <a:r>
              <a:rPr lang="zh-CN" altLang="en-US" sz="14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：</a:t>
            </a:r>
            <a:r>
              <a:rPr lang="en-US" altLang="zh-CN" sz="14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IP</a:t>
            </a:r>
            <a:r>
              <a:rPr lang="zh-CN" altLang="en-US" sz="14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、</a:t>
            </a:r>
            <a:r>
              <a:rPr lang="en-US" altLang="zh-CN" sz="14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CS</a:t>
            </a:r>
            <a:r>
              <a:rPr lang="zh-CN" altLang="en-US" sz="14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、</a:t>
            </a:r>
            <a:r>
              <a:rPr lang="en-US" altLang="zh-CN" sz="14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F</a:t>
            </a:r>
            <a:r>
              <a:rPr lang="zh-CN" altLang="en-US" sz="14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出栈</a:t>
            </a:r>
            <a:endParaRPr lang="en-US" altLang="zh-CN" sz="1400" dirty="0">
              <a:solidFill>
                <a:prstClr val="black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401" name="文本框 400">
            <a:extLst>
              <a:ext uri="{FF2B5EF4-FFF2-40B4-BE49-F238E27FC236}">
                <a16:creationId xmlns:a16="http://schemas.microsoft.com/office/drawing/2014/main" id="{9785314F-021E-5954-BDB2-7579EF9590B0}"/>
              </a:ext>
            </a:extLst>
          </p:cNvPr>
          <p:cNvSpPr txBox="1"/>
          <p:nvPr/>
        </p:nvSpPr>
        <p:spPr>
          <a:xfrm>
            <a:off x="7962500" y="2812772"/>
            <a:ext cx="875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D0~7</a:t>
            </a:r>
          </a:p>
        </p:txBody>
      </p:sp>
      <p:sp>
        <p:nvSpPr>
          <p:cNvPr id="402" name="文本框 401">
            <a:extLst>
              <a:ext uri="{FF2B5EF4-FFF2-40B4-BE49-F238E27FC236}">
                <a16:creationId xmlns:a16="http://schemas.microsoft.com/office/drawing/2014/main" id="{CD68CED7-AF02-BB45-2E6A-D84D13524D20}"/>
              </a:ext>
            </a:extLst>
          </p:cNvPr>
          <p:cNvSpPr txBox="1"/>
          <p:nvPr/>
        </p:nvSpPr>
        <p:spPr>
          <a:xfrm>
            <a:off x="6485283" y="2795509"/>
            <a:ext cx="875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AD0~7</a:t>
            </a:r>
          </a:p>
        </p:txBody>
      </p:sp>
      <p:sp>
        <p:nvSpPr>
          <p:cNvPr id="409" name="文本框 408">
            <a:extLst>
              <a:ext uri="{FF2B5EF4-FFF2-40B4-BE49-F238E27FC236}">
                <a16:creationId xmlns:a16="http://schemas.microsoft.com/office/drawing/2014/main" id="{E5C0F79F-2176-25CB-C70C-B7EC9A5FFF83}"/>
              </a:ext>
            </a:extLst>
          </p:cNvPr>
          <p:cNvSpPr txBox="1"/>
          <p:nvPr/>
        </p:nvSpPr>
        <p:spPr>
          <a:xfrm>
            <a:off x="6324636" y="4592304"/>
            <a:ext cx="6269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WR</a:t>
            </a:r>
            <a:endParaRPr lang="zh-CN" altLang="en-US" sz="1400" dirty="0">
              <a:solidFill>
                <a:prstClr val="black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cxnSp>
        <p:nvCxnSpPr>
          <p:cNvPr id="410" name="直接连接符 409">
            <a:extLst>
              <a:ext uri="{FF2B5EF4-FFF2-40B4-BE49-F238E27FC236}">
                <a16:creationId xmlns:a16="http://schemas.microsoft.com/office/drawing/2014/main" id="{EF22B34C-FEFF-D784-AE25-95C17D5179EA}"/>
              </a:ext>
            </a:extLst>
          </p:cNvPr>
          <p:cNvCxnSpPr>
            <a:cxnSpLocks/>
          </p:cNvCxnSpPr>
          <p:nvPr/>
        </p:nvCxnSpPr>
        <p:spPr>
          <a:xfrm flipH="1">
            <a:off x="6419350" y="4641516"/>
            <a:ext cx="276871" cy="0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411" name="直接连接符 410">
            <a:extLst>
              <a:ext uri="{FF2B5EF4-FFF2-40B4-BE49-F238E27FC236}">
                <a16:creationId xmlns:a16="http://schemas.microsoft.com/office/drawing/2014/main" id="{E5469273-A43E-D7E6-806D-148C4DBF2C19}"/>
              </a:ext>
            </a:extLst>
          </p:cNvPr>
          <p:cNvCxnSpPr>
            <a:cxnSpLocks/>
          </p:cNvCxnSpPr>
          <p:nvPr/>
        </p:nvCxnSpPr>
        <p:spPr>
          <a:xfrm flipH="1">
            <a:off x="6432320" y="4972305"/>
            <a:ext cx="276871" cy="0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412" name="文本框 411">
            <a:extLst>
              <a:ext uri="{FF2B5EF4-FFF2-40B4-BE49-F238E27FC236}">
                <a16:creationId xmlns:a16="http://schemas.microsoft.com/office/drawing/2014/main" id="{214BB37B-8B3B-3986-3AEA-9FD327450E5C}"/>
              </a:ext>
            </a:extLst>
          </p:cNvPr>
          <p:cNvSpPr txBox="1"/>
          <p:nvPr/>
        </p:nvSpPr>
        <p:spPr>
          <a:xfrm>
            <a:off x="6344927" y="4924451"/>
            <a:ext cx="6269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RD</a:t>
            </a:r>
            <a:endParaRPr lang="zh-CN" altLang="en-US" sz="1400" dirty="0">
              <a:solidFill>
                <a:prstClr val="black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416" name="文本框 415">
            <a:extLst>
              <a:ext uri="{FF2B5EF4-FFF2-40B4-BE49-F238E27FC236}">
                <a16:creationId xmlns:a16="http://schemas.microsoft.com/office/drawing/2014/main" id="{19EA3F79-1D87-AB52-9941-1698B395616D}"/>
              </a:ext>
            </a:extLst>
          </p:cNvPr>
          <p:cNvSpPr txBox="1"/>
          <p:nvPr/>
        </p:nvSpPr>
        <p:spPr>
          <a:xfrm>
            <a:off x="8111001" y="4929156"/>
            <a:ext cx="6269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RD</a:t>
            </a:r>
            <a:endParaRPr lang="zh-CN" altLang="en-US" sz="1400" dirty="0">
              <a:solidFill>
                <a:prstClr val="black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cxnSp>
        <p:nvCxnSpPr>
          <p:cNvPr id="417" name="直接箭头连接符 416">
            <a:extLst>
              <a:ext uri="{FF2B5EF4-FFF2-40B4-BE49-F238E27FC236}">
                <a16:creationId xmlns:a16="http://schemas.microsoft.com/office/drawing/2014/main" id="{AFE50C8B-4B00-586A-9542-04EC59387FF6}"/>
              </a:ext>
            </a:extLst>
          </p:cNvPr>
          <p:cNvCxnSpPr/>
          <p:nvPr/>
        </p:nvCxnSpPr>
        <p:spPr>
          <a:xfrm>
            <a:off x="6342389" y="4893344"/>
            <a:ext cx="2341529" cy="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18" name="直接箭头连接符 417">
            <a:extLst>
              <a:ext uri="{FF2B5EF4-FFF2-40B4-BE49-F238E27FC236}">
                <a16:creationId xmlns:a16="http://schemas.microsoft.com/office/drawing/2014/main" id="{8413238E-18A5-5BBF-5DFB-406988DFE172}"/>
              </a:ext>
            </a:extLst>
          </p:cNvPr>
          <p:cNvCxnSpPr/>
          <p:nvPr/>
        </p:nvCxnSpPr>
        <p:spPr>
          <a:xfrm>
            <a:off x="6353640" y="4576914"/>
            <a:ext cx="2341529" cy="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20" name="直接箭头连接符 419">
            <a:extLst>
              <a:ext uri="{FF2B5EF4-FFF2-40B4-BE49-F238E27FC236}">
                <a16:creationId xmlns:a16="http://schemas.microsoft.com/office/drawing/2014/main" id="{5B0E5382-8490-9D42-EC2F-234ABA11245B}"/>
              </a:ext>
            </a:extLst>
          </p:cNvPr>
          <p:cNvCxnSpPr/>
          <p:nvPr/>
        </p:nvCxnSpPr>
        <p:spPr>
          <a:xfrm flipH="1" flipV="1">
            <a:off x="4547817" y="3227823"/>
            <a:ext cx="661204" cy="91486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21" name="文本框 420">
            <a:extLst>
              <a:ext uri="{FF2B5EF4-FFF2-40B4-BE49-F238E27FC236}">
                <a16:creationId xmlns:a16="http://schemas.microsoft.com/office/drawing/2014/main" id="{77E4F199-47A3-12DF-4F0B-8B390112E6F4}"/>
              </a:ext>
            </a:extLst>
          </p:cNvPr>
          <p:cNvSpPr txBox="1"/>
          <p:nvPr/>
        </p:nvSpPr>
        <p:spPr>
          <a:xfrm>
            <a:off x="3074310" y="5769373"/>
            <a:ext cx="1416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系统调用</a:t>
            </a:r>
            <a:r>
              <a:rPr lang="en-US" altLang="zh-CN" sz="16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/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dirty="0">
                <a:solidFill>
                  <a:prstClr val="black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中断服务程序</a:t>
            </a:r>
          </a:p>
        </p:txBody>
      </p:sp>
      <p:cxnSp>
        <p:nvCxnSpPr>
          <p:cNvPr id="422" name="连接符: 肘形 421">
            <a:extLst>
              <a:ext uri="{FF2B5EF4-FFF2-40B4-BE49-F238E27FC236}">
                <a16:creationId xmlns:a16="http://schemas.microsoft.com/office/drawing/2014/main" id="{562B9ED8-9C0D-D84C-DBF5-BC5476C7DFF9}"/>
              </a:ext>
            </a:extLst>
          </p:cNvPr>
          <p:cNvCxnSpPr>
            <a:cxnSpLocks/>
            <a:stCxn id="340" idx="1"/>
            <a:endCxn id="306" idx="1"/>
          </p:cNvCxnSpPr>
          <p:nvPr/>
        </p:nvCxnSpPr>
        <p:spPr>
          <a:xfrm rot="10800000" flipV="1">
            <a:off x="2864545" y="2341932"/>
            <a:ext cx="13998" cy="2502770"/>
          </a:xfrm>
          <a:prstGeom prst="bentConnector3">
            <a:avLst>
              <a:gd name="adj1" fmla="val 173309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23" name="直接箭头连接符 422">
            <a:extLst>
              <a:ext uri="{FF2B5EF4-FFF2-40B4-BE49-F238E27FC236}">
                <a16:creationId xmlns:a16="http://schemas.microsoft.com/office/drawing/2014/main" id="{043DDE2E-2A12-DAC2-3066-07FAAF0C42C5}"/>
              </a:ext>
            </a:extLst>
          </p:cNvPr>
          <p:cNvCxnSpPr>
            <a:cxnSpLocks/>
            <a:stCxn id="306" idx="3"/>
          </p:cNvCxnSpPr>
          <p:nvPr/>
        </p:nvCxnSpPr>
        <p:spPr>
          <a:xfrm>
            <a:off x="4486569" y="4844702"/>
            <a:ext cx="563344" cy="31898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54" name="直接箭头连接符 453">
            <a:extLst>
              <a:ext uri="{FF2B5EF4-FFF2-40B4-BE49-F238E27FC236}">
                <a16:creationId xmlns:a16="http://schemas.microsoft.com/office/drawing/2014/main" id="{2ED8AA48-A26A-506B-1C4B-3795608F5C5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972516" y="1746942"/>
            <a:ext cx="905058" cy="481448"/>
          </a:xfrm>
          <a:prstGeom prst="straightConnector1">
            <a:avLst/>
          </a:prstGeom>
          <a:gradFill rotWithShape="0">
            <a:gsLst>
              <a:gs pos="0">
                <a:srgbClr val="99CCFF"/>
              </a:gs>
              <a:gs pos="100000">
                <a:schemeClr val="bg2"/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455" name="文本框 454">
            <a:extLst>
              <a:ext uri="{FF2B5EF4-FFF2-40B4-BE49-F238E27FC236}">
                <a16:creationId xmlns:a16="http://schemas.microsoft.com/office/drawing/2014/main" id="{DB338E9D-DBFF-B1BC-33F4-D6FD1A2CC57F}"/>
              </a:ext>
            </a:extLst>
          </p:cNvPr>
          <p:cNvSpPr txBox="1"/>
          <p:nvPr/>
        </p:nvSpPr>
        <p:spPr>
          <a:xfrm>
            <a:off x="4225864" y="3617594"/>
            <a:ext cx="828511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1400" dirty="0">
                <a:solidFill>
                  <a:srgbClr val="FF0000"/>
                </a:solidFill>
              </a:rPr>
              <a:t>Int 80h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pic>
        <p:nvPicPr>
          <p:cNvPr id="457" name="图片 456">
            <a:extLst>
              <a:ext uri="{FF2B5EF4-FFF2-40B4-BE49-F238E27FC236}">
                <a16:creationId xmlns:a16="http://schemas.microsoft.com/office/drawing/2014/main" id="{929D98A1-653F-D573-1BBF-69DEE25BD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70" y="3625599"/>
            <a:ext cx="1000265" cy="1428949"/>
          </a:xfrm>
          <a:prstGeom prst="rect">
            <a:avLst/>
          </a:prstGeom>
        </p:spPr>
      </p:pic>
      <p:sp>
        <p:nvSpPr>
          <p:cNvPr id="459" name="文本框 458">
            <a:extLst>
              <a:ext uri="{FF2B5EF4-FFF2-40B4-BE49-F238E27FC236}">
                <a16:creationId xmlns:a16="http://schemas.microsoft.com/office/drawing/2014/main" id="{380FD5C8-04C6-0D54-230D-62F25B8135A4}"/>
              </a:ext>
            </a:extLst>
          </p:cNvPr>
          <p:cNvSpPr txBox="1"/>
          <p:nvPr/>
        </p:nvSpPr>
        <p:spPr>
          <a:xfrm>
            <a:off x="271160" y="5054548"/>
            <a:ext cx="12360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FF0000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系统调用表</a:t>
            </a:r>
          </a:p>
        </p:txBody>
      </p:sp>
      <p:sp>
        <p:nvSpPr>
          <p:cNvPr id="465" name="文本框 464">
            <a:extLst>
              <a:ext uri="{FF2B5EF4-FFF2-40B4-BE49-F238E27FC236}">
                <a16:creationId xmlns:a16="http://schemas.microsoft.com/office/drawing/2014/main" id="{708D1E58-101D-71A6-8F98-44801A87E367}"/>
              </a:ext>
            </a:extLst>
          </p:cNvPr>
          <p:cNvSpPr txBox="1"/>
          <p:nvPr/>
        </p:nvSpPr>
        <p:spPr>
          <a:xfrm>
            <a:off x="631815" y="1379314"/>
            <a:ext cx="120611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方正大标宋简体" panose="02010601030101010101" pitchFamily="2" charset="-122"/>
                <a:ea typeface="方正大标宋简体" panose="02010601030101010101" pitchFamily="2" charset="-122"/>
                <a:cs typeface="+mn-cs"/>
              </a:rPr>
              <a:t>ENTRY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方正大标宋简体" panose="02010601030101010101" pitchFamily="2" charset="-122"/>
                <a:ea typeface="方正大标宋简体" panose="02010601030101010101" pitchFamily="2" charset="-122"/>
                <a:cs typeface="+mn-cs"/>
              </a:rPr>
              <a:t>：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方正大标宋简体" panose="02010601030101010101" pitchFamily="2" charset="-122"/>
              <a:ea typeface="方正大标宋简体" panose="02010601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方正大标宋简体" panose="02010601030101010101" pitchFamily="2" charset="-122"/>
                <a:ea typeface="方正大标宋简体" panose="02010601030101010101" pitchFamily="2" charset="-122"/>
                <a:cs typeface="+mn-cs"/>
              </a:rPr>
              <a:t>   保护现场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方正大标宋简体" panose="02010601030101010101" pitchFamily="2" charset="-122"/>
              <a:ea typeface="方正大标宋简体" panose="02010601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>
                <a:solidFill>
                  <a:srgbClr val="FF0000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   调用</a:t>
            </a:r>
            <a:endParaRPr lang="en-US" altLang="zh-CN" sz="1400" dirty="0">
              <a:solidFill>
                <a:srgbClr val="FF0000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>
                <a:solidFill>
                  <a:srgbClr val="FF0000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   恢复现场</a:t>
            </a:r>
            <a:endParaRPr lang="en-US" altLang="zh-CN" sz="1400" dirty="0">
              <a:solidFill>
                <a:srgbClr val="FF0000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方正大标宋简体" panose="02010601030101010101" pitchFamily="2" charset="-122"/>
                <a:ea typeface="方正大标宋简体" panose="02010601030101010101" pitchFamily="2" charset="-122"/>
                <a:cs typeface="+mn-cs"/>
              </a:rPr>
              <a:t>   IRET</a:t>
            </a:r>
          </a:p>
        </p:txBody>
      </p:sp>
      <p:cxnSp>
        <p:nvCxnSpPr>
          <p:cNvPr id="469" name="连接符: 肘形 468">
            <a:extLst>
              <a:ext uri="{FF2B5EF4-FFF2-40B4-BE49-F238E27FC236}">
                <a16:creationId xmlns:a16="http://schemas.microsoft.com/office/drawing/2014/main" id="{2B8B32DF-655F-A6A1-6190-033AAE2AB643}"/>
              </a:ext>
            </a:extLst>
          </p:cNvPr>
          <p:cNvCxnSpPr>
            <a:endCxn id="457" idx="1"/>
          </p:cNvCxnSpPr>
          <p:nvPr/>
        </p:nvCxnSpPr>
        <p:spPr bwMode="auto">
          <a:xfrm rot="5400000">
            <a:off x="-586942" y="2961552"/>
            <a:ext cx="2351234" cy="405810"/>
          </a:xfrm>
          <a:prstGeom prst="bentConnector4">
            <a:avLst>
              <a:gd name="adj1" fmla="val -236"/>
              <a:gd name="adj2" fmla="val 156332"/>
            </a:avLst>
          </a:prstGeom>
          <a:gradFill rotWithShape="0">
            <a:gsLst>
              <a:gs pos="0">
                <a:srgbClr val="99CCFF"/>
              </a:gs>
              <a:gs pos="100000">
                <a:schemeClr val="bg2"/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474" name="连接符: 肘形 473">
            <a:extLst>
              <a:ext uri="{FF2B5EF4-FFF2-40B4-BE49-F238E27FC236}">
                <a16:creationId xmlns:a16="http://schemas.microsoft.com/office/drawing/2014/main" id="{CC626F2E-AD6F-1937-65AA-3E828A9863F9}"/>
              </a:ext>
            </a:extLst>
          </p:cNvPr>
          <p:cNvCxnSpPr>
            <a:stCxn id="457" idx="3"/>
            <a:endCxn id="400" idx="1"/>
          </p:cNvCxnSpPr>
          <p:nvPr/>
        </p:nvCxnSpPr>
        <p:spPr bwMode="auto">
          <a:xfrm>
            <a:off x="1386035" y="4340074"/>
            <a:ext cx="1505636" cy="511839"/>
          </a:xfrm>
          <a:prstGeom prst="bentConnector3">
            <a:avLst>
              <a:gd name="adj1" fmla="val 50000"/>
            </a:avLst>
          </a:prstGeom>
          <a:gradFill rotWithShape="0">
            <a:gsLst>
              <a:gs pos="0">
                <a:srgbClr val="99CCFF"/>
              </a:gs>
              <a:gs pos="100000">
                <a:schemeClr val="bg2"/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1610528516"/>
      </p:ext>
    </p:extLst>
  </p:cSld>
  <p:clrMapOvr>
    <a:masterClrMapping/>
  </p:clrMapOvr>
  <p:transition spd="med">
    <p:zoom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WJmNTAxYTA0NTllZTU0OWY5NWY0MWNlMzBjNGU2OTYifQ=="/>
</p:tagLst>
</file>

<file path=ppt/theme/theme1.xml><?xml version="1.0" encoding="utf-8"?>
<a:theme xmlns:a="http://schemas.openxmlformats.org/drawingml/2006/main" name="2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99CCFF"/>
            </a:gs>
            <a:gs pos="100000">
              <a:schemeClr val="bg2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342900" marR="0" indent="-34290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Char char="n"/>
          <a:defRPr kumimoji="1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99CCFF"/>
            </a:gs>
            <a:gs pos="100000">
              <a:schemeClr val="bg2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342900" marR="0" indent="-34290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Char char="n"/>
          <a:defRPr kumimoji="1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4228</TotalTime>
  <Words>3390</Words>
  <Application>Microsoft Office PowerPoint</Application>
  <PresentationFormat>全屏显示(4:3)</PresentationFormat>
  <Paragraphs>556</Paragraphs>
  <Slides>51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62" baseType="lpstr">
      <vt:lpstr>MS PGothic</vt:lpstr>
      <vt:lpstr>等线</vt:lpstr>
      <vt:lpstr>方正大标宋简体</vt:lpstr>
      <vt:lpstr>宋体</vt:lpstr>
      <vt:lpstr>Arial</vt:lpstr>
      <vt:lpstr>Century</vt:lpstr>
      <vt:lpstr>MT Extra</vt:lpstr>
      <vt:lpstr>Tahoma</vt:lpstr>
      <vt:lpstr>Times New Roman</vt:lpstr>
      <vt:lpstr>Wingdings</vt:lpstr>
      <vt:lpstr>2_Blends</vt:lpstr>
      <vt:lpstr>第2章 操作系统的运行环境和运行机制</vt:lpstr>
      <vt:lpstr>计算机系统的抽象结构</vt:lpstr>
      <vt:lpstr>CPU的内部结构图</vt:lpstr>
      <vt:lpstr>CPU的工作流程</vt:lpstr>
      <vt:lpstr>CPU的状态</vt:lpstr>
      <vt:lpstr>CPU状态的分类</vt:lpstr>
      <vt:lpstr>CPU的状态</vt:lpstr>
      <vt:lpstr>不同架构的CPU的特权级</vt:lpstr>
      <vt:lpstr>CPU特权级切换的三个场景</vt:lpstr>
      <vt:lpstr>CPU中的重要寄存器</vt:lpstr>
      <vt:lpstr>计算机系统的硬件结构</vt:lpstr>
      <vt:lpstr>计算机系统的运行</vt:lpstr>
      <vt:lpstr>中断机制中的常见功能</vt:lpstr>
      <vt:lpstr>中断的时间线</vt:lpstr>
      <vt:lpstr>中断驱动的I/O循环</vt:lpstr>
      <vt:lpstr>中断响应</vt:lpstr>
      <vt:lpstr>保存现场与恢复现场</vt:lpstr>
      <vt:lpstr>保存现场与恢复现场</vt:lpstr>
      <vt:lpstr>保存现场与恢复现场</vt:lpstr>
      <vt:lpstr>中断响应的详细过程</vt:lpstr>
      <vt:lpstr>中断处理程序</vt:lpstr>
      <vt:lpstr>中断的分类</vt:lpstr>
      <vt:lpstr>中断的分类</vt:lpstr>
      <vt:lpstr>中断的分类</vt:lpstr>
      <vt:lpstr>系统调用</vt:lpstr>
      <vt:lpstr>系统调用</vt:lpstr>
      <vt:lpstr>系统调用</vt:lpstr>
      <vt:lpstr>标准API示例</vt:lpstr>
      <vt:lpstr>系统调用的实现</vt:lpstr>
      <vt:lpstr>API：打开文件的系统调用</vt:lpstr>
      <vt:lpstr>访管中断</vt:lpstr>
      <vt:lpstr>系统调用的实现</vt:lpstr>
      <vt:lpstr>系统调用的参数传递</vt:lpstr>
      <vt:lpstr>通过表来进行参数传递</vt:lpstr>
      <vt:lpstr>系统调用的类型</vt:lpstr>
      <vt:lpstr>系统调用的类型</vt:lpstr>
      <vt:lpstr>系统调用的类型</vt:lpstr>
      <vt:lpstr>系统调用的类型</vt:lpstr>
      <vt:lpstr>Windows和Unix的系统调用</vt:lpstr>
      <vt:lpstr>标准C函数库</vt:lpstr>
      <vt:lpstr>Linux的系统调用</vt:lpstr>
      <vt:lpstr>Linux的系统调用实现机制</vt:lpstr>
      <vt:lpstr>Linux的系统调用实现机制</vt:lpstr>
      <vt:lpstr>Linux的系统调用实现机制</vt:lpstr>
      <vt:lpstr>Linux的系统调用实现机制</vt:lpstr>
      <vt:lpstr>Linux的系统调用实现机制</vt:lpstr>
      <vt:lpstr>为什么应用程序是OS特定的</vt:lpstr>
      <vt:lpstr>练习题</vt:lpstr>
      <vt:lpstr>练习题</vt:lpstr>
      <vt:lpstr>选择题1</vt:lpstr>
      <vt:lpstr>PowerPoint 演示文稿</vt:lpstr>
    </vt:vector>
  </TitlesOfParts>
  <Company>Microsoft 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操作系统结构 </dc:title>
  <dc:creator>zp</dc:creator>
  <cp:lastModifiedBy>dk liu</cp:lastModifiedBy>
  <cp:revision>219</cp:revision>
  <dcterms:created xsi:type="dcterms:W3CDTF">2004-02-12T01:00:22Z</dcterms:created>
  <dcterms:modified xsi:type="dcterms:W3CDTF">2025-06-06T08:45:53Z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88FC8D65E1D245CF97309D9637C1C7CC</vt:lpwstr>
  </property>
  <property fmtid="{D5CDD505-2E9C-101B-9397-08002B2CF9AE}" pid="3" name="KSOProductBuildVer">
    <vt:lpwstr>2052-11.1.0.11691</vt:lpwstr>
  </property>
</Properties>
</file>