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1"/>
  </p:notesMasterIdLst>
  <p:sldIdLst>
    <p:sldId id="257" r:id="rId2"/>
    <p:sldId id="431" r:id="rId3"/>
    <p:sldId id="432" r:id="rId4"/>
    <p:sldId id="643" r:id="rId5"/>
    <p:sldId id="665" r:id="rId6"/>
    <p:sldId id="454" r:id="rId7"/>
    <p:sldId id="455" r:id="rId8"/>
    <p:sldId id="433" r:id="rId9"/>
    <p:sldId id="442" r:id="rId10"/>
    <p:sldId id="664" r:id="rId11"/>
    <p:sldId id="437" r:id="rId12"/>
    <p:sldId id="439" r:id="rId13"/>
    <p:sldId id="436" r:id="rId14"/>
    <p:sldId id="443" r:id="rId15"/>
    <p:sldId id="440" r:id="rId16"/>
    <p:sldId id="444" r:id="rId17"/>
    <p:sldId id="441" r:id="rId18"/>
    <p:sldId id="438" r:id="rId19"/>
    <p:sldId id="445" r:id="rId20"/>
    <p:sldId id="452" r:id="rId21"/>
    <p:sldId id="446" r:id="rId22"/>
    <p:sldId id="447" r:id="rId23"/>
    <p:sldId id="448" r:id="rId24"/>
    <p:sldId id="449" r:id="rId25"/>
    <p:sldId id="450" r:id="rId26"/>
    <p:sldId id="453" r:id="rId27"/>
    <p:sldId id="273" r:id="rId28"/>
    <p:sldId id="274" r:id="rId29"/>
    <p:sldId id="410" r:id="rId30"/>
    <p:sldId id="373" r:id="rId31"/>
    <p:sldId id="374" r:id="rId32"/>
    <p:sldId id="375" r:id="rId33"/>
    <p:sldId id="376" r:id="rId34"/>
    <p:sldId id="372" r:id="rId35"/>
    <p:sldId id="462" r:id="rId36"/>
    <p:sldId id="463" r:id="rId37"/>
    <p:sldId id="464" r:id="rId38"/>
    <p:sldId id="378" r:id="rId39"/>
    <p:sldId id="466" r:id="rId40"/>
    <p:sldId id="468" r:id="rId41"/>
    <p:sldId id="469" r:id="rId42"/>
    <p:sldId id="644" r:id="rId43"/>
    <p:sldId id="493" r:id="rId44"/>
    <p:sldId id="470" r:id="rId45"/>
    <p:sldId id="471" r:id="rId46"/>
    <p:sldId id="472" r:id="rId47"/>
    <p:sldId id="473" r:id="rId48"/>
    <p:sldId id="474" r:id="rId49"/>
    <p:sldId id="475" r:id="rId50"/>
    <p:sldId id="476" r:id="rId51"/>
    <p:sldId id="477" r:id="rId52"/>
    <p:sldId id="479" r:id="rId53"/>
    <p:sldId id="481" r:id="rId54"/>
    <p:sldId id="482" r:id="rId55"/>
    <p:sldId id="483" r:id="rId56"/>
    <p:sldId id="484" r:id="rId57"/>
    <p:sldId id="485" r:id="rId58"/>
    <p:sldId id="486" r:id="rId59"/>
    <p:sldId id="487" r:id="rId60"/>
    <p:sldId id="488" r:id="rId61"/>
    <p:sldId id="494" r:id="rId62"/>
    <p:sldId id="496" r:id="rId63"/>
    <p:sldId id="497" r:id="rId64"/>
    <p:sldId id="498" r:id="rId65"/>
    <p:sldId id="624" r:id="rId66"/>
    <p:sldId id="625" r:id="rId67"/>
    <p:sldId id="626" r:id="rId68"/>
    <p:sldId id="627" r:id="rId69"/>
    <p:sldId id="629" r:id="rId70"/>
    <p:sldId id="630" r:id="rId71"/>
    <p:sldId id="631" r:id="rId72"/>
    <p:sldId id="632" r:id="rId73"/>
    <p:sldId id="633" r:id="rId74"/>
    <p:sldId id="634" r:id="rId75"/>
    <p:sldId id="635" r:id="rId76"/>
    <p:sldId id="636" r:id="rId77"/>
    <p:sldId id="637" r:id="rId78"/>
    <p:sldId id="638" r:id="rId79"/>
    <p:sldId id="639" r:id="rId80"/>
    <p:sldId id="640" r:id="rId81"/>
    <p:sldId id="641" r:id="rId82"/>
    <p:sldId id="642" r:id="rId83"/>
    <p:sldId id="499" r:id="rId84"/>
    <p:sldId id="500" r:id="rId85"/>
    <p:sldId id="506" r:id="rId86"/>
    <p:sldId id="502" r:id="rId87"/>
    <p:sldId id="503" r:id="rId88"/>
    <p:sldId id="504" r:id="rId89"/>
    <p:sldId id="505" r:id="rId90"/>
    <p:sldId id="507" r:id="rId91"/>
    <p:sldId id="508" r:id="rId92"/>
    <p:sldId id="509" r:id="rId93"/>
    <p:sldId id="510" r:id="rId94"/>
    <p:sldId id="512" r:id="rId95"/>
    <p:sldId id="513" r:id="rId96"/>
    <p:sldId id="518" r:id="rId97"/>
    <p:sldId id="519" r:id="rId98"/>
    <p:sldId id="520" r:id="rId99"/>
    <p:sldId id="521" r:id="rId100"/>
    <p:sldId id="525" r:id="rId101"/>
    <p:sldId id="526" r:id="rId102"/>
    <p:sldId id="527" r:id="rId103"/>
    <p:sldId id="456" r:id="rId104"/>
    <p:sldId id="457" r:id="rId105"/>
    <p:sldId id="459" r:id="rId106"/>
    <p:sldId id="460" r:id="rId107"/>
    <p:sldId id="461" r:id="rId108"/>
    <p:sldId id="528" r:id="rId109"/>
    <p:sldId id="645" r:id="rId110"/>
    <p:sldId id="529" r:id="rId111"/>
    <p:sldId id="531" r:id="rId112"/>
    <p:sldId id="530" r:id="rId113"/>
    <p:sldId id="465" r:id="rId114"/>
    <p:sldId id="646" r:id="rId115"/>
    <p:sldId id="532" r:id="rId116"/>
    <p:sldId id="647" r:id="rId117"/>
    <p:sldId id="648" r:id="rId118"/>
    <p:sldId id="649" r:id="rId119"/>
    <p:sldId id="650" r:id="rId120"/>
    <p:sldId id="533" r:id="rId121"/>
    <p:sldId id="651" r:id="rId122"/>
    <p:sldId id="652" r:id="rId123"/>
    <p:sldId id="653" r:id="rId124"/>
    <p:sldId id="654" r:id="rId125"/>
    <p:sldId id="655" r:id="rId126"/>
    <p:sldId id="656" r:id="rId127"/>
    <p:sldId id="478" r:id="rId128"/>
    <p:sldId id="657" r:id="rId129"/>
    <p:sldId id="480" r:id="rId130"/>
    <p:sldId id="658" r:id="rId131"/>
    <p:sldId id="659" r:id="rId132"/>
    <p:sldId id="534" r:id="rId133"/>
    <p:sldId id="535" r:id="rId134"/>
    <p:sldId id="536" r:id="rId135"/>
    <p:sldId id="537" r:id="rId136"/>
    <p:sldId id="545" r:id="rId137"/>
    <p:sldId id="538" r:id="rId138"/>
    <p:sldId id="539" r:id="rId139"/>
    <p:sldId id="540" r:id="rId140"/>
    <p:sldId id="541" r:id="rId141"/>
    <p:sldId id="542" r:id="rId142"/>
    <p:sldId id="543" r:id="rId143"/>
    <p:sldId id="544" r:id="rId144"/>
    <p:sldId id="660" r:id="rId145"/>
    <p:sldId id="661" r:id="rId146"/>
    <p:sldId id="662" r:id="rId147"/>
    <p:sldId id="663" r:id="rId148"/>
    <p:sldId id="402" r:id="rId149"/>
    <p:sldId id="547" r:id="rId150"/>
    <p:sldId id="546" r:id="rId151"/>
    <p:sldId id="403" r:id="rId152"/>
    <p:sldId id="404" r:id="rId153"/>
    <p:sldId id="405" r:id="rId154"/>
    <p:sldId id="690" r:id="rId155"/>
    <p:sldId id="691" r:id="rId156"/>
    <p:sldId id="692" r:id="rId157"/>
    <p:sldId id="693" r:id="rId158"/>
    <p:sldId id="694" r:id="rId159"/>
    <p:sldId id="501" r:id="rId160"/>
    <p:sldId id="695" r:id="rId161"/>
    <p:sldId id="696" r:id="rId162"/>
    <p:sldId id="697" r:id="rId163"/>
    <p:sldId id="698" r:id="rId164"/>
    <p:sldId id="699" r:id="rId165"/>
    <p:sldId id="700" r:id="rId166"/>
    <p:sldId id="701" r:id="rId167"/>
    <p:sldId id="702" r:id="rId168"/>
    <p:sldId id="703" r:id="rId169"/>
    <p:sldId id="704" r:id="rId170"/>
    <p:sldId id="705" r:id="rId171"/>
    <p:sldId id="706" r:id="rId172"/>
    <p:sldId id="707" r:id="rId173"/>
    <p:sldId id="708" r:id="rId174"/>
    <p:sldId id="709" r:id="rId175"/>
    <p:sldId id="514" r:id="rId176"/>
    <p:sldId id="515" r:id="rId177"/>
    <p:sldId id="516" r:id="rId178"/>
    <p:sldId id="517" r:id="rId179"/>
    <p:sldId id="710" r:id="rId180"/>
    <p:sldId id="711" r:id="rId181"/>
    <p:sldId id="712" r:id="rId182"/>
    <p:sldId id="713" r:id="rId183"/>
    <p:sldId id="522" r:id="rId184"/>
    <p:sldId id="523" r:id="rId185"/>
    <p:sldId id="524" r:id="rId186"/>
    <p:sldId id="714" r:id="rId187"/>
    <p:sldId id="715" r:id="rId188"/>
    <p:sldId id="716" r:id="rId189"/>
    <p:sldId id="717" r:id="rId190"/>
    <p:sldId id="718" r:id="rId191"/>
    <p:sldId id="720" r:id="rId192"/>
    <p:sldId id="721" r:id="rId193"/>
    <p:sldId id="322" r:id="rId194"/>
    <p:sldId id="722" r:id="rId195"/>
    <p:sldId id="723" r:id="rId196"/>
    <p:sldId id="724" r:id="rId197"/>
    <p:sldId id="725" r:id="rId198"/>
    <p:sldId id="726" r:id="rId199"/>
    <p:sldId id="727" r:id="rId200"/>
    <p:sldId id="728" r:id="rId201"/>
    <p:sldId id="560" r:id="rId202"/>
    <p:sldId id="415" r:id="rId203"/>
    <p:sldId id="552" r:id="rId204"/>
    <p:sldId id="553" r:id="rId205"/>
    <p:sldId id="729" r:id="rId206"/>
    <p:sldId id="730" r:id="rId207"/>
    <p:sldId id="561" r:id="rId208"/>
    <p:sldId id="562" r:id="rId209"/>
    <p:sldId id="563" r:id="rId2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F6FF"/>
    <a:srgbClr val="BAE3F3"/>
    <a:srgbClr val="EAF1F1"/>
    <a:srgbClr val="FFEDD8"/>
    <a:srgbClr val="FFF8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98"/>
    <p:restoredTop sz="79228"/>
  </p:normalViewPr>
  <p:slideViewPr>
    <p:cSldViewPr snapToGrid="0">
      <p:cViewPr varScale="1">
        <p:scale>
          <a:sx n="102" d="100"/>
          <a:sy n="102" d="100"/>
        </p:scale>
        <p:origin x="18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presProps" Target="pres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2024/11/26</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95</a:t>
            </a:fld>
            <a:endParaRPr kumimoji="1" lang="zh-CN" altLang="en-US"/>
          </a:p>
        </p:txBody>
      </p:sp>
    </p:spTree>
    <p:extLst>
      <p:ext uri="{BB962C8B-B14F-4D97-AF65-F5344CB8AC3E}">
        <p14:creationId xmlns:p14="http://schemas.microsoft.com/office/powerpoint/2010/main" val="2701578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B31256-4040-D574-1352-7BF9958E21CB}"/>
              </a:ext>
            </a:extLst>
          </p:cNvPr>
          <p:cNvGrpSpPr>
            <a:grpSpLocks/>
          </p:cNvGrpSpPr>
          <p:nvPr/>
        </p:nvGrpSpPr>
        <p:grpSpPr bwMode="auto">
          <a:xfrm>
            <a:off x="2" y="2438406"/>
            <a:ext cx="9009063" cy="1052513"/>
            <a:chOff x="0" y="1536"/>
            <a:chExt cx="5675" cy="663"/>
          </a:xfrm>
        </p:grpSpPr>
        <p:grpSp>
          <p:nvGrpSpPr>
            <p:cNvPr id="3" name="Group 3">
              <a:extLst>
                <a:ext uri="{FF2B5EF4-FFF2-40B4-BE49-F238E27FC236}">
                  <a16:creationId xmlns:a16="http://schemas.microsoft.com/office/drawing/2014/main" id="{EA6626CB-3703-E0DB-640B-674546674C3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2311AE7-2C4F-8267-D2B8-353BB037696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11" name="Rectangle 5">
                <a:extLst>
                  <a:ext uri="{FF2B5EF4-FFF2-40B4-BE49-F238E27FC236}">
                    <a16:creationId xmlns:a16="http://schemas.microsoft.com/office/drawing/2014/main" id="{8CF3E795-8736-A25F-18DB-60F43310902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grpSp>
          <p:nvGrpSpPr>
            <p:cNvPr id="4" name="Group 6">
              <a:extLst>
                <a:ext uri="{FF2B5EF4-FFF2-40B4-BE49-F238E27FC236}">
                  <a16:creationId xmlns:a16="http://schemas.microsoft.com/office/drawing/2014/main" id="{332554FD-EA9F-C7BC-4962-5BD0321F09C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247E854-890A-8AB4-8D1E-21A25F6EC49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9" name="Rectangle 8">
                <a:extLst>
                  <a:ext uri="{FF2B5EF4-FFF2-40B4-BE49-F238E27FC236}">
                    <a16:creationId xmlns:a16="http://schemas.microsoft.com/office/drawing/2014/main" id="{F9BD07B4-2FE4-0227-16AD-D37B05C8FC0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5" name="Rectangle 9">
              <a:extLst>
                <a:ext uri="{FF2B5EF4-FFF2-40B4-BE49-F238E27FC236}">
                  <a16:creationId xmlns:a16="http://schemas.microsoft.com/office/drawing/2014/main" id="{CC6F0594-41E8-FEBD-7452-6A6E1E24460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 name="Rectangle 10">
              <a:extLst>
                <a:ext uri="{FF2B5EF4-FFF2-40B4-BE49-F238E27FC236}">
                  <a16:creationId xmlns:a16="http://schemas.microsoft.com/office/drawing/2014/main" id="{E3D8FBF2-0838-B26A-51A0-086A51CFA69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7" name="Rectangle 11">
              <a:extLst>
                <a:ext uri="{FF2B5EF4-FFF2-40B4-BE49-F238E27FC236}">
                  <a16:creationId xmlns:a16="http://schemas.microsoft.com/office/drawing/2014/main" id="{7B338C99-4BFA-EC8E-7B91-F5844CDD83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atin typeface="Century" panose="02040604050505020304" pitchFamily="18" charset="0"/>
              </a:defRPr>
            </a:lvl1pPr>
          </a:lstStyle>
          <a:p>
            <a:r>
              <a:rPr lang="zh-CN" altLang="en-US" noProof="1"/>
              <a:t>单击此处编辑母版标题样式</a:t>
            </a:r>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a:t>单击此处编辑母版文本样式</a:t>
            </a:r>
          </a:p>
        </p:txBody>
      </p:sp>
      <p:sp>
        <p:nvSpPr>
          <p:cNvPr id="7" name="日期占位符 6">
            <a:extLst>
              <a:ext uri="{FF2B5EF4-FFF2-40B4-BE49-F238E27FC236}">
                <a16:creationId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图表占位符 3"/>
          <p:cNvSpPr>
            <a:spLocks noGrp="1"/>
          </p:cNvSpPr>
          <p:nvPr>
            <p:ph type="chart" sz="half" idx="2"/>
          </p:nvPr>
        </p:nvSpPr>
        <p:spPr>
          <a:xfrm>
            <a:off x="4897438" y="1233488"/>
            <a:ext cx="3810000" cy="4895850"/>
          </a:xfrm>
        </p:spPr>
        <p:txBody>
          <a:bodyPr/>
          <a:lstStyle/>
          <a:p>
            <a:pPr lvl="0"/>
            <a:endParaRPr lang="zh-CN" altLang="en-US" noProof="0"/>
          </a:p>
        </p:txBody>
      </p:sp>
      <p:sp>
        <p:nvSpPr>
          <p:cNvPr id="5" name="Rectangle 11">
            <a:extLst>
              <a:ext uri="{FF2B5EF4-FFF2-40B4-BE49-F238E27FC236}">
                <a16:creationId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图表占位符 2"/>
          <p:cNvSpPr>
            <a:spLocks noGrp="1"/>
          </p:cNvSpPr>
          <p:nvPr>
            <p:ph type="chart" idx="1"/>
          </p:nvPr>
        </p:nvSpPr>
        <p:spPr>
          <a:xfrm>
            <a:off x="935038" y="1233488"/>
            <a:ext cx="7772400" cy="4895850"/>
          </a:xfrm>
        </p:spPr>
        <p:txBody>
          <a:bodyPr/>
          <a:lstStyle/>
          <a:p>
            <a:pPr lvl="0"/>
            <a:endParaRPr lang="zh-CN" altLang="en-US" noProof="0"/>
          </a:p>
        </p:txBody>
      </p:sp>
      <p:sp>
        <p:nvSpPr>
          <p:cNvPr id="4" name="Rectangle 11">
            <a:extLst>
              <a:ext uri="{FF2B5EF4-FFF2-40B4-BE49-F238E27FC236}">
                <a16:creationId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10">
            <a:extLst>
              <a:ext uri="{FF2B5EF4-FFF2-40B4-BE49-F238E27FC236}">
                <a16:creationId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5" name="图片 4">
            <a:extLst>
              <a:ext uri="{FF2B5EF4-FFF2-40B4-BE49-F238E27FC236}">
                <a16:creationId xmlns:a16="http://schemas.microsoft.com/office/drawing/2014/main" id="{C3BB9AFC-C9BC-E655-334A-DE8EBC2F172F}"/>
              </a:ext>
            </a:extLst>
          </p:cNvPr>
          <p:cNvPicPr>
            <a:picLocks noChangeAspect="1"/>
          </p:cNvPicPr>
          <p:nvPr userDrawn="1"/>
        </p:nvPicPr>
        <p:blipFill>
          <a:blip r:embed="rId15"/>
          <a:stretch>
            <a:fillRect/>
          </a:stretch>
        </p:blipFill>
        <p:spPr>
          <a:xfrm>
            <a:off x="8532443" y="5624518"/>
            <a:ext cx="512549" cy="1106809"/>
          </a:xfrm>
          <a:prstGeom prst="rect">
            <a:avLst/>
          </a:prstGeom>
        </p:spPr>
      </p:pic>
      <p:pic>
        <p:nvPicPr>
          <p:cNvPr id="6" name="图片 5">
            <a:extLst>
              <a:ext uri="{FF2B5EF4-FFF2-40B4-BE49-F238E27FC236}">
                <a16:creationId xmlns:a16="http://schemas.microsoft.com/office/drawing/2014/main" id="{3CE6F6BF-4B21-EBA8-0316-496A78B2CDF2}"/>
              </a:ext>
            </a:extLst>
          </p:cNvPr>
          <p:cNvPicPr>
            <a:picLocks noChangeAspect="1"/>
          </p:cNvPicPr>
          <p:nvPr userDrawn="1"/>
        </p:nvPicPr>
        <p:blipFill>
          <a:blip r:embed="rId16"/>
          <a:stretch>
            <a:fillRect/>
          </a:stretch>
        </p:blipFill>
        <p:spPr>
          <a:xfrm rot="3532301">
            <a:off x="53066" y="512497"/>
            <a:ext cx="678101" cy="376134"/>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zoom/>
  </p:transition>
  <p:hf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第</a:t>
            </a:r>
            <a:r>
              <a:rPr lang="en-US" altLang="zh-CN" dirty="0"/>
              <a:t>8</a:t>
            </a:r>
            <a:r>
              <a:rPr lang="zh-CN" altLang="en-US" dirty="0"/>
              <a:t>章 文件系统</a:t>
            </a:r>
          </a:p>
        </p:txBody>
      </p:sp>
      <p:sp>
        <p:nvSpPr>
          <p:cNvPr id="3" name="内容占位符 2">
            <a:extLst>
              <a:ext uri="{FF2B5EF4-FFF2-40B4-BE49-F238E27FC236}">
                <a16:creationId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文件系统的基本概念与管理功能</a:t>
            </a:r>
            <a:endParaRPr lang="zh-CN" altLang="zh-CN" dirty="0"/>
          </a:p>
          <a:p>
            <a:r>
              <a:rPr lang="en-US" altLang="zh-CN" dirty="0"/>
              <a:t>2.</a:t>
            </a:r>
            <a:r>
              <a:rPr lang="zh-CN" altLang="en-US" dirty="0"/>
              <a:t> 文件系统的接口</a:t>
            </a:r>
            <a:endParaRPr lang="en-US" altLang="zh-CN" dirty="0"/>
          </a:p>
          <a:p>
            <a:r>
              <a:rPr lang="en-US" altLang="zh-CN" dirty="0"/>
              <a:t>3.</a:t>
            </a:r>
            <a:r>
              <a:rPr lang="zh-CN" altLang="en-US" dirty="0"/>
              <a:t> 文件系统及目录结构的实现</a:t>
            </a:r>
            <a:endParaRPr lang="en-US" altLang="zh-CN" dirty="0"/>
          </a:p>
          <a:p>
            <a:r>
              <a:rPr lang="en-US" altLang="zh-CN" dirty="0"/>
              <a:t>4.</a:t>
            </a:r>
            <a:r>
              <a:rPr lang="zh-CN" altLang="en-US" dirty="0"/>
              <a:t> 文件共享与保护</a:t>
            </a:r>
            <a:endParaRPr lang="en-US" altLang="zh-CN" dirty="0"/>
          </a:p>
          <a:p>
            <a:r>
              <a:rPr lang="en-US" altLang="zh-CN" dirty="0"/>
              <a:t>5</a:t>
            </a:r>
            <a:r>
              <a:rPr lang="en-US" altLang="zh-CN"/>
              <a:t>.</a:t>
            </a:r>
            <a:r>
              <a:rPr lang="zh-CN" altLang="en-US" dirty="0"/>
              <a:t> 虚拟文件系统</a:t>
            </a:r>
          </a:p>
        </p:txBody>
      </p:sp>
      <p:sp>
        <p:nvSpPr>
          <p:cNvPr id="4" name="灯片编号占位符 3">
            <a:extLst>
              <a:ext uri="{FF2B5EF4-FFF2-40B4-BE49-F238E27FC236}">
                <a16:creationId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C746AB93-BB3D-461C-164F-909090111CCB}"/>
              </a:ext>
            </a:extLst>
          </p:cNvPr>
          <p:cNvSpPr>
            <a:spLocks noGrp="1" noChangeArrowheads="1"/>
          </p:cNvSpPr>
          <p:nvPr>
            <p:ph type="title"/>
          </p:nvPr>
        </p:nvSpPr>
        <p:spPr>
          <a:xfrm>
            <a:off x="1042988" y="225431"/>
            <a:ext cx="7850187" cy="746125"/>
          </a:xfrm>
        </p:spPr>
        <p:txBody>
          <a:bodyPr/>
          <a:lstStyle/>
          <a:p>
            <a:r>
              <a:rPr lang="zh-CN" altLang="en-US"/>
              <a:t>文件的相关概念</a:t>
            </a:r>
            <a:endParaRPr lang="en-US" altLang="zh-CN" dirty="0"/>
          </a:p>
        </p:txBody>
      </p:sp>
      <p:sp>
        <p:nvSpPr>
          <p:cNvPr id="279555" name="Rectangle 3">
            <a:extLst>
              <a:ext uri="{FF2B5EF4-FFF2-40B4-BE49-F238E27FC236}">
                <a16:creationId xmlns:a16="http://schemas.microsoft.com/office/drawing/2014/main" id="{E32B0316-6A5A-19C4-A2BC-2300714AC8A5}"/>
              </a:ext>
            </a:extLst>
          </p:cNvPr>
          <p:cNvSpPr>
            <a:spLocks noGrp="1" noChangeArrowheads="1"/>
          </p:cNvSpPr>
          <p:nvPr>
            <p:ph idx="1"/>
          </p:nvPr>
        </p:nvSpPr>
        <p:spPr>
          <a:xfrm>
            <a:off x="935038" y="1233488"/>
            <a:ext cx="7772400" cy="4895850"/>
          </a:xfrm>
        </p:spPr>
        <p:txBody>
          <a:bodyPr>
            <a:normAutofit/>
          </a:bodyPr>
          <a:lstStyle/>
          <a:p>
            <a:r>
              <a:rPr lang="zh-CN" altLang="en-US" b="1" dirty="0">
                <a:solidFill>
                  <a:srgbClr val="FF0000"/>
                </a:solidFill>
              </a:rPr>
              <a:t>文件</a:t>
            </a:r>
            <a:r>
              <a:rPr lang="zh-CN" altLang="en-US" dirty="0"/>
              <a:t>是具有文件名的一组相关信息的集合，文件存放在外存上的，文件由若干记录组成</a:t>
            </a:r>
          </a:p>
          <a:p>
            <a:r>
              <a:rPr lang="zh-CN" altLang="en-US" b="1" dirty="0">
                <a:solidFill>
                  <a:srgbClr val="FF0000"/>
                </a:solidFill>
              </a:rPr>
              <a:t>记录</a:t>
            </a:r>
            <a:r>
              <a:rPr lang="zh-CN" altLang="en-US" dirty="0"/>
              <a:t>是一些相关数据项的集合。</a:t>
            </a:r>
          </a:p>
          <a:p>
            <a:r>
              <a:rPr lang="zh-CN" altLang="en-US" b="1" dirty="0">
                <a:solidFill>
                  <a:srgbClr val="FF0000"/>
                </a:solidFill>
              </a:rPr>
              <a:t>数据项</a:t>
            </a:r>
            <a:r>
              <a:rPr lang="zh-CN" altLang="en-US" dirty="0"/>
              <a:t>是数据组织中可以命名的最小逻辑单位</a:t>
            </a:r>
          </a:p>
        </p:txBody>
      </p:sp>
      <p:sp>
        <p:nvSpPr>
          <p:cNvPr id="2" name="灯片编号占位符 1">
            <a:extLst>
              <a:ext uri="{FF2B5EF4-FFF2-40B4-BE49-F238E27FC236}">
                <a16:creationId xmlns:a16="http://schemas.microsoft.com/office/drawing/2014/main" id="{625225B1-7092-CE95-C6B9-A828C1743BE4}"/>
              </a:ext>
            </a:extLst>
          </p:cNvPr>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Effect transition="in" filter="checkerboard(across)">
                                      <p:cBhvr>
                                        <p:cTn id="7" dur="500"/>
                                        <p:tgtEl>
                                          <p:spTgt spid="279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9555">
                                            <p:txEl>
                                              <p:pRg st="1" end="1"/>
                                            </p:txEl>
                                          </p:spTgt>
                                        </p:tgtEl>
                                        <p:attrNameLst>
                                          <p:attrName>style.visibility</p:attrName>
                                        </p:attrNameLst>
                                      </p:cBhvr>
                                      <p:to>
                                        <p:strVal val="visible"/>
                                      </p:to>
                                    </p:set>
                                    <p:animEffect transition="in" filter="checkerboard(across)">
                                      <p:cBhvr>
                                        <p:cTn id="12" dur="500"/>
                                        <p:tgtEl>
                                          <p:spTgt spid="279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79555">
                                            <p:txEl>
                                              <p:pRg st="2" end="2"/>
                                            </p:txEl>
                                          </p:spTgt>
                                        </p:tgtEl>
                                        <p:attrNameLst>
                                          <p:attrName>style.visibility</p:attrName>
                                        </p:attrNameLst>
                                      </p:cBhvr>
                                      <p:to>
                                        <p:strVal val="visible"/>
                                      </p:to>
                                    </p:set>
                                    <p:animEffect transition="in" filter="checkerboard(across)">
                                      <p:cBhvr>
                                        <p:cTn id="17" dur="500"/>
                                        <p:tgtEl>
                                          <p:spTgt spid="279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15790B3C-F35B-FA49-DB7D-0DFA296C428F}"/>
              </a:ext>
            </a:extLst>
          </p:cNvPr>
          <p:cNvSpPr>
            <a:spLocks noGrp="1" noChangeArrowheads="1"/>
          </p:cNvSpPr>
          <p:nvPr>
            <p:ph type="title"/>
          </p:nvPr>
        </p:nvSpPr>
        <p:spPr>
          <a:xfrm>
            <a:off x="1042988" y="225431"/>
            <a:ext cx="7850187" cy="746125"/>
          </a:xfrm>
        </p:spPr>
        <p:txBody>
          <a:bodyPr/>
          <a:lstStyle/>
          <a:p>
            <a:r>
              <a:rPr lang="zh-CN" altLang="en-US" dirty="0"/>
              <a:t>文件属性</a:t>
            </a:r>
            <a:endParaRPr lang="en-US" altLang="zh-CN" dirty="0"/>
          </a:p>
        </p:txBody>
      </p:sp>
      <p:sp>
        <p:nvSpPr>
          <p:cNvPr id="280579" name="Rectangle 3">
            <a:extLst>
              <a:ext uri="{FF2B5EF4-FFF2-40B4-BE49-F238E27FC236}">
                <a16:creationId xmlns:a16="http://schemas.microsoft.com/office/drawing/2014/main" id="{9FE68B0D-EA2B-D8CB-04B4-7904A4DFCCBC}"/>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dirty="0"/>
              <a:t>文件属性通常包含：</a:t>
            </a:r>
          </a:p>
          <a:p>
            <a:pPr lvl="1"/>
            <a:r>
              <a:rPr lang="zh-CN" altLang="en-US" dirty="0"/>
              <a:t>名称 </a:t>
            </a:r>
            <a:endParaRPr lang="en-US" altLang="zh-CN" dirty="0"/>
          </a:p>
          <a:p>
            <a:pPr lvl="1"/>
            <a:r>
              <a:rPr lang="zh-CN" altLang="en-US" dirty="0"/>
              <a:t>标识符</a:t>
            </a:r>
            <a:r>
              <a:rPr lang="en-US" altLang="zh-CN" dirty="0"/>
              <a:t>—</a:t>
            </a:r>
            <a:r>
              <a:rPr lang="zh-CN" altLang="en-US" dirty="0"/>
              <a:t> 在文件系统内唯一标识文件的标签</a:t>
            </a:r>
            <a:endParaRPr lang="en-US" altLang="zh-CN" dirty="0"/>
          </a:p>
          <a:p>
            <a:pPr lvl="1"/>
            <a:r>
              <a:rPr lang="zh-CN" altLang="en-US" dirty="0"/>
              <a:t>类型 </a:t>
            </a:r>
            <a:endParaRPr lang="en-US" altLang="zh-CN" dirty="0"/>
          </a:p>
          <a:p>
            <a:pPr lvl="1"/>
            <a:r>
              <a:rPr lang="zh-CN" altLang="en-US" dirty="0"/>
              <a:t>位置 </a:t>
            </a:r>
            <a:r>
              <a:rPr lang="en-US" altLang="zh-CN" dirty="0"/>
              <a:t>—</a:t>
            </a:r>
            <a:r>
              <a:rPr lang="zh-CN" altLang="en-US" dirty="0"/>
              <a:t> 指向设备上的文件</a:t>
            </a:r>
            <a:endParaRPr lang="en-US" altLang="zh-CN" dirty="0"/>
          </a:p>
          <a:p>
            <a:pPr lvl="1"/>
            <a:r>
              <a:rPr lang="zh-CN" altLang="en-US" dirty="0"/>
              <a:t>大小</a:t>
            </a:r>
            <a:endParaRPr lang="en-US" altLang="zh-CN" dirty="0"/>
          </a:p>
          <a:p>
            <a:pPr lvl="1"/>
            <a:r>
              <a:rPr lang="zh-CN" altLang="en-US" dirty="0"/>
              <a:t>保护 </a:t>
            </a:r>
            <a:r>
              <a:rPr lang="en-US" altLang="zh-CN" dirty="0"/>
              <a:t>—</a:t>
            </a:r>
            <a:r>
              <a:rPr lang="zh-CN" altLang="en-US" dirty="0"/>
              <a:t> 谁拥有读写执行的权限</a:t>
            </a:r>
            <a:endParaRPr lang="en-US" altLang="zh-CN" dirty="0"/>
          </a:p>
          <a:p>
            <a:pPr lvl="1"/>
            <a:r>
              <a:rPr lang="zh-CN" altLang="en-US" dirty="0"/>
              <a:t>时间、日期和用户标识</a:t>
            </a:r>
            <a:endParaRPr lang="en-US" altLang="zh-CN" dirty="0"/>
          </a:p>
          <a:p>
            <a:r>
              <a:rPr lang="zh-CN" altLang="en-US" dirty="0"/>
              <a:t>所有文件的属性信息都保存在目录结构中</a:t>
            </a:r>
            <a:endParaRPr lang="en-US" altLang="zh-CN" dirty="0"/>
          </a:p>
          <a:p>
            <a:r>
              <a:rPr lang="zh-CN" altLang="en-US" dirty="0"/>
              <a:t>通常目录项包含文件名及标识号，而标识号定位文件其他属性信息。</a:t>
            </a:r>
          </a:p>
          <a:p>
            <a:endParaRPr lang="zh-CN" altLang="en-US" dirty="0"/>
          </a:p>
          <a:p>
            <a:endParaRPr lang="en-US" altLang="zh-CN" dirty="0"/>
          </a:p>
        </p:txBody>
      </p:sp>
      <p:sp>
        <p:nvSpPr>
          <p:cNvPr id="2" name="灯片编号占位符 1">
            <a:extLst>
              <a:ext uri="{FF2B5EF4-FFF2-40B4-BE49-F238E27FC236}">
                <a16:creationId xmlns:a16="http://schemas.microsoft.com/office/drawing/2014/main" id="{38FB1C1C-AC09-F6BD-32FD-C3C4D39FE738}"/>
              </a:ext>
            </a:extLst>
          </p:cNvPr>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0579">
                                            <p:txEl>
                                              <p:pRg st="0" end="0"/>
                                            </p:txEl>
                                          </p:spTgt>
                                        </p:tgtEl>
                                        <p:attrNameLst>
                                          <p:attrName>style.visibility</p:attrName>
                                        </p:attrNameLst>
                                      </p:cBhvr>
                                      <p:to>
                                        <p:strVal val="visible"/>
                                      </p:to>
                                    </p:set>
                                    <p:animEffect transition="in" filter="checkerboard(across)">
                                      <p:cBhvr>
                                        <p:cTn id="7" dur="500"/>
                                        <p:tgtEl>
                                          <p:spTgt spid="280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0579">
                                            <p:txEl>
                                              <p:pRg st="1" end="1"/>
                                            </p:txEl>
                                          </p:spTgt>
                                        </p:tgtEl>
                                        <p:attrNameLst>
                                          <p:attrName>style.visibility</p:attrName>
                                        </p:attrNameLst>
                                      </p:cBhvr>
                                      <p:to>
                                        <p:strVal val="visible"/>
                                      </p:to>
                                    </p:set>
                                    <p:animEffect transition="in" filter="checkerboard(across)">
                                      <p:cBhvr>
                                        <p:cTn id="12" dur="500"/>
                                        <p:tgtEl>
                                          <p:spTgt spid="280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0579">
                                            <p:txEl>
                                              <p:pRg st="2" end="2"/>
                                            </p:txEl>
                                          </p:spTgt>
                                        </p:tgtEl>
                                        <p:attrNameLst>
                                          <p:attrName>style.visibility</p:attrName>
                                        </p:attrNameLst>
                                      </p:cBhvr>
                                      <p:to>
                                        <p:strVal val="visible"/>
                                      </p:to>
                                    </p:set>
                                    <p:animEffect transition="in" filter="checkerboard(across)">
                                      <p:cBhvr>
                                        <p:cTn id="17" dur="500"/>
                                        <p:tgtEl>
                                          <p:spTgt spid="280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0579">
                                            <p:txEl>
                                              <p:pRg st="3" end="3"/>
                                            </p:txEl>
                                          </p:spTgt>
                                        </p:tgtEl>
                                        <p:attrNameLst>
                                          <p:attrName>style.visibility</p:attrName>
                                        </p:attrNameLst>
                                      </p:cBhvr>
                                      <p:to>
                                        <p:strVal val="visible"/>
                                      </p:to>
                                    </p:set>
                                    <p:animEffect transition="in" filter="checkerboard(across)">
                                      <p:cBhvr>
                                        <p:cTn id="22" dur="500"/>
                                        <p:tgtEl>
                                          <p:spTgt spid="280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0579">
                                            <p:txEl>
                                              <p:pRg st="4" end="4"/>
                                            </p:txEl>
                                          </p:spTgt>
                                        </p:tgtEl>
                                        <p:attrNameLst>
                                          <p:attrName>style.visibility</p:attrName>
                                        </p:attrNameLst>
                                      </p:cBhvr>
                                      <p:to>
                                        <p:strVal val="visible"/>
                                      </p:to>
                                    </p:set>
                                    <p:animEffect transition="in" filter="checkerboard(across)">
                                      <p:cBhvr>
                                        <p:cTn id="27" dur="500"/>
                                        <p:tgtEl>
                                          <p:spTgt spid="2805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80579">
                                            <p:txEl>
                                              <p:pRg st="5" end="5"/>
                                            </p:txEl>
                                          </p:spTgt>
                                        </p:tgtEl>
                                        <p:attrNameLst>
                                          <p:attrName>style.visibility</p:attrName>
                                        </p:attrNameLst>
                                      </p:cBhvr>
                                      <p:to>
                                        <p:strVal val="visible"/>
                                      </p:to>
                                    </p:set>
                                    <p:animEffect transition="in" filter="checkerboard(across)">
                                      <p:cBhvr>
                                        <p:cTn id="32" dur="500"/>
                                        <p:tgtEl>
                                          <p:spTgt spid="2805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80579">
                                            <p:txEl>
                                              <p:pRg st="6" end="6"/>
                                            </p:txEl>
                                          </p:spTgt>
                                        </p:tgtEl>
                                        <p:attrNameLst>
                                          <p:attrName>style.visibility</p:attrName>
                                        </p:attrNameLst>
                                      </p:cBhvr>
                                      <p:to>
                                        <p:strVal val="visible"/>
                                      </p:to>
                                    </p:set>
                                    <p:animEffect transition="in" filter="checkerboard(across)">
                                      <p:cBhvr>
                                        <p:cTn id="37" dur="500"/>
                                        <p:tgtEl>
                                          <p:spTgt spid="2805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80579">
                                            <p:txEl>
                                              <p:pRg st="7" end="7"/>
                                            </p:txEl>
                                          </p:spTgt>
                                        </p:tgtEl>
                                        <p:attrNameLst>
                                          <p:attrName>style.visibility</p:attrName>
                                        </p:attrNameLst>
                                      </p:cBhvr>
                                      <p:to>
                                        <p:strVal val="visible"/>
                                      </p:to>
                                    </p:set>
                                    <p:animEffect transition="in" filter="checkerboard(across)">
                                      <p:cBhvr>
                                        <p:cTn id="42" dur="500"/>
                                        <p:tgtEl>
                                          <p:spTgt spid="2805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80579">
                                            <p:txEl>
                                              <p:pRg st="8" end="8"/>
                                            </p:txEl>
                                          </p:spTgt>
                                        </p:tgtEl>
                                        <p:attrNameLst>
                                          <p:attrName>style.visibility</p:attrName>
                                        </p:attrNameLst>
                                      </p:cBhvr>
                                      <p:to>
                                        <p:strVal val="visible"/>
                                      </p:to>
                                    </p:set>
                                    <p:animEffect transition="in" filter="checkerboard(across)">
                                      <p:cBhvr>
                                        <p:cTn id="47" dur="500"/>
                                        <p:tgtEl>
                                          <p:spTgt spid="28057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280579">
                                            <p:txEl>
                                              <p:pRg st="9" end="9"/>
                                            </p:txEl>
                                          </p:spTgt>
                                        </p:tgtEl>
                                        <p:attrNameLst>
                                          <p:attrName>style.visibility</p:attrName>
                                        </p:attrNameLst>
                                      </p:cBhvr>
                                      <p:to>
                                        <p:strVal val="visible"/>
                                      </p:to>
                                    </p:set>
                                    <p:animEffect transition="in" filter="checkerboard(across)">
                                      <p:cBhvr>
                                        <p:cTn id="52" dur="500"/>
                                        <p:tgtEl>
                                          <p:spTgt spid="2805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7752A-1C28-51F3-DFD9-B56D1F6EE39E}"/>
              </a:ext>
            </a:extLst>
          </p:cNvPr>
          <p:cNvSpPr>
            <a:spLocks noGrp="1"/>
          </p:cNvSpPr>
          <p:nvPr>
            <p:ph type="title"/>
          </p:nvPr>
        </p:nvSpPr>
        <p:spPr/>
        <p:txBody>
          <a:bodyPr/>
          <a:lstStyle/>
          <a:p>
            <a:r>
              <a:rPr kumimoji="1" lang="en-US" altLang="zh-CN" dirty="0"/>
              <a:t>Mac</a:t>
            </a:r>
            <a:r>
              <a:rPr kumimoji="1" lang="zh-CN" altLang="en-US" dirty="0"/>
              <a:t> </a:t>
            </a:r>
            <a:r>
              <a:rPr kumimoji="1" lang="en-US" altLang="zh-CN" dirty="0"/>
              <a:t>OS</a:t>
            </a:r>
            <a:r>
              <a:rPr kumimoji="1" lang="zh-CN" altLang="en-US" dirty="0"/>
              <a:t> </a:t>
            </a:r>
            <a:r>
              <a:rPr kumimoji="1" lang="en-US" altLang="zh-CN" dirty="0"/>
              <a:t>X</a:t>
            </a:r>
            <a:r>
              <a:rPr kumimoji="1" lang="zh-CN" altLang="en-US" dirty="0"/>
              <a:t>的文件信息窗口</a:t>
            </a:r>
          </a:p>
        </p:txBody>
      </p:sp>
      <p:sp>
        <p:nvSpPr>
          <p:cNvPr id="3" name="内容占位符 2">
            <a:extLst>
              <a:ext uri="{FF2B5EF4-FFF2-40B4-BE49-F238E27FC236}">
                <a16:creationId xmlns:a16="http://schemas.microsoft.com/office/drawing/2014/main" id="{7E6F920A-133E-6897-0755-374CAD6E5027}"/>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62A38DA2-C6B2-EDD4-242F-D6A0027CA740}"/>
              </a:ext>
            </a:extLst>
          </p:cNvPr>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pic>
        <p:nvPicPr>
          <p:cNvPr id="5" name="Picture 4" descr="11_01.pdf">
            <a:extLst>
              <a:ext uri="{FF2B5EF4-FFF2-40B4-BE49-F238E27FC236}">
                <a16:creationId xmlns:a16="http://schemas.microsoft.com/office/drawing/2014/main" id="{C06615BB-FB7B-9A26-5237-F177F2D3FF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54531" y="971556"/>
            <a:ext cx="2087432" cy="560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6462780"/>
      </p:ext>
    </p:extLst>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160AE1-A540-1628-E4C4-D70A5ED4AC0C}"/>
              </a:ext>
            </a:extLst>
          </p:cNvPr>
          <p:cNvSpPr>
            <a:spLocks noGrp="1"/>
          </p:cNvSpPr>
          <p:nvPr>
            <p:ph type="title"/>
          </p:nvPr>
        </p:nvSpPr>
        <p:spPr/>
        <p:txBody>
          <a:bodyPr/>
          <a:lstStyle/>
          <a:p>
            <a:r>
              <a:rPr kumimoji="1" lang="zh-CN" altLang="en-US" dirty="0"/>
              <a:t>文件元数据</a:t>
            </a:r>
          </a:p>
        </p:txBody>
      </p:sp>
      <p:sp>
        <p:nvSpPr>
          <p:cNvPr id="3" name="内容占位符 2">
            <a:extLst>
              <a:ext uri="{FF2B5EF4-FFF2-40B4-BE49-F238E27FC236}">
                <a16:creationId xmlns:a16="http://schemas.microsoft.com/office/drawing/2014/main" id="{76E8AACC-11FD-7F44-DB08-53C0883F6672}"/>
              </a:ext>
            </a:extLst>
          </p:cNvPr>
          <p:cNvSpPr>
            <a:spLocks noGrp="1"/>
          </p:cNvSpPr>
          <p:nvPr>
            <p:ph idx="1"/>
          </p:nvPr>
        </p:nvSpPr>
        <p:spPr/>
        <p:txBody>
          <a:bodyPr/>
          <a:lstStyle/>
          <a:p>
            <a:r>
              <a:rPr kumimoji="1" lang="zh-CN" altLang="en-US" dirty="0"/>
              <a:t>文件元数据是描述文件的各种信息的数据</a:t>
            </a:r>
            <a:endParaRPr kumimoji="1" lang="en-US" altLang="zh-CN" dirty="0"/>
          </a:p>
          <a:p>
            <a:pPr lvl="1"/>
            <a:r>
              <a:rPr lang="zh-CN" altLang="en-US" b="0" i="0" dirty="0">
                <a:effectLst/>
                <a:latin typeface="Noto Sans" panose="020B0502040504020204" pitchFamily="34" charset="0"/>
              </a:rPr>
              <a:t>如文件的名称、大小、创建时间、修改时间等</a:t>
            </a:r>
            <a:endParaRPr lang="en-US" altLang="zh-CN" b="0" i="0" dirty="0">
              <a:effectLst/>
              <a:latin typeface="Noto Sans" panose="020B0502040504020204" pitchFamily="34" charset="0"/>
            </a:endParaRPr>
          </a:p>
          <a:p>
            <a:r>
              <a:rPr kumimoji="1" lang="zh-CN" altLang="en-US" dirty="0">
                <a:latin typeface="Noto Sans" panose="020B0502040504020204" pitchFamily="34" charset="0"/>
              </a:rPr>
              <a:t>文件的元数据存储在文件系统的</a:t>
            </a:r>
            <a:r>
              <a:rPr kumimoji="1" lang="en-US" altLang="zh-CN" dirty="0" err="1">
                <a:latin typeface="Noto Sans" panose="020B0502040504020204" pitchFamily="34" charset="0"/>
              </a:rPr>
              <a:t>inode</a:t>
            </a:r>
            <a:r>
              <a:rPr kumimoji="1" lang="zh-CN" altLang="en-US" dirty="0">
                <a:latin typeface="Noto Sans" panose="020B0502040504020204" pitchFamily="34" charset="0"/>
              </a:rPr>
              <a:t>表中，每个文件都有一个</a:t>
            </a:r>
            <a:r>
              <a:rPr kumimoji="1" lang="en-US" altLang="zh-CN" dirty="0" err="1">
                <a:latin typeface="Noto Sans" panose="020B0502040504020204" pitchFamily="34" charset="0"/>
              </a:rPr>
              <a:t>inode</a:t>
            </a:r>
            <a:r>
              <a:rPr kumimoji="1" lang="zh-CN" altLang="en-US" dirty="0">
                <a:latin typeface="Noto Sans" panose="020B0502040504020204" pitchFamily="34" charset="0"/>
              </a:rPr>
              <a:t>表项来存储它的各种元数据信息</a:t>
            </a:r>
            <a:endParaRPr kumimoji="1" lang="en-US" altLang="zh-CN" dirty="0">
              <a:latin typeface="Noto Sans" panose="020B0502040504020204" pitchFamily="34" charset="0"/>
            </a:endParaRPr>
          </a:p>
          <a:p>
            <a:r>
              <a:rPr kumimoji="1" lang="zh-CN" altLang="en-US" dirty="0">
                <a:latin typeface="Noto Sans" panose="020B0502040504020204" pitchFamily="34" charset="0"/>
              </a:rPr>
              <a:t>文件的元数据和文件的内容是分开管理的</a:t>
            </a:r>
            <a:endParaRPr kumimoji="1" lang="zh-CN" altLang="en-US" dirty="0"/>
          </a:p>
        </p:txBody>
      </p:sp>
      <p:sp>
        <p:nvSpPr>
          <p:cNvPr id="4" name="灯片编号占位符 3">
            <a:extLst>
              <a:ext uri="{FF2B5EF4-FFF2-40B4-BE49-F238E27FC236}">
                <a16:creationId xmlns:a16="http://schemas.microsoft.com/office/drawing/2014/main" id="{8511F1E6-BD2E-6F94-4351-38F390B09B6F}"/>
              </a:ext>
            </a:extLst>
          </p:cNvPr>
          <p:cNvSpPr>
            <a:spLocks noGrp="1"/>
          </p:cNvSpPr>
          <p:nvPr>
            <p:ph type="sldNum" sz="quarter" idx="12"/>
          </p:nvPr>
        </p:nvSpPr>
        <p:spPr/>
        <p:txBody>
          <a:bodyPr/>
          <a:lstStyle/>
          <a:p>
            <a:fld id="{4093CC90-4002-504C-BD88-C9A1D374048E}" type="slidenum">
              <a:rPr lang="zh-CN" altLang="en-US" smtClean="0"/>
              <a:pPr/>
              <a:t>5</a:t>
            </a:fld>
            <a:endParaRPr lang="zh-CN" altLang="en-US" dirty="0"/>
          </a:p>
        </p:txBody>
      </p:sp>
    </p:spTree>
    <p:extLst>
      <p:ext uri="{BB962C8B-B14F-4D97-AF65-F5344CB8AC3E}">
        <p14:creationId xmlns:p14="http://schemas.microsoft.com/office/powerpoint/2010/main" val="1470730862"/>
      </p:ext>
    </p:extLst>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2DB44898-1465-81F0-46A1-3EBAB70BD2C4}"/>
              </a:ext>
            </a:extLst>
          </p:cNvPr>
          <p:cNvSpPr>
            <a:spLocks noGrp="1" noChangeArrowheads="1"/>
          </p:cNvSpPr>
          <p:nvPr>
            <p:ph type="title"/>
          </p:nvPr>
        </p:nvSpPr>
        <p:spPr>
          <a:xfrm>
            <a:off x="1042988" y="225431"/>
            <a:ext cx="7850187" cy="746125"/>
          </a:xfrm>
        </p:spPr>
        <p:txBody>
          <a:bodyPr/>
          <a:lstStyle/>
          <a:p>
            <a:r>
              <a:rPr lang="zh-CN" altLang="en-US"/>
              <a:t>文件系统</a:t>
            </a:r>
          </a:p>
        </p:txBody>
      </p:sp>
      <p:sp>
        <p:nvSpPr>
          <p:cNvPr id="304131" name="Rectangle 3">
            <a:extLst>
              <a:ext uri="{FF2B5EF4-FFF2-40B4-BE49-F238E27FC236}">
                <a16:creationId xmlns:a16="http://schemas.microsoft.com/office/drawing/2014/main" id="{BCC08FDB-6DD6-E591-5AB8-FBC5BAEE32EB}"/>
              </a:ext>
            </a:extLst>
          </p:cNvPr>
          <p:cNvSpPr>
            <a:spLocks noGrp="1" noChangeArrowheads="1"/>
          </p:cNvSpPr>
          <p:nvPr>
            <p:ph idx="1"/>
          </p:nvPr>
        </p:nvSpPr>
        <p:spPr>
          <a:xfrm>
            <a:off x="935038" y="1233488"/>
            <a:ext cx="7772400" cy="4895850"/>
          </a:xfrm>
        </p:spPr>
        <p:txBody>
          <a:bodyPr/>
          <a:lstStyle/>
          <a:p>
            <a:r>
              <a:rPr lang="zh-CN" altLang="en-US" dirty="0"/>
              <a:t>文件系统负责管理外存上的文件，并为用户提供对文件进行存取、共享及保护的手段。</a:t>
            </a:r>
          </a:p>
          <a:p>
            <a:r>
              <a:rPr lang="zh-CN" altLang="en-US" dirty="0"/>
              <a:t>文件系统：操作系统中与管理文件有关的软件和数据的集合。</a:t>
            </a:r>
          </a:p>
          <a:p>
            <a:r>
              <a:rPr lang="zh-CN" altLang="en-US" dirty="0"/>
              <a:t>它由管理文件所需的数据结构、相应的管理软件和被管理的文件构成。</a:t>
            </a:r>
          </a:p>
        </p:txBody>
      </p:sp>
      <p:sp>
        <p:nvSpPr>
          <p:cNvPr id="2" name="灯片编号占位符 1">
            <a:extLst>
              <a:ext uri="{FF2B5EF4-FFF2-40B4-BE49-F238E27FC236}">
                <a16:creationId xmlns:a16="http://schemas.microsoft.com/office/drawing/2014/main" id="{9C3B6C4A-2476-2946-DFF0-048037C1B495}"/>
              </a:ext>
            </a:extLst>
          </p:cNvPr>
          <p:cNvSpPr>
            <a:spLocks noGrp="1"/>
          </p:cNvSpPr>
          <p:nvPr>
            <p:ph type="sldNum" sz="quarter" idx="12"/>
          </p:nvPr>
        </p:nvSpPr>
        <p:spPr/>
        <p:txBody>
          <a:bodyPr/>
          <a:lstStyle/>
          <a:p>
            <a:fld id="{4093CC90-4002-504C-BD88-C9A1D374048E}" type="slidenum">
              <a:rPr lang="zh-CN" altLang="en-US" smtClean="0"/>
              <a:pPr/>
              <a:t>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Effect transition="in" filter="checkerboard(across)">
                                      <p:cBhvr>
                                        <p:cTn id="7" dur="500"/>
                                        <p:tgtEl>
                                          <p:spTgt spid="304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4131">
                                            <p:txEl>
                                              <p:pRg st="1" end="1"/>
                                            </p:txEl>
                                          </p:spTgt>
                                        </p:tgtEl>
                                        <p:attrNameLst>
                                          <p:attrName>style.visibility</p:attrName>
                                        </p:attrNameLst>
                                      </p:cBhvr>
                                      <p:to>
                                        <p:strVal val="visible"/>
                                      </p:to>
                                    </p:set>
                                    <p:animEffect transition="in" filter="checkerboard(across)">
                                      <p:cBhvr>
                                        <p:cTn id="12" dur="500"/>
                                        <p:tgtEl>
                                          <p:spTgt spid="304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4131">
                                            <p:txEl>
                                              <p:pRg st="2" end="2"/>
                                            </p:txEl>
                                          </p:spTgt>
                                        </p:tgtEl>
                                        <p:attrNameLst>
                                          <p:attrName>style.visibility</p:attrName>
                                        </p:attrNameLst>
                                      </p:cBhvr>
                                      <p:to>
                                        <p:strVal val="visible"/>
                                      </p:to>
                                    </p:set>
                                    <p:animEffect transition="in" filter="checkerboard(across)">
                                      <p:cBhvr>
                                        <p:cTn id="17" dur="500"/>
                                        <p:tgtEl>
                                          <p:spTgt spid="304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23A5DA7D-0D51-547B-5F48-4358851488CB}"/>
              </a:ext>
            </a:extLst>
          </p:cNvPr>
          <p:cNvSpPr>
            <a:spLocks noGrp="1" noChangeArrowheads="1"/>
          </p:cNvSpPr>
          <p:nvPr>
            <p:ph type="title"/>
          </p:nvPr>
        </p:nvSpPr>
        <p:spPr>
          <a:xfrm>
            <a:off x="1042988" y="225431"/>
            <a:ext cx="7850187" cy="746125"/>
          </a:xfrm>
        </p:spPr>
        <p:txBody>
          <a:bodyPr/>
          <a:lstStyle/>
          <a:p>
            <a:r>
              <a:rPr lang="zh-CN" altLang="en-US"/>
              <a:t>文件系统的主要功能</a:t>
            </a:r>
          </a:p>
        </p:txBody>
      </p:sp>
      <p:sp>
        <p:nvSpPr>
          <p:cNvPr id="305155" name="Rectangle 3">
            <a:extLst>
              <a:ext uri="{FF2B5EF4-FFF2-40B4-BE49-F238E27FC236}">
                <a16:creationId xmlns:a16="http://schemas.microsoft.com/office/drawing/2014/main" id="{E1229E07-A28B-D01B-13A4-97FC6AFA5736}"/>
              </a:ext>
            </a:extLst>
          </p:cNvPr>
          <p:cNvSpPr>
            <a:spLocks noGrp="1" noChangeArrowheads="1"/>
          </p:cNvSpPr>
          <p:nvPr>
            <p:ph idx="1"/>
          </p:nvPr>
        </p:nvSpPr>
        <p:spPr>
          <a:xfrm>
            <a:off x="935038" y="1233488"/>
            <a:ext cx="7772400" cy="4895850"/>
          </a:xfrm>
        </p:spPr>
        <p:txBody>
          <a:bodyPr/>
          <a:lstStyle/>
          <a:p>
            <a:r>
              <a:rPr lang="zh-CN" altLang="en-US"/>
              <a:t>实现文件的按名存取</a:t>
            </a:r>
            <a:endParaRPr lang="en-US" altLang="zh-CN"/>
          </a:p>
          <a:p>
            <a:r>
              <a:rPr lang="zh-CN" altLang="en-US"/>
              <a:t>为用户提供接口</a:t>
            </a:r>
          </a:p>
          <a:p>
            <a:r>
              <a:rPr lang="zh-CN" altLang="en-US"/>
              <a:t>实施对文件和目录的管理</a:t>
            </a:r>
          </a:p>
          <a:p>
            <a:r>
              <a:rPr lang="zh-CN" altLang="en-US"/>
              <a:t>文件存储空间的分配及回收</a:t>
            </a:r>
          </a:p>
          <a:p>
            <a:r>
              <a:rPr lang="zh-CN" altLang="en-US"/>
              <a:t>文件的共享及保护</a:t>
            </a:r>
          </a:p>
        </p:txBody>
      </p:sp>
      <p:sp>
        <p:nvSpPr>
          <p:cNvPr id="2" name="灯片编号占位符 1">
            <a:extLst>
              <a:ext uri="{FF2B5EF4-FFF2-40B4-BE49-F238E27FC236}">
                <a16:creationId xmlns:a16="http://schemas.microsoft.com/office/drawing/2014/main" id="{8C6EDF50-7C11-954B-6F4A-1C4FB77D0D2B}"/>
              </a:ext>
            </a:extLst>
          </p:cNvPr>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checkerboard(across)">
                                      <p:cBhvr>
                                        <p:cTn id="7" dur="500"/>
                                        <p:tgtEl>
                                          <p:spTgt spid="30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checkerboard(across)">
                                      <p:cBhvr>
                                        <p:cTn id="12" dur="500"/>
                                        <p:tgtEl>
                                          <p:spTgt spid="305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checkerboard(across)">
                                      <p:cBhvr>
                                        <p:cTn id="17" dur="500"/>
                                        <p:tgtEl>
                                          <p:spTgt spid="305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checkerboard(across)">
                                      <p:cBhvr>
                                        <p:cTn id="22" dur="500"/>
                                        <p:tgtEl>
                                          <p:spTgt spid="305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05155">
                                            <p:txEl>
                                              <p:pRg st="4" end="4"/>
                                            </p:txEl>
                                          </p:spTgt>
                                        </p:tgtEl>
                                        <p:attrNameLst>
                                          <p:attrName>style.visibility</p:attrName>
                                        </p:attrNameLst>
                                      </p:cBhvr>
                                      <p:to>
                                        <p:strVal val="visible"/>
                                      </p:to>
                                    </p:set>
                                    <p:animEffect transition="in" filter="checkerboard(across)">
                                      <p:cBhvr>
                                        <p:cTn id="27" dur="500"/>
                                        <p:tgtEl>
                                          <p:spTgt spid="3051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351781B1-9A2F-9198-8318-8391139B5E10}"/>
              </a:ext>
            </a:extLst>
          </p:cNvPr>
          <p:cNvSpPr>
            <a:spLocks noGrp="1" noChangeArrowheads="1"/>
          </p:cNvSpPr>
          <p:nvPr>
            <p:ph type="title"/>
          </p:nvPr>
        </p:nvSpPr>
        <p:spPr>
          <a:xfrm>
            <a:off x="1042988" y="225431"/>
            <a:ext cx="7850187" cy="746125"/>
          </a:xfrm>
        </p:spPr>
        <p:txBody>
          <a:bodyPr/>
          <a:lstStyle/>
          <a:p>
            <a:r>
              <a:rPr lang="zh-CN" altLang="en-US" dirty="0"/>
              <a:t>文件操作</a:t>
            </a:r>
            <a:endParaRPr lang="en-US" altLang="zh-CN" dirty="0"/>
          </a:p>
        </p:txBody>
      </p:sp>
      <p:sp>
        <p:nvSpPr>
          <p:cNvPr id="281603" name="Rectangle 3">
            <a:extLst>
              <a:ext uri="{FF2B5EF4-FFF2-40B4-BE49-F238E27FC236}">
                <a16:creationId xmlns:a16="http://schemas.microsoft.com/office/drawing/2014/main" id="{3B278EBA-0134-A175-5EB6-88D73D9314F5}"/>
              </a:ext>
            </a:extLst>
          </p:cNvPr>
          <p:cNvSpPr>
            <a:spLocks noGrp="1" noChangeArrowheads="1"/>
          </p:cNvSpPr>
          <p:nvPr>
            <p:ph idx="1"/>
          </p:nvPr>
        </p:nvSpPr>
        <p:spPr>
          <a:xfrm>
            <a:off x="935038" y="1233488"/>
            <a:ext cx="7772400" cy="4895850"/>
          </a:xfrm>
        </p:spPr>
        <p:txBody>
          <a:bodyPr>
            <a:normAutofit lnSpcReduction="10000"/>
          </a:bodyPr>
          <a:lstStyle/>
          <a:p>
            <a:r>
              <a:rPr lang="zh-CN" altLang="en-US" dirty="0"/>
              <a:t>操作系统通过系统调用对文件进行操作</a:t>
            </a:r>
          </a:p>
          <a:p>
            <a:r>
              <a:rPr lang="zh-CN" altLang="en-US" dirty="0"/>
              <a:t>基本文件操作有： </a:t>
            </a:r>
          </a:p>
          <a:p>
            <a:pPr lvl="1"/>
            <a:r>
              <a:rPr lang="zh-CN" altLang="en-US" dirty="0"/>
              <a:t>创建文件</a:t>
            </a:r>
          </a:p>
          <a:p>
            <a:pPr lvl="1"/>
            <a:r>
              <a:rPr lang="zh-CN" altLang="en-US" dirty="0"/>
              <a:t>删除文件</a:t>
            </a:r>
          </a:p>
          <a:p>
            <a:pPr lvl="1"/>
            <a:r>
              <a:rPr lang="zh-CN" altLang="en-US" dirty="0"/>
              <a:t>读文件</a:t>
            </a:r>
          </a:p>
          <a:p>
            <a:pPr lvl="1"/>
            <a:r>
              <a:rPr lang="zh-CN" altLang="en-US" dirty="0"/>
              <a:t>写文件</a:t>
            </a:r>
          </a:p>
          <a:p>
            <a:pPr lvl="1"/>
            <a:r>
              <a:rPr lang="zh-CN" altLang="en-US" dirty="0"/>
              <a:t>打开文件</a:t>
            </a:r>
          </a:p>
          <a:p>
            <a:pPr lvl="1"/>
            <a:r>
              <a:rPr lang="zh-CN" altLang="en-US" dirty="0"/>
              <a:t>关闭文件</a:t>
            </a:r>
            <a:endParaRPr lang="en-US" altLang="zh-CN" dirty="0"/>
          </a:p>
          <a:p>
            <a:pPr lvl="1"/>
            <a:r>
              <a:rPr lang="zh-CN" altLang="en-US" dirty="0"/>
              <a:t>截断文件</a:t>
            </a:r>
            <a:endParaRPr lang="en-US" altLang="zh-CN" dirty="0"/>
          </a:p>
        </p:txBody>
      </p:sp>
      <p:sp>
        <p:nvSpPr>
          <p:cNvPr id="2" name="灯片编号占位符 1">
            <a:extLst>
              <a:ext uri="{FF2B5EF4-FFF2-40B4-BE49-F238E27FC236}">
                <a16:creationId xmlns:a16="http://schemas.microsoft.com/office/drawing/2014/main" id="{A761676E-467B-5ABB-6AB9-AEAE1EF2EC3E}"/>
              </a:ext>
            </a:extLst>
          </p:cNvPr>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1603">
                                            <p:txEl>
                                              <p:pRg st="0" end="0"/>
                                            </p:txEl>
                                          </p:spTgt>
                                        </p:tgtEl>
                                        <p:attrNameLst>
                                          <p:attrName>style.visibility</p:attrName>
                                        </p:attrNameLst>
                                      </p:cBhvr>
                                      <p:to>
                                        <p:strVal val="visible"/>
                                      </p:to>
                                    </p:set>
                                    <p:animEffect transition="in" filter="checkerboard(across)">
                                      <p:cBhvr>
                                        <p:cTn id="7" dur="500"/>
                                        <p:tgtEl>
                                          <p:spTgt spid="281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1603">
                                            <p:txEl>
                                              <p:pRg st="1" end="1"/>
                                            </p:txEl>
                                          </p:spTgt>
                                        </p:tgtEl>
                                        <p:attrNameLst>
                                          <p:attrName>style.visibility</p:attrName>
                                        </p:attrNameLst>
                                      </p:cBhvr>
                                      <p:to>
                                        <p:strVal val="visible"/>
                                      </p:to>
                                    </p:set>
                                    <p:animEffect transition="in" filter="checkerboard(across)">
                                      <p:cBhvr>
                                        <p:cTn id="12" dur="500"/>
                                        <p:tgtEl>
                                          <p:spTgt spid="281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1603">
                                            <p:txEl>
                                              <p:pRg st="2" end="2"/>
                                            </p:txEl>
                                          </p:spTgt>
                                        </p:tgtEl>
                                        <p:attrNameLst>
                                          <p:attrName>style.visibility</p:attrName>
                                        </p:attrNameLst>
                                      </p:cBhvr>
                                      <p:to>
                                        <p:strVal val="visible"/>
                                      </p:to>
                                    </p:set>
                                    <p:animEffect transition="in" filter="checkerboard(across)">
                                      <p:cBhvr>
                                        <p:cTn id="17" dur="500"/>
                                        <p:tgtEl>
                                          <p:spTgt spid="281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1603">
                                            <p:txEl>
                                              <p:pRg st="3" end="3"/>
                                            </p:txEl>
                                          </p:spTgt>
                                        </p:tgtEl>
                                        <p:attrNameLst>
                                          <p:attrName>style.visibility</p:attrName>
                                        </p:attrNameLst>
                                      </p:cBhvr>
                                      <p:to>
                                        <p:strVal val="visible"/>
                                      </p:to>
                                    </p:set>
                                    <p:animEffect transition="in" filter="checkerboard(across)">
                                      <p:cBhvr>
                                        <p:cTn id="22" dur="500"/>
                                        <p:tgtEl>
                                          <p:spTgt spid="281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1603">
                                            <p:txEl>
                                              <p:pRg st="4" end="4"/>
                                            </p:txEl>
                                          </p:spTgt>
                                        </p:tgtEl>
                                        <p:attrNameLst>
                                          <p:attrName>style.visibility</p:attrName>
                                        </p:attrNameLst>
                                      </p:cBhvr>
                                      <p:to>
                                        <p:strVal val="visible"/>
                                      </p:to>
                                    </p:set>
                                    <p:animEffect transition="in" filter="checkerboard(across)">
                                      <p:cBhvr>
                                        <p:cTn id="27" dur="500"/>
                                        <p:tgtEl>
                                          <p:spTgt spid="281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81603">
                                            <p:txEl>
                                              <p:pRg st="5" end="5"/>
                                            </p:txEl>
                                          </p:spTgt>
                                        </p:tgtEl>
                                        <p:attrNameLst>
                                          <p:attrName>style.visibility</p:attrName>
                                        </p:attrNameLst>
                                      </p:cBhvr>
                                      <p:to>
                                        <p:strVal val="visible"/>
                                      </p:to>
                                    </p:set>
                                    <p:animEffect transition="in" filter="checkerboard(across)">
                                      <p:cBhvr>
                                        <p:cTn id="32" dur="500"/>
                                        <p:tgtEl>
                                          <p:spTgt spid="281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81603">
                                            <p:txEl>
                                              <p:pRg st="6" end="6"/>
                                            </p:txEl>
                                          </p:spTgt>
                                        </p:tgtEl>
                                        <p:attrNameLst>
                                          <p:attrName>style.visibility</p:attrName>
                                        </p:attrNameLst>
                                      </p:cBhvr>
                                      <p:to>
                                        <p:strVal val="visible"/>
                                      </p:to>
                                    </p:set>
                                    <p:animEffect transition="in" filter="checkerboard(across)">
                                      <p:cBhvr>
                                        <p:cTn id="37" dur="500"/>
                                        <p:tgtEl>
                                          <p:spTgt spid="281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81603">
                                            <p:txEl>
                                              <p:pRg st="7" end="7"/>
                                            </p:txEl>
                                          </p:spTgt>
                                        </p:tgtEl>
                                        <p:attrNameLst>
                                          <p:attrName>style.visibility</p:attrName>
                                        </p:attrNameLst>
                                      </p:cBhvr>
                                      <p:to>
                                        <p:strVal val="visible"/>
                                      </p:to>
                                    </p:set>
                                    <p:animEffect transition="in" filter="checkerboard(across)">
                                      <p:cBhvr>
                                        <p:cTn id="42" dur="500"/>
                                        <p:tgtEl>
                                          <p:spTgt spid="2816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81603">
                                            <p:txEl>
                                              <p:pRg st="8" end="8"/>
                                            </p:txEl>
                                          </p:spTgt>
                                        </p:tgtEl>
                                        <p:attrNameLst>
                                          <p:attrName>style.visibility</p:attrName>
                                        </p:attrNameLst>
                                      </p:cBhvr>
                                      <p:to>
                                        <p:strVal val="visible"/>
                                      </p:to>
                                    </p:set>
                                    <p:animEffect transition="in" filter="checkerboard(across)">
                                      <p:cBhvr>
                                        <p:cTn id="47" dur="500"/>
                                        <p:tgtEl>
                                          <p:spTgt spid="2816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20BF0267-C48E-CD6E-9C75-1C1CDB5E9DF1}"/>
              </a:ext>
            </a:extLst>
          </p:cNvPr>
          <p:cNvSpPr>
            <a:spLocks noGrp="1" noChangeArrowheads="1"/>
          </p:cNvSpPr>
          <p:nvPr>
            <p:ph type="title"/>
          </p:nvPr>
        </p:nvSpPr>
        <p:spPr>
          <a:xfrm>
            <a:off x="1042988" y="225431"/>
            <a:ext cx="7850187" cy="746125"/>
          </a:xfrm>
        </p:spPr>
        <p:txBody>
          <a:bodyPr/>
          <a:lstStyle/>
          <a:p>
            <a:r>
              <a:rPr lang="zh-CN" altLang="en-US" dirty="0"/>
              <a:t>创建文件</a:t>
            </a:r>
            <a:endParaRPr lang="en-US" altLang="zh-CN" dirty="0"/>
          </a:p>
        </p:txBody>
      </p:sp>
      <p:sp>
        <p:nvSpPr>
          <p:cNvPr id="290819" name="Rectangle 3">
            <a:extLst>
              <a:ext uri="{FF2B5EF4-FFF2-40B4-BE49-F238E27FC236}">
                <a16:creationId xmlns:a16="http://schemas.microsoft.com/office/drawing/2014/main" id="{45D2F12E-E4A4-B15D-6B69-70A7AA0BEE40}"/>
              </a:ext>
            </a:extLst>
          </p:cNvPr>
          <p:cNvSpPr>
            <a:spLocks noGrp="1" noChangeArrowheads="1"/>
          </p:cNvSpPr>
          <p:nvPr>
            <p:ph idx="1"/>
          </p:nvPr>
        </p:nvSpPr>
        <p:spPr>
          <a:xfrm>
            <a:off x="935038" y="1233488"/>
            <a:ext cx="7772400" cy="4895850"/>
          </a:xfrm>
        </p:spPr>
        <p:txBody>
          <a:bodyPr>
            <a:normAutofit/>
          </a:bodyPr>
          <a:lstStyle/>
          <a:p>
            <a:r>
              <a:rPr lang="zh-CN" altLang="en-US" dirty="0"/>
              <a:t>创建文件有两个必要步骤：</a:t>
            </a:r>
            <a:endParaRPr lang="en-US" altLang="zh-CN" dirty="0"/>
          </a:p>
          <a:p>
            <a:pPr lvl="1"/>
            <a:r>
              <a:rPr lang="zh-CN" altLang="en-US" dirty="0"/>
              <a:t>在文件系统中为文件分配必要空间</a:t>
            </a:r>
          </a:p>
          <a:p>
            <a:pPr lvl="1"/>
            <a:r>
              <a:rPr lang="zh-CN" altLang="en-US" dirty="0"/>
              <a:t>在目录中为新文件建立一个目录项，在目录项中应记录新文件的文件名及其在外存的地址等属性。</a:t>
            </a:r>
            <a:endParaRPr lang="en-US" altLang="zh-CN" dirty="0"/>
          </a:p>
          <a:p>
            <a:r>
              <a:rPr lang="en" altLang="zh-CN" dirty="0"/>
              <a:t>int open(const char *pathname, int flags, </a:t>
            </a:r>
            <a:r>
              <a:rPr lang="en" altLang="zh-CN" dirty="0" err="1"/>
              <a:t>mode_t</a:t>
            </a:r>
            <a:r>
              <a:rPr lang="en" altLang="zh-CN" dirty="0"/>
              <a:t> mode);</a:t>
            </a:r>
          </a:p>
          <a:p>
            <a:pPr lvl="1"/>
            <a:r>
              <a:rPr lang="zh-CN" altLang="en" dirty="0"/>
              <a:t>创建</a:t>
            </a:r>
            <a:r>
              <a:rPr lang="zh-CN" altLang="en-US" dirty="0"/>
              <a:t>新文件或打开已有的文件</a:t>
            </a:r>
            <a:endParaRPr lang="en-US" altLang="zh-CN" dirty="0"/>
          </a:p>
          <a:p>
            <a:pPr lvl="1"/>
            <a:r>
              <a:rPr lang="en-US" altLang="zh-CN" dirty="0"/>
              <a:t>flags</a:t>
            </a:r>
            <a:r>
              <a:rPr lang="zh-CN" altLang="en-US" dirty="0"/>
              <a:t>用于指定打开的方式</a:t>
            </a:r>
            <a:endParaRPr lang="en-US" altLang="zh-CN" dirty="0"/>
          </a:p>
          <a:p>
            <a:pPr lvl="1"/>
            <a:r>
              <a:rPr lang="en-US" altLang="zh-CN" dirty="0"/>
              <a:t>mode</a:t>
            </a:r>
            <a:r>
              <a:rPr lang="zh-CN" altLang="en-US" dirty="0"/>
              <a:t>用于指定新创建文件的权限模式</a:t>
            </a:r>
            <a:endParaRPr lang="en" altLang="zh-CN" dirty="0"/>
          </a:p>
          <a:p>
            <a:endParaRPr lang="zh-CN" altLang="en-US" dirty="0"/>
          </a:p>
        </p:txBody>
      </p:sp>
      <p:sp>
        <p:nvSpPr>
          <p:cNvPr id="2" name="灯片编号占位符 1">
            <a:extLst>
              <a:ext uri="{FF2B5EF4-FFF2-40B4-BE49-F238E27FC236}">
                <a16:creationId xmlns:a16="http://schemas.microsoft.com/office/drawing/2014/main" id="{E4469BE3-2519-0E69-AFDC-5C7155AB366A}"/>
              </a:ext>
            </a:extLst>
          </p:cNvPr>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0819">
                                            <p:txEl>
                                              <p:pRg st="0" end="0"/>
                                            </p:txEl>
                                          </p:spTgt>
                                        </p:tgtEl>
                                        <p:attrNameLst>
                                          <p:attrName>style.visibility</p:attrName>
                                        </p:attrNameLst>
                                      </p:cBhvr>
                                      <p:to>
                                        <p:strVal val="visible"/>
                                      </p:to>
                                    </p:set>
                                    <p:animEffect transition="in" filter="checkerboard(across)">
                                      <p:cBhvr>
                                        <p:cTn id="7" dur="500"/>
                                        <p:tgtEl>
                                          <p:spTgt spid="290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0819">
                                            <p:txEl>
                                              <p:pRg st="1" end="1"/>
                                            </p:txEl>
                                          </p:spTgt>
                                        </p:tgtEl>
                                        <p:attrNameLst>
                                          <p:attrName>style.visibility</p:attrName>
                                        </p:attrNameLst>
                                      </p:cBhvr>
                                      <p:to>
                                        <p:strVal val="visible"/>
                                      </p:to>
                                    </p:set>
                                    <p:animEffect transition="in" filter="checkerboard(across)">
                                      <p:cBhvr>
                                        <p:cTn id="12" dur="500"/>
                                        <p:tgtEl>
                                          <p:spTgt spid="290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0819">
                                            <p:txEl>
                                              <p:pRg st="2" end="2"/>
                                            </p:txEl>
                                          </p:spTgt>
                                        </p:tgtEl>
                                        <p:attrNameLst>
                                          <p:attrName>style.visibility</p:attrName>
                                        </p:attrNameLst>
                                      </p:cBhvr>
                                      <p:to>
                                        <p:strVal val="visible"/>
                                      </p:to>
                                    </p:set>
                                    <p:animEffect transition="in" filter="checkerboard(across)">
                                      <p:cBhvr>
                                        <p:cTn id="17" dur="500"/>
                                        <p:tgtEl>
                                          <p:spTgt spid="2908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1688C-7E8F-9969-DDEF-178756C6FDD8}"/>
              </a:ext>
            </a:extLst>
          </p:cNvPr>
          <p:cNvSpPr>
            <a:spLocks noGrp="1"/>
          </p:cNvSpPr>
          <p:nvPr>
            <p:ph type="title"/>
          </p:nvPr>
        </p:nvSpPr>
        <p:spPr/>
        <p:txBody>
          <a:bodyPr/>
          <a:lstStyle/>
          <a:p>
            <a:r>
              <a:rPr kumimoji="1" lang="zh-CN" altLang="en-US" dirty="0"/>
              <a:t>创建文件的步骤</a:t>
            </a:r>
          </a:p>
        </p:txBody>
      </p:sp>
      <p:sp>
        <p:nvSpPr>
          <p:cNvPr id="3" name="内容占位符 2">
            <a:extLst>
              <a:ext uri="{FF2B5EF4-FFF2-40B4-BE49-F238E27FC236}">
                <a16:creationId xmlns:a16="http://schemas.microsoft.com/office/drawing/2014/main" id="{D1A1F5BA-D69B-7C17-6596-BCA2580C5D5F}"/>
              </a:ext>
            </a:extLst>
          </p:cNvPr>
          <p:cNvSpPr>
            <a:spLocks noGrp="1"/>
          </p:cNvSpPr>
          <p:nvPr>
            <p:ph idx="1"/>
          </p:nvPr>
        </p:nvSpPr>
        <p:spPr/>
        <p:txBody>
          <a:bodyPr>
            <a:normAutofit fontScale="77500" lnSpcReduction="20000"/>
          </a:bodyPr>
          <a:lstStyle/>
          <a:p>
            <a:pPr algn="l">
              <a:lnSpc>
                <a:spcPct val="120000"/>
              </a:lnSpc>
              <a:buSzPct val="100000"/>
              <a:buFont typeface="+mj-lt"/>
              <a:buAutoNum type="arabicPeriod"/>
            </a:pPr>
            <a:r>
              <a:rPr lang="zh-CN" altLang="en-US" b="0" i="0" dirty="0">
                <a:effectLst/>
                <a:latin typeface="Noto Sans" panose="020B0502040504020204" pitchFamily="34" charset="0"/>
              </a:rPr>
              <a:t>分配</a:t>
            </a:r>
            <a:r>
              <a:rPr lang="en" altLang="zh-CN" b="0" i="0" dirty="0" err="1">
                <a:effectLst/>
                <a:latin typeface="Noto Sans" panose="020B0502040504020204" pitchFamily="34" charset="0"/>
              </a:rPr>
              <a:t>inode</a:t>
            </a:r>
            <a:r>
              <a:rPr lang="zh-CN" altLang="en-US" b="0" i="0" dirty="0">
                <a:effectLst/>
                <a:latin typeface="Noto Sans" panose="020B0502040504020204" pitchFamily="34" charset="0"/>
              </a:rPr>
              <a:t>节点。每个文件在文件系统中都对应一个</a:t>
            </a:r>
            <a:r>
              <a:rPr lang="en" altLang="zh-CN" b="0" i="0" dirty="0" err="1">
                <a:effectLst/>
                <a:latin typeface="Noto Sans" panose="020B0502040504020204" pitchFamily="34" charset="0"/>
              </a:rPr>
              <a:t>inode</a:t>
            </a:r>
            <a:r>
              <a:rPr lang="zh-CN" altLang="en-US" b="0" i="0" dirty="0">
                <a:effectLst/>
                <a:latin typeface="Noto Sans" panose="020B0502040504020204" pitchFamily="34" charset="0"/>
              </a:rPr>
              <a:t>节点，它保存了文件元数据，如文件类型、权限、大小、创建时间等。操作系统在创建文件时会先分配一个新的</a:t>
            </a:r>
            <a:r>
              <a:rPr lang="en" altLang="zh-CN" b="0" i="0" dirty="0" err="1">
                <a:effectLst/>
                <a:latin typeface="Noto Sans" panose="020B0502040504020204" pitchFamily="34" charset="0"/>
              </a:rPr>
              <a:t>inode</a:t>
            </a:r>
            <a:r>
              <a:rPr lang="zh-CN" altLang="en-US" b="0" i="0" dirty="0">
                <a:effectLst/>
                <a:latin typeface="Noto Sans" panose="020B0502040504020204" pitchFamily="34" charset="0"/>
              </a:rPr>
              <a:t>节点。</a:t>
            </a:r>
          </a:p>
          <a:p>
            <a:pPr>
              <a:lnSpc>
                <a:spcPct val="120000"/>
              </a:lnSpc>
              <a:buSzPct val="100000"/>
              <a:buFont typeface="+mj-lt"/>
              <a:buAutoNum type="arabicPeriod"/>
            </a:pPr>
            <a:r>
              <a:rPr lang="zh-CN" altLang="en-US" dirty="0">
                <a:latin typeface="Noto Sans" panose="020B0502040504020204" pitchFamily="34" charset="0"/>
              </a:rPr>
              <a:t>分配数据块。文件的数据内容实际存储在数据块中，操作系统需要为新建文件分配数据块来存储文件内容。</a:t>
            </a:r>
          </a:p>
          <a:p>
            <a:pPr>
              <a:lnSpc>
                <a:spcPct val="120000"/>
              </a:lnSpc>
              <a:buSzPct val="100000"/>
              <a:buFont typeface="+mj-lt"/>
              <a:buAutoNum type="arabicPeriod"/>
            </a:pPr>
            <a:r>
              <a:rPr lang="zh-CN" altLang="en-US" dirty="0">
                <a:latin typeface="Noto Sans" panose="020B0502040504020204" pitchFamily="34" charset="0"/>
              </a:rPr>
              <a:t>更新</a:t>
            </a:r>
            <a:r>
              <a:rPr lang="en" altLang="zh-CN" dirty="0" err="1">
                <a:latin typeface="Noto Sans" panose="020B0502040504020204" pitchFamily="34" charset="0"/>
              </a:rPr>
              <a:t>inode</a:t>
            </a:r>
            <a:r>
              <a:rPr lang="zh-CN" altLang="en-US" dirty="0">
                <a:latin typeface="Noto Sans" panose="020B0502040504020204" pitchFamily="34" charset="0"/>
              </a:rPr>
              <a:t>表。操作系统需要更新</a:t>
            </a:r>
            <a:r>
              <a:rPr lang="en" altLang="zh-CN" dirty="0" err="1">
                <a:latin typeface="Noto Sans" panose="020B0502040504020204" pitchFamily="34" charset="0"/>
              </a:rPr>
              <a:t>inode</a:t>
            </a:r>
            <a:r>
              <a:rPr lang="zh-CN" altLang="en-US" dirty="0">
                <a:latin typeface="Noto Sans" panose="020B0502040504020204" pitchFamily="34" charset="0"/>
              </a:rPr>
              <a:t>表，将新分配的</a:t>
            </a:r>
            <a:r>
              <a:rPr lang="en" altLang="zh-CN" dirty="0" err="1">
                <a:latin typeface="Noto Sans" panose="020B0502040504020204" pitchFamily="34" charset="0"/>
              </a:rPr>
              <a:t>inode</a:t>
            </a:r>
            <a:r>
              <a:rPr lang="zh-CN" altLang="en-US" dirty="0">
                <a:latin typeface="Noto Sans" panose="020B0502040504020204" pitchFamily="34" charset="0"/>
              </a:rPr>
              <a:t>节点与文件相关联，比如建立文件名与</a:t>
            </a:r>
            <a:r>
              <a:rPr lang="en" altLang="zh-CN" dirty="0" err="1">
                <a:latin typeface="Noto Sans" panose="020B0502040504020204" pitchFamily="34" charset="0"/>
              </a:rPr>
              <a:t>inode</a:t>
            </a:r>
            <a:r>
              <a:rPr lang="zh-CN" altLang="en-US" dirty="0">
                <a:latin typeface="Noto Sans" panose="020B0502040504020204" pitchFamily="34" charset="0"/>
              </a:rPr>
              <a:t>号的对应关系。</a:t>
            </a:r>
          </a:p>
          <a:p>
            <a:pPr>
              <a:lnSpc>
                <a:spcPct val="120000"/>
              </a:lnSpc>
              <a:buSzPct val="100000"/>
              <a:buFont typeface="+mj-lt"/>
              <a:buAutoNum type="arabicPeriod"/>
            </a:pPr>
            <a:r>
              <a:rPr lang="zh-CN" altLang="en-US" dirty="0">
                <a:latin typeface="Noto Sans" panose="020B0502040504020204" pitchFamily="34" charset="0"/>
              </a:rPr>
              <a:t>返回文件描述符。操作系统通过</a:t>
            </a:r>
            <a:r>
              <a:rPr lang="en" altLang="zh-CN" dirty="0">
                <a:latin typeface="Noto Sans" panose="020B0502040504020204" pitchFamily="34" charset="0"/>
              </a:rPr>
              <a:t>open</a:t>
            </a:r>
            <a:r>
              <a:rPr lang="zh-CN" altLang="en-US" dirty="0">
                <a:latin typeface="Noto Sans" panose="020B0502040504020204" pitchFamily="34" charset="0"/>
              </a:rPr>
              <a:t>系统调用创建文件后，会返回一个文件描述符，它是进程用于后续访问该文件的引用号。</a:t>
            </a:r>
          </a:p>
          <a:p>
            <a:pPr>
              <a:lnSpc>
                <a:spcPct val="120000"/>
              </a:lnSpc>
            </a:pPr>
            <a:endParaRPr kumimoji="1" lang="zh-CN" altLang="en-US" dirty="0"/>
          </a:p>
        </p:txBody>
      </p:sp>
      <p:sp>
        <p:nvSpPr>
          <p:cNvPr id="4" name="灯片编号占位符 3">
            <a:extLst>
              <a:ext uri="{FF2B5EF4-FFF2-40B4-BE49-F238E27FC236}">
                <a16:creationId xmlns:a16="http://schemas.microsoft.com/office/drawing/2014/main" id="{4D2896E2-1171-C77F-E7F3-00D9A97D5A63}"/>
              </a:ext>
            </a:extLst>
          </p:cNvPr>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spTree>
    <p:extLst>
      <p:ext uri="{BB962C8B-B14F-4D97-AF65-F5344CB8AC3E}">
        <p14:creationId xmlns:p14="http://schemas.microsoft.com/office/powerpoint/2010/main" val="3204283333"/>
      </p:ext>
    </p:extLst>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73FEA403-EA9A-08AA-79E0-E2D8F361E200}"/>
              </a:ext>
            </a:extLst>
          </p:cNvPr>
          <p:cNvSpPr>
            <a:spLocks noGrp="1" noChangeArrowheads="1"/>
          </p:cNvSpPr>
          <p:nvPr>
            <p:ph type="title"/>
          </p:nvPr>
        </p:nvSpPr>
        <p:spPr/>
        <p:txBody>
          <a:bodyPr/>
          <a:lstStyle/>
          <a:p>
            <a:pPr eaLnBrk="1" hangingPunct="1"/>
            <a:r>
              <a:rPr lang="zh-CN" altLang="en-US" dirty="0"/>
              <a:t>删除文件</a:t>
            </a:r>
            <a:endParaRPr lang="en-US" altLang="zh-CN" dirty="0"/>
          </a:p>
        </p:txBody>
      </p:sp>
      <p:sp>
        <p:nvSpPr>
          <p:cNvPr id="285699" name="Rectangle 3">
            <a:extLst>
              <a:ext uri="{FF2B5EF4-FFF2-40B4-BE49-F238E27FC236}">
                <a16:creationId xmlns:a16="http://schemas.microsoft.com/office/drawing/2014/main" id="{D5181F9D-B85C-D08E-BDAB-AB71A2C77B7F}"/>
              </a:ext>
            </a:extLst>
          </p:cNvPr>
          <p:cNvSpPr>
            <a:spLocks noGrp="1" noChangeArrowheads="1"/>
          </p:cNvSpPr>
          <p:nvPr>
            <p:ph idx="1"/>
          </p:nvPr>
        </p:nvSpPr>
        <p:spPr>
          <a:xfrm>
            <a:off x="900113" y="1125538"/>
            <a:ext cx="8004175" cy="4895850"/>
          </a:xfrm>
        </p:spPr>
        <p:txBody>
          <a:bodyPr/>
          <a:lstStyle/>
          <a:p>
            <a:pPr algn="just" eaLnBrk="1" hangingPunct="1"/>
            <a:r>
              <a:rPr lang="zh-CN" altLang="en-US" dirty="0"/>
              <a:t>删除文件的步骤：</a:t>
            </a:r>
          </a:p>
          <a:p>
            <a:pPr lvl="1" algn="just" eaLnBrk="1" hangingPunct="1"/>
            <a:r>
              <a:rPr lang="zh-CN" altLang="en-US" dirty="0"/>
              <a:t>在目录中搜索给定名称的文件</a:t>
            </a:r>
            <a:endParaRPr lang="en-US" altLang="zh-CN" dirty="0"/>
          </a:p>
          <a:p>
            <a:pPr lvl="1" algn="just" eaLnBrk="1" hangingPunct="1"/>
            <a:r>
              <a:rPr lang="zh-CN" altLang="en-US" dirty="0"/>
              <a:t>释放文件占用的所有存储空间</a:t>
            </a:r>
          </a:p>
          <a:p>
            <a:pPr lvl="1" algn="just" eaLnBrk="1" hangingPunct="1"/>
            <a:r>
              <a:rPr lang="zh-CN" altLang="en-US" dirty="0"/>
              <a:t>删除相应目录项</a:t>
            </a:r>
          </a:p>
          <a:p>
            <a:pPr lvl="1" algn="just" eaLnBrk="1" hangingPunct="1">
              <a:buFont typeface="Wingdings" pitchFamily="2" charset="2"/>
              <a:buNone/>
            </a:pPr>
            <a:r>
              <a:rPr lang="en-US" altLang="zh-CN" dirty="0"/>
              <a:t>   </a:t>
            </a:r>
          </a:p>
        </p:txBody>
      </p:sp>
      <p:sp>
        <p:nvSpPr>
          <p:cNvPr id="2" name="灯片编号占位符 1">
            <a:extLst>
              <a:ext uri="{FF2B5EF4-FFF2-40B4-BE49-F238E27FC236}">
                <a16:creationId xmlns:a16="http://schemas.microsoft.com/office/drawing/2014/main" id="{07C1CFFF-0A68-FE80-1BDF-10F5E17A25B0}"/>
              </a:ext>
            </a:extLst>
          </p:cNvPr>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animEffect transition="in" filter="checkerboard(across)">
                                      <p:cBhvr>
                                        <p:cTn id="7" dur="500"/>
                                        <p:tgtEl>
                                          <p:spTgt spid="285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85699">
                                            <p:txEl>
                                              <p:pRg st="1" end="1"/>
                                            </p:txEl>
                                          </p:spTgt>
                                        </p:tgtEl>
                                        <p:attrNameLst>
                                          <p:attrName>style.visibility</p:attrName>
                                        </p:attrNameLst>
                                      </p:cBhvr>
                                      <p:to>
                                        <p:strVal val="visible"/>
                                      </p:to>
                                    </p:set>
                                    <p:animEffect transition="in" filter="checkerboard(across)">
                                      <p:cBhvr>
                                        <p:cTn id="12" dur="500"/>
                                        <p:tgtEl>
                                          <p:spTgt spid="285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85699">
                                            <p:txEl>
                                              <p:pRg st="2" end="2"/>
                                            </p:txEl>
                                          </p:spTgt>
                                        </p:tgtEl>
                                        <p:attrNameLst>
                                          <p:attrName>style.visibility</p:attrName>
                                        </p:attrNameLst>
                                      </p:cBhvr>
                                      <p:to>
                                        <p:strVal val="visible"/>
                                      </p:to>
                                    </p:set>
                                    <p:animEffect transition="in" filter="checkerboard(across)">
                                      <p:cBhvr>
                                        <p:cTn id="17" dur="500"/>
                                        <p:tgtEl>
                                          <p:spTgt spid="285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85699">
                                            <p:txEl>
                                              <p:pRg st="3" end="3"/>
                                            </p:txEl>
                                          </p:spTgt>
                                        </p:tgtEl>
                                        <p:attrNameLst>
                                          <p:attrName>style.visibility</p:attrName>
                                        </p:attrNameLst>
                                      </p:cBhvr>
                                      <p:to>
                                        <p:strVal val="visible"/>
                                      </p:to>
                                    </p:set>
                                    <p:animEffect transition="in" filter="checkerboard(across)">
                                      <p:cBhvr>
                                        <p:cTn id="22" dur="500"/>
                                        <p:tgtEl>
                                          <p:spTgt spid="285699">
                                            <p:txEl>
                                              <p:pRg st="3" end="3"/>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285699">
                                            <p:txEl>
                                              <p:pRg st="4" end="4"/>
                                            </p:txEl>
                                          </p:spTgt>
                                        </p:tgtEl>
                                        <p:attrNameLst>
                                          <p:attrName>style.visibility</p:attrName>
                                        </p:attrNameLst>
                                      </p:cBhvr>
                                      <p:to>
                                        <p:strVal val="visible"/>
                                      </p:to>
                                    </p:set>
                                    <p:animEffect transition="in" filter="checkerboard(across)">
                                      <p:cBhvr>
                                        <p:cTn id="25" dur="500"/>
                                        <p:tgtEl>
                                          <p:spTgt spid="285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77C3629-2F5A-49AB-707F-5C72D264A154}"/>
              </a:ext>
            </a:extLst>
          </p:cNvPr>
          <p:cNvSpPr>
            <a:spLocks noGrp="1" noChangeArrowheads="1"/>
          </p:cNvSpPr>
          <p:nvPr>
            <p:ph type="title"/>
          </p:nvPr>
        </p:nvSpPr>
        <p:spPr>
          <a:xfrm>
            <a:off x="1042988" y="225431"/>
            <a:ext cx="7850187" cy="746125"/>
          </a:xfrm>
        </p:spPr>
        <p:txBody>
          <a:bodyPr/>
          <a:lstStyle/>
          <a:p>
            <a:r>
              <a:rPr lang="zh-CN" altLang="en-US" dirty="0"/>
              <a:t>读文件</a:t>
            </a:r>
            <a:endParaRPr lang="en-US" altLang="zh-CN" dirty="0"/>
          </a:p>
        </p:txBody>
      </p:sp>
      <p:sp>
        <p:nvSpPr>
          <p:cNvPr id="287747" name="Rectangle 3">
            <a:extLst>
              <a:ext uri="{FF2B5EF4-FFF2-40B4-BE49-F238E27FC236}">
                <a16:creationId xmlns:a16="http://schemas.microsoft.com/office/drawing/2014/main" id="{F63A9889-AE35-715C-C170-D7D5398C1959}"/>
              </a:ext>
            </a:extLst>
          </p:cNvPr>
          <p:cNvSpPr>
            <a:spLocks noGrp="1" noChangeArrowheads="1"/>
          </p:cNvSpPr>
          <p:nvPr>
            <p:ph idx="1"/>
          </p:nvPr>
        </p:nvSpPr>
        <p:spPr>
          <a:xfrm>
            <a:off x="935038" y="1233488"/>
            <a:ext cx="7772400" cy="4895850"/>
          </a:xfrm>
        </p:spPr>
        <p:txBody>
          <a:bodyPr/>
          <a:lstStyle/>
          <a:p>
            <a:r>
              <a:rPr lang="en" altLang="zh-CN" dirty="0" err="1"/>
              <a:t>ssize_t</a:t>
            </a:r>
            <a:r>
              <a:rPr lang="en" altLang="zh-CN" dirty="0"/>
              <a:t> read(int </a:t>
            </a:r>
            <a:r>
              <a:rPr lang="en" altLang="zh-CN" dirty="0" err="1"/>
              <a:t>fd</a:t>
            </a:r>
            <a:r>
              <a:rPr lang="en" altLang="zh-CN" dirty="0"/>
              <a:t>, void *</a:t>
            </a:r>
            <a:r>
              <a:rPr lang="en" altLang="zh-CN" dirty="0" err="1"/>
              <a:t>buf</a:t>
            </a:r>
            <a:r>
              <a:rPr lang="en" altLang="zh-CN" dirty="0"/>
              <a:t>, </a:t>
            </a:r>
            <a:r>
              <a:rPr lang="en" altLang="zh-CN" dirty="0" err="1"/>
              <a:t>size_t</a:t>
            </a:r>
            <a:r>
              <a:rPr lang="en" altLang="zh-CN" dirty="0"/>
              <a:t> count);</a:t>
            </a:r>
            <a:endParaRPr lang="en-US" altLang="zh-CN" dirty="0"/>
          </a:p>
          <a:p>
            <a:pPr lvl="1"/>
            <a:r>
              <a:rPr lang="en-US" altLang="zh-CN" dirty="0" err="1"/>
              <a:t>fd</a:t>
            </a:r>
            <a:r>
              <a:rPr lang="zh-CN" altLang="en-US" dirty="0"/>
              <a:t>指明文件名</a:t>
            </a:r>
            <a:endParaRPr lang="en-US" altLang="zh-CN" dirty="0"/>
          </a:p>
          <a:p>
            <a:pPr lvl="1"/>
            <a:r>
              <a:rPr lang="en-US" altLang="zh-CN" dirty="0" err="1"/>
              <a:t>buf</a:t>
            </a:r>
            <a:r>
              <a:rPr lang="zh-CN" altLang="en-US" dirty="0"/>
              <a:t>指明要读入文件块的内存位置</a:t>
            </a:r>
          </a:p>
          <a:p>
            <a:r>
              <a:rPr lang="zh-CN" altLang="en-US" dirty="0"/>
              <a:t>读文件的步骤：</a:t>
            </a:r>
            <a:endParaRPr lang="en-US" altLang="zh-CN" dirty="0"/>
          </a:p>
          <a:p>
            <a:pPr lvl="1"/>
            <a:r>
              <a:rPr lang="zh-CN" altLang="en-US" dirty="0"/>
              <a:t>系统搜索目录找到指定文件的目录项，从目录项中得到被读文件在外存的地址，然后从外存将数据读入内存。</a:t>
            </a:r>
          </a:p>
        </p:txBody>
      </p:sp>
      <p:sp>
        <p:nvSpPr>
          <p:cNvPr id="2" name="灯片编号占位符 1">
            <a:extLst>
              <a:ext uri="{FF2B5EF4-FFF2-40B4-BE49-F238E27FC236}">
                <a16:creationId xmlns:a16="http://schemas.microsoft.com/office/drawing/2014/main" id="{281E288F-C845-54BE-7C72-84AEF51CF5DE}"/>
              </a:ext>
            </a:extLst>
          </p:cNvPr>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Effect transition="in" filter="checkerboard(across)">
                                      <p:cBhvr>
                                        <p:cTn id="7" dur="500"/>
                                        <p:tgtEl>
                                          <p:spTgt spid="2877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7747">
                                            <p:txEl>
                                              <p:pRg st="2" end="2"/>
                                            </p:txEl>
                                          </p:spTgt>
                                        </p:tgtEl>
                                        <p:attrNameLst>
                                          <p:attrName>style.visibility</p:attrName>
                                        </p:attrNameLst>
                                      </p:cBhvr>
                                      <p:to>
                                        <p:strVal val="visible"/>
                                      </p:to>
                                    </p:set>
                                    <p:animEffect transition="in" filter="checkerboard(across)">
                                      <p:cBhvr>
                                        <p:cTn id="12" dur="500"/>
                                        <p:tgtEl>
                                          <p:spTgt spid="2877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7747">
                                            <p:txEl>
                                              <p:pRg st="0" end="0"/>
                                            </p:txEl>
                                          </p:spTgt>
                                        </p:tgtEl>
                                        <p:attrNameLst>
                                          <p:attrName>style.visibility</p:attrName>
                                        </p:attrNameLst>
                                      </p:cBhvr>
                                      <p:to>
                                        <p:strVal val="visible"/>
                                      </p:to>
                                    </p:set>
                                    <p:animEffect transition="in" filter="checkerboard(across)">
                                      <p:cBhvr>
                                        <p:cTn id="17" dur="500"/>
                                        <p:tgtEl>
                                          <p:spTgt spid="2877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7747">
                                            <p:txEl>
                                              <p:pRg st="3" end="3"/>
                                            </p:txEl>
                                          </p:spTgt>
                                        </p:tgtEl>
                                        <p:attrNameLst>
                                          <p:attrName>style.visibility</p:attrName>
                                        </p:attrNameLst>
                                      </p:cBhvr>
                                      <p:to>
                                        <p:strVal val="visible"/>
                                      </p:to>
                                    </p:set>
                                    <p:animEffect transition="in" filter="checkerboard(across)">
                                      <p:cBhvr>
                                        <p:cTn id="22" dur="500"/>
                                        <p:tgtEl>
                                          <p:spTgt spid="287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7747">
                                            <p:txEl>
                                              <p:pRg st="4" end="4"/>
                                            </p:txEl>
                                          </p:spTgt>
                                        </p:tgtEl>
                                        <p:attrNameLst>
                                          <p:attrName>style.visibility</p:attrName>
                                        </p:attrNameLst>
                                      </p:cBhvr>
                                      <p:to>
                                        <p:strVal val="visible"/>
                                      </p:to>
                                    </p:set>
                                    <p:animEffect transition="in" filter="checkerboard(across)">
                                      <p:cBhvr>
                                        <p:cTn id="27" dur="500"/>
                                        <p:tgtEl>
                                          <p:spTgt spid="287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52DE717E-CF40-62C6-242A-95C0D4964CC6}"/>
              </a:ext>
            </a:extLst>
          </p:cNvPr>
          <p:cNvSpPr>
            <a:spLocks noGrp="1" noChangeArrowheads="1"/>
          </p:cNvSpPr>
          <p:nvPr>
            <p:ph type="title"/>
          </p:nvPr>
        </p:nvSpPr>
        <p:spPr/>
        <p:txBody>
          <a:bodyPr/>
          <a:lstStyle/>
          <a:p>
            <a:pPr eaLnBrk="1" hangingPunct="1"/>
            <a:r>
              <a:rPr lang="zh-CN" altLang="en-US" dirty="0"/>
              <a:t>写文件</a:t>
            </a:r>
            <a:endParaRPr lang="en-US" altLang="zh-CN" dirty="0"/>
          </a:p>
        </p:txBody>
      </p:sp>
      <p:sp>
        <p:nvSpPr>
          <p:cNvPr id="284675" name="Rectangle 3">
            <a:extLst>
              <a:ext uri="{FF2B5EF4-FFF2-40B4-BE49-F238E27FC236}">
                <a16:creationId xmlns:a16="http://schemas.microsoft.com/office/drawing/2014/main" id="{61A18DE0-6F99-9AFE-2FBC-2E269287F363}"/>
              </a:ext>
            </a:extLst>
          </p:cNvPr>
          <p:cNvSpPr>
            <a:spLocks noGrp="1" noChangeArrowheads="1"/>
          </p:cNvSpPr>
          <p:nvPr>
            <p:ph idx="1"/>
          </p:nvPr>
        </p:nvSpPr>
        <p:spPr>
          <a:xfrm>
            <a:off x="900113" y="1125538"/>
            <a:ext cx="8004175" cy="4774221"/>
          </a:xfrm>
        </p:spPr>
        <p:txBody>
          <a:bodyPr>
            <a:normAutofit fontScale="77500" lnSpcReduction="20000"/>
          </a:bodyPr>
          <a:lstStyle/>
          <a:p>
            <a:pPr algn="just">
              <a:lnSpc>
                <a:spcPct val="120000"/>
              </a:lnSpc>
            </a:pPr>
            <a:r>
              <a:rPr lang="en" altLang="zh-CN" dirty="0" err="1"/>
              <a:t>ssize_t</a:t>
            </a:r>
            <a:r>
              <a:rPr lang="en" altLang="zh-CN" dirty="0"/>
              <a:t> write(int </a:t>
            </a:r>
            <a:r>
              <a:rPr lang="en" altLang="zh-CN" dirty="0" err="1"/>
              <a:t>fd</a:t>
            </a:r>
            <a:r>
              <a:rPr lang="en" altLang="zh-CN" dirty="0"/>
              <a:t>, const void *</a:t>
            </a:r>
            <a:r>
              <a:rPr lang="en" altLang="zh-CN" dirty="0" err="1"/>
              <a:t>buf</a:t>
            </a:r>
            <a:r>
              <a:rPr lang="en" altLang="zh-CN" dirty="0"/>
              <a:t>, </a:t>
            </a:r>
            <a:r>
              <a:rPr lang="en" altLang="zh-CN" dirty="0" err="1"/>
              <a:t>size_t</a:t>
            </a:r>
            <a:r>
              <a:rPr lang="en" altLang="zh-CN" dirty="0"/>
              <a:t> count)</a:t>
            </a:r>
            <a:endParaRPr lang="en-US" altLang="zh-CN" dirty="0"/>
          </a:p>
          <a:p>
            <a:pPr algn="just" eaLnBrk="1" hangingPunct="1">
              <a:lnSpc>
                <a:spcPct val="120000"/>
              </a:lnSpc>
            </a:pPr>
            <a:r>
              <a:rPr lang="zh-CN" altLang="en-US" dirty="0"/>
              <a:t>写文件的步骤：</a:t>
            </a:r>
            <a:endParaRPr lang="en-US" altLang="zh-CN" dirty="0"/>
          </a:p>
          <a:p>
            <a:pPr marL="814373" lvl="1" indent="-514350">
              <a:lnSpc>
                <a:spcPct val="120000"/>
              </a:lnSpc>
              <a:buSzPct val="100000"/>
              <a:buFont typeface="+mj-lt"/>
              <a:buAutoNum type="arabicPeriod"/>
            </a:pPr>
            <a:r>
              <a:rPr lang="zh-CN" altLang="en-US" sz="2800" dirty="0"/>
              <a:t>通过文件名，系统在目录树中查找对应的目录项。</a:t>
            </a:r>
            <a:endParaRPr lang="zh-CN" altLang="en-US" sz="2400" dirty="0"/>
          </a:p>
          <a:p>
            <a:pPr marL="814373" lvl="1" indent="-514350">
              <a:lnSpc>
                <a:spcPct val="120000"/>
              </a:lnSpc>
              <a:buSzPct val="100000"/>
              <a:buFont typeface="+mj-lt"/>
              <a:buAutoNum type="arabicPeriod"/>
            </a:pPr>
            <a:r>
              <a:rPr lang="zh-CN" altLang="en-US" sz="2800" dirty="0"/>
              <a:t>目录项包含</a:t>
            </a:r>
            <a:r>
              <a:rPr lang="en" altLang="zh-CN" sz="2800" dirty="0" err="1"/>
              <a:t>inode</a:t>
            </a:r>
            <a:r>
              <a:rPr lang="zh-CN" altLang="en-US" sz="2800" dirty="0"/>
              <a:t>号，定位到对应的</a:t>
            </a:r>
            <a:r>
              <a:rPr lang="en" altLang="zh-CN" sz="2800" dirty="0" err="1"/>
              <a:t>inode</a:t>
            </a:r>
            <a:r>
              <a:rPr lang="zh-CN" altLang="en-US" sz="2800" dirty="0"/>
              <a:t>节点。</a:t>
            </a:r>
            <a:endParaRPr lang="zh-CN" altLang="en-US" sz="2400" dirty="0"/>
          </a:p>
          <a:p>
            <a:pPr marL="814373" lvl="1" indent="-514350">
              <a:lnSpc>
                <a:spcPct val="120000"/>
              </a:lnSpc>
              <a:buSzPct val="100000"/>
              <a:buFont typeface="+mj-lt"/>
              <a:buAutoNum type="arabicPeriod"/>
            </a:pPr>
            <a:r>
              <a:rPr lang="en" altLang="zh-CN" sz="2800" dirty="0" err="1"/>
              <a:t>inode</a:t>
            </a:r>
            <a:r>
              <a:rPr lang="zh-CN" altLang="en-US" sz="2800" dirty="0"/>
              <a:t>节点记录文件长度和数据块地址信息。</a:t>
            </a:r>
            <a:endParaRPr lang="zh-CN" altLang="en-US" sz="2400" dirty="0"/>
          </a:p>
          <a:p>
            <a:pPr marL="814373" lvl="1" indent="-514350">
              <a:lnSpc>
                <a:spcPct val="120000"/>
              </a:lnSpc>
              <a:buSzPct val="100000"/>
              <a:buFont typeface="+mj-lt"/>
              <a:buAutoNum type="arabicPeriod"/>
            </a:pPr>
            <a:r>
              <a:rPr lang="zh-CN" altLang="en-US" sz="2800" dirty="0"/>
              <a:t>系统根据写位置，判断需要写入的块是否已经在内存缓冲区中。</a:t>
            </a:r>
            <a:endParaRPr lang="zh-CN" altLang="en-US" sz="2400" dirty="0"/>
          </a:p>
          <a:p>
            <a:pPr marL="814373" lvl="1" indent="-514350">
              <a:lnSpc>
                <a:spcPct val="120000"/>
              </a:lnSpc>
              <a:buSzPct val="100000"/>
              <a:buFont typeface="+mj-lt"/>
              <a:buAutoNum type="arabicPeriod"/>
            </a:pPr>
            <a:r>
              <a:rPr lang="zh-CN" altLang="en-US" sz="2800" dirty="0"/>
              <a:t>如果块不在缓冲区，需要从磁盘读入块到缓冲区。</a:t>
            </a:r>
            <a:endParaRPr lang="zh-CN" altLang="en-US" sz="2400" dirty="0"/>
          </a:p>
          <a:p>
            <a:pPr marL="814373" lvl="1" indent="-514350">
              <a:lnSpc>
                <a:spcPct val="120000"/>
              </a:lnSpc>
              <a:buSzPct val="100000"/>
              <a:buFont typeface="+mj-lt"/>
              <a:buAutoNum type="arabicPeriod"/>
            </a:pPr>
            <a:r>
              <a:rPr lang="zh-CN" altLang="en-US" sz="2800" dirty="0"/>
              <a:t>在内存缓冲区中写入数据。</a:t>
            </a:r>
            <a:endParaRPr lang="zh-CN" altLang="en-US" sz="2400" dirty="0"/>
          </a:p>
          <a:p>
            <a:pPr marL="814373" lvl="1" indent="-514350">
              <a:lnSpc>
                <a:spcPct val="120000"/>
              </a:lnSpc>
              <a:buSzPct val="100000"/>
              <a:buFont typeface="+mj-lt"/>
              <a:buAutoNum type="arabicPeriod"/>
            </a:pPr>
            <a:r>
              <a:rPr lang="zh-CN" altLang="en-US" sz="2800" dirty="0"/>
              <a:t>根据写入量，可能需要分配新的块并更新</a:t>
            </a:r>
            <a:r>
              <a:rPr lang="en" altLang="zh-CN" sz="2800" dirty="0" err="1"/>
              <a:t>inode</a:t>
            </a:r>
            <a:r>
              <a:rPr lang="zh-CN" altLang="en-US" sz="2800" dirty="0"/>
              <a:t>节点。</a:t>
            </a:r>
            <a:endParaRPr lang="zh-CN" altLang="en-US" sz="2400" dirty="0"/>
          </a:p>
          <a:p>
            <a:pPr marL="814373" lvl="1" indent="-514350">
              <a:lnSpc>
                <a:spcPct val="120000"/>
              </a:lnSpc>
              <a:buSzPct val="100000"/>
              <a:buFont typeface="+mj-lt"/>
              <a:buAutoNum type="arabicPeriod"/>
            </a:pPr>
            <a:r>
              <a:rPr lang="zh-CN" altLang="en-US" sz="2800" dirty="0"/>
              <a:t>操作结束后，将脏块从缓冲区写入磁盘，更新文件内容。</a:t>
            </a:r>
            <a:endParaRPr lang="zh-CN" altLang="en-US" sz="2400" dirty="0"/>
          </a:p>
          <a:p>
            <a:pPr lvl="1" algn="just">
              <a:lnSpc>
                <a:spcPct val="120000"/>
              </a:lnSpc>
            </a:pPr>
            <a:endParaRPr lang="zh-CN" altLang="en-US" dirty="0"/>
          </a:p>
        </p:txBody>
      </p:sp>
      <p:sp>
        <p:nvSpPr>
          <p:cNvPr id="2" name="灯片编号占位符 1">
            <a:extLst>
              <a:ext uri="{FF2B5EF4-FFF2-40B4-BE49-F238E27FC236}">
                <a16:creationId xmlns:a16="http://schemas.microsoft.com/office/drawing/2014/main" id="{EEC821E0-8368-990A-FDC4-EA6FFD9BB6A8}"/>
              </a:ext>
            </a:extLst>
          </p:cNvPr>
          <p:cNvSpPr>
            <a:spLocks noGrp="1"/>
          </p:cNvSpPr>
          <p:nvPr>
            <p:ph type="sldNum" sz="quarter" idx="12"/>
          </p:nvPr>
        </p:nvSpPr>
        <p:spPr/>
        <p:txBody>
          <a:bodyPr/>
          <a:lstStyle/>
          <a:p>
            <a:fld id="{4093CC90-4002-504C-BD88-C9A1D374048E}" type="slidenum">
              <a:rPr lang="zh-CN" altLang="en-US" smtClean="0"/>
              <a:pPr/>
              <a:t>13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animEffect transition="in" filter="checkerboard(across)">
                                      <p:cBhvr>
                                        <p:cTn id="7" dur="500"/>
                                        <p:tgtEl>
                                          <p:spTgt spid="284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4675">
                                            <p:txEl>
                                              <p:pRg st="1" end="1"/>
                                            </p:txEl>
                                          </p:spTgt>
                                        </p:tgtEl>
                                        <p:attrNameLst>
                                          <p:attrName>style.visibility</p:attrName>
                                        </p:attrNameLst>
                                      </p:cBhvr>
                                      <p:to>
                                        <p:strVal val="visible"/>
                                      </p:to>
                                    </p:set>
                                    <p:animEffect transition="in" filter="checkerboard(across)">
                                      <p:cBhvr>
                                        <p:cTn id="12" dur="500"/>
                                        <p:tgtEl>
                                          <p:spTgt spid="284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84675">
                                            <p:txEl>
                                              <p:pRg st="2" end="2"/>
                                            </p:txEl>
                                          </p:spTgt>
                                        </p:tgtEl>
                                        <p:attrNameLst>
                                          <p:attrName>style.visibility</p:attrName>
                                        </p:attrNameLst>
                                      </p:cBhvr>
                                      <p:to>
                                        <p:strVal val="visible"/>
                                      </p:to>
                                    </p:set>
                                    <p:animEffect transition="in" filter="checkerboard(across)">
                                      <p:cBhvr>
                                        <p:cTn id="17" dur="500"/>
                                        <p:tgtEl>
                                          <p:spTgt spid="284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84675">
                                            <p:txEl>
                                              <p:pRg st="3" end="3"/>
                                            </p:txEl>
                                          </p:spTgt>
                                        </p:tgtEl>
                                        <p:attrNameLst>
                                          <p:attrName>style.visibility</p:attrName>
                                        </p:attrNameLst>
                                      </p:cBhvr>
                                      <p:to>
                                        <p:strVal val="visible"/>
                                      </p:to>
                                    </p:set>
                                    <p:animEffect transition="in" filter="checkerboard(across)">
                                      <p:cBhvr>
                                        <p:cTn id="22" dur="500"/>
                                        <p:tgtEl>
                                          <p:spTgt spid="2846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4675">
                                            <p:txEl>
                                              <p:pRg st="4" end="4"/>
                                            </p:txEl>
                                          </p:spTgt>
                                        </p:tgtEl>
                                        <p:attrNameLst>
                                          <p:attrName>style.visibility</p:attrName>
                                        </p:attrNameLst>
                                      </p:cBhvr>
                                      <p:to>
                                        <p:strVal val="visible"/>
                                      </p:to>
                                    </p:set>
                                    <p:animEffect transition="in" filter="checkerboard(across)">
                                      <p:cBhvr>
                                        <p:cTn id="27" dur="500"/>
                                        <p:tgtEl>
                                          <p:spTgt spid="2846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84675">
                                            <p:txEl>
                                              <p:pRg st="5" end="5"/>
                                            </p:txEl>
                                          </p:spTgt>
                                        </p:tgtEl>
                                        <p:attrNameLst>
                                          <p:attrName>style.visibility</p:attrName>
                                        </p:attrNameLst>
                                      </p:cBhvr>
                                      <p:to>
                                        <p:strVal val="visible"/>
                                      </p:to>
                                    </p:set>
                                    <p:animEffect transition="in" filter="checkerboard(across)">
                                      <p:cBhvr>
                                        <p:cTn id="32" dur="500"/>
                                        <p:tgtEl>
                                          <p:spTgt spid="2846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84675">
                                            <p:txEl>
                                              <p:pRg st="6" end="6"/>
                                            </p:txEl>
                                          </p:spTgt>
                                        </p:tgtEl>
                                        <p:attrNameLst>
                                          <p:attrName>style.visibility</p:attrName>
                                        </p:attrNameLst>
                                      </p:cBhvr>
                                      <p:to>
                                        <p:strVal val="visible"/>
                                      </p:to>
                                    </p:set>
                                    <p:animEffect transition="in" filter="checkerboard(across)">
                                      <p:cBhvr>
                                        <p:cTn id="37" dur="500"/>
                                        <p:tgtEl>
                                          <p:spTgt spid="2846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84675">
                                            <p:txEl>
                                              <p:pRg st="7" end="7"/>
                                            </p:txEl>
                                          </p:spTgt>
                                        </p:tgtEl>
                                        <p:attrNameLst>
                                          <p:attrName>style.visibility</p:attrName>
                                        </p:attrNameLst>
                                      </p:cBhvr>
                                      <p:to>
                                        <p:strVal val="visible"/>
                                      </p:to>
                                    </p:set>
                                    <p:animEffect transition="in" filter="checkerboard(across)">
                                      <p:cBhvr>
                                        <p:cTn id="42" dur="500"/>
                                        <p:tgtEl>
                                          <p:spTgt spid="28467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84675">
                                            <p:txEl>
                                              <p:pRg st="8" end="8"/>
                                            </p:txEl>
                                          </p:spTgt>
                                        </p:tgtEl>
                                        <p:attrNameLst>
                                          <p:attrName>style.visibility</p:attrName>
                                        </p:attrNameLst>
                                      </p:cBhvr>
                                      <p:to>
                                        <p:strVal val="visible"/>
                                      </p:to>
                                    </p:set>
                                    <p:animEffect transition="in" filter="checkerboard(across)">
                                      <p:cBhvr>
                                        <p:cTn id="47" dur="500"/>
                                        <p:tgtEl>
                                          <p:spTgt spid="28467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284675">
                                            <p:txEl>
                                              <p:pRg st="9" end="9"/>
                                            </p:txEl>
                                          </p:spTgt>
                                        </p:tgtEl>
                                        <p:attrNameLst>
                                          <p:attrName>style.visibility</p:attrName>
                                        </p:attrNameLst>
                                      </p:cBhvr>
                                      <p:to>
                                        <p:strVal val="visible"/>
                                      </p:to>
                                    </p:set>
                                    <p:animEffect transition="in" filter="checkerboard(across)">
                                      <p:cBhvr>
                                        <p:cTn id="52" dur="500"/>
                                        <p:tgtEl>
                                          <p:spTgt spid="2846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B97F629-4631-5CE7-63C8-E235A081E1B2}"/>
              </a:ext>
            </a:extLst>
          </p:cNvPr>
          <p:cNvSpPr>
            <a:spLocks noGrp="1" noChangeArrowheads="1"/>
          </p:cNvSpPr>
          <p:nvPr>
            <p:ph type="title"/>
          </p:nvPr>
        </p:nvSpPr>
        <p:spPr>
          <a:xfrm>
            <a:off x="1042988" y="225431"/>
            <a:ext cx="7850187" cy="746125"/>
          </a:xfrm>
        </p:spPr>
        <p:txBody>
          <a:bodyPr/>
          <a:lstStyle/>
          <a:p>
            <a:r>
              <a:rPr lang="zh-CN" altLang="en-US" dirty="0"/>
              <a:t>在文件内重定位</a:t>
            </a:r>
            <a:endParaRPr lang="en-US" altLang="zh-CN" dirty="0"/>
          </a:p>
        </p:txBody>
      </p:sp>
      <p:sp>
        <p:nvSpPr>
          <p:cNvPr id="291843" name="Rectangle 3">
            <a:extLst>
              <a:ext uri="{FF2B5EF4-FFF2-40B4-BE49-F238E27FC236}">
                <a16:creationId xmlns:a16="http://schemas.microsoft.com/office/drawing/2014/main" id="{519C8F08-8AA9-BFDA-C778-5C5F2BD8F6ED}"/>
              </a:ext>
            </a:extLst>
          </p:cNvPr>
          <p:cNvSpPr>
            <a:spLocks noGrp="1" noChangeArrowheads="1"/>
          </p:cNvSpPr>
          <p:nvPr>
            <p:ph idx="1"/>
          </p:nvPr>
        </p:nvSpPr>
        <p:spPr>
          <a:xfrm>
            <a:off x="935038" y="1233488"/>
            <a:ext cx="7772400" cy="4895850"/>
          </a:xfrm>
        </p:spPr>
        <p:txBody>
          <a:bodyPr/>
          <a:lstStyle/>
          <a:p>
            <a:r>
              <a:rPr lang="zh-CN" altLang="en-US" dirty="0"/>
              <a:t>搜索相应目录表项</a:t>
            </a:r>
            <a:r>
              <a:rPr lang="en-US" altLang="zh-CN" dirty="0"/>
              <a:t> </a:t>
            </a:r>
            <a:endParaRPr lang="zh-CN" altLang="en-US" dirty="0"/>
          </a:p>
          <a:p>
            <a:r>
              <a:rPr lang="zh-CN" altLang="en-US" dirty="0"/>
              <a:t>设置当前文件指针为给定值</a:t>
            </a:r>
          </a:p>
        </p:txBody>
      </p:sp>
      <p:sp>
        <p:nvSpPr>
          <p:cNvPr id="2" name="灯片编号占位符 1">
            <a:extLst>
              <a:ext uri="{FF2B5EF4-FFF2-40B4-BE49-F238E27FC236}">
                <a16:creationId xmlns:a16="http://schemas.microsoft.com/office/drawing/2014/main" id="{F6B2F04C-05F4-8CC9-2A2C-EFB734F2A92D}"/>
              </a:ext>
            </a:extLst>
          </p:cNvPr>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checkerboard(across)">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checkerboard(across)">
                                      <p:cBhvr>
                                        <p:cTn id="12" dur="500"/>
                                        <p:tgtEl>
                                          <p:spTgt spid="2918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63649632-3C29-7A81-CEB5-A1BA97FA1B60}"/>
              </a:ext>
            </a:extLst>
          </p:cNvPr>
          <p:cNvSpPr>
            <a:spLocks noGrp="1" noChangeArrowheads="1"/>
          </p:cNvSpPr>
          <p:nvPr>
            <p:ph type="title"/>
          </p:nvPr>
        </p:nvSpPr>
        <p:spPr>
          <a:xfrm>
            <a:off x="1042988" y="225431"/>
            <a:ext cx="7850187" cy="746125"/>
          </a:xfrm>
        </p:spPr>
        <p:txBody>
          <a:bodyPr/>
          <a:lstStyle/>
          <a:p>
            <a:r>
              <a:rPr lang="zh-CN" altLang="en-US" dirty="0"/>
              <a:t>打开文件</a:t>
            </a:r>
            <a:endParaRPr lang="en-US" altLang="zh-CN" dirty="0"/>
          </a:p>
        </p:txBody>
      </p:sp>
      <p:sp>
        <p:nvSpPr>
          <p:cNvPr id="288771" name="Rectangle 3">
            <a:extLst>
              <a:ext uri="{FF2B5EF4-FFF2-40B4-BE49-F238E27FC236}">
                <a16:creationId xmlns:a16="http://schemas.microsoft.com/office/drawing/2014/main" id="{21CE20C5-6C27-56D3-0136-8AC379C43416}"/>
              </a:ext>
            </a:extLst>
          </p:cNvPr>
          <p:cNvSpPr>
            <a:spLocks noGrp="1" noChangeArrowheads="1"/>
          </p:cNvSpPr>
          <p:nvPr>
            <p:ph idx="1"/>
          </p:nvPr>
        </p:nvSpPr>
        <p:spPr>
          <a:xfrm>
            <a:off x="935038" y="1233488"/>
            <a:ext cx="7772400" cy="4895850"/>
          </a:xfrm>
        </p:spPr>
        <p:txBody>
          <a:bodyPr/>
          <a:lstStyle/>
          <a:p>
            <a:r>
              <a:rPr lang="zh-CN" altLang="en-US" dirty="0"/>
              <a:t>文件操作时需要访问目录信息，因此系统提供了打开文件和关闭文件命令</a:t>
            </a:r>
          </a:p>
          <a:p>
            <a:r>
              <a:rPr lang="zh-CN" altLang="en-US" b="1" dirty="0">
                <a:solidFill>
                  <a:srgbClr val="FF0000"/>
                </a:solidFill>
              </a:rPr>
              <a:t>打开文件</a:t>
            </a:r>
            <a:r>
              <a:rPr lang="zh-CN" altLang="en-US" dirty="0"/>
              <a:t>：将待访问文件的目录信息读入内存打开文件表中，建立起用户进程和文件之间的联系</a:t>
            </a:r>
          </a:p>
        </p:txBody>
      </p:sp>
      <p:sp>
        <p:nvSpPr>
          <p:cNvPr id="2" name="灯片编号占位符 1">
            <a:extLst>
              <a:ext uri="{FF2B5EF4-FFF2-40B4-BE49-F238E27FC236}">
                <a16:creationId xmlns:a16="http://schemas.microsoft.com/office/drawing/2014/main" id="{C889BEB4-32C2-6F6C-4864-6A9B6DDD80E4}"/>
              </a:ext>
            </a:extLst>
          </p:cNvPr>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animEffect transition="in" filter="checkerboard(across)">
                                      <p:cBhvr>
                                        <p:cTn id="7" dur="500"/>
                                        <p:tgtEl>
                                          <p:spTgt spid="288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88771">
                                            <p:txEl>
                                              <p:pRg st="1" end="1"/>
                                            </p:txEl>
                                          </p:spTgt>
                                        </p:tgtEl>
                                        <p:attrNameLst>
                                          <p:attrName>style.visibility</p:attrName>
                                        </p:attrNameLst>
                                      </p:cBhvr>
                                      <p:to>
                                        <p:strVal val="visible"/>
                                      </p:to>
                                    </p:set>
                                    <p:animEffect transition="in" filter="checkerboard(across)">
                                      <p:cBhvr>
                                        <p:cTn id="12" dur="500"/>
                                        <p:tgtEl>
                                          <p:spTgt spid="288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F8FD3384-BC79-B1CF-31FD-C0977AC9675C}"/>
              </a:ext>
            </a:extLst>
          </p:cNvPr>
          <p:cNvSpPr>
            <a:spLocks noGrp="1" noChangeArrowheads="1"/>
          </p:cNvSpPr>
          <p:nvPr>
            <p:ph type="title"/>
          </p:nvPr>
        </p:nvSpPr>
        <p:spPr>
          <a:xfrm>
            <a:off x="1042988" y="225431"/>
            <a:ext cx="7850187" cy="746125"/>
          </a:xfrm>
        </p:spPr>
        <p:txBody>
          <a:bodyPr/>
          <a:lstStyle/>
          <a:p>
            <a:r>
              <a:rPr lang="zh-CN" altLang="en-US"/>
              <a:t>打开文件的相关信息</a:t>
            </a:r>
            <a:endParaRPr lang="zh-CN" altLang="en-US">
              <a:sym typeface="Wingdings" pitchFamily="2" charset="2"/>
            </a:endParaRPr>
          </a:p>
        </p:txBody>
      </p:sp>
      <p:sp>
        <p:nvSpPr>
          <p:cNvPr id="293891" name="Rectangle 3">
            <a:extLst>
              <a:ext uri="{FF2B5EF4-FFF2-40B4-BE49-F238E27FC236}">
                <a16:creationId xmlns:a16="http://schemas.microsoft.com/office/drawing/2014/main" id="{CFE488C3-DCA8-5DA7-61EA-97EF7E2F5049}"/>
              </a:ext>
            </a:extLst>
          </p:cNvPr>
          <p:cNvSpPr>
            <a:spLocks noGrp="1" noChangeArrowheads="1"/>
          </p:cNvSpPr>
          <p:nvPr>
            <p:ph idx="1"/>
          </p:nvPr>
        </p:nvSpPr>
        <p:spPr>
          <a:xfrm>
            <a:off x="935038" y="1233488"/>
            <a:ext cx="7772400" cy="4895850"/>
          </a:xfrm>
        </p:spPr>
        <p:txBody>
          <a:bodyPr/>
          <a:lstStyle/>
          <a:p>
            <a:r>
              <a:rPr lang="zh-CN" altLang="en-US" dirty="0">
                <a:sym typeface="Wingdings" pitchFamily="2" charset="2"/>
              </a:rPr>
              <a:t>每个打开的文件有如下相关信息：</a:t>
            </a:r>
          </a:p>
          <a:p>
            <a:pPr lvl="1"/>
            <a:r>
              <a:rPr lang="zh-CN" altLang="en-US" dirty="0">
                <a:sym typeface="Wingdings" pitchFamily="2" charset="2"/>
              </a:rPr>
              <a:t>文件指针 </a:t>
            </a:r>
            <a:r>
              <a:rPr lang="en-US" altLang="zh-CN" dirty="0">
                <a:sym typeface="Wingdings" pitchFamily="2" charset="2"/>
              </a:rPr>
              <a:t>File pointer</a:t>
            </a:r>
          </a:p>
          <a:p>
            <a:pPr lvl="1"/>
            <a:r>
              <a:rPr lang="zh-CN" altLang="en-US" dirty="0">
                <a:sym typeface="Wingdings" pitchFamily="2" charset="2"/>
              </a:rPr>
              <a:t>文件打开计数 </a:t>
            </a:r>
            <a:r>
              <a:rPr lang="en-US" altLang="zh-CN" dirty="0">
                <a:sym typeface="Wingdings" pitchFamily="2" charset="2"/>
              </a:rPr>
              <a:t>File open count</a:t>
            </a:r>
          </a:p>
          <a:p>
            <a:pPr lvl="1"/>
            <a:r>
              <a:rPr lang="zh-CN" altLang="en-US" dirty="0">
                <a:sym typeface="Wingdings" pitchFamily="2" charset="2"/>
              </a:rPr>
              <a:t>文件磁盘位置  </a:t>
            </a:r>
            <a:r>
              <a:rPr lang="en-US" altLang="zh-CN" dirty="0">
                <a:sym typeface="Wingdings" pitchFamily="2" charset="2"/>
              </a:rPr>
              <a:t>Disk location of the file</a:t>
            </a:r>
          </a:p>
          <a:p>
            <a:pPr lvl="1"/>
            <a:r>
              <a:rPr lang="zh-CN" altLang="en-US" dirty="0">
                <a:sym typeface="Wingdings" pitchFamily="2" charset="2"/>
              </a:rPr>
              <a:t>访问权限   </a:t>
            </a:r>
            <a:r>
              <a:rPr lang="en-US" altLang="zh-CN" dirty="0">
                <a:sym typeface="Wingdings" pitchFamily="2" charset="2"/>
              </a:rPr>
              <a:t>Access rights</a:t>
            </a:r>
          </a:p>
          <a:p>
            <a:pPr lvl="1"/>
            <a:endParaRPr lang="zh-CN" altLang="en-US" dirty="0">
              <a:sym typeface="Wingdings" pitchFamily="2" charset="2"/>
            </a:endParaRPr>
          </a:p>
        </p:txBody>
      </p:sp>
      <p:sp>
        <p:nvSpPr>
          <p:cNvPr id="2" name="灯片编号占位符 1">
            <a:extLst>
              <a:ext uri="{FF2B5EF4-FFF2-40B4-BE49-F238E27FC236}">
                <a16:creationId xmlns:a16="http://schemas.microsoft.com/office/drawing/2014/main" id="{16A8CC8E-B4B8-D776-468E-213FE1649449}"/>
              </a:ext>
            </a:extLst>
          </p:cNvPr>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3891">
                                            <p:txEl>
                                              <p:pRg st="0" end="0"/>
                                            </p:txEl>
                                          </p:spTgt>
                                        </p:tgtEl>
                                        <p:attrNameLst>
                                          <p:attrName>style.visibility</p:attrName>
                                        </p:attrNameLst>
                                      </p:cBhvr>
                                      <p:to>
                                        <p:strVal val="visible"/>
                                      </p:to>
                                    </p:set>
                                    <p:animEffect transition="in" filter="checkerboard(across)">
                                      <p:cBhvr>
                                        <p:cTn id="7" dur="500"/>
                                        <p:tgtEl>
                                          <p:spTgt spid="293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3891">
                                            <p:txEl>
                                              <p:pRg st="1" end="1"/>
                                            </p:txEl>
                                          </p:spTgt>
                                        </p:tgtEl>
                                        <p:attrNameLst>
                                          <p:attrName>style.visibility</p:attrName>
                                        </p:attrNameLst>
                                      </p:cBhvr>
                                      <p:to>
                                        <p:strVal val="visible"/>
                                      </p:to>
                                    </p:set>
                                    <p:animEffect transition="in" filter="checkerboard(across)">
                                      <p:cBhvr>
                                        <p:cTn id="12" dur="500"/>
                                        <p:tgtEl>
                                          <p:spTgt spid="293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3891">
                                            <p:txEl>
                                              <p:pRg st="2" end="2"/>
                                            </p:txEl>
                                          </p:spTgt>
                                        </p:tgtEl>
                                        <p:attrNameLst>
                                          <p:attrName>style.visibility</p:attrName>
                                        </p:attrNameLst>
                                      </p:cBhvr>
                                      <p:to>
                                        <p:strVal val="visible"/>
                                      </p:to>
                                    </p:set>
                                    <p:animEffect transition="in" filter="checkerboard(across)">
                                      <p:cBhvr>
                                        <p:cTn id="17" dur="500"/>
                                        <p:tgtEl>
                                          <p:spTgt spid="293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3891">
                                            <p:txEl>
                                              <p:pRg st="3" end="3"/>
                                            </p:txEl>
                                          </p:spTgt>
                                        </p:tgtEl>
                                        <p:attrNameLst>
                                          <p:attrName>style.visibility</p:attrName>
                                        </p:attrNameLst>
                                      </p:cBhvr>
                                      <p:to>
                                        <p:strVal val="visible"/>
                                      </p:to>
                                    </p:set>
                                    <p:animEffect transition="in" filter="checkerboard(across)">
                                      <p:cBhvr>
                                        <p:cTn id="22" dur="500"/>
                                        <p:tgtEl>
                                          <p:spTgt spid="293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93891">
                                            <p:txEl>
                                              <p:pRg st="4" end="4"/>
                                            </p:txEl>
                                          </p:spTgt>
                                        </p:tgtEl>
                                        <p:attrNameLst>
                                          <p:attrName>style.visibility</p:attrName>
                                        </p:attrNameLst>
                                      </p:cBhvr>
                                      <p:to>
                                        <p:strVal val="visible"/>
                                      </p:to>
                                    </p:set>
                                    <p:animEffect transition="in" filter="checkerboard(across)">
                                      <p:cBhvr>
                                        <p:cTn id="27" dur="500"/>
                                        <p:tgtEl>
                                          <p:spTgt spid="293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7F911D29-A5F0-B08E-1FF9-2C1D2A6E61FC}"/>
              </a:ext>
            </a:extLst>
          </p:cNvPr>
          <p:cNvSpPr>
            <a:spLocks noGrp="1" noChangeArrowheads="1"/>
          </p:cNvSpPr>
          <p:nvPr>
            <p:ph type="title"/>
          </p:nvPr>
        </p:nvSpPr>
        <p:spPr>
          <a:xfrm>
            <a:off x="1042988" y="225431"/>
            <a:ext cx="7850187" cy="746125"/>
          </a:xfrm>
        </p:spPr>
        <p:txBody>
          <a:bodyPr/>
          <a:lstStyle/>
          <a:p>
            <a:r>
              <a:rPr lang="zh-CN" altLang="en-US" dirty="0"/>
              <a:t>关闭文件</a:t>
            </a:r>
            <a:endParaRPr lang="en-US" altLang="zh-CN" dirty="0"/>
          </a:p>
        </p:txBody>
      </p:sp>
      <p:sp>
        <p:nvSpPr>
          <p:cNvPr id="289795" name="Rectangle 3">
            <a:extLst>
              <a:ext uri="{FF2B5EF4-FFF2-40B4-BE49-F238E27FC236}">
                <a16:creationId xmlns:a16="http://schemas.microsoft.com/office/drawing/2014/main" id="{8029F652-6A20-B333-8970-D33EAEC170FF}"/>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关闭文件</a:t>
            </a:r>
            <a:r>
              <a:rPr lang="zh-CN" altLang="en-US" dirty="0"/>
              <a:t>：撤消主存中有关该文件的目录信息，切断用户进程与该文件的联系；若在文件打开期间，该文件作过某种修改，则应将其写回辅存。</a:t>
            </a:r>
          </a:p>
        </p:txBody>
      </p:sp>
      <p:sp>
        <p:nvSpPr>
          <p:cNvPr id="2" name="灯片编号占位符 1">
            <a:extLst>
              <a:ext uri="{FF2B5EF4-FFF2-40B4-BE49-F238E27FC236}">
                <a16:creationId xmlns:a16="http://schemas.microsoft.com/office/drawing/2014/main" id="{E56C56CE-E973-0781-03D9-B27B598CB022}"/>
              </a:ext>
            </a:extLst>
          </p:cNvPr>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checkerboard(across)">
                                      <p:cBhvr>
                                        <p:cTn id="7" dur="500"/>
                                        <p:tgtEl>
                                          <p:spTgt spid="2897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DEDD2FE4-9376-D3D6-A970-239517F28B51}"/>
              </a:ext>
            </a:extLst>
          </p:cNvPr>
          <p:cNvSpPr>
            <a:spLocks noGrp="1" noChangeArrowheads="1"/>
          </p:cNvSpPr>
          <p:nvPr>
            <p:ph type="title"/>
          </p:nvPr>
        </p:nvSpPr>
        <p:spPr>
          <a:xfrm>
            <a:off x="1042988" y="225431"/>
            <a:ext cx="7850187" cy="746125"/>
          </a:xfrm>
        </p:spPr>
        <p:txBody>
          <a:bodyPr/>
          <a:lstStyle/>
          <a:p>
            <a:r>
              <a:rPr lang="zh-CN" altLang="en-US" dirty="0"/>
              <a:t>截断文件</a:t>
            </a:r>
            <a:endParaRPr lang="en-US" altLang="zh-CN" dirty="0"/>
          </a:p>
        </p:txBody>
      </p:sp>
      <p:sp>
        <p:nvSpPr>
          <p:cNvPr id="20482" name="Rectangle 3">
            <a:extLst>
              <a:ext uri="{FF2B5EF4-FFF2-40B4-BE49-F238E27FC236}">
                <a16:creationId xmlns:a16="http://schemas.microsoft.com/office/drawing/2014/main" id="{BFD01DB7-8876-7510-B6B3-FC43D3D1EBCC}"/>
              </a:ext>
            </a:extLst>
          </p:cNvPr>
          <p:cNvSpPr>
            <a:spLocks noGrp="1" noChangeArrowheads="1"/>
          </p:cNvSpPr>
          <p:nvPr>
            <p:ph idx="1"/>
          </p:nvPr>
        </p:nvSpPr>
        <p:spPr>
          <a:xfrm>
            <a:off x="935038" y="1233488"/>
            <a:ext cx="7772400" cy="4895850"/>
          </a:xfrm>
        </p:spPr>
        <p:txBody>
          <a:bodyPr/>
          <a:lstStyle/>
          <a:p>
            <a:r>
              <a:rPr lang="en" altLang="zh-CN" dirty="0"/>
              <a:t>int truncate(const char *path, </a:t>
            </a:r>
            <a:r>
              <a:rPr lang="en" altLang="zh-CN" dirty="0" err="1"/>
              <a:t>off_t</a:t>
            </a:r>
            <a:r>
              <a:rPr lang="en" altLang="zh-CN" dirty="0"/>
              <a:t> length);</a:t>
            </a:r>
          </a:p>
          <a:p>
            <a:pPr lvl="1"/>
            <a:r>
              <a:rPr lang="en" altLang="zh-CN" dirty="0"/>
              <a:t>path</a:t>
            </a:r>
            <a:r>
              <a:rPr lang="zh-CN" altLang="en" dirty="0"/>
              <a:t>：</a:t>
            </a:r>
            <a:r>
              <a:rPr lang="zh-CN" altLang="en-US" dirty="0"/>
              <a:t>指定要截断的文件路径。</a:t>
            </a:r>
          </a:p>
          <a:p>
            <a:pPr lvl="1"/>
            <a:r>
              <a:rPr lang="en" altLang="zh-CN" dirty="0"/>
              <a:t>length</a:t>
            </a:r>
            <a:r>
              <a:rPr lang="zh-CN" altLang="en" dirty="0"/>
              <a:t>：</a:t>
            </a:r>
            <a:r>
              <a:rPr lang="zh-CN" altLang="en-US" dirty="0"/>
              <a:t>指定文件应该被截断的大小。</a:t>
            </a:r>
            <a:endParaRPr lang="en-US" altLang="zh-CN" dirty="0"/>
          </a:p>
          <a:p>
            <a:r>
              <a:rPr lang="zh-CN" altLang="en-US" dirty="0"/>
              <a:t>该功能不改变文件属性，只是将其长度设为</a:t>
            </a:r>
            <a:r>
              <a:rPr lang="en-US" altLang="zh-CN" dirty="0"/>
              <a:t>0</a:t>
            </a:r>
            <a:r>
              <a:rPr lang="zh-CN" altLang="en-US" dirty="0"/>
              <a:t>并释放其空间</a:t>
            </a:r>
          </a:p>
        </p:txBody>
      </p:sp>
      <p:sp>
        <p:nvSpPr>
          <p:cNvPr id="2" name="灯片编号占位符 1">
            <a:extLst>
              <a:ext uri="{FF2B5EF4-FFF2-40B4-BE49-F238E27FC236}">
                <a16:creationId xmlns:a16="http://schemas.microsoft.com/office/drawing/2014/main" id="{F1A770D8-F1D7-E4F6-3B70-B23B6D92E54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18</a:t>
            </a:fld>
            <a:endParaRPr lang="zh-CN" altLang="en-US" dirty="0"/>
          </a:p>
        </p:txBody>
      </p:sp>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2FDC84FD-BF93-0305-09D8-3E14FBD601F3}"/>
              </a:ext>
            </a:extLst>
          </p:cNvPr>
          <p:cNvSpPr>
            <a:spLocks noGrp="1" noChangeArrowheads="1"/>
          </p:cNvSpPr>
          <p:nvPr>
            <p:ph type="title"/>
          </p:nvPr>
        </p:nvSpPr>
        <p:spPr>
          <a:xfrm>
            <a:off x="1042988" y="225431"/>
            <a:ext cx="7850187" cy="746125"/>
          </a:xfrm>
        </p:spPr>
        <p:txBody>
          <a:bodyPr/>
          <a:lstStyle/>
          <a:p>
            <a:r>
              <a:rPr lang="zh-CN" altLang="en-US" dirty="0"/>
              <a:t>文件类型</a:t>
            </a:r>
            <a:endParaRPr lang="en-US" altLang="zh-CN" dirty="0"/>
          </a:p>
        </p:txBody>
      </p:sp>
      <p:sp>
        <p:nvSpPr>
          <p:cNvPr id="294915" name="Rectangle 3">
            <a:extLst>
              <a:ext uri="{FF2B5EF4-FFF2-40B4-BE49-F238E27FC236}">
                <a16:creationId xmlns:a16="http://schemas.microsoft.com/office/drawing/2014/main" id="{C7FBBB02-EB55-9401-EAD5-E36DF8BC6035}"/>
              </a:ext>
            </a:extLst>
          </p:cNvPr>
          <p:cNvSpPr>
            <a:spLocks noGrp="1" noChangeArrowheads="1"/>
          </p:cNvSpPr>
          <p:nvPr>
            <p:ph idx="1"/>
          </p:nvPr>
        </p:nvSpPr>
        <p:spPr>
          <a:xfrm>
            <a:off x="935038" y="1233488"/>
            <a:ext cx="7772400" cy="4895850"/>
          </a:xfrm>
        </p:spPr>
        <p:txBody>
          <a:bodyPr>
            <a:normAutofit/>
          </a:bodyPr>
          <a:lstStyle/>
          <a:p>
            <a:r>
              <a:rPr lang="zh-CN" altLang="en-US" dirty="0"/>
              <a:t>如果</a:t>
            </a:r>
            <a:r>
              <a:rPr lang="en-US" altLang="zh-CN" dirty="0"/>
              <a:t>OS</a:t>
            </a:r>
            <a:r>
              <a:rPr lang="zh-CN" altLang="en-US" dirty="0"/>
              <a:t>识别文件类型，那么它就能按合理方式对文件进行操作。</a:t>
            </a:r>
            <a:r>
              <a:rPr lang="en-US" altLang="zh-CN" dirty="0"/>
              <a:t> </a:t>
            </a:r>
          </a:p>
          <a:p>
            <a:r>
              <a:rPr lang="zh-CN" altLang="en-US" dirty="0"/>
              <a:t>实现文件类型的常用技术是在文件名称内包含类型：如名称</a:t>
            </a:r>
            <a:r>
              <a:rPr lang="en-US" altLang="zh-CN" dirty="0"/>
              <a:t>.</a:t>
            </a:r>
            <a:r>
              <a:rPr lang="zh-CN" altLang="en-US" dirty="0"/>
              <a:t>扩展名</a:t>
            </a:r>
            <a:endParaRPr lang="en-US" altLang="zh-CN" dirty="0"/>
          </a:p>
          <a:p>
            <a:r>
              <a:rPr lang="en-US" altLang="zh-CN" dirty="0"/>
              <a:t>Macintosh OS: </a:t>
            </a:r>
            <a:r>
              <a:rPr lang="zh-CN" altLang="en-US" dirty="0"/>
              <a:t>每个文件有其类型，也有创建者属性，其中包含创建它的程序名称</a:t>
            </a:r>
            <a:endParaRPr lang="en-US" altLang="zh-CN" dirty="0"/>
          </a:p>
          <a:p>
            <a:r>
              <a:rPr lang="en-US" altLang="zh-CN" dirty="0"/>
              <a:t>UNIX: </a:t>
            </a:r>
            <a:r>
              <a:rPr lang="zh-CN" altLang="en-US" dirty="0"/>
              <a:t>采用魔数（保存在文件开始部分）表明文件类型。但不是所有的文件都有魔数。</a:t>
            </a:r>
          </a:p>
          <a:p>
            <a:endParaRPr lang="zh-CN" altLang="en-US" dirty="0"/>
          </a:p>
          <a:p>
            <a:endParaRPr lang="zh-CN" altLang="en-US" dirty="0"/>
          </a:p>
        </p:txBody>
      </p:sp>
      <p:sp>
        <p:nvSpPr>
          <p:cNvPr id="2" name="灯片编号占位符 1">
            <a:extLst>
              <a:ext uri="{FF2B5EF4-FFF2-40B4-BE49-F238E27FC236}">
                <a16:creationId xmlns:a16="http://schemas.microsoft.com/office/drawing/2014/main" id="{44A37FF5-3BFC-0EB7-01A2-DEDC5C273F1C}"/>
              </a:ext>
            </a:extLst>
          </p:cNvPr>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4915">
                                            <p:txEl>
                                              <p:pRg st="0" end="0"/>
                                            </p:txEl>
                                          </p:spTgt>
                                        </p:tgtEl>
                                        <p:attrNameLst>
                                          <p:attrName>style.visibility</p:attrName>
                                        </p:attrNameLst>
                                      </p:cBhvr>
                                      <p:to>
                                        <p:strVal val="visible"/>
                                      </p:to>
                                    </p:set>
                                    <p:animEffect transition="in" filter="checkerboard(across)">
                                      <p:cBhvr>
                                        <p:cTn id="7" dur="500"/>
                                        <p:tgtEl>
                                          <p:spTgt spid="294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94915">
                                            <p:txEl>
                                              <p:pRg st="1" end="1"/>
                                            </p:txEl>
                                          </p:spTgt>
                                        </p:tgtEl>
                                        <p:attrNameLst>
                                          <p:attrName>style.visibility</p:attrName>
                                        </p:attrNameLst>
                                      </p:cBhvr>
                                      <p:to>
                                        <p:strVal val="visible"/>
                                      </p:to>
                                    </p:set>
                                    <p:animEffect transition="in" filter="checkerboard(across)">
                                      <p:cBhvr>
                                        <p:cTn id="12" dur="500"/>
                                        <p:tgtEl>
                                          <p:spTgt spid="294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94915">
                                            <p:txEl>
                                              <p:pRg st="2" end="2"/>
                                            </p:txEl>
                                          </p:spTgt>
                                        </p:tgtEl>
                                        <p:attrNameLst>
                                          <p:attrName>style.visibility</p:attrName>
                                        </p:attrNameLst>
                                      </p:cBhvr>
                                      <p:to>
                                        <p:strVal val="visible"/>
                                      </p:to>
                                    </p:set>
                                    <p:animEffect transition="in" filter="checkerboard(across)">
                                      <p:cBhvr>
                                        <p:cTn id="17" dur="500"/>
                                        <p:tgtEl>
                                          <p:spTgt spid="2949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94915">
                                            <p:txEl>
                                              <p:pRg st="3" end="3"/>
                                            </p:txEl>
                                          </p:spTgt>
                                        </p:tgtEl>
                                        <p:attrNameLst>
                                          <p:attrName>style.visibility</p:attrName>
                                        </p:attrNameLst>
                                      </p:cBhvr>
                                      <p:to>
                                        <p:strVal val="visible"/>
                                      </p:to>
                                    </p:set>
                                    <p:animEffect transition="in" filter="checkerboard(across)">
                                      <p:cBhvr>
                                        <p:cTn id="22" dur="500"/>
                                        <p:tgtEl>
                                          <p:spTgt spid="294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6109600B-231E-E56D-FA4A-65F05CEE5DDF}"/>
              </a:ext>
            </a:extLst>
          </p:cNvPr>
          <p:cNvSpPr>
            <a:spLocks noGrp="1" noChangeArrowheads="1"/>
          </p:cNvSpPr>
          <p:nvPr>
            <p:ph type="title"/>
          </p:nvPr>
        </p:nvSpPr>
        <p:spPr>
          <a:xfrm>
            <a:off x="1042988" y="225431"/>
            <a:ext cx="7850187" cy="746125"/>
          </a:xfrm>
        </p:spPr>
        <p:txBody>
          <a:bodyPr/>
          <a:lstStyle/>
          <a:p>
            <a:r>
              <a:rPr lang="zh-CN" altLang="en-US" dirty="0"/>
              <a:t>常见文件类型</a:t>
            </a:r>
            <a:endParaRPr lang="en-US" altLang="zh-CN" dirty="0"/>
          </a:p>
        </p:txBody>
      </p:sp>
      <p:sp>
        <p:nvSpPr>
          <p:cNvPr id="3" name="内容占位符 2">
            <a:extLst>
              <a:ext uri="{FF2B5EF4-FFF2-40B4-BE49-F238E27FC236}">
                <a16:creationId xmlns:a16="http://schemas.microsoft.com/office/drawing/2014/main" id="{5CFA4B86-D0B0-9106-AA4E-D1B04B7315DE}"/>
              </a:ext>
            </a:extLst>
          </p:cNvPr>
          <p:cNvSpPr>
            <a:spLocks noGrp="1"/>
          </p:cNvSpPr>
          <p:nvPr>
            <p:ph idx="1"/>
          </p:nvPr>
        </p:nvSpPr>
        <p:spPr/>
        <p:txBody>
          <a:bodyPr/>
          <a:lstStyle/>
          <a:p>
            <a:endParaRPr lang="zh-CN" altLang="en-US"/>
          </a:p>
        </p:txBody>
      </p:sp>
      <p:pic>
        <p:nvPicPr>
          <p:cNvPr id="4" name="Picture 4">
            <a:extLst>
              <a:ext uri="{FF2B5EF4-FFF2-40B4-BE49-F238E27FC236}">
                <a16:creationId xmlns:a16="http://schemas.microsoft.com/office/drawing/2014/main" id="{E98B2CC2-F094-F9CF-F936-3DC936B1E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715" t="1186" r="15715" b="1186"/>
          <a:stretch>
            <a:fillRect/>
          </a:stretch>
        </p:blipFill>
        <p:spPr bwMode="auto">
          <a:xfrm>
            <a:off x="1747163" y="1096262"/>
            <a:ext cx="5242359" cy="5599269"/>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FBEA8C65-80EA-AE20-8670-503C20499F54}"/>
              </a:ext>
            </a:extLst>
          </p:cNvPr>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C5E9169-C601-0DF7-691F-AD37978669E6}"/>
              </a:ext>
            </a:extLst>
          </p:cNvPr>
          <p:cNvSpPr>
            <a:spLocks noGrp="1" noChangeArrowheads="1"/>
          </p:cNvSpPr>
          <p:nvPr>
            <p:ph type="title"/>
          </p:nvPr>
        </p:nvSpPr>
        <p:spPr>
          <a:xfrm>
            <a:off x="1042988" y="225431"/>
            <a:ext cx="7850187" cy="746125"/>
          </a:xfrm>
        </p:spPr>
        <p:txBody>
          <a:bodyPr/>
          <a:lstStyle/>
          <a:p>
            <a:r>
              <a:rPr lang="zh-CN" altLang="en-US"/>
              <a:t>文件分类</a:t>
            </a:r>
          </a:p>
        </p:txBody>
      </p:sp>
      <p:sp>
        <p:nvSpPr>
          <p:cNvPr id="27650" name="Rectangle 3">
            <a:extLst>
              <a:ext uri="{FF2B5EF4-FFF2-40B4-BE49-F238E27FC236}">
                <a16:creationId xmlns:a16="http://schemas.microsoft.com/office/drawing/2014/main" id="{45FC8D75-56D6-9EB2-A2B4-171A926FE60E}"/>
              </a:ext>
            </a:extLst>
          </p:cNvPr>
          <p:cNvSpPr>
            <a:spLocks noGrp="1" noChangeArrowheads="1"/>
          </p:cNvSpPr>
          <p:nvPr>
            <p:ph idx="1"/>
          </p:nvPr>
        </p:nvSpPr>
        <p:spPr>
          <a:xfrm>
            <a:off x="935038" y="1233488"/>
            <a:ext cx="7772400" cy="4895850"/>
          </a:xfrm>
        </p:spPr>
        <p:txBody>
          <a:bodyPr/>
          <a:lstStyle/>
          <a:p>
            <a:r>
              <a:rPr lang="zh-CN" altLang="en-US" dirty="0"/>
              <a:t>为了便于管理和控制文件，将文件分为若干类型。不同系统对文件的管理方式不同，因而对文件的分类方法也有很大差异。</a:t>
            </a:r>
          </a:p>
          <a:p>
            <a:r>
              <a:rPr lang="zh-CN" altLang="en-US" dirty="0"/>
              <a:t>常见的文件分类方法有：</a:t>
            </a:r>
            <a:endParaRPr lang="en-US" altLang="zh-CN" dirty="0"/>
          </a:p>
          <a:p>
            <a:pPr lvl="1"/>
            <a:r>
              <a:rPr lang="zh-CN" altLang="en-US" dirty="0"/>
              <a:t>按用途分类</a:t>
            </a:r>
            <a:endParaRPr lang="en-US" altLang="zh-CN" dirty="0"/>
          </a:p>
          <a:p>
            <a:pPr lvl="1"/>
            <a:r>
              <a:rPr lang="zh-CN" altLang="en-US" dirty="0"/>
              <a:t>按保护级别分类</a:t>
            </a:r>
            <a:endParaRPr lang="en-US" altLang="zh-CN" dirty="0"/>
          </a:p>
          <a:p>
            <a:pPr lvl="1"/>
            <a:r>
              <a:rPr lang="zh-CN" altLang="en-US" dirty="0"/>
              <a:t>按信息流分类</a:t>
            </a:r>
            <a:endParaRPr lang="en-US" altLang="zh-CN" dirty="0"/>
          </a:p>
          <a:p>
            <a:pPr lvl="1"/>
            <a:r>
              <a:rPr lang="zh-CN" altLang="en-US" dirty="0"/>
              <a:t>按数据形式分类</a:t>
            </a:r>
          </a:p>
        </p:txBody>
      </p:sp>
      <p:sp>
        <p:nvSpPr>
          <p:cNvPr id="2" name="灯片编号占位符 1">
            <a:extLst>
              <a:ext uri="{FF2B5EF4-FFF2-40B4-BE49-F238E27FC236}">
                <a16:creationId xmlns:a16="http://schemas.microsoft.com/office/drawing/2014/main" id="{CDAAA00C-0A7D-D39D-8C1B-7737E8702014}"/>
              </a:ext>
            </a:extLst>
          </p:cNvPr>
          <p:cNvSpPr>
            <a:spLocks noGrp="1"/>
          </p:cNvSpPr>
          <p:nvPr>
            <p:ph type="sldNum" sz="quarter" idx="12"/>
          </p:nvPr>
        </p:nvSpPr>
        <p:spPr/>
        <p:txBody>
          <a:bodyPr/>
          <a:lstStyle/>
          <a:p>
            <a:fld id="{4093CC90-4002-504C-BD88-C9A1D374048E}" type="slidenum">
              <a:rPr lang="zh-CN" altLang="en-US" smtClean="0"/>
              <a:pPr/>
              <a:t>21</a:t>
            </a:fld>
            <a:endParaRPr lang="zh-CN" altLang="en-US" dirty="0"/>
          </a:p>
        </p:txBody>
      </p:sp>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7E1421C-C17C-E825-B0AF-62A6E2DFA3C3}"/>
              </a:ext>
            </a:extLst>
          </p:cNvPr>
          <p:cNvSpPr>
            <a:spLocks noGrp="1" noChangeArrowheads="1"/>
          </p:cNvSpPr>
          <p:nvPr>
            <p:ph type="title"/>
          </p:nvPr>
        </p:nvSpPr>
        <p:spPr/>
        <p:txBody>
          <a:bodyPr/>
          <a:lstStyle/>
          <a:p>
            <a:pPr eaLnBrk="1" hangingPunct="1"/>
            <a:r>
              <a:rPr lang="zh-CN" altLang="en-US"/>
              <a:t>按用途分类</a:t>
            </a:r>
          </a:p>
        </p:txBody>
      </p:sp>
      <p:sp>
        <p:nvSpPr>
          <p:cNvPr id="28674" name="Rectangle 3">
            <a:extLst>
              <a:ext uri="{FF2B5EF4-FFF2-40B4-BE49-F238E27FC236}">
                <a16:creationId xmlns:a16="http://schemas.microsoft.com/office/drawing/2014/main" id="{5D838A2C-BDF6-C0FB-5123-B2F3E9E8B726}"/>
              </a:ext>
            </a:extLst>
          </p:cNvPr>
          <p:cNvSpPr>
            <a:spLocks noGrp="1" noChangeArrowheads="1"/>
          </p:cNvSpPr>
          <p:nvPr>
            <p:ph idx="1"/>
          </p:nvPr>
        </p:nvSpPr>
        <p:spPr>
          <a:xfrm>
            <a:off x="684213" y="1196975"/>
            <a:ext cx="8270875" cy="4459288"/>
          </a:xfrm>
        </p:spPr>
        <p:txBody>
          <a:bodyPr/>
          <a:lstStyle/>
          <a:p>
            <a:pPr algn="just" eaLnBrk="1" hangingPunct="1"/>
            <a:r>
              <a:rPr lang="zh-CN" altLang="en-US">
                <a:solidFill>
                  <a:srgbClr val="000000"/>
                </a:solidFill>
              </a:rPr>
              <a:t>按用途可以将文件分为：</a:t>
            </a:r>
          </a:p>
          <a:p>
            <a:pPr lvl="1" algn="just" eaLnBrk="1" hangingPunct="1"/>
            <a:r>
              <a:rPr lang="zh-CN" altLang="en-US"/>
              <a:t>系统文件：系统软件构成的文件。</a:t>
            </a:r>
          </a:p>
          <a:p>
            <a:pPr lvl="1" algn="just" eaLnBrk="1" hangingPunct="1"/>
            <a:r>
              <a:rPr lang="zh-CN" altLang="en-US"/>
              <a:t>库文件：系统提供给用户使用的各种标准过程、函数和应用程序。</a:t>
            </a:r>
          </a:p>
          <a:p>
            <a:pPr lvl="1" algn="just" eaLnBrk="1" hangingPunct="1"/>
            <a:r>
              <a:rPr lang="zh-CN" altLang="en-US"/>
              <a:t>用户文件：用户委托文件系统保存的文件。</a:t>
            </a:r>
          </a:p>
        </p:txBody>
      </p:sp>
      <p:sp>
        <p:nvSpPr>
          <p:cNvPr id="2" name="灯片编号占位符 1">
            <a:extLst>
              <a:ext uri="{FF2B5EF4-FFF2-40B4-BE49-F238E27FC236}">
                <a16:creationId xmlns:a16="http://schemas.microsoft.com/office/drawing/2014/main" id="{7107E8CD-F9BA-9071-A6DE-86A8437319ED}"/>
              </a:ext>
            </a:extLst>
          </p:cNvPr>
          <p:cNvSpPr>
            <a:spLocks noGrp="1"/>
          </p:cNvSpPr>
          <p:nvPr>
            <p:ph type="sldNum" sz="quarter" idx="12"/>
          </p:nvPr>
        </p:nvSpPr>
        <p:spPr/>
        <p:txBody>
          <a:bodyPr/>
          <a:lstStyle/>
          <a:p>
            <a:fld id="{4093CC90-4002-504C-BD88-C9A1D374048E}" type="slidenum">
              <a:rPr lang="zh-CN" altLang="en-US" smtClean="0"/>
              <a:pPr/>
              <a:t>22</a:t>
            </a:fld>
            <a:endParaRPr lang="zh-CN" altLang="en-US" dirty="0"/>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6DFBCD6F-D495-1F80-A8E3-5CACC637293C}"/>
              </a:ext>
            </a:extLst>
          </p:cNvPr>
          <p:cNvSpPr>
            <a:spLocks noGrp="1" noChangeArrowheads="1"/>
          </p:cNvSpPr>
          <p:nvPr>
            <p:ph type="title"/>
          </p:nvPr>
        </p:nvSpPr>
        <p:spPr/>
        <p:txBody>
          <a:bodyPr/>
          <a:lstStyle/>
          <a:p>
            <a:pPr eaLnBrk="1" hangingPunct="1"/>
            <a:r>
              <a:rPr lang="zh-CN" altLang="en-US"/>
              <a:t>按保护级别分类</a:t>
            </a:r>
          </a:p>
        </p:txBody>
      </p:sp>
      <p:sp>
        <p:nvSpPr>
          <p:cNvPr id="29698" name="Rectangle 3">
            <a:extLst>
              <a:ext uri="{FF2B5EF4-FFF2-40B4-BE49-F238E27FC236}">
                <a16:creationId xmlns:a16="http://schemas.microsoft.com/office/drawing/2014/main" id="{FC84129D-A1A2-B769-2507-4664EA6CB57B}"/>
              </a:ext>
            </a:extLst>
          </p:cNvPr>
          <p:cNvSpPr>
            <a:spLocks noGrp="1" noChangeArrowheads="1"/>
          </p:cNvSpPr>
          <p:nvPr>
            <p:ph idx="1"/>
          </p:nvPr>
        </p:nvSpPr>
        <p:spPr>
          <a:xfrm>
            <a:off x="755650" y="1196975"/>
            <a:ext cx="8199438" cy="4383088"/>
          </a:xfrm>
        </p:spPr>
        <p:txBody>
          <a:bodyPr/>
          <a:lstStyle/>
          <a:p>
            <a:pPr algn="just" eaLnBrk="1" hangingPunct="1"/>
            <a:r>
              <a:rPr lang="zh-CN" altLang="en-US">
                <a:solidFill>
                  <a:srgbClr val="000000"/>
                </a:solidFill>
              </a:rPr>
              <a:t>按保护级别可将文件分为：</a:t>
            </a:r>
            <a:endParaRPr lang="zh-CN" altLang="en-US"/>
          </a:p>
          <a:p>
            <a:pPr lvl="1" algn="just" eaLnBrk="1" hangingPunct="1"/>
            <a:r>
              <a:rPr lang="zh-CN" altLang="en-US"/>
              <a:t>只读文件：允许所有者或授权用户对其进行读，但不允许写。</a:t>
            </a:r>
          </a:p>
          <a:p>
            <a:pPr lvl="1" algn="just" eaLnBrk="1" hangingPunct="1"/>
            <a:r>
              <a:rPr lang="zh-CN" altLang="en-US"/>
              <a:t>读写文件：允许所有者或授权用户对其进行读写，但禁止未核准用户读写。</a:t>
            </a:r>
          </a:p>
          <a:p>
            <a:pPr lvl="1" algn="just" eaLnBrk="1" hangingPunct="1"/>
            <a:r>
              <a:rPr lang="zh-CN" altLang="en-US"/>
              <a:t>执行文件：允许核准用户调用执行，但不允许对其进行读写。</a:t>
            </a:r>
          </a:p>
          <a:p>
            <a:pPr lvl="1" algn="just" eaLnBrk="1" hangingPunct="1"/>
            <a:r>
              <a:rPr lang="zh-CN" altLang="en-US"/>
              <a:t>不保护文件：不加任何访问限制的文件。 </a:t>
            </a:r>
          </a:p>
        </p:txBody>
      </p:sp>
      <p:sp>
        <p:nvSpPr>
          <p:cNvPr id="2" name="灯片编号占位符 1">
            <a:extLst>
              <a:ext uri="{FF2B5EF4-FFF2-40B4-BE49-F238E27FC236}">
                <a16:creationId xmlns:a16="http://schemas.microsoft.com/office/drawing/2014/main" id="{3E86B09B-D1BC-B695-C7E1-EA8CCEFD258C}"/>
              </a:ext>
            </a:extLst>
          </p:cNvPr>
          <p:cNvSpPr>
            <a:spLocks noGrp="1"/>
          </p:cNvSpPr>
          <p:nvPr>
            <p:ph type="sldNum" sz="quarter" idx="12"/>
          </p:nvPr>
        </p:nvSpPr>
        <p:spPr/>
        <p:txBody>
          <a:bodyPr/>
          <a:lstStyle/>
          <a:p>
            <a:fld id="{4093CC90-4002-504C-BD88-C9A1D374048E}" type="slidenum">
              <a:rPr lang="zh-CN" altLang="en-US" smtClean="0"/>
              <a:pPr/>
              <a:t>23</a:t>
            </a:fld>
            <a:endParaRPr lang="zh-CN" altLang="en-US" dirty="0"/>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7A85671-BE57-7211-371A-0D75450A40B9}"/>
              </a:ext>
            </a:extLst>
          </p:cNvPr>
          <p:cNvSpPr>
            <a:spLocks noGrp="1" noChangeArrowheads="1"/>
          </p:cNvSpPr>
          <p:nvPr>
            <p:ph type="title"/>
          </p:nvPr>
        </p:nvSpPr>
        <p:spPr/>
        <p:txBody>
          <a:bodyPr/>
          <a:lstStyle/>
          <a:p>
            <a:pPr eaLnBrk="1" hangingPunct="1"/>
            <a:r>
              <a:rPr lang="zh-CN" altLang="en-US"/>
              <a:t>按信息流向分类</a:t>
            </a:r>
          </a:p>
        </p:txBody>
      </p:sp>
      <p:sp>
        <p:nvSpPr>
          <p:cNvPr id="30722" name="Rectangle 3">
            <a:extLst>
              <a:ext uri="{FF2B5EF4-FFF2-40B4-BE49-F238E27FC236}">
                <a16:creationId xmlns:a16="http://schemas.microsoft.com/office/drawing/2014/main" id="{922D0B94-1495-165C-FED4-AF19D7817BBA}"/>
              </a:ext>
            </a:extLst>
          </p:cNvPr>
          <p:cNvSpPr>
            <a:spLocks noGrp="1" noChangeArrowheads="1"/>
          </p:cNvSpPr>
          <p:nvPr>
            <p:ph idx="1"/>
          </p:nvPr>
        </p:nvSpPr>
        <p:spPr>
          <a:xfrm>
            <a:off x="827088" y="1125538"/>
            <a:ext cx="8077200" cy="4895850"/>
          </a:xfrm>
        </p:spPr>
        <p:txBody>
          <a:bodyPr/>
          <a:lstStyle/>
          <a:p>
            <a:pPr algn="just" eaLnBrk="1" hangingPunct="1"/>
            <a:r>
              <a:rPr lang="zh-CN" altLang="en-US">
                <a:solidFill>
                  <a:srgbClr val="000000"/>
                </a:solidFill>
              </a:rPr>
              <a:t>按信息流向可以将文件分为：</a:t>
            </a:r>
            <a:endParaRPr lang="zh-CN" altLang="en-US"/>
          </a:p>
          <a:p>
            <a:pPr lvl="1" algn="just" eaLnBrk="1" hangingPunct="1"/>
            <a:r>
              <a:rPr lang="zh-CN" altLang="en-US"/>
              <a:t>输入文件：来自输入设备的文件，如来自键盘的输入文件。</a:t>
            </a:r>
          </a:p>
          <a:p>
            <a:pPr lvl="1" algn="just" eaLnBrk="1" hangingPunct="1"/>
            <a:r>
              <a:rPr lang="zh-CN" altLang="en-US"/>
              <a:t>输出文件：写向输出设备的文件，如写向打印机的输出文件。</a:t>
            </a:r>
          </a:p>
          <a:p>
            <a:pPr lvl="1" algn="just" eaLnBrk="1" hangingPunct="1"/>
            <a:r>
              <a:rPr lang="zh-CN" altLang="en-US"/>
              <a:t>输入输出文件：如磁盘上的文件，既可以读又可以写。</a:t>
            </a:r>
          </a:p>
        </p:txBody>
      </p:sp>
      <p:sp>
        <p:nvSpPr>
          <p:cNvPr id="2" name="灯片编号占位符 1">
            <a:extLst>
              <a:ext uri="{FF2B5EF4-FFF2-40B4-BE49-F238E27FC236}">
                <a16:creationId xmlns:a16="http://schemas.microsoft.com/office/drawing/2014/main" id="{12E4EE61-F204-A9E0-68BB-FC2C5F5517EB}"/>
              </a:ext>
            </a:extLst>
          </p:cNvPr>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6BFE5D36-91FD-A04D-9F2B-01AFCF7B8016}"/>
              </a:ext>
            </a:extLst>
          </p:cNvPr>
          <p:cNvSpPr>
            <a:spLocks noGrp="1" noChangeArrowheads="1"/>
          </p:cNvSpPr>
          <p:nvPr>
            <p:ph type="title"/>
          </p:nvPr>
        </p:nvSpPr>
        <p:spPr/>
        <p:txBody>
          <a:bodyPr/>
          <a:lstStyle/>
          <a:p>
            <a:pPr eaLnBrk="1" hangingPunct="1"/>
            <a:r>
              <a:rPr lang="zh-CN" altLang="en-US"/>
              <a:t>按数据形式分类</a:t>
            </a:r>
          </a:p>
        </p:txBody>
      </p:sp>
      <p:sp>
        <p:nvSpPr>
          <p:cNvPr id="31746" name="Rectangle 3">
            <a:extLst>
              <a:ext uri="{FF2B5EF4-FFF2-40B4-BE49-F238E27FC236}">
                <a16:creationId xmlns:a16="http://schemas.microsoft.com/office/drawing/2014/main" id="{8C81D3C4-7029-44F9-3368-B91E4105CE47}"/>
              </a:ext>
            </a:extLst>
          </p:cNvPr>
          <p:cNvSpPr>
            <a:spLocks noGrp="1" noChangeArrowheads="1"/>
          </p:cNvSpPr>
          <p:nvPr>
            <p:ph idx="1"/>
          </p:nvPr>
        </p:nvSpPr>
        <p:spPr>
          <a:xfrm>
            <a:off x="762000" y="1268413"/>
            <a:ext cx="8193088" cy="4114800"/>
          </a:xfrm>
        </p:spPr>
        <p:txBody>
          <a:bodyPr/>
          <a:lstStyle/>
          <a:p>
            <a:pPr algn="just" eaLnBrk="1" hangingPunct="1"/>
            <a:r>
              <a:rPr lang="zh-CN" altLang="en-US"/>
              <a:t>按数据形式可以将文件分为：</a:t>
            </a:r>
          </a:p>
          <a:p>
            <a:pPr lvl="1" algn="just" eaLnBrk="1" hangingPunct="1"/>
            <a:r>
              <a:rPr lang="zh-CN" altLang="en-US"/>
              <a:t>源文件：由源程序和数据构成的文件。</a:t>
            </a:r>
          </a:p>
          <a:p>
            <a:pPr lvl="1" algn="just" eaLnBrk="1" hangingPunct="1"/>
            <a:r>
              <a:rPr lang="zh-CN" altLang="en-US"/>
              <a:t>目标文件：源程序经过编译程序编译，但尚未链接成可执行代码的目标代码文件。</a:t>
            </a:r>
          </a:p>
          <a:p>
            <a:pPr lvl="1" algn="just" eaLnBrk="1" hangingPunct="1"/>
            <a:r>
              <a:rPr lang="zh-CN" altLang="en-US"/>
              <a:t>可执行文件：由链接程序链接后形成的可以运行的文件。</a:t>
            </a:r>
          </a:p>
        </p:txBody>
      </p:sp>
      <p:sp>
        <p:nvSpPr>
          <p:cNvPr id="2" name="灯片编号占位符 1">
            <a:extLst>
              <a:ext uri="{FF2B5EF4-FFF2-40B4-BE49-F238E27FC236}">
                <a16:creationId xmlns:a16="http://schemas.microsoft.com/office/drawing/2014/main" id="{7D7E7E2E-2335-CD67-B3AC-15DE52441A2E}"/>
              </a:ext>
            </a:extLst>
          </p:cNvPr>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3E63FDE2-0380-17E3-0D4A-31DA54AC4089}"/>
              </a:ext>
            </a:extLst>
          </p:cNvPr>
          <p:cNvSpPr>
            <a:spLocks noGrp="1" noChangeArrowheads="1"/>
          </p:cNvSpPr>
          <p:nvPr>
            <p:ph type="title"/>
          </p:nvPr>
        </p:nvSpPr>
        <p:spPr>
          <a:xfrm>
            <a:off x="1042988" y="225431"/>
            <a:ext cx="7850187" cy="746125"/>
          </a:xfrm>
        </p:spPr>
        <p:txBody>
          <a:bodyPr/>
          <a:lstStyle/>
          <a:p>
            <a:r>
              <a:rPr lang="zh-CN" altLang="en-US" dirty="0"/>
              <a:t>文件结构</a:t>
            </a:r>
            <a:endParaRPr lang="en-US" altLang="zh-CN" dirty="0"/>
          </a:p>
        </p:txBody>
      </p:sp>
      <p:sp>
        <p:nvSpPr>
          <p:cNvPr id="303107" name="Rectangle 3">
            <a:extLst>
              <a:ext uri="{FF2B5EF4-FFF2-40B4-BE49-F238E27FC236}">
                <a16:creationId xmlns:a16="http://schemas.microsoft.com/office/drawing/2014/main" id="{14975696-78C6-258F-387C-8D8453E9B507}"/>
              </a:ext>
            </a:extLst>
          </p:cNvPr>
          <p:cNvSpPr>
            <a:spLocks noGrp="1" noChangeArrowheads="1"/>
          </p:cNvSpPr>
          <p:nvPr>
            <p:ph idx="1"/>
          </p:nvPr>
        </p:nvSpPr>
        <p:spPr>
          <a:xfrm>
            <a:off x="935038" y="1233488"/>
            <a:ext cx="7772400" cy="4895850"/>
          </a:xfrm>
        </p:spPr>
        <p:txBody>
          <a:bodyPr/>
          <a:lstStyle/>
          <a:p>
            <a:r>
              <a:rPr lang="zh-CN" altLang="en-US" dirty="0"/>
              <a:t>每个应用程序必须有自己的代码对输入文件进行合适的解释。</a:t>
            </a:r>
          </a:p>
          <a:p>
            <a:r>
              <a:rPr lang="zh-CN" altLang="en-US" dirty="0"/>
              <a:t>但所有的</a:t>
            </a:r>
            <a:r>
              <a:rPr lang="en-US" altLang="zh-CN" dirty="0"/>
              <a:t>OS</a:t>
            </a:r>
            <a:r>
              <a:rPr lang="zh-CN" altLang="en-US" dirty="0"/>
              <a:t>必须至少支持一种结构，即可执行文件结构，以便能装入和运行程序。</a:t>
            </a:r>
          </a:p>
        </p:txBody>
      </p:sp>
      <p:sp>
        <p:nvSpPr>
          <p:cNvPr id="2" name="灯片编号占位符 1">
            <a:extLst>
              <a:ext uri="{FF2B5EF4-FFF2-40B4-BE49-F238E27FC236}">
                <a16:creationId xmlns:a16="http://schemas.microsoft.com/office/drawing/2014/main" id="{24FF65BC-72D2-4B8A-85BE-4D7E78832121}"/>
              </a:ext>
            </a:extLst>
          </p:cNvPr>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Effect transition="in" filter="checkerboard(across)">
                                      <p:cBhvr>
                                        <p:cTn id="7" dur="500"/>
                                        <p:tgtEl>
                                          <p:spTgt spid="303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3107">
                                            <p:txEl>
                                              <p:pRg st="1" end="1"/>
                                            </p:txEl>
                                          </p:spTgt>
                                        </p:tgtEl>
                                        <p:attrNameLst>
                                          <p:attrName>style.visibility</p:attrName>
                                        </p:attrNameLst>
                                      </p:cBhvr>
                                      <p:to>
                                        <p:strVal val="visible"/>
                                      </p:to>
                                    </p:set>
                                    <p:animEffect transition="in" filter="checkerboard(across)">
                                      <p:cBhvr>
                                        <p:cTn id="12" dur="500"/>
                                        <p:tgtEl>
                                          <p:spTgt spid="303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18ADBE32-FE7B-A9FB-2693-9E5D3C38B8B2}"/>
              </a:ext>
            </a:extLst>
          </p:cNvPr>
          <p:cNvSpPr>
            <a:spLocks noGrp="1" noChangeArrowheads="1"/>
          </p:cNvSpPr>
          <p:nvPr>
            <p:ph type="title"/>
          </p:nvPr>
        </p:nvSpPr>
        <p:spPr/>
        <p:txBody>
          <a:bodyPr/>
          <a:lstStyle/>
          <a:p>
            <a:pPr eaLnBrk="1" hangingPunct="1"/>
            <a:r>
              <a:rPr lang="zh-CN" altLang="en-US" b="1"/>
              <a:t>文件结构</a:t>
            </a:r>
            <a:endParaRPr lang="zh-CN" altLang="en-US"/>
          </a:p>
        </p:txBody>
      </p:sp>
      <p:sp>
        <p:nvSpPr>
          <p:cNvPr id="112643" name="Rectangle 3">
            <a:extLst>
              <a:ext uri="{FF2B5EF4-FFF2-40B4-BE49-F238E27FC236}">
                <a16:creationId xmlns:a16="http://schemas.microsoft.com/office/drawing/2014/main" id="{6D683D8A-9A18-93F4-D38C-69CF73A3900E}"/>
              </a:ext>
            </a:extLst>
          </p:cNvPr>
          <p:cNvSpPr>
            <a:spLocks noGrp="1" noChangeArrowheads="1"/>
          </p:cNvSpPr>
          <p:nvPr>
            <p:ph idx="1"/>
          </p:nvPr>
        </p:nvSpPr>
        <p:spPr>
          <a:xfrm>
            <a:off x="684213" y="1268413"/>
            <a:ext cx="8270875" cy="4535487"/>
          </a:xfrm>
        </p:spPr>
        <p:txBody>
          <a:bodyPr/>
          <a:lstStyle/>
          <a:p>
            <a:pPr algn="just" eaLnBrk="1" hangingPunct="1"/>
            <a:r>
              <a:rPr lang="zh-CN" altLang="en-US"/>
              <a:t>文件结构指文件的组织形式，文件有两种形式的结构：</a:t>
            </a:r>
          </a:p>
          <a:p>
            <a:pPr lvl="1" algn="just" eaLnBrk="1" hangingPunct="1"/>
            <a:r>
              <a:rPr lang="zh-CN" altLang="en-US">
                <a:solidFill>
                  <a:srgbClr val="FF0000"/>
                </a:solidFill>
              </a:rPr>
              <a:t>逻辑结构</a:t>
            </a:r>
            <a:r>
              <a:rPr lang="zh-CN" altLang="en-US"/>
              <a:t>：又称文件组织，是从用户观点出发所看到的文件组织形式。</a:t>
            </a:r>
          </a:p>
          <a:p>
            <a:pPr lvl="1" algn="just" eaLnBrk="1" hangingPunct="1"/>
            <a:r>
              <a:rPr lang="zh-CN" altLang="en-US">
                <a:solidFill>
                  <a:srgbClr val="FF0000"/>
                </a:solidFill>
              </a:rPr>
              <a:t>物理结构</a:t>
            </a:r>
            <a:r>
              <a:rPr lang="zh-CN" altLang="en-US"/>
              <a:t>：又称文件的存储结构，是文件在外存上的存储组织形式。它与存储设备特性、外存分配方式有关。</a:t>
            </a:r>
          </a:p>
        </p:txBody>
      </p:sp>
      <p:sp>
        <p:nvSpPr>
          <p:cNvPr id="2" name="灯片编号占位符 1">
            <a:extLst>
              <a:ext uri="{FF2B5EF4-FFF2-40B4-BE49-F238E27FC236}">
                <a16:creationId xmlns:a16="http://schemas.microsoft.com/office/drawing/2014/main" id="{77DFF527-CB0D-8EDB-5C5E-C217BA7AE907}"/>
              </a:ext>
            </a:extLst>
          </p:cNvPr>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2643">
                                            <p:txEl>
                                              <p:pRg st="1" end="1"/>
                                            </p:txEl>
                                          </p:spTgt>
                                        </p:tgtEl>
                                        <p:attrNameLst>
                                          <p:attrName>style.visibility</p:attrName>
                                        </p:attrNameLst>
                                      </p:cBhvr>
                                      <p:to>
                                        <p:strVal val="visible"/>
                                      </p:to>
                                    </p:set>
                                    <p:animEffect transition="in" filter="checkerboard(across)">
                                      <p:cBhvr>
                                        <p:cTn id="7" dur="500"/>
                                        <p:tgtEl>
                                          <p:spTgt spid="1126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12643">
                                            <p:txEl>
                                              <p:pRg st="2" end="2"/>
                                            </p:txEl>
                                          </p:spTgt>
                                        </p:tgtEl>
                                        <p:attrNameLst>
                                          <p:attrName>style.visibility</p:attrName>
                                        </p:attrNameLst>
                                      </p:cBhvr>
                                      <p:to>
                                        <p:strVal val="visible"/>
                                      </p:to>
                                    </p:set>
                                    <p:animEffect transition="in" filter="checkerboard(across)">
                                      <p:cBhvr>
                                        <p:cTn id="12" dur="500"/>
                                        <p:tgtEl>
                                          <p:spTgt spid="1126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65F6BBCB-BF18-3AEE-4B10-5A7420C82AAF}"/>
              </a:ext>
            </a:extLst>
          </p:cNvPr>
          <p:cNvSpPr>
            <a:spLocks noGrp="1" noChangeArrowheads="1"/>
          </p:cNvSpPr>
          <p:nvPr>
            <p:ph type="title"/>
          </p:nvPr>
        </p:nvSpPr>
        <p:spPr>
          <a:xfrm>
            <a:off x="1042988" y="225431"/>
            <a:ext cx="7850187" cy="746125"/>
          </a:xfrm>
        </p:spPr>
        <p:txBody>
          <a:bodyPr/>
          <a:lstStyle/>
          <a:p>
            <a:r>
              <a:rPr lang="zh-CN" altLang="en-US"/>
              <a:t>文件的逻辑结构</a:t>
            </a:r>
          </a:p>
        </p:txBody>
      </p:sp>
      <p:sp>
        <p:nvSpPr>
          <p:cNvPr id="113667" name="Rectangle 3">
            <a:extLst>
              <a:ext uri="{FF2B5EF4-FFF2-40B4-BE49-F238E27FC236}">
                <a16:creationId xmlns:a16="http://schemas.microsoft.com/office/drawing/2014/main" id="{BBCD1301-9CC5-1262-EA1E-EDB4E44A678F}"/>
              </a:ext>
            </a:extLst>
          </p:cNvPr>
          <p:cNvSpPr>
            <a:spLocks noGrp="1" noChangeArrowheads="1"/>
          </p:cNvSpPr>
          <p:nvPr>
            <p:ph idx="1"/>
          </p:nvPr>
        </p:nvSpPr>
        <p:spPr>
          <a:xfrm>
            <a:off x="935038" y="1233488"/>
            <a:ext cx="7772400" cy="4895850"/>
          </a:xfrm>
        </p:spPr>
        <p:txBody>
          <a:bodyPr/>
          <a:lstStyle/>
          <a:p>
            <a:r>
              <a:rPr lang="zh-CN" altLang="en-US" dirty="0"/>
              <a:t>文件的逻辑结构可分为两类：</a:t>
            </a:r>
          </a:p>
          <a:p>
            <a:pPr lvl="1"/>
            <a:r>
              <a:rPr lang="zh-CN" altLang="en-US" b="1" dirty="0">
                <a:solidFill>
                  <a:srgbClr val="FF0000"/>
                </a:solidFill>
              </a:rPr>
              <a:t>记录式文件</a:t>
            </a:r>
            <a:r>
              <a:rPr lang="zh-CN" altLang="en-US" dirty="0"/>
              <a:t>：是一种有结构文件，由一组相关记录组成。又分为：</a:t>
            </a:r>
          </a:p>
          <a:p>
            <a:pPr lvl="2"/>
            <a:r>
              <a:rPr lang="zh-CN" altLang="en-US" dirty="0"/>
              <a:t>等长记录文件：又称定长记录文件，是指文件中所有记录的长度相等。</a:t>
            </a:r>
          </a:p>
          <a:p>
            <a:pPr lvl="2"/>
            <a:r>
              <a:rPr lang="zh-CN" altLang="en-US" dirty="0"/>
              <a:t>变长记录文件：是指文件中各记录长度不相等。</a:t>
            </a:r>
          </a:p>
          <a:p>
            <a:pPr lvl="1"/>
            <a:r>
              <a:rPr lang="zh-CN" altLang="en-US" b="1" dirty="0">
                <a:solidFill>
                  <a:srgbClr val="FF0000"/>
                </a:solidFill>
              </a:rPr>
              <a:t>流式文件</a:t>
            </a:r>
            <a:r>
              <a:rPr lang="zh-CN" altLang="en-US" dirty="0"/>
              <a:t>：是一种无结构文件，由字符序列构成。</a:t>
            </a:r>
          </a:p>
        </p:txBody>
      </p:sp>
      <p:sp>
        <p:nvSpPr>
          <p:cNvPr id="2" name="灯片编号占位符 1">
            <a:extLst>
              <a:ext uri="{FF2B5EF4-FFF2-40B4-BE49-F238E27FC236}">
                <a16:creationId xmlns:a16="http://schemas.microsoft.com/office/drawing/2014/main" id="{C64D21B7-E073-989E-3C67-50DE770B484E}"/>
              </a:ext>
            </a:extLst>
          </p:cNvPr>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5476467A-1AB0-356B-6C05-8C41C04B5820}"/>
              </a:ext>
            </a:extLst>
          </p:cNvPr>
          <p:cNvSpPr>
            <a:spLocks noGrp="1" noChangeArrowheads="1"/>
          </p:cNvSpPr>
          <p:nvPr>
            <p:ph type="title"/>
          </p:nvPr>
        </p:nvSpPr>
        <p:spPr>
          <a:xfrm>
            <a:off x="1042988" y="225431"/>
            <a:ext cx="7850187" cy="746125"/>
          </a:xfrm>
        </p:spPr>
        <p:txBody>
          <a:bodyPr/>
          <a:lstStyle/>
          <a:p>
            <a:r>
              <a:rPr lang="zh-CN" altLang="en-US"/>
              <a:t>记录式文件的组织方式</a:t>
            </a:r>
          </a:p>
        </p:txBody>
      </p:sp>
      <p:sp>
        <p:nvSpPr>
          <p:cNvPr id="257027" name="Rectangle 3">
            <a:extLst>
              <a:ext uri="{FF2B5EF4-FFF2-40B4-BE49-F238E27FC236}">
                <a16:creationId xmlns:a16="http://schemas.microsoft.com/office/drawing/2014/main" id="{B471AFA2-9FBC-6A05-D501-FE5005890D03}"/>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根据用户和系统管理的需要，可以采用多种方式来组织记录式文件：</a:t>
            </a:r>
          </a:p>
          <a:p>
            <a:pPr lvl="1"/>
            <a:r>
              <a:rPr lang="zh-CN" altLang="en-US"/>
              <a:t>顺序文件：一组记录按关键字的大小顺序排列所形成的文件。其中的记录通常是定长的。</a:t>
            </a:r>
          </a:p>
          <a:p>
            <a:pPr lvl="1"/>
            <a:r>
              <a:rPr lang="zh-CN" altLang="en-US"/>
              <a:t>索引文件：为文件设置一个索引表，文件中的每个记录在索引表中有一个表项，用于存放记录的存放地址及长度。</a:t>
            </a:r>
          </a:p>
          <a:p>
            <a:pPr lvl="1"/>
            <a:r>
              <a:rPr lang="zh-CN" altLang="en-US"/>
              <a:t>索引顺序文件：是前两者的结合。它将顺序文件中的所有记录分成若干组，为顺序文件建立一张索引表，为每组中的第一个记录建立一个索引项，其中含有该记录的键值和指向该记录的指针。</a:t>
            </a:r>
          </a:p>
        </p:txBody>
      </p:sp>
      <p:sp>
        <p:nvSpPr>
          <p:cNvPr id="2" name="灯片编号占位符 1">
            <a:extLst>
              <a:ext uri="{FF2B5EF4-FFF2-40B4-BE49-F238E27FC236}">
                <a16:creationId xmlns:a16="http://schemas.microsoft.com/office/drawing/2014/main" id="{A8213D8A-0101-F526-3C8C-A0B0F89B6F99}"/>
              </a:ext>
            </a:extLst>
          </p:cNvPr>
          <p:cNvSpPr>
            <a:spLocks noGrp="1"/>
          </p:cNvSpPr>
          <p:nvPr>
            <p:ph type="sldNum" sz="quarter" idx="12"/>
          </p:nvPr>
        </p:nvSpPr>
        <p:spPr/>
        <p:txBody>
          <a:bodyPr/>
          <a:lstStyle/>
          <a:p>
            <a:fld id="{4093CC90-4002-504C-BD88-C9A1D374048E}" type="slidenum">
              <a:rPr lang="zh-CN" altLang="en-US" smtClean="0"/>
              <a:pPr/>
              <a:t>29</a:t>
            </a:fld>
            <a:endParaRPr lang="zh-CN" altLang="en-US" dirty="0"/>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3CECB1EC-3D74-DD83-AD89-D6A7F591E94B}"/>
              </a:ext>
            </a:extLst>
          </p:cNvPr>
          <p:cNvSpPr>
            <a:spLocks noGrp="1" noChangeArrowheads="1"/>
          </p:cNvSpPr>
          <p:nvPr>
            <p:ph type="title"/>
          </p:nvPr>
        </p:nvSpPr>
        <p:spPr>
          <a:xfrm>
            <a:off x="1042988" y="225431"/>
            <a:ext cx="7850187" cy="746125"/>
          </a:xfrm>
        </p:spPr>
        <p:txBody>
          <a:bodyPr/>
          <a:lstStyle/>
          <a:p>
            <a:r>
              <a:rPr lang="zh-CN" altLang="en-US"/>
              <a:t>文件的物理结构</a:t>
            </a:r>
          </a:p>
        </p:txBody>
      </p:sp>
      <p:sp>
        <p:nvSpPr>
          <p:cNvPr id="217091" name="Rectangle 3">
            <a:extLst>
              <a:ext uri="{FF2B5EF4-FFF2-40B4-BE49-F238E27FC236}">
                <a16:creationId xmlns:a16="http://schemas.microsoft.com/office/drawing/2014/main" id="{F70C0BBF-7A98-28E6-6553-A13BE65F0415}"/>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文件的物理结构与存储介质的存储特性及外存分配方式有关。</a:t>
            </a:r>
          </a:p>
          <a:p>
            <a:r>
              <a:rPr lang="zh-CN" altLang="en-US"/>
              <a:t>文件存储设备通常划分为大小相等的物理块，物理块是分配及传输信息的基本单位。物理块的大小与设备有关，但与逻辑记录的大小无关，因此一个物理块中可以存放若干个逻辑记录，一个逻辑记录也可以存放在若干个物理块中。</a:t>
            </a:r>
          </a:p>
          <a:p>
            <a:r>
              <a:rPr lang="zh-CN" altLang="en-US"/>
              <a:t>为有效地利用外存设备和便于系统管理，一般也把文件信息划分为与物理存储块大小相等的逻辑块。 </a:t>
            </a:r>
          </a:p>
        </p:txBody>
      </p:sp>
      <p:sp>
        <p:nvSpPr>
          <p:cNvPr id="2" name="灯片编号占位符 1">
            <a:extLst>
              <a:ext uri="{FF2B5EF4-FFF2-40B4-BE49-F238E27FC236}">
                <a16:creationId xmlns:a16="http://schemas.microsoft.com/office/drawing/2014/main" id="{8498D9AD-0650-4641-85DE-F55AB601F910}"/>
              </a:ext>
            </a:extLst>
          </p:cNvPr>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Effect transition="in" filter="checkerboard(across)">
                                      <p:cBhvr>
                                        <p:cTn id="7" dur="500"/>
                                        <p:tgtEl>
                                          <p:spTgt spid="217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17091">
                                            <p:txEl>
                                              <p:pRg st="1" end="1"/>
                                            </p:txEl>
                                          </p:spTgt>
                                        </p:tgtEl>
                                        <p:attrNameLst>
                                          <p:attrName>style.visibility</p:attrName>
                                        </p:attrNameLst>
                                      </p:cBhvr>
                                      <p:to>
                                        <p:strVal val="visible"/>
                                      </p:to>
                                    </p:set>
                                    <p:animEffect transition="in" filter="checkerboard(across)">
                                      <p:cBhvr>
                                        <p:cTn id="12" dur="500"/>
                                        <p:tgtEl>
                                          <p:spTgt spid="217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17091">
                                            <p:txEl>
                                              <p:pRg st="2" end="2"/>
                                            </p:txEl>
                                          </p:spTgt>
                                        </p:tgtEl>
                                        <p:attrNameLst>
                                          <p:attrName>style.visibility</p:attrName>
                                        </p:attrNameLst>
                                      </p:cBhvr>
                                      <p:to>
                                        <p:strVal val="visible"/>
                                      </p:to>
                                    </p:set>
                                    <p:animEffect transition="in" filter="checkerboard(across)">
                                      <p:cBhvr>
                                        <p:cTn id="17" dur="500"/>
                                        <p:tgtEl>
                                          <p:spTgt spid="2170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C5119B5F-F509-7A88-8776-5F09AE1246B1}"/>
              </a:ext>
            </a:extLst>
          </p:cNvPr>
          <p:cNvSpPr>
            <a:spLocks noGrp="1" noChangeArrowheads="1"/>
          </p:cNvSpPr>
          <p:nvPr>
            <p:ph type="title"/>
          </p:nvPr>
        </p:nvSpPr>
        <p:spPr/>
        <p:txBody>
          <a:bodyPr/>
          <a:lstStyle/>
          <a:p>
            <a:pPr eaLnBrk="1" hangingPunct="1"/>
            <a:r>
              <a:rPr lang="zh-CN" altLang="en-US"/>
              <a:t>物理结构类型</a:t>
            </a:r>
          </a:p>
        </p:txBody>
      </p:sp>
      <p:sp>
        <p:nvSpPr>
          <p:cNvPr id="37890" name="Rectangle 3">
            <a:extLst>
              <a:ext uri="{FF2B5EF4-FFF2-40B4-BE49-F238E27FC236}">
                <a16:creationId xmlns:a16="http://schemas.microsoft.com/office/drawing/2014/main" id="{8F008153-1F9E-7FEB-C71B-6174B120421D}"/>
              </a:ext>
            </a:extLst>
          </p:cNvPr>
          <p:cNvSpPr>
            <a:spLocks noGrp="1" noChangeArrowheads="1"/>
          </p:cNvSpPr>
          <p:nvPr>
            <p:ph idx="1"/>
          </p:nvPr>
        </p:nvSpPr>
        <p:spPr>
          <a:xfrm>
            <a:off x="755650" y="1196975"/>
            <a:ext cx="8199438" cy="4459288"/>
          </a:xfrm>
        </p:spPr>
        <p:txBody>
          <a:bodyPr/>
          <a:lstStyle/>
          <a:p>
            <a:pPr algn="just" eaLnBrk="1" hangingPunct="1"/>
            <a:r>
              <a:rPr lang="zh-CN" altLang="en-US"/>
              <a:t>常见的文件物理结构有以下几种形式：</a:t>
            </a:r>
          </a:p>
          <a:p>
            <a:pPr lvl="1" algn="just" eaLnBrk="1" hangingPunct="1"/>
            <a:r>
              <a:rPr lang="zh-CN" altLang="en-US"/>
              <a:t>顺序结构</a:t>
            </a:r>
          </a:p>
          <a:p>
            <a:pPr lvl="1" algn="just" eaLnBrk="1" hangingPunct="1"/>
            <a:r>
              <a:rPr lang="zh-CN" altLang="en-US"/>
              <a:t>链接结构</a:t>
            </a:r>
          </a:p>
          <a:p>
            <a:pPr lvl="1" algn="just" eaLnBrk="1" hangingPunct="1"/>
            <a:r>
              <a:rPr lang="zh-CN" altLang="en-US">
                <a:latin typeface="Times New Roman" panose="02020603050405020304" pitchFamily="18" charset="0"/>
              </a:rPr>
              <a:t>索引结构</a:t>
            </a:r>
            <a:endParaRPr lang="zh-CN" altLang="en-US"/>
          </a:p>
        </p:txBody>
      </p:sp>
      <p:sp>
        <p:nvSpPr>
          <p:cNvPr id="2" name="灯片编号占位符 1">
            <a:extLst>
              <a:ext uri="{FF2B5EF4-FFF2-40B4-BE49-F238E27FC236}">
                <a16:creationId xmlns:a16="http://schemas.microsoft.com/office/drawing/2014/main" id="{7C0DE9B9-8161-1236-693D-91A57528D822}"/>
              </a:ext>
            </a:extLst>
          </p:cNvPr>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2739FA47-F6DB-13B2-2B62-DBC3F0862F01}"/>
              </a:ext>
            </a:extLst>
          </p:cNvPr>
          <p:cNvSpPr>
            <a:spLocks noGrp="1" noChangeArrowheads="1"/>
          </p:cNvSpPr>
          <p:nvPr>
            <p:ph type="title"/>
          </p:nvPr>
        </p:nvSpPr>
        <p:spPr>
          <a:xfrm>
            <a:off x="1042988" y="225431"/>
            <a:ext cx="7850187" cy="746125"/>
          </a:xfrm>
        </p:spPr>
        <p:txBody>
          <a:bodyPr/>
          <a:lstStyle/>
          <a:p>
            <a:r>
              <a:rPr lang="zh-CN" altLang="en-US"/>
              <a:t>顺序结构</a:t>
            </a:r>
          </a:p>
        </p:txBody>
      </p:sp>
      <p:sp>
        <p:nvSpPr>
          <p:cNvPr id="219139" name="Rectangle 3">
            <a:extLst>
              <a:ext uri="{FF2B5EF4-FFF2-40B4-BE49-F238E27FC236}">
                <a16:creationId xmlns:a16="http://schemas.microsoft.com/office/drawing/2014/main" id="{85375855-E31E-45EC-D9FC-7426E0756A09}"/>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顺序结构</a:t>
            </a:r>
            <a:r>
              <a:rPr lang="zh-CN" altLang="en-US" dirty="0"/>
              <a:t>又称连续结构，它将一个在逻辑上连续的信息存放在外存连续的物理块中。</a:t>
            </a:r>
          </a:p>
          <a:p>
            <a:r>
              <a:rPr lang="zh-CN" altLang="en-US" dirty="0"/>
              <a:t>以顺序结构存放的文件称为顺序文件或连续文件。</a:t>
            </a:r>
          </a:p>
          <a:p>
            <a:r>
              <a:rPr lang="zh-CN" altLang="en-US" dirty="0"/>
              <a:t>特点：顺序存取速度较快；对等长记录文件支持随机访问。但因要求连续存放，会产生碎片，同时也不利于文件的动态扩充。</a:t>
            </a:r>
          </a:p>
        </p:txBody>
      </p:sp>
      <p:sp>
        <p:nvSpPr>
          <p:cNvPr id="2" name="灯片编号占位符 1">
            <a:extLst>
              <a:ext uri="{FF2B5EF4-FFF2-40B4-BE49-F238E27FC236}">
                <a16:creationId xmlns:a16="http://schemas.microsoft.com/office/drawing/2014/main" id="{CA978D86-DEFA-2708-E1D7-A4425A2353EF}"/>
              </a:ext>
            </a:extLst>
          </p:cNvPr>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Effect transition="in" filter="checkerboard(across)">
                                      <p:cBhvr>
                                        <p:cTn id="7" dur="500"/>
                                        <p:tgtEl>
                                          <p:spTgt spid="219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19139">
                                            <p:txEl>
                                              <p:pRg st="1" end="1"/>
                                            </p:txEl>
                                          </p:spTgt>
                                        </p:tgtEl>
                                        <p:attrNameLst>
                                          <p:attrName>style.visibility</p:attrName>
                                        </p:attrNameLst>
                                      </p:cBhvr>
                                      <p:to>
                                        <p:strVal val="visible"/>
                                      </p:to>
                                    </p:set>
                                    <p:animEffect transition="in" filter="checkerboard(across)">
                                      <p:cBhvr>
                                        <p:cTn id="12" dur="500"/>
                                        <p:tgtEl>
                                          <p:spTgt spid="2191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19139">
                                            <p:txEl>
                                              <p:pRg st="2" end="2"/>
                                            </p:txEl>
                                          </p:spTgt>
                                        </p:tgtEl>
                                        <p:attrNameLst>
                                          <p:attrName>style.visibility</p:attrName>
                                        </p:attrNameLst>
                                      </p:cBhvr>
                                      <p:to>
                                        <p:strVal val="visible"/>
                                      </p:to>
                                    </p:set>
                                    <p:animEffect transition="in" filter="checkerboard(across)">
                                      <p:cBhvr>
                                        <p:cTn id="17" dur="500"/>
                                        <p:tgtEl>
                                          <p:spTgt spid="2191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E366DB4-6A0F-B4BB-59DC-26333D8CAE97}"/>
              </a:ext>
            </a:extLst>
          </p:cNvPr>
          <p:cNvSpPr>
            <a:spLocks noGrp="1" noChangeArrowheads="1"/>
          </p:cNvSpPr>
          <p:nvPr>
            <p:ph type="title"/>
          </p:nvPr>
        </p:nvSpPr>
        <p:spPr>
          <a:xfrm>
            <a:off x="1042988" y="225431"/>
            <a:ext cx="7850187" cy="746125"/>
          </a:xfrm>
        </p:spPr>
        <p:txBody>
          <a:bodyPr/>
          <a:lstStyle/>
          <a:p>
            <a:r>
              <a:rPr lang="zh-CN" altLang="en-US"/>
              <a:t>链接结构</a:t>
            </a:r>
          </a:p>
        </p:txBody>
      </p:sp>
      <p:sp>
        <p:nvSpPr>
          <p:cNvPr id="220163" name="Rectangle 3">
            <a:extLst>
              <a:ext uri="{FF2B5EF4-FFF2-40B4-BE49-F238E27FC236}">
                <a16:creationId xmlns:a16="http://schemas.microsoft.com/office/drawing/2014/main" id="{25BF69DA-2A1B-1105-06EA-860F6E38797E}"/>
              </a:ext>
            </a:extLst>
          </p:cNvPr>
          <p:cNvSpPr>
            <a:spLocks noGrp="1" noChangeArrowheads="1"/>
          </p:cNvSpPr>
          <p:nvPr>
            <p:ph idx="1"/>
          </p:nvPr>
        </p:nvSpPr>
        <p:spPr>
          <a:xfrm>
            <a:off x="935038" y="1233488"/>
            <a:ext cx="7772400" cy="4895850"/>
          </a:xfrm>
        </p:spPr>
        <p:txBody>
          <a:bodyPr>
            <a:normAutofit lnSpcReduction="10000"/>
          </a:bodyPr>
          <a:lstStyle/>
          <a:p>
            <a:r>
              <a:rPr lang="zh-CN" altLang="en-US" b="1" dirty="0">
                <a:solidFill>
                  <a:srgbClr val="FF0000"/>
                </a:solidFill>
              </a:rPr>
              <a:t>链接结构</a:t>
            </a:r>
            <a:r>
              <a:rPr lang="zh-CN" altLang="en-US" dirty="0"/>
              <a:t>又称串联结构，它将一个逻辑文件的信息存放在外存不连续物理块中，且在每个物理块中设置一个指向下一个物理块的指针。</a:t>
            </a:r>
          </a:p>
          <a:p>
            <a:r>
              <a:rPr lang="zh-CN" altLang="en-US" dirty="0"/>
              <a:t>采用链接结构存放的文件称为链接文件或串联文件。</a:t>
            </a:r>
          </a:p>
          <a:p>
            <a:r>
              <a:rPr lang="zh-CN" altLang="en-US" dirty="0"/>
              <a:t>特点：可解决碎片问题，便于文件动态增长。但只能顺序访问，因而查找效率较低，指针占用存储空间。</a:t>
            </a:r>
          </a:p>
        </p:txBody>
      </p:sp>
      <p:sp>
        <p:nvSpPr>
          <p:cNvPr id="2" name="灯片编号占位符 1">
            <a:extLst>
              <a:ext uri="{FF2B5EF4-FFF2-40B4-BE49-F238E27FC236}">
                <a16:creationId xmlns:a16="http://schemas.microsoft.com/office/drawing/2014/main" id="{B0D1990B-8A14-E425-A458-2C9EF3191F7B}"/>
              </a:ext>
            </a:extLst>
          </p:cNvPr>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Effect transition="in" filter="checkerboard(across)">
                                      <p:cBhvr>
                                        <p:cTn id="7" dur="500"/>
                                        <p:tgtEl>
                                          <p:spTgt spid="220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0163">
                                            <p:txEl>
                                              <p:pRg st="1" end="1"/>
                                            </p:txEl>
                                          </p:spTgt>
                                        </p:tgtEl>
                                        <p:attrNameLst>
                                          <p:attrName>style.visibility</p:attrName>
                                        </p:attrNameLst>
                                      </p:cBhvr>
                                      <p:to>
                                        <p:strVal val="visible"/>
                                      </p:to>
                                    </p:set>
                                    <p:animEffect transition="in" filter="checkerboard(across)">
                                      <p:cBhvr>
                                        <p:cTn id="12" dur="500"/>
                                        <p:tgtEl>
                                          <p:spTgt spid="2201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20163">
                                            <p:txEl>
                                              <p:pRg st="2" end="2"/>
                                            </p:txEl>
                                          </p:spTgt>
                                        </p:tgtEl>
                                        <p:attrNameLst>
                                          <p:attrName>style.visibility</p:attrName>
                                        </p:attrNameLst>
                                      </p:cBhvr>
                                      <p:to>
                                        <p:strVal val="visible"/>
                                      </p:to>
                                    </p:set>
                                    <p:animEffect transition="in" filter="checkerboard(across)">
                                      <p:cBhvr>
                                        <p:cTn id="17" dur="500"/>
                                        <p:tgtEl>
                                          <p:spTgt spid="2201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8CA64BF-1879-B237-02FE-A23AAD513E73}"/>
              </a:ext>
            </a:extLst>
          </p:cNvPr>
          <p:cNvSpPr>
            <a:spLocks noGrp="1" noChangeArrowheads="1"/>
          </p:cNvSpPr>
          <p:nvPr>
            <p:ph type="title"/>
          </p:nvPr>
        </p:nvSpPr>
        <p:spPr>
          <a:xfrm>
            <a:off x="1042988" y="225431"/>
            <a:ext cx="7850187" cy="746125"/>
          </a:xfrm>
        </p:spPr>
        <p:txBody>
          <a:bodyPr/>
          <a:lstStyle/>
          <a:p>
            <a:r>
              <a:rPr lang="zh-CN" altLang="en-US"/>
              <a:t>索引结构</a:t>
            </a:r>
          </a:p>
        </p:txBody>
      </p:sp>
      <p:sp>
        <p:nvSpPr>
          <p:cNvPr id="216067" name="Rectangle 3">
            <a:extLst>
              <a:ext uri="{FF2B5EF4-FFF2-40B4-BE49-F238E27FC236}">
                <a16:creationId xmlns:a16="http://schemas.microsoft.com/office/drawing/2014/main" id="{67ADD27A-7E4E-7C17-C5B2-93368F9B339E}"/>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索引结构</a:t>
            </a:r>
            <a:r>
              <a:rPr lang="zh-CN" altLang="en-US" dirty="0"/>
              <a:t>：将一个逻辑文件的信息存放于外存的若干个物理块中，并为每个文件建立一个索引表，其中的每个表目存放文件信息所在的逻辑块号和与之对应的物理块号。</a:t>
            </a:r>
          </a:p>
          <a:p>
            <a:r>
              <a:rPr lang="zh-CN" altLang="en-US" dirty="0"/>
              <a:t>采用索引结构存放的文件称为索引文件。</a:t>
            </a:r>
          </a:p>
          <a:p>
            <a:r>
              <a:rPr lang="zh-CN" altLang="en-US" dirty="0"/>
              <a:t>特点：既可以顺序访问也可以随机访问，但增加了存储空间开销，且要两次访问外存。</a:t>
            </a:r>
          </a:p>
        </p:txBody>
      </p:sp>
      <p:sp>
        <p:nvSpPr>
          <p:cNvPr id="2" name="灯片编号占位符 1">
            <a:extLst>
              <a:ext uri="{FF2B5EF4-FFF2-40B4-BE49-F238E27FC236}">
                <a16:creationId xmlns:a16="http://schemas.microsoft.com/office/drawing/2014/main" id="{23CDACD6-DB1A-4C76-DBF8-8988AE641E76}"/>
              </a:ext>
            </a:extLst>
          </p:cNvPr>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Effect transition="in" filter="checkerboard(across)">
                                      <p:cBhvr>
                                        <p:cTn id="7" dur="500"/>
                                        <p:tgtEl>
                                          <p:spTgt spid="216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16067">
                                            <p:txEl>
                                              <p:pRg st="1" end="1"/>
                                            </p:txEl>
                                          </p:spTgt>
                                        </p:tgtEl>
                                        <p:attrNameLst>
                                          <p:attrName>style.visibility</p:attrName>
                                        </p:attrNameLst>
                                      </p:cBhvr>
                                      <p:to>
                                        <p:strVal val="visible"/>
                                      </p:to>
                                    </p:set>
                                    <p:animEffect transition="in" filter="checkerboard(across)">
                                      <p:cBhvr>
                                        <p:cTn id="12" dur="500"/>
                                        <p:tgtEl>
                                          <p:spTgt spid="216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16067">
                                            <p:txEl>
                                              <p:pRg st="2" end="2"/>
                                            </p:txEl>
                                          </p:spTgt>
                                        </p:tgtEl>
                                        <p:attrNameLst>
                                          <p:attrName>style.visibility</p:attrName>
                                        </p:attrNameLst>
                                      </p:cBhvr>
                                      <p:to>
                                        <p:strVal val="visible"/>
                                      </p:to>
                                    </p:set>
                                    <p:animEffect transition="in" filter="checkerboard(across)">
                                      <p:cBhvr>
                                        <p:cTn id="17" dur="500"/>
                                        <p:tgtEl>
                                          <p:spTgt spid="216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C123F5E7-34FD-8820-4FA8-DA2F1A5C027E}"/>
              </a:ext>
            </a:extLst>
          </p:cNvPr>
          <p:cNvSpPr>
            <a:spLocks noGrp="1" noChangeArrowheads="1"/>
          </p:cNvSpPr>
          <p:nvPr>
            <p:ph type="title"/>
          </p:nvPr>
        </p:nvSpPr>
        <p:spPr>
          <a:xfrm>
            <a:off x="1042988" y="225431"/>
            <a:ext cx="7850187" cy="746125"/>
          </a:xfrm>
        </p:spPr>
        <p:txBody>
          <a:bodyPr/>
          <a:lstStyle/>
          <a:p>
            <a:r>
              <a:rPr lang="zh-CN" altLang="en-US" dirty="0"/>
              <a:t>文件的访问方法</a:t>
            </a:r>
            <a:endParaRPr lang="en-US" altLang="zh-CN" dirty="0"/>
          </a:p>
        </p:txBody>
      </p:sp>
      <p:sp>
        <p:nvSpPr>
          <p:cNvPr id="41986" name="Rectangle 3">
            <a:extLst>
              <a:ext uri="{FF2B5EF4-FFF2-40B4-BE49-F238E27FC236}">
                <a16:creationId xmlns:a16="http://schemas.microsoft.com/office/drawing/2014/main" id="{F9F75B45-3336-FE43-1249-4F2B6C4F8752}"/>
              </a:ext>
            </a:extLst>
          </p:cNvPr>
          <p:cNvSpPr>
            <a:spLocks noGrp="1" noChangeArrowheads="1"/>
          </p:cNvSpPr>
          <p:nvPr>
            <p:ph idx="1"/>
          </p:nvPr>
        </p:nvSpPr>
        <p:spPr>
          <a:xfrm>
            <a:off x="935038" y="1233488"/>
            <a:ext cx="7772400" cy="4895850"/>
          </a:xfrm>
        </p:spPr>
        <p:txBody>
          <a:bodyPr/>
          <a:lstStyle/>
          <a:p>
            <a:r>
              <a:rPr lang="zh-CN" altLang="en-US" dirty="0"/>
              <a:t>常用的文件存取方法有：</a:t>
            </a:r>
          </a:p>
          <a:p>
            <a:pPr lvl="1"/>
            <a:r>
              <a:rPr lang="zh-CN" altLang="en-US" dirty="0"/>
              <a:t>顺序存取法：按照文件中记录的顺序依次访问</a:t>
            </a:r>
          </a:p>
          <a:p>
            <a:pPr lvl="1"/>
            <a:r>
              <a:rPr lang="zh-CN" altLang="en-US" dirty="0"/>
              <a:t>直接存取法：允许程序按任意顺序进行快速读写，也称随机访问</a:t>
            </a:r>
          </a:p>
          <a:p>
            <a:pPr lvl="1"/>
            <a:r>
              <a:rPr lang="zh-CN" altLang="en-US" dirty="0"/>
              <a:t>按键存取法</a:t>
            </a:r>
          </a:p>
        </p:txBody>
      </p:sp>
      <p:sp>
        <p:nvSpPr>
          <p:cNvPr id="2" name="灯片编号占位符 1">
            <a:extLst>
              <a:ext uri="{FF2B5EF4-FFF2-40B4-BE49-F238E27FC236}">
                <a16:creationId xmlns:a16="http://schemas.microsoft.com/office/drawing/2014/main" id="{34F62AEE-FEF5-096B-14AE-1F6984293884}"/>
              </a:ext>
            </a:extLst>
          </p:cNvPr>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74177012-5FFE-3A01-5371-0379A6C0DEA7}"/>
              </a:ext>
            </a:extLst>
          </p:cNvPr>
          <p:cNvSpPr>
            <a:spLocks noGrp="1" noChangeArrowheads="1"/>
          </p:cNvSpPr>
          <p:nvPr>
            <p:ph type="title"/>
          </p:nvPr>
        </p:nvSpPr>
        <p:spPr>
          <a:xfrm>
            <a:off x="1042988" y="225431"/>
            <a:ext cx="7850187" cy="746125"/>
          </a:xfrm>
        </p:spPr>
        <p:txBody>
          <a:bodyPr/>
          <a:lstStyle/>
          <a:p>
            <a:r>
              <a:rPr lang="zh-CN" altLang="en-US" dirty="0"/>
              <a:t>顺序访问</a:t>
            </a:r>
            <a:endParaRPr lang="en-US" altLang="zh-CN" dirty="0"/>
          </a:p>
        </p:txBody>
      </p:sp>
      <p:sp>
        <p:nvSpPr>
          <p:cNvPr id="313347" name="Rectangle 3">
            <a:extLst>
              <a:ext uri="{FF2B5EF4-FFF2-40B4-BE49-F238E27FC236}">
                <a16:creationId xmlns:a16="http://schemas.microsoft.com/office/drawing/2014/main" id="{69D0DA4A-3F47-C125-4C51-7E1FDB98AF5B}"/>
              </a:ext>
            </a:extLst>
          </p:cNvPr>
          <p:cNvSpPr>
            <a:spLocks noGrp="1" noChangeArrowheads="1"/>
          </p:cNvSpPr>
          <p:nvPr>
            <p:ph idx="1"/>
          </p:nvPr>
        </p:nvSpPr>
        <p:spPr>
          <a:xfrm>
            <a:off x="935038" y="1233488"/>
            <a:ext cx="7772400" cy="4895850"/>
          </a:xfrm>
        </p:spPr>
        <p:txBody>
          <a:bodyPr/>
          <a:lstStyle/>
          <a:p>
            <a:r>
              <a:rPr lang="zh-CN" altLang="en-US"/>
              <a:t>在记录式文件中，顺序访问反映为按记录的排列顺序来存取；在流式文件中，顺序访问反映为当前读写指针的变化。</a:t>
            </a:r>
          </a:p>
          <a:p>
            <a:r>
              <a:rPr lang="zh-CN" altLang="en-US"/>
              <a:t>对定长记录的顺序文件，若知道当前记录地址，则很易确定下一个记录地址。</a:t>
            </a:r>
          </a:p>
          <a:p>
            <a:pPr lvl="1"/>
            <a:r>
              <a:rPr lang="zh-CN" altLang="en-US"/>
              <a:t>        </a:t>
            </a:r>
            <a:r>
              <a:rPr lang="en-US" altLang="zh-CN"/>
              <a:t>rptr＝rptr＋L</a:t>
            </a:r>
          </a:p>
          <a:p>
            <a:pPr lvl="1"/>
            <a:r>
              <a:rPr lang="zh-CN" altLang="en-US"/>
              <a:t>其中</a:t>
            </a:r>
            <a:r>
              <a:rPr lang="en-US" altLang="zh-CN"/>
              <a:t>L</a:t>
            </a:r>
            <a:r>
              <a:rPr lang="zh-CN" altLang="en-US"/>
              <a:t>为文件记录的长度，</a:t>
            </a:r>
            <a:r>
              <a:rPr lang="en-US" altLang="zh-CN"/>
              <a:t>rptr</a:t>
            </a:r>
            <a:r>
              <a:rPr lang="zh-CN" altLang="en-US"/>
              <a:t>为读写指针。</a:t>
            </a:r>
          </a:p>
        </p:txBody>
      </p:sp>
      <p:sp>
        <p:nvSpPr>
          <p:cNvPr id="2" name="灯片编号占位符 1">
            <a:extLst>
              <a:ext uri="{FF2B5EF4-FFF2-40B4-BE49-F238E27FC236}">
                <a16:creationId xmlns:a16="http://schemas.microsoft.com/office/drawing/2014/main" id="{2F87592E-D77A-BBE1-89FD-80A6153BFE98}"/>
              </a:ext>
            </a:extLst>
          </p:cNvPr>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Effect transition="in" filter="checkerboard(across)">
                                      <p:cBhvr>
                                        <p:cTn id="7" dur="500"/>
                                        <p:tgtEl>
                                          <p:spTgt spid="313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3347">
                                            <p:txEl>
                                              <p:pRg st="1" end="1"/>
                                            </p:txEl>
                                          </p:spTgt>
                                        </p:tgtEl>
                                        <p:attrNameLst>
                                          <p:attrName>style.visibility</p:attrName>
                                        </p:attrNameLst>
                                      </p:cBhvr>
                                      <p:to>
                                        <p:strVal val="visible"/>
                                      </p:to>
                                    </p:set>
                                    <p:animEffect transition="in" filter="checkerboard(across)">
                                      <p:cBhvr>
                                        <p:cTn id="12" dur="500"/>
                                        <p:tgtEl>
                                          <p:spTgt spid="313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3347">
                                            <p:txEl>
                                              <p:pRg st="2" end="2"/>
                                            </p:txEl>
                                          </p:spTgt>
                                        </p:tgtEl>
                                        <p:attrNameLst>
                                          <p:attrName>style.visibility</p:attrName>
                                        </p:attrNameLst>
                                      </p:cBhvr>
                                      <p:to>
                                        <p:strVal val="visible"/>
                                      </p:to>
                                    </p:set>
                                    <p:animEffect transition="in" filter="checkerboard(across)">
                                      <p:cBhvr>
                                        <p:cTn id="17" dur="500"/>
                                        <p:tgtEl>
                                          <p:spTgt spid="313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13347">
                                            <p:txEl>
                                              <p:pRg st="3" end="3"/>
                                            </p:txEl>
                                          </p:spTgt>
                                        </p:tgtEl>
                                        <p:attrNameLst>
                                          <p:attrName>style.visibility</p:attrName>
                                        </p:attrNameLst>
                                      </p:cBhvr>
                                      <p:to>
                                        <p:strVal val="visible"/>
                                      </p:to>
                                    </p:set>
                                    <p:animEffect transition="in" filter="checkerboard(across)">
                                      <p:cBhvr>
                                        <p:cTn id="22" dur="500"/>
                                        <p:tgtEl>
                                          <p:spTgt spid="313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47F99EA-F146-4804-186D-4FEA181C5DB7}"/>
              </a:ext>
            </a:extLst>
          </p:cNvPr>
          <p:cNvSpPr>
            <a:spLocks noGrp="1" noChangeArrowheads="1"/>
          </p:cNvSpPr>
          <p:nvPr>
            <p:ph type="title"/>
          </p:nvPr>
        </p:nvSpPr>
        <p:spPr>
          <a:xfrm>
            <a:off x="1042988" y="225431"/>
            <a:ext cx="7850187" cy="746125"/>
          </a:xfrm>
        </p:spPr>
        <p:txBody>
          <a:bodyPr/>
          <a:lstStyle/>
          <a:p>
            <a:r>
              <a:rPr lang="zh-CN" altLang="en-US" dirty="0"/>
              <a:t>顺序访问文件</a:t>
            </a:r>
          </a:p>
        </p:txBody>
      </p:sp>
      <p:sp>
        <p:nvSpPr>
          <p:cNvPr id="3" name="内容占位符 2">
            <a:extLst>
              <a:ext uri="{FF2B5EF4-FFF2-40B4-BE49-F238E27FC236}">
                <a16:creationId xmlns:a16="http://schemas.microsoft.com/office/drawing/2014/main" id="{ECE4EE43-320A-A7AA-7D5C-C5D0344AD48E}"/>
              </a:ext>
            </a:extLst>
          </p:cNvPr>
          <p:cNvSpPr>
            <a:spLocks noGrp="1"/>
          </p:cNvSpPr>
          <p:nvPr>
            <p:ph idx="1"/>
          </p:nvPr>
        </p:nvSpPr>
        <p:spPr/>
        <p:txBody>
          <a:bodyPr/>
          <a:lstStyle/>
          <a:p>
            <a:endParaRPr lang="zh-CN" altLang="en-US"/>
          </a:p>
        </p:txBody>
      </p:sp>
      <p:pic>
        <p:nvPicPr>
          <p:cNvPr id="45058" name="Picture 4">
            <a:extLst>
              <a:ext uri="{FF2B5EF4-FFF2-40B4-BE49-F238E27FC236}">
                <a16:creationId xmlns:a16="http://schemas.microsoft.com/office/drawing/2014/main" id="{D4E1BFEB-EF69-7C58-B701-A490A5E52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88" t="32547" r="2740" b="34142"/>
          <a:stretch>
            <a:fillRect/>
          </a:stretch>
        </p:blipFill>
        <p:spPr bwMode="auto">
          <a:xfrm>
            <a:off x="457200" y="1844675"/>
            <a:ext cx="8229600" cy="3017838"/>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DBE7F941-AE3D-A54E-1B1E-3393FD4A6E8C}"/>
              </a:ext>
            </a:extLst>
          </p:cNvPr>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37D9CF7D-ECCC-586D-8EFE-5CAC71C64DB6}"/>
              </a:ext>
            </a:extLst>
          </p:cNvPr>
          <p:cNvSpPr>
            <a:spLocks noGrp="1" noChangeArrowheads="1"/>
          </p:cNvSpPr>
          <p:nvPr>
            <p:ph type="title"/>
          </p:nvPr>
        </p:nvSpPr>
        <p:spPr>
          <a:xfrm>
            <a:off x="1042988" y="225431"/>
            <a:ext cx="7850187" cy="746125"/>
          </a:xfrm>
        </p:spPr>
        <p:txBody>
          <a:bodyPr/>
          <a:lstStyle/>
          <a:p>
            <a:r>
              <a:rPr lang="zh-CN" altLang="en-US" dirty="0"/>
              <a:t>直接访问</a:t>
            </a:r>
            <a:endParaRPr lang="en-US" altLang="zh-CN" dirty="0"/>
          </a:p>
        </p:txBody>
      </p:sp>
      <p:sp>
        <p:nvSpPr>
          <p:cNvPr id="222211" name="Rectangle 3">
            <a:extLst>
              <a:ext uri="{FF2B5EF4-FFF2-40B4-BE49-F238E27FC236}">
                <a16:creationId xmlns:a16="http://schemas.microsoft.com/office/drawing/2014/main" id="{DC85B119-FC96-8EB3-1D40-98D6A6F5E6FB}"/>
              </a:ext>
            </a:extLst>
          </p:cNvPr>
          <p:cNvSpPr>
            <a:spLocks noGrp="1" noChangeArrowheads="1"/>
          </p:cNvSpPr>
          <p:nvPr>
            <p:ph idx="1"/>
          </p:nvPr>
        </p:nvSpPr>
        <p:spPr>
          <a:xfrm>
            <a:off x="935038" y="1233488"/>
            <a:ext cx="7772400" cy="4895850"/>
          </a:xfrm>
        </p:spPr>
        <p:txBody>
          <a:bodyPr/>
          <a:lstStyle/>
          <a:p>
            <a:r>
              <a:rPr lang="zh-CN" altLang="en-US"/>
              <a:t>对于定长记录的顺序文件，若知道文件的起始地址和记录长度，则第</a:t>
            </a:r>
            <a:r>
              <a:rPr lang="en-US" altLang="zh-CN"/>
              <a:t>i</a:t>
            </a:r>
            <a:r>
              <a:rPr lang="zh-CN" altLang="en-US"/>
              <a:t>个记录（</a:t>
            </a:r>
            <a:r>
              <a:rPr lang="en-US" altLang="zh-CN"/>
              <a:t>i＝0，1，2，…）</a:t>
            </a:r>
            <a:r>
              <a:rPr lang="zh-CN" altLang="en-US"/>
              <a:t>的首地址为</a:t>
            </a:r>
          </a:p>
          <a:p>
            <a:pPr lvl="1"/>
            <a:r>
              <a:rPr lang="zh-CN" altLang="en-US"/>
              <a:t>        </a:t>
            </a:r>
            <a:r>
              <a:rPr lang="en-US" altLang="zh-CN"/>
              <a:t>rptr＝addr＋i×L</a:t>
            </a:r>
          </a:p>
          <a:p>
            <a:pPr lvl="1"/>
            <a:r>
              <a:rPr lang="zh-CN" altLang="en-US"/>
              <a:t>其中</a:t>
            </a:r>
            <a:r>
              <a:rPr lang="en-US" altLang="zh-CN"/>
              <a:t>addr</a:t>
            </a:r>
            <a:r>
              <a:rPr lang="zh-CN" altLang="en-US"/>
              <a:t>是该文件的首地址，</a:t>
            </a:r>
            <a:r>
              <a:rPr lang="en-US" altLang="zh-CN"/>
              <a:t>L</a:t>
            </a:r>
            <a:r>
              <a:rPr lang="zh-CN" altLang="en-US"/>
              <a:t>为记录长度。</a:t>
            </a:r>
          </a:p>
        </p:txBody>
      </p:sp>
      <p:sp>
        <p:nvSpPr>
          <p:cNvPr id="2" name="灯片编号占位符 1">
            <a:extLst>
              <a:ext uri="{FF2B5EF4-FFF2-40B4-BE49-F238E27FC236}">
                <a16:creationId xmlns:a16="http://schemas.microsoft.com/office/drawing/2014/main" id="{FB6FDA01-D8DC-BA34-F043-D5892DBA1BFC}"/>
              </a:ext>
            </a:extLst>
          </p:cNvPr>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checkerboard(across)">
                                      <p:cBhvr>
                                        <p:cTn id="7" dur="500"/>
                                        <p:tgtEl>
                                          <p:spTgt spid="222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checkerboard(across)">
                                      <p:cBhvr>
                                        <p:cTn id="12" dur="500"/>
                                        <p:tgtEl>
                                          <p:spTgt spid="222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checkerboard(across)">
                                      <p:cBhvr>
                                        <p:cTn id="17" dur="500"/>
                                        <p:tgtEl>
                                          <p:spTgt spid="2222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2B60B97-0BC8-4DC5-6888-1F9CD49A6A77}"/>
              </a:ext>
            </a:extLst>
          </p:cNvPr>
          <p:cNvSpPr>
            <a:spLocks noGrp="1" noChangeArrowheads="1"/>
          </p:cNvSpPr>
          <p:nvPr>
            <p:ph type="title"/>
          </p:nvPr>
        </p:nvSpPr>
        <p:spPr>
          <a:xfrm>
            <a:off x="1042988" y="225431"/>
            <a:ext cx="7850187" cy="746125"/>
          </a:xfrm>
        </p:spPr>
        <p:txBody>
          <a:bodyPr/>
          <a:lstStyle/>
          <a:p>
            <a:r>
              <a:rPr lang="zh-CN" altLang="en-US" sz="4000" dirty="0"/>
              <a:t>在直接访问文件上模拟顺序访问</a:t>
            </a:r>
            <a:endParaRPr lang="en-US" altLang="zh-CN" sz="4000" dirty="0"/>
          </a:p>
        </p:txBody>
      </p:sp>
      <p:pic>
        <p:nvPicPr>
          <p:cNvPr id="48130" name="Picture 5">
            <a:extLst>
              <a:ext uri="{FF2B5EF4-FFF2-40B4-BE49-F238E27FC236}">
                <a16:creationId xmlns:a16="http://schemas.microsoft.com/office/drawing/2014/main" id="{7A2D62DB-BBF0-A067-2B6A-337D122E46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993" t="26750" r="804" b="26971"/>
          <a:stretch>
            <a:fillRect/>
          </a:stretch>
        </p:blipFill>
        <p:spPr>
          <a:xfrm>
            <a:off x="935038" y="2307859"/>
            <a:ext cx="7772400" cy="2747107"/>
          </a:xfrm>
          <a:ln w="57150" cmpd="thickThin">
            <a:solidFill>
              <a:schemeClr val="tx1"/>
            </a:solidFill>
            <a:miter lim="800000"/>
            <a:headEnd/>
            <a:tailEnd/>
          </a:ln>
        </p:spPr>
      </p:pic>
      <p:sp>
        <p:nvSpPr>
          <p:cNvPr id="2" name="灯片编号占位符 1">
            <a:extLst>
              <a:ext uri="{FF2B5EF4-FFF2-40B4-BE49-F238E27FC236}">
                <a16:creationId xmlns:a16="http://schemas.microsoft.com/office/drawing/2014/main" id="{564F3F6B-7348-C566-3D90-62EC541CCAAD}"/>
              </a:ext>
            </a:extLst>
          </p:cNvPr>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BD57E1CB-CB28-D81E-5F76-7FB6FA659F7A}"/>
              </a:ext>
            </a:extLst>
          </p:cNvPr>
          <p:cNvSpPr>
            <a:spLocks noGrp="1" noChangeArrowheads="1"/>
          </p:cNvSpPr>
          <p:nvPr>
            <p:ph type="title"/>
          </p:nvPr>
        </p:nvSpPr>
        <p:spPr>
          <a:xfrm>
            <a:off x="1042988" y="225431"/>
            <a:ext cx="7850187" cy="746125"/>
          </a:xfrm>
        </p:spPr>
        <p:txBody>
          <a:bodyPr/>
          <a:lstStyle/>
          <a:p>
            <a:r>
              <a:rPr lang="zh-CN" altLang="en-US" dirty="0"/>
              <a:t>按键存取</a:t>
            </a:r>
            <a:endParaRPr lang="en-US" altLang="zh-CN" dirty="0"/>
          </a:p>
        </p:txBody>
      </p:sp>
      <p:sp>
        <p:nvSpPr>
          <p:cNvPr id="49154" name="Rectangle 3">
            <a:extLst>
              <a:ext uri="{FF2B5EF4-FFF2-40B4-BE49-F238E27FC236}">
                <a16:creationId xmlns:a16="http://schemas.microsoft.com/office/drawing/2014/main" id="{F42D925C-5CAB-F73D-5120-B7F06E8AD56C}"/>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按键存取</a:t>
            </a:r>
            <a:r>
              <a:rPr lang="zh-CN" altLang="en-US" dirty="0"/>
              <a:t>法实质上也是直接存取法，它根据文件记录中数据项（通常称为键），经过某种方法计算处理，转换成相应的物理地址后进行存取。</a:t>
            </a:r>
          </a:p>
        </p:txBody>
      </p:sp>
      <p:sp>
        <p:nvSpPr>
          <p:cNvPr id="2" name="灯片编号占位符 1">
            <a:extLst>
              <a:ext uri="{FF2B5EF4-FFF2-40B4-BE49-F238E27FC236}">
                <a16:creationId xmlns:a16="http://schemas.microsoft.com/office/drawing/2014/main" id="{F1BB672F-D041-8ABE-4826-B0FE9D455BAC}"/>
              </a:ext>
            </a:extLst>
          </p:cNvPr>
          <p:cNvSpPr>
            <a:spLocks noGrp="1"/>
          </p:cNvSpPr>
          <p:nvPr>
            <p:ph type="sldNum" sz="quarter" idx="12"/>
          </p:nvPr>
        </p:nvSpPr>
        <p:spPr/>
        <p:txBody>
          <a:bodyPr/>
          <a:lstStyle/>
          <a:p>
            <a:fld id="{4093CC90-4002-504C-BD88-C9A1D374048E}" type="slidenum">
              <a:rPr lang="zh-CN" altLang="en-US" smtClean="0"/>
              <a:pPr/>
              <a:t>40</a:t>
            </a:fld>
            <a:endParaRPr lang="zh-CN" altLang="en-US" dirty="0"/>
          </a:p>
        </p:txBody>
      </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C2D9312E-188A-C008-1C75-46C1DAE9B6CF}"/>
              </a:ext>
            </a:extLst>
          </p:cNvPr>
          <p:cNvSpPr>
            <a:spLocks noGrp="1" noChangeArrowheads="1"/>
          </p:cNvSpPr>
          <p:nvPr>
            <p:ph type="title"/>
          </p:nvPr>
        </p:nvSpPr>
        <p:spPr>
          <a:xfrm>
            <a:off x="1042988" y="225431"/>
            <a:ext cx="7850187" cy="746125"/>
          </a:xfrm>
        </p:spPr>
        <p:txBody>
          <a:bodyPr/>
          <a:lstStyle/>
          <a:p>
            <a:r>
              <a:rPr lang="zh-CN" altLang="en-US" dirty="0"/>
              <a:t>目录结构</a:t>
            </a:r>
            <a:endParaRPr lang="en-US" altLang="zh-CN" dirty="0"/>
          </a:p>
        </p:txBody>
      </p:sp>
      <p:sp>
        <p:nvSpPr>
          <p:cNvPr id="319491" name="Rectangle 3">
            <a:extLst>
              <a:ext uri="{FF2B5EF4-FFF2-40B4-BE49-F238E27FC236}">
                <a16:creationId xmlns:a16="http://schemas.microsoft.com/office/drawing/2014/main" id="{8F000A04-1B31-AD4E-1789-E314477B5BF5}"/>
              </a:ext>
            </a:extLst>
          </p:cNvPr>
          <p:cNvSpPr>
            <a:spLocks noGrp="1" noChangeArrowheads="1"/>
          </p:cNvSpPr>
          <p:nvPr>
            <p:ph idx="1"/>
          </p:nvPr>
        </p:nvSpPr>
        <p:spPr>
          <a:xfrm>
            <a:off x="935038" y="1233488"/>
            <a:ext cx="7772400" cy="4895850"/>
          </a:xfrm>
        </p:spPr>
        <p:txBody>
          <a:bodyPr>
            <a:normAutofit/>
          </a:bodyPr>
          <a:lstStyle/>
          <a:p>
            <a:r>
              <a:rPr lang="zh-CN" altLang="en-US" dirty="0"/>
              <a:t>计算机的文件系统非常大，有的系统在数太字节磁盘上保存了数百万计的文件</a:t>
            </a:r>
          </a:p>
          <a:p>
            <a:r>
              <a:rPr lang="zh-CN" altLang="en-US" dirty="0"/>
              <a:t>为了管理这些文件，需要组织它们</a:t>
            </a:r>
          </a:p>
          <a:p>
            <a:r>
              <a:rPr lang="zh-CN" altLang="en-US" dirty="0"/>
              <a:t>目录用来组织文件</a:t>
            </a:r>
          </a:p>
        </p:txBody>
      </p:sp>
      <p:sp>
        <p:nvSpPr>
          <p:cNvPr id="2" name="灯片编号占位符 1">
            <a:extLst>
              <a:ext uri="{FF2B5EF4-FFF2-40B4-BE49-F238E27FC236}">
                <a16:creationId xmlns:a16="http://schemas.microsoft.com/office/drawing/2014/main" id="{28BE216B-FEA5-F364-FDA8-A066A12E233C}"/>
              </a:ext>
            </a:extLst>
          </p:cNvPr>
          <p:cNvSpPr>
            <a:spLocks noGrp="1"/>
          </p:cNvSpPr>
          <p:nvPr>
            <p:ph type="sldNum" sz="quarter" idx="12"/>
          </p:nvPr>
        </p:nvSpPr>
        <p:spPr/>
        <p:txBody>
          <a:bodyPr/>
          <a:lstStyle/>
          <a:p>
            <a:fld id="{4093CC90-4002-504C-BD88-C9A1D374048E}" type="slidenum">
              <a:rPr lang="zh-CN" altLang="en-US" smtClean="0"/>
              <a:pPr/>
              <a:t>41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Effect transition="in" filter="checkerboard(across)">
                                      <p:cBhvr>
                                        <p:cTn id="7" dur="500"/>
                                        <p:tgtEl>
                                          <p:spTgt spid="319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9491">
                                            <p:txEl>
                                              <p:pRg st="1" end="1"/>
                                            </p:txEl>
                                          </p:spTgt>
                                        </p:tgtEl>
                                        <p:attrNameLst>
                                          <p:attrName>style.visibility</p:attrName>
                                        </p:attrNameLst>
                                      </p:cBhvr>
                                      <p:to>
                                        <p:strVal val="visible"/>
                                      </p:to>
                                    </p:set>
                                    <p:animEffect transition="in" filter="checkerboard(across)">
                                      <p:cBhvr>
                                        <p:cTn id="12" dur="500"/>
                                        <p:tgtEl>
                                          <p:spTgt spid="319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9491">
                                            <p:txEl>
                                              <p:pRg st="2" end="2"/>
                                            </p:txEl>
                                          </p:spTgt>
                                        </p:tgtEl>
                                        <p:attrNameLst>
                                          <p:attrName>style.visibility</p:attrName>
                                        </p:attrNameLst>
                                      </p:cBhvr>
                                      <p:to>
                                        <p:strVal val="visible"/>
                                      </p:to>
                                    </p:set>
                                    <p:animEffect transition="in" filter="checkerboard(across)">
                                      <p:cBhvr>
                                        <p:cTn id="17" dur="500"/>
                                        <p:tgtEl>
                                          <p:spTgt spid="319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87F24-1E52-7FC3-BFF6-7A07838D4A6C}"/>
              </a:ext>
            </a:extLst>
          </p:cNvPr>
          <p:cNvSpPr>
            <a:spLocks noGrp="1"/>
          </p:cNvSpPr>
          <p:nvPr>
            <p:ph type="title"/>
          </p:nvPr>
        </p:nvSpPr>
        <p:spPr/>
        <p:txBody>
          <a:bodyPr/>
          <a:lstStyle/>
          <a:p>
            <a:r>
              <a:rPr kumimoji="1" lang="zh-CN" altLang="en-US" dirty="0"/>
              <a:t>目录结构</a:t>
            </a:r>
          </a:p>
        </p:txBody>
      </p:sp>
      <p:sp>
        <p:nvSpPr>
          <p:cNvPr id="3" name="内容占位符 2">
            <a:extLst>
              <a:ext uri="{FF2B5EF4-FFF2-40B4-BE49-F238E27FC236}">
                <a16:creationId xmlns:a16="http://schemas.microsoft.com/office/drawing/2014/main" id="{17B8F90D-B3EF-4557-C2F3-5143B20D4637}"/>
              </a:ext>
            </a:extLst>
          </p:cNvPr>
          <p:cNvSpPr>
            <a:spLocks noGrp="1"/>
          </p:cNvSpPr>
          <p:nvPr>
            <p:ph idx="1"/>
          </p:nvPr>
        </p:nvSpPr>
        <p:spPr/>
        <p:txBody>
          <a:bodyPr/>
          <a:lstStyle/>
          <a:p>
            <a:r>
              <a:rPr kumimoji="1" lang="zh-CN" altLang="en-US" dirty="0"/>
              <a:t>包含了所有文件的信息的结点的集合</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目录结构和文件都驻留在磁盘上</a:t>
            </a:r>
          </a:p>
        </p:txBody>
      </p:sp>
      <p:sp>
        <p:nvSpPr>
          <p:cNvPr id="4" name="灯片编号占位符 3">
            <a:extLst>
              <a:ext uri="{FF2B5EF4-FFF2-40B4-BE49-F238E27FC236}">
                <a16:creationId xmlns:a16="http://schemas.microsoft.com/office/drawing/2014/main" id="{2848F212-19E9-BDDA-1E61-6D7F70B1C27A}"/>
              </a:ext>
            </a:extLst>
          </p:cNvPr>
          <p:cNvSpPr>
            <a:spLocks noGrp="1"/>
          </p:cNvSpPr>
          <p:nvPr>
            <p:ph type="sldNum" sz="quarter" idx="12"/>
          </p:nvPr>
        </p:nvSpPr>
        <p:spPr/>
        <p:txBody>
          <a:bodyPr/>
          <a:lstStyle/>
          <a:p>
            <a:fld id="{4093CC90-4002-504C-BD88-C9A1D374048E}" type="slidenum">
              <a:rPr lang="zh-CN" altLang="en-US" smtClean="0"/>
              <a:pPr/>
              <a:t>42</a:t>
            </a:fld>
            <a:endParaRPr lang="zh-CN" altLang="en-US" dirty="0"/>
          </a:p>
        </p:txBody>
      </p:sp>
      <p:graphicFrame>
        <p:nvGraphicFramePr>
          <p:cNvPr id="5" name="Object 2">
            <a:extLst>
              <a:ext uri="{FF2B5EF4-FFF2-40B4-BE49-F238E27FC236}">
                <a16:creationId xmlns:a16="http://schemas.microsoft.com/office/drawing/2014/main" id="{6B68E0EE-DD94-ECE0-58D4-254440A3C0DF}"/>
              </a:ext>
            </a:extLst>
          </p:cNvPr>
          <p:cNvGraphicFramePr>
            <a:graphicFrameLocks noChangeAspect="1"/>
          </p:cNvGraphicFramePr>
          <p:nvPr/>
        </p:nvGraphicFramePr>
        <p:xfrm>
          <a:off x="2366283" y="2098541"/>
          <a:ext cx="3309590" cy="2865119"/>
        </p:xfrm>
        <a:graphic>
          <a:graphicData uri="http://schemas.openxmlformats.org/presentationml/2006/ole">
            <mc:AlternateContent xmlns:mc="http://schemas.openxmlformats.org/markup-compatibility/2006">
              <mc:Choice xmlns:v="urn:schemas-microsoft-com:vml" Requires="v">
                <p:oleObj name="Acrobat Document" r:id="rId2" imgW="2171594" imgH="1874473" progId="AcroExch.Document.DC">
                  <p:embed/>
                </p:oleObj>
              </mc:Choice>
              <mc:Fallback>
                <p:oleObj name="Acrobat Document" r:id="rId2" imgW="2171594" imgH="1874473" progId="AcroExch.Document.DC">
                  <p:embed/>
                  <p:pic>
                    <p:nvPicPr>
                      <p:cNvPr id="5" name="Object 2">
                        <a:extLst>
                          <a:ext uri="{FF2B5EF4-FFF2-40B4-BE49-F238E27FC236}">
                            <a16:creationId xmlns:a16="http://schemas.microsoft.com/office/drawing/2014/main" id="{6B68E0EE-DD94-ECE0-58D4-254440A3C0DF}"/>
                          </a:ext>
                        </a:extLst>
                      </p:cNvPr>
                      <p:cNvPicPr/>
                      <p:nvPr/>
                    </p:nvPicPr>
                    <p:blipFill>
                      <a:blip r:embed="rId3"/>
                      <a:stretch>
                        <a:fillRect/>
                      </a:stretch>
                    </p:blipFill>
                    <p:spPr>
                      <a:xfrm>
                        <a:off x="2366283" y="2098541"/>
                        <a:ext cx="3309590" cy="2865119"/>
                      </a:xfrm>
                      <a:prstGeom prst="rect">
                        <a:avLst/>
                      </a:prstGeom>
                    </p:spPr>
                  </p:pic>
                </p:oleObj>
              </mc:Fallback>
            </mc:AlternateContent>
          </a:graphicData>
        </a:graphic>
      </p:graphicFrame>
    </p:spTree>
    <p:extLst>
      <p:ext uri="{BB962C8B-B14F-4D97-AF65-F5344CB8AC3E}">
        <p14:creationId xmlns:p14="http://schemas.microsoft.com/office/powerpoint/2010/main" val="3502461762"/>
      </p:ext>
    </p:extLst>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AD58EE10-C2EC-383D-9964-2F5B2F862B12}"/>
              </a:ext>
            </a:extLst>
          </p:cNvPr>
          <p:cNvSpPr>
            <a:spLocks noGrp="1" noChangeArrowheads="1"/>
          </p:cNvSpPr>
          <p:nvPr>
            <p:ph type="title"/>
          </p:nvPr>
        </p:nvSpPr>
        <p:spPr>
          <a:xfrm>
            <a:off x="1042988" y="225431"/>
            <a:ext cx="7850187" cy="746125"/>
          </a:xfrm>
        </p:spPr>
        <p:txBody>
          <a:bodyPr/>
          <a:lstStyle/>
          <a:p>
            <a:r>
              <a:rPr lang="zh-CN" altLang="en-US" dirty="0"/>
              <a:t>目录概述</a:t>
            </a:r>
            <a:endParaRPr lang="en-US" altLang="zh-CN" dirty="0"/>
          </a:p>
        </p:txBody>
      </p:sp>
      <p:sp>
        <p:nvSpPr>
          <p:cNvPr id="344067" name="Rectangle 3">
            <a:extLst>
              <a:ext uri="{FF2B5EF4-FFF2-40B4-BE49-F238E27FC236}">
                <a16:creationId xmlns:a16="http://schemas.microsoft.com/office/drawing/2014/main" id="{01839D23-6D06-8F32-73B1-ED1B892C9E36}"/>
              </a:ext>
            </a:extLst>
          </p:cNvPr>
          <p:cNvSpPr>
            <a:spLocks noGrp="1" noChangeArrowheads="1"/>
          </p:cNvSpPr>
          <p:nvPr>
            <p:ph idx="1"/>
          </p:nvPr>
        </p:nvSpPr>
        <p:spPr>
          <a:xfrm>
            <a:off x="935038" y="1233488"/>
            <a:ext cx="7772400" cy="4895850"/>
          </a:xfrm>
        </p:spPr>
        <p:txBody>
          <a:bodyPr>
            <a:normAutofit/>
          </a:bodyPr>
          <a:lstStyle/>
          <a:p>
            <a:r>
              <a:rPr lang="zh-CN" altLang="en-US" dirty="0"/>
              <a:t>目录可看作符号表，它能将文件名称转换成目录项</a:t>
            </a:r>
          </a:p>
          <a:p>
            <a:r>
              <a:rPr lang="zh-CN" altLang="en-US" dirty="0"/>
              <a:t>目录的操作 </a:t>
            </a:r>
            <a:r>
              <a:rPr lang="en-US" altLang="zh-CN" dirty="0"/>
              <a:t>The operations on directories</a:t>
            </a:r>
          </a:p>
          <a:p>
            <a:pPr lvl="1"/>
            <a:r>
              <a:rPr lang="zh-CN" altLang="en-US" dirty="0"/>
              <a:t>搜索文件 </a:t>
            </a:r>
            <a:r>
              <a:rPr lang="en-US" altLang="zh-CN" dirty="0"/>
              <a:t>Search a file </a:t>
            </a:r>
          </a:p>
          <a:p>
            <a:pPr lvl="1"/>
            <a:r>
              <a:rPr lang="zh-CN" altLang="en-US" dirty="0"/>
              <a:t>创建文件 </a:t>
            </a:r>
            <a:r>
              <a:rPr lang="en-US" altLang="zh-CN" dirty="0"/>
              <a:t>Create a file</a:t>
            </a:r>
          </a:p>
          <a:p>
            <a:pPr lvl="1"/>
            <a:r>
              <a:rPr lang="zh-CN" altLang="en-US" dirty="0"/>
              <a:t>删除文件 </a:t>
            </a:r>
            <a:r>
              <a:rPr lang="en-US" altLang="zh-CN" dirty="0"/>
              <a:t>Delete a file </a:t>
            </a:r>
          </a:p>
          <a:p>
            <a:pPr lvl="1"/>
            <a:r>
              <a:rPr lang="zh-CN" altLang="en-US" dirty="0"/>
              <a:t>列目录  </a:t>
            </a:r>
            <a:r>
              <a:rPr lang="en-US" altLang="zh-CN" dirty="0"/>
              <a:t>List a directory</a:t>
            </a:r>
          </a:p>
          <a:p>
            <a:pPr lvl="1"/>
            <a:r>
              <a:rPr lang="zh-CN" altLang="en-US" dirty="0"/>
              <a:t>重命名文件 </a:t>
            </a:r>
            <a:r>
              <a:rPr lang="en-US" altLang="zh-CN" dirty="0"/>
              <a:t>Rename a file</a:t>
            </a:r>
          </a:p>
          <a:p>
            <a:pPr lvl="1"/>
            <a:r>
              <a:rPr lang="zh-CN" altLang="en-US" dirty="0"/>
              <a:t>遍历文件系统 </a:t>
            </a:r>
            <a:r>
              <a:rPr lang="en-US" altLang="zh-CN" dirty="0"/>
              <a:t>Traverse the file system</a:t>
            </a:r>
          </a:p>
        </p:txBody>
      </p:sp>
      <p:sp>
        <p:nvSpPr>
          <p:cNvPr id="2" name="灯片编号占位符 1">
            <a:extLst>
              <a:ext uri="{FF2B5EF4-FFF2-40B4-BE49-F238E27FC236}">
                <a16:creationId xmlns:a16="http://schemas.microsoft.com/office/drawing/2014/main" id="{DA8A7EC7-EEC8-C73F-1C37-B62FA3E65D58}"/>
              </a:ext>
            </a:extLst>
          </p:cNvPr>
          <p:cNvSpPr>
            <a:spLocks noGrp="1"/>
          </p:cNvSpPr>
          <p:nvPr>
            <p:ph type="sldNum" sz="quarter" idx="12"/>
          </p:nvPr>
        </p:nvSpPr>
        <p:spPr/>
        <p:txBody>
          <a:bodyPr/>
          <a:lstStyle/>
          <a:p>
            <a:fld id="{4093CC90-4002-504C-BD88-C9A1D374048E}" type="slidenum">
              <a:rPr lang="zh-CN" altLang="en-US" smtClean="0"/>
              <a:pPr/>
              <a:t>43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checkerboard(across)">
                                      <p:cBhvr>
                                        <p:cTn id="7" dur="500"/>
                                        <p:tgtEl>
                                          <p:spTgt spid="344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checkerboard(across)">
                                      <p:cBhvr>
                                        <p:cTn id="12" dur="500"/>
                                        <p:tgtEl>
                                          <p:spTgt spid="344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4067">
                                            <p:txEl>
                                              <p:pRg st="2" end="2"/>
                                            </p:txEl>
                                          </p:spTgt>
                                        </p:tgtEl>
                                        <p:attrNameLst>
                                          <p:attrName>style.visibility</p:attrName>
                                        </p:attrNameLst>
                                      </p:cBhvr>
                                      <p:to>
                                        <p:strVal val="visible"/>
                                      </p:to>
                                    </p:set>
                                    <p:animEffect transition="in" filter="checkerboard(across)">
                                      <p:cBhvr>
                                        <p:cTn id="17" dur="500"/>
                                        <p:tgtEl>
                                          <p:spTgt spid="3440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4067">
                                            <p:txEl>
                                              <p:pRg st="3" end="3"/>
                                            </p:txEl>
                                          </p:spTgt>
                                        </p:tgtEl>
                                        <p:attrNameLst>
                                          <p:attrName>style.visibility</p:attrName>
                                        </p:attrNameLst>
                                      </p:cBhvr>
                                      <p:to>
                                        <p:strVal val="visible"/>
                                      </p:to>
                                    </p:set>
                                    <p:animEffect transition="in" filter="checkerboard(across)">
                                      <p:cBhvr>
                                        <p:cTn id="22" dur="500"/>
                                        <p:tgtEl>
                                          <p:spTgt spid="3440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4067">
                                            <p:txEl>
                                              <p:pRg st="4" end="4"/>
                                            </p:txEl>
                                          </p:spTgt>
                                        </p:tgtEl>
                                        <p:attrNameLst>
                                          <p:attrName>style.visibility</p:attrName>
                                        </p:attrNameLst>
                                      </p:cBhvr>
                                      <p:to>
                                        <p:strVal val="visible"/>
                                      </p:to>
                                    </p:set>
                                    <p:animEffect transition="in" filter="checkerboard(across)">
                                      <p:cBhvr>
                                        <p:cTn id="27" dur="500"/>
                                        <p:tgtEl>
                                          <p:spTgt spid="3440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44067">
                                            <p:txEl>
                                              <p:pRg st="5" end="5"/>
                                            </p:txEl>
                                          </p:spTgt>
                                        </p:tgtEl>
                                        <p:attrNameLst>
                                          <p:attrName>style.visibility</p:attrName>
                                        </p:attrNameLst>
                                      </p:cBhvr>
                                      <p:to>
                                        <p:strVal val="visible"/>
                                      </p:to>
                                    </p:set>
                                    <p:animEffect transition="in" filter="checkerboard(across)">
                                      <p:cBhvr>
                                        <p:cTn id="32" dur="500"/>
                                        <p:tgtEl>
                                          <p:spTgt spid="3440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44067">
                                            <p:txEl>
                                              <p:pRg st="6" end="6"/>
                                            </p:txEl>
                                          </p:spTgt>
                                        </p:tgtEl>
                                        <p:attrNameLst>
                                          <p:attrName>style.visibility</p:attrName>
                                        </p:attrNameLst>
                                      </p:cBhvr>
                                      <p:to>
                                        <p:strVal val="visible"/>
                                      </p:to>
                                    </p:set>
                                    <p:animEffect transition="in" filter="checkerboard(across)">
                                      <p:cBhvr>
                                        <p:cTn id="37" dur="500"/>
                                        <p:tgtEl>
                                          <p:spTgt spid="3440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44067">
                                            <p:txEl>
                                              <p:pRg st="7" end="7"/>
                                            </p:txEl>
                                          </p:spTgt>
                                        </p:tgtEl>
                                        <p:attrNameLst>
                                          <p:attrName>style.visibility</p:attrName>
                                        </p:attrNameLst>
                                      </p:cBhvr>
                                      <p:to>
                                        <p:strVal val="visible"/>
                                      </p:to>
                                    </p:set>
                                    <p:animEffect transition="in" filter="checkerboard(across)">
                                      <p:cBhvr>
                                        <p:cTn id="42" dur="500"/>
                                        <p:tgtEl>
                                          <p:spTgt spid="3440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DEB2D355-3527-5D78-2B59-FF6F7886366F}"/>
              </a:ext>
            </a:extLst>
          </p:cNvPr>
          <p:cNvSpPr>
            <a:spLocks noGrp="1" noChangeArrowheads="1"/>
          </p:cNvSpPr>
          <p:nvPr>
            <p:ph type="title"/>
          </p:nvPr>
        </p:nvSpPr>
        <p:spPr>
          <a:xfrm>
            <a:off x="1042988" y="225431"/>
            <a:ext cx="7850187" cy="746125"/>
          </a:xfrm>
        </p:spPr>
        <p:txBody>
          <a:bodyPr/>
          <a:lstStyle/>
          <a:p>
            <a:r>
              <a:rPr lang="zh-CN" altLang="en-US"/>
              <a:t>文件控制块</a:t>
            </a:r>
          </a:p>
        </p:txBody>
      </p:sp>
      <p:sp>
        <p:nvSpPr>
          <p:cNvPr id="320515" name="Rectangle 3">
            <a:extLst>
              <a:ext uri="{FF2B5EF4-FFF2-40B4-BE49-F238E27FC236}">
                <a16:creationId xmlns:a16="http://schemas.microsoft.com/office/drawing/2014/main" id="{8467F3E7-6538-592E-1F5F-306A82C9D3BA}"/>
              </a:ext>
            </a:extLst>
          </p:cNvPr>
          <p:cNvSpPr>
            <a:spLocks noGrp="1" noChangeArrowheads="1"/>
          </p:cNvSpPr>
          <p:nvPr>
            <p:ph idx="1"/>
          </p:nvPr>
        </p:nvSpPr>
        <p:spPr>
          <a:xfrm>
            <a:off x="935038" y="1233488"/>
            <a:ext cx="7772400" cy="4895850"/>
          </a:xfrm>
        </p:spPr>
        <p:txBody>
          <a:bodyPr/>
          <a:lstStyle/>
          <a:p>
            <a:r>
              <a:rPr lang="zh-CN" altLang="en-US" dirty="0"/>
              <a:t>从文件管理的角度看，文件由文件说明和文件体两部分组成。</a:t>
            </a:r>
          </a:p>
          <a:p>
            <a:r>
              <a:rPr lang="zh-CN" altLang="en-US" dirty="0"/>
              <a:t>文件体即文件本身，而文件说明是保存文件属性信息的数据结构，又称为</a:t>
            </a:r>
            <a:r>
              <a:rPr lang="zh-CN" altLang="en-US" b="1" dirty="0">
                <a:solidFill>
                  <a:srgbClr val="FF0000"/>
                </a:solidFill>
              </a:rPr>
              <a:t>文件控制块</a:t>
            </a:r>
            <a:r>
              <a:rPr lang="zh-CN" altLang="en-US" dirty="0"/>
              <a:t>。</a:t>
            </a:r>
          </a:p>
          <a:p>
            <a:r>
              <a:rPr lang="zh-CN" altLang="en-US" dirty="0"/>
              <a:t>文件控制块包含的具体内容因操作系统而异，但至少应包括以下信息： </a:t>
            </a:r>
          </a:p>
        </p:txBody>
      </p:sp>
      <p:sp>
        <p:nvSpPr>
          <p:cNvPr id="2" name="灯片编号占位符 1">
            <a:extLst>
              <a:ext uri="{FF2B5EF4-FFF2-40B4-BE49-F238E27FC236}">
                <a16:creationId xmlns:a16="http://schemas.microsoft.com/office/drawing/2014/main" id="{64B9FF11-EF8D-D8B5-4D22-258D95137EC3}"/>
              </a:ext>
            </a:extLst>
          </p:cNvPr>
          <p:cNvSpPr>
            <a:spLocks noGrp="1"/>
          </p:cNvSpPr>
          <p:nvPr>
            <p:ph type="sldNum" sz="quarter" idx="12"/>
          </p:nvPr>
        </p:nvSpPr>
        <p:spPr/>
        <p:txBody>
          <a:bodyPr/>
          <a:lstStyle/>
          <a:p>
            <a:fld id="{4093CC90-4002-504C-BD88-C9A1D374048E}" type="slidenum">
              <a:rPr lang="zh-CN" altLang="en-US" smtClean="0"/>
              <a:pPr/>
              <a:t>44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checkerboard(across)">
                                      <p:cBhvr>
                                        <p:cTn id="7" dur="500"/>
                                        <p:tgtEl>
                                          <p:spTgt spid="320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checkerboard(across)">
                                      <p:cBhvr>
                                        <p:cTn id="12" dur="500"/>
                                        <p:tgtEl>
                                          <p:spTgt spid="320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checkerboard(across)">
                                      <p:cBhvr>
                                        <p:cTn id="17" dur="500"/>
                                        <p:tgtEl>
                                          <p:spTgt spid="320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C047422E-0F5C-8EAD-A085-1420FD51F306}"/>
              </a:ext>
            </a:extLst>
          </p:cNvPr>
          <p:cNvSpPr>
            <a:spLocks noGrp="1" noChangeArrowheads="1"/>
          </p:cNvSpPr>
          <p:nvPr>
            <p:ph type="title"/>
          </p:nvPr>
        </p:nvSpPr>
        <p:spPr>
          <a:xfrm>
            <a:off x="1042988" y="225431"/>
            <a:ext cx="7850187" cy="746125"/>
          </a:xfrm>
        </p:spPr>
        <p:txBody>
          <a:bodyPr/>
          <a:lstStyle/>
          <a:p>
            <a:r>
              <a:rPr lang="zh-CN" altLang="en-US"/>
              <a:t>文件控制块的内容</a:t>
            </a:r>
          </a:p>
        </p:txBody>
      </p:sp>
      <p:sp>
        <p:nvSpPr>
          <p:cNvPr id="321539" name="Rectangle 3">
            <a:extLst>
              <a:ext uri="{FF2B5EF4-FFF2-40B4-BE49-F238E27FC236}">
                <a16:creationId xmlns:a16="http://schemas.microsoft.com/office/drawing/2014/main" id="{64C88081-6578-AD84-406D-77A79834C86C}"/>
              </a:ext>
            </a:extLst>
          </p:cNvPr>
          <p:cNvSpPr>
            <a:spLocks noGrp="1" noChangeArrowheads="1"/>
          </p:cNvSpPr>
          <p:nvPr>
            <p:ph idx="1"/>
          </p:nvPr>
        </p:nvSpPr>
        <p:spPr>
          <a:xfrm>
            <a:off x="935038" y="1233488"/>
            <a:ext cx="7772400" cy="4895850"/>
          </a:xfrm>
        </p:spPr>
        <p:txBody>
          <a:bodyPr/>
          <a:lstStyle/>
          <a:p>
            <a:r>
              <a:rPr lang="zh-CN" altLang="en-US"/>
              <a:t>文件名：标识一个文件的符号名。</a:t>
            </a:r>
          </a:p>
          <a:p>
            <a:r>
              <a:rPr lang="zh-CN" altLang="en-US"/>
              <a:t>文件类型：如文本文件。</a:t>
            </a:r>
          </a:p>
          <a:p>
            <a:r>
              <a:rPr lang="zh-CN" altLang="en-US"/>
              <a:t>文件结构：说明文件的逻辑结构和物理结构。</a:t>
            </a:r>
          </a:p>
          <a:p>
            <a:r>
              <a:rPr lang="zh-CN" altLang="en-US"/>
              <a:t>文件的物理位置：指示文件在外存上的存储位置。包括设备名、存储地址及文件长度等。</a:t>
            </a:r>
          </a:p>
          <a:p>
            <a:r>
              <a:rPr lang="zh-CN" altLang="en-US"/>
              <a:t>存取控制信息：指示文件的存取权限。</a:t>
            </a:r>
          </a:p>
          <a:p>
            <a:r>
              <a:rPr lang="zh-CN" altLang="en-US"/>
              <a:t>管理信息：包括文件建立的日期及时间、上次存取日期及时间、当前文件使用状态信息。</a:t>
            </a:r>
          </a:p>
        </p:txBody>
      </p:sp>
      <p:sp>
        <p:nvSpPr>
          <p:cNvPr id="2" name="灯片编号占位符 1">
            <a:extLst>
              <a:ext uri="{FF2B5EF4-FFF2-40B4-BE49-F238E27FC236}">
                <a16:creationId xmlns:a16="http://schemas.microsoft.com/office/drawing/2014/main" id="{1D869EE1-4D8D-151B-F1E1-F91E497EEF4D}"/>
              </a:ext>
            </a:extLst>
          </p:cNvPr>
          <p:cNvSpPr>
            <a:spLocks noGrp="1"/>
          </p:cNvSpPr>
          <p:nvPr>
            <p:ph type="sldNum" sz="quarter" idx="12"/>
          </p:nvPr>
        </p:nvSpPr>
        <p:spPr/>
        <p:txBody>
          <a:bodyPr/>
          <a:lstStyle/>
          <a:p>
            <a:fld id="{4093CC90-4002-504C-BD88-C9A1D374048E}" type="slidenum">
              <a:rPr lang="zh-CN" altLang="en-US" smtClean="0"/>
              <a:pPr/>
              <a:t>45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animEffect transition="in" filter="checkerboard(across)">
                                      <p:cBhvr>
                                        <p:cTn id="7" dur="500"/>
                                        <p:tgtEl>
                                          <p:spTgt spid="321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1539">
                                            <p:txEl>
                                              <p:pRg st="1" end="1"/>
                                            </p:txEl>
                                          </p:spTgt>
                                        </p:tgtEl>
                                        <p:attrNameLst>
                                          <p:attrName>style.visibility</p:attrName>
                                        </p:attrNameLst>
                                      </p:cBhvr>
                                      <p:to>
                                        <p:strVal val="visible"/>
                                      </p:to>
                                    </p:set>
                                    <p:animEffect transition="in" filter="checkerboard(across)">
                                      <p:cBhvr>
                                        <p:cTn id="12" dur="500"/>
                                        <p:tgtEl>
                                          <p:spTgt spid="321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1539">
                                            <p:txEl>
                                              <p:pRg st="2" end="2"/>
                                            </p:txEl>
                                          </p:spTgt>
                                        </p:tgtEl>
                                        <p:attrNameLst>
                                          <p:attrName>style.visibility</p:attrName>
                                        </p:attrNameLst>
                                      </p:cBhvr>
                                      <p:to>
                                        <p:strVal val="visible"/>
                                      </p:to>
                                    </p:set>
                                    <p:animEffect transition="in" filter="checkerboard(across)">
                                      <p:cBhvr>
                                        <p:cTn id="17" dur="500"/>
                                        <p:tgtEl>
                                          <p:spTgt spid="3215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1539">
                                            <p:txEl>
                                              <p:pRg st="3" end="3"/>
                                            </p:txEl>
                                          </p:spTgt>
                                        </p:tgtEl>
                                        <p:attrNameLst>
                                          <p:attrName>style.visibility</p:attrName>
                                        </p:attrNameLst>
                                      </p:cBhvr>
                                      <p:to>
                                        <p:strVal val="visible"/>
                                      </p:to>
                                    </p:set>
                                    <p:animEffect transition="in" filter="checkerboard(across)">
                                      <p:cBhvr>
                                        <p:cTn id="22" dur="500"/>
                                        <p:tgtEl>
                                          <p:spTgt spid="3215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21539">
                                            <p:txEl>
                                              <p:pRg st="4" end="4"/>
                                            </p:txEl>
                                          </p:spTgt>
                                        </p:tgtEl>
                                        <p:attrNameLst>
                                          <p:attrName>style.visibility</p:attrName>
                                        </p:attrNameLst>
                                      </p:cBhvr>
                                      <p:to>
                                        <p:strVal val="visible"/>
                                      </p:to>
                                    </p:set>
                                    <p:animEffect transition="in" filter="checkerboard(across)">
                                      <p:cBhvr>
                                        <p:cTn id="27" dur="500"/>
                                        <p:tgtEl>
                                          <p:spTgt spid="3215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21539">
                                            <p:txEl>
                                              <p:pRg st="5" end="5"/>
                                            </p:txEl>
                                          </p:spTgt>
                                        </p:tgtEl>
                                        <p:attrNameLst>
                                          <p:attrName>style.visibility</p:attrName>
                                        </p:attrNameLst>
                                      </p:cBhvr>
                                      <p:to>
                                        <p:strVal val="visible"/>
                                      </p:to>
                                    </p:set>
                                    <p:animEffect transition="in" filter="checkerboard(across)">
                                      <p:cBhvr>
                                        <p:cTn id="32" dur="500"/>
                                        <p:tgtEl>
                                          <p:spTgt spid="3215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BFA72175-4C1E-6A9F-2455-F349D29270D8}"/>
              </a:ext>
            </a:extLst>
          </p:cNvPr>
          <p:cNvSpPr>
            <a:spLocks noGrp="1" noChangeArrowheads="1"/>
          </p:cNvSpPr>
          <p:nvPr>
            <p:ph type="title"/>
          </p:nvPr>
        </p:nvSpPr>
        <p:spPr>
          <a:xfrm>
            <a:off x="1042988" y="225431"/>
            <a:ext cx="7850187" cy="746125"/>
          </a:xfrm>
        </p:spPr>
        <p:txBody>
          <a:bodyPr/>
          <a:lstStyle/>
          <a:p>
            <a:r>
              <a:rPr lang="zh-CN" altLang="en-US"/>
              <a:t>文件目录及目录文件</a:t>
            </a:r>
          </a:p>
        </p:txBody>
      </p:sp>
      <p:sp>
        <p:nvSpPr>
          <p:cNvPr id="54274" name="Rectangle 3">
            <a:extLst>
              <a:ext uri="{FF2B5EF4-FFF2-40B4-BE49-F238E27FC236}">
                <a16:creationId xmlns:a16="http://schemas.microsoft.com/office/drawing/2014/main" id="{5F4A4CE8-386B-0B8F-A88B-76570D4D4EC5}"/>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目录</a:t>
            </a:r>
            <a:r>
              <a:rPr lang="zh-CN" altLang="en-US" dirty="0"/>
              <a:t>：文件控制块的集合。即文件控制块是一个目录项。</a:t>
            </a:r>
          </a:p>
          <a:p>
            <a:r>
              <a:rPr lang="zh-CN" altLang="en-US" b="1" dirty="0">
                <a:solidFill>
                  <a:srgbClr val="FF0000"/>
                </a:solidFill>
              </a:rPr>
              <a:t>目录文件</a:t>
            </a:r>
            <a:r>
              <a:rPr lang="zh-CN" altLang="en-US" dirty="0"/>
              <a:t>：文件的内容为目录信息。</a:t>
            </a:r>
          </a:p>
        </p:txBody>
      </p:sp>
      <p:sp>
        <p:nvSpPr>
          <p:cNvPr id="2" name="灯片编号占位符 1">
            <a:extLst>
              <a:ext uri="{FF2B5EF4-FFF2-40B4-BE49-F238E27FC236}">
                <a16:creationId xmlns:a16="http://schemas.microsoft.com/office/drawing/2014/main" id="{E482D20F-4B92-1DCC-07AD-34AB6645987E}"/>
              </a:ext>
            </a:extLst>
          </p:cNvPr>
          <p:cNvSpPr>
            <a:spLocks noGrp="1"/>
          </p:cNvSpPr>
          <p:nvPr>
            <p:ph type="sldNum" sz="quarter" idx="12"/>
          </p:nvPr>
        </p:nvSpPr>
        <p:spPr/>
        <p:txBody>
          <a:bodyPr/>
          <a:lstStyle/>
          <a:p>
            <a:fld id="{4093CC90-4002-504C-BD88-C9A1D374048E}" type="slidenum">
              <a:rPr lang="zh-CN" altLang="en-US" smtClean="0"/>
              <a:pPr/>
              <a:t>46</a:t>
            </a:fld>
            <a:endParaRPr lang="zh-CN" altLang="en-US" dirty="0"/>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EDD7703-241E-08C9-82E4-36B730ADEB15}"/>
              </a:ext>
            </a:extLst>
          </p:cNvPr>
          <p:cNvSpPr>
            <a:spLocks noGrp="1" noChangeArrowheads="1"/>
          </p:cNvSpPr>
          <p:nvPr>
            <p:ph type="title"/>
          </p:nvPr>
        </p:nvSpPr>
        <p:spPr/>
        <p:txBody>
          <a:bodyPr/>
          <a:lstStyle/>
          <a:p>
            <a:pPr eaLnBrk="1" hangingPunct="1"/>
            <a:r>
              <a:rPr lang="zh-CN" altLang="en-US"/>
              <a:t>目录具有的功能</a:t>
            </a:r>
          </a:p>
        </p:txBody>
      </p:sp>
      <p:sp>
        <p:nvSpPr>
          <p:cNvPr id="323587" name="Rectangle 3">
            <a:extLst>
              <a:ext uri="{FF2B5EF4-FFF2-40B4-BE49-F238E27FC236}">
                <a16:creationId xmlns:a16="http://schemas.microsoft.com/office/drawing/2014/main" id="{63C24E88-34E5-4C50-E6E6-3FC02C8E19A5}"/>
              </a:ext>
            </a:extLst>
          </p:cNvPr>
          <p:cNvSpPr>
            <a:spLocks noGrp="1" noChangeArrowheads="1"/>
          </p:cNvSpPr>
          <p:nvPr>
            <p:ph idx="1"/>
          </p:nvPr>
        </p:nvSpPr>
        <p:spPr/>
        <p:txBody>
          <a:bodyPr/>
          <a:lstStyle/>
          <a:p>
            <a:pPr algn="just" eaLnBrk="1" hangingPunct="1"/>
            <a:r>
              <a:rPr lang="zh-CN" altLang="en-US"/>
              <a:t>实现</a:t>
            </a:r>
            <a:r>
              <a:rPr lang="zh-CN" altLang="en-US">
                <a:latin typeface="Courier New" panose="02070309020205020404" pitchFamily="49" charset="0"/>
              </a:rPr>
              <a:t>“</a:t>
            </a:r>
            <a:r>
              <a:rPr lang="zh-CN" altLang="en-US"/>
              <a:t>按名存取</a:t>
            </a:r>
            <a:r>
              <a:rPr lang="zh-CN" altLang="en-US">
                <a:latin typeface="Courier New" panose="02070309020205020404" pitchFamily="49" charset="0"/>
              </a:rPr>
              <a:t>”</a:t>
            </a:r>
            <a:r>
              <a:rPr lang="zh-CN" altLang="en-US"/>
              <a:t>：用户只需提供文件名就可以对文件进行操作。这是目录管理的最基本功能。</a:t>
            </a:r>
          </a:p>
          <a:p>
            <a:pPr algn="just" eaLnBrk="1" hangingPunct="1"/>
            <a:r>
              <a:rPr lang="zh-CN" altLang="en-US"/>
              <a:t>提高检索速度</a:t>
            </a:r>
          </a:p>
          <a:p>
            <a:pPr algn="just" eaLnBrk="1" hangingPunct="1"/>
            <a:r>
              <a:rPr lang="zh-CN" altLang="en-US"/>
              <a:t>允许文件同名：不同目录下的文件可以使用相同名字。</a:t>
            </a:r>
          </a:p>
          <a:p>
            <a:pPr algn="just" eaLnBrk="1" hangingPunct="1"/>
            <a:r>
              <a:rPr lang="zh-CN" altLang="en-US"/>
              <a:t>允许文件共享</a:t>
            </a:r>
          </a:p>
        </p:txBody>
      </p:sp>
      <p:sp>
        <p:nvSpPr>
          <p:cNvPr id="2" name="灯片编号占位符 1">
            <a:extLst>
              <a:ext uri="{FF2B5EF4-FFF2-40B4-BE49-F238E27FC236}">
                <a16:creationId xmlns:a16="http://schemas.microsoft.com/office/drawing/2014/main" id="{8AAB78BC-CD0F-5F46-2AE6-5CEDDFEED423}"/>
              </a:ext>
            </a:extLst>
          </p:cNvPr>
          <p:cNvSpPr>
            <a:spLocks noGrp="1"/>
          </p:cNvSpPr>
          <p:nvPr>
            <p:ph type="sldNum" sz="quarter" idx="12"/>
          </p:nvPr>
        </p:nvSpPr>
        <p:spPr/>
        <p:txBody>
          <a:bodyPr/>
          <a:lstStyle/>
          <a:p>
            <a:fld id="{4093CC90-4002-504C-BD88-C9A1D374048E}" type="slidenum">
              <a:rPr lang="zh-CN" altLang="en-US" smtClean="0"/>
              <a:pPr/>
              <a:t>47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3587">
                                            <p:txEl>
                                              <p:pRg st="0" end="0"/>
                                            </p:txEl>
                                          </p:spTgt>
                                        </p:tgtEl>
                                        <p:attrNameLst>
                                          <p:attrName>style.visibility</p:attrName>
                                        </p:attrNameLst>
                                      </p:cBhvr>
                                      <p:to>
                                        <p:strVal val="visible"/>
                                      </p:to>
                                    </p:set>
                                    <p:animEffect transition="in" filter="checkerboard(across)">
                                      <p:cBhvr>
                                        <p:cTn id="7" dur="500"/>
                                        <p:tgtEl>
                                          <p:spTgt spid="323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23587">
                                            <p:txEl>
                                              <p:pRg st="1" end="1"/>
                                            </p:txEl>
                                          </p:spTgt>
                                        </p:tgtEl>
                                        <p:attrNameLst>
                                          <p:attrName>style.visibility</p:attrName>
                                        </p:attrNameLst>
                                      </p:cBhvr>
                                      <p:to>
                                        <p:strVal val="visible"/>
                                      </p:to>
                                    </p:set>
                                    <p:animEffect transition="in" filter="checkerboard(across)">
                                      <p:cBhvr>
                                        <p:cTn id="12" dur="500"/>
                                        <p:tgtEl>
                                          <p:spTgt spid="323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23587">
                                            <p:txEl>
                                              <p:pRg st="2" end="2"/>
                                            </p:txEl>
                                          </p:spTgt>
                                        </p:tgtEl>
                                        <p:attrNameLst>
                                          <p:attrName>style.visibility</p:attrName>
                                        </p:attrNameLst>
                                      </p:cBhvr>
                                      <p:to>
                                        <p:strVal val="visible"/>
                                      </p:to>
                                    </p:set>
                                    <p:animEffect transition="in" filter="checkerboard(across)">
                                      <p:cBhvr>
                                        <p:cTn id="17" dur="500"/>
                                        <p:tgtEl>
                                          <p:spTgt spid="323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23587">
                                            <p:txEl>
                                              <p:pRg st="3" end="3"/>
                                            </p:txEl>
                                          </p:spTgt>
                                        </p:tgtEl>
                                        <p:attrNameLst>
                                          <p:attrName>style.visibility</p:attrName>
                                        </p:attrNameLst>
                                      </p:cBhvr>
                                      <p:to>
                                        <p:strVal val="visible"/>
                                      </p:to>
                                    </p:set>
                                    <p:animEffect transition="in" filter="checkerboard(across)">
                                      <p:cBhvr>
                                        <p:cTn id="22" dur="500"/>
                                        <p:tgtEl>
                                          <p:spTgt spid="3235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79563645-FBAF-9FAB-1482-901203BAAD09}"/>
              </a:ext>
            </a:extLst>
          </p:cNvPr>
          <p:cNvSpPr>
            <a:spLocks noGrp="1" noChangeArrowheads="1"/>
          </p:cNvSpPr>
          <p:nvPr>
            <p:ph type="title"/>
          </p:nvPr>
        </p:nvSpPr>
        <p:spPr/>
        <p:txBody>
          <a:bodyPr/>
          <a:lstStyle/>
          <a:p>
            <a:pPr eaLnBrk="1" hangingPunct="1"/>
            <a:r>
              <a:rPr lang="en-US" altLang="zh-CN"/>
              <a:t>DOS</a:t>
            </a:r>
            <a:r>
              <a:rPr lang="zh-CN" altLang="en-US"/>
              <a:t>的文件控制块</a:t>
            </a:r>
          </a:p>
        </p:txBody>
      </p:sp>
      <p:sp>
        <p:nvSpPr>
          <p:cNvPr id="56322" name="Rectangle 3">
            <a:extLst>
              <a:ext uri="{FF2B5EF4-FFF2-40B4-BE49-F238E27FC236}">
                <a16:creationId xmlns:a16="http://schemas.microsoft.com/office/drawing/2014/main" id="{99B394E6-B881-13B0-1014-BE81ACA8EBB1}"/>
              </a:ext>
            </a:extLst>
          </p:cNvPr>
          <p:cNvSpPr>
            <a:spLocks noGrp="1" noChangeArrowheads="1"/>
          </p:cNvSpPr>
          <p:nvPr>
            <p:ph idx="1"/>
          </p:nvPr>
        </p:nvSpPr>
        <p:spPr>
          <a:xfrm>
            <a:off x="3048000" y="1600200"/>
            <a:ext cx="5867400" cy="4343400"/>
          </a:xfrm>
        </p:spPr>
        <p:txBody>
          <a:bodyPr/>
          <a:lstStyle/>
          <a:p>
            <a:pPr eaLnBrk="1" hangingPunct="1"/>
            <a:r>
              <a:rPr lang="zh-CN" altLang="en-US"/>
              <a:t>文件名及扩展名占11字节；属性占1字节，包括只读、隐藏、系统、卷标、子目录及归档；上次存取时间及日期各占2个字节；文件起始簇号占2个字节；文件长度占4个字节。</a:t>
            </a:r>
          </a:p>
          <a:p>
            <a:pPr eaLnBrk="1" hangingPunct="1"/>
            <a:r>
              <a:rPr lang="en-US" altLang="zh-CN"/>
              <a:t>FCB</a:t>
            </a:r>
            <a:r>
              <a:rPr lang="zh-CN" altLang="en-US"/>
              <a:t>的长度为32字节。</a:t>
            </a:r>
          </a:p>
        </p:txBody>
      </p:sp>
      <p:graphicFrame>
        <p:nvGraphicFramePr>
          <p:cNvPr id="324612" name="Group 4">
            <a:extLst>
              <a:ext uri="{FF2B5EF4-FFF2-40B4-BE49-F238E27FC236}">
                <a16:creationId xmlns:a16="http://schemas.microsoft.com/office/drawing/2014/main" id="{29F51BFF-2008-987B-AD74-E8F4BABEEF1B}"/>
              </a:ext>
            </a:extLst>
          </p:cNvPr>
          <p:cNvGraphicFramePr>
            <a:graphicFrameLocks noGrp="1"/>
          </p:cNvGraphicFramePr>
          <p:nvPr/>
        </p:nvGraphicFramePr>
        <p:xfrm>
          <a:off x="457200" y="1600200"/>
          <a:ext cx="2362200" cy="3657600"/>
        </p:xfrm>
        <a:graphic>
          <a:graphicData uri="http://schemas.openxmlformats.org/drawingml/2006/table">
            <a:tbl>
              <a:tblPr/>
              <a:tblGrid>
                <a:gridCol w="2362200">
                  <a:extLst>
                    <a:ext uri="{9D8B030D-6E8A-4147-A177-3AD203B41FA5}">
                      <a16:colId xmlns:a16="http://schemas.microsoft.com/office/drawing/2014/main" val="636153137"/>
                    </a:ext>
                  </a:extLst>
                </a:gridCol>
              </a:tblGrid>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文件名</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564907628"/>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扩展名</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0110127"/>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文件属性</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801945879"/>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备用</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153582065"/>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上次访问时间</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346778237"/>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上次访问日期</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3525235"/>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文件起始簇号</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755175741"/>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文件长度</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027824896"/>
                  </a:ext>
                </a:extLst>
              </a:tr>
            </a:tbl>
          </a:graphicData>
        </a:graphic>
      </p:graphicFrame>
      <p:sp>
        <p:nvSpPr>
          <p:cNvPr id="2" name="灯片编号占位符 1">
            <a:extLst>
              <a:ext uri="{FF2B5EF4-FFF2-40B4-BE49-F238E27FC236}">
                <a16:creationId xmlns:a16="http://schemas.microsoft.com/office/drawing/2014/main" id="{C7412114-95A1-6973-2B78-8501F77297E1}"/>
              </a:ext>
            </a:extLst>
          </p:cNvPr>
          <p:cNvSpPr>
            <a:spLocks noGrp="1"/>
          </p:cNvSpPr>
          <p:nvPr>
            <p:ph type="sldNum" sz="quarter" idx="12"/>
          </p:nvPr>
        </p:nvSpPr>
        <p:spPr/>
        <p:txBody>
          <a:bodyPr/>
          <a:lstStyle/>
          <a:p>
            <a:fld id="{4093CC90-4002-504C-BD88-C9A1D374048E}" type="slidenum">
              <a:rPr lang="zh-CN" altLang="en-US" smtClean="0"/>
              <a:pPr/>
              <a:t>48</a:t>
            </a:fld>
            <a:endParaRPr lang="zh-CN" altLang="en-US" dirty="0"/>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756AB30D-A27C-CA7B-DA22-75842E03EE92}"/>
              </a:ext>
            </a:extLst>
          </p:cNvPr>
          <p:cNvSpPr>
            <a:spLocks noGrp="1" noChangeArrowheads="1"/>
          </p:cNvSpPr>
          <p:nvPr>
            <p:ph type="title"/>
          </p:nvPr>
        </p:nvSpPr>
        <p:spPr>
          <a:xfrm>
            <a:off x="1042988" y="225431"/>
            <a:ext cx="7850187" cy="746125"/>
          </a:xfrm>
        </p:spPr>
        <p:txBody>
          <a:bodyPr/>
          <a:lstStyle/>
          <a:p>
            <a:r>
              <a:rPr lang="zh-CN" altLang="en-US"/>
              <a:t>目录结构</a:t>
            </a:r>
          </a:p>
        </p:txBody>
      </p:sp>
      <p:sp>
        <p:nvSpPr>
          <p:cNvPr id="57346" name="Rectangle 3">
            <a:extLst>
              <a:ext uri="{FF2B5EF4-FFF2-40B4-BE49-F238E27FC236}">
                <a16:creationId xmlns:a16="http://schemas.microsoft.com/office/drawing/2014/main" id="{04080C8E-BBAA-40F9-FA25-28B66E8999A6}"/>
              </a:ext>
            </a:extLst>
          </p:cNvPr>
          <p:cNvSpPr>
            <a:spLocks noGrp="1" noChangeArrowheads="1"/>
          </p:cNvSpPr>
          <p:nvPr>
            <p:ph idx="1"/>
          </p:nvPr>
        </p:nvSpPr>
        <p:spPr>
          <a:xfrm>
            <a:off x="935038" y="1233488"/>
            <a:ext cx="7772400" cy="4895850"/>
          </a:xfrm>
        </p:spPr>
        <p:txBody>
          <a:bodyPr/>
          <a:lstStyle/>
          <a:p>
            <a:r>
              <a:rPr lang="zh-CN" altLang="en-US"/>
              <a:t>常用的文件目录结构有：</a:t>
            </a:r>
          </a:p>
          <a:p>
            <a:pPr lvl="1"/>
            <a:r>
              <a:rPr lang="zh-CN" altLang="en-US"/>
              <a:t>单级目录结构</a:t>
            </a:r>
          </a:p>
          <a:p>
            <a:pPr lvl="1"/>
            <a:r>
              <a:rPr lang="zh-CN" altLang="en-US"/>
              <a:t>二级目录结构</a:t>
            </a:r>
          </a:p>
          <a:p>
            <a:pPr lvl="1"/>
            <a:r>
              <a:rPr lang="zh-CN" altLang="en-US"/>
              <a:t>多级目录结构</a:t>
            </a:r>
          </a:p>
          <a:p>
            <a:pPr lvl="1"/>
            <a:r>
              <a:rPr lang="zh-CN" altLang="en-US"/>
              <a:t>图形目录结构</a:t>
            </a:r>
          </a:p>
        </p:txBody>
      </p:sp>
      <p:sp>
        <p:nvSpPr>
          <p:cNvPr id="2" name="灯片编号占位符 1">
            <a:extLst>
              <a:ext uri="{FF2B5EF4-FFF2-40B4-BE49-F238E27FC236}">
                <a16:creationId xmlns:a16="http://schemas.microsoft.com/office/drawing/2014/main" id="{8ED02498-C796-054B-8762-C3BCAFE7BDA1}"/>
              </a:ext>
            </a:extLst>
          </p:cNvPr>
          <p:cNvSpPr>
            <a:spLocks noGrp="1"/>
          </p:cNvSpPr>
          <p:nvPr>
            <p:ph type="sldNum" sz="quarter" idx="12"/>
          </p:nvPr>
        </p:nvSpPr>
        <p:spPr/>
        <p:txBody>
          <a:bodyPr/>
          <a:lstStyle/>
          <a:p>
            <a:fld id="{4093CC90-4002-504C-BD88-C9A1D374048E}" type="slidenum">
              <a:rPr lang="zh-CN" altLang="en-US" smtClean="0"/>
              <a:pPr/>
              <a:t>49</a:t>
            </a:fld>
            <a:endParaRPr lang="zh-CN" altLang="en-US" dirty="0"/>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6518831-068F-B9A1-4E2E-04769616A712}"/>
              </a:ext>
            </a:extLst>
          </p:cNvPr>
          <p:cNvSpPr>
            <a:spLocks noGrp="1" noChangeArrowheads="1"/>
          </p:cNvSpPr>
          <p:nvPr>
            <p:ph type="title"/>
          </p:nvPr>
        </p:nvSpPr>
        <p:spPr>
          <a:xfrm>
            <a:off x="1042988" y="225431"/>
            <a:ext cx="7850187" cy="746125"/>
          </a:xfrm>
        </p:spPr>
        <p:txBody>
          <a:bodyPr/>
          <a:lstStyle/>
          <a:p>
            <a:r>
              <a:rPr lang="zh-CN" altLang="en-US" dirty="0"/>
              <a:t>单级目录结构</a:t>
            </a:r>
            <a:endParaRPr lang="en-US" altLang="zh-CN" dirty="0"/>
          </a:p>
        </p:txBody>
      </p:sp>
      <p:sp>
        <p:nvSpPr>
          <p:cNvPr id="58370" name="Rectangle 3">
            <a:extLst>
              <a:ext uri="{FF2B5EF4-FFF2-40B4-BE49-F238E27FC236}">
                <a16:creationId xmlns:a16="http://schemas.microsoft.com/office/drawing/2014/main" id="{A3A897BE-8196-E517-041E-350E7A5373A4}"/>
              </a:ext>
            </a:extLst>
          </p:cNvPr>
          <p:cNvSpPr>
            <a:spLocks noGrp="1" noChangeArrowheads="1"/>
          </p:cNvSpPr>
          <p:nvPr>
            <p:ph idx="1"/>
          </p:nvPr>
        </p:nvSpPr>
        <p:spPr>
          <a:xfrm>
            <a:off x="935038" y="1233488"/>
            <a:ext cx="7772400" cy="4895850"/>
          </a:xfrm>
        </p:spPr>
        <p:txBody>
          <a:bodyPr/>
          <a:lstStyle/>
          <a:p>
            <a:r>
              <a:rPr lang="zh-CN" altLang="en-US" dirty="0"/>
              <a:t>单级目录结构又称一级目录结构</a:t>
            </a:r>
          </a:p>
          <a:p>
            <a:r>
              <a:rPr lang="zh-CN" altLang="en-US" dirty="0"/>
              <a:t>所有文件都包含在一张目录表中</a:t>
            </a:r>
            <a:endParaRPr lang="en-US" altLang="zh-CN" dirty="0"/>
          </a:p>
          <a:p>
            <a:r>
              <a:rPr lang="zh-CN" altLang="en-US" dirty="0"/>
              <a:t>每个文件占据其中的一个表目</a:t>
            </a:r>
            <a:endParaRPr lang="en-US" altLang="zh-CN" dirty="0"/>
          </a:p>
          <a:p>
            <a:endParaRPr lang="en-US" altLang="zh-CN" dirty="0"/>
          </a:p>
          <a:p>
            <a:endParaRPr lang="en-US" altLang="zh-CN" dirty="0"/>
          </a:p>
          <a:p>
            <a:endParaRPr lang="en-US" altLang="zh-CN" dirty="0"/>
          </a:p>
          <a:p>
            <a:r>
              <a:rPr lang="zh-CN" altLang="en-US" dirty="0"/>
              <a:t>命名问题</a:t>
            </a:r>
            <a:endParaRPr lang="en-US" altLang="zh-CN" dirty="0"/>
          </a:p>
          <a:p>
            <a:r>
              <a:rPr lang="zh-CN" altLang="en-US" dirty="0"/>
              <a:t>分组问题</a:t>
            </a:r>
          </a:p>
        </p:txBody>
      </p:sp>
      <p:pic>
        <p:nvPicPr>
          <p:cNvPr id="4" name="Picture 7">
            <a:extLst>
              <a:ext uri="{FF2B5EF4-FFF2-40B4-BE49-F238E27FC236}">
                <a16:creationId xmlns:a16="http://schemas.microsoft.com/office/drawing/2014/main" id="{653FAC62-BB6B-969E-A635-2086790BD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717" y="3120635"/>
            <a:ext cx="6840566" cy="166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4938C9D-5A79-DCCA-549A-33787CD73AA7}"/>
              </a:ext>
            </a:extLst>
          </p:cNvPr>
          <p:cNvSpPr>
            <a:spLocks noGrp="1"/>
          </p:cNvSpPr>
          <p:nvPr>
            <p:ph type="sldNum" sz="quarter" idx="12"/>
          </p:nvPr>
        </p:nvSpPr>
        <p:spPr/>
        <p:txBody>
          <a:bodyPr/>
          <a:lstStyle/>
          <a:p>
            <a:fld id="{4093CC90-4002-504C-BD88-C9A1D374048E}" type="slidenum">
              <a:rPr lang="zh-CN" altLang="en-US" smtClean="0"/>
              <a:pPr/>
              <a:t>50</a:t>
            </a:fld>
            <a:endParaRPr lang="zh-CN" altLang="en-US" dirty="0"/>
          </a:p>
        </p:txBody>
      </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61FC9005-C977-A6A3-DDC5-1D5D4A484089}"/>
              </a:ext>
            </a:extLst>
          </p:cNvPr>
          <p:cNvSpPr>
            <a:spLocks noGrp="1" noChangeArrowheads="1"/>
          </p:cNvSpPr>
          <p:nvPr>
            <p:ph type="title"/>
          </p:nvPr>
        </p:nvSpPr>
        <p:spPr>
          <a:xfrm>
            <a:off x="1042988" y="225431"/>
            <a:ext cx="7850187" cy="746125"/>
          </a:xfrm>
        </p:spPr>
        <p:txBody>
          <a:bodyPr/>
          <a:lstStyle/>
          <a:p>
            <a:r>
              <a:rPr lang="zh-CN" altLang="en-US"/>
              <a:t>单级目录结构的操作</a:t>
            </a:r>
          </a:p>
        </p:txBody>
      </p:sp>
      <p:sp>
        <p:nvSpPr>
          <p:cNvPr id="327683" name="Rectangle 3">
            <a:extLst>
              <a:ext uri="{FF2B5EF4-FFF2-40B4-BE49-F238E27FC236}">
                <a16:creationId xmlns:a16="http://schemas.microsoft.com/office/drawing/2014/main" id="{52A37211-1DA5-4184-4289-7D2DC0BEFE44}"/>
              </a:ext>
            </a:extLst>
          </p:cNvPr>
          <p:cNvSpPr>
            <a:spLocks noGrp="1" noChangeArrowheads="1"/>
          </p:cNvSpPr>
          <p:nvPr>
            <p:ph idx="1"/>
          </p:nvPr>
        </p:nvSpPr>
        <p:spPr>
          <a:xfrm>
            <a:off x="935038" y="1233488"/>
            <a:ext cx="7772400" cy="4895850"/>
          </a:xfrm>
        </p:spPr>
        <p:txBody>
          <a:bodyPr/>
          <a:lstStyle/>
          <a:p>
            <a:r>
              <a:rPr lang="zh-CN" altLang="en-US"/>
              <a:t>建立新文件时，首先应确定该文件名在目录中是否惟一，若惟一则找出一个空表目，将新文件的相关信息填入其中。</a:t>
            </a:r>
          </a:p>
          <a:p>
            <a:r>
              <a:rPr lang="zh-CN" altLang="en-US"/>
              <a:t>删除文件时，先从目录表中找到文件的目录项，从中找到该文件的物理地址，对其占用空间进行回收，然后再清除其所占用的目录项。</a:t>
            </a:r>
          </a:p>
        </p:txBody>
      </p:sp>
      <p:sp>
        <p:nvSpPr>
          <p:cNvPr id="2" name="灯片编号占位符 1">
            <a:extLst>
              <a:ext uri="{FF2B5EF4-FFF2-40B4-BE49-F238E27FC236}">
                <a16:creationId xmlns:a16="http://schemas.microsoft.com/office/drawing/2014/main" id="{94D423CF-8F6A-6579-AB51-F8AC818D42CE}"/>
              </a:ext>
            </a:extLst>
          </p:cNvPr>
          <p:cNvSpPr>
            <a:spLocks noGrp="1"/>
          </p:cNvSpPr>
          <p:nvPr>
            <p:ph type="sldNum" sz="quarter" idx="12"/>
          </p:nvPr>
        </p:nvSpPr>
        <p:spPr/>
        <p:txBody>
          <a:bodyPr/>
          <a:lstStyle/>
          <a:p>
            <a:fld id="{4093CC90-4002-504C-BD88-C9A1D374048E}" type="slidenum">
              <a:rPr lang="zh-CN" altLang="en-US" smtClean="0"/>
              <a:pPr/>
              <a:t>51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animEffect transition="in" filter="checkerboard(across)">
                                      <p:cBhvr>
                                        <p:cTn id="7" dur="500"/>
                                        <p:tgtEl>
                                          <p:spTgt spid="327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7683">
                                            <p:txEl>
                                              <p:pRg st="1" end="1"/>
                                            </p:txEl>
                                          </p:spTgt>
                                        </p:tgtEl>
                                        <p:attrNameLst>
                                          <p:attrName>style.visibility</p:attrName>
                                        </p:attrNameLst>
                                      </p:cBhvr>
                                      <p:to>
                                        <p:strVal val="visible"/>
                                      </p:to>
                                    </p:set>
                                    <p:animEffect transition="in" filter="checkerboard(across)">
                                      <p:cBhvr>
                                        <p:cTn id="12" dur="500"/>
                                        <p:tgtEl>
                                          <p:spTgt spid="3276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9B454163-A140-8B8E-1F19-9D67B202C13F}"/>
              </a:ext>
            </a:extLst>
          </p:cNvPr>
          <p:cNvSpPr>
            <a:spLocks noGrp="1" noChangeArrowheads="1"/>
          </p:cNvSpPr>
          <p:nvPr>
            <p:ph type="title"/>
          </p:nvPr>
        </p:nvSpPr>
        <p:spPr>
          <a:xfrm>
            <a:off x="1042988" y="225431"/>
            <a:ext cx="7850187" cy="746125"/>
          </a:xfrm>
        </p:spPr>
        <p:txBody>
          <a:bodyPr/>
          <a:lstStyle/>
          <a:p>
            <a:r>
              <a:rPr lang="zh-CN" altLang="en-US" dirty="0"/>
              <a:t>二级目录结构</a:t>
            </a:r>
            <a:endParaRPr lang="en-US" altLang="zh-CN" dirty="0"/>
          </a:p>
        </p:txBody>
      </p:sp>
      <p:sp>
        <p:nvSpPr>
          <p:cNvPr id="61442" name="Rectangle 3">
            <a:extLst>
              <a:ext uri="{FF2B5EF4-FFF2-40B4-BE49-F238E27FC236}">
                <a16:creationId xmlns:a16="http://schemas.microsoft.com/office/drawing/2014/main" id="{292F0A11-4E4E-3CE5-DFB0-EC80113E3400}"/>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二级目录结构</a:t>
            </a:r>
            <a:r>
              <a:rPr lang="zh-CN" altLang="en-US" dirty="0"/>
              <a:t>将文件目录分成：</a:t>
            </a:r>
          </a:p>
          <a:p>
            <a:pPr lvl="1"/>
            <a:r>
              <a:rPr lang="zh-CN" altLang="en-US" dirty="0"/>
              <a:t>主文件目录（</a:t>
            </a:r>
            <a:r>
              <a:rPr lang="en-US" altLang="zh-CN" dirty="0"/>
              <a:t>master file directory</a:t>
            </a:r>
            <a:r>
              <a:rPr lang="zh-CN" altLang="en-US" dirty="0"/>
              <a:t>）：记录用户名及相应用户文件目录所在的存储位置。</a:t>
            </a:r>
          </a:p>
          <a:p>
            <a:pPr lvl="1"/>
            <a:r>
              <a:rPr lang="zh-CN" altLang="en-US" dirty="0"/>
              <a:t>用户文件目录（</a:t>
            </a:r>
            <a:r>
              <a:rPr lang="en-US" altLang="zh-CN" dirty="0"/>
              <a:t>user file directory</a:t>
            </a:r>
            <a:r>
              <a:rPr lang="zh-CN" altLang="en-US" dirty="0"/>
              <a:t>）：记录该用户文件的有关信息。</a:t>
            </a:r>
          </a:p>
        </p:txBody>
      </p:sp>
      <p:pic>
        <p:nvPicPr>
          <p:cNvPr id="4" name="Picture 8">
            <a:extLst>
              <a:ext uri="{FF2B5EF4-FFF2-40B4-BE49-F238E27FC236}">
                <a16:creationId xmlns:a16="http://schemas.microsoft.com/office/drawing/2014/main" id="{E1F21DEC-66E3-8593-7880-70BA08093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561" y="3909634"/>
            <a:ext cx="6855867" cy="2365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5E0820C-1F85-C1B4-82DB-3631B574DB3C}"/>
              </a:ext>
            </a:extLst>
          </p:cNvPr>
          <p:cNvSpPr>
            <a:spLocks noGrp="1"/>
          </p:cNvSpPr>
          <p:nvPr>
            <p:ph type="sldNum" sz="quarter" idx="12"/>
          </p:nvPr>
        </p:nvSpPr>
        <p:spPr/>
        <p:txBody>
          <a:bodyPr/>
          <a:lstStyle/>
          <a:p>
            <a:fld id="{4093CC90-4002-504C-BD88-C9A1D374048E}" type="slidenum">
              <a:rPr lang="zh-CN" altLang="en-US" smtClean="0"/>
              <a:pPr/>
              <a:t>52</a:t>
            </a:fld>
            <a:endParaRPr lang="zh-CN" altLang="en-US" dirty="0"/>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541689B1-3939-3A9A-D001-C52371A7E971}"/>
              </a:ext>
            </a:extLst>
          </p:cNvPr>
          <p:cNvSpPr>
            <a:spLocks noGrp="1" noChangeArrowheads="1"/>
          </p:cNvSpPr>
          <p:nvPr>
            <p:ph type="title"/>
          </p:nvPr>
        </p:nvSpPr>
        <p:spPr>
          <a:xfrm>
            <a:off x="1042988" y="225431"/>
            <a:ext cx="7850187" cy="746125"/>
          </a:xfrm>
        </p:spPr>
        <p:txBody>
          <a:bodyPr/>
          <a:lstStyle/>
          <a:p>
            <a:r>
              <a:rPr lang="zh-CN" altLang="en-US"/>
              <a:t>二级目录结构的操作</a:t>
            </a:r>
          </a:p>
        </p:txBody>
      </p:sp>
      <p:sp>
        <p:nvSpPr>
          <p:cNvPr id="331779" name="Rectangle 3">
            <a:extLst>
              <a:ext uri="{FF2B5EF4-FFF2-40B4-BE49-F238E27FC236}">
                <a16:creationId xmlns:a16="http://schemas.microsoft.com/office/drawing/2014/main" id="{301D05F1-C0BB-A4C3-BE02-3082DF763D03}"/>
              </a:ext>
            </a:extLst>
          </p:cNvPr>
          <p:cNvSpPr>
            <a:spLocks noGrp="1" noChangeArrowheads="1"/>
          </p:cNvSpPr>
          <p:nvPr>
            <p:ph idx="1"/>
          </p:nvPr>
        </p:nvSpPr>
        <p:spPr>
          <a:xfrm>
            <a:off x="935038" y="1233488"/>
            <a:ext cx="7772400" cy="4895850"/>
          </a:xfrm>
        </p:spPr>
        <p:txBody>
          <a:bodyPr/>
          <a:lstStyle/>
          <a:p>
            <a:r>
              <a:rPr lang="zh-CN" altLang="en-US"/>
              <a:t>当用户想建立文件时，如果是新用户，则系统为其在主目录中分配一个表目，并为其分配存放用户文件目录的存储空间。同时在用户文件目录中为新文件分配一个表目，并在表目中填入有关信息。</a:t>
            </a:r>
          </a:p>
          <a:p>
            <a:r>
              <a:rPr lang="zh-CN" altLang="en-US"/>
              <a:t>文件删除时，只须在用户文件目录中删除该文件的目录项。如果删除后该用户目录表为空，则表明该用户已脱离了系统，从而可以将主文件目录表中该用户的对应项删除。</a:t>
            </a:r>
          </a:p>
        </p:txBody>
      </p:sp>
      <p:sp>
        <p:nvSpPr>
          <p:cNvPr id="2" name="灯片编号占位符 1">
            <a:extLst>
              <a:ext uri="{FF2B5EF4-FFF2-40B4-BE49-F238E27FC236}">
                <a16:creationId xmlns:a16="http://schemas.microsoft.com/office/drawing/2014/main" id="{7B3BD1C4-746A-F566-BE7A-103BE3C46446}"/>
              </a:ext>
            </a:extLst>
          </p:cNvPr>
          <p:cNvSpPr>
            <a:spLocks noGrp="1"/>
          </p:cNvSpPr>
          <p:nvPr>
            <p:ph type="sldNum" sz="quarter" idx="12"/>
          </p:nvPr>
        </p:nvSpPr>
        <p:spPr/>
        <p:txBody>
          <a:bodyPr/>
          <a:lstStyle/>
          <a:p>
            <a:fld id="{4093CC90-4002-504C-BD88-C9A1D374048E}" type="slidenum">
              <a:rPr lang="zh-CN" altLang="en-US" smtClean="0"/>
              <a:pPr/>
              <a:t>53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1779">
                                            <p:txEl>
                                              <p:pRg st="0" end="0"/>
                                            </p:txEl>
                                          </p:spTgt>
                                        </p:tgtEl>
                                        <p:attrNameLst>
                                          <p:attrName>style.visibility</p:attrName>
                                        </p:attrNameLst>
                                      </p:cBhvr>
                                      <p:to>
                                        <p:strVal val="visible"/>
                                      </p:to>
                                    </p:set>
                                    <p:animEffect transition="in" filter="checkerboard(across)">
                                      <p:cBhvr>
                                        <p:cTn id="7" dur="500"/>
                                        <p:tgtEl>
                                          <p:spTgt spid="331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1779">
                                            <p:txEl>
                                              <p:pRg st="1" end="1"/>
                                            </p:txEl>
                                          </p:spTgt>
                                        </p:tgtEl>
                                        <p:attrNameLst>
                                          <p:attrName>style.visibility</p:attrName>
                                        </p:attrNameLst>
                                      </p:cBhvr>
                                      <p:to>
                                        <p:strVal val="visible"/>
                                      </p:to>
                                    </p:set>
                                    <p:animEffect transition="in" filter="checkerboard(across)">
                                      <p:cBhvr>
                                        <p:cTn id="12" dur="500"/>
                                        <p:tgtEl>
                                          <p:spTgt spid="3317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AE2A21E-32C1-C4EB-EEDA-15F4BED3A32F}"/>
              </a:ext>
            </a:extLst>
          </p:cNvPr>
          <p:cNvSpPr>
            <a:spLocks noGrp="1" noChangeArrowheads="1"/>
          </p:cNvSpPr>
          <p:nvPr>
            <p:ph type="title"/>
          </p:nvPr>
        </p:nvSpPr>
        <p:spPr/>
        <p:txBody>
          <a:bodyPr/>
          <a:lstStyle/>
          <a:p>
            <a:pPr eaLnBrk="1" hangingPunct="1"/>
            <a:r>
              <a:rPr lang="zh-CN" altLang="en-US"/>
              <a:t>二级目录结构的特点</a:t>
            </a:r>
          </a:p>
        </p:txBody>
      </p:sp>
      <p:sp>
        <p:nvSpPr>
          <p:cNvPr id="64514" name="Rectangle 3">
            <a:extLst>
              <a:ext uri="{FF2B5EF4-FFF2-40B4-BE49-F238E27FC236}">
                <a16:creationId xmlns:a16="http://schemas.microsoft.com/office/drawing/2014/main" id="{A5E4B00A-6C84-B8BF-AB22-35240CD4B277}"/>
              </a:ext>
            </a:extLst>
          </p:cNvPr>
          <p:cNvSpPr>
            <a:spLocks noGrp="1" noChangeArrowheads="1"/>
          </p:cNvSpPr>
          <p:nvPr>
            <p:ph idx="1"/>
          </p:nvPr>
        </p:nvSpPr>
        <p:spPr>
          <a:xfrm>
            <a:off x="755650" y="1233488"/>
            <a:ext cx="8126413" cy="4535487"/>
          </a:xfrm>
        </p:spPr>
        <p:txBody>
          <a:bodyPr/>
          <a:lstStyle/>
          <a:p>
            <a:pPr algn="just" eaLnBrk="1" hangingPunct="1"/>
            <a:r>
              <a:rPr lang="zh-CN" altLang="en-US"/>
              <a:t>二级目录可以解决文件重名问题，并可获得较高的查找速度；</a:t>
            </a:r>
          </a:p>
          <a:p>
            <a:pPr algn="just" eaLnBrk="1" hangingPunct="1"/>
            <a:r>
              <a:rPr lang="zh-CN" altLang="en-US"/>
              <a:t>但二级目录结构缺乏灵活性，特别是无法反映真实世界复杂的文件组织形式。</a:t>
            </a:r>
          </a:p>
        </p:txBody>
      </p:sp>
      <p:sp>
        <p:nvSpPr>
          <p:cNvPr id="2" name="灯片编号占位符 1">
            <a:extLst>
              <a:ext uri="{FF2B5EF4-FFF2-40B4-BE49-F238E27FC236}">
                <a16:creationId xmlns:a16="http://schemas.microsoft.com/office/drawing/2014/main" id="{11920A12-EC19-099F-3E9E-D2E543962290}"/>
              </a:ext>
            </a:extLst>
          </p:cNvPr>
          <p:cNvSpPr>
            <a:spLocks noGrp="1"/>
          </p:cNvSpPr>
          <p:nvPr>
            <p:ph type="sldNum" sz="quarter" idx="12"/>
          </p:nvPr>
        </p:nvSpPr>
        <p:spPr/>
        <p:txBody>
          <a:bodyPr/>
          <a:lstStyle/>
          <a:p>
            <a:fld id="{4093CC90-4002-504C-BD88-C9A1D374048E}" type="slidenum">
              <a:rPr lang="zh-CN" altLang="en-US" smtClean="0"/>
              <a:pPr/>
              <a:t>54</a:t>
            </a:fld>
            <a:endParaRPr lang="zh-CN" altLang="en-US" dirty="0"/>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D8704749-7576-5314-4BAB-F2420D5E32FB}"/>
              </a:ext>
            </a:extLst>
          </p:cNvPr>
          <p:cNvSpPr>
            <a:spLocks noGrp="1" noChangeArrowheads="1"/>
          </p:cNvSpPr>
          <p:nvPr>
            <p:ph type="title"/>
          </p:nvPr>
        </p:nvSpPr>
        <p:spPr>
          <a:xfrm>
            <a:off x="1042988" y="225431"/>
            <a:ext cx="7850187" cy="746125"/>
          </a:xfrm>
        </p:spPr>
        <p:txBody>
          <a:bodyPr/>
          <a:lstStyle/>
          <a:p>
            <a:r>
              <a:rPr lang="zh-CN" altLang="en-US" dirty="0"/>
              <a:t>树型目录结构</a:t>
            </a:r>
            <a:endParaRPr lang="en-US" altLang="zh-CN" dirty="0"/>
          </a:p>
        </p:txBody>
      </p:sp>
      <p:sp>
        <p:nvSpPr>
          <p:cNvPr id="333827" name="Rectangle 3">
            <a:extLst>
              <a:ext uri="{FF2B5EF4-FFF2-40B4-BE49-F238E27FC236}">
                <a16:creationId xmlns:a16="http://schemas.microsoft.com/office/drawing/2014/main" id="{4A333960-195A-5D8D-38AF-EB3F0F7690AA}"/>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树型目录结构</a:t>
            </a:r>
            <a:r>
              <a:rPr lang="zh-CN" altLang="en-US" dirty="0"/>
              <a:t>是二级目录结构层次关系的推广，也称为多级目录结构。</a:t>
            </a:r>
          </a:p>
          <a:p>
            <a:r>
              <a:rPr lang="zh-CN" altLang="en-US" dirty="0"/>
              <a:t>在多级目录结构中，第一级目录称为根目录（树根），目录树中的非叶节点均为目录文件（又称子目录），叶结点为文件。</a:t>
            </a:r>
          </a:p>
        </p:txBody>
      </p:sp>
      <p:sp>
        <p:nvSpPr>
          <p:cNvPr id="2" name="灯片编号占位符 1">
            <a:extLst>
              <a:ext uri="{FF2B5EF4-FFF2-40B4-BE49-F238E27FC236}">
                <a16:creationId xmlns:a16="http://schemas.microsoft.com/office/drawing/2014/main" id="{FD6C640E-1D5B-6BE3-BDF9-D6B924D469BA}"/>
              </a:ext>
            </a:extLst>
          </p:cNvPr>
          <p:cNvSpPr>
            <a:spLocks noGrp="1"/>
          </p:cNvSpPr>
          <p:nvPr>
            <p:ph type="sldNum" sz="quarter" idx="12"/>
          </p:nvPr>
        </p:nvSpPr>
        <p:spPr/>
        <p:txBody>
          <a:bodyPr/>
          <a:lstStyle/>
          <a:p>
            <a:fld id="{4093CC90-4002-504C-BD88-C9A1D374048E}" type="slidenum">
              <a:rPr lang="zh-CN" altLang="en-US" smtClean="0"/>
              <a:pPr/>
              <a:t>55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3827">
                                            <p:txEl>
                                              <p:pRg st="0" end="0"/>
                                            </p:txEl>
                                          </p:spTgt>
                                        </p:tgtEl>
                                        <p:attrNameLst>
                                          <p:attrName>style.visibility</p:attrName>
                                        </p:attrNameLst>
                                      </p:cBhvr>
                                      <p:to>
                                        <p:strVal val="visible"/>
                                      </p:to>
                                    </p:set>
                                    <p:animEffect transition="in" filter="checkerboard(across)">
                                      <p:cBhvr>
                                        <p:cTn id="7" dur="500"/>
                                        <p:tgtEl>
                                          <p:spTgt spid="333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3827">
                                            <p:txEl>
                                              <p:pRg st="1" end="1"/>
                                            </p:txEl>
                                          </p:spTgt>
                                        </p:tgtEl>
                                        <p:attrNameLst>
                                          <p:attrName>style.visibility</p:attrName>
                                        </p:attrNameLst>
                                      </p:cBhvr>
                                      <p:to>
                                        <p:strVal val="visible"/>
                                      </p:to>
                                    </p:set>
                                    <p:animEffect transition="in" filter="checkerboard(across)">
                                      <p:cBhvr>
                                        <p:cTn id="12" dur="500"/>
                                        <p:tgtEl>
                                          <p:spTgt spid="3338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10D5771C-6313-2F6B-4461-60CF1162079D}"/>
              </a:ext>
            </a:extLst>
          </p:cNvPr>
          <p:cNvSpPr>
            <a:spLocks noGrp="1" noChangeArrowheads="1"/>
          </p:cNvSpPr>
          <p:nvPr>
            <p:ph type="title"/>
          </p:nvPr>
        </p:nvSpPr>
        <p:spPr>
          <a:xfrm>
            <a:off x="1042988" y="225431"/>
            <a:ext cx="7850187" cy="746125"/>
          </a:xfrm>
        </p:spPr>
        <p:txBody>
          <a:bodyPr/>
          <a:lstStyle/>
          <a:p>
            <a:r>
              <a:rPr lang="zh-CN" altLang="en-US" dirty="0"/>
              <a:t>树型目录结构</a:t>
            </a:r>
          </a:p>
        </p:txBody>
      </p:sp>
      <p:sp>
        <p:nvSpPr>
          <p:cNvPr id="5" name="内容占位符 4">
            <a:extLst>
              <a:ext uri="{FF2B5EF4-FFF2-40B4-BE49-F238E27FC236}">
                <a16:creationId xmlns:a16="http://schemas.microsoft.com/office/drawing/2014/main" id="{0FAE21D5-B7E6-FB9A-D2FF-764F9C2D9795}"/>
              </a:ext>
            </a:extLst>
          </p:cNvPr>
          <p:cNvSpPr>
            <a:spLocks noGrp="1"/>
          </p:cNvSpPr>
          <p:nvPr>
            <p:ph idx="1"/>
          </p:nvPr>
        </p:nvSpPr>
        <p:spPr/>
        <p:txBody>
          <a:bodyPr/>
          <a:lstStyle/>
          <a:p>
            <a:endParaRPr lang="zh-CN" altLang="en-US"/>
          </a:p>
        </p:txBody>
      </p:sp>
      <p:pic>
        <p:nvPicPr>
          <p:cNvPr id="3" name="Picture 6">
            <a:extLst>
              <a:ext uri="{FF2B5EF4-FFF2-40B4-BE49-F238E27FC236}">
                <a16:creationId xmlns:a16="http://schemas.microsoft.com/office/drawing/2014/main" id="{A783AF25-02FA-2D30-72F4-EBA5476F2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313" y="1135470"/>
            <a:ext cx="7653373"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DBAE540-ACA4-0BB6-F5FE-90FDA5E95C20}"/>
              </a:ext>
            </a:extLst>
          </p:cNvPr>
          <p:cNvSpPr>
            <a:spLocks noGrp="1"/>
          </p:cNvSpPr>
          <p:nvPr>
            <p:ph type="sldNum" sz="quarter" idx="12"/>
          </p:nvPr>
        </p:nvSpPr>
        <p:spPr/>
        <p:txBody>
          <a:bodyPr/>
          <a:lstStyle/>
          <a:p>
            <a:fld id="{4093CC90-4002-504C-BD88-C9A1D374048E}" type="slidenum">
              <a:rPr lang="zh-CN" altLang="en-US" smtClean="0"/>
              <a:pPr/>
              <a:t>56</a:t>
            </a:fld>
            <a:endParaRPr lang="zh-CN" altLang="en-US" dirty="0"/>
          </a:p>
        </p:txBody>
      </p:sp>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DD36DD3F-6EB2-573A-9032-01167593EAFC}"/>
              </a:ext>
            </a:extLst>
          </p:cNvPr>
          <p:cNvSpPr>
            <a:spLocks noGrp="1" noChangeArrowheads="1"/>
          </p:cNvSpPr>
          <p:nvPr>
            <p:ph type="title"/>
          </p:nvPr>
        </p:nvSpPr>
        <p:spPr/>
        <p:txBody>
          <a:bodyPr/>
          <a:lstStyle/>
          <a:p>
            <a:pPr eaLnBrk="1" hangingPunct="1"/>
            <a:r>
              <a:rPr lang="zh-CN" altLang="en-US" dirty="0"/>
              <a:t>路径名</a:t>
            </a:r>
            <a:endParaRPr lang="en-US" altLang="zh-CN" dirty="0"/>
          </a:p>
        </p:txBody>
      </p:sp>
      <p:sp>
        <p:nvSpPr>
          <p:cNvPr id="67586" name="Rectangle 3">
            <a:extLst>
              <a:ext uri="{FF2B5EF4-FFF2-40B4-BE49-F238E27FC236}">
                <a16:creationId xmlns:a16="http://schemas.microsoft.com/office/drawing/2014/main" id="{B1D95829-3989-CF1F-FD47-2A721592E40C}"/>
              </a:ext>
            </a:extLst>
          </p:cNvPr>
          <p:cNvSpPr>
            <a:spLocks noGrp="1" noChangeArrowheads="1"/>
          </p:cNvSpPr>
          <p:nvPr>
            <p:ph idx="1"/>
          </p:nvPr>
        </p:nvSpPr>
        <p:spPr>
          <a:xfrm>
            <a:off x="685800" y="1233488"/>
            <a:ext cx="8193088" cy="4267200"/>
          </a:xfrm>
        </p:spPr>
        <p:txBody>
          <a:bodyPr/>
          <a:lstStyle/>
          <a:p>
            <a:pPr algn="just" eaLnBrk="1" hangingPunct="1"/>
            <a:r>
              <a:rPr lang="zh-CN" altLang="en-US">
                <a:solidFill>
                  <a:srgbClr val="FF0000"/>
                </a:solidFill>
              </a:rPr>
              <a:t>路径名</a:t>
            </a:r>
            <a:r>
              <a:rPr lang="zh-CN" altLang="en-US"/>
              <a:t>：是一个字符串，该字符串由从根目录出发到所找文件的通路上所有各级子目录名和该文件名用分隔符连接起来构成。</a:t>
            </a:r>
          </a:p>
          <a:p>
            <a:pPr algn="just" eaLnBrk="1" hangingPunct="1"/>
            <a:r>
              <a:rPr lang="zh-CN" altLang="en-US"/>
              <a:t>从根目录出发的路径称为</a:t>
            </a:r>
            <a:r>
              <a:rPr lang="zh-CN" altLang="en-US">
                <a:solidFill>
                  <a:srgbClr val="FF0000"/>
                </a:solidFill>
              </a:rPr>
              <a:t>绝对路径</a:t>
            </a:r>
            <a:r>
              <a:rPr lang="zh-CN" altLang="en-US"/>
              <a:t>（</a:t>
            </a:r>
            <a:r>
              <a:rPr lang="en-US" altLang="zh-CN"/>
              <a:t>absolute path name</a:t>
            </a:r>
            <a:r>
              <a:rPr lang="zh-CN" altLang="en-US"/>
              <a:t>）。</a:t>
            </a:r>
          </a:p>
        </p:txBody>
      </p:sp>
      <p:sp>
        <p:nvSpPr>
          <p:cNvPr id="2" name="灯片编号占位符 1">
            <a:extLst>
              <a:ext uri="{FF2B5EF4-FFF2-40B4-BE49-F238E27FC236}">
                <a16:creationId xmlns:a16="http://schemas.microsoft.com/office/drawing/2014/main" id="{4B8F2304-104B-21AC-9CBC-45889B61CDD2}"/>
              </a:ext>
            </a:extLst>
          </p:cNvPr>
          <p:cNvSpPr>
            <a:spLocks noGrp="1"/>
          </p:cNvSpPr>
          <p:nvPr>
            <p:ph type="sldNum" sz="quarter" idx="12"/>
          </p:nvPr>
        </p:nvSpPr>
        <p:spPr/>
        <p:txBody>
          <a:bodyPr/>
          <a:lstStyle/>
          <a:p>
            <a:fld id="{4093CC90-4002-504C-BD88-C9A1D374048E}" type="slidenum">
              <a:rPr lang="zh-CN" altLang="en-US" smtClean="0"/>
              <a:pPr/>
              <a:t>57</a:t>
            </a:fld>
            <a:endParaRPr lang="zh-CN" altLang="en-US" dirty="0"/>
          </a:p>
        </p:txBody>
      </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1AD97B60-8357-816B-B432-25A6286BA1AA}"/>
              </a:ext>
            </a:extLst>
          </p:cNvPr>
          <p:cNvSpPr>
            <a:spLocks noGrp="1" noChangeArrowheads="1"/>
          </p:cNvSpPr>
          <p:nvPr>
            <p:ph type="title"/>
          </p:nvPr>
        </p:nvSpPr>
        <p:spPr/>
        <p:txBody>
          <a:bodyPr/>
          <a:lstStyle/>
          <a:p>
            <a:pPr eaLnBrk="1" hangingPunct="1"/>
            <a:r>
              <a:rPr lang="zh-CN" altLang="en-US" dirty="0"/>
              <a:t>当前目录</a:t>
            </a:r>
            <a:endParaRPr lang="en-US" altLang="zh-CN" dirty="0"/>
          </a:p>
        </p:txBody>
      </p:sp>
      <p:sp>
        <p:nvSpPr>
          <p:cNvPr id="336899" name="Rectangle 3">
            <a:extLst>
              <a:ext uri="{FF2B5EF4-FFF2-40B4-BE49-F238E27FC236}">
                <a16:creationId xmlns:a16="http://schemas.microsoft.com/office/drawing/2014/main" id="{EA154CA0-A7B5-E279-3F46-9B062B341C18}"/>
              </a:ext>
            </a:extLst>
          </p:cNvPr>
          <p:cNvSpPr>
            <a:spLocks noGrp="1" noChangeArrowheads="1"/>
          </p:cNvSpPr>
          <p:nvPr>
            <p:ph idx="1"/>
          </p:nvPr>
        </p:nvSpPr>
        <p:spPr>
          <a:xfrm>
            <a:off x="827088" y="1196975"/>
            <a:ext cx="8051800" cy="5184775"/>
          </a:xfrm>
        </p:spPr>
        <p:txBody>
          <a:bodyPr/>
          <a:lstStyle/>
          <a:p>
            <a:pPr algn="just" eaLnBrk="1" hangingPunct="1"/>
            <a:r>
              <a:rPr lang="zh-CN" altLang="en-US"/>
              <a:t>当目录层次较多时，每次从根目录开始查找文件很费时间，为此引入了当前目录。</a:t>
            </a:r>
          </a:p>
          <a:p>
            <a:pPr algn="just" eaLnBrk="1" hangingPunct="1"/>
            <a:r>
              <a:rPr lang="zh-CN" altLang="en-US"/>
              <a:t>由用户在一定时间内指定某个目录为</a:t>
            </a:r>
            <a:r>
              <a:rPr lang="zh-CN" altLang="en-US">
                <a:solidFill>
                  <a:srgbClr val="FF0000"/>
                </a:solidFill>
              </a:rPr>
              <a:t>当前目录</a:t>
            </a:r>
            <a:r>
              <a:rPr lang="zh-CN" altLang="en-US"/>
              <a:t>，或称工作目录。</a:t>
            </a:r>
          </a:p>
          <a:p>
            <a:pPr algn="just" eaLnBrk="1" hangingPunct="1"/>
            <a:r>
              <a:rPr lang="zh-CN" altLang="en-US">
                <a:latin typeface="Times New Roman" panose="02020603050405020304" pitchFamily="18" charset="0"/>
              </a:rPr>
              <a:t>进程对各文件的访问相对于当前目录进行，此时文件使用的路径名为相对路径。</a:t>
            </a:r>
          </a:p>
          <a:p>
            <a:pPr algn="just" eaLnBrk="1" hangingPunct="1"/>
            <a:r>
              <a:rPr lang="zh-CN" altLang="en-US">
                <a:solidFill>
                  <a:srgbClr val="FF0000"/>
                </a:solidFill>
                <a:latin typeface="Times New Roman" panose="02020603050405020304" pitchFamily="18" charset="0"/>
              </a:rPr>
              <a:t>相对路径</a:t>
            </a:r>
            <a:r>
              <a:rPr lang="zh-CN" altLang="en-US">
                <a:latin typeface="Times New Roman" panose="02020603050405020304" pitchFamily="18" charset="0"/>
              </a:rPr>
              <a:t>（</a:t>
            </a:r>
            <a:r>
              <a:rPr lang="en-US" altLang="zh-CN">
                <a:latin typeface="Times New Roman" panose="02020603050405020304" pitchFamily="18" charset="0"/>
              </a:rPr>
              <a:t>relative path name</a:t>
            </a:r>
            <a:r>
              <a:rPr lang="zh-CN" altLang="en-US">
                <a:latin typeface="Times New Roman" panose="02020603050405020304" pitchFamily="18" charset="0"/>
              </a:rPr>
              <a:t>）：由从当前目录出发到所找文件的通路上的所有目录名与数据文件名用分隔符连接起来而形成。</a:t>
            </a:r>
          </a:p>
        </p:txBody>
      </p:sp>
      <p:sp>
        <p:nvSpPr>
          <p:cNvPr id="2" name="灯片编号占位符 1">
            <a:extLst>
              <a:ext uri="{FF2B5EF4-FFF2-40B4-BE49-F238E27FC236}">
                <a16:creationId xmlns:a16="http://schemas.microsoft.com/office/drawing/2014/main" id="{228E0D59-DDC3-3470-3FAB-F406F38B00DF}"/>
              </a:ext>
            </a:extLst>
          </p:cNvPr>
          <p:cNvSpPr>
            <a:spLocks noGrp="1"/>
          </p:cNvSpPr>
          <p:nvPr>
            <p:ph type="sldNum" sz="quarter" idx="12"/>
          </p:nvPr>
        </p:nvSpPr>
        <p:spPr/>
        <p:txBody>
          <a:bodyPr/>
          <a:lstStyle/>
          <a:p>
            <a:fld id="{4093CC90-4002-504C-BD88-C9A1D374048E}" type="slidenum">
              <a:rPr lang="zh-CN" altLang="en-US" smtClean="0"/>
              <a:pPr/>
              <a:t>58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6899">
                                            <p:txEl>
                                              <p:pRg st="0" end="0"/>
                                            </p:txEl>
                                          </p:spTgt>
                                        </p:tgtEl>
                                        <p:attrNameLst>
                                          <p:attrName>style.visibility</p:attrName>
                                        </p:attrNameLst>
                                      </p:cBhvr>
                                      <p:to>
                                        <p:strVal val="visible"/>
                                      </p:to>
                                    </p:set>
                                    <p:animEffect transition="in" filter="checkerboard(across)">
                                      <p:cBhvr>
                                        <p:cTn id="7" dur="500"/>
                                        <p:tgtEl>
                                          <p:spTgt spid="336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6899">
                                            <p:txEl>
                                              <p:pRg st="1" end="1"/>
                                            </p:txEl>
                                          </p:spTgt>
                                        </p:tgtEl>
                                        <p:attrNameLst>
                                          <p:attrName>style.visibility</p:attrName>
                                        </p:attrNameLst>
                                      </p:cBhvr>
                                      <p:to>
                                        <p:strVal val="visible"/>
                                      </p:to>
                                    </p:set>
                                    <p:animEffect transition="in" filter="checkerboard(across)">
                                      <p:cBhvr>
                                        <p:cTn id="12" dur="500"/>
                                        <p:tgtEl>
                                          <p:spTgt spid="336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36899">
                                            <p:txEl>
                                              <p:pRg st="2" end="2"/>
                                            </p:txEl>
                                          </p:spTgt>
                                        </p:tgtEl>
                                        <p:attrNameLst>
                                          <p:attrName>style.visibility</p:attrName>
                                        </p:attrNameLst>
                                      </p:cBhvr>
                                      <p:to>
                                        <p:strVal val="visible"/>
                                      </p:to>
                                    </p:set>
                                    <p:animEffect transition="in" filter="checkerboard(across)">
                                      <p:cBhvr>
                                        <p:cTn id="17" dur="500"/>
                                        <p:tgtEl>
                                          <p:spTgt spid="3368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36899">
                                            <p:txEl>
                                              <p:pRg st="3" end="3"/>
                                            </p:txEl>
                                          </p:spTgt>
                                        </p:tgtEl>
                                        <p:attrNameLst>
                                          <p:attrName>style.visibility</p:attrName>
                                        </p:attrNameLst>
                                      </p:cBhvr>
                                      <p:to>
                                        <p:strVal val="visible"/>
                                      </p:to>
                                    </p:set>
                                    <p:animEffect transition="in" filter="checkerboard(across)">
                                      <p:cBhvr>
                                        <p:cTn id="22" dur="500"/>
                                        <p:tgtEl>
                                          <p:spTgt spid="336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7CB0FCFD-BC15-B5B7-C726-9E60D48283EC}"/>
              </a:ext>
            </a:extLst>
          </p:cNvPr>
          <p:cNvSpPr>
            <a:spLocks noGrp="1" noChangeArrowheads="1"/>
          </p:cNvSpPr>
          <p:nvPr>
            <p:ph type="title"/>
          </p:nvPr>
        </p:nvSpPr>
        <p:spPr/>
        <p:txBody>
          <a:bodyPr/>
          <a:lstStyle/>
          <a:p>
            <a:pPr eaLnBrk="1" hangingPunct="1"/>
            <a:r>
              <a:rPr lang="zh-CN" altLang="en-US" dirty="0"/>
              <a:t>绝对路径和相对路径</a:t>
            </a:r>
          </a:p>
        </p:txBody>
      </p:sp>
      <p:sp>
        <p:nvSpPr>
          <p:cNvPr id="69634" name="Rectangle 3">
            <a:extLst>
              <a:ext uri="{FF2B5EF4-FFF2-40B4-BE49-F238E27FC236}">
                <a16:creationId xmlns:a16="http://schemas.microsoft.com/office/drawing/2014/main" id="{4A57FB2D-4E4F-8FF6-8287-895579435FAC}"/>
              </a:ext>
            </a:extLst>
          </p:cNvPr>
          <p:cNvSpPr>
            <a:spLocks noGrp="1" noChangeArrowheads="1"/>
          </p:cNvSpPr>
          <p:nvPr>
            <p:ph idx="1"/>
          </p:nvPr>
        </p:nvSpPr>
        <p:spPr>
          <a:xfrm>
            <a:off x="863600" y="1233488"/>
            <a:ext cx="7704138" cy="935037"/>
          </a:xfrm>
        </p:spPr>
        <p:txBody>
          <a:bodyPr/>
          <a:lstStyle/>
          <a:p>
            <a:pPr eaLnBrk="1" hangingPunct="1">
              <a:lnSpc>
                <a:spcPct val="80000"/>
              </a:lnSpc>
            </a:pPr>
            <a:r>
              <a:rPr lang="zh-CN" altLang="en-US" sz="2800"/>
              <a:t>文件</a:t>
            </a:r>
            <a:r>
              <a:rPr lang="en-US" altLang="zh-CN" sz="2800"/>
              <a:t>15</a:t>
            </a:r>
            <a:r>
              <a:rPr lang="zh-CN" altLang="en-US" sz="2800"/>
              <a:t>的绝对路径：</a:t>
            </a:r>
            <a:r>
              <a:rPr lang="en-US" altLang="zh-CN" sz="2800"/>
              <a:t>/B/F/J</a:t>
            </a:r>
            <a:r>
              <a:rPr lang="zh-CN" altLang="en-US" sz="2800"/>
              <a:t>。</a:t>
            </a:r>
          </a:p>
          <a:p>
            <a:pPr eaLnBrk="1" hangingPunct="1">
              <a:lnSpc>
                <a:spcPct val="80000"/>
              </a:lnSpc>
            </a:pPr>
            <a:r>
              <a:rPr lang="zh-CN" altLang="en-US" sz="2800"/>
              <a:t>若当前目录为</a:t>
            </a:r>
            <a:r>
              <a:rPr lang="en-US" altLang="zh-CN" sz="2800"/>
              <a:t>/B/F</a:t>
            </a:r>
            <a:r>
              <a:rPr lang="zh-CN" altLang="en-US" sz="2800"/>
              <a:t>，文件</a:t>
            </a:r>
            <a:r>
              <a:rPr lang="en-US" altLang="zh-CN" sz="2800"/>
              <a:t>15</a:t>
            </a:r>
            <a:r>
              <a:rPr lang="zh-CN" altLang="en-US" sz="2800"/>
              <a:t>的相对路径为：</a:t>
            </a:r>
            <a:r>
              <a:rPr lang="en-US" altLang="zh-CN" sz="2800"/>
              <a:t>J</a:t>
            </a:r>
          </a:p>
        </p:txBody>
      </p:sp>
      <p:grpSp>
        <p:nvGrpSpPr>
          <p:cNvPr id="69635" name="Group 4">
            <a:extLst>
              <a:ext uri="{FF2B5EF4-FFF2-40B4-BE49-F238E27FC236}">
                <a16:creationId xmlns:a16="http://schemas.microsoft.com/office/drawing/2014/main" id="{7105DB87-971D-BB45-2E41-19E0C9D93DD4}"/>
              </a:ext>
            </a:extLst>
          </p:cNvPr>
          <p:cNvGrpSpPr>
            <a:grpSpLocks/>
          </p:cNvGrpSpPr>
          <p:nvPr/>
        </p:nvGrpSpPr>
        <p:grpSpPr bwMode="auto">
          <a:xfrm>
            <a:off x="576263" y="2492375"/>
            <a:ext cx="7847012" cy="4248150"/>
            <a:chOff x="1112" y="1092"/>
            <a:chExt cx="4648" cy="2996"/>
          </a:xfrm>
        </p:grpSpPr>
        <p:sp>
          <p:nvSpPr>
            <p:cNvPr id="69636" name="Rectangle 5">
              <a:extLst>
                <a:ext uri="{FF2B5EF4-FFF2-40B4-BE49-F238E27FC236}">
                  <a16:creationId xmlns:a16="http://schemas.microsoft.com/office/drawing/2014/main" id="{5B447FCC-C87B-DBD5-9DDC-FD5E9D06D4C9}"/>
                </a:ext>
              </a:extLst>
            </p:cNvPr>
            <p:cNvSpPr>
              <a:spLocks noChangeArrowheads="1"/>
            </p:cNvSpPr>
            <p:nvPr/>
          </p:nvSpPr>
          <p:spPr bwMode="auto">
            <a:xfrm>
              <a:off x="3114" y="1092"/>
              <a:ext cx="822" cy="399"/>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A     B    C</a:t>
              </a:r>
            </a:p>
          </p:txBody>
        </p:sp>
        <p:sp>
          <p:nvSpPr>
            <p:cNvPr id="69637" name="Line 6">
              <a:extLst>
                <a:ext uri="{FF2B5EF4-FFF2-40B4-BE49-F238E27FC236}">
                  <a16:creationId xmlns:a16="http://schemas.microsoft.com/office/drawing/2014/main" id="{DAFCF7CF-868C-73C7-288C-2DD144C21EE2}"/>
                </a:ext>
              </a:extLst>
            </p:cNvPr>
            <p:cNvSpPr>
              <a:spLocks noChangeShapeType="1"/>
            </p:cNvSpPr>
            <p:nvPr/>
          </p:nvSpPr>
          <p:spPr bwMode="auto">
            <a:xfrm flipV="1">
              <a:off x="3114" y="1321"/>
              <a:ext cx="822"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38" name="Line 7">
              <a:extLst>
                <a:ext uri="{FF2B5EF4-FFF2-40B4-BE49-F238E27FC236}">
                  <a16:creationId xmlns:a16="http://schemas.microsoft.com/office/drawing/2014/main" id="{65D37C7B-ACF9-6AA7-0C23-0481436CC74C}"/>
                </a:ext>
              </a:extLst>
            </p:cNvPr>
            <p:cNvSpPr>
              <a:spLocks noChangeShapeType="1"/>
            </p:cNvSpPr>
            <p:nvPr/>
          </p:nvSpPr>
          <p:spPr bwMode="auto">
            <a:xfrm>
              <a:off x="3370" y="1092"/>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39" name="Line 8">
              <a:extLst>
                <a:ext uri="{FF2B5EF4-FFF2-40B4-BE49-F238E27FC236}">
                  <a16:creationId xmlns:a16="http://schemas.microsoft.com/office/drawing/2014/main" id="{EDEC3520-42E5-8B9E-60EB-D772C33361EF}"/>
                </a:ext>
              </a:extLst>
            </p:cNvPr>
            <p:cNvSpPr>
              <a:spLocks noChangeShapeType="1"/>
            </p:cNvSpPr>
            <p:nvPr/>
          </p:nvSpPr>
          <p:spPr bwMode="auto">
            <a:xfrm>
              <a:off x="3625" y="1092"/>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40" name="Rectangle 9">
              <a:extLst>
                <a:ext uri="{FF2B5EF4-FFF2-40B4-BE49-F238E27FC236}">
                  <a16:creationId xmlns:a16="http://schemas.microsoft.com/office/drawing/2014/main" id="{3EDD3DBD-645D-90F0-FA0C-F911F4E1AAB9}"/>
                </a:ext>
              </a:extLst>
            </p:cNvPr>
            <p:cNvSpPr>
              <a:spLocks noChangeArrowheads="1"/>
            </p:cNvSpPr>
            <p:nvPr/>
          </p:nvSpPr>
          <p:spPr bwMode="auto">
            <a:xfrm>
              <a:off x="4040" y="1137"/>
              <a:ext cx="45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根目录</a:t>
              </a:r>
            </a:p>
          </p:txBody>
        </p:sp>
        <p:sp>
          <p:nvSpPr>
            <p:cNvPr id="69641" name="Rectangle 10">
              <a:extLst>
                <a:ext uri="{FF2B5EF4-FFF2-40B4-BE49-F238E27FC236}">
                  <a16:creationId xmlns:a16="http://schemas.microsoft.com/office/drawing/2014/main" id="{80045A06-FC11-442C-BB99-AD1AAA93A662}"/>
                </a:ext>
              </a:extLst>
            </p:cNvPr>
            <p:cNvSpPr>
              <a:spLocks noChangeArrowheads="1"/>
            </p:cNvSpPr>
            <p:nvPr/>
          </p:nvSpPr>
          <p:spPr bwMode="auto">
            <a:xfrm>
              <a:off x="2970" y="1092"/>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a:t>
              </a:r>
            </a:p>
          </p:txBody>
        </p:sp>
        <p:sp>
          <p:nvSpPr>
            <p:cNvPr id="69642" name="Rectangle 11">
              <a:extLst>
                <a:ext uri="{FF2B5EF4-FFF2-40B4-BE49-F238E27FC236}">
                  <a16:creationId xmlns:a16="http://schemas.microsoft.com/office/drawing/2014/main" id="{AC400BB3-CDDE-410B-C660-1B646B052FD0}"/>
                </a:ext>
              </a:extLst>
            </p:cNvPr>
            <p:cNvSpPr>
              <a:spLocks noChangeArrowheads="1"/>
            </p:cNvSpPr>
            <p:nvPr/>
          </p:nvSpPr>
          <p:spPr bwMode="auto">
            <a:xfrm>
              <a:off x="1670" y="1777"/>
              <a:ext cx="794" cy="399"/>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A    B     D</a:t>
              </a:r>
            </a:p>
          </p:txBody>
        </p:sp>
        <p:sp>
          <p:nvSpPr>
            <p:cNvPr id="69643" name="Line 12">
              <a:extLst>
                <a:ext uri="{FF2B5EF4-FFF2-40B4-BE49-F238E27FC236}">
                  <a16:creationId xmlns:a16="http://schemas.microsoft.com/office/drawing/2014/main" id="{43F37116-F071-E7E9-919C-86663C741147}"/>
                </a:ext>
              </a:extLst>
            </p:cNvPr>
            <p:cNvSpPr>
              <a:spLocks noChangeShapeType="1"/>
            </p:cNvSpPr>
            <p:nvPr/>
          </p:nvSpPr>
          <p:spPr bwMode="auto">
            <a:xfrm flipV="1">
              <a:off x="1670" y="2008"/>
              <a:ext cx="794"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44" name="Line 13">
              <a:extLst>
                <a:ext uri="{FF2B5EF4-FFF2-40B4-BE49-F238E27FC236}">
                  <a16:creationId xmlns:a16="http://schemas.microsoft.com/office/drawing/2014/main" id="{66EECDD0-D170-F254-2E87-60184A542A6B}"/>
                </a:ext>
              </a:extLst>
            </p:cNvPr>
            <p:cNvSpPr>
              <a:spLocks noChangeShapeType="1"/>
            </p:cNvSpPr>
            <p:nvPr/>
          </p:nvSpPr>
          <p:spPr bwMode="auto">
            <a:xfrm>
              <a:off x="1926" y="1777"/>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45" name="Line 14">
              <a:extLst>
                <a:ext uri="{FF2B5EF4-FFF2-40B4-BE49-F238E27FC236}">
                  <a16:creationId xmlns:a16="http://schemas.microsoft.com/office/drawing/2014/main" id="{975042B4-D2F2-94AD-B15A-76870EB4FE7C}"/>
                </a:ext>
              </a:extLst>
            </p:cNvPr>
            <p:cNvSpPr>
              <a:spLocks noChangeShapeType="1"/>
            </p:cNvSpPr>
            <p:nvPr/>
          </p:nvSpPr>
          <p:spPr bwMode="auto">
            <a:xfrm>
              <a:off x="2181" y="1779"/>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46" name="Rectangle 15">
              <a:extLst>
                <a:ext uri="{FF2B5EF4-FFF2-40B4-BE49-F238E27FC236}">
                  <a16:creationId xmlns:a16="http://schemas.microsoft.com/office/drawing/2014/main" id="{83B0EBA2-1C5B-637F-1C60-7929037DA7CD}"/>
                </a:ext>
              </a:extLst>
            </p:cNvPr>
            <p:cNvSpPr>
              <a:spLocks noChangeArrowheads="1"/>
            </p:cNvSpPr>
            <p:nvPr/>
          </p:nvSpPr>
          <p:spPr bwMode="auto">
            <a:xfrm>
              <a:off x="1526" y="1779"/>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a:t>
              </a:r>
            </a:p>
          </p:txBody>
        </p:sp>
        <p:sp>
          <p:nvSpPr>
            <p:cNvPr id="69647" name="Rectangle 16">
              <a:extLst>
                <a:ext uri="{FF2B5EF4-FFF2-40B4-BE49-F238E27FC236}">
                  <a16:creationId xmlns:a16="http://schemas.microsoft.com/office/drawing/2014/main" id="{57A5970B-B0A8-219F-1FB9-BBB7883AD133}"/>
                </a:ext>
              </a:extLst>
            </p:cNvPr>
            <p:cNvSpPr>
              <a:spLocks noChangeArrowheads="1"/>
            </p:cNvSpPr>
            <p:nvPr/>
          </p:nvSpPr>
          <p:spPr bwMode="auto">
            <a:xfrm>
              <a:off x="3095" y="1777"/>
              <a:ext cx="803" cy="399"/>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F    E    D</a:t>
              </a:r>
            </a:p>
          </p:txBody>
        </p:sp>
        <p:sp>
          <p:nvSpPr>
            <p:cNvPr id="69648" name="Line 17">
              <a:extLst>
                <a:ext uri="{FF2B5EF4-FFF2-40B4-BE49-F238E27FC236}">
                  <a16:creationId xmlns:a16="http://schemas.microsoft.com/office/drawing/2014/main" id="{6BF70491-78E4-263A-A5B2-586679522E42}"/>
                </a:ext>
              </a:extLst>
            </p:cNvPr>
            <p:cNvSpPr>
              <a:spLocks noChangeShapeType="1"/>
            </p:cNvSpPr>
            <p:nvPr/>
          </p:nvSpPr>
          <p:spPr bwMode="auto">
            <a:xfrm flipV="1">
              <a:off x="3095" y="2008"/>
              <a:ext cx="80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49" name="Line 18">
              <a:extLst>
                <a:ext uri="{FF2B5EF4-FFF2-40B4-BE49-F238E27FC236}">
                  <a16:creationId xmlns:a16="http://schemas.microsoft.com/office/drawing/2014/main" id="{EF48FA2C-1DDE-27C6-6BA5-42AA602681E1}"/>
                </a:ext>
              </a:extLst>
            </p:cNvPr>
            <p:cNvSpPr>
              <a:spLocks noChangeShapeType="1"/>
            </p:cNvSpPr>
            <p:nvPr/>
          </p:nvSpPr>
          <p:spPr bwMode="auto">
            <a:xfrm>
              <a:off x="3350" y="1779"/>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0" name="Line 19">
              <a:extLst>
                <a:ext uri="{FF2B5EF4-FFF2-40B4-BE49-F238E27FC236}">
                  <a16:creationId xmlns:a16="http://schemas.microsoft.com/office/drawing/2014/main" id="{2C6389D0-3162-44C4-5DB5-A3951BE0BCAF}"/>
                </a:ext>
              </a:extLst>
            </p:cNvPr>
            <p:cNvSpPr>
              <a:spLocks noChangeShapeType="1"/>
            </p:cNvSpPr>
            <p:nvPr/>
          </p:nvSpPr>
          <p:spPr bwMode="auto">
            <a:xfrm>
              <a:off x="3605" y="1779"/>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1" name="Rectangle 20">
              <a:extLst>
                <a:ext uri="{FF2B5EF4-FFF2-40B4-BE49-F238E27FC236}">
                  <a16:creationId xmlns:a16="http://schemas.microsoft.com/office/drawing/2014/main" id="{B08CD9E1-0724-2DB2-FEF0-084F7B836AA8}"/>
                </a:ext>
              </a:extLst>
            </p:cNvPr>
            <p:cNvSpPr>
              <a:spLocks noChangeArrowheads="1"/>
            </p:cNvSpPr>
            <p:nvPr/>
          </p:nvSpPr>
          <p:spPr bwMode="auto">
            <a:xfrm>
              <a:off x="2951" y="1779"/>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3</a:t>
              </a:r>
            </a:p>
          </p:txBody>
        </p:sp>
        <p:sp>
          <p:nvSpPr>
            <p:cNvPr id="69652" name="Rectangle 21">
              <a:extLst>
                <a:ext uri="{FF2B5EF4-FFF2-40B4-BE49-F238E27FC236}">
                  <a16:creationId xmlns:a16="http://schemas.microsoft.com/office/drawing/2014/main" id="{1BE74DF8-2E9C-0DA0-DDF5-9120EF255346}"/>
                </a:ext>
              </a:extLst>
            </p:cNvPr>
            <p:cNvSpPr>
              <a:spLocks noChangeArrowheads="1"/>
            </p:cNvSpPr>
            <p:nvPr/>
          </p:nvSpPr>
          <p:spPr bwMode="auto">
            <a:xfrm>
              <a:off x="4597" y="1777"/>
              <a:ext cx="562" cy="399"/>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G    A</a:t>
              </a:r>
            </a:p>
          </p:txBody>
        </p:sp>
        <p:sp>
          <p:nvSpPr>
            <p:cNvPr id="69653" name="Line 22">
              <a:extLst>
                <a:ext uri="{FF2B5EF4-FFF2-40B4-BE49-F238E27FC236}">
                  <a16:creationId xmlns:a16="http://schemas.microsoft.com/office/drawing/2014/main" id="{8B3C9F46-E685-E0E1-72AB-D7D8620F32BF}"/>
                </a:ext>
              </a:extLst>
            </p:cNvPr>
            <p:cNvSpPr>
              <a:spLocks noChangeShapeType="1"/>
            </p:cNvSpPr>
            <p:nvPr/>
          </p:nvSpPr>
          <p:spPr bwMode="auto">
            <a:xfrm flipV="1">
              <a:off x="4597" y="2008"/>
              <a:ext cx="562"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4" name="Line 23">
              <a:extLst>
                <a:ext uri="{FF2B5EF4-FFF2-40B4-BE49-F238E27FC236}">
                  <a16:creationId xmlns:a16="http://schemas.microsoft.com/office/drawing/2014/main" id="{43B9A009-11D8-EFE5-1C6D-03673BDA85F1}"/>
                </a:ext>
              </a:extLst>
            </p:cNvPr>
            <p:cNvSpPr>
              <a:spLocks noChangeShapeType="1"/>
            </p:cNvSpPr>
            <p:nvPr/>
          </p:nvSpPr>
          <p:spPr bwMode="auto">
            <a:xfrm>
              <a:off x="4852" y="1779"/>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5" name="Rectangle 24">
              <a:extLst>
                <a:ext uri="{FF2B5EF4-FFF2-40B4-BE49-F238E27FC236}">
                  <a16:creationId xmlns:a16="http://schemas.microsoft.com/office/drawing/2014/main" id="{E1461956-EC37-0391-5A2E-3AC793AFEBCA}"/>
                </a:ext>
              </a:extLst>
            </p:cNvPr>
            <p:cNvSpPr>
              <a:spLocks noChangeArrowheads="1"/>
            </p:cNvSpPr>
            <p:nvPr/>
          </p:nvSpPr>
          <p:spPr bwMode="auto">
            <a:xfrm>
              <a:off x="4452" y="1779"/>
              <a:ext cx="14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4</a:t>
              </a:r>
            </a:p>
          </p:txBody>
        </p:sp>
        <p:sp>
          <p:nvSpPr>
            <p:cNvPr id="69656" name="Rectangle 25">
              <a:extLst>
                <a:ext uri="{FF2B5EF4-FFF2-40B4-BE49-F238E27FC236}">
                  <a16:creationId xmlns:a16="http://schemas.microsoft.com/office/drawing/2014/main" id="{10AAF526-1D50-5286-6588-EE8992B70B26}"/>
                </a:ext>
              </a:extLst>
            </p:cNvPr>
            <p:cNvSpPr>
              <a:spLocks noChangeArrowheads="1"/>
            </p:cNvSpPr>
            <p:nvPr/>
          </p:nvSpPr>
          <p:spPr bwMode="auto">
            <a:xfrm>
              <a:off x="1256" y="2614"/>
              <a:ext cx="572" cy="399"/>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A    C</a:t>
              </a:r>
            </a:p>
          </p:txBody>
        </p:sp>
        <p:sp>
          <p:nvSpPr>
            <p:cNvPr id="69657" name="Line 26">
              <a:extLst>
                <a:ext uri="{FF2B5EF4-FFF2-40B4-BE49-F238E27FC236}">
                  <a16:creationId xmlns:a16="http://schemas.microsoft.com/office/drawing/2014/main" id="{D81EEAE9-F145-7CB5-38AC-B4039377C363}"/>
                </a:ext>
              </a:extLst>
            </p:cNvPr>
            <p:cNvSpPr>
              <a:spLocks noChangeShapeType="1"/>
            </p:cNvSpPr>
            <p:nvPr/>
          </p:nvSpPr>
          <p:spPr bwMode="auto">
            <a:xfrm flipV="1">
              <a:off x="1256" y="2844"/>
              <a:ext cx="572"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8" name="Line 27">
              <a:extLst>
                <a:ext uri="{FF2B5EF4-FFF2-40B4-BE49-F238E27FC236}">
                  <a16:creationId xmlns:a16="http://schemas.microsoft.com/office/drawing/2014/main" id="{7B6E900F-F298-66A9-0734-11FE9E36B0D7}"/>
                </a:ext>
              </a:extLst>
            </p:cNvPr>
            <p:cNvSpPr>
              <a:spLocks noChangeShapeType="1"/>
            </p:cNvSpPr>
            <p:nvPr/>
          </p:nvSpPr>
          <p:spPr bwMode="auto">
            <a:xfrm>
              <a:off x="1512" y="2615"/>
              <a:ext cx="0" cy="4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59" name="Rectangle 28">
              <a:extLst>
                <a:ext uri="{FF2B5EF4-FFF2-40B4-BE49-F238E27FC236}">
                  <a16:creationId xmlns:a16="http://schemas.microsoft.com/office/drawing/2014/main" id="{C089F7DE-DBF6-452F-3F8D-FB406A0EE01B}"/>
                </a:ext>
              </a:extLst>
            </p:cNvPr>
            <p:cNvSpPr>
              <a:spLocks noChangeArrowheads="1"/>
            </p:cNvSpPr>
            <p:nvPr/>
          </p:nvSpPr>
          <p:spPr bwMode="auto">
            <a:xfrm>
              <a:off x="1112" y="2615"/>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5</a:t>
              </a:r>
            </a:p>
          </p:txBody>
        </p:sp>
        <p:sp>
          <p:nvSpPr>
            <p:cNvPr id="69660" name="Oval 29">
              <a:extLst>
                <a:ext uri="{FF2B5EF4-FFF2-40B4-BE49-F238E27FC236}">
                  <a16:creationId xmlns:a16="http://schemas.microsoft.com/office/drawing/2014/main" id="{8E2F4E9A-9D61-87DA-D345-38CEF3460894}"/>
                </a:ext>
              </a:extLst>
            </p:cNvPr>
            <p:cNvSpPr>
              <a:spLocks noChangeArrowheads="1"/>
            </p:cNvSpPr>
            <p:nvPr/>
          </p:nvSpPr>
          <p:spPr bwMode="auto">
            <a:xfrm>
              <a:off x="1921" y="2395"/>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61" name="Oval 30">
              <a:extLst>
                <a:ext uri="{FF2B5EF4-FFF2-40B4-BE49-F238E27FC236}">
                  <a16:creationId xmlns:a16="http://schemas.microsoft.com/office/drawing/2014/main" id="{F13273C6-0525-647B-501A-B6D4113C004E}"/>
                </a:ext>
              </a:extLst>
            </p:cNvPr>
            <p:cNvSpPr>
              <a:spLocks noChangeArrowheads="1"/>
            </p:cNvSpPr>
            <p:nvPr/>
          </p:nvSpPr>
          <p:spPr bwMode="auto">
            <a:xfrm>
              <a:off x="2335" y="2395"/>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62" name="Line 31">
              <a:extLst>
                <a:ext uri="{FF2B5EF4-FFF2-40B4-BE49-F238E27FC236}">
                  <a16:creationId xmlns:a16="http://schemas.microsoft.com/office/drawing/2014/main" id="{D0F90EDF-485E-7827-B9BC-33594C6AEABF}"/>
                </a:ext>
              </a:extLst>
            </p:cNvPr>
            <p:cNvSpPr>
              <a:spLocks noChangeShapeType="1"/>
            </p:cNvSpPr>
            <p:nvPr/>
          </p:nvSpPr>
          <p:spPr bwMode="auto">
            <a:xfrm flipH="1">
              <a:off x="2125" y="1409"/>
              <a:ext cx="1107" cy="35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63" name="Line 32">
              <a:extLst>
                <a:ext uri="{FF2B5EF4-FFF2-40B4-BE49-F238E27FC236}">
                  <a16:creationId xmlns:a16="http://schemas.microsoft.com/office/drawing/2014/main" id="{6ADF6752-8A42-979C-309F-069C07570B9C}"/>
                </a:ext>
              </a:extLst>
            </p:cNvPr>
            <p:cNvSpPr>
              <a:spLocks noChangeShapeType="1"/>
            </p:cNvSpPr>
            <p:nvPr/>
          </p:nvSpPr>
          <p:spPr bwMode="auto">
            <a:xfrm>
              <a:off x="3499" y="1418"/>
              <a:ext cx="0" cy="35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64" name="Line 33">
              <a:extLst>
                <a:ext uri="{FF2B5EF4-FFF2-40B4-BE49-F238E27FC236}">
                  <a16:creationId xmlns:a16="http://schemas.microsoft.com/office/drawing/2014/main" id="{353C8414-8B17-E15D-6FFC-F444C77F3477}"/>
                </a:ext>
              </a:extLst>
            </p:cNvPr>
            <p:cNvSpPr>
              <a:spLocks noChangeShapeType="1"/>
            </p:cNvSpPr>
            <p:nvPr/>
          </p:nvSpPr>
          <p:spPr bwMode="auto">
            <a:xfrm>
              <a:off x="3779" y="1409"/>
              <a:ext cx="981" cy="35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65" name="Rectangle 34">
              <a:extLst>
                <a:ext uri="{FF2B5EF4-FFF2-40B4-BE49-F238E27FC236}">
                  <a16:creationId xmlns:a16="http://schemas.microsoft.com/office/drawing/2014/main" id="{7960E6EF-FFEA-BB20-E744-11E6FCCC1141}"/>
                </a:ext>
              </a:extLst>
            </p:cNvPr>
            <p:cNvSpPr>
              <a:spLocks noChangeArrowheads="1"/>
            </p:cNvSpPr>
            <p:nvPr/>
          </p:nvSpPr>
          <p:spPr bwMode="auto">
            <a:xfrm>
              <a:off x="2007" y="2664"/>
              <a:ext cx="14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6</a:t>
              </a:r>
            </a:p>
          </p:txBody>
        </p:sp>
        <p:sp>
          <p:nvSpPr>
            <p:cNvPr id="69666" name="Rectangle 35">
              <a:extLst>
                <a:ext uri="{FF2B5EF4-FFF2-40B4-BE49-F238E27FC236}">
                  <a16:creationId xmlns:a16="http://schemas.microsoft.com/office/drawing/2014/main" id="{BF9802B2-E1F5-A75F-043A-C013271BB69A}"/>
                </a:ext>
              </a:extLst>
            </p:cNvPr>
            <p:cNvSpPr>
              <a:spLocks noChangeArrowheads="1"/>
            </p:cNvSpPr>
            <p:nvPr/>
          </p:nvSpPr>
          <p:spPr bwMode="auto">
            <a:xfrm>
              <a:off x="2421" y="2664"/>
              <a:ext cx="14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7</a:t>
              </a:r>
            </a:p>
          </p:txBody>
        </p:sp>
        <p:sp>
          <p:nvSpPr>
            <p:cNvPr id="69667" name="Line 36">
              <a:extLst>
                <a:ext uri="{FF2B5EF4-FFF2-40B4-BE49-F238E27FC236}">
                  <a16:creationId xmlns:a16="http://schemas.microsoft.com/office/drawing/2014/main" id="{48D7D8D1-67F0-EFFD-4A9B-9CCA3EC723F5}"/>
                </a:ext>
              </a:extLst>
            </p:cNvPr>
            <p:cNvSpPr>
              <a:spLocks noChangeShapeType="1"/>
            </p:cNvSpPr>
            <p:nvPr/>
          </p:nvSpPr>
          <p:spPr bwMode="auto">
            <a:xfrm>
              <a:off x="2046" y="2105"/>
              <a:ext cx="0" cy="299"/>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9668" name="Line 37">
              <a:extLst>
                <a:ext uri="{FF2B5EF4-FFF2-40B4-BE49-F238E27FC236}">
                  <a16:creationId xmlns:a16="http://schemas.microsoft.com/office/drawing/2014/main" id="{0793C9A9-89EE-2927-EDA1-D430C6C84966}"/>
                </a:ext>
              </a:extLst>
            </p:cNvPr>
            <p:cNvSpPr>
              <a:spLocks noChangeShapeType="1"/>
            </p:cNvSpPr>
            <p:nvPr/>
          </p:nvSpPr>
          <p:spPr bwMode="auto">
            <a:xfrm>
              <a:off x="2315" y="2096"/>
              <a:ext cx="125" cy="299"/>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9669" name="Oval 38">
              <a:extLst>
                <a:ext uri="{FF2B5EF4-FFF2-40B4-BE49-F238E27FC236}">
                  <a16:creationId xmlns:a16="http://schemas.microsoft.com/office/drawing/2014/main" id="{48741008-6D10-1E45-F055-8FC7D2929B5C}"/>
                </a:ext>
              </a:extLst>
            </p:cNvPr>
            <p:cNvSpPr>
              <a:spLocks noChangeArrowheads="1"/>
            </p:cNvSpPr>
            <p:nvPr/>
          </p:nvSpPr>
          <p:spPr bwMode="auto">
            <a:xfrm>
              <a:off x="4549" y="2386"/>
              <a:ext cx="240" cy="221"/>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70" name="Oval 39">
              <a:extLst>
                <a:ext uri="{FF2B5EF4-FFF2-40B4-BE49-F238E27FC236}">
                  <a16:creationId xmlns:a16="http://schemas.microsoft.com/office/drawing/2014/main" id="{DB1EBDD7-A0E4-B547-FA20-17BDA1FCB795}"/>
                </a:ext>
              </a:extLst>
            </p:cNvPr>
            <p:cNvSpPr>
              <a:spLocks noChangeArrowheads="1"/>
            </p:cNvSpPr>
            <p:nvPr/>
          </p:nvSpPr>
          <p:spPr bwMode="auto">
            <a:xfrm>
              <a:off x="4953" y="2386"/>
              <a:ext cx="240" cy="221"/>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71" name="Rectangle 40">
              <a:extLst>
                <a:ext uri="{FF2B5EF4-FFF2-40B4-BE49-F238E27FC236}">
                  <a16:creationId xmlns:a16="http://schemas.microsoft.com/office/drawing/2014/main" id="{76DB0C70-3C9A-B7D3-864A-A4E851D6617C}"/>
                </a:ext>
              </a:extLst>
            </p:cNvPr>
            <p:cNvSpPr>
              <a:spLocks noChangeArrowheads="1"/>
            </p:cNvSpPr>
            <p:nvPr/>
          </p:nvSpPr>
          <p:spPr bwMode="auto">
            <a:xfrm>
              <a:off x="4635" y="2644"/>
              <a:ext cx="145"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8</a:t>
              </a:r>
            </a:p>
          </p:txBody>
        </p:sp>
        <p:sp>
          <p:nvSpPr>
            <p:cNvPr id="69672" name="Rectangle 41">
              <a:extLst>
                <a:ext uri="{FF2B5EF4-FFF2-40B4-BE49-F238E27FC236}">
                  <a16:creationId xmlns:a16="http://schemas.microsoft.com/office/drawing/2014/main" id="{B03C9C9E-8F5D-5F77-20BB-ED7DD7FB1597}"/>
                </a:ext>
              </a:extLst>
            </p:cNvPr>
            <p:cNvSpPr>
              <a:spLocks noChangeArrowheads="1"/>
            </p:cNvSpPr>
            <p:nvPr/>
          </p:nvSpPr>
          <p:spPr bwMode="auto">
            <a:xfrm>
              <a:off x="5040" y="2644"/>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9</a:t>
              </a:r>
            </a:p>
          </p:txBody>
        </p:sp>
        <p:sp>
          <p:nvSpPr>
            <p:cNvPr id="69673" name="Line 42">
              <a:extLst>
                <a:ext uri="{FF2B5EF4-FFF2-40B4-BE49-F238E27FC236}">
                  <a16:creationId xmlns:a16="http://schemas.microsoft.com/office/drawing/2014/main" id="{63049D20-4B3A-5DE7-02F2-5A30F250E525}"/>
                </a:ext>
              </a:extLst>
            </p:cNvPr>
            <p:cNvSpPr>
              <a:spLocks noChangeShapeType="1"/>
            </p:cNvSpPr>
            <p:nvPr/>
          </p:nvSpPr>
          <p:spPr bwMode="auto">
            <a:xfrm flipH="1">
              <a:off x="4693" y="2113"/>
              <a:ext cx="29" cy="27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74" name="Line 43">
              <a:extLst>
                <a:ext uri="{FF2B5EF4-FFF2-40B4-BE49-F238E27FC236}">
                  <a16:creationId xmlns:a16="http://schemas.microsoft.com/office/drawing/2014/main" id="{ED862839-1B64-90A2-4D4F-17173A6467F9}"/>
                </a:ext>
              </a:extLst>
            </p:cNvPr>
            <p:cNvSpPr>
              <a:spLocks noChangeShapeType="1"/>
            </p:cNvSpPr>
            <p:nvPr/>
          </p:nvSpPr>
          <p:spPr bwMode="auto">
            <a:xfrm>
              <a:off x="5001" y="2105"/>
              <a:ext cx="67" cy="29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75" name="Oval 44">
              <a:extLst>
                <a:ext uri="{FF2B5EF4-FFF2-40B4-BE49-F238E27FC236}">
                  <a16:creationId xmlns:a16="http://schemas.microsoft.com/office/drawing/2014/main" id="{4FBBD049-E926-5437-0BFF-413D7A0043AA}"/>
                </a:ext>
              </a:extLst>
            </p:cNvPr>
            <p:cNvSpPr>
              <a:spLocks noChangeArrowheads="1"/>
            </p:cNvSpPr>
            <p:nvPr/>
          </p:nvSpPr>
          <p:spPr bwMode="auto">
            <a:xfrm>
              <a:off x="1199" y="3221"/>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76" name="Oval 45">
              <a:extLst>
                <a:ext uri="{FF2B5EF4-FFF2-40B4-BE49-F238E27FC236}">
                  <a16:creationId xmlns:a16="http://schemas.microsoft.com/office/drawing/2014/main" id="{66EE1B27-BC4E-85CB-6732-EE9CBAE2EFA2}"/>
                </a:ext>
              </a:extLst>
            </p:cNvPr>
            <p:cNvSpPr>
              <a:spLocks noChangeArrowheads="1"/>
            </p:cNvSpPr>
            <p:nvPr/>
          </p:nvSpPr>
          <p:spPr bwMode="auto">
            <a:xfrm>
              <a:off x="1603" y="3221"/>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677" name="Rectangle 46">
              <a:extLst>
                <a:ext uri="{FF2B5EF4-FFF2-40B4-BE49-F238E27FC236}">
                  <a16:creationId xmlns:a16="http://schemas.microsoft.com/office/drawing/2014/main" id="{1E810F33-F7DA-F711-368B-9BBF0840F851}"/>
                </a:ext>
              </a:extLst>
            </p:cNvPr>
            <p:cNvSpPr>
              <a:spLocks noChangeArrowheads="1"/>
            </p:cNvSpPr>
            <p:nvPr/>
          </p:nvSpPr>
          <p:spPr bwMode="auto">
            <a:xfrm>
              <a:off x="1285" y="3479"/>
              <a:ext cx="14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10</a:t>
              </a:r>
            </a:p>
          </p:txBody>
        </p:sp>
        <p:sp>
          <p:nvSpPr>
            <p:cNvPr id="69678" name="Rectangle 47">
              <a:extLst>
                <a:ext uri="{FF2B5EF4-FFF2-40B4-BE49-F238E27FC236}">
                  <a16:creationId xmlns:a16="http://schemas.microsoft.com/office/drawing/2014/main" id="{5C812175-74AF-5276-EEB0-CB76E797757C}"/>
                </a:ext>
              </a:extLst>
            </p:cNvPr>
            <p:cNvSpPr>
              <a:spLocks noChangeArrowheads="1"/>
            </p:cNvSpPr>
            <p:nvPr/>
          </p:nvSpPr>
          <p:spPr bwMode="auto">
            <a:xfrm>
              <a:off x="1690" y="3480"/>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11</a:t>
              </a:r>
            </a:p>
          </p:txBody>
        </p:sp>
        <p:sp>
          <p:nvSpPr>
            <p:cNvPr id="69679" name="Line 48">
              <a:extLst>
                <a:ext uri="{FF2B5EF4-FFF2-40B4-BE49-F238E27FC236}">
                  <a16:creationId xmlns:a16="http://schemas.microsoft.com/office/drawing/2014/main" id="{2A4DDC9C-A6DD-C637-AF1E-82741194830F}"/>
                </a:ext>
              </a:extLst>
            </p:cNvPr>
            <p:cNvSpPr>
              <a:spLocks noChangeShapeType="1"/>
            </p:cNvSpPr>
            <p:nvPr/>
          </p:nvSpPr>
          <p:spPr bwMode="auto">
            <a:xfrm flipH="1">
              <a:off x="1401" y="2096"/>
              <a:ext cx="394" cy="516"/>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80" name="Line 49">
              <a:extLst>
                <a:ext uri="{FF2B5EF4-FFF2-40B4-BE49-F238E27FC236}">
                  <a16:creationId xmlns:a16="http://schemas.microsoft.com/office/drawing/2014/main" id="{EE15649D-6099-4279-CD77-86F3F69EE75B}"/>
                </a:ext>
              </a:extLst>
            </p:cNvPr>
            <p:cNvSpPr>
              <a:spLocks noChangeShapeType="1"/>
            </p:cNvSpPr>
            <p:nvPr/>
          </p:nvSpPr>
          <p:spPr bwMode="auto">
            <a:xfrm flipH="1">
              <a:off x="1314" y="2924"/>
              <a:ext cx="48" cy="31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81" name="Line 50">
              <a:extLst>
                <a:ext uri="{FF2B5EF4-FFF2-40B4-BE49-F238E27FC236}">
                  <a16:creationId xmlns:a16="http://schemas.microsoft.com/office/drawing/2014/main" id="{2FFBAFCD-16E4-2D89-F720-E864D1C6DFEA}"/>
                </a:ext>
              </a:extLst>
            </p:cNvPr>
            <p:cNvSpPr>
              <a:spLocks noChangeShapeType="1"/>
            </p:cNvSpPr>
            <p:nvPr/>
          </p:nvSpPr>
          <p:spPr bwMode="auto">
            <a:xfrm>
              <a:off x="1661" y="2924"/>
              <a:ext cx="67" cy="316"/>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82" name="Rectangle 51">
              <a:extLst>
                <a:ext uri="{FF2B5EF4-FFF2-40B4-BE49-F238E27FC236}">
                  <a16:creationId xmlns:a16="http://schemas.microsoft.com/office/drawing/2014/main" id="{23EE7926-EC9B-533B-B89C-57433B9CF8B5}"/>
                </a:ext>
              </a:extLst>
            </p:cNvPr>
            <p:cNvSpPr>
              <a:spLocks noChangeArrowheads="1"/>
            </p:cNvSpPr>
            <p:nvPr/>
          </p:nvSpPr>
          <p:spPr bwMode="auto">
            <a:xfrm>
              <a:off x="2296" y="3034"/>
              <a:ext cx="793" cy="4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J    N    K</a:t>
              </a:r>
            </a:p>
          </p:txBody>
        </p:sp>
        <p:sp>
          <p:nvSpPr>
            <p:cNvPr id="69683" name="Line 52">
              <a:extLst>
                <a:ext uri="{FF2B5EF4-FFF2-40B4-BE49-F238E27FC236}">
                  <a16:creationId xmlns:a16="http://schemas.microsoft.com/office/drawing/2014/main" id="{9C71F94F-124E-F1AA-0442-8084D667C596}"/>
                </a:ext>
              </a:extLst>
            </p:cNvPr>
            <p:cNvSpPr>
              <a:spLocks noChangeShapeType="1"/>
            </p:cNvSpPr>
            <p:nvPr/>
          </p:nvSpPr>
          <p:spPr bwMode="auto">
            <a:xfrm flipV="1">
              <a:off x="2296" y="3267"/>
              <a:ext cx="793"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84" name="Line 53">
              <a:extLst>
                <a:ext uri="{FF2B5EF4-FFF2-40B4-BE49-F238E27FC236}">
                  <a16:creationId xmlns:a16="http://schemas.microsoft.com/office/drawing/2014/main" id="{2C295148-83ED-A624-79E6-4FBD1BDB1DE7}"/>
                </a:ext>
              </a:extLst>
            </p:cNvPr>
            <p:cNvSpPr>
              <a:spLocks noChangeShapeType="1"/>
            </p:cNvSpPr>
            <p:nvPr/>
          </p:nvSpPr>
          <p:spPr bwMode="auto">
            <a:xfrm>
              <a:off x="2551"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85" name="Line 54">
              <a:extLst>
                <a:ext uri="{FF2B5EF4-FFF2-40B4-BE49-F238E27FC236}">
                  <a16:creationId xmlns:a16="http://schemas.microsoft.com/office/drawing/2014/main" id="{61E59E7F-C7DB-F079-A5C6-59E48EAC3E35}"/>
                </a:ext>
              </a:extLst>
            </p:cNvPr>
            <p:cNvSpPr>
              <a:spLocks noChangeShapeType="1"/>
            </p:cNvSpPr>
            <p:nvPr/>
          </p:nvSpPr>
          <p:spPr bwMode="auto">
            <a:xfrm>
              <a:off x="2806"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86" name="Rectangle 55">
              <a:extLst>
                <a:ext uri="{FF2B5EF4-FFF2-40B4-BE49-F238E27FC236}">
                  <a16:creationId xmlns:a16="http://schemas.microsoft.com/office/drawing/2014/main" id="{33403314-EB8E-EA8F-05DB-E55DC0BAB534}"/>
                </a:ext>
              </a:extLst>
            </p:cNvPr>
            <p:cNvSpPr>
              <a:spLocks noChangeArrowheads="1"/>
            </p:cNvSpPr>
            <p:nvPr/>
          </p:nvSpPr>
          <p:spPr bwMode="auto">
            <a:xfrm>
              <a:off x="2094" y="3038"/>
              <a:ext cx="20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12</a:t>
              </a:r>
            </a:p>
          </p:txBody>
        </p:sp>
        <p:sp>
          <p:nvSpPr>
            <p:cNvPr id="69687" name="Rectangle 56">
              <a:extLst>
                <a:ext uri="{FF2B5EF4-FFF2-40B4-BE49-F238E27FC236}">
                  <a16:creationId xmlns:a16="http://schemas.microsoft.com/office/drawing/2014/main" id="{A235D37B-8CB8-9754-35B1-010113A5BB70}"/>
                </a:ext>
              </a:extLst>
            </p:cNvPr>
            <p:cNvSpPr>
              <a:spLocks noChangeArrowheads="1"/>
            </p:cNvSpPr>
            <p:nvPr/>
          </p:nvSpPr>
          <p:spPr bwMode="auto">
            <a:xfrm>
              <a:off x="3490" y="3034"/>
              <a:ext cx="803" cy="4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I    M    K</a:t>
              </a:r>
            </a:p>
          </p:txBody>
        </p:sp>
        <p:sp>
          <p:nvSpPr>
            <p:cNvPr id="69688" name="Line 57">
              <a:extLst>
                <a:ext uri="{FF2B5EF4-FFF2-40B4-BE49-F238E27FC236}">
                  <a16:creationId xmlns:a16="http://schemas.microsoft.com/office/drawing/2014/main" id="{CFAF200E-A0FD-7B99-21C7-8BBD458F59B1}"/>
                </a:ext>
              </a:extLst>
            </p:cNvPr>
            <p:cNvSpPr>
              <a:spLocks noChangeShapeType="1"/>
            </p:cNvSpPr>
            <p:nvPr/>
          </p:nvSpPr>
          <p:spPr bwMode="auto">
            <a:xfrm flipV="1">
              <a:off x="3490" y="3267"/>
              <a:ext cx="803"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89" name="Line 58">
              <a:extLst>
                <a:ext uri="{FF2B5EF4-FFF2-40B4-BE49-F238E27FC236}">
                  <a16:creationId xmlns:a16="http://schemas.microsoft.com/office/drawing/2014/main" id="{C2A8766D-E0D5-1EDF-1CC6-BACAE9904787}"/>
                </a:ext>
              </a:extLst>
            </p:cNvPr>
            <p:cNvSpPr>
              <a:spLocks noChangeShapeType="1"/>
            </p:cNvSpPr>
            <p:nvPr/>
          </p:nvSpPr>
          <p:spPr bwMode="auto">
            <a:xfrm>
              <a:off x="3745"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90" name="Line 59">
              <a:extLst>
                <a:ext uri="{FF2B5EF4-FFF2-40B4-BE49-F238E27FC236}">
                  <a16:creationId xmlns:a16="http://schemas.microsoft.com/office/drawing/2014/main" id="{970FF990-0A42-1391-266E-94F44ACD3AFA}"/>
                </a:ext>
              </a:extLst>
            </p:cNvPr>
            <p:cNvSpPr>
              <a:spLocks noChangeShapeType="1"/>
            </p:cNvSpPr>
            <p:nvPr/>
          </p:nvSpPr>
          <p:spPr bwMode="auto">
            <a:xfrm>
              <a:off x="4000"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91" name="Rectangle 60">
              <a:extLst>
                <a:ext uri="{FF2B5EF4-FFF2-40B4-BE49-F238E27FC236}">
                  <a16:creationId xmlns:a16="http://schemas.microsoft.com/office/drawing/2014/main" id="{89931DC9-CFCF-A158-B67A-97D89199A76B}"/>
                </a:ext>
              </a:extLst>
            </p:cNvPr>
            <p:cNvSpPr>
              <a:spLocks noChangeArrowheads="1"/>
            </p:cNvSpPr>
            <p:nvPr/>
          </p:nvSpPr>
          <p:spPr bwMode="auto">
            <a:xfrm>
              <a:off x="3249" y="3047"/>
              <a:ext cx="24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13</a:t>
              </a:r>
            </a:p>
          </p:txBody>
        </p:sp>
        <p:sp>
          <p:nvSpPr>
            <p:cNvPr id="69692" name="Rectangle 61">
              <a:extLst>
                <a:ext uri="{FF2B5EF4-FFF2-40B4-BE49-F238E27FC236}">
                  <a16:creationId xmlns:a16="http://schemas.microsoft.com/office/drawing/2014/main" id="{23C8B375-683E-51F4-1699-223869374489}"/>
                </a:ext>
              </a:extLst>
            </p:cNvPr>
            <p:cNvSpPr>
              <a:spLocks noChangeArrowheads="1"/>
            </p:cNvSpPr>
            <p:nvPr/>
          </p:nvSpPr>
          <p:spPr bwMode="auto">
            <a:xfrm>
              <a:off x="4712" y="3034"/>
              <a:ext cx="861" cy="4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A    H    F</a:t>
              </a:r>
            </a:p>
          </p:txBody>
        </p:sp>
        <p:sp>
          <p:nvSpPr>
            <p:cNvPr id="69693" name="Line 62">
              <a:extLst>
                <a:ext uri="{FF2B5EF4-FFF2-40B4-BE49-F238E27FC236}">
                  <a16:creationId xmlns:a16="http://schemas.microsoft.com/office/drawing/2014/main" id="{F6A18B8B-3D21-A606-63FB-0F85738F394B}"/>
                </a:ext>
              </a:extLst>
            </p:cNvPr>
            <p:cNvSpPr>
              <a:spLocks noChangeShapeType="1"/>
            </p:cNvSpPr>
            <p:nvPr/>
          </p:nvSpPr>
          <p:spPr bwMode="auto">
            <a:xfrm flipV="1">
              <a:off x="4712" y="3267"/>
              <a:ext cx="861"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94" name="Line 63">
              <a:extLst>
                <a:ext uri="{FF2B5EF4-FFF2-40B4-BE49-F238E27FC236}">
                  <a16:creationId xmlns:a16="http://schemas.microsoft.com/office/drawing/2014/main" id="{BE5CD7FD-78A9-5107-B642-8FF080064A37}"/>
                </a:ext>
              </a:extLst>
            </p:cNvPr>
            <p:cNvSpPr>
              <a:spLocks noChangeShapeType="1"/>
            </p:cNvSpPr>
            <p:nvPr/>
          </p:nvSpPr>
          <p:spPr bwMode="auto">
            <a:xfrm>
              <a:off x="4968"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95" name="Line 64">
              <a:extLst>
                <a:ext uri="{FF2B5EF4-FFF2-40B4-BE49-F238E27FC236}">
                  <a16:creationId xmlns:a16="http://schemas.microsoft.com/office/drawing/2014/main" id="{D945F2A3-A7FD-225F-AE0A-68AE65934C91}"/>
                </a:ext>
              </a:extLst>
            </p:cNvPr>
            <p:cNvSpPr>
              <a:spLocks noChangeShapeType="1"/>
            </p:cNvSpPr>
            <p:nvPr/>
          </p:nvSpPr>
          <p:spPr bwMode="auto">
            <a:xfrm>
              <a:off x="5223" y="3038"/>
              <a:ext cx="0" cy="3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69696" name="Rectangle 65">
              <a:extLst>
                <a:ext uri="{FF2B5EF4-FFF2-40B4-BE49-F238E27FC236}">
                  <a16:creationId xmlns:a16="http://schemas.microsoft.com/office/drawing/2014/main" id="{08CAF2DB-4A13-8112-71CB-17C6CFDB1A59}"/>
                </a:ext>
              </a:extLst>
            </p:cNvPr>
            <p:cNvSpPr>
              <a:spLocks noChangeArrowheads="1"/>
            </p:cNvSpPr>
            <p:nvPr/>
          </p:nvSpPr>
          <p:spPr bwMode="auto">
            <a:xfrm>
              <a:off x="4462" y="3038"/>
              <a:ext cx="24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14</a:t>
              </a:r>
            </a:p>
          </p:txBody>
        </p:sp>
        <p:sp>
          <p:nvSpPr>
            <p:cNvPr id="69697" name="Line 66">
              <a:extLst>
                <a:ext uri="{FF2B5EF4-FFF2-40B4-BE49-F238E27FC236}">
                  <a16:creationId xmlns:a16="http://schemas.microsoft.com/office/drawing/2014/main" id="{17634222-66CB-B45B-D5AF-0CE77C1EAD81}"/>
                </a:ext>
              </a:extLst>
            </p:cNvPr>
            <p:cNvSpPr>
              <a:spLocks noChangeShapeType="1"/>
            </p:cNvSpPr>
            <p:nvPr/>
          </p:nvSpPr>
          <p:spPr bwMode="auto">
            <a:xfrm flipH="1">
              <a:off x="2710" y="2105"/>
              <a:ext cx="501" cy="93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98" name="Line 67">
              <a:extLst>
                <a:ext uri="{FF2B5EF4-FFF2-40B4-BE49-F238E27FC236}">
                  <a16:creationId xmlns:a16="http://schemas.microsoft.com/office/drawing/2014/main" id="{F3E6C71A-3EFE-75E6-6353-B5128059CA83}"/>
                </a:ext>
              </a:extLst>
            </p:cNvPr>
            <p:cNvSpPr>
              <a:spLocks noChangeShapeType="1"/>
            </p:cNvSpPr>
            <p:nvPr/>
          </p:nvSpPr>
          <p:spPr bwMode="auto">
            <a:xfrm>
              <a:off x="3499" y="2096"/>
              <a:ext cx="395" cy="93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699" name="Line 68">
              <a:extLst>
                <a:ext uri="{FF2B5EF4-FFF2-40B4-BE49-F238E27FC236}">
                  <a16:creationId xmlns:a16="http://schemas.microsoft.com/office/drawing/2014/main" id="{7AE03813-3837-095E-2D84-6FA21A9FAD61}"/>
                </a:ext>
              </a:extLst>
            </p:cNvPr>
            <p:cNvSpPr>
              <a:spLocks noChangeShapeType="1"/>
            </p:cNvSpPr>
            <p:nvPr/>
          </p:nvSpPr>
          <p:spPr bwMode="auto">
            <a:xfrm>
              <a:off x="3759" y="2105"/>
              <a:ext cx="1059" cy="93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00" name="Oval 69">
              <a:extLst>
                <a:ext uri="{FF2B5EF4-FFF2-40B4-BE49-F238E27FC236}">
                  <a16:creationId xmlns:a16="http://schemas.microsoft.com/office/drawing/2014/main" id="{077D80FD-749F-39F5-ABFD-C974FD24C683}"/>
                </a:ext>
              </a:extLst>
            </p:cNvPr>
            <p:cNvSpPr>
              <a:spLocks noChangeArrowheads="1"/>
            </p:cNvSpPr>
            <p:nvPr/>
          </p:nvSpPr>
          <p:spPr bwMode="auto">
            <a:xfrm>
              <a:off x="2181"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01" name="Oval 70">
              <a:extLst>
                <a:ext uri="{FF2B5EF4-FFF2-40B4-BE49-F238E27FC236}">
                  <a16:creationId xmlns:a16="http://schemas.microsoft.com/office/drawing/2014/main" id="{F446EE8A-AE6B-6AA5-4EF4-0468F61501A2}"/>
                </a:ext>
              </a:extLst>
            </p:cNvPr>
            <p:cNvSpPr>
              <a:spLocks noChangeArrowheads="1"/>
            </p:cNvSpPr>
            <p:nvPr/>
          </p:nvSpPr>
          <p:spPr bwMode="auto">
            <a:xfrm>
              <a:off x="2585"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02" name="Rectangle 71">
              <a:extLst>
                <a:ext uri="{FF2B5EF4-FFF2-40B4-BE49-F238E27FC236}">
                  <a16:creationId xmlns:a16="http://schemas.microsoft.com/office/drawing/2014/main" id="{B009ED1E-9188-871A-0482-A67F79EB5AD5}"/>
                </a:ext>
              </a:extLst>
            </p:cNvPr>
            <p:cNvSpPr>
              <a:spLocks noChangeArrowheads="1"/>
            </p:cNvSpPr>
            <p:nvPr/>
          </p:nvSpPr>
          <p:spPr bwMode="auto">
            <a:xfrm>
              <a:off x="2229" y="3894"/>
              <a:ext cx="18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15</a:t>
              </a:r>
            </a:p>
          </p:txBody>
        </p:sp>
        <p:sp>
          <p:nvSpPr>
            <p:cNvPr id="69703" name="Rectangle 72">
              <a:extLst>
                <a:ext uri="{FF2B5EF4-FFF2-40B4-BE49-F238E27FC236}">
                  <a16:creationId xmlns:a16="http://schemas.microsoft.com/office/drawing/2014/main" id="{8C4876DD-CC5D-27FA-EF3B-AFF5C2301759}"/>
                </a:ext>
              </a:extLst>
            </p:cNvPr>
            <p:cNvSpPr>
              <a:spLocks noChangeArrowheads="1"/>
            </p:cNvSpPr>
            <p:nvPr/>
          </p:nvSpPr>
          <p:spPr bwMode="auto">
            <a:xfrm>
              <a:off x="2648" y="3892"/>
              <a:ext cx="21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16</a:t>
              </a:r>
            </a:p>
          </p:txBody>
        </p:sp>
        <p:sp>
          <p:nvSpPr>
            <p:cNvPr id="69704" name="Oval 73">
              <a:extLst>
                <a:ext uri="{FF2B5EF4-FFF2-40B4-BE49-F238E27FC236}">
                  <a16:creationId xmlns:a16="http://schemas.microsoft.com/office/drawing/2014/main" id="{2495BCF4-6510-CE3A-6E6E-51ACEB586C1A}"/>
                </a:ext>
              </a:extLst>
            </p:cNvPr>
            <p:cNvSpPr>
              <a:spLocks noChangeArrowheads="1"/>
            </p:cNvSpPr>
            <p:nvPr/>
          </p:nvSpPr>
          <p:spPr bwMode="auto">
            <a:xfrm>
              <a:off x="4703"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05" name="Oval 74">
              <a:extLst>
                <a:ext uri="{FF2B5EF4-FFF2-40B4-BE49-F238E27FC236}">
                  <a16:creationId xmlns:a16="http://schemas.microsoft.com/office/drawing/2014/main" id="{4C79EBEC-3B95-4CF7-2DFB-C90E96F1E8A2}"/>
                </a:ext>
              </a:extLst>
            </p:cNvPr>
            <p:cNvSpPr>
              <a:spLocks noChangeArrowheads="1"/>
            </p:cNvSpPr>
            <p:nvPr/>
          </p:nvSpPr>
          <p:spPr bwMode="auto">
            <a:xfrm>
              <a:off x="5107"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06" name="Rectangle 75">
              <a:extLst>
                <a:ext uri="{FF2B5EF4-FFF2-40B4-BE49-F238E27FC236}">
                  <a16:creationId xmlns:a16="http://schemas.microsoft.com/office/drawing/2014/main" id="{B910C78A-010B-989E-EAD3-A654D4569058}"/>
                </a:ext>
              </a:extLst>
            </p:cNvPr>
            <p:cNvSpPr>
              <a:spLocks noChangeArrowheads="1"/>
            </p:cNvSpPr>
            <p:nvPr/>
          </p:nvSpPr>
          <p:spPr bwMode="auto">
            <a:xfrm>
              <a:off x="4732" y="3892"/>
              <a:ext cx="202"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a:t>
              </a:r>
              <a:r>
                <a:rPr lang="en-US" altLang="zh-CN" sz="1800" b="1">
                  <a:latin typeface="Times New Roman" panose="02020603050405020304" pitchFamily="18" charset="0"/>
                </a:rPr>
                <a:t>1</a:t>
              </a:r>
            </a:p>
          </p:txBody>
        </p:sp>
        <p:sp>
          <p:nvSpPr>
            <p:cNvPr id="69707" name="Rectangle 76">
              <a:extLst>
                <a:ext uri="{FF2B5EF4-FFF2-40B4-BE49-F238E27FC236}">
                  <a16:creationId xmlns:a16="http://schemas.microsoft.com/office/drawing/2014/main" id="{68D133C5-71E2-0139-040E-E651AC9124B9}"/>
                </a:ext>
              </a:extLst>
            </p:cNvPr>
            <p:cNvSpPr>
              <a:spLocks noChangeArrowheads="1"/>
            </p:cNvSpPr>
            <p:nvPr/>
          </p:nvSpPr>
          <p:spPr bwMode="auto">
            <a:xfrm>
              <a:off x="5107" y="3892"/>
              <a:ext cx="23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a:t>
              </a:r>
              <a:r>
                <a:rPr lang="en-US" altLang="zh-CN" sz="1800" b="1">
                  <a:latin typeface="Times New Roman" panose="02020603050405020304" pitchFamily="18" charset="0"/>
                </a:rPr>
                <a:t>2</a:t>
              </a:r>
            </a:p>
          </p:txBody>
        </p:sp>
        <p:sp>
          <p:nvSpPr>
            <p:cNvPr id="69708" name="Oval 77">
              <a:extLst>
                <a:ext uri="{FF2B5EF4-FFF2-40B4-BE49-F238E27FC236}">
                  <a16:creationId xmlns:a16="http://schemas.microsoft.com/office/drawing/2014/main" id="{3098C853-42B9-A3EB-76AB-1F482E0B296D}"/>
                </a:ext>
              </a:extLst>
            </p:cNvPr>
            <p:cNvSpPr>
              <a:spLocks noChangeArrowheads="1"/>
            </p:cNvSpPr>
            <p:nvPr/>
          </p:nvSpPr>
          <p:spPr bwMode="auto">
            <a:xfrm>
              <a:off x="3297"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09" name="Oval 78">
              <a:extLst>
                <a:ext uri="{FF2B5EF4-FFF2-40B4-BE49-F238E27FC236}">
                  <a16:creationId xmlns:a16="http://schemas.microsoft.com/office/drawing/2014/main" id="{CA1CD62E-9EAD-2207-55B7-3D5978B7666F}"/>
                </a:ext>
              </a:extLst>
            </p:cNvPr>
            <p:cNvSpPr>
              <a:spLocks noChangeArrowheads="1"/>
            </p:cNvSpPr>
            <p:nvPr/>
          </p:nvSpPr>
          <p:spPr bwMode="auto">
            <a:xfrm>
              <a:off x="3702"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10" name="Rectangle 79">
              <a:extLst>
                <a:ext uri="{FF2B5EF4-FFF2-40B4-BE49-F238E27FC236}">
                  <a16:creationId xmlns:a16="http://schemas.microsoft.com/office/drawing/2014/main" id="{9D230E30-0962-7F80-D25A-F7103A3980FF}"/>
                </a:ext>
              </a:extLst>
            </p:cNvPr>
            <p:cNvSpPr>
              <a:spLocks noChangeArrowheads="1"/>
            </p:cNvSpPr>
            <p:nvPr/>
          </p:nvSpPr>
          <p:spPr bwMode="auto">
            <a:xfrm>
              <a:off x="3384" y="3864"/>
              <a:ext cx="14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a:t>
              </a:r>
              <a:r>
                <a:rPr lang="en-US" altLang="zh-CN" sz="1800" b="1">
                  <a:latin typeface="Times New Roman" panose="02020603050405020304" pitchFamily="18" charset="0"/>
                </a:rPr>
                <a:t>8</a:t>
              </a:r>
            </a:p>
          </p:txBody>
        </p:sp>
        <p:sp>
          <p:nvSpPr>
            <p:cNvPr id="69711" name="Rectangle 80">
              <a:extLst>
                <a:ext uri="{FF2B5EF4-FFF2-40B4-BE49-F238E27FC236}">
                  <a16:creationId xmlns:a16="http://schemas.microsoft.com/office/drawing/2014/main" id="{1269EF15-6A56-DA4D-9E9D-2D8BCE3D5238}"/>
                </a:ext>
              </a:extLst>
            </p:cNvPr>
            <p:cNvSpPr>
              <a:spLocks noChangeArrowheads="1"/>
            </p:cNvSpPr>
            <p:nvPr/>
          </p:nvSpPr>
          <p:spPr bwMode="auto">
            <a:xfrm>
              <a:off x="3730" y="3890"/>
              <a:ext cx="203"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a:t>
              </a:r>
              <a:r>
                <a:rPr lang="en-US" altLang="zh-CN" sz="1800" b="1">
                  <a:latin typeface="Times New Roman" panose="02020603050405020304" pitchFamily="18" charset="0"/>
                </a:rPr>
                <a:t>9</a:t>
              </a:r>
            </a:p>
          </p:txBody>
        </p:sp>
        <p:sp>
          <p:nvSpPr>
            <p:cNvPr id="69712" name="Oval 81">
              <a:extLst>
                <a:ext uri="{FF2B5EF4-FFF2-40B4-BE49-F238E27FC236}">
                  <a16:creationId xmlns:a16="http://schemas.microsoft.com/office/drawing/2014/main" id="{4AEAB4D7-F6C2-CAC1-5E7A-F0800CD4EE3B}"/>
                </a:ext>
              </a:extLst>
            </p:cNvPr>
            <p:cNvSpPr>
              <a:spLocks noChangeArrowheads="1"/>
            </p:cNvSpPr>
            <p:nvPr/>
          </p:nvSpPr>
          <p:spPr bwMode="auto">
            <a:xfrm>
              <a:off x="4096" y="3653"/>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13" name="Rectangle 82">
              <a:extLst>
                <a:ext uri="{FF2B5EF4-FFF2-40B4-BE49-F238E27FC236}">
                  <a16:creationId xmlns:a16="http://schemas.microsoft.com/office/drawing/2014/main" id="{2F37F95F-9579-D70A-161F-2206D0444F82}"/>
                </a:ext>
              </a:extLst>
            </p:cNvPr>
            <p:cNvSpPr>
              <a:spLocks noChangeArrowheads="1"/>
            </p:cNvSpPr>
            <p:nvPr/>
          </p:nvSpPr>
          <p:spPr bwMode="auto">
            <a:xfrm>
              <a:off x="4155" y="3896"/>
              <a:ext cx="22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20</a:t>
              </a:r>
            </a:p>
          </p:txBody>
        </p:sp>
        <p:sp>
          <p:nvSpPr>
            <p:cNvPr id="69714" name="Line 83">
              <a:extLst>
                <a:ext uri="{FF2B5EF4-FFF2-40B4-BE49-F238E27FC236}">
                  <a16:creationId xmlns:a16="http://schemas.microsoft.com/office/drawing/2014/main" id="{BD7EA146-2E1E-E8E9-5765-B3E2BD976477}"/>
                </a:ext>
              </a:extLst>
            </p:cNvPr>
            <p:cNvSpPr>
              <a:spLocks noChangeShapeType="1"/>
            </p:cNvSpPr>
            <p:nvPr/>
          </p:nvSpPr>
          <p:spPr bwMode="auto">
            <a:xfrm flipH="1">
              <a:off x="2325" y="3355"/>
              <a:ext cx="87" cy="29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15" name="Line 84">
              <a:extLst>
                <a:ext uri="{FF2B5EF4-FFF2-40B4-BE49-F238E27FC236}">
                  <a16:creationId xmlns:a16="http://schemas.microsoft.com/office/drawing/2014/main" id="{EDA008FD-997B-D513-667F-D62099175044}"/>
                </a:ext>
              </a:extLst>
            </p:cNvPr>
            <p:cNvSpPr>
              <a:spLocks noChangeShapeType="1"/>
            </p:cNvSpPr>
            <p:nvPr/>
          </p:nvSpPr>
          <p:spPr bwMode="auto">
            <a:xfrm>
              <a:off x="2681" y="3355"/>
              <a:ext cx="10" cy="29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16" name="Line 85">
              <a:extLst>
                <a:ext uri="{FF2B5EF4-FFF2-40B4-BE49-F238E27FC236}">
                  <a16:creationId xmlns:a16="http://schemas.microsoft.com/office/drawing/2014/main" id="{778F2E14-A382-845F-5A26-DCECC44093B2}"/>
                </a:ext>
              </a:extLst>
            </p:cNvPr>
            <p:cNvSpPr>
              <a:spLocks noChangeShapeType="1"/>
            </p:cNvSpPr>
            <p:nvPr/>
          </p:nvSpPr>
          <p:spPr bwMode="auto">
            <a:xfrm flipH="1">
              <a:off x="3470" y="3355"/>
              <a:ext cx="155" cy="30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17" name="Line 86">
              <a:extLst>
                <a:ext uri="{FF2B5EF4-FFF2-40B4-BE49-F238E27FC236}">
                  <a16:creationId xmlns:a16="http://schemas.microsoft.com/office/drawing/2014/main" id="{7D17ADAB-642B-0BEE-B66B-76E98B4B9A47}"/>
                </a:ext>
              </a:extLst>
            </p:cNvPr>
            <p:cNvSpPr>
              <a:spLocks noChangeShapeType="1"/>
            </p:cNvSpPr>
            <p:nvPr/>
          </p:nvSpPr>
          <p:spPr bwMode="auto">
            <a:xfrm flipH="1">
              <a:off x="3836" y="3355"/>
              <a:ext cx="48" cy="29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18" name="Line 87">
              <a:extLst>
                <a:ext uri="{FF2B5EF4-FFF2-40B4-BE49-F238E27FC236}">
                  <a16:creationId xmlns:a16="http://schemas.microsoft.com/office/drawing/2014/main" id="{E4DF764C-B7D2-04F0-236D-8A227B7585DC}"/>
                </a:ext>
              </a:extLst>
            </p:cNvPr>
            <p:cNvSpPr>
              <a:spLocks noChangeShapeType="1"/>
            </p:cNvSpPr>
            <p:nvPr/>
          </p:nvSpPr>
          <p:spPr bwMode="auto">
            <a:xfrm>
              <a:off x="4144" y="3355"/>
              <a:ext cx="68" cy="29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19" name="Line 88">
              <a:extLst>
                <a:ext uri="{FF2B5EF4-FFF2-40B4-BE49-F238E27FC236}">
                  <a16:creationId xmlns:a16="http://schemas.microsoft.com/office/drawing/2014/main" id="{87862D68-3FA0-1B2B-9F7A-55B000C4077C}"/>
                </a:ext>
              </a:extLst>
            </p:cNvPr>
            <p:cNvSpPr>
              <a:spLocks noChangeShapeType="1"/>
            </p:cNvSpPr>
            <p:nvPr/>
          </p:nvSpPr>
          <p:spPr bwMode="auto">
            <a:xfrm flipH="1">
              <a:off x="4818" y="3355"/>
              <a:ext cx="29" cy="29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20" name="Line 89">
              <a:extLst>
                <a:ext uri="{FF2B5EF4-FFF2-40B4-BE49-F238E27FC236}">
                  <a16:creationId xmlns:a16="http://schemas.microsoft.com/office/drawing/2014/main" id="{682EBE56-9626-AE13-3C59-078218ECD96E}"/>
                </a:ext>
              </a:extLst>
            </p:cNvPr>
            <p:cNvSpPr>
              <a:spLocks noChangeShapeType="1"/>
            </p:cNvSpPr>
            <p:nvPr/>
          </p:nvSpPr>
          <p:spPr bwMode="auto">
            <a:xfrm>
              <a:off x="5097" y="3337"/>
              <a:ext cx="126" cy="31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21" name="Line 90">
              <a:extLst>
                <a:ext uri="{FF2B5EF4-FFF2-40B4-BE49-F238E27FC236}">
                  <a16:creationId xmlns:a16="http://schemas.microsoft.com/office/drawing/2014/main" id="{DD8DEA03-BCCA-A7BF-DE57-9D981B7428DF}"/>
                </a:ext>
              </a:extLst>
            </p:cNvPr>
            <p:cNvSpPr>
              <a:spLocks noChangeShapeType="1"/>
            </p:cNvSpPr>
            <p:nvPr/>
          </p:nvSpPr>
          <p:spPr bwMode="auto">
            <a:xfrm>
              <a:off x="5384" y="3336"/>
              <a:ext cx="126" cy="31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9722" name="Oval 91">
              <a:extLst>
                <a:ext uri="{FF2B5EF4-FFF2-40B4-BE49-F238E27FC236}">
                  <a16:creationId xmlns:a16="http://schemas.microsoft.com/office/drawing/2014/main" id="{8EE138C2-E988-E2FD-8FD6-85A8B23CE227}"/>
                </a:ext>
              </a:extLst>
            </p:cNvPr>
            <p:cNvSpPr>
              <a:spLocks noChangeArrowheads="1"/>
            </p:cNvSpPr>
            <p:nvPr/>
          </p:nvSpPr>
          <p:spPr bwMode="auto">
            <a:xfrm>
              <a:off x="5452" y="3637"/>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23" name="Rectangle 92">
              <a:extLst>
                <a:ext uri="{FF2B5EF4-FFF2-40B4-BE49-F238E27FC236}">
                  <a16:creationId xmlns:a16="http://schemas.microsoft.com/office/drawing/2014/main" id="{A132D1D8-1172-E3FA-B49E-8918AB54C259}"/>
                </a:ext>
              </a:extLst>
            </p:cNvPr>
            <p:cNvSpPr>
              <a:spLocks noChangeArrowheads="1"/>
            </p:cNvSpPr>
            <p:nvPr/>
          </p:nvSpPr>
          <p:spPr bwMode="auto">
            <a:xfrm>
              <a:off x="5529" y="3902"/>
              <a:ext cx="23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a:t>
              </a:r>
              <a:r>
                <a:rPr lang="en-US" altLang="zh-CN" sz="1800" b="1">
                  <a:latin typeface="Times New Roman" panose="02020603050405020304" pitchFamily="18" charset="0"/>
                </a:rPr>
                <a:t>3</a:t>
              </a:r>
            </a:p>
          </p:txBody>
        </p:sp>
        <p:sp>
          <p:nvSpPr>
            <p:cNvPr id="69724" name="Oval 93">
              <a:extLst>
                <a:ext uri="{FF2B5EF4-FFF2-40B4-BE49-F238E27FC236}">
                  <a16:creationId xmlns:a16="http://schemas.microsoft.com/office/drawing/2014/main" id="{7BA52BA4-1E8D-D3DC-BF8D-5B33DA70A114}"/>
                </a:ext>
              </a:extLst>
            </p:cNvPr>
            <p:cNvSpPr>
              <a:spLocks noChangeArrowheads="1"/>
            </p:cNvSpPr>
            <p:nvPr/>
          </p:nvSpPr>
          <p:spPr bwMode="auto">
            <a:xfrm>
              <a:off x="2925" y="3646"/>
              <a:ext cx="240" cy="22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69725" name="Rectangle 94">
              <a:extLst>
                <a:ext uri="{FF2B5EF4-FFF2-40B4-BE49-F238E27FC236}">
                  <a16:creationId xmlns:a16="http://schemas.microsoft.com/office/drawing/2014/main" id="{D058F3B5-36A4-12A7-412F-13E8E9A64FF6}"/>
                </a:ext>
              </a:extLst>
            </p:cNvPr>
            <p:cNvSpPr>
              <a:spLocks noChangeArrowheads="1"/>
            </p:cNvSpPr>
            <p:nvPr/>
          </p:nvSpPr>
          <p:spPr bwMode="auto">
            <a:xfrm>
              <a:off x="2966" y="3885"/>
              <a:ext cx="23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17</a:t>
              </a:r>
            </a:p>
          </p:txBody>
        </p:sp>
        <p:sp>
          <p:nvSpPr>
            <p:cNvPr id="69726" name="Line 95">
              <a:extLst>
                <a:ext uri="{FF2B5EF4-FFF2-40B4-BE49-F238E27FC236}">
                  <a16:creationId xmlns:a16="http://schemas.microsoft.com/office/drawing/2014/main" id="{7AF11E31-BD75-8BC0-6BC4-AEBC9A5A3EFB}"/>
                </a:ext>
              </a:extLst>
            </p:cNvPr>
            <p:cNvSpPr>
              <a:spLocks noChangeShapeType="1"/>
            </p:cNvSpPr>
            <p:nvPr/>
          </p:nvSpPr>
          <p:spPr bwMode="auto">
            <a:xfrm>
              <a:off x="2938" y="3358"/>
              <a:ext cx="55" cy="29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90B69E5F-F50C-A6F5-93B0-895282AC7BEC}"/>
              </a:ext>
            </a:extLst>
          </p:cNvPr>
          <p:cNvSpPr>
            <a:spLocks noGrp="1"/>
          </p:cNvSpPr>
          <p:nvPr>
            <p:ph type="sldNum" sz="quarter" idx="12"/>
          </p:nvPr>
        </p:nvSpPr>
        <p:spPr/>
        <p:txBody>
          <a:bodyPr/>
          <a:lstStyle/>
          <a:p>
            <a:fld id="{4093CC90-4002-504C-BD88-C9A1D374048E}" type="slidenum">
              <a:rPr lang="zh-CN" altLang="en-US" smtClean="0"/>
              <a:pPr/>
              <a:t>59</a:t>
            </a:fld>
            <a:endParaRPr lang="zh-CN" altLang="en-US" dirty="0"/>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87FFFD76-66B2-F4AE-4445-AAAA1F887B77}"/>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两个特殊目录</a:t>
            </a:r>
            <a:endParaRPr lang="zh-CN" altLang="en-US"/>
          </a:p>
        </p:txBody>
      </p:sp>
      <p:sp>
        <p:nvSpPr>
          <p:cNvPr id="70658" name="Rectangle 3">
            <a:extLst>
              <a:ext uri="{FF2B5EF4-FFF2-40B4-BE49-F238E27FC236}">
                <a16:creationId xmlns:a16="http://schemas.microsoft.com/office/drawing/2014/main" id="{702EA260-6335-0FDE-0303-1E36F8ABDE26}"/>
              </a:ext>
            </a:extLst>
          </p:cNvPr>
          <p:cNvSpPr>
            <a:spLocks noGrp="1" noChangeArrowheads="1"/>
          </p:cNvSpPr>
          <p:nvPr>
            <p:ph idx="1"/>
          </p:nvPr>
        </p:nvSpPr>
        <p:spPr>
          <a:xfrm>
            <a:off x="900113" y="1268413"/>
            <a:ext cx="7978775" cy="4648200"/>
          </a:xfrm>
        </p:spPr>
        <p:txBody>
          <a:bodyPr/>
          <a:lstStyle/>
          <a:p>
            <a:pPr algn="just" eaLnBrk="1" hangingPunct="1"/>
            <a:r>
              <a:rPr lang="zh-CN" altLang="en-US">
                <a:latin typeface="Times New Roman" panose="02020603050405020304" pitchFamily="18" charset="0"/>
              </a:rPr>
              <a:t>有两个特殊目录：</a:t>
            </a:r>
          </a:p>
          <a:p>
            <a:pPr lvl="1" algn="just" eaLnBrk="1" hangingPunct="1"/>
            <a:r>
              <a:rPr lang="zh-CN" altLang="en-US">
                <a:latin typeface="Times New Roman" panose="02020603050405020304" pitchFamily="18" charset="0"/>
              </a:rPr>
              <a:t>“ </a:t>
            </a:r>
            <a:r>
              <a:rPr lang="zh-CN" altLang="en-US" b="1"/>
              <a:t>.. </a:t>
            </a:r>
            <a:r>
              <a:rPr lang="zh-CN" altLang="en-US">
                <a:latin typeface="Times New Roman" panose="02020603050405020304" pitchFamily="18" charset="0"/>
              </a:rPr>
              <a:t>”：表示给定目录的父目录</a:t>
            </a:r>
          </a:p>
          <a:p>
            <a:pPr lvl="1" algn="just" eaLnBrk="1" hangingPunct="1"/>
            <a:r>
              <a:rPr lang="zh-CN" altLang="en-US">
                <a:latin typeface="Times New Roman" panose="02020603050405020304" pitchFamily="18" charset="0"/>
              </a:rPr>
              <a:t>“ </a:t>
            </a:r>
            <a:r>
              <a:rPr lang="zh-CN" altLang="en-US" b="1"/>
              <a:t>. </a:t>
            </a:r>
            <a:r>
              <a:rPr lang="zh-CN" altLang="en-US">
                <a:latin typeface="Times New Roman" panose="02020603050405020304" pitchFamily="18" charset="0"/>
              </a:rPr>
              <a:t>”：表示当前目录</a:t>
            </a:r>
          </a:p>
        </p:txBody>
      </p:sp>
      <p:sp>
        <p:nvSpPr>
          <p:cNvPr id="2" name="灯片编号占位符 1">
            <a:extLst>
              <a:ext uri="{FF2B5EF4-FFF2-40B4-BE49-F238E27FC236}">
                <a16:creationId xmlns:a16="http://schemas.microsoft.com/office/drawing/2014/main" id="{748B7009-6FDA-BCEA-6BB6-ACB5C8ACE7B2}"/>
              </a:ext>
            </a:extLst>
          </p:cNvPr>
          <p:cNvSpPr>
            <a:spLocks noGrp="1"/>
          </p:cNvSpPr>
          <p:nvPr>
            <p:ph type="sldNum" sz="quarter" idx="12"/>
          </p:nvPr>
        </p:nvSpPr>
        <p:spPr/>
        <p:txBody>
          <a:bodyPr/>
          <a:lstStyle/>
          <a:p>
            <a:fld id="{4093CC90-4002-504C-BD88-C9A1D374048E}" type="slidenum">
              <a:rPr lang="zh-CN" altLang="en-US" smtClean="0"/>
              <a:pPr/>
              <a:t>60</a:t>
            </a:fld>
            <a:endParaRPr lang="zh-CN" altLang="en-US" dirty="0"/>
          </a:p>
        </p:txBody>
      </p:sp>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6FA2C65D-2D6B-61B6-EA57-1AFF3596E785}"/>
              </a:ext>
            </a:extLst>
          </p:cNvPr>
          <p:cNvSpPr>
            <a:spLocks noGrp="1" noChangeArrowheads="1"/>
          </p:cNvSpPr>
          <p:nvPr>
            <p:ph type="title"/>
          </p:nvPr>
        </p:nvSpPr>
        <p:spPr>
          <a:xfrm>
            <a:off x="1042988" y="225431"/>
            <a:ext cx="7850187" cy="746125"/>
          </a:xfrm>
        </p:spPr>
        <p:txBody>
          <a:bodyPr/>
          <a:lstStyle/>
          <a:p>
            <a:r>
              <a:rPr lang="zh-CN" altLang="en-US" dirty="0"/>
              <a:t>无环图目录</a:t>
            </a:r>
            <a:endParaRPr lang="en-US" altLang="zh-CN" dirty="0"/>
          </a:p>
        </p:txBody>
      </p:sp>
      <p:sp>
        <p:nvSpPr>
          <p:cNvPr id="348163" name="Rectangle 3">
            <a:extLst>
              <a:ext uri="{FF2B5EF4-FFF2-40B4-BE49-F238E27FC236}">
                <a16:creationId xmlns:a16="http://schemas.microsoft.com/office/drawing/2014/main" id="{CD55679B-8069-2285-D41D-283B8B7CA0E2}"/>
              </a:ext>
            </a:extLst>
          </p:cNvPr>
          <p:cNvSpPr>
            <a:spLocks noGrp="1" noChangeArrowheads="1"/>
          </p:cNvSpPr>
          <p:nvPr>
            <p:ph idx="1"/>
          </p:nvPr>
        </p:nvSpPr>
        <p:spPr>
          <a:xfrm>
            <a:off x="935038" y="1233488"/>
            <a:ext cx="7772400" cy="4895850"/>
          </a:xfrm>
        </p:spPr>
        <p:txBody>
          <a:bodyPr/>
          <a:lstStyle/>
          <a:p>
            <a:r>
              <a:rPr lang="zh-CN" altLang="en-US" dirty="0"/>
              <a:t>无环图是树型目录方案的扩展</a:t>
            </a:r>
          </a:p>
          <a:p>
            <a:r>
              <a:rPr lang="zh-CN" altLang="en-US" dirty="0"/>
              <a:t>无环图允许目录含有共享子目录和文件</a:t>
            </a:r>
          </a:p>
        </p:txBody>
      </p:sp>
      <p:pic>
        <p:nvPicPr>
          <p:cNvPr id="6" name="Picture 7" descr="10">
            <a:extLst>
              <a:ext uri="{FF2B5EF4-FFF2-40B4-BE49-F238E27FC236}">
                <a16:creationId xmlns:a16="http://schemas.microsoft.com/office/drawing/2014/main" id="{E874A12E-A8A0-9019-52BF-99D9ABD3F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16" y="2596474"/>
            <a:ext cx="4805821" cy="3883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3EC1E0F8-4A3D-5851-0CCF-4DF17F688BAA}"/>
              </a:ext>
            </a:extLst>
          </p:cNvPr>
          <p:cNvSpPr>
            <a:spLocks noGrp="1"/>
          </p:cNvSpPr>
          <p:nvPr>
            <p:ph type="sldNum" sz="quarter" idx="12"/>
          </p:nvPr>
        </p:nvSpPr>
        <p:spPr/>
        <p:txBody>
          <a:bodyPr/>
          <a:lstStyle/>
          <a:p>
            <a:fld id="{4093CC90-4002-504C-BD88-C9A1D374048E}" type="slidenum">
              <a:rPr lang="zh-CN" altLang="en-US" smtClean="0"/>
              <a:pPr/>
              <a:t>61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8163">
                                            <p:txEl>
                                              <p:pRg st="0" end="0"/>
                                            </p:txEl>
                                          </p:spTgt>
                                        </p:tgtEl>
                                        <p:attrNameLst>
                                          <p:attrName>style.visibility</p:attrName>
                                        </p:attrNameLst>
                                      </p:cBhvr>
                                      <p:to>
                                        <p:strVal val="visible"/>
                                      </p:to>
                                    </p:set>
                                    <p:animEffect transition="in" filter="checkerboard(across)">
                                      <p:cBhvr>
                                        <p:cTn id="7" dur="500"/>
                                        <p:tgtEl>
                                          <p:spTgt spid="348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8163">
                                            <p:txEl>
                                              <p:pRg st="1" end="1"/>
                                            </p:txEl>
                                          </p:spTgt>
                                        </p:tgtEl>
                                        <p:attrNameLst>
                                          <p:attrName>style.visibility</p:attrName>
                                        </p:attrNameLst>
                                      </p:cBhvr>
                                      <p:to>
                                        <p:strVal val="visible"/>
                                      </p:to>
                                    </p:set>
                                    <p:animEffect transition="in" filter="checkerboard(across)">
                                      <p:cBhvr>
                                        <p:cTn id="12" dur="500"/>
                                        <p:tgtEl>
                                          <p:spTgt spid="348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45BAF0EE-B53B-193F-09C2-73A7E62061A6}"/>
              </a:ext>
            </a:extLst>
          </p:cNvPr>
          <p:cNvSpPr>
            <a:spLocks noGrp="1" noChangeArrowheads="1"/>
          </p:cNvSpPr>
          <p:nvPr>
            <p:ph type="title"/>
          </p:nvPr>
        </p:nvSpPr>
        <p:spPr>
          <a:xfrm>
            <a:off x="1042988" y="225431"/>
            <a:ext cx="7850187" cy="746125"/>
          </a:xfrm>
        </p:spPr>
        <p:txBody>
          <a:bodyPr/>
          <a:lstStyle/>
          <a:p>
            <a:r>
              <a:rPr lang="zh-CN" altLang="en-US" dirty="0"/>
              <a:t>可能的问题</a:t>
            </a:r>
          </a:p>
        </p:txBody>
      </p:sp>
      <p:sp>
        <p:nvSpPr>
          <p:cNvPr id="350211" name="Rectangle 3">
            <a:extLst>
              <a:ext uri="{FF2B5EF4-FFF2-40B4-BE49-F238E27FC236}">
                <a16:creationId xmlns:a16="http://schemas.microsoft.com/office/drawing/2014/main" id="{0C811480-4B7A-7241-2D22-3E679EBC8D32}"/>
              </a:ext>
            </a:extLst>
          </p:cNvPr>
          <p:cNvSpPr>
            <a:spLocks noGrp="1" noChangeArrowheads="1"/>
          </p:cNvSpPr>
          <p:nvPr>
            <p:ph idx="1"/>
          </p:nvPr>
        </p:nvSpPr>
        <p:spPr>
          <a:xfrm>
            <a:off x="935038" y="1233488"/>
            <a:ext cx="7772400" cy="4895850"/>
          </a:xfrm>
        </p:spPr>
        <p:txBody>
          <a:bodyPr/>
          <a:lstStyle/>
          <a:p>
            <a:r>
              <a:rPr lang="zh-CN" altLang="en-US"/>
              <a:t>不同文件名可能表示同一文件。对于遍历文件系统与统计文件来说可能会带来一定的问题。</a:t>
            </a:r>
          </a:p>
          <a:p>
            <a:r>
              <a:rPr lang="zh-CN" altLang="en-US"/>
              <a:t>另一问题是删除问题。分配给共享文件的空间何时可删除和重新使用</a:t>
            </a:r>
          </a:p>
          <a:p>
            <a:endParaRPr lang="zh-CN" altLang="en-US"/>
          </a:p>
        </p:txBody>
      </p:sp>
      <p:sp>
        <p:nvSpPr>
          <p:cNvPr id="2" name="灯片编号占位符 1">
            <a:extLst>
              <a:ext uri="{FF2B5EF4-FFF2-40B4-BE49-F238E27FC236}">
                <a16:creationId xmlns:a16="http://schemas.microsoft.com/office/drawing/2014/main" id="{ECE33825-1E93-693D-C97A-0005BA0A665A}"/>
              </a:ext>
            </a:extLst>
          </p:cNvPr>
          <p:cNvSpPr>
            <a:spLocks noGrp="1"/>
          </p:cNvSpPr>
          <p:nvPr>
            <p:ph type="sldNum" sz="quarter" idx="12"/>
          </p:nvPr>
        </p:nvSpPr>
        <p:spPr/>
        <p:txBody>
          <a:bodyPr/>
          <a:lstStyle/>
          <a:p>
            <a:fld id="{4093CC90-4002-504C-BD88-C9A1D374048E}" type="slidenum">
              <a:rPr lang="zh-CN" altLang="en-US" smtClean="0"/>
              <a:pPr/>
              <a:t>62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checkerboard(across)">
                                      <p:cBhvr>
                                        <p:cTn id="7" dur="500"/>
                                        <p:tgtEl>
                                          <p:spTgt spid="350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0211">
                                            <p:txEl>
                                              <p:pRg st="1" end="1"/>
                                            </p:txEl>
                                          </p:spTgt>
                                        </p:tgtEl>
                                        <p:attrNameLst>
                                          <p:attrName>style.visibility</p:attrName>
                                        </p:attrNameLst>
                                      </p:cBhvr>
                                      <p:to>
                                        <p:strVal val="visible"/>
                                      </p:to>
                                    </p:set>
                                    <p:animEffect transition="in" filter="checkerboard(across)">
                                      <p:cBhvr>
                                        <p:cTn id="12" dur="500"/>
                                        <p:tgtEl>
                                          <p:spTgt spid="3502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E69F1EB0-155E-116C-889A-6F3CA86B021B}"/>
              </a:ext>
            </a:extLst>
          </p:cNvPr>
          <p:cNvSpPr>
            <a:spLocks noGrp="1" noChangeArrowheads="1"/>
          </p:cNvSpPr>
          <p:nvPr>
            <p:ph type="title"/>
          </p:nvPr>
        </p:nvSpPr>
        <p:spPr>
          <a:xfrm>
            <a:off x="1042988" y="225431"/>
            <a:ext cx="7850187" cy="746125"/>
          </a:xfrm>
        </p:spPr>
        <p:txBody>
          <a:bodyPr/>
          <a:lstStyle/>
          <a:p>
            <a:r>
              <a:rPr lang="zh-CN" altLang="en-US" dirty="0"/>
              <a:t>通用图目录</a:t>
            </a:r>
          </a:p>
        </p:txBody>
      </p:sp>
      <p:sp>
        <p:nvSpPr>
          <p:cNvPr id="74754" name="Rectangle 5">
            <a:extLst>
              <a:ext uri="{FF2B5EF4-FFF2-40B4-BE49-F238E27FC236}">
                <a16:creationId xmlns:a16="http://schemas.microsoft.com/office/drawing/2014/main" id="{D2EB8537-0DE9-E38B-1D23-32A5126E33A9}"/>
              </a:ext>
            </a:extLst>
          </p:cNvPr>
          <p:cNvSpPr>
            <a:spLocks noGrp="1" noChangeArrowheads="1"/>
          </p:cNvSpPr>
          <p:nvPr>
            <p:ph idx="1"/>
          </p:nvPr>
        </p:nvSpPr>
        <p:spPr>
          <a:xfrm>
            <a:off x="935038" y="1233488"/>
            <a:ext cx="7772400" cy="4895850"/>
          </a:xfrm>
        </p:spPr>
        <p:txBody>
          <a:bodyPr/>
          <a:lstStyle/>
          <a:p>
            <a:r>
              <a:rPr lang="zh-CN" altLang="en-US" dirty="0"/>
              <a:t>当对已存在树状结构目录增加链接时，树状结构就被破坏了，产生了简单的图结构。</a:t>
            </a:r>
          </a:p>
        </p:txBody>
      </p:sp>
      <p:pic>
        <p:nvPicPr>
          <p:cNvPr id="4" name="Picture 6" descr="10">
            <a:extLst>
              <a:ext uri="{FF2B5EF4-FFF2-40B4-BE49-F238E27FC236}">
                <a16:creationId xmlns:a16="http://schemas.microsoft.com/office/drawing/2014/main" id="{BB63ADC8-A7EA-888A-E00F-D92F84642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693" y="2549819"/>
            <a:ext cx="6484891" cy="384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4AEC764-0F5A-3B77-15FA-AED1556C7EC2}"/>
              </a:ext>
            </a:extLst>
          </p:cNvPr>
          <p:cNvSpPr>
            <a:spLocks noGrp="1"/>
          </p:cNvSpPr>
          <p:nvPr>
            <p:ph type="sldNum" sz="quarter" idx="12"/>
          </p:nvPr>
        </p:nvSpPr>
        <p:spPr/>
        <p:txBody>
          <a:bodyPr/>
          <a:lstStyle/>
          <a:p>
            <a:fld id="{4093CC90-4002-504C-BD88-C9A1D374048E}" type="slidenum">
              <a:rPr lang="zh-CN" altLang="en-US" smtClean="0"/>
              <a:pPr/>
              <a:t>63</a:t>
            </a:fld>
            <a:endParaRPr lang="zh-CN" altLang="en-US" dirty="0"/>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EDE164BA-0857-0747-CE0F-ECF39002B98B}"/>
              </a:ext>
            </a:extLst>
          </p:cNvPr>
          <p:cNvSpPr>
            <a:spLocks noGrp="1" noChangeArrowheads="1"/>
          </p:cNvSpPr>
          <p:nvPr>
            <p:ph type="title"/>
          </p:nvPr>
        </p:nvSpPr>
        <p:spPr/>
        <p:txBody>
          <a:bodyPr/>
          <a:lstStyle/>
          <a:p>
            <a:pPr eaLnBrk="1" hangingPunct="1"/>
            <a:r>
              <a:rPr lang="zh-CN" altLang="en-US" sz="4000" dirty="0"/>
              <a:t>存在的问题</a:t>
            </a:r>
          </a:p>
        </p:txBody>
      </p:sp>
      <p:sp>
        <p:nvSpPr>
          <p:cNvPr id="76802" name="Rectangle 3">
            <a:extLst>
              <a:ext uri="{FF2B5EF4-FFF2-40B4-BE49-F238E27FC236}">
                <a16:creationId xmlns:a16="http://schemas.microsoft.com/office/drawing/2014/main" id="{50416F1E-9A39-58E8-FDEF-483532835A2E}"/>
              </a:ext>
            </a:extLst>
          </p:cNvPr>
          <p:cNvSpPr>
            <a:spLocks noGrp="1" noChangeArrowheads="1"/>
          </p:cNvSpPr>
          <p:nvPr>
            <p:ph idx="1"/>
          </p:nvPr>
        </p:nvSpPr>
        <p:spPr/>
        <p:txBody>
          <a:bodyPr/>
          <a:lstStyle/>
          <a:p>
            <a:pPr eaLnBrk="1" hangingPunct="1"/>
            <a:r>
              <a:rPr lang="zh-CN" altLang="en-US" dirty="0"/>
              <a:t>遍历文件系统时，可能无限循环</a:t>
            </a:r>
            <a:endParaRPr lang="en-US" altLang="zh-CN" dirty="0"/>
          </a:p>
          <a:p>
            <a:pPr lvl="1"/>
            <a:r>
              <a:rPr lang="zh-CN" altLang="en-US" dirty="0"/>
              <a:t>只允许链接到文件</a:t>
            </a:r>
          </a:p>
          <a:p>
            <a:pPr eaLnBrk="1" hangingPunct="1"/>
            <a:r>
              <a:rPr lang="zh-CN" altLang="en-US" dirty="0"/>
              <a:t>决定文件何时可以删除</a:t>
            </a:r>
          </a:p>
          <a:p>
            <a:pPr eaLnBrk="1" hangingPunct="1">
              <a:buFont typeface="Wingdings" pitchFamily="2" charset="2"/>
              <a:buNone/>
            </a:pPr>
            <a:r>
              <a:rPr lang="en-US" altLang="zh-CN" dirty="0"/>
              <a:t>   </a:t>
            </a:r>
          </a:p>
          <a:p>
            <a:pPr eaLnBrk="1" hangingPunct="1"/>
            <a:endParaRPr lang="zh-CN" altLang="en-US" dirty="0"/>
          </a:p>
        </p:txBody>
      </p:sp>
      <p:sp>
        <p:nvSpPr>
          <p:cNvPr id="2" name="灯片编号占位符 1">
            <a:extLst>
              <a:ext uri="{FF2B5EF4-FFF2-40B4-BE49-F238E27FC236}">
                <a16:creationId xmlns:a16="http://schemas.microsoft.com/office/drawing/2014/main" id="{74534F80-622C-1711-C578-5B5041745910}"/>
              </a:ext>
            </a:extLst>
          </p:cNvPr>
          <p:cNvSpPr>
            <a:spLocks noGrp="1"/>
          </p:cNvSpPr>
          <p:nvPr>
            <p:ph type="sldNum" sz="quarter" idx="12"/>
          </p:nvPr>
        </p:nvSpPr>
        <p:spPr/>
        <p:txBody>
          <a:bodyPr/>
          <a:lstStyle/>
          <a:p>
            <a:fld id="{4093CC90-4002-504C-BD88-C9A1D374048E}" type="slidenum">
              <a:rPr lang="zh-CN" altLang="en-US" smtClean="0"/>
              <a:pPr/>
              <a:t>64</a:t>
            </a:fld>
            <a:endParaRPr lang="zh-CN" altLang="en-US" dirty="0"/>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79AE675E-9C5F-6215-E791-42E803259AD9}"/>
              </a:ext>
            </a:extLst>
          </p:cNvPr>
          <p:cNvSpPr>
            <a:spLocks noGrp="1" noChangeArrowheads="1"/>
          </p:cNvSpPr>
          <p:nvPr>
            <p:ph type="title"/>
          </p:nvPr>
        </p:nvSpPr>
        <p:spPr/>
        <p:txBody>
          <a:bodyPr/>
          <a:lstStyle/>
          <a:p>
            <a:pPr eaLnBrk="1" hangingPunct="1"/>
            <a:r>
              <a:rPr lang="zh-CN" altLang="en-US" sz="4000" dirty="0"/>
              <a:t>保护 </a:t>
            </a:r>
            <a:r>
              <a:rPr lang="en-US" altLang="zh-CN" sz="4000" dirty="0"/>
              <a:t>Protection</a:t>
            </a:r>
          </a:p>
        </p:txBody>
      </p:sp>
      <p:sp>
        <p:nvSpPr>
          <p:cNvPr id="77826" name="Rectangle 3">
            <a:extLst>
              <a:ext uri="{FF2B5EF4-FFF2-40B4-BE49-F238E27FC236}">
                <a16:creationId xmlns:a16="http://schemas.microsoft.com/office/drawing/2014/main" id="{3701921C-F5B7-C76B-32A4-8B3F24CA1036}"/>
              </a:ext>
            </a:extLst>
          </p:cNvPr>
          <p:cNvSpPr>
            <a:spLocks noGrp="1" noChangeArrowheads="1"/>
          </p:cNvSpPr>
          <p:nvPr>
            <p:ph idx="1"/>
          </p:nvPr>
        </p:nvSpPr>
        <p:spPr>
          <a:xfrm>
            <a:off x="900113" y="1125538"/>
            <a:ext cx="8004175" cy="4895850"/>
          </a:xfrm>
        </p:spPr>
        <p:txBody>
          <a:bodyPr/>
          <a:lstStyle/>
          <a:p>
            <a:pPr eaLnBrk="1" hangingPunct="1"/>
            <a:r>
              <a:rPr lang="zh-CN" altLang="en-US" dirty="0"/>
              <a:t>当信息保存在计算机系统中时，需要保护其安全，使之不受物理损害和非法访问。</a:t>
            </a:r>
          </a:p>
          <a:p>
            <a:pPr eaLnBrk="1" hangingPunct="1">
              <a:buFont typeface="Wingdings" pitchFamily="2" charset="2"/>
              <a:buNone/>
            </a:pPr>
            <a:r>
              <a:rPr lang="en-US" altLang="zh-CN" dirty="0"/>
              <a:t>   </a:t>
            </a:r>
          </a:p>
        </p:txBody>
      </p:sp>
      <p:sp>
        <p:nvSpPr>
          <p:cNvPr id="2" name="灯片编号占位符 1">
            <a:extLst>
              <a:ext uri="{FF2B5EF4-FFF2-40B4-BE49-F238E27FC236}">
                <a16:creationId xmlns:a16="http://schemas.microsoft.com/office/drawing/2014/main" id="{23CA2601-D203-76AE-1F3D-E0AEC5D50856}"/>
              </a:ext>
            </a:extLst>
          </p:cNvPr>
          <p:cNvSpPr>
            <a:spLocks noGrp="1"/>
          </p:cNvSpPr>
          <p:nvPr>
            <p:ph type="sldNum" sz="quarter" idx="12"/>
          </p:nvPr>
        </p:nvSpPr>
        <p:spPr/>
        <p:txBody>
          <a:bodyPr/>
          <a:lstStyle/>
          <a:p>
            <a:fld id="{4093CC90-4002-504C-BD88-C9A1D374048E}" type="slidenum">
              <a:rPr lang="zh-CN" altLang="en-US" smtClean="0"/>
              <a:pPr/>
              <a:t>65</a:t>
            </a:fld>
            <a:endParaRPr lang="zh-CN" altLang="en-US" dirty="0"/>
          </a:p>
        </p:txBody>
      </p:sp>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68438BE3-6159-8DAB-E807-68DA0AE83413}"/>
              </a:ext>
            </a:extLst>
          </p:cNvPr>
          <p:cNvSpPr>
            <a:spLocks noGrp="1" noChangeArrowheads="1"/>
          </p:cNvSpPr>
          <p:nvPr>
            <p:ph type="title"/>
          </p:nvPr>
        </p:nvSpPr>
        <p:spPr/>
        <p:txBody>
          <a:bodyPr/>
          <a:lstStyle/>
          <a:p>
            <a:pPr eaLnBrk="1" hangingPunct="1"/>
            <a:r>
              <a:rPr lang="zh-CN" altLang="en-US" sz="4000" dirty="0"/>
              <a:t>访问类型</a:t>
            </a:r>
            <a:endParaRPr lang="en-US" altLang="zh-CN" sz="4000" dirty="0"/>
          </a:p>
        </p:txBody>
      </p:sp>
      <p:sp>
        <p:nvSpPr>
          <p:cNvPr id="78850" name="Rectangle 3">
            <a:extLst>
              <a:ext uri="{FF2B5EF4-FFF2-40B4-BE49-F238E27FC236}">
                <a16:creationId xmlns:a16="http://schemas.microsoft.com/office/drawing/2014/main" id="{C228F909-1501-447A-7E41-F2401CB2FA64}"/>
              </a:ext>
            </a:extLst>
          </p:cNvPr>
          <p:cNvSpPr>
            <a:spLocks noGrp="1" noChangeArrowheads="1"/>
          </p:cNvSpPr>
          <p:nvPr>
            <p:ph idx="1"/>
          </p:nvPr>
        </p:nvSpPr>
        <p:spPr>
          <a:xfrm>
            <a:off x="1000125" y="1125538"/>
            <a:ext cx="7904163" cy="4895850"/>
          </a:xfrm>
        </p:spPr>
        <p:txBody>
          <a:bodyPr/>
          <a:lstStyle/>
          <a:p>
            <a:pPr eaLnBrk="1" hangingPunct="1"/>
            <a:r>
              <a:rPr lang="zh-CN" altLang="en-US" dirty="0"/>
              <a:t>访问类型：</a:t>
            </a:r>
          </a:p>
          <a:p>
            <a:pPr lvl="1" eaLnBrk="1" hangingPunct="1"/>
            <a:r>
              <a:rPr lang="zh-CN" altLang="en-US" dirty="0"/>
              <a:t>读 </a:t>
            </a:r>
            <a:r>
              <a:rPr lang="en-US" altLang="zh-CN" dirty="0"/>
              <a:t>Read</a:t>
            </a:r>
            <a:endParaRPr lang="zh-CN" altLang="en-US" dirty="0"/>
          </a:p>
          <a:p>
            <a:pPr lvl="1" eaLnBrk="1" hangingPunct="1"/>
            <a:r>
              <a:rPr lang="zh-CN" altLang="en-US" dirty="0"/>
              <a:t>写 </a:t>
            </a:r>
            <a:r>
              <a:rPr lang="en-US" altLang="zh-CN" dirty="0"/>
              <a:t>Write</a:t>
            </a:r>
          </a:p>
          <a:p>
            <a:pPr lvl="1" eaLnBrk="1" hangingPunct="1"/>
            <a:r>
              <a:rPr lang="zh-CN" altLang="en-US" dirty="0"/>
              <a:t>执行 </a:t>
            </a:r>
            <a:r>
              <a:rPr lang="en-US" altLang="zh-CN" dirty="0"/>
              <a:t>Execute</a:t>
            </a:r>
          </a:p>
          <a:p>
            <a:pPr lvl="1" eaLnBrk="1" hangingPunct="1"/>
            <a:r>
              <a:rPr lang="zh-CN" altLang="en-US" dirty="0"/>
              <a:t>追加 </a:t>
            </a:r>
            <a:r>
              <a:rPr lang="en-US" altLang="zh-CN" dirty="0"/>
              <a:t>Append</a:t>
            </a:r>
            <a:endParaRPr lang="zh-CN" altLang="en-US" dirty="0"/>
          </a:p>
          <a:p>
            <a:pPr lvl="1" eaLnBrk="1" hangingPunct="1"/>
            <a:r>
              <a:rPr lang="zh-CN" altLang="en-US" dirty="0"/>
              <a:t>删除 </a:t>
            </a:r>
            <a:r>
              <a:rPr lang="en-US" altLang="zh-CN" dirty="0"/>
              <a:t>Delete</a:t>
            </a:r>
            <a:endParaRPr lang="zh-CN" altLang="en-US" dirty="0"/>
          </a:p>
          <a:p>
            <a:pPr lvl="1" eaLnBrk="1" hangingPunct="1"/>
            <a:r>
              <a:rPr lang="zh-CN" altLang="en-US" dirty="0"/>
              <a:t>列表 </a:t>
            </a:r>
            <a:r>
              <a:rPr lang="en-US" altLang="zh-CN" dirty="0"/>
              <a:t>List</a:t>
            </a:r>
            <a:endParaRPr lang="zh-CN" altLang="en-US" dirty="0"/>
          </a:p>
        </p:txBody>
      </p:sp>
      <p:sp>
        <p:nvSpPr>
          <p:cNvPr id="2" name="灯片编号占位符 1">
            <a:extLst>
              <a:ext uri="{FF2B5EF4-FFF2-40B4-BE49-F238E27FC236}">
                <a16:creationId xmlns:a16="http://schemas.microsoft.com/office/drawing/2014/main" id="{CF10EC3F-61BA-5145-A56D-F938F610EE2F}"/>
              </a:ext>
            </a:extLst>
          </p:cNvPr>
          <p:cNvSpPr>
            <a:spLocks noGrp="1"/>
          </p:cNvSpPr>
          <p:nvPr>
            <p:ph type="sldNum" sz="quarter" idx="12"/>
          </p:nvPr>
        </p:nvSpPr>
        <p:spPr/>
        <p:txBody>
          <a:bodyPr/>
          <a:lstStyle/>
          <a:p>
            <a:fld id="{4093CC90-4002-504C-BD88-C9A1D374048E}" type="slidenum">
              <a:rPr lang="zh-CN" altLang="en-US" smtClean="0"/>
              <a:pPr/>
              <a:t>66</a:t>
            </a:fld>
            <a:endParaRPr lang="zh-CN" altLang="en-US" dirty="0"/>
          </a:p>
        </p:txBody>
      </p:sp>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744EA2BE-61EF-F96E-3779-D96C47FFAB45}"/>
              </a:ext>
            </a:extLst>
          </p:cNvPr>
          <p:cNvSpPr>
            <a:spLocks noGrp="1" noChangeArrowheads="1"/>
          </p:cNvSpPr>
          <p:nvPr>
            <p:ph type="title"/>
          </p:nvPr>
        </p:nvSpPr>
        <p:spPr/>
        <p:txBody>
          <a:bodyPr/>
          <a:lstStyle/>
          <a:p>
            <a:pPr eaLnBrk="1" hangingPunct="1"/>
            <a:r>
              <a:rPr lang="zh-CN" altLang="en-US" sz="4000" dirty="0"/>
              <a:t>访问控制 </a:t>
            </a:r>
            <a:r>
              <a:rPr lang="en-US" altLang="zh-CN" sz="4000" dirty="0"/>
              <a:t>Access Control</a:t>
            </a:r>
          </a:p>
        </p:txBody>
      </p:sp>
      <p:sp>
        <p:nvSpPr>
          <p:cNvPr id="79874" name="Rectangle 3">
            <a:extLst>
              <a:ext uri="{FF2B5EF4-FFF2-40B4-BE49-F238E27FC236}">
                <a16:creationId xmlns:a16="http://schemas.microsoft.com/office/drawing/2014/main" id="{A5BAC57D-59DA-1DFA-06DA-66E5C9BAE506}"/>
              </a:ext>
            </a:extLst>
          </p:cNvPr>
          <p:cNvSpPr>
            <a:spLocks noGrp="1" noChangeArrowheads="1"/>
          </p:cNvSpPr>
          <p:nvPr>
            <p:ph idx="1"/>
          </p:nvPr>
        </p:nvSpPr>
        <p:spPr>
          <a:xfrm>
            <a:off x="827088" y="1196975"/>
            <a:ext cx="8077200" cy="4895850"/>
          </a:xfrm>
        </p:spPr>
        <p:txBody>
          <a:bodyPr/>
          <a:lstStyle/>
          <a:p>
            <a:pPr eaLnBrk="1" hangingPunct="1"/>
            <a:r>
              <a:rPr lang="zh-CN" altLang="en-US" dirty="0"/>
              <a:t>实现基于身份访问的方法是为每个文件或目录增加访问控制表，以给定每个用户名及其允许的访问类型。</a:t>
            </a:r>
          </a:p>
          <a:p>
            <a:pPr eaLnBrk="1" hangingPunct="1">
              <a:buFont typeface="Wingdings" pitchFamily="2" charset="2"/>
              <a:buNone/>
            </a:pPr>
            <a:r>
              <a:rPr lang="en-US" altLang="zh-CN" dirty="0"/>
              <a:t>   </a:t>
            </a:r>
          </a:p>
        </p:txBody>
      </p:sp>
      <p:sp>
        <p:nvSpPr>
          <p:cNvPr id="2" name="灯片编号占位符 1">
            <a:extLst>
              <a:ext uri="{FF2B5EF4-FFF2-40B4-BE49-F238E27FC236}">
                <a16:creationId xmlns:a16="http://schemas.microsoft.com/office/drawing/2014/main" id="{8CB2A0CD-5346-6607-7826-8C8B8B4CEE55}"/>
              </a:ext>
            </a:extLst>
          </p:cNvPr>
          <p:cNvSpPr>
            <a:spLocks noGrp="1"/>
          </p:cNvSpPr>
          <p:nvPr>
            <p:ph type="sldNum" sz="quarter" idx="12"/>
          </p:nvPr>
        </p:nvSpPr>
        <p:spPr/>
        <p:txBody>
          <a:bodyPr/>
          <a:lstStyle/>
          <a:p>
            <a:fld id="{4093CC90-4002-504C-BD88-C9A1D374048E}" type="slidenum">
              <a:rPr lang="zh-CN" altLang="en-US" smtClean="0"/>
              <a:pPr/>
              <a:t>67</a:t>
            </a:fld>
            <a:endParaRPr lang="zh-CN" altLang="en-US" dirty="0"/>
          </a:p>
        </p:txBody>
      </p:sp>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2994098D-333E-57B8-B7F9-20B58FCF2EC7}"/>
              </a:ext>
            </a:extLst>
          </p:cNvPr>
          <p:cNvSpPr>
            <a:spLocks noGrp="1" noChangeArrowheads="1"/>
          </p:cNvSpPr>
          <p:nvPr>
            <p:ph type="title"/>
          </p:nvPr>
        </p:nvSpPr>
        <p:spPr/>
        <p:txBody>
          <a:bodyPr/>
          <a:lstStyle/>
          <a:p>
            <a:pPr eaLnBrk="1" hangingPunct="1"/>
            <a:r>
              <a:rPr lang="zh-CN" altLang="en-US" sz="4000"/>
              <a:t>用户类型 </a:t>
            </a:r>
            <a:r>
              <a:rPr lang="en-US" altLang="zh-CN" sz="4000"/>
              <a:t>The class of users</a:t>
            </a:r>
          </a:p>
        </p:txBody>
      </p:sp>
      <p:sp>
        <p:nvSpPr>
          <p:cNvPr id="391171" name="Rectangle 3">
            <a:extLst>
              <a:ext uri="{FF2B5EF4-FFF2-40B4-BE49-F238E27FC236}">
                <a16:creationId xmlns:a16="http://schemas.microsoft.com/office/drawing/2014/main" id="{3E9912CE-7801-59F5-C4F6-6CD080F0B0AE}"/>
              </a:ext>
            </a:extLst>
          </p:cNvPr>
          <p:cNvSpPr>
            <a:spLocks noGrp="1" noChangeArrowheads="1"/>
          </p:cNvSpPr>
          <p:nvPr>
            <p:ph idx="1"/>
          </p:nvPr>
        </p:nvSpPr>
        <p:spPr>
          <a:xfrm>
            <a:off x="1000125" y="1125538"/>
            <a:ext cx="7904163" cy="4895850"/>
          </a:xfrm>
        </p:spPr>
        <p:txBody>
          <a:bodyPr>
            <a:normAutofit lnSpcReduction="10000"/>
          </a:bodyPr>
          <a:lstStyle/>
          <a:p>
            <a:pPr eaLnBrk="1" hangingPunct="1"/>
            <a:r>
              <a:rPr lang="zh-CN" altLang="en-US"/>
              <a:t>三种用户类型 </a:t>
            </a:r>
            <a:r>
              <a:rPr lang="en-US" altLang="zh-CN"/>
              <a:t>Three classes of users</a:t>
            </a:r>
          </a:p>
          <a:p>
            <a:pPr lvl="1" eaLnBrk="1" hangingPunct="1"/>
            <a:r>
              <a:rPr lang="zh-CN" altLang="en-US"/>
              <a:t>拥有者  </a:t>
            </a:r>
            <a:r>
              <a:rPr lang="en-US" altLang="zh-CN"/>
              <a:t>owner</a:t>
            </a:r>
          </a:p>
          <a:p>
            <a:pPr lvl="1" eaLnBrk="1" hangingPunct="1"/>
            <a:r>
              <a:rPr lang="zh-CN" altLang="en-US"/>
              <a:t>组         </a:t>
            </a:r>
            <a:r>
              <a:rPr lang="en-US" altLang="zh-CN"/>
              <a:t>group</a:t>
            </a:r>
          </a:p>
          <a:p>
            <a:pPr lvl="1" eaLnBrk="1" hangingPunct="1"/>
            <a:r>
              <a:rPr lang="zh-CN" altLang="en-US"/>
              <a:t>其他      </a:t>
            </a:r>
            <a:r>
              <a:rPr lang="en-US" altLang="zh-CN"/>
              <a:t>other</a:t>
            </a:r>
          </a:p>
          <a:p>
            <a:pPr eaLnBrk="1" hangingPunct="1"/>
            <a:r>
              <a:rPr lang="zh-CN" altLang="en-US"/>
              <a:t>访问模式 </a:t>
            </a:r>
            <a:r>
              <a:rPr lang="en-US" altLang="zh-CN"/>
              <a:t>Mode of access:  </a:t>
            </a:r>
          </a:p>
          <a:p>
            <a:pPr lvl="1" eaLnBrk="1" hangingPunct="1"/>
            <a:r>
              <a:rPr lang="zh-CN" altLang="en-US"/>
              <a:t>读      </a:t>
            </a:r>
            <a:r>
              <a:rPr lang="en-US" altLang="zh-CN"/>
              <a:t>Read</a:t>
            </a:r>
          </a:p>
          <a:p>
            <a:pPr lvl="1" eaLnBrk="1" hangingPunct="1"/>
            <a:r>
              <a:rPr lang="zh-CN" altLang="en-US"/>
              <a:t>写 </a:t>
            </a:r>
            <a:r>
              <a:rPr lang="en-US" altLang="zh-CN"/>
              <a:t>     write</a:t>
            </a:r>
          </a:p>
          <a:p>
            <a:pPr lvl="1" eaLnBrk="1" hangingPunct="1"/>
            <a:r>
              <a:rPr lang="zh-CN" altLang="en-US"/>
              <a:t>执行  </a:t>
            </a:r>
            <a:r>
              <a:rPr lang="en-US" altLang="zh-CN"/>
              <a:t> execute</a:t>
            </a:r>
          </a:p>
          <a:p>
            <a:pPr eaLnBrk="1" hangingPunct="1"/>
            <a:r>
              <a:rPr lang="zh-CN" altLang="en-US"/>
              <a:t>例如，八进制</a:t>
            </a:r>
            <a:r>
              <a:rPr lang="en-US" altLang="zh-CN"/>
              <a:t>761 </a:t>
            </a:r>
            <a:r>
              <a:rPr lang="zh-CN" altLang="en-US"/>
              <a:t>，</a:t>
            </a:r>
            <a:r>
              <a:rPr lang="en-US" altLang="zh-CN"/>
              <a:t>111110001</a:t>
            </a:r>
            <a:endParaRPr lang="zh-CN" altLang="en-US"/>
          </a:p>
        </p:txBody>
      </p:sp>
      <p:sp>
        <p:nvSpPr>
          <p:cNvPr id="2" name="灯片编号占位符 1">
            <a:extLst>
              <a:ext uri="{FF2B5EF4-FFF2-40B4-BE49-F238E27FC236}">
                <a16:creationId xmlns:a16="http://schemas.microsoft.com/office/drawing/2014/main" id="{9FD17EAD-80E8-9146-4FD5-7D24F4335039}"/>
              </a:ext>
            </a:extLst>
          </p:cNvPr>
          <p:cNvSpPr>
            <a:spLocks noGrp="1"/>
          </p:cNvSpPr>
          <p:nvPr>
            <p:ph type="sldNum" sz="quarter" idx="12"/>
          </p:nvPr>
        </p:nvSpPr>
        <p:spPr/>
        <p:txBody>
          <a:bodyPr/>
          <a:lstStyle/>
          <a:p>
            <a:fld id="{4093CC90-4002-504C-BD88-C9A1D374048E}" type="slidenum">
              <a:rPr lang="zh-CN" altLang="en-US" smtClean="0"/>
              <a:pPr/>
              <a:t>68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checkerboard(across)">
                                      <p:cBhvr>
                                        <p:cTn id="7" dur="500"/>
                                        <p:tgtEl>
                                          <p:spTgt spid="39117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91171">
                                            <p:txEl>
                                              <p:pRg st="1" end="1"/>
                                            </p:txEl>
                                          </p:spTgt>
                                        </p:tgtEl>
                                        <p:attrNameLst>
                                          <p:attrName>style.visibility</p:attrName>
                                        </p:attrNameLst>
                                      </p:cBhvr>
                                      <p:to>
                                        <p:strVal val="visible"/>
                                      </p:to>
                                    </p:set>
                                    <p:animEffect transition="in" filter="checkerboard(across)">
                                      <p:cBhvr>
                                        <p:cTn id="10" dur="500"/>
                                        <p:tgtEl>
                                          <p:spTgt spid="391171">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91171">
                                            <p:txEl>
                                              <p:pRg st="2" end="2"/>
                                            </p:txEl>
                                          </p:spTgt>
                                        </p:tgtEl>
                                        <p:attrNameLst>
                                          <p:attrName>style.visibility</p:attrName>
                                        </p:attrNameLst>
                                      </p:cBhvr>
                                      <p:to>
                                        <p:strVal val="visible"/>
                                      </p:to>
                                    </p:set>
                                    <p:animEffect transition="in" filter="checkerboard(across)">
                                      <p:cBhvr>
                                        <p:cTn id="13" dur="500"/>
                                        <p:tgtEl>
                                          <p:spTgt spid="391171">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91171">
                                            <p:txEl>
                                              <p:pRg st="3" end="3"/>
                                            </p:txEl>
                                          </p:spTgt>
                                        </p:tgtEl>
                                        <p:attrNameLst>
                                          <p:attrName>style.visibility</p:attrName>
                                        </p:attrNameLst>
                                      </p:cBhvr>
                                      <p:to>
                                        <p:strVal val="visible"/>
                                      </p:to>
                                    </p:set>
                                    <p:animEffect transition="in" filter="checkerboard(across)">
                                      <p:cBhvr>
                                        <p:cTn id="16" dur="500"/>
                                        <p:tgtEl>
                                          <p:spTgt spid="39117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391171">
                                            <p:txEl>
                                              <p:pRg st="4" end="4"/>
                                            </p:txEl>
                                          </p:spTgt>
                                        </p:tgtEl>
                                        <p:attrNameLst>
                                          <p:attrName>style.visibility</p:attrName>
                                        </p:attrNameLst>
                                      </p:cBhvr>
                                      <p:to>
                                        <p:strVal val="visible"/>
                                      </p:to>
                                    </p:set>
                                    <p:animEffect transition="in" filter="checkerboard(across)">
                                      <p:cBhvr>
                                        <p:cTn id="21" dur="500"/>
                                        <p:tgtEl>
                                          <p:spTgt spid="391171">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391171">
                                            <p:txEl>
                                              <p:pRg st="5" end="5"/>
                                            </p:txEl>
                                          </p:spTgt>
                                        </p:tgtEl>
                                        <p:attrNameLst>
                                          <p:attrName>style.visibility</p:attrName>
                                        </p:attrNameLst>
                                      </p:cBhvr>
                                      <p:to>
                                        <p:strVal val="visible"/>
                                      </p:to>
                                    </p:set>
                                    <p:animEffect transition="in" filter="checkerboard(across)">
                                      <p:cBhvr>
                                        <p:cTn id="24" dur="500"/>
                                        <p:tgtEl>
                                          <p:spTgt spid="391171">
                                            <p:txEl>
                                              <p:pRg st="5" end="5"/>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391171">
                                            <p:txEl>
                                              <p:pRg st="6" end="6"/>
                                            </p:txEl>
                                          </p:spTgt>
                                        </p:tgtEl>
                                        <p:attrNameLst>
                                          <p:attrName>style.visibility</p:attrName>
                                        </p:attrNameLst>
                                      </p:cBhvr>
                                      <p:to>
                                        <p:strVal val="visible"/>
                                      </p:to>
                                    </p:set>
                                    <p:animEffect transition="in" filter="checkerboard(across)">
                                      <p:cBhvr>
                                        <p:cTn id="27" dur="500"/>
                                        <p:tgtEl>
                                          <p:spTgt spid="391171">
                                            <p:txEl>
                                              <p:pRg st="6" end="6"/>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391171">
                                            <p:txEl>
                                              <p:pRg st="7" end="7"/>
                                            </p:txEl>
                                          </p:spTgt>
                                        </p:tgtEl>
                                        <p:attrNameLst>
                                          <p:attrName>style.visibility</p:attrName>
                                        </p:attrNameLst>
                                      </p:cBhvr>
                                      <p:to>
                                        <p:strVal val="visible"/>
                                      </p:to>
                                    </p:set>
                                    <p:animEffect transition="in" filter="checkerboard(across)">
                                      <p:cBhvr>
                                        <p:cTn id="30" dur="500"/>
                                        <p:tgtEl>
                                          <p:spTgt spid="391171">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nodeType="clickEffect">
                                  <p:stCondLst>
                                    <p:cond delay="0"/>
                                  </p:stCondLst>
                                  <p:childTnLst>
                                    <p:set>
                                      <p:cBhvr>
                                        <p:cTn id="34" dur="1" fill="hold">
                                          <p:stCondLst>
                                            <p:cond delay="0"/>
                                          </p:stCondLst>
                                        </p:cTn>
                                        <p:tgtEl>
                                          <p:spTgt spid="391171">
                                            <p:txEl>
                                              <p:pRg st="8" end="8"/>
                                            </p:txEl>
                                          </p:spTgt>
                                        </p:tgtEl>
                                        <p:attrNameLst>
                                          <p:attrName>style.visibility</p:attrName>
                                        </p:attrNameLst>
                                      </p:cBhvr>
                                      <p:to>
                                        <p:strVal val="visible"/>
                                      </p:to>
                                    </p:set>
                                    <p:animEffect transition="in" filter="checkerboard(across)">
                                      <p:cBhvr>
                                        <p:cTn id="35" dur="500"/>
                                        <p:tgtEl>
                                          <p:spTgt spid="3911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5093860-FD4D-EFB4-40A9-56FE827A9B2E}"/>
              </a:ext>
            </a:extLst>
          </p:cNvPr>
          <p:cNvSpPr>
            <a:spLocks noGrp="1" noChangeArrowheads="1"/>
          </p:cNvSpPr>
          <p:nvPr>
            <p:ph type="title"/>
          </p:nvPr>
        </p:nvSpPr>
        <p:spPr/>
        <p:txBody>
          <a:bodyPr/>
          <a:lstStyle/>
          <a:p>
            <a:pPr eaLnBrk="1" hangingPunct="1"/>
            <a:r>
              <a:rPr lang="zh-CN" altLang="en-US" b="1"/>
              <a:t>文件保护</a:t>
            </a:r>
          </a:p>
        </p:txBody>
      </p:sp>
      <p:sp>
        <p:nvSpPr>
          <p:cNvPr id="403459" name="Rectangle 3">
            <a:extLst>
              <a:ext uri="{FF2B5EF4-FFF2-40B4-BE49-F238E27FC236}">
                <a16:creationId xmlns:a16="http://schemas.microsoft.com/office/drawing/2014/main" id="{14E37A29-A7A2-7B14-53FF-A44E88A1D59C}"/>
              </a:ext>
            </a:extLst>
          </p:cNvPr>
          <p:cNvSpPr>
            <a:spLocks noGrp="1" noChangeArrowheads="1"/>
          </p:cNvSpPr>
          <p:nvPr>
            <p:ph idx="1"/>
          </p:nvPr>
        </p:nvSpPr>
        <p:spPr>
          <a:xfrm>
            <a:off x="785813" y="1233488"/>
            <a:ext cx="8169275" cy="5111750"/>
          </a:xfrm>
        </p:spPr>
        <p:txBody>
          <a:bodyPr/>
          <a:lstStyle/>
          <a:p>
            <a:pPr algn="just" eaLnBrk="1" hangingPunct="1"/>
            <a:r>
              <a:rPr lang="zh-CN" altLang="en-US"/>
              <a:t>系统中的文件既存在保护问题，又存在保密问题。</a:t>
            </a:r>
          </a:p>
          <a:p>
            <a:pPr algn="just" eaLnBrk="1" hangingPunct="1"/>
            <a:r>
              <a:rPr lang="zh-CN" altLang="en-US"/>
              <a:t>文件保护是指避免文件拥有者或其他用户因有意或无意的错误操作使文件受到破坏。</a:t>
            </a:r>
          </a:p>
          <a:p>
            <a:pPr algn="just" eaLnBrk="1" hangingPunct="1"/>
            <a:r>
              <a:rPr lang="zh-CN" altLang="en-US"/>
              <a:t>文件保密是指文件本身不得被未授权的用户访问。</a:t>
            </a:r>
          </a:p>
          <a:p>
            <a:pPr algn="just" eaLnBrk="1" hangingPunct="1"/>
            <a:r>
              <a:rPr lang="zh-CN" altLang="en-US"/>
              <a:t>这两个问题都涉及用户对文件的访问权限，即文件的存取控制。</a:t>
            </a:r>
            <a:r>
              <a:rPr lang="zh-CN" altLang="en-US">
                <a:latin typeface="Times New Roman" panose="02020603050405020304" pitchFamily="18" charset="0"/>
              </a:rPr>
              <a:t>下面介绍几种常用的存取控制方法。</a:t>
            </a:r>
            <a:r>
              <a:rPr lang="zh-CN" altLang="en-US"/>
              <a:t> </a:t>
            </a:r>
          </a:p>
        </p:txBody>
      </p:sp>
      <p:sp>
        <p:nvSpPr>
          <p:cNvPr id="2" name="灯片编号占位符 1">
            <a:extLst>
              <a:ext uri="{FF2B5EF4-FFF2-40B4-BE49-F238E27FC236}">
                <a16:creationId xmlns:a16="http://schemas.microsoft.com/office/drawing/2014/main" id="{D9481ED2-BFA6-DEA2-0E0B-280A84763584}"/>
              </a:ext>
            </a:extLst>
          </p:cNvPr>
          <p:cNvSpPr>
            <a:spLocks noGrp="1"/>
          </p:cNvSpPr>
          <p:nvPr>
            <p:ph type="sldNum" sz="quarter" idx="12"/>
          </p:nvPr>
        </p:nvSpPr>
        <p:spPr/>
        <p:txBody>
          <a:bodyPr/>
          <a:lstStyle/>
          <a:p>
            <a:fld id="{4093CC90-4002-504C-BD88-C9A1D374048E}" type="slidenum">
              <a:rPr lang="zh-CN" altLang="en-US" smtClean="0"/>
              <a:pPr/>
              <a:t>69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Effect transition="in" filter="checkerboard(across)">
                                      <p:cBhvr>
                                        <p:cTn id="7" dur="500"/>
                                        <p:tgtEl>
                                          <p:spTgt spid="403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3459">
                                            <p:txEl>
                                              <p:pRg st="1" end="1"/>
                                            </p:txEl>
                                          </p:spTgt>
                                        </p:tgtEl>
                                        <p:attrNameLst>
                                          <p:attrName>style.visibility</p:attrName>
                                        </p:attrNameLst>
                                      </p:cBhvr>
                                      <p:to>
                                        <p:strVal val="visible"/>
                                      </p:to>
                                    </p:set>
                                    <p:animEffect transition="in" filter="checkerboard(across)">
                                      <p:cBhvr>
                                        <p:cTn id="12" dur="500"/>
                                        <p:tgtEl>
                                          <p:spTgt spid="403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03459">
                                            <p:txEl>
                                              <p:pRg st="2" end="2"/>
                                            </p:txEl>
                                          </p:spTgt>
                                        </p:tgtEl>
                                        <p:attrNameLst>
                                          <p:attrName>style.visibility</p:attrName>
                                        </p:attrNameLst>
                                      </p:cBhvr>
                                      <p:to>
                                        <p:strVal val="visible"/>
                                      </p:to>
                                    </p:set>
                                    <p:animEffect transition="in" filter="checkerboard(across)">
                                      <p:cBhvr>
                                        <p:cTn id="17" dur="500"/>
                                        <p:tgtEl>
                                          <p:spTgt spid="403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03459">
                                            <p:txEl>
                                              <p:pRg st="3" end="3"/>
                                            </p:txEl>
                                          </p:spTgt>
                                        </p:tgtEl>
                                        <p:attrNameLst>
                                          <p:attrName>style.visibility</p:attrName>
                                        </p:attrNameLst>
                                      </p:cBhvr>
                                      <p:to>
                                        <p:strVal val="visible"/>
                                      </p:to>
                                    </p:set>
                                    <p:animEffect transition="in" filter="checkerboard(across)">
                                      <p:cBhvr>
                                        <p:cTn id="22" dur="500"/>
                                        <p:tgtEl>
                                          <p:spTgt spid="403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56F144BE-4612-6B7E-F627-8B3587993531}"/>
              </a:ext>
            </a:extLst>
          </p:cNvPr>
          <p:cNvSpPr>
            <a:spLocks noGrp="1" noChangeArrowheads="1"/>
          </p:cNvSpPr>
          <p:nvPr>
            <p:ph type="title"/>
          </p:nvPr>
        </p:nvSpPr>
        <p:spPr>
          <a:xfrm>
            <a:off x="1042988" y="225431"/>
            <a:ext cx="7850187" cy="746125"/>
          </a:xfrm>
        </p:spPr>
        <p:txBody>
          <a:bodyPr/>
          <a:lstStyle/>
          <a:p>
            <a:r>
              <a:rPr lang="zh-CN" altLang="en-US"/>
              <a:t>存取控制矩阵</a:t>
            </a:r>
          </a:p>
        </p:txBody>
      </p:sp>
      <p:sp>
        <p:nvSpPr>
          <p:cNvPr id="404483" name="Rectangle 3">
            <a:extLst>
              <a:ext uri="{FF2B5EF4-FFF2-40B4-BE49-F238E27FC236}">
                <a16:creationId xmlns:a16="http://schemas.microsoft.com/office/drawing/2014/main" id="{2487B7DC-9379-8439-59EC-B544214CCA81}"/>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存取控制矩阵</a:t>
            </a:r>
            <a:r>
              <a:rPr lang="zh-CN" altLang="en-US" dirty="0"/>
              <a:t>是一个二维矩阵，其中一维列出使用该文件系统的全部用户；另一维列出存入系统中的全部文件。</a:t>
            </a:r>
          </a:p>
          <a:p>
            <a:r>
              <a:rPr lang="zh-CN" altLang="en-US" dirty="0"/>
              <a:t>矩阵中的每一个元素用来表示某个用户对某个文件的存取权限。存取权限可以为读、写、执行以及它们的任意组合。 </a:t>
            </a:r>
          </a:p>
        </p:txBody>
      </p:sp>
      <p:sp>
        <p:nvSpPr>
          <p:cNvPr id="2" name="灯片编号占位符 1">
            <a:extLst>
              <a:ext uri="{FF2B5EF4-FFF2-40B4-BE49-F238E27FC236}">
                <a16:creationId xmlns:a16="http://schemas.microsoft.com/office/drawing/2014/main" id="{EDA6D4D5-B61B-1B21-67AF-2D268BE4ECED}"/>
              </a:ext>
            </a:extLst>
          </p:cNvPr>
          <p:cNvSpPr>
            <a:spLocks noGrp="1"/>
          </p:cNvSpPr>
          <p:nvPr>
            <p:ph type="sldNum" sz="quarter" idx="12"/>
          </p:nvPr>
        </p:nvSpPr>
        <p:spPr/>
        <p:txBody>
          <a:bodyPr/>
          <a:lstStyle/>
          <a:p>
            <a:fld id="{4093CC90-4002-504C-BD88-C9A1D374048E}" type="slidenum">
              <a:rPr lang="zh-CN" altLang="en-US" smtClean="0"/>
              <a:pPr/>
              <a:t>70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4483">
                                            <p:txEl>
                                              <p:pRg st="0" end="0"/>
                                            </p:txEl>
                                          </p:spTgt>
                                        </p:tgtEl>
                                        <p:attrNameLst>
                                          <p:attrName>style.visibility</p:attrName>
                                        </p:attrNameLst>
                                      </p:cBhvr>
                                      <p:to>
                                        <p:strVal val="visible"/>
                                      </p:to>
                                    </p:set>
                                    <p:animEffect transition="in" filter="checkerboard(across)">
                                      <p:cBhvr>
                                        <p:cTn id="7" dur="500"/>
                                        <p:tgtEl>
                                          <p:spTgt spid="404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4483">
                                            <p:txEl>
                                              <p:pRg st="1" end="1"/>
                                            </p:txEl>
                                          </p:spTgt>
                                        </p:tgtEl>
                                        <p:attrNameLst>
                                          <p:attrName>style.visibility</p:attrName>
                                        </p:attrNameLst>
                                      </p:cBhvr>
                                      <p:to>
                                        <p:strVal val="visible"/>
                                      </p:to>
                                    </p:set>
                                    <p:animEffect transition="in" filter="checkerboard(across)">
                                      <p:cBhvr>
                                        <p:cTn id="12" dur="500"/>
                                        <p:tgtEl>
                                          <p:spTgt spid="4044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6D5A4D75-E5F4-EBA5-46D6-2C47429B9362}"/>
              </a:ext>
            </a:extLst>
          </p:cNvPr>
          <p:cNvSpPr>
            <a:spLocks noGrp="1" noChangeArrowheads="1"/>
          </p:cNvSpPr>
          <p:nvPr>
            <p:ph type="title"/>
          </p:nvPr>
        </p:nvSpPr>
        <p:spPr>
          <a:xfrm>
            <a:off x="1042988" y="225431"/>
            <a:ext cx="7850187" cy="746125"/>
          </a:xfrm>
        </p:spPr>
        <p:txBody>
          <a:bodyPr/>
          <a:lstStyle/>
          <a:p>
            <a:r>
              <a:rPr lang="zh-CN" altLang="en-US"/>
              <a:t>存取控制矩阵例</a:t>
            </a:r>
            <a:endParaRPr lang="en-US" altLang="zh-CN"/>
          </a:p>
        </p:txBody>
      </p:sp>
      <p:graphicFrame>
        <p:nvGraphicFramePr>
          <p:cNvPr id="116739" name="表格 116738">
            <a:extLst>
              <a:ext uri="{FF2B5EF4-FFF2-40B4-BE49-F238E27FC236}">
                <a16:creationId xmlns:a16="http://schemas.microsoft.com/office/drawing/2014/main" id="{269A3F97-D5B1-0771-75FC-38A527E37792}"/>
              </a:ext>
            </a:extLst>
          </p:cNvPr>
          <p:cNvGraphicFramePr>
            <a:graphicFrameLocks noGrp="1"/>
          </p:cNvGraphicFramePr>
          <p:nvPr/>
        </p:nvGraphicFramePr>
        <p:xfrm>
          <a:off x="838200" y="1600200"/>
          <a:ext cx="7772400" cy="3944112"/>
        </p:xfrm>
        <a:graphic>
          <a:graphicData uri="http://schemas.openxmlformats.org/drawingml/2006/table">
            <a:tbl>
              <a:tblPr/>
              <a:tblGrid>
                <a:gridCol w="1916113">
                  <a:extLst>
                    <a:ext uri="{9D8B030D-6E8A-4147-A177-3AD203B41FA5}">
                      <a16:colId xmlns:a16="http://schemas.microsoft.com/office/drawing/2014/main" val="3556733206"/>
                    </a:ext>
                  </a:extLst>
                </a:gridCol>
                <a:gridCol w="1433512">
                  <a:extLst>
                    <a:ext uri="{9D8B030D-6E8A-4147-A177-3AD203B41FA5}">
                      <a16:colId xmlns:a16="http://schemas.microsoft.com/office/drawing/2014/main" val="3560107515"/>
                    </a:ext>
                  </a:extLst>
                </a:gridCol>
                <a:gridCol w="1430338">
                  <a:extLst>
                    <a:ext uri="{9D8B030D-6E8A-4147-A177-3AD203B41FA5}">
                      <a16:colId xmlns:a16="http://schemas.microsoft.com/office/drawing/2014/main" val="3270915688"/>
                    </a:ext>
                  </a:extLst>
                </a:gridCol>
                <a:gridCol w="1431925">
                  <a:extLst>
                    <a:ext uri="{9D8B030D-6E8A-4147-A177-3AD203B41FA5}">
                      <a16:colId xmlns:a16="http://schemas.microsoft.com/office/drawing/2014/main" val="1241501596"/>
                    </a:ext>
                  </a:extLst>
                </a:gridCol>
                <a:gridCol w="1560512">
                  <a:extLst>
                    <a:ext uri="{9D8B030D-6E8A-4147-A177-3AD203B41FA5}">
                      <a16:colId xmlns:a16="http://schemas.microsoft.com/office/drawing/2014/main" val="195988476"/>
                    </a:ext>
                  </a:extLst>
                </a:gridCol>
              </a:tblGrid>
              <a:tr h="89535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用户</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文件</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Zhao</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Huang</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Cheng</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783568941"/>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Sqrt</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73983500"/>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Test</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RWE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57879150"/>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Alpha</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RW</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080211"/>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Beta</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RW</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30146778"/>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24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84114803"/>
                  </a:ext>
                </a:extLst>
              </a:tr>
            </a:tbl>
          </a:graphicData>
        </a:graphic>
      </p:graphicFrame>
      <p:sp>
        <p:nvSpPr>
          <p:cNvPr id="2" name="灯片编号占位符 1">
            <a:extLst>
              <a:ext uri="{FF2B5EF4-FFF2-40B4-BE49-F238E27FC236}">
                <a16:creationId xmlns:a16="http://schemas.microsoft.com/office/drawing/2014/main" id="{30B07576-38EC-4993-AD8B-2E7E81A0E8FC}"/>
              </a:ext>
            </a:extLst>
          </p:cNvPr>
          <p:cNvSpPr>
            <a:spLocks noGrp="1"/>
          </p:cNvSpPr>
          <p:nvPr>
            <p:ph type="sldNum" sz="quarter" idx="12"/>
          </p:nvPr>
        </p:nvSpPr>
        <p:spPr/>
        <p:txBody>
          <a:bodyPr/>
          <a:lstStyle/>
          <a:p>
            <a:fld id="{4093CC90-4002-504C-BD88-C9A1D374048E}" type="slidenum">
              <a:rPr lang="zh-CN" altLang="en-US" smtClean="0"/>
              <a:pPr/>
              <a:t>71</a:t>
            </a:fld>
            <a:endParaRPr lang="zh-CN" altLang="en-US" dirty="0"/>
          </a:p>
        </p:txBody>
      </p:sp>
    </p:spTree>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2A0BB8CE-65BC-A08D-82FF-C231F421CF1B}"/>
              </a:ext>
            </a:extLst>
          </p:cNvPr>
          <p:cNvSpPr>
            <a:spLocks noGrp="1" noChangeArrowheads="1"/>
          </p:cNvSpPr>
          <p:nvPr>
            <p:ph type="title"/>
          </p:nvPr>
        </p:nvSpPr>
        <p:spPr>
          <a:xfrm>
            <a:off x="1042988" y="225431"/>
            <a:ext cx="7850187" cy="746125"/>
          </a:xfrm>
        </p:spPr>
        <p:txBody>
          <a:bodyPr/>
          <a:lstStyle/>
          <a:p>
            <a:r>
              <a:rPr lang="zh-CN" altLang="en-US"/>
              <a:t>存取控制矩阵的特点</a:t>
            </a:r>
          </a:p>
        </p:txBody>
      </p:sp>
      <p:sp>
        <p:nvSpPr>
          <p:cNvPr id="406531" name="Rectangle 3">
            <a:extLst>
              <a:ext uri="{FF2B5EF4-FFF2-40B4-BE49-F238E27FC236}">
                <a16:creationId xmlns:a16="http://schemas.microsoft.com/office/drawing/2014/main" id="{C53ECE90-27A2-C0B9-6C9E-88704E78A3C0}"/>
              </a:ext>
            </a:extLst>
          </p:cNvPr>
          <p:cNvSpPr>
            <a:spLocks noGrp="1" noChangeArrowheads="1"/>
          </p:cNvSpPr>
          <p:nvPr>
            <p:ph idx="1"/>
          </p:nvPr>
        </p:nvSpPr>
        <p:spPr>
          <a:xfrm>
            <a:off x="935038" y="1233488"/>
            <a:ext cx="7772400" cy="4895850"/>
          </a:xfrm>
        </p:spPr>
        <p:txBody>
          <a:bodyPr/>
          <a:lstStyle/>
          <a:p>
            <a:r>
              <a:rPr lang="zh-CN" altLang="en-US"/>
              <a:t>当用户向文件系统提出存取请求时，由存取控制验证模块利用这个存取控制矩阵将本次请求和该用户对这个文件的存取权限进行比较，如果不匹配就拒绝执行。</a:t>
            </a:r>
          </a:p>
          <a:p>
            <a:r>
              <a:rPr lang="zh-CN" altLang="en-US"/>
              <a:t>存取控制矩阵法的优点是简单、清晰。缺点是不够经济，即当用户和文件较多时，存取控制矩阵将变得非常庞大。故它没有得到普遍应用。</a:t>
            </a:r>
          </a:p>
        </p:txBody>
      </p:sp>
      <p:sp>
        <p:nvSpPr>
          <p:cNvPr id="2" name="灯片编号占位符 1">
            <a:extLst>
              <a:ext uri="{FF2B5EF4-FFF2-40B4-BE49-F238E27FC236}">
                <a16:creationId xmlns:a16="http://schemas.microsoft.com/office/drawing/2014/main" id="{25500F92-4AA6-1BFB-D9CA-196BE06AC8B9}"/>
              </a:ext>
            </a:extLst>
          </p:cNvPr>
          <p:cNvSpPr>
            <a:spLocks noGrp="1"/>
          </p:cNvSpPr>
          <p:nvPr>
            <p:ph type="sldNum" sz="quarter" idx="12"/>
          </p:nvPr>
        </p:nvSpPr>
        <p:spPr/>
        <p:txBody>
          <a:bodyPr/>
          <a:lstStyle/>
          <a:p>
            <a:fld id="{4093CC90-4002-504C-BD88-C9A1D374048E}" type="slidenum">
              <a:rPr lang="zh-CN" altLang="en-US" smtClean="0"/>
              <a:pPr/>
              <a:t>72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Effect transition="in" filter="checkerboard(across)">
                                      <p:cBhvr>
                                        <p:cTn id="7" dur="500"/>
                                        <p:tgtEl>
                                          <p:spTgt spid="406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6531">
                                            <p:txEl>
                                              <p:pRg st="1" end="1"/>
                                            </p:txEl>
                                          </p:spTgt>
                                        </p:tgtEl>
                                        <p:attrNameLst>
                                          <p:attrName>style.visibility</p:attrName>
                                        </p:attrNameLst>
                                      </p:cBhvr>
                                      <p:to>
                                        <p:strVal val="visible"/>
                                      </p:to>
                                    </p:set>
                                    <p:animEffect transition="in" filter="checkerboard(across)">
                                      <p:cBhvr>
                                        <p:cTn id="12" dur="500"/>
                                        <p:tgtEl>
                                          <p:spTgt spid="406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884CFD70-1FB6-8F03-7F4E-4E60A4EC9F92}"/>
              </a:ext>
            </a:extLst>
          </p:cNvPr>
          <p:cNvSpPr>
            <a:spLocks noGrp="1" noChangeArrowheads="1"/>
          </p:cNvSpPr>
          <p:nvPr>
            <p:ph type="title"/>
          </p:nvPr>
        </p:nvSpPr>
        <p:spPr>
          <a:xfrm>
            <a:off x="1042988" y="225431"/>
            <a:ext cx="7850187" cy="746125"/>
          </a:xfrm>
        </p:spPr>
        <p:txBody>
          <a:bodyPr/>
          <a:lstStyle/>
          <a:p>
            <a:r>
              <a:rPr lang="zh-CN" altLang="en-US"/>
              <a:t> 存取控制表</a:t>
            </a:r>
          </a:p>
        </p:txBody>
      </p:sp>
      <p:sp>
        <p:nvSpPr>
          <p:cNvPr id="87042" name="Rectangle 3">
            <a:extLst>
              <a:ext uri="{FF2B5EF4-FFF2-40B4-BE49-F238E27FC236}">
                <a16:creationId xmlns:a16="http://schemas.microsoft.com/office/drawing/2014/main" id="{BC744C20-1431-9E2A-0DA6-9FD18684A363}"/>
              </a:ext>
            </a:extLst>
          </p:cNvPr>
          <p:cNvSpPr>
            <a:spLocks noGrp="1" noChangeArrowheads="1"/>
          </p:cNvSpPr>
          <p:nvPr>
            <p:ph idx="1"/>
          </p:nvPr>
        </p:nvSpPr>
        <p:spPr>
          <a:xfrm>
            <a:off x="935038" y="1233488"/>
            <a:ext cx="7772400" cy="4895850"/>
          </a:xfrm>
        </p:spPr>
        <p:txBody>
          <a:bodyPr/>
          <a:lstStyle/>
          <a:p>
            <a:r>
              <a:rPr lang="zh-CN" altLang="en-US" dirty="0"/>
              <a:t>存取控制矩阵是一个稀疏矩阵，因而在实现时可以按行列进行划分。</a:t>
            </a:r>
          </a:p>
          <a:p>
            <a:r>
              <a:rPr lang="zh-CN" altLang="en-US" b="1" dirty="0">
                <a:solidFill>
                  <a:srgbClr val="FF0000"/>
                </a:solidFill>
              </a:rPr>
              <a:t>存取控制表</a:t>
            </a:r>
            <a:r>
              <a:rPr lang="zh-CN" altLang="en-US" dirty="0"/>
              <a:t>：按用户对文件的存取权限将用户分成若干组，同时规定每一组用户对文件的存取权限，所有用户组存取权限的集合称为该文件的存取控制表。 </a:t>
            </a:r>
            <a:endParaRPr lang="en-US" altLang="zh-CN" dirty="0"/>
          </a:p>
        </p:txBody>
      </p:sp>
      <p:sp>
        <p:nvSpPr>
          <p:cNvPr id="2" name="灯片编号占位符 1">
            <a:extLst>
              <a:ext uri="{FF2B5EF4-FFF2-40B4-BE49-F238E27FC236}">
                <a16:creationId xmlns:a16="http://schemas.microsoft.com/office/drawing/2014/main" id="{315AF7C8-F99A-82E5-90F0-7851CE7A4CB0}"/>
              </a:ext>
            </a:extLst>
          </p:cNvPr>
          <p:cNvSpPr>
            <a:spLocks noGrp="1"/>
          </p:cNvSpPr>
          <p:nvPr>
            <p:ph type="sldNum" sz="quarter" idx="12"/>
          </p:nvPr>
        </p:nvSpPr>
        <p:spPr/>
        <p:txBody>
          <a:bodyPr/>
          <a:lstStyle/>
          <a:p>
            <a:fld id="{4093CC90-4002-504C-BD88-C9A1D374048E}" type="slidenum">
              <a:rPr lang="zh-CN" altLang="en-US" smtClean="0"/>
              <a:pPr/>
              <a:t>73</a:t>
            </a:fld>
            <a:endParaRPr lang="zh-CN" altLang="en-US" dirty="0"/>
          </a:p>
        </p:txBody>
      </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50CC9036-F3D3-6DF9-5117-EAFD64841C98}"/>
              </a:ext>
            </a:extLst>
          </p:cNvPr>
          <p:cNvSpPr>
            <a:spLocks noGrp="1" noChangeArrowheads="1"/>
          </p:cNvSpPr>
          <p:nvPr>
            <p:ph type="title"/>
          </p:nvPr>
        </p:nvSpPr>
        <p:spPr/>
        <p:txBody>
          <a:bodyPr/>
          <a:lstStyle/>
          <a:p>
            <a:pPr eaLnBrk="1" hangingPunct="1"/>
            <a:r>
              <a:rPr lang="zh-CN" altLang="en-US"/>
              <a:t>存取控制表例</a:t>
            </a:r>
          </a:p>
        </p:txBody>
      </p:sp>
      <p:graphicFrame>
        <p:nvGraphicFramePr>
          <p:cNvPr id="408579" name="Group 3">
            <a:extLst>
              <a:ext uri="{FF2B5EF4-FFF2-40B4-BE49-F238E27FC236}">
                <a16:creationId xmlns:a16="http://schemas.microsoft.com/office/drawing/2014/main" id="{E2F712EC-0795-66A1-5D26-AE1671E44560}"/>
              </a:ext>
            </a:extLst>
          </p:cNvPr>
          <p:cNvGraphicFramePr>
            <a:graphicFrameLocks noGrp="1"/>
          </p:cNvGraphicFramePr>
          <p:nvPr/>
        </p:nvGraphicFramePr>
        <p:xfrm>
          <a:off x="1524000" y="1752600"/>
          <a:ext cx="6096000" cy="3357563"/>
        </p:xfrm>
        <a:graphic>
          <a:graphicData uri="http://schemas.openxmlformats.org/drawingml/2006/table">
            <a:tbl>
              <a:tblPr/>
              <a:tblGrid>
                <a:gridCol w="2209800">
                  <a:extLst>
                    <a:ext uri="{9D8B030D-6E8A-4147-A177-3AD203B41FA5}">
                      <a16:colId xmlns:a16="http://schemas.microsoft.com/office/drawing/2014/main" val="433343055"/>
                    </a:ext>
                  </a:extLst>
                </a:gridCol>
                <a:gridCol w="3886200">
                  <a:extLst>
                    <a:ext uri="{9D8B030D-6E8A-4147-A177-3AD203B41FA5}">
                      <a16:colId xmlns:a16="http://schemas.microsoft.com/office/drawing/2014/main" val="1329484894"/>
                    </a:ext>
                  </a:extLst>
                </a:gridCol>
              </a:tblGrid>
              <a:tr h="82232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文件</a:t>
                      </a: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用户</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ALPHA</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133638863"/>
                  </a:ext>
                </a:extLst>
              </a:tr>
              <a:tr h="63023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文件主</a:t>
                      </a: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R、W、E</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25347102"/>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组</a:t>
                      </a: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R、E</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5915733"/>
                  </a:ext>
                </a:extLst>
              </a:tr>
              <a:tr h="649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组</a:t>
                      </a: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731640779"/>
                  </a:ext>
                </a:extLst>
              </a:tr>
              <a:tr h="646113">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其他</a:t>
                      </a: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765018543"/>
                  </a:ext>
                </a:extLst>
              </a:tr>
            </a:tbl>
          </a:graphicData>
        </a:graphic>
      </p:graphicFrame>
      <p:sp>
        <p:nvSpPr>
          <p:cNvPr id="2" name="灯片编号占位符 1">
            <a:extLst>
              <a:ext uri="{FF2B5EF4-FFF2-40B4-BE49-F238E27FC236}">
                <a16:creationId xmlns:a16="http://schemas.microsoft.com/office/drawing/2014/main" id="{5309EACB-682B-0B26-AB0E-99BA4C0AD27A}"/>
              </a:ext>
            </a:extLst>
          </p:cNvPr>
          <p:cNvSpPr>
            <a:spLocks noGrp="1"/>
          </p:cNvSpPr>
          <p:nvPr>
            <p:ph type="sldNum" sz="quarter" idx="12"/>
          </p:nvPr>
        </p:nvSpPr>
        <p:spPr/>
        <p:txBody>
          <a:bodyPr/>
          <a:lstStyle/>
          <a:p>
            <a:fld id="{4093CC90-4002-504C-BD88-C9A1D374048E}" type="slidenum">
              <a:rPr lang="zh-CN" altLang="en-US" smtClean="0"/>
              <a:pPr/>
              <a:t>74</a:t>
            </a:fld>
            <a:endParaRPr lang="zh-CN" altLang="en-US" dirty="0"/>
          </a:p>
        </p:txBody>
      </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D321DED0-0A9B-8A7B-1AE7-487D6D614BA8}"/>
              </a:ext>
            </a:extLst>
          </p:cNvPr>
          <p:cNvSpPr>
            <a:spLocks noGrp="1" noChangeArrowheads="1"/>
          </p:cNvSpPr>
          <p:nvPr>
            <p:ph type="title"/>
          </p:nvPr>
        </p:nvSpPr>
        <p:spPr/>
        <p:txBody>
          <a:bodyPr/>
          <a:lstStyle/>
          <a:p>
            <a:pPr eaLnBrk="1" hangingPunct="1"/>
            <a:r>
              <a:rPr lang="zh-CN" altLang="en-US" b="1"/>
              <a:t>用户权限表</a:t>
            </a:r>
          </a:p>
        </p:txBody>
      </p:sp>
      <p:sp>
        <p:nvSpPr>
          <p:cNvPr id="89090" name="Rectangle 3">
            <a:extLst>
              <a:ext uri="{FF2B5EF4-FFF2-40B4-BE49-F238E27FC236}">
                <a16:creationId xmlns:a16="http://schemas.microsoft.com/office/drawing/2014/main" id="{41D5CD18-BCB0-3AC6-893D-CDA145D7FCEE}"/>
              </a:ext>
            </a:extLst>
          </p:cNvPr>
          <p:cNvSpPr>
            <a:spLocks noGrp="1" noChangeArrowheads="1"/>
          </p:cNvSpPr>
          <p:nvPr>
            <p:ph idx="1"/>
          </p:nvPr>
        </p:nvSpPr>
        <p:spPr/>
        <p:txBody>
          <a:bodyPr/>
          <a:lstStyle/>
          <a:p>
            <a:pPr algn="just" eaLnBrk="1" hangingPunct="1"/>
            <a:r>
              <a:rPr lang="zh-CN" altLang="en-US">
                <a:solidFill>
                  <a:srgbClr val="FF0000"/>
                </a:solidFill>
                <a:latin typeface="Times New Roman" panose="02020603050405020304" pitchFamily="18" charset="0"/>
              </a:rPr>
              <a:t>用户权限表</a:t>
            </a:r>
            <a:r>
              <a:rPr lang="zh-CN" altLang="en-US">
                <a:latin typeface="Times New Roman" panose="02020603050405020304" pitchFamily="18" charset="0"/>
              </a:rPr>
              <a:t>：将一个用户或用户组所要存取的文件集中存放在一个表中，其中每个表项指明该用户（组）对相应文件的存取权限，这种表称为用户权限表。</a:t>
            </a:r>
            <a:r>
              <a:rPr lang="zh-CN" altLang="en-US"/>
              <a:t> </a:t>
            </a:r>
          </a:p>
        </p:txBody>
      </p:sp>
      <p:sp>
        <p:nvSpPr>
          <p:cNvPr id="2" name="灯片编号占位符 1">
            <a:extLst>
              <a:ext uri="{FF2B5EF4-FFF2-40B4-BE49-F238E27FC236}">
                <a16:creationId xmlns:a16="http://schemas.microsoft.com/office/drawing/2014/main" id="{016553A2-4ACC-5471-7081-C17BB0460306}"/>
              </a:ext>
            </a:extLst>
          </p:cNvPr>
          <p:cNvSpPr>
            <a:spLocks noGrp="1"/>
          </p:cNvSpPr>
          <p:nvPr>
            <p:ph type="sldNum" sz="quarter" idx="12"/>
          </p:nvPr>
        </p:nvSpPr>
        <p:spPr/>
        <p:txBody>
          <a:bodyPr/>
          <a:lstStyle/>
          <a:p>
            <a:fld id="{4093CC90-4002-504C-BD88-C9A1D374048E}" type="slidenum">
              <a:rPr lang="zh-CN" altLang="en-US" smtClean="0"/>
              <a:pPr/>
              <a:t>75</a:t>
            </a:fld>
            <a:endParaRPr lang="zh-CN" altLang="en-US" dirty="0"/>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F8D13750-71B1-5079-5301-AA64C7BA3E20}"/>
              </a:ext>
            </a:extLst>
          </p:cNvPr>
          <p:cNvSpPr>
            <a:spLocks noGrp="1" noChangeArrowheads="1"/>
          </p:cNvSpPr>
          <p:nvPr>
            <p:ph type="title"/>
          </p:nvPr>
        </p:nvSpPr>
        <p:spPr/>
        <p:txBody>
          <a:bodyPr/>
          <a:lstStyle/>
          <a:p>
            <a:pPr eaLnBrk="1" hangingPunct="1"/>
            <a:r>
              <a:rPr lang="zh-CN" altLang="en-US"/>
              <a:t>用户权限表例</a:t>
            </a:r>
          </a:p>
        </p:txBody>
      </p:sp>
      <p:graphicFrame>
        <p:nvGraphicFramePr>
          <p:cNvPr id="121859" name="表格 121858">
            <a:extLst>
              <a:ext uri="{FF2B5EF4-FFF2-40B4-BE49-F238E27FC236}">
                <a16:creationId xmlns:a16="http://schemas.microsoft.com/office/drawing/2014/main" id="{6B3655E7-7471-9FD6-3E28-47B6774D13D2}"/>
              </a:ext>
            </a:extLst>
          </p:cNvPr>
          <p:cNvGraphicFramePr>
            <a:graphicFrameLocks noGrp="1"/>
          </p:cNvGraphicFramePr>
          <p:nvPr/>
        </p:nvGraphicFramePr>
        <p:xfrm>
          <a:off x="1447800" y="1600200"/>
          <a:ext cx="6096000" cy="3359150"/>
        </p:xfrm>
        <a:graphic>
          <a:graphicData uri="http://schemas.openxmlformats.org/drawingml/2006/table">
            <a:tbl>
              <a:tblPr/>
              <a:tblGrid>
                <a:gridCol w="2209800">
                  <a:extLst>
                    <a:ext uri="{9D8B030D-6E8A-4147-A177-3AD203B41FA5}">
                      <a16:colId xmlns:a16="http://schemas.microsoft.com/office/drawing/2014/main" val="3771217204"/>
                    </a:ext>
                  </a:extLst>
                </a:gridCol>
                <a:gridCol w="3886200">
                  <a:extLst>
                    <a:ext uri="{9D8B030D-6E8A-4147-A177-3AD203B41FA5}">
                      <a16:colId xmlns:a16="http://schemas.microsoft.com/office/drawing/2014/main" val="3860092514"/>
                    </a:ext>
                  </a:extLst>
                </a:gridCol>
              </a:tblGrid>
              <a:tr h="82232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         用户</a:t>
                      </a: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组</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98356774"/>
                  </a:ext>
                </a:extLst>
              </a:tr>
              <a:tr h="63182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Sqrt</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R、E</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129075751"/>
                  </a:ext>
                </a:extLst>
              </a:tr>
              <a:tr h="6096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Test</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R、E</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3508506"/>
                  </a:ext>
                </a:extLst>
              </a:tr>
              <a:tr h="6477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Alpha</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R</a:t>
                      </a: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56971517"/>
                  </a:ext>
                </a:extLst>
              </a:tr>
              <a:tr h="6477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Beta</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anchor="ctr" horzOverflow="overflow">
                    <a:lnL w="12700" cap="flat" cmpd="sng" algn="ctr">
                      <a:solidFill>
                        <a:srgbClr val="000000"/>
                      </a:solidFill>
                      <a:prstDash val="solid"/>
                      <a:miter lim="800000"/>
                      <a:headEnd type="none" w="med" len="med"/>
                      <a:tailEnd type="none" w="med" len="med"/>
                    </a:lnL>
                    <a:lnR w="2857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857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773364093"/>
                  </a:ext>
                </a:extLst>
              </a:tr>
            </a:tbl>
          </a:graphicData>
        </a:graphic>
      </p:graphicFrame>
      <p:sp>
        <p:nvSpPr>
          <p:cNvPr id="2" name="灯片编号占位符 1">
            <a:extLst>
              <a:ext uri="{FF2B5EF4-FFF2-40B4-BE49-F238E27FC236}">
                <a16:creationId xmlns:a16="http://schemas.microsoft.com/office/drawing/2014/main" id="{D097573D-0D1A-9122-2CD8-2F5FDFAD6541}"/>
              </a:ext>
            </a:extLst>
          </p:cNvPr>
          <p:cNvSpPr>
            <a:spLocks noGrp="1"/>
          </p:cNvSpPr>
          <p:nvPr>
            <p:ph type="sldNum" sz="quarter" idx="12"/>
          </p:nvPr>
        </p:nvSpPr>
        <p:spPr/>
        <p:txBody>
          <a:bodyPr/>
          <a:lstStyle/>
          <a:p>
            <a:fld id="{4093CC90-4002-504C-BD88-C9A1D374048E}" type="slidenum">
              <a:rPr lang="zh-CN" altLang="en-US" smtClean="0"/>
              <a:pPr/>
              <a:t>76</a:t>
            </a:fld>
            <a:endParaRPr lang="zh-CN" altLang="en-US" dirty="0"/>
          </a:p>
        </p:txBody>
      </p:sp>
    </p:spTree>
  </p:cSld>
  <p:clrMapOvr>
    <a:masterClrMapping/>
  </p:clrMapOvr>
  <p:transition spd="med">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775E129B-8A4B-0824-C2B5-BED4BF92FEA1}"/>
              </a:ext>
            </a:extLst>
          </p:cNvPr>
          <p:cNvSpPr>
            <a:spLocks noGrp="1" noChangeArrowheads="1"/>
          </p:cNvSpPr>
          <p:nvPr>
            <p:ph type="title"/>
          </p:nvPr>
        </p:nvSpPr>
        <p:spPr/>
        <p:txBody>
          <a:bodyPr/>
          <a:lstStyle/>
          <a:p>
            <a:pPr eaLnBrk="1" hangingPunct="1"/>
            <a:r>
              <a:rPr lang="zh-CN" altLang="en-US" b="1"/>
              <a:t>口令</a:t>
            </a:r>
            <a:endParaRPr lang="zh-CN" altLang="en-US"/>
          </a:p>
        </p:txBody>
      </p:sp>
      <p:sp>
        <p:nvSpPr>
          <p:cNvPr id="411651" name="Rectangle 3">
            <a:extLst>
              <a:ext uri="{FF2B5EF4-FFF2-40B4-BE49-F238E27FC236}">
                <a16:creationId xmlns:a16="http://schemas.microsoft.com/office/drawing/2014/main" id="{6DF558E8-F69D-3054-1B20-B4F7ED3DC800}"/>
              </a:ext>
            </a:extLst>
          </p:cNvPr>
          <p:cNvSpPr>
            <a:spLocks noGrp="1" noChangeArrowheads="1"/>
          </p:cNvSpPr>
          <p:nvPr>
            <p:ph idx="1"/>
          </p:nvPr>
        </p:nvSpPr>
        <p:spPr>
          <a:xfrm>
            <a:off x="762000" y="1233488"/>
            <a:ext cx="8193088" cy="4535487"/>
          </a:xfrm>
        </p:spPr>
        <p:txBody>
          <a:bodyPr/>
          <a:lstStyle/>
          <a:p>
            <a:pPr algn="just" eaLnBrk="1" hangingPunct="1"/>
            <a:r>
              <a:rPr lang="zh-CN" altLang="en-US">
                <a:solidFill>
                  <a:srgbClr val="FF0000"/>
                </a:solidFill>
              </a:rPr>
              <a:t>口令</a:t>
            </a:r>
            <a:r>
              <a:rPr lang="zh-CN" altLang="en-US"/>
              <a:t>是一种简单的文件保护方法。</a:t>
            </a:r>
          </a:p>
          <a:p>
            <a:pPr algn="just" eaLnBrk="1" hangingPunct="1"/>
            <a:r>
              <a:rPr lang="zh-CN" altLang="en-US"/>
              <a:t>使用口令的方法是文件主为自己的每个文件规定一个口令，一方面进行口令登记，另一方面把口令告诉允许访问该文件的用户。</a:t>
            </a:r>
          </a:p>
          <a:p>
            <a:pPr algn="just" eaLnBrk="1" hangingPunct="1"/>
            <a:r>
              <a:rPr lang="zh-CN" altLang="en-US"/>
              <a:t>当用户请求访问某文件时，首先要提供该文件的口令，经证实后再进行相应的访问。</a:t>
            </a:r>
          </a:p>
        </p:txBody>
      </p:sp>
      <p:sp>
        <p:nvSpPr>
          <p:cNvPr id="2" name="灯片编号占位符 1">
            <a:extLst>
              <a:ext uri="{FF2B5EF4-FFF2-40B4-BE49-F238E27FC236}">
                <a16:creationId xmlns:a16="http://schemas.microsoft.com/office/drawing/2014/main" id="{98FAE037-8466-86F0-3099-6995976089A3}"/>
              </a:ext>
            </a:extLst>
          </p:cNvPr>
          <p:cNvSpPr>
            <a:spLocks noGrp="1"/>
          </p:cNvSpPr>
          <p:nvPr>
            <p:ph type="sldNum" sz="quarter" idx="12"/>
          </p:nvPr>
        </p:nvSpPr>
        <p:spPr/>
        <p:txBody>
          <a:bodyPr/>
          <a:lstStyle/>
          <a:p>
            <a:fld id="{4093CC90-4002-504C-BD88-C9A1D374048E}" type="slidenum">
              <a:rPr lang="zh-CN" altLang="en-US" smtClean="0"/>
              <a:pPr/>
              <a:t>77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1651">
                                            <p:txEl>
                                              <p:pRg st="0" end="0"/>
                                            </p:txEl>
                                          </p:spTgt>
                                        </p:tgtEl>
                                        <p:attrNameLst>
                                          <p:attrName>style.visibility</p:attrName>
                                        </p:attrNameLst>
                                      </p:cBhvr>
                                      <p:to>
                                        <p:strVal val="visible"/>
                                      </p:to>
                                    </p:set>
                                    <p:animEffect transition="in" filter="checkerboard(across)">
                                      <p:cBhvr>
                                        <p:cTn id="7" dur="500"/>
                                        <p:tgtEl>
                                          <p:spTgt spid="411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1651">
                                            <p:txEl>
                                              <p:pRg st="1" end="1"/>
                                            </p:txEl>
                                          </p:spTgt>
                                        </p:tgtEl>
                                        <p:attrNameLst>
                                          <p:attrName>style.visibility</p:attrName>
                                        </p:attrNameLst>
                                      </p:cBhvr>
                                      <p:to>
                                        <p:strVal val="visible"/>
                                      </p:to>
                                    </p:set>
                                    <p:animEffect transition="in" filter="checkerboard(across)">
                                      <p:cBhvr>
                                        <p:cTn id="12" dur="500"/>
                                        <p:tgtEl>
                                          <p:spTgt spid="411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1651">
                                            <p:txEl>
                                              <p:pRg st="2" end="2"/>
                                            </p:txEl>
                                          </p:spTgt>
                                        </p:tgtEl>
                                        <p:attrNameLst>
                                          <p:attrName>style.visibility</p:attrName>
                                        </p:attrNameLst>
                                      </p:cBhvr>
                                      <p:to>
                                        <p:strVal val="visible"/>
                                      </p:to>
                                    </p:set>
                                    <p:animEffect transition="in" filter="checkerboard(across)">
                                      <p:cBhvr>
                                        <p:cTn id="17" dur="500"/>
                                        <p:tgtEl>
                                          <p:spTgt spid="411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1"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7A33FF0F-7AA1-3074-60A0-62DCACED327E}"/>
              </a:ext>
            </a:extLst>
          </p:cNvPr>
          <p:cNvSpPr>
            <a:spLocks noGrp="1" noChangeArrowheads="1"/>
          </p:cNvSpPr>
          <p:nvPr>
            <p:ph type="title"/>
          </p:nvPr>
        </p:nvSpPr>
        <p:spPr/>
        <p:txBody>
          <a:bodyPr/>
          <a:lstStyle/>
          <a:p>
            <a:pPr eaLnBrk="1" hangingPunct="1"/>
            <a:r>
              <a:rPr lang="zh-CN" altLang="en-US" b="1"/>
              <a:t>口令方法的特点</a:t>
            </a:r>
            <a:endParaRPr lang="zh-CN" altLang="en-US"/>
          </a:p>
        </p:txBody>
      </p:sp>
      <p:sp>
        <p:nvSpPr>
          <p:cNvPr id="92162" name="Rectangle 3">
            <a:extLst>
              <a:ext uri="{FF2B5EF4-FFF2-40B4-BE49-F238E27FC236}">
                <a16:creationId xmlns:a16="http://schemas.microsoft.com/office/drawing/2014/main" id="{819C3342-B8DD-005D-F216-3970677EF1EA}"/>
              </a:ext>
            </a:extLst>
          </p:cNvPr>
          <p:cNvSpPr>
            <a:spLocks noGrp="1" noChangeArrowheads="1"/>
          </p:cNvSpPr>
          <p:nvPr>
            <p:ph idx="1"/>
          </p:nvPr>
        </p:nvSpPr>
        <p:spPr>
          <a:xfrm>
            <a:off x="755650" y="1196975"/>
            <a:ext cx="8199438" cy="4535488"/>
          </a:xfrm>
        </p:spPr>
        <p:txBody>
          <a:bodyPr/>
          <a:lstStyle/>
          <a:p>
            <a:pPr algn="just" eaLnBrk="1" hangingPunct="1"/>
            <a:r>
              <a:rPr lang="zh-CN" altLang="en-US">
                <a:latin typeface="Times New Roman" panose="02020603050405020304" pitchFamily="18" charset="0"/>
              </a:rPr>
              <a:t>口令方法的特点：</a:t>
            </a:r>
          </a:p>
          <a:p>
            <a:pPr lvl="1" algn="just" eaLnBrk="1" hangingPunct="1"/>
            <a:r>
              <a:rPr lang="zh-CN" altLang="en-US">
                <a:latin typeface="Times New Roman" panose="02020603050405020304" pitchFamily="18" charset="0"/>
              </a:rPr>
              <a:t>只需提供少量的保护信息，简单且易于实现。</a:t>
            </a:r>
          </a:p>
          <a:p>
            <a:pPr lvl="1" algn="just" eaLnBrk="1" hangingPunct="1"/>
            <a:r>
              <a:rPr lang="zh-CN" altLang="en-US">
                <a:latin typeface="Times New Roman" panose="02020603050405020304" pitchFamily="18" charset="0"/>
              </a:rPr>
              <a:t>但其保密性不强，不易更改存取权限。</a:t>
            </a:r>
          </a:p>
          <a:p>
            <a:pPr algn="just" eaLnBrk="1" hangingPunct="1"/>
            <a:r>
              <a:rPr lang="zh-CN" altLang="en-US">
                <a:latin typeface="Times New Roman" panose="02020603050405020304" pitchFamily="18" charset="0"/>
              </a:rPr>
              <a:t>这种方法常用于识别用户。</a:t>
            </a:r>
            <a:r>
              <a:rPr lang="zh-CN" altLang="en-US"/>
              <a:t> </a:t>
            </a:r>
          </a:p>
        </p:txBody>
      </p:sp>
      <p:sp>
        <p:nvSpPr>
          <p:cNvPr id="2" name="灯片编号占位符 1">
            <a:extLst>
              <a:ext uri="{FF2B5EF4-FFF2-40B4-BE49-F238E27FC236}">
                <a16:creationId xmlns:a16="http://schemas.microsoft.com/office/drawing/2014/main" id="{BCB04E0E-4C54-EA3D-8BA3-80210A672B70}"/>
              </a:ext>
            </a:extLst>
          </p:cNvPr>
          <p:cNvSpPr>
            <a:spLocks noGrp="1"/>
          </p:cNvSpPr>
          <p:nvPr>
            <p:ph type="sldNum" sz="quarter" idx="12"/>
          </p:nvPr>
        </p:nvSpPr>
        <p:spPr/>
        <p:txBody>
          <a:bodyPr/>
          <a:lstStyle/>
          <a:p>
            <a:fld id="{4093CC90-4002-504C-BD88-C9A1D374048E}" type="slidenum">
              <a:rPr lang="zh-CN" altLang="en-US" smtClean="0"/>
              <a:pPr/>
              <a:t>78</a:t>
            </a:fld>
            <a:endParaRPr lang="zh-CN" altLang="en-US" dirty="0"/>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ACFEF4B5-FD61-47D7-BE8B-8AFA0E33EC72}"/>
              </a:ext>
            </a:extLst>
          </p:cNvPr>
          <p:cNvSpPr>
            <a:spLocks noGrp="1" noChangeArrowheads="1"/>
          </p:cNvSpPr>
          <p:nvPr>
            <p:ph type="title"/>
          </p:nvPr>
        </p:nvSpPr>
        <p:spPr/>
        <p:txBody>
          <a:bodyPr/>
          <a:lstStyle/>
          <a:p>
            <a:pPr eaLnBrk="1" hangingPunct="1"/>
            <a:r>
              <a:rPr lang="zh-CN" altLang="en-US"/>
              <a:t>密码</a:t>
            </a:r>
          </a:p>
        </p:txBody>
      </p:sp>
      <p:sp>
        <p:nvSpPr>
          <p:cNvPr id="413699" name="Rectangle 3">
            <a:extLst>
              <a:ext uri="{FF2B5EF4-FFF2-40B4-BE49-F238E27FC236}">
                <a16:creationId xmlns:a16="http://schemas.microsoft.com/office/drawing/2014/main" id="{939ADB15-20B3-1699-F725-39B3014A82D9}"/>
              </a:ext>
            </a:extLst>
          </p:cNvPr>
          <p:cNvSpPr>
            <a:spLocks noGrp="1" noChangeArrowheads="1"/>
          </p:cNvSpPr>
          <p:nvPr>
            <p:ph idx="1"/>
          </p:nvPr>
        </p:nvSpPr>
        <p:spPr>
          <a:xfrm>
            <a:off x="762000" y="1268413"/>
            <a:ext cx="8058150" cy="4708525"/>
          </a:xfrm>
        </p:spPr>
        <p:txBody>
          <a:bodyPr/>
          <a:lstStyle/>
          <a:p>
            <a:pPr algn="just" eaLnBrk="1" hangingPunct="1">
              <a:lnSpc>
                <a:spcPct val="90000"/>
              </a:lnSpc>
            </a:pPr>
            <a:r>
              <a:rPr lang="zh-CN" altLang="en-US">
                <a:solidFill>
                  <a:srgbClr val="FF0000"/>
                </a:solidFill>
              </a:rPr>
              <a:t>密码方法</a:t>
            </a:r>
            <a:r>
              <a:rPr lang="zh-CN" altLang="en-US"/>
              <a:t>对需要保护的文件进行加密。</a:t>
            </a:r>
          </a:p>
          <a:p>
            <a:pPr algn="just" eaLnBrk="1" hangingPunct="1">
              <a:lnSpc>
                <a:spcPct val="90000"/>
              </a:lnSpc>
            </a:pPr>
            <a:r>
              <a:rPr lang="zh-CN" altLang="en-US"/>
              <a:t>文件写入时进行编码，读出时进行译码，要求发出存取请求的用户提供一个代码键。</a:t>
            </a:r>
          </a:p>
          <a:p>
            <a:pPr algn="just" eaLnBrk="1" hangingPunct="1">
              <a:lnSpc>
                <a:spcPct val="90000"/>
              </a:lnSpc>
            </a:pPr>
            <a:r>
              <a:rPr lang="zh-CN" altLang="en-US"/>
              <a:t>一种简单的编码方式是利用代码键作为生成一串随机数的起始码，编码程序把这些随机数加到被编码文件的字节中去；译码时，用和编码时相同的代码键启动随机数发生器，并从存入文件的各字节中依次减去所产生的随机数。</a:t>
            </a:r>
          </a:p>
        </p:txBody>
      </p:sp>
      <p:sp>
        <p:nvSpPr>
          <p:cNvPr id="2" name="灯片编号占位符 1">
            <a:extLst>
              <a:ext uri="{FF2B5EF4-FFF2-40B4-BE49-F238E27FC236}">
                <a16:creationId xmlns:a16="http://schemas.microsoft.com/office/drawing/2014/main" id="{12176758-D5AD-D838-39D0-BF67CD3105D9}"/>
              </a:ext>
            </a:extLst>
          </p:cNvPr>
          <p:cNvSpPr>
            <a:spLocks noGrp="1"/>
          </p:cNvSpPr>
          <p:nvPr>
            <p:ph type="sldNum" sz="quarter" idx="12"/>
          </p:nvPr>
        </p:nvSpPr>
        <p:spPr/>
        <p:txBody>
          <a:bodyPr/>
          <a:lstStyle/>
          <a:p>
            <a:fld id="{4093CC90-4002-504C-BD88-C9A1D374048E}" type="slidenum">
              <a:rPr lang="zh-CN" altLang="en-US" smtClean="0"/>
              <a:pPr/>
              <a:t>79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checkerboard(across)">
                                      <p:cBhvr>
                                        <p:cTn id="7" dur="500"/>
                                        <p:tgtEl>
                                          <p:spTgt spid="413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13699">
                                            <p:txEl>
                                              <p:pRg st="1" end="1"/>
                                            </p:txEl>
                                          </p:spTgt>
                                        </p:tgtEl>
                                        <p:attrNameLst>
                                          <p:attrName>style.visibility</p:attrName>
                                        </p:attrNameLst>
                                      </p:cBhvr>
                                      <p:to>
                                        <p:strVal val="visible"/>
                                      </p:to>
                                    </p:set>
                                    <p:animEffect transition="in" filter="checkerboard(across)">
                                      <p:cBhvr>
                                        <p:cTn id="12" dur="500"/>
                                        <p:tgtEl>
                                          <p:spTgt spid="413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13699">
                                            <p:txEl>
                                              <p:pRg st="2" end="2"/>
                                            </p:txEl>
                                          </p:spTgt>
                                        </p:tgtEl>
                                        <p:attrNameLst>
                                          <p:attrName>style.visibility</p:attrName>
                                        </p:attrNameLst>
                                      </p:cBhvr>
                                      <p:to>
                                        <p:strVal val="visible"/>
                                      </p:to>
                                    </p:set>
                                    <p:animEffect transition="in" filter="checkerboard(across)">
                                      <p:cBhvr>
                                        <p:cTn id="17" dur="500"/>
                                        <p:tgtEl>
                                          <p:spTgt spid="413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280A7786-1057-F8E0-1A22-70951D15BB29}"/>
              </a:ext>
            </a:extLst>
          </p:cNvPr>
          <p:cNvSpPr>
            <a:spLocks noGrp="1" noChangeArrowheads="1"/>
          </p:cNvSpPr>
          <p:nvPr>
            <p:ph type="title"/>
          </p:nvPr>
        </p:nvSpPr>
        <p:spPr/>
        <p:txBody>
          <a:bodyPr/>
          <a:lstStyle/>
          <a:p>
            <a:pPr eaLnBrk="1" hangingPunct="1"/>
            <a:r>
              <a:rPr lang="zh-CN" altLang="en-US"/>
              <a:t>密码方法的特点</a:t>
            </a:r>
          </a:p>
        </p:txBody>
      </p:sp>
      <p:sp>
        <p:nvSpPr>
          <p:cNvPr id="94210" name="Rectangle 3">
            <a:extLst>
              <a:ext uri="{FF2B5EF4-FFF2-40B4-BE49-F238E27FC236}">
                <a16:creationId xmlns:a16="http://schemas.microsoft.com/office/drawing/2014/main" id="{EF2A7CE0-479D-6B38-F7EB-CB77A41C55B6}"/>
              </a:ext>
            </a:extLst>
          </p:cNvPr>
          <p:cNvSpPr>
            <a:spLocks noGrp="1" noChangeArrowheads="1"/>
          </p:cNvSpPr>
          <p:nvPr>
            <p:ph idx="1"/>
          </p:nvPr>
        </p:nvSpPr>
        <p:spPr>
          <a:xfrm>
            <a:off x="827088" y="1341438"/>
            <a:ext cx="8128000" cy="4459287"/>
          </a:xfrm>
        </p:spPr>
        <p:txBody>
          <a:bodyPr/>
          <a:lstStyle/>
          <a:p>
            <a:pPr algn="just" eaLnBrk="1" hangingPunct="1"/>
            <a:r>
              <a:rPr lang="zh-CN" altLang="en-US"/>
              <a:t>密码技术具有保密性强、节省存储空间的优点，但编码和译码要花费一定的时间。</a:t>
            </a:r>
          </a:p>
        </p:txBody>
      </p:sp>
      <p:sp>
        <p:nvSpPr>
          <p:cNvPr id="2" name="灯片编号占位符 1">
            <a:extLst>
              <a:ext uri="{FF2B5EF4-FFF2-40B4-BE49-F238E27FC236}">
                <a16:creationId xmlns:a16="http://schemas.microsoft.com/office/drawing/2014/main" id="{CBF93649-B47B-A5FF-D835-759F863C8560}"/>
              </a:ext>
            </a:extLst>
          </p:cNvPr>
          <p:cNvSpPr>
            <a:spLocks noGrp="1"/>
          </p:cNvSpPr>
          <p:nvPr>
            <p:ph type="sldNum" sz="quarter" idx="12"/>
          </p:nvPr>
        </p:nvSpPr>
        <p:spPr/>
        <p:txBody>
          <a:bodyPr/>
          <a:lstStyle/>
          <a:p>
            <a:fld id="{4093CC90-4002-504C-BD88-C9A1D374048E}" type="slidenum">
              <a:rPr lang="zh-CN" altLang="en-US" smtClean="0"/>
              <a:pPr/>
              <a:t>80</a:t>
            </a:fld>
            <a:endParaRPr lang="zh-CN" altLang="en-US" dirty="0"/>
          </a:p>
        </p:txBody>
      </p:sp>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D0272A3A-2EB0-C0A5-DA9B-A321EF594CC3}"/>
              </a:ext>
            </a:extLst>
          </p:cNvPr>
          <p:cNvSpPr>
            <a:spLocks noGrp="1" noChangeArrowheads="1"/>
          </p:cNvSpPr>
          <p:nvPr>
            <p:ph type="title"/>
          </p:nvPr>
        </p:nvSpPr>
        <p:spPr>
          <a:xfrm>
            <a:off x="1042988" y="225431"/>
            <a:ext cx="7850187" cy="746125"/>
          </a:xfrm>
        </p:spPr>
        <p:txBody>
          <a:bodyPr/>
          <a:lstStyle/>
          <a:p>
            <a:r>
              <a:rPr lang="zh-CN" altLang="en-US" dirty="0"/>
              <a:t>内存映射文件</a:t>
            </a:r>
          </a:p>
        </p:txBody>
      </p:sp>
      <p:sp>
        <p:nvSpPr>
          <p:cNvPr id="389123" name="Rectangle 3">
            <a:extLst>
              <a:ext uri="{FF2B5EF4-FFF2-40B4-BE49-F238E27FC236}">
                <a16:creationId xmlns:a16="http://schemas.microsoft.com/office/drawing/2014/main" id="{A19CACC1-3AEA-D29A-2992-F5D2FD8D3CE6}"/>
              </a:ext>
            </a:extLst>
          </p:cNvPr>
          <p:cNvSpPr>
            <a:spLocks noGrp="1" noChangeArrowheads="1"/>
          </p:cNvSpPr>
          <p:nvPr>
            <p:ph idx="1"/>
          </p:nvPr>
        </p:nvSpPr>
        <p:spPr>
          <a:xfrm>
            <a:off x="935038" y="1233488"/>
            <a:ext cx="7772400" cy="4895850"/>
          </a:xfrm>
        </p:spPr>
        <p:txBody>
          <a:bodyPr/>
          <a:lstStyle/>
          <a:p>
            <a:r>
              <a:rPr lang="zh-CN" altLang="en-US" dirty="0"/>
              <a:t>内存映射文件通过将磁盘块映射到内存中的一页，允许文件 </a:t>
            </a:r>
            <a:r>
              <a:rPr lang="en-US" altLang="zh-CN" dirty="0"/>
              <a:t>I/O</a:t>
            </a:r>
            <a:r>
              <a:rPr lang="zh-CN" altLang="en-US" dirty="0"/>
              <a:t>被处理为常规内存访问，</a:t>
            </a:r>
            <a:endParaRPr lang="en-US" altLang="zh-CN" dirty="0"/>
          </a:p>
          <a:p>
            <a:r>
              <a:rPr lang="zh-CN" altLang="en-US" dirty="0"/>
              <a:t>开始的文件读使用请求调页。一页大小的部分文件从文件系统读入一物理页。随后文件读 / 写就按普通存储器访问来处理。</a:t>
            </a:r>
            <a:r>
              <a:rPr lang="en-US" altLang="zh-CN" dirty="0"/>
              <a:t>   </a:t>
            </a:r>
          </a:p>
        </p:txBody>
      </p:sp>
      <p:sp>
        <p:nvSpPr>
          <p:cNvPr id="2" name="灯片编号占位符 1">
            <a:extLst>
              <a:ext uri="{FF2B5EF4-FFF2-40B4-BE49-F238E27FC236}">
                <a16:creationId xmlns:a16="http://schemas.microsoft.com/office/drawing/2014/main" id="{DE1E4FDB-0607-5B23-43ED-B6BF3382BCB7}"/>
              </a:ext>
            </a:extLst>
          </p:cNvPr>
          <p:cNvSpPr>
            <a:spLocks noGrp="1"/>
          </p:cNvSpPr>
          <p:nvPr>
            <p:ph type="sldNum" sz="quarter" idx="12"/>
          </p:nvPr>
        </p:nvSpPr>
        <p:spPr/>
        <p:txBody>
          <a:bodyPr/>
          <a:lstStyle/>
          <a:p>
            <a:fld id="{4093CC90-4002-504C-BD88-C9A1D374048E}" type="slidenum">
              <a:rPr lang="zh-CN" altLang="en-US" smtClean="0"/>
              <a:pPr/>
              <a:t>81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23">
                                            <p:txEl>
                                              <p:pRg st="0" end="0"/>
                                            </p:txEl>
                                          </p:spTgt>
                                        </p:tgtEl>
                                        <p:attrNameLst>
                                          <p:attrName>style.visibility</p:attrName>
                                        </p:attrNameLst>
                                      </p:cBhvr>
                                      <p:to>
                                        <p:strVal val="visible"/>
                                      </p:to>
                                    </p:set>
                                    <p:animEffect transition="in" filter="checkerboard(across)">
                                      <p:cBhvr>
                                        <p:cTn id="7" dur="500"/>
                                        <p:tgtEl>
                                          <p:spTgt spid="389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9123">
                                            <p:txEl>
                                              <p:pRg st="1" end="1"/>
                                            </p:txEl>
                                          </p:spTgt>
                                        </p:tgtEl>
                                        <p:attrNameLst>
                                          <p:attrName>style.visibility</p:attrName>
                                        </p:attrNameLst>
                                      </p:cBhvr>
                                      <p:to>
                                        <p:strVal val="visible"/>
                                      </p:to>
                                    </p:set>
                                    <p:animEffect transition="in" filter="checkerboard(across)">
                                      <p:cBhvr>
                                        <p:cTn id="12" dur="500"/>
                                        <p:tgtEl>
                                          <p:spTgt spid="389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B12DB540-C022-36B9-BEC8-B93027CD844E}"/>
              </a:ext>
            </a:extLst>
          </p:cNvPr>
          <p:cNvSpPr>
            <a:spLocks noGrp="1" noChangeArrowheads="1"/>
          </p:cNvSpPr>
          <p:nvPr>
            <p:ph type="title"/>
          </p:nvPr>
        </p:nvSpPr>
        <p:spPr/>
        <p:txBody>
          <a:bodyPr/>
          <a:lstStyle/>
          <a:p>
            <a:pPr eaLnBrk="1" hangingPunct="1"/>
            <a:r>
              <a:rPr lang="en-US" altLang="zh-CN"/>
              <a:t>Memory Mapped Files</a:t>
            </a:r>
            <a:endParaRPr lang="zh-CN" altLang="en-US"/>
          </a:p>
        </p:txBody>
      </p:sp>
      <p:pic>
        <p:nvPicPr>
          <p:cNvPr id="96258" name="Picture 4">
            <a:extLst>
              <a:ext uri="{FF2B5EF4-FFF2-40B4-BE49-F238E27FC236}">
                <a16:creationId xmlns:a16="http://schemas.microsoft.com/office/drawing/2014/main" id="{42F6ADF2-5B58-6DE6-AD3C-C4E1B01EA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65" t="1688" r="6488" b="1688"/>
          <a:stretch>
            <a:fillRect/>
          </a:stretch>
        </p:blipFill>
        <p:spPr bwMode="auto">
          <a:xfrm>
            <a:off x="1041400" y="1112838"/>
            <a:ext cx="7310438" cy="544830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2A45A850-71A9-401D-75A2-234B57335E2B}"/>
              </a:ext>
            </a:extLst>
          </p:cNvPr>
          <p:cNvSpPr>
            <a:spLocks noGrp="1"/>
          </p:cNvSpPr>
          <p:nvPr>
            <p:ph type="sldNum" sz="quarter" idx="12"/>
          </p:nvPr>
        </p:nvSpPr>
        <p:spPr/>
        <p:txBody>
          <a:bodyPr/>
          <a:lstStyle/>
          <a:p>
            <a:fld id="{4093CC90-4002-504C-BD88-C9A1D374048E}" type="slidenum">
              <a:rPr lang="zh-CN" altLang="en-US" smtClean="0"/>
              <a:pPr/>
              <a:t>82</a:t>
            </a:fld>
            <a:endParaRPr lang="zh-CN" altLang="en-US" dirty="0"/>
          </a:p>
        </p:txBody>
      </p:sp>
    </p:spTree>
  </p:cSld>
  <p:clrMapOvr>
    <a:masterClrMapping/>
  </p:clrMapOvr>
  <p:transition spd="med">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3278C538-AB9E-CDE2-B9E4-50E6E2A3EA1B}"/>
              </a:ext>
            </a:extLst>
          </p:cNvPr>
          <p:cNvSpPr>
            <a:spLocks noGrp="1" noChangeArrowheads="1"/>
          </p:cNvSpPr>
          <p:nvPr>
            <p:ph type="title"/>
          </p:nvPr>
        </p:nvSpPr>
        <p:spPr>
          <a:xfrm>
            <a:off x="1042988" y="225431"/>
            <a:ext cx="7850187" cy="746125"/>
          </a:xfrm>
        </p:spPr>
        <p:txBody>
          <a:bodyPr/>
          <a:lstStyle/>
          <a:p>
            <a:r>
              <a:rPr lang="zh-CN" altLang="en-US" dirty="0"/>
              <a:t>文件系统结构</a:t>
            </a:r>
          </a:p>
        </p:txBody>
      </p:sp>
      <p:sp>
        <p:nvSpPr>
          <p:cNvPr id="362499" name="Rectangle 3">
            <a:extLst>
              <a:ext uri="{FF2B5EF4-FFF2-40B4-BE49-F238E27FC236}">
                <a16:creationId xmlns:a16="http://schemas.microsoft.com/office/drawing/2014/main" id="{205E903A-39F5-F507-3C06-97ADD80998ED}"/>
              </a:ext>
            </a:extLst>
          </p:cNvPr>
          <p:cNvSpPr>
            <a:spLocks noGrp="1" noChangeArrowheads="1"/>
          </p:cNvSpPr>
          <p:nvPr>
            <p:ph idx="1"/>
          </p:nvPr>
        </p:nvSpPr>
        <p:spPr>
          <a:xfrm>
            <a:off x="935038" y="1233488"/>
            <a:ext cx="7772400" cy="4895850"/>
          </a:xfrm>
        </p:spPr>
        <p:txBody>
          <a:bodyPr/>
          <a:lstStyle/>
          <a:p>
            <a:r>
              <a:rPr lang="zh-CN" altLang="en-US" dirty="0"/>
              <a:t>磁盘的两个特点，使其成为存储多个文件的方便媒介。</a:t>
            </a:r>
            <a:endParaRPr lang="en-US" altLang="zh-CN" dirty="0"/>
          </a:p>
          <a:p>
            <a:pPr lvl="1"/>
            <a:r>
              <a:rPr lang="zh-CN" altLang="en-US" dirty="0"/>
              <a:t>可以原地重写</a:t>
            </a:r>
            <a:endParaRPr lang="en-US" altLang="zh-CN" dirty="0"/>
          </a:p>
          <a:p>
            <a:pPr lvl="1"/>
            <a:r>
              <a:rPr lang="zh-CN" altLang="en-US" dirty="0"/>
              <a:t>可以直接访问磁盘上的任意一块信息</a:t>
            </a:r>
          </a:p>
        </p:txBody>
      </p:sp>
      <p:sp>
        <p:nvSpPr>
          <p:cNvPr id="2" name="灯片编号占位符 1">
            <a:extLst>
              <a:ext uri="{FF2B5EF4-FFF2-40B4-BE49-F238E27FC236}">
                <a16:creationId xmlns:a16="http://schemas.microsoft.com/office/drawing/2014/main" id="{B0F5909B-BF86-7579-148A-5A1966DBDCE8}"/>
              </a:ext>
            </a:extLst>
          </p:cNvPr>
          <p:cNvSpPr>
            <a:spLocks noGrp="1"/>
          </p:cNvSpPr>
          <p:nvPr>
            <p:ph type="sldNum" sz="quarter" idx="12"/>
          </p:nvPr>
        </p:nvSpPr>
        <p:spPr/>
        <p:txBody>
          <a:bodyPr/>
          <a:lstStyle/>
          <a:p>
            <a:fld id="{4093CC90-4002-504C-BD88-C9A1D374048E}" type="slidenum">
              <a:rPr lang="zh-CN" altLang="en-US" smtClean="0"/>
              <a:pPr/>
              <a:t>83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animEffect transition="in" filter="checkerboard(across)">
                                      <p:cBhvr>
                                        <p:cTn id="7" dur="500"/>
                                        <p:tgtEl>
                                          <p:spTgt spid="362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2499">
                                            <p:txEl>
                                              <p:pRg st="1" end="1"/>
                                            </p:txEl>
                                          </p:spTgt>
                                        </p:tgtEl>
                                        <p:attrNameLst>
                                          <p:attrName>style.visibility</p:attrName>
                                        </p:attrNameLst>
                                      </p:cBhvr>
                                      <p:to>
                                        <p:strVal val="visible"/>
                                      </p:to>
                                    </p:set>
                                    <p:animEffect transition="in" filter="checkerboard(across)">
                                      <p:cBhvr>
                                        <p:cTn id="12" dur="500"/>
                                        <p:tgtEl>
                                          <p:spTgt spid="362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2499">
                                            <p:txEl>
                                              <p:pRg st="2" end="2"/>
                                            </p:txEl>
                                          </p:spTgt>
                                        </p:tgtEl>
                                        <p:attrNameLst>
                                          <p:attrName>style.visibility</p:attrName>
                                        </p:attrNameLst>
                                      </p:cBhvr>
                                      <p:to>
                                        <p:strVal val="visible"/>
                                      </p:to>
                                    </p:set>
                                    <p:animEffect transition="in" filter="checkerboard(across)">
                                      <p:cBhvr>
                                        <p:cTn id="17" dur="500"/>
                                        <p:tgtEl>
                                          <p:spTgt spid="362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C04166E4-FC50-24B4-E635-AFD1A5910DCC}"/>
              </a:ext>
            </a:extLst>
          </p:cNvPr>
          <p:cNvSpPr>
            <a:spLocks noGrp="1" noChangeArrowheads="1"/>
          </p:cNvSpPr>
          <p:nvPr>
            <p:ph type="title"/>
          </p:nvPr>
        </p:nvSpPr>
        <p:spPr>
          <a:xfrm>
            <a:off x="1042988" y="225431"/>
            <a:ext cx="7850187" cy="746125"/>
          </a:xfrm>
        </p:spPr>
        <p:txBody>
          <a:bodyPr/>
          <a:lstStyle/>
          <a:p>
            <a:r>
              <a:rPr lang="zh-CN" altLang="en-US" dirty="0"/>
              <a:t>分层文件系统</a:t>
            </a:r>
            <a:endParaRPr lang="en-US" altLang="zh-CN" dirty="0"/>
          </a:p>
        </p:txBody>
      </p:sp>
      <p:sp>
        <p:nvSpPr>
          <p:cNvPr id="363523" name="Rectangle 3">
            <a:extLst>
              <a:ext uri="{FF2B5EF4-FFF2-40B4-BE49-F238E27FC236}">
                <a16:creationId xmlns:a16="http://schemas.microsoft.com/office/drawing/2014/main" id="{0E8168B7-2ECB-AF07-AA40-BE4CE632DE85}"/>
              </a:ext>
            </a:extLst>
          </p:cNvPr>
          <p:cNvSpPr>
            <a:spLocks noGrp="1" noChangeArrowheads="1"/>
          </p:cNvSpPr>
          <p:nvPr>
            <p:ph idx="1"/>
          </p:nvPr>
        </p:nvSpPr>
        <p:spPr>
          <a:xfrm>
            <a:off x="935038" y="1233488"/>
            <a:ext cx="7772400" cy="4895850"/>
          </a:xfrm>
        </p:spPr>
        <p:txBody>
          <a:bodyPr/>
          <a:lstStyle/>
          <a:p>
            <a:r>
              <a:rPr lang="zh-CN" altLang="en-US" dirty="0"/>
              <a:t>文件系统按层组织</a:t>
            </a:r>
          </a:p>
          <a:p>
            <a:pPr lvl="1"/>
            <a:r>
              <a:rPr lang="en-US" altLang="zh-CN" dirty="0"/>
              <a:t>I/O</a:t>
            </a:r>
            <a:r>
              <a:rPr lang="zh-CN" altLang="en-US" dirty="0"/>
              <a:t>控制层</a:t>
            </a:r>
          </a:p>
          <a:p>
            <a:pPr lvl="1"/>
            <a:r>
              <a:rPr lang="zh-CN" altLang="en-US" dirty="0"/>
              <a:t>基本文件系统层</a:t>
            </a:r>
          </a:p>
          <a:p>
            <a:pPr lvl="1"/>
            <a:r>
              <a:rPr lang="zh-CN" altLang="en-US" dirty="0"/>
              <a:t>文件组织模块层</a:t>
            </a:r>
          </a:p>
          <a:p>
            <a:pPr lvl="1"/>
            <a:r>
              <a:rPr lang="zh-CN" altLang="en-US" dirty="0"/>
              <a:t>逻辑文件系统层</a:t>
            </a:r>
          </a:p>
          <a:p>
            <a:r>
              <a:rPr lang="zh-CN" altLang="en-US" dirty="0"/>
              <a:t>不同操作系统中，文件系统的组成方法不一样，但这种组成具有代表性。 </a:t>
            </a:r>
          </a:p>
        </p:txBody>
      </p:sp>
      <p:sp>
        <p:nvSpPr>
          <p:cNvPr id="2" name="灯片编号占位符 1">
            <a:extLst>
              <a:ext uri="{FF2B5EF4-FFF2-40B4-BE49-F238E27FC236}">
                <a16:creationId xmlns:a16="http://schemas.microsoft.com/office/drawing/2014/main" id="{CFB2CFA5-23CB-62CC-FC07-590B2C7FF208}"/>
              </a:ext>
            </a:extLst>
          </p:cNvPr>
          <p:cNvSpPr>
            <a:spLocks noGrp="1"/>
          </p:cNvSpPr>
          <p:nvPr>
            <p:ph type="sldNum" sz="quarter" idx="12"/>
          </p:nvPr>
        </p:nvSpPr>
        <p:spPr/>
        <p:txBody>
          <a:bodyPr/>
          <a:lstStyle/>
          <a:p>
            <a:fld id="{4093CC90-4002-504C-BD88-C9A1D374048E}" type="slidenum">
              <a:rPr lang="zh-CN" altLang="en-US" smtClean="0"/>
              <a:pPr/>
              <a:t>84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Effect transition="in" filter="checkerboard(across)">
                                      <p:cBhvr>
                                        <p:cTn id="7" dur="500"/>
                                        <p:tgtEl>
                                          <p:spTgt spid="363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3523">
                                            <p:txEl>
                                              <p:pRg st="1" end="1"/>
                                            </p:txEl>
                                          </p:spTgt>
                                        </p:tgtEl>
                                        <p:attrNameLst>
                                          <p:attrName>style.visibility</p:attrName>
                                        </p:attrNameLst>
                                      </p:cBhvr>
                                      <p:to>
                                        <p:strVal val="visible"/>
                                      </p:to>
                                    </p:set>
                                    <p:animEffect transition="in" filter="checkerboard(across)">
                                      <p:cBhvr>
                                        <p:cTn id="12" dur="500"/>
                                        <p:tgtEl>
                                          <p:spTgt spid="3635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63523">
                                            <p:txEl>
                                              <p:pRg st="2" end="2"/>
                                            </p:txEl>
                                          </p:spTgt>
                                        </p:tgtEl>
                                        <p:attrNameLst>
                                          <p:attrName>style.visibility</p:attrName>
                                        </p:attrNameLst>
                                      </p:cBhvr>
                                      <p:to>
                                        <p:strVal val="visible"/>
                                      </p:to>
                                    </p:set>
                                    <p:animEffect transition="in" filter="checkerboard(across)">
                                      <p:cBhvr>
                                        <p:cTn id="17" dur="500"/>
                                        <p:tgtEl>
                                          <p:spTgt spid="3635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63523">
                                            <p:txEl>
                                              <p:pRg st="3" end="3"/>
                                            </p:txEl>
                                          </p:spTgt>
                                        </p:tgtEl>
                                        <p:attrNameLst>
                                          <p:attrName>style.visibility</p:attrName>
                                        </p:attrNameLst>
                                      </p:cBhvr>
                                      <p:to>
                                        <p:strVal val="visible"/>
                                      </p:to>
                                    </p:set>
                                    <p:animEffect transition="in" filter="checkerboard(across)">
                                      <p:cBhvr>
                                        <p:cTn id="22" dur="500"/>
                                        <p:tgtEl>
                                          <p:spTgt spid="3635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63523">
                                            <p:txEl>
                                              <p:pRg st="4" end="4"/>
                                            </p:txEl>
                                          </p:spTgt>
                                        </p:tgtEl>
                                        <p:attrNameLst>
                                          <p:attrName>style.visibility</p:attrName>
                                        </p:attrNameLst>
                                      </p:cBhvr>
                                      <p:to>
                                        <p:strVal val="visible"/>
                                      </p:to>
                                    </p:set>
                                    <p:animEffect transition="in" filter="checkerboard(across)">
                                      <p:cBhvr>
                                        <p:cTn id="27" dur="500"/>
                                        <p:tgtEl>
                                          <p:spTgt spid="3635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63523">
                                            <p:txEl>
                                              <p:pRg st="5" end="5"/>
                                            </p:txEl>
                                          </p:spTgt>
                                        </p:tgtEl>
                                        <p:attrNameLst>
                                          <p:attrName>style.visibility</p:attrName>
                                        </p:attrNameLst>
                                      </p:cBhvr>
                                      <p:to>
                                        <p:strVal val="visible"/>
                                      </p:to>
                                    </p:set>
                                    <p:animEffect transition="in" filter="checkerboard(across)">
                                      <p:cBhvr>
                                        <p:cTn id="32" dur="500"/>
                                        <p:tgtEl>
                                          <p:spTgt spid="3635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AAF17D9D-8857-25E1-DEF0-6D0D502AE80E}"/>
              </a:ext>
            </a:extLst>
          </p:cNvPr>
          <p:cNvSpPr>
            <a:spLocks noGrp="1" noChangeArrowheads="1"/>
          </p:cNvSpPr>
          <p:nvPr>
            <p:ph type="title"/>
          </p:nvPr>
        </p:nvSpPr>
        <p:spPr/>
        <p:txBody>
          <a:bodyPr/>
          <a:lstStyle/>
          <a:p>
            <a:pPr eaLnBrk="1" hangingPunct="1"/>
            <a:r>
              <a:rPr lang="zh-CN" altLang="en-US"/>
              <a:t>分层文件系统示意图</a:t>
            </a:r>
          </a:p>
        </p:txBody>
      </p:sp>
      <p:sp>
        <p:nvSpPr>
          <p:cNvPr id="2" name="灯片编号占位符 1">
            <a:extLst>
              <a:ext uri="{FF2B5EF4-FFF2-40B4-BE49-F238E27FC236}">
                <a16:creationId xmlns:a16="http://schemas.microsoft.com/office/drawing/2014/main" id="{2C49E709-2BD2-EB84-C4AB-D21705979E09}"/>
              </a:ext>
            </a:extLst>
          </p:cNvPr>
          <p:cNvSpPr>
            <a:spLocks noGrp="1"/>
          </p:cNvSpPr>
          <p:nvPr>
            <p:ph type="sldNum" sz="quarter" idx="12"/>
          </p:nvPr>
        </p:nvSpPr>
        <p:spPr/>
        <p:txBody>
          <a:bodyPr/>
          <a:lstStyle/>
          <a:p>
            <a:fld id="{4093CC90-4002-504C-BD88-C9A1D374048E}" type="slidenum">
              <a:rPr lang="zh-CN" altLang="en-US" smtClean="0"/>
              <a:pPr/>
              <a:t>85</a:t>
            </a:fld>
            <a:endParaRPr lang="zh-CN" altLang="en-US" dirty="0"/>
          </a:p>
        </p:txBody>
      </p:sp>
      <p:pic>
        <p:nvPicPr>
          <p:cNvPr id="3" name="Picture 2">
            <a:extLst>
              <a:ext uri="{FF2B5EF4-FFF2-40B4-BE49-F238E27FC236}">
                <a16:creationId xmlns:a16="http://schemas.microsoft.com/office/drawing/2014/main" id="{2250F523-EE00-DDCD-27B9-4B94B3F4B9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023" y="1161029"/>
            <a:ext cx="2533179" cy="4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9AC4A95-7949-DC93-C4C2-2239595164F6}"/>
              </a:ext>
            </a:extLst>
          </p:cNvPr>
          <p:cNvSpPr>
            <a:spLocks noGrp="1" noChangeArrowheads="1"/>
          </p:cNvSpPr>
          <p:nvPr>
            <p:ph type="title"/>
          </p:nvPr>
        </p:nvSpPr>
        <p:spPr>
          <a:xfrm>
            <a:off x="1042988" y="225431"/>
            <a:ext cx="7850187" cy="746125"/>
          </a:xfrm>
        </p:spPr>
        <p:txBody>
          <a:bodyPr/>
          <a:lstStyle/>
          <a:p>
            <a:r>
              <a:rPr lang="en-US" altLang="zh-CN" dirty="0"/>
              <a:t>I/O</a:t>
            </a:r>
            <a:r>
              <a:rPr lang="zh-CN" altLang="en-US" dirty="0"/>
              <a:t>控制层</a:t>
            </a:r>
          </a:p>
        </p:txBody>
      </p:sp>
      <p:sp>
        <p:nvSpPr>
          <p:cNvPr id="365571" name="Rectangle 3">
            <a:extLst>
              <a:ext uri="{FF2B5EF4-FFF2-40B4-BE49-F238E27FC236}">
                <a16:creationId xmlns:a16="http://schemas.microsoft.com/office/drawing/2014/main" id="{BBD3B2EB-964D-4D78-C715-830FE3462D16}"/>
              </a:ext>
            </a:extLst>
          </p:cNvPr>
          <p:cNvSpPr>
            <a:spLocks noGrp="1" noChangeArrowheads="1"/>
          </p:cNvSpPr>
          <p:nvPr>
            <p:ph idx="1"/>
          </p:nvPr>
        </p:nvSpPr>
        <p:spPr>
          <a:xfrm>
            <a:off x="935038" y="1233488"/>
            <a:ext cx="7772400" cy="4895850"/>
          </a:xfrm>
        </p:spPr>
        <p:txBody>
          <a:bodyPr/>
          <a:lstStyle/>
          <a:p>
            <a:r>
              <a:rPr lang="zh-CN" altLang="en-US" dirty="0"/>
              <a:t>由驱动程序和中断处理程序组成，实现内存与磁盘之间的信息传输。</a:t>
            </a:r>
          </a:p>
          <a:p>
            <a:r>
              <a:rPr lang="zh-CN" altLang="en-US" dirty="0"/>
              <a:t>基本</a:t>
            </a:r>
            <a:r>
              <a:rPr lang="en-US" altLang="zh-CN" dirty="0"/>
              <a:t>I/O</a:t>
            </a:r>
            <a:r>
              <a:rPr lang="zh-CN" altLang="en-US" dirty="0"/>
              <a:t>控制层又称设备驱动程序层，该层主要由驱动程序组成，负责启动设备</a:t>
            </a:r>
            <a:r>
              <a:rPr lang="en-US" altLang="zh-CN" dirty="0"/>
              <a:t>I/O</a:t>
            </a:r>
            <a:r>
              <a:rPr lang="zh-CN" altLang="en-US" dirty="0"/>
              <a:t>操作及对设备发来的中断信号进行处理。</a:t>
            </a:r>
          </a:p>
        </p:txBody>
      </p:sp>
      <p:sp>
        <p:nvSpPr>
          <p:cNvPr id="2" name="灯片编号占位符 1">
            <a:extLst>
              <a:ext uri="{FF2B5EF4-FFF2-40B4-BE49-F238E27FC236}">
                <a16:creationId xmlns:a16="http://schemas.microsoft.com/office/drawing/2014/main" id="{3C38C9EA-6E66-0818-C686-3DD57C62BBBD}"/>
              </a:ext>
            </a:extLst>
          </p:cNvPr>
          <p:cNvSpPr>
            <a:spLocks noGrp="1"/>
          </p:cNvSpPr>
          <p:nvPr>
            <p:ph type="sldNum" sz="quarter" idx="12"/>
          </p:nvPr>
        </p:nvSpPr>
        <p:spPr/>
        <p:txBody>
          <a:bodyPr/>
          <a:lstStyle/>
          <a:p>
            <a:fld id="{4093CC90-4002-504C-BD88-C9A1D374048E}" type="slidenum">
              <a:rPr lang="zh-CN" altLang="en-US" smtClean="0"/>
              <a:pPr/>
              <a:t>86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Effect transition="in" filter="checkerboard(across)">
                                      <p:cBhvr>
                                        <p:cTn id="7" dur="500"/>
                                        <p:tgtEl>
                                          <p:spTgt spid="365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5571">
                                            <p:txEl>
                                              <p:pRg st="1" end="1"/>
                                            </p:txEl>
                                          </p:spTgt>
                                        </p:tgtEl>
                                        <p:attrNameLst>
                                          <p:attrName>style.visibility</p:attrName>
                                        </p:attrNameLst>
                                      </p:cBhvr>
                                      <p:to>
                                        <p:strVal val="visible"/>
                                      </p:to>
                                    </p:set>
                                    <p:animEffect transition="in" filter="checkerboard(across)">
                                      <p:cBhvr>
                                        <p:cTn id="12" dur="500"/>
                                        <p:tgtEl>
                                          <p:spTgt spid="3655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5266D529-41C8-4E76-25A0-A05B3A633072}"/>
              </a:ext>
            </a:extLst>
          </p:cNvPr>
          <p:cNvSpPr>
            <a:spLocks noGrp="1" noChangeArrowheads="1"/>
          </p:cNvSpPr>
          <p:nvPr>
            <p:ph type="title"/>
          </p:nvPr>
        </p:nvSpPr>
        <p:spPr>
          <a:xfrm>
            <a:off x="1042988" y="225431"/>
            <a:ext cx="7850187" cy="746125"/>
          </a:xfrm>
        </p:spPr>
        <p:txBody>
          <a:bodyPr/>
          <a:lstStyle/>
          <a:p>
            <a:r>
              <a:rPr lang="zh-CN" altLang="en-US" dirty="0"/>
              <a:t>基本文件系统层</a:t>
            </a:r>
          </a:p>
        </p:txBody>
      </p:sp>
      <p:sp>
        <p:nvSpPr>
          <p:cNvPr id="366595" name="Rectangle 3">
            <a:extLst>
              <a:ext uri="{FF2B5EF4-FFF2-40B4-BE49-F238E27FC236}">
                <a16:creationId xmlns:a16="http://schemas.microsoft.com/office/drawing/2014/main" id="{2287D0AC-6630-95C6-7FCD-6EEA78C2A67F}"/>
              </a:ext>
            </a:extLst>
          </p:cNvPr>
          <p:cNvSpPr>
            <a:spLocks noGrp="1" noChangeArrowheads="1"/>
          </p:cNvSpPr>
          <p:nvPr>
            <p:ph idx="1"/>
          </p:nvPr>
        </p:nvSpPr>
        <p:spPr>
          <a:xfrm>
            <a:off x="935038" y="1233488"/>
            <a:ext cx="7772400" cy="4895850"/>
          </a:xfrm>
        </p:spPr>
        <p:txBody>
          <a:bodyPr/>
          <a:lstStyle/>
          <a:p>
            <a:r>
              <a:rPr lang="zh-CN" altLang="en-US" dirty="0"/>
              <a:t>向合适的设备驱动程序发送一般命令就可对磁盘上的物理块进行读写</a:t>
            </a:r>
          </a:p>
          <a:p>
            <a:r>
              <a:rPr lang="zh-CN" altLang="en-US" dirty="0"/>
              <a:t>基本文件系统层又称物理</a:t>
            </a:r>
            <a:r>
              <a:rPr lang="en-US" altLang="zh-CN" dirty="0"/>
              <a:t>I/O</a:t>
            </a:r>
            <a:r>
              <a:rPr lang="zh-CN" altLang="en-US" dirty="0"/>
              <a:t>层，负责处理内存和外存之间的数据块交换。它关心数据块在外存和在缓冲区中的位置，无须了解传送数据块的内容或文件结构。。</a:t>
            </a:r>
          </a:p>
        </p:txBody>
      </p:sp>
      <p:sp>
        <p:nvSpPr>
          <p:cNvPr id="2" name="灯片编号占位符 1">
            <a:extLst>
              <a:ext uri="{FF2B5EF4-FFF2-40B4-BE49-F238E27FC236}">
                <a16:creationId xmlns:a16="http://schemas.microsoft.com/office/drawing/2014/main" id="{E9A47349-4674-D76F-C77C-9A166655AEC4}"/>
              </a:ext>
            </a:extLst>
          </p:cNvPr>
          <p:cNvSpPr>
            <a:spLocks noGrp="1"/>
          </p:cNvSpPr>
          <p:nvPr>
            <p:ph type="sldNum" sz="quarter" idx="12"/>
          </p:nvPr>
        </p:nvSpPr>
        <p:spPr/>
        <p:txBody>
          <a:bodyPr/>
          <a:lstStyle/>
          <a:p>
            <a:fld id="{4093CC90-4002-504C-BD88-C9A1D374048E}" type="slidenum">
              <a:rPr lang="zh-CN" altLang="en-US" smtClean="0"/>
              <a:pPr/>
              <a:t>87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Effect transition="in" filter="checkerboard(across)">
                                      <p:cBhvr>
                                        <p:cTn id="7" dur="500"/>
                                        <p:tgtEl>
                                          <p:spTgt spid="366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6595">
                                            <p:txEl>
                                              <p:pRg st="1" end="1"/>
                                            </p:txEl>
                                          </p:spTgt>
                                        </p:tgtEl>
                                        <p:attrNameLst>
                                          <p:attrName>style.visibility</p:attrName>
                                        </p:attrNameLst>
                                      </p:cBhvr>
                                      <p:to>
                                        <p:strVal val="visible"/>
                                      </p:to>
                                    </p:set>
                                    <p:animEffect transition="in" filter="checkerboard(across)">
                                      <p:cBhvr>
                                        <p:cTn id="12" dur="500"/>
                                        <p:tgtEl>
                                          <p:spTgt spid="3665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8029A54E-DAFC-C17F-63C9-A864CC27E518}"/>
              </a:ext>
            </a:extLst>
          </p:cNvPr>
          <p:cNvSpPr>
            <a:spLocks noGrp="1" noChangeArrowheads="1"/>
          </p:cNvSpPr>
          <p:nvPr>
            <p:ph type="title"/>
          </p:nvPr>
        </p:nvSpPr>
        <p:spPr>
          <a:xfrm>
            <a:off x="1042988" y="225431"/>
            <a:ext cx="7850187" cy="746125"/>
          </a:xfrm>
        </p:spPr>
        <p:txBody>
          <a:bodyPr/>
          <a:lstStyle/>
          <a:p>
            <a:r>
              <a:rPr lang="zh-CN" altLang="en-US" dirty="0"/>
              <a:t>文件组织模块层</a:t>
            </a:r>
            <a:endParaRPr lang="en-US" altLang="zh-CN" dirty="0"/>
          </a:p>
        </p:txBody>
      </p:sp>
      <p:sp>
        <p:nvSpPr>
          <p:cNvPr id="367619" name="Rectangle 3">
            <a:extLst>
              <a:ext uri="{FF2B5EF4-FFF2-40B4-BE49-F238E27FC236}">
                <a16:creationId xmlns:a16="http://schemas.microsoft.com/office/drawing/2014/main" id="{23BC8280-177E-69B6-BC33-17E89B49F19C}"/>
              </a:ext>
            </a:extLst>
          </p:cNvPr>
          <p:cNvSpPr>
            <a:spLocks noGrp="1" noChangeArrowheads="1"/>
          </p:cNvSpPr>
          <p:nvPr>
            <p:ph idx="1"/>
          </p:nvPr>
        </p:nvSpPr>
        <p:spPr>
          <a:xfrm>
            <a:off x="935038" y="1233488"/>
            <a:ext cx="7772400" cy="4895850"/>
          </a:xfrm>
        </p:spPr>
        <p:txBody>
          <a:bodyPr/>
          <a:lstStyle/>
          <a:p>
            <a:r>
              <a:rPr lang="zh-CN" altLang="en-US" dirty="0"/>
              <a:t>将逻辑块转换为物理块，空闲空间管理器</a:t>
            </a:r>
          </a:p>
          <a:p>
            <a:r>
              <a:rPr lang="zh-CN" altLang="en-US" dirty="0"/>
              <a:t>文件组织模块层又称基本</a:t>
            </a:r>
            <a:r>
              <a:rPr lang="en-US" altLang="zh-CN" dirty="0"/>
              <a:t>I/O</a:t>
            </a:r>
            <a:r>
              <a:rPr lang="zh-CN" altLang="en-US" dirty="0"/>
              <a:t>管理程序层，负责所有文件</a:t>
            </a:r>
            <a:r>
              <a:rPr lang="en-US" altLang="zh-CN" dirty="0"/>
              <a:t>I/O</a:t>
            </a:r>
            <a:r>
              <a:rPr lang="zh-CN" altLang="en-US" dirty="0"/>
              <a:t>的初始化和终止。该层完成的工作包括选择文件所在的设备、进行文件逻辑块号到物理块号的转换、优化磁盘调度的性能、对文件空闲存储空间进行管理等。</a:t>
            </a:r>
          </a:p>
        </p:txBody>
      </p:sp>
      <p:sp>
        <p:nvSpPr>
          <p:cNvPr id="2" name="灯片编号占位符 1">
            <a:extLst>
              <a:ext uri="{FF2B5EF4-FFF2-40B4-BE49-F238E27FC236}">
                <a16:creationId xmlns:a16="http://schemas.microsoft.com/office/drawing/2014/main" id="{A96699E5-1A35-7E8A-2B98-A1EFBD8B14E8}"/>
              </a:ext>
            </a:extLst>
          </p:cNvPr>
          <p:cNvSpPr>
            <a:spLocks noGrp="1"/>
          </p:cNvSpPr>
          <p:nvPr>
            <p:ph type="sldNum" sz="quarter" idx="12"/>
          </p:nvPr>
        </p:nvSpPr>
        <p:spPr/>
        <p:txBody>
          <a:bodyPr/>
          <a:lstStyle/>
          <a:p>
            <a:fld id="{4093CC90-4002-504C-BD88-C9A1D374048E}" type="slidenum">
              <a:rPr lang="zh-CN" altLang="en-US" smtClean="0"/>
              <a:pPr/>
              <a:t>88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checkerboard(across)">
                                      <p:cBhvr>
                                        <p:cTn id="7" dur="500"/>
                                        <p:tgtEl>
                                          <p:spTgt spid="367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checkerboard(across)">
                                      <p:cBhvr>
                                        <p:cTn id="12" dur="500"/>
                                        <p:tgtEl>
                                          <p:spTgt spid="367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6E858427-C214-7CF3-DE84-A8EFC5138EEC}"/>
              </a:ext>
            </a:extLst>
          </p:cNvPr>
          <p:cNvSpPr>
            <a:spLocks noGrp="1" noChangeArrowheads="1"/>
          </p:cNvSpPr>
          <p:nvPr>
            <p:ph type="title"/>
          </p:nvPr>
        </p:nvSpPr>
        <p:spPr>
          <a:xfrm>
            <a:off x="1042988" y="225431"/>
            <a:ext cx="7850187" cy="746125"/>
          </a:xfrm>
        </p:spPr>
        <p:txBody>
          <a:bodyPr/>
          <a:lstStyle/>
          <a:p>
            <a:r>
              <a:rPr lang="zh-CN" altLang="en-US" dirty="0"/>
              <a:t>逻辑文件系统层</a:t>
            </a:r>
          </a:p>
        </p:txBody>
      </p:sp>
      <p:sp>
        <p:nvSpPr>
          <p:cNvPr id="368643" name="Rectangle 3">
            <a:extLst>
              <a:ext uri="{FF2B5EF4-FFF2-40B4-BE49-F238E27FC236}">
                <a16:creationId xmlns:a16="http://schemas.microsoft.com/office/drawing/2014/main" id="{54E3B668-ED4F-854A-5C45-899F4D340FFD}"/>
              </a:ext>
            </a:extLst>
          </p:cNvPr>
          <p:cNvSpPr>
            <a:spLocks noGrp="1" noChangeArrowheads="1"/>
          </p:cNvSpPr>
          <p:nvPr>
            <p:ph idx="1"/>
          </p:nvPr>
        </p:nvSpPr>
        <p:spPr>
          <a:xfrm>
            <a:off x="935038" y="1233488"/>
            <a:ext cx="7772400" cy="4895850"/>
          </a:xfrm>
        </p:spPr>
        <p:txBody>
          <a:bodyPr/>
          <a:lstStyle/>
          <a:p>
            <a:r>
              <a:rPr lang="zh-CN" altLang="en-US" dirty="0"/>
              <a:t>管理元数据信息，管理目录结构，通过文件控制块来维护文件结构。</a:t>
            </a:r>
          </a:p>
          <a:p>
            <a:r>
              <a:rPr lang="zh-CN" altLang="en-US" dirty="0"/>
              <a:t>逻辑文件系统层负责处理文件及记录的相关操作。如允许用户利用文件名访问文件及其中的记录、实现对文件及记录的保护、实现目录操作等。</a:t>
            </a:r>
          </a:p>
        </p:txBody>
      </p:sp>
      <p:sp>
        <p:nvSpPr>
          <p:cNvPr id="2" name="灯片编号占位符 1">
            <a:extLst>
              <a:ext uri="{FF2B5EF4-FFF2-40B4-BE49-F238E27FC236}">
                <a16:creationId xmlns:a16="http://schemas.microsoft.com/office/drawing/2014/main" id="{4C6B3A96-0F18-35DB-52D6-BEA3857AF3ED}"/>
              </a:ext>
            </a:extLst>
          </p:cNvPr>
          <p:cNvSpPr>
            <a:spLocks noGrp="1"/>
          </p:cNvSpPr>
          <p:nvPr>
            <p:ph type="sldNum" sz="quarter" idx="12"/>
          </p:nvPr>
        </p:nvSpPr>
        <p:spPr/>
        <p:txBody>
          <a:bodyPr/>
          <a:lstStyle/>
          <a:p>
            <a:fld id="{4093CC90-4002-504C-BD88-C9A1D374048E}" type="slidenum">
              <a:rPr lang="zh-CN" altLang="en-US" smtClean="0"/>
              <a:pPr/>
              <a:t>89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checkerboard(across)">
                                      <p:cBhvr>
                                        <p:cTn id="7" dur="500"/>
                                        <p:tgtEl>
                                          <p:spTgt spid="368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8643">
                                            <p:txEl>
                                              <p:pRg st="1" end="1"/>
                                            </p:txEl>
                                          </p:spTgt>
                                        </p:tgtEl>
                                        <p:attrNameLst>
                                          <p:attrName>style.visibility</p:attrName>
                                        </p:attrNameLst>
                                      </p:cBhvr>
                                      <p:to>
                                        <p:strVal val="visible"/>
                                      </p:to>
                                    </p:set>
                                    <p:animEffect transition="in" filter="checkerboard(across)">
                                      <p:cBhvr>
                                        <p:cTn id="12" dur="500"/>
                                        <p:tgtEl>
                                          <p:spTgt spid="3686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4D7D23C-2E04-F491-DAEC-31112904845D}"/>
              </a:ext>
            </a:extLst>
          </p:cNvPr>
          <p:cNvSpPr>
            <a:spLocks noGrp="1" noChangeArrowheads="1"/>
          </p:cNvSpPr>
          <p:nvPr>
            <p:ph type="title"/>
          </p:nvPr>
        </p:nvSpPr>
        <p:spPr/>
        <p:txBody>
          <a:bodyPr/>
          <a:lstStyle/>
          <a:p>
            <a:pPr eaLnBrk="1" hangingPunct="1"/>
            <a:r>
              <a:rPr lang="zh-CN" altLang="en-US" sz="4000"/>
              <a:t>实例 </a:t>
            </a:r>
            <a:r>
              <a:rPr lang="en-US" altLang="zh-CN" sz="4000"/>
              <a:t>Example</a:t>
            </a:r>
          </a:p>
        </p:txBody>
      </p:sp>
      <p:sp>
        <p:nvSpPr>
          <p:cNvPr id="13314" name="Rectangle 3">
            <a:extLst>
              <a:ext uri="{FF2B5EF4-FFF2-40B4-BE49-F238E27FC236}">
                <a16:creationId xmlns:a16="http://schemas.microsoft.com/office/drawing/2014/main" id="{16698095-EA2D-1653-D330-059F7779C78A}"/>
              </a:ext>
            </a:extLst>
          </p:cNvPr>
          <p:cNvSpPr>
            <a:spLocks noGrp="1" noChangeArrowheads="1"/>
          </p:cNvSpPr>
          <p:nvPr>
            <p:ph idx="1"/>
          </p:nvPr>
        </p:nvSpPr>
        <p:spPr>
          <a:xfrm>
            <a:off x="957263" y="1125538"/>
            <a:ext cx="7947025" cy="4541837"/>
          </a:xfrm>
        </p:spPr>
        <p:txBody>
          <a:bodyPr/>
          <a:lstStyle/>
          <a:p>
            <a:pPr eaLnBrk="1" hangingPunct="1"/>
            <a:r>
              <a:rPr lang="en-US" altLang="zh-CN"/>
              <a:t>Unix: UNIX file system(UFS)</a:t>
            </a:r>
          </a:p>
          <a:p>
            <a:pPr eaLnBrk="1" hangingPunct="1"/>
            <a:r>
              <a:rPr lang="en-US" altLang="zh-CN"/>
              <a:t>Windows NT: FAT, FAT32,NTFS</a:t>
            </a:r>
          </a:p>
          <a:p>
            <a:pPr eaLnBrk="1" hangingPunct="1"/>
            <a:r>
              <a:rPr lang="en-US" altLang="zh-CN"/>
              <a:t>Linux:ext2、ext3</a:t>
            </a:r>
            <a:r>
              <a:rPr lang="zh-CN" altLang="en-US"/>
              <a:t>、</a:t>
            </a:r>
            <a:r>
              <a:rPr lang="en-US" altLang="zh-CN"/>
              <a:t>msdos、vfat、iso9660、hpfs</a:t>
            </a:r>
            <a:r>
              <a:rPr lang="zh-CN" altLang="en-US">
                <a:latin typeface="宋体" panose="02010600030101010101" pitchFamily="2" charset="-122"/>
              </a:rPr>
              <a:t>等多种文件系统。</a:t>
            </a:r>
            <a:endParaRPr lang="en-US" altLang="zh-CN">
              <a:latin typeface="宋体" panose="02010600030101010101" pitchFamily="2" charset="-122"/>
            </a:endParaRPr>
          </a:p>
        </p:txBody>
      </p:sp>
      <p:sp>
        <p:nvSpPr>
          <p:cNvPr id="2" name="灯片编号占位符 1">
            <a:extLst>
              <a:ext uri="{FF2B5EF4-FFF2-40B4-BE49-F238E27FC236}">
                <a16:creationId xmlns:a16="http://schemas.microsoft.com/office/drawing/2014/main" id="{C2EEC656-DA25-C468-E7CD-BD3990E36F6A}"/>
              </a:ext>
            </a:extLst>
          </p:cNvPr>
          <p:cNvSpPr>
            <a:spLocks noGrp="1"/>
          </p:cNvSpPr>
          <p:nvPr>
            <p:ph type="sldNum" sz="quarter" idx="12"/>
          </p:nvPr>
        </p:nvSpPr>
        <p:spPr/>
        <p:txBody>
          <a:bodyPr/>
          <a:lstStyle/>
          <a:p>
            <a:fld id="{4093CC90-4002-504C-BD88-C9A1D374048E}" type="slidenum">
              <a:rPr lang="zh-CN" altLang="en-US" smtClean="0"/>
              <a:pPr/>
              <a:t>90</a:t>
            </a:fld>
            <a:endParaRPr lang="zh-CN" altLang="en-US" dirty="0"/>
          </a:p>
        </p:txBody>
      </p:sp>
    </p:spTree>
  </p:cSld>
  <p:clrMapOvr>
    <a:masterClrMapping/>
  </p:clrMapOvr>
  <p:transition spd="med">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A4B0FC7B-F4DC-779D-FF0B-0E1A1E4926CF}"/>
              </a:ext>
            </a:extLst>
          </p:cNvPr>
          <p:cNvSpPr>
            <a:spLocks noGrp="1" noChangeArrowheads="1"/>
          </p:cNvSpPr>
          <p:nvPr>
            <p:ph type="title"/>
          </p:nvPr>
        </p:nvSpPr>
        <p:spPr>
          <a:xfrm>
            <a:off x="1042988" y="225431"/>
            <a:ext cx="7850187" cy="746125"/>
          </a:xfrm>
        </p:spPr>
        <p:txBody>
          <a:bodyPr/>
          <a:lstStyle/>
          <a:p>
            <a:r>
              <a:rPr lang="zh-CN" altLang="en-US" dirty="0"/>
              <a:t>文件系统实现</a:t>
            </a:r>
          </a:p>
        </p:txBody>
      </p:sp>
      <p:sp>
        <p:nvSpPr>
          <p:cNvPr id="14338" name="Rectangle 3">
            <a:extLst>
              <a:ext uri="{FF2B5EF4-FFF2-40B4-BE49-F238E27FC236}">
                <a16:creationId xmlns:a16="http://schemas.microsoft.com/office/drawing/2014/main" id="{0435D4BB-304B-A7EC-B1AF-DD8C2523024F}"/>
              </a:ext>
            </a:extLst>
          </p:cNvPr>
          <p:cNvSpPr>
            <a:spLocks noGrp="1" noChangeArrowheads="1"/>
          </p:cNvSpPr>
          <p:nvPr>
            <p:ph idx="1"/>
          </p:nvPr>
        </p:nvSpPr>
        <p:spPr>
          <a:xfrm>
            <a:off x="935038" y="1233488"/>
            <a:ext cx="7772400" cy="4895850"/>
          </a:xfrm>
        </p:spPr>
        <p:txBody>
          <a:bodyPr/>
          <a:lstStyle/>
          <a:p>
            <a:r>
              <a:rPr lang="zh-CN" altLang="en-US" dirty="0"/>
              <a:t>本节将分析用于实现文件系统的结构和操作。</a:t>
            </a:r>
          </a:p>
          <a:p>
            <a:pPr marL="0" indent="0">
              <a:buNone/>
            </a:pPr>
            <a:endParaRPr lang="en-US" altLang="zh-CN" dirty="0"/>
          </a:p>
        </p:txBody>
      </p:sp>
      <p:sp>
        <p:nvSpPr>
          <p:cNvPr id="2" name="灯片编号占位符 1">
            <a:extLst>
              <a:ext uri="{FF2B5EF4-FFF2-40B4-BE49-F238E27FC236}">
                <a16:creationId xmlns:a16="http://schemas.microsoft.com/office/drawing/2014/main" id="{7C392BC1-4BA4-E9F2-450F-2CE2C9AAB016}"/>
              </a:ext>
            </a:extLst>
          </p:cNvPr>
          <p:cNvSpPr>
            <a:spLocks noGrp="1"/>
          </p:cNvSpPr>
          <p:nvPr>
            <p:ph type="sldNum" sz="quarter" idx="12"/>
          </p:nvPr>
        </p:nvSpPr>
        <p:spPr/>
        <p:txBody>
          <a:bodyPr/>
          <a:lstStyle/>
          <a:p>
            <a:fld id="{4093CC90-4002-504C-BD88-C9A1D374048E}" type="slidenum">
              <a:rPr lang="zh-CN" altLang="en-US" smtClean="0"/>
              <a:pPr/>
              <a:t>91</a:t>
            </a:fld>
            <a:endParaRPr lang="zh-CN" altLang="en-US" dirty="0"/>
          </a:p>
        </p:txBody>
      </p:sp>
    </p:spTree>
  </p:cSld>
  <p:clrMapOvr>
    <a:masterClrMapping/>
  </p:clrMapOvr>
  <p:transition spd="med">
    <p:zo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B13F05-BBB2-ABFC-B868-7B16353B60A7}"/>
              </a:ext>
            </a:extLst>
          </p:cNvPr>
          <p:cNvSpPr>
            <a:spLocks noGrp="1" noChangeArrowheads="1"/>
          </p:cNvSpPr>
          <p:nvPr>
            <p:ph type="title"/>
          </p:nvPr>
        </p:nvSpPr>
        <p:spPr>
          <a:xfrm>
            <a:off x="1042988" y="225431"/>
            <a:ext cx="7850187" cy="746125"/>
          </a:xfrm>
        </p:spPr>
        <p:txBody>
          <a:bodyPr/>
          <a:lstStyle/>
          <a:p>
            <a:r>
              <a:rPr lang="zh-CN" altLang="en-US" dirty="0"/>
              <a:t>概述</a:t>
            </a:r>
          </a:p>
        </p:txBody>
      </p:sp>
      <p:sp>
        <p:nvSpPr>
          <p:cNvPr id="372739" name="Rectangle 3">
            <a:extLst>
              <a:ext uri="{FF2B5EF4-FFF2-40B4-BE49-F238E27FC236}">
                <a16:creationId xmlns:a16="http://schemas.microsoft.com/office/drawing/2014/main" id="{2B3CD19D-BFED-4407-DA49-F503E6284797}"/>
              </a:ext>
            </a:extLst>
          </p:cNvPr>
          <p:cNvSpPr>
            <a:spLocks noGrp="1" noChangeArrowheads="1"/>
          </p:cNvSpPr>
          <p:nvPr>
            <p:ph idx="1"/>
          </p:nvPr>
        </p:nvSpPr>
        <p:spPr>
          <a:xfrm>
            <a:off x="935038" y="1233488"/>
            <a:ext cx="7772400" cy="4895850"/>
          </a:xfrm>
        </p:spPr>
        <p:txBody>
          <a:bodyPr/>
          <a:lstStyle/>
          <a:p>
            <a:r>
              <a:rPr lang="zh-CN" altLang="en-US" dirty="0"/>
              <a:t>在磁盘上，文件系统可能包括如下信息：</a:t>
            </a:r>
          </a:p>
          <a:p>
            <a:pPr lvl="1"/>
            <a:r>
              <a:rPr lang="zh-CN" altLang="en-US" dirty="0"/>
              <a:t>引导控制块：包括从该卷引导操作系统所需的信息 </a:t>
            </a:r>
            <a:r>
              <a:rPr lang="en-US" altLang="zh-CN" dirty="0"/>
              <a:t> </a:t>
            </a:r>
          </a:p>
          <a:p>
            <a:pPr lvl="1"/>
            <a:r>
              <a:rPr lang="zh-CN" altLang="en-US" dirty="0"/>
              <a:t>卷控制块：包含卷的详细信息。如块数、块大小</a:t>
            </a:r>
          </a:p>
          <a:p>
            <a:pPr lvl="1"/>
            <a:r>
              <a:rPr lang="zh-CN" altLang="en-US" dirty="0"/>
              <a:t>每个文件系统的目录结构</a:t>
            </a:r>
          </a:p>
          <a:p>
            <a:pPr lvl="1"/>
            <a:r>
              <a:rPr lang="zh-CN" altLang="en-US" dirty="0"/>
              <a:t>每个文件的文件控制块</a:t>
            </a:r>
          </a:p>
        </p:txBody>
      </p:sp>
      <p:sp>
        <p:nvSpPr>
          <p:cNvPr id="2" name="灯片编号占位符 1">
            <a:extLst>
              <a:ext uri="{FF2B5EF4-FFF2-40B4-BE49-F238E27FC236}">
                <a16:creationId xmlns:a16="http://schemas.microsoft.com/office/drawing/2014/main" id="{1AE2E731-B755-BD63-79D8-592484E4D9F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92</a:t>
            </a:fld>
            <a:endParaRPr lang="zh-CN" altLang="en-US" dirty="0"/>
          </a:p>
        </p:txBody>
      </p:sp>
    </p:spTree>
  </p:cSld>
  <p:clrMapOvr>
    <a:masterClrMapping/>
  </p:clrMapOvr>
  <p:transition spd="med">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2C53694-533E-D302-63AB-E538A7EF070C}"/>
              </a:ext>
            </a:extLst>
          </p:cNvPr>
          <p:cNvSpPr>
            <a:spLocks noGrp="1" noChangeArrowheads="1"/>
          </p:cNvSpPr>
          <p:nvPr>
            <p:ph type="title"/>
          </p:nvPr>
        </p:nvSpPr>
        <p:spPr/>
        <p:txBody>
          <a:bodyPr/>
          <a:lstStyle/>
          <a:p>
            <a:pPr eaLnBrk="1" hangingPunct="1"/>
            <a:r>
              <a:rPr lang="zh-CN" altLang="en-US" sz="4000"/>
              <a:t>用于文件系统管理的内存信息</a:t>
            </a:r>
          </a:p>
        </p:txBody>
      </p:sp>
      <p:sp>
        <p:nvSpPr>
          <p:cNvPr id="373763" name="Rectangle 3">
            <a:extLst>
              <a:ext uri="{FF2B5EF4-FFF2-40B4-BE49-F238E27FC236}">
                <a16:creationId xmlns:a16="http://schemas.microsoft.com/office/drawing/2014/main" id="{FC0BEF7C-F3C9-F659-A5E9-7B85F2097282}"/>
              </a:ext>
            </a:extLst>
          </p:cNvPr>
          <p:cNvSpPr>
            <a:spLocks noGrp="1" noChangeArrowheads="1"/>
          </p:cNvSpPr>
          <p:nvPr>
            <p:ph idx="1"/>
          </p:nvPr>
        </p:nvSpPr>
        <p:spPr>
          <a:xfrm>
            <a:off x="1131888" y="1125538"/>
            <a:ext cx="7772400" cy="5183187"/>
          </a:xfrm>
        </p:spPr>
        <p:txBody>
          <a:bodyPr/>
          <a:lstStyle/>
          <a:p>
            <a:pPr eaLnBrk="1" hangingPunct="1"/>
            <a:r>
              <a:rPr lang="zh-CN" altLang="en-US" dirty="0"/>
              <a:t>用于文件系统管理的内存信息</a:t>
            </a:r>
            <a:endParaRPr lang="en-US" altLang="zh-CN" dirty="0"/>
          </a:p>
          <a:p>
            <a:pPr lvl="1"/>
            <a:r>
              <a:rPr lang="zh-CN" altLang="en-US" dirty="0"/>
              <a:t>内存安装表：包含所有安装卷的信息</a:t>
            </a:r>
          </a:p>
          <a:p>
            <a:pPr lvl="1" eaLnBrk="1" hangingPunct="1"/>
            <a:r>
              <a:rPr lang="zh-CN" altLang="en-US" dirty="0"/>
              <a:t>内存目录结构：保存近来访问过的目录信息</a:t>
            </a:r>
            <a:endParaRPr lang="en-US" altLang="zh-CN" dirty="0"/>
          </a:p>
          <a:p>
            <a:pPr lvl="1"/>
            <a:r>
              <a:rPr lang="zh-CN" altLang="en-US" dirty="0"/>
              <a:t>系统的打开文件表：包括每个打开文件的</a:t>
            </a:r>
            <a:r>
              <a:rPr lang="en-US" altLang="zh-CN" dirty="0"/>
              <a:t>FCB</a:t>
            </a:r>
            <a:r>
              <a:rPr lang="zh-CN" altLang="en-US" dirty="0"/>
              <a:t>拷贝和其他信息</a:t>
            </a:r>
          </a:p>
          <a:p>
            <a:pPr lvl="1"/>
            <a:r>
              <a:rPr lang="zh-CN" altLang="en-US" dirty="0"/>
              <a:t>进程打开文件表：包括指向系统打开文件表中合适条目和其他信息的指针</a:t>
            </a:r>
          </a:p>
          <a:p>
            <a:pPr lvl="1" eaLnBrk="1" hangingPunct="1"/>
            <a:endParaRPr lang="zh-CN" altLang="en-US" dirty="0"/>
          </a:p>
        </p:txBody>
      </p:sp>
      <p:sp>
        <p:nvSpPr>
          <p:cNvPr id="2" name="灯片编号占位符 1">
            <a:extLst>
              <a:ext uri="{FF2B5EF4-FFF2-40B4-BE49-F238E27FC236}">
                <a16:creationId xmlns:a16="http://schemas.microsoft.com/office/drawing/2014/main" id="{758E349E-EF51-5FF6-0F21-7E7BBB3B9A28}"/>
              </a:ext>
            </a:extLst>
          </p:cNvPr>
          <p:cNvSpPr>
            <a:spLocks noGrp="1"/>
          </p:cNvSpPr>
          <p:nvPr>
            <p:ph type="sldNum" sz="quarter" idx="12"/>
          </p:nvPr>
        </p:nvSpPr>
        <p:spPr/>
        <p:txBody>
          <a:bodyPr/>
          <a:lstStyle/>
          <a:p>
            <a:fld id="{4093CC90-4002-504C-BD88-C9A1D374048E}" type="slidenum">
              <a:rPr lang="zh-CN" altLang="en-US" smtClean="0"/>
              <a:pPr/>
              <a:t>93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checkerboard(across)">
                                      <p:cBhvr>
                                        <p:cTn id="7" dur="500"/>
                                        <p:tgtEl>
                                          <p:spTgt spid="373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3763">
                                            <p:txEl>
                                              <p:pRg st="1" end="1"/>
                                            </p:txEl>
                                          </p:spTgt>
                                        </p:tgtEl>
                                        <p:attrNameLst>
                                          <p:attrName>style.visibility</p:attrName>
                                        </p:attrNameLst>
                                      </p:cBhvr>
                                      <p:to>
                                        <p:strVal val="visible"/>
                                      </p:to>
                                    </p:set>
                                    <p:animEffect transition="in" filter="checkerboard(across)">
                                      <p:cBhvr>
                                        <p:cTn id="12" dur="500"/>
                                        <p:tgtEl>
                                          <p:spTgt spid="373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73763">
                                            <p:txEl>
                                              <p:pRg st="2" end="2"/>
                                            </p:txEl>
                                          </p:spTgt>
                                        </p:tgtEl>
                                        <p:attrNameLst>
                                          <p:attrName>style.visibility</p:attrName>
                                        </p:attrNameLst>
                                      </p:cBhvr>
                                      <p:to>
                                        <p:strVal val="visible"/>
                                      </p:to>
                                    </p:set>
                                    <p:animEffect transition="in" filter="checkerboard(across)">
                                      <p:cBhvr>
                                        <p:cTn id="17" dur="500"/>
                                        <p:tgtEl>
                                          <p:spTgt spid="3737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3763">
                                            <p:txEl>
                                              <p:pRg st="3" end="3"/>
                                            </p:txEl>
                                          </p:spTgt>
                                        </p:tgtEl>
                                        <p:attrNameLst>
                                          <p:attrName>style.visibility</p:attrName>
                                        </p:attrNameLst>
                                      </p:cBhvr>
                                      <p:to>
                                        <p:strVal val="visible"/>
                                      </p:to>
                                    </p:set>
                                    <p:animEffect transition="in" filter="checkerboard(across)">
                                      <p:cBhvr>
                                        <p:cTn id="22" dur="500"/>
                                        <p:tgtEl>
                                          <p:spTgt spid="3737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73763">
                                            <p:txEl>
                                              <p:pRg st="4" end="4"/>
                                            </p:txEl>
                                          </p:spTgt>
                                        </p:tgtEl>
                                        <p:attrNameLst>
                                          <p:attrName>style.visibility</p:attrName>
                                        </p:attrNameLst>
                                      </p:cBhvr>
                                      <p:to>
                                        <p:strVal val="visible"/>
                                      </p:to>
                                    </p:set>
                                    <p:animEffect transition="in" filter="checkerboard(across)">
                                      <p:cBhvr>
                                        <p:cTn id="27" dur="500"/>
                                        <p:tgtEl>
                                          <p:spTgt spid="3737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BE1EA55B-4869-E9B8-D652-45CBD3C8A220}"/>
              </a:ext>
            </a:extLst>
          </p:cNvPr>
          <p:cNvSpPr>
            <a:spLocks noGrp="1" noChangeArrowheads="1"/>
          </p:cNvSpPr>
          <p:nvPr>
            <p:ph type="title"/>
          </p:nvPr>
        </p:nvSpPr>
        <p:spPr>
          <a:xfrm>
            <a:off x="1042988" y="225431"/>
            <a:ext cx="7850187" cy="746125"/>
          </a:xfrm>
        </p:spPr>
        <p:txBody>
          <a:bodyPr/>
          <a:lstStyle/>
          <a:p>
            <a:r>
              <a:rPr lang="zh-CN" altLang="en-US" dirty="0"/>
              <a:t>一个典型的文件控制块</a:t>
            </a:r>
          </a:p>
        </p:txBody>
      </p:sp>
      <p:sp>
        <p:nvSpPr>
          <p:cNvPr id="5" name="内容占位符 4">
            <a:extLst>
              <a:ext uri="{FF2B5EF4-FFF2-40B4-BE49-F238E27FC236}">
                <a16:creationId xmlns:a16="http://schemas.microsoft.com/office/drawing/2014/main" id="{A7FF97A7-C2E2-DA84-F5B1-8480791FBC7A}"/>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F1C90F84-F6C5-FAE5-0867-7D75A73F637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94</a:t>
            </a:fld>
            <a:endParaRPr lang="zh-CN" altLang="en-US" dirty="0"/>
          </a:p>
        </p:txBody>
      </p:sp>
      <p:pic>
        <p:nvPicPr>
          <p:cNvPr id="18434" name="Picture 4">
            <a:extLst>
              <a:ext uri="{FF2B5EF4-FFF2-40B4-BE49-F238E27FC236}">
                <a16:creationId xmlns:a16="http://schemas.microsoft.com/office/drawing/2014/main" id="{BFCDA42B-F402-71AC-E43C-E937D4A78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46" t="2654" r="462" b="1990"/>
          <a:stretch>
            <a:fillRect/>
          </a:stretch>
        </p:blipFill>
        <p:spPr bwMode="auto">
          <a:xfrm>
            <a:off x="1157288" y="1233488"/>
            <a:ext cx="7051675" cy="510540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00D62CC8-8E46-7F73-6B9F-228F2F8CCBCB}"/>
              </a:ext>
            </a:extLst>
          </p:cNvPr>
          <p:cNvSpPr>
            <a:spLocks noGrp="1" noChangeArrowheads="1"/>
          </p:cNvSpPr>
          <p:nvPr>
            <p:ph type="title"/>
          </p:nvPr>
        </p:nvSpPr>
        <p:spPr>
          <a:xfrm>
            <a:off x="1042988" y="225431"/>
            <a:ext cx="7850187" cy="746125"/>
          </a:xfrm>
        </p:spPr>
        <p:txBody>
          <a:bodyPr/>
          <a:lstStyle/>
          <a:p>
            <a:r>
              <a:rPr lang="zh-CN" altLang="en-US" dirty="0"/>
              <a:t>内存中的文件系统结构</a:t>
            </a:r>
          </a:p>
        </p:txBody>
      </p:sp>
      <p:sp>
        <p:nvSpPr>
          <p:cNvPr id="5" name="内容占位符 4">
            <a:extLst>
              <a:ext uri="{FF2B5EF4-FFF2-40B4-BE49-F238E27FC236}">
                <a16:creationId xmlns:a16="http://schemas.microsoft.com/office/drawing/2014/main" id="{040E150E-3548-74B4-FA5C-31BE2F152FF3}"/>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8A4E93AA-A47C-EA89-073B-6C05B5BEB9E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95</a:t>
            </a:fld>
            <a:endParaRPr lang="zh-CN" altLang="en-US" dirty="0"/>
          </a:p>
        </p:txBody>
      </p:sp>
      <p:pic>
        <p:nvPicPr>
          <p:cNvPr id="19458" name="Picture 4">
            <a:extLst>
              <a:ext uri="{FF2B5EF4-FFF2-40B4-BE49-F238E27FC236}">
                <a16:creationId xmlns:a16="http://schemas.microsoft.com/office/drawing/2014/main" id="{178EBEF0-9C07-60D5-5F5A-C53E137A7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597" t="919" r="4572" b="716"/>
          <a:stretch>
            <a:fillRect/>
          </a:stretch>
        </p:blipFill>
        <p:spPr bwMode="auto">
          <a:xfrm>
            <a:off x="490538" y="1071563"/>
            <a:ext cx="8005762" cy="545306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9459" name="Rectangle 5">
            <a:extLst>
              <a:ext uri="{FF2B5EF4-FFF2-40B4-BE49-F238E27FC236}">
                <a16:creationId xmlns:a16="http://schemas.microsoft.com/office/drawing/2014/main" id="{DF826DF5-B2F5-9BE6-2ED4-BCF6320377E0}"/>
              </a:ext>
            </a:extLst>
          </p:cNvPr>
          <p:cNvSpPr>
            <a:spLocks noChangeArrowheads="1"/>
          </p:cNvSpPr>
          <p:nvPr/>
        </p:nvSpPr>
        <p:spPr bwMode="auto">
          <a:xfrm>
            <a:off x="4787900" y="3357563"/>
            <a:ext cx="9731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sz="1800"/>
              <a:t>File open</a:t>
            </a:r>
          </a:p>
        </p:txBody>
      </p:sp>
      <p:sp>
        <p:nvSpPr>
          <p:cNvPr id="19460" name="Rectangle 6">
            <a:extLst>
              <a:ext uri="{FF2B5EF4-FFF2-40B4-BE49-F238E27FC236}">
                <a16:creationId xmlns:a16="http://schemas.microsoft.com/office/drawing/2014/main" id="{ECFD67E6-830B-D410-E95F-BDE1A8453701}"/>
              </a:ext>
            </a:extLst>
          </p:cNvPr>
          <p:cNvSpPr>
            <a:spLocks noChangeArrowheads="1"/>
          </p:cNvSpPr>
          <p:nvPr/>
        </p:nvSpPr>
        <p:spPr bwMode="auto">
          <a:xfrm>
            <a:off x="4679950" y="6273800"/>
            <a:ext cx="1117600" cy="14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sz="1800"/>
              <a:t>File read</a:t>
            </a:r>
          </a:p>
        </p:txBody>
      </p:sp>
    </p:spTree>
  </p:cSld>
  <p:clrMapOvr>
    <a:masterClrMapping/>
  </p:clrMapOvr>
  <p:transition spd="med">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2296EB87-64EE-39D8-69C3-0514FBB7F280}"/>
              </a:ext>
            </a:extLst>
          </p:cNvPr>
          <p:cNvSpPr>
            <a:spLocks noGrp="1" noChangeArrowheads="1"/>
          </p:cNvSpPr>
          <p:nvPr>
            <p:ph type="title"/>
          </p:nvPr>
        </p:nvSpPr>
        <p:spPr>
          <a:xfrm>
            <a:off x="1042988" y="225431"/>
            <a:ext cx="7850187" cy="746125"/>
          </a:xfrm>
        </p:spPr>
        <p:txBody>
          <a:bodyPr/>
          <a:lstStyle/>
          <a:p>
            <a:r>
              <a:rPr lang="zh-CN" altLang="en-US" dirty="0"/>
              <a:t>分区与安装</a:t>
            </a:r>
          </a:p>
        </p:txBody>
      </p:sp>
      <p:sp>
        <p:nvSpPr>
          <p:cNvPr id="20482" name="Rectangle 3">
            <a:extLst>
              <a:ext uri="{FF2B5EF4-FFF2-40B4-BE49-F238E27FC236}">
                <a16:creationId xmlns:a16="http://schemas.microsoft.com/office/drawing/2014/main" id="{9C31D91A-B7EF-A836-47FA-F24207C9BFE1}"/>
              </a:ext>
            </a:extLst>
          </p:cNvPr>
          <p:cNvSpPr>
            <a:spLocks noGrp="1" noChangeArrowheads="1"/>
          </p:cNvSpPr>
          <p:nvPr>
            <p:ph idx="1"/>
          </p:nvPr>
        </p:nvSpPr>
        <p:spPr>
          <a:xfrm>
            <a:off x="935038" y="1233488"/>
            <a:ext cx="7772400" cy="4895850"/>
          </a:xfrm>
        </p:spPr>
        <p:txBody>
          <a:bodyPr/>
          <a:lstStyle/>
          <a:p>
            <a:r>
              <a:rPr lang="zh-CN" altLang="en-US" dirty="0"/>
              <a:t>分区与磁盘 </a:t>
            </a:r>
            <a:r>
              <a:rPr lang="en-US" altLang="zh-CN" dirty="0"/>
              <a:t>Partitions vs disks</a:t>
            </a:r>
          </a:p>
          <a:p>
            <a:pPr lvl="1"/>
            <a:r>
              <a:rPr lang="zh-CN" altLang="en-US" dirty="0"/>
              <a:t>一个磁盘可以分为多个分区</a:t>
            </a:r>
            <a:endParaRPr lang="en-US" altLang="zh-CN" dirty="0"/>
          </a:p>
          <a:p>
            <a:pPr lvl="1"/>
            <a:r>
              <a:rPr lang="zh-CN" altLang="en-US" dirty="0"/>
              <a:t>一个分区可以横跨多个磁盘</a:t>
            </a:r>
          </a:p>
        </p:txBody>
      </p:sp>
      <p:sp>
        <p:nvSpPr>
          <p:cNvPr id="2" name="灯片编号占位符 1">
            <a:extLst>
              <a:ext uri="{FF2B5EF4-FFF2-40B4-BE49-F238E27FC236}">
                <a16:creationId xmlns:a16="http://schemas.microsoft.com/office/drawing/2014/main" id="{33B9F6C9-A56E-8C36-6B39-19AAB1D8BCF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96</a:t>
            </a:fld>
            <a:endParaRPr lang="zh-CN" altLang="en-US" dirty="0"/>
          </a:p>
        </p:txBody>
      </p:sp>
    </p:spTree>
  </p:cSld>
  <p:clrMapOvr>
    <a:masterClrMapping/>
  </p:clrMapOvr>
  <p:transition spd="med">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853371A1-2D77-769C-3A96-E93F238F81D7}"/>
              </a:ext>
            </a:extLst>
          </p:cNvPr>
          <p:cNvSpPr>
            <a:spLocks noGrp="1" noChangeArrowheads="1"/>
          </p:cNvSpPr>
          <p:nvPr>
            <p:ph type="title"/>
          </p:nvPr>
        </p:nvSpPr>
        <p:spPr>
          <a:xfrm>
            <a:off x="1042988" y="225431"/>
            <a:ext cx="7850187" cy="746125"/>
          </a:xfrm>
        </p:spPr>
        <p:txBody>
          <a:bodyPr/>
          <a:lstStyle/>
          <a:p>
            <a:r>
              <a:rPr lang="zh-CN" altLang="en-US" dirty="0"/>
              <a:t>分区与安装</a:t>
            </a:r>
          </a:p>
        </p:txBody>
      </p:sp>
      <p:sp>
        <p:nvSpPr>
          <p:cNvPr id="382979" name="Rectangle 3">
            <a:extLst>
              <a:ext uri="{FF2B5EF4-FFF2-40B4-BE49-F238E27FC236}">
                <a16:creationId xmlns:a16="http://schemas.microsoft.com/office/drawing/2014/main" id="{C42D4722-402A-E1BC-B9FF-7B844680338D}"/>
              </a:ext>
            </a:extLst>
          </p:cNvPr>
          <p:cNvSpPr>
            <a:spLocks noGrp="1" noChangeArrowheads="1"/>
          </p:cNvSpPr>
          <p:nvPr>
            <p:ph idx="1"/>
          </p:nvPr>
        </p:nvSpPr>
        <p:spPr>
          <a:xfrm>
            <a:off x="935038" y="1233488"/>
            <a:ext cx="7772400" cy="4895850"/>
          </a:xfrm>
        </p:spPr>
        <p:txBody>
          <a:bodyPr/>
          <a:lstStyle/>
          <a:p>
            <a:r>
              <a:rPr lang="zh-CN" altLang="en-US" dirty="0"/>
              <a:t>分区可以是生的或熟的</a:t>
            </a:r>
          </a:p>
          <a:p>
            <a:r>
              <a:rPr lang="zh-CN" altLang="en-US" dirty="0"/>
              <a:t>生分区 </a:t>
            </a:r>
            <a:r>
              <a:rPr lang="en-US" altLang="zh-CN" dirty="0"/>
              <a:t>Raw partition: </a:t>
            </a:r>
          </a:p>
          <a:p>
            <a:pPr lvl="1"/>
            <a:r>
              <a:rPr lang="zh-CN" altLang="en-US" dirty="0"/>
              <a:t>没有文件系统 </a:t>
            </a:r>
            <a:r>
              <a:rPr lang="en-US" altLang="zh-CN" dirty="0"/>
              <a:t>No file system</a:t>
            </a:r>
          </a:p>
          <a:p>
            <a:pPr lvl="1"/>
            <a:r>
              <a:rPr lang="zh-CN" altLang="en-US" dirty="0"/>
              <a:t>用于交换空间或数据库 </a:t>
            </a:r>
            <a:r>
              <a:rPr lang="en-US" altLang="zh-CN" dirty="0"/>
              <a:t>swap space, database</a:t>
            </a:r>
          </a:p>
          <a:p>
            <a:r>
              <a:rPr lang="zh-CN" altLang="en-US" dirty="0"/>
              <a:t>熟分区 </a:t>
            </a:r>
            <a:r>
              <a:rPr lang="en-US" altLang="zh-CN" dirty="0"/>
              <a:t>Cooked partition:</a:t>
            </a:r>
          </a:p>
          <a:p>
            <a:pPr lvl="1"/>
            <a:r>
              <a:rPr lang="zh-CN" altLang="en-US" dirty="0"/>
              <a:t>有文件系统 </a:t>
            </a:r>
            <a:r>
              <a:rPr lang="en-US" altLang="zh-CN" dirty="0"/>
              <a:t>Has file system</a:t>
            </a:r>
          </a:p>
        </p:txBody>
      </p:sp>
      <p:sp>
        <p:nvSpPr>
          <p:cNvPr id="2" name="灯片编号占位符 1">
            <a:extLst>
              <a:ext uri="{FF2B5EF4-FFF2-40B4-BE49-F238E27FC236}">
                <a16:creationId xmlns:a16="http://schemas.microsoft.com/office/drawing/2014/main" id="{683C2C09-EDD3-DB50-10D3-22E7ED008C8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2979">
                                            <p:txEl>
                                              <p:pRg st="0" end="0"/>
                                            </p:txEl>
                                          </p:spTgt>
                                        </p:tgtEl>
                                        <p:attrNameLst>
                                          <p:attrName>style.visibility</p:attrName>
                                        </p:attrNameLst>
                                      </p:cBhvr>
                                      <p:to>
                                        <p:strVal val="visible"/>
                                      </p:to>
                                    </p:set>
                                    <p:animEffect transition="in" filter="checkerboard(across)">
                                      <p:cBhvr>
                                        <p:cTn id="7" dur="500"/>
                                        <p:tgtEl>
                                          <p:spTgt spid="382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2979">
                                            <p:txEl>
                                              <p:pRg st="1" end="1"/>
                                            </p:txEl>
                                          </p:spTgt>
                                        </p:tgtEl>
                                        <p:attrNameLst>
                                          <p:attrName>style.visibility</p:attrName>
                                        </p:attrNameLst>
                                      </p:cBhvr>
                                      <p:to>
                                        <p:strVal val="visible"/>
                                      </p:to>
                                    </p:set>
                                    <p:animEffect transition="in" filter="checkerboard(across)">
                                      <p:cBhvr>
                                        <p:cTn id="12" dur="500"/>
                                        <p:tgtEl>
                                          <p:spTgt spid="382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2979">
                                            <p:txEl>
                                              <p:pRg st="2" end="2"/>
                                            </p:txEl>
                                          </p:spTgt>
                                        </p:tgtEl>
                                        <p:attrNameLst>
                                          <p:attrName>style.visibility</p:attrName>
                                        </p:attrNameLst>
                                      </p:cBhvr>
                                      <p:to>
                                        <p:strVal val="visible"/>
                                      </p:to>
                                    </p:set>
                                    <p:animEffect transition="in" filter="checkerboard(across)">
                                      <p:cBhvr>
                                        <p:cTn id="17" dur="500"/>
                                        <p:tgtEl>
                                          <p:spTgt spid="382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2979">
                                            <p:txEl>
                                              <p:pRg st="3" end="3"/>
                                            </p:txEl>
                                          </p:spTgt>
                                        </p:tgtEl>
                                        <p:attrNameLst>
                                          <p:attrName>style.visibility</p:attrName>
                                        </p:attrNameLst>
                                      </p:cBhvr>
                                      <p:to>
                                        <p:strVal val="visible"/>
                                      </p:to>
                                    </p:set>
                                    <p:animEffect transition="in" filter="checkerboard(across)">
                                      <p:cBhvr>
                                        <p:cTn id="22" dur="500"/>
                                        <p:tgtEl>
                                          <p:spTgt spid="3829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2979">
                                            <p:txEl>
                                              <p:pRg st="4" end="4"/>
                                            </p:txEl>
                                          </p:spTgt>
                                        </p:tgtEl>
                                        <p:attrNameLst>
                                          <p:attrName>style.visibility</p:attrName>
                                        </p:attrNameLst>
                                      </p:cBhvr>
                                      <p:to>
                                        <p:strVal val="visible"/>
                                      </p:to>
                                    </p:set>
                                    <p:animEffect transition="in" filter="checkerboard(across)">
                                      <p:cBhvr>
                                        <p:cTn id="27" dur="500"/>
                                        <p:tgtEl>
                                          <p:spTgt spid="3829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82979">
                                            <p:txEl>
                                              <p:pRg st="5" end="5"/>
                                            </p:txEl>
                                          </p:spTgt>
                                        </p:tgtEl>
                                        <p:attrNameLst>
                                          <p:attrName>style.visibility</p:attrName>
                                        </p:attrNameLst>
                                      </p:cBhvr>
                                      <p:to>
                                        <p:strVal val="visible"/>
                                      </p:to>
                                    </p:set>
                                    <p:animEffect transition="in" filter="checkerboard(across)">
                                      <p:cBhvr>
                                        <p:cTn id="32" dur="500"/>
                                        <p:tgtEl>
                                          <p:spTgt spid="3829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7970A059-99B2-7052-FC32-3A85CD20DA57}"/>
              </a:ext>
            </a:extLst>
          </p:cNvPr>
          <p:cNvSpPr>
            <a:spLocks noGrp="1" noChangeArrowheads="1"/>
          </p:cNvSpPr>
          <p:nvPr>
            <p:ph type="title"/>
          </p:nvPr>
        </p:nvSpPr>
        <p:spPr/>
        <p:txBody>
          <a:bodyPr/>
          <a:lstStyle/>
          <a:p>
            <a:pPr eaLnBrk="1" hangingPunct="1"/>
            <a:r>
              <a:rPr lang="zh-CN" altLang="en-US" sz="4000"/>
              <a:t>引导信息</a:t>
            </a:r>
          </a:p>
        </p:txBody>
      </p:sp>
      <p:sp>
        <p:nvSpPr>
          <p:cNvPr id="384003" name="Rectangle 3">
            <a:extLst>
              <a:ext uri="{FF2B5EF4-FFF2-40B4-BE49-F238E27FC236}">
                <a16:creationId xmlns:a16="http://schemas.microsoft.com/office/drawing/2014/main" id="{16D5EB33-25B2-80C8-7BC8-84F4DBF351E6}"/>
              </a:ext>
            </a:extLst>
          </p:cNvPr>
          <p:cNvSpPr>
            <a:spLocks noGrp="1" noChangeArrowheads="1"/>
          </p:cNvSpPr>
          <p:nvPr>
            <p:ph idx="1"/>
          </p:nvPr>
        </p:nvSpPr>
        <p:spPr>
          <a:xfrm>
            <a:off x="863600" y="1125538"/>
            <a:ext cx="8040688" cy="4859337"/>
          </a:xfrm>
        </p:spPr>
        <p:txBody>
          <a:bodyPr/>
          <a:lstStyle/>
          <a:p>
            <a:pPr eaLnBrk="1" hangingPunct="1"/>
            <a:r>
              <a:rPr lang="zh-CN" altLang="en-US"/>
              <a:t>引导信息能保存在各个分区中，并且有自己的格式。它通常为一组有序块，作为二进制文件读入内存。引导信息除了包括如何启动一个特定操作系统外，还可以有其他指令。</a:t>
            </a:r>
          </a:p>
          <a:p>
            <a:pPr eaLnBrk="1" hangingPunct="1"/>
            <a:r>
              <a:rPr lang="zh-CN" altLang="en-US"/>
              <a:t>根分区（</a:t>
            </a:r>
            <a:r>
              <a:rPr lang="en-US" altLang="zh-CN"/>
              <a:t>root partition</a:t>
            </a:r>
            <a:r>
              <a:rPr lang="zh-CN" altLang="en-US"/>
              <a:t>）包括操作系统内核或其他系统文件，在引导时装入内存。其他分区根据操作系统不同可以在引导时自动装入或在此之后手动装入。</a:t>
            </a:r>
          </a:p>
        </p:txBody>
      </p:sp>
      <p:sp>
        <p:nvSpPr>
          <p:cNvPr id="2" name="灯片编号占位符 1">
            <a:extLst>
              <a:ext uri="{FF2B5EF4-FFF2-40B4-BE49-F238E27FC236}">
                <a16:creationId xmlns:a16="http://schemas.microsoft.com/office/drawing/2014/main" id="{45762654-0B6D-935B-5148-79A9FC39A29F}"/>
              </a:ext>
            </a:extLst>
          </p:cNvPr>
          <p:cNvSpPr>
            <a:spLocks noGrp="1"/>
          </p:cNvSpPr>
          <p:nvPr>
            <p:ph type="sldNum" sz="quarter" idx="12"/>
          </p:nvPr>
        </p:nvSpPr>
        <p:spPr/>
        <p:txBody>
          <a:bodyPr/>
          <a:lstStyle/>
          <a:p>
            <a:fld id="{4093CC90-4002-504C-BD88-C9A1D374048E}" type="slidenum">
              <a:rPr lang="zh-CN" altLang="en-US" smtClean="0"/>
              <a:pPr/>
              <a:t>98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Effect transition="in" filter="checkerboard(across)">
                                      <p:cBhvr>
                                        <p:cTn id="7" dur="500"/>
                                        <p:tgtEl>
                                          <p:spTgt spid="3840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4003">
                                            <p:txEl>
                                              <p:pRg st="1" end="1"/>
                                            </p:txEl>
                                          </p:spTgt>
                                        </p:tgtEl>
                                        <p:attrNameLst>
                                          <p:attrName>style.visibility</p:attrName>
                                        </p:attrNameLst>
                                      </p:cBhvr>
                                      <p:to>
                                        <p:strVal val="visible"/>
                                      </p:to>
                                    </p:set>
                                    <p:animEffect transition="in" filter="checkerboard(across)">
                                      <p:cBhvr>
                                        <p:cTn id="12" dur="500"/>
                                        <p:tgtEl>
                                          <p:spTgt spid="3840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03E12F3A-0BA7-0D70-F32E-65E73B633021}"/>
              </a:ext>
            </a:extLst>
          </p:cNvPr>
          <p:cNvSpPr>
            <a:spLocks noGrp="1" noChangeArrowheads="1"/>
          </p:cNvSpPr>
          <p:nvPr>
            <p:ph type="title"/>
          </p:nvPr>
        </p:nvSpPr>
        <p:spPr>
          <a:xfrm>
            <a:off x="1042988" y="225431"/>
            <a:ext cx="7850187" cy="746125"/>
          </a:xfrm>
        </p:spPr>
        <p:txBody>
          <a:bodyPr/>
          <a:lstStyle/>
          <a:p>
            <a:r>
              <a:rPr lang="zh-CN" altLang="en-US" dirty="0"/>
              <a:t>安装分区</a:t>
            </a:r>
          </a:p>
        </p:txBody>
      </p:sp>
      <p:sp>
        <p:nvSpPr>
          <p:cNvPr id="385027" name="Rectangle 3">
            <a:extLst>
              <a:ext uri="{FF2B5EF4-FFF2-40B4-BE49-F238E27FC236}">
                <a16:creationId xmlns:a16="http://schemas.microsoft.com/office/drawing/2014/main" id="{9758A1FB-6B61-C3B0-94DC-D7E018D0B619}"/>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dirty="0"/>
              <a:t>使用文件系统前应安装分区</a:t>
            </a:r>
          </a:p>
          <a:p>
            <a:pPr lvl="1"/>
            <a:r>
              <a:rPr lang="zh-CN" altLang="en-US" dirty="0"/>
              <a:t>备份数据</a:t>
            </a:r>
            <a:endParaRPr lang="en-US" altLang="zh-CN" dirty="0"/>
          </a:p>
          <a:p>
            <a:pPr lvl="1"/>
            <a:r>
              <a:rPr lang="zh-CN" altLang="en-US" dirty="0"/>
              <a:t>启动分区工具：</a:t>
            </a:r>
          </a:p>
          <a:p>
            <a:pPr lvl="1"/>
            <a:r>
              <a:rPr lang="zh-CN" altLang="en-US" dirty="0"/>
              <a:t>选择磁盘</a:t>
            </a:r>
            <a:endParaRPr lang="en-US" altLang="zh-CN" dirty="0"/>
          </a:p>
          <a:p>
            <a:pPr lvl="1"/>
            <a:r>
              <a:rPr lang="zh-CN" altLang="en-US" dirty="0"/>
              <a:t>删除现有分区（如果需要）</a:t>
            </a:r>
            <a:endParaRPr lang="en-US" altLang="zh-CN" dirty="0"/>
          </a:p>
          <a:p>
            <a:pPr lvl="1"/>
            <a:r>
              <a:rPr lang="zh-CN" altLang="en-US" dirty="0"/>
              <a:t>创建新分区，指定分区大小和类型，选择文件系统类型</a:t>
            </a:r>
          </a:p>
          <a:p>
            <a:pPr lvl="1"/>
            <a:r>
              <a:rPr lang="zh-CN" altLang="en-US" dirty="0"/>
              <a:t>格式化分区</a:t>
            </a:r>
            <a:endParaRPr lang="en-US" altLang="zh-CN" dirty="0"/>
          </a:p>
          <a:p>
            <a:pPr lvl="1"/>
            <a:r>
              <a:rPr lang="zh-CN" altLang="en-US" dirty="0"/>
              <a:t>应用更改：确认并应用所有更改，分区工具将执行分区和格式化操作。</a:t>
            </a:r>
          </a:p>
          <a:p>
            <a:pPr lvl="1"/>
            <a:r>
              <a:rPr lang="zh-CN" altLang="en-US" dirty="0"/>
              <a:t>挂载分区（</a:t>
            </a:r>
            <a:r>
              <a:rPr lang="en" altLang="zh-CN" dirty="0"/>
              <a:t>Linux</a:t>
            </a:r>
            <a:r>
              <a:rPr lang="zh-CN" altLang="en" dirty="0"/>
              <a:t>）</a:t>
            </a:r>
            <a:endParaRPr lang="zh-CN" altLang="en-US" dirty="0"/>
          </a:p>
        </p:txBody>
      </p:sp>
      <p:sp>
        <p:nvSpPr>
          <p:cNvPr id="2" name="灯片编号占位符 1">
            <a:extLst>
              <a:ext uri="{FF2B5EF4-FFF2-40B4-BE49-F238E27FC236}">
                <a16:creationId xmlns:a16="http://schemas.microsoft.com/office/drawing/2014/main" id="{7F09EF82-9A79-5426-C72B-FDB7E111F26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checkerboard(across)">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checkerboard(across)">
                                      <p:cBhvr>
                                        <p:cTn id="12" dur="500"/>
                                        <p:tgtEl>
                                          <p:spTgt spid="385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5027">
                                            <p:txEl>
                                              <p:pRg st="2" end="2"/>
                                            </p:txEl>
                                          </p:spTgt>
                                        </p:tgtEl>
                                        <p:attrNameLst>
                                          <p:attrName>style.visibility</p:attrName>
                                        </p:attrNameLst>
                                      </p:cBhvr>
                                      <p:to>
                                        <p:strVal val="visible"/>
                                      </p:to>
                                    </p:set>
                                    <p:animEffect transition="in" filter="checkerboard(across)">
                                      <p:cBhvr>
                                        <p:cTn id="17" dur="500"/>
                                        <p:tgtEl>
                                          <p:spTgt spid="385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5027">
                                            <p:txEl>
                                              <p:pRg st="3" end="3"/>
                                            </p:txEl>
                                          </p:spTgt>
                                        </p:tgtEl>
                                        <p:attrNameLst>
                                          <p:attrName>style.visibility</p:attrName>
                                        </p:attrNameLst>
                                      </p:cBhvr>
                                      <p:to>
                                        <p:strVal val="visible"/>
                                      </p:to>
                                    </p:set>
                                    <p:animEffect transition="in" filter="checkerboard(across)">
                                      <p:cBhvr>
                                        <p:cTn id="22" dur="500"/>
                                        <p:tgtEl>
                                          <p:spTgt spid="3850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5027">
                                            <p:txEl>
                                              <p:pRg st="4" end="4"/>
                                            </p:txEl>
                                          </p:spTgt>
                                        </p:tgtEl>
                                        <p:attrNameLst>
                                          <p:attrName>style.visibility</p:attrName>
                                        </p:attrNameLst>
                                      </p:cBhvr>
                                      <p:to>
                                        <p:strVal val="visible"/>
                                      </p:to>
                                    </p:set>
                                    <p:animEffect transition="in" filter="checkerboard(across)">
                                      <p:cBhvr>
                                        <p:cTn id="27" dur="500"/>
                                        <p:tgtEl>
                                          <p:spTgt spid="3850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85027">
                                            <p:txEl>
                                              <p:pRg st="5" end="5"/>
                                            </p:txEl>
                                          </p:spTgt>
                                        </p:tgtEl>
                                        <p:attrNameLst>
                                          <p:attrName>style.visibility</p:attrName>
                                        </p:attrNameLst>
                                      </p:cBhvr>
                                      <p:to>
                                        <p:strVal val="visible"/>
                                      </p:to>
                                    </p:set>
                                    <p:animEffect transition="in" filter="checkerboard(across)">
                                      <p:cBhvr>
                                        <p:cTn id="32" dur="500"/>
                                        <p:tgtEl>
                                          <p:spTgt spid="3850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85027">
                                            <p:txEl>
                                              <p:pRg st="6" end="6"/>
                                            </p:txEl>
                                          </p:spTgt>
                                        </p:tgtEl>
                                        <p:attrNameLst>
                                          <p:attrName>style.visibility</p:attrName>
                                        </p:attrNameLst>
                                      </p:cBhvr>
                                      <p:to>
                                        <p:strVal val="visible"/>
                                      </p:to>
                                    </p:set>
                                    <p:animEffect transition="in" filter="checkerboard(across)">
                                      <p:cBhvr>
                                        <p:cTn id="37" dur="500"/>
                                        <p:tgtEl>
                                          <p:spTgt spid="3850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85027">
                                            <p:txEl>
                                              <p:pRg st="7" end="7"/>
                                            </p:txEl>
                                          </p:spTgt>
                                        </p:tgtEl>
                                        <p:attrNameLst>
                                          <p:attrName>style.visibility</p:attrName>
                                        </p:attrNameLst>
                                      </p:cBhvr>
                                      <p:to>
                                        <p:strVal val="visible"/>
                                      </p:to>
                                    </p:set>
                                    <p:animEffect transition="in" filter="checkerboard(across)">
                                      <p:cBhvr>
                                        <p:cTn id="42" dur="500"/>
                                        <p:tgtEl>
                                          <p:spTgt spid="38502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385027">
                                            <p:txEl>
                                              <p:pRg st="8" end="8"/>
                                            </p:txEl>
                                          </p:spTgt>
                                        </p:tgtEl>
                                        <p:attrNameLst>
                                          <p:attrName>style.visibility</p:attrName>
                                        </p:attrNameLst>
                                      </p:cBhvr>
                                      <p:to>
                                        <p:strVal val="visible"/>
                                      </p:to>
                                    </p:set>
                                    <p:animEffect transition="in" filter="checkerboard(across)">
                                      <p:cBhvr>
                                        <p:cTn id="47" dur="500"/>
                                        <p:tgtEl>
                                          <p:spTgt spid="3850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FBBB7864-5ABC-2104-1ABD-8EFB11A444A9}"/>
              </a:ext>
            </a:extLst>
          </p:cNvPr>
          <p:cNvSpPr>
            <a:spLocks noGrp="1" noChangeArrowheads="1"/>
          </p:cNvSpPr>
          <p:nvPr>
            <p:ph type="title"/>
          </p:nvPr>
        </p:nvSpPr>
        <p:spPr>
          <a:xfrm>
            <a:off x="1042988" y="225431"/>
            <a:ext cx="7850187" cy="746125"/>
          </a:xfrm>
        </p:spPr>
        <p:txBody>
          <a:bodyPr/>
          <a:lstStyle/>
          <a:p>
            <a:r>
              <a:rPr lang="zh-CN" altLang="en-US" dirty="0"/>
              <a:t>目录实现</a:t>
            </a:r>
            <a:endParaRPr lang="en-US" altLang="zh-CN" dirty="0"/>
          </a:p>
        </p:txBody>
      </p:sp>
      <p:sp>
        <p:nvSpPr>
          <p:cNvPr id="24578" name="Rectangle 3">
            <a:extLst>
              <a:ext uri="{FF2B5EF4-FFF2-40B4-BE49-F238E27FC236}">
                <a16:creationId xmlns:a16="http://schemas.microsoft.com/office/drawing/2014/main" id="{18F6AD06-FC38-8D32-D6EF-1DE0368BBCCD}"/>
              </a:ext>
            </a:extLst>
          </p:cNvPr>
          <p:cNvSpPr>
            <a:spLocks noGrp="1" noChangeArrowheads="1"/>
          </p:cNvSpPr>
          <p:nvPr>
            <p:ph idx="1"/>
          </p:nvPr>
        </p:nvSpPr>
        <p:spPr>
          <a:xfrm>
            <a:off x="935038" y="1233488"/>
            <a:ext cx="7772400" cy="4895850"/>
          </a:xfrm>
        </p:spPr>
        <p:txBody>
          <a:bodyPr/>
          <a:lstStyle/>
          <a:p>
            <a:r>
              <a:rPr lang="zh-CN" altLang="en-US" dirty="0"/>
              <a:t>目录分配和管理算法的选择对文件系统的效率、性能和可靠性有很大影响。</a:t>
            </a:r>
          </a:p>
        </p:txBody>
      </p:sp>
      <p:sp>
        <p:nvSpPr>
          <p:cNvPr id="2" name="灯片编号占位符 1">
            <a:extLst>
              <a:ext uri="{FF2B5EF4-FFF2-40B4-BE49-F238E27FC236}">
                <a16:creationId xmlns:a16="http://schemas.microsoft.com/office/drawing/2014/main" id="{714F6C9D-16EE-005C-2EBA-B1A235767C02}"/>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100</a:t>
            </a:fld>
            <a:endParaRPr lang="zh-CN" altLang="en-US" dirty="0"/>
          </a:p>
        </p:txBody>
      </p:sp>
    </p:spTree>
  </p:cSld>
  <p:clrMapOvr>
    <a:masterClrMapping/>
  </p:clrMapOvr>
  <p:transition spd="med">
    <p:zo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C8409DF4-4E21-8D83-5263-190525FF2651}"/>
              </a:ext>
            </a:extLst>
          </p:cNvPr>
          <p:cNvSpPr>
            <a:spLocks noGrp="1" noChangeArrowheads="1"/>
          </p:cNvSpPr>
          <p:nvPr>
            <p:ph type="title"/>
          </p:nvPr>
        </p:nvSpPr>
        <p:spPr>
          <a:xfrm>
            <a:off x="1042988" y="225431"/>
            <a:ext cx="7850187" cy="746125"/>
          </a:xfrm>
        </p:spPr>
        <p:txBody>
          <a:bodyPr/>
          <a:lstStyle/>
          <a:p>
            <a:r>
              <a:rPr lang="zh-CN" altLang="en-US" dirty="0"/>
              <a:t>线性表 </a:t>
            </a:r>
            <a:r>
              <a:rPr lang="en-US" altLang="zh-CN" dirty="0"/>
              <a:t>Linear list </a:t>
            </a:r>
          </a:p>
        </p:txBody>
      </p:sp>
      <p:sp>
        <p:nvSpPr>
          <p:cNvPr id="390147" name="Rectangle 3">
            <a:extLst>
              <a:ext uri="{FF2B5EF4-FFF2-40B4-BE49-F238E27FC236}">
                <a16:creationId xmlns:a16="http://schemas.microsoft.com/office/drawing/2014/main" id="{E9C829FF-9DD6-5F66-E3E4-719A6EE2F0EE}"/>
              </a:ext>
            </a:extLst>
          </p:cNvPr>
          <p:cNvSpPr>
            <a:spLocks noGrp="1" noChangeArrowheads="1"/>
          </p:cNvSpPr>
          <p:nvPr>
            <p:ph idx="1"/>
          </p:nvPr>
        </p:nvSpPr>
        <p:spPr>
          <a:xfrm>
            <a:off x="935038" y="1233488"/>
            <a:ext cx="7772400" cy="4895850"/>
          </a:xfrm>
        </p:spPr>
        <p:txBody>
          <a:bodyPr/>
          <a:lstStyle/>
          <a:p>
            <a:r>
              <a:rPr lang="zh-CN" altLang="en-US" dirty="0"/>
              <a:t>最简单的目录实现方法是使用存储文件名和数据块指针的</a:t>
            </a:r>
            <a:r>
              <a:rPr lang="zh-CN" altLang="en-US" b="1" dirty="0">
                <a:solidFill>
                  <a:srgbClr val="FF0000"/>
                </a:solidFill>
              </a:rPr>
              <a:t>线性表</a:t>
            </a:r>
            <a:r>
              <a:rPr lang="zh-CN" altLang="en-US" dirty="0"/>
              <a:t>。</a:t>
            </a:r>
          </a:p>
          <a:p>
            <a:r>
              <a:rPr lang="zh-CN" altLang="en-US" dirty="0"/>
              <a:t>这种方法容易实现，但查找文件费时。</a:t>
            </a:r>
          </a:p>
          <a:p>
            <a:r>
              <a:rPr lang="zh-CN" altLang="en-US" dirty="0"/>
              <a:t>许多操作系统采用软件缓存来存储最近访问过的目录信息</a:t>
            </a:r>
          </a:p>
        </p:txBody>
      </p:sp>
      <p:sp>
        <p:nvSpPr>
          <p:cNvPr id="2" name="灯片编号占位符 1">
            <a:extLst>
              <a:ext uri="{FF2B5EF4-FFF2-40B4-BE49-F238E27FC236}">
                <a16:creationId xmlns:a16="http://schemas.microsoft.com/office/drawing/2014/main" id="{82641514-931D-329B-18A9-D32E0329F9DC}"/>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0147">
                                            <p:txEl>
                                              <p:pRg st="0" end="0"/>
                                            </p:txEl>
                                          </p:spTgt>
                                        </p:tgtEl>
                                        <p:attrNameLst>
                                          <p:attrName>style.visibility</p:attrName>
                                        </p:attrNameLst>
                                      </p:cBhvr>
                                      <p:to>
                                        <p:strVal val="visible"/>
                                      </p:to>
                                    </p:set>
                                    <p:animEffect transition="in" filter="checkerboard(across)">
                                      <p:cBhvr>
                                        <p:cTn id="7" dur="500"/>
                                        <p:tgtEl>
                                          <p:spTgt spid="390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0147">
                                            <p:txEl>
                                              <p:pRg st="1" end="1"/>
                                            </p:txEl>
                                          </p:spTgt>
                                        </p:tgtEl>
                                        <p:attrNameLst>
                                          <p:attrName>style.visibility</p:attrName>
                                        </p:attrNameLst>
                                      </p:cBhvr>
                                      <p:to>
                                        <p:strVal val="visible"/>
                                      </p:to>
                                    </p:set>
                                    <p:animEffect transition="in" filter="checkerboard(across)">
                                      <p:cBhvr>
                                        <p:cTn id="12" dur="500"/>
                                        <p:tgtEl>
                                          <p:spTgt spid="390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0147">
                                            <p:txEl>
                                              <p:pRg st="2" end="2"/>
                                            </p:txEl>
                                          </p:spTgt>
                                        </p:tgtEl>
                                        <p:attrNameLst>
                                          <p:attrName>style.visibility</p:attrName>
                                        </p:attrNameLst>
                                      </p:cBhvr>
                                      <p:to>
                                        <p:strVal val="visible"/>
                                      </p:to>
                                    </p:set>
                                    <p:animEffect transition="in" filter="checkerboard(across)">
                                      <p:cBhvr>
                                        <p:cTn id="17" dur="500"/>
                                        <p:tgtEl>
                                          <p:spTgt spid="3901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49BCD809-B7AC-EC83-0D36-587F4650FF86}"/>
              </a:ext>
            </a:extLst>
          </p:cNvPr>
          <p:cNvSpPr>
            <a:spLocks noGrp="1" noChangeArrowheads="1"/>
          </p:cNvSpPr>
          <p:nvPr>
            <p:ph type="title"/>
          </p:nvPr>
        </p:nvSpPr>
        <p:spPr>
          <a:xfrm>
            <a:off x="1042988" y="225431"/>
            <a:ext cx="7850187" cy="746125"/>
          </a:xfrm>
        </p:spPr>
        <p:txBody>
          <a:bodyPr/>
          <a:lstStyle/>
          <a:p>
            <a:r>
              <a:rPr lang="zh-CN" altLang="en-US" dirty="0"/>
              <a:t>哈希表 </a:t>
            </a:r>
            <a:r>
              <a:rPr lang="en-US" altLang="zh-CN" dirty="0"/>
              <a:t>Hash Table </a:t>
            </a:r>
          </a:p>
        </p:txBody>
      </p:sp>
      <p:sp>
        <p:nvSpPr>
          <p:cNvPr id="391171" name="Rectangle 3">
            <a:extLst>
              <a:ext uri="{FF2B5EF4-FFF2-40B4-BE49-F238E27FC236}">
                <a16:creationId xmlns:a16="http://schemas.microsoft.com/office/drawing/2014/main" id="{BDAB5A9B-6B89-E909-10E9-4D6FAD82AB9F}"/>
              </a:ext>
            </a:extLst>
          </p:cNvPr>
          <p:cNvSpPr>
            <a:spLocks noGrp="1" noChangeArrowheads="1"/>
          </p:cNvSpPr>
          <p:nvPr>
            <p:ph idx="1"/>
          </p:nvPr>
        </p:nvSpPr>
        <p:spPr>
          <a:xfrm>
            <a:off x="935038" y="1233488"/>
            <a:ext cx="7772400" cy="4895850"/>
          </a:xfrm>
        </p:spPr>
        <p:txBody>
          <a:bodyPr/>
          <a:lstStyle/>
          <a:p>
            <a:r>
              <a:rPr lang="zh-CN" altLang="en-US" dirty="0"/>
              <a:t>哈希表：使用线性表来存储目录项，使用哈希表来快速找出给定文件名的目录项</a:t>
            </a:r>
            <a:r>
              <a:rPr lang="en-US" altLang="zh-CN" dirty="0"/>
              <a:t> </a:t>
            </a:r>
          </a:p>
          <a:p>
            <a:r>
              <a:rPr lang="zh-CN" altLang="en-US" dirty="0"/>
              <a:t>哈希表根据文件名得到一个值，并返回一个指向线性表中元素的指针。</a:t>
            </a:r>
            <a:endParaRPr lang="en-US" altLang="zh-CN" dirty="0"/>
          </a:p>
          <a:p>
            <a:r>
              <a:rPr lang="zh-CN" altLang="en-US" dirty="0"/>
              <a:t>减少了目录搜索时间，但要避免冲突。</a:t>
            </a:r>
          </a:p>
          <a:p>
            <a:r>
              <a:rPr lang="zh-CN" altLang="en-US" dirty="0"/>
              <a:t>最大困难是其通常固定的大小和哈希函数对大小的依赖性。</a:t>
            </a:r>
          </a:p>
        </p:txBody>
      </p:sp>
      <p:sp>
        <p:nvSpPr>
          <p:cNvPr id="2" name="灯片编号占位符 1">
            <a:extLst>
              <a:ext uri="{FF2B5EF4-FFF2-40B4-BE49-F238E27FC236}">
                <a16:creationId xmlns:a16="http://schemas.microsoft.com/office/drawing/2014/main" id="{5CA20292-A45D-9470-E21F-8ED2E77189B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checkerboard(across)">
                                      <p:cBhvr>
                                        <p:cTn id="7" dur="500"/>
                                        <p:tgtEl>
                                          <p:spTgt spid="391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1171">
                                            <p:txEl>
                                              <p:pRg st="1" end="1"/>
                                            </p:txEl>
                                          </p:spTgt>
                                        </p:tgtEl>
                                        <p:attrNameLst>
                                          <p:attrName>style.visibility</p:attrName>
                                        </p:attrNameLst>
                                      </p:cBhvr>
                                      <p:to>
                                        <p:strVal val="visible"/>
                                      </p:to>
                                    </p:set>
                                    <p:animEffect transition="in" filter="checkerboard(across)">
                                      <p:cBhvr>
                                        <p:cTn id="12" dur="500"/>
                                        <p:tgtEl>
                                          <p:spTgt spid="391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1171">
                                            <p:txEl>
                                              <p:pRg st="2" end="2"/>
                                            </p:txEl>
                                          </p:spTgt>
                                        </p:tgtEl>
                                        <p:attrNameLst>
                                          <p:attrName>style.visibility</p:attrName>
                                        </p:attrNameLst>
                                      </p:cBhvr>
                                      <p:to>
                                        <p:strVal val="visible"/>
                                      </p:to>
                                    </p:set>
                                    <p:animEffect transition="in" filter="checkerboard(across)">
                                      <p:cBhvr>
                                        <p:cTn id="17" dur="500"/>
                                        <p:tgtEl>
                                          <p:spTgt spid="391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91171">
                                            <p:txEl>
                                              <p:pRg st="3" end="3"/>
                                            </p:txEl>
                                          </p:spTgt>
                                        </p:tgtEl>
                                        <p:attrNameLst>
                                          <p:attrName>style.visibility</p:attrName>
                                        </p:attrNameLst>
                                      </p:cBhvr>
                                      <p:to>
                                        <p:strVal val="visible"/>
                                      </p:to>
                                    </p:set>
                                    <p:animEffect transition="in" filter="checkerboard(across)">
                                      <p:cBhvr>
                                        <p:cTn id="22" dur="500"/>
                                        <p:tgtEl>
                                          <p:spTgt spid="391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160B1B97-0053-9962-FC49-C96ABDE1F135}"/>
              </a:ext>
            </a:extLst>
          </p:cNvPr>
          <p:cNvSpPr>
            <a:spLocks noGrp="1" noChangeArrowheads="1"/>
          </p:cNvSpPr>
          <p:nvPr>
            <p:ph type="title"/>
          </p:nvPr>
        </p:nvSpPr>
        <p:spPr>
          <a:xfrm>
            <a:off x="1042988" y="225431"/>
            <a:ext cx="7850187" cy="746125"/>
          </a:xfrm>
        </p:spPr>
        <p:txBody>
          <a:bodyPr/>
          <a:lstStyle/>
          <a:p>
            <a:r>
              <a:rPr lang="zh-CN" altLang="en-US" dirty="0"/>
              <a:t>分配方法</a:t>
            </a:r>
          </a:p>
        </p:txBody>
      </p:sp>
      <p:sp>
        <p:nvSpPr>
          <p:cNvPr id="317443" name="Rectangle 3">
            <a:extLst>
              <a:ext uri="{FF2B5EF4-FFF2-40B4-BE49-F238E27FC236}">
                <a16:creationId xmlns:a16="http://schemas.microsoft.com/office/drawing/2014/main" id="{7E66FE2E-A93A-3269-0624-294888994C07}"/>
              </a:ext>
            </a:extLst>
          </p:cNvPr>
          <p:cNvSpPr>
            <a:spLocks noGrp="1" noChangeArrowheads="1"/>
          </p:cNvSpPr>
          <p:nvPr>
            <p:ph idx="1"/>
          </p:nvPr>
        </p:nvSpPr>
        <p:spPr>
          <a:xfrm>
            <a:off x="935038" y="1233488"/>
            <a:ext cx="7772400" cy="4895850"/>
          </a:xfrm>
        </p:spPr>
        <p:txBody>
          <a:bodyPr/>
          <a:lstStyle/>
          <a:p>
            <a:r>
              <a:rPr lang="zh-CN" altLang="en-US" dirty="0"/>
              <a:t>分配方法指如何为文件分配磁盘块</a:t>
            </a:r>
            <a:endParaRPr lang="en-US" altLang="zh-CN" dirty="0"/>
          </a:p>
          <a:p>
            <a:r>
              <a:rPr lang="zh-CN" altLang="en-US" dirty="0"/>
              <a:t>常用的磁盘空间分配方法有以下三类：</a:t>
            </a:r>
            <a:endParaRPr lang="en-US" altLang="zh-CN" dirty="0"/>
          </a:p>
          <a:p>
            <a:pPr lvl="1"/>
            <a:r>
              <a:rPr lang="zh-CN" altLang="en-US" dirty="0"/>
              <a:t>连续分配  </a:t>
            </a:r>
            <a:r>
              <a:rPr lang="en-US" altLang="zh-CN" dirty="0"/>
              <a:t>Contiguous allocation	</a:t>
            </a:r>
            <a:endParaRPr lang="zh-CN" altLang="en-US" dirty="0"/>
          </a:p>
          <a:p>
            <a:pPr lvl="1"/>
            <a:r>
              <a:rPr lang="zh-CN" altLang="en-US" dirty="0"/>
              <a:t>链接分配  </a:t>
            </a:r>
            <a:r>
              <a:rPr lang="en-US" altLang="zh-CN" dirty="0"/>
              <a:t>Linked allocation	</a:t>
            </a:r>
            <a:endParaRPr lang="zh-CN" altLang="en-US" dirty="0"/>
          </a:p>
          <a:p>
            <a:pPr lvl="1"/>
            <a:r>
              <a:rPr lang="zh-CN" altLang="en-US" dirty="0"/>
              <a:t>索引分配  </a:t>
            </a:r>
            <a:r>
              <a:rPr lang="en-US" altLang="zh-CN" dirty="0"/>
              <a:t>Indexed allocation	</a:t>
            </a:r>
            <a:endParaRPr lang="zh-CN" altLang="en-US" dirty="0"/>
          </a:p>
        </p:txBody>
      </p:sp>
      <p:sp>
        <p:nvSpPr>
          <p:cNvPr id="2" name="灯片编号占位符 1">
            <a:extLst>
              <a:ext uri="{FF2B5EF4-FFF2-40B4-BE49-F238E27FC236}">
                <a16:creationId xmlns:a16="http://schemas.microsoft.com/office/drawing/2014/main" id="{FB99D215-AA61-D785-1D29-2FCA9C613CE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7443">
                                            <p:txEl>
                                              <p:pRg st="0" end="0"/>
                                            </p:txEl>
                                          </p:spTgt>
                                        </p:tgtEl>
                                        <p:attrNameLst>
                                          <p:attrName>style.visibility</p:attrName>
                                        </p:attrNameLst>
                                      </p:cBhvr>
                                      <p:to>
                                        <p:strVal val="visible"/>
                                      </p:to>
                                    </p:set>
                                    <p:animEffect transition="in" filter="checkerboard(across)">
                                      <p:cBhvr>
                                        <p:cTn id="7" dur="500"/>
                                        <p:tgtEl>
                                          <p:spTgt spid="317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7443">
                                            <p:txEl>
                                              <p:pRg st="1" end="1"/>
                                            </p:txEl>
                                          </p:spTgt>
                                        </p:tgtEl>
                                        <p:attrNameLst>
                                          <p:attrName>style.visibility</p:attrName>
                                        </p:attrNameLst>
                                      </p:cBhvr>
                                      <p:to>
                                        <p:strVal val="visible"/>
                                      </p:to>
                                    </p:set>
                                    <p:animEffect transition="in" filter="checkerboard(across)">
                                      <p:cBhvr>
                                        <p:cTn id="12" dur="500"/>
                                        <p:tgtEl>
                                          <p:spTgt spid="317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7443">
                                            <p:txEl>
                                              <p:pRg st="2" end="2"/>
                                            </p:txEl>
                                          </p:spTgt>
                                        </p:tgtEl>
                                        <p:attrNameLst>
                                          <p:attrName>style.visibility</p:attrName>
                                        </p:attrNameLst>
                                      </p:cBhvr>
                                      <p:to>
                                        <p:strVal val="visible"/>
                                      </p:to>
                                    </p:set>
                                    <p:animEffect transition="in" filter="checkerboard(across)">
                                      <p:cBhvr>
                                        <p:cTn id="17" dur="500"/>
                                        <p:tgtEl>
                                          <p:spTgt spid="3174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17443">
                                            <p:txEl>
                                              <p:pRg st="3" end="3"/>
                                            </p:txEl>
                                          </p:spTgt>
                                        </p:tgtEl>
                                        <p:attrNameLst>
                                          <p:attrName>style.visibility</p:attrName>
                                        </p:attrNameLst>
                                      </p:cBhvr>
                                      <p:to>
                                        <p:strVal val="visible"/>
                                      </p:to>
                                    </p:set>
                                    <p:animEffect transition="in" filter="checkerboard(across)">
                                      <p:cBhvr>
                                        <p:cTn id="22" dur="500"/>
                                        <p:tgtEl>
                                          <p:spTgt spid="3174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17443">
                                            <p:txEl>
                                              <p:pRg st="4" end="4"/>
                                            </p:txEl>
                                          </p:spTgt>
                                        </p:tgtEl>
                                        <p:attrNameLst>
                                          <p:attrName>style.visibility</p:attrName>
                                        </p:attrNameLst>
                                      </p:cBhvr>
                                      <p:to>
                                        <p:strVal val="visible"/>
                                      </p:to>
                                    </p:set>
                                    <p:animEffect transition="in" filter="checkerboard(across)">
                                      <p:cBhvr>
                                        <p:cTn id="27" dur="500"/>
                                        <p:tgtEl>
                                          <p:spTgt spid="3174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56C29758-1A79-CD26-BE8F-1A055193C01D}"/>
              </a:ext>
            </a:extLst>
          </p:cNvPr>
          <p:cNvSpPr>
            <a:spLocks noGrp="1" noChangeArrowheads="1"/>
          </p:cNvSpPr>
          <p:nvPr>
            <p:ph type="title"/>
          </p:nvPr>
        </p:nvSpPr>
        <p:spPr>
          <a:xfrm>
            <a:off x="1042988" y="225431"/>
            <a:ext cx="7850187" cy="746125"/>
          </a:xfrm>
        </p:spPr>
        <p:txBody>
          <a:bodyPr/>
          <a:lstStyle/>
          <a:p>
            <a:r>
              <a:rPr lang="zh-CN" altLang="en-US"/>
              <a:t>文件存储空间的分配</a:t>
            </a:r>
          </a:p>
        </p:txBody>
      </p:sp>
      <p:sp>
        <p:nvSpPr>
          <p:cNvPr id="318467" name="Rectangle 3">
            <a:extLst>
              <a:ext uri="{FF2B5EF4-FFF2-40B4-BE49-F238E27FC236}">
                <a16:creationId xmlns:a16="http://schemas.microsoft.com/office/drawing/2014/main" id="{37C9E4EF-CD2B-FE54-CAF8-1D6E4432B834}"/>
              </a:ext>
            </a:extLst>
          </p:cNvPr>
          <p:cNvSpPr>
            <a:spLocks noGrp="1" noChangeArrowheads="1"/>
          </p:cNvSpPr>
          <p:nvPr>
            <p:ph idx="1"/>
          </p:nvPr>
        </p:nvSpPr>
        <p:spPr>
          <a:xfrm>
            <a:off x="935038" y="1233488"/>
            <a:ext cx="7772400" cy="4895850"/>
          </a:xfrm>
        </p:spPr>
        <p:txBody>
          <a:bodyPr/>
          <a:lstStyle/>
          <a:p>
            <a:r>
              <a:rPr lang="zh-CN" altLang="en-US"/>
              <a:t>文件存储空间的分配常采用两种方式：</a:t>
            </a:r>
          </a:p>
          <a:p>
            <a:pPr lvl="1"/>
            <a:r>
              <a:rPr lang="zh-CN" altLang="en-US"/>
              <a:t>静态分配：在文件建立时一次分配所需的全部空间。</a:t>
            </a:r>
          </a:p>
          <a:p>
            <a:pPr lvl="1"/>
            <a:r>
              <a:rPr lang="zh-CN" altLang="en-US"/>
              <a:t>动态分配：根据需要进行分配。</a:t>
            </a:r>
          </a:p>
          <a:p>
            <a:r>
              <a:rPr lang="zh-CN" altLang="en-US"/>
              <a:t>在分配区域大小上，也可以采用不同方法。可以为文件分配一个连续区域，但文件存储空间的分配通常以块或簇（几个连续物理块称为簇，一般是固定大小）为单位。</a:t>
            </a:r>
          </a:p>
        </p:txBody>
      </p:sp>
      <p:sp>
        <p:nvSpPr>
          <p:cNvPr id="2" name="灯片编号占位符 1">
            <a:extLst>
              <a:ext uri="{FF2B5EF4-FFF2-40B4-BE49-F238E27FC236}">
                <a16:creationId xmlns:a16="http://schemas.microsoft.com/office/drawing/2014/main" id="{8F2EB0C6-689A-93C8-234A-ED2451A605F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Effect transition="in" filter="checkerboard(across)">
                                      <p:cBhvr>
                                        <p:cTn id="7" dur="500"/>
                                        <p:tgtEl>
                                          <p:spTgt spid="318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8467">
                                            <p:txEl>
                                              <p:pRg st="1" end="1"/>
                                            </p:txEl>
                                          </p:spTgt>
                                        </p:tgtEl>
                                        <p:attrNameLst>
                                          <p:attrName>style.visibility</p:attrName>
                                        </p:attrNameLst>
                                      </p:cBhvr>
                                      <p:to>
                                        <p:strVal val="visible"/>
                                      </p:to>
                                    </p:set>
                                    <p:animEffect transition="in" filter="checkerboard(across)">
                                      <p:cBhvr>
                                        <p:cTn id="12" dur="500"/>
                                        <p:tgtEl>
                                          <p:spTgt spid="318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8467">
                                            <p:txEl>
                                              <p:pRg st="2" end="2"/>
                                            </p:txEl>
                                          </p:spTgt>
                                        </p:tgtEl>
                                        <p:attrNameLst>
                                          <p:attrName>style.visibility</p:attrName>
                                        </p:attrNameLst>
                                      </p:cBhvr>
                                      <p:to>
                                        <p:strVal val="visible"/>
                                      </p:to>
                                    </p:set>
                                    <p:animEffect transition="in" filter="checkerboard(across)">
                                      <p:cBhvr>
                                        <p:cTn id="17" dur="500"/>
                                        <p:tgtEl>
                                          <p:spTgt spid="318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18467">
                                            <p:txEl>
                                              <p:pRg st="3" end="3"/>
                                            </p:txEl>
                                          </p:spTgt>
                                        </p:tgtEl>
                                        <p:attrNameLst>
                                          <p:attrName>style.visibility</p:attrName>
                                        </p:attrNameLst>
                                      </p:cBhvr>
                                      <p:to>
                                        <p:strVal val="visible"/>
                                      </p:to>
                                    </p:set>
                                    <p:animEffect transition="in" filter="checkerboard(across)">
                                      <p:cBhvr>
                                        <p:cTn id="22" dur="500"/>
                                        <p:tgtEl>
                                          <p:spTgt spid="318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D605AE7-0CCE-FAC4-988E-DF9A420F844E}"/>
              </a:ext>
            </a:extLst>
          </p:cNvPr>
          <p:cNvSpPr>
            <a:spLocks noGrp="1" noChangeArrowheads="1"/>
          </p:cNvSpPr>
          <p:nvPr>
            <p:ph type="title"/>
          </p:nvPr>
        </p:nvSpPr>
        <p:spPr>
          <a:xfrm>
            <a:off x="1042988" y="225431"/>
            <a:ext cx="7850187" cy="746125"/>
          </a:xfrm>
        </p:spPr>
        <p:txBody>
          <a:bodyPr/>
          <a:lstStyle/>
          <a:p>
            <a:r>
              <a:rPr lang="zh-CN" altLang="en-US" dirty="0"/>
              <a:t>连续分配</a:t>
            </a:r>
          </a:p>
        </p:txBody>
      </p:sp>
      <p:sp>
        <p:nvSpPr>
          <p:cNvPr id="320515" name="Rectangle 3">
            <a:extLst>
              <a:ext uri="{FF2B5EF4-FFF2-40B4-BE49-F238E27FC236}">
                <a16:creationId xmlns:a16="http://schemas.microsoft.com/office/drawing/2014/main" id="{982B5C75-2F79-0117-1EB0-9C702DA545D0}"/>
              </a:ext>
            </a:extLst>
          </p:cNvPr>
          <p:cNvSpPr>
            <a:spLocks noGrp="1" noChangeArrowheads="1"/>
          </p:cNvSpPr>
          <p:nvPr>
            <p:ph idx="1"/>
          </p:nvPr>
        </p:nvSpPr>
        <p:spPr>
          <a:xfrm>
            <a:off x="935038" y="1233488"/>
            <a:ext cx="7772400" cy="4895850"/>
          </a:xfrm>
        </p:spPr>
        <p:txBody>
          <a:bodyPr>
            <a:normAutofit/>
          </a:bodyPr>
          <a:lstStyle/>
          <a:p>
            <a:r>
              <a:rPr lang="zh-CN" altLang="en-US" b="1" dirty="0">
                <a:solidFill>
                  <a:srgbClr val="FF0000"/>
                </a:solidFill>
              </a:rPr>
              <a:t>连续分配</a:t>
            </a:r>
            <a:r>
              <a:rPr lang="zh-CN" altLang="en-US" dirty="0"/>
              <a:t>方法要求每个文件在磁盘上占有一组连续的块。</a:t>
            </a:r>
          </a:p>
          <a:p>
            <a:r>
              <a:rPr lang="zh-CN" altLang="en-US" dirty="0"/>
              <a:t>文件目录只需其起始位置（块号）及长度。</a:t>
            </a:r>
          </a:p>
          <a:p>
            <a:r>
              <a:rPr lang="zh-CN" altLang="en-US" dirty="0"/>
              <a:t>支持顺序及随机访问，但有外部碎片。</a:t>
            </a:r>
          </a:p>
        </p:txBody>
      </p:sp>
      <p:sp>
        <p:nvSpPr>
          <p:cNvPr id="2" name="灯片编号占位符 1">
            <a:extLst>
              <a:ext uri="{FF2B5EF4-FFF2-40B4-BE49-F238E27FC236}">
                <a16:creationId xmlns:a16="http://schemas.microsoft.com/office/drawing/2014/main" id="{1CC62179-2A6D-2D18-46B0-F0D9D01D7496}"/>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checkerboard(across)">
                                      <p:cBhvr>
                                        <p:cTn id="7" dur="500"/>
                                        <p:tgtEl>
                                          <p:spTgt spid="320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checkerboard(across)">
                                      <p:cBhvr>
                                        <p:cTn id="12" dur="500"/>
                                        <p:tgtEl>
                                          <p:spTgt spid="320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checkerboard(across)">
                                      <p:cBhvr>
                                        <p:cTn id="17" dur="500"/>
                                        <p:tgtEl>
                                          <p:spTgt spid="320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3DFA1701-0DC8-E3EF-7796-1AD979308582}"/>
              </a:ext>
            </a:extLst>
          </p:cNvPr>
          <p:cNvSpPr>
            <a:spLocks noGrp="1" noChangeArrowheads="1"/>
          </p:cNvSpPr>
          <p:nvPr>
            <p:ph type="title"/>
          </p:nvPr>
        </p:nvSpPr>
        <p:spPr>
          <a:xfrm>
            <a:off x="1042988" y="225431"/>
            <a:ext cx="7850187" cy="746125"/>
          </a:xfrm>
        </p:spPr>
        <p:txBody>
          <a:bodyPr/>
          <a:lstStyle/>
          <a:p>
            <a:r>
              <a:rPr lang="zh-CN" altLang="en-US" dirty="0"/>
              <a:t>磁盘空间的连续分配</a:t>
            </a:r>
          </a:p>
        </p:txBody>
      </p:sp>
      <p:sp>
        <p:nvSpPr>
          <p:cNvPr id="5" name="内容占位符 4">
            <a:extLst>
              <a:ext uri="{FF2B5EF4-FFF2-40B4-BE49-F238E27FC236}">
                <a16:creationId xmlns:a16="http://schemas.microsoft.com/office/drawing/2014/main" id="{6D18BD18-539C-4F79-4C51-14957C585860}"/>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5AB8CA20-B406-D531-DAB5-823980A34F5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106</a:t>
            </a:fld>
            <a:endParaRPr lang="zh-CN" altLang="en-US" dirty="0"/>
          </a:p>
        </p:txBody>
      </p:sp>
      <p:pic>
        <p:nvPicPr>
          <p:cNvPr id="31746" name="Picture 83">
            <a:extLst>
              <a:ext uri="{FF2B5EF4-FFF2-40B4-BE49-F238E27FC236}">
                <a16:creationId xmlns:a16="http://schemas.microsoft.com/office/drawing/2014/main" id="{3837FCDA-A53B-25C2-AE23-15A461560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819" t="5881" r="14653" b="1823"/>
          <a:stretch>
            <a:fillRect/>
          </a:stretch>
        </p:blipFill>
        <p:spPr bwMode="auto">
          <a:xfrm>
            <a:off x="395288" y="1171575"/>
            <a:ext cx="8459787" cy="535305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284180F-2071-D2D5-9D67-3DE58E771FEC}"/>
              </a:ext>
            </a:extLst>
          </p:cNvPr>
          <p:cNvSpPr>
            <a:spLocks noGrp="1" noChangeArrowheads="1"/>
          </p:cNvSpPr>
          <p:nvPr>
            <p:ph type="title"/>
          </p:nvPr>
        </p:nvSpPr>
        <p:spPr>
          <a:xfrm>
            <a:off x="1042988" y="225431"/>
            <a:ext cx="7850187" cy="746125"/>
          </a:xfrm>
        </p:spPr>
        <p:txBody>
          <a:bodyPr/>
          <a:lstStyle/>
          <a:p>
            <a:r>
              <a:rPr lang="zh-CN" altLang="en-US"/>
              <a:t>连续分配续</a:t>
            </a:r>
          </a:p>
        </p:txBody>
      </p:sp>
      <p:sp>
        <p:nvSpPr>
          <p:cNvPr id="322563" name="Rectangle 3">
            <a:extLst>
              <a:ext uri="{FF2B5EF4-FFF2-40B4-BE49-F238E27FC236}">
                <a16:creationId xmlns:a16="http://schemas.microsoft.com/office/drawing/2014/main" id="{D2F68406-8BF0-F1F9-3709-0FC2AD770DD1}"/>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a:t>在这种分配方法中，用户必须在分配前说明待创建文件所需的存储空间大小。然后系统查找空闲区管理表格，若有就给文件分配所需的存储空间，否则文件不能建立。</a:t>
            </a:r>
          </a:p>
          <a:p>
            <a:r>
              <a:rPr lang="zh-CN" altLang="en-US"/>
              <a:t>连续分配的特点是：</a:t>
            </a:r>
          </a:p>
          <a:p>
            <a:pPr lvl="1"/>
            <a:r>
              <a:rPr lang="zh-CN" altLang="en-US"/>
              <a:t>顺序访问容易且速度快，目录中文件存储位置信息简单；</a:t>
            </a:r>
          </a:p>
          <a:p>
            <a:pPr lvl="1"/>
            <a:r>
              <a:rPr lang="zh-CN" altLang="en-US"/>
              <a:t>但容易产生碎片，需要定期对磁盘空间进行整理。</a:t>
            </a:r>
          </a:p>
          <a:p>
            <a:r>
              <a:rPr lang="zh-CN" altLang="en-US"/>
              <a:t>存在的问题</a:t>
            </a:r>
          </a:p>
          <a:p>
            <a:pPr lvl="1"/>
            <a:r>
              <a:rPr lang="zh-CN" altLang="en-US"/>
              <a:t>为新文件找空间比较困难</a:t>
            </a:r>
          </a:p>
          <a:p>
            <a:pPr lvl="1"/>
            <a:r>
              <a:rPr lang="zh-CN" altLang="en-US"/>
              <a:t>文件很难增长</a:t>
            </a:r>
          </a:p>
        </p:txBody>
      </p:sp>
      <p:sp>
        <p:nvSpPr>
          <p:cNvPr id="2" name="灯片编号占位符 1">
            <a:extLst>
              <a:ext uri="{FF2B5EF4-FFF2-40B4-BE49-F238E27FC236}">
                <a16:creationId xmlns:a16="http://schemas.microsoft.com/office/drawing/2014/main" id="{954DAB44-491F-77A1-0283-4F2170391FC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checkerboard(across)">
                                      <p:cBhvr>
                                        <p:cTn id="7" dur="500"/>
                                        <p:tgtEl>
                                          <p:spTgt spid="322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2563">
                                            <p:txEl>
                                              <p:pRg st="1" end="1"/>
                                            </p:txEl>
                                          </p:spTgt>
                                        </p:tgtEl>
                                        <p:attrNameLst>
                                          <p:attrName>style.visibility</p:attrName>
                                        </p:attrNameLst>
                                      </p:cBhvr>
                                      <p:to>
                                        <p:strVal val="visible"/>
                                      </p:to>
                                    </p:set>
                                    <p:animEffect transition="in" filter="checkerboard(across)">
                                      <p:cBhvr>
                                        <p:cTn id="12" dur="500"/>
                                        <p:tgtEl>
                                          <p:spTgt spid="322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2563">
                                            <p:txEl>
                                              <p:pRg st="2" end="2"/>
                                            </p:txEl>
                                          </p:spTgt>
                                        </p:tgtEl>
                                        <p:attrNameLst>
                                          <p:attrName>style.visibility</p:attrName>
                                        </p:attrNameLst>
                                      </p:cBhvr>
                                      <p:to>
                                        <p:strVal val="visible"/>
                                      </p:to>
                                    </p:set>
                                    <p:animEffect transition="in" filter="checkerboard(across)">
                                      <p:cBhvr>
                                        <p:cTn id="17" dur="500"/>
                                        <p:tgtEl>
                                          <p:spTgt spid="322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2563">
                                            <p:txEl>
                                              <p:pRg st="3" end="3"/>
                                            </p:txEl>
                                          </p:spTgt>
                                        </p:tgtEl>
                                        <p:attrNameLst>
                                          <p:attrName>style.visibility</p:attrName>
                                        </p:attrNameLst>
                                      </p:cBhvr>
                                      <p:to>
                                        <p:strVal val="visible"/>
                                      </p:to>
                                    </p:set>
                                    <p:animEffect transition="in" filter="checkerboard(across)">
                                      <p:cBhvr>
                                        <p:cTn id="22" dur="500"/>
                                        <p:tgtEl>
                                          <p:spTgt spid="3225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22563">
                                            <p:txEl>
                                              <p:pRg st="4" end="4"/>
                                            </p:txEl>
                                          </p:spTgt>
                                        </p:tgtEl>
                                        <p:attrNameLst>
                                          <p:attrName>style.visibility</p:attrName>
                                        </p:attrNameLst>
                                      </p:cBhvr>
                                      <p:to>
                                        <p:strVal val="visible"/>
                                      </p:to>
                                    </p:set>
                                    <p:animEffect transition="in" filter="checkerboard(across)">
                                      <p:cBhvr>
                                        <p:cTn id="27" dur="500"/>
                                        <p:tgtEl>
                                          <p:spTgt spid="3225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22563">
                                            <p:txEl>
                                              <p:pRg st="5" end="5"/>
                                            </p:txEl>
                                          </p:spTgt>
                                        </p:tgtEl>
                                        <p:attrNameLst>
                                          <p:attrName>style.visibility</p:attrName>
                                        </p:attrNameLst>
                                      </p:cBhvr>
                                      <p:to>
                                        <p:strVal val="visible"/>
                                      </p:to>
                                    </p:set>
                                    <p:animEffect transition="in" filter="checkerboard(across)">
                                      <p:cBhvr>
                                        <p:cTn id="32" dur="500"/>
                                        <p:tgtEl>
                                          <p:spTgt spid="3225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22563">
                                            <p:txEl>
                                              <p:pRg st="6" end="6"/>
                                            </p:txEl>
                                          </p:spTgt>
                                        </p:tgtEl>
                                        <p:attrNameLst>
                                          <p:attrName>style.visibility</p:attrName>
                                        </p:attrNameLst>
                                      </p:cBhvr>
                                      <p:to>
                                        <p:strVal val="visible"/>
                                      </p:to>
                                    </p:set>
                                    <p:animEffect transition="in" filter="checkerboard(across)">
                                      <p:cBhvr>
                                        <p:cTn id="37" dur="500"/>
                                        <p:tgtEl>
                                          <p:spTgt spid="3225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D972C6C4-E072-1EFF-BC96-6020844A2BBA}"/>
              </a:ext>
            </a:extLst>
          </p:cNvPr>
          <p:cNvSpPr>
            <a:spLocks noGrp="1" noChangeArrowheads="1"/>
          </p:cNvSpPr>
          <p:nvPr>
            <p:ph type="title"/>
          </p:nvPr>
        </p:nvSpPr>
        <p:spPr>
          <a:xfrm>
            <a:off x="1042988" y="225431"/>
            <a:ext cx="7850187" cy="746125"/>
          </a:xfrm>
        </p:spPr>
        <p:txBody>
          <a:bodyPr/>
          <a:lstStyle/>
          <a:p>
            <a:r>
              <a:rPr lang="zh-CN" altLang="en-US" dirty="0"/>
              <a:t>基于扩展的系统</a:t>
            </a:r>
          </a:p>
        </p:txBody>
      </p:sp>
      <p:sp>
        <p:nvSpPr>
          <p:cNvPr id="392195" name="Rectangle 3">
            <a:extLst>
              <a:ext uri="{FF2B5EF4-FFF2-40B4-BE49-F238E27FC236}">
                <a16:creationId xmlns:a16="http://schemas.microsoft.com/office/drawing/2014/main" id="{66132637-E608-843D-68B4-09362573A184}"/>
              </a:ext>
            </a:extLst>
          </p:cNvPr>
          <p:cNvSpPr>
            <a:spLocks noGrp="1" noChangeArrowheads="1"/>
          </p:cNvSpPr>
          <p:nvPr>
            <p:ph idx="1"/>
          </p:nvPr>
        </p:nvSpPr>
        <p:spPr>
          <a:xfrm>
            <a:off x="935038" y="1233488"/>
            <a:ext cx="7772400" cy="4895850"/>
          </a:xfrm>
        </p:spPr>
        <p:txBody>
          <a:bodyPr/>
          <a:lstStyle/>
          <a:p>
            <a:r>
              <a:rPr lang="zh-CN" altLang="en-US" dirty="0"/>
              <a:t>许多新的文件系统采用一种修正的连续分配方法</a:t>
            </a:r>
          </a:p>
          <a:p>
            <a:r>
              <a:rPr lang="zh-CN" altLang="en-US" dirty="0"/>
              <a:t>该方法开始分配一块连续空间，当空间不够时，另一块被称为扩展的连续空间会添加到原来的分配中。</a:t>
            </a:r>
          </a:p>
          <a:p>
            <a:r>
              <a:rPr lang="zh-CN" altLang="en-US" dirty="0"/>
              <a:t>文件的块位置就为开始地址、块数、加上一个指向下一扩展的指针。</a:t>
            </a:r>
            <a:r>
              <a:rPr lang="en-US" altLang="zh-CN" dirty="0"/>
              <a:t>   </a:t>
            </a:r>
            <a:endParaRPr lang="zh-CN" altLang="en-US" dirty="0"/>
          </a:p>
        </p:txBody>
      </p:sp>
      <p:sp>
        <p:nvSpPr>
          <p:cNvPr id="2" name="灯片编号占位符 1">
            <a:extLst>
              <a:ext uri="{FF2B5EF4-FFF2-40B4-BE49-F238E27FC236}">
                <a16:creationId xmlns:a16="http://schemas.microsoft.com/office/drawing/2014/main" id="{B66EC592-BCCC-7ABA-1AB4-67E33A33A25F}"/>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Effect transition="in" filter="checkerboard(across)">
                                      <p:cBhvr>
                                        <p:cTn id="7" dur="500"/>
                                        <p:tgtEl>
                                          <p:spTgt spid="392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2195">
                                            <p:txEl>
                                              <p:pRg st="1" end="1"/>
                                            </p:txEl>
                                          </p:spTgt>
                                        </p:tgtEl>
                                        <p:attrNameLst>
                                          <p:attrName>style.visibility</p:attrName>
                                        </p:attrNameLst>
                                      </p:cBhvr>
                                      <p:to>
                                        <p:strVal val="visible"/>
                                      </p:to>
                                    </p:set>
                                    <p:animEffect transition="in" filter="checkerboard(across)">
                                      <p:cBhvr>
                                        <p:cTn id="12" dur="500"/>
                                        <p:tgtEl>
                                          <p:spTgt spid="392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92195">
                                            <p:txEl>
                                              <p:pRg st="2" end="2"/>
                                            </p:txEl>
                                          </p:spTgt>
                                        </p:tgtEl>
                                        <p:attrNameLst>
                                          <p:attrName>style.visibility</p:attrName>
                                        </p:attrNameLst>
                                      </p:cBhvr>
                                      <p:to>
                                        <p:strVal val="visible"/>
                                      </p:to>
                                    </p:set>
                                    <p:animEffect transition="in" filter="checkerboard(across)">
                                      <p:cBhvr>
                                        <p:cTn id="17" dur="500"/>
                                        <p:tgtEl>
                                          <p:spTgt spid="392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FE4D1FEC-E35E-9CEB-451A-58C3E98ECD78}"/>
              </a:ext>
            </a:extLst>
          </p:cNvPr>
          <p:cNvSpPr>
            <a:spLocks noGrp="1" noChangeArrowheads="1"/>
          </p:cNvSpPr>
          <p:nvPr>
            <p:ph type="title"/>
          </p:nvPr>
        </p:nvSpPr>
        <p:spPr/>
        <p:txBody>
          <a:bodyPr/>
          <a:lstStyle/>
          <a:p>
            <a:pPr eaLnBrk="1" hangingPunct="1">
              <a:lnSpc>
                <a:spcPct val="80000"/>
              </a:lnSpc>
            </a:pPr>
            <a:r>
              <a:rPr lang="zh-CN" altLang="en-US" sz="3200" dirty="0"/>
              <a:t>链接分配</a:t>
            </a:r>
          </a:p>
        </p:txBody>
      </p:sp>
      <p:sp>
        <p:nvSpPr>
          <p:cNvPr id="34818" name="Rectangle 3">
            <a:extLst>
              <a:ext uri="{FF2B5EF4-FFF2-40B4-BE49-F238E27FC236}">
                <a16:creationId xmlns:a16="http://schemas.microsoft.com/office/drawing/2014/main" id="{18094A9C-E0BA-DFB5-ED28-73D9F92EF5F0}"/>
              </a:ext>
            </a:extLst>
          </p:cNvPr>
          <p:cNvSpPr>
            <a:spLocks noGrp="1" noChangeArrowheads="1"/>
          </p:cNvSpPr>
          <p:nvPr>
            <p:ph idx="1"/>
          </p:nvPr>
        </p:nvSpPr>
        <p:spPr/>
        <p:txBody>
          <a:bodyPr/>
          <a:lstStyle/>
          <a:p>
            <a:pPr algn="just" eaLnBrk="1" hangingPunct="1"/>
            <a:r>
              <a:rPr lang="zh-CN" altLang="en-US"/>
              <a:t>链接分配有两种实现方案：</a:t>
            </a:r>
          </a:p>
          <a:p>
            <a:pPr lvl="1" algn="just" eaLnBrk="1" hangingPunct="1"/>
            <a:r>
              <a:rPr lang="zh-CN" altLang="en-US"/>
              <a:t>以扇区为单位的链接分配</a:t>
            </a:r>
          </a:p>
          <a:p>
            <a:pPr lvl="1" algn="just" eaLnBrk="1" hangingPunct="1"/>
            <a:r>
              <a:rPr lang="zh-CN" altLang="en-US"/>
              <a:t>以区段（或簇）为单位的链接分配</a:t>
            </a:r>
          </a:p>
        </p:txBody>
      </p:sp>
      <p:sp>
        <p:nvSpPr>
          <p:cNvPr id="2" name="灯片编号占位符 1">
            <a:extLst>
              <a:ext uri="{FF2B5EF4-FFF2-40B4-BE49-F238E27FC236}">
                <a16:creationId xmlns:a16="http://schemas.microsoft.com/office/drawing/2014/main" id="{B031A874-3A79-250D-8B8D-2397AF11E18A}"/>
              </a:ext>
            </a:extLst>
          </p:cNvPr>
          <p:cNvSpPr>
            <a:spLocks noGrp="1"/>
          </p:cNvSpPr>
          <p:nvPr>
            <p:ph type="sldNum" sz="quarter" idx="12"/>
          </p:nvPr>
        </p:nvSpPr>
        <p:spPr/>
        <p:txBody>
          <a:bodyPr/>
          <a:lstStyle/>
          <a:p>
            <a:fld id="{4093CC90-4002-504C-BD88-C9A1D374048E}" type="slidenum">
              <a:rPr lang="zh-CN" altLang="en-US" smtClean="0"/>
              <a:pPr/>
              <a:t>109</a:t>
            </a:fld>
            <a:endParaRPr lang="zh-CN" altLang="en-US" dirty="0"/>
          </a:p>
        </p:txBody>
      </p:sp>
    </p:spTree>
  </p:cSld>
  <p:clrMapOvr>
    <a:masterClrMapping/>
  </p:clrMapOvr>
  <p:transition spd="med">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12DBFAB-9514-64AC-6DA7-FB960F8206A9}"/>
              </a:ext>
            </a:extLst>
          </p:cNvPr>
          <p:cNvSpPr>
            <a:spLocks noGrp="1" noChangeArrowheads="1"/>
          </p:cNvSpPr>
          <p:nvPr>
            <p:ph type="title"/>
          </p:nvPr>
        </p:nvSpPr>
        <p:spPr/>
        <p:txBody>
          <a:bodyPr/>
          <a:lstStyle/>
          <a:p>
            <a:pPr eaLnBrk="1" hangingPunct="1"/>
            <a:r>
              <a:rPr lang="zh-CN" altLang="en-US" sz="4000"/>
              <a:t>以扇区为单位的链接分配</a:t>
            </a:r>
          </a:p>
        </p:txBody>
      </p:sp>
      <p:sp>
        <p:nvSpPr>
          <p:cNvPr id="393219" name="Rectangle 3">
            <a:extLst>
              <a:ext uri="{FF2B5EF4-FFF2-40B4-BE49-F238E27FC236}">
                <a16:creationId xmlns:a16="http://schemas.microsoft.com/office/drawing/2014/main" id="{AB55530F-AC14-5751-CA1E-6DE7F512B2FD}"/>
              </a:ext>
            </a:extLst>
          </p:cNvPr>
          <p:cNvSpPr>
            <a:spLocks noGrp="1" noChangeArrowheads="1"/>
          </p:cNvSpPr>
          <p:nvPr>
            <p:ph idx="1"/>
          </p:nvPr>
        </p:nvSpPr>
        <p:spPr>
          <a:xfrm>
            <a:off x="935038" y="1125538"/>
            <a:ext cx="7969250" cy="3816350"/>
          </a:xfrm>
        </p:spPr>
        <p:txBody>
          <a:bodyPr/>
          <a:lstStyle/>
          <a:p>
            <a:pPr eaLnBrk="1" hangingPunct="1"/>
            <a:r>
              <a:rPr lang="zh-CN" altLang="en-US" sz="2800" dirty="0"/>
              <a:t>每个文件是磁盘块的链表；磁盘块分布在磁盘的任何地方。</a:t>
            </a:r>
          </a:p>
          <a:p>
            <a:pPr eaLnBrk="1" hangingPunct="1">
              <a:buFont typeface="Wingdings" pitchFamily="2" charset="2"/>
              <a:buNone/>
            </a:pPr>
            <a:r>
              <a:rPr lang="en-US" altLang="zh-CN" sz="2800" dirty="0"/>
              <a:t>   </a:t>
            </a:r>
          </a:p>
          <a:p>
            <a:pPr eaLnBrk="1" hangingPunct="1"/>
            <a:r>
              <a:rPr lang="zh-CN" altLang="en-US" sz="2800" dirty="0"/>
              <a:t>文件目录包含第一块的指针及最后一块的指针。</a:t>
            </a:r>
          </a:p>
          <a:p>
            <a:pPr eaLnBrk="1" hangingPunct="1">
              <a:buFont typeface="Wingdings" pitchFamily="2" charset="2"/>
              <a:buNone/>
            </a:pPr>
            <a:r>
              <a:rPr lang="en-US" altLang="zh-CN" sz="2800" dirty="0"/>
              <a:t>   </a:t>
            </a:r>
            <a:endParaRPr lang="zh-CN" altLang="en-US" sz="2400" dirty="0"/>
          </a:p>
        </p:txBody>
      </p:sp>
      <p:grpSp>
        <p:nvGrpSpPr>
          <p:cNvPr id="2" name="Group 4">
            <a:extLst>
              <a:ext uri="{FF2B5EF4-FFF2-40B4-BE49-F238E27FC236}">
                <a16:creationId xmlns:a16="http://schemas.microsoft.com/office/drawing/2014/main" id="{67829225-B42E-00C5-9F74-D5F07955906E}"/>
              </a:ext>
            </a:extLst>
          </p:cNvPr>
          <p:cNvGrpSpPr>
            <a:grpSpLocks/>
          </p:cNvGrpSpPr>
          <p:nvPr/>
        </p:nvGrpSpPr>
        <p:grpSpPr bwMode="auto">
          <a:xfrm>
            <a:off x="3767574" y="3817439"/>
            <a:ext cx="4419600" cy="1908175"/>
            <a:chOff x="1857" y="1576"/>
            <a:chExt cx="1569" cy="945"/>
          </a:xfrm>
        </p:grpSpPr>
        <p:sp>
          <p:nvSpPr>
            <p:cNvPr id="35844" name="Rectangle 5">
              <a:extLst>
                <a:ext uri="{FF2B5EF4-FFF2-40B4-BE49-F238E27FC236}">
                  <a16:creationId xmlns:a16="http://schemas.microsoft.com/office/drawing/2014/main" id="{ACEA1B16-C818-55A5-BFAC-7B81564F31A6}"/>
                </a:ext>
              </a:extLst>
            </p:cNvPr>
            <p:cNvSpPr>
              <a:spLocks noChangeArrowheads="1"/>
            </p:cNvSpPr>
            <p:nvPr/>
          </p:nvSpPr>
          <p:spPr bwMode="auto">
            <a:xfrm>
              <a:off x="2481" y="1576"/>
              <a:ext cx="945" cy="272"/>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1800">
                  <a:latin typeface="Helvetica" pitchFamily="2" charset="0"/>
                </a:rPr>
                <a:t>pointer</a:t>
              </a:r>
            </a:p>
          </p:txBody>
        </p:sp>
        <p:sp>
          <p:nvSpPr>
            <p:cNvPr id="35845" name="Rectangle 6">
              <a:extLst>
                <a:ext uri="{FF2B5EF4-FFF2-40B4-BE49-F238E27FC236}">
                  <a16:creationId xmlns:a16="http://schemas.microsoft.com/office/drawing/2014/main" id="{1C43F687-0DAF-DFB1-BD77-782D4DC5B8DC}"/>
                </a:ext>
              </a:extLst>
            </p:cNvPr>
            <p:cNvSpPr>
              <a:spLocks noChangeArrowheads="1"/>
            </p:cNvSpPr>
            <p:nvPr/>
          </p:nvSpPr>
          <p:spPr bwMode="auto">
            <a:xfrm>
              <a:off x="2481" y="1848"/>
              <a:ext cx="945" cy="673"/>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35846" name="Text Box 7">
              <a:extLst>
                <a:ext uri="{FF2B5EF4-FFF2-40B4-BE49-F238E27FC236}">
                  <a16:creationId xmlns:a16="http://schemas.microsoft.com/office/drawing/2014/main" id="{847B4D95-EA5C-7B58-A676-2F2595986B2D}"/>
                </a:ext>
              </a:extLst>
            </p:cNvPr>
            <p:cNvSpPr txBox="1">
              <a:spLocks noChangeArrowheads="1"/>
            </p:cNvSpPr>
            <p:nvPr/>
          </p:nvSpPr>
          <p:spPr bwMode="auto">
            <a:xfrm>
              <a:off x="1857" y="1622"/>
              <a:ext cx="43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0" hangingPunct="0">
                <a:spcBef>
                  <a:spcPct val="50000"/>
                </a:spcBef>
              </a:pPr>
              <a:r>
                <a:rPr lang="en-US" altLang="zh-CN" sz="1800">
                  <a:latin typeface="Helvetica" pitchFamily="2" charset="0"/>
                </a:rPr>
                <a:t>block      =</a:t>
              </a:r>
            </a:p>
          </p:txBody>
        </p:sp>
      </p:grpSp>
      <p:sp>
        <p:nvSpPr>
          <p:cNvPr id="3" name="灯片编号占位符 2">
            <a:extLst>
              <a:ext uri="{FF2B5EF4-FFF2-40B4-BE49-F238E27FC236}">
                <a16:creationId xmlns:a16="http://schemas.microsoft.com/office/drawing/2014/main" id="{EA96847B-2675-7D45-34A8-3C95710F7FE3}"/>
              </a:ext>
            </a:extLst>
          </p:cNvPr>
          <p:cNvSpPr>
            <a:spLocks noGrp="1"/>
          </p:cNvSpPr>
          <p:nvPr>
            <p:ph type="sldNum" sz="quarter" idx="12"/>
          </p:nvPr>
        </p:nvSpPr>
        <p:spPr/>
        <p:txBody>
          <a:bodyPr/>
          <a:lstStyle/>
          <a:p>
            <a:fld id="{4093CC90-4002-504C-BD88-C9A1D374048E}" type="slidenum">
              <a:rPr lang="zh-CN" altLang="en-US" smtClean="0"/>
              <a:pPr/>
              <a:t>110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3219">
                                            <p:txEl>
                                              <p:pRg st="0" end="0"/>
                                            </p:txEl>
                                          </p:spTgt>
                                        </p:tgtEl>
                                        <p:attrNameLst>
                                          <p:attrName>style.visibility</p:attrName>
                                        </p:attrNameLst>
                                      </p:cBhvr>
                                      <p:to>
                                        <p:strVal val="visible"/>
                                      </p:to>
                                    </p:set>
                                    <p:animEffect transition="in" filter="checkerboard(across)">
                                      <p:cBhvr>
                                        <p:cTn id="7" dur="500"/>
                                        <p:tgtEl>
                                          <p:spTgt spid="393219">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93219">
                                            <p:txEl>
                                              <p:pRg st="1" end="1"/>
                                            </p:txEl>
                                          </p:spTgt>
                                        </p:tgtEl>
                                        <p:attrNameLst>
                                          <p:attrName>style.visibility</p:attrName>
                                        </p:attrNameLst>
                                      </p:cBhvr>
                                      <p:to>
                                        <p:strVal val="visible"/>
                                      </p:to>
                                    </p:set>
                                    <p:animEffect transition="in" filter="checkerboard(across)">
                                      <p:cBhvr>
                                        <p:cTn id="10" dur="500"/>
                                        <p:tgtEl>
                                          <p:spTgt spid="393219">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heckerboard(across)">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393219">
                                            <p:txEl>
                                              <p:pRg st="2" end="2"/>
                                            </p:txEl>
                                          </p:spTgt>
                                        </p:tgtEl>
                                        <p:attrNameLst>
                                          <p:attrName>style.visibility</p:attrName>
                                        </p:attrNameLst>
                                      </p:cBhvr>
                                      <p:to>
                                        <p:strVal val="visible"/>
                                      </p:to>
                                    </p:set>
                                    <p:animEffect transition="in" filter="checkerboard(across)">
                                      <p:cBhvr>
                                        <p:cTn id="18" dur="500"/>
                                        <p:tgtEl>
                                          <p:spTgt spid="393219">
                                            <p:txEl>
                                              <p:pRg st="2" end="2"/>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393219">
                                            <p:txEl>
                                              <p:pRg st="3" end="3"/>
                                            </p:txEl>
                                          </p:spTgt>
                                        </p:tgtEl>
                                        <p:attrNameLst>
                                          <p:attrName>style.visibility</p:attrName>
                                        </p:attrNameLst>
                                      </p:cBhvr>
                                      <p:to>
                                        <p:strVal val="visible"/>
                                      </p:to>
                                    </p:set>
                                    <p:animEffect transition="in" filter="checkerboard(across)">
                                      <p:cBhvr>
                                        <p:cTn id="21" dur="500"/>
                                        <p:tgtEl>
                                          <p:spTgt spid="393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C35071DF-F453-57D1-3EDD-2053DE771017}"/>
              </a:ext>
            </a:extLst>
          </p:cNvPr>
          <p:cNvSpPr>
            <a:spLocks noGrp="1" noChangeArrowheads="1"/>
          </p:cNvSpPr>
          <p:nvPr>
            <p:ph type="title"/>
          </p:nvPr>
        </p:nvSpPr>
        <p:spPr>
          <a:xfrm>
            <a:off x="1042988" y="225431"/>
            <a:ext cx="7850187" cy="746125"/>
          </a:xfrm>
        </p:spPr>
        <p:txBody>
          <a:bodyPr/>
          <a:lstStyle/>
          <a:p>
            <a:r>
              <a:rPr lang="zh-CN" altLang="en-US" dirty="0"/>
              <a:t>磁盘空间的链接分配</a:t>
            </a:r>
          </a:p>
        </p:txBody>
      </p:sp>
      <p:sp>
        <p:nvSpPr>
          <p:cNvPr id="5" name="内容占位符 4">
            <a:extLst>
              <a:ext uri="{FF2B5EF4-FFF2-40B4-BE49-F238E27FC236}">
                <a16:creationId xmlns:a16="http://schemas.microsoft.com/office/drawing/2014/main" id="{6DD3F8D7-21D2-4771-4654-B2F8FA338181}"/>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55E44496-FC4F-E335-A336-1AEBB2E10BF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111</a:t>
            </a:fld>
            <a:endParaRPr lang="zh-CN" altLang="en-US" dirty="0"/>
          </a:p>
        </p:txBody>
      </p:sp>
      <p:pic>
        <p:nvPicPr>
          <p:cNvPr id="36866" name="Picture 4">
            <a:extLst>
              <a:ext uri="{FF2B5EF4-FFF2-40B4-BE49-F238E27FC236}">
                <a16:creationId xmlns:a16="http://schemas.microsoft.com/office/drawing/2014/main" id="{D04FAC43-F320-9357-717A-7EFEBD97C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561" t="801" r="10583" b="534"/>
          <a:stretch>
            <a:fillRect/>
          </a:stretch>
        </p:blipFill>
        <p:spPr bwMode="auto">
          <a:xfrm>
            <a:off x="900113" y="1106488"/>
            <a:ext cx="7632700" cy="556260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C5F407AD-BAD0-0C8A-F9AF-A979A28FF3A8}"/>
              </a:ext>
            </a:extLst>
          </p:cNvPr>
          <p:cNvSpPr>
            <a:spLocks noGrp="1" noChangeArrowheads="1"/>
          </p:cNvSpPr>
          <p:nvPr>
            <p:ph type="title"/>
          </p:nvPr>
        </p:nvSpPr>
        <p:spPr>
          <a:xfrm>
            <a:off x="1042988" y="225431"/>
            <a:ext cx="7850187" cy="746125"/>
          </a:xfrm>
        </p:spPr>
        <p:txBody>
          <a:bodyPr/>
          <a:lstStyle/>
          <a:p>
            <a:r>
              <a:rPr lang="zh-CN" altLang="en-US"/>
              <a:t>特点</a:t>
            </a:r>
          </a:p>
        </p:txBody>
      </p:sp>
      <p:sp>
        <p:nvSpPr>
          <p:cNvPr id="37890" name="Rectangle 3">
            <a:extLst>
              <a:ext uri="{FF2B5EF4-FFF2-40B4-BE49-F238E27FC236}">
                <a16:creationId xmlns:a16="http://schemas.microsoft.com/office/drawing/2014/main" id="{1A7F6C2A-EA99-02BC-8D35-4172EA646B31}"/>
              </a:ext>
            </a:extLst>
          </p:cNvPr>
          <p:cNvSpPr>
            <a:spLocks noGrp="1" noChangeArrowheads="1"/>
          </p:cNvSpPr>
          <p:nvPr>
            <p:ph idx="1"/>
          </p:nvPr>
        </p:nvSpPr>
        <p:spPr>
          <a:xfrm>
            <a:off x="935038" y="1233488"/>
            <a:ext cx="7772400" cy="4895850"/>
          </a:xfrm>
        </p:spPr>
        <p:txBody>
          <a:bodyPr/>
          <a:lstStyle/>
          <a:p>
            <a:r>
              <a:rPr lang="zh-CN" altLang="en-US"/>
              <a:t>优点：</a:t>
            </a:r>
          </a:p>
          <a:p>
            <a:pPr lvl="1"/>
            <a:r>
              <a:rPr lang="zh-CN" altLang="en-US"/>
              <a:t>简单 － 只需起始位置</a:t>
            </a:r>
          </a:p>
          <a:p>
            <a:pPr lvl="1"/>
            <a:r>
              <a:rPr lang="zh-CN" altLang="en-US"/>
              <a:t>文件创建与增长容易</a:t>
            </a:r>
          </a:p>
          <a:p>
            <a:r>
              <a:rPr lang="zh-CN" altLang="en-US"/>
              <a:t>缺点：</a:t>
            </a:r>
          </a:p>
          <a:p>
            <a:pPr lvl="1"/>
            <a:r>
              <a:rPr lang="zh-CN" altLang="en-US"/>
              <a:t>不能随机访问</a:t>
            </a:r>
          </a:p>
          <a:p>
            <a:pPr lvl="1"/>
            <a:r>
              <a:rPr lang="zh-CN" altLang="en-US"/>
              <a:t>块与块之间的链接指针需要占用空间</a:t>
            </a:r>
          </a:p>
          <a:p>
            <a:pPr lvl="1"/>
            <a:r>
              <a:rPr lang="zh-CN" altLang="en-US"/>
              <a:t>存在可靠性问题，如指针损坏</a:t>
            </a:r>
          </a:p>
          <a:p>
            <a:endParaRPr lang="zh-CN" altLang="en-US"/>
          </a:p>
        </p:txBody>
      </p:sp>
      <p:sp>
        <p:nvSpPr>
          <p:cNvPr id="2" name="灯片编号占位符 1">
            <a:extLst>
              <a:ext uri="{FF2B5EF4-FFF2-40B4-BE49-F238E27FC236}">
                <a16:creationId xmlns:a16="http://schemas.microsoft.com/office/drawing/2014/main" id="{5769C7D2-E927-5441-5926-49966F47B55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112</a:t>
            </a:fld>
            <a:endParaRPr lang="zh-CN" altLang="en-US" dirty="0"/>
          </a:p>
        </p:txBody>
      </p:sp>
    </p:spTree>
  </p:cSld>
  <p:clrMapOvr>
    <a:masterClrMapping/>
  </p:clrMapOvr>
  <p:transition spd="med">
    <p:zo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624AC1E7-D81E-E2EB-16C8-7356FBED7FB4}"/>
              </a:ext>
            </a:extLst>
          </p:cNvPr>
          <p:cNvSpPr>
            <a:spLocks noGrp="1" noChangeArrowheads="1"/>
          </p:cNvSpPr>
          <p:nvPr>
            <p:ph type="title"/>
          </p:nvPr>
        </p:nvSpPr>
        <p:spPr/>
        <p:txBody>
          <a:bodyPr/>
          <a:lstStyle/>
          <a:p>
            <a:pPr eaLnBrk="1" hangingPunct="1"/>
            <a:r>
              <a:rPr lang="zh-CN" altLang="en-US"/>
              <a:t>以区段（或簇）为单位分配</a:t>
            </a:r>
          </a:p>
        </p:txBody>
      </p:sp>
      <p:sp>
        <p:nvSpPr>
          <p:cNvPr id="326659" name="Rectangle 3">
            <a:extLst>
              <a:ext uri="{FF2B5EF4-FFF2-40B4-BE49-F238E27FC236}">
                <a16:creationId xmlns:a16="http://schemas.microsoft.com/office/drawing/2014/main" id="{92CA1ACB-868A-B17D-E074-57289621E7ED}"/>
              </a:ext>
            </a:extLst>
          </p:cNvPr>
          <p:cNvSpPr>
            <a:spLocks noGrp="1" noChangeArrowheads="1"/>
          </p:cNvSpPr>
          <p:nvPr>
            <p:ph idx="1"/>
          </p:nvPr>
        </p:nvSpPr>
        <p:spPr>
          <a:xfrm>
            <a:off x="827088" y="1125538"/>
            <a:ext cx="8077200" cy="4541837"/>
          </a:xfrm>
        </p:spPr>
        <p:txBody>
          <a:bodyPr/>
          <a:lstStyle/>
          <a:p>
            <a:pPr algn="just" eaLnBrk="1" hangingPunct="1"/>
            <a:r>
              <a:rPr lang="zh-CN" altLang="en-US"/>
              <a:t>以区段（或簇）为单位分配：</a:t>
            </a:r>
            <a:r>
              <a:rPr lang="zh-CN" altLang="en-US">
                <a:latin typeface="Times New Roman" panose="02020603050405020304" pitchFamily="18" charset="0"/>
              </a:rPr>
              <a:t>是连续分配和非连续分配的结合，现广为使用。区段由若干个连续扇区组成，文件所属各区段可以用链接指针、索引表等方法来管理。</a:t>
            </a:r>
          </a:p>
          <a:p>
            <a:pPr algn="just" eaLnBrk="1" hangingPunct="1"/>
            <a:r>
              <a:rPr lang="zh-CN" altLang="en-US">
                <a:latin typeface="Times New Roman" panose="02020603050405020304" pitchFamily="18" charset="0"/>
              </a:rPr>
              <a:t>此策略的优点是对辅存的管理效率较高，并减少了文件访问的查寻时间。</a:t>
            </a:r>
          </a:p>
        </p:txBody>
      </p:sp>
      <p:sp>
        <p:nvSpPr>
          <p:cNvPr id="2" name="灯片编号占位符 1">
            <a:extLst>
              <a:ext uri="{FF2B5EF4-FFF2-40B4-BE49-F238E27FC236}">
                <a16:creationId xmlns:a16="http://schemas.microsoft.com/office/drawing/2014/main" id="{814153EC-5C67-33BE-B213-673EC4165D81}"/>
              </a:ext>
            </a:extLst>
          </p:cNvPr>
          <p:cNvSpPr>
            <a:spLocks noGrp="1"/>
          </p:cNvSpPr>
          <p:nvPr>
            <p:ph type="sldNum" sz="quarter" idx="12"/>
          </p:nvPr>
        </p:nvSpPr>
        <p:spPr/>
        <p:txBody>
          <a:bodyPr/>
          <a:lstStyle/>
          <a:p>
            <a:fld id="{4093CC90-4002-504C-BD88-C9A1D374048E}" type="slidenum">
              <a:rPr lang="zh-CN" altLang="en-US" smtClean="0"/>
              <a:pPr/>
              <a:t>113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6659">
                                            <p:txEl>
                                              <p:pRg st="0" end="0"/>
                                            </p:txEl>
                                          </p:spTgt>
                                        </p:tgtEl>
                                        <p:attrNameLst>
                                          <p:attrName>style.visibility</p:attrName>
                                        </p:attrNameLst>
                                      </p:cBhvr>
                                      <p:to>
                                        <p:strVal val="visible"/>
                                      </p:to>
                                    </p:set>
                                    <p:animEffect transition="in" filter="checkerboard(across)">
                                      <p:cBhvr>
                                        <p:cTn id="7" dur="500"/>
                                        <p:tgtEl>
                                          <p:spTgt spid="326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26659">
                                            <p:txEl>
                                              <p:pRg st="1" end="1"/>
                                            </p:txEl>
                                          </p:spTgt>
                                        </p:tgtEl>
                                        <p:attrNameLst>
                                          <p:attrName>style.visibility</p:attrName>
                                        </p:attrNameLst>
                                      </p:cBhvr>
                                      <p:to>
                                        <p:strVal val="visible"/>
                                      </p:to>
                                    </p:set>
                                    <p:animEffect transition="in" filter="checkerboard(across)">
                                      <p:cBhvr>
                                        <p:cTn id="12" dur="500"/>
                                        <p:tgtEl>
                                          <p:spTgt spid="3266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4B6BAF7-1BD0-7864-3F78-4DEDEE0F1453}"/>
              </a:ext>
            </a:extLst>
          </p:cNvPr>
          <p:cNvSpPr>
            <a:spLocks noGrp="1" noChangeArrowheads="1"/>
          </p:cNvSpPr>
          <p:nvPr>
            <p:ph type="title"/>
          </p:nvPr>
        </p:nvSpPr>
        <p:spPr>
          <a:xfrm>
            <a:off x="1042988" y="225431"/>
            <a:ext cx="7850187" cy="746125"/>
          </a:xfrm>
        </p:spPr>
        <p:txBody>
          <a:bodyPr/>
          <a:lstStyle/>
          <a:p>
            <a:r>
              <a:rPr lang="zh-CN" altLang="en-US" dirty="0"/>
              <a:t>文件分配表</a:t>
            </a:r>
            <a:endParaRPr lang="en-US" altLang="zh-CN" dirty="0"/>
          </a:p>
        </p:txBody>
      </p:sp>
      <p:sp>
        <p:nvSpPr>
          <p:cNvPr id="327683" name="Rectangle 3">
            <a:extLst>
              <a:ext uri="{FF2B5EF4-FFF2-40B4-BE49-F238E27FC236}">
                <a16:creationId xmlns:a16="http://schemas.microsoft.com/office/drawing/2014/main" id="{CFA50FC6-AFB6-2CE3-8CE6-8AE0F7CDE287}"/>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a:t>文件分配表</a:t>
            </a:r>
            <a:r>
              <a:rPr lang="en-US" altLang="zh-CN"/>
              <a:t>FAT</a:t>
            </a:r>
            <a:r>
              <a:rPr lang="zh-CN" altLang="en-US"/>
              <a:t>是以链接方式存储文件的系统中记录磁盘分配和跟踪空白盘块的数据结构。</a:t>
            </a:r>
          </a:p>
          <a:p>
            <a:r>
              <a:rPr lang="zh-CN" altLang="en-US"/>
              <a:t>该表整个文件系统仅设一张，其结构如下所示。表的序号是物理块号，从0开始直至</a:t>
            </a:r>
            <a:r>
              <a:rPr lang="en-US" altLang="zh-CN"/>
              <a:t>N－1（N</a:t>
            </a:r>
            <a:r>
              <a:rPr lang="zh-CN" altLang="en-US"/>
              <a:t>为盘块总数）。</a:t>
            </a:r>
          </a:p>
          <a:p>
            <a:r>
              <a:rPr lang="zh-CN" altLang="en-US"/>
              <a:t>每个表项中的内容为存放文件数据的下一个盘块号。</a:t>
            </a:r>
          </a:p>
          <a:p>
            <a:r>
              <a:rPr lang="zh-CN" altLang="en-US"/>
              <a:t>文件的首地址（第一个盘块号）存放在目录中。因此，从目录中找到文件的首地址后，就能找到文件在磁盘上的所有存放地址。</a:t>
            </a:r>
          </a:p>
        </p:txBody>
      </p:sp>
      <p:sp>
        <p:nvSpPr>
          <p:cNvPr id="2" name="灯片编号占位符 1">
            <a:extLst>
              <a:ext uri="{FF2B5EF4-FFF2-40B4-BE49-F238E27FC236}">
                <a16:creationId xmlns:a16="http://schemas.microsoft.com/office/drawing/2014/main" id="{77544110-C6EE-E0B2-6C5D-B4B3552A2C44}"/>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114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animEffect transition="in" filter="checkerboard(across)">
                                      <p:cBhvr>
                                        <p:cTn id="7" dur="500"/>
                                        <p:tgtEl>
                                          <p:spTgt spid="327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7683">
                                            <p:txEl>
                                              <p:pRg st="1" end="1"/>
                                            </p:txEl>
                                          </p:spTgt>
                                        </p:tgtEl>
                                        <p:attrNameLst>
                                          <p:attrName>style.visibility</p:attrName>
                                        </p:attrNameLst>
                                      </p:cBhvr>
                                      <p:to>
                                        <p:strVal val="visible"/>
                                      </p:to>
                                    </p:set>
                                    <p:animEffect transition="in" filter="checkerboard(across)">
                                      <p:cBhvr>
                                        <p:cTn id="12" dur="500"/>
                                        <p:tgtEl>
                                          <p:spTgt spid="327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7683">
                                            <p:txEl>
                                              <p:pRg st="2" end="2"/>
                                            </p:txEl>
                                          </p:spTgt>
                                        </p:tgtEl>
                                        <p:attrNameLst>
                                          <p:attrName>style.visibility</p:attrName>
                                        </p:attrNameLst>
                                      </p:cBhvr>
                                      <p:to>
                                        <p:strVal val="visible"/>
                                      </p:to>
                                    </p:set>
                                    <p:animEffect transition="in" filter="checkerboard(across)">
                                      <p:cBhvr>
                                        <p:cTn id="17" dur="500"/>
                                        <p:tgtEl>
                                          <p:spTgt spid="3276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7683">
                                            <p:txEl>
                                              <p:pRg st="3" end="3"/>
                                            </p:txEl>
                                          </p:spTgt>
                                        </p:tgtEl>
                                        <p:attrNameLst>
                                          <p:attrName>style.visibility</p:attrName>
                                        </p:attrNameLst>
                                      </p:cBhvr>
                                      <p:to>
                                        <p:strVal val="visible"/>
                                      </p:to>
                                    </p:set>
                                    <p:animEffect transition="in" filter="checkerboard(across)">
                                      <p:cBhvr>
                                        <p:cTn id="22" dur="500"/>
                                        <p:tgtEl>
                                          <p:spTgt spid="327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4D78DCDF-6962-26D4-68F6-E4F2A3368BA2}"/>
              </a:ext>
            </a:extLst>
          </p:cNvPr>
          <p:cNvSpPr>
            <a:spLocks noGrp="1" noChangeArrowheads="1"/>
          </p:cNvSpPr>
          <p:nvPr>
            <p:ph type="title"/>
          </p:nvPr>
        </p:nvSpPr>
        <p:spPr/>
        <p:txBody>
          <a:bodyPr/>
          <a:lstStyle/>
          <a:p>
            <a:pPr eaLnBrk="1" hangingPunct="1"/>
            <a:r>
              <a:rPr lang="zh-CN" altLang="en-US" sz="4000"/>
              <a:t>文件分配表示意图</a:t>
            </a:r>
          </a:p>
        </p:txBody>
      </p:sp>
      <p:pic>
        <p:nvPicPr>
          <p:cNvPr id="40962" name="Picture 4">
            <a:extLst>
              <a:ext uri="{FF2B5EF4-FFF2-40B4-BE49-F238E27FC236}">
                <a16:creationId xmlns:a16="http://schemas.microsoft.com/office/drawing/2014/main" id="{742AAA14-D709-8B59-8544-98B1F8506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41" t="1070" r="7158" b="1385"/>
          <a:stretch>
            <a:fillRect/>
          </a:stretch>
        </p:blipFill>
        <p:spPr bwMode="auto">
          <a:xfrm>
            <a:off x="989013" y="1274763"/>
            <a:ext cx="6915150" cy="49752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477F5E94-4227-31EB-676C-4EFD55F7244C}"/>
              </a:ext>
            </a:extLst>
          </p:cNvPr>
          <p:cNvSpPr>
            <a:spLocks noGrp="1"/>
          </p:cNvSpPr>
          <p:nvPr>
            <p:ph type="sldNum" sz="quarter" idx="12"/>
          </p:nvPr>
        </p:nvSpPr>
        <p:spPr/>
        <p:txBody>
          <a:bodyPr/>
          <a:lstStyle/>
          <a:p>
            <a:fld id="{4093CC90-4002-504C-BD88-C9A1D374048E}" type="slidenum">
              <a:rPr lang="zh-CN" altLang="en-US" smtClean="0"/>
              <a:pPr/>
              <a:t>115</a:t>
            </a:fld>
            <a:endParaRPr lang="zh-CN" altLang="en-US" dirty="0"/>
          </a:p>
        </p:txBody>
      </p:sp>
    </p:spTree>
  </p:cSld>
  <p:clrMapOvr>
    <a:masterClrMapping/>
  </p:clrMapOvr>
  <p:transition spd="med">
    <p:zo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DCC1523E-DF8E-5732-B6B4-FFD87D8F04BC}"/>
              </a:ext>
            </a:extLst>
          </p:cNvPr>
          <p:cNvSpPr>
            <a:spLocks noGrp="1" noChangeArrowheads="1"/>
          </p:cNvSpPr>
          <p:nvPr>
            <p:ph type="title"/>
          </p:nvPr>
        </p:nvSpPr>
        <p:spPr/>
        <p:txBody>
          <a:bodyPr/>
          <a:lstStyle/>
          <a:p>
            <a:pPr eaLnBrk="1" hangingPunct="1"/>
            <a:r>
              <a:rPr lang="zh-CN" altLang="en-US"/>
              <a:t>文件分配表例1</a:t>
            </a:r>
          </a:p>
        </p:txBody>
      </p:sp>
      <p:sp>
        <p:nvSpPr>
          <p:cNvPr id="41986" name="Rectangle 3">
            <a:extLst>
              <a:ext uri="{FF2B5EF4-FFF2-40B4-BE49-F238E27FC236}">
                <a16:creationId xmlns:a16="http://schemas.microsoft.com/office/drawing/2014/main" id="{F0EBE4B0-4E51-81E4-B3A7-0516F0290D86}"/>
              </a:ext>
            </a:extLst>
          </p:cNvPr>
          <p:cNvSpPr>
            <a:spLocks noGrp="1" noChangeArrowheads="1"/>
          </p:cNvSpPr>
          <p:nvPr>
            <p:ph idx="1"/>
          </p:nvPr>
        </p:nvSpPr>
        <p:spPr>
          <a:xfrm>
            <a:off x="684213" y="1268413"/>
            <a:ext cx="8270875" cy="4611687"/>
          </a:xfrm>
        </p:spPr>
        <p:txBody>
          <a:bodyPr/>
          <a:lstStyle/>
          <a:p>
            <a:pPr algn="just" eaLnBrk="1" hangingPunct="1"/>
            <a:r>
              <a:rPr lang="zh-CN" altLang="en-US"/>
              <a:t>假定磁盘块的大小为1</a:t>
            </a:r>
            <a:r>
              <a:rPr lang="en-US" altLang="zh-CN"/>
              <a:t>KB，</a:t>
            </a:r>
            <a:r>
              <a:rPr lang="zh-CN" altLang="en-US"/>
              <a:t>对于1.2</a:t>
            </a:r>
            <a:r>
              <a:rPr lang="en-US" altLang="zh-CN"/>
              <a:t>MB</a:t>
            </a:r>
            <a:r>
              <a:rPr lang="zh-CN" altLang="en-US"/>
              <a:t>的软盘，其文件分配表</a:t>
            </a:r>
            <a:r>
              <a:rPr lang="en-US" altLang="zh-CN"/>
              <a:t>FAT</a:t>
            </a:r>
            <a:r>
              <a:rPr lang="zh-CN" altLang="en-US"/>
              <a:t>需要占用多少存储空间？</a:t>
            </a:r>
          </a:p>
          <a:p>
            <a:pPr algn="just" eaLnBrk="1" hangingPunct="1"/>
            <a:r>
              <a:rPr lang="zh-CN" altLang="en-US"/>
              <a:t>若硬盘容量为200</a:t>
            </a:r>
            <a:r>
              <a:rPr lang="en-US" altLang="zh-CN"/>
              <a:t>MB</a:t>
            </a:r>
            <a:r>
              <a:rPr lang="zh-CN" altLang="en-US"/>
              <a:t>时，</a:t>
            </a:r>
            <a:r>
              <a:rPr lang="en-US" altLang="zh-CN"/>
              <a:t>FAT</a:t>
            </a:r>
            <a:r>
              <a:rPr lang="zh-CN" altLang="en-US"/>
              <a:t>需要占用多少空间？</a:t>
            </a:r>
          </a:p>
        </p:txBody>
      </p:sp>
      <p:sp>
        <p:nvSpPr>
          <p:cNvPr id="2" name="灯片编号占位符 1">
            <a:extLst>
              <a:ext uri="{FF2B5EF4-FFF2-40B4-BE49-F238E27FC236}">
                <a16:creationId xmlns:a16="http://schemas.microsoft.com/office/drawing/2014/main" id="{DAFAA465-EBB7-81E7-1678-A7AC4C2240A1}"/>
              </a:ext>
            </a:extLst>
          </p:cNvPr>
          <p:cNvSpPr>
            <a:spLocks noGrp="1"/>
          </p:cNvSpPr>
          <p:nvPr>
            <p:ph type="sldNum" sz="quarter" idx="12"/>
          </p:nvPr>
        </p:nvSpPr>
        <p:spPr/>
        <p:txBody>
          <a:bodyPr/>
          <a:lstStyle/>
          <a:p>
            <a:fld id="{4093CC90-4002-504C-BD88-C9A1D374048E}" type="slidenum">
              <a:rPr lang="zh-CN" altLang="en-US" smtClean="0"/>
              <a:pPr/>
              <a:t>116</a:t>
            </a:fld>
            <a:endParaRPr lang="zh-CN" altLang="en-US" dirty="0"/>
          </a:p>
        </p:txBody>
      </p:sp>
    </p:spTree>
  </p:cSld>
  <p:clrMapOvr>
    <a:masterClrMapping/>
  </p:clrMapOvr>
  <p:transition spd="med">
    <p:zoom/>
  </p:transition>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7213BB5C-763D-E403-7E22-8F8AB28F8317}"/>
              </a:ext>
            </a:extLst>
          </p:cNvPr>
          <p:cNvSpPr>
            <a:spLocks noGrp="1" noChangeArrowheads="1"/>
          </p:cNvSpPr>
          <p:nvPr>
            <p:ph type="title"/>
          </p:nvPr>
        </p:nvSpPr>
        <p:spPr/>
        <p:txBody>
          <a:bodyPr/>
          <a:lstStyle/>
          <a:p>
            <a:pPr eaLnBrk="1" hangingPunct="1"/>
            <a:r>
              <a:rPr lang="zh-CN" altLang="en-US"/>
              <a:t>文件分配表例2</a:t>
            </a:r>
          </a:p>
        </p:txBody>
      </p:sp>
      <p:sp>
        <p:nvSpPr>
          <p:cNvPr id="330755" name="Rectangle 3">
            <a:extLst>
              <a:ext uri="{FF2B5EF4-FFF2-40B4-BE49-F238E27FC236}">
                <a16:creationId xmlns:a16="http://schemas.microsoft.com/office/drawing/2014/main" id="{C19E2072-5CC9-6D6D-4DE7-3E818ED8D473}"/>
              </a:ext>
            </a:extLst>
          </p:cNvPr>
          <p:cNvSpPr>
            <a:spLocks noGrp="1" noChangeArrowheads="1"/>
          </p:cNvSpPr>
          <p:nvPr>
            <p:ph idx="1"/>
          </p:nvPr>
        </p:nvSpPr>
        <p:spPr>
          <a:xfrm>
            <a:off x="576263" y="1268413"/>
            <a:ext cx="8378825" cy="4968875"/>
          </a:xfrm>
        </p:spPr>
        <p:txBody>
          <a:bodyPr/>
          <a:lstStyle/>
          <a:p>
            <a:pPr algn="just" eaLnBrk="1" hangingPunct="1"/>
            <a:r>
              <a:rPr lang="zh-CN" altLang="en-US"/>
              <a:t>软盘大小为1.2</a:t>
            </a:r>
            <a:r>
              <a:rPr lang="en-US" altLang="zh-CN"/>
              <a:t>MB，</a:t>
            </a:r>
            <a:r>
              <a:rPr lang="zh-CN" altLang="en-US"/>
              <a:t>磁盘块的大小为1</a:t>
            </a:r>
            <a:r>
              <a:rPr lang="en-US" altLang="zh-CN"/>
              <a:t>KB，</a:t>
            </a:r>
            <a:r>
              <a:rPr lang="zh-CN" altLang="en-US"/>
              <a:t>所以该软盘共有盘块：1.2</a:t>
            </a:r>
            <a:r>
              <a:rPr lang="en-US" altLang="zh-CN"/>
              <a:t>M/1K=1.2K（</a:t>
            </a:r>
            <a:r>
              <a:rPr lang="zh-CN" altLang="en-US"/>
              <a:t>个）</a:t>
            </a:r>
          </a:p>
          <a:p>
            <a:pPr algn="just" eaLnBrk="1" hangingPunct="1"/>
            <a:r>
              <a:rPr lang="zh-CN" altLang="en-US"/>
              <a:t>又   1</a:t>
            </a:r>
            <a:r>
              <a:rPr lang="en-US" altLang="zh-CN"/>
              <a:t>K＜1.2K＜2K，</a:t>
            </a:r>
          </a:p>
          <a:p>
            <a:pPr algn="just" eaLnBrk="1" hangingPunct="1"/>
            <a:r>
              <a:rPr lang="zh-CN" altLang="en-US"/>
              <a:t>故1.2</a:t>
            </a:r>
            <a:r>
              <a:rPr lang="en-US" altLang="zh-CN"/>
              <a:t>K</a:t>
            </a:r>
            <a:r>
              <a:rPr lang="zh-CN" altLang="en-US"/>
              <a:t>个盘块号要用11位二进制表示，为了方便存取，每个盘块号用12位二进制描述，即文件分配表的每个表目为1.5个字节。</a:t>
            </a:r>
          </a:p>
          <a:p>
            <a:pPr algn="just" eaLnBrk="1" hangingPunct="1"/>
            <a:r>
              <a:rPr lang="en-US" altLang="zh-CN"/>
              <a:t>FAT</a:t>
            </a:r>
            <a:r>
              <a:rPr lang="zh-CN" altLang="en-US"/>
              <a:t>要占用的存储空间总数为：</a:t>
            </a:r>
          </a:p>
          <a:p>
            <a:pPr algn="just" eaLnBrk="1" hangingPunct="1">
              <a:buFont typeface="Wingdings" pitchFamily="2" charset="2"/>
              <a:buNone/>
            </a:pPr>
            <a:r>
              <a:rPr lang="zh-CN" altLang="en-US"/>
              <a:t>    1.5×1.2</a:t>
            </a:r>
            <a:r>
              <a:rPr lang="en-US" altLang="zh-CN"/>
              <a:t>K=1.8KB</a:t>
            </a:r>
          </a:p>
        </p:txBody>
      </p:sp>
      <p:sp>
        <p:nvSpPr>
          <p:cNvPr id="2" name="灯片编号占位符 1">
            <a:extLst>
              <a:ext uri="{FF2B5EF4-FFF2-40B4-BE49-F238E27FC236}">
                <a16:creationId xmlns:a16="http://schemas.microsoft.com/office/drawing/2014/main" id="{EED14A94-DFED-D903-6BA6-B021274C12DA}"/>
              </a:ext>
            </a:extLst>
          </p:cNvPr>
          <p:cNvSpPr>
            <a:spLocks noGrp="1"/>
          </p:cNvSpPr>
          <p:nvPr>
            <p:ph type="sldNum" sz="quarter" idx="12"/>
          </p:nvPr>
        </p:nvSpPr>
        <p:spPr/>
        <p:txBody>
          <a:bodyPr/>
          <a:lstStyle/>
          <a:p>
            <a:fld id="{4093CC90-4002-504C-BD88-C9A1D374048E}" type="slidenum">
              <a:rPr lang="zh-CN" altLang="en-US" smtClean="0"/>
              <a:pPr/>
              <a:t>117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0755">
                                            <p:txEl>
                                              <p:pRg st="0" end="0"/>
                                            </p:txEl>
                                          </p:spTgt>
                                        </p:tgtEl>
                                        <p:attrNameLst>
                                          <p:attrName>style.visibility</p:attrName>
                                        </p:attrNameLst>
                                      </p:cBhvr>
                                      <p:to>
                                        <p:strVal val="visible"/>
                                      </p:to>
                                    </p:set>
                                    <p:animEffect transition="in" filter="checkerboard(across)">
                                      <p:cBhvr>
                                        <p:cTn id="7" dur="500"/>
                                        <p:tgtEl>
                                          <p:spTgt spid="330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0755">
                                            <p:txEl>
                                              <p:pRg st="1" end="1"/>
                                            </p:txEl>
                                          </p:spTgt>
                                        </p:tgtEl>
                                        <p:attrNameLst>
                                          <p:attrName>style.visibility</p:attrName>
                                        </p:attrNameLst>
                                      </p:cBhvr>
                                      <p:to>
                                        <p:strVal val="visible"/>
                                      </p:to>
                                    </p:set>
                                    <p:animEffect transition="in" filter="checkerboard(across)">
                                      <p:cBhvr>
                                        <p:cTn id="12" dur="500"/>
                                        <p:tgtEl>
                                          <p:spTgt spid="330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30755">
                                            <p:txEl>
                                              <p:pRg st="2" end="2"/>
                                            </p:txEl>
                                          </p:spTgt>
                                        </p:tgtEl>
                                        <p:attrNameLst>
                                          <p:attrName>style.visibility</p:attrName>
                                        </p:attrNameLst>
                                      </p:cBhvr>
                                      <p:to>
                                        <p:strVal val="visible"/>
                                      </p:to>
                                    </p:set>
                                    <p:animEffect transition="in" filter="checkerboard(across)">
                                      <p:cBhvr>
                                        <p:cTn id="17" dur="500"/>
                                        <p:tgtEl>
                                          <p:spTgt spid="330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30755">
                                            <p:txEl>
                                              <p:pRg st="3" end="3"/>
                                            </p:txEl>
                                          </p:spTgt>
                                        </p:tgtEl>
                                        <p:attrNameLst>
                                          <p:attrName>style.visibility</p:attrName>
                                        </p:attrNameLst>
                                      </p:cBhvr>
                                      <p:to>
                                        <p:strVal val="visible"/>
                                      </p:to>
                                    </p:set>
                                    <p:animEffect transition="in" filter="checkerboard(across)">
                                      <p:cBhvr>
                                        <p:cTn id="22" dur="500"/>
                                        <p:tgtEl>
                                          <p:spTgt spid="3307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30755">
                                            <p:txEl>
                                              <p:pRg st="4" end="4"/>
                                            </p:txEl>
                                          </p:spTgt>
                                        </p:tgtEl>
                                        <p:attrNameLst>
                                          <p:attrName>style.visibility</p:attrName>
                                        </p:attrNameLst>
                                      </p:cBhvr>
                                      <p:to>
                                        <p:strVal val="visible"/>
                                      </p:to>
                                    </p:set>
                                    <p:animEffect transition="in" filter="checkerboard(across)">
                                      <p:cBhvr>
                                        <p:cTn id="27" dur="500"/>
                                        <p:tgtEl>
                                          <p:spTgt spid="330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5" grpId="0" build="p"/>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E7793633-8D05-6DEC-5E91-1E6FC9BB932E}"/>
              </a:ext>
            </a:extLst>
          </p:cNvPr>
          <p:cNvSpPr>
            <a:spLocks noGrp="1" noChangeArrowheads="1"/>
          </p:cNvSpPr>
          <p:nvPr>
            <p:ph type="title"/>
          </p:nvPr>
        </p:nvSpPr>
        <p:spPr/>
        <p:txBody>
          <a:bodyPr/>
          <a:lstStyle/>
          <a:p>
            <a:pPr eaLnBrk="1" hangingPunct="1"/>
            <a:r>
              <a:rPr lang="zh-CN" altLang="en-US"/>
              <a:t>文件分配表例3</a:t>
            </a:r>
          </a:p>
        </p:txBody>
      </p:sp>
      <p:sp>
        <p:nvSpPr>
          <p:cNvPr id="331779" name="Rectangle 3">
            <a:extLst>
              <a:ext uri="{FF2B5EF4-FFF2-40B4-BE49-F238E27FC236}">
                <a16:creationId xmlns:a16="http://schemas.microsoft.com/office/drawing/2014/main" id="{3DF4A514-77A1-F475-1CDE-FB6917113060}"/>
              </a:ext>
            </a:extLst>
          </p:cNvPr>
          <p:cNvSpPr>
            <a:spLocks noGrp="1" noChangeArrowheads="1"/>
          </p:cNvSpPr>
          <p:nvPr>
            <p:ph idx="1"/>
          </p:nvPr>
        </p:nvSpPr>
        <p:spPr>
          <a:xfrm>
            <a:off x="684213" y="1196975"/>
            <a:ext cx="8270875" cy="5005388"/>
          </a:xfrm>
        </p:spPr>
        <p:txBody>
          <a:bodyPr/>
          <a:lstStyle/>
          <a:p>
            <a:pPr algn="just" eaLnBrk="1" hangingPunct="1">
              <a:lnSpc>
                <a:spcPct val="90000"/>
              </a:lnSpc>
            </a:pPr>
            <a:r>
              <a:rPr lang="zh-CN" altLang="en-US"/>
              <a:t>若硬盘大小为200</a:t>
            </a:r>
            <a:r>
              <a:rPr lang="en-US" altLang="zh-CN"/>
              <a:t>MB，</a:t>
            </a:r>
            <a:r>
              <a:rPr lang="zh-CN" altLang="en-US"/>
              <a:t>硬盘共有盘块：</a:t>
            </a:r>
          </a:p>
          <a:p>
            <a:pPr algn="just" eaLnBrk="1" hangingPunct="1">
              <a:lnSpc>
                <a:spcPct val="90000"/>
              </a:lnSpc>
              <a:buFont typeface="Wingdings" pitchFamily="2" charset="2"/>
              <a:buNone/>
            </a:pPr>
            <a:r>
              <a:rPr lang="zh-CN" altLang="en-US"/>
              <a:t>       200</a:t>
            </a:r>
            <a:r>
              <a:rPr lang="en-US" altLang="zh-CN"/>
              <a:t>M/1K=200K</a:t>
            </a:r>
          </a:p>
          <a:p>
            <a:pPr algn="just" eaLnBrk="1" hangingPunct="1">
              <a:lnSpc>
                <a:spcPct val="90000"/>
              </a:lnSpc>
            </a:pPr>
            <a:r>
              <a:rPr lang="zh-CN" altLang="en-US"/>
              <a:t>又  128</a:t>
            </a:r>
            <a:r>
              <a:rPr lang="en-US" altLang="zh-CN"/>
              <a:t>K＜200K＜256K，</a:t>
            </a:r>
          </a:p>
          <a:p>
            <a:pPr algn="just" eaLnBrk="1" hangingPunct="1">
              <a:lnSpc>
                <a:spcPct val="90000"/>
              </a:lnSpc>
            </a:pPr>
            <a:r>
              <a:rPr lang="zh-CN" altLang="en-US"/>
              <a:t>故200</a:t>
            </a:r>
            <a:r>
              <a:rPr lang="en-US" altLang="zh-CN"/>
              <a:t>K</a:t>
            </a:r>
            <a:r>
              <a:rPr lang="zh-CN" altLang="en-US"/>
              <a:t>个盘块号要用18位二进制表示。为方便文件分配表的存取，每个表目用20位二进制表示，即文件分配表的每个表目大小为2.5个字节。</a:t>
            </a:r>
          </a:p>
          <a:p>
            <a:pPr algn="just" eaLnBrk="1" hangingPunct="1">
              <a:lnSpc>
                <a:spcPct val="90000"/>
              </a:lnSpc>
            </a:pPr>
            <a:r>
              <a:rPr lang="en-US" altLang="zh-CN"/>
              <a:t>FAT</a:t>
            </a:r>
            <a:r>
              <a:rPr lang="zh-CN" altLang="en-US"/>
              <a:t>要占用的存储空间总数为：</a:t>
            </a:r>
          </a:p>
          <a:p>
            <a:pPr algn="just" eaLnBrk="1" hangingPunct="1">
              <a:lnSpc>
                <a:spcPct val="90000"/>
              </a:lnSpc>
              <a:buFont typeface="Wingdings" pitchFamily="2" charset="2"/>
              <a:buNone/>
            </a:pPr>
            <a:r>
              <a:rPr lang="zh-CN" altLang="en-US"/>
              <a:t>    2.5×200</a:t>
            </a:r>
            <a:r>
              <a:rPr lang="en-US" altLang="zh-CN"/>
              <a:t>K=500KB</a:t>
            </a:r>
            <a:endParaRPr lang="zh-CN" altLang="en-US"/>
          </a:p>
        </p:txBody>
      </p:sp>
      <p:sp>
        <p:nvSpPr>
          <p:cNvPr id="2" name="灯片编号占位符 1">
            <a:extLst>
              <a:ext uri="{FF2B5EF4-FFF2-40B4-BE49-F238E27FC236}">
                <a16:creationId xmlns:a16="http://schemas.microsoft.com/office/drawing/2014/main" id="{591FCB51-4D59-F8FB-92A9-5FD0C97B3552}"/>
              </a:ext>
            </a:extLst>
          </p:cNvPr>
          <p:cNvSpPr>
            <a:spLocks noGrp="1"/>
          </p:cNvSpPr>
          <p:nvPr>
            <p:ph type="sldNum" sz="quarter" idx="12"/>
          </p:nvPr>
        </p:nvSpPr>
        <p:spPr/>
        <p:txBody>
          <a:bodyPr/>
          <a:lstStyle/>
          <a:p>
            <a:fld id="{4093CC90-4002-504C-BD88-C9A1D374048E}" type="slidenum">
              <a:rPr lang="zh-CN" altLang="en-US" smtClean="0"/>
              <a:pPr/>
              <a:t>118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1779">
                                            <p:txEl>
                                              <p:pRg st="0" end="0"/>
                                            </p:txEl>
                                          </p:spTgt>
                                        </p:tgtEl>
                                        <p:attrNameLst>
                                          <p:attrName>style.visibility</p:attrName>
                                        </p:attrNameLst>
                                      </p:cBhvr>
                                      <p:to>
                                        <p:strVal val="visible"/>
                                      </p:to>
                                    </p:set>
                                    <p:animEffect transition="in" filter="checkerboard(across)">
                                      <p:cBhvr>
                                        <p:cTn id="7" dur="500"/>
                                        <p:tgtEl>
                                          <p:spTgt spid="331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1779">
                                            <p:txEl>
                                              <p:pRg st="1" end="1"/>
                                            </p:txEl>
                                          </p:spTgt>
                                        </p:tgtEl>
                                        <p:attrNameLst>
                                          <p:attrName>style.visibility</p:attrName>
                                        </p:attrNameLst>
                                      </p:cBhvr>
                                      <p:to>
                                        <p:strVal val="visible"/>
                                      </p:to>
                                    </p:set>
                                    <p:animEffect transition="in" filter="checkerboard(across)">
                                      <p:cBhvr>
                                        <p:cTn id="12" dur="500"/>
                                        <p:tgtEl>
                                          <p:spTgt spid="331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31779">
                                            <p:txEl>
                                              <p:pRg st="2" end="2"/>
                                            </p:txEl>
                                          </p:spTgt>
                                        </p:tgtEl>
                                        <p:attrNameLst>
                                          <p:attrName>style.visibility</p:attrName>
                                        </p:attrNameLst>
                                      </p:cBhvr>
                                      <p:to>
                                        <p:strVal val="visible"/>
                                      </p:to>
                                    </p:set>
                                    <p:animEffect transition="in" filter="checkerboard(across)">
                                      <p:cBhvr>
                                        <p:cTn id="17" dur="500"/>
                                        <p:tgtEl>
                                          <p:spTgt spid="331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31779">
                                            <p:txEl>
                                              <p:pRg st="3" end="3"/>
                                            </p:txEl>
                                          </p:spTgt>
                                        </p:tgtEl>
                                        <p:attrNameLst>
                                          <p:attrName>style.visibility</p:attrName>
                                        </p:attrNameLst>
                                      </p:cBhvr>
                                      <p:to>
                                        <p:strVal val="visible"/>
                                      </p:to>
                                    </p:set>
                                    <p:animEffect transition="in" filter="checkerboard(across)">
                                      <p:cBhvr>
                                        <p:cTn id="22" dur="500"/>
                                        <p:tgtEl>
                                          <p:spTgt spid="331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31779">
                                            <p:txEl>
                                              <p:pRg st="4" end="4"/>
                                            </p:txEl>
                                          </p:spTgt>
                                        </p:tgtEl>
                                        <p:attrNameLst>
                                          <p:attrName>style.visibility</p:attrName>
                                        </p:attrNameLst>
                                      </p:cBhvr>
                                      <p:to>
                                        <p:strVal val="visible"/>
                                      </p:to>
                                    </p:set>
                                    <p:animEffect transition="in" filter="checkerboard(across)">
                                      <p:cBhvr>
                                        <p:cTn id="27" dur="500"/>
                                        <p:tgtEl>
                                          <p:spTgt spid="3317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31779">
                                            <p:txEl>
                                              <p:pRg st="5" end="5"/>
                                            </p:txEl>
                                          </p:spTgt>
                                        </p:tgtEl>
                                        <p:attrNameLst>
                                          <p:attrName>style.visibility</p:attrName>
                                        </p:attrNameLst>
                                      </p:cBhvr>
                                      <p:to>
                                        <p:strVal val="visible"/>
                                      </p:to>
                                    </p:set>
                                    <p:animEffect transition="in" filter="checkerboard(across)">
                                      <p:cBhvr>
                                        <p:cTn id="32" dur="500"/>
                                        <p:tgtEl>
                                          <p:spTgt spid="3317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EFCA3A4-A652-A45A-70E3-F60BD6274CE6}"/>
              </a:ext>
            </a:extLst>
          </p:cNvPr>
          <p:cNvSpPr>
            <a:spLocks noGrp="1" noChangeArrowheads="1"/>
          </p:cNvSpPr>
          <p:nvPr>
            <p:ph type="title"/>
          </p:nvPr>
        </p:nvSpPr>
        <p:spPr>
          <a:xfrm>
            <a:off x="1042988" y="225431"/>
            <a:ext cx="7850187" cy="746125"/>
          </a:xfrm>
        </p:spPr>
        <p:txBody>
          <a:bodyPr/>
          <a:lstStyle/>
          <a:p>
            <a:r>
              <a:rPr lang="zh-CN" altLang="en-US" dirty="0"/>
              <a:t>索引分配</a:t>
            </a:r>
          </a:p>
        </p:txBody>
      </p:sp>
      <p:sp>
        <p:nvSpPr>
          <p:cNvPr id="332803" name="Rectangle 3">
            <a:extLst>
              <a:ext uri="{FF2B5EF4-FFF2-40B4-BE49-F238E27FC236}">
                <a16:creationId xmlns:a16="http://schemas.microsoft.com/office/drawing/2014/main" id="{52707BAB-AB01-84B5-CA9E-1D9299E43A50}"/>
              </a:ext>
            </a:extLst>
          </p:cNvPr>
          <p:cNvSpPr>
            <a:spLocks noGrp="1" noChangeArrowheads="1"/>
          </p:cNvSpPr>
          <p:nvPr>
            <p:ph idx="1"/>
          </p:nvPr>
        </p:nvSpPr>
        <p:spPr>
          <a:xfrm>
            <a:off x="935038" y="1233488"/>
            <a:ext cx="7772400" cy="4895850"/>
          </a:xfrm>
        </p:spPr>
        <p:txBody>
          <a:bodyPr/>
          <a:lstStyle/>
          <a:p>
            <a:r>
              <a:rPr lang="zh-CN" altLang="en-US"/>
              <a:t>链接分配方式虽解决了连续分配方式中存在的问题，但又出现了新的问题：</a:t>
            </a:r>
          </a:p>
          <a:p>
            <a:pPr lvl="1"/>
            <a:r>
              <a:rPr lang="zh-CN" altLang="en-US"/>
              <a:t>不支持随机存取</a:t>
            </a:r>
          </a:p>
          <a:p>
            <a:pPr lvl="1"/>
            <a:r>
              <a:rPr lang="zh-CN" altLang="en-US"/>
              <a:t>链接指针要占用一定数量的磁盘空间</a:t>
            </a:r>
          </a:p>
        </p:txBody>
      </p:sp>
      <p:sp>
        <p:nvSpPr>
          <p:cNvPr id="2" name="灯片编号占位符 1">
            <a:extLst>
              <a:ext uri="{FF2B5EF4-FFF2-40B4-BE49-F238E27FC236}">
                <a16:creationId xmlns:a16="http://schemas.microsoft.com/office/drawing/2014/main" id="{E1B55C16-97C6-10F2-F9DB-DCA72B021C8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119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checkerboard(across)">
                                      <p:cBhvr>
                                        <p:cTn id="7" dur="500"/>
                                        <p:tgtEl>
                                          <p:spTgt spid="332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2803">
                                            <p:txEl>
                                              <p:pRg st="1" end="1"/>
                                            </p:txEl>
                                          </p:spTgt>
                                        </p:tgtEl>
                                        <p:attrNameLst>
                                          <p:attrName>style.visibility</p:attrName>
                                        </p:attrNameLst>
                                      </p:cBhvr>
                                      <p:to>
                                        <p:strVal val="visible"/>
                                      </p:to>
                                    </p:set>
                                    <p:animEffect transition="in" filter="checkerboard(across)">
                                      <p:cBhvr>
                                        <p:cTn id="12" dur="500"/>
                                        <p:tgtEl>
                                          <p:spTgt spid="3328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2803">
                                            <p:txEl>
                                              <p:pRg st="2" end="2"/>
                                            </p:txEl>
                                          </p:spTgt>
                                        </p:tgtEl>
                                        <p:attrNameLst>
                                          <p:attrName>style.visibility</p:attrName>
                                        </p:attrNameLst>
                                      </p:cBhvr>
                                      <p:to>
                                        <p:strVal val="visible"/>
                                      </p:to>
                                    </p:set>
                                    <p:animEffect transition="in" filter="checkerboard(across)">
                                      <p:cBhvr>
                                        <p:cTn id="17" dur="500"/>
                                        <p:tgtEl>
                                          <p:spTgt spid="3328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CB098B8A-2474-748D-92F4-0098C039BE36}"/>
              </a:ext>
            </a:extLst>
          </p:cNvPr>
          <p:cNvSpPr>
            <a:spLocks noGrp="1" noChangeArrowheads="1"/>
          </p:cNvSpPr>
          <p:nvPr>
            <p:ph type="title"/>
          </p:nvPr>
        </p:nvSpPr>
        <p:spPr/>
        <p:txBody>
          <a:bodyPr/>
          <a:lstStyle/>
          <a:p>
            <a:pPr eaLnBrk="1" hangingPunct="1">
              <a:lnSpc>
                <a:spcPct val="80000"/>
              </a:lnSpc>
            </a:pPr>
            <a:r>
              <a:rPr lang="zh-CN" altLang="en-US" sz="4000" dirty="0"/>
              <a:t>索引分配</a:t>
            </a:r>
          </a:p>
        </p:txBody>
      </p:sp>
      <p:sp>
        <p:nvSpPr>
          <p:cNvPr id="397315" name="Rectangle 3">
            <a:extLst>
              <a:ext uri="{FF2B5EF4-FFF2-40B4-BE49-F238E27FC236}">
                <a16:creationId xmlns:a16="http://schemas.microsoft.com/office/drawing/2014/main" id="{F581E2C8-E1A1-8F7C-CDAA-C0AE381A002F}"/>
              </a:ext>
            </a:extLst>
          </p:cNvPr>
          <p:cNvSpPr>
            <a:spLocks noGrp="1" noChangeArrowheads="1"/>
          </p:cNvSpPr>
          <p:nvPr>
            <p:ph idx="1"/>
          </p:nvPr>
        </p:nvSpPr>
        <p:spPr>
          <a:xfrm>
            <a:off x="395288" y="1196975"/>
            <a:ext cx="8105775" cy="4645025"/>
          </a:xfrm>
        </p:spPr>
        <p:txBody>
          <a:bodyPr/>
          <a:lstStyle/>
          <a:p>
            <a:pPr eaLnBrk="1" hangingPunct="1"/>
            <a:r>
              <a:rPr lang="zh-CN" altLang="en-US" sz="2800" dirty="0">
                <a:latin typeface="Times New Roman" panose="02020603050405020304" pitchFamily="18" charset="0"/>
              </a:rPr>
              <a:t>在</a:t>
            </a:r>
            <a:r>
              <a:rPr lang="zh-CN" altLang="en-US" sz="2800" dirty="0">
                <a:solidFill>
                  <a:srgbClr val="FF0000"/>
                </a:solidFill>
                <a:latin typeface="Times New Roman" panose="02020603050405020304" pitchFamily="18" charset="0"/>
              </a:rPr>
              <a:t>索引分配</a:t>
            </a:r>
            <a:r>
              <a:rPr lang="zh-CN" altLang="en-US" sz="2800" dirty="0">
                <a:latin typeface="Times New Roman" panose="02020603050405020304" pitchFamily="18" charset="0"/>
              </a:rPr>
              <a:t>方法中，系统为每个文件分配一个索引块，索引块中存放索引表，索引表中的每个表项对应分配给文件的一个物理块。</a:t>
            </a:r>
          </a:p>
          <a:p>
            <a:pPr eaLnBrk="1" hangingPunct="1">
              <a:buFont typeface="Wingdings" pitchFamily="2" charset="2"/>
              <a:buNone/>
            </a:pPr>
            <a:r>
              <a:rPr lang="en-US" altLang="zh-CN" sz="2800" dirty="0">
                <a:sym typeface="Wingdings" pitchFamily="2" charset="2"/>
              </a:rPr>
              <a:t>   </a:t>
            </a:r>
            <a:endParaRPr lang="en-US" altLang="zh-CN" sz="2800" dirty="0"/>
          </a:p>
          <a:p>
            <a:pPr eaLnBrk="1" hangingPunct="1"/>
            <a:r>
              <a:rPr lang="zh-CN" altLang="en-US" sz="2800" dirty="0"/>
              <a:t>文件目录包含索引块地址。</a:t>
            </a:r>
          </a:p>
        </p:txBody>
      </p:sp>
      <p:grpSp>
        <p:nvGrpSpPr>
          <p:cNvPr id="2" name="Group 23">
            <a:extLst>
              <a:ext uri="{FF2B5EF4-FFF2-40B4-BE49-F238E27FC236}">
                <a16:creationId xmlns:a16="http://schemas.microsoft.com/office/drawing/2014/main" id="{0469A509-AEF3-3CCE-7084-9E149AC34155}"/>
              </a:ext>
            </a:extLst>
          </p:cNvPr>
          <p:cNvGrpSpPr>
            <a:grpSpLocks/>
          </p:cNvGrpSpPr>
          <p:nvPr/>
        </p:nvGrpSpPr>
        <p:grpSpPr bwMode="auto">
          <a:xfrm>
            <a:off x="5454934" y="3584163"/>
            <a:ext cx="2641600" cy="2357437"/>
            <a:chOff x="3665" y="2409"/>
            <a:chExt cx="1664" cy="1485"/>
          </a:xfrm>
        </p:grpSpPr>
        <p:sp>
          <p:nvSpPr>
            <p:cNvPr id="46084" name="Rectangle 5">
              <a:extLst>
                <a:ext uri="{FF2B5EF4-FFF2-40B4-BE49-F238E27FC236}">
                  <a16:creationId xmlns:a16="http://schemas.microsoft.com/office/drawing/2014/main" id="{667E5AF6-1F7F-4CE2-0308-2094C6426B36}"/>
                </a:ext>
              </a:extLst>
            </p:cNvPr>
            <p:cNvSpPr>
              <a:spLocks noChangeArrowheads="1"/>
            </p:cNvSpPr>
            <p:nvPr/>
          </p:nvSpPr>
          <p:spPr bwMode="auto">
            <a:xfrm>
              <a:off x="3665" y="2409"/>
              <a:ext cx="573" cy="245"/>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85" name="Rectangle 6">
              <a:extLst>
                <a:ext uri="{FF2B5EF4-FFF2-40B4-BE49-F238E27FC236}">
                  <a16:creationId xmlns:a16="http://schemas.microsoft.com/office/drawing/2014/main" id="{428748C8-6DAC-5835-83FC-B687C9D9FF56}"/>
                </a:ext>
              </a:extLst>
            </p:cNvPr>
            <p:cNvSpPr>
              <a:spLocks noChangeArrowheads="1"/>
            </p:cNvSpPr>
            <p:nvPr/>
          </p:nvSpPr>
          <p:spPr bwMode="auto">
            <a:xfrm>
              <a:off x="3665" y="2649"/>
              <a:ext cx="573" cy="245"/>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86" name="Rectangle 7">
              <a:extLst>
                <a:ext uri="{FF2B5EF4-FFF2-40B4-BE49-F238E27FC236}">
                  <a16:creationId xmlns:a16="http://schemas.microsoft.com/office/drawing/2014/main" id="{8C7D07C2-9FAD-9649-CC5B-15A701573339}"/>
                </a:ext>
              </a:extLst>
            </p:cNvPr>
            <p:cNvSpPr>
              <a:spLocks noChangeArrowheads="1"/>
            </p:cNvSpPr>
            <p:nvPr/>
          </p:nvSpPr>
          <p:spPr bwMode="auto">
            <a:xfrm>
              <a:off x="3665" y="2890"/>
              <a:ext cx="573" cy="24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87" name="Rectangle 8">
              <a:extLst>
                <a:ext uri="{FF2B5EF4-FFF2-40B4-BE49-F238E27FC236}">
                  <a16:creationId xmlns:a16="http://schemas.microsoft.com/office/drawing/2014/main" id="{1C3B5D3E-F579-5A65-84BD-E6DC82787144}"/>
                </a:ext>
              </a:extLst>
            </p:cNvPr>
            <p:cNvSpPr>
              <a:spLocks noChangeArrowheads="1"/>
            </p:cNvSpPr>
            <p:nvPr/>
          </p:nvSpPr>
          <p:spPr bwMode="auto">
            <a:xfrm>
              <a:off x="3665" y="3130"/>
              <a:ext cx="573" cy="245"/>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88" name="Rectangle 9">
              <a:extLst>
                <a:ext uri="{FF2B5EF4-FFF2-40B4-BE49-F238E27FC236}">
                  <a16:creationId xmlns:a16="http://schemas.microsoft.com/office/drawing/2014/main" id="{6F4A8415-7126-F2F4-813E-780BE4729FE4}"/>
                </a:ext>
              </a:extLst>
            </p:cNvPr>
            <p:cNvSpPr>
              <a:spLocks noChangeArrowheads="1"/>
            </p:cNvSpPr>
            <p:nvPr/>
          </p:nvSpPr>
          <p:spPr bwMode="auto">
            <a:xfrm>
              <a:off x="5138" y="2420"/>
              <a:ext cx="191" cy="127"/>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89" name="Rectangle 10">
              <a:extLst>
                <a:ext uri="{FF2B5EF4-FFF2-40B4-BE49-F238E27FC236}">
                  <a16:creationId xmlns:a16="http://schemas.microsoft.com/office/drawing/2014/main" id="{AE54C24E-F04E-BA76-F39D-7FC07BF3B81D}"/>
                </a:ext>
              </a:extLst>
            </p:cNvPr>
            <p:cNvSpPr>
              <a:spLocks noChangeArrowheads="1"/>
            </p:cNvSpPr>
            <p:nvPr/>
          </p:nvSpPr>
          <p:spPr bwMode="auto">
            <a:xfrm>
              <a:off x="5138" y="2691"/>
              <a:ext cx="191" cy="128"/>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90" name="Rectangle 11">
              <a:extLst>
                <a:ext uri="{FF2B5EF4-FFF2-40B4-BE49-F238E27FC236}">
                  <a16:creationId xmlns:a16="http://schemas.microsoft.com/office/drawing/2014/main" id="{380C1D0E-FE0F-A3B1-0B55-D831D6CBEF2D}"/>
                </a:ext>
              </a:extLst>
            </p:cNvPr>
            <p:cNvSpPr>
              <a:spLocks noChangeArrowheads="1"/>
            </p:cNvSpPr>
            <p:nvPr/>
          </p:nvSpPr>
          <p:spPr bwMode="auto">
            <a:xfrm>
              <a:off x="5138" y="2963"/>
              <a:ext cx="191" cy="128"/>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91" name="Rectangle 12">
              <a:extLst>
                <a:ext uri="{FF2B5EF4-FFF2-40B4-BE49-F238E27FC236}">
                  <a16:creationId xmlns:a16="http://schemas.microsoft.com/office/drawing/2014/main" id="{8A5B7B26-0E58-2822-0AEB-DB56E3283590}"/>
                </a:ext>
              </a:extLst>
            </p:cNvPr>
            <p:cNvSpPr>
              <a:spLocks noChangeArrowheads="1"/>
            </p:cNvSpPr>
            <p:nvPr/>
          </p:nvSpPr>
          <p:spPr bwMode="auto">
            <a:xfrm>
              <a:off x="5138" y="3235"/>
              <a:ext cx="191" cy="128"/>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92" name="Rectangle 13">
              <a:extLst>
                <a:ext uri="{FF2B5EF4-FFF2-40B4-BE49-F238E27FC236}">
                  <a16:creationId xmlns:a16="http://schemas.microsoft.com/office/drawing/2014/main" id="{D897523E-730A-3934-1B4C-62A2D8E3A760}"/>
                </a:ext>
              </a:extLst>
            </p:cNvPr>
            <p:cNvSpPr>
              <a:spLocks noChangeArrowheads="1"/>
            </p:cNvSpPr>
            <p:nvPr/>
          </p:nvSpPr>
          <p:spPr bwMode="auto">
            <a:xfrm>
              <a:off x="5138" y="3507"/>
              <a:ext cx="191" cy="128"/>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93" name="Line 14">
              <a:extLst>
                <a:ext uri="{FF2B5EF4-FFF2-40B4-BE49-F238E27FC236}">
                  <a16:creationId xmlns:a16="http://schemas.microsoft.com/office/drawing/2014/main" id="{D0A575CD-931D-6A5C-9676-77B080C16440}"/>
                </a:ext>
              </a:extLst>
            </p:cNvPr>
            <p:cNvSpPr>
              <a:spLocks noChangeShapeType="1"/>
            </p:cNvSpPr>
            <p:nvPr/>
          </p:nvSpPr>
          <p:spPr bwMode="auto">
            <a:xfrm>
              <a:off x="4230" y="2478"/>
              <a:ext cx="873" cy="1"/>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094" name="Line 15">
              <a:extLst>
                <a:ext uri="{FF2B5EF4-FFF2-40B4-BE49-F238E27FC236}">
                  <a16:creationId xmlns:a16="http://schemas.microsoft.com/office/drawing/2014/main" id="{CAE2BD66-B118-902D-05E3-4DBA96631941}"/>
                </a:ext>
              </a:extLst>
            </p:cNvPr>
            <p:cNvSpPr>
              <a:spLocks noChangeShapeType="1"/>
            </p:cNvSpPr>
            <p:nvPr/>
          </p:nvSpPr>
          <p:spPr bwMode="auto">
            <a:xfrm>
              <a:off x="4232" y="2735"/>
              <a:ext cx="873" cy="1"/>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095" name="Line 16">
              <a:extLst>
                <a:ext uri="{FF2B5EF4-FFF2-40B4-BE49-F238E27FC236}">
                  <a16:creationId xmlns:a16="http://schemas.microsoft.com/office/drawing/2014/main" id="{ABFC3001-03D1-2F16-26E8-16E3EE8180FC}"/>
                </a:ext>
              </a:extLst>
            </p:cNvPr>
            <p:cNvSpPr>
              <a:spLocks noChangeShapeType="1"/>
            </p:cNvSpPr>
            <p:nvPr/>
          </p:nvSpPr>
          <p:spPr bwMode="auto">
            <a:xfrm>
              <a:off x="4239" y="3038"/>
              <a:ext cx="874" cy="2"/>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096" name="Line 17">
              <a:extLst>
                <a:ext uri="{FF2B5EF4-FFF2-40B4-BE49-F238E27FC236}">
                  <a16:creationId xmlns:a16="http://schemas.microsoft.com/office/drawing/2014/main" id="{9DD2889B-9E4E-B8EE-B81B-D145850D4B62}"/>
                </a:ext>
              </a:extLst>
            </p:cNvPr>
            <p:cNvSpPr>
              <a:spLocks noChangeShapeType="1"/>
            </p:cNvSpPr>
            <p:nvPr/>
          </p:nvSpPr>
          <p:spPr bwMode="auto">
            <a:xfrm>
              <a:off x="4239" y="3300"/>
              <a:ext cx="874" cy="1"/>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097" name="Line 18">
              <a:extLst>
                <a:ext uri="{FF2B5EF4-FFF2-40B4-BE49-F238E27FC236}">
                  <a16:creationId xmlns:a16="http://schemas.microsoft.com/office/drawing/2014/main" id="{597197BC-2A62-D5DC-7E8A-23EA155F1EBD}"/>
                </a:ext>
              </a:extLst>
            </p:cNvPr>
            <p:cNvSpPr>
              <a:spLocks noChangeShapeType="1"/>
            </p:cNvSpPr>
            <p:nvPr/>
          </p:nvSpPr>
          <p:spPr bwMode="auto">
            <a:xfrm>
              <a:off x="4227" y="3561"/>
              <a:ext cx="874" cy="1"/>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098" name="Rectangle 21">
              <a:extLst>
                <a:ext uri="{FF2B5EF4-FFF2-40B4-BE49-F238E27FC236}">
                  <a16:creationId xmlns:a16="http://schemas.microsoft.com/office/drawing/2014/main" id="{13A93F90-0966-8549-7C62-F7B49B91DECB}"/>
                </a:ext>
              </a:extLst>
            </p:cNvPr>
            <p:cNvSpPr>
              <a:spLocks noChangeArrowheads="1"/>
            </p:cNvSpPr>
            <p:nvPr/>
          </p:nvSpPr>
          <p:spPr bwMode="auto">
            <a:xfrm>
              <a:off x="3665" y="3385"/>
              <a:ext cx="573" cy="245"/>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46099" name="Text Box 19">
              <a:extLst>
                <a:ext uri="{FF2B5EF4-FFF2-40B4-BE49-F238E27FC236}">
                  <a16:creationId xmlns:a16="http://schemas.microsoft.com/office/drawing/2014/main" id="{F3964904-7C65-1413-1999-BE467083DEF3}"/>
                </a:ext>
              </a:extLst>
            </p:cNvPr>
            <p:cNvSpPr txBox="1">
              <a:spLocks noChangeArrowheads="1"/>
            </p:cNvSpPr>
            <p:nvPr/>
          </p:nvSpPr>
          <p:spPr bwMode="auto">
            <a:xfrm>
              <a:off x="4267" y="3664"/>
              <a:ext cx="929" cy="2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p>
              <a:pPr algn="ctr" eaLnBrk="0" hangingPunct="0">
                <a:spcBef>
                  <a:spcPct val="50000"/>
                </a:spcBef>
              </a:pPr>
              <a:r>
                <a:rPr lang="en-US" altLang="zh-CN">
                  <a:latin typeface="Helvetica" pitchFamily="2" charset="0"/>
                </a:rPr>
                <a:t>index table</a:t>
              </a:r>
            </a:p>
          </p:txBody>
        </p:sp>
      </p:grpSp>
      <p:sp>
        <p:nvSpPr>
          <p:cNvPr id="3" name="灯片编号占位符 2">
            <a:extLst>
              <a:ext uri="{FF2B5EF4-FFF2-40B4-BE49-F238E27FC236}">
                <a16:creationId xmlns:a16="http://schemas.microsoft.com/office/drawing/2014/main" id="{2D60DF8D-974F-0993-64EC-9E622ED2D240}"/>
              </a:ext>
            </a:extLst>
          </p:cNvPr>
          <p:cNvSpPr>
            <a:spLocks noGrp="1"/>
          </p:cNvSpPr>
          <p:nvPr>
            <p:ph type="sldNum" sz="quarter" idx="12"/>
          </p:nvPr>
        </p:nvSpPr>
        <p:spPr/>
        <p:txBody>
          <a:bodyPr/>
          <a:lstStyle/>
          <a:p>
            <a:fld id="{4093CC90-4002-504C-BD88-C9A1D374048E}" type="slidenum">
              <a:rPr lang="zh-CN" altLang="en-US" smtClean="0"/>
              <a:pPr/>
              <a:t>120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Effect transition="in" filter="checkerboard(across)">
                                      <p:cBhvr>
                                        <p:cTn id="7" dur="500"/>
                                        <p:tgtEl>
                                          <p:spTgt spid="39731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97315">
                                            <p:txEl>
                                              <p:pRg st="1" end="1"/>
                                            </p:txEl>
                                          </p:spTgt>
                                        </p:tgtEl>
                                        <p:attrNameLst>
                                          <p:attrName>style.visibility</p:attrName>
                                        </p:attrNameLst>
                                      </p:cBhvr>
                                      <p:to>
                                        <p:strVal val="visible"/>
                                      </p:to>
                                    </p:set>
                                    <p:animEffect transition="in" filter="checkerboard(across)">
                                      <p:cBhvr>
                                        <p:cTn id="10" dur="500"/>
                                        <p:tgtEl>
                                          <p:spTgt spid="397315">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heckerboard(across)">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397315">
                                            <p:txEl>
                                              <p:pRg st="2" end="2"/>
                                            </p:txEl>
                                          </p:spTgt>
                                        </p:tgtEl>
                                        <p:attrNameLst>
                                          <p:attrName>style.visibility</p:attrName>
                                        </p:attrNameLst>
                                      </p:cBhvr>
                                      <p:to>
                                        <p:strVal val="visible"/>
                                      </p:to>
                                    </p:set>
                                    <p:animEffect transition="in" filter="checkerboard(across)">
                                      <p:cBhvr>
                                        <p:cTn id="18" dur="500"/>
                                        <p:tgtEl>
                                          <p:spTgt spid="397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150B71BE-F476-27B7-8038-F4D22C3DA0DC}"/>
              </a:ext>
            </a:extLst>
          </p:cNvPr>
          <p:cNvSpPr>
            <a:spLocks noGrp="1" noChangeArrowheads="1"/>
          </p:cNvSpPr>
          <p:nvPr>
            <p:ph type="title"/>
          </p:nvPr>
        </p:nvSpPr>
        <p:spPr/>
        <p:txBody>
          <a:bodyPr/>
          <a:lstStyle/>
          <a:p>
            <a:pPr eaLnBrk="1" hangingPunct="1"/>
            <a:r>
              <a:rPr lang="zh-CN" altLang="en-US"/>
              <a:t>索引分配示意图</a:t>
            </a:r>
          </a:p>
        </p:txBody>
      </p:sp>
      <p:pic>
        <p:nvPicPr>
          <p:cNvPr id="47106" name="Picture 90">
            <a:extLst>
              <a:ext uri="{FF2B5EF4-FFF2-40B4-BE49-F238E27FC236}">
                <a16:creationId xmlns:a16="http://schemas.microsoft.com/office/drawing/2014/main" id="{A2A120CC-6FDB-CC41-8B83-E9A6F8A870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932" t="871" r="4906" b="581"/>
          <a:stretch>
            <a:fillRect/>
          </a:stretch>
        </p:blipFill>
        <p:spPr>
          <a:xfrm>
            <a:off x="611188" y="1106488"/>
            <a:ext cx="7993062" cy="5562600"/>
          </a:xfrm>
          <a:ln w="57150" cmpd="thickThin">
            <a:solidFill>
              <a:schemeClr val="tx1"/>
            </a:solidFill>
            <a:miter lim="800000"/>
            <a:headEnd/>
            <a:tailEnd/>
          </a:ln>
        </p:spPr>
      </p:pic>
      <p:sp>
        <p:nvSpPr>
          <p:cNvPr id="2" name="灯片编号占位符 1">
            <a:extLst>
              <a:ext uri="{FF2B5EF4-FFF2-40B4-BE49-F238E27FC236}">
                <a16:creationId xmlns:a16="http://schemas.microsoft.com/office/drawing/2014/main" id="{5DB4991D-8FD0-B6FA-D57D-A16053E158BA}"/>
              </a:ext>
            </a:extLst>
          </p:cNvPr>
          <p:cNvSpPr>
            <a:spLocks noGrp="1"/>
          </p:cNvSpPr>
          <p:nvPr>
            <p:ph type="sldNum" sz="quarter" idx="12"/>
          </p:nvPr>
        </p:nvSpPr>
        <p:spPr/>
        <p:txBody>
          <a:bodyPr/>
          <a:lstStyle/>
          <a:p>
            <a:fld id="{4093CC90-4002-504C-BD88-C9A1D374048E}" type="slidenum">
              <a:rPr lang="zh-CN" altLang="en-US" smtClean="0"/>
              <a:pPr/>
              <a:t>121</a:t>
            </a:fld>
            <a:endParaRPr lang="zh-CN" altLang="en-US" dirty="0"/>
          </a:p>
        </p:txBody>
      </p:sp>
    </p:spTree>
  </p:cSld>
  <p:clrMapOvr>
    <a:masterClrMapping/>
  </p:clrMapOvr>
  <p:transition spd="med">
    <p:zo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D46D8B61-35EB-0E89-5444-D287D6E21BBB}"/>
              </a:ext>
            </a:extLst>
          </p:cNvPr>
          <p:cNvSpPr>
            <a:spLocks noGrp="1" noChangeArrowheads="1"/>
          </p:cNvSpPr>
          <p:nvPr>
            <p:ph type="title"/>
          </p:nvPr>
        </p:nvSpPr>
        <p:spPr/>
        <p:txBody>
          <a:bodyPr/>
          <a:lstStyle/>
          <a:p>
            <a:pPr eaLnBrk="1" hangingPunct="1"/>
            <a:r>
              <a:rPr lang="zh-CN" altLang="en-US"/>
              <a:t>索引分配的特点</a:t>
            </a:r>
          </a:p>
        </p:txBody>
      </p:sp>
      <p:sp>
        <p:nvSpPr>
          <p:cNvPr id="48130" name="Rectangle 3">
            <a:extLst>
              <a:ext uri="{FF2B5EF4-FFF2-40B4-BE49-F238E27FC236}">
                <a16:creationId xmlns:a16="http://schemas.microsoft.com/office/drawing/2014/main" id="{DB8ACC8B-2BA4-1FCE-E36E-8FEEAAEBCDD1}"/>
              </a:ext>
            </a:extLst>
          </p:cNvPr>
          <p:cNvSpPr>
            <a:spLocks noGrp="1" noChangeArrowheads="1"/>
          </p:cNvSpPr>
          <p:nvPr>
            <p:ph idx="1"/>
          </p:nvPr>
        </p:nvSpPr>
        <p:spPr>
          <a:xfrm>
            <a:off x="762000" y="1268413"/>
            <a:ext cx="8193088" cy="4114800"/>
          </a:xfrm>
        </p:spPr>
        <p:txBody>
          <a:bodyPr/>
          <a:lstStyle/>
          <a:p>
            <a:pPr algn="just" eaLnBrk="1" hangingPunct="1"/>
            <a:r>
              <a:rPr lang="zh-CN" altLang="en-US"/>
              <a:t>索引分配方法支持直接访问，不会产生外部碎片；</a:t>
            </a:r>
          </a:p>
          <a:p>
            <a:pPr algn="just" eaLnBrk="1" hangingPunct="1"/>
            <a:r>
              <a:rPr lang="zh-CN" altLang="en-US"/>
              <a:t>但索引块要占用一定的存储空间，存取文件需要两次访问外存。</a:t>
            </a:r>
          </a:p>
        </p:txBody>
      </p:sp>
      <p:sp>
        <p:nvSpPr>
          <p:cNvPr id="2" name="灯片编号占位符 1">
            <a:extLst>
              <a:ext uri="{FF2B5EF4-FFF2-40B4-BE49-F238E27FC236}">
                <a16:creationId xmlns:a16="http://schemas.microsoft.com/office/drawing/2014/main" id="{C471EBDD-B3D2-0258-AB17-5AC12C106169}"/>
              </a:ext>
            </a:extLst>
          </p:cNvPr>
          <p:cNvSpPr>
            <a:spLocks noGrp="1"/>
          </p:cNvSpPr>
          <p:nvPr>
            <p:ph type="sldNum" sz="quarter" idx="12"/>
          </p:nvPr>
        </p:nvSpPr>
        <p:spPr/>
        <p:txBody>
          <a:bodyPr/>
          <a:lstStyle/>
          <a:p>
            <a:fld id="{4093CC90-4002-504C-BD88-C9A1D374048E}" type="slidenum">
              <a:rPr lang="zh-CN" altLang="en-US" smtClean="0"/>
              <a:pPr/>
              <a:t>122</a:t>
            </a:fld>
            <a:endParaRPr lang="zh-CN" altLang="en-US" dirty="0"/>
          </a:p>
        </p:txBody>
      </p:sp>
    </p:spTree>
  </p:cSld>
  <p:clrMapOvr>
    <a:masterClrMapping/>
  </p:clrMapOvr>
  <p:transition spd="med">
    <p:zo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2FBFC747-1453-D557-782B-659D585FA4C8}"/>
              </a:ext>
            </a:extLst>
          </p:cNvPr>
          <p:cNvSpPr>
            <a:spLocks noGrp="1" noChangeArrowheads="1"/>
          </p:cNvSpPr>
          <p:nvPr>
            <p:ph type="title"/>
          </p:nvPr>
        </p:nvSpPr>
        <p:spPr/>
        <p:txBody>
          <a:bodyPr/>
          <a:lstStyle/>
          <a:p>
            <a:pPr eaLnBrk="1" hangingPunct="1"/>
            <a:r>
              <a:rPr lang="zh-CN" altLang="en-US" b="1"/>
              <a:t>二级索引和多级索引	</a:t>
            </a:r>
          </a:p>
        </p:txBody>
      </p:sp>
      <p:sp>
        <p:nvSpPr>
          <p:cNvPr id="335875" name="Rectangle 3">
            <a:extLst>
              <a:ext uri="{FF2B5EF4-FFF2-40B4-BE49-F238E27FC236}">
                <a16:creationId xmlns:a16="http://schemas.microsoft.com/office/drawing/2014/main" id="{B73D590B-4B29-AA70-85C7-B7D8375BBDB1}"/>
              </a:ext>
            </a:extLst>
          </p:cNvPr>
          <p:cNvSpPr>
            <a:spLocks noGrp="1" noChangeArrowheads="1"/>
          </p:cNvSpPr>
          <p:nvPr>
            <p:ph idx="1"/>
          </p:nvPr>
        </p:nvSpPr>
        <p:spPr>
          <a:xfrm>
            <a:off x="762000" y="1268413"/>
            <a:ext cx="8193088" cy="4679950"/>
          </a:xfrm>
        </p:spPr>
        <p:txBody>
          <a:bodyPr/>
          <a:lstStyle/>
          <a:p>
            <a:pPr algn="just" eaLnBrk="1" hangingPunct="1"/>
            <a:r>
              <a:rPr lang="zh-CN" altLang="en-US"/>
              <a:t>当文件很大，其索引表的大小超过了一个物理块时，可以将索引表本身作为一个文件，再为其建立一个</a:t>
            </a:r>
            <a:r>
              <a:rPr lang="zh-CN" altLang="en-US">
                <a:latin typeface="Times New Roman" panose="02020603050405020304" pitchFamily="18" charset="0"/>
              </a:rPr>
              <a:t>“</a:t>
            </a:r>
            <a:r>
              <a:rPr lang="zh-CN" altLang="en-US"/>
              <a:t>索引表</a:t>
            </a:r>
            <a:r>
              <a:rPr lang="zh-CN" altLang="en-US">
                <a:latin typeface="Times New Roman" panose="02020603050405020304" pitchFamily="18" charset="0"/>
              </a:rPr>
              <a:t>”</a:t>
            </a:r>
            <a:r>
              <a:rPr lang="zh-CN" altLang="en-US"/>
              <a:t>，该</a:t>
            </a:r>
            <a:r>
              <a:rPr lang="zh-CN" altLang="en-US">
                <a:latin typeface="Times New Roman" panose="02020603050405020304" pitchFamily="18" charset="0"/>
              </a:rPr>
              <a:t>“</a:t>
            </a:r>
            <a:r>
              <a:rPr lang="zh-CN" altLang="en-US"/>
              <a:t>索引表</a:t>
            </a:r>
            <a:r>
              <a:rPr lang="zh-CN" altLang="en-US">
                <a:latin typeface="Times New Roman" panose="02020603050405020304" pitchFamily="18" charset="0"/>
              </a:rPr>
              <a:t>”</a:t>
            </a:r>
            <a:r>
              <a:rPr lang="zh-CN" altLang="en-US"/>
              <a:t>是文件索引的索引，从而构成了</a:t>
            </a:r>
            <a:r>
              <a:rPr lang="zh-CN" altLang="en-US">
                <a:solidFill>
                  <a:srgbClr val="FF0000"/>
                </a:solidFill>
              </a:rPr>
              <a:t>二级索引</a:t>
            </a:r>
            <a:r>
              <a:rPr lang="zh-CN" altLang="en-US"/>
              <a:t>。</a:t>
            </a:r>
          </a:p>
          <a:p>
            <a:pPr algn="just" eaLnBrk="1" hangingPunct="1"/>
            <a:r>
              <a:rPr lang="zh-CN" altLang="en-US"/>
              <a:t>第一级索引表的表目指向第二级索引，第二级索引表的表目指向文件信息所在的物理块号。以此类推可再逐级建立索引，进而构成多级索引。</a:t>
            </a:r>
          </a:p>
        </p:txBody>
      </p:sp>
      <p:sp>
        <p:nvSpPr>
          <p:cNvPr id="2" name="灯片编号占位符 1">
            <a:extLst>
              <a:ext uri="{FF2B5EF4-FFF2-40B4-BE49-F238E27FC236}">
                <a16:creationId xmlns:a16="http://schemas.microsoft.com/office/drawing/2014/main" id="{318941B9-8BAA-8365-DA53-7B6FC22CAD24}"/>
              </a:ext>
            </a:extLst>
          </p:cNvPr>
          <p:cNvSpPr>
            <a:spLocks noGrp="1"/>
          </p:cNvSpPr>
          <p:nvPr>
            <p:ph type="sldNum" sz="quarter" idx="12"/>
          </p:nvPr>
        </p:nvSpPr>
        <p:spPr/>
        <p:txBody>
          <a:bodyPr/>
          <a:lstStyle/>
          <a:p>
            <a:fld id="{4093CC90-4002-504C-BD88-C9A1D374048E}" type="slidenum">
              <a:rPr lang="zh-CN" altLang="en-US" smtClean="0"/>
              <a:pPr/>
              <a:t>123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Effect transition="in" filter="checkerboard(across)">
                                      <p:cBhvr>
                                        <p:cTn id="7" dur="500"/>
                                        <p:tgtEl>
                                          <p:spTgt spid="335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5875">
                                            <p:txEl>
                                              <p:pRg st="1" end="1"/>
                                            </p:txEl>
                                          </p:spTgt>
                                        </p:tgtEl>
                                        <p:attrNameLst>
                                          <p:attrName>style.visibility</p:attrName>
                                        </p:attrNameLst>
                                      </p:cBhvr>
                                      <p:to>
                                        <p:strVal val="visible"/>
                                      </p:to>
                                    </p:set>
                                    <p:animEffect transition="in" filter="checkerboard(across)">
                                      <p:cBhvr>
                                        <p:cTn id="12" dur="500"/>
                                        <p:tgtEl>
                                          <p:spTgt spid="3358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F68978A0-7AD9-7DBD-E3E8-D12267AAEBBF}"/>
              </a:ext>
            </a:extLst>
          </p:cNvPr>
          <p:cNvSpPr>
            <a:spLocks noGrp="1" noChangeArrowheads="1"/>
          </p:cNvSpPr>
          <p:nvPr>
            <p:ph type="title"/>
          </p:nvPr>
        </p:nvSpPr>
        <p:spPr/>
        <p:txBody>
          <a:bodyPr/>
          <a:lstStyle/>
          <a:p>
            <a:pPr eaLnBrk="1" hangingPunct="1"/>
            <a:r>
              <a:rPr lang="zh-CN" altLang="en-US"/>
              <a:t>两级索引分配示意图</a:t>
            </a:r>
          </a:p>
        </p:txBody>
      </p:sp>
      <p:sp>
        <p:nvSpPr>
          <p:cNvPr id="50178" name="Rectangle 3">
            <a:extLst>
              <a:ext uri="{FF2B5EF4-FFF2-40B4-BE49-F238E27FC236}">
                <a16:creationId xmlns:a16="http://schemas.microsoft.com/office/drawing/2014/main" id="{21397A29-375F-AFD1-34C2-269267A77654}"/>
              </a:ext>
            </a:extLst>
          </p:cNvPr>
          <p:cNvSpPr>
            <a:spLocks noChangeArrowheads="1"/>
          </p:cNvSpPr>
          <p:nvPr/>
        </p:nvSpPr>
        <p:spPr bwMode="auto">
          <a:xfrm>
            <a:off x="3519488" y="1371600"/>
            <a:ext cx="11366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第二级索引</a:t>
            </a:r>
          </a:p>
        </p:txBody>
      </p:sp>
      <p:sp>
        <p:nvSpPr>
          <p:cNvPr id="50179" name="Rectangle 4">
            <a:extLst>
              <a:ext uri="{FF2B5EF4-FFF2-40B4-BE49-F238E27FC236}">
                <a16:creationId xmlns:a16="http://schemas.microsoft.com/office/drawing/2014/main" id="{BFBB76DD-B264-3C86-3A39-DA318342A98D}"/>
              </a:ext>
            </a:extLst>
          </p:cNvPr>
          <p:cNvSpPr>
            <a:spLocks noChangeArrowheads="1"/>
          </p:cNvSpPr>
          <p:nvPr/>
        </p:nvSpPr>
        <p:spPr bwMode="auto">
          <a:xfrm>
            <a:off x="5961063" y="5857875"/>
            <a:ext cx="91122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磁盘空间</a:t>
            </a:r>
          </a:p>
        </p:txBody>
      </p:sp>
      <p:sp>
        <p:nvSpPr>
          <p:cNvPr id="50180" name="Rectangle 5">
            <a:extLst>
              <a:ext uri="{FF2B5EF4-FFF2-40B4-BE49-F238E27FC236}">
                <a16:creationId xmlns:a16="http://schemas.microsoft.com/office/drawing/2014/main" id="{469939F6-28C2-08D9-B824-0002E6807B11}"/>
              </a:ext>
            </a:extLst>
          </p:cNvPr>
          <p:cNvSpPr>
            <a:spLocks noChangeArrowheads="1"/>
          </p:cNvSpPr>
          <p:nvPr/>
        </p:nvSpPr>
        <p:spPr bwMode="auto">
          <a:xfrm>
            <a:off x="1393825" y="4225925"/>
            <a:ext cx="709613"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主索引</a:t>
            </a:r>
          </a:p>
        </p:txBody>
      </p:sp>
      <p:sp>
        <p:nvSpPr>
          <p:cNvPr id="50181" name="Rectangle 6">
            <a:extLst>
              <a:ext uri="{FF2B5EF4-FFF2-40B4-BE49-F238E27FC236}">
                <a16:creationId xmlns:a16="http://schemas.microsoft.com/office/drawing/2014/main" id="{B3BF1439-7A61-D31D-6A22-6D2A55D71004}"/>
              </a:ext>
            </a:extLst>
          </p:cNvPr>
          <p:cNvSpPr>
            <a:spLocks noChangeArrowheads="1"/>
          </p:cNvSpPr>
          <p:nvPr/>
        </p:nvSpPr>
        <p:spPr bwMode="auto">
          <a:xfrm>
            <a:off x="5692775" y="1785938"/>
            <a:ext cx="1112838" cy="3944937"/>
          </a:xfrm>
          <a:prstGeom prst="rect">
            <a:avLst/>
          </a:prstGeom>
          <a:solidFill>
            <a:srgbClr val="FFFFFF"/>
          </a:solidFill>
          <a:ln w="28575">
            <a:solidFill>
              <a:srgbClr val="000000"/>
            </a:solidFill>
            <a:miter lim="800000"/>
            <a:headEnd/>
            <a:tailEnd/>
          </a:ln>
        </p:spPr>
        <p:txBody>
          <a:bodyPr lIns="0" tIns="0" rIns="0" bIns="0"/>
          <a:lstStyle/>
          <a:p>
            <a:pPr algn="just" eaLnBrk="0" hangingPunct="0"/>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endParaRPr lang="zh-CN" altLang="en-US" sz="1400">
              <a:latin typeface="宋体" panose="02010600030101010101" pitchFamily="2" charset="-122"/>
            </a:endParaRPr>
          </a:p>
          <a:p>
            <a:pPr algn="just" eaLnBrk="0" hangingPunct="0"/>
            <a:r>
              <a:rPr lang="zh-CN" altLang="en-US" sz="1400">
                <a:latin typeface="宋体" panose="02010600030101010101" pitchFamily="2" charset="-122"/>
              </a:rPr>
              <a:t>   ┇</a:t>
            </a:r>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endParaRPr lang="zh-CN" altLang="en-US" sz="1400">
              <a:latin typeface="Times New Roman" panose="02020603050405020304" pitchFamily="18" charset="0"/>
            </a:endParaRPr>
          </a:p>
          <a:p>
            <a:pPr algn="just" eaLnBrk="0" hangingPunct="0"/>
            <a:r>
              <a:rPr lang="zh-CN" altLang="en-US" sz="1400">
                <a:latin typeface="宋体" panose="02010600030101010101" pitchFamily="2" charset="-122"/>
              </a:rPr>
              <a:t>   ┇</a:t>
            </a:r>
          </a:p>
          <a:p>
            <a:pPr algn="just" eaLnBrk="0" hangingPunct="0"/>
            <a:endParaRPr lang="zh-CN" altLang="en-US" sz="1400">
              <a:latin typeface="宋体" panose="02010600030101010101" pitchFamily="2" charset="-122"/>
            </a:endParaRPr>
          </a:p>
          <a:p>
            <a:pPr algn="just" eaLnBrk="0" hangingPunct="0"/>
            <a:endParaRPr lang="zh-CN" altLang="en-US" sz="1400">
              <a:latin typeface="宋体" panose="02010600030101010101" pitchFamily="2" charset="-122"/>
            </a:endParaRPr>
          </a:p>
          <a:p>
            <a:pPr algn="just" eaLnBrk="0" hangingPunct="0"/>
            <a:r>
              <a:rPr lang="zh-CN" altLang="en-US" sz="1400">
                <a:latin typeface="宋体" panose="02010600030101010101" pitchFamily="2" charset="-122"/>
              </a:rPr>
              <a:t>   ┇</a:t>
            </a:r>
          </a:p>
          <a:p>
            <a:pPr algn="just" eaLnBrk="0" hangingPunct="0"/>
            <a:endParaRPr lang="zh-CN" altLang="en-US" sz="1400">
              <a:latin typeface="宋体" panose="02010600030101010101" pitchFamily="2" charset="-122"/>
            </a:endParaRPr>
          </a:p>
          <a:p>
            <a:pPr algn="just" eaLnBrk="0" hangingPunct="0"/>
            <a:endParaRPr lang="zh-CN" altLang="en-US" sz="1400">
              <a:latin typeface="宋体" panose="02010600030101010101" pitchFamily="2" charset="-122"/>
            </a:endParaRPr>
          </a:p>
          <a:p>
            <a:pPr algn="just" eaLnBrk="0" hangingPunct="0"/>
            <a:r>
              <a:rPr lang="zh-CN" altLang="en-US" sz="1400">
                <a:latin typeface="宋体" panose="02010600030101010101" pitchFamily="2" charset="-122"/>
              </a:rPr>
              <a:t>   ┇</a:t>
            </a:r>
          </a:p>
          <a:p>
            <a:pPr algn="just" eaLnBrk="0" hangingPunct="0"/>
            <a:endParaRPr lang="zh-CN" altLang="en-US" sz="1400">
              <a:latin typeface="宋体" panose="02010600030101010101" pitchFamily="2" charset="-122"/>
            </a:endParaRPr>
          </a:p>
          <a:p>
            <a:pPr algn="just" eaLnBrk="0" hangingPunct="0"/>
            <a:r>
              <a:rPr lang="zh-CN" altLang="en-US" sz="1400">
                <a:latin typeface="宋体" panose="02010600030101010101" pitchFamily="2" charset="-122"/>
              </a:rPr>
              <a:t>   ┇</a:t>
            </a:r>
            <a:endParaRPr lang="zh-CN" altLang="en-US" sz="1400">
              <a:latin typeface="Times New Roman" panose="02020603050405020304" pitchFamily="18" charset="0"/>
            </a:endParaRPr>
          </a:p>
        </p:txBody>
      </p:sp>
      <p:sp>
        <p:nvSpPr>
          <p:cNvPr id="50182" name="Rectangle 7">
            <a:extLst>
              <a:ext uri="{FF2B5EF4-FFF2-40B4-BE49-F238E27FC236}">
                <a16:creationId xmlns:a16="http://schemas.microsoft.com/office/drawing/2014/main" id="{0D5D7287-8FBA-FF70-C155-D75BF2C8FF9A}"/>
              </a:ext>
            </a:extLst>
          </p:cNvPr>
          <p:cNvSpPr>
            <a:spLocks noChangeArrowheads="1"/>
          </p:cNvSpPr>
          <p:nvPr/>
        </p:nvSpPr>
        <p:spPr bwMode="auto">
          <a:xfrm>
            <a:off x="1012825" y="1905000"/>
            <a:ext cx="1290638" cy="2187575"/>
          </a:xfrm>
          <a:prstGeom prst="rect">
            <a:avLst/>
          </a:prstGeom>
          <a:solidFill>
            <a:srgbClr val="FFFFFF"/>
          </a:solidFill>
          <a:ln w="28575">
            <a:solidFill>
              <a:srgbClr val="000000"/>
            </a:solidFill>
            <a:miter lim="800000"/>
            <a:headEnd/>
            <a:tailEnd/>
          </a:ln>
        </p:spPr>
        <p:txBody>
          <a:bodyPr lIns="0" tIns="36000" rIns="0" bIns="0"/>
          <a:lstStyle/>
          <a:p>
            <a:pPr algn="ctr" eaLnBrk="0" hangingPunct="0"/>
            <a:endParaRPr lang="zh-CN" altLang="en-US" sz="1400" b="1">
              <a:latin typeface="Times New Roman" panose="02020603050405020304" pitchFamily="18" charset="0"/>
            </a:endParaRPr>
          </a:p>
          <a:p>
            <a:pPr algn="ctr" eaLnBrk="0" hangingPunct="0"/>
            <a:endParaRPr lang="zh-CN" altLang="en-US" sz="1400" b="1">
              <a:latin typeface="Times New Roman" panose="02020603050405020304" pitchFamily="18" charset="0"/>
            </a:endParaRPr>
          </a:p>
          <a:p>
            <a:pPr algn="ctr" eaLnBrk="0" hangingPunct="0"/>
            <a:endParaRPr lang="zh-CN" altLang="en-US" sz="1400" b="1">
              <a:latin typeface="Times New Roman" panose="02020603050405020304" pitchFamily="18" charset="0"/>
            </a:endParaRPr>
          </a:p>
          <a:p>
            <a:pPr algn="ctr" eaLnBrk="0" hangingPunct="0"/>
            <a:endParaRPr lang="zh-CN" altLang="en-US" sz="1400" b="1">
              <a:latin typeface="宋体" panose="02010600030101010101" pitchFamily="2" charset="-122"/>
            </a:endParaRPr>
          </a:p>
          <a:p>
            <a:pPr algn="ctr" eaLnBrk="0" hangingPunct="0"/>
            <a:r>
              <a:rPr lang="zh-CN" altLang="en-US" sz="1400" b="1">
                <a:latin typeface="宋体" panose="02010600030101010101" pitchFamily="2" charset="-122"/>
              </a:rPr>
              <a:t>┇</a:t>
            </a:r>
          </a:p>
          <a:p>
            <a:pPr algn="ctr" eaLnBrk="0" hangingPunct="0"/>
            <a:endParaRPr lang="en-US" altLang="zh-CN" sz="1400" b="1">
              <a:latin typeface="Times New Roman" panose="02020603050405020304" pitchFamily="18" charset="0"/>
            </a:endParaRPr>
          </a:p>
          <a:p>
            <a:pPr algn="ctr" eaLnBrk="0" hangingPunct="0"/>
            <a:endParaRPr lang="zh-CN" altLang="en-US" sz="1400" b="1">
              <a:latin typeface="Times New Roman" panose="02020603050405020304" pitchFamily="18" charset="0"/>
            </a:endParaRPr>
          </a:p>
          <a:p>
            <a:pPr algn="ctr" eaLnBrk="0" hangingPunct="0"/>
            <a:endParaRPr lang="zh-CN" altLang="en-US" sz="1400" b="1">
              <a:latin typeface="Times New Roman" panose="02020603050405020304" pitchFamily="18" charset="0"/>
            </a:endParaRPr>
          </a:p>
          <a:p>
            <a:pPr algn="ctr" eaLnBrk="0" hangingPunct="0"/>
            <a:r>
              <a:rPr lang="zh-CN" altLang="en-US" sz="1400" b="1">
                <a:latin typeface="宋体" panose="02010600030101010101" pitchFamily="2" charset="-122"/>
              </a:rPr>
              <a:t>┇</a:t>
            </a:r>
            <a:endParaRPr lang="zh-CN" altLang="en-US" sz="1400" b="1">
              <a:latin typeface="Times New Roman" panose="02020603050405020304" pitchFamily="18" charset="0"/>
            </a:endParaRPr>
          </a:p>
        </p:txBody>
      </p:sp>
      <p:sp>
        <p:nvSpPr>
          <p:cNvPr id="50183" name="Rectangle 8">
            <a:extLst>
              <a:ext uri="{FF2B5EF4-FFF2-40B4-BE49-F238E27FC236}">
                <a16:creationId xmlns:a16="http://schemas.microsoft.com/office/drawing/2014/main" id="{BA2159B0-0002-B570-76DF-60A9929714DE}"/>
              </a:ext>
            </a:extLst>
          </p:cNvPr>
          <p:cNvSpPr>
            <a:spLocks noChangeArrowheads="1"/>
          </p:cNvSpPr>
          <p:nvPr/>
        </p:nvSpPr>
        <p:spPr bwMode="auto">
          <a:xfrm>
            <a:off x="3549650" y="1841500"/>
            <a:ext cx="1038225" cy="1085850"/>
          </a:xfrm>
          <a:prstGeom prst="rect">
            <a:avLst/>
          </a:prstGeom>
          <a:solidFill>
            <a:srgbClr val="FFFFFF"/>
          </a:solidFill>
          <a:ln w="28575">
            <a:solidFill>
              <a:srgbClr val="000000"/>
            </a:solidFill>
            <a:miter lim="800000"/>
            <a:headEnd/>
            <a:tailEnd/>
          </a:ln>
        </p:spPr>
        <p:txBody>
          <a:bodyPr lIns="0" tIns="36000" rIns="0" bIns="0"/>
          <a:lstStyle/>
          <a:p>
            <a:pPr algn="just" eaLnBrk="0" hangingPunct="0"/>
            <a:r>
              <a:rPr lang="zh-CN" altLang="en-US" sz="1400">
                <a:latin typeface="Times New Roman" panose="02020603050405020304" pitchFamily="18" charset="0"/>
              </a:rPr>
              <a:t>      </a:t>
            </a:r>
            <a:r>
              <a:rPr lang="zh-CN" altLang="en-US" sz="1400" b="1">
                <a:latin typeface="Times New Roman" panose="02020603050405020304" pitchFamily="18" charset="0"/>
              </a:rPr>
              <a:t>105</a:t>
            </a:r>
          </a:p>
          <a:p>
            <a:pPr algn="just" eaLnBrk="0" hangingPunct="0"/>
            <a:r>
              <a:rPr lang="zh-CN" altLang="en-US" sz="1400" b="1">
                <a:latin typeface="Times New Roman" panose="02020603050405020304" pitchFamily="18" charset="0"/>
              </a:rPr>
              <a:t>      106 </a:t>
            </a:r>
          </a:p>
          <a:p>
            <a:pPr algn="just" eaLnBrk="0" hangingPunct="0"/>
            <a:r>
              <a:rPr lang="zh-CN" altLang="en-US" sz="1400" b="1">
                <a:latin typeface="Times New Roman" panose="02020603050405020304" pitchFamily="18" charset="0"/>
              </a:rPr>
              <a:t>      254</a:t>
            </a:r>
            <a:endParaRPr lang="en-US" altLang="zh-CN" sz="1400" b="1">
              <a:latin typeface="Times New Roman" panose="02020603050405020304" pitchFamily="18" charset="0"/>
            </a:endParaRPr>
          </a:p>
          <a:p>
            <a:pPr algn="just" eaLnBrk="0" hangingPunct="0"/>
            <a:r>
              <a:rPr lang="en-US" altLang="zh-CN" sz="1400" b="1">
                <a:latin typeface="Times New Roman" panose="02020603050405020304" pitchFamily="18" charset="0"/>
              </a:rPr>
              <a:t>    </a:t>
            </a:r>
            <a:endParaRPr lang="zh-CN" altLang="en-US" sz="1400" b="1">
              <a:latin typeface="Times New Roman" panose="02020603050405020304" pitchFamily="18" charset="0"/>
            </a:endParaRPr>
          </a:p>
          <a:p>
            <a:pPr algn="just" eaLnBrk="0" hangingPunct="0"/>
            <a:r>
              <a:rPr lang="zh-CN" altLang="en-US" sz="1400" b="1">
                <a:latin typeface="宋体" panose="02010600030101010101" pitchFamily="2" charset="-122"/>
              </a:rPr>
              <a:t>   </a:t>
            </a:r>
            <a:endParaRPr lang="en-US" altLang="zh-CN" sz="1400" b="1">
              <a:latin typeface="宋体" panose="02010600030101010101" pitchFamily="2" charset="-122"/>
            </a:endParaRPr>
          </a:p>
          <a:p>
            <a:pPr algn="just" eaLnBrk="0" hangingPunct="0"/>
            <a:r>
              <a:rPr lang="en-US" altLang="zh-CN" sz="1400" b="1">
                <a:latin typeface="宋体" panose="02010600030101010101" pitchFamily="2" charset="-122"/>
              </a:rPr>
              <a:t>    </a:t>
            </a:r>
            <a:endParaRPr lang="zh-CN" altLang="en-US" sz="1400" b="1">
              <a:latin typeface="Times New Roman" panose="02020603050405020304" pitchFamily="18" charset="0"/>
            </a:endParaRPr>
          </a:p>
        </p:txBody>
      </p:sp>
      <p:sp>
        <p:nvSpPr>
          <p:cNvPr id="50184" name="Line 9">
            <a:extLst>
              <a:ext uri="{FF2B5EF4-FFF2-40B4-BE49-F238E27FC236}">
                <a16:creationId xmlns:a16="http://schemas.microsoft.com/office/drawing/2014/main" id="{33C59CA9-5FB0-0D19-2208-51E12219ABCF}"/>
              </a:ext>
            </a:extLst>
          </p:cNvPr>
          <p:cNvSpPr>
            <a:spLocks noChangeShapeType="1"/>
          </p:cNvSpPr>
          <p:nvPr/>
        </p:nvSpPr>
        <p:spPr bwMode="auto">
          <a:xfrm>
            <a:off x="1004888" y="2205038"/>
            <a:ext cx="1290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5" name="Line 10">
            <a:extLst>
              <a:ext uri="{FF2B5EF4-FFF2-40B4-BE49-F238E27FC236}">
                <a16:creationId xmlns:a16="http://schemas.microsoft.com/office/drawing/2014/main" id="{435E1AD2-22E0-80DB-D2EB-BE922DF3A58A}"/>
              </a:ext>
            </a:extLst>
          </p:cNvPr>
          <p:cNvSpPr>
            <a:spLocks noChangeShapeType="1"/>
          </p:cNvSpPr>
          <p:nvPr/>
        </p:nvSpPr>
        <p:spPr bwMode="auto">
          <a:xfrm>
            <a:off x="1012825" y="3608388"/>
            <a:ext cx="1290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6" name="Line 11">
            <a:extLst>
              <a:ext uri="{FF2B5EF4-FFF2-40B4-BE49-F238E27FC236}">
                <a16:creationId xmlns:a16="http://schemas.microsoft.com/office/drawing/2014/main" id="{226DD811-C76B-0E49-CE9D-7063FC78F6AE}"/>
              </a:ext>
            </a:extLst>
          </p:cNvPr>
          <p:cNvSpPr>
            <a:spLocks noChangeShapeType="1"/>
          </p:cNvSpPr>
          <p:nvPr/>
        </p:nvSpPr>
        <p:spPr bwMode="auto">
          <a:xfrm>
            <a:off x="1004888" y="2457450"/>
            <a:ext cx="1290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7" name="Line 12">
            <a:extLst>
              <a:ext uri="{FF2B5EF4-FFF2-40B4-BE49-F238E27FC236}">
                <a16:creationId xmlns:a16="http://schemas.microsoft.com/office/drawing/2014/main" id="{0F37264A-F452-61A3-C53F-D7332327522A}"/>
              </a:ext>
            </a:extLst>
          </p:cNvPr>
          <p:cNvSpPr>
            <a:spLocks noChangeShapeType="1"/>
          </p:cNvSpPr>
          <p:nvPr/>
        </p:nvSpPr>
        <p:spPr bwMode="auto">
          <a:xfrm>
            <a:off x="1004888" y="2708275"/>
            <a:ext cx="1290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Line 13">
            <a:extLst>
              <a:ext uri="{FF2B5EF4-FFF2-40B4-BE49-F238E27FC236}">
                <a16:creationId xmlns:a16="http://schemas.microsoft.com/office/drawing/2014/main" id="{08643DB3-E28F-82F1-FF08-0409E53E22B0}"/>
              </a:ext>
            </a:extLst>
          </p:cNvPr>
          <p:cNvSpPr>
            <a:spLocks noChangeShapeType="1"/>
          </p:cNvSpPr>
          <p:nvPr/>
        </p:nvSpPr>
        <p:spPr bwMode="auto">
          <a:xfrm>
            <a:off x="3549650" y="2097088"/>
            <a:ext cx="1038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9" name="Line 14">
            <a:extLst>
              <a:ext uri="{FF2B5EF4-FFF2-40B4-BE49-F238E27FC236}">
                <a16:creationId xmlns:a16="http://schemas.microsoft.com/office/drawing/2014/main" id="{B29CFB20-1684-DB5B-06A4-873294929EDC}"/>
              </a:ext>
            </a:extLst>
          </p:cNvPr>
          <p:cNvSpPr>
            <a:spLocks noChangeShapeType="1"/>
          </p:cNvSpPr>
          <p:nvPr/>
        </p:nvSpPr>
        <p:spPr bwMode="auto">
          <a:xfrm flipV="1">
            <a:off x="3568700" y="2276475"/>
            <a:ext cx="1019175" cy="111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0" name="Line 15">
            <a:extLst>
              <a:ext uri="{FF2B5EF4-FFF2-40B4-BE49-F238E27FC236}">
                <a16:creationId xmlns:a16="http://schemas.microsoft.com/office/drawing/2014/main" id="{A42F7169-FCFF-E482-4716-AF97610A3698}"/>
              </a:ext>
            </a:extLst>
          </p:cNvPr>
          <p:cNvSpPr>
            <a:spLocks noChangeShapeType="1"/>
          </p:cNvSpPr>
          <p:nvPr/>
        </p:nvSpPr>
        <p:spPr bwMode="auto">
          <a:xfrm>
            <a:off x="3549650" y="2528888"/>
            <a:ext cx="1038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1" name="Line 16">
            <a:extLst>
              <a:ext uri="{FF2B5EF4-FFF2-40B4-BE49-F238E27FC236}">
                <a16:creationId xmlns:a16="http://schemas.microsoft.com/office/drawing/2014/main" id="{65EB5500-69F8-9E50-D791-E481B3DD578E}"/>
              </a:ext>
            </a:extLst>
          </p:cNvPr>
          <p:cNvSpPr>
            <a:spLocks noChangeShapeType="1"/>
          </p:cNvSpPr>
          <p:nvPr/>
        </p:nvSpPr>
        <p:spPr bwMode="auto">
          <a:xfrm>
            <a:off x="5692775" y="2030413"/>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2" name="Line 17">
            <a:extLst>
              <a:ext uri="{FF2B5EF4-FFF2-40B4-BE49-F238E27FC236}">
                <a16:creationId xmlns:a16="http://schemas.microsoft.com/office/drawing/2014/main" id="{1F4110FF-1A27-B3D4-DF23-33B5AD9B6A6E}"/>
              </a:ext>
            </a:extLst>
          </p:cNvPr>
          <p:cNvSpPr>
            <a:spLocks noChangeShapeType="1"/>
          </p:cNvSpPr>
          <p:nvPr/>
        </p:nvSpPr>
        <p:spPr bwMode="auto">
          <a:xfrm>
            <a:off x="5692775" y="2284413"/>
            <a:ext cx="1112838"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3" name="Line 18">
            <a:extLst>
              <a:ext uri="{FF2B5EF4-FFF2-40B4-BE49-F238E27FC236}">
                <a16:creationId xmlns:a16="http://schemas.microsoft.com/office/drawing/2014/main" id="{BB367182-A222-952C-305D-D6697D9E810A}"/>
              </a:ext>
            </a:extLst>
          </p:cNvPr>
          <p:cNvSpPr>
            <a:spLocks noChangeShapeType="1"/>
          </p:cNvSpPr>
          <p:nvPr/>
        </p:nvSpPr>
        <p:spPr bwMode="auto">
          <a:xfrm>
            <a:off x="5692775" y="2498725"/>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4" name="Line 19">
            <a:extLst>
              <a:ext uri="{FF2B5EF4-FFF2-40B4-BE49-F238E27FC236}">
                <a16:creationId xmlns:a16="http://schemas.microsoft.com/office/drawing/2014/main" id="{3F04E888-7C25-D749-ADA5-103AA7E0052E}"/>
              </a:ext>
            </a:extLst>
          </p:cNvPr>
          <p:cNvSpPr>
            <a:spLocks noChangeShapeType="1"/>
          </p:cNvSpPr>
          <p:nvPr/>
        </p:nvSpPr>
        <p:spPr bwMode="auto">
          <a:xfrm>
            <a:off x="5692775" y="2730500"/>
            <a:ext cx="1112838"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5" name="Line 20">
            <a:extLst>
              <a:ext uri="{FF2B5EF4-FFF2-40B4-BE49-F238E27FC236}">
                <a16:creationId xmlns:a16="http://schemas.microsoft.com/office/drawing/2014/main" id="{E6782920-A16D-0B64-9BC5-9526C52934F5}"/>
              </a:ext>
            </a:extLst>
          </p:cNvPr>
          <p:cNvSpPr>
            <a:spLocks noChangeShapeType="1"/>
          </p:cNvSpPr>
          <p:nvPr/>
        </p:nvSpPr>
        <p:spPr bwMode="auto">
          <a:xfrm>
            <a:off x="5692775" y="3209925"/>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6" name="Line 21">
            <a:extLst>
              <a:ext uri="{FF2B5EF4-FFF2-40B4-BE49-F238E27FC236}">
                <a16:creationId xmlns:a16="http://schemas.microsoft.com/office/drawing/2014/main" id="{52F23EBA-220D-94EA-8142-63D623EEEA6A}"/>
              </a:ext>
            </a:extLst>
          </p:cNvPr>
          <p:cNvSpPr>
            <a:spLocks noChangeShapeType="1"/>
          </p:cNvSpPr>
          <p:nvPr/>
        </p:nvSpPr>
        <p:spPr bwMode="auto">
          <a:xfrm>
            <a:off x="5692775" y="3413125"/>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7" name="Line 22">
            <a:extLst>
              <a:ext uri="{FF2B5EF4-FFF2-40B4-BE49-F238E27FC236}">
                <a16:creationId xmlns:a16="http://schemas.microsoft.com/office/drawing/2014/main" id="{728326C3-EFB9-2C42-09E7-EB36CE1E15EC}"/>
              </a:ext>
            </a:extLst>
          </p:cNvPr>
          <p:cNvSpPr>
            <a:spLocks noChangeShapeType="1"/>
          </p:cNvSpPr>
          <p:nvPr/>
        </p:nvSpPr>
        <p:spPr bwMode="auto">
          <a:xfrm>
            <a:off x="5692775" y="3630613"/>
            <a:ext cx="1112838"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8" name="Rectangle 23">
            <a:extLst>
              <a:ext uri="{FF2B5EF4-FFF2-40B4-BE49-F238E27FC236}">
                <a16:creationId xmlns:a16="http://schemas.microsoft.com/office/drawing/2014/main" id="{1131FACF-8351-C259-9FC6-05727932B5DB}"/>
              </a:ext>
            </a:extLst>
          </p:cNvPr>
          <p:cNvSpPr>
            <a:spLocks noChangeArrowheads="1"/>
          </p:cNvSpPr>
          <p:nvPr/>
        </p:nvSpPr>
        <p:spPr bwMode="auto">
          <a:xfrm>
            <a:off x="6888163" y="1816100"/>
            <a:ext cx="427037"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0</a:t>
            </a:r>
          </a:p>
          <a:p>
            <a:pPr algn="just" eaLnBrk="0" hangingPunct="0"/>
            <a:r>
              <a:rPr lang="zh-CN" altLang="en-US" sz="1400" b="1">
                <a:latin typeface="Times New Roman" panose="02020603050405020304" pitchFamily="18" charset="0"/>
              </a:rPr>
              <a:t>1</a:t>
            </a:r>
          </a:p>
          <a:p>
            <a:pPr algn="just" eaLnBrk="0" hangingPunct="0"/>
            <a:r>
              <a:rPr lang="zh-CN" altLang="en-US" sz="1400" b="1">
                <a:latin typeface="Times New Roman" panose="02020603050405020304" pitchFamily="18" charset="0"/>
              </a:rPr>
              <a:t>2</a:t>
            </a:r>
          </a:p>
          <a:p>
            <a:pPr algn="just" eaLnBrk="0" hangingPunct="0"/>
            <a:endParaRPr lang="zh-CN" altLang="en-US" sz="1400" b="1">
              <a:latin typeface="Times New Roman" panose="02020603050405020304" pitchFamily="18" charset="0"/>
            </a:endParaRPr>
          </a:p>
          <a:p>
            <a:pPr algn="just" eaLnBrk="0" hangingPunct="0"/>
            <a:r>
              <a:rPr lang="zh-CN" altLang="en-US" sz="1400" b="1">
                <a:latin typeface="宋体" panose="02010600030101010101" pitchFamily="2" charset="-122"/>
              </a:rPr>
              <a:t>┇</a:t>
            </a:r>
          </a:p>
          <a:p>
            <a:pPr algn="just" eaLnBrk="0" hangingPunct="0"/>
            <a:endParaRPr lang="zh-CN" altLang="en-US" sz="1400" b="1">
              <a:latin typeface="宋体" panose="02010600030101010101" pitchFamily="2" charset="-122"/>
            </a:endParaRPr>
          </a:p>
          <a:p>
            <a:pPr algn="just" eaLnBrk="0" hangingPunct="0"/>
            <a:endParaRPr lang="zh-CN" altLang="en-US" sz="800" b="1">
              <a:latin typeface="宋体" panose="02010600030101010101" pitchFamily="2" charset="-122"/>
            </a:endParaRPr>
          </a:p>
          <a:p>
            <a:pPr algn="just" eaLnBrk="0" hangingPunct="0"/>
            <a:r>
              <a:rPr lang="zh-CN" altLang="en-US" sz="1400" b="1">
                <a:latin typeface="Times New Roman" panose="02020603050405020304" pitchFamily="18" charset="0"/>
              </a:rPr>
              <a:t>105</a:t>
            </a:r>
          </a:p>
          <a:p>
            <a:pPr algn="just" eaLnBrk="0" hangingPunct="0"/>
            <a:r>
              <a:rPr lang="zh-CN" altLang="en-US" sz="1400" b="1">
                <a:latin typeface="Times New Roman" panose="02020603050405020304" pitchFamily="18" charset="0"/>
              </a:rPr>
              <a:t>106</a:t>
            </a:r>
          </a:p>
          <a:p>
            <a:pPr algn="just" eaLnBrk="0" hangingPunct="0"/>
            <a:endParaRPr lang="zh-CN" altLang="en-US" sz="1400" b="1">
              <a:latin typeface="Times New Roman" panose="02020603050405020304" pitchFamily="18" charset="0"/>
            </a:endParaRPr>
          </a:p>
          <a:p>
            <a:pPr algn="just" eaLnBrk="0" hangingPunct="0"/>
            <a:endParaRPr lang="zh-CN" altLang="en-US" sz="1000" b="1">
              <a:latin typeface="Times New Roman" panose="02020603050405020304" pitchFamily="18" charset="0"/>
            </a:endParaRPr>
          </a:p>
          <a:p>
            <a:pPr algn="just" eaLnBrk="0" hangingPunct="0"/>
            <a:endParaRPr lang="zh-CN" altLang="en-US" sz="800" b="1">
              <a:latin typeface="Times New Roman" panose="02020603050405020304" pitchFamily="18" charset="0"/>
            </a:endParaRPr>
          </a:p>
          <a:p>
            <a:pPr algn="just" eaLnBrk="0" hangingPunct="0"/>
            <a:r>
              <a:rPr lang="zh-CN" altLang="en-US" sz="1400" b="1">
                <a:latin typeface="Times New Roman" panose="02020603050405020304" pitchFamily="18" charset="0"/>
              </a:rPr>
              <a:t>254</a:t>
            </a:r>
          </a:p>
          <a:p>
            <a:pPr algn="just" eaLnBrk="0" hangingPunct="0"/>
            <a:r>
              <a:rPr lang="zh-CN" altLang="en-US" sz="1400" b="1">
                <a:latin typeface="宋体" panose="02010600030101010101" pitchFamily="2" charset="-122"/>
              </a:rPr>
              <a:t>┇</a:t>
            </a:r>
            <a:endParaRPr lang="zh-CN" altLang="en-US" sz="1400" b="1">
              <a:latin typeface="Times New Roman" panose="02020603050405020304" pitchFamily="18" charset="0"/>
            </a:endParaRPr>
          </a:p>
          <a:p>
            <a:pPr algn="just" eaLnBrk="0" hangingPunct="0"/>
            <a:r>
              <a:rPr lang="zh-CN" altLang="en-US" sz="1400" b="1">
                <a:latin typeface="Times New Roman" panose="02020603050405020304" pitchFamily="18" charset="0"/>
              </a:rPr>
              <a:t>356</a:t>
            </a:r>
          </a:p>
          <a:p>
            <a:pPr algn="just" eaLnBrk="0" hangingPunct="0"/>
            <a:r>
              <a:rPr lang="zh-CN" altLang="en-US" sz="1400" b="1">
                <a:latin typeface="Times New Roman" panose="02020603050405020304" pitchFamily="18" charset="0"/>
              </a:rPr>
              <a:t>357</a:t>
            </a:r>
          </a:p>
          <a:p>
            <a:pPr algn="just" eaLnBrk="0" hangingPunct="0"/>
            <a:r>
              <a:rPr lang="zh-CN" altLang="en-US" sz="1400" b="1">
                <a:latin typeface="宋体" panose="02010600030101010101" pitchFamily="2" charset="-122"/>
              </a:rPr>
              <a:t>┇</a:t>
            </a:r>
            <a:endParaRPr lang="zh-CN" altLang="en-US" sz="1400" b="1">
              <a:latin typeface="Times New Roman" panose="02020603050405020304" pitchFamily="18" charset="0"/>
            </a:endParaRPr>
          </a:p>
          <a:p>
            <a:pPr algn="just" eaLnBrk="0" hangingPunct="0"/>
            <a:r>
              <a:rPr lang="zh-CN" altLang="en-US" sz="1400" b="1">
                <a:latin typeface="Times New Roman" panose="02020603050405020304" pitchFamily="18" charset="0"/>
              </a:rPr>
              <a:t>985</a:t>
            </a:r>
          </a:p>
        </p:txBody>
      </p:sp>
      <p:sp>
        <p:nvSpPr>
          <p:cNvPr id="50199" name="Line 24">
            <a:extLst>
              <a:ext uri="{FF2B5EF4-FFF2-40B4-BE49-F238E27FC236}">
                <a16:creationId xmlns:a16="http://schemas.microsoft.com/office/drawing/2014/main" id="{A7CF8934-A51D-4F76-AD6A-012AAD800965}"/>
              </a:ext>
            </a:extLst>
          </p:cNvPr>
          <p:cNvSpPr>
            <a:spLocks noChangeShapeType="1"/>
          </p:cNvSpPr>
          <p:nvPr/>
        </p:nvSpPr>
        <p:spPr bwMode="auto">
          <a:xfrm>
            <a:off x="4608513" y="1944688"/>
            <a:ext cx="1079500" cy="127952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00" name="Line 25">
            <a:extLst>
              <a:ext uri="{FF2B5EF4-FFF2-40B4-BE49-F238E27FC236}">
                <a16:creationId xmlns:a16="http://schemas.microsoft.com/office/drawing/2014/main" id="{3AF4B947-38AD-6328-8A2B-BED58EE366D1}"/>
              </a:ext>
            </a:extLst>
          </p:cNvPr>
          <p:cNvSpPr>
            <a:spLocks noChangeShapeType="1"/>
          </p:cNvSpPr>
          <p:nvPr/>
        </p:nvSpPr>
        <p:spPr bwMode="auto">
          <a:xfrm>
            <a:off x="4594225" y="2219325"/>
            <a:ext cx="1116013" cy="118745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01" name="Line 26">
            <a:extLst>
              <a:ext uri="{FF2B5EF4-FFF2-40B4-BE49-F238E27FC236}">
                <a16:creationId xmlns:a16="http://schemas.microsoft.com/office/drawing/2014/main" id="{FFE88F66-63DC-E34D-6E97-8D3EE36E82C8}"/>
              </a:ext>
            </a:extLst>
          </p:cNvPr>
          <p:cNvSpPr>
            <a:spLocks noChangeShapeType="1"/>
          </p:cNvSpPr>
          <p:nvPr/>
        </p:nvSpPr>
        <p:spPr bwMode="auto">
          <a:xfrm>
            <a:off x="4589463" y="2492375"/>
            <a:ext cx="1101725" cy="154940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02" name="Line 27">
            <a:extLst>
              <a:ext uri="{FF2B5EF4-FFF2-40B4-BE49-F238E27FC236}">
                <a16:creationId xmlns:a16="http://schemas.microsoft.com/office/drawing/2014/main" id="{5D5B99A7-CC32-6368-246C-35BB30E957B1}"/>
              </a:ext>
            </a:extLst>
          </p:cNvPr>
          <p:cNvSpPr>
            <a:spLocks noChangeShapeType="1"/>
          </p:cNvSpPr>
          <p:nvPr/>
        </p:nvSpPr>
        <p:spPr bwMode="auto">
          <a:xfrm>
            <a:off x="5692775" y="4076700"/>
            <a:ext cx="1112838"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3" name="Line 28">
            <a:extLst>
              <a:ext uri="{FF2B5EF4-FFF2-40B4-BE49-F238E27FC236}">
                <a16:creationId xmlns:a16="http://schemas.microsoft.com/office/drawing/2014/main" id="{93973CE3-F10E-78A8-6851-9F4C869C1188}"/>
              </a:ext>
            </a:extLst>
          </p:cNvPr>
          <p:cNvSpPr>
            <a:spLocks noChangeShapeType="1"/>
          </p:cNvSpPr>
          <p:nvPr/>
        </p:nvSpPr>
        <p:spPr bwMode="auto">
          <a:xfrm>
            <a:off x="5678488" y="4295775"/>
            <a:ext cx="1111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4" name="Line 29">
            <a:extLst>
              <a:ext uri="{FF2B5EF4-FFF2-40B4-BE49-F238E27FC236}">
                <a16:creationId xmlns:a16="http://schemas.microsoft.com/office/drawing/2014/main" id="{C0EBEB63-96F2-B8C0-1F27-2602BAB44485}"/>
              </a:ext>
            </a:extLst>
          </p:cNvPr>
          <p:cNvSpPr>
            <a:spLocks noChangeShapeType="1"/>
          </p:cNvSpPr>
          <p:nvPr/>
        </p:nvSpPr>
        <p:spPr bwMode="auto">
          <a:xfrm>
            <a:off x="5692775" y="4545013"/>
            <a:ext cx="1112838"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5" name="Line 30">
            <a:extLst>
              <a:ext uri="{FF2B5EF4-FFF2-40B4-BE49-F238E27FC236}">
                <a16:creationId xmlns:a16="http://schemas.microsoft.com/office/drawing/2014/main" id="{8F501154-4314-98C9-FF3D-8675097D343D}"/>
              </a:ext>
            </a:extLst>
          </p:cNvPr>
          <p:cNvSpPr>
            <a:spLocks noChangeShapeType="1"/>
          </p:cNvSpPr>
          <p:nvPr/>
        </p:nvSpPr>
        <p:spPr bwMode="auto">
          <a:xfrm>
            <a:off x="5678488" y="4752975"/>
            <a:ext cx="1111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6" name="Rectangle 31">
            <a:extLst>
              <a:ext uri="{FF2B5EF4-FFF2-40B4-BE49-F238E27FC236}">
                <a16:creationId xmlns:a16="http://schemas.microsoft.com/office/drawing/2014/main" id="{09862DDA-41E3-9FD8-B179-FFCB35AA8098}"/>
              </a:ext>
            </a:extLst>
          </p:cNvPr>
          <p:cNvSpPr>
            <a:spLocks noChangeArrowheads="1"/>
          </p:cNvSpPr>
          <p:nvPr/>
        </p:nvSpPr>
        <p:spPr bwMode="auto">
          <a:xfrm>
            <a:off x="3563938" y="3290888"/>
            <a:ext cx="1038225" cy="1084262"/>
          </a:xfrm>
          <a:prstGeom prst="rect">
            <a:avLst/>
          </a:prstGeom>
          <a:solidFill>
            <a:srgbClr val="FFFFFF"/>
          </a:solidFill>
          <a:ln w="28575">
            <a:solidFill>
              <a:srgbClr val="000000"/>
            </a:solidFill>
            <a:miter lim="800000"/>
            <a:headEnd/>
            <a:tailEnd/>
          </a:ln>
        </p:spPr>
        <p:txBody>
          <a:bodyPr lIns="0" tIns="36000" rIns="0" bIns="0"/>
          <a:lstStyle/>
          <a:p>
            <a:pPr algn="just" eaLnBrk="0" hangingPunct="0"/>
            <a:r>
              <a:rPr lang="zh-CN" altLang="en-US" sz="1400">
                <a:latin typeface="Times New Roman" panose="02020603050405020304" pitchFamily="18" charset="0"/>
              </a:rPr>
              <a:t>      </a:t>
            </a:r>
            <a:r>
              <a:rPr lang="zh-CN" altLang="en-US" sz="1400" b="1">
                <a:latin typeface="Times New Roman" panose="02020603050405020304" pitchFamily="18" charset="0"/>
              </a:rPr>
              <a:t>356 </a:t>
            </a:r>
          </a:p>
          <a:p>
            <a:pPr algn="just" eaLnBrk="0" hangingPunct="0"/>
            <a:r>
              <a:rPr lang="zh-CN" altLang="en-US" sz="1400" b="1">
                <a:latin typeface="Times New Roman" panose="02020603050405020304" pitchFamily="18" charset="0"/>
              </a:rPr>
              <a:t>      357</a:t>
            </a:r>
          </a:p>
          <a:p>
            <a:pPr algn="just" eaLnBrk="0" hangingPunct="0"/>
            <a:r>
              <a:rPr lang="zh-CN" altLang="en-US" sz="1400">
                <a:latin typeface="宋体" panose="02010600030101010101" pitchFamily="2" charset="-122"/>
              </a:rPr>
              <a:t> </a:t>
            </a:r>
            <a:endParaRPr lang="zh-CN" altLang="en-US" sz="1400">
              <a:latin typeface="Times New Roman" panose="02020603050405020304" pitchFamily="18" charset="0"/>
            </a:endParaRPr>
          </a:p>
        </p:txBody>
      </p:sp>
      <p:sp>
        <p:nvSpPr>
          <p:cNvPr id="50207" name="Rectangle 32">
            <a:extLst>
              <a:ext uri="{FF2B5EF4-FFF2-40B4-BE49-F238E27FC236}">
                <a16:creationId xmlns:a16="http://schemas.microsoft.com/office/drawing/2014/main" id="{827B4FFA-70F2-94FA-D15E-072AF80D4488}"/>
              </a:ext>
            </a:extLst>
          </p:cNvPr>
          <p:cNvSpPr>
            <a:spLocks noChangeArrowheads="1"/>
          </p:cNvSpPr>
          <p:nvPr/>
        </p:nvSpPr>
        <p:spPr bwMode="auto">
          <a:xfrm>
            <a:off x="3810000" y="3048000"/>
            <a:ext cx="525463"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740</a:t>
            </a:r>
          </a:p>
        </p:txBody>
      </p:sp>
      <p:sp>
        <p:nvSpPr>
          <p:cNvPr id="50208" name="Line 33">
            <a:extLst>
              <a:ext uri="{FF2B5EF4-FFF2-40B4-BE49-F238E27FC236}">
                <a16:creationId xmlns:a16="http://schemas.microsoft.com/office/drawing/2014/main" id="{1CEA9CAF-F9F3-4AC5-2BB5-A48EB38375CD}"/>
              </a:ext>
            </a:extLst>
          </p:cNvPr>
          <p:cNvSpPr>
            <a:spLocks noChangeShapeType="1"/>
          </p:cNvSpPr>
          <p:nvPr/>
        </p:nvSpPr>
        <p:spPr bwMode="auto">
          <a:xfrm>
            <a:off x="4608513" y="3390900"/>
            <a:ext cx="1079500" cy="11160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09" name="Line 34">
            <a:extLst>
              <a:ext uri="{FF2B5EF4-FFF2-40B4-BE49-F238E27FC236}">
                <a16:creationId xmlns:a16="http://schemas.microsoft.com/office/drawing/2014/main" id="{A5483C93-1307-C599-A5A0-7EE14AEECBED}"/>
              </a:ext>
            </a:extLst>
          </p:cNvPr>
          <p:cNvSpPr>
            <a:spLocks noChangeShapeType="1"/>
          </p:cNvSpPr>
          <p:nvPr/>
        </p:nvSpPr>
        <p:spPr bwMode="auto">
          <a:xfrm>
            <a:off x="3568700" y="3536950"/>
            <a:ext cx="1036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0" name="Line 35">
            <a:extLst>
              <a:ext uri="{FF2B5EF4-FFF2-40B4-BE49-F238E27FC236}">
                <a16:creationId xmlns:a16="http://schemas.microsoft.com/office/drawing/2014/main" id="{82C74ED1-BC0F-AAC0-7A1E-935CC3F5C8E2}"/>
              </a:ext>
            </a:extLst>
          </p:cNvPr>
          <p:cNvSpPr>
            <a:spLocks noChangeShapeType="1"/>
          </p:cNvSpPr>
          <p:nvPr/>
        </p:nvSpPr>
        <p:spPr bwMode="auto">
          <a:xfrm flipV="1">
            <a:off x="3568700" y="3757613"/>
            <a:ext cx="1036638" cy="111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1" name="Line 36">
            <a:extLst>
              <a:ext uri="{FF2B5EF4-FFF2-40B4-BE49-F238E27FC236}">
                <a16:creationId xmlns:a16="http://schemas.microsoft.com/office/drawing/2014/main" id="{BF2592A3-A01E-E539-7EAA-DA1183F6250C}"/>
              </a:ext>
            </a:extLst>
          </p:cNvPr>
          <p:cNvSpPr>
            <a:spLocks noChangeShapeType="1"/>
          </p:cNvSpPr>
          <p:nvPr/>
        </p:nvSpPr>
        <p:spPr bwMode="auto">
          <a:xfrm>
            <a:off x="3568700" y="4005263"/>
            <a:ext cx="1036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2" name="Line 37">
            <a:extLst>
              <a:ext uri="{FF2B5EF4-FFF2-40B4-BE49-F238E27FC236}">
                <a16:creationId xmlns:a16="http://schemas.microsoft.com/office/drawing/2014/main" id="{C50EC553-629F-BD73-BF9D-F70A63AE4134}"/>
              </a:ext>
            </a:extLst>
          </p:cNvPr>
          <p:cNvSpPr>
            <a:spLocks noChangeShapeType="1"/>
          </p:cNvSpPr>
          <p:nvPr/>
        </p:nvSpPr>
        <p:spPr bwMode="auto">
          <a:xfrm>
            <a:off x="4594225" y="3619500"/>
            <a:ext cx="1079500" cy="115411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13" name="Rectangle 38">
            <a:extLst>
              <a:ext uri="{FF2B5EF4-FFF2-40B4-BE49-F238E27FC236}">
                <a16:creationId xmlns:a16="http://schemas.microsoft.com/office/drawing/2014/main" id="{5F3E582C-1C8D-5CE4-0595-26C51D426647}"/>
              </a:ext>
            </a:extLst>
          </p:cNvPr>
          <p:cNvSpPr>
            <a:spLocks noChangeArrowheads="1"/>
          </p:cNvSpPr>
          <p:nvPr/>
        </p:nvSpPr>
        <p:spPr bwMode="auto">
          <a:xfrm>
            <a:off x="3533775" y="4989513"/>
            <a:ext cx="1036638" cy="1084262"/>
          </a:xfrm>
          <a:prstGeom prst="rect">
            <a:avLst/>
          </a:prstGeom>
          <a:solidFill>
            <a:srgbClr val="FFFFFF"/>
          </a:solidFill>
          <a:ln w="28575">
            <a:solidFill>
              <a:srgbClr val="000000"/>
            </a:solidFill>
            <a:miter lim="800000"/>
            <a:headEnd/>
            <a:tailEnd/>
          </a:ln>
        </p:spPr>
        <p:txBody>
          <a:bodyPr lIns="0" tIns="36000" rIns="0" bIns="0"/>
          <a:lstStyle/>
          <a:p>
            <a:pPr algn="just" eaLnBrk="0" hangingPunct="0"/>
            <a:r>
              <a:rPr lang="zh-CN" altLang="en-US" sz="1400">
                <a:latin typeface="Times New Roman" panose="02020603050405020304" pitchFamily="18" charset="0"/>
              </a:rPr>
              <a:t> </a:t>
            </a:r>
          </a:p>
          <a:p>
            <a:pPr algn="just" eaLnBrk="0" hangingPunct="0"/>
            <a:endParaRPr lang="zh-CN" altLang="en-US" sz="1400">
              <a:latin typeface="Times New Roman" panose="02020603050405020304" pitchFamily="18" charset="0"/>
            </a:endParaRPr>
          </a:p>
          <a:p>
            <a:pPr algn="just" eaLnBrk="0" hangingPunct="0"/>
            <a:r>
              <a:rPr lang="zh-CN" altLang="en-US" sz="1400">
                <a:latin typeface="宋体" panose="02010600030101010101" pitchFamily="2" charset="-122"/>
              </a:rPr>
              <a:t>   </a:t>
            </a:r>
            <a:r>
              <a:rPr lang="zh-CN" altLang="en-US" sz="1400" b="1">
                <a:latin typeface="宋体" panose="02010600030101010101" pitchFamily="2" charset="-122"/>
              </a:rPr>
              <a:t>985</a:t>
            </a:r>
            <a:endParaRPr lang="zh-CN" altLang="en-US" sz="1400" b="1">
              <a:latin typeface="Times New Roman" panose="02020603050405020304" pitchFamily="18" charset="0"/>
            </a:endParaRPr>
          </a:p>
        </p:txBody>
      </p:sp>
      <p:sp>
        <p:nvSpPr>
          <p:cNvPr id="50214" name="Line 39">
            <a:extLst>
              <a:ext uri="{FF2B5EF4-FFF2-40B4-BE49-F238E27FC236}">
                <a16:creationId xmlns:a16="http://schemas.microsoft.com/office/drawing/2014/main" id="{BE592EF3-CDDD-B0A7-0074-52008390E4CC}"/>
              </a:ext>
            </a:extLst>
          </p:cNvPr>
          <p:cNvSpPr>
            <a:spLocks noChangeShapeType="1"/>
          </p:cNvSpPr>
          <p:nvPr/>
        </p:nvSpPr>
        <p:spPr bwMode="auto">
          <a:xfrm flipV="1">
            <a:off x="4564063" y="5210175"/>
            <a:ext cx="1127125" cy="446088"/>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15" name="Line 40">
            <a:extLst>
              <a:ext uri="{FF2B5EF4-FFF2-40B4-BE49-F238E27FC236}">
                <a16:creationId xmlns:a16="http://schemas.microsoft.com/office/drawing/2014/main" id="{F6E17677-5E94-0CBC-9E1F-47201D8FF4EF}"/>
              </a:ext>
            </a:extLst>
          </p:cNvPr>
          <p:cNvSpPr>
            <a:spLocks noChangeShapeType="1"/>
          </p:cNvSpPr>
          <p:nvPr/>
        </p:nvSpPr>
        <p:spPr bwMode="auto">
          <a:xfrm>
            <a:off x="3540125" y="5224463"/>
            <a:ext cx="1036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6" name="Line 41">
            <a:extLst>
              <a:ext uri="{FF2B5EF4-FFF2-40B4-BE49-F238E27FC236}">
                <a16:creationId xmlns:a16="http://schemas.microsoft.com/office/drawing/2014/main" id="{662DCE53-5DBC-5F9C-6420-3191B9D5D9C9}"/>
              </a:ext>
            </a:extLst>
          </p:cNvPr>
          <p:cNvSpPr>
            <a:spLocks noChangeShapeType="1"/>
          </p:cNvSpPr>
          <p:nvPr/>
        </p:nvSpPr>
        <p:spPr bwMode="auto">
          <a:xfrm flipV="1">
            <a:off x="3540125" y="5456238"/>
            <a:ext cx="1036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7" name="Line 42">
            <a:extLst>
              <a:ext uri="{FF2B5EF4-FFF2-40B4-BE49-F238E27FC236}">
                <a16:creationId xmlns:a16="http://schemas.microsoft.com/office/drawing/2014/main" id="{5F0643EE-9EAB-960F-41BC-E0FC2A99ED9E}"/>
              </a:ext>
            </a:extLst>
          </p:cNvPr>
          <p:cNvSpPr>
            <a:spLocks noChangeShapeType="1"/>
          </p:cNvSpPr>
          <p:nvPr/>
        </p:nvSpPr>
        <p:spPr bwMode="auto">
          <a:xfrm>
            <a:off x="3540125" y="5715000"/>
            <a:ext cx="1036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8" name="Rectangle 43">
            <a:extLst>
              <a:ext uri="{FF2B5EF4-FFF2-40B4-BE49-F238E27FC236}">
                <a16:creationId xmlns:a16="http://schemas.microsoft.com/office/drawing/2014/main" id="{073C30DF-8B66-8D59-F7A9-73BC9B6C1604}"/>
              </a:ext>
            </a:extLst>
          </p:cNvPr>
          <p:cNvSpPr>
            <a:spLocks noChangeArrowheads="1"/>
          </p:cNvSpPr>
          <p:nvPr/>
        </p:nvSpPr>
        <p:spPr bwMode="auto">
          <a:xfrm>
            <a:off x="3779838" y="4464050"/>
            <a:ext cx="6572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a:latin typeface="宋体" panose="02010600030101010101" pitchFamily="2" charset="-122"/>
              </a:rPr>
              <a:t> </a:t>
            </a:r>
            <a:r>
              <a:rPr lang="zh-CN" altLang="en-US" sz="1400" b="1">
                <a:latin typeface="宋体" panose="02010600030101010101" pitchFamily="2" charset="-122"/>
              </a:rPr>
              <a:t>┇</a:t>
            </a:r>
          </a:p>
          <a:p>
            <a:pPr algn="just" eaLnBrk="0" hangingPunct="0"/>
            <a:r>
              <a:rPr lang="zh-CN" altLang="en-US" sz="1400" b="1">
                <a:latin typeface="Times New Roman" panose="02020603050405020304" pitchFamily="18" charset="0"/>
              </a:rPr>
              <a:t>1125</a:t>
            </a:r>
          </a:p>
        </p:txBody>
      </p:sp>
      <p:sp>
        <p:nvSpPr>
          <p:cNvPr id="50219" name="Line 44">
            <a:extLst>
              <a:ext uri="{FF2B5EF4-FFF2-40B4-BE49-F238E27FC236}">
                <a16:creationId xmlns:a16="http://schemas.microsoft.com/office/drawing/2014/main" id="{56DE219F-62F7-831E-6E51-1C62D3A9B266}"/>
              </a:ext>
            </a:extLst>
          </p:cNvPr>
          <p:cNvSpPr>
            <a:spLocks noChangeShapeType="1"/>
          </p:cNvSpPr>
          <p:nvPr/>
        </p:nvSpPr>
        <p:spPr bwMode="auto">
          <a:xfrm flipV="1">
            <a:off x="2284413" y="1812925"/>
            <a:ext cx="1244600" cy="20637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20" name="Line 45">
            <a:extLst>
              <a:ext uri="{FF2B5EF4-FFF2-40B4-BE49-F238E27FC236}">
                <a16:creationId xmlns:a16="http://schemas.microsoft.com/office/drawing/2014/main" id="{A37B1C40-96F8-166A-3D30-F73A8903F77E}"/>
              </a:ext>
            </a:extLst>
          </p:cNvPr>
          <p:cNvSpPr>
            <a:spLocks noChangeShapeType="1"/>
          </p:cNvSpPr>
          <p:nvPr/>
        </p:nvSpPr>
        <p:spPr bwMode="auto">
          <a:xfrm>
            <a:off x="2284413" y="2324100"/>
            <a:ext cx="1244600" cy="96996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21" name="Line 46">
            <a:extLst>
              <a:ext uri="{FF2B5EF4-FFF2-40B4-BE49-F238E27FC236}">
                <a16:creationId xmlns:a16="http://schemas.microsoft.com/office/drawing/2014/main" id="{A56F0057-7BBB-5C3E-ACEA-681AE673982B}"/>
              </a:ext>
            </a:extLst>
          </p:cNvPr>
          <p:cNvSpPr>
            <a:spLocks noChangeShapeType="1"/>
          </p:cNvSpPr>
          <p:nvPr/>
        </p:nvSpPr>
        <p:spPr bwMode="auto">
          <a:xfrm>
            <a:off x="2284413" y="3859213"/>
            <a:ext cx="1230312" cy="1122362"/>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222" name="Line 47">
            <a:extLst>
              <a:ext uri="{FF2B5EF4-FFF2-40B4-BE49-F238E27FC236}">
                <a16:creationId xmlns:a16="http://schemas.microsoft.com/office/drawing/2014/main" id="{331634E9-5607-640C-DEE6-655206B66BBB}"/>
              </a:ext>
            </a:extLst>
          </p:cNvPr>
          <p:cNvSpPr>
            <a:spLocks noChangeShapeType="1"/>
          </p:cNvSpPr>
          <p:nvPr/>
        </p:nvSpPr>
        <p:spPr bwMode="auto">
          <a:xfrm>
            <a:off x="1012825" y="3321050"/>
            <a:ext cx="1290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3" name="Rectangle 48">
            <a:extLst>
              <a:ext uri="{FF2B5EF4-FFF2-40B4-BE49-F238E27FC236}">
                <a16:creationId xmlns:a16="http://schemas.microsoft.com/office/drawing/2014/main" id="{9B0426DB-A5EA-96D2-6730-9845A82C10BE}"/>
              </a:ext>
            </a:extLst>
          </p:cNvPr>
          <p:cNvSpPr>
            <a:spLocks noChangeArrowheads="1"/>
          </p:cNvSpPr>
          <p:nvPr/>
        </p:nvSpPr>
        <p:spPr bwMode="auto">
          <a:xfrm>
            <a:off x="3824288" y="1577975"/>
            <a:ext cx="4826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360</a:t>
            </a:r>
          </a:p>
        </p:txBody>
      </p:sp>
      <p:sp>
        <p:nvSpPr>
          <p:cNvPr id="50224" name="Line 49">
            <a:extLst>
              <a:ext uri="{FF2B5EF4-FFF2-40B4-BE49-F238E27FC236}">
                <a16:creationId xmlns:a16="http://schemas.microsoft.com/office/drawing/2014/main" id="{B3E58140-6434-6859-8CB9-84C11F18B156}"/>
              </a:ext>
            </a:extLst>
          </p:cNvPr>
          <p:cNvSpPr>
            <a:spLocks noChangeShapeType="1"/>
          </p:cNvSpPr>
          <p:nvPr/>
        </p:nvSpPr>
        <p:spPr bwMode="auto">
          <a:xfrm>
            <a:off x="5678488" y="4948238"/>
            <a:ext cx="1111250" cy="15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5" name="Line 50">
            <a:extLst>
              <a:ext uri="{FF2B5EF4-FFF2-40B4-BE49-F238E27FC236}">
                <a16:creationId xmlns:a16="http://schemas.microsoft.com/office/drawing/2014/main" id="{28C20A61-9929-1B7B-A832-C624CED7D505}"/>
              </a:ext>
            </a:extLst>
          </p:cNvPr>
          <p:cNvSpPr>
            <a:spLocks noChangeShapeType="1"/>
          </p:cNvSpPr>
          <p:nvPr/>
        </p:nvSpPr>
        <p:spPr bwMode="auto">
          <a:xfrm>
            <a:off x="5692775" y="5221288"/>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6" name="Line 51">
            <a:extLst>
              <a:ext uri="{FF2B5EF4-FFF2-40B4-BE49-F238E27FC236}">
                <a16:creationId xmlns:a16="http://schemas.microsoft.com/office/drawing/2014/main" id="{C9EB123C-D7E4-EB07-DD82-2768DABE138E}"/>
              </a:ext>
            </a:extLst>
          </p:cNvPr>
          <p:cNvSpPr>
            <a:spLocks noChangeShapeType="1"/>
          </p:cNvSpPr>
          <p:nvPr/>
        </p:nvSpPr>
        <p:spPr bwMode="auto">
          <a:xfrm>
            <a:off x="5692775" y="5438775"/>
            <a:ext cx="11128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7" name="Rectangle 48">
            <a:extLst>
              <a:ext uri="{FF2B5EF4-FFF2-40B4-BE49-F238E27FC236}">
                <a16:creationId xmlns:a16="http://schemas.microsoft.com/office/drawing/2014/main" id="{EF08252C-FBAE-D0D9-ED07-6839CAF4F645}"/>
              </a:ext>
            </a:extLst>
          </p:cNvPr>
          <p:cNvSpPr>
            <a:spLocks noChangeArrowheads="1"/>
          </p:cNvSpPr>
          <p:nvPr/>
        </p:nvSpPr>
        <p:spPr bwMode="auto">
          <a:xfrm>
            <a:off x="1460500" y="1962150"/>
            <a:ext cx="4826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Times New Roman" panose="02020603050405020304" pitchFamily="18" charset="0"/>
              </a:rPr>
              <a:t>360</a:t>
            </a:r>
          </a:p>
        </p:txBody>
      </p:sp>
      <p:sp>
        <p:nvSpPr>
          <p:cNvPr id="50228" name="Rectangle 48">
            <a:extLst>
              <a:ext uri="{FF2B5EF4-FFF2-40B4-BE49-F238E27FC236}">
                <a16:creationId xmlns:a16="http://schemas.microsoft.com/office/drawing/2014/main" id="{B1AC17F4-6579-C865-7FB4-ADB98FF3DDDB}"/>
              </a:ext>
            </a:extLst>
          </p:cNvPr>
          <p:cNvSpPr>
            <a:spLocks noChangeArrowheads="1"/>
          </p:cNvSpPr>
          <p:nvPr/>
        </p:nvSpPr>
        <p:spPr bwMode="auto">
          <a:xfrm>
            <a:off x="1460500" y="2249488"/>
            <a:ext cx="48260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400" b="1">
                <a:latin typeface="Times New Roman" panose="02020603050405020304" pitchFamily="18" charset="0"/>
              </a:rPr>
              <a:t>740</a:t>
            </a:r>
            <a:endParaRPr lang="zh-CN" altLang="en-US" sz="1400" b="1">
              <a:latin typeface="Times New Roman" panose="02020603050405020304" pitchFamily="18" charset="0"/>
            </a:endParaRPr>
          </a:p>
        </p:txBody>
      </p:sp>
      <p:sp>
        <p:nvSpPr>
          <p:cNvPr id="50229" name="Rectangle 48">
            <a:extLst>
              <a:ext uri="{FF2B5EF4-FFF2-40B4-BE49-F238E27FC236}">
                <a16:creationId xmlns:a16="http://schemas.microsoft.com/office/drawing/2014/main" id="{32225F6D-099B-6033-B024-5FB16E3FC257}"/>
              </a:ext>
            </a:extLst>
          </p:cNvPr>
          <p:cNvSpPr>
            <a:spLocks noChangeArrowheads="1"/>
          </p:cNvSpPr>
          <p:nvPr/>
        </p:nvSpPr>
        <p:spPr bwMode="auto">
          <a:xfrm>
            <a:off x="1460500" y="3357563"/>
            <a:ext cx="48260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400" b="1">
                <a:latin typeface="Times New Roman" panose="02020603050405020304" pitchFamily="18" charset="0"/>
              </a:rPr>
              <a:t>1125</a:t>
            </a:r>
            <a:endParaRPr lang="zh-CN" altLang="en-US" sz="1400" b="1">
              <a:latin typeface="Times New Roman" panose="02020603050405020304" pitchFamily="18" charset="0"/>
            </a:endParaRPr>
          </a:p>
        </p:txBody>
      </p:sp>
      <p:sp>
        <p:nvSpPr>
          <p:cNvPr id="50230" name="Rectangle 48">
            <a:extLst>
              <a:ext uri="{FF2B5EF4-FFF2-40B4-BE49-F238E27FC236}">
                <a16:creationId xmlns:a16="http://schemas.microsoft.com/office/drawing/2014/main" id="{0C618803-B740-15D1-470F-DE6D56E06518}"/>
              </a:ext>
            </a:extLst>
          </p:cNvPr>
          <p:cNvSpPr>
            <a:spLocks noChangeArrowheads="1"/>
          </p:cNvSpPr>
          <p:nvPr/>
        </p:nvSpPr>
        <p:spPr bwMode="auto">
          <a:xfrm>
            <a:off x="3816350" y="2673350"/>
            <a:ext cx="482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宋体" panose="02010600030101010101" pitchFamily="2" charset="-122"/>
              </a:rPr>
              <a:t>┇</a:t>
            </a:r>
          </a:p>
          <a:p>
            <a:pPr algn="just" eaLnBrk="0" hangingPunct="0"/>
            <a:endParaRPr lang="zh-CN" altLang="en-US" sz="1400" b="1">
              <a:latin typeface="Times New Roman" panose="02020603050405020304" pitchFamily="18" charset="0"/>
            </a:endParaRPr>
          </a:p>
        </p:txBody>
      </p:sp>
      <p:sp>
        <p:nvSpPr>
          <p:cNvPr id="50231" name="Rectangle 48">
            <a:extLst>
              <a:ext uri="{FF2B5EF4-FFF2-40B4-BE49-F238E27FC236}">
                <a16:creationId xmlns:a16="http://schemas.microsoft.com/office/drawing/2014/main" id="{02F982B0-006E-E4A0-78E9-DFB280D2805C}"/>
              </a:ext>
            </a:extLst>
          </p:cNvPr>
          <p:cNvSpPr>
            <a:spLocks noChangeArrowheads="1"/>
          </p:cNvSpPr>
          <p:nvPr/>
        </p:nvSpPr>
        <p:spPr bwMode="auto">
          <a:xfrm>
            <a:off x="3887788" y="4005263"/>
            <a:ext cx="482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宋体" panose="02010600030101010101" pitchFamily="2" charset="-122"/>
              </a:rPr>
              <a:t>┇</a:t>
            </a:r>
          </a:p>
          <a:p>
            <a:pPr algn="just" eaLnBrk="0" hangingPunct="0"/>
            <a:endParaRPr lang="zh-CN" altLang="en-US" sz="1400" b="1">
              <a:latin typeface="Times New Roman" panose="02020603050405020304" pitchFamily="18" charset="0"/>
            </a:endParaRPr>
          </a:p>
        </p:txBody>
      </p:sp>
      <p:sp>
        <p:nvSpPr>
          <p:cNvPr id="50232" name="Rectangle 48">
            <a:extLst>
              <a:ext uri="{FF2B5EF4-FFF2-40B4-BE49-F238E27FC236}">
                <a16:creationId xmlns:a16="http://schemas.microsoft.com/office/drawing/2014/main" id="{BFDB17C8-EC8D-CD21-3185-52428B4C3C30}"/>
              </a:ext>
            </a:extLst>
          </p:cNvPr>
          <p:cNvSpPr>
            <a:spLocks noChangeArrowheads="1"/>
          </p:cNvSpPr>
          <p:nvPr/>
        </p:nvSpPr>
        <p:spPr bwMode="auto">
          <a:xfrm>
            <a:off x="3944938" y="5768975"/>
            <a:ext cx="482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400" b="1">
                <a:latin typeface="宋体" panose="02010600030101010101" pitchFamily="2" charset="-122"/>
              </a:rPr>
              <a:t>┇</a:t>
            </a:r>
          </a:p>
          <a:p>
            <a:pPr algn="just" eaLnBrk="0" hangingPunct="0"/>
            <a:endParaRPr lang="zh-CN" altLang="en-US" sz="1400" b="1">
              <a:latin typeface="Times New Roman" panose="02020603050405020304" pitchFamily="18" charset="0"/>
            </a:endParaRPr>
          </a:p>
        </p:txBody>
      </p:sp>
      <p:sp>
        <p:nvSpPr>
          <p:cNvPr id="2" name="灯片编号占位符 1">
            <a:extLst>
              <a:ext uri="{FF2B5EF4-FFF2-40B4-BE49-F238E27FC236}">
                <a16:creationId xmlns:a16="http://schemas.microsoft.com/office/drawing/2014/main" id="{BEAF2468-B487-FCE8-A088-B788B0BCEC3A}"/>
              </a:ext>
            </a:extLst>
          </p:cNvPr>
          <p:cNvSpPr>
            <a:spLocks noGrp="1"/>
          </p:cNvSpPr>
          <p:nvPr>
            <p:ph type="sldNum" sz="quarter" idx="12"/>
          </p:nvPr>
        </p:nvSpPr>
        <p:spPr/>
        <p:txBody>
          <a:bodyPr/>
          <a:lstStyle/>
          <a:p>
            <a:fld id="{4093CC90-4002-504C-BD88-C9A1D374048E}" type="slidenum">
              <a:rPr lang="zh-CN" altLang="en-US" smtClean="0"/>
              <a:pPr/>
              <a:t>124</a:t>
            </a:fld>
            <a:endParaRPr lang="zh-CN" altLang="en-US" dirty="0"/>
          </a:p>
        </p:txBody>
      </p:sp>
    </p:spTree>
  </p:cSld>
  <p:clrMapOvr>
    <a:masterClrMapping/>
  </p:clrMapOvr>
  <p:transition spd="med">
    <p:zoom/>
  </p:transition>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D8F879DB-E275-D688-CA08-9E84E270C9C8}"/>
              </a:ext>
            </a:extLst>
          </p:cNvPr>
          <p:cNvSpPr>
            <a:spLocks noGrp="1" noChangeArrowheads="1"/>
          </p:cNvSpPr>
          <p:nvPr>
            <p:ph type="title"/>
          </p:nvPr>
        </p:nvSpPr>
        <p:spPr/>
        <p:txBody>
          <a:bodyPr/>
          <a:lstStyle/>
          <a:p>
            <a:pPr eaLnBrk="1" hangingPunct="1"/>
            <a:r>
              <a:rPr lang="zh-CN" altLang="en-US" sz="3600"/>
              <a:t>两级索引分配允许的文件最大长度</a:t>
            </a:r>
          </a:p>
        </p:txBody>
      </p:sp>
      <p:sp>
        <p:nvSpPr>
          <p:cNvPr id="337923" name="Rectangle 3">
            <a:extLst>
              <a:ext uri="{FF2B5EF4-FFF2-40B4-BE49-F238E27FC236}">
                <a16:creationId xmlns:a16="http://schemas.microsoft.com/office/drawing/2014/main" id="{AD53D3A8-E4E1-AD75-8D31-C2925B517BC9}"/>
              </a:ext>
            </a:extLst>
          </p:cNvPr>
          <p:cNvSpPr>
            <a:spLocks noGrp="1" noChangeArrowheads="1"/>
          </p:cNvSpPr>
          <p:nvPr>
            <p:ph idx="1"/>
          </p:nvPr>
        </p:nvSpPr>
        <p:spPr>
          <a:xfrm>
            <a:off x="719138" y="1196975"/>
            <a:ext cx="8235950" cy="5003800"/>
          </a:xfrm>
        </p:spPr>
        <p:txBody>
          <a:bodyPr/>
          <a:lstStyle/>
          <a:p>
            <a:pPr algn="just" eaLnBrk="1" hangingPunct="1"/>
            <a:r>
              <a:rPr lang="zh-CN" altLang="en-US"/>
              <a:t>在两级索引分配方式下，如果每个盘块的大小为1</a:t>
            </a:r>
            <a:r>
              <a:rPr lang="en-US" altLang="zh-CN"/>
              <a:t>KB，</a:t>
            </a:r>
            <a:r>
              <a:rPr lang="zh-CN" altLang="en-US"/>
              <a:t>每个盘块号占4字节，则：</a:t>
            </a:r>
          </a:p>
          <a:p>
            <a:pPr algn="just" eaLnBrk="1" hangingPunct="1"/>
            <a:r>
              <a:rPr lang="zh-CN" altLang="en-US"/>
              <a:t>一个索引块中可以存放：</a:t>
            </a:r>
          </a:p>
          <a:p>
            <a:pPr algn="just" eaLnBrk="1" hangingPunct="1">
              <a:buFont typeface="Wingdings" pitchFamily="2" charset="2"/>
              <a:buNone/>
            </a:pPr>
            <a:r>
              <a:rPr lang="zh-CN" altLang="en-US"/>
              <a:t>       1</a:t>
            </a:r>
            <a:r>
              <a:rPr lang="en-US" altLang="zh-CN"/>
              <a:t>KB/4B=256</a:t>
            </a:r>
            <a:r>
              <a:rPr lang="zh-CN" altLang="en-US"/>
              <a:t>个盘块号</a:t>
            </a:r>
          </a:p>
          <a:p>
            <a:pPr algn="just" eaLnBrk="1" hangingPunct="1"/>
            <a:r>
              <a:rPr lang="zh-CN" altLang="en-US"/>
              <a:t>两级索引最多可以存放的盘块数为：</a:t>
            </a:r>
          </a:p>
          <a:p>
            <a:pPr algn="just" eaLnBrk="1" hangingPunct="1">
              <a:buFont typeface="Wingdings" pitchFamily="2" charset="2"/>
              <a:buNone/>
            </a:pPr>
            <a:r>
              <a:rPr lang="zh-CN" altLang="en-US"/>
              <a:t>       256×256=64</a:t>
            </a:r>
            <a:r>
              <a:rPr lang="en-US" altLang="zh-CN"/>
              <a:t>K</a:t>
            </a:r>
            <a:r>
              <a:rPr lang="zh-CN" altLang="en-US"/>
              <a:t>个盘块号</a:t>
            </a:r>
          </a:p>
          <a:p>
            <a:pPr algn="just" eaLnBrk="1" hangingPunct="1"/>
            <a:r>
              <a:rPr lang="zh-CN" altLang="en-US"/>
              <a:t>因此可以允许的最大文件长度为：</a:t>
            </a:r>
          </a:p>
          <a:p>
            <a:pPr algn="just" eaLnBrk="1" hangingPunct="1">
              <a:buFont typeface="Wingdings" pitchFamily="2" charset="2"/>
              <a:buNone/>
            </a:pPr>
            <a:r>
              <a:rPr lang="zh-CN" altLang="en-US"/>
              <a:t>         64</a:t>
            </a:r>
            <a:r>
              <a:rPr lang="en-US" altLang="zh-CN"/>
              <a:t>K×1KB=64MB</a:t>
            </a:r>
            <a:endParaRPr lang="zh-CN" altLang="en-US"/>
          </a:p>
        </p:txBody>
      </p:sp>
      <p:sp>
        <p:nvSpPr>
          <p:cNvPr id="2" name="灯片编号占位符 1">
            <a:extLst>
              <a:ext uri="{FF2B5EF4-FFF2-40B4-BE49-F238E27FC236}">
                <a16:creationId xmlns:a16="http://schemas.microsoft.com/office/drawing/2014/main" id="{FBA85D75-8A5D-A9BD-3069-20DE7C32016A}"/>
              </a:ext>
            </a:extLst>
          </p:cNvPr>
          <p:cNvSpPr>
            <a:spLocks noGrp="1"/>
          </p:cNvSpPr>
          <p:nvPr>
            <p:ph type="sldNum" sz="quarter" idx="12"/>
          </p:nvPr>
        </p:nvSpPr>
        <p:spPr/>
        <p:txBody>
          <a:bodyPr/>
          <a:lstStyle/>
          <a:p>
            <a:fld id="{4093CC90-4002-504C-BD88-C9A1D374048E}" type="slidenum">
              <a:rPr lang="zh-CN" altLang="en-US" smtClean="0"/>
              <a:pPr/>
              <a:t>125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7923">
                                            <p:txEl>
                                              <p:pRg st="0" end="0"/>
                                            </p:txEl>
                                          </p:spTgt>
                                        </p:tgtEl>
                                        <p:attrNameLst>
                                          <p:attrName>style.visibility</p:attrName>
                                        </p:attrNameLst>
                                      </p:cBhvr>
                                      <p:to>
                                        <p:strVal val="visible"/>
                                      </p:to>
                                    </p:set>
                                    <p:animEffect transition="in" filter="checkerboard(across)">
                                      <p:cBhvr>
                                        <p:cTn id="7" dur="500"/>
                                        <p:tgtEl>
                                          <p:spTgt spid="337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7923">
                                            <p:txEl>
                                              <p:pRg st="1" end="1"/>
                                            </p:txEl>
                                          </p:spTgt>
                                        </p:tgtEl>
                                        <p:attrNameLst>
                                          <p:attrName>style.visibility</p:attrName>
                                        </p:attrNameLst>
                                      </p:cBhvr>
                                      <p:to>
                                        <p:strVal val="visible"/>
                                      </p:to>
                                    </p:set>
                                    <p:animEffect transition="in" filter="checkerboard(across)">
                                      <p:cBhvr>
                                        <p:cTn id="12" dur="500"/>
                                        <p:tgtEl>
                                          <p:spTgt spid="3379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37923">
                                            <p:txEl>
                                              <p:pRg st="2" end="2"/>
                                            </p:txEl>
                                          </p:spTgt>
                                        </p:tgtEl>
                                        <p:attrNameLst>
                                          <p:attrName>style.visibility</p:attrName>
                                        </p:attrNameLst>
                                      </p:cBhvr>
                                      <p:to>
                                        <p:strVal val="visible"/>
                                      </p:to>
                                    </p:set>
                                    <p:animEffect transition="in" filter="checkerboard(across)">
                                      <p:cBhvr>
                                        <p:cTn id="17" dur="500"/>
                                        <p:tgtEl>
                                          <p:spTgt spid="3379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37923">
                                            <p:txEl>
                                              <p:pRg st="3" end="3"/>
                                            </p:txEl>
                                          </p:spTgt>
                                        </p:tgtEl>
                                        <p:attrNameLst>
                                          <p:attrName>style.visibility</p:attrName>
                                        </p:attrNameLst>
                                      </p:cBhvr>
                                      <p:to>
                                        <p:strVal val="visible"/>
                                      </p:to>
                                    </p:set>
                                    <p:animEffect transition="in" filter="checkerboard(across)">
                                      <p:cBhvr>
                                        <p:cTn id="22" dur="500"/>
                                        <p:tgtEl>
                                          <p:spTgt spid="3379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37923">
                                            <p:txEl>
                                              <p:pRg st="4" end="4"/>
                                            </p:txEl>
                                          </p:spTgt>
                                        </p:tgtEl>
                                        <p:attrNameLst>
                                          <p:attrName>style.visibility</p:attrName>
                                        </p:attrNameLst>
                                      </p:cBhvr>
                                      <p:to>
                                        <p:strVal val="visible"/>
                                      </p:to>
                                    </p:set>
                                    <p:animEffect transition="in" filter="checkerboard(across)">
                                      <p:cBhvr>
                                        <p:cTn id="27" dur="500"/>
                                        <p:tgtEl>
                                          <p:spTgt spid="33792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37923">
                                            <p:txEl>
                                              <p:pRg st="5" end="5"/>
                                            </p:txEl>
                                          </p:spTgt>
                                        </p:tgtEl>
                                        <p:attrNameLst>
                                          <p:attrName>style.visibility</p:attrName>
                                        </p:attrNameLst>
                                      </p:cBhvr>
                                      <p:to>
                                        <p:strVal val="visible"/>
                                      </p:to>
                                    </p:set>
                                    <p:animEffect transition="in" filter="checkerboard(across)">
                                      <p:cBhvr>
                                        <p:cTn id="32" dur="500"/>
                                        <p:tgtEl>
                                          <p:spTgt spid="33792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337923">
                                            <p:txEl>
                                              <p:pRg st="6" end="6"/>
                                            </p:txEl>
                                          </p:spTgt>
                                        </p:tgtEl>
                                        <p:attrNameLst>
                                          <p:attrName>style.visibility</p:attrName>
                                        </p:attrNameLst>
                                      </p:cBhvr>
                                      <p:to>
                                        <p:strVal val="visible"/>
                                      </p:to>
                                    </p:set>
                                    <p:animEffect transition="in" filter="checkerboard(across)">
                                      <p:cBhvr>
                                        <p:cTn id="37" dur="500"/>
                                        <p:tgtEl>
                                          <p:spTgt spid="3379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50D702E-ED44-E6AA-41C8-461061CA1760}"/>
              </a:ext>
            </a:extLst>
          </p:cNvPr>
          <p:cNvSpPr>
            <a:spLocks noGrp="1" noChangeArrowheads="1"/>
          </p:cNvSpPr>
          <p:nvPr>
            <p:ph type="title"/>
          </p:nvPr>
        </p:nvSpPr>
        <p:spPr/>
        <p:txBody>
          <a:bodyPr/>
          <a:lstStyle/>
          <a:p>
            <a:pPr eaLnBrk="1" hangingPunct="1"/>
            <a:r>
              <a:rPr lang="zh-CN" altLang="en-US" b="1"/>
              <a:t>混合索引分配方式</a:t>
            </a:r>
            <a:endParaRPr lang="en-US" altLang="zh-CN" b="1"/>
          </a:p>
        </p:txBody>
      </p:sp>
      <p:sp>
        <p:nvSpPr>
          <p:cNvPr id="338947" name="Rectangle 3">
            <a:extLst>
              <a:ext uri="{FF2B5EF4-FFF2-40B4-BE49-F238E27FC236}">
                <a16:creationId xmlns:a16="http://schemas.microsoft.com/office/drawing/2014/main" id="{E65BF864-5BFD-698B-5C82-DE3AA3915144}"/>
              </a:ext>
            </a:extLst>
          </p:cNvPr>
          <p:cNvSpPr>
            <a:spLocks noGrp="1" noChangeArrowheads="1"/>
          </p:cNvSpPr>
          <p:nvPr>
            <p:ph idx="1"/>
          </p:nvPr>
        </p:nvSpPr>
        <p:spPr>
          <a:xfrm>
            <a:off x="900113" y="1192213"/>
            <a:ext cx="7967662" cy="4540250"/>
          </a:xfrm>
        </p:spPr>
        <p:txBody>
          <a:bodyPr/>
          <a:lstStyle/>
          <a:p>
            <a:pPr algn="just" eaLnBrk="1" hangingPunct="1"/>
            <a:r>
              <a:rPr lang="zh-CN" altLang="en-US">
                <a:solidFill>
                  <a:srgbClr val="FF0000"/>
                </a:solidFill>
              </a:rPr>
              <a:t>混合索引分配</a:t>
            </a:r>
            <a:r>
              <a:rPr lang="zh-CN" altLang="en-US"/>
              <a:t>方式是将多种索引分配方式相结合而形成的一种分配方式。这种方式已用于</a:t>
            </a:r>
            <a:r>
              <a:rPr lang="en-US" altLang="zh-CN"/>
              <a:t>UNIX、Linux</a:t>
            </a:r>
            <a:r>
              <a:rPr lang="zh-CN" altLang="en-US"/>
              <a:t>等系统中。</a:t>
            </a:r>
          </a:p>
          <a:p>
            <a:pPr eaLnBrk="1" hangingPunct="1"/>
            <a:r>
              <a:rPr lang="zh-CN" altLang="en-US"/>
              <a:t>在</a:t>
            </a:r>
            <a:r>
              <a:rPr lang="en-US" altLang="zh-CN"/>
              <a:t>UNIX System Ⅴ</a:t>
            </a:r>
            <a:r>
              <a:rPr lang="zh-CN" altLang="en-US"/>
              <a:t>中，共设有13个地址项，包括10个直接地址项、一个一次间接地址项、一个二次间接地址项和一个三次间接地址项。</a:t>
            </a:r>
            <a:endParaRPr lang="en-US" altLang="zh-CN"/>
          </a:p>
        </p:txBody>
      </p:sp>
      <p:sp>
        <p:nvSpPr>
          <p:cNvPr id="2" name="灯片编号占位符 1">
            <a:extLst>
              <a:ext uri="{FF2B5EF4-FFF2-40B4-BE49-F238E27FC236}">
                <a16:creationId xmlns:a16="http://schemas.microsoft.com/office/drawing/2014/main" id="{71823E39-15BC-F54E-449C-40659EC66AE7}"/>
              </a:ext>
            </a:extLst>
          </p:cNvPr>
          <p:cNvSpPr>
            <a:spLocks noGrp="1"/>
          </p:cNvSpPr>
          <p:nvPr>
            <p:ph type="sldNum" sz="quarter" idx="12"/>
          </p:nvPr>
        </p:nvSpPr>
        <p:spPr/>
        <p:txBody>
          <a:bodyPr/>
          <a:lstStyle/>
          <a:p>
            <a:fld id="{4093CC90-4002-504C-BD88-C9A1D374048E}" type="slidenum">
              <a:rPr lang="zh-CN" altLang="en-US" smtClean="0"/>
              <a:pPr/>
              <a:t>126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animEffect transition="in" filter="checkerboard(across)">
                                      <p:cBhvr>
                                        <p:cTn id="7" dur="500"/>
                                        <p:tgtEl>
                                          <p:spTgt spid="338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8947">
                                            <p:txEl>
                                              <p:pRg st="1" end="1"/>
                                            </p:txEl>
                                          </p:spTgt>
                                        </p:tgtEl>
                                        <p:attrNameLst>
                                          <p:attrName>style.visibility</p:attrName>
                                        </p:attrNameLst>
                                      </p:cBhvr>
                                      <p:to>
                                        <p:strVal val="visible"/>
                                      </p:to>
                                    </p:set>
                                    <p:animEffect transition="in" filter="checkerboard(across)">
                                      <p:cBhvr>
                                        <p:cTn id="12" dur="500"/>
                                        <p:tgtEl>
                                          <p:spTgt spid="3389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DA032485-387D-37AD-57C4-59E6B82CC6BC}"/>
              </a:ext>
            </a:extLst>
          </p:cNvPr>
          <p:cNvSpPr>
            <a:spLocks noGrp="1" noChangeArrowheads="1"/>
          </p:cNvSpPr>
          <p:nvPr>
            <p:ph type="title"/>
          </p:nvPr>
        </p:nvSpPr>
        <p:spPr/>
        <p:txBody>
          <a:bodyPr/>
          <a:lstStyle/>
          <a:p>
            <a:pPr eaLnBrk="1" hangingPunct="1"/>
            <a:r>
              <a:rPr lang="zh-CN" altLang="en-US"/>
              <a:t>混合索引方式示意图</a:t>
            </a:r>
          </a:p>
        </p:txBody>
      </p:sp>
      <p:sp>
        <p:nvSpPr>
          <p:cNvPr id="53250" name="Text Box 3">
            <a:extLst>
              <a:ext uri="{FF2B5EF4-FFF2-40B4-BE49-F238E27FC236}">
                <a16:creationId xmlns:a16="http://schemas.microsoft.com/office/drawing/2014/main" id="{335859AF-1720-3201-FA0A-6760D9F5039E}"/>
              </a:ext>
            </a:extLst>
          </p:cNvPr>
          <p:cNvSpPr txBox="1">
            <a:spLocks noChangeArrowheads="1"/>
          </p:cNvSpPr>
          <p:nvPr/>
        </p:nvSpPr>
        <p:spPr bwMode="auto">
          <a:xfrm>
            <a:off x="914400" y="1908175"/>
            <a:ext cx="795338"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600">
                <a:latin typeface="Times New Roman" panose="02020603050405020304" pitchFamily="18" charset="0"/>
              </a:rPr>
              <a:t>addr [0]</a:t>
            </a:r>
            <a:endParaRPr lang="en-US" altLang="zh-CN" sz="1600">
              <a:latin typeface="宋体" panose="02010600030101010101" pitchFamily="2" charset="-122"/>
            </a:endParaRP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[1]</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[2]</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[3]</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[4]</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[5]</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[6]</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[7]</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[8]</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[9]</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[10]</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[11]</a:t>
            </a:r>
          </a:p>
          <a:p>
            <a:pPr algn="just" eaLnBrk="0" hangingPunct="0"/>
            <a:r>
              <a:rPr lang="en-US" altLang="zh-CN" sz="1600">
                <a:latin typeface="Times New Roman" panose="02020603050405020304" pitchFamily="18" charset="0"/>
              </a:rPr>
              <a:t>addr</a:t>
            </a:r>
            <a:r>
              <a:rPr lang="en-US" altLang="zh-CN" sz="1600">
                <a:latin typeface="宋体" panose="02010600030101010101" pitchFamily="2" charset="-122"/>
              </a:rPr>
              <a:t>[12]</a:t>
            </a:r>
          </a:p>
        </p:txBody>
      </p:sp>
      <p:sp>
        <p:nvSpPr>
          <p:cNvPr id="53251" name="Rectangle 4">
            <a:extLst>
              <a:ext uri="{FF2B5EF4-FFF2-40B4-BE49-F238E27FC236}">
                <a16:creationId xmlns:a16="http://schemas.microsoft.com/office/drawing/2014/main" id="{86081212-0EA4-7BDA-AEFB-E2635EEA2667}"/>
              </a:ext>
            </a:extLst>
          </p:cNvPr>
          <p:cNvSpPr>
            <a:spLocks noChangeArrowheads="1"/>
          </p:cNvSpPr>
          <p:nvPr/>
        </p:nvSpPr>
        <p:spPr bwMode="auto">
          <a:xfrm>
            <a:off x="7366000" y="1773238"/>
            <a:ext cx="963613" cy="246062"/>
          </a:xfrm>
          <a:prstGeom prst="rect">
            <a:avLst/>
          </a:prstGeom>
          <a:solidFill>
            <a:srgbClr val="FFFFFF"/>
          </a:solidFill>
          <a:ln w="25400">
            <a:solidFill>
              <a:srgbClr val="000000"/>
            </a:solidFill>
            <a:miter lim="800000"/>
            <a:headEnd/>
            <a:tailEnd/>
          </a:ln>
        </p:spPr>
        <p:txBody>
          <a:bodyPr/>
          <a:lstStyle/>
          <a:p>
            <a:pPr algn="ctr"/>
            <a:endParaRPr lang="zh-CN" altLang="en-US"/>
          </a:p>
        </p:txBody>
      </p:sp>
      <p:sp>
        <p:nvSpPr>
          <p:cNvPr id="53252" name="Rectangle 5">
            <a:extLst>
              <a:ext uri="{FF2B5EF4-FFF2-40B4-BE49-F238E27FC236}">
                <a16:creationId xmlns:a16="http://schemas.microsoft.com/office/drawing/2014/main" id="{46F4D8FD-B0B4-D088-0258-2CF7CB02586C}"/>
              </a:ext>
            </a:extLst>
          </p:cNvPr>
          <p:cNvSpPr>
            <a:spLocks noChangeArrowheads="1"/>
          </p:cNvSpPr>
          <p:nvPr/>
        </p:nvSpPr>
        <p:spPr bwMode="auto">
          <a:xfrm>
            <a:off x="7366000" y="2386013"/>
            <a:ext cx="963613" cy="246062"/>
          </a:xfrm>
          <a:prstGeom prst="rect">
            <a:avLst/>
          </a:prstGeom>
          <a:solidFill>
            <a:srgbClr val="FFFFFF"/>
          </a:solidFill>
          <a:ln w="25400">
            <a:solidFill>
              <a:srgbClr val="000000"/>
            </a:solidFill>
            <a:miter lim="800000"/>
            <a:headEnd/>
            <a:tailEnd/>
          </a:ln>
        </p:spPr>
        <p:txBody>
          <a:bodyPr/>
          <a:lstStyle/>
          <a:p>
            <a:pPr algn="ctr"/>
            <a:endParaRPr lang="zh-CN" altLang="en-US"/>
          </a:p>
        </p:txBody>
      </p:sp>
      <p:sp>
        <p:nvSpPr>
          <p:cNvPr id="53253" name="Rectangle 6">
            <a:extLst>
              <a:ext uri="{FF2B5EF4-FFF2-40B4-BE49-F238E27FC236}">
                <a16:creationId xmlns:a16="http://schemas.microsoft.com/office/drawing/2014/main" id="{EF208BBA-90DC-D39E-EE4A-6A770C92977A}"/>
              </a:ext>
            </a:extLst>
          </p:cNvPr>
          <p:cNvSpPr>
            <a:spLocks noChangeArrowheads="1"/>
          </p:cNvSpPr>
          <p:nvPr/>
        </p:nvSpPr>
        <p:spPr bwMode="auto">
          <a:xfrm>
            <a:off x="4370388" y="2876550"/>
            <a:ext cx="962025" cy="735013"/>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b="1">
                <a:latin typeface="宋体" panose="02010600030101010101" pitchFamily="2" charset="-122"/>
              </a:rPr>
              <a:t> </a:t>
            </a:r>
            <a:r>
              <a:rPr lang="zh-CN" altLang="en-US" sz="1600" b="1">
                <a:latin typeface="Times New Roman" panose="02020603050405020304" pitchFamily="18" charset="0"/>
              </a:rPr>
              <a:t>…</a:t>
            </a:r>
          </a:p>
        </p:txBody>
      </p:sp>
      <p:sp>
        <p:nvSpPr>
          <p:cNvPr id="53254" name="Rectangle 7">
            <a:extLst>
              <a:ext uri="{FF2B5EF4-FFF2-40B4-BE49-F238E27FC236}">
                <a16:creationId xmlns:a16="http://schemas.microsoft.com/office/drawing/2014/main" id="{D7D61A41-3C24-30CA-7F01-5000501578E1}"/>
              </a:ext>
            </a:extLst>
          </p:cNvPr>
          <p:cNvSpPr>
            <a:spLocks noChangeArrowheads="1"/>
          </p:cNvSpPr>
          <p:nvPr/>
        </p:nvSpPr>
        <p:spPr bwMode="auto">
          <a:xfrm>
            <a:off x="7381875" y="2998788"/>
            <a:ext cx="962025" cy="246062"/>
          </a:xfrm>
          <a:prstGeom prst="rect">
            <a:avLst/>
          </a:prstGeom>
          <a:solidFill>
            <a:srgbClr val="FFFFFF"/>
          </a:solidFill>
          <a:ln w="25400">
            <a:solidFill>
              <a:srgbClr val="000000"/>
            </a:solidFill>
            <a:miter lim="800000"/>
            <a:headEnd/>
            <a:tailEnd/>
          </a:ln>
        </p:spPr>
        <p:txBody>
          <a:bodyPr/>
          <a:lstStyle/>
          <a:p>
            <a:pPr algn="ctr"/>
            <a:endParaRPr lang="zh-CN" altLang="en-US"/>
          </a:p>
        </p:txBody>
      </p:sp>
      <p:sp>
        <p:nvSpPr>
          <p:cNvPr id="53255" name="Rectangle 8">
            <a:extLst>
              <a:ext uri="{FF2B5EF4-FFF2-40B4-BE49-F238E27FC236}">
                <a16:creationId xmlns:a16="http://schemas.microsoft.com/office/drawing/2014/main" id="{99BA3254-1DE4-A9A1-ED10-A8CE2E58FE56}"/>
              </a:ext>
            </a:extLst>
          </p:cNvPr>
          <p:cNvSpPr>
            <a:spLocks noChangeArrowheads="1"/>
          </p:cNvSpPr>
          <p:nvPr/>
        </p:nvSpPr>
        <p:spPr bwMode="auto">
          <a:xfrm>
            <a:off x="7442200" y="3810000"/>
            <a:ext cx="963613" cy="244475"/>
          </a:xfrm>
          <a:prstGeom prst="rect">
            <a:avLst/>
          </a:prstGeom>
          <a:solidFill>
            <a:srgbClr val="FFFFFF"/>
          </a:solidFill>
          <a:ln w="25400">
            <a:solidFill>
              <a:srgbClr val="000000"/>
            </a:solidFill>
            <a:miter lim="800000"/>
            <a:headEnd/>
            <a:tailEnd/>
          </a:ln>
        </p:spPr>
        <p:txBody>
          <a:bodyPr/>
          <a:lstStyle/>
          <a:p>
            <a:pPr algn="ctr"/>
            <a:endParaRPr lang="zh-CN" altLang="en-US"/>
          </a:p>
        </p:txBody>
      </p:sp>
      <p:sp>
        <p:nvSpPr>
          <p:cNvPr id="53256" name="Text Box 9">
            <a:extLst>
              <a:ext uri="{FF2B5EF4-FFF2-40B4-BE49-F238E27FC236}">
                <a16:creationId xmlns:a16="http://schemas.microsoft.com/office/drawing/2014/main" id="{61119D30-EF06-CDDC-B63B-5532516BAC78}"/>
              </a:ext>
            </a:extLst>
          </p:cNvPr>
          <p:cNvSpPr txBox="1">
            <a:spLocks noChangeArrowheads="1"/>
          </p:cNvSpPr>
          <p:nvPr/>
        </p:nvSpPr>
        <p:spPr bwMode="auto">
          <a:xfrm>
            <a:off x="7580313" y="2020888"/>
            <a:ext cx="534987"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algn="just" eaLnBrk="0" hangingPunct="0"/>
            <a:r>
              <a:rPr lang="zh-CN" altLang="en-US" sz="1600">
                <a:latin typeface="Times New Roman" panose="02020603050405020304" pitchFamily="18" charset="0"/>
              </a:rPr>
              <a:t>…</a:t>
            </a:r>
          </a:p>
        </p:txBody>
      </p:sp>
      <p:sp>
        <p:nvSpPr>
          <p:cNvPr id="53257" name="Line 10">
            <a:extLst>
              <a:ext uri="{FF2B5EF4-FFF2-40B4-BE49-F238E27FC236}">
                <a16:creationId xmlns:a16="http://schemas.microsoft.com/office/drawing/2014/main" id="{062B5738-B211-6143-D340-16470AB6B93A}"/>
              </a:ext>
            </a:extLst>
          </p:cNvPr>
          <p:cNvSpPr>
            <a:spLocks noChangeShapeType="1"/>
          </p:cNvSpPr>
          <p:nvPr/>
        </p:nvSpPr>
        <p:spPr bwMode="auto">
          <a:xfrm>
            <a:off x="2871788" y="4224338"/>
            <a:ext cx="2143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8" name="Line 11">
            <a:extLst>
              <a:ext uri="{FF2B5EF4-FFF2-40B4-BE49-F238E27FC236}">
                <a16:creationId xmlns:a16="http://schemas.microsoft.com/office/drawing/2014/main" id="{9EFB6F86-B946-E171-D234-DA5CAF867B69}"/>
              </a:ext>
            </a:extLst>
          </p:cNvPr>
          <p:cNvSpPr>
            <a:spLocks noChangeShapeType="1"/>
          </p:cNvSpPr>
          <p:nvPr/>
        </p:nvSpPr>
        <p:spPr bwMode="auto">
          <a:xfrm flipV="1">
            <a:off x="3086100" y="2509838"/>
            <a:ext cx="0" cy="17145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12">
            <a:extLst>
              <a:ext uri="{FF2B5EF4-FFF2-40B4-BE49-F238E27FC236}">
                <a16:creationId xmlns:a16="http://schemas.microsoft.com/office/drawing/2014/main" id="{519170D8-9E9F-DDEC-3A89-6D09CEEF2C0F}"/>
              </a:ext>
            </a:extLst>
          </p:cNvPr>
          <p:cNvSpPr>
            <a:spLocks noChangeShapeType="1"/>
          </p:cNvSpPr>
          <p:nvPr/>
        </p:nvSpPr>
        <p:spPr bwMode="auto">
          <a:xfrm>
            <a:off x="2871788" y="4470400"/>
            <a:ext cx="3667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13">
            <a:extLst>
              <a:ext uri="{FF2B5EF4-FFF2-40B4-BE49-F238E27FC236}">
                <a16:creationId xmlns:a16="http://schemas.microsoft.com/office/drawing/2014/main" id="{EE333565-F2B4-C6D2-F07E-DFEBA11A1BEA}"/>
              </a:ext>
            </a:extLst>
          </p:cNvPr>
          <p:cNvSpPr>
            <a:spLocks noChangeShapeType="1"/>
          </p:cNvSpPr>
          <p:nvPr/>
        </p:nvSpPr>
        <p:spPr bwMode="auto">
          <a:xfrm flipV="1">
            <a:off x="3238500" y="3244850"/>
            <a:ext cx="0" cy="1225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14">
            <a:extLst>
              <a:ext uri="{FF2B5EF4-FFF2-40B4-BE49-F238E27FC236}">
                <a16:creationId xmlns:a16="http://schemas.microsoft.com/office/drawing/2014/main" id="{561F7C2E-CB8F-FD18-592D-924B20C84280}"/>
              </a:ext>
            </a:extLst>
          </p:cNvPr>
          <p:cNvSpPr>
            <a:spLocks noChangeShapeType="1"/>
          </p:cNvSpPr>
          <p:nvPr/>
        </p:nvSpPr>
        <p:spPr bwMode="auto">
          <a:xfrm>
            <a:off x="4370388" y="3176588"/>
            <a:ext cx="962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15">
            <a:extLst>
              <a:ext uri="{FF2B5EF4-FFF2-40B4-BE49-F238E27FC236}">
                <a16:creationId xmlns:a16="http://schemas.microsoft.com/office/drawing/2014/main" id="{F956DB82-462A-47CE-6E2A-0137D0441461}"/>
              </a:ext>
            </a:extLst>
          </p:cNvPr>
          <p:cNvSpPr>
            <a:spLocks noChangeShapeType="1"/>
          </p:cNvSpPr>
          <p:nvPr/>
        </p:nvSpPr>
        <p:spPr bwMode="auto">
          <a:xfrm>
            <a:off x="4370388" y="3392488"/>
            <a:ext cx="962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Rectangle 16">
            <a:extLst>
              <a:ext uri="{FF2B5EF4-FFF2-40B4-BE49-F238E27FC236}">
                <a16:creationId xmlns:a16="http://schemas.microsoft.com/office/drawing/2014/main" id="{677F2A66-2C35-5F12-857E-EC58FCC3BC1D}"/>
              </a:ext>
            </a:extLst>
          </p:cNvPr>
          <p:cNvSpPr>
            <a:spLocks noChangeArrowheads="1"/>
          </p:cNvSpPr>
          <p:nvPr/>
        </p:nvSpPr>
        <p:spPr bwMode="auto">
          <a:xfrm>
            <a:off x="5867400" y="3976688"/>
            <a:ext cx="963613" cy="736600"/>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b="1">
                <a:latin typeface="Times New Roman" panose="02020603050405020304" pitchFamily="18" charset="0"/>
              </a:rPr>
              <a:t>…</a:t>
            </a:r>
          </a:p>
        </p:txBody>
      </p:sp>
      <p:sp>
        <p:nvSpPr>
          <p:cNvPr id="53264" name="Line 17">
            <a:extLst>
              <a:ext uri="{FF2B5EF4-FFF2-40B4-BE49-F238E27FC236}">
                <a16:creationId xmlns:a16="http://schemas.microsoft.com/office/drawing/2014/main" id="{26D73752-318E-3CDC-F9E1-3537DDFB9AF8}"/>
              </a:ext>
            </a:extLst>
          </p:cNvPr>
          <p:cNvSpPr>
            <a:spLocks noChangeShapeType="1"/>
          </p:cNvSpPr>
          <p:nvPr/>
        </p:nvSpPr>
        <p:spPr bwMode="auto">
          <a:xfrm>
            <a:off x="5867400" y="4292600"/>
            <a:ext cx="963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5" name="Line 18">
            <a:extLst>
              <a:ext uri="{FF2B5EF4-FFF2-40B4-BE49-F238E27FC236}">
                <a16:creationId xmlns:a16="http://schemas.microsoft.com/office/drawing/2014/main" id="{88E309AC-D97C-1810-DEFB-7761FD44901F}"/>
              </a:ext>
            </a:extLst>
          </p:cNvPr>
          <p:cNvSpPr>
            <a:spLocks noChangeShapeType="1"/>
          </p:cNvSpPr>
          <p:nvPr/>
        </p:nvSpPr>
        <p:spPr bwMode="auto">
          <a:xfrm>
            <a:off x="5867400" y="4467225"/>
            <a:ext cx="963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6" name="Rectangle 19">
            <a:extLst>
              <a:ext uri="{FF2B5EF4-FFF2-40B4-BE49-F238E27FC236}">
                <a16:creationId xmlns:a16="http://schemas.microsoft.com/office/drawing/2014/main" id="{2727B41D-679B-AB9C-1F00-6E2F23080A4E}"/>
              </a:ext>
            </a:extLst>
          </p:cNvPr>
          <p:cNvSpPr>
            <a:spLocks noChangeArrowheads="1"/>
          </p:cNvSpPr>
          <p:nvPr/>
        </p:nvSpPr>
        <p:spPr bwMode="auto">
          <a:xfrm>
            <a:off x="4079875" y="3976688"/>
            <a:ext cx="962025" cy="736600"/>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b="1">
                <a:latin typeface="宋体" panose="02010600030101010101" pitchFamily="2" charset="-122"/>
              </a:rPr>
              <a:t> </a:t>
            </a:r>
            <a:r>
              <a:rPr lang="zh-CN" altLang="en-US" sz="1600" b="1">
                <a:latin typeface="Times New Roman" panose="02020603050405020304" pitchFamily="18" charset="0"/>
              </a:rPr>
              <a:t>…</a:t>
            </a:r>
          </a:p>
        </p:txBody>
      </p:sp>
      <p:sp>
        <p:nvSpPr>
          <p:cNvPr id="53267" name="Line 20">
            <a:extLst>
              <a:ext uri="{FF2B5EF4-FFF2-40B4-BE49-F238E27FC236}">
                <a16:creationId xmlns:a16="http://schemas.microsoft.com/office/drawing/2014/main" id="{41931125-4131-DCC4-F4CD-F35FE20C1564}"/>
              </a:ext>
            </a:extLst>
          </p:cNvPr>
          <p:cNvSpPr>
            <a:spLocks noChangeShapeType="1"/>
          </p:cNvSpPr>
          <p:nvPr/>
        </p:nvSpPr>
        <p:spPr bwMode="auto">
          <a:xfrm>
            <a:off x="4079875" y="4292600"/>
            <a:ext cx="962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8" name="Line 21">
            <a:extLst>
              <a:ext uri="{FF2B5EF4-FFF2-40B4-BE49-F238E27FC236}">
                <a16:creationId xmlns:a16="http://schemas.microsoft.com/office/drawing/2014/main" id="{2B418DDA-80D1-9C6D-FAC6-90387D2E6560}"/>
              </a:ext>
            </a:extLst>
          </p:cNvPr>
          <p:cNvSpPr>
            <a:spLocks noChangeShapeType="1"/>
          </p:cNvSpPr>
          <p:nvPr/>
        </p:nvSpPr>
        <p:spPr bwMode="auto">
          <a:xfrm>
            <a:off x="4079875" y="4467225"/>
            <a:ext cx="962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9" name="Text Box 22">
            <a:extLst>
              <a:ext uri="{FF2B5EF4-FFF2-40B4-BE49-F238E27FC236}">
                <a16:creationId xmlns:a16="http://schemas.microsoft.com/office/drawing/2014/main" id="{FE301871-427A-8B6A-8929-F83956E81A7D}"/>
              </a:ext>
            </a:extLst>
          </p:cNvPr>
          <p:cNvSpPr txBox="1">
            <a:spLocks noChangeArrowheads="1"/>
          </p:cNvSpPr>
          <p:nvPr/>
        </p:nvSpPr>
        <p:spPr bwMode="auto">
          <a:xfrm>
            <a:off x="7580313" y="3400425"/>
            <a:ext cx="641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algn="just" eaLnBrk="0" hangingPunct="0"/>
            <a:r>
              <a:rPr lang="zh-CN" altLang="en-US" sz="1600" b="1">
                <a:latin typeface="Times New Roman" panose="02020603050405020304" pitchFamily="18" charset="0"/>
              </a:rPr>
              <a:t>…</a:t>
            </a:r>
          </a:p>
        </p:txBody>
      </p:sp>
      <p:sp>
        <p:nvSpPr>
          <p:cNvPr id="53270" name="Text Box 23">
            <a:extLst>
              <a:ext uri="{FF2B5EF4-FFF2-40B4-BE49-F238E27FC236}">
                <a16:creationId xmlns:a16="http://schemas.microsoft.com/office/drawing/2014/main" id="{B9D87DF6-EF52-08F9-91A4-1A2265D2B6A7}"/>
              </a:ext>
            </a:extLst>
          </p:cNvPr>
          <p:cNvSpPr txBox="1">
            <a:spLocks noChangeArrowheads="1"/>
          </p:cNvSpPr>
          <p:nvPr/>
        </p:nvSpPr>
        <p:spPr bwMode="auto">
          <a:xfrm>
            <a:off x="7748588" y="4583113"/>
            <a:ext cx="641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algn="just" eaLnBrk="0" hangingPunct="0"/>
            <a:r>
              <a:rPr lang="zh-CN" altLang="en-US" sz="1600" b="1">
                <a:latin typeface="Times New Roman" panose="02020603050405020304" pitchFamily="18" charset="0"/>
              </a:rPr>
              <a:t>…</a:t>
            </a:r>
          </a:p>
        </p:txBody>
      </p:sp>
      <p:sp>
        <p:nvSpPr>
          <p:cNvPr id="53271" name="Text Box 24">
            <a:extLst>
              <a:ext uri="{FF2B5EF4-FFF2-40B4-BE49-F238E27FC236}">
                <a16:creationId xmlns:a16="http://schemas.microsoft.com/office/drawing/2014/main" id="{C1C86D65-4FB5-CEC0-D4E7-57CC790C1628}"/>
              </a:ext>
            </a:extLst>
          </p:cNvPr>
          <p:cNvSpPr txBox="1">
            <a:spLocks noChangeArrowheads="1"/>
          </p:cNvSpPr>
          <p:nvPr/>
        </p:nvSpPr>
        <p:spPr bwMode="auto">
          <a:xfrm>
            <a:off x="4395788" y="2590800"/>
            <a:ext cx="10906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600">
                <a:latin typeface="Times New Roman" panose="02020603050405020304" pitchFamily="18" charset="0"/>
              </a:rPr>
              <a:t>一次间接块</a:t>
            </a:r>
          </a:p>
        </p:txBody>
      </p:sp>
      <p:sp>
        <p:nvSpPr>
          <p:cNvPr id="53272" name="Text Box 25">
            <a:extLst>
              <a:ext uri="{FF2B5EF4-FFF2-40B4-BE49-F238E27FC236}">
                <a16:creationId xmlns:a16="http://schemas.microsoft.com/office/drawing/2014/main" id="{F3F9F409-C688-25B6-B9DE-13F65A580F7D}"/>
              </a:ext>
            </a:extLst>
          </p:cNvPr>
          <p:cNvSpPr txBox="1">
            <a:spLocks noChangeArrowheads="1"/>
          </p:cNvSpPr>
          <p:nvPr/>
        </p:nvSpPr>
        <p:spPr bwMode="auto">
          <a:xfrm>
            <a:off x="6148388" y="4865688"/>
            <a:ext cx="1090612"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600">
                <a:latin typeface="Times New Roman" panose="02020603050405020304" pitchFamily="18" charset="0"/>
              </a:rPr>
              <a:t>三次间接块</a:t>
            </a:r>
          </a:p>
        </p:txBody>
      </p:sp>
      <p:sp>
        <p:nvSpPr>
          <p:cNvPr id="53273" name="Text Box 26">
            <a:extLst>
              <a:ext uri="{FF2B5EF4-FFF2-40B4-BE49-F238E27FC236}">
                <a16:creationId xmlns:a16="http://schemas.microsoft.com/office/drawing/2014/main" id="{9634C1A3-85FC-E559-EE3B-8FF1F8A357AC}"/>
              </a:ext>
            </a:extLst>
          </p:cNvPr>
          <p:cNvSpPr txBox="1">
            <a:spLocks noChangeArrowheads="1"/>
          </p:cNvSpPr>
          <p:nvPr/>
        </p:nvSpPr>
        <p:spPr bwMode="auto">
          <a:xfrm>
            <a:off x="5772150" y="3657600"/>
            <a:ext cx="109378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600">
                <a:latin typeface="Times New Roman" panose="02020603050405020304" pitchFamily="18" charset="0"/>
              </a:rPr>
              <a:t>二次间接块</a:t>
            </a:r>
          </a:p>
        </p:txBody>
      </p:sp>
      <p:sp>
        <p:nvSpPr>
          <p:cNvPr id="53274" name="Line 27">
            <a:extLst>
              <a:ext uri="{FF2B5EF4-FFF2-40B4-BE49-F238E27FC236}">
                <a16:creationId xmlns:a16="http://schemas.microsoft.com/office/drawing/2014/main" id="{22D58207-19F4-76AE-8129-5BD243DB1673}"/>
              </a:ext>
            </a:extLst>
          </p:cNvPr>
          <p:cNvSpPr>
            <a:spLocks noChangeShapeType="1"/>
          </p:cNvSpPr>
          <p:nvPr/>
        </p:nvSpPr>
        <p:spPr bwMode="auto">
          <a:xfrm>
            <a:off x="1801813" y="1897063"/>
            <a:ext cx="0" cy="3187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5" name="Line 28">
            <a:extLst>
              <a:ext uri="{FF2B5EF4-FFF2-40B4-BE49-F238E27FC236}">
                <a16:creationId xmlns:a16="http://schemas.microsoft.com/office/drawing/2014/main" id="{21D79C18-61F5-0623-B3C8-6B2B8E80BD94}"/>
              </a:ext>
            </a:extLst>
          </p:cNvPr>
          <p:cNvSpPr>
            <a:spLocks noChangeShapeType="1"/>
          </p:cNvSpPr>
          <p:nvPr/>
        </p:nvSpPr>
        <p:spPr bwMode="auto">
          <a:xfrm>
            <a:off x="1801813" y="189706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6" name="Line 29">
            <a:extLst>
              <a:ext uri="{FF2B5EF4-FFF2-40B4-BE49-F238E27FC236}">
                <a16:creationId xmlns:a16="http://schemas.microsoft.com/office/drawing/2014/main" id="{0DB999A8-622F-F5E5-FD28-BEE6642C6D81}"/>
              </a:ext>
            </a:extLst>
          </p:cNvPr>
          <p:cNvSpPr>
            <a:spLocks noChangeShapeType="1"/>
          </p:cNvSpPr>
          <p:nvPr/>
        </p:nvSpPr>
        <p:spPr bwMode="auto">
          <a:xfrm>
            <a:off x="2871788" y="1897063"/>
            <a:ext cx="0" cy="3187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7" name="Line 30">
            <a:extLst>
              <a:ext uri="{FF2B5EF4-FFF2-40B4-BE49-F238E27FC236}">
                <a16:creationId xmlns:a16="http://schemas.microsoft.com/office/drawing/2014/main" id="{7D051CAF-6391-45D0-BA3B-18230EC40EF7}"/>
              </a:ext>
            </a:extLst>
          </p:cNvPr>
          <p:cNvSpPr>
            <a:spLocks noChangeShapeType="1"/>
          </p:cNvSpPr>
          <p:nvPr/>
        </p:nvSpPr>
        <p:spPr bwMode="auto">
          <a:xfrm>
            <a:off x="1801813" y="4346575"/>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8" name="Line 31">
            <a:extLst>
              <a:ext uri="{FF2B5EF4-FFF2-40B4-BE49-F238E27FC236}">
                <a16:creationId xmlns:a16="http://schemas.microsoft.com/office/drawing/2014/main" id="{A622D473-459D-BEE0-A6A2-A051C964373B}"/>
              </a:ext>
            </a:extLst>
          </p:cNvPr>
          <p:cNvSpPr>
            <a:spLocks noChangeShapeType="1"/>
          </p:cNvSpPr>
          <p:nvPr/>
        </p:nvSpPr>
        <p:spPr bwMode="auto">
          <a:xfrm>
            <a:off x="1801813" y="2141538"/>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9" name="Line 32">
            <a:extLst>
              <a:ext uri="{FF2B5EF4-FFF2-40B4-BE49-F238E27FC236}">
                <a16:creationId xmlns:a16="http://schemas.microsoft.com/office/drawing/2014/main" id="{A5F3ECF2-4FAC-895D-D1B6-A788AEB3E5CF}"/>
              </a:ext>
            </a:extLst>
          </p:cNvPr>
          <p:cNvSpPr>
            <a:spLocks noChangeShapeType="1"/>
          </p:cNvSpPr>
          <p:nvPr/>
        </p:nvSpPr>
        <p:spPr bwMode="auto">
          <a:xfrm>
            <a:off x="1801813" y="238601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0" name="Line 33">
            <a:extLst>
              <a:ext uri="{FF2B5EF4-FFF2-40B4-BE49-F238E27FC236}">
                <a16:creationId xmlns:a16="http://schemas.microsoft.com/office/drawing/2014/main" id="{44BF0106-833C-55EC-8639-2AD73C608DDD}"/>
              </a:ext>
            </a:extLst>
          </p:cNvPr>
          <p:cNvSpPr>
            <a:spLocks noChangeShapeType="1"/>
          </p:cNvSpPr>
          <p:nvPr/>
        </p:nvSpPr>
        <p:spPr bwMode="auto">
          <a:xfrm>
            <a:off x="1801813" y="2632075"/>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1" name="Line 34">
            <a:extLst>
              <a:ext uri="{FF2B5EF4-FFF2-40B4-BE49-F238E27FC236}">
                <a16:creationId xmlns:a16="http://schemas.microsoft.com/office/drawing/2014/main" id="{77F210D6-CF6C-758D-EDC0-B8AAB5D3EB6D}"/>
              </a:ext>
            </a:extLst>
          </p:cNvPr>
          <p:cNvSpPr>
            <a:spLocks noChangeShapeType="1"/>
          </p:cNvSpPr>
          <p:nvPr/>
        </p:nvSpPr>
        <p:spPr bwMode="auto">
          <a:xfrm>
            <a:off x="1801813" y="2876550"/>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2" name="Line 35">
            <a:extLst>
              <a:ext uri="{FF2B5EF4-FFF2-40B4-BE49-F238E27FC236}">
                <a16:creationId xmlns:a16="http://schemas.microsoft.com/office/drawing/2014/main" id="{A2D54121-67AD-14B6-94EC-8437551F4B70}"/>
              </a:ext>
            </a:extLst>
          </p:cNvPr>
          <p:cNvSpPr>
            <a:spLocks noChangeShapeType="1"/>
          </p:cNvSpPr>
          <p:nvPr/>
        </p:nvSpPr>
        <p:spPr bwMode="auto">
          <a:xfrm>
            <a:off x="1801813" y="312261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3" name="Line 36">
            <a:extLst>
              <a:ext uri="{FF2B5EF4-FFF2-40B4-BE49-F238E27FC236}">
                <a16:creationId xmlns:a16="http://schemas.microsoft.com/office/drawing/2014/main" id="{EABE789C-F29F-E648-C1BC-693408968265}"/>
              </a:ext>
            </a:extLst>
          </p:cNvPr>
          <p:cNvSpPr>
            <a:spLocks noChangeShapeType="1"/>
          </p:cNvSpPr>
          <p:nvPr/>
        </p:nvSpPr>
        <p:spPr bwMode="auto">
          <a:xfrm>
            <a:off x="1801813" y="3367088"/>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4" name="Line 37">
            <a:extLst>
              <a:ext uri="{FF2B5EF4-FFF2-40B4-BE49-F238E27FC236}">
                <a16:creationId xmlns:a16="http://schemas.microsoft.com/office/drawing/2014/main" id="{DA21FB3C-E074-2F25-BAF3-6482AB319FF4}"/>
              </a:ext>
            </a:extLst>
          </p:cNvPr>
          <p:cNvSpPr>
            <a:spLocks noChangeShapeType="1"/>
          </p:cNvSpPr>
          <p:nvPr/>
        </p:nvSpPr>
        <p:spPr bwMode="auto">
          <a:xfrm>
            <a:off x="1801813" y="361156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5" name="Line 38">
            <a:extLst>
              <a:ext uri="{FF2B5EF4-FFF2-40B4-BE49-F238E27FC236}">
                <a16:creationId xmlns:a16="http://schemas.microsoft.com/office/drawing/2014/main" id="{6899086B-ECDB-A993-891E-1BAF08D348E9}"/>
              </a:ext>
            </a:extLst>
          </p:cNvPr>
          <p:cNvSpPr>
            <a:spLocks noChangeShapeType="1"/>
          </p:cNvSpPr>
          <p:nvPr/>
        </p:nvSpPr>
        <p:spPr bwMode="auto">
          <a:xfrm>
            <a:off x="1801813" y="3857625"/>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6" name="Line 39">
            <a:extLst>
              <a:ext uri="{FF2B5EF4-FFF2-40B4-BE49-F238E27FC236}">
                <a16:creationId xmlns:a16="http://schemas.microsoft.com/office/drawing/2014/main" id="{E0AECAD6-52D0-FE1B-87E2-928203FEFE69}"/>
              </a:ext>
            </a:extLst>
          </p:cNvPr>
          <p:cNvSpPr>
            <a:spLocks noChangeShapeType="1"/>
          </p:cNvSpPr>
          <p:nvPr/>
        </p:nvSpPr>
        <p:spPr bwMode="auto">
          <a:xfrm>
            <a:off x="1801813" y="4102100"/>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7" name="Line 40">
            <a:extLst>
              <a:ext uri="{FF2B5EF4-FFF2-40B4-BE49-F238E27FC236}">
                <a16:creationId xmlns:a16="http://schemas.microsoft.com/office/drawing/2014/main" id="{A8EBA331-26C4-CBB7-36A1-624D21B38CF9}"/>
              </a:ext>
            </a:extLst>
          </p:cNvPr>
          <p:cNvSpPr>
            <a:spLocks noChangeShapeType="1"/>
          </p:cNvSpPr>
          <p:nvPr/>
        </p:nvSpPr>
        <p:spPr bwMode="auto">
          <a:xfrm>
            <a:off x="1801813" y="483711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8" name="Line 41">
            <a:extLst>
              <a:ext uri="{FF2B5EF4-FFF2-40B4-BE49-F238E27FC236}">
                <a16:creationId xmlns:a16="http://schemas.microsoft.com/office/drawing/2014/main" id="{DE085E1E-A4A9-629D-4B34-142B30E23109}"/>
              </a:ext>
            </a:extLst>
          </p:cNvPr>
          <p:cNvSpPr>
            <a:spLocks noChangeShapeType="1"/>
          </p:cNvSpPr>
          <p:nvPr/>
        </p:nvSpPr>
        <p:spPr bwMode="auto">
          <a:xfrm flipV="1">
            <a:off x="1801813" y="4592638"/>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9" name="Line 42">
            <a:extLst>
              <a:ext uri="{FF2B5EF4-FFF2-40B4-BE49-F238E27FC236}">
                <a16:creationId xmlns:a16="http://schemas.microsoft.com/office/drawing/2014/main" id="{34825711-A313-8B94-A622-3751E3A55BB1}"/>
              </a:ext>
            </a:extLst>
          </p:cNvPr>
          <p:cNvSpPr>
            <a:spLocks noChangeShapeType="1"/>
          </p:cNvSpPr>
          <p:nvPr/>
        </p:nvSpPr>
        <p:spPr bwMode="auto">
          <a:xfrm flipV="1">
            <a:off x="2871788" y="1897063"/>
            <a:ext cx="4494212" cy="1222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0" name="Line 43">
            <a:extLst>
              <a:ext uri="{FF2B5EF4-FFF2-40B4-BE49-F238E27FC236}">
                <a16:creationId xmlns:a16="http://schemas.microsoft.com/office/drawing/2014/main" id="{CC7EB7E1-6716-208E-DD42-0A2AED9EC7B6}"/>
              </a:ext>
            </a:extLst>
          </p:cNvPr>
          <p:cNvSpPr>
            <a:spLocks noChangeShapeType="1"/>
          </p:cNvSpPr>
          <p:nvPr/>
        </p:nvSpPr>
        <p:spPr bwMode="auto">
          <a:xfrm>
            <a:off x="3086100" y="2509838"/>
            <a:ext cx="4279900"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1" name="Line 44">
            <a:extLst>
              <a:ext uri="{FF2B5EF4-FFF2-40B4-BE49-F238E27FC236}">
                <a16:creationId xmlns:a16="http://schemas.microsoft.com/office/drawing/2014/main" id="{DD01F05F-CFFF-5131-5552-9474ECFB5577}"/>
              </a:ext>
            </a:extLst>
          </p:cNvPr>
          <p:cNvSpPr>
            <a:spLocks noChangeShapeType="1"/>
          </p:cNvSpPr>
          <p:nvPr/>
        </p:nvSpPr>
        <p:spPr bwMode="auto">
          <a:xfrm flipV="1">
            <a:off x="3238500" y="2974975"/>
            <a:ext cx="1146175" cy="28098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2" name="Line 45">
            <a:extLst>
              <a:ext uri="{FF2B5EF4-FFF2-40B4-BE49-F238E27FC236}">
                <a16:creationId xmlns:a16="http://schemas.microsoft.com/office/drawing/2014/main" id="{99C79FB8-055F-B76B-E04A-A17A6CB93FAF}"/>
              </a:ext>
            </a:extLst>
          </p:cNvPr>
          <p:cNvSpPr>
            <a:spLocks noChangeShapeType="1"/>
          </p:cNvSpPr>
          <p:nvPr/>
        </p:nvSpPr>
        <p:spPr bwMode="auto">
          <a:xfrm>
            <a:off x="5332413" y="2998788"/>
            <a:ext cx="2063750" cy="1000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3" name="Line 46">
            <a:extLst>
              <a:ext uri="{FF2B5EF4-FFF2-40B4-BE49-F238E27FC236}">
                <a16:creationId xmlns:a16="http://schemas.microsoft.com/office/drawing/2014/main" id="{BE54FDA1-FE81-4DE1-C306-E36BEC6E6937}"/>
              </a:ext>
            </a:extLst>
          </p:cNvPr>
          <p:cNvSpPr>
            <a:spLocks noChangeShapeType="1"/>
          </p:cNvSpPr>
          <p:nvPr/>
        </p:nvSpPr>
        <p:spPr bwMode="auto">
          <a:xfrm flipV="1">
            <a:off x="2871788" y="4132263"/>
            <a:ext cx="1208087" cy="5826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4" name="Line 47">
            <a:extLst>
              <a:ext uri="{FF2B5EF4-FFF2-40B4-BE49-F238E27FC236}">
                <a16:creationId xmlns:a16="http://schemas.microsoft.com/office/drawing/2014/main" id="{FDE91685-504C-7851-D312-892FD247BD3A}"/>
              </a:ext>
            </a:extLst>
          </p:cNvPr>
          <p:cNvSpPr>
            <a:spLocks noChangeShapeType="1"/>
          </p:cNvSpPr>
          <p:nvPr/>
        </p:nvSpPr>
        <p:spPr bwMode="auto">
          <a:xfrm flipV="1">
            <a:off x="5057775" y="3976688"/>
            <a:ext cx="809625" cy="2746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5" name="Line 48">
            <a:extLst>
              <a:ext uri="{FF2B5EF4-FFF2-40B4-BE49-F238E27FC236}">
                <a16:creationId xmlns:a16="http://schemas.microsoft.com/office/drawing/2014/main" id="{F34A114F-8402-419B-03AF-D6A31C873E93}"/>
              </a:ext>
            </a:extLst>
          </p:cNvPr>
          <p:cNvSpPr>
            <a:spLocks noChangeShapeType="1"/>
          </p:cNvSpPr>
          <p:nvPr/>
        </p:nvSpPr>
        <p:spPr bwMode="auto">
          <a:xfrm flipV="1">
            <a:off x="6831013" y="3979863"/>
            <a:ext cx="611187" cy="1206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96" name="Rectangle 49">
            <a:extLst>
              <a:ext uri="{FF2B5EF4-FFF2-40B4-BE49-F238E27FC236}">
                <a16:creationId xmlns:a16="http://schemas.microsoft.com/office/drawing/2014/main" id="{61C4EFBC-668A-11C4-AB28-5EE1D96E9CF5}"/>
              </a:ext>
            </a:extLst>
          </p:cNvPr>
          <p:cNvSpPr>
            <a:spLocks noChangeArrowheads="1"/>
          </p:cNvSpPr>
          <p:nvPr/>
        </p:nvSpPr>
        <p:spPr bwMode="auto">
          <a:xfrm>
            <a:off x="1900238" y="1603375"/>
            <a:ext cx="8890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600">
                <a:latin typeface="宋体" panose="02010600030101010101" pitchFamily="2" charset="-122"/>
              </a:rPr>
              <a:t>索引节点</a:t>
            </a:r>
            <a:endParaRPr lang="zh-CN" altLang="en-US" sz="1600">
              <a:latin typeface="Times New Roman" panose="02020603050405020304" pitchFamily="18" charset="0"/>
            </a:endParaRPr>
          </a:p>
        </p:txBody>
      </p:sp>
      <p:sp>
        <p:nvSpPr>
          <p:cNvPr id="53297" name="Rectangle 50">
            <a:extLst>
              <a:ext uri="{FF2B5EF4-FFF2-40B4-BE49-F238E27FC236}">
                <a16:creationId xmlns:a16="http://schemas.microsoft.com/office/drawing/2014/main" id="{A8CD3E13-B783-CA54-DEAE-157E47F7DFC7}"/>
              </a:ext>
            </a:extLst>
          </p:cNvPr>
          <p:cNvSpPr>
            <a:spLocks noChangeArrowheads="1"/>
          </p:cNvSpPr>
          <p:nvPr/>
        </p:nvSpPr>
        <p:spPr bwMode="auto">
          <a:xfrm>
            <a:off x="7599363" y="1524000"/>
            <a:ext cx="630237"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600">
                <a:latin typeface="宋体" panose="02010600030101010101" pitchFamily="2" charset="-122"/>
              </a:rPr>
              <a:t>数据块</a:t>
            </a:r>
            <a:endParaRPr lang="zh-CN" altLang="en-US" sz="1600">
              <a:latin typeface="Times New Roman" panose="02020603050405020304" pitchFamily="18" charset="0"/>
            </a:endParaRPr>
          </a:p>
        </p:txBody>
      </p:sp>
      <p:sp>
        <p:nvSpPr>
          <p:cNvPr id="53298" name="Line 51">
            <a:extLst>
              <a:ext uri="{FF2B5EF4-FFF2-40B4-BE49-F238E27FC236}">
                <a16:creationId xmlns:a16="http://schemas.microsoft.com/office/drawing/2014/main" id="{DE9DDEDC-83A3-A2C7-BF95-A7364E2E291A}"/>
              </a:ext>
            </a:extLst>
          </p:cNvPr>
          <p:cNvSpPr>
            <a:spLocks noChangeShapeType="1"/>
          </p:cNvSpPr>
          <p:nvPr/>
        </p:nvSpPr>
        <p:spPr bwMode="auto">
          <a:xfrm>
            <a:off x="1801813" y="5084763"/>
            <a:ext cx="1069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9" name="Rectangle 52">
            <a:extLst>
              <a:ext uri="{FF2B5EF4-FFF2-40B4-BE49-F238E27FC236}">
                <a16:creationId xmlns:a16="http://schemas.microsoft.com/office/drawing/2014/main" id="{E19F3B26-D6BF-4041-4F62-52783054821B}"/>
              </a:ext>
            </a:extLst>
          </p:cNvPr>
          <p:cNvSpPr>
            <a:spLocks noChangeArrowheads="1"/>
          </p:cNvSpPr>
          <p:nvPr/>
        </p:nvSpPr>
        <p:spPr bwMode="auto">
          <a:xfrm>
            <a:off x="7580313" y="5400675"/>
            <a:ext cx="809625" cy="257175"/>
          </a:xfrm>
          <a:prstGeom prst="rect">
            <a:avLst/>
          </a:prstGeom>
          <a:solidFill>
            <a:srgbClr val="FFFFFF"/>
          </a:solidFill>
          <a:ln w="25400">
            <a:solidFill>
              <a:srgbClr val="000000"/>
            </a:solidFill>
            <a:miter lim="800000"/>
            <a:headEnd/>
            <a:tailEnd/>
          </a:ln>
        </p:spPr>
        <p:txBody>
          <a:bodyPr/>
          <a:lstStyle/>
          <a:p>
            <a:pPr algn="ctr"/>
            <a:endParaRPr lang="zh-CN" altLang="en-US"/>
          </a:p>
        </p:txBody>
      </p:sp>
      <p:sp>
        <p:nvSpPr>
          <p:cNvPr id="53300" name="Rectangle 53">
            <a:extLst>
              <a:ext uri="{FF2B5EF4-FFF2-40B4-BE49-F238E27FC236}">
                <a16:creationId xmlns:a16="http://schemas.microsoft.com/office/drawing/2014/main" id="{0957E409-F1A2-6397-9AAB-3337CB732119}"/>
              </a:ext>
            </a:extLst>
          </p:cNvPr>
          <p:cNvSpPr>
            <a:spLocks noChangeArrowheads="1"/>
          </p:cNvSpPr>
          <p:nvPr/>
        </p:nvSpPr>
        <p:spPr bwMode="auto">
          <a:xfrm>
            <a:off x="3743325" y="5119688"/>
            <a:ext cx="855663" cy="736600"/>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a:latin typeface="宋体" panose="02010600030101010101" pitchFamily="2" charset="-122"/>
              </a:rPr>
              <a:t> </a:t>
            </a:r>
            <a:r>
              <a:rPr lang="zh-CN" altLang="en-US" sz="1600" b="1">
                <a:latin typeface="Times New Roman" panose="02020603050405020304" pitchFamily="18" charset="0"/>
              </a:rPr>
              <a:t>…</a:t>
            </a:r>
          </a:p>
        </p:txBody>
      </p:sp>
      <p:sp>
        <p:nvSpPr>
          <p:cNvPr id="53301" name="Line 54">
            <a:extLst>
              <a:ext uri="{FF2B5EF4-FFF2-40B4-BE49-F238E27FC236}">
                <a16:creationId xmlns:a16="http://schemas.microsoft.com/office/drawing/2014/main" id="{35B3ABCA-2D39-2F1A-8381-BFB3918A78F8}"/>
              </a:ext>
            </a:extLst>
          </p:cNvPr>
          <p:cNvSpPr>
            <a:spLocks noChangeShapeType="1"/>
          </p:cNvSpPr>
          <p:nvPr/>
        </p:nvSpPr>
        <p:spPr bwMode="auto">
          <a:xfrm>
            <a:off x="3743325" y="5408613"/>
            <a:ext cx="871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2" name="Line 55">
            <a:extLst>
              <a:ext uri="{FF2B5EF4-FFF2-40B4-BE49-F238E27FC236}">
                <a16:creationId xmlns:a16="http://schemas.microsoft.com/office/drawing/2014/main" id="{27D63825-DC8E-CED1-A6DD-C20643B4A3D3}"/>
              </a:ext>
            </a:extLst>
          </p:cNvPr>
          <p:cNvSpPr>
            <a:spLocks noChangeShapeType="1"/>
          </p:cNvSpPr>
          <p:nvPr/>
        </p:nvSpPr>
        <p:spPr bwMode="auto">
          <a:xfrm>
            <a:off x="3743325" y="5610225"/>
            <a:ext cx="871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3" name="Rectangle 56">
            <a:extLst>
              <a:ext uri="{FF2B5EF4-FFF2-40B4-BE49-F238E27FC236}">
                <a16:creationId xmlns:a16="http://schemas.microsoft.com/office/drawing/2014/main" id="{BA0E10CE-657E-C759-436F-00468517E6CA}"/>
              </a:ext>
            </a:extLst>
          </p:cNvPr>
          <p:cNvSpPr>
            <a:spLocks noChangeArrowheads="1"/>
          </p:cNvSpPr>
          <p:nvPr/>
        </p:nvSpPr>
        <p:spPr bwMode="auto">
          <a:xfrm>
            <a:off x="5041900" y="5119688"/>
            <a:ext cx="811213" cy="736600"/>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b="1">
                <a:latin typeface="宋体" panose="02010600030101010101" pitchFamily="2" charset="-122"/>
              </a:rPr>
              <a:t> </a:t>
            </a:r>
            <a:r>
              <a:rPr lang="zh-CN" altLang="en-US" sz="1600" b="1">
                <a:latin typeface="Times New Roman" panose="02020603050405020304" pitchFamily="18" charset="0"/>
              </a:rPr>
              <a:t>…</a:t>
            </a:r>
          </a:p>
        </p:txBody>
      </p:sp>
      <p:sp>
        <p:nvSpPr>
          <p:cNvPr id="53304" name="Line 57">
            <a:extLst>
              <a:ext uri="{FF2B5EF4-FFF2-40B4-BE49-F238E27FC236}">
                <a16:creationId xmlns:a16="http://schemas.microsoft.com/office/drawing/2014/main" id="{06F2D83B-21E2-0FC8-64B8-FF4ECA460060}"/>
              </a:ext>
            </a:extLst>
          </p:cNvPr>
          <p:cNvSpPr>
            <a:spLocks noChangeShapeType="1"/>
          </p:cNvSpPr>
          <p:nvPr/>
        </p:nvSpPr>
        <p:spPr bwMode="auto">
          <a:xfrm>
            <a:off x="5041900" y="5407025"/>
            <a:ext cx="81121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5" name="Line 58">
            <a:extLst>
              <a:ext uri="{FF2B5EF4-FFF2-40B4-BE49-F238E27FC236}">
                <a16:creationId xmlns:a16="http://schemas.microsoft.com/office/drawing/2014/main" id="{3A5B4E02-0281-2368-7760-98D44D0FC66A}"/>
              </a:ext>
            </a:extLst>
          </p:cNvPr>
          <p:cNvSpPr>
            <a:spLocks noChangeShapeType="1"/>
          </p:cNvSpPr>
          <p:nvPr/>
        </p:nvSpPr>
        <p:spPr bwMode="auto">
          <a:xfrm>
            <a:off x="5041900" y="5622925"/>
            <a:ext cx="811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6" name="Rectangle 59">
            <a:extLst>
              <a:ext uri="{FF2B5EF4-FFF2-40B4-BE49-F238E27FC236}">
                <a16:creationId xmlns:a16="http://schemas.microsoft.com/office/drawing/2014/main" id="{4E39A807-BD74-A5A4-4B57-BD736978E0EE}"/>
              </a:ext>
            </a:extLst>
          </p:cNvPr>
          <p:cNvSpPr>
            <a:spLocks noChangeArrowheads="1"/>
          </p:cNvSpPr>
          <p:nvPr/>
        </p:nvSpPr>
        <p:spPr bwMode="auto">
          <a:xfrm>
            <a:off x="6280150" y="5132388"/>
            <a:ext cx="795338" cy="735012"/>
          </a:xfrm>
          <a:prstGeom prst="rect">
            <a:avLst/>
          </a:prstGeom>
          <a:solidFill>
            <a:srgbClr val="FFFFFF"/>
          </a:solidFill>
          <a:ln w="25400">
            <a:solidFill>
              <a:srgbClr val="000000"/>
            </a:solidFill>
            <a:miter lim="800000"/>
            <a:headEnd/>
            <a:tailEnd/>
          </a:ln>
        </p:spPr>
        <p:txBody>
          <a:bodyPr/>
          <a:lstStyle/>
          <a:p>
            <a:pPr algn="ctr" eaLnBrk="0" hangingPunct="0"/>
            <a:r>
              <a:rPr lang="zh-CN" altLang="en-US" sz="1600">
                <a:latin typeface="宋体" panose="02010600030101010101" pitchFamily="2" charset="-122"/>
              </a:rPr>
              <a:t> </a:t>
            </a:r>
            <a:r>
              <a:rPr lang="zh-CN" altLang="en-US" sz="1600" b="1">
                <a:latin typeface="Times New Roman" panose="02020603050405020304" pitchFamily="18" charset="0"/>
              </a:rPr>
              <a:t>…</a:t>
            </a:r>
          </a:p>
        </p:txBody>
      </p:sp>
      <p:sp>
        <p:nvSpPr>
          <p:cNvPr id="53307" name="Line 60">
            <a:extLst>
              <a:ext uri="{FF2B5EF4-FFF2-40B4-BE49-F238E27FC236}">
                <a16:creationId xmlns:a16="http://schemas.microsoft.com/office/drawing/2014/main" id="{71DF8BB3-1099-DF41-4E53-4F0A4486A8B1}"/>
              </a:ext>
            </a:extLst>
          </p:cNvPr>
          <p:cNvSpPr>
            <a:spLocks noChangeShapeType="1"/>
          </p:cNvSpPr>
          <p:nvPr/>
        </p:nvSpPr>
        <p:spPr bwMode="auto">
          <a:xfrm>
            <a:off x="6280150" y="5443538"/>
            <a:ext cx="795338"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8" name="Line 61">
            <a:extLst>
              <a:ext uri="{FF2B5EF4-FFF2-40B4-BE49-F238E27FC236}">
                <a16:creationId xmlns:a16="http://schemas.microsoft.com/office/drawing/2014/main" id="{CCB4376F-A154-406F-2199-50EE1E1DD01B}"/>
              </a:ext>
            </a:extLst>
          </p:cNvPr>
          <p:cNvSpPr>
            <a:spLocks noChangeShapeType="1"/>
          </p:cNvSpPr>
          <p:nvPr/>
        </p:nvSpPr>
        <p:spPr bwMode="auto">
          <a:xfrm>
            <a:off x="6280150" y="5661025"/>
            <a:ext cx="7953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09" name="Line 62">
            <a:extLst>
              <a:ext uri="{FF2B5EF4-FFF2-40B4-BE49-F238E27FC236}">
                <a16:creationId xmlns:a16="http://schemas.microsoft.com/office/drawing/2014/main" id="{A309C68B-89E8-9039-6E7D-E47D3552825F}"/>
              </a:ext>
            </a:extLst>
          </p:cNvPr>
          <p:cNvSpPr>
            <a:spLocks noChangeShapeType="1"/>
          </p:cNvSpPr>
          <p:nvPr/>
        </p:nvSpPr>
        <p:spPr bwMode="auto">
          <a:xfrm>
            <a:off x="2878138" y="4941888"/>
            <a:ext cx="887412" cy="2936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310" name="Line 63">
            <a:extLst>
              <a:ext uri="{FF2B5EF4-FFF2-40B4-BE49-F238E27FC236}">
                <a16:creationId xmlns:a16="http://schemas.microsoft.com/office/drawing/2014/main" id="{618982B9-DD90-7304-BCDB-C0BA0E7E0239}"/>
              </a:ext>
            </a:extLst>
          </p:cNvPr>
          <p:cNvSpPr>
            <a:spLocks noChangeShapeType="1"/>
          </p:cNvSpPr>
          <p:nvPr/>
        </p:nvSpPr>
        <p:spPr bwMode="auto">
          <a:xfrm flipV="1">
            <a:off x="4606925" y="5200650"/>
            <a:ext cx="427038" cy="25876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311" name="Line 64">
            <a:extLst>
              <a:ext uri="{FF2B5EF4-FFF2-40B4-BE49-F238E27FC236}">
                <a16:creationId xmlns:a16="http://schemas.microsoft.com/office/drawing/2014/main" id="{2526DB3B-663B-7D6D-33BB-7D89BC92B8CD}"/>
              </a:ext>
            </a:extLst>
          </p:cNvPr>
          <p:cNvSpPr>
            <a:spLocks noChangeShapeType="1"/>
          </p:cNvSpPr>
          <p:nvPr/>
        </p:nvSpPr>
        <p:spPr bwMode="auto">
          <a:xfrm flipV="1">
            <a:off x="5859463" y="5248275"/>
            <a:ext cx="428625" cy="2698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312" name="Line 65">
            <a:extLst>
              <a:ext uri="{FF2B5EF4-FFF2-40B4-BE49-F238E27FC236}">
                <a16:creationId xmlns:a16="http://schemas.microsoft.com/office/drawing/2014/main" id="{C139DBC0-B972-4AC0-6877-DF4011862CD5}"/>
              </a:ext>
            </a:extLst>
          </p:cNvPr>
          <p:cNvSpPr>
            <a:spLocks noChangeShapeType="1"/>
          </p:cNvSpPr>
          <p:nvPr/>
        </p:nvSpPr>
        <p:spPr bwMode="auto">
          <a:xfrm>
            <a:off x="7083425" y="5259388"/>
            <a:ext cx="503238" cy="2476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5F02DBB7-BD66-B90B-A12D-1E6E1B2E79EA}"/>
              </a:ext>
            </a:extLst>
          </p:cNvPr>
          <p:cNvSpPr>
            <a:spLocks noGrp="1"/>
          </p:cNvSpPr>
          <p:nvPr>
            <p:ph type="sldNum" sz="quarter" idx="12"/>
          </p:nvPr>
        </p:nvSpPr>
        <p:spPr/>
        <p:txBody>
          <a:bodyPr/>
          <a:lstStyle/>
          <a:p>
            <a:fld id="{4093CC90-4002-504C-BD88-C9A1D374048E}" type="slidenum">
              <a:rPr lang="zh-CN" altLang="en-US" smtClean="0"/>
              <a:pPr/>
              <a:t>127</a:t>
            </a:fld>
            <a:endParaRPr lang="zh-CN" altLang="en-US" dirty="0"/>
          </a:p>
        </p:txBody>
      </p:sp>
    </p:spTree>
  </p:cSld>
  <p:clrMapOvr>
    <a:masterClrMapping/>
  </p:clrMapOvr>
  <p:transition spd="med">
    <p:zo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E8B3DF81-2BCB-AFF3-18B5-BBE75E397E81}"/>
              </a:ext>
            </a:extLst>
          </p:cNvPr>
          <p:cNvSpPr>
            <a:spLocks noGrp="1" noChangeArrowheads="1"/>
          </p:cNvSpPr>
          <p:nvPr>
            <p:ph type="title"/>
          </p:nvPr>
        </p:nvSpPr>
        <p:spPr/>
        <p:txBody>
          <a:bodyPr/>
          <a:lstStyle/>
          <a:p>
            <a:pPr eaLnBrk="1" hangingPunct="1"/>
            <a:r>
              <a:rPr lang="zh-CN" altLang="en-US"/>
              <a:t>直接地址</a:t>
            </a:r>
          </a:p>
        </p:txBody>
      </p:sp>
      <p:sp>
        <p:nvSpPr>
          <p:cNvPr id="340995" name="Rectangle 3">
            <a:extLst>
              <a:ext uri="{FF2B5EF4-FFF2-40B4-BE49-F238E27FC236}">
                <a16:creationId xmlns:a16="http://schemas.microsoft.com/office/drawing/2014/main" id="{5BBE853E-729A-9F37-29C5-E46096A1194E}"/>
              </a:ext>
            </a:extLst>
          </p:cNvPr>
          <p:cNvSpPr>
            <a:spLocks noGrp="1" noChangeArrowheads="1"/>
          </p:cNvSpPr>
          <p:nvPr>
            <p:ph idx="1"/>
          </p:nvPr>
        </p:nvSpPr>
        <p:spPr/>
        <p:txBody>
          <a:bodyPr/>
          <a:lstStyle/>
          <a:p>
            <a:pPr algn="just" eaLnBrk="1" hangingPunct="1"/>
            <a:r>
              <a:rPr lang="zh-CN" altLang="en-US"/>
              <a:t>为了提高对文件的检索速度，在索引节点中建立了10个直接地址项，每个地址项中存放相应文件所在的盘块号。</a:t>
            </a:r>
          </a:p>
          <a:p>
            <a:pPr algn="just" eaLnBrk="1" hangingPunct="1"/>
            <a:r>
              <a:rPr lang="zh-CN" altLang="en-US"/>
              <a:t>假定一个盘块的大小为4</a:t>
            </a:r>
            <a:r>
              <a:rPr lang="en-US" altLang="zh-CN"/>
              <a:t>KB，</a:t>
            </a:r>
            <a:r>
              <a:rPr lang="zh-CN" altLang="en-US"/>
              <a:t>当文件长度不大于40</a:t>
            </a:r>
            <a:r>
              <a:rPr lang="en-US" altLang="zh-CN"/>
              <a:t>KB</a:t>
            </a:r>
            <a:r>
              <a:rPr lang="zh-CN" altLang="en-US"/>
              <a:t>时，可以直接从索引节点中得到文件存储的所有盘块号。</a:t>
            </a:r>
          </a:p>
        </p:txBody>
      </p:sp>
      <p:sp>
        <p:nvSpPr>
          <p:cNvPr id="2" name="灯片编号占位符 1">
            <a:extLst>
              <a:ext uri="{FF2B5EF4-FFF2-40B4-BE49-F238E27FC236}">
                <a16:creationId xmlns:a16="http://schemas.microsoft.com/office/drawing/2014/main" id="{69BA7955-596A-FFD3-CA3F-30DB231B2A50}"/>
              </a:ext>
            </a:extLst>
          </p:cNvPr>
          <p:cNvSpPr>
            <a:spLocks noGrp="1"/>
          </p:cNvSpPr>
          <p:nvPr>
            <p:ph type="sldNum" sz="quarter" idx="12"/>
          </p:nvPr>
        </p:nvSpPr>
        <p:spPr/>
        <p:txBody>
          <a:bodyPr/>
          <a:lstStyle/>
          <a:p>
            <a:fld id="{4093CC90-4002-504C-BD88-C9A1D374048E}" type="slidenum">
              <a:rPr lang="zh-CN" altLang="en-US" smtClean="0"/>
              <a:pPr/>
              <a:t>128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checkerboard(across)">
                                      <p:cBhvr>
                                        <p:cTn id="7" dur="500"/>
                                        <p:tgtEl>
                                          <p:spTgt spid="340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0995">
                                            <p:txEl>
                                              <p:pRg st="1" end="1"/>
                                            </p:txEl>
                                          </p:spTgt>
                                        </p:tgtEl>
                                        <p:attrNameLst>
                                          <p:attrName>style.visibility</p:attrName>
                                        </p:attrNameLst>
                                      </p:cBhvr>
                                      <p:to>
                                        <p:strVal val="visible"/>
                                      </p:to>
                                    </p:set>
                                    <p:animEffect transition="in" filter="checkerboard(across)">
                                      <p:cBhvr>
                                        <p:cTn id="12" dur="500"/>
                                        <p:tgtEl>
                                          <p:spTgt spid="3409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246A1CF0-62B3-8F6F-E397-CDFF925E9C2D}"/>
              </a:ext>
            </a:extLst>
          </p:cNvPr>
          <p:cNvSpPr>
            <a:spLocks noGrp="1" noChangeArrowheads="1"/>
          </p:cNvSpPr>
          <p:nvPr>
            <p:ph type="title"/>
          </p:nvPr>
        </p:nvSpPr>
        <p:spPr/>
        <p:txBody>
          <a:bodyPr/>
          <a:lstStyle/>
          <a:p>
            <a:pPr eaLnBrk="1" hangingPunct="1"/>
            <a:r>
              <a:rPr lang="zh-CN" altLang="en-US"/>
              <a:t>一次间接地址</a:t>
            </a:r>
          </a:p>
        </p:txBody>
      </p:sp>
      <p:sp>
        <p:nvSpPr>
          <p:cNvPr id="342019" name="Rectangle 3">
            <a:extLst>
              <a:ext uri="{FF2B5EF4-FFF2-40B4-BE49-F238E27FC236}">
                <a16:creationId xmlns:a16="http://schemas.microsoft.com/office/drawing/2014/main" id="{82706ABE-EC21-AA7F-F887-8E75D00A2FA6}"/>
              </a:ext>
            </a:extLst>
          </p:cNvPr>
          <p:cNvSpPr>
            <a:spLocks noGrp="1" noChangeArrowheads="1"/>
          </p:cNvSpPr>
          <p:nvPr>
            <p:ph idx="1"/>
          </p:nvPr>
        </p:nvSpPr>
        <p:spPr>
          <a:xfrm>
            <a:off x="755650" y="1196975"/>
            <a:ext cx="8199438" cy="4824413"/>
          </a:xfrm>
        </p:spPr>
        <p:txBody>
          <a:bodyPr/>
          <a:lstStyle/>
          <a:p>
            <a:pPr algn="just" eaLnBrk="1" hangingPunct="1">
              <a:lnSpc>
                <a:spcPct val="90000"/>
              </a:lnSpc>
            </a:pPr>
            <a:r>
              <a:rPr lang="zh-CN" altLang="en-US"/>
              <a:t>一次间接地址项中存放的不是存储文件数据的盘块号，而是先将多个盘块号存放在一个磁盘块中，再将该磁盘块的块号存放在一次间接地址项中。</a:t>
            </a:r>
          </a:p>
          <a:p>
            <a:pPr algn="just" eaLnBrk="1" hangingPunct="1">
              <a:lnSpc>
                <a:spcPct val="90000"/>
              </a:lnSpc>
            </a:pPr>
            <a:r>
              <a:rPr lang="zh-CN" altLang="en-US"/>
              <a:t>若盘块大小为4</a:t>
            </a:r>
            <a:r>
              <a:rPr lang="en-US" altLang="zh-CN"/>
              <a:t>KB，</a:t>
            </a:r>
            <a:r>
              <a:rPr lang="zh-CN" altLang="en-US"/>
              <a:t>一个盘块号占4字节，则一个盘块中可以存放下：4</a:t>
            </a:r>
            <a:r>
              <a:rPr lang="en-US" altLang="zh-CN"/>
              <a:t>KB/4B=1K</a:t>
            </a:r>
            <a:r>
              <a:rPr lang="zh-CN" altLang="en-US"/>
              <a:t>个磁盘块号。</a:t>
            </a:r>
          </a:p>
          <a:p>
            <a:pPr algn="just" eaLnBrk="1" hangingPunct="1">
              <a:lnSpc>
                <a:spcPct val="90000"/>
              </a:lnSpc>
            </a:pPr>
            <a:r>
              <a:rPr lang="zh-CN" altLang="en-US"/>
              <a:t>一次间接地址项寻址范围为：1</a:t>
            </a:r>
            <a:r>
              <a:rPr lang="en-US" altLang="zh-CN"/>
              <a:t>K×4KB=4MB。</a:t>
            </a:r>
            <a:endParaRPr lang="zh-CN" altLang="en-US"/>
          </a:p>
        </p:txBody>
      </p:sp>
      <p:sp>
        <p:nvSpPr>
          <p:cNvPr id="2" name="灯片编号占位符 1">
            <a:extLst>
              <a:ext uri="{FF2B5EF4-FFF2-40B4-BE49-F238E27FC236}">
                <a16:creationId xmlns:a16="http://schemas.microsoft.com/office/drawing/2014/main" id="{15DA9329-8852-116E-F5A7-5107E23040C7}"/>
              </a:ext>
            </a:extLst>
          </p:cNvPr>
          <p:cNvSpPr>
            <a:spLocks noGrp="1"/>
          </p:cNvSpPr>
          <p:nvPr>
            <p:ph type="sldNum" sz="quarter" idx="12"/>
          </p:nvPr>
        </p:nvSpPr>
        <p:spPr/>
        <p:txBody>
          <a:bodyPr/>
          <a:lstStyle/>
          <a:p>
            <a:fld id="{4093CC90-4002-504C-BD88-C9A1D374048E}" type="slidenum">
              <a:rPr lang="zh-CN" altLang="en-US" smtClean="0"/>
              <a:pPr/>
              <a:t>129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2019">
                                            <p:txEl>
                                              <p:pRg st="0" end="0"/>
                                            </p:txEl>
                                          </p:spTgt>
                                        </p:tgtEl>
                                        <p:attrNameLst>
                                          <p:attrName>style.visibility</p:attrName>
                                        </p:attrNameLst>
                                      </p:cBhvr>
                                      <p:to>
                                        <p:strVal val="visible"/>
                                      </p:to>
                                    </p:set>
                                    <p:animEffect transition="in" filter="checkerboard(across)">
                                      <p:cBhvr>
                                        <p:cTn id="7" dur="500"/>
                                        <p:tgtEl>
                                          <p:spTgt spid="3420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2019">
                                            <p:txEl>
                                              <p:pRg st="1" end="1"/>
                                            </p:txEl>
                                          </p:spTgt>
                                        </p:tgtEl>
                                        <p:attrNameLst>
                                          <p:attrName>style.visibility</p:attrName>
                                        </p:attrNameLst>
                                      </p:cBhvr>
                                      <p:to>
                                        <p:strVal val="visible"/>
                                      </p:to>
                                    </p:set>
                                    <p:animEffect transition="in" filter="checkerboard(across)">
                                      <p:cBhvr>
                                        <p:cTn id="12" dur="500"/>
                                        <p:tgtEl>
                                          <p:spTgt spid="3420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42019">
                                            <p:txEl>
                                              <p:pRg st="2" end="2"/>
                                            </p:txEl>
                                          </p:spTgt>
                                        </p:tgtEl>
                                        <p:attrNameLst>
                                          <p:attrName>style.visibility</p:attrName>
                                        </p:attrNameLst>
                                      </p:cBhvr>
                                      <p:to>
                                        <p:strVal val="visible"/>
                                      </p:to>
                                    </p:set>
                                    <p:animEffect transition="in" filter="checkerboard(across)">
                                      <p:cBhvr>
                                        <p:cTn id="17" dur="500"/>
                                        <p:tgtEl>
                                          <p:spTgt spid="3420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37B8B304-34B7-70F1-B817-CD8F10F7E51D}"/>
              </a:ext>
            </a:extLst>
          </p:cNvPr>
          <p:cNvSpPr>
            <a:spLocks noGrp="1" noChangeArrowheads="1"/>
          </p:cNvSpPr>
          <p:nvPr>
            <p:ph type="title"/>
          </p:nvPr>
        </p:nvSpPr>
        <p:spPr/>
        <p:txBody>
          <a:bodyPr/>
          <a:lstStyle/>
          <a:p>
            <a:pPr eaLnBrk="1" hangingPunct="1"/>
            <a:r>
              <a:rPr lang="zh-CN" altLang="en-US"/>
              <a:t>多次间接地址</a:t>
            </a:r>
          </a:p>
        </p:txBody>
      </p:sp>
      <p:sp>
        <p:nvSpPr>
          <p:cNvPr id="343043" name="Rectangle 3">
            <a:extLst>
              <a:ext uri="{FF2B5EF4-FFF2-40B4-BE49-F238E27FC236}">
                <a16:creationId xmlns:a16="http://schemas.microsoft.com/office/drawing/2014/main" id="{25B2924B-ADD1-BF64-F36C-25E6291B0BE2}"/>
              </a:ext>
            </a:extLst>
          </p:cNvPr>
          <p:cNvSpPr>
            <a:spLocks noGrp="1" noChangeArrowheads="1"/>
          </p:cNvSpPr>
          <p:nvPr>
            <p:ph idx="1"/>
          </p:nvPr>
        </p:nvSpPr>
        <p:spPr/>
        <p:txBody>
          <a:bodyPr/>
          <a:lstStyle/>
          <a:p>
            <a:pPr algn="just" eaLnBrk="1" hangingPunct="1"/>
            <a:r>
              <a:rPr lang="zh-CN" altLang="en-US"/>
              <a:t>该地址结构中还有二次间接地址和三次间接地址。</a:t>
            </a:r>
          </a:p>
          <a:p>
            <a:pPr algn="just" eaLnBrk="1" hangingPunct="1"/>
            <a:r>
              <a:rPr lang="zh-CN" altLang="en-US"/>
              <a:t>二次间接地址的寻址范围是：1</a:t>
            </a:r>
            <a:r>
              <a:rPr lang="en-US" altLang="zh-CN"/>
              <a:t>K×1K×4KB=4GB。</a:t>
            </a:r>
          </a:p>
          <a:p>
            <a:pPr algn="just" eaLnBrk="1" hangingPunct="1"/>
            <a:r>
              <a:rPr lang="zh-CN" altLang="en-US"/>
              <a:t>三次间接地址的寻址范围是：1</a:t>
            </a:r>
            <a:r>
              <a:rPr lang="en-US" altLang="zh-CN"/>
              <a:t>K×1K×1K×4KB=4TB。</a:t>
            </a:r>
            <a:endParaRPr lang="zh-CN" altLang="en-US"/>
          </a:p>
        </p:txBody>
      </p:sp>
      <p:sp>
        <p:nvSpPr>
          <p:cNvPr id="2" name="灯片编号占位符 1">
            <a:extLst>
              <a:ext uri="{FF2B5EF4-FFF2-40B4-BE49-F238E27FC236}">
                <a16:creationId xmlns:a16="http://schemas.microsoft.com/office/drawing/2014/main" id="{5B95B3F9-04FF-AEE9-7D62-491D9E2ABEE5}"/>
              </a:ext>
            </a:extLst>
          </p:cNvPr>
          <p:cNvSpPr>
            <a:spLocks noGrp="1"/>
          </p:cNvSpPr>
          <p:nvPr>
            <p:ph type="sldNum" sz="quarter" idx="12"/>
          </p:nvPr>
        </p:nvSpPr>
        <p:spPr/>
        <p:txBody>
          <a:bodyPr/>
          <a:lstStyle/>
          <a:p>
            <a:fld id="{4093CC90-4002-504C-BD88-C9A1D374048E}" type="slidenum">
              <a:rPr lang="zh-CN" altLang="en-US" smtClean="0"/>
              <a:pPr/>
              <a:t>130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checkerboard(across)">
                                      <p:cBhvr>
                                        <p:cTn id="7" dur="500"/>
                                        <p:tgtEl>
                                          <p:spTgt spid="343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3043">
                                            <p:txEl>
                                              <p:pRg st="1" end="1"/>
                                            </p:txEl>
                                          </p:spTgt>
                                        </p:tgtEl>
                                        <p:attrNameLst>
                                          <p:attrName>style.visibility</p:attrName>
                                        </p:attrNameLst>
                                      </p:cBhvr>
                                      <p:to>
                                        <p:strVal val="visible"/>
                                      </p:to>
                                    </p:set>
                                    <p:animEffect transition="in" filter="checkerboard(across)">
                                      <p:cBhvr>
                                        <p:cTn id="12" dur="500"/>
                                        <p:tgtEl>
                                          <p:spTgt spid="3430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43043">
                                            <p:txEl>
                                              <p:pRg st="2" end="2"/>
                                            </p:txEl>
                                          </p:spTgt>
                                        </p:tgtEl>
                                        <p:attrNameLst>
                                          <p:attrName>style.visibility</p:attrName>
                                        </p:attrNameLst>
                                      </p:cBhvr>
                                      <p:to>
                                        <p:strVal val="visible"/>
                                      </p:to>
                                    </p:set>
                                    <p:animEffect transition="in" filter="checkerboard(across)">
                                      <p:cBhvr>
                                        <p:cTn id="17" dur="500"/>
                                        <p:tgtEl>
                                          <p:spTgt spid="343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9D4685ED-FC5D-46F0-6EDF-7453AC3EFD52}"/>
              </a:ext>
            </a:extLst>
          </p:cNvPr>
          <p:cNvSpPr>
            <a:spLocks noGrp="1" noChangeArrowheads="1"/>
          </p:cNvSpPr>
          <p:nvPr>
            <p:ph type="title"/>
          </p:nvPr>
        </p:nvSpPr>
        <p:spPr>
          <a:xfrm>
            <a:off x="1042988" y="225431"/>
            <a:ext cx="7850187" cy="746125"/>
          </a:xfrm>
        </p:spPr>
        <p:txBody>
          <a:bodyPr/>
          <a:lstStyle/>
          <a:p>
            <a:r>
              <a:rPr lang="zh-CN" altLang="en-US" dirty="0"/>
              <a:t>空闲空间管理</a:t>
            </a:r>
            <a:endParaRPr lang="en-US" altLang="zh-CN" dirty="0"/>
          </a:p>
        </p:txBody>
      </p:sp>
      <p:sp>
        <p:nvSpPr>
          <p:cNvPr id="344067" name="Rectangle 3">
            <a:extLst>
              <a:ext uri="{FF2B5EF4-FFF2-40B4-BE49-F238E27FC236}">
                <a16:creationId xmlns:a16="http://schemas.microsoft.com/office/drawing/2014/main" id="{C52AE22A-062F-E290-42E7-275D065D934B}"/>
              </a:ext>
            </a:extLst>
          </p:cNvPr>
          <p:cNvSpPr>
            <a:spLocks noGrp="1" noChangeArrowheads="1"/>
          </p:cNvSpPr>
          <p:nvPr>
            <p:ph idx="1"/>
          </p:nvPr>
        </p:nvSpPr>
        <p:spPr>
          <a:xfrm>
            <a:off x="935038" y="1233488"/>
            <a:ext cx="7772400" cy="4895850"/>
          </a:xfrm>
        </p:spPr>
        <p:txBody>
          <a:bodyPr/>
          <a:lstStyle/>
          <a:p>
            <a:r>
              <a:rPr lang="zh-CN" altLang="en-US"/>
              <a:t>为了实现文件存储空间的分配，首先应记住空闲存储空间的情况。</a:t>
            </a:r>
          </a:p>
          <a:p>
            <a:r>
              <a:rPr lang="zh-CN" altLang="en-US"/>
              <a:t>常用的空闲存储空间管理方法有：</a:t>
            </a:r>
          </a:p>
          <a:p>
            <a:pPr lvl="1"/>
            <a:r>
              <a:rPr lang="zh-CN" altLang="en-US"/>
              <a:t>空闲文件目录</a:t>
            </a:r>
          </a:p>
          <a:p>
            <a:pPr lvl="1"/>
            <a:r>
              <a:rPr lang="zh-CN" altLang="en-US"/>
              <a:t>空闲块链</a:t>
            </a:r>
          </a:p>
          <a:p>
            <a:pPr lvl="1"/>
            <a:r>
              <a:rPr lang="zh-CN" altLang="en-US"/>
              <a:t>位示图</a:t>
            </a:r>
          </a:p>
        </p:txBody>
      </p:sp>
      <p:sp>
        <p:nvSpPr>
          <p:cNvPr id="2" name="灯片编号占位符 1">
            <a:extLst>
              <a:ext uri="{FF2B5EF4-FFF2-40B4-BE49-F238E27FC236}">
                <a16:creationId xmlns:a16="http://schemas.microsoft.com/office/drawing/2014/main" id="{50B096EE-8856-25D3-123A-3D74E27F8F12}"/>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checkerboard(across)">
                                      <p:cBhvr>
                                        <p:cTn id="7" dur="500"/>
                                        <p:tgtEl>
                                          <p:spTgt spid="344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checkerboard(across)">
                                      <p:cBhvr>
                                        <p:cTn id="12" dur="500"/>
                                        <p:tgtEl>
                                          <p:spTgt spid="344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4067">
                                            <p:txEl>
                                              <p:pRg st="2" end="2"/>
                                            </p:txEl>
                                          </p:spTgt>
                                        </p:tgtEl>
                                        <p:attrNameLst>
                                          <p:attrName>style.visibility</p:attrName>
                                        </p:attrNameLst>
                                      </p:cBhvr>
                                      <p:to>
                                        <p:strVal val="visible"/>
                                      </p:to>
                                    </p:set>
                                    <p:animEffect transition="in" filter="checkerboard(across)">
                                      <p:cBhvr>
                                        <p:cTn id="17" dur="500"/>
                                        <p:tgtEl>
                                          <p:spTgt spid="3440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4067">
                                            <p:txEl>
                                              <p:pRg st="3" end="3"/>
                                            </p:txEl>
                                          </p:spTgt>
                                        </p:tgtEl>
                                        <p:attrNameLst>
                                          <p:attrName>style.visibility</p:attrName>
                                        </p:attrNameLst>
                                      </p:cBhvr>
                                      <p:to>
                                        <p:strVal val="visible"/>
                                      </p:to>
                                    </p:set>
                                    <p:animEffect transition="in" filter="checkerboard(across)">
                                      <p:cBhvr>
                                        <p:cTn id="22" dur="500"/>
                                        <p:tgtEl>
                                          <p:spTgt spid="3440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4067">
                                            <p:txEl>
                                              <p:pRg st="4" end="4"/>
                                            </p:txEl>
                                          </p:spTgt>
                                        </p:tgtEl>
                                        <p:attrNameLst>
                                          <p:attrName>style.visibility</p:attrName>
                                        </p:attrNameLst>
                                      </p:cBhvr>
                                      <p:to>
                                        <p:strVal val="visible"/>
                                      </p:to>
                                    </p:set>
                                    <p:animEffect transition="in" filter="checkerboard(across)">
                                      <p:cBhvr>
                                        <p:cTn id="27" dur="500"/>
                                        <p:tgtEl>
                                          <p:spTgt spid="3440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B7FB8F14-C7F8-6076-3D2E-0072DDD916E5}"/>
              </a:ext>
            </a:extLst>
          </p:cNvPr>
          <p:cNvSpPr>
            <a:spLocks noGrp="1" noChangeArrowheads="1"/>
          </p:cNvSpPr>
          <p:nvPr>
            <p:ph type="title"/>
          </p:nvPr>
        </p:nvSpPr>
        <p:spPr>
          <a:xfrm>
            <a:off x="1042988" y="225431"/>
            <a:ext cx="7850187" cy="746125"/>
          </a:xfrm>
        </p:spPr>
        <p:txBody>
          <a:bodyPr/>
          <a:lstStyle/>
          <a:p>
            <a:r>
              <a:rPr lang="zh-CN" altLang="en-US" dirty="0"/>
              <a:t>位向量</a:t>
            </a:r>
            <a:r>
              <a:rPr lang="en-US" altLang="zh-CN" dirty="0"/>
              <a:t>/</a:t>
            </a:r>
            <a:r>
              <a:rPr lang="zh-CN" altLang="en-US" dirty="0"/>
              <a:t>位示图</a:t>
            </a:r>
            <a:endParaRPr lang="en-US" altLang="zh-CN" dirty="0"/>
          </a:p>
        </p:txBody>
      </p:sp>
      <p:sp>
        <p:nvSpPr>
          <p:cNvPr id="58370" name="Rectangle 3">
            <a:extLst>
              <a:ext uri="{FF2B5EF4-FFF2-40B4-BE49-F238E27FC236}">
                <a16:creationId xmlns:a16="http://schemas.microsoft.com/office/drawing/2014/main" id="{77296284-9259-F3B6-BA71-FBB3A4173E02}"/>
              </a:ext>
            </a:extLst>
          </p:cNvPr>
          <p:cNvSpPr>
            <a:spLocks noGrp="1" noChangeArrowheads="1"/>
          </p:cNvSpPr>
          <p:nvPr>
            <p:ph idx="1"/>
          </p:nvPr>
        </p:nvSpPr>
        <p:spPr>
          <a:xfrm>
            <a:off x="935038" y="1233488"/>
            <a:ext cx="7772400" cy="1797811"/>
          </a:xfrm>
        </p:spPr>
        <p:txBody>
          <a:bodyPr/>
          <a:lstStyle/>
          <a:p>
            <a:r>
              <a:rPr lang="zh-CN" altLang="en-US" dirty="0"/>
              <a:t>在位示图中，每个物理块用一个二进制位表示，当某位为1时表示该块已分配，当某位为0时表示该块空闲。</a:t>
            </a:r>
          </a:p>
          <a:p>
            <a:endParaRPr lang="zh-CN" altLang="en-US" dirty="0"/>
          </a:p>
        </p:txBody>
      </p:sp>
      <p:sp>
        <p:nvSpPr>
          <p:cNvPr id="2" name="灯片编号占位符 1">
            <a:extLst>
              <a:ext uri="{FF2B5EF4-FFF2-40B4-BE49-F238E27FC236}">
                <a16:creationId xmlns:a16="http://schemas.microsoft.com/office/drawing/2014/main" id="{78A5EDF1-9F1B-0AA2-B34F-CE0612A86B3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132</a:t>
            </a:fld>
            <a:endParaRPr lang="zh-CN" altLang="en-US" dirty="0"/>
          </a:p>
        </p:txBody>
      </p:sp>
      <p:grpSp>
        <p:nvGrpSpPr>
          <p:cNvPr id="58371" name="Group 4">
            <a:extLst>
              <a:ext uri="{FF2B5EF4-FFF2-40B4-BE49-F238E27FC236}">
                <a16:creationId xmlns:a16="http://schemas.microsoft.com/office/drawing/2014/main" id="{5AA56F7D-55DB-DBB7-27DE-1DB503E0F38B}"/>
              </a:ext>
            </a:extLst>
          </p:cNvPr>
          <p:cNvGrpSpPr>
            <a:grpSpLocks/>
          </p:cNvGrpSpPr>
          <p:nvPr/>
        </p:nvGrpSpPr>
        <p:grpSpPr bwMode="auto">
          <a:xfrm>
            <a:off x="1371600" y="3171806"/>
            <a:ext cx="6477000" cy="2362200"/>
            <a:chOff x="768" y="2640"/>
            <a:chExt cx="4080" cy="1528"/>
          </a:xfrm>
        </p:grpSpPr>
        <p:sp>
          <p:nvSpPr>
            <p:cNvPr id="58372" name="Rectangle 5">
              <a:extLst>
                <a:ext uri="{FF2B5EF4-FFF2-40B4-BE49-F238E27FC236}">
                  <a16:creationId xmlns:a16="http://schemas.microsoft.com/office/drawing/2014/main" id="{84C00ACF-A4E3-F385-D3E5-BFD880CA8A4A}"/>
                </a:ext>
              </a:extLst>
            </p:cNvPr>
            <p:cNvSpPr>
              <a:spLocks noChangeArrowheads="1"/>
            </p:cNvSpPr>
            <p:nvPr/>
          </p:nvSpPr>
          <p:spPr bwMode="auto">
            <a:xfrm>
              <a:off x="949" y="2868"/>
              <a:ext cx="3829" cy="1300"/>
            </a:xfrm>
            <a:prstGeom prst="rect">
              <a:avLst/>
            </a:prstGeom>
            <a:solidFill>
              <a:srgbClr val="FFFFFF"/>
            </a:solidFill>
            <a:ln w="9525">
              <a:solidFill>
                <a:srgbClr val="000000"/>
              </a:solidFill>
              <a:miter lim="800000"/>
              <a:headEnd/>
              <a:tailEnd type="none" w="sm" len="med"/>
            </a:ln>
          </p:spPr>
          <p:txBody>
            <a:bodyPr lIns="72000" tIns="72000" rIns="0" bIns="36000"/>
            <a:lstStyle/>
            <a:p>
              <a:pPr algn="just" eaLnBrk="0" hangingPunct="0"/>
              <a:r>
                <a:rPr lang="zh-CN" altLang="en-US" sz="2000" b="1">
                  <a:latin typeface="Times New Roman" panose="02020603050405020304" pitchFamily="18" charset="0"/>
                </a:rPr>
                <a:t>1    1    0    0    1    1    0    1    1    1    0    1    1    1    1    1</a:t>
              </a:r>
            </a:p>
            <a:p>
              <a:pPr algn="just" eaLnBrk="0" hangingPunct="0"/>
              <a:r>
                <a:rPr lang="zh-CN" altLang="en-US" sz="2000" b="1">
                  <a:latin typeface="Times New Roman" panose="02020603050405020304" pitchFamily="18" charset="0"/>
                </a:rPr>
                <a:t>0    0    0    0    1    1    1    1    1    0    0    0    0    0    0    1</a:t>
              </a:r>
            </a:p>
            <a:p>
              <a:pPr algn="just" eaLnBrk="0" hangingPunct="0"/>
              <a:r>
                <a:rPr lang="zh-CN" altLang="en-US" sz="2000" b="1">
                  <a:latin typeface="Times New Roman" panose="02020603050405020304" pitchFamily="18" charset="0"/>
                </a:rPr>
                <a:t>1    1    1    1    1    1    0    1    1    1    1    0    0    0    0    0</a:t>
              </a:r>
            </a:p>
            <a:p>
              <a:pPr algn="just" eaLnBrk="0" hangingPunct="0"/>
              <a:endParaRPr lang="zh-CN" altLang="en-US" sz="2000" b="1">
                <a:latin typeface="宋体" panose="02010600030101010101" pitchFamily="2" charset="-122"/>
              </a:endParaRPr>
            </a:p>
            <a:p>
              <a:pPr algn="just" eaLnBrk="0" hangingPunct="0"/>
              <a:r>
                <a:rPr lang="zh-CN" altLang="en-US" sz="2000" b="1">
                  <a:latin typeface="Times New Roman" panose="02020603050405020304" pitchFamily="18" charset="0"/>
                </a:rPr>
                <a:t>…</a:t>
              </a:r>
            </a:p>
          </p:txBody>
        </p:sp>
        <p:sp>
          <p:nvSpPr>
            <p:cNvPr id="58373" name="Rectangle 6">
              <a:extLst>
                <a:ext uri="{FF2B5EF4-FFF2-40B4-BE49-F238E27FC236}">
                  <a16:creationId xmlns:a16="http://schemas.microsoft.com/office/drawing/2014/main" id="{F5D57BB3-28DD-B4D2-C641-5BC98FEA4824}"/>
                </a:ext>
              </a:extLst>
            </p:cNvPr>
            <p:cNvSpPr>
              <a:spLocks noChangeArrowheads="1"/>
            </p:cNvSpPr>
            <p:nvPr/>
          </p:nvSpPr>
          <p:spPr bwMode="auto">
            <a:xfrm>
              <a:off x="988" y="2640"/>
              <a:ext cx="386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0    1    2    3    4    5    6    7    8    9  10  11  12  13  14  15</a:t>
              </a:r>
            </a:p>
          </p:txBody>
        </p:sp>
        <p:sp>
          <p:nvSpPr>
            <p:cNvPr id="58374" name="Rectangle 7">
              <a:extLst>
                <a:ext uri="{FF2B5EF4-FFF2-40B4-BE49-F238E27FC236}">
                  <a16:creationId xmlns:a16="http://schemas.microsoft.com/office/drawing/2014/main" id="{A8D23EEA-7826-DBCA-DE0C-237FB4F2DA84}"/>
                </a:ext>
              </a:extLst>
            </p:cNvPr>
            <p:cNvSpPr>
              <a:spLocks noChangeArrowheads="1"/>
            </p:cNvSpPr>
            <p:nvPr/>
          </p:nvSpPr>
          <p:spPr bwMode="auto">
            <a:xfrm>
              <a:off x="768" y="2916"/>
              <a:ext cx="142"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 </a:t>
              </a:r>
              <a:r>
                <a:rPr lang="zh-CN" altLang="en-US" sz="2000" b="1">
                  <a:latin typeface="Times New Roman" panose="02020603050405020304" pitchFamily="18" charset="0"/>
                </a:rPr>
                <a:t>0</a:t>
              </a:r>
            </a:p>
            <a:p>
              <a:pPr algn="just" eaLnBrk="0" hangingPunct="0"/>
              <a:r>
                <a:rPr lang="zh-CN" altLang="en-US" sz="2000" b="1">
                  <a:latin typeface="Times New Roman" panose="02020603050405020304" pitchFamily="18" charset="0"/>
                </a:rPr>
                <a:t> 1</a:t>
              </a:r>
            </a:p>
            <a:p>
              <a:pPr algn="just" eaLnBrk="0" hangingPunct="0"/>
              <a:r>
                <a:rPr lang="zh-CN" altLang="en-US" sz="2000" b="1">
                  <a:latin typeface="Times New Roman" panose="02020603050405020304" pitchFamily="18" charset="0"/>
                </a:rPr>
                <a:t> 2</a:t>
              </a:r>
            </a:p>
            <a:p>
              <a:pPr algn="just" eaLnBrk="0" hangingPunct="0"/>
              <a:r>
                <a:rPr lang="zh-CN" altLang="en-US" sz="2000" b="1">
                  <a:latin typeface="Times New Roman" panose="02020603050405020304" pitchFamily="18" charset="0"/>
                </a:rPr>
                <a:t> 3</a:t>
              </a:r>
            </a:p>
            <a:p>
              <a:pPr algn="just" eaLnBrk="0" hangingPunct="0"/>
              <a:r>
                <a:rPr lang="zh-CN" altLang="en-US" sz="2000" b="1">
                  <a:latin typeface="Times New Roman" panose="02020603050405020304" pitchFamily="18" charset="0"/>
                </a:rPr>
                <a:t> 4</a:t>
              </a:r>
            </a:p>
            <a:p>
              <a:pPr algn="just" eaLnBrk="0" hangingPunct="0"/>
              <a:r>
                <a:rPr lang="zh-CN" altLang="en-US" sz="2000" b="1">
                  <a:latin typeface="宋体" panose="02010600030101010101" pitchFamily="2" charset="-122"/>
                </a:rPr>
                <a:t>┆</a:t>
              </a:r>
              <a:endParaRPr lang="zh-CN" altLang="en-US" sz="2000" b="1">
                <a:latin typeface="Times New Roman" panose="02020603050405020304" pitchFamily="18" charset="0"/>
              </a:endParaRPr>
            </a:p>
          </p:txBody>
        </p:sp>
      </p:grpSp>
    </p:spTree>
  </p:cSld>
  <p:clrMapOvr>
    <a:masterClrMapping/>
  </p:clrMapOvr>
  <p:transition spd="med">
    <p:zo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7D69CAAA-7F36-A359-D13E-25FAD6818CE1}"/>
              </a:ext>
            </a:extLst>
          </p:cNvPr>
          <p:cNvSpPr>
            <a:spLocks noGrp="1" noChangeArrowheads="1"/>
          </p:cNvSpPr>
          <p:nvPr>
            <p:ph type="title"/>
          </p:nvPr>
        </p:nvSpPr>
        <p:spPr>
          <a:xfrm>
            <a:off x="1042988" y="225431"/>
            <a:ext cx="7850187" cy="746125"/>
          </a:xfrm>
        </p:spPr>
        <p:txBody>
          <a:bodyPr/>
          <a:lstStyle/>
          <a:p>
            <a:r>
              <a:rPr lang="zh-CN" altLang="en-US"/>
              <a:t>盘块的分配</a:t>
            </a:r>
          </a:p>
        </p:txBody>
      </p:sp>
      <p:sp>
        <p:nvSpPr>
          <p:cNvPr id="59394" name="Rectangle 3">
            <a:extLst>
              <a:ext uri="{FF2B5EF4-FFF2-40B4-BE49-F238E27FC236}">
                <a16:creationId xmlns:a16="http://schemas.microsoft.com/office/drawing/2014/main" id="{942D6FAD-FBF3-07F8-F87E-3A8F09A2E205}"/>
              </a:ext>
            </a:extLst>
          </p:cNvPr>
          <p:cNvSpPr>
            <a:spLocks noGrp="1" noChangeArrowheads="1"/>
          </p:cNvSpPr>
          <p:nvPr>
            <p:ph idx="1"/>
          </p:nvPr>
        </p:nvSpPr>
        <p:spPr>
          <a:xfrm>
            <a:off x="935038" y="1233488"/>
            <a:ext cx="7772400" cy="4895850"/>
          </a:xfrm>
        </p:spPr>
        <p:txBody>
          <a:bodyPr/>
          <a:lstStyle/>
          <a:p>
            <a:r>
              <a:rPr lang="zh-CN" altLang="en-US"/>
              <a:t>在位示图方法中，盘块分配分为三步：</a:t>
            </a:r>
          </a:p>
          <a:p>
            <a:pPr lvl="1"/>
            <a:r>
              <a:rPr lang="zh-CN" altLang="en-US"/>
              <a:t>系统顺序扫描位示图，从中找出一个（组）值为0的二进制位。</a:t>
            </a:r>
          </a:p>
          <a:p>
            <a:pPr lvl="1"/>
            <a:r>
              <a:rPr lang="zh-CN" altLang="en-US"/>
              <a:t>再经过换算得到相应的盘块地址：</a:t>
            </a:r>
          </a:p>
          <a:p>
            <a:pPr lvl="2"/>
            <a:r>
              <a:rPr lang="zh-CN" altLang="en-US"/>
              <a:t>盘块号=行号*每行二进制位数+列号</a:t>
            </a:r>
          </a:p>
          <a:p>
            <a:pPr lvl="1"/>
            <a:r>
              <a:rPr lang="zh-CN" altLang="en-US"/>
              <a:t>修改位示图，将相应位置1。</a:t>
            </a:r>
          </a:p>
        </p:txBody>
      </p:sp>
      <p:sp>
        <p:nvSpPr>
          <p:cNvPr id="2" name="灯片编号占位符 1">
            <a:extLst>
              <a:ext uri="{FF2B5EF4-FFF2-40B4-BE49-F238E27FC236}">
                <a16:creationId xmlns:a16="http://schemas.microsoft.com/office/drawing/2014/main" id="{44D86E50-65AE-4E1D-242E-BF2A95DAEF0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133</a:t>
            </a:fld>
            <a:endParaRPr lang="zh-CN" altLang="en-US" dirty="0"/>
          </a:p>
        </p:txBody>
      </p:sp>
    </p:spTree>
  </p:cSld>
  <p:clrMapOvr>
    <a:masterClrMapping/>
  </p:clrMapOvr>
  <p:transition spd="med">
    <p:zoom/>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FBB8108-195D-9156-A638-D96EDF57FC74}"/>
              </a:ext>
            </a:extLst>
          </p:cNvPr>
          <p:cNvSpPr>
            <a:spLocks noGrp="1" noChangeArrowheads="1"/>
          </p:cNvSpPr>
          <p:nvPr>
            <p:ph type="title"/>
          </p:nvPr>
        </p:nvSpPr>
        <p:spPr>
          <a:xfrm>
            <a:off x="1042988" y="225431"/>
            <a:ext cx="7850187" cy="746125"/>
          </a:xfrm>
        </p:spPr>
        <p:txBody>
          <a:bodyPr/>
          <a:lstStyle/>
          <a:p>
            <a:r>
              <a:rPr lang="zh-CN" altLang="en-US"/>
              <a:t>盘块的回收</a:t>
            </a:r>
          </a:p>
        </p:txBody>
      </p:sp>
      <p:sp>
        <p:nvSpPr>
          <p:cNvPr id="400387" name="Rectangle 3">
            <a:extLst>
              <a:ext uri="{FF2B5EF4-FFF2-40B4-BE49-F238E27FC236}">
                <a16:creationId xmlns:a16="http://schemas.microsoft.com/office/drawing/2014/main" id="{130AA0D8-1C77-AB1D-F8FA-322C5B4A2326}"/>
              </a:ext>
            </a:extLst>
          </p:cNvPr>
          <p:cNvSpPr>
            <a:spLocks noGrp="1" noChangeArrowheads="1"/>
          </p:cNvSpPr>
          <p:nvPr>
            <p:ph idx="1"/>
          </p:nvPr>
        </p:nvSpPr>
        <p:spPr>
          <a:xfrm>
            <a:off x="935038" y="1233488"/>
            <a:ext cx="7772400" cy="4895850"/>
          </a:xfrm>
        </p:spPr>
        <p:txBody>
          <a:bodyPr/>
          <a:lstStyle/>
          <a:p>
            <a:r>
              <a:rPr lang="zh-CN" altLang="en-US"/>
              <a:t>盘块回收分两步：</a:t>
            </a:r>
          </a:p>
          <a:p>
            <a:pPr lvl="1"/>
            <a:r>
              <a:rPr lang="zh-CN" altLang="en-US"/>
              <a:t>将回收的盘块号转换成图中的行号、列号。</a:t>
            </a:r>
          </a:p>
          <a:p>
            <a:pPr lvl="2"/>
            <a:r>
              <a:rPr lang="zh-CN" altLang="en-US"/>
              <a:t>行号=盘块号 / 每行二进制位数</a:t>
            </a:r>
          </a:p>
          <a:p>
            <a:pPr lvl="2"/>
            <a:r>
              <a:rPr lang="zh-CN" altLang="en-US"/>
              <a:t>列号=盘块号 % 每行二进制位数</a:t>
            </a:r>
          </a:p>
          <a:p>
            <a:pPr lvl="1"/>
            <a:r>
              <a:rPr lang="zh-CN" altLang="en-US"/>
              <a:t>修改位示图，将相应位清0。：</a:t>
            </a:r>
          </a:p>
          <a:p>
            <a:r>
              <a:rPr lang="zh-CN" altLang="en-US"/>
              <a:t>特点：因位示图比较小，可以保存在主存中，因此空间的分配与回收较快；但需要进行位示图中二进制所在位置与盘块号之间的转换。</a:t>
            </a:r>
          </a:p>
        </p:txBody>
      </p:sp>
      <p:sp>
        <p:nvSpPr>
          <p:cNvPr id="2" name="灯片编号占位符 1">
            <a:extLst>
              <a:ext uri="{FF2B5EF4-FFF2-40B4-BE49-F238E27FC236}">
                <a16:creationId xmlns:a16="http://schemas.microsoft.com/office/drawing/2014/main" id="{721BC88F-42D2-7096-76D6-82E1329E8F8C}"/>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0387">
                                            <p:txEl>
                                              <p:pRg st="0" end="0"/>
                                            </p:txEl>
                                          </p:spTgt>
                                        </p:tgtEl>
                                        <p:attrNameLst>
                                          <p:attrName>style.visibility</p:attrName>
                                        </p:attrNameLst>
                                      </p:cBhvr>
                                      <p:to>
                                        <p:strVal val="visible"/>
                                      </p:to>
                                    </p:set>
                                    <p:animEffect transition="in" filter="checkerboard(across)">
                                      <p:cBhvr>
                                        <p:cTn id="7" dur="500"/>
                                        <p:tgtEl>
                                          <p:spTgt spid="400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00387">
                                            <p:txEl>
                                              <p:pRg st="1" end="1"/>
                                            </p:txEl>
                                          </p:spTgt>
                                        </p:tgtEl>
                                        <p:attrNameLst>
                                          <p:attrName>style.visibility</p:attrName>
                                        </p:attrNameLst>
                                      </p:cBhvr>
                                      <p:to>
                                        <p:strVal val="visible"/>
                                      </p:to>
                                    </p:set>
                                    <p:animEffect transition="in" filter="checkerboard(across)">
                                      <p:cBhvr>
                                        <p:cTn id="12" dur="500"/>
                                        <p:tgtEl>
                                          <p:spTgt spid="400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00387">
                                            <p:txEl>
                                              <p:pRg st="2" end="2"/>
                                            </p:txEl>
                                          </p:spTgt>
                                        </p:tgtEl>
                                        <p:attrNameLst>
                                          <p:attrName>style.visibility</p:attrName>
                                        </p:attrNameLst>
                                      </p:cBhvr>
                                      <p:to>
                                        <p:strVal val="visible"/>
                                      </p:to>
                                    </p:set>
                                    <p:animEffect transition="in" filter="checkerboard(across)">
                                      <p:cBhvr>
                                        <p:cTn id="17" dur="500"/>
                                        <p:tgtEl>
                                          <p:spTgt spid="400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00387">
                                            <p:txEl>
                                              <p:pRg st="3" end="3"/>
                                            </p:txEl>
                                          </p:spTgt>
                                        </p:tgtEl>
                                        <p:attrNameLst>
                                          <p:attrName>style.visibility</p:attrName>
                                        </p:attrNameLst>
                                      </p:cBhvr>
                                      <p:to>
                                        <p:strVal val="visible"/>
                                      </p:to>
                                    </p:set>
                                    <p:animEffect transition="in" filter="checkerboard(across)">
                                      <p:cBhvr>
                                        <p:cTn id="22" dur="500"/>
                                        <p:tgtEl>
                                          <p:spTgt spid="4003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00387">
                                            <p:txEl>
                                              <p:pRg st="4" end="4"/>
                                            </p:txEl>
                                          </p:spTgt>
                                        </p:tgtEl>
                                        <p:attrNameLst>
                                          <p:attrName>style.visibility</p:attrName>
                                        </p:attrNameLst>
                                      </p:cBhvr>
                                      <p:to>
                                        <p:strVal val="visible"/>
                                      </p:to>
                                    </p:set>
                                    <p:animEffect transition="in" filter="checkerboard(across)">
                                      <p:cBhvr>
                                        <p:cTn id="27" dur="500"/>
                                        <p:tgtEl>
                                          <p:spTgt spid="4003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00387">
                                            <p:txEl>
                                              <p:pRg st="5" end="5"/>
                                            </p:txEl>
                                          </p:spTgt>
                                        </p:tgtEl>
                                        <p:attrNameLst>
                                          <p:attrName>style.visibility</p:attrName>
                                        </p:attrNameLst>
                                      </p:cBhvr>
                                      <p:to>
                                        <p:strVal val="visible"/>
                                      </p:to>
                                    </p:set>
                                    <p:animEffect transition="in" filter="checkerboard(across)">
                                      <p:cBhvr>
                                        <p:cTn id="32" dur="500"/>
                                        <p:tgtEl>
                                          <p:spTgt spid="400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043C6C4E-D41C-BA7C-99C0-99F57512A256}"/>
              </a:ext>
            </a:extLst>
          </p:cNvPr>
          <p:cNvSpPr>
            <a:spLocks noGrp="1" noChangeArrowheads="1"/>
          </p:cNvSpPr>
          <p:nvPr>
            <p:ph type="title"/>
          </p:nvPr>
        </p:nvSpPr>
        <p:spPr/>
        <p:txBody>
          <a:bodyPr/>
          <a:lstStyle/>
          <a:p>
            <a:pPr eaLnBrk="1" hangingPunct="1"/>
            <a:r>
              <a:rPr lang="zh-CN" altLang="en-US" b="1" dirty="0"/>
              <a:t>空闲块链 Linked List</a:t>
            </a:r>
          </a:p>
        </p:txBody>
      </p:sp>
      <p:sp>
        <p:nvSpPr>
          <p:cNvPr id="401411" name="Rectangle 3">
            <a:extLst>
              <a:ext uri="{FF2B5EF4-FFF2-40B4-BE49-F238E27FC236}">
                <a16:creationId xmlns:a16="http://schemas.microsoft.com/office/drawing/2014/main" id="{0BDA6B8E-9D6D-C895-B629-C371D23BFFB2}"/>
              </a:ext>
            </a:extLst>
          </p:cNvPr>
          <p:cNvSpPr>
            <a:spLocks noGrp="1" noChangeArrowheads="1"/>
          </p:cNvSpPr>
          <p:nvPr>
            <p:ph idx="1"/>
          </p:nvPr>
        </p:nvSpPr>
        <p:spPr>
          <a:xfrm>
            <a:off x="719138" y="1196975"/>
            <a:ext cx="8235950" cy="4611688"/>
          </a:xfrm>
        </p:spPr>
        <p:txBody>
          <a:bodyPr/>
          <a:lstStyle/>
          <a:p>
            <a:pPr algn="just" eaLnBrk="1" hangingPunct="1"/>
            <a:r>
              <a:rPr lang="zh-CN" altLang="en-US">
                <a:solidFill>
                  <a:srgbClr val="FF0000"/>
                </a:solidFill>
              </a:rPr>
              <a:t>空闲块链</a:t>
            </a:r>
            <a:r>
              <a:rPr lang="zh-CN" altLang="en-US"/>
              <a:t>方法将文件存储设备上的所有空闲块链接起来，并设置一个头指针指向空闲块链的第一个物理块。</a:t>
            </a:r>
          </a:p>
          <a:p>
            <a:pPr algn="just" eaLnBrk="1" hangingPunct="1"/>
            <a:r>
              <a:rPr lang="zh-CN" altLang="en-US"/>
              <a:t>当申请分配存储空间时，就按需要从链首依次取下几个物理块分配给文件。当回收存储空间时，将回收的空闲块依次链入空闲块链中。</a:t>
            </a:r>
          </a:p>
        </p:txBody>
      </p:sp>
      <p:sp>
        <p:nvSpPr>
          <p:cNvPr id="2" name="灯片编号占位符 1">
            <a:extLst>
              <a:ext uri="{FF2B5EF4-FFF2-40B4-BE49-F238E27FC236}">
                <a16:creationId xmlns:a16="http://schemas.microsoft.com/office/drawing/2014/main" id="{AF144F6B-2642-D140-0132-BAA53FDB9BCA}"/>
              </a:ext>
            </a:extLst>
          </p:cNvPr>
          <p:cNvSpPr>
            <a:spLocks noGrp="1"/>
          </p:cNvSpPr>
          <p:nvPr>
            <p:ph type="sldNum" sz="quarter" idx="12"/>
          </p:nvPr>
        </p:nvSpPr>
        <p:spPr/>
        <p:txBody>
          <a:bodyPr/>
          <a:lstStyle/>
          <a:p>
            <a:fld id="{4093CC90-4002-504C-BD88-C9A1D374048E}" type="slidenum">
              <a:rPr lang="zh-CN" altLang="en-US" smtClean="0"/>
              <a:pPr/>
              <a:t>135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1411">
                                            <p:txEl>
                                              <p:pRg st="0" end="0"/>
                                            </p:txEl>
                                          </p:spTgt>
                                        </p:tgtEl>
                                        <p:attrNameLst>
                                          <p:attrName>style.visibility</p:attrName>
                                        </p:attrNameLst>
                                      </p:cBhvr>
                                      <p:to>
                                        <p:strVal val="visible"/>
                                      </p:to>
                                    </p:set>
                                    <p:animEffect transition="in" filter="checkerboard(across)">
                                      <p:cBhvr>
                                        <p:cTn id="7" dur="500"/>
                                        <p:tgtEl>
                                          <p:spTgt spid="401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1411">
                                            <p:txEl>
                                              <p:pRg st="1" end="1"/>
                                            </p:txEl>
                                          </p:spTgt>
                                        </p:tgtEl>
                                        <p:attrNameLst>
                                          <p:attrName>style.visibility</p:attrName>
                                        </p:attrNameLst>
                                      </p:cBhvr>
                                      <p:to>
                                        <p:strVal val="visible"/>
                                      </p:to>
                                    </p:set>
                                    <p:animEffect transition="in" filter="checkerboard(across)">
                                      <p:cBhvr>
                                        <p:cTn id="12" dur="500"/>
                                        <p:tgtEl>
                                          <p:spTgt spid="4014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4A0CBEFE-5007-A514-A872-A4043242096A}"/>
              </a:ext>
            </a:extLst>
          </p:cNvPr>
          <p:cNvSpPr>
            <a:spLocks noGrp="1" noChangeArrowheads="1"/>
          </p:cNvSpPr>
          <p:nvPr>
            <p:ph type="title"/>
          </p:nvPr>
        </p:nvSpPr>
        <p:spPr/>
        <p:txBody>
          <a:bodyPr/>
          <a:lstStyle/>
          <a:p>
            <a:pPr eaLnBrk="1" hangingPunct="1"/>
            <a:r>
              <a:rPr lang="en-US" altLang="zh-CN" sz="4000" dirty="0"/>
              <a:t>Linked Free Space List on Disk</a:t>
            </a:r>
            <a:endParaRPr lang="zh-CN" altLang="en-US" sz="4000" dirty="0"/>
          </a:p>
        </p:txBody>
      </p:sp>
      <p:pic>
        <p:nvPicPr>
          <p:cNvPr id="62466" name="Picture 5">
            <a:extLst>
              <a:ext uri="{FF2B5EF4-FFF2-40B4-BE49-F238E27FC236}">
                <a16:creationId xmlns:a16="http://schemas.microsoft.com/office/drawing/2014/main" id="{71B0BC0A-04B0-C689-087D-A62B5CA2D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677" t="2734" r="20677" b="1476"/>
          <a:stretch>
            <a:fillRect/>
          </a:stretch>
        </p:blipFill>
        <p:spPr bwMode="auto">
          <a:xfrm>
            <a:off x="684213" y="1050925"/>
            <a:ext cx="7866062" cy="56546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1A736AA8-2936-AA5B-14B8-53FF31514877}"/>
              </a:ext>
            </a:extLst>
          </p:cNvPr>
          <p:cNvSpPr>
            <a:spLocks noGrp="1"/>
          </p:cNvSpPr>
          <p:nvPr>
            <p:ph type="sldNum" sz="quarter" idx="12"/>
          </p:nvPr>
        </p:nvSpPr>
        <p:spPr/>
        <p:txBody>
          <a:bodyPr/>
          <a:lstStyle/>
          <a:p>
            <a:fld id="{4093CC90-4002-504C-BD88-C9A1D374048E}" type="slidenum">
              <a:rPr lang="zh-CN" altLang="en-US" smtClean="0"/>
              <a:pPr/>
              <a:t>136</a:t>
            </a:fld>
            <a:endParaRPr lang="zh-CN" altLang="en-US" dirty="0"/>
          </a:p>
        </p:txBody>
      </p:sp>
    </p:spTree>
  </p:cSld>
  <p:clrMapOvr>
    <a:masterClrMapping/>
  </p:clrMapOvr>
  <p:transition spd="med">
    <p:zo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D059A71C-ADEE-60E5-5EC3-926A5CCF2E8E}"/>
              </a:ext>
            </a:extLst>
          </p:cNvPr>
          <p:cNvSpPr>
            <a:spLocks noGrp="1" noChangeArrowheads="1"/>
          </p:cNvSpPr>
          <p:nvPr>
            <p:ph type="title"/>
          </p:nvPr>
        </p:nvSpPr>
        <p:spPr/>
        <p:txBody>
          <a:bodyPr/>
          <a:lstStyle/>
          <a:p>
            <a:pPr eaLnBrk="1" hangingPunct="1"/>
            <a:r>
              <a:rPr lang="zh-CN" altLang="en-US"/>
              <a:t>空闲块链的特点及改进</a:t>
            </a:r>
          </a:p>
        </p:txBody>
      </p:sp>
      <p:sp>
        <p:nvSpPr>
          <p:cNvPr id="402435" name="Rectangle 3">
            <a:extLst>
              <a:ext uri="{FF2B5EF4-FFF2-40B4-BE49-F238E27FC236}">
                <a16:creationId xmlns:a16="http://schemas.microsoft.com/office/drawing/2014/main" id="{CA9B4EF9-40F2-A494-6FE2-0B96363390B7}"/>
              </a:ext>
            </a:extLst>
          </p:cNvPr>
          <p:cNvSpPr>
            <a:spLocks noGrp="1" noChangeArrowheads="1"/>
          </p:cNvSpPr>
          <p:nvPr>
            <p:ph idx="1"/>
          </p:nvPr>
        </p:nvSpPr>
        <p:spPr>
          <a:xfrm>
            <a:off x="762000" y="1196975"/>
            <a:ext cx="8193088" cy="4459288"/>
          </a:xfrm>
        </p:spPr>
        <p:txBody>
          <a:bodyPr/>
          <a:lstStyle/>
          <a:p>
            <a:pPr algn="just" eaLnBrk="1" hangingPunct="1"/>
            <a:r>
              <a:rPr lang="zh-CN" altLang="en-US"/>
              <a:t>特点：实现简单但工作效率低，因为在空闲块链上增加或移去空闲块时要进行链表操作。</a:t>
            </a:r>
          </a:p>
          <a:p>
            <a:pPr algn="just" eaLnBrk="1" hangingPunct="1"/>
            <a:r>
              <a:rPr lang="zh-CN" altLang="en-US"/>
              <a:t>一种改进方法是将空闲块分成若干组，再用指针将组与组链接起来，将这种管理空闲块的方法称为成组链接法。成组链接法在进行空闲块的分配与回收时要比空闲块链方法节省时间。</a:t>
            </a:r>
          </a:p>
        </p:txBody>
      </p:sp>
      <p:sp>
        <p:nvSpPr>
          <p:cNvPr id="2" name="灯片编号占位符 1">
            <a:extLst>
              <a:ext uri="{FF2B5EF4-FFF2-40B4-BE49-F238E27FC236}">
                <a16:creationId xmlns:a16="http://schemas.microsoft.com/office/drawing/2014/main" id="{A88486B2-7E55-694F-77D2-A612C1E1791A}"/>
              </a:ext>
            </a:extLst>
          </p:cNvPr>
          <p:cNvSpPr>
            <a:spLocks noGrp="1"/>
          </p:cNvSpPr>
          <p:nvPr>
            <p:ph type="sldNum" sz="quarter" idx="12"/>
          </p:nvPr>
        </p:nvSpPr>
        <p:spPr/>
        <p:txBody>
          <a:bodyPr/>
          <a:lstStyle/>
          <a:p>
            <a:fld id="{4093CC90-4002-504C-BD88-C9A1D374048E}" type="slidenum">
              <a:rPr lang="zh-CN" altLang="en-US" smtClean="0"/>
              <a:pPr/>
              <a:t>137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2435">
                                            <p:txEl>
                                              <p:pRg st="0" end="0"/>
                                            </p:txEl>
                                          </p:spTgt>
                                        </p:tgtEl>
                                        <p:attrNameLst>
                                          <p:attrName>style.visibility</p:attrName>
                                        </p:attrNameLst>
                                      </p:cBhvr>
                                      <p:to>
                                        <p:strVal val="visible"/>
                                      </p:to>
                                    </p:set>
                                    <p:animEffect transition="in" filter="checkerboard(across)">
                                      <p:cBhvr>
                                        <p:cTn id="7" dur="500"/>
                                        <p:tgtEl>
                                          <p:spTgt spid="402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2435">
                                            <p:txEl>
                                              <p:pRg st="1" end="1"/>
                                            </p:txEl>
                                          </p:spTgt>
                                        </p:tgtEl>
                                        <p:attrNameLst>
                                          <p:attrName>style.visibility</p:attrName>
                                        </p:attrNameLst>
                                      </p:cBhvr>
                                      <p:to>
                                        <p:strVal val="visible"/>
                                      </p:to>
                                    </p:set>
                                    <p:animEffect transition="in" filter="checkerboard(across)">
                                      <p:cBhvr>
                                        <p:cTn id="12" dur="500"/>
                                        <p:tgtEl>
                                          <p:spTgt spid="4024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4BBF8B12-D85B-E09B-FFE3-5C743DC2D22A}"/>
              </a:ext>
            </a:extLst>
          </p:cNvPr>
          <p:cNvSpPr>
            <a:spLocks noGrp="1" noChangeArrowheads="1"/>
          </p:cNvSpPr>
          <p:nvPr>
            <p:ph type="title"/>
          </p:nvPr>
        </p:nvSpPr>
        <p:spPr/>
        <p:txBody>
          <a:bodyPr/>
          <a:lstStyle/>
          <a:p>
            <a:pPr eaLnBrk="1" hangingPunct="1"/>
            <a:r>
              <a:rPr lang="zh-CN" altLang="en-US" b="1"/>
              <a:t>成组链接法</a:t>
            </a:r>
            <a:endParaRPr lang="en-US" altLang="zh-CN" b="1"/>
          </a:p>
        </p:txBody>
      </p:sp>
      <p:sp>
        <p:nvSpPr>
          <p:cNvPr id="403459" name="Rectangle 3">
            <a:extLst>
              <a:ext uri="{FF2B5EF4-FFF2-40B4-BE49-F238E27FC236}">
                <a16:creationId xmlns:a16="http://schemas.microsoft.com/office/drawing/2014/main" id="{607D1BA1-46FE-D338-8429-51C8B1334B2A}"/>
              </a:ext>
            </a:extLst>
          </p:cNvPr>
          <p:cNvSpPr>
            <a:spLocks noGrp="1" noChangeArrowheads="1"/>
          </p:cNvSpPr>
          <p:nvPr>
            <p:ph idx="1"/>
          </p:nvPr>
        </p:nvSpPr>
        <p:spPr/>
        <p:txBody>
          <a:bodyPr/>
          <a:lstStyle/>
          <a:p>
            <a:pPr algn="just" eaLnBrk="1" hangingPunct="1"/>
            <a:r>
              <a:rPr lang="en-US" altLang="zh-CN"/>
              <a:t>UNIX</a:t>
            </a:r>
            <a:r>
              <a:rPr lang="zh-CN" altLang="en-US"/>
              <a:t>系统采用</a:t>
            </a:r>
            <a:r>
              <a:rPr lang="zh-CN" altLang="en-US">
                <a:solidFill>
                  <a:srgbClr val="FF0000"/>
                </a:solidFill>
              </a:rPr>
              <a:t>成组链接法</a:t>
            </a:r>
            <a:r>
              <a:rPr lang="zh-CN" altLang="en-US"/>
              <a:t>对空闲盘块加以组织。</a:t>
            </a:r>
          </a:p>
          <a:p>
            <a:pPr algn="just" eaLnBrk="1" hangingPunct="1"/>
            <a:r>
              <a:rPr lang="zh-CN" altLang="en-US"/>
              <a:t>空闲盘块的组织：将若干个空闲盘块划归一组，将每组中的所有盘块号存放在其前一组的第一个空闲盘块号指示的盘块中，而将第一组中的所有空闲盘块号放入超级块的空闲盘块号表中。</a:t>
            </a:r>
          </a:p>
        </p:txBody>
      </p:sp>
      <p:sp>
        <p:nvSpPr>
          <p:cNvPr id="2" name="灯片编号占位符 1">
            <a:extLst>
              <a:ext uri="{FF2B5EF4-FFF2-40B4-BE49-F238E27FC236}">
                <a16:creationId xmlns:a16="http://schemas.microsoft.com/office/drawing/2014/main" id="{C2A74F17-3017-48F3-D62A-207CD87ABA3A}"/>
              </a:ext>
            </a:extLst>
          </p:cNvPr>
          <p:cNvSpPr>
            <a:spLocks noGrp="1"/>
          </p:cNvSpPr>
          <p:nvPr>
            <p:ph type="sldNum" sz="quarter" idx="12"/>
          </p:nvPr>
        </p:nvSpPr>
        <p:spPr/>
        <p:txBody>
          <a:bodyPr/>
          <a:lstStyle/>
          <a:p>
            <a:fld id="{4093CC90-4002-504C-BD88-C9A1D374048E}" type="slidenum">
              <a:rPr lang="zh-CN" altLang="en-US" smtClean="0"/>
              <a:pPr/>
              <a:t>138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3459">
                                            <p:txEl>
                                              <p:pRg st="0" end="0"/>
                                            </p:txEl>
                                          </p:spTgt>
                                        </p:tgtEl>
                                        <p:attrNameLst>
                                          <p:attrName>style.visibility</p:attrName>
                                        </p:attrNameLst>
                                      </p:cBhvr>
                                      <p:to>
                                        <p:strVal val="visible"/>
                                      </p:to>
                                    </p:set>
                                    <p:animEffect transition="in" filter="checkerboard(across)">
                                      <p:cBhvr>
                                        <p:cTn id="7" dur="500"/>
                                        <p:tgtEl>
                                          <p:spTgt spid="403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3459">
                                            <p:txEl>
                                              <p:pRg st="1" end="1"/>
                                            </p:txEl>
                                          </p:spTgt>
                                        </p:tgtEl>
                                        <p:attrNameLst>
                                          <p:attrName>style.visibility</p:attrName>
                                        </p:attrNameLst>
                                      </p:cBhvr>
                                      <p:to>
                                        <p:strVal val="visible"/>
                                      </p:to>
                                    </p:set>
                                    <p:animEffect transition="in" filter="checkerboard(across)">
                                      <p:cBhvr>
                                        <p:cTn id="12" dur="500"/>
                                        <p:tgtEl>
                                          <p:spTgt spid="403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8E650B11-4803-8140-76EC-E81F409DE473}"/>
              </a:ext>
            </a:extLst>
          </p:cNvPr>
          <p:cNvSpPr>
            <a:spLocks noGrp="1" noChangeArrowheads="1"/>
          </p:cNvSpPr>
          <p:nvPr>
            <p:ph type="title"/>
          </p:nvPr>
        </p:nvSpPr>
        <p:spPr/>
        <p:txBody>
          <a:bodyPr/>
          <a:lstStyle/>
          <a:p>
            <a:pPr eaLnBrk="1" hangingPunct="1"/>
            <a:r>
              <a:rPr lang="zh-CN" altLang="en-US"/>
              <a:t>成组链接法示意图</a:t>
            </a:r>
          </a:p>
        </p:txBody>
      </p:sp>
      <p:sp>
        <p:nvSpPr>
          <p:cNvPr id="65538" name="Rectangle 3">
            <a:extLst>
              <a:ext uri="{FF2B5EF4-FFF2-40B4-BE49-F238E27FC236}">
                <a16:creationId xmlns:a16="http://schemas.microsoft.com/office/drawing/2014/main" id="{4AA1D22B-C152-C815-D3E7-AA7A53B0DB16}"/>
              </a:ext>
            </a:extLst>
          </p:cNvPr>
          <p:cNvSpPr>
            <a:spLocks noChangeArrowheads="1"/>
          </p:cNvSpPr>
          <p:nvPr/>
        </p:nvSpPr>
        <p:spPr bwMode="auto">
          <a:xfrm>
            <a:off x="1500188" y="1544638"/>
            <a:ext cx="6635750" cy="455612"/>
          </a:xfrm>
          <a:prstGeom prst="rect">
            <a:avLst/>
          </a:prstGeom>
          <a:solidFill>
            <a:srgbClr val="FFFFFF"/>
          </a:solidFill>
          <a:ln w="25400">
            <a:solidFill>
              <a:srgbClr val="000000"/>
            </a:solidFill>
            <a:miter lim="800000"/>
            <a:headEnd/>
            <a:tailEnd/>
          </a:ln>
        </p:spPr>
        <p:txBody>
          <a:bodyPr lIns="90000" tIns="46800" rIns="90000" bIns="46800"/>
          <a:lstStyle/>
          <a:p>
            <a:pPr algn="just" eaLnBrk="0" hangingPunct="0"/>
            <a:r>
              <a:rPr lang="zh-CN" altLang="en-US">
                <a:latin typeface="Times New Roman" panose="02020603050405020304" pitchFamily="18" charset="0"/>
              </a:rPr>
              <a:t>109    106    103   100    95</a:t>
            </a:r>
          </a:p>
        </p:txBody>
      </p:sp>
      <p:sp>
        <p:nvSpPr>
          <p:cNvPr id="65539" name="Line 4">
            <a:extLst>
              <a:ext uri="{FF2B5EF4-FFF2-40B4-BE49-F238E27FC236}">
                <a16:creationId xmlns:a16="http://schemas.microsoft.com/office/drawing/2014/main" id="{3BB1762F-FA6A-D41D-1425-7C2282487DE4}"/>
              </a:ext>
            </a:extLst>
          </p:cNvPr>
          <p:cNvSpPr>
            <a:spLocks noChangeShapeType="1"/>
          </p:cNvSpPr>
          <p:nvPr/>
        </p:nvSpPr>
        <p:spPr bwMode="auto">
          <a:xfrm>
            <a:off x="2190750" y="15446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0" name="Line 5">
            <a:extLst>
              <a:ext uri="{FF2B5EF4-FFF2-40B4-BE49-F238E27FC236}">
                <a16:creationId xmlns:a16="http://schemas.microsoft.com/office/drawing/2014/main" id="{DE44B6B1-B499-A9DA-53FD-77CB80A9985A}"/>
              </a:ext>
            </a:extLst>
          </p:cNvPr>
          <p:cNvSpPr>
            <a:spLocks noChangeShapeType="1"/>
          </p:cNvSpPr>
          <p:nvPr/>
        </p:nvSpPr>
        <p:spPr bwMode="auto">
          <a:xfrm>
            <a:off x="2938463" y="15446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1" name="Line 6">
            <a:extLst>
              <a:ext uri="{FF2B5EF4-FFF2-40B4-BE49-F238E27FC236}">
                <a16:creationId xmlns:a16="http://schemas.microsoft.com/office/drawing/2014/main" id="{F6CB2629-F6BC-8817-BD48-A9B7792B2609}"/>
              </a:ext>
            </a:extLst>
          </p:cNvPr>
          <p:cNvSpPr>
            <a:spLocks noChangeShapeType="1"/>
          </p:cNvSpPr>
          <p:nvPr/>
        </p:nvSpPr>
        <p:spPr bwMode="auto">
          <a:xfrm>
            <a:off x="3667125" y="15446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2" name="Line 7">
            <a:extLst>
              <a:ext uri="{FF2B5EF4-FFF2-40B4-BE49-F238E27FC236}">
                <a16:creationId xmlns:a16="http://schemas.microsoft.com/office/drawing/2014/main" id="{916366D4-ED79-0AA5-EDA7-B4D56953922F}"/>
              </a:ext>
            </a:extLst>
          </p:cNvPr>
          <p:cNvSpPr>
            <a:spLocks noChangeShapeType="1"/>
          </p:cNvSpPr>
          <p:nvPr/>
        </p:nvSpPr>
        <p:spPr bwMode="auto">
          <a:xfrm>
            <a:off x="4379913" y="15446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3" name="Line 8">
            <a:extLst>
              <a:ext uri="{FF2B5EF4-FFF2-40B4-BE49-F238E27FC236}">
                <a16:creationId xmlns:a16="http://schemas.microsoft.com/office/drawing/2014/main" id="{9618C62A-CDBE-1B79-ADF4-5A243C453710}"/>
              </a:ext>
            </a:extLst>
          </p:cNvPr>
          <p:cNvSpPr>
            <a:spLocks noChangeShapeType="1"/>
          </p:cNvSpPr>
          <p:nvPr/>
        </p:nvSpPr>
        <p:spPr bwMode="auto">
          <a:xfrm>
            <a:off x="5057775" y="15446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4" name="Rectangle 9">
            <a:extLst>
              <a:ext uri="{FF2B5EF4-FFF2-40B4-BE49-F238E27FC236}">
                <a16:creationId xmlns:a16="http://schemas.microsoft.com/office/drawing/2014/main" id="{AE5A4EB9-6BE9-7F93-24F6-DDEE7F175867}"/>
              </a:ext>
            </a:extLst>
          </p:cNvPr>
          <p:cNvSpPr>
            <a:spLocks noChangeArrowheads="1"/>
          </p:cNvSpPr>
          <p:nvPr/>
        </p:nvSpPr>
        <p:spPr bwMode="auto">
          <a:xfrm>
            <a:off x="1600200" y="1125538"/>
            <a:ext cx="277177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超级块空闲盘块号表</a:t>
            </a:r>
          </a:p>
        </p:txBody>
      </p:sp>
      <p:sp>
        <p:nvSpPr>
          <p:cNvPr id="65545" name="Rectangle 10">
            <a:extLst>
              <a:ext uri="{FF2B5EF4-FFF2-40B4-BE49-F238E27FC236}">
                <a16:creationId xmlns:a16="http://schemas.microsoft.com/office/drawing/2014/main" id="{B0D99A0B-C3AF-8873-5F57-15C8FDF3AEE4}"/>
              </a:ext>
            </a:extLst>
          </p:cNvPr>
          <p:cNvSpPr>
            <a:spLocks noChangeArrowheads="1"/>
          </p:cNvSpPr>
          <p:nvPr/>
        </p:nvSpPr>
        <p:spPr bwMode="auto">
          <a:xfrm>
            <a:off x="1500188" y="2522538"/>
            <a:ext cx="6635750" cy="455612"/>
          </a:xfrm>
          <a:prstGeom prst="rect">
            <a:avLst/>
          </a:prstGeom>
          <a:solidFill>
            <a:srgbClr val="FFFFFF"/>
          </a:solidFill>
          <a:ln w="25400">
            <a:solidFill>
              <a:srgbClr val="000000"/>
            </a:solidFill>
            <a:miter lim="800000"/>
            <a:headEnd/>
            <a:tailEnd/>
          </a:ln>
        </p:spPr>
        <p:txBody>
          <a:bodyPr lIns="90000" tIns="46800" rIns="90000" bIns="46800"/>
          <a:lstStyle/>
          <a:p>
            <a:pPr algn="just" eaLnBrk="0" hangingPunct="0"/>
            <a:r>
              <a:rPr lang="zh-CN" altLang="en-US">
                <a:latin typeface="Times New Roman" panose="02020603050405020304" pitchFamily="18" charset="0"/>
              </a:rPr>
              <a:t>211   208    205             …                                   112</a:t>
            </a:r>
          </a:p>
        </p:txBody>
      </p:sp>
      <p:sp>
        <p:nvSpPr>
          <p:cNvPr id="65546" name="Line 11">
            <a:extLst>
              <a:ext uri="{FF2B5EF4-FFF2-40B4-BE49-F238E27FC236}">
                <a16:creationId xmlns:a16="http://schemas.microsoft.com/office/drawing/2014/main" id="{17F553B8-EB4C-3A54-D003-E228E363DA11}"/>
              </a:ext>
            </a:extLst>
          </p:cNvPr>
          <p:cNvSpPr>
            <a:spLocks noChangeShapeType="1"/>
          </p:cNvSpPr>
          <p:nvPr/>
        </p:nvSpPr>
        <p:spPr bwMode="auto">
          <a:xfrm>
            <a:off x="2190750" y="25225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7" name="Line 12">
            <a:extLst>
              <a:ext uri="{FF2B5EF4-FFF2-40B4-BE49-F238E27FC236}">
                <a16:creationId xmlns:a16="http://schemas.microsoft.com/office/drawing/2014/main" id="{6C412A50-7B32-9EEE-9143-7B225453FE3C}"/>
              </a:ext>
            </a:extLst>
          </p:cNvPr>
          <p:cNvSpPr>
            <a:spLocks noChangeShapeType="1"/>
          </p:cNvSpPr>
          <p:nvPr/>
        </p:nvSpPr>
        <p:spPr bwMode="auto">
          <a:xfrm>
            <a:off x="2938463" y="25225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8" name="Line 13">
            <a:extLst>
              <a:ext uri="{FF2B5EF4-FFF2-40B4-BE49-F238E27FC236}">
                <a16:creationId xmlns:a16="http://schemas.microsoft.com/office/drawing/2014/main" id="{4ED89723-308C-36DD-90BE-839ED074C3A5}"/>
              </a:ext>
            </a:extLst>
          </p:cNvPr>
          <p:cNvSpPr>
            <a:spLocks noChangeShapeType="1"/>
          </p:cNvSpPr>
          <p:nvPr/>
        </p:nvSpPr>
        <p:spPr bwMode="auto">
          <a:xfrm>
            <a:off x="3667125" y="25225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9" name="Line 14">
            <a:extLst>
              <a:ext uri="{FF2B5EF4-FFF2-40B4-BE49-F238E27FC236}">
                <a16:creationId xmlns:a16="http://schemas.microsoft.com/office/drawing/2014/main" id="{9022761E-600B-FC9F-A025-89BB82562120}"/>
              </a:ext>
            </a:extLst>
          </p:cNvPr>
          <p:cNvSpPr>
            <a:spLocks noChangeShapeType="1"/>
          </p:cNvSpPr>
          <p:nvPr/>
        </p:nvSpPr>
        <p:spPr bwMode="auto">
          <a:xfrm>
            <a:off x="7367588" y="2522538"/>
            <a:ext cx="0" cy="455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0" name="Rectangle 15">
            <a:extLst>
              <a:ext uri="{FF2B5EF4-FFF2-40B4-BE49-F238E27FC236}">
                <a16:creationId xmlns:a16="http://schemas.microsoft.com/office/drawing/2014/main" id="{4762DA3F-C3AB-2BA7-C3EE-3ED99A0CEB77}"/>
              </a:ext>
            </a:extLst>
          </p:cNvPr>
          <p:cNvSpPr>
            <a:spLocks noChangeArrowheads="1"/>
          </p:cNvSpPr>
          <p:nvPr/>
        </p:nvSpPr>
        <p:spPr bwMode="auto">
          <a:xfrm>
            <a:off x="1600200" y="2179638"/>
            <a:ext cx="487363"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109</a:t>
            </a:r>
          </a:p>
        </p:txBody>
      </p:sp>
      <p:sp>
        <p:nvSpPr>
          <p:cNvPr id="65551" name="Rectangle 16">
            <a:extLst>
              <a:ext uri="{FF2B5EF4-FFF2-40B4-BE49-F238E27FC236}">
                <a16:creationId xmlns:a16="http://schemas.microsoft.com/office/drawing/2014/main" id="{1C45553F-5597-CA3E-85DC-F4F92F357A31}"/>
              </a:ext>
            </a:extLst>
          </p:cNvPr>
          <p:cNvSpPr>
            <a:spLocks noChangeArrowheads="1"/>
          </p:cNvSpPr>
          <p:nvPr/>
        </p:nvSpPr>
        <p:spPr bwMode="auto">
          <a:xfrm>
            <a:off x="1517650" y="3441700"/>
            <a:ext cx="6635750" cy="455613"/>
          </a:xfrm>
          <a:prstGeom prst="rect">
            <a:avLst/>
          </a:prstGeom>
          <a:solidFill>
            <a:srgbClr val="FFFFFF"/>
          </a:solidFill>
          <a:ln w="25400">
            <a:solidFill>
              <a:srgbClr val="000000"/>
            </a:solidFill>
            <a:miter lim="800000"/>
            <a:headEnd/>
            <a:tailEnd/>
          </a:ln>
        </p:spPr>
        <p:txBody>
          <a:bodyPr lIns="90000" tIns="46800" rIns="90000" bIns="46800"/>
          <a:lstStyle/>
          <a:p>
            <a:pPr algn="just" eaLnBrk="0" hangingPunct="0"/>
            <a:r>
              <a:rPr lang="zh-CN" altLang="en-US">
                <a:latin typeface="Times New Roman" panose="02020603050405020304" pitchFamily="18" charset="0"/>
              </a:rPr>
              <a:t>310   307    304            …                                    214</a:t>
            </a:r>
          </a:p>
        </p:txBody>
      </p:sp>
      <p:sp>
        <p:nvSpPr>
          <p:cNvPr id="65552" name="Line 17">
            <a:extLst>
              <a:ext uri="{FF2B5EF4-FFF2-40B4-BE49-F238E27FC236}">
                <a16:creationId xmlns:a16="http://schemas.microsoft.com/office/drawing/2014/main" id="{2AA48D0F-00D8-11F7-6310-5674501B2140}"/>
              </a:ext>
            </a:extLst>
          </p:cNvPr>
          <p:cNvSpPr>
            <a:spLocks noChangeShapeType="1"/>
          </p:cNvSpPr>
          <p:nvPr/>
        </p:nvSpPr>
        <p:spPr bwMode="auto">
          <a:xfrm>
            <a:off x="2208213" y="3441700"/>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3" name="Line 18">
            <a:extLst>
              <a:ext uri="{FF2B5EF4-FFF2-40B4-BE49-F238E27FC236}">
                <a16:creationId xmlns:a16="http://schemas.microsoft.com/office/drawing/2014/main" id="{432283BF-593D-324F-D3A1-8DEE76FD1CBF}"/>
              </a:ext>
            </a:extLst>
          </p:cNvPr>
          <p:cNvSpPr>
            <a:spLocks noChangeShapeType="1"/>
          </p:cNvSpPr>
          <p:nvPr/>
        </p:nvSpPr>
        <p:spPr bwMode="auto">
          <a:xfrm>
            <a:off x="2955925" y="3441700"/>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4" name="Line 19">
            <a:extLst>
              <a:ext uri="{FF2B5EF4-FFF2-40B4-BE49-F238E27FC236}">
                <a16:creationId xmlns:a16="http://schemas.microsoft.com/office/drawing/2014/main" id="{B486A06E-9A91-0E10-861E-EC5F65166557}"/>
              </a:ext>
            </a:extLst>
          </p:cNvPr>
          <p:cNvSpPr>
            <a:spLocks noChangeShapeType="1"/>
          </p:cNvSpPr>
          <p:nvPr/>
        </p:nvSpPr>
        <p:spPr bwMode="auto">
          <a:xfrm>
            <a:off x="3684588" y="3441700"/>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5" name="Line 20">
            <a:extLst>
              <a:ext uri="{FF2B5EF4-FFF2-40B4-BE49-F238E27FC236}">
                <a16:creationId xmlns:a16="http://schemas.microsoft.com/office/drawing/2014/main" id="{E3B8E5D2-C87A-B7C7-F93A-73375C69F9D5}"/>
              </a:ext>
            </a:extLst>
          </p:cNvPr>
          <p:cNvSpPr>
            <a:spLocks noChangeShapeType="1"/>
          </p:cNvSpPr>
          <p:nvPr/>
        </p:nvSpPr>
        <p:spPr bwMode="auto">
          <a:xfrm>
            <a:off x="7385050" y="3441700"/>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6" name="Rectangle 21">
            <a:extLst>
              <a:ext uri="{FF2B5EF4-FFF2-40B4-BE49-F238E27FC236}">
                <a16:creationId xmlns:a16="http://schemas.microsoft.com/office/drawing/2014/main" id="{4B2BCBFC-DCE3-ACC9-4723-502BECB37A25}"/>
              </a:ext>
            </a:extLst>
          </p:cNvPr>
          <p:cNvSpPr>
            <a:spLocks noChangeArrowheads="1"/>
          </p:cNvSpPr>
          <p:nvPr/>
        </p:nvSpPr>
        <p:spPr bwMode="auto">
          <a:xfrm>
            <a:off x="1617663" y="3106738"/>
            <a:ext cx="487362"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211</a:t>
            </a:r>
          </a:p>
        </p:txBody>
      </p:sp>
      <p:sp>
        <p:nvSpPr>
          <p:cNvPr id="65557" name="Rectangle 22">
            <a:extLst>
              <a:ext uri="{FF2B5EF4-FFF2-40B4-BE49-F238E27FC236}">
                <a16:creationId xmlns:a16="http://schemas.microsoft.com/office/drawing/2014/main" id="{B476531F-C341-C717-7C6B-B1C82638F45E}"/>
              </a:ext>
            </a:extLst>
          </p:cNvPr>
          <p:cNvSpPr>
            <a:spLocks noChangeArrowheads="1"/>
          </p:cNvSpPr>
          <p:nvPr/>
        </p:nvSpPr>
        <p:spPr bwMode="auto">
          <a:xfrm>
            <a:off x="1517650" y="4359275"/>
            <a:ext cx="6635750" cy="455613"/>
          </a:xfrm>
          <a:prstGeom prst="rect">
            <a:avLst/>
          </a:prstGeom>
          <a:solidFill>
            <a:srgbClr val="FFFFFF"/>
          </a:solidFill>
          <a:ln w="25400">
            <a:solidFill>
              <a:srgbClr val="000000"/>
            </a:solidFill>
            <a:miter lim="800000"/>
            <a:headEnd/>
            <a:tailEnd/>
          </a:ln>
        </p:spPr>
        <p:txBody>
          <a:bodyPr lIns="90000" tIns="46800" rIns="90000" bIns="46800"/>
          <a:lstStyle/>
          <a:p>
            <a:pPr algn="just" eaLnBrk="0" hangingPunct="0"/>
            <a:r>
              <a:rPr lang="zh-CN" altLang="en-US">
                <a:latin typeface="Times New Roman" panose="02020603050405020304" pitchFamily="18" charset="0"/>
              </a:rPr>
              <a:t>409    406    403            …                                    313</a:t>
            </a:r>
          </a:p>
        </p:txBody>
      </p:sp>
      <p:sp>
        <p:nvSpPr>
          <p:cNvPr id="65558" name="Line 23">
            <a:extLst>
              <a:ext uri="{FF2B5EF4-FFF2-40B4-BE49-F238E27FC236}">
                <a16:creationId xmlns:a16="http://schemas.microsoft.com/office/drawing/2014/main" id="{07337F1F-BE7E-FAC6-B055-B3F9BE913CA4}"/>
              </a:ext>
            </a:extLst>
          </p:cNvPr>
          <p:cNvSpPr>
            <a:spLocks noChangeShapeType="1"/>
          </p:cNvSpPr>
          <p:nvPr/>
        </p:nvSpPr>
        <p:spPr bwMode="auto">
          <a:xfrm>
            <a:off x="2208213" y="4359275"/>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9" name="Line 24">
            <a:extLst>
              <a:ext uri="{FF2B5EF4-FFF2-40B4-BE49-F238E27FC236}">
                <a16:creationId xmlns:a16="http://schemas.microsoft.com/office/drawing/2014/main" id="{2F5FE16F-BFDD-A2D8-07A0-DE0416714DFB}"/>
              </a:ext>
            </a:extLst>
          </p:cNvPr>
          <p:cNvSpPr>
            <a:spLocks noChangeShapeType="1"/>
          </p:cNvSpPr>
          <p:nvPr/>
        </p:nvSpPr>
        <p:spPr bwMode="auto">
          <a:xfrm>
            <a:off x="2955925" y="4359275"/>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0" name="Line 25">
            <a:extLst>
              <a:ext uri="{FF2B5EF4-FFF2-40B4-BE49-F238E27FC236}">
                <a16:creationId xmlns:a16="http://schemas.microsoft.com/office/drawing/2014/main" id="{D35D1211-585A-9A9D-1B5E-8E8676F5E5AB}"/>
              </a:ext>
            </a:extLst>
          </p:cNvPr>
          <p:cNvSpPr>
            <a:spLocks noChangeShapeType="1"/>
          </p:cNvSpPr>
          <p:nvPr/>
        </p:nvSpPr>
        <p:spPr bwMode="auto">
          <a:xfrm>
            <a:off x="3684588" y="4359275"/>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1" name="Line 26">
            <a:extLst>
              <a:ext uri="{FF2B5EF4-FFF2-40B4-BE49-F238E27FC236}">
                <a16:creationId xmlns:a16="http://schemas.microsoft.com/office/drawing/2014/main" id="{AB4FA4B0-5DD1-374A-BDEB-721A3066034F}"/>
              </a:ext>
            </a:extLst>
          </p:cNvPr>
          <p:cNvSpPr>
            <a:spLocks noChangeShapeType="1"/>
          </p:cNvSpPr>
          <p:nvPr/>
        </p:nvSpPr>
        <p:spPr bwMode="auto">
          <a:xfrm>
            <a:off x="7385050" y="4359275"/>
            <a:ext cx="0" cy="455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2" name="Rectangle 27">
            <a:extLst>
              <a:ext uri="{FF2B5EF4-FFF2-40B4-BE49-F238E27FC236}">
                <a16:creationId xmlns:a16="http://schemas.microsoft.com/office/drawing/2014/main" id="{E9EEA4F0-B0FF-22B9-D392-263882D55019}"/>
              </a:ext>
            </a:extLst>
          </p:cNvPr>
          <p:cNvSpPr>
            <a:spLocks noChangeArrowheads="1"/>
          </p:cNvSpPr>
          <p:nvPr/>
        </p:nvSpPr>
        <p:spPr bwMode="auto">
          <a:xfrm>
            <a:off x="1617663" y="4021138"/>
            <a:ext cx="487362"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310</a:t>
            </a:r>
          </a:p>
        </p:txBody>
      </p:sp>
      <p:sp>
        <p:nvSpPr>
          <p:cNvPr id="65563" name="Freeform 28">
            <a:extLst>
              <a:ext uri="{FF2B5EF4-FFF2-40B4-BE49-F238E27FC236}">
                <a16:creationId xmlns:a16="http://schemas.microsoft.com/office/drawing/2014/main" id="{7E66C017-666E-3202-63C9-3B82154C13F3}"/>
              </a:ext>
            </a:extLst>
          </p:cNvPr>
          <p:cNvSpPr>
            <a:spLocks noChangeArrowheads="1"/>
          </p:cNvSpPr>
          <p:nvPr/>
        </p:nvSpPr>
        <p:spPr bwMode="auto">
          <a:xfrm>
            <a:off x="1198563" y="1998663"/>
            <a:ext cx="627062" cy="798512"/>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64" name="Freeform 29">
            <a:extLst>
              <a:ext uri="{FF2B5EF4-FFF2-40B4-BE49-F238E27FC236}">
                <a16:creationId xmlns:a16="http://schemas.microsoft.com/office/drawing/2014/main" id="{38AD923D-BD38-0EEF-E70E-3893276951BC}"/>
              </a:ext>
            </a:extLst>
          </p:cNvPr>
          <p:cNvSpPr>
            <a:spLocks noChangeArrowheads="1"/>
          </p:cNvSpPr>
          <p:nvPr/>
        </p:nvSpPr>
        <p:spPr bwMode="auto">
          <a:xfrm>
            <a:off x="1198563" y="2962275"/>
            <a:ext cx="627062" cy="798513"/>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65" name="Freeform 30">
            <a:extLst>
              <a:ext uri="{FF2B5EF4-FFF2-40B4-BE49-F238E27FC236}">
                <a16:creationId xmlns:a16="http://schemas.microsoft.com/office/drawing/2014/main" id="{9B42C3FC-CD9D-67CC-3F90-DE99E6AC9807}"/>
              </a:ext>
            </a:extLst>
          </p:cNvPr>
          <p:cNvSpPr>
            <a:spLocks noChangeArrowheads="1"/>
          </p:cNvSpPr>
          <p:nvPr/>
        </p:nvSpPr>
        <p:spPr bwMode="auto">
          <a:xfrm>
            <a:off x="1198563" y="3911600"/>
            <a:ext cx="627062" cy="796925"/>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66" name="Line 31">
            <a:extLst>
              <a:ext uri="{FF2B5EF4-FFF2-40B4-BE49-F238E27FC236}">
                <a16:creationId xmlns:a16="http://schemas.microsoft.com/office/drawing/2014/main" id="{8CBD735D-2B98-237B-1436-87EAC01A1D27}"/>
              </a:ext>
            </a:extLst>
          </p:cNvPr>
          <p:cNvSpPr>
            <a:spLocks noChangeShapeType="1"/>
          </p:cNvSpPr>
          <p:nvPr/>
        </p:nvSpPr>
        <p:spPr bwMode="auto">
          <a:xfrm>
            <a:off x="1843088" y="4813300"/>
            <a:ext cx="0" cy="42703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34BBCC21-1334-0AD2-F0BB-20B4DBB25E80}"/>
              </a:ext>
            </a:extLst>
          </p:cNvPr>
          <p:cNvSpPr>
            <a:spLocks noGrp="1"/>
          </p:cNvSpPr>
          <p:nvPr>
            <p:ph type="sldNum" sz="quarter" idx="12"/>
          </p:nvPr>
        </p:nvSpPr>
        <p:spPr/>
        <p:txBody>
          <a:bodyPr/>
          <a:lstStyle/>
          <a:p>
            <a:fld id="{4093CC90-4002-504C-BD88-C9A1D374048E}" type="slidenum">
              <a:rPr lang="zh-CN" altLang="en-US" smtClean="0"/>
              <a:pPr/>
              <a:t>139</a:t>
            </a:fld>
            <a:endParaRPr lang="zh-CN" altLang="en-US" dirty="0"/>
          </a:p>
        </p:txBody>
      </p:sp>
    </p:spTree>
  </p:cSld>
  <p:clrMapOvr>
    <a:masterClrMapping/>
  </p:clrMapOvr>
  <p:transition spd="med">
    <p:zoom/>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B028272-4CB4-2CD3-DF7A-A824C91FD580}"/>
              </a:ext>
            </a:extLst>
          </p:cNvPr>
          <p:cNvSpPr>
            <a:spLocks noGrp="1" noChangeArrowheads="1"/>
          </p:cNvSpPr>
          <p:nvPr>
            <p:ph type="title"/>
          </p:nvPr>
        </p:nvSpPr>
        <p:spPr/>
        <p:txBody>
          <a:bodyPr/>
          <a:lstStyle/>
          <a:p>
            <a:pPr eaLnBrk="1" hangingPunct="1"/>
            <a:r>
              <a:rPr lang="zh-CN" altLang="en-US"/>
              <a:t>空闲盘块的分配</a:t>
            </a:r>
          </a:p>
        </p:txBody>
      </p:sp>
      <p:sp>
        <p:nvSpPr>
          <p:cNvPr id="405507" name="Rectangle 3">
            <a:extLst>
              <a:ext uri="{FF2B5EF4-FFF2-40B4-BE49-F238E27FC236}">
                <a16:creationId xmlns:a16="http://schemas.microsoft.com/office/drawing/2014/main" id="{4C189D64-CD89-60AE-383C-D3AA4B212DFA}"/>
              </a:ext>
            </a:extLst>
          </p:cNvPr>
          <p:cNvSpPr>
            <a:spLocks noGrp="1" noChangeArrowheads="1"/>
          </p:cNvSpPr>
          <p:nvPr>
            <p:ph idx="1"/>
          </p:nvPr>
        </p:nvSpPr>
        <p:spPr>
          <a:xfrm>
            <a:off x="685800" y="1196975"/>
            <a:ext cx="8269288" cy="4114800"/>
          </a:xfrm>
        </p:spPr>
        <p:txBody>
          <a:bodyPr/>
          <a:lstStyle/>
          <a:p>
            <a:pPr algn="just" eaLnBrk="1" hangingPunct="1"/>
            <a:r>
              <a:rPr lang="zh-CN" altLang="en-US"/>
              <a:t>当要分配一个盘块时，首先将超级块空闲盘块号表中下一个可用盘块分配出去；</a:t>
            </a:r>
          </a:p>
          <a:p>
            <a:pPr algn="just" eaLnBrk="1" hangingPunct="1"/>
            <a:r>
              <a:rPr lang="zh-CN" altLang="en-US"/>
              <a:t>如果所分配盘块号是超级块中最后一个可用盘块号，则先将该盘块中的内容读入超级块空闲盘块号表中，然后才将该盘块分配出去。</a:t>
            </a:r>
          </a:p>
        </p:txBody>
      </p:sp>
      <p:sp>
        <p:nvSpPr>
          <p:cNvPr id="2" name="灯片编号占位符 1">
            <a:extLst>
              <a:ext uri="{FF2B5EF4-FFF2-40B4-BE49-F238E27FC236}">
                <a16:creationId xmlns:a16="http://schemas.microsoft.com/office/drawing/2014/main" id="{2BC4BA5B-9360-1393-E425-029812228E0A}"/>
              </a:ext>
            </a:extLst>
          </p:cNvPr>
          <p:cNvSpPr>
            <a:spLocks noGrp="1"/>
          </p:cNvSpPr>
          <p:nvPr>
            <p:ph type="sldNum" sz="quarter" idx="12"/>
          </p:nvPr>
        </p:nvSpPr>
        <p:spPr/>
        <p:txBody>
          <a:bodyPr/>
          <a:lstStyle/>
          <a:p>
            <a:fld id="{4093CC90-4002-504C-BD88-C9A1D374048E}" type="slidenum">
              <a:rPr lang="zh-CN" altLang="en-US" smtClean="0"/>
              <a:pPr/>
              <a:t>140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5507">
                                            <p:txEl>
                                              <p:pRg st="0" end="0"/>
                                            </p:txEl>
                                          </p:spTgt>
                                        </p:tgtEl>
                                        <p:attrNameLst>
                                          <p:attrName>style.visibility</p:attrName>
                                        </p:attrNameLst>
                                      </p:cBhvr>
                                      <p:to>
                                        <p:strVal val="visible"/>
                                      </p:to>
                                    </p:set>
                                    <p:animEffect transition="in" filter="checkerboard(across)">
                                      <p:cBhvr>
                                        <p:cTn id="7" dur="500"/>
                                        <p:tgtEl>
                                          <p:spTgt spid="405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5507">
                                            <p:txEl>
                                              <p:pRg st="1" end="1"/>
                                            </p:txEl>
                                          </p:spTgt>
                                        </p:tgtEl>
                                        <p:attrNameLst>
                                          <p:attrName>style.visibility</p:attrName>
                                        </p:attrNameLst>
                                      </p:cBhvr>
                                      <p:to>
                                        <p:strVal val="visible"/>
                                      </p:to>
                                    </p:set>
                                    <p:animEffect transition="in" filter="checkerboard(across)">
                                      <p:cBhvr>
                                        <p:cTn id="12" dur="500"/>
                                        <p:tgtEl>
                                          <p:spTgt spid="4055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4F85C8AF-1DC4-B2B4-F16C-107F05103BF0}"/>
              </a:ext>
            </a:extLst>
          </p:cNvPr>
          <p:cNvSpPr>
            <a:spLocks noGrp="1" noChangeArrowheads="1"/>
          </p:cNvSpPr>
          <p:nvPr>
            <p:ph type="title"/>
          </p:nvPr>
        </p:nvSpPr>
        <p:spPr/>
        <p:txBody>
          <a:bodyPr/>
          <a:lstStyle/>
          <a:p>
            <a:pPr eaLnBrk="1" hangingPunct="1"/>
            <a:r>
              <a:rPr lang="zh-CN" altLang="en-US" sz="4000"/>
              <a:t>分配超级块中最后一个盘块号例</a:t>
            </a:r>
          </a:p>
        </p:txBody>
      </p:sp>
      <p:sp>
        <p:nvSpPr>
          <p:cNvPr id="67586" name="Rectangle 3">
            <a:extLst>
              <a:ext uri="{FF2B5EF4-FFF2-40B4-BE49-F238E27FC236}">
                <a16:creationId xmlns:a16="http://schemas.microsoft.com/office/drawing/2014/main" id="{98CD9EFB-80C6-C770-258A-FF8FE26F2AC1}"/>
              </a:ext>
            </a:extLst>
          </p:cNvPr>
          <p:cNvSpPr>
            <a:spLocks noGrp="1" noChangeArrowheads="1"/>
          </p:cNvSpPr>
          <p:nvPr>
            <p:ph idx="1"/>
          </p:nvPr>
        </p:nvSpPr>
        <p:spPr>
          <a:xfrm>
            <a:off x="328613" y="1268413"/>
            <a:ext cx="7772400" cy="496887"/>
          </a:xfrm>
        </p:spPr>
        <p:txBody>
          <a:bodyPr/>
          <a:lstStyle/>
          <a:p>
            <a:pPr eaLnBrk="1" hangingPunct="1">
              <a:lnSpc>
                <a:spcPct val="90000"/>
              </a:lnSpc>
            </a:pPr>
            <a:r>
              <a:rPr lang="zh-CN" altLang="en-US" sz="2800"/>
              <a:t>分配前                            分配后</a:t>
            </a:r>
          </a:p>
        </p:txBody>
      </p:sp>
      <p:sp>
        <p:nvSpPr>
          <p:cNvPr id="67587" name="Rectangle 4">
            <a:extLst>
              <a:ext uri="{FF2B5EF4-FFF2-40B4-BE49-F238E27FC236}">
                <a16:creationId xmlns:a16="http://schemas.microsoft.com/office/drawing/2014/main" id="{28279C42-FFC8-4063-5876-75D1292B0458}"/>
              </a:ext>
            </a:extLst>
          </p:cNvPr>
          <p:cNvSpPr>
            <a:spLocks noChangeArrowheads="1"/>
          </p:cNvSpPr>
          <p:nvPr/>
        </p:nvSpPr>
        <p:spPr bwMode="auto">
          <a:xfrm>
            <a:off x="265113" y="2457450"/>
            <a:ext cx="3959225" cy="430213"/>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109</a:t>
            </a:r>
          </a:p>
        </p:txBody>
      </p:sp>
      <p:sp>
        <p:nvSpPr>
          <p:cNvPr id="67588" name="Line 5">
            <a:extLst>
              <a:ext uri="{FF2B5EF4-FFF2-40B4-BE49-F238E27FC236}">
                <a16:creationId xmlns:a16="http://schemas.microsoft.com/office/drawing/2014/main" id="{DAB0EA50-B139-CB89-796B-3519E77FF6A8}"/>
              </a:ext>
            </a:extLst>
          </p:cNvPr>
          <p:cNvSpPr>
            <a:spLocks noChangeShapeType="1"/>
          </p:cNvSpPr>
          <p:nvPr/>
        </p:nvSpPr>
        <p:spPr bwMode="auto">
          <a:xfrm>
            <a:off x="762000" y="24574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9" name="Line 6">
            <a:extLst>
              <a:ext uri="{FF2B5EF4-FFF2-40B4-BE49-F238E27FC236}">
                <a16:creationId xmlns:a16="http://schemas.microsoft.com/office/drawing/2014/main" id="{73277344-E560-5F37-22B6-5FF6C0EFA154}"/>
              </a:ext>
            </a:extLst>
          </p:cNvPr>
          <p:cNvSpPr>
            <a:spLocks noChangeShapeType="1"/>
          </p:cNvSpPr>
          <p:nvPr/>
        </p:nvSpPr>
        <p:spPr bwMode="auto">
          <a:xfrm>
            <a:off x="1219200" y="24574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0" name="Line 7">
            <a:extLst>
              <a:ext uri="{FF2B5EF4-FFF2-40B4-BE49-F238E27FC236}">
                <a16:creationId xmlns:a16="http://schemas.microsoft.com/office/drawing/2014/main" id="{594DDDA7-8B4F-2632-90DB-9587625BF2F6}"/>
              </a:ext>
            </a:extLst>
          </p:cNvPr>
          <p:cNvSpPr>
            <a:spLocks noChangeShapeType="1"/>
          </p:cNvSpPr>
          <p:nvPr/>
        </p:nvSpPr>
        <p:spPr bwMode="auto">
          <a:xfrm>
            <a:off x="1752600" y="24574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1" name="Line 8">
            <a:extLst>
              <a:ext uri="{FF2B5EF4-FFF2-40B4-BE49-F238E27FC236}">
                <a16:creationId xmlns:a16="http://schemas.microsoft.com/office/drawing/2014/main" id="{D6A2C3BA-A2BB-0AD2-A66D-69A0753D40F4}"/>
              </a:ext>
            </a:extLst>
          </p:cNvPr>
          <p:cNvSpPr>
            <a:spLocks noChangeShapeType="1"/>
          </p:cNvSpPr>
          <p:nvPr/>
        </p:nvSpPr>
        <p:spPr bwMode="auto">
          <a:xfrm>
            <a:off x="2209800" y="24574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2" name="Line 9">
            <a:extLst>
              <a:ext uri="{FF2B5EF4-FFF2-40B4-BE49-F238E27FC236}">
                <a16:creationId xmlns:a16="http://schemas.microsoft.com/office/drawing/2014/main" id="{33CAFEAF-D21D-52A9-2BB2-7E1A5620742F}"/>
              </a:ext>
            </a:extLst>
          </p:cNvPr>
          <p:cNvSpPr>
            <a:spLocks noChangeShapeType="1"/>
          </p:cNvSpPr>
          <p:nvPr/>
        </p:nvSpPr>
        <p:spPr bwMode="auto">
          <a:xfrm>
            <a:off x="2667000" y="24574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3" name="Rectangle 10">
            <a:extLst>
              <a:ext uri="{FF2B5EF4-FFF2-40B4-BE49-F238E27FC236}">
                <a16:creationId xmlns:a16="http://schemas.microsoft.com/office/drawing/2014/main" id="{DCB9875E-07D7-973B-1D88-88B6A78AA329}"/>
              </a:ext>
            </a:extLst>
          </p:cNvPr>
          <p:cNvSpPr>
            <a:spLocks noChangeArrowheads="1"/>
          </p:cNvSpPr>
          <p:nvPr/>
        </p:nvSpPr>
        <p:spPr bwMode="auto">
          <a:xfrm>
            <a:off x="327025" y="2057400"/>
            <a:ext cx="24161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超级块空闲盘块号表</a:t>
            </a:r>
          </a:p>
        </p:txBody>
      </p:sp>
      <p:sp>
        <p:nvSpPr>
          <p:cNvPr id="67594" name="Rectangle 11">
            <a:extLst>
              <a:ext uri="{FF2B5EF4-FFF2-40B4-BE49-F238E27FC236}">
                <a16:creationId xmlns:a16="http://schemas.microsoft.com/office/drawing/2014/main" id="{8AA9887D-172F-225C-1D08-08D61224120A}"/>
              </a:ext>
            </a:extLst>
          </p:cNvPr>
          <p:cNvSpPr>
            <a:spLocks noChangeArrowheads="1"/>
          </p:cNvSpPr>
          <p:nvPr/>
        </p:nvSpPr>
        <p:spPr bwMode="auto">
          <a:xfrm>
            <a:off x="265113" y="3379788"/>
            <a:ext cx="3959225" cy="430212"/>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211  208  205      </a:t>
            </a:r>
            <a:r>
              <a:rPr lang="zh-CN" altLang="en-US" sz="2000" b="1">
                <a:latin typeface="Times New Roman" panose="02020603050405020304" pitchFamily="18" charset="0"/>
              </a:rPr>
              <a:t>…  </a:t>
            </a:r>
            <a:r>
              <a:rPr lang="zh-CN" altLang="en-US" sz="2000">
                <a:latin typeface="Times New Roman" panose="02020603050405020304" pitchFamily="18" charset="0"/>
              </a:rPr>
              <a:t>                    112</a:t>
            </a:r>
          </a:p>
        </p:txBody>
      </p:sp>
      <p:sp>
        <p:nvSpPr>
          <p:cNvPr id="67595" name="Line 12">
            <a:extLst>
              <a:ext uri="{FF2B5EF4-FFF2-40B4-BE49-F238E27FC236}">
                <a16:creationId xmlns:a16="http://schemas.microsoft.com/office/drawing/2014/main" id="{0D098D4F-6B68-FDE1-2C47-9DDD229C9693}"/>
              </a:ext>
            </a:extLst>
          </p:cNvPr>
          <p:cNvSpPr>
            <a:spLocks noChangeShapeType="1"/>
          </p:cNvSpPr>
          <p:nvPr/>
        </p:nvSpPr>
        <p:spPr bwMode="auto">
          <a:xfrm>
            <a:off x="762000" y="3379788"/>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6" name="Line 13">
            <a:extLst>
              <a:ext uri="{FF2B5EF4-FFF2-40B4-BE49-F238E27FC236}">
                <a16:creationId xmlns:a16="http://schemas.microsoft.com/office/drawing/2014/main" id="{23AFFB8B-32E6-866E-20F8-BA81F4F17EE4}"/>
              </a:ext>
            </a:extLst>
          </p:cNvPr>
          <p:cNvSpPr>
            <a:spLocks noChangeShapeType="1"/>
          </p:cNvSpPr>
          <p:nvPr/>
        </p:nvSpPr>
        <p:spPr bwMode="auto">
          <a:xfrm>
            <a:off x="1219200" y="3379788"/>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7" name="Line 14">
            <a:extLst>
              <a:ext uri="{FF2B5EF4-FFF2-40B4-BE49-F238E27FC236}">
                <a16:creationId xmlns:a16="http://schemas.microsoft.com/office/drawing/2014/main" id="{F5AA613C-D44E-0EDB-4410-44444EAF1A26}"/>
              </a:ext>
            </a:extLst>
          </p:cNvPr>
          <p:cNvSpPr>
            <a:spLocks noChangeShapeType="1"/>
          </p:cNvSpPr>
          <p:nvPr/>
        </p:nvSpPr>
        <p:spPr bwMode="auto">
          <a:xfrm>
            <a:off x="1752600" y="3379788"/>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8" name="Line 15">
            <a:extLst>
              <a:ext uri="{FF2B5EF4-FFF2-40B4-BE49-F238E27FC236}">
                <a16:creationId xmlns:a16="http://schemas.microsoft.com/office/drawing/2014/main" id="{527634F0-62A3-76C6-5639-C7148910ED9C}"/>
              </a:ext>
            </a:extLst>
          </p:cNvPr>
          <p:cNvSpPr>
            <a:spLocks noChangeShapeType="1"/>
          </p:cNvSpPr>
          <p:nvPr/>
        </p:nvSpPr>
        <p:spPr bwMode="auto">
          <a:xfrm>
            <a:off x="3657600" y="3379788"/>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9" name="Rectangle 16">
            <a:extLst>
              <a:ext uri="{FF2B5EF4-FFF2-40B4-BE49-F238E27FC236}">
                <a16:creationId xmlns:a16="http://schemas.microsoft.com/office/drawing/2014/main" id="{5A5FC2B4-A72E-9728-0D83-30EF606A1BE7}"/>
              </a:ext>
            </a:extLst>
          </p:cNvPr>
          <p:cNvSpPr>
            <a:spLocks noChangeArrowheads="1"/>
          </p:cNvSpPr>
          <p:nvPr/>
        </p:nvSpPr>
        <p:spPr bwMode="auto">
          <a:xfrm>
            <a:off x="327025" y="3084513"/>
            <a:ext cx="414338"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109</a:t>
            </a:r>
          </a:p>
        </p:txBody>
      </p:sp>
      <p:sp>
        <p:nvSpPr>
          <p:cNvPr id="67600" name="Rectangle 17">
            <a:extLst>
              <a:ext uri="{FF2B5EF4-FFF2-40B4-BE49-F238E27FC236}">
                <a16:creationId xmlns:a16="http://schemas.microsoft.com/office/drawing/2014/main" id="{6081A49F-BEAB-4149-17EF-28787FC2F151}"/>
              </a:ext>
            </a:extLst>
          </p:cNvPr>
          <p:cNvSpPr>
            <a:spLocks noChangeArrowheads="1"/>
          </p:cNvSpPr>
          <p:nvPr/>
        </p:nvSpPr>
        <p:spPr bwMode="auto">
          <a:xfrm>
            <a:off x="274638" y="4246563"/>
            <a:ext cx="3959225" cy="430212"/>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310  307  304         </a:t>
            </a:r>
            <a:r>
              <a:rPr lang="zh-CN" altLang="en-US" sz="2000" b="1">
                <a:latin typeface="Times New Roman" panose="02020603050405020304" pitchFamily="18" charset="0"/>
              </a:rPr>
              <a:t>… </a:t>
            </a:r>
            <a:r>
              <a:rPr lang="zh-CN" altLang="en-US" sz="2000">
                <a:latin typeface="Times New Roman" panose="02020603050405020304" pitchFamily="18" charset="0"/>
              </a:rPr>
              <a:t>                  214</a:t>
            </a:r>
          </a:p>
        </p:txBody>
      </p:sp>
      <p:sp>
        <p:nvSpPr>
          <p:cNvPr id="67601" name="Line 18">
            <a:extLst>
              <a:ext uri="{FF2B5EF4-FFF2-40B4-BE49-F238E27FC236}">
                <a16:creationId xmlns:a16="http://schemas.microsoft.com/office/drawing/2014/main" id="{3A0DDFED-3215-64E2-175B-D5C552283F46}"/>
              </a:ext>
            </a:extLst>
          </p:cNvPr>
          <p:cNvSpPr>
            <a:spLocks noChangeShapeType="1"/>
          </p:cNvSpPr>
          <p:nvPr/>
        </p:nvSpPr>
        <p:spPr bwMode="auto">
          <a:xfrm>
            <a:off x="762000" y="4246563"/>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2" name="Line 19">
            <a:extLst>
              <a:ext uri="{FF2B5EF4-FFF2-40B4-BE49-F238E27FC236}">
                <a16:creationId xmlns:a16="http://schemas.microsoft.com/office/drawing/2014/main" id="{AB3AFB3E-2D70-22E2-35D4-2CCD8306C85A}"/>
              </a:ext>
            </a:extLst>
          </p:cNvPr>
          <p:cNvSpPr>
            <a:spLocks noChangeShapeType="1"/>
          </p:cNvSpPr>
          <p:nvPr/>
        </p:nvSpPr>
        <p:spPr bwMode="auto">
          <a:xfrm>
            <a:off x="1219200" y="4246563"/>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3" name="Line 20">
            <a:extLst>
              <a:ext uri="{FF2B5EF4-FFF2-40B4-BE49-F238E27FC236}">
                <a16:creationId xmlns:a16="http://schemas.microsoft.com/office/drawing/2014/main" id="{8CA8A9E3-E2C6-E1F2-5B92-89535F18BD38}"/>
              </a:ext>
            </a:extLst>
          </p:cNvPr>
          <p:cNvSpPr>
            <a:spLocks noChangeShapeType="1"/>
          </p:cNvSpPr>
          <p:nvPr/>
        </p:nvSpPr>
        <p:spPr bwMode="auto">
          <a:xfrm>
            <a:off x="1752600" y="4246563"/>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4" name="Line 21">
            <a:extLst>
              <a:ext uri="{FF2B5EF4-FFF2-40B4-BE49-F238E27FC236}">
                <a16:creationId xmlns:a16="http://schemas.microsoft.com/office/drawing/2014/main" id="{DEBB25E6-972B-0860-0651-604AFE8E2252}"/>
              </a:ext>
            </a:extLst>
          </p:cNvPr>
          <p:cNvSpPr>
            <a:spLocks noChangeShapeType="1"/>
          </p:cNvSpPr>
          <p:nvPr/>
        </p:nvSpPr>
        <p:spPr bwMode="auto">
          <a:xfrm>
            <a:off x="3657600" y="4246563"/>
            <a:ext cx="0" cy="430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5" name="Rectangle 22">
            <a:extLst>
              <a:ext uri="{FF2B5EF4-FFF2-40B4-BE49-F238E27FC236}">
                <a16:creationId xmlns:a16="http://schemas.microsoft.com/office/drawing/2014/main" id="{6A286211-66E2-566B-80B6-89349DCFAD91}"/>
              </a:ext>
            </a:extLst>
          </p:cNvPr>
          <p:cNvSpPr>
            <a:spLocks noChangeArrowheads="1"/>
          </p:cNvSpPr>
          <p:nvPr/>
        </p:nvSpPr>
        <p:spPr bwMode="auto">
          <a:xfrm>
            <a:off x="338138" y="3951288"/>
            <a:ext cx="409575"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211</a:t>
            </a:r>
          </a:p>
        </p:txBody>
      </p:sp>
      <p:sp>
        <p:nvSpPr>
          <p:cNvPr id="67606" name="Rectangle 23">
            <a:extLst>
              <a:ext uri="{FF2B5EF4-FFF2-40B4-BE49-F238E27FC236}">
                <a16:creationId xmlns:a16="http://schemas.microsoft.com/office/drawing/2014/main" id="{77396AEA-5EF0-3C0F-47EA-F8E8FD7A8BA6}"/>
              </a:ext>
            </a:extLst>
          </p:cNvPr>
          <p:cNvSpPr>
            <a:spLocks noChangeArrowheads="1"/>
          </p:cNvSpPr>
          <p:nvPr/>
        </p:nvSpPr>
        <p:spPr bwMode="auto">
          <a:xfrm>
            <a:off x="274638" y="5111750"/>
            <a:ext cx="3959225" cy="430213"/>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409  406  403        </a:t>
            </a:r>
            <a:r>
              <a:rPr lang="zh-CN" altLang="en-US" sz="2000" b="1">
                <a:latin typeface="Times New Roman" panose="02020603050405020304" pitchFamily="18" charset="0"/>
              </a:rPr>
              <a:t> …  </a:t>
            </a:r>
            <a:r>
              <a:rPr lang="zh-CN" altLang="en-US" sz="2000">
                <a:latin typeface="Times New Roman" panose="02020603050405020304" pitchFamily="18" charset="0"/>
              </a:rPr>
              <a:t>                 313</a:t>
            </a:r>
          </a:p>
        </p:txBody>
      </p:sp>
      <p:sp>
        <p:nvSpPr>
          <p:cNvPr id="67607" name="Line 24">
            <a:extLst>
              <a:ext uri="{FF2B5EF4-FFF2-40B4-BE49-F238E27FC236}">
                <a16:creationId xmlns:a16="http://schemas.microsoft.com/office/drawing/2014/main" id="{177869BC-1E7D-12D7-342F-E79073A6FC67}"/>
              </a:ext>
            </a:extLst>
          </p:cNvPr>
          <p:cNvSpPr>
            <a:spLocks noChangeShapeType="1"/>
          </p:cNvSpPr>
          <p:nvPr/>
        </p:nvSpPr>
        <p:spPr bwMode="auto">
          <a:xfrm>
            <a:off x="762000" y="51117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8" name="Line 25">
            <a:extLst>
              <a:ext uri="{FF2B5EF4-FFF2-40B4-BE49-F238E27FC236}">
                <a16:creationId xmlns:a16="http://schemas.microsoft.com/office/drawing/2014/main" id="{14C3BECA-D609-5248-943C-4A5B9F564F66}"/>
              </a:ext>
            </a:extLst>
          </p:cNvPr>
          <p:cNvSpPr>
            <a:spLocks noChangeShapeType="1"/>
          </p:cNvSpPr>
          <p:nvPr/>
        </p:nvSpPr>
        <p:spPr bwMode="auto">
          <a:xfrm>
            <a:off x="1219200" y="51117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9" name="Line 26">
            <a:extLst>
              <a:ext uri="{FF2B5EF4-FFF2-40B4-BE49-F238E27FC236}">
                <a16:creationId xmlns:a16="http://schemas.microsoft.com/office/drawing/2014/main" id="{15038C6C-7ED2-090B-B47C-CAED087D23EF}"/>
              </a:ext>
            </a:extLst>
          </p:cNvPr>
          <p:cNvSpPr>
            <a:spLocks noChangeShapeType="1"/>
          </p:cNvSpPr>
          <p:nvPr/>
        </p:nvSpPr>
        <p:spPr bwMode="auto">
          <a:xfrm>
            <a:off x="1752600" y="51117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10" name="Line 27">
            <a:extLst>
              <a:ext uri="{FF2B5EF4-FFF2-40B4-BE49-F238E27FC236}">
                <a16:creationId xmlns:a16="http://schemas.microsoft.com/office/drawing/2014/main" id="{35DB8EFF-5758-6CCA-13B0-344E49DB3761}"/>
              </a:ext>
            </a:extLst>
          </p:cNvPr>
          <p:cNvSpPr>
            <a:spLocks noChangeShapeType="1"/>
          </p:cNvSpPr>
          <p:nvPr/>
        </p:nvSpPr>
        <p:spPr bwMode="auto">
          <a:xfrm>
            <a:off x="3657600" y="5111750"/>
            <a:ext cx="0" cy="4302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11" name="Rectangle 28">
            <a:extLst>
              <a:ext uri="{FF2B5EF4-FFF2-40B4-BE49-F238E27FC236}">
                <a16:creationId xmlns:a16="http://schemas.microsoft.com/office/drawing/2014/main" id="{5AE56CA0-1F26-CAC4-C83C-2E18F2B031A6}"/>
              </a:ext>
            </a:extLst>
          </p:cNvPr>
          <p:cNvSpPr>
            <a:spLocks noChangeArrowheads="1"/>
          </p:cNvSpPr>
          <p:nvPr/>
        </p:nvSpPr>
        <p:spPr bwMode="auto">
          <a:xfrm>
            <a:off x="338138" y="4816475"/>
            <a:ext cx="4095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310</a:t>
            </a:r>
          </a:p>
        </p:txBody>
      </p:sp>
      <p:sp>
        <p:nvSpPr>
          <p:cNvPr id="67612" name="Freeform 29">
            <a:extLst>
              <a:ext uri="{FF2B5EF4-FFF2-40B4-BE49-F238E27FC236}">
                <a16:creationId xmlns:a16="http://schemas.microsoft.com/office/drawing/2014/main" id="{EDADAD74-E768-2828-A596-BBAABFD72EFA}"/>
              </a:ext>
            </a:extLst>
          </p:cNvPr>
          <p:cNvSpPr>
            <a:spLocks noChangeArrowheads="1"/>
          </p:cNvSpPr>
          <p:nvPr/>
        </p:nvSpPr>
        <p:spPr bwMode="auto">
          <a:xfrm>
            <a:off x="76200" y="2886075"/>
            <a:ext cx="392113" cy="752475"/>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13" name="Freeform 30">
            <a:extLst>
              <a:ext uri="{FF2B5EF4-FFF2-40B4-BE49-F238E27FC236}">
                <a16:creationId xmlns:a16="http://schemas.microsoft.com/office/drawing/2014/main" id="{7BD3CE0C-D7B2-24DC-6276-5DED2E2E93A7}"/>
              </a:ext>
            </a:extLst>
          </p:cNvPr>
          <p:cNvSpPr>
            <a:spLocks noChangeArrowheads="1"/>
          </p:cNvSpPr>
          <p:nvPr/>
        </p:nvSpPr>
        <p:spPr bwMode="auto">
          <a:xfrm>
            <a:off x="76200" y="3794125"/>
            <a:ext cx="392113" cy="752475"/>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14" name="Freeform 31">
            <a:extLst>
              <a:ext uri="{FF2B5EF4-FFF2-40B4-BE49-F238E27FC236}">
                <a16:creationId xmlns:a16="http://schemas.microsoft.com/office/drawing/2014/main" id="{EC6E8FE1-D968-80BF-8EF8-8536C1AA2AF8}"/>
              </a:ext>
            </a:extLst>
          </p:cNvPr>
          <p:cNvSpPr>
            <a:spLocks noChangeArrowheads="1"/>
          </p:cNvSpPr>
          <p:nvPr/>
        </p:nvSpPr>
        <p:spPr bwMode="auto">
          <a:xfrm>
            <a:off x="76200" y="4689475"/>
            <a:ext cx="392113" cy="752475"/>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15" name="Line 32">
            <a:extLst>
              <a:ext uri="{FF2B5EF4-FFF2-40B4-BE49-F238E27FC236}">
                <a16:creationId xmlns:a16="http://schemas.microsoft.com/office/drawing/2014/main" id="{AD2F229F-B93C-21FD-EFD8-12493E876F9D}"/>
              </a:ext>
            </a:extLst>
          </p:cNvPr>
          <p:cNvSpPr>
            <a:spLocks noChangeShapeType="1"/>
          </p:cNvSpPr>
          <p:nvPr/>
        </p:nvSpPr>
        <p:spPr bwMode="auto">
          <a:xfrm>
            <a:off x="479425" y="5541963"/>
            <a:ext cx="0" cy="40163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7616" name="Rectangle 33">
            <a:extLst>
              <a:ext uri="{FF2B5EF4-FFF2-40B4-BE49-F238E27FC236}">
                <a16:creationId xmlns:a16="http://schemas.microsoft.com/office/drawing/2014/main" id="{CD6A2D30-A864-1EEA-3C75-D79E7BF0247F}"/>
              </a:ext>
            </a:extLst>
          </p:cNvPr>
          <p:cNvSpPr>
            <a:spLocks noChangeArrowheads="1"/>
          </p:cNvSpPr>
          <p:nvPr/>
        </p:nvSpPr>
        <p:spPr bwMode="auto">
          <a:xfrm>
            <a:off x="4876800" y="2133600"/>
            <a:ext cx="26670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超级块空闲盘块号表</a:t>
            </a:r>
          </a:p>
        </p:txBody>
      </p:sp>
      <p:sp>
        <p:nvSpPr>
          <p:cNvPr id="67617" name="Rectangle 34">
            <a:extLst>
              <a:ext uri="{FF2B5EF4-FFF2-40B4-BE49-F238E27FC236}">
                <a16:creationId xmlns:a16="http://schemas.microsoft.com/office/drawing/2014/main" id="{9FBB98CE-F982-B990-D2BD-FCE8496092DC}"/>
              </a:ext>
            </a:extLst>
          </p:cNvPr>
          <p:cNvSpPr>
            <a:spLocks noChangeArrowheads="1"/>
          </p:cNvSpPr>
          <p:nvPr/>
        </p:nvSpPr>
        <p:spPr bwMode="auto">
          <a:xfrm>
            <a:off x="4835525" y="2495550"/>
            <a:ext cx="3959225" cy="425450"/>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211  208  205         </a:t>
            </a:r>
            <a:r>
              <a:rPr lang="zh-CN" altLang="en-US" sz="2000" b="1">
                <a:latin typeface="Times New Roman" panose="02020603050405020304" pitchFamily="18" charset="0"/>
              </a:rPr>
              <a:t>…</a:t>
            </a:r>
            <a:r>
              <a:rPr lang="zh-CN" altLang="en-US" sz="2000">
                <a:latin typeface="Times New Roman" panose="02020603050405020304" pitchFamily="18" charset="0"/>
              </a:rPr>
              <a:t>                   112</a:t>
            </a:r>
          </a:p>
        </p:txBody>
      </p:sp>
      <p:sp>
        <p:nvSpPr>
          <p:cNvPr id="67618" name="Line 35">
            <a:extLst>
              <a:ext uri="{FF2B5EF4-FFF2-40B4-BE49-F238E27FC236}">
                <a16:creationId xmlns:a16="http://schemas.microsoft.com/office/drawing/2014/main" id="{AE694DC7-3519-DCE3-76A1-72CEA8F4960A}"/>
              </a:ext>
            </a:extLst>
          </p:cNvPr>
          <p:cNvSpPr>
            <a:spLocks noChangeShapeType="1"/>
          </p:cNvSpPr>
          <p:nvPr/>
        </p:nvSpPr>
        <p:spPr bwMode="auto">
          <a:xfrm>
            <a:off x="5334000" y="2495550"/>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19" name="Line 36">
            <a:extLst>
              <a:ext uri="{FF2B5EF4-FFF2-40B4-BE49-F238E27FC236}">
                <a16:creationId xmlns:a16="http://schemas.microsoft.com/office/drawing/2014/main" id="{8AE74F00-0B33-9E1D-2692-6B3EF0BC8336}"/>
              </a:ext>
            </a:extLst>
          </p:cNvPr>
          <p:cNvSpPr>
            <a:spLocks noChangeShapeType="1"/>
          </p:cNvSpPr>
          <p:nvPr/>
        </p:nvSpPr>
        <p:spPr bwMode="auto">
          <a:xfrm>
            <a:off x="5867400" y="2495550"/>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0" name="Line 37">
            <a:extLst>
              <a:ext uri="{FF2B5EF4-FFF2-40B4-BE49-F238E27FC236}">
                <a16:creationId xmlns:a16="http://schemas.microsoft.com/office/drawing/2014/main" id="{F9B51568-4038-B461-594F-188B10666D05}"/>
              </a:ext>
            </a:extLst>
          </p:cNvPr>
          <p:cNvSpPr>
            <a:spLocks noChangeShapeType="1"/>
          </p:cNvSpPr>
          <p:nvPr/>
        </p:nvSpPr>
        <p:spPr bwMode="auto">
          <a:xfrm>
            <a:off x="6400800" y="2495550"/>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1" name="Line 38">
            <a:extLst>
              <a:ext uri="{FF2B5EF4-FFF2-40B4-BE49-F238E27FC236}">
                <a16:creationId xmlns:a16="http://schemas.microsoft.com/office/drawing/2014/main" id="{25A94FA6-522C-9715-FE50-1C33801F5B83}"/>
              </a:ext>
            </a:extLst>
          </p:cNvPr>
          <p:cNvSpPr>
            <a:spLocks noChangeShapeType="1"/>
          </p:cNvSpPr>
          <p:nvPr/>
        </p:nvSpPr>
        <p:spPr bwMode="auto">
          <a:xfrm>
            <a:off x="8229600" y="2495550"/>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2" name="Rectangle 39">
            <a:extLst>
              <a:ext uri="{FF2B5EF4-FFF2-40B4-BE49-F238E27FC236}">
                <a16:creationId xmlns:a16="http://schemas.microsoft.com/office/drawing/2014/main" id="{9315487B-3F8E-FD75-836B-3C524D7699D0}"/>
              </a:ext>
            </a:extLst>
          </p:cNvPr>
          <p:cNvSpPr>
            <a:spLocks noChangeArrowheads="1"/>
          </p:cNvSpPr>
          <p:nvPr/>
        </p:nvSpPr>
        <p:spPr bwMode="auto">
          <a:xfrm>
            <a:off x="4846638" y="3351213"/>
            <a:ext cx="3959225" cy="425450"/>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310  307  304          </a:t>
            </a:r>
            <a:r>
              <a:rPr lang="zh-CN" altLang="en-US" sz="2000" b="1">
                <a:latin typeface="Times New Roman" panose="02020603050405020304" pitchFamily="18" charset="0"/>
              </a:rPr>
              <a:t> …</a:t>
            </a:r>
            <a:r>
              <a:rPr lang="zh-CN" altLang="en-US" sz="2000">
                <a:latin typeface="Times New Roman" panose="02020603050405020304" pitchFamily="18" charset="0"/>
              </a:rPr>
              <a:t>                 214</a:t>
            </a:r>
          </a:p>
        </p:txBody>
      </p:sp>
      <p:sp>
        <p:nvSpPr>
          <p:cNvPr id="67623" name="Line 40">
            <a:extLst>
              <a:ext uri="{FF2B5EF4-FFF2-40B4-BE49-F238E27FC236}">
                <a16:creationId xmlns:a16="http://schemas.microsoft.com/office/drawing/2014/main" id="{3767266B-FA7D-6CF0-B2A4-1DC39E9AB085}"/>
              </a:ext>
            </a:extLst>
          </p:cNvPr>
          <p:cNvSpPr>
            <a:spLocks noChangeShapeType="1"/>
          </p:cNvSpPr>
          <p:nvPr/>
        </p:nvSpPr>
        <p:spPr bwMode="auto">
          <a:xfrm>
            <a:off x="5334000" y="3351213"/>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4" name="Line 41">
            <a:extLst>
              <a:ext uri="{FF2B5EF4-FFF2-40B4-BE49-F238E27FC236}">
                <a16:creationId xmlns:a16="http://schemas.microsoft.com/office/drawing/2014/main" id="{ABED28A5-8067-4EE4-A1E3-53A42F107CB6}"/>
              </a:ext>
            </a:extLst>
          </p:cNvPr>
          <p:cNvSpPr>
            <a:spLocks noChangeShapeType="1"/>
          </p:cNvSpPr>
          <p:nvPr/>
        </p:nvSpPr>
        <p:spPr bwMode="auto">
          <a:xfrm>
            <a:off x="5867400" y="3351213"/>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5" name="Line 42">
            <a:extLst>
              <a:ext uri="{FF2B5EF4-FFF2-40B4-BE49-F238E27FC236}">
                <a16:creationId xmlns:a16="http://schemas.microsoft.com/office/drawing/2014/main" id="{BFC8E60E-618D-68A7-14AF-EF95A3CE4AA5}"/>
              </a:ext>
            </a:extLst>
          </p:cNvPr>
          <p:cNvSpPr>
            <a:spLocks noChangeShapeType="1"/>
          </p:cNvSpPr>
          <p:nvPr/>
        </p:nvSpPr>
        <p:spPr bwMode="auto">
          <a:xfrm>
            <a:off x="6400800" y="3351213"/>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6" name="Line 43">
            <a:extLst>
              <a:ext uri="{FF2B5EF4-FFF2-40B4-BE49-F238E27FC236}">
                <a16:creationId xmlns:a16="http://schemas.microsoft.com/office/drawing/2014/main" id="{03D04331-37C7-E859-A9F1-515791B76835}"/>
              </a:ext>
            </a:extLst>
          </p:cNvPr>
          <p:cNvSpPr>
            <a:spLocks noChangeShapeType="1"/>
          </p:cNvSpPr>
          <p:nvPr/>
        </p:nvSpPr>
        <p:spPr bwMode="auto">
          <a:xfrm>
            <a:off x="8229600" y="3351213"/>
            <a:ext cx="0" cy="425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7" name="Rectangle 44">
            <a:extLst>
              <a:ext uri="{FF2B5EF4-FFF2-40B4-BE49-F238E27FC236}">
                <a16:creationId xmlns:a16="http://schemas.microsoft.com/office/drawing/2014/main" id="{DEA758D9-2298-1AEF-4CF8-AC9681DC584B}"/>
              </a:ext>
            </a:extLst>
          </p:cNvPr>
          <p:cNvSpPr>
            <a:spLocks noChangeArrowheads="1"/>
          </p:cNvSpPr>
          <p:nvPr/>
        </p:nvSpPr>
        <p:spPr bwMode="auto">
          <a:xfrm>
            <a:off x="4910138" y="3059113"/>
            <a:ext cx="409575"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211</a:t>
            </a:r>
          </a:p>
        </p:txBody>
      </p:sp>
      <p:sp>
        <p:nvSpPr>
          <p:cNvPr id="67628" name="Rectangle 45">
            <a:extLst>
              <a:ext uri="{FF2B5EF4-FFF2-40B4-BE49-F238E27FC236}">
                <a16:creationId xmlns:a16="http://schemas.microsoft.com/office/drawing/2014/main" id="{E197DD6F-E8DD-5F37-6B88-73B68A1FEE54}"/>
              </a:ext>
            </a:extLst>
          </p:cNvPr>
          <p:cNvSpPr>
            <a:spLocks noChangeArrowheads="1"/>
          </p:cNvSpPr>
          <p:nvPr/>
        </p:nvSpPr>
        <p:spPr bwMode="auto">
          <a:xfrm>
            <a:off x="4846638" y="4208463"/>
            <a:ext cx="3959225" cy="423862"/>
          </a:xfrm>
          <a:prstGeom prst="rect">
            <a:avLst/>
          </a:prstGeom>
          <a:solidFill>
            <a:srgbClr val="FFFFFF"/>
          </a:solidFill>
          <a:ln w="25400">
            <a:solidFill>
              <a:srgbClr val="000000"/>
            </a:solidFill>
            <a:miter lim="800000"/>
            <a:headEnd/>
            <a:tailEnd/>
          </a:ln>
        </p:spPr>
        <p:txBody>
          <a:bodyPr lIns="36000" tIns="46800" rIns="36000" bIns="46800"/>
          <a:lstStyle/>
          <a:p>
            <a:pPr algn="just" eaLnBrk="0" hangingPunct="0"/>
            <a:r>
              <a:rPr lang="zh-CN" altLang="en-US" sz="2000">
                <a:latin typeface="Times New Roman" panose="02020603050405020304" pitchFamily="18" charset="0"/>
              </a:rPr>
              <a:t>409  406  403            </a:t>
            </a:r>
            <a:r>
              <a:rPr lang="zh-CN" altLang="en-US" sz="2000" b="1">
                <a:latin typeface="Times New Roman" panose="02020603050405020304" pitchFamily="18" charset="0"/>
              </a:rPr>
              <a:t>… </a:t>
            </a:r>
            <a:r>
              <a:rPr lang="zh-CN" altLang="en-US" sz="2000">
                <a:latin typeface="Times New Roman" panose="02020603050405020304" pitchFamily="18" charset="0"/>
              </a:rPr>
              <a:t>               313</a:t>
            </a:r>
          </a:p>
        </p:txBody>
      </p:sp>
      <p:sp>
        <p:nvSpPr>
          <p:cNvPr id="67629" name="Line 46">
            <a:extLst>
              <a:ext uri="{FF2B5EF4-FFF2-40B4-BE49-F238E27FC236}">
                <a16:creationId xmlns:a16="http://schemas.microsoft.com/office/drawing/2014/main" id="{C6C9F968-0AF4-9E71-F002-4464E6C22C68}"/>
              </a:ext>
            </a:extLst>
          </p:cNvPr>
          <p:cNvSpPr>
            <a:spLocks noChangeShapeType="1"/>
          </p:cNvSpPr>
          <p:nvPr/>
        </p:nvSpPr>
        <p:spPr bwMode="auto">
          <a:xfrm>
            <a:off x="5334000" y="4208463"/>
            <a:ext cx="0" cy="423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0" name="Line 47">
            <a:extLst>
              <a:ext uri="{FF2B5EF4-FFF2-40B4-BE49-F238E27FC236}">
                <a16:creationId xmlns:a16="http://schemas.microsoft.com/office/drawing/2014/main" id="{5C95BB2E-2151-F768-0190-CA1852440D60}"/>
              </a:ext>
            </a:extLst>
          </p:cNvPr>
          <p:cNvSpPr>
            <a:spLocks noChangeShapeType="1"/>
          </p:cNvSpPr>
          <p:nvPr/>
        </p:nvSpPr>
        <p:spPr bwMode="auto">
          <a:xfrm>
            <a:off x="5867400" y="4208463"/>
            <a:ext cx="0" cy="423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1" name="Line 48">
            <a:extLst>
              <a:ext uri="{FF2B5EF4-FFF2-40B4-BE49-F238E27FC236}">
                <a16:creationId xmlns:a16="http://schemas.microsoft.com/office/drawing/2014/main" id="{16144138-E686-F2A0-02DA-396FAA28C2C0}"/>
              </a:ext>
            </a:extLst>
          </p:cNvPr>
          <p:cNvSpPr>
            <a:spLocks noChangeShapeType="1"/>
          </p:cNvSpPr>
          <p:nvPr/>
        </p:nvSpPr>
        <p:spPr bwMode="auto">
          <a:xfrm>
            <a:off x="6400800" y="4208463"/>
            <a:ext cx="0" cy="423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2" name="Line 49">
            <a:extLst>
              <a:ext uri="{FF2B5EF4-FFF2-40B4-BE49-F238E27FC236}">
                <a16:creationId xmlns:a16="http://schemas.microsoft.com/office/drawing/2014/main" id="{A3FFA4A0-67DD-1E70-DE68-9C35DAA751EF}"/>
              </a:ext>
            </a:extLst>
          </p:cNvPr>
          <p:cNvSpPr>
            <a:spLocks noChangeShapeType="1"/>
          </p:cNvSpPr>
          <p:nvPr/>
        </p:nvSpPr>
        <p:spPr bwMode="auto">
          <a:xfrm>
            <a:off x="8229600" y="4208463"/>
            <a:ext cx="0" cy="423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3" name="Rectangle 50">
            <a:extLst>
              <a:ext uri="{FF2B5EF4-FFF2-40B4-BE49-F238E27FC236}">
                <a16:creationId xmlns:a16="http://schemas.microsoft.com/office/drawing/2014/main" id="{D47CFF7D-C71E-B5E5-5426-1E4301714695}"/>
              </a:ext>
            </a:extLst>
          </p:cNvPr>
          <p:cNvSpPr>
            <a:spLocks noChangeArrowheads="1"/>
          </p:cNvSpPr>
          <p:nvPr/>
        </p:nvSpPr>
        <p:spPr bwMode="auto">
          <a:xfrm>
            <a:off x="4910138" y="3916363"/>
            <a:ext cx="409575"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310</a:t>
            </a:r>
          </a:p>
        </p:txBody>
      </p:sp>
      <p:sp>
        <p:nvSpPr>
          <p:cNvPr id="67634" name="Freeform 51">
            <a:extLst>
              <a:ext uri="{FF2B5EF4-FFF2-40B4-BE49-F238E27FC236}">
                <a16:creationId xmlns:a16="http://schemas.microsoft.com/office/drawing/2014/main" id="{7772EE68-8828-7275-0254-3D235FC4FDD3}"/>
              </a:ext>
            </a:extLst>
          </p:cNvPr>
          <p:cNvSpPr>
            <a:spLocks noChangeArrowheads="1"/>
          </p:cNvSpPr>
          <p:nvPr/>
        </p:nvSpPr>
        <p:spPr bwMode="auto">
          <a:xfrm>
            <a:off x="4648200" y="2905125"/>
            <a:ext cx="392113" cy="744538"/>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35" name="Freeform 52">
            <a:extLst>
              <a:ext uri="{FF2B5EF4-FFF2-40B4-BE49-F238E27FC236}">
                <a16:creationId xmlns:a16="http://schemas.microsoft.com/office/drawing/2014/main" id="{1E59B1D8-BFB3-7E44-A3B1-23CC2AB7FA3E}"/>
              </a:ext>
            </a:extLst>
          </p:cNvPr>
          <p:cNvSpPr>
            <a:spLocks noChangeArrowheads="1"/>
          </p:cNvSpPr>
          <p:nvPr/>
        </p:nvSpPr>
        <p:spPr bwMode="auto">
          <a:xfrm>
            <a:off x="4648200" y="3789363"/>
            <a:ext cx="392113" cy="744537"/>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36" name="Line 53">
            <a:extLst>
              <a:ext uri="{FF2B5EF4-FFF2-40B4-BE49-F238E27FC236}">
                <a16:creationId xmlns:a16="http://schemas.microsoft.com/office/drawing/2014/main" id="{E0F52CE6-6078-54F8-0C31-DF5E1C7E65B2}"/>
              </a:ext>
            </a:extLst>
          </p:cNvPr>
          <p:cNvSpPr>
            <a:spLocks noChangeShapeType="1"/>
          </p:cNvSpPr>
          <p:nvPr/>
        </p:nvSpPr>
        <p:spPr bwMode="auto">
          <a:xfrm>
            <a:off x="5029200" y="4632325"/>
            <a:ext cx="0" cy="39687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7027EAE5-964D-E9B9-B4F8-76715295137F}"/>
              </a:ext>
            </a:extLst>
          </p:cNvPr>
          <p:cNvSpPr>
            <a:spLocks noGrp="1"/>
          </p:cNvSpPr>
          <p:nvPr>
            <p:ph type="sldNum" sz="quarter" idx="12"/>
          </p:nvPr>
        </p:nvSpPr>
        <p:spPr/>
        <p:txBody>
          <a:bodyPr/>
          <a:lstStyle/>
          <a:p>
            <a:fld id="{4093CC90-4002-504C-BD88-C9A1D374048E}" type="slidenum">
              <a:rPr lang="zh-CN" altLang="en-US" smtClean="0"/>
              <a:pPr/>
              <a:t>141</a:t>
            </a:fld>
            <a:endParaRPr lang="zh-CN" altLang="en-US" dirty="0"/>
          </a:p>
        </p:txBody>
      </p:sp>
    </p:spTree>
  </p:cSld>
  <p:clrMapOvr>
    <a:masterClrMapping/>
  </p:clrMapOvr>
  <p:transition spd="med">
    <p:zoom/>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6722A28B-BF42-3C66-368E-396D01D8B402}"/>
              </a:ext>
            </a:extLst>
          </p:cNvPr>
          <p:cNvSpPr>
            <a:spLocks noGrp="1" noChangeArrowheads="1"/>
          </p:cNvSpPr>
          <p:nvPr>
            <p:ph type="title"/>
          </p:nvPr>
        </p:nvSpPr>
        <p:spPr/>
        <p:txBody>
          <a:bodyPr/>
          <a:lstStyle/>
          <a:p>
            <a:pPr eaLnBrk="1" hangingPunct="1"/>
            <a:r>
              <a:rPr lang="zh-CN" altLang="en-US"/>
              <a:t>空闲盘块的回收</a:t>
            </a:r>
          </a:p>
        </p:txBody>
      </p:sp>
      <p:sp>
        <p:nvSpPr>
          <p:cNvPr id="407555" name="Rectangle 3">
            <a:extLst>
              <a:ext uri="{FF2B5EF4-FFF2-40B4-BE49-F238E27FC236}">
                <a16:creationId xmlns:a16="http://schemas.microsoft.com/office/drawing/2014/main" id="{3BCB03F5-837E-4B09-C00E-2DD4D54F4B03}"/>
              </a:ext>
            </a:extLst>
          </p:cNvPr>
          <p:cNvSpPr>
            <a:spLocks noGrp="1" noChangeArrowheads="1"/>
          </p:cNvSpPr>
          <p:nvPr>
            <p:ph idx="1"/>
          </p:nvPr>
        </p:nvSpPr>
        <p:spPr/>
        <p:txBody>
          <a:bodyPr/>
          <a:lstStyle/>
          <a:p>
            <a:pPr algn="just" eaLnBrk="1" hangingPunct="1"/>
            <a:r>
              <a:rPr lang="zh-CN" altLang="en-US"/>
              <a:t>在回收空闲盘块时，如果超级块中的空闲盘块号表未满，可直接将回收盘块的编号放入空闲盘块号表中；</a:t>
            </a:r>
          </a:p>
          <a:p>
            <a:pPr algn="just" eaLnBrk="1" hangingPunct="1"/>
            <a:r>
              <a:rPr lang="zh-CN" altLang="en-US"/>
              <a:t>若空闲盘块号表已满，需先将空闲盘块号表中的所有盘块号复制到新回收的盘块中，再将新回收盘块的编号放到超级块空闲盘块号表中，此块号就成了表中惟一的盘块号。</a:t>
            </a:r>
          </a:p>
        </p:txBody>
      </p:sp>
      <p:sp>
        <p:nvSpPr>
          <p:cNvPr id="2" name="灯片编号占位符 1">
            <a:extLst>
              <a:ext uri="{FF2B5EF4-FFF2-40B4-BE49-F238E27FC236}">
                <a16:creationId xmlns:a16="http://schemas.microsoft.com/office/drawing/2014/main" id="{06FADCA3-323B-8B00-0BBE-D03C1F61C712}"/>
              </a:ext>
            </a:extLst>
          </p:cNvPr>
          <p:cNvSpPr>
            <a:spLocks noGrp="1"/>
          </p:cNvSpPr>
          <p:nvPr>
            <p:ph type="sldNum" sz="quarter" idx="12"/>
          </p:nvPr>
        </p:nvSpPr>
        <p:spPr/>
        <p:txBody>
          <a:bodyPr/>
          <a:lstStyle/>
          <a:p>
            <a:fld id="{4093CC90-4002-504C-BD88-C9A1D374048E}" type="slidenum">
              <a:rPr lang="zh-CN" altLang="en-US" smtClean="0"/>
              <a:pPr/>
              <a:t>142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checkerboard(across)">
                                      <p:cBhvr>
                                        <p:cTn id="7" dur="500"/>
                                        <p:tgtEl>
                                          <p:spTgt spid="407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7555">
                                            <p:txEl>
                                              <p:pRg st="1" end="1"/>
                                            </p:txEl>
                                          </p:spTgt>
                                        </p:tgtEl>
                                        <p:attrNameLst>
                                          <p:attrName>style.visibility</p:attrName>
                                        </p:attrNameLst>
                                      </p:cBhvr>
                                      <p:to>
                                        <p:strVal val="visible"/>
                                      </p:to>
                                    </p:set>
                                    <p:animEffect transition="in" filter="checkerboard(across)">
                                      <p:cBhvr>
                                        <p:cTn id="12" dur="500"/>
                                        <p:tgtEl>
                                          <p:spTgt spid="4075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6072446F-9271-B644-E8D4-AF8FBA5CBB89}"/>
              </a:ext>
            </a:extLst>
          </p:cNvPr>
          <p:cNvSpPr>
            <a:spLocks noGrp="1" noChangeArrowheads="1"/>
          </p:cNvSpPr>
          <p:nvPr>
            <p:ph type="title"/>
          </p:nvPr>
        </p:nvSpPr>
        <p:spPr/>
        <p:txBody>
          <a:bodyPr/>
          <a:lstStyle/>
          <a:p>
            <a:pPr eaLnBrk="1" hangingPunct="1"/>
            <a:r>
              <a:rPr lang="zh-CN" altLang="en-US"/>
              <a:t>超级块已满时回收盘块例</a:t>
            </a:r>
          </a:p>
        </p:txBody>
      </p:sp>
      <p:sp>
        <p:nvSpPr>
          <p:cNvPr id="69634" name="Rectangle 3">
            <a:extLst>
              <a:ext uri="{FF2B5EF4-FFF2-40B4-BE49-F238E27FC236}">
                <a16:creationId xmlns:a16="http://schemas.microsoft.com/office/drawing/2014/main" id="{B07EF9DA-82F3-E968-BE05-4427FC83CC2E}"/>
              </a:ext>
            </a:extLst>
          </p:cNvPr>
          <p:cNvSpPr>
            <a:spLocks noGrp="1" noChangeArrowheads="1"/>
          </p:cNvSpPr>
          <p:nvPr>
            <p:ph idx="1"/>
          </p:nvPr>
        </p:nvSpPr>
        <p:spPr>
          <a:xfrm>
            <a:off x="381000" y="1341438"/>
            <a:ext cx="7772400" cy="609600"/>
          </a:xfrm>
        </p:spPr>
        <p:txBody>
          <a:bodyPr/>
          <a:lstStyle/>
          <a:p>
            <a:pPr eaLnBrk="1" hangingPunct="1"/>
            <a:r>
              <a:rPr lang="zh-CN" altLang="en-US"/>
              <a:t>回收前</a:t>
            </a:r>
            <a:r>
              <a:rPr lang="zh-CN" altLang="en-US" sz="2400"/>
              <a:t>（回收100号盘块）</a:t>
            </a:r>
            <a:r>
              <a:rPr lang="zh-CN" altLang="en-US"/>
              <a:t>   回收后</a:t>
            </a:r>
          </a:p>
        </p:txBody>
      </p:sp>
      <p:sp>
        <p:nvSpPr>
          <p:cNvPr id="69635" name="Rectangle 4">
            <a:extLst>
              <a:ext uri="{FF2B5EF4-FFF2-40B4-BE49-F238E27FC236}">
                <a16:creationId xmlns:a16="http://schemas.microsoft.com/office/drawing/2014/main" id="{7ABECCCA-0D60-238F-D424-EDA51E8876A7}"/>
              </a:ext>
            </a:extLst>
          </p:cNvPr>
          <p:cNvSpPr>
            <a:spLocks noChangeArrowheads="1"/>
          </p:cNvSpPr>
          <p:nvPr/>
        </p:nvSpPr>
        <p:spPr bwMode="auto">
          <a:xfrm>
            <a:off x="354013" y="2362200"/>
            <a:ext cx="29225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超级块空闲盘块号表</a:t>
            </a:r>
          </a:p>
        </p:txBody>
      </p:sp>
      <p:sp>
        <p:nvSpPr>
          <p:cNvPr id="69636" name="Rectangle 5">
            <a:extLst>
              <a:ext uri="{FF2B5EF4-FFF2-40B4-BE49-F238E27FC236}">
                <a16:creationId xmlns:a16="http://schemas.microsoft.com/office/drawing/2014/main" id="{2A27EFDD-E73E-4F15-150B-E45FA7EC6AC5}"/>
              </a:ext>
            </a:extLst>
          </p:cNvPr>
          <p:cNvSpPr>
            <a:spLocks noChangeArrowheads="1"/>
          </p:cNvSpPr>
          <p:nvPr/>
        </p:nvSpPr>
        <p:spPr bwMode="auto">
          <a:xfrm>
            <a:off x="228600" y="2800350"/>
            <a:ext cx="3940175" cy="457200"/>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211  208  205    …                      112</a:t>
            </a:r>
          </a:p>
        </p:txBody>
      </p:sp>
      <p:sp>
        <p:nvSpPr>
          <p:cNvPr id="69637" name="Line 6">
            <a:extLst>
              <a:ext uri="{FF2B5EF4-FFF2-40B4-BE49-F238E27FC236}">
                <a16:creationId xmlns:a16="http://schemas.microsoft.com/office/drawing/2014/main" id="{60B6C037-013D-A3B5-012E-78DB8FDC27AF}"/>
              </a:ext>
            </a:extLst>
          </p:cNvPr>
          <p:cNvSpPr>
            <a:spLocks noChangeShapeType="1"/>
          </p:cNvSpPr>
          <p:nvPr/>
        </p:nvSpPr>
        <p:spPr bwMode="auto">
          <a:xfrm>
            <a:off x="696913" y="280035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8" name="Line 7">
            <a:extLst>
              <a:ext uri="{FF2B5EF4-FFF2-40B4-BE49-F238E27FC236}">
                <a16:creationId xmlns:a16="http://schemas.microsoft.com/office/drawing/2014/main" id="{041E4A32-29CD-64BA-BC09-9B22E776147E}"/>
              </a:ext>
            </a:extLst>
          </p:cNvPr>
          <p:cNvSpPr>
            <a:spLocks noChangeShapeType="1"/>
          </p:cNvSpPr>
          <p:nvPr/>
        </p:nvSpPr>
        <p:spPr bwMode="auto">
          <a:xfrm>
            <a:off x="1219200" y="281940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9" name="Line 8">
            <a:extLst>
              <a:ext uri="{FF2B5EF4-FFF2-40B4-BE49-F238E27FC236}">
                <a16:creationId xmlns:a16="http://schemas.microsoft.com/office/drawing/2014/main" id="{EFC09D9E-4BD7-3826-1C64-C05E55C5AC1F}"/>
              </a:ext>
            </a:extLst>
          </p:cNvPr>
          <p:cNvSpPr>
            <a:spLocks noChangeShapeType="1"/>
          </p:cNvSpPr>
          <p:nvPr/>
        </p:nvSpPr>
        <p:spPr bwMode="auto">
          <a:xfrm>
            <a:off x="1752600" y="280035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0" name="Line 9">
            <a:extLst>
              <a:ext uri="{FF2B5EF4-FFF2-40B4-BE49-F238E27FC236}">
                <a16:creationId xmlns:a16="http://schemas.microsoft.com/office/drawing/2014/main" id="{FDF1A406-F248-F5A7-F965-7D59E323AB46}"/>
              </a:ext>
            </a:extLst>
          </p:cNvPr>
          <p:cNvSpPr>
            <a:spLocks noChangeShapeType="1"/>
          </p:cNvSpPr>
          <p:nvPr/>
        </p:nvSpPr>
        <p:spPr bwMode="auto">
          <a:xfrm>
            <a:off x="3535363" y="280035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1" name="Rectangle 10">
            <a:extLst>
              <a:ext uri="{FF2B5EF4-FFF2-40B4-BE49-F238E27FC236}">
                <a16:creationId xmlns:a16="http://schemas.microsoft.com/office/drawing/2014/main" id="{B257971E-564C-33BA-AC69-97E082D4E4C8}"/>
              </a:ext>
            </a:extLst>
          </p:cNvPr>
          <p:cNvSpPr>
            <a:spLocks noChangeArrowheads="1"/>
          </p:cNvSpPr>
          <p:nvPr/>
        </p:nvSpPr>
        <p:spPr bwMode="auto">
          <a:xfrm>
            <a:off x="238125" y="3656013"/>
            <a:ext cx="3940175" cy="458787"/>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310  307  304       …                   214</a:t>
            </a:r>
          </a:p>
        </p:txBody>
      </p:sp>
      <p:sp>
        <p:nvSpPr>
          <p:cNvPr id="69642" name="Line 11">
            <a:extLst>
              <a:ext uri="{FF2B5EF4-FFF2-40B4-BE49-F238E27FC236}">
                <a16:creationId xmlns:a16="http://schemas.microsoft.com/office/drawing/2014/main" id="{132FAB9C-86B9-4158-30E2-EEAF9A22D1DD}"/>
              </a:ext>
            </a:extLst>
          </p:cNvPr>
          <p:cNvSpPr>
            <a:spLocks noChangeShapeType="1"/>
          </p:cNvSpPr>
          <p:nvPr/>
        </p:nvSpPr>
        <p:spPr bwMode="auto">
          <a:xfrm>
            <a:off x="706438" y="365601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3" name="Line 12">
            <a:extLst>
              <a:ext uri="{FF2B5EF4-FFF2-40B4-BE49-F238E27FC236}">
                <a16:creationId xmlns:a16="http://schemas.microsoft.com/office/drawing/2014/main" id="{7A7A25FB-48B0-8A74-D85E-569218E2369A}"/>
              </a:ext>
            </a:extLst>
          </p:cNvPr>
          <p:cNvSpPr>
            <a:spLocks noChangeShapeType="1"/>
          </p:cNvSpPr>
          <p:nvPr/>
        </p:nvSpPr>
        <p:spPr bwMode="auto">
          <a:xfrm>
            <a:off x="1219200" y="365601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4" name="Line 13">
            <a:extLst>
              <a:ext uri="{FF2B5EF4-FFF2-40B4-BE49-F238E27FC236}">
                <a16:creationId xmlns:a16="http://schemas.microsoft.com/office/drawing/2014/main" id="{CB05CA1A-4A01-4B6F-3B63-C2973AF469F5}"/>
              </a:ext>
            </a:extLst>
          </p:cNvPr>
          <p:cNvSpPr>
            <a:spLocks noChangeShapeType="1"/>
          </p:cNvSpPr>
          <p:nvPr/>
        </p:nvSpPr>
        <p:spPr bwMode="auto">
          <a:xfrm>
            <a:off x="1752600" y="365601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5" name="Line 14">
            <a:extLst>
              <a:ext uri="{FF2B5EF4-FFF2-40B4-BE49-F238E27FC236}">
                <a16:creationId xmlns:a16="http://schemas.microsoft.com/office/drawing/2014/main" id="{99E13359-80A1-9EAF-DE12-71B5CC4C9C2A}"/>
              </a:ext>
            </a:extLst>
          </p:cNvPr>
          <p:cNvSpPr>
            <a:spLocks noChangeShapeType="1"/>
          </p:cNvSpPr>
          <p:nvPr/>
        </p:nvSpPr>
        <p:spPr bwMode="auto">
          <a:xfrm>
            <a:off x="3544888" y="365601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6" name="Rectangle 15">
            <a:extLst>
              <a:ext uri="{FF2B5EF4-FFF2-40B4-BE49-F238E27FC236}">
                <a16:creationId xmlns:a16="http://schemas.microsoft.com/office/drawing/2014/main" id="{41FC039B-508B-916F-4150-4EAE55A66D7E}"/>
              </a:ext>
            </a:extLst>
          </p:cNvPr>
          <p:cNvSpPr>
            <a:spLocks noChangeArrowheads="1"/>
          </p:cNvSpPr>
          <p:nvPr/>
        </p:nvSpPr>
        <p:spPr bwMode="auto">
          <a:xfrm>
            <a:off x="382588" y="3363913"/>
            <a:ext cx="409575"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211</a:t>
            </a:r>
          </a:p>
        </p:txBody>
      </p:sp>
      <p:sp>
        <p:nvSpPr>
          <p:cNvPr id="69647" name="Rectangle 16">
            <a:extLst>
              <a:ext uri="{FF2B5EF4-FFF2-40B4-BE49-F238E27FC236}">
                <a16:creationId xmlns:a16="http://schemas.microsoft.com/office/drawing/2014/main" id="{A58BE422-E2AC-84B2-A820-3323ABB978E4}"/>
              </a:ext>
            </a:extLst>
          </p:cNvPr>
          <p:cNvSpPr>
            <a:spLocks noChangeArrowheads="1"/>
          </p:cNvSpPr>
          <p:nvPr/>
        </p:nvSpPr>
        <p:spPr bwMode="auto">
          <a:xfrm>
            <a:off x="238125" y="4513263"/>
            <a:ext cx="3940175" cy="457200"/>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409  406  403       …                   313</a:t>
            </a:r>
          </a:p>
        </p:txBody>
      </p:sp>
      <p:sp>
        <p:nvSpPr>
          <p:cNvPr id="69648" name="Line 17">
            <a:extLst>
              <a:ext uri="{FF2B5EF4-FFF2-40B4-BE49-F238E27FC236}">
                <a16:creationId xmlns:a16="http://schemas.microsoft.com/office/drawing/2014/main" id="{99F700FE-CEA6-1DA0-6920-89800B90394D}"/>
              </a:ext>
            </a:extLst>
          </p:cNvPr>
          <p:cNvSpPr>
            <a:spLocks noChangeShapeType="1"/>
          </p:cNvSpPr>
          <p:nvPr/>
        </p:nvSpPr>
        <p:spPr bwMode="auto">
          <a:xfrm>
            <a:off x="706438" y="451326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9" name="Line 18">
            <a:extLst>
              <a:ext uri="{FF2B5EF4-FFF2-40B4-BE49-F238E27FC236}">
                <a16:creationId xmlns:a16="http://schemas.microsoft.com/office/drawing/2014/main" id="{BB796248-1796-C71A-3F55-D5A12C2B2356}"/>
              </a:ext>
            </a:extLst>
          </p:cNvPr>
          <p:cNvSpPr>
            <a:spLocks noChangeShapeType="1"/>
          </p:cNvSpPr>
          <p:nvPr/>
        </p:nvSpPr>
        <p:spPr bwMode="auto">
          <a:xfrm>
            <a:off x="1219200" y="451326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0" name="Line 19">
            <a:extLst>
              <a:ext uri="{FF2B5EF4-FFF2-40B4-BE49-F238E27FC236}">
                <a16:creationId xmlns:a16="http://schemas.microsoft.com/office/drawing/2014/main" id="{85D1B805-89E4-11AA-7457-1F6DD855C9BA}"/>
              </a:ext>
            </a:extLst>
          </p:cNvPr>
          <p:cNvSpPr>
            <a:spLocks noChangeShapeType="1"/>
          </p:cNvSpPr>
          <p:nvPr/>
        </p:nvSpPr>
        <p:spPr bwMode="auto">
          <a:xfrm>
            <a:off x="1752600" y="4529138"/>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1" name="Line 20">
            <a:extLst>
              <a:ext uri="{FF2B5EF4-FFF2-40B4-BE49-F238E27FC236}">
                <a16:creationId xmlns:a16="http://schemas.microsoft.com/office/drawing/2014/main" id="{DB3A8D5D-E6FC-89BF-DE66-93CA7A37CCF7}"/>
              </a:ext>
            </a:extLst>
          </p:cNvPr>
          <p:cNvSpPr>
            <a:spLocks noChangeShapeType="1"/>
          </p:cNvSpPr>
          <p:nvPr/>
        </p:nvSpPr>
        <p:spPr bwMode="auto">
          <a:xfrm>
            <a:off x="3544888" y="4513263"/>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Rectangle 21">
            <a:extLst>
              <a:ext uri="{FF2B5EF4-FFF2-40B4-BE49-F238E27FC236}">
                <a16:creationId xmlns:a16="http://schemas.microsoft.com/office/drawing/2014/main" id="{62897267-AFF2-139A-292D-6E04052DA7C1}"/>
              </a:ext>
            </a:extLst>
          </p:cNvPr>
          <p:cNvSpPr>
            <a:spLocks noChangeArrowheads="1"/>
          </p:cNvSpPr>
          <p:nvPr/>
        </p:nvSpPr>
        <p:spPr bwMode="auto">
          <a:xfrm>
            <a:off x="382588" y="4221163"/>
            <a:ext cx="409575"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310</a:t>
            </a:r>
          </a:p>
        </p:txBody>
      </p:sp>
      <p:sp>
        <p:nvSpPr>
          <p:cNvPr id="69653" name="Freeform 22">
            <a:extLst>
              <a:ext uri="{FF2B5EF4-FFF2-40B4-BE49-F238E27FC236}">
                <a16:creationId xmlns:a16="http://schemas.microsoft.com/office/drawing/2014/main" id="{3A251FB2-A328-19D6-07F8-6505A1D48A61}"/>
              </a:ext>
            </a:extLst>
          </p:cNvPr>
          <p:cNvSpPr>
            <a:spLocks noChangeArrowheads="1"/>
          </p:cNvSpPr>
          <p:nvPr/>
        </p:nvSpPr>
        <p:spPr bwMode="auto">
          <a:xfrm>
            <a:off x="76200" y="3209925"/>
            <a:ext cx="344488" cy="744538"/>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4" name="Freeform 23">
            <a:extLst>
              <a:ext uri="{FF2B5EF4-FFF2-40B4-BE49-F238E27FC236}">
                <a16:creationId xmlns:a16="http://schemas.microsoft.com/office/drawing/2014/main" id="{0D379F43-D233-FF5F-C91E-414F64452C54}"/>
              </a:ext>
            </a:extLst>
          </p:cNvPr>
          <p:cNvSpPr>
            <a:spLocks noChangeArrowheads="1"/>
          </p:cNvSpPr>
          <p:nvPr/>
        </p:nvSpPr>
        <p:spPr bwMode="auto">
          <a:xfrm>
            <a:off x="76200" y="4094163"/>
            <a:ext cx="344488" cy="744537"/>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5" name="Line 24">
            <a:extLst>
              <a:ext uri="{FF2B5EF4-FFF2-40B4-BE49-F238E27FC236}">
                <a16:creationId xmlns:a16="http://schemas.microsoft.com/office/drawing/2014/main" id="{E3494938-AEA8-64D0-E1D1-D0C32CFB7044}"/>
              </a:ext>
            </a:extLst>
          </p:cNvPr>
          <p:cNvSpPr>
            <a:spLocks noChangeShapeType="1"/>
          </p:cNvSpPr>
          <p:nvPr/>
        </p:nvSpPr>
        <p:spPr bwMode="auto">
          <a:xfrm>
            <a:off x="487363" y="4937125"/>
            <a:ext cx="0" cy="39687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9656" name="Rectangle 25">
            <a:extLst>
              <a:ext uri="{FF2B5EF4-FFF2-40B4-BE49-F238E27FC236}">
                <a16:creationId xmlns:a16="http://schemas.microsoft.com/office/drawing/2014/main" id="{1BEDA44C-CD76-ABB7-07E5-5A088D267365}"/>
              </a:ext>
            </a:extLst>
          </p:cNvPr>
          <p:cNvSpPr>
            <a:spLocks noChangeArrowheads="1"/>
          </p:cNvSpPr>
          <p:nvPr/>
        </p:nvSpPr>
        <p:spPr bwMode="auto">
          <a:xfrm>
            <a:off x="4868863" y="2755900"/>
            <a:ext cx="3959225" cy="420688"/>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100</a:t>
            </a:r>
          </a:p>
        </p:txBody>
      </p:sp>
      <p:sp>
        <p:nvSpPr>
          <p:cNvPr id="69657" name="Line 26">
            <a:extLst>
              <a:ext uri="{FF2B5EF4-FFF2-40B4-BE49-F238E27FC236}">
                <a16:creationId xmlns:a16="http://schemas.microsoft.com/office/drawing/2014/main" id="{8C309137-2978-92B1-0506-A9BF1579237F}"/>
              </a:ext>
            </a:extLst>
          </p:cNvPr>
          <p:cNvSpPr>
            <a:spLocks noChangeShapeType="1"/>
          </p:cNvSpPr>
          <p:nvPr/>
        </p:nvSpPr>
        <p:spPr bwMode="auto">
          <a:xfrm>
            <a:off x="5356225" y="2755900"/>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8" name="Line 27">
            <a:extLst>
              <a:ext uri="{FF2B5EF4-FFF2-40B4-BE49-F238E27FC236}">
                <a16:creationId xmlns:a16="http://schemas.microsoft.com/office/drawing/2014/main" id="{73EBCBDA-3BD2-4C96-771C-39A4687945EA}"/>
              </a:ext>
            </a:extLst>
          </p:cNvPr>
          <p:cNvSpPr>
            <a:spLocks noChangeShapeType="1"/>
          </p:cNvSpPr>
          <p:nvPr/>
        </p:nvSpPr>
        <p:spPr bwMode="auto">
          <a:xfrm>
            <a:off x="5815013" y="2755900"/>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9" name="Line 28">
            <a:extLst>
              <a:ext uri="{FF2B5EF4-FFF2-40B4-BE49-F238E27FC236}">
                <a16:creationId xmlns:a16="http://schemas.microsoft.com/office/drawing/2014/main" id="{874EB714-7022-75C9-7D18-4FF76F07FCCC}"/>
              </a:ext>
            </a:extLst>
          </p:cNvPr>
          <p:cNvSpPr>
            <a:spLocks noChangeShapeType="1"/>
          </p:cNvSpPr>
          <p:nvPr/>
        </p:nvSpPr>
        <p:spPr bwMode="auto">
          <a:xfrm>
            <a:off x="6294438" y="2755900"/>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0" name="Line 29">
            <a:extLst>
              <a:ext uri="{FF2B5EF4-FFF2-40B4-BE49-F238E27FC236}">
                <a16:creationId xmlns:a16="http://schemas.microsoft.com/office/drawing/2014/main" id="{3E27F3CE-8900-048F-7236-29E71591F56F}"/>
              </a:ext>
            </a:extLst>
          </p:cNvPr>
          <p:cNvSpPr>
            <a:spLocks noChangeShapeType="1"/>
          </p:cNvSpPr>
          <p:nvPr/>
        </p:nvSpPr>
        <p:spPr bwMode="auto">
          <a:xfrm>
            <a:off x="6762750" y="2755900"/>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1" name="Line 30">
            <a:extLst>
              <a:ext uri="{FF2B5EF4-FFF2-40B4-BE49-F238E27FC236}">
                <a16:creationId xmlns:a16="http://schemas.microsoft.com/office/drawing/2014/main" id="{07FFA3E9-1564-53CC-855A-003829EB6BE5}"/>
              </a:ext>
            </a:extLst>
          </p:cNvPr>
          <p:cNvSpPr>
            <a:spLocks noChangeShapeType="1"/>
          </p:cNvSpPr>
          <p:nvPr/>
        </p:nvSpPr>
        <p:spPr bwMode="auto">
          <a:xfrm>
            <a:off x="7207250" y="2755900"/>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2" name="Rectangle 31">
            <a:extLst>
              <a:ext uri="{FF2B5EF4-FFF2-40B4-BE49-F238E27FC236}">
                <a16:creationId xmlns:a16="http://schemas.microsoft.com/office/drawing/2014/main" id="{6F9C7723-CABF-B4B4-E68D-94454A18650A}"/>
              </a:ext>
            </a:extLst>
          </p:cNvPr>
          <p:cNvSpPr>
            <a:spLocks noChangeArrowheads="1"/>
          </p:cNvSpPr>
          <p:nvPr/>
        </p:nvSpPr>
        <p:spPr bwMode="auto">
          <a:xfrm>
            <a:off x="4935538" y="2362200"/>
            <a:ext cx="2379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超级块空闲盘块号表</a:t>
            </a:r>
          </a:p>
        </p:txBody>
      </p:sp>
      <p:sp>
        <p:nvSpPr>
          <p:cNvPr id="69663" name="Rectangle 32">
            <a:extLst>
              <a:ext uri="{FF2B5EF4-FFF2-40B4-BE49-F238E27FC236}">
                <a16:creationId xmlns:a16="http://schemas.microsoft.com/office/drawing/2014/main" id="{131D73A6-CD39-371B-044C-280D72C740E7}"/>
              </a:ext>
            </a:extLst>
          </p:cNvPr>
          <p:cNvSpPr>
            <a:spLocks noChangeArrowheads="1"/>
          </p:cNvSpPr>
          <p:nvPr/>
        </p:nvSpPr>
        <p:spPr bwMode="auto">
          <a:xfrm>
            <a:off x="4868863" y="3660775"/>
            <a:ext cx="3959225" cy="420688"/>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211  208  205       </a:t>
            </a:r>
            <a:r>
              <a:rPr lang="zh-CN" altLang="en-US" sz="2000" b="1">
                <a:latin typeface="Times New Roman" panose="02020603050405020304" pitchFamily="18" charset="0"/>
              </a:rPr>
              <a:t> …</a:t>
            </a:r>
            <a:r>
              <a:rPr lang="zh-CN" altLang="en-US" sz="2000">
                <a:latin typeface="Times New Roman" panose="02020603050405020304" pitchFamily="18" charset="0"/>
              </a:rPr>
              <a:t>                    112</a:t>
            </a:r>
          </a:p>
        </p:txBody>
      </p:sp>
      <p:sp>
        <p:nvSpPr>
          <p:cNvPr id="69664" name="Line 33">
            <a:extLst>
              <a:ext uri="{FF2B5EF4-FFF2-40B4-BE49-F238E27FC236}">
                <a16:creationId xmlns:a16="http://schemas.microsoft.com/office/drawing/2014/main" id="{CF6C8957-650E-6F83-7F5B-728C4C1659E5}"/>
              </a:ext>
            </a:extLst>
          </p:cNvPr>
          <p:cNvSpPr>
            <a:spLocks noChangeShapeType="1"/>
          </p:cNvSpPr>
          <p:nvPr/>
        </p:nvSpPr>
        <p:spPr bwMode="auto">
          <a:xfrm>
            <a:off x="5356225" y="3660775"/>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5" name="Line 34">
            <a:extLst>
              <a:ext uri="{FF2B5EF4-FFF2-40B4-BE49-F238E27FC236}">
                <a16:creationId xmlns:a16="http://schemas.microsoft.com/office/drawing/2014/main" id="{07A79631-76E1-A9AC-4C9D-F15717378C71}"/>
              </a:ext>
            </a:extLst>
          </p:cNvPr>
          <p:cNvSpPr>
            <a:spLocks noChangeShapeType="1"/>
          </p:cNvSpPr>
          <p:nvPr/>
        </p:nvSpPr>
        <p:spPr bwMode="auto">
          <a:xfrm>
            <a:off x="5889625" y="3660775"/>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6" name="Line 35">
            <a:extLst>
              <a:ext uri="{FF2B5EF4-FFF2-40B4-BE49-F238E27FC236}">
                <a16:creationId xmlns:a16="http://schemas.microsoft.com/office/drawing/2014/main" id="{F8155CE2-67B5-8764-731F-8AB831FEC2B1}"/>
              </a:ext>
            </a:extLst>
          </p:cNvPr>
          <p:cNvSpPr>
            <a:spLocks noChangeShapeType="1"/>
          </p:cNvSpPr>
          <p:nvPr/>
        </p:nvSpPr>
        <p:spPr bwMode="auto">
          <a:xfrm>
            <a:off x="6423025" y="3660775"/>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7" name="Line 36">
            <a:extLst>
              <a:ext uri="{FF2B5EF4-FFF2-40B4-BE49-F238E27FC236}">
                <a16:creationId xmlns:a16="http://schemas.microsoft.com/office/drawing/2014/main" id="{A0D612A0-4F75-DC4B-58D6-7ADE2F2B3B91}"/>
              </a:ext>
            </a:extLst>
          </p:cNvPr>
          <p:cNvSpPr>
            <a:spLocks noChangeShapeType="1"/>
          </p:cNvSpPr>
          <p:nvPr/>
        </p:nvSpPr>
        <p:spPr bwMode="auto">
          <a:xfrm>
            <a:off x="8251825" y="3660775"/>
            <a:ext cx="0" cy="420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8" name="Rectangle 37">
            <a:extLst>
              <a:ext uri="{FF2B5EF4-FFF2-40B4-BE49-F238E27FC236}">
                <a16:creationId xmlns:a16="http://schemas.microsoft.com/office/drawing/2014/main" id="{25FD779C-4158-17EA-06A3-E277F6FD552D}"/>
              </a:ext>
            </a:extLst>
          </p:cNvPr>
          <p:cNvSpPr>
            <a:spLocks noChangeArrowheads="1"/>
          </p:cNvSpPr>
          <p:nvPr/>
        </p:nvSpPr>
        <p:spPr bwMode="auto">
          <a:xfrm>
            <a:off x="4935538" y="3370263"/>
            <a:ext cx="428625"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100</a:t>
            </a:r>
          </a:p>
        </p:txBody>
      </p:sp>
      <p:sp>
        <p:nvSpPr>
          <p:cNvPr id="69669" name="Rectangle 38">
            <a:extLst>
              <a:ext uri="{FF2B5EF4-FFF2-40B4-BE49-F238E27FC236}">
                <a16:creationId xmlns:a16="http://schemas.microsoft.com/office/drawing/2014/main" id="{FE568729-8D21-5B74-FE9F-4AFDD65A4F3E}"/>
              </a:ext>
            </a:extLst>
          </p:cNvPr>
          <p:cNvSpPr>
            <a:spLocks noChangeArrowheads="1"/>
          </p:cNvSpPr>
          <p:nvPr/>
        </p:nvSpPr>
        <p:spPr bwMode="auto">
          <a:xfrm>
            <a:off x="4879975" y="4508500"/>
            <a:ext cx="3959225" cy="422275"/>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310  307  304            </a:t>
            </a:r>
            <a:r>
              <a:rPr lang="zh-CN" altLang="en-US" sz="2000" b="1">
                <a:latin typeface="Times New Roman" panose="02020603050405020304" pitchFamily="18" charset="0"/>
              </a:rPr>
              <a:t>… </a:t>
            </a:r>
            <a:r>
              <a:rPr lang="zh-CN" altLang="en-US" sz="2000">
                <a:latin typeface="Times New Roman" panose="02020603050405020304" pitchFamily="18" charset="0"/>
              </a:rPr>
              <a:t>               214</a:t>
            </a:r>
          </a:p>
        </p:txBody>
      </p:sp>
      <p:sp>
        <p:nvSpPr>
          <p:cNvPr id="69670" name="Line 39">
            <a:extLst>
              <a:ext uri="{FF2B5EF4-FFF2-40B4-BE49-F238E27FC236}">
                <a16:creationId xmlns:a16="http://schemas.microsoft.com/office/drawing/2014/main" id="{94D9B681-8BC5-23FA-F609-EF4B5F0A3781}"/>
              </a:ext>
            </a:extLst>
          </p:cNvPr>
          <p:cNvSpPr>
            <a:spLocks noChangeShapeType="1"/>
          </p:cNvSpPr>
          <p:nvPr/>
        </p:nvSpPr>
        <p:spPr bwMode="auto">
          <a:xfrm>
            <a:off x="5356225" y="4508500"/>
            <a:ext cx="0" cy="4222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1" name="Line 40">
            <a:extLst>
              <a:ext uri="{FF2B5EF4-FFF2-40B4-BE49-F238E27FC236}">
                <a16:creationId xmlns:a16="http://schemas.microsoft.com/office/drawing/2014/main" id="{B412E995-CF78-7099-B039-9FA20AB5A28D}"/>
              </a:ext>
            </a:extLst>
          </p:cNvPr>
          <p:cNvSpPr>
            <a:spLocks noChangeShapeType="1"/>
          </p:cNvSpPr>
          <p:nvPr/>
        </p:nvSpPr>
        <p:spPr bwMode="auto">
          <a:xfrm>
            <a:off x="5889625" y="4508500"/>
            <a:ext cx="0" cy="4222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2" name="Line 41">
            <a:extLst>
              <a:ext uri="{FF2B5EF4-FFF2-40B4-BE49-F238E27FC236}">
                <a16:creationId xmlns:a16="http://schemas.microsoft.com/office/drawing/2014/main" id="{D2975B02-F81D-4191-F42E-DC27D8880824}"/>
              </a:ext>
            </a:extLst>
          </p:cNvPr>
          <p:cNvSpPr>
            <a:spLocks noChangeShapeType="1"/>
          </p:cNvSpPr>
          <p:nvPr/>
        </p:nvSpPr>
        <p:spPr bwMode="auto">
          <a:xfrm>
            <a:off x="6423025" y="4508500"/>
            <a:ext cx="0" cy="4222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3" name="Line 42">
            <a:extLst>
              <a:ext uri="{FF2B5EF4-FFF2-40B4-BE49-F238E27FC236}">
                <a16:creationId xmlns:a16="http://schemas.microsoft.com/office/drawing/2014/main" id="{E0D1A192-CEE9-58A0-7F5B-95D36C992F37}"/>
              </a:ext>
            </a:extLst>
          </p:cNvPr>
          <p:cNvSpPr>
            <a:spLocks noChangeShapeType="1"/>
          </p:cNvSpPr>
          <p:nvPr/>
        </p:nvSpPr>
        <p:spPr bwMode="auto">
          <a:xfrm>
            <a:off x="8251825" y="4508500"/>
            <a:ext cx="0" cy="4222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4" name="Rectangle 43">
            <a:extLst>
              <a:ext uri="{FF2B5EF4-FFF2-40B4-BE49-F238E27FC236}">
                <a16:creationId xmlns:a16="http://schemas.microsoft.com/office/drawing/2014/main" id="{6C5ED0B9-50C7-BE12-6EB7-5461E3E5FDBD}"/>
              </a:ext>
            </a:extLst>
          </p:cNvPr>
          <p:cNvSpPr>
            <a:spLocks noChangeArrowheads="1"/>
          </p:cNvSpPr>
          <p:nvPr/>
        </p:nvSpPr>
        <p:spPr bwMode="auto">
          <a:xfrm>
            <a:off x="4946650" y="4219575"/>
            <a:ext cx="42862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211</a:t>
            </a:r>
          </a:p>
        </p:txBody>
      </p:sp>
      <p:sp>
        <p:nvSpPr>
          <p:cNvPr id="69675" name="Rectangle 44">
            <a:extLst>
              <a:ext uri="{FF2B5EF4-FFF2-40B4-BE49-F238E27FC236}">
                <a16:creationId xmlns:a16="http://schemas.microsoft.com/office/drawing/2014/main" id="{640F218A-BC7F-DEDB-9244-F2BA6A7E61BB}"/>
              </a:ext>
            </a:extLst>
          </p:cNvPr>
          <p:cNvSpPr>
            <a:spLocks noChangeArrowheads="1"/>
          </p:cNvSpPr>
          <p:nvPr/>
        </p:nvSpPr>
        <p:spPr bwMode="auto">
          <a:xfrm>
            <a:off x="4879975" y="5357813"/>
            <a:ext cx="3959225" cy="420687"/>
          </a:xfrm>
          <a:prstGeom prst="rect">
            <a:avLst/>
          </a:prstGeom>
          <a:solidFill>
            <a:srgbClr val="FFFFFF"/>
          </a:solidFill>
          <a:ln w="25400">
            <a:solidFill>
              <a:srgbClr val="000000"/>
            </a:solidFill>
            <a:miter lim="800000"/>
            <a:headEnd/>
            <a:tailEnd/>
          </a:ln>
        </p:spPr>
        <p:txBody>
          <a:bodyPr lIns="54000" tIns="46800" rIns="54000" bIns="46800"/>
          <a:lstStyle/>
          <a:p>
            <a:pPr algn="just" eaLnBrk="0" hangingPunct="0"/>
            <a:r>
              <a:rPr lang="zh-CN" altLang="en-US" sz="2000">
                <a:latin typeface="Times New Roman" panose="02020603050405020304" pitchFamily="18" charset="0"/>
              </a:rPr>
              <a:t>409  406  403            </a:t>
            </a:r>
            <a:r>
              <a:rPr lang="zh-CN" altLang="en-US" sz="2000" b="1">
                <a:latin typeface="Times New Roman" panose="02020603050405020304" pitchFamily="18" charset="0"/>
              </a:rPr>
              <a:t>…</a:t>
            </a:r>
            <a:r>
              <a:rPr lang="zh-CN" altLang="en-US" sz="2000">
                <a:latin typeface="Times New Roman" panose="02020603050405020304" pitchFamily="18" charset="0"/>
              </a:rPr>
              <a:t>                313</a:t>
            </a:r>
          </a:p>
        </p:txBody>
      </p:sp>
      <p:sp>
        <p:nvSpPr>
          <p:cNvPr id="69676" name="Line 45">
            <a:extLst>
              <a:ext uri="{FF2B5EF4-FFF2-40B4-BE49-F238E27FC236}">
                <a16:creationId xmlns:a16="http://schemas.microsoft.com/office/drawing/2014/main" id="{BFFD2772-E3B9-35E9-DB39-E48666E90441}"/>
              </a:ext>
            </a:extLst>
          </p:cNvPr>
          <p:cNvSpPr>
            <a:spLocks noChangeShapeType="1"/>
          </p:cNvSpPr>
          <p:nvPr/>
        </p:nvSpPr>
        <p:spPr bwMode="auto">
          <a:xfrm>
            <a:off x="5356225" y="5357813"/>
            <a:ext cx="0" cy="420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7" name="Line 46">
            <a:extLst>
              <a:ext uri="{FF2B5EF4-FFF2-40B4-BE49-F238E27FC236}">
                <a16:creationId xmlns:a16="http://schemas.microsoft.com/office/drawing/2014/main" id="{3C891A6D-A66D-68F6-54F3-F99F58CFDE35}"/>
              </a:ext>
            </a:extLst>
          </p:cNvPr>
          <p:cNvSpPr>
            <a:spLocks noChangeShapeType="1"/>
          </p:cNvSpPr>
          <p:nvPr/>
        </p:nvSpPr>
        <p:spPr bwMode="auto">
          <a:xfrm>
            <a:off x="5889625" y="5357813"/>
            <a:ext cx="0" cy="420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8" name="Line 47">
            <a:extLst>
              <a:ext uri="{FF2B5EF4-FFF2-40B4-BE49-F238E27FC236}">
                <a16:creationId xmlns:a16="http://schemas.microsoft.com/office/drawing/2014/main" id="{23280895-508A-292C-BFA4-D2876E199279}"/>
              </a:ext>
            </a:extLst>
          </p:cNvPr>
          <p:cNvSpPr>
            <a:spLocks noChangeShapeType="1"/>
          </p:cNvSpPr>
          <p:nvPr/>
        </p:nvSpPr>
        <p:spPr bwMode="auto">
          <a:xfrm>
            <a:off x="6423025" y="5357813"/>
            <a:ext cx="0" cy="420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9" name="Line 48">
            <a:extLst>
              <a:ext uri="{FF2B5EF4-FFF2-40B4-BE49-F238E27FC236}">
                <a16:creationId xmlns:a16="http://schemas.microsoft.com/office/drawing/2014/main" id="{629C0745-AC71-A013-3C18-3EF85D8BBC99}"/>
              </a:ext>
            </a:extLst>
          </p:cNvPr>
          <p:cNvSpPr>
            <a:spLocks noChangeShapeType="1"/>
          </p:cNvSpPr>
          <p:nvPr/>
        </p:nvSpPr>
        <p:spPr bwMode="auto">
          <a:xfrm>
            <a:off x="8251825" y="5357813"/>
            <a:ext cx="0" cy="420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0" name="Rectangle 49">
            <a:extLst>
              <a:ext uri="{FF2B5EF4-FFF2-40B4-BE49-F238E27FC236}">
                <a16:creationId xmlns:a16="http://schemas.microsoft.com/office/drawing/2014/main" id="{2F6E331D-7E2D-083E-9C1A-0A64ED8E67A6}"/>
              </a:ext>
            </a:extLst>
          </p:cNvPr>
          <p:cNvSpPr>
            <a:spLocks noChangeArrowheads="1"/>
          </p:cNvSpPr>
          <p:nvPr/>
        </p:nvSpPr>
        <p:spPr bwMode="auto">
          <a:xfrm>
            <a:off x="4946650" y="5068888"/>
            <a:ext cx="42862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310</a:t>
            </a:r>
          </a:p>
        </p:txBody>
      </p:sp>
      <p:sp>
        <p:nvSpPr>
          <p:cNvPr id="69681" name="Freeform 50">
            <a:extLst>
              <a:ext uri="{FF2B5EF4-FFF2-40B4-BE49-F238E27FC236}">
                <a16:creationId xmlns:a16="http://schemas.microsoft.com/office/drawing/2014/main" id="{988D5424-FDE6-F031-BD52-226A1AC59245}"/>
              </a:ext>
            </a:extLst>
          </p:cNvPr>
          <p:cNvSpPr>
            <a:spLocks noChangeArrowheads="1"/>
          </p:cNvSpPr>
          <p:nvPr/>
        </p:nvSpPr>
        <p:spPr bwMode="auto">
          <a:xfrm>
            <a:off x="4670425" y="3176588"/>
            <a:ext cx="412750" cy="736600"/>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82" name="Freeform 51">
            <a:extLst>
              <a:ext uri="{FF2B5EF4-FFF2-40B4-BE49-F238E27FC236}">
                <a16:creationId xmlns:a16="http://schemas.microsoft.com/office/drawing/2014/main" id="{F40E3407-B2C1-2C77-4DA0-CE0717D2E9F8}"/>
              </a:ext>
            </a:extLst>
          </p:cNvPr>
          <p:cNvSpPr>
            <a:spLocks noChangeArrowheads="1"/>
          </p:cNvSpPr>
          <p:nvPr/>
        </p:nvSpPr>
        <p:spPr bwMode="auto">
          <a:xfrm>
            <a:off x="4670425" y="4067175"/>
            <a:ext cx="412750" cy="736600"/>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83" name="Freeform 52">
            <a:extLst>
              <a:ext uri="{FF2B5EF4-FFF2-40B4-BE49-F238E27FC236}">
                <a16:creationId xmlns:a16="http://schemas.microsoft.com/office/drawing/2014/main" id="{1991EFD6-78B8-0DB3-FD08-B9D61CDC42F4}"/>
              </a:ext>
            </a:extLst>
          </p:cNvPr>
          <p:cNvSpPr>
            <a:spLocks noChangeArrowheads="1"/>
          </p:cNvSpPr>
          <p:nvPr/>
        </p:nvSpPr>
        <p:spPr bwMode="auto">
          <a:xfrm>
            <a:off x="4670425" y="4943475"/>
            <a:ext cx="412750" cy="736600"/>
          </a:xfrm>
          <a:custGeom>
            <a:avLst/>
            <a:gdLst>
              <a:gd name="T0" fmla="*/ 542 w 542"/>
              <a:gd name="T1" fmla="*/ 0 h 795"/>
              <a:gd name="T2" fmla="*/ 512 w 542"/>
              <a:gd name="T3" fmla="*/ 135 h 795"/>
              <a:gd name="T4" fmla="*/ 362 w 542"/>
              <a:gd name="T5" fmla="*/ 195 h 795"/>
              <a:gd name="T6" fmla="*/ 152 w 542"/>
              <a:gd name="T7" fmla="*/ 255 h 795"/>
              <a:gd name="T8" fmla="*/ 17 w 542"/>
              <a:gd name="T9" fmla="*/ 420 h 795"/>
              <a:gd name="T10" fmla="*/ 47 w 542"/>
              <a:gd name="T11" fmla="*/ 585 h 795"/>
              <a:gd name="T12" fmla="*/ 122 w 542"/>
              <a:gd name="T13" fmla="*/ 705 h 795"/>
              <a:gd name="T14" fmla="*/ 287 w 542"/>
              <a:gd name="T15" fmla="*/ 795 h 7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2" h="795">
                <a:moveTo>
                  <a:pt x="542" y="0"/>
                </a:moveTo>
                <a:cubicBezTo>
                  <a:pt x="535" y="25"/>
                  <a:pt x="542" y="103"/>
                  <a:pt x="512" y="135"/>
                </a:cubicBezTo>
                <a:cubicBezTo>
                  <a:pt x="482" y="167"/>
                  <a:pt x="422" y="175"/>
                  <a:pt x="362" y="195"/>
                </a:cubicBezTo>
                <a:cubicBezTo>
                  <a:pt x="302" y="215"/>
                  <a:pt x="209" y="218"/>
                  <a:pt x="152" y="255"/>
                </a:cubicBezTo>
                <a:cubicBezTo>
                  <a:pt x="95" y="292"/>
                  <a:pt x="34" y="365"/>
                  <a:pt x="17" y="420"/>
                </a:cubicBezTo>
                <a:cubicBezTo>
                  <a:pt x="0" y="475"/>
                  <a:pt x="30" y="538"/>
                  <a:pt x="47" y="585"/>
                </a:cubicBezTo>
                <a:cubicBezTo>
                  <a:pt x="64" y="632"/>
                  <a:pt x="82" y="670"/>
                  <a:pt x="122" y="705"/>
                </a:cubicBezTo>
                <a:cubicBezTo>
                  <a:pt x="162" y="740"/>
                  <a:pt x="253" y="776"/>
                  <a:pt x="287" y="795"/>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84" name="Line 53">
            <a:extLst>
              <a:ext uri="{FF2B5EF4-FFF2-40B4-BE49-F238E27FC236}">
                <a16:creationId xmlns:a16="http://schemas.microsoft.com/office/drawing/2014/main" id="{1009E8EA-F38B-98A3-9FC1-1DFC770D7D66}"/>
              </a:ext>
            </a:extLst>
          </p:cNvPr>
          <p:cNvSpPr>
            <a:spLocks noChangeShapeType="1"/>
          </p:cNvSpPr>
          <p:nvPr/>
        </p:nvSpPr>
        <p:spPr bwMode="auto">
          <a:xfrm>
            <a:off x="5094288" y="5778500"/>
            <a:ext cx="0" cy="3937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8A1A06DB-8847-D314-B5FD-467664B0DBB5}"/>
              </a:ext>
            </a:extLst>
          </p:cNvPr>
          <p:cNvSpPr>
            <a:spLocks noGrp="1"/>
          </p:cNvSpPr>
          <p:nvPr>
            <p:ph type="sldNum" sz="quarter" idx="12"/>
          </p:nvPr>
        </p:nvSpPr>
        <p:spPr/>
        <p:txBody>
          <a:bodyPr/>
          <a:lstStyle/>
          <a:p>
            <a:fld id="{4093CC90-4002-504C-BD88-C9A1D374048E}" type="slidenum">
              <a:rPr lang="zh-CN" altLang="en-US" smtClean="0"/>
              <a:pPr/>
              <a:t>143</a:t>
            </a:fld>
            <a:endParaRPr lang="zh-CN" altLang="en-US" dirty="0"/>
          </a:p>
        </p:txBody>
      </p:sp>
    </p:spTree>
  </p:cSld>
  <p:clrMapOvr>
    <a:masterClrMapping/>
  </p:clrMapOvr>
  <p:transition spd="med">
    <p:zo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D713A0BE-3EF8-BBD4-3818-7930EC4878EA}"/>
              </a:ext>
            </a:extLst>
          </p:cNvPr>
          <p:cNvSpPr>
            <a:spLocks noGrp="1" noChangeArrowheads="1"/>
          </p:cNvSpPr>
          <p:nvPr>
            <p:ph type="title"/>
          </p:nvPr>
        </p:nvSpPr>
        <p:spPr/>
        <p:txBody>
          <a:bodyPr/>
          <a:lstStyle/>
          <a:p>
            <a:pPr eaLnBrk="1" hangingPunct="1"/>
            <a:r>
              <a:rPr lang="zh-CN" altLang="en-US" b="1"/>
              <a:t>空闲文件目录</a:t>
            </a:r>
          </a:p>
        </p:txBody>
      </p:sp>
      <p:sp>
        <p:nvSpPr>
          <p:cNvPr id="345091" name="Rectangle 3">
            <a:extLst>
              <a:ext uri="{FF2B5EF4-FFF2-40B4-BE49-F238E27FC236}">
                <a16:creationId xmlns:a16="http://schemas.microsoft.com/office/drawing/2014/main" id="{1B54B586-A453-8C9D-C667-B69FA2C3A027}"/>
              </a:ext>
            </a:extLst>
          </p:cNvPr>
          <p:cNvSpPr>
            <a:spLocks noGrp="1" noChangeArrowheads="1"/>
          </p:cNvSpPr>
          <p:nvPr>
            <p:ph idx="1"/>
          </p:nvPr>
        </p:nvSpPr>
        <p:spPr>
          <a:xfrm>
            <a:off x="684213" y="1196975"/>
            <a:ext cx="8307387" cy="4645025"/>
          </a:xfrm>
        </p:spPr>
        <p:txBody>
          <a:bodyPr/>
          <a:lstStyle/>
          <a:p>
            <a:pPr algn="just" eaLnBrk="1" hangingPunct="1"/>
            <a:r>
              <a:rPr lang="zh-CN" altLang="en-US"/>
              <a:t>文件存储设备上的一个连续空闲区可以看作一个空闲文件，又称空白文件或自由文件。</a:t>
            </a:r>
          </a:p>
          <a:p>
            <a:pPr algn="just" eaLnBrk="1" hangingPunct="1"/>
            <a:r>
              <a:rPr lang="zh-CN" altLang="en-US">
                <a:solidFill>
                  <a:srgbClr val="FF0000"/>
                </a:solidFill>
              </a:rPr>
              <a:t>空闲文件目录</a:t>
            </a:r>
            <a:r>
              <a:rPr lang="zh-CN" altLang="en-US"/>
              <a:t>方法为所有空闲文件建立一个目录，每个空闲文件在该目录中占一个表目，其中至少包括：空闲区序号、第一个空闲块块号、空闲块数目等信息。</a:t>
            </a:r>
          </a:p>
        </p:txBody>
      </p:sp>
      <p:sp>
        <p:nvSpPr>
          <p:cNvPr id="2" name="灯片编号占位符 1">
            <a:extLst>
              <a:ext uri="{FF2B5EF4-FFF2-40B4-BE49-F238E27FC236}">
                <a16:creationId xmlns:a16="http://schemas.microsoft.com/office/drawing/2014/main" id="{7C550CA9-A96B-8FA0-4504-39442FD03C0A}"/>
              </a:ext>
            </a:extLst>
          </p:cNvPr>
          <p:cNvSpPr>
            <a:spLocks noGrp="1"/>
          </p:cNvSpPr>
          <p:nvPr>
            <p:ph type="sldNum" sz="quarter" idx="12"/>
          </p:nvPr>
        </p:nvSpPr>
        <p:spPr/>
        <p:txBody>
          <a:bodyPr/>
          <a:lstStyle/>
          <a:p>
            <a:fld id="{4093CC90-4002-504C-BD88-C9A1D374048E}" type="slidenum">
              <a:rPr lang="zh-CN" altLang="en-US" smtClean="0"/>
              <a:pPr/>
              <a:t>144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Effect transition="in" filter="checkerboard(across)">
                                      <p:cBhvr>
                                        <p:cTn id="7" dur="500"/>
                                        <p:tgtEl>
                                          <p:spTgt spid="345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5091">
                                            <p:txEl>
                                              <p:pRg st="1" end="1"/>
                                            </p:txEl>
                                          </p:spTgt>
                                        </p:tgtEl>
                                        <p:attrNameLst>
                                          <p:attrName>style.visibility</p:attrName>
                                        </p:attrNameLst>
                                      </p:cBhvr>
                                      <p:to>
                                        <p:strVal val="visible"/>
                                      </p:to>
                                    </p:set>
                                    <p:animEffect transition="in" filter="checkerboard(across)">
                                      <p:cBhvr>
                                        <p:cTn id="12" dur="500"/>
                                        <p:tgtEl>
                                          <p:spTgt spid="3450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3DB23D99-F93C-FD29-A45E-EA2082A7D55F}"/>
              </a:ext>
            </a:extLst>
          </p:cNvPr>
          <p:cNvSpPr>
            <a:spLocks noGrp="1" noChangeArrowheads="1"/>
          </p:cNvSpPr>
          <p:nvPr>
            <p:ph type="title"/>
          </p:nvPr>
        </p:nvSpPr>
        <p:spPr>
          <a:xfrm>
            <a:off x="1042988" y="225431"/>
            <a:ext cx="7850187" cy="746125"/>
          </a:xfrm>
        </p:spPr>
        <p:txBody>
          <a:bodyPr/>
          <a:lstStyle/>
          <a:p>
            <a:r>
              <a:rPr lang="zh-CN" altLang="en-US"/>
              <a:t>空闲文件目录示例</a:t>
            </a:r>
          </a:p>
        </p:txBody>
      </p:sp>
      <p:sp>
        <p:nvSpPr>
          <p:cNvPr id="71682" name="Rectangle 3">
            <a:extLst>
              <a:ext uri="{FF2B5EF4-FFF2-40B4-BE49-F238E27FC236}">
                <a16:creationId xmlns:a16="http://schemas.microsoft.com/office/drawing/2014/main" id="{D9E40EB9-6C92-2D16-A6D6-F93A3496A6F0}"/>
              </a:ext>
            </a:extLst>
          </p:cNvPr>
          <p:cNvSpPr>
            <a:spLocks noGrp="1" noChangeArrowheads="1"/>
          </p:cNvSpPr>
          <p:nvPr>
            <p:ph idx="1"/>
          </p:nvPr>
        </p:nvSpPr>
        <p:spPr>
          <a:xfrm>
            <a:off x="935038" y="1233488"/>
            <a:ext cx="7772400" cy="4895850"/>
          </a:xfrm>
        </p:spPr>
        <p:txBody>
          <a:bodyPr/>
          <a:lstStyle/>
          <a:p>
            <a:r>
              <a:rPr lang="zh-CN" altLang="en-US"/>
              <a:t>下面给出了一个空闲目录的例子。</a:t>
            </a:r>
          </a:p>
        </p:txBody>
      </p:sp>
      <p:sp>
        <p:nvSpPr>
          <p:cNvPr id="2" name="灯片编号占位符 1">
            <a:extLst>
              <a:ext uri="{FF2B5EF4-FFF2-40B4-BE49-F238E27FC236}">
                <a16:creationId xmlns:a16="http://schemas.microsoft.com/office/drawing/2014/main" id="{E8A6DC9B-E712-7336-D460-4E410A3CA90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145</a:t>
            </a:fld>
            <a:endParaRPr lang="zh-CN" altLang="en-US" dirty="0"/>
          </a:p>
        </p:txBody>
      </p:sp>
      <p:graphicFrame>
        <p:nvGraphicFramePr>
          <p:cNvPr id="73732" name="表格 73731">
            <a:extLst>
              <a:ext uri="{FF2B5EF4-FFF2-40B4-BE49-F238E27FC236}">
                <a16:creationId xmlns:a16="http://schemas.microsoft.com/office/drawing/2014/main" id="{15347267-3D24-F9BE-E3BF-BC857910F8D7}"/>
              </a:ext>
            </a:extLst>
          </p:cNvPr>
          <p:cNvGraphicFramePr>
            <a:graphicFrameLocks noGrp="1"/>
          </p:cNvGraphicFramePr>
          <p:nvPr/>
        </p:nvGraphicFramePr>
        <p:xfrm>
          <a:off x="685800" y="2362200"/>
          <a:ext cx="8001000" cy="2421890"/>
        </p:xfrm>
        <a:graphic>
          <a:graphicData uri="http://schemas.openxmlformats.org/drawingml/2006/table">
            <a:tbl>
              <a:tblPr/>
              <a:tblGrid>
                <a:gridCol w="990600">
                  <a:extLst>
                    <a:ext uri="{9D8B030D-6E8A-4147-A177-3AD203B41FA5}">
                      <a16:colId xmlns:a16="http://schemas.microsoft.com/office/drawing/2014/main" val="1216188416"/>
                    </a:ext>
                  </a:extLst>
                </a:gridCol>
                <a:gridCol w="1981200">
                  <a:extLst>
                    <a:ext uri="{9D8B030D-6E8A-4147-A177-3AD203B41FA5}">
                      <a16:colId xmlns:a16="http://schemas.microsoft.com/office/drawing/2014/main" val="1443975387"/>
                    </a:ext>
                  </a:extLst>
                </a:gridCol>
                <a:gridCol w="1524000">
                  <a:extLst>
                    <a:ext uri="{9D8B030D-6E8A-4147-A177-3AD203B41FA5}">
                      <a16:colId xmlns:a16="http://schemas.microsoft.com/office/drawing/2014/main" val="2217208231"/>
                    </a:ext>
                  </a:extLst>
                </a:gridCol>
                <a:gridCol w="3505200">
                  <a:extLst>
                    <a:ext uri="{9D8B030D-6E8A-4147-A177-3AD203B41FA5}">
                      <a16:colId xmlns:a16="http://schemas.microsoft.com/office/drawing/2014/main" val="2258847482"/>
                    </a:ext>
                  </a:extLst>
                </a:gridCol>
              </a:tblGrid>
              <a:tr h="41592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序号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第一个空闲块号</a:t>
                      </a:r>
                      <a:endPar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空闲块个数</a:t>
                      </a:r>
                      <a:endPar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物理块号</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46330873"/>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（5，6，7）</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56136724"/>
                  </a:ext>
                </a:extLst>
              </a:tr>
              <a:tr h="396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（13，14，15，16，17）</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06946335"/>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6</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（20，21，22，23，24，25）</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12003038"/>
                  </a:ext>
                </a:extLst>
              </a:tr>
              <a:tr h="4699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rPr>
                        <a:t>--</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66718402"/>
                  </a:ext>
                </a:extLst>
              </a:tr>
            </a:tbl>
          </a:graphicData>
        </a:graphic>
      </p:graphicFrame>
    </p:spTree>
  </p:cSld>
  <p:clrMapOvr>
    <a:masterClrMapping/>
  </p:clrMapOvr>
  <p:transition spd="med">
    <p:zoom/>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15457CB6-073A-F12A-8ED6-A87CE5511E8C}"/>
              </a:ext>
            </a:extLst>
          </p:cNvPr>
          <p:cNvSpPr>
            <a:spLocks noGrp="1" noChangeArrowheads="1"/>
          </p:cNvSpPr>
          <p:nvPr>
            <p:ph type="title"/>
          </p:nvPr>
        </p:nvSpPr>
        <p:spPr>
          <a:xfrm>
            <a:off x="1042988" y="225431"/>
            <a:ext cx="7850187" cy="746125"/>
          </a:xfrm>
        </p:spPr>
        <p:txBody>
          <a:bodyPr/>
          <a:lstStyle/>
          <a:p>
            <a:r>
              <a:rPr lang="zh-CN" altLang="en-US" sz="4000" dirty="0"/>
              <a:t>空闲文件目录法的空闲空间管理</a:t>
            </a:r>
          </a:p>
        </p:txBody>
      </p:sp>
      <p:sp>
        <p:nvSpPr>
          <p:cNvPr id="347139" name="Rectangle 3">
            <a:extLst>
              <a:ext uri="{FF2B5EF4-FFF2-40B4-BE49-F238E27FC236}">
                <a16:creationId xmlns:a16="http://schemas.microsoft.com/office/drawing/2014/main" id="{77ABA92B-81C4-4EBD-B9C5-39DD194AAB34}"/>
              </a:ext>
            </a:extLst>
          </p:cNvPr>
          <p:cNvSpPr>
            <a:spLocks noGrp="1" noChangeArrowheads="1"/>
          </p:cNvSpPr>
          <p:nvPr>
            <p:ph idx="1"/>
          </p:nvPr>
        </p:nvSpPr>
        <p:spPr>
          <a:xfrm>
            <a:off x="935038" y="1233488"/>
            <a:ext cx="7772400" cy="4895850"/>
          </a:xfrm>
        </p:spPr>
        <p:txBody>
          <a:bodyPr/>
          <a:lstStyle/>
          <a:p>
            <a:r>
              <a:rPr lang="zh-CN" altLang="en-US"/>
              <a:t>当请求分配存储空间时，系统依次扫描空闲文件目录，直到找到一个能满足要求的空闲文件为止。若该文件大小大于申请空间量则还要进行划分。</a:t>
            </a:r>
          </a:p>
          <a:p>
            <a:r>
              <a:rPr lang="zh-CN" altLang="en-US"/>
              <a:t>当回收存储空间时，也需要顺序扫描空闲文件目录，寻找一个空表目，并将释放空间的第一个物理块号以及释放空间的块数填到这个表目中。若释放空间与已有空闲文件邻接，则需进行合并。</a:t>
            </a:r>
          </a:p>
        </p:txBody>
      </p:sp>
      <p:sp>
        <p:nvSpPr>
          <p:cNvPr id="2" name="灯片编号占位符 1">
            <a:extLst>
              <a:ext uri="{FF2B5EF4-FFF2-40B4-BE49-F238E27FC236}">
                <a16:creationId xmlns:a16="http://schemas.microsoft.com/office/drawing/2014/main" id="{41E086CE-0943-9AF9-9354-8D6D4FC8052D}"/>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Effect transition="in" filter="checkerboard(across)">
                                      <p:cBhvr>
                                        <p:cTn id="7" dur="500"/>
                                        <p:tgtEl>
                                          <p:spTgt spid="347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7139">
                                            <p:txEl>
                                              <p:pRg st="1" end="1"/>
                                            </p:txEl>
                                          </p:spTgt>
                                        </p:tgtEl>
                                        <p:attrNameLst>
                                          <p:attrName>style.visibility</p:attrName>
                                        </p:attrNameLst>
                                      </p:cBhvr>
                                      <p:to>
                                        <p:strVal val="visible"/>
                                      </p:to>
                                    </p:set>
                                    <p:animEffect transition="in" filter="checkerboard(across)">
                                      <p:cBhvr>
                                        <p:cTn id="12" dur="500"/>
                                        <p:tgtEl>
                                          <p:spTgt spid="3471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FEB3FC9-03CE-D567-C6B0-376903AA0084}"/>
              </a:ext>
            </a:extLst>
          </p:cNvPr>
          <p:cNvSpPr>
            <a:spLocks noGrp="1" noChangeArrowheads="1"/>
          </p:cNvSpPr>
          <p:nvPr>
            <p:ph type="title"/>
          </p:nvPr>
        </p:nvSpPr>
        <p:spPr/>
        <p:txBody>
          <a:bodyPr/>
          <a:lstStyle/>
          <a:p>
            <a:pPr eaLnBrk="1" hangingPunct="1"/>
            <a:r>
              <a:rPr lang="zh-CN" altLang="en-US" sz="4000"/>
              <a:t>空闲文件目录法的特点</a:t>
            </a:r>
          </a:p>
        </p:txBody>
      </p:sp>
      <p:sp>
        <p:nvSpPr>
          <p:cNvPr id="348163" name="Rectangle 3">
            <a:extLst>
              <a:ext uri="{FF2B5EF4-FFF2-40B4-BE49-F238E27FC236}">
                <a16:creationId xmlns:a16="http://schemas.microsoft.com/office/drawing/2014/main" id="{60FF2DB0-CA73-37E6-C9B9-76C54B5790E7}"/>
              </a:ext>
            </a:extLst>
          </p:cNvPr>
          <p:cNvSpPr>
            <a:spLocks noGrp="1" noChangeArrowheads="1"/>
          </p:cNvSpPr>
          <p:nvPr>
            <p:ph idx="1"/>
          </p:nvPr>
        </p:nvSpPr>
        <p:spPr>
          <a:xfrm>
            <a:off x="685800" y="1196975"/>
            <a:ext cx="8305800" cy="4535488"/>
          </a:xfrm>
        </p:spPr>
        <p:txBody>
          <a:bodyPr/>
          <a:lstStyle/>
          <a:p>
            <a:pPr algn="just" eaLnBrk="1" hangingPunct="1"/>
            <a:r>
              <a:rPr lang="zh-CN" altLang="en-US"/>
              <a:t>显然，只要将动态分区管理方法中的算法稍作修改，即可用于空闲文件目录方法。</a:t>
            </a:r>
          </a:p>
          <a:p>
            <a:pPr algn="just" eaLnBrk="1" hangingPunct="1"/>
            <a:r>
              <a:rPr lang="zh-CN" altLang="en-US"/>
              <a:t>特点：仅当文件存储空间中只有少量空闲文件时该方法有比较好的效果，否则空闲目录变大导致其效率下降。该方法仅适用于连续文件。</a:t>
            </a:r>
          </a:p>
        </p:txBody>
      </p:sp>
      <p:sp>
        <p:nvSpPr>
          <p:cNvPr id="2" name="灯片编号占位符 1">
            <a:extLst>
              <a:ext uri="{FF2B5EF4-FFF2-40B4-BE49-F238E27FC236}">
                <a16:creationId xmlns:a16="http://schemas.microsoft.com/office/drawing/2014/main" id="{8D45C136-CF16-E82F-9955-EA7C7A91C420}"/>
              </a:ext>
            </a:extLst>
          </p:cNvPr>
          <p:cNvSpPr>
            <a:spLocks noGrp="1"/>
          </p:cNvSpPr>
          <p:nvPr>
            <p:ph type="sldNum" sz="quarter" idx="12"/>
          </p:nvPr>
        </p:nvSpPr>
        <p:spPr/>
        <p:txBody>
          <a:bodyPr/>
          <a:lstStyle/>
          <a:p>
            <a:fld id="{4093CC90-4002-504C-BD88-C9A1D374048E}" type="slidenum">
              <a:rPr lang="zh-CN" altLang="en-US" smtClean="0"/>
              <a:pPr/>
              <a:t>147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8163">
                                            <p:txEl>
                                              <p:pRg st="0" end="0"/>
                                            </p:txEl>
                                          </p:spTgt>
                                        </p:tgtEl>
                                        <p:attrNameLst>
                                          <p:attrName>style.visibility</p:attrName>
                                        </p:attrNameLst>
                                      </p:cBhvr>
                                      <p:to>
                                        <p:strVal val="visible"/>
                                      </p:to>
                                    </p:set>
                                    <p:animEffect transition="in" filter="checkerboard(across)">
                                      <p:cBhvr>
                                        <p:cTn id="7" dur="500"/>
                                        <p:tgtEl>
                                          <p:spTgt spid="3481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8163">
                                            <p:txEl>
                                              <p:pRg st="1" end="1"/>
                                            </p:txEl>
                                          </p:spTgt>
                                        </p:tgtEl>
                                        <p:attrNameLst>
                                          <p:attrName>style.visibility</p:attrName>
                                        </p:attrNameLst>
                                      </p:cBhvr>
                                      <p:to>
                                        <p:strVal val="visible"/>
                                      </p:to>
                                    </p:set>
                                    <p:animEffect transition="in" filter="checkerboard(across)">
                                      <p:cBhvr>
                                        <p:cTn id="12" dur="500"/>
                                        <p:tgtEl>
                                          <p:spTgt spid="348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0CDD10D9-611D-E314-E94B-DF4B34B148B5}"/>
              </a:ext>
            </a:extLst>
          </p:cNvPr>
          <p:cNvSpPr>
            <a:spLocks noGrp="1" noChangeArrowheads="1"/>
          </p:cNvSpPr>
          <p:nvPr>
            <p:ph type="title"/>
          </p:nvPr>
        </p:nvSpPr>
        <p:spPr>
          <a:xfrm>
            <a:off x="1042988" y="225431"/>
            <a:ext cx="7850187" cy="746125"/>
          </a:xfrm>
        </p:spPr>
        <p:txBody>
          <a:bodyPr/>
          <a:lstStyle/>
          <a:p>
            <a:r>
              <a:rPr lang="zh-CN" altLang="en-US" dirty="0"/>
              <a:t>恢复 </a:t>
            </a:r>
            <a:r>
              <a:rPr lang="en-US" altLang="zh-CN" dirty="0"/>
              <a:t>Recovery</a:t>
            </a:r>
          </a:p>
        </p:txBody>
      </p:sp>
      <p:sp>
        <p:nvSpPr>
          <p:cNvPr id="74754" name="Rectangle 3">
            <a:extLst>
              <a:ext uri="{FF2B5EF4-FFF2-40B4-BE49-F238E27FC236}">
                <a16:creationId xmlns:a16="http://schemas.microsoft.com/office/drawing/2014/main" id="{8458CFB3-B451-E223-4D42-8A64691E0D12}"/>
              </a:ext>
            </a:extLst>
          </p:cNvPr>
          <p:cNvSpPr>
            <a:spLocks noGrp="1" noChangeArrowheads="1"/>
          </p:cNvSpPr>
          <p:nvPr>
            <p:ph idx="1"/>
          </p:nvPr>
        </p:nvSpPr>
        <p:spPr>
          <a:xfrm>
            <a:off x="935038" y="1233488"/>
            <a:ext cx="7772400" cy="4895850"/>
          </a:xfrm>
        </p:spPr>
        <p:txBody>
          <a:bodyPr/>
          <a:lstStyle/>
          <a:p>
            <a:r>
              <a:rPr lang="zh-CN" altLang="en-US" dirty="0"/>
              <a:t>由于文件及目录可保存在内存和磁盘上，所以必须确保系统失败不会引起数据丢失及不一致。</a:t>
            </a:r>
          </a:p>
          <a:p>
            <a:r>
              <a:rPr lang="en-US" altLang="zh-CN" dirty="0"/>
              <a:t>   </a:t>
            </a:r>
          </a:p>
        </p:txBody>
      </p:sp>
      <p:sp>
        <p:nvSpPr>
          <p:cNvPr id="2" name="灯片编号占位符 1">
            <a:extLst>
              <a:ext uri="{FF2B5EF4-FFF2-40B4-BE49-F238E27FC236}">
                <a16:creationId xmlns:a16="http://schemas.microsoft.com/office/drawing/2014/main" id="{B7BB2CB5-C8FD-0C8E-7E47-1C6336EA72D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148</a:t>
            </a:fld>
            <a:endParaRPr lang="zh-CN" altLang="en-US" dirty="0"/>
          </a:p>
        </p:txBody>
      </p:sp>
    </p:spTree>
  </p:cSld>
  <p:clrMapOvr>
    <a:masterClrMapping/>
  </p:clrMapOvr>
  <p:transition spd="med">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ACEECE2E-04CF-BBAB-6701-8831F5AF2BAB}"/>
              </a:ext>
            </a:extLst>
          </p:cNvPr>
          <p:cNvSpPr>
            <a:spLocks noGrp="1" noChangeArrowheads="1"/>
          </p:cNvSpPr>
          <p:nvPr>
            <p:ph type="title"/>
          </p:nvPr>
        </p:nvSpPr>
        <p:spPr>
          <a:xfrm>
            <a:off x="1042988" y="225431"/>
            <a:ext cx="7850187" cy="746125"/>
          </a:xfrm>
        </p:spPr>
        <p:txBody>
          <a:bodyPr/>
          <a:lstStyle/>
          <a:p>
            <a:r>
              <a:rPr lang="zh-CN" altLang="en-US" dirty="0"/>
              <a:t>一致性检查</a:t>
            </a:r>
            <a:endParaRPr lang="en-US" altLang="zh-CN" dirty="0"/>
          </a:p>
        </p:txBody>
      </p:sp>
      <p:sp>
        <p:nvSpPr>
          <p:cNvPr id="75778" name="Rectangle 3">
            <a:extLst>
              <a:ext uri="{FF2B5EF4-FFF2-40B4-BE49-F238E27FC236}">
                <a16:creationId xmlns:a16="http://schemas.microsoft.com/office/drawing/2014/main" id="{357A0830-E81F-4EB6-1040-7E946F534792}"/>
              </a:ext>
            </a:extLst>
          </p:cNvPr>
          <p:cNvSpPr>
            <a:spLocks noGrp="1" noChangeArrowheads="1"/>
          </p:cNvSpPr>
          <p:nvPr>
            <p:ph idx="1"/>
          </p:nvPr>
        </p:nvSpPr>
        <p:spPr>
          <a:xfrm>
            <a:off x="935038" y="1233488"/>
            <a:ext cx="7772400" cy="4895850"/>
          </a:xfrm>
        </p:spPr>
        <p:txBody>
          <a:bodyPr/>
          <a:lstStyle/>
          <a:p>
            <a:r>
              <a:rPr lang="zh-CN" altLang="en-US" dirty="0"/>
              <a:t>系统崩溃时有可能导致信息的丢失。</a:t>
            </a:r>
          </a:p>
          <a:p>
            <a:r>
              <a:rPr lang="zh-CN" altLang="en-US" dirty="0"/>
              <a:t>一致性检查：比较目录结构中的数据和磁盘块中的数据，尝试着去修正不一致。</a:t>
            </a:r>
          </a:p>
        </p:txBody>
      </p:sp>
      <p:sp>
        <p:nvSpPr>
          <p:cNvPr id="2" name="灯片编号占位符 1">
            <a:extLst>
              <a:ext uri="{FF2B5EF4-FFF2-40B4-BE49-F238E27FC236}">
                <a16:creationId xmlns:a16="http://schemas.microsoft.com/office/drawing/2014/main" id="{CFE31051-272A-0CA3-1CC1-2A0F117B348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149</a:t>
            </a:fld>
            <a:endParaRPr lang="zh-CN" altLang="en-US" dirty="0"/>
          </a:p>
        </p:txBody>
      </p:sp>
    </p:spTree>
  </p:cSld>
  <p:clrMapOvr>
    <a:masterClrMapping/>
  </p:clrMapOvr>
  <p:transition spd="med">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0B41A003-9213-CE93-D27E-61C178082508}"/>
              </a:ext>
            </a:extLst>
          </p:cNvPr>
          <p:cNvSpPr>
            <a:spLocks noGrp="1" noChangeArrowheads="1"/>
          </p:cNvSpPr>
          <p:nvPr>
            <p:ph type="title"/>
          </p:nvPr>
        </p:nvSpPr>
        <p:spPr>
          <a:xfrm>
            <a:off x="1042988" y="225431"/>
            <a:ext cx="7850187" cy="746125"/>
          </a:xfrm>
        </p:spPr>
        <p:txBody>
          <a:bodyPr/>
          <a:lstStyle/>
          <a:p>
            <a:r>
              <a:rPr lang="zh-CN" altLang="en-US" dirty="0"/>
              <a:t>备份和恢复</a:t>
            </a:r>
            <a:endParaRPr lang="en-US" altLang="zh-CN" dirty="0"/>
          </a:p>
        </p:txBody>
      </p:sp>
      <p:sp>
        <p:nvSpPr>
          <p:cNvPr id="76802" name="Rectangle 3">
            <a:extLst>
              <a:ext uri="{FF2B5EF4-FFF2-40B4-BE49-F238E27FC236}">
                <a16:creationId xmlns:a16="http://schemas.microsoft.com/office/drawing/2014/main" id="{8EDF2D76-AF4C-034A-D21C-F9528AE6ED28}"/>
              </a:ext>
            </a:extLst>
          </p:cNvPr>
          <p:cNvSpPr>
            <a:spLocks noGrp="1" noChangeArrowheads="1"/>
          </p:cNvSpPr>
          <p:nvPr>
            <p:ph idx="1"/>
          </p:nvPr>
        </p:nvSpPr>
        <p:spPr>
          <a:xfrm>
            <a:off x="935038" y="1233488"/>
            <a:ext cx="7772400" cy="4895850"/>
          </a:xfrm>
        </p:spPr>
        <p:txBody>
          <a:bodyPr/>
          <a:lstStyle/>
          <a:p>
            <a:r>
              <a:rPr lang="zh-CN" altLang="en-US"/>
              <a:t>文件系统备份（转储）的方法有两种：</a:t>
            </a:r>
          </a:p>
          <a:p>
            <a:pPr lvl="1"/>
            <a:r>
              <a:rPr lang="zh-CN" altLang="en-US"/>
              <a:t>全量转储</a:t>
            </a:r>
          </a:p>
          <a:p>
            <a:pPr lvl="1"/>
            <a:r>
              <a:rPr lang="zh-CN" altLang="en-US"/>
              <a:t>增量转储</a:t>
            </a:r>
          </a:p>
          <a:p>
            <a:endParaRPr lang="zh-CN" altLang="en-US"/>
          </a:p>
        </p:txBody>
      </p:sp>
      <p:sp>
        <p:nvSpPr>
          <p:cNvPr id="2" name="灯片编号占位符 1">
            <a:extLst>
              <a:ext uri="{FF2B5EF4-FFF2-40B4-BE49-F238E27FC236}">
                <a16:creationId xmlns:a16="http://schemas.microsoft.com/office/drawing/2014/main" id="{BAB08446-0B21-39F4-49C1-867E87CF9AA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150</a:t>
            </a:fld>
            <a:endParaRPr lang="zh-CN" altLang="en-US" dirty="0"/>
          </a:p>
        </p:txBody>
      </p:sp>
    </p:spTree>
  </p:cSld>
  <p:clrMapOvr>
    <a:masterClrMapping/>
  </p:clrMapOvr>
  <p:transition spd="med">
    <p:zo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E4C7022D-8463-78FA-0F12-DE527A024428}"/>
              </a:ext>
            </a:extLst>
          </p:cNvPr>
          <p:cNvSpPr>
            <a:spLocks noGrp="1" noChangeArrowheads="1"/>
          </p:cNvSpPr>
          <p:nvPr>
            <p:ph type="title"/>
          </p:nvPr>
        </p:nvSpPr>
        <p:spPr/>
        <p:txBody>
          <a:bodyPr/>
          <a:lstStyle/>
          <a:p>
            <a:pPr eaLnBrk="1" hangingPunct="1"/>
            <a:r>
              <a:rPr lang="zh-CN" altLang="en-US" b="1"/>
              <a:t>全量转储 </a:t>
            </a:r>
            <a:r>
              <a:rPr lang="en-US" altLang="zh-CN" b="1"/>
              <a:t>full backup</a:t>
            </a:r>
          </a:p>
        </p:txBody>
      </p:sp>
      <p:sp>
        <p:nvSpPr>
          <p:cNvPr id="248835" name="Rectangle 3">
            <a:extLst>
              <a:ext uri="{FF2B5EF4-FFF2-40B4-BE49-F238E27FC236}">
                <a16:creationId xmlns:a16="http://schemas.microsoft.com/office/drawing/2014/main" id="{9B3DDCC5-EAA3-50ED-B03C-5E5CDF2A701E}"/>
              </a:ext>
            </a:extLst>
          </p:cNvPr>
          <p:cNvSpPr>
            <a:spLocks noGrp="1" noChangeArrowheads="1"/>
          </p:cNvSpPr>
          <p:nvPr>
            <p:ph idx="1"/>
          </p:nvPr>
        </p:nvSpPr>
        <p:spPr/>
        <p:txBody>
          <a:bodyPr/>
          <a:lstStyle/>
          <a:p>
            <a:pPr algn="just" eaLnBrk="1" hangingPunct="1"/>
            <a:r>
              <a:rPr lang="zh-CN" altLang="en-US">
                <a:solidFill>
                  <a:srgbClr val="FF0000"/>
                </a:solidFill>
              </a:rPr>
              <a:t>全量转储</a:t>
            </a:r>
            <a:r>
              <a:rPr lang="zh-CN" altLang="en-US"/>
              <a:t>：定期将文件存储器中的所有文件备份转储到某存储介质上，一旦系统出现故障破坏了文件信息，便可以将最近一次转储的内容复制到文件系统中去，使系统恢复到上次转储时的状态。</a:t>
            </a:r>
          </a:p>
          <a:p>
            <a:pPr algn="just" eaLnBrk="1" hangingPunct="1"/>
            <a:r>
              <a:rPr lang="zh-CN" altLang="en-US"/>
              <a:t>全量转储的不足：转储期间应停止对文件系统进行其他操作，转储时间长。</a:t>
            </a:r>
          </a:p>
        </p:txBody>
      </p:sp>
      <p:sp>
        <p:nvSpPr>
          <p:cNvPr id="2" name="灯片编号占位符 1">
            <a:extLst>
              <a:ext uri="{FF2B5EF4-FFF2-40B4-BE49-F238E27FC236}">
                <a16:creationId xmlns:a16="http://schemas.microsoft.com/office/drawing/2014/main" id="{46C92119-1649-60E7-E256-3D89FD6FEB19}"/>
              </a:ext>
            </a:extLst>
          </p:cNvPr>
          <p:cNvSpPr>
            <a:spLocks noGrp="1"/>
          </p:cNvSpPr>
          <p:nvPr>
            <p:ph type="sldNum" sz="quarter" idx="12"/>
          </p:nvPr>
        </p:nvSpPr>
        <p:spPr/>
        <p:txBody>
          <a:bodyPr/>
          <a:lstStyle/>
          <a:p>
            <a:fld id="{4093CC90-4002-504C-BD88-C9A1D374048E}" type="slidenum">
              <a:rPr lang="zh-CN" altLang="en-US" smtClean="0"/>
              <a:pPr/>
              <a:t>151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8835">
                                            <p:txEl>
                                              <p:pRg st="0" end="0"/>
                                            </p:txEl>
                                          </p:spTgt>
                                        </p:tgtEl>
                                        <p:attrNameLst>
                                          <p:attrName>style.visibility</p:attrName>
                                        </p:attrNameLst>
                                      </p:cBhvr>
                                      <p:to>
                                        <p:strVal val="visible"/>
                                      </p:to>
                                    </p:set>
                                    <p:animEffect transition="in" filter="checkerboard(across)">
                                      <p:cBhvr>
                                        <p:cTn id="7" dur="500"/>
                                        <p:tgtEl>
                                          <p:spTgt spid="248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48835">
                                            <p:txEl>
                                              <p:pRg st="1" end="1"/>
                                            </p:txEl>
                                          </p:spTgt>
                                        </p:tgtEl>
                                        <p:attrNameLst>
                                          <p:attrName>style.visibility</p:attrName>
                                        </p:attrNameLst>
                                      </p:cBhvr>
                                      <p:to>
                                        <p:strVal val="visible"/>
                                      </p:to>
                                    </p:set>
                                    <p:animEffect transition="in" filter="checkerboard(across)">
                                      <p:cBhvr>
                                        <p:cTn id="12" dur="500"/>
                                        <p:tgtEl>
                                          <p:spTgt spid="248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78FC268-1485-EF00-9F08-9B723631E670}"/>
              </a:ext>
            </a:extLst>
          </p:cNvPr>
          <p:cNvSpPr>
            <a:spLocks noGrp="1" noChangeArrowheads="1"/>
          </p:cNvSpPr>
          <p:nvPr>
            <p:ph type="title"/>
          </p:nvPr>
        </p:nvSpPr>
        <p:spPr>
          <a:xfrm>
            <a:off x="1042988" y="225431"/>
            <a:ext cx="7850187" cy="746125"/>
          </a:xfrm>
        </p:spPr>
        <p:txBody>
          <a:bodyPr/>
          <a:lstStyle/>
          <a:p>
            <a:r>
              <a:rPr lang="zh-CN" altLang="en-US" dirty="0"/>
              <a:t>增量转储</a:t>
            </a:r>
            <a:endParaRPr lang="en-US" altLang="zh-CN" dirty="0"/>
          </a:p>
        </p:txBody>
      </p:sp>
      <p:sp>
        <p:nvSpPr>
          <p:cNvPr id="250883" name="Rectangle 3">
            <a:extLst>
              <a:ext uri="{FF2B5EF4-FFF2-40B4-BE49-F238E27FC236}">
                <a16:creationId xmlns:a16="http://schemas.microsoft.com/office/drawing/2014/main" id="{32F56196-6F4B-13B8-FBF2-74A5553965C2}"/>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增量转储</a:t>
            </a:r>
            <a:r>
              <a:rPr lang="zh-CN" altLang="en-US" dirty="0"/>
              <a:t>：将上次转储以来修改过的文件和新增加的文件转储到某存储介质上。增量转储能使系统遭到破坏后，恢复到数小时前文件系统的状态，从而使得所造成的损失减到最小。</a:t>
            </a:r>
          </a:p>
          <a:p>
            <a:r>
              <a:rPr lang="zh-CN" altLang="en-US" dirty="0"/>
              <a:t>在实际工作中，两种方法要配合使用，根据实际情况，确定全量转储的周期和增量转储的时间间隔。</a:t>
            </a:r>
          </a:p>
        </p:txBody>
      </p:sp>
      <p:sp>
        <p:nvSpPr>
          <p:cNvPr id="2" name="灯片编号占位符 1">
            <a:extLst>
              <a:ext uri="{FF2B5EF4-FFF2-40B4-BE49-F238E27FC236}">
                <a16:creationId xmlns:a16="http://schemas.microsoft.com/office/drawing/2014/main" id="{49BEF63C-BF53-9B9E-5AF3-175575CC180F}"/>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Effect transition="in" filter="checkerboard(across)">
                                      <p:cBhvr>
                                        <p:cTn id="7" dur="500"/>
                                        <p:tgtEl>
                                          <p:spTgt spid="250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0883">
                                            <p:txEl>
                                              <p:pRg st="1" end="1"/>
                                            </p:txEl>
                                          </p:spTgt>
                                        </p:tgtEl>
                                        <p:attrNameLst>
                                          <p:attrName>style.visibility</p:attrName>
                                        </p:attrNameLst>
                                      </p:cBhvr>
                                      <p:to>
                                        <p:strVal val="visible"/>
                                      </p:to>
                                    </p:set>
                                    <p:animEffect transition="in" filter="checkerboard(across)">
                                      <p:cBhvr>
                                        <p:cTn id="12" dur="500"/>
                                        <p:tgtEl>
                                          <p:spTgt spid="2508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81400656-7065-61D9-659A-FEF7E908F64A}"/>
              </a:ext>
            </a:extLst>
          </p:cNvPr>
          <p:cNvSpPr>
            <a:spLocks noGrp="1" noChangeArrowheads="1"/>
          </p:cNvSpPr>
          <p:nvPr>
            <p:ph type="title"/>
          </p:nvPr>
        </p:nvSpPr>
        <p:spPr/>
        <p:txBody>
          <a:bodyPr/>
          <a:lstStyle/>
          <a:p>
            <a:pPr eaLnBrk="1" hangingPunct="1"/>
            <a:r>
              <a:rPr lang="zh-CN" altLang="en-US"/>
              <a:t>文件系统的恢复过程</a:t>
            </a:r>
          </a:p>
        </p:txBody>
      </p:sp>
      <p:sp>
        <p:nvSpPr>
          <p:cNvPr id="79874" name="Rectangle 3">
            <a:extLst>
              <a:ext uri="{FF2B5EF4-FFF2-40B4-BE49-F238E27FC236}">
                <a16:creationId xmlns:a16="http://schemas.microsoft.com/office/drawing/2014/main" id="{9D38AF91-A718-0A87-17C0-A41F81E14AFA}"/>
              </a:ext>
            </a:extLst>
          </p:cNvPr>
          <p:cNvSpPr>
            <a:spLocks noGrp="1" noChangeArrowheads="1"/>
          </p:cNvSpPr>
          <p:nvPr>
            <p:ph idx="1"/>
          </p:nvPr>
        </p:nvSpPr>
        <p:spPr>
          <a:xfrm>
            <a:off x="457200" y="1268413"/>
            <a:ext cx="8497888" cy="4114800"/>
          </a:xfrm>
        </p:spPr>
        <p:txBody>
          <a:bodyPr/>
          <a:lstStyle/>
          <a:p>
            <a:pPr algn="just" eaLnBrk="1" hangingPunct="1"/>
            <a:r>
              <a:rPr lang="zh-CN" altLang="en-US"/>
              <a:t>一旦系统发生故障，文件系统的恢复过程大致如下：</a:t>
            </a:r>
          </a:p>
          <a:p>
            <a:pPr lvl="1" algn="just" eaLnBrk="1" hangingPunct="1"/>
            <a:r>
              <a:rPr lang="zh-CN" altLang="en-US"/>
              <a:t>从最近一次全量转储中装入全部系统文件</a:t>
            </a:r>
          </a:p>
          <a:p>
            <a:pPr lvl="1" algn="just" eaLnBrk="1" hangingPunct="1"/>
            <a:r>
              <a:rPr lang="zh-CN" altLang="en-US"/>
              <a:t>从近到远从增量转储盘上恢复文件。同一个文件只恢复最近一次转储的副本。</a:t>
            </a:r>
          </a:p>
        </p:txBody>
      </p:sp>
      <p:sp>
        <p:nvSpPr>
          <p:cNvPr id="2" name="灯片编号占位符 1">
            <a:extLst>
              <a:ext uri="{FF2B5EF4-FFF2-40B4-BE49-F238E27FC236}">
                <a16:creationId xmlns:a16="http://schemas.microsoft.com/office/drawing/2014/main" id="{8EFEB394-7665-26EC-40CB-82E459335243}"/>
              </a:ext>
            </a:extLst>
          </p:cNvPr>
          <p:cNvSpPr>
            <a:spLocks noGrp="1"/>
          </p:cNvSpPr>
          <p:nvPr>
            <p:ph type="sldNum" sz="quarter" idx="12"/>
          </p:nvPr>
        </p:nvSpPr>
        <p:spPr/>
        <p:txBody>
          <a:bodyPr/>
          <a:lstStyle/>
          <a:p>
            <a:fld id="{4093CC90-4002-504C-BD88-C9A1D374048E}" type="slidenum">
              <a:rPr lang="zh-CN" altLang="en-US" smtClean="0"/>
              <a:pPr/>
              <a:t>153</a:t>
            </a:fld>
            <a:endParaRPr lang="zh-CN" altLang="en-US" dirty="0"/>
          </a:p>
        </p:txBody>
      </p:sp>
    </p:spTree>
  </p:cSld>
  <p:clrMapOvr>
    <a:masterClrMapping/>
  </p:clrMapOvr>
  <p:transition spd="med">
    <p:zo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33ECFC4E-8972-B275-77DA-47B199C98BB6}"/>
              </a:ext>
            </a:extLst>
          </p:cNvPr>
          <p:cNvSpPr>
            <a:spLocks noGrp="1" noChangeArrowheads="1"/>
          </p:cNvSpPr>
          <p:nvPr>
            <p:ph type="title"/>
          </p:nvPr>
        </p:nvSpPr>
        <p:spPr>
          <a:xfrm>
            <a:off x="1042988" y="225431"/>
            <a:ext cx="7850187" cy="746125"/>
          </a:xfrm>
        </p:spPr>
        <p:txBody>
          <a:bodyPr/>
          <a:lstStyle/>
          <a:p>
            <a:r>
              <a:rPr lang="zh-CN" altLang="en-US" dirty="0"/>
              <a:t>文件系统</a:t>
            </a:r>
            <a:endParaRPr lang="en-US" altLang="zh-CN" dirty="0"/>
          </a:p>
        </p:txBody>
      </p:sp>
      <p:sp>
        <p:nvSpPr>
          <p:cNvPr id="340995" name="Rectangle 3">
            <a:extLst>
              <a:ext uri="{FF2B5EF4-FFF2-40B4-BE49-F238E27FC236}">
                <a16:creationId xmlns:a16="http://schemas.microsoft.com/office/drawing/2014/main" id="{EE8817EB-FFC7-9A3F-6C2A-37D8F2B4BE84}"/>
              </a:ext>
            </a:extLst>
          </p:cNvPr>
          <p:cNvSpPr>
            <a:spLocks noGrp="1" noChangeArrowheads="1"/>
          </p:cNvSpPr>
          <p:nvPr>
            <p:ph idx="1"/>
          </p:nvPr>
        </p:nvSpPr>
        <p:spPr>
          <a:xfrm>
            <a:off x="935038" y="1233488"/>
            <a:ext cx="7772400" cy="4895850"/>
          </a:xfrm>
        </p:spPr>
        <p:txBody>
          <a:bodyPr/>
          <a:lstStyle/>
          <a:p>
            <a:r>
              <a:rPr lang="zh-CN" altLang="en-US" dirty="0"/>
              <a:t>磁盘可以分为多个部分，每个部分称为分区或小型磁盘</a:t>
            </a:r>
          </a:p>
          <a:p>
            <a:r>
              <a:rPr lang="zh-CN" altLang="en-US" dirty="0"/>
              <a:t>每个磁盘分区可以创建一个文件系统</a:t>
            </a:r>
          </a:p>
          <a:p>
            <a:r>
              <a:rPr lang="en-US" altLang="zh-CN" dirty="0"/>
              <a:t>   </a:t>
            </a:r>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Effect transition="in" filter="checkerboard(across)">
                                      <p:cBhvr>
                                        <p:cTn id="7" dur="500"/>
                                        <p:tgtEl>
                                          <p:spTgt spid="340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0995">
                                            <p:txEl>
                                              <p:pRg st="1" end="1"/>
                                            </p:txEl>
                                          </p:spTgt>
                                        </p:tgtEl>
                                        <p:attrNameLst>
                                          <p:attrName>style.visibility</p:attrName>
                                        </p:attrNameLst>
                                      </p:cBhvr>
                                      <p:to>
                                        <p:strVal val="visible"/>
                                      </p:to>
                                    </p:set>
                                    <p:animEffect transition="in" filter="checkerboard(across)">
                                      <p:cBhvr>
                                        <p:cTn id="12" dur="500"/>
                                        <p:tgtEl>
                                          <p:spTgt spid="3409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0995">
                                            <p:txEl>
                                              <p:pRg st="2" end="2"/>
                                            </p:txEl>
                                          </p:spTgt>
                                        </p:tgtEl>
                                        <p:attrNameLst>
                                          <p:attrName>style.visibility</p:attrName>
                                        </p:attrNameLst>
                                      </p:cBhvr>
                                      <p:to>
                                        <p:strVal val="visible"/>
                                      </p:to>
                                    </p:set>
                                    <p:animEffect transition="in" filter="checkerboard(across)">
                                      <p:cBhvr>
                                        <p:cTn id="17" dur="500"/>
                                        <p:tgtEl>
                                          <p:spTgt spid="340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755D7AA-57F2-5436-02E4-470568C43485}"/>
              </a:ext>
            </a:extLst>
          </p:cNvPr>
          <p:cNvSpPr>
            <a:spLocks noGrp="1" noChangeArrowheads="1"/>
          </p:cNvSpPr>
          <p:nvPr>
            <p:ph type="title"/>
          </p:nvPr>
        </p:nvSpPr>
        <p:spPr>
          <a:xfrm>
            <a:off x="1042988" y="225431"/>
            <a:ext cx="7850187" cy="746125"/>
          </a:xfrm>
        </p:spPr>
        <p:txBody>
          <a:bodyPr/>
          <a:lstStyle/>
          <a:p>
            <a:r>
              <a:rPr lang="zh-CN" altLang="en-US" dirty="0"/>
              <a:t>存储结构 </a:t>
            </a:r>
          </a:p>
        </p:txBody>
      </p:sp>
      <p:sp>
        <p:nvSpPr>
          <p:cNvPr id="342019" name="Rectangle 3">
            <a:extLst>
              <a:ext uri="{FF2B5EF4-FFF2-40B4-BE49-F238E27FC236}">
                <a16:creationId xmlns:a16="http://schemas.microsoft.com/office/drawing/2014/main" id="{564C2713-3B18-299B-6EFB-EBD6E7B82C23}"/>
              </a:ext>
            </a:extLst>
          </p:cNvPr>
          <p:cNvSpPr>
            <a:spLocks noGrp="1" noChangeArrowheads="1"/>
          </p:cNvSpPr>
          <p:nvPr>
            <p:ph idx="1"/>
          </p:nvPr>
        </p:nvSpPr>
        <p:spPr>
          <a:xfrm>
            <a:off x="935038" y="1233488"/>
            <a:ext cx="7772400" cy="4895850"/>
          </a:xfrm>
        </p:spPr>
        <p:txBody>
          <a:bodyPr>
            <a:normAutofit/>
          </a:bodyPr>
          <a:lstStyle/>
          <a:p>
            <a:r>
              <a:rPr lang="zh-CN" altLang="en-US" dirty="0"/>
              <a:t>这些部分可以组合成更大的结构</a:t>
            </a:r>
            <a:r>
              <a:rPr lang="en-US" altLang="zh-CN" dirty="0"/>
              <a:t>-</a:t>
            </a:r>
            <a:r>
              <a:rPr lang="zh-CN" altLang="en-US" dirty="0"/>
              <a:t>卷。卷可以看成虚拟磁盘。</a:t>
            </a:r>
          </a:p>
          <a:p>
            <a:r>
              <a:rPr lang="zh-CN" altLang="en-US" dirty="0"/>
              <a:t>包含文件系统的每个卷还必须包含系统中的文件信息。这些信息保存在设备目录（简称目录）或卷表中。</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2019">
                                            <p:txEl>
                                              <p:pRg st="0" end="0"/>
                                            </p:txEl>
                                          </p:spTgt>
                                        </p:tgtEl>
                                        <p:attrNameLst>
                                          <p:attrName>style.visibility</p:attrName>
                                        </p:attrNameLst>
                                      </p:cBhvr>
                                      <p:to>
                                        <p:strVal val="visible"/>
                                      </p:to>
                                    </p:set>
                                    <p:animEffect transition="in" filter="checkerboard(across)">
                                      <p:cBhvr>
                                        <p:cTn id="7" dur="500"/>
                                        <p:tgtEl>
                                          <p:spTgt spid="3420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2019">
                                            <p:txEl>
                                              <p:pRg st="1" end="1"/>
                                            </p:txEl>
                                          </p:spTgt>
                                        </p:tgtEl>
                                        <p:attrNameLst>
                                          <p:attrName>style.visibility</p:attrName>
                                        </p:attrNameLst>
                                      </p:cBhvr>
                                      <p:to>
                                        <p:strVal val="visible"/>
                                      </p:to>
                                    </p:set>
                                    <p:animEffect transition="in" filter="checkerboard(across)">
                                      <p:cBhvr>
                                        <p:cTn id="12" dur="500"/>
                                        <p:tgtEl>
                                          <p:spTgt spid="3420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15532882-175F-FE14-0082-5DAB14D1FAD2}"/>
              </a:ext>
            </a:extLst>
          </p:cNvPr>
          <p:cNvSpPr>
            <a:spLocks noGrp="1" noChangeArrowheads="1"/>
          </p:cNvSpPr>
          <p:nvPr>
            <p:ph type="title"/>
          </p:nvPr>
        </p:nvSpPr>
        <p:spPr>
          <a:xfrm>
            <a:off x="1042988" y="225431"/>
            <a:ext cx="7850187" cy="746125"/>
          </a:xfrm>
        </p:spPr>
        <p:txBody>
          <a:bodyPr/>
          <a:lstStyle/>
          <a:p>
            <a:r>
              <a:rPr lang="zh-CN" altLang="en-US" dirty="0"/>
              <a:t>典型的文件系统组织</a:t>
            </a:r>
          </a:p>
        </p:txBody>
      </p:sp>
      <p:sp>
        <p:nvSpPr>
          <p:cNvPr id="3" name="内容占位符 2">
            <a:extLst>
              <a:ext uri="{FF2B5EF4-FFF2-40B4-BE49-F238E27FC236}">
                <a16:creationId xmlns:a16="http://schemas.microsoft.com/office/drawing/2014/main" id="{7012E94D-2D04-009E-A413-172316B21B7F}"/>
              </a:ext>
            </a:extLst>
          </p:cNvPr>
          <p:cNvSpPr>
            <a:spLocks noGrp="1"/>
          </p:cNvSpPr>
          <p:nvPr>
            <p:ph idx="1"/>
          </p:nvPr>
        </p:nvSpPr>
        <p:spPr/>
        <p:txBody>
          <a:bodyPr/>
          <a:lstStyle/>
          <a:p>
            <a:endParaRPr lang="zh-CN" altLang="en-US"/>
          </a:p>
        </p:txBody>
      </p:sp>
      <p:pic>
        <p:nvPicPr>
          <p:cNvPr id="6146" name="Picture 4">
            <a:extLst>
              <a:ext uri="{FF2B5EF4-FFF2-40B4-BE49-F238E27FC236}">
                <a16:creationId xmlns:a16="http://schemas.microsoft.com/office/drawing/2014/main" id="{647E0E47-BC36-0911-4D40-80C0232A87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23" t="14006" r="888" b="15189"/>
          <a:stretch>
            <a:fillRect/>
          </a:stretch>
        </p:blipFill>
        <p:spPr bwMode="auto">
          <a:xfrm>
            <a:off x="539750" y="1125538"/>
            <a:ext cx="8229600" cy="504031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01EB161C-17E2-1DEF-F558-BFA2F5C7162E}"/>
              </a:ext>
            </a:extLst>
          </p:cNvPr>
          <p:cNvSpPr>
            <a:spLocks noGrp="1" noChangeArrowheads="1"/>
          </p:cNvSpPr>
          <p:nvPr>
            <p:ph type="title"/>
          </p:nvPr>
        </p:nvSpPr>
        <p:spPr>
          <a:xfrm>
            <a:off x="1042988" y="225431"/>
            <a:ext cx="7850187" cy="746125"/>
          </a:xfrm>
        </p:spPr>
        <p:txBody>
          <a:bodyPr/>
          <a:lstStyle/>
          <a:p>
            <a:r>
              <a:rPr lang="zh-CN" altLang="en-US" dirty="0"/>
              <a:t>文件系统安装</a:t>
            </a:r>
            <a:endParaRPr lang="en-US" altLang="zh-CN" dirty="0"/>
          </a:p>
        </p:txBody>
      </p:sp>
      <p:sp>
        <p:nvSpPr>
          <p:cNvPr id="353283" name="Rectangle 3">
            <a:extLst>
              <a:ext uri="{FF2B5EF4-FFF2-40B4-BE49-F238E27FC236}">
                <a16:creationId xmlns:a16="http://schemas.microsoft.com/office/drawing/2014/main" id="{8B5858D5-54AF-28C2-F0E9-CFC8BBD62301}"/>
              </a:ext>
            </a:extLst>
          </p:cNvPr>
          <p:cNvSpPr>
            <a:spLocks noGrp="1" noChangeArrowheads="1"/>
          </p:cNvSpPr>
          <p:nvPr>
            <p:ph idx="1"/>
          </p:nvPr>
        </p:nvSpPr>
        <p:spPr>
          <a:xfrm>
            <a:off x="935038" y="1233488"/>
            <a:ext cx="7772400" cy="4895850"/>
          </a:xfrm>
        </p:spPr>
        <p:txBody>
          <a:bodyPr/>
          <a:lstStyle/>
          <a:p>
            <a:r>
              <a:rPr lang="zh-CN" altLang="en-US" dirty="0"/>
              <a:t>文件系统在访问之前必须已安装好。</a:t>
            </a:r>
          </a:p>
          <a:p>
            <a:r>
              <a:rPr lang="zh-CN" altLang="en-US" dirty="0"/>
              <a:t>尚未安装的文件系统必须安装到安装点上</a:t>
            </a:r>
            <a:endParaRPr lang="en-US" altLang="zh-CN" dirty="0"/>
          </a:p>
          <a:p>
            <a:r>
              <a:rPr lang="en-US" altLang="zh-CN" dirty="0"/>
              <a:t>  </a:t>
            </a:r>
          </a:p>
          <a:p>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3283">
                                            <p:txEl>
                                              <p:pRg st="0" end="0"/>
                                            </p:txEl>
                                          </p:spTgt>
                                        </p:tgtEl>
                                        <p:attrNameLst>
                                          <p:attrName>style.visibility</p:attrName>
                                        </p:attrNameLst>
                                      </p:cBhvr>
                                      <p:to>
                                        <p:strVal val="visible"/>
                                      </p:to>
                                    </p:set>
                                    <p:animEffect transition="in" filter="checkerboard(across)">
                                      <p:cBhvr>
                                        <p:cTn id="7" dur="500"/>
                                        <p:tgtEl>
                                          <p:spTgt spid="353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3283">
                                            <p:txEl>
                                              <p:pRg st="1" end="1"/>
                                            </p:txEl>
                                          </p:spTgt>
                                        </p:tgtEl>
                                        <p:attrNameLst>
                                          <p:attrName>style.visibility</p:attrName>
                                        </p:attrNameLst>
                                      </p:cBhvr>
                                      <p:to>
                                        <p:strVal val="visible"/>
                                      </p:to>
                                    </p:set>
                                    <p:animEffect transition="in" filter="checkerboard(across)">
                                      <p:cBhvr>
                                        <p:cTn id="12" dur="500"/>
                                        <p:tgtEl>
                                          <p:spTgt spid="353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3283">
                                            <p:txEl>
                                              <p:pRg st="2" end="2"/>
                                            </p:txEl>
                                          </p:spTgt>
                                        </p:tgtEl>
                                        <p:attrNameLst>
                                          <p:attrName>style.visibility</p:attrName>
                                        </p:attrNameLst>
                                      </p:cBhvr>
                                      <p:to>
                                        <p:strVal val="visible"/>
                                      </p:to>
                                    </p:set>
                                    <p:animEffect transition="in" filter="checkerboard(across)">
                                      <p:cBhvr>
                                        <p:cTn id="17" dur="500"/>
                                        <p:tgtEl>
                                          <p:spTgt spid="3532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303280A6-961A-7726-1649-287DB84D106E}"/>
              </a:ext>
            </a:extLst>
          </p:cNvPr>
          <p:cNvSpPr>
            <a:spLocks noGrp="1" noChangeArrowheads="1"/>
          </p:cNvSpPr>
          <p:nvPr>
            <p:ph type="title"/>
          </p:nvPr>
        </p:nvSpPr>
        <p:spPr/>
        <p:txBody>
          <a:bodyPr/>
          <a:lstStyle/>
          <a:p>
            <a:pPr marL="762000" indent="-762000" eaLnBrk="1" hangingPunct="1"/>
            <a:r>
              <a:rPr lang="en-US" altLang="zh-CN" sz="3200"/>
              <a:t> </a:t>
            </a:r>
            <a:r>
              <a:rPr lang="en-US" altLang="zh-CN" sz="3600" b="1"/>
              <a:t>(a)</a:t>
            </a:r>
            <a:r>
              <a:rPr lang="zh-CN" altLang="en-US" sz="3600" b="1"/>
              <a:t>已有文件系统   </a:t>
            </a:r>
            <a:r>
              <a:rPr lang="en-US" altLang="zh-CN" sz="3600" b="1"/>
              <a:t>(b)</a:t>
            </a:r>
            <a:r>
              <a:rPr lang="zh-CN" altLang="en-US" sz="3600" b="1"/>
              <a:t>未安装的分区</a:t>
            </a:r>
          </a:p>
        </p:txBody>
      </p:sp>
      <p:pic>
        <p:nvPicPr>
          <p:cNvPr id="8194" name="Picture 4">
            <a:extLst>
              <a:ext uri="{FF2B5EF4-FFF2-40B4-BE49-F238E27FC236}">
                <a16:creationId xmlns:a16="http://schemas.microsoft.com/office/drawing/2014/main" id="{BBEEC20B-6D8E-86D6-31AB-850A8714D4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63" t="9778" r="867" b="10472"/>
          <a:stretch>
            <a:fillRect/>
          </a:stretch>
        </p:blipFill>
        <p:spPr bwMode="auto">
          <a:xfrm>
            <a:off x="457200" y="1254125"/>
            <a:ext cx="8229600" cy="503555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195" name="Rectangle 5">
            <a:extLst>
              <a:ext uri="{FF2B5EF4-FFF2-40B4-BE49-F238E27FC236}">
                <a16:creationId xmlns:a16="http://schemas.microsoft.com/office/drawing/2014/main" id="{7A1C0AE4-0BF3-6712-22F3-7E97E33B29DA}"/>
              </a:ext>
            </a:extLst>
          </p:cNvPr>
          <p:cNvSpPr>
            <a:spLocks noChangeArrowheads="1"/>
          </p:cNvSpPr>
          <p:nvPr/>
        </p:nvSpPr>
        <p:spPr bwMode="auto">
          <a:xfrm>
            <a:off x="4787900" y="1484313"/>
            <a:ext cx="3492500"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r>
              <a:rPr lang="en-US" altLang="zh-CN" b="1"/>
              <a:t>/device/dsk</a:t>
            </a:r>
            <a:r>
              <a:rPr lang="zh-CN" altLang="en-US" b="1"/>
              <a:t>上的文件系统</a:t>
            </a:r>
          </a:p>
        </p:txBody>
      </p:sp>
    </p:spTree>
  </p:cSld>
  <p:clrMapOvr>
    <a:masterClrMapping/>
  </p:clrMapOvr>
  <p:transition spd="med">
    <p:zoom/>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7" name="Picture 4">
            <a:extLst>
              <a:ext uri="{FF2B5EF4-FFF2-40B4-BE49-F238E27FC236}">
                <a16:creationId xmlns:a16="http://schemas.microsoft.com/office/drawing/2014/main" id="{B0BF79D2-00F2-5281-48E7-D4B0DB92D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773238"/>
            <a:ext cx="6408737"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a:extLst>
              <a:ext uri="{FF2B5EF4-FFF2-40B4-BE49-F238E27FC236}">
                <a16:creationId xmlns:a16="http://schemas.microsoft.com/office/drawing/2014/main" id="{1B462C3C-A984-1F45-F709-80AE9DD52370}"/>
              </a:ext>
            </a:extLst>
          </p:cNvPr>
          <p:cNvSpPr>
            <a:spLocks noGrp="1" noChangeArrowheads="1"/>
          </p:cNvSpPr>
          <p:nvPr>
            <p:ph type="title"/>
          </p:nvPr>
        </p:nvSpPr>
        <p:spPr/>
        <p:txBody>
          <a:bodyPr/>
          <a:lstStyle/>
          <a:p>
            <a:pPr eaLnBrk="1" hangingPunct="1"/>
            <a:r>
              <a:rPr lang="zh-CN" altLang="en-US" sz="4000"/>
              <a:t>安装点 </a:t>
            </a:r>
            <a:r>
              <a:rPr lang="en-US" altLang="zh-CN" sz="4000"/>
              <a:t>Mount point</a:t>
            </a:r>
          </a:p>
        </p:txBody>
      </p:sp>
      <p:sp>
        <p:nvSpPr>
          <p:cNvPr id="9219" name="Rectangle 6">
            <a:extLst>
              <a:ext uri="{FF2B5EF4-FFF2-40B4-BE49-F238E27FC236}">
                <a16:creationId xmlns:a16="http://schemas.microsoft.com/office/drawing/2014/main" id="{444E728D-466B-A8B1-1400-88026ECCEECE}"/>
              </a:ext>
            </a:extLst>
          </p:cNvPr>
          <p:cNvSpPr>
            <a:spLocks noChangeArrowheads="1"/>
          </p:cNvSpPr>
          <p:nvPr/>
        </p:nvSpPr>
        <p:spPr bwMode="auto">
          <a:xfrm>
            <a:off x="5643563" y="692150"/>
            <a:ext cx="33210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nSpc>
                <a:spcPct val="120000"/>
              </a:lnSpc>
            </a:pPr>
            <a:r>
              <a:rPr lang="en-US" altLang="zh-CN" b="1"/>
              <a:t>/</a:t>
            </a:r>
            <a:r>
              <a:rPr lang="zh-CN" altLang="en-US" b="1"/>
              <a:t>将</a:t>
            </a:r>
            <a:r>
              <a:rPr lang="en-US" altLang="zh-CN" b="1"/>
              <a:t>device/dsk</a:t>
            </a:r>
            <a:r>
              <a:rPr lang="zh-CN" altLang="en-US" b="1"/>
              <a:t>上的</a:t>
            </a:r>
          </a:p>
          <a:p>
            <a:pPr>
              <a:lnSpc>
                <a:spcPct val="120000"/>
              </a:lnSpc>
            </a:pPr>
            <a:r>
              <a:rPr lang="zh-CN" altLang="en-US" b="1"/>
              <a:t>文件系统安装到</a:t>
            </a:r>
            <a:r>
              <a:rPr lang="en-US" altLang="zh-CN" b="1"/>
              <a:t>/usrs</a:t>
            </a:r>
          </a:p>
        </p:txBody>
      </p:sp>
    </p:spTree>
  </p:cSld>
  <p:clrMapOvr>
    <a:masterClrMapping/>
  </p:clrMapOvr>
  <p:transition spd="med">
    <p:zoom/>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F63DE1-9249-6450-97A4-5B006A4177DD}"/>
              </a:ext>
            </a:extLst>
          </p:cNvPr>
          <p:cNvSpPr>
            <a:spLocks noGrp="1" noChangeArrowheads="1"/>
          </p:cNvSpPr>
          <p:nvPr>
            <p:ph type="title"/>
          </p:nvPr>
        </p:nvSpPr>
        <p:spPr/>
        <p:txBody>
          <a:bodyPr/>
          <a:lstStyle/>
          <a:p>
            <a:pPr eaLnBrk="1" hangingPunct="1"/>
            <a:r>
              <a:rPr lang="zh-CN" altLang="en-US" sz="4000" dirty="0"/>
              <a:t>文件共享 </a:t>
            </a:r>
            <a:r>
              <a:rPr lang="en-US" altLang="zh-CN" sz="4000" dirty="0"/>
              <a:t>File Sharing</a:t>
            </a:r>
          </a:p>
        </p:txBody>
      </p:sp>
      <p:sp>
        <p:nvSpPr>
          <p:cNvPr id="10242" name="Rectangle 3">
            <a:extLst>
              <a:ext uri="{FF2B5EF4-FFF2-40B4-BE49-F238E27FC236}">
                <a16:creationId xmlns:a16="http://schemas.microsoft.com/office/drawing/2014/main" id="{A69021FB-D504-BC08-0818-669E8E263C25}"/>
              </a:ext>
            </a:extLst>
          </p:cNvPr>
          <p:cNvSpPr>
            <a:spLocks noGrp="1" noChangeArrowheads="1"/>
          </p:cNvSpPr>
          <p:nvPr>
            <p:ph idx="1"/>
          </p:nvPr>
        </p:nvSpPr>
        <p:spPr>
          <a:xfrm>
            <a:off x="827088" y="1196975"/>
            <a:ext cx="8077200" cy="4895850"/>
          </a:xfrm>
        </p:spPr>
        <p:txBody>
          <a:bodyPr/>
          <a:lstStyle/>
          <a:p>
            <a:pPr algn="just" eaLnBrk="1" hangingPunct="1">
              <a:lnSpc>
                <a:spcPct val="90000"/>
              </a:lnSpc>
            </a:pPr>
            <a:r>
              <a:rPr lang="zh-CN" altLang="en-US">
                <a:solidFill>
                  <a:srgbClr val="FF0000"/>
                </a:solidFill>
              </a:rPr>
              <a:t>文件共享</a:t>
            </a:r>
            <a:r>
              <a:rPr lang="zh-CN" altLang="en-US"/>
              <a:t>是指不同用户可以共同使用某文件。</a:t>
            </a:r>
          </a:p>
          <a:p>
            <a:pPr algn="just" eaLnBrk="1" hangingPunct="1">
              <a:lnSpc>
                <a:spcPct val="90000"/>
              </a:lnSpc>
            </a:pPr>
            <a:r>
              <a:rPr lang="zh-CN" altLang="en-US"/>
              <a:t>文件共享的动机是：</a:t>
            </a:r>
          </a:p>
          <a:p>
            <a:pPr lvl="1" algn="just" eaLnBrk="1" hangingPunct="1">
              <a:lnSpc>
                <a:spcPct val="90000"/>
              </a:lnSpc>
            </a:pPr>
            <a:r>
              <a:rPr lang="zh-CN" altLang="en-US"/>
              <a:t>用户合作</a:t>
            </a:r>
          </a:p>
          <a:p>
            <a:pPr lvl="1" algn="just" eaLnBrk="1" hangingPunct="1">
              <a:lnSpc>
                <a:spcPct val="90000"/>
              </a:lnSpc>
            </a:pPr>
            <a:r>
              <a:rPr lang="zh-CN" altLang="en-US"/>
              <a:t>减少磁盘空间的开销</a:t>
            </a:r>
          </a:p>
          <a:p>
            <a:pPr lvl="1" algn="just" eaLnBrk="1" hangingPunct="1">
              <a:lnSpc>
                <a:spcPct val="90000"/>
              </a:lnSpc>
            </a:pPr>
            <a:r>
              <a:rPr lang="zh-CN" altLang="en-US"/>
              <a:t>减少文件的不一致性</a:t>
            </a:r>
          </a:p>
          <a:p>
            <a:pPr algn="just" eaLnBrk="1" hangingPunct="1">
              <a:lnSpc>
                <a:spcPct val="90000"/>
              </a:lnSpc>
            </a:pPr>
            <a:r>
              <a:rPr lang="zh-CN" altLang="en-US">
                <a:solidFill>
                  <a:srgbClr val="FF0000"/>
                </a:solidFill>
              </a:rPr>
              <a:t>共享语义</a:t>
            </a:r>
            <a:r>
              <a:rPr lang="zh-CN" altLang="en-US"/>
              <a:t>：是文件系统对共享文件或目录冲突访问的处理方法。不同共享语义定义了对缓存一致性问题的不同解决方案。</a:t>
            </a:r>
          </a:p>
        </p:txBody>
      </p:sp>
    </p:spTree>
  </p:cSld>
  <p:clrMapOvr>
    <a:masterClrMapping/>
  </p:clrMapOvr>
  <p:transition spd="med">
    <p:zo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55422DF6-5EA0-EC06-E287-963D26067F4E}"/>
              </a:ext>
            </a:extLst>
          </p:cNvPr>
          <p:cNvSpPr>
            <a:spLocks noGrp="1" noChangeArrowheads="1"/>
          </p:cNvSpPr>
          <p:nvPr>
            <p:ph type="title"/>
          </p:nvPr>
        </p:nvSpPr>
        <p:spPr>
          <a:xfrm>
            <a:off x="1042988" y="225431"/>
            <a:ext cx="7850187" cy="746125"/>
          </a:xfrm>
        </p:spPr>
        <p:txBody>
          <a:bodyPr/>
          <a:lstStyle/>
          <a:p>
            <a:r>
              <a:rPr lang="zh-CN" altLang="en-US" dirty="0"/>
              <a:t>一致性语义 </a:t>
            </a:r>
          </a:p>
        </p:txBody>
      </p:sp>
      <p:sp>
        <p:nvSpPr>
          <p:cNvPr id="384003" name="Rectangle 3">
            <a:extLst>
              <a:ext uri="{FF2B5EF4-FFF2-40B4-BE49-F238E27FC236}">
                <a16:creationId xmlns:a16="http://schemas.microsoft.com/office/drawing/2014/main" id="{C8E0481C-70EF-4165-F6D2-1287292A8496}"/>
              </a:ext>
            </a:extLst>
          </p:cNvPr>
          <p:cNvSpPr>
            <a:spLocks noGrp="1" noChangeArrowheads="1"/>
          </p:cNvSpPr>
          <p:nvPr>
            <p:ph idx="1"/>
          </p:nvPr>
        </p:nvSpPr>
        <p:spPr>
          <a:xfrm>
            <a:off x="935038" y="1233488"/>
            <a:ext cx="7772400" cy="4895850"/>
          </a:xfrm>
        </p:spPr>
        <p:txBody>
          <a:bodyPr>
            <a:normAutofit/>
          </a:bodyPr>
          <a:lstStyle/>
          <a:p>
            <a:r>
              <a:rPr lang="zh-CN" altLang="en-US" dirty="0"/>
              <a:t>一致性语义：描述多用户同时访问共享文件时的语义</a:t>
            </a:r>
          </a:p>
          <a:p>
            <a:r>
              <a:rPr lang="zh-CN" altLang="en-US" dirty="0"/>
              <a:t>这些语义规定了一个用户所修改的数据何时对另一个用户可见</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Effect transition="in" filter="checkerboard(across)">
                                      <p:cBhvr>
                                        <p:cTn id="7" dur="500"/>
                                        <p:tgtEl>
                                          <p:spTgt spid="384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4003">
                                            <p:txEl>
                                              <p:pRg st="1" end="1"/>
                                            </p:txEl>
                                          </p:spTgt>
                                        </p:tgtEl>
                                        <p:attrNameLst>
                                          <p:attrName>style.visibility</p:attrName>
                                        </p:attrNameLst>
                                      </p:cBhvr>
                                      <p:to>
                                        <p:strVal val="visible"/>
                                      </p:to>
                                    </p:set>
                                    <p:animEffect transition="in" filter="checkerboard(across)">
                                      <p:cBhvr>
                                        <p:cTn id="12" dur="500"/>
                                        <p:tgtEl>
                                          <p:spTgt spid="3840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FFECAA8E-7566-E45B-FE0A-90E41699B76B}"/>
              </a:ext>
            </a:extLst>
          </p:cNvPr>
          <p:cNvSpPr>
            <a:spLocks noGrp="1" noChangeArrowheads="1"/>
          </p:cNvSpPr>
          <p:nvPr>
            <p:ph type="title"/>
          </p:nvPr>
        </p:nvSpPr>
        <p:spPr/>
        <p:txBody>
          <a:bodyPr/>
          <a:lstStyle/>
          <a:p>
            <a:pPr eaLnBrk="1" hangingPunct="1"/>
            <a:r>
              <a:rPr lang="en-US" altLang="zh-CN" sz="4000" dirty="0"/>
              <a:t>UNIX </a:t>
            </a:r>
            <a:r>
              <a:rPr lang="zh-CN" altLang="en-US" sz="4000" dirty="0"/>
              <a:t>语义</a:t>
            </a:r>
          </a:p>
        </p:txBody>
      </p:sp>
      <p:sp>
        <p:nvSpPr>
          <p:cNvPr id="385027" name="Rectangle 3">
            <a:extLst>
              <a:ext uri="{FF2B5EF4-FFF2-40B4-BE49-F238E27FC236}">
                <a16:creationId xmlns:a16="http://schemas.microsoft.com/office/drawing/2014/main" id="{859B074D-166A-E93B-D0C8-56AB47A1A258}"/>
              </a:ext>
            </a:extLst>
          </p:cNvPr>
          <p:cNvSpPr>
            <a:spLocks noGrp="1" noChangeArrowheads="1"/>
          </p:cNvSpPr>
          <p:nvPr>
            <p:ph idx="1"/>
          </p:nvPr>
        </p:nvSpPr>
        <p:spPr>
          <a:xfrm>
            <a:off x="900113" y="1196975"/>
            <a:ext cx="8004175" cy="4895850"/>
          </a:xfrm>
        </p:spPr>
        <p:txBody>
          <a:bodyPr/>
          <a:lstStyle/>
          <a:p>
            <a:pPr eaLnBrk="1" hangingPunct="1"/>
            <a:r>
              <a:rPr lang="zh-CN" altLang="en-US" sz="2800" dirty="0"/>
              <a:t>一个用户对已经打开的文件进行写操作，可以被同时打开同一文件的其他用户所见</a:t>
            </a:r>
          </a:p>
          <a:p>
            <a:pPr eaLnBrk="1" hangingPunct="1"/>
            <a:r>
              <a:rPr lang="zh-CN" altLang="en-US" sz="2800" dirty="0"/>
              <a:t>有一种共享模式允许用户共享文件当前指针位置</a:t>
            </a:r>
          </a:p>
          <a:p>
            <a:pPr eaLnBrk="1" hangingPunct="1"/>
            <a:endParaRPr lang="zh-CN" altLang="en-US" sz="2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checkerboard(across)">
                                      <p:cBhvr>
                                        <p:cTn id="7" dur="500"/>
                                        <p:tgtEl>
                                          <p:spTgt spid="385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checkerboard(across)">
                                      <p:cBhvr>
                                        <p:cTn id="12" dur="500"/>
                                        <p:tgtEl>
                                          <p:spTgt spid="3850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7EA7FC74-BC97-8FEE-086D-01FCD934D526}"/>
              </a:ext>
            </a:extLst>
          </p:cNvPr>
          <p:cNvSpPr>
            <a:spLocks noGrp="1" noChangeArrowheads="1"/>
          </p:cNvSpPr>
          <p:nvPr>
            <p:ph type="title"/>
          </p:nvPr>
        </p:nvSpPr>
        <p:spPr>
          <a:xfrm>
            <a:off x="1042988" y="225431"/>
            <a:ext cx="7850187" cy="746125"/>
          </a:xfrm>
        </p:spPr>
        <p:txBody>
          <a:bodyPr/>
          <a:lstStyle/>
          <a:p>
            <a:r>
              <a:rPr lang="zh-CN" altLang="en-US"/>
              <a:t>会话语义 </a:t>
            </a:r>
            <a:r>
              <a:rPr lang="en-US" altLang="zh-CN"/>
              <a:t>Session Semantics</a:t>
            </a:r>
          </a:p>
        </p:txBody>
      </p:sp>
      <p:sp>
        <p:nvSpPr>
          <p:cNvPr id="386051" name="Rectangle 3">
            <a:extLst>
              <a:ext uri="{FF2B5EF4-FFF2-40B4-BE49-F238E27FC236}">
                <a16:creationId xmlns:a16="http://schemas.microsoft.com/office/drawing/2014/main" id="{65ED1F96-D33A-843F-98A9-6663C8345A53}"/>
              </a:ext>
            </a:extLst>
          </p:cNvPr>
          <p:cNvSpPr>
            <a:spLocks noGrp="1" noChangeArrowheads="1"/>
          </p:cNvSpPr>
          <p:nvPr>
            <p:ph idx="1"/>
          </p:nvPr>
        </p:nvSpPr>
        <p:spPr>
          <a:xfrm>
            <a:off x="935038" y="1233488"/>
            <a:ext cx="7772400" cy="4895850"/>
          </a:xfrm>
        </p:spPr>
        <p:txBody>
          <a:bodyPr>
            <a:normAutofit/>
          </a:bodyPr>
          <a:lstStyle/>
          <a:p>
            <a:r>
              <a:rPr lang="en-US" altLang="zh-CN" dirty="0"/>
              <a:t>AFS</a:t>
            </a:r>
            <a:r>
              <a:rPr lang="zh-CN" altLang="en-US" dirty="0"/>
              <a:t>语义 </a:t>
            </a:r>
            <a:r>
              <a:rPr lang="en-US" altLang="zh-CN" dirty="0"/>
              <a:t>   AFS (Andrew File System)</a:t>
            </a:r>
          </a:p>
          <a:p>
            <a:pPr lvl="1"/>
            <a:r>
              <a:rPr lang="zh-CN" altLang="en-US" dirty="0"/>
              <a:t>一个用户对打开文件的写不能立即被同时打开同一文件的其他用户所见。</a:t>
            </a:r>
          </a:p>
          <a:p>
            <a:pPr lvl="1"/>
            <a:r>
              <a:rPr lang="zh-CN" altLang="en-US" dirty="0"/>
              <a:t>一旦文件关闭，对其所作的修改只能被以后打开的会话所见。已经打开文件的用户不能看见这些修改。</a:t>
            </a:r>
          </a:p>
          <a:p>
            <a:pPr lvl="1"/>
            <a:r>
              <a:rPr lang="en-US" altLang="zh-CN" dirty="0"/>
              <a:t>   </a:t>
            </a:r>
            <a:endParaRPr lang="zh-CN" altLang="en-US" dirty="0"/>
          </a:p>
        </p:txBody>
      </p:sp>
    </p:spTree>
  </p:cSld>
  <p:clrMapOvr>
    <a:masterClrMapping/>
  </p:clrMapOvr>
  <p:transition spd="med">
    <p:zoom/>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BA4A6C96-2B94-4A4B-7758-402406E813D3}"/>
              </a:ext>
            </a:extLst>
          </p:cNvPr>
          <p:cNvSpPr>
            <a:spLocks noGrp="1" noChangeArrowheads="1"/>
          </p:cNvSpPr>
          <p:nvPr>
            <p:ph type="title"/>
          </p:nvPr>
        </p:nvSpPr>
        <p:spPr>
          <a:xfrm>
            <a:off x="1042988" y="225431"/>
            <a:ext cx="7850187" cy="746125"/>
          </a:xfrm>
        </p:spPr>
        <p:txBody>
          <a:bodyPr/>
          <a:lstStyle/>
          <a:p>
            <a:r>
              <a:rPr lang="zh-CN" altLang="en-US" dirty="0"/>
              <a:t>不可修改共享文件语义</a:t>
            </a:r>
          </a:p>
        </p:txBody>
      </p:sp>
      <p:sp>
        <p:nvSpPr>
          <p:cNvPr id="387075" name="Rectangle 3">
            <a:extLst>
              <a:ext uri="{FF2B5EF4-FFF2-40B4-BE49-F238E27FC236}">
                <a16:creationId xmlns:a16="http://schemas.microsoft.com/office/drawing/2014/main" id="{A1778538-518D-A866-8DDF-C6198108D8E3}"/>
              </a:ext>
            </a:extLst>
          </p:cNvPr>
          <p:cNvSpPr>
            <a:spLocks noGrp="1" noChangeArrowheads="1"/>
          </p:cNvSpPr>
          <p:nvPr>
            <p:ph idx="1"/>
          </p:nvPr>
        </p:nvSpPr>
        <p:spPr>
          <a:xfrm>
            <a:off x="935038" y="1233488"/>
            <a:ext cx="7772400" cy="4895850"/>
          </a:xfrm>
        </p:spPr>
        <p:txBody>
          <a:bodyPr>
            <a:normAutofit/>
          </a:bodyPr>
          <a:lstStyle/>
          <a:p>
            <a:r>
              <a:rPr lang="zh-CN" altLang="en-US" dirty="0"/>
              <a:t>一旦一个文件被其创建者声明为共享，它就不能被修改。	</a:t>
            </a:r>
          </a:p>
          <a:p>
            <a:r>
              <a:rPr lang="en-US" altLang="zh-CN" dirty="0"/>
              <a:t>  </a:t>
            </a:r>
          </a:p>
          <a:p>
            <a:r>
              <a:rPr lang="zh-CN" altLang="en-US" dirty="0"/>
              <a:t>不可修改共享文件有两个重要特征：文件名不能重用，文件内容不可修改</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7075">
                                            <p:txEl>
                                              <p:pRg st="0" end="0"/>
                                            </p:txEl>
                                          </p:spTgt>
                                        </p:tgtEl>
                                        <p:attrNameLst>
                                          <p:attrName>style.visibility</p:attrName>
                                        </p:attrNameLst>
                                      </p:cBhvr>
                                      <p:to>
                                        <p:strVal val="visible"/>
                                      </p:to>
                                    </p:set>
                                    <p:animEffect transition="in" filter="checkerboard(across)">
                                      <p:cBhvr>
                                        <p:cTn id="7" dur="500"/>
                                        <p:tgtEl>
                                          <p:spTgt spid="387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7075">
                                            <p:txEl>
                                              <p:pRg st="1" end="1"/>
                                            </p:txEl>
                                          </p:spTgt>
                                        </p:tgtEl>
                                        <p:attrNameLst>
                                          <p:attrName>style.visibility</p:attrName>
                                        </p:attrNameLst>
                                      </p:cBhvr>
                                      <p:to>
                                        <p:strVal val="visible"/>
                                      </p:to>
                                    </p:set>
                                    <p:animEffect transition="in" filter="checkerboard(across)">
                                      <p:cBhvr>
                                        <p:cTn id="12" dur="500"/>
                                        <p:tgtEl>
                                          <p:spTgt spid="387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7075">
                                            <p:txEl>
                                              <p:pRg st="2" end="2"/>
                                            </p:txEl>
                                          </p:spTgt>
                                        </p:tgtEl>
                                        <p:attrNameLst>
                                          <p:attrName>style.visibility</p:attrName>
                                        </p:attrNameLst>
                                      </p:cBhvr>
                                      <p:to>
                                        <p:strVal val="visible"/>
                                      </p:to>
                                    </p:set>
                                    <p:animEffect transition="in" filter="checkerboard(across)">
                                      <p:cBhvr>
                                        <p:cTn id="17" dur="500"/>
                                        <p:tgtEl>
                                          <p:spTgt spid="387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5"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71B211F3-986C-098E-2820-0377E554DB1B}"/>
              </a:ext>
            </a:extLst>
          </p:cNvPr>
          <p:cNvSpPr>
            <a:spLocks noGrp="1" noChangeArrowheads="1"/>
          </p:cNvSpPr>
          <p:nvPr>
            <p:ph type="title"/>
          </p:nvPr>
        </p:nvSpPr>
        <p:spPr>
          <a:xfrm>
            <a:off x="1042988" y="225431"/>
            <a:ext cx="7850187" cy="746125"/>
          </a:xfrm>
        </p:spPr>
        <p:txBody>
          <a:bodyPr/>
          <a:lstStyle/>
          <a:p>
            <a:r>
              <a:rPr lang="zh-CN" altLang="en-US"/>
              <a:t>文件共享的早期实现</a:t>
            </a:r>
          </a:p>
        </p:txBody>
      </p:sp>
      <p:sp>
        <p:nvSpPr>
          <p:cNvPr id="15362" name="Rectangle 3">
            <a:extLst>
              <a:ext uri="{FF2B5EF4-FFF2-40B4-BE49-F238E27FC236}">
                <a16:creationId xmlns:a16="http://schemas.microsoft.com/office/drawing/2014/main" id="{B46A8ED3-060D-EC8C-41BC-FA415288DA8F}"/>
              </a:ext>
            </a:extLst>
          </p:cNvPr>
          <p:cNvSpPr>
            <a:spLocks noGrp="1" noChangeArrowheads="1"/>
          </p:cNvSpPr>
          <p:nvPr>
            <p:ph idx="1"/>
          </p:nvPr>
        </p:nvSpPr>
        <p:spPr>
          <a:xfrm>
            <a:off x="935038" y="1233488"/>
            <a:ext cx="7772400" cy="4895850"/>
          </a:xfrm>
        </p:spPr>
        <p:txBody>
          <a:bodyPr/>
          <a:lstStyle/>
          <a:p>
            <a:r>
              <a:rPr lang="zh-CN" altLang="en-US"/>
              <a:t>早期实现文件共享的方法有三种：</a:t>
            </a:r>
          </a:p>
          <a:p>
            <a:pPr lvl="1"/>
            <a:r>
              <a:rPr lang="zh-CN" altLang="en-US"/>
              <a:t>绕道法</a:t>
            </a:r>
          </a:p>
          <a:p>
            <a:pPr lvl="1"/>
            <a:r>
              <a:rPr lang="zh-CN" altLang="en-US"/>
              <a:t>链接法</a:t>
            </a:r>
          </a:p>
          <a:p>
            <a:pPr lvl="1"/>
            <a:r>
              <a:rPr lang="zh-CN" altLang="en-US"/>
              <a:t>基本文件目录表</a:t>
            </a:r>
          </a:p>
        </p:txBody>
      </p:sp>
    </p:spTree>
  </p:cSld>
  <p:clrMapOvr>
    <a:masterClrMapping/>
  </p:clrMapOvr>
  <p:transition spd="med">
    <p:zoom/>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0A9C76CB-CA3F-A926-266F-2D6D54B7FDC5}"/>
              </a:ext>
            </a:extLst>
          </p:cNvPr>
          <p:cNvSpPr>
            <a:spLocks noGrp="1" noChangeArrowheads="1"/>
          </p:cNvSpPr>
          <p:nvPr>
            <p:ph type="title"/>
          </p:nvPr>
        </p:nvSpPr>
        <p:spPr>
          <a:xfrm>
            <a:off x="1042988" y="225431"/>
            <a:ext cx="7850187" cy="746125"/>
          </a:xfrm>
        </p:spPr>
        <p:txBody>
          <a:bodyPr/>
          <a:lstStyle/>
          <a:p>
            <a:r>
              <a:rPr lang="zh-CN" altLang="en-US"/>
              <a:t>绕道法</a:t>
            </a:r>
          </a:p>
        </p:txBody>
      </p:sp>
      <p:sp>
        <p:nvSpPr>
          <p:cNvPr id="359427" name="Rectangle 3">
            <a:extLst>
              <a:ext uri="{FF2B5EF4-FFF2-40B4-BE49-F238E27FC236}">
                <a16:creationId xmlns:a16="http://schemas.microsoft.com/office/drawing/2014/main" id="{7151F633-F1A3-16B4-EBCA-16F0D7E8F44B}"/>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绕道法</a:t>
            </a:r>
            <a:r>
              <a:rPr lang="zh-CN" altLang="en-US" dirty="0"/>
              <a:t>要求每个用户在当前目录下工作，用户对所有文件的访问都相对于当前目录进行。</a:t>
            </a:r>
          </a:p>
          <a:p>
            <a:r>
              <a:rPr lang="zh-CN" altLang="en-US" dirty="0"/>
              <a:t>用户使用相对路径访问文件。当访问文件不在当前目录下时，用户应从当前目录出发向上返回到与所要共享文件所在路径的交叉点，再顺序向下访问到共享文件。</a:t>
            </a:r>
          </a:p>
          <a:p>
            <a:r>
              <a:rPr lang="zh-CN" altLang="en-US" dirty="0"/>
              <a:t>因绕道法要绕弯路访问多级目录，从而其搜索效率不高。</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animEffect transition="in" filter="checkerboard(across)">
                                      <p:cBhvr>
                                        <p:cTn id="7" dur="500"/>
                                        <p:tgtEl>
                                          <p:spTgt spid="359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59427">
                                            <p:txEl>
                                              <p:pRg st="1" end="1"/>
                                            </p:txEl>
                                          </p:spTgt>
                                        </p:tgtEl>
                                        <p:attrNameLst>
                                          <p:attrName>style.visibility</p:attrName>
                                        </p:attrNameLst>
                                      </p:cBhvr>
                                      <p:to>
                                        <p:strVal val="visible"/>
                                      </p:to>
                                    </p:set>
                                    <p:animEffect transition="in" filter="checkerboard(across)">
                                      <p:cBhvr>
                                        <p:cTn id="12" dur="500"/>
                                        <p:tgtEl>
                                          <p:spTgt spid="359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9427">
                                            <p:txEl>
                                              <p:pRg st="2" end="2"/>
                                            </p:txEl>
                                          </p:spTgt>
                                        </p:tgtEl>
                                        <p:attrNameLst>
                                          <p:attrName>style.visibility</p:attrName>
                                        </p:attrNameLst>
                                      </p:cBhvr>
                                      <p:to>
                                        <p:strVal val="visible"/>
                                      </p:to>
                                    </p:set>
                                    <p:animEffect transition="in" filter="checkerboard(across)">
                                      <p:cBhvr>
                                        <p:cTn id="17" dur="500"/>
                                        <p:tgtEl>
                                          <p:spTgt spid="3594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5AF80A0-C06F-C090-5E47-94407DE581B0}"/>
              </a:ext>
            </a:extLst>
          </p:cNvPr>
          <p:cNvSpPr>
            <a:spLocks noGrp="1" noChangeArrowheads="1"/>
          </p:cNvSpPr>
          <p:nvPr>
            <p:ph type="title"/>
          </p:nvPr>
        </p:nvSpPr>
        <p:spPr/>
        <p:txBody>
          <a:bodyPr/>
          <a:lstStyle/>
          <a:p>
            <a:pPr eaLnBrk="1" hangingPunct="1"/>
            <a:r>
              <a:rPr lang="zh-CN" altLang="en-US"/>
              <a:t>链接法</a:t>
            </a:r>
          </a:p>
        </p:txBody>
      </p:sp>
      <p:sp>
        <p:nvSpPr>
          <p:cNvPr id="360451" name="Rectangle 3">
            <a:extLst>
              <a:ext uri="{FF2B5EF4-FFF2-40B4-BE49-F238E27FC236}">
                <a16:creationId xmlns:a16="http://schemas.microsoft.com/office/drawing/2014/main" id="{9666686F-375B-350A-915F-CC55275263EE}"/>
              </a:ext>
            </a:extLst>
          </p:cNvPr>
          <p:cNvSpPr>
            <a:spLocks noGrp="1" noChangeArrowheads="1"/>
          </p:cNvSpPr>
          <p:nvPr>
            <p:ph idx="1"/>
          </p:nvPr>
        </p:nvSpPr>
        <p:spPr>
          <a:xfrm>
            <a:off x="755650" y="1125538"/>
            <a:ext cx="8199438" cy="5183187"/>
          </a:xfrm>
        </p:spPr>
        <p:txBody>
          <a:bodyPr/>
          <a:lstStyle/>
          <a:p>
            <a:pPr algn="just" eaLnBrk="1" hangingPunct="1"/>
            <a:r>
              <a:rPr lang="zh-CN" altLang="en-US">
                <a:solidFill>
                  <a:srgbClr val="FF0000"/>
                </a:solidFill>
              </a:rPr>
              <a:t>链接法</a:t>
            </a:r>
            <a:r>
              <a:rPr lang="zh-CN" altLang="en-US"/>
              <a:t>将一个目录中的链指针直接指向被共享文件所在的目录</a:t>
            </a:r>
            <a:r>
              <a:rPr lang="en-US" altLang="zh-CN"/>
              <a:t>。</a:t>
            </a:r>
          </a:p>
          <a:p>
            <a:pPr algn="just" eaLnBrk="1" hangingPunct="1"/>
            <a:r>
              <a:rPr lang="zh-CN" altLang="en-US"/>
              <a:t>采用链接法实现文件共享时，应在文件说明中增加</a:t>
            </a:r>
            <a:r>
              <a:rPr lang="zh-CN" altLang="en-US">
                <a:latin typeface="Courier New" panose="02070309020205020404" pitchFamily="49" charset="0"/>
              </a:rPr>
              <a:t>“</a:t>
            </a:r>
            <a:r>
              <a:rPr lang="zh-CN" altLang="en-US"/>
              <a:t>连访属性</a:t>
            </a:r>
            <a:r>
              <a:rPr lang="zh-CN" altLang="en-US">
                <a:latin typeface="Courier New" panose="02070309020205020404" pitchFamily="49" charset="0"/>
              </a:rPr>
              <a:t>”</a:t>
            </a:r>
            <a:r>
              <a:rPr lang="zh-CN" altLang="en-US"/>
              <a:t>和</a:t>
            </a:r>
            <a:r>
              <a:rPr lang="zh-CN" altLang="en-US">
                <a:latin typeface="Courier New" panose="02070309020205020404" pitchFamily="49" charset="0"/>
              </a:rPr>
              <a:t>“</a:t>
            </a:r>
            <a:r>
              <a:rPr lang="zh-CN" altLang="en-US"/>
              <a:t>用户计数</a:t>
            </a:r>
            <a:r>
              <a:rPr lang="zh-CN" altLang="en-US">
                <a:latin typeface="Courier New" panose="02070309020205020404" pitchFamily="49" charset="0"/>
              </a:rPr>
              <a:t>”</a:t>
            </a:r>
            <a:r>
              <a:rPr lang="zh-CN" altLang="en-US"/>
              <a:t>两项。前者说明文件物理地址是指向文件还是指向共享文件的目录，后者说明共享文件的用户数目。</a:t>
            </a:r>
          </a:p>
          <a:p>
            <a:pPr algn="just" eaLnBrk="1" hangingPunct="1"/>
            <a:r>
              <a:rPr lang="zh-CN" altLang="en-US"/>
              <a:t>若要删除一个共享文件，必须判别是否有多个用户共享该文件，若有则只做减1操作，否则才真正删除此共享文件。</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0451">
                                            <p:txEl>
                                              <p:pRg st="0" end="0"/>
                                            </p:txEl>
                                          </p:spTgt>
                                        </p:tgtEl>
                                        <p:attrNameLst>
                                          <p:attrName>style.visibility</p:attrName>
                                        </p:attrNameLst>
                                      </p:cBhvr>
                                      <p:to>
                                        <p:strVal val="visible"/>
                                      </p:to>
                                    </p:set>
                                    <p:animEffect transition="in" filter="checkerboard(across)">
                                      <p:cBhvr>
                                        <p:cTn id="7" dur="500"/>
                                        <p:tgtEl>
                                          <p:spTgt spid="360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0451">
                                            <p:txEl>
                                              <p:pRg st="1" end="1"/>
                                            </p:txEl>
                                          </p:spTgt>
                                        </p:tgtEl>
                                        <p:attrNameLst>
                                          <p:attrName>style.visibility</p:attrName>
                                        </p:attrNameLst>
                                      </p:cBhvr>
                                      <p:to>
                                        <p:strVal val="visible"/>
                                      </p:to>
                                    </p:set>
                                    <p:animEffect transition="in" filter="checkerboard(across)">
                                      <p:cBhvr>
                                        <p:cTn id="12" dur="500"/>
                                        <p:tgtEl>
                                          <p:spTgt spid="360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60451">
                                            <p:txEl>
                                              <p:pRg st="2" end="2"/>
                                            </p:txEl>
                                          </p:spTgt>
                                        </p:tgtEl>
                                        <p:attrNameLst>
                                          <p:attrName>style.visibility</p:attrName>
                                        </p:attrNameLst>
                                      </p:cBhvr>
                                      <p:to>
                                        <p:strVal val="visible"/>
                                      </p:to>
                                    </p:set>
                                    <p:animEffect transition="in" filter="checkerboard(across)">
                                      <p:cBhvr>
                                        <p:cTn id="17" dur="500"/>
                                        <p:tgtEl>
                                          <p:spTgt spid="360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1D0A86FB-669F-442B-20DD-A6EA16FD9592}"/>
              </a:ext>
            </a:extLst>
          </p:cNvPr>
          <p:cNvSpPr>
            <a:spLocks noGrp="1" noChangeArrowheads="1"/>
          </p:cNvSpPr>
          <p:nvPr>
            <p:ph type="title"/>
          </p:nvPr>
        </p:nvSpPr>
        <p:spPr/>
        <p:txBody>
          <a:bodyPr/>
          <a:lstStyle/>
          <a:p>
            <a:pPr eaLnBrk="1" hangingPunct="1"/>
            <a:r>
              <a:rPr lang="zh-CN" altLang="en-US"/>
              <a:t>链接示意图</a:t>
            </a:r>
            <a:r>
              <a:rPr lang="zh-CN" altLang="en-US">
                <a:latin typeface="Times New Roman" panose="02020603050405020304" pitchFamily="18" charset="0"/>
              </a:rPr>
              <a:t>—</a:t>
            </a:r>
            <a:r>
              <a:rPr lang="zh-CN" altLang="en-US"/>
              <a:t>虚线表示链接</a:t>
            </a:r>
          </a:p>
        </p:txBody>
      </p:sp>
      <p:sp>
        <p:nvSpPr>
          <p:cNvPr id="18434" name="Rectangle 3">
            <a:extLst>
              <a:ext uri="{FF2B5EF4-FFF2-40B4-BE49-F238E27FC236}">
                <a16:creationId xmlns:a16="http://schemas.microsoft.com/office/drawing/2014/main" id="{50C37D31-934F-D26F-5BC8-FCCD94222DE4}"/>
              </a:ext>
            </a:extLst>
          </p:cNvPr>
          <p:cNvSpPr>
            <a:spLocks noChangeArrowheads="1"/>
          </p:cNvSpPr>
          <p:nvPr/>
        </p:nvSpPr>
        <p:spPr bwMode="auto">
          <a:xfrm>
            <a:off x="3711575" y="1571625"/>
            <a:ext cx="1304925" cy="633413"/>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A     B    C</a:t>
            </a:r>
          </a:p>
        </p:txBody>
      </p:sp>
      <p:sp>
        <p:nvSpPr>
          <p:cNvPr id="18435" name="Line 4">
            <a:extLst>
              <a:ext uri="{FF2B5EF4-FFF2-40B4-BE49-F238E27FC236}">
                <a16:creationId xmlns:a16="http://schemas.microsoft.com/office/drawing/2014/main" id="{CAAE91BA-66F4-7279-FA4A-A87754F2D08E}"/>
              </a:ext>
            </a:extLst>
          </p:cNvPr>
          <p:cNvSpPr>
            <a:spLocks noChangeShapeType="1"/>
          </p:cNvSpPr>
          <p:nvPr/>
        </p:nvSpPr>
        <p:spPr bwMode="auto">
          <a:xfrm flipV="1">
            <a:off x="3711575" y="1935163"/>
            <a:ext cx="1304925" cy="15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36" name="Line 5">
            <a:extLst>
              <a:ext uri="{FF2B5EF4-FFF2-40B4-BE49-F238E27FC236}">
                <a16:creationId xmlns:a16="http://schemas.microsoft.com/office/drawing/2014/main" id="{66520067-8216-1477-07A8-5C82900253E0}"/>
              </a:ext>
            </a:extLst>
          </p:cNvPr>
          <p:cNvSpPr>
            <a:spLocks noChangeShapeType="1"/>
          </p:cNvSpPr>
          <p:nvPr/>
        </p:nvSpPr>
        <p:spPr bwMode="auto">
          <a:xfrm>
            <a:off x="4117975" y="1571625"/>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37" name="Line 6">
            <a:extLst>
              <a:ext uri="{FF2B5EF4-FFF2-40B4-BE49-F238E27FC236}">
                <a16:creationId xmlns:a16="http://schemas.microsoft.com/office/drawing/2014/main" id="{CD42C1AF-DC27-CD9A-72C1-F47351BA6FB8}"/>
              </a:ext>
            </a:extLst>
          </p:cNvPr>
          <p:cNvSpPr>
            <a:spLocks noChangeShapeType="1"/>
          </p:cNvSpPr>
          <p:nvPr/>
        </p:nvSpPr>
        <p:spPr bwMode="auto">
          <a:xfrm>
            <a:off x="4522788" y="1571625"/>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38" name="Rectangle 7">
            <a:extLst>
              <a:ext uri="{FF2B5EF4-FFF2-40B4-BE49-F238E27FC236}">
                <a16:creationId xmlns:a16="http://schemas.microsoft.com/office/drawing/2014/main" id="{D9A11CBA-276E-5E4B-BA4B-D254527B712D}"/>
              </a:ext>
            </a:extLst>
          </p:cNvPr>
          <p:cNvSpPr>
            <a:spLocks noChangeArrowheads="1"/>
          </p:cNvSpPr>
          <p:nvPr/>
        </p:nvSpPr>
        <p:spPr bwMode="auto">
          <a:xfrm>
            <a:off x="5181600" y="1643063"/>
            <a:ext cx="717550"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根目录</a:t>
            </a:r>
          </a:p>
        </p:txBody>
      </p:sp>
      <p:sp>
        <p:nvSpPr>
          <p:cNvPr id="18439" name="Rectangle 8">
            <a:extLst>
              <a:ext uri="{FF2B5EF4-FFF2-40B4-BE49-F238E27FC236}">
                <a16:creationId xmlns:a16="http://schemas.microsoft.com/office/drawing/2014/main" id="{0A5F22EC-5E4F-0358-58D9-392977E727B8}"/>
              </a:ext>
            </a:extLst>
          </p:cNvPr>
          <p:cNvSpPr>
            <a:spLocks noChangeArrowheads="1"/>
          </p:cNvSpPr>
          <p:nvPr/>
        </p:nvSpPr>
        <p:spPr bwMode="auto">
          <a:xfrm>
            <a:off x="3482975" y="1571625"/>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a:t>
            </a:r>
          </a:p>
        </p:txBody>
      </p:sp>
      <p:sp>
        <p:nvSpPr>
          <p:cNvPr id="18440" name="Rectangle 9">
            <a:extLst>
              <a:ext uri="{FF2B5EF4-FFF2-40B4-BE49-F238E27FC236}">
                <a16:creationId xmlns:a16="http://schemas.microsoft.com/office/drawing/2014/main" id="{CD4A6F15-A9A6-6887-EB90-4320E6D0D7A5}"/>
              </a:ext>
            </a:extLst>
          </p:cNvPr>
          <p:cNvSpPr>
            <a:spLocks noChangeArrowheads="1"/>
          </p:cNvSpPr>
          <p:nvPr/>
        </p:nvSpPr>
        <p:spPr bwMode="auto">
          <a:xfrm>
            <a:off x="1419225" y="2659063"/>
            <a:ext cx="1260475" cy="633412"/>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A    B     D</a:t>
            </a:r>
          </a:p>
        </p:txBody>
      </p:sp>
      <p:sp>
        <p:nvSpPr>
          <p:cNvPr id="18441" name="Line 10">
            <a:extLst>
              <a:ext uri="{FF2B5EF4-FFF2-40B4-BE49-F238E27FC236}">
                <a16:creationId xmlns:a16="http://schemas.microsoft.com/office/drawing/2014/main" id="{F9D6A777-4754-AEE6-81BC-B9358B6042BE}"/>
              </a:ext>
            </a:extLst>
          </p:cNvPr>
          <p:cNvSpPr>
            <a:spLocks noChangeShapeType="1"/>
          </p:cNvSpPr>
          <p:nvPr/>
        </p:nvSpPr>
        <p:spPr bwMode="auto">
          <a:xfrm flipV="1">
            <a:off x="1419225" y="3025775"/>
            <a:ext cx="12604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2" name="Line 11">
            <a:extLst>
              <a:ext uri="{FF2B5EF4-FFF2-40B4-BE49-F238E27FC236}">
                <a16:creationId xmlns:a16="http://schemas.microsoft.com/office/drawing/2014/main" id="{AC07E4EE-E756-C48C-0EF0-B76FC24738E8}"/>
              </a:ext>
            </a:extLst>
          </p:cNvPr>
          <p:cNvSpPr>
            <a:spLocks noChangeShapeType="1"/>
          </p:cNvSpPr>
          <p:nvPr/>
        </p:nvSpPr>
        <p:spPr bwMode="auto">
          <a:xfrm>
            <a:off x="1825625" y="2659063"/>
            <a:ext cx="0" cy="6334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3" name="Line 12">
            <a:extLst>
              <a:ext uri="{FF2B5EF4-FFF2-40B4-BE49-F238E27FC236}">
                <a16:creationId xmlns:a16="http://schemas.microsoft.com/office/drawing/2014/main" id="{8F231A5C-C9B8-DBB2-DA60-62FC85A7A050}"/>
              </a:ext>
            </a:extLst>
          </p:cNvPr>
          <p:cNvSpPr>
            <a:spLocks noChangeShapeType="1"/>
          </p:cNvSpPr>
          <p:nvPr/>
        </p:nvSpPr>
        <p:spPr bwMode="auto">
          <a:xfrm>
            <a:off x="2230438" y="2662238"/>
            <a:ext cx="0" cy="6334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4" name="Rectangle 13">
            <a:extLst>
              <a:ext uri="{FF2B5EF4-FFF2-40B4-BE49-F238E27FC236}">
                <a16:creationId xmlns:a16="http://schemas.microsoft.com/office/drawing/2014/main" id="{1B4C1465-3BC0-80AA-C4A0-449ADFCEF429}"/>
              </a:ext>
            </a:extLst>
          </p:cNvPr>
          <p:cNvSpPr>
            <a:spLocks noChangeArrowheads="1"/>
          </p:cNvSpPr>
          <p:nvPr/>
        </p:nvSpPr>
        <p:spPr bwMode="auto">
          <a:xfrm>
            <a:off x="1190625" y="2662238"/>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a:t>
            </a:r>
          </a:p>
        </p:txBody>
      </p:sp>
      <p:sp>
        <p:nvSpPr>
          <p:cNvPr id="18445" name="Rectangle 14">
            <a:extLst>
              <a:ext uri="{FF2B5EF4-FFF2-40B4-BE49-F238E27FC236}">
                <a16:creationId xmlns:a16="http://schemas.microsoft.com/office/drawing/2014/main" id="{8AFEB822-6FAE-6719-F7EF-4A92AC61195A}"/>
              </a:ext>
            </a:extLst>
          </p:cNvPr>
          <p:cNvSpPr>
            <a:spLocks noChangeArrowheads="1"/>
          </p:cNvSpPr>
          <p:nvPr/>
        </p:nvSpPr>
        <p:spPr bwMode="auto">
          <a:xfrm>
            <a:off x="3681413" y="2659063"/>
            <a:ext cx="1274762" cy="633412"/>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F    E    D</a:t>
            </a:r>
          </a:p>
        </p:txBody>
      </p:sp>
      <p:sp>
        <p:nvSpPr>
          <p:cNvPr id="18446" name="Line 15">
            <a:extLst>
              <a:ext uri="{FF2B5EF4-FFF2-40B4-BE49-F238E27FC236}">
                <a16:creationId xmlns:a16="http://schemas.microsoft.com/office/drawing/2014/main" id="{6F841CB6-33F6-ECF0-AEF5-32A497E0E590}"/>
              </a:ext>
            </a:extLst>
          </p:cNvPr>
          <p:cNvSpPr>
            <a:spLocks noChangeShapeType="1"/>
          </p:cNvSpPr>
          <p:nvPr/>
        </p:nvSpPr>
        <p:spPr bwMode="auto">
          <a:xfrm flipV="1">
            <a:off x="3681413" y="3025775"/>
            <a:ext cx="1274762"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7" name="Line 16">
            <a:extLst>
              <a:ext uri="{FF2B5EF4-FFF2-40B4-BE49-F238E27FC236}">
                <a16:creationId xmlns:a16="http://schemas.microsoft.com/office/drawing/2014/main" id="{3F628F99-0320-8FF0-4662-FBB1F74FBFAA}"/>
              </a:ext>
            </a:extLst>
          </p:cNvPr>
          <p:cNvSpPr>
            <a:spLocks noChangeShapeType="1"/>
          </p:cNvSpPr>
          <p:nvPr/>
        </p:nvSpPr>
        <p:spPr bwMode="auto">
          <a:xfrm>
            <a:off x="4086225" y="2662238"/>
            <a:ext cx="0" cy="6334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8" name="Line 17">
            <a:extLst>
              <a:ext uri="{FF2B5EF4-FFF2-40B4-BE49-F238E27FC236}">
                <a16:creationId xmlns:a16="http://schemas.microsoft.com/office/drawing/2014/main" id="{56162DF7-3337-CA40-22AA-74A7376B4C59}"/>
              </a:ext>
            </a:extLst>
          </p:cNvPr>
          <p:cNvSpPr>
            <a:spLocks noChangeShapeType="1"/>
          </p:cNvSpPr>
          <p:nvPr/>
        </p:nvSpPr>
        <p:spPr bwMode="auto">
          <a:xfrm>
            <a:off x="4491038" y="2662238"/>
            <a:ext cx="0" cy="6334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49" name="Rectangle 18">
            <a:extLst>
              <a:ext uri="{FF2B5EF4-FFF2-40B4-BE49-F238E27FC236}">
                <a16:creationId xmlns:a16="http://schemas.microsoft.com/office/drawing/2014/main" id="{18B448ED-2B7A-8DC8-22F3-F4342B7D3A3F}"/>
              </a:ext>
            </a:extLst>
          </p:cNvPr>
          <p:cNvSpPr>
            <a:spLocks noChangeArrowheads="1"/>
          </p:cNvSpPr>
          <p:nvPr/>
        </p:nvSpPr>
        <p:spPr bwMode="auto">
          <a:xfrm>
            <a:off x="3452813" y="2662238"/>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3</a:t>
            </a:r>
          </a:p>
        </p:txBody>
      </p:sp>
      <p:sp>
        <p:nvSpPr>
          <p:cNvPr id="18450" name="Rectangle 19">
            <a:extLst>
              <a:ext uri="{FF2B5EF4-FFF2-40B4-BE49-F238E27FC236}">
                <a16:creationId xmlns:a16="http://schemas.microsoft.com/office/drawing/2014/main" id="{80838188-EF37-8F08-24CC-18CC30F1A696}"/>
              </a:ext>
            </a:extLst>
          </p:cNvPr>
          <p:cNvSpPr>
            <a:spLocks noChangeArrowheads="1"/>
          </p:cNvSpPr>
          <p:nvPr/>
        </p:nvSpPr>
        <p:spPr bwMode="auto">
          <a:xfrm>
            <a:off x="6065838" y="2659063"/>
            <a:ext cx="892175" cy="633412"/>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G    A</a:t>
            </a:r>
          </a:p>
        </p:txBody>
      </p:sp>
      <p:sp>
        <p:nvSpPr>
          <p:cNvPr id="18451" name="Line 20">
            <a:extLst>
              <a:ext uri="{FF2B5EF4-FFF2-40B4-BE49-F238E27FC236}">
                <a16:creationId xmlns:a16="http://schemas.microsoft.com/office/drawing/2014/main" id="{1D122F12-9FE8-C818-BC81-788D27421AF8}"/>
              </a:ext>
            </a:extLst>
          </p:cNvPr>
          <p:cNvSpPr>
            <a:spLocks noChangeShapeType="1"/>
          </p:cNvSpPr>
          <p:nvPr/>
        </p:nvSpPr>
        <p:spPr bwMode="auto">
          <a:xfrm flipV="1">
            <a:off x="6065838" y="3025775"/>
            <a:ext cx="8921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52" name="Line 21">
            <a:extLst>
              <a:ext uri="{FF2B5EF4-FFF2-40B4-BE49-F238E27FC236}">
                <a16:creationId xmlns:a16="http://schemas.microsoft.com/office/drawing/2014/main" id="{2F7E31A3-CA6B-E04E-E6C8-1EDDBF804928}"/>
              </a:ext>
            </a:extLst>
          </p:cNvPr>
          <p:cNvSpPr>
            <a:spLocks noChangeShapeType="1"/>
          </p:cNvSpPr>
          <p:nvPr/>
        </p:nvSpPr>
        <p:spPr bwMode="auto">
          <a:xfrm>
            <a:off x="6470650" y="2662238"/>
            <a:ext cx="0" cy="6334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53" name="Rectangle 22">
            <a:extLst>
              <a:ext uri="{FF2B5EF4-FFF2-40B4-BE49-F238E27FC236}">
                <a16:creationId xmlns:a16="http://schemas.microsoft.com/office/drawing/2014/main" id="{463BF771-285C-F394-D5A7-F596CBA0AB71}"/>
              </a:ext>
            </a:extLst>
          </p:cNvPr>
          <p:cNvSpPr>
            <a:spLocks noChangeArrowheads="1"/>
          </p:cNvSpPr>
          <p:nvPr/>
        </p:nvSpPr>
        <p:spPr bwMode="auto">
          <a:xfrm>
            <a:off x="5835650" y="2662238"/>
            <a:ext cx="2301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4</a:t>
            </a:r>
          </a:p>
        </p:txBody>
      </p:sp>
      <p:sp>
        <p:nvSpPr>
          <p:cNvPr id="18454" name="Rectangle 23">
            <a:extLst>
              <a:ext uri="{FF2B5EF4-FFF2-40B4-BE49-F238E27FC236}">
                <a16:creationId xmlns:a16="http://schemas.microsoft.com/office/drawing/2014/main" id="{DD4E5BEF-D559-6729-87E8-5F323D0A9AD0}"/>
              </a:ext>
            </a:extLst>
          </p:cNvPr>
          <p:cNvSpPr>
            <a:spLocks noChangeArrowheads="1"/>
          </p:cNvSpPr>
          <p:nvPr/>
        </p:nvSpPr>
        <p:spPr bwMode="auto">
          <a:xfrm>
            <a:off x="762000" y="3987800"/>
            <a:ext cx="908050" cy="633413"/>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A    C</a:t>
            </a:r>
          </a:p>
        </p:txBody>
      </p:sp>
      <p:sp>
        <p:nvSpPr>
          <p:cNvPr id="18455" name="Line 24">
            <a:extLst>
              <a:ext uri="{FF2B5EF4-FFF2-40B4-BE49-F238E27FC236}">
                <a16:creationId xmlns:a16="http://schemas.microsoft.com/office/drawing/2014/main" id="{72799B98-7920-AAEA-FC6A-77E677DB5A0B}"/>
              </a:ext>
            </a:extLst>
          </p:cNvPr>
          <p:cNvSpPr>
            <a:spLocks noChangeShapeType="1"/>
          </p:cNvSpPr>
          <p:nvPr/>
        </p:nvSpPr>
        <p:spPr bwMode="auto">
          <a:xfrm flipV="1">
            <a:off x="762000" y="4352925"/>
            <a:ext cx="908050"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56" name="Line 25">
            <a:extLst>
              <a:ext uri="{FF2B5EF4-FFF2-40B4-BE49-F238E27FC236}">
                <a16:creationId xmlns:a16="http://schemas.microsoft.com/office/drawing/2014/main" id="{919B25F2-FC8A-D2EA-31DC-9A026EE1496C}"/>
              </a:ext>
            </a:extLst>
          </p:cNvPr>
          <p:cNvSpPr>
            <a:spLocks noChangeShapeType="1"/>
          </p:cNvSpPr>
          <p:nvPr/>
        </p:nvSpPr>
        <p:spPr bwMode="auto">
          <a:xfrm>
            <a:off x="1168400" y="3989388"/>
            <a:ext cx="0" cy="6350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57" name="Rectangle 26">
            <a:extLst>
              <a:ext uri="{FF2B5EF4-FFF2-40B4-BE49-F238E27FC236}">
                <a16:creationId xmlns:a16="http://schemas.microsoft.com/office/drawing/2014/main" id="{7699AA83-3F50-BE81-997B-616B45EF3A93}"/>
              </a:ext>
            </a:extLst>
          </p:cNvPr>
          <p:cNvSpPr>
            <a:spLocks noChangeArrowheads="1"/>
          </p:cNvSpPr>
          <p:nvPr/>
        </p:nvSpPr>
        <p:spPr bwMode="auto">
          <a:xfrm>
            <a:off x="533400" y="3989388"/>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5</a:t>
            </a:r>
          </a:p>
        </p:txBody>
      </p:sp>
      <p:sp>
        <p:nvSpPr>
          <p:cNvPr id="18458" name="Oval 27">
            <a:extLst>
              <a:ext uri="{FF2B5EF4-FFF2-40B4-BE49-F238E27FC236}">
                <a16:creationId xmlns:a16="http://schemas.microsoft.com/office/drawing/2014/main" id="{FB4EEB09-E1EF-8739-C43E-E161B7298837}"/>
              </a:ext>
            </a:extLst>
          </p:cNvPr>
          <p:cNvSpPr>
            <a:spLocks noChangeArrowheads="1"/>
          </p:cNvSpPr>
          <p:nvPr/>
        </p:nvSpPr>
        <p:spPr bwMode="auto">
          <a:xfrm>
            <a:off x="1817688" y="3640138"/>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59" name="Oval 28">
            <a:extLst>
              <a:ext uri="{FF2B5EF4-FFF2-40B4-BE49-F238E27FC236}">
                <a16:creationId xmlns:a16="http://schemas.microsoft.com/office/drawing/2014/main" id="{FD1F21E5-FFDE-2341-90C6-82F483655B07}"/>
              </a:ext>
            </a:extLst>
          </p:cNvPr>
          <p:cNvSpPr>
            <a:spLocks noChangeArrowheads="1"/>
          </p:cNvSpPr>
          <p:nvPr/>
        </p:nvSpPr>
        <p:spPr bwMode="auto">
          <a:xfrm>
            <a:off x="2474913" y="3640138"/>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60" name="Line 29">
            <a:extLst>
              <a:ext uri="{FF2B5EF4-FFF2-40B4-BE49-F238E27FC236}">
                <a16:creationId xmlns:a16="http://schemas.microsoft.com/office/drawing/2014/main" id="{EF65CF0F-0454-D6C2-BDEE-A4CEDD04293E}"/>
              </a:ext>
            </a:extLst>
          </p:cNvPr>
          <p:cNvSpPr>
            <a:spLocks noChangeShapeType="1"/>
          </p:cNvSpPr>
          <p:nvPr/>
        </p:nvSpPr>
        <p:spPr bwMode="auto">
          <a:xfrm flipH="1">
            <a:off x="2141538" y="2074863"/>
            <a:ext cx="1757362" cy="5699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1" name="Line 30">
            <a:extLst>
              <a:ext uri="{FF2B5EF4-FFF2-40B4-BE49-F238E27FC236}">
                <a16:creationId xmlns:a16="http://schemas.microsoft.com/office/drawing/2014/main" id="{E86BC230-B288-8D6E-354A-67D1CAC192DD}"/>
              </a:ext>
            </a:extLst>
          </p:cNvPr>
          <p:cNvSpPr>
            <a:spLocks noChangeShapeType="1"/>
          </p:cNvSpPr>
          <p:nvPr/>
        </p:nvSpPr>
        <p:spPr bwMode="auto">
          <a:xfrm>
            <a:off x="4322763" y="2089150"/>
            <a:ext cx="0" cy="56991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2" name="Line 31">
            <a:extLst>
              <a:ext uri="{FF2B5EF4-FFF2-40B4-BE49-F238E27FC236}">
                <a16:creationId xmlns:a16="http://schemas.microsoft.com/office/drawing/2014/main" id="{308C748B-95C5-8885-FA3C-1B17352F621C}"/>
              </a:ext>
            </a:extLst>
          </p:cNvPr>
          <p:cNvSpPr>
            <a:spLocks noChangeShapeType="1"/>
          </p:cNvSpPr>
          <p:nvPr/>
        </p:nvSpPr>
        <p:spPr bwMode="auto">
          <a:xfrm>
            <a:off x="4767263" y="2074863"/>
            <a:ext cx="1557337" cy="5699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3" name="Rectangle 32">
            <a:extLst>
              <a:ext uri="{FF2B5EF4-FFF2-40B4-BE49-F238E27FC236}">
                <a16:creationId xmlns:a16="http://schemas.microsoft.com/office/drawing/2014/main" id="{51A9F6EA-C37C-9C21-5A42-30B89E562421}"/>
              </a:ext>
            </a:extLst>
          </p:cNvPr>
          <p:cNvSpPr>
            <a:spLocks noChangeArrowheads="1"/>
          </p:cNvSpPr>
          <p:nvPr/>
        </p:nvSpPr>
        <p:spPr bwMode="auto">
          <a:xfrm>
            <a:off x="1954213" y="4067175"/>
            <a:ext cx="23018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6</a:t>
            </a:r>
          </a:p>
        </p:txBody>
      </p:sp>
      <p:sp>
        <p:nvSpPr>
          <p:cNvPr id="18464" name="Rectangle 33">
            <a:extLst>
              <a:ext uri="{FF2B5EF4-FFF2-40B4-BE49-F238E27FC236}">
                <a16:creationId xmlns:a16="http://schemas.microsoft.com/office/drawing/2014/main" id="{8DB50963-913B-2218-EC4B-FFD398DEFB3B}"/>
              </a:ext>
            </a:extLst>
          </p:cNvPr>
          <p:cNvSpPr>
            <a:spLocks noChangeArrowheads="1"/>
          </p:cNvSpPr>
          <p:nvPr/>
        </p:nvSpPr>
        <p:spPr bwMode="auto">
          <a:xfrm>
            <a:off x="2611438" y="4067175"/>
            <a:ext cx="23018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7</a:t>
            </a:r>
          </a:p>
        </p:txBody>
      </p:sp>
      <p:sp>
        <p:nvSpPr>
          <p:cNvPr id="18465" name="Line 34">
            <a:extLst>
              <a:ext uri="{FF2B5EF4-FFF2-40B4-BE49-F238E27FC236}">
                <a16:creationId xmlns:a16="http://schemas.microsoft.com/office/drawing/2014/main" id="{6F06FBEF-F577-FB5C-E771-2533B95FDE98}"/>
              </a:ext>
            </a:extLst>
          </p:cNvPr>
          <p:cNvSpPr>
            <a:spLocks noChangeShapeType="1"/>
          </p:cNvSpPr>
          <p:nvPr/>
        </p:nvSpPr>
        <p:spPr bwMode="auto">
          <a:xfrm>
            <a:off x="2016125" y="3179763"/>
            <a:ext cx="0" cy="4746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6" name="Line 35">
            <a:extLst>
              <a:ext uri="{FF2B5EF4-FFF2-40B4-BE49-F238E27FC236}">
                <a16:creationId xmlns:a16="http://schemas.microsoft.com/office/drawing/2014/main" id="{17635DF5-E1E0-7F08-7917-6A884D6739BD}"/>
              </a:ext>
            </a:extLst>
          </p:cNvPr>
          <p:cNvSpPr>
            <a:spLocks noChangeShapeType="1"/>
          </p:cNvSpPr>
          <p:nvPr/>
        </p:nvSpPr>
        <p:spPr bwMode="auto">
          <a:xfrm>
            <a:off x="2443163" y="3165475"/>
            <a:ext cx="198437" cy="47466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67" name="Oval 36">
            <a:extLst>
              <a:ext uri="{FF2B5EF4-FFF2-40B4-BE49-F238E27FC236}">
                <a16:creationId xmlns:a16="http://schemas.microsoft.com/office/drawing/2014/main" id="{E5C6D426-7E0D-4B4E-D347-BEE2B174CEC5}"/>
              </a:ext>
            </a:extLst>
          </p:cNvPr>
          <p:cNvSpPr>
            <a:spLocks noChangeArrowheads="1"/>
          </p:cNvSpPr>
          <p:nvPr/>
        </p:nvSpPr>
        <p:spPr bwMode="auto">
          <a:xfrm>
            <a:off x="5989638" y="3625850"/>
            <a:ext cx="381000" cy="350838"/>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68" name="Oval 37">
            <a:extLst>
              <a:ext uri="{FF2B5EF4-FFF2-40B4-BE49-F238E27FC236}">
                <a16:creationId xmlns:a16="http://schemas.microsoft.com/office/drawing/2014/main" id="{5D76623D-32DB-60C0-C674-C7E1F84423D1}"/>
              </a:ext>
            </a:extLst>
          </p:cNvPr>
          <p:cNvSpPr>
            <a:spLocks noChangeArrowheads="1"/>
          </p:cNvSpPr>
          <p:nvPr/>
        </p:nvSpPr>
        <p:spPr bwMode="auto">
          <a:xfrm>
            <a:off x="6630988" y="3625850"/>
            <a:ext cx="381000" cy="350838"/>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69" name="Rectangle 38">
            <a:extLst>
              <a:ext uri="{FF2B5EF4-FFF2-40B4-BE49-F238E27FC236}">
                <a16:creationId xmlns:a16="http://schemas.microsoft.com/office/drawing/2014/main" id="{46859249-FEE9-6BD8-20B5-BDEA7D7F3C97}"/>
              </a:ext>
            </a:extLst>
          </p:cNvPr>
          <p:cNvSpPr>
            <a:spLocks noChangeArrowheads="1"/>
          </p:cNvSpPr>
          <p:nvPr/>
        </p:nvSpPr>
        <p:spPr bwMode="auto">
          <a:xfrm>
            <a:off x="6126163" y="4035425"/>
            <a:ext cx="23018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8</a:t>
            </a:r>
          </a:p>
        </p:txBody>
      </p:sp>
      <p:sp>
        <p:nvSpPr>
          <p:cNvPr id="18470" name="Rectangle 39">
            <a:extLst>
              <a:ext uri="{FF2B5EF4-FFF2-40B4-BE49-F238E27FC236}">
                <a16:creationId xmlns:a16="http://schemas.microsoft.com/office/drawing/2014/main" id="{D9D3E7CD-31FD-E3A4-34ED-2AAE6A71FAAD}"/>
              </a:ext>
            </a:extLst>
          </p:cNvPr>
          <p:cNvSpPr>
            <a:spLocks noChangeArrowheads="1"/>
          </p:cNvSpPr>
          <p:nvPr/>
        </p:nvSpPr>
        <p:spPr bwMode="auto">
          <a:xfrm>
            <a:off x="6769100" y="4035425"/>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9</a:t>
            </a:r>
          </a:p>
        </p:txBody>
      </p:sp>
      <p:sp>
        <p:nvSpPr>
          <p:cNvPr id="18471" name="Line 40">
            <a:extLst>
              <a:ext uri="{FF2B5EF4-FFF2-40B4-BE49-F238E27FC236}">
                <a16:creationId xmlns:a16="http://schemas.microsoft.com/office/drawing/2014/main" id="{B623C9AB-3FB1-17F5-4B60-7952FD9CF1FB}"/>
              </a:ext>
            </a:extLst>
          </p:cNvPr>
          <p:cNvSpPr>
            <a:spLocks noChangeShapeType="1"/>
          </p:cNvSpPr>
          <p:nvPr/>
        </p:nvSpPr>
        <p:spPr bwMode="auto">
          <a:xfrm flipH="1">
            <a:off x="6218238" y="3192463"/>
            <a:ext cx="46037" cy="4333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2" name="Line 41">
            <a:extLst>
              <a:ext uri="{FF2B5EF4-FFF2-40B4-BE49-F238E27FC236}">
                <a16:creationId xmlns:a16="http://schemas.microsoft.com/office/drawing/2014/main" id="{88A4F5D1-DED0-E404-99ED-2B48351E9B4F}"/>
              </a:ext>
            </a:extLst>
          </p:cNvPr>
          <p:cNvSpPr>
            <a:spLocks noChangeShapeType="1"/>
          </p:cNvSpPr>
          <p:nvPr/>
        </p:nvSpPr>
        <p:spPr bwMode="auto">
          <a:xfrm>
            <a:off x="6707188" y="3179763"/>
            <a:ext cx="106362" cy="4603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3" name="Oval 42">
            <a:extLst>
              <a:ext uri="{FF2B5EF4-FFF2-40B4-BE49-F238E27FC236}">
                <a16:creationId xmlns:a16="http://schemas.microsoft.com/office/drawing/2014/main" id="{048EF6B3-313A-BC53-ABA7-8FDCD16531DC}"/>
              </a:ext>
            </a:extLst>
          </p:cNvPr>
          <p:cNvSpPr>
            <a:spLocks noChangeArrowheads="1"/>
          </p:cNvSpPr>
          <p:nvPr/>
        </p:nvSpPr>
        <p:spPr bwMode="auto">
          <a:xfrm>
            <a:off x="671513" y="49514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74" name="Oval 43">
            <a:extLst>
              <a:ext uri="{FF2B5EF4-FFF2-40B4-BE49-F238E27FC236}">
                <a16:creationId xmlns:a16="http://schemas.microsoft.com/office/drawing/2014/main" id="{7ECF9C10-FEDB-CBB8-BE65-412AB1E81717}"/>
              </a:ext>
            </a:extLst>
          </p:cNvPr>
          <p:cNvSpPr>
            <a:spLocks noChangeArrowheads="1"/>
          </p:cNvSpPr>
          <p:nvPr/>
        </p:nvSpPr>
        <p:spPr bwMode="auto">
          <a:xfrm>
            <a:off x="1312863" y="49514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75" name="Rectangle 44">
            <a:extLst>
              <a:ext uri="{FF2B5EF4-FFF2-40B4-BE49-F238E27FC236}">
                <a16:creationId xmlns:a16="http://schemas.microsoft.com/office/drawing/2014/main" id="{74D81507-81AB-B995-296E-ECCDB5866E82}"/>
              </a:ext>
            </a:extLst>
          </p:cNvPr>
          <p:cNvSpPr>
            <a:spLocks noChangeArrowheads="1"/>
          </p:cNvSpPr>
          <p:nvPr/>
        </p:nvSpPr>
        <p:spPr bwMode="auto">
          <a:xfrm>
            <a:off x="808038" y="5360988"/>
            <a:ext cx="23018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10</a:t>
            </a:r>
          </a:p>
        </p:txBody>
      </p:sp>
      <p:sp>
        <p:nvSpPr>
          <p:cNvPr id="18476" name="Rectangle 45">
            <a:extLst>
              <a:ext uri="{FF2B5EF4-FFF2-40B4-BE49-F238E27FC236}">
                <a16:creationId xmlns:a16="http://schemas.microsoft.com/office/drawing/2014/main" id="{6185445D-3E4F-FDA8-BAB6-4BF686DAF8D3}"/>
              </a:ext>
            </a:extLst>
          </p:cNvPr>
          <p:cNvSpPr>
            <a:spLocks noChangeArrowheads="1"/>
          </p:cNvSpPr>
          <p:nvPr/>
        </p:nvSpPr>
        <p:spPr bwMode="auto">
          <a:xfrm>
            <a:off x="1450975" y="5362575"/>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11</a:t>
            </a:r>
          </a:p>
        </p:txBody>
      </p:sp>
      <p:sp>
        <p:nvSpPr>
          <p:cNvPr id="18477" name="Line 46">
            <a:extLst>
              <a:ext uri="{FF2B5EF4-FFF2-40B4-BE49-F238E27FC236}">
                <a16:creationId xmlns:a16="http://schemas.microsoft.com/office/drawing/2014/main" id="{ADD1E730-141D-5551-529A-3D52FEC8A818}"/>
              </a:ext>
            </a:extLst>
          </p:cNvPr>
          <p:cNvSpPr>
            <a:spLocks noChangeShapeType="1"/>
          </p:cNvSpPr>
          <p:nvPr/>
        </p:nvSpPr>
        <p:spPr bwMode="auto">
          <a:xfrm flipH="1">
            <a:off x="992188" y="3165475"/>
            <a:ext cx="625475" cy="8191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8" name="Line 47">
            <a:extLst>
              <a:ext uri="{FF2B5EF4-FFF2-40B4-BE49-F238E27FC236}">
                <a16:creationId xmlns:a16="http://schemas.microsoft.com/office/drawing/2014/main" id="{26F7386D-6344-A102-D4F8-987D7089EB77}"/>
              </a:ext>
            </a:extLst>
          </p:cNvPr>
          <p:cNvSpPr>
            <a:spLocks noChangeShapeType="1"/>
          </p:cNvSpPr>
          <p:nvPr/>
        </p:nvSpPr>
        <p:spPr bwMode="auto">
          <a:xfrm flipH="1">
            <a:off x="854075" y="4479925"/>
            <a:ext cx="76200" cy="50323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79" name="Line 48">
            <a:extLst>
              <a:ext uri="{FF2B5EF4-FFF2-40B4-BE49-F238E27FC236}">
                <a16:creationId xmlns:a16="http://schemas.microsoft.com/office/drawing/2014/main" id="{3455816F-89C8-1E7C-C21E-CDBC9A1E05B6}"/>
              </a:ext>
            </a:extLst>
          </p:cNvPr>
          <p:cNvSpPr>
            <a:spLocks noChangeShapeType="1"/>
          </p:cNvSpPr>
          <p:nvPr/>
        </p:nvSpPr>
        <p:spPr bwMode="auto">
          <a:xfrm>
            <a:off x="1404938" y="4479925"/>
            <a:ext cx="106362" cy="5016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80" name="Rectangle 49">
            <a:extLst>
              <a:ext uri="{FF2B5EF4-FFF2-40B4-BE49-F238E27FC236}">
                <a16:creationId xmlns:a16="http://schemas.microsoft.com/office/drawing/2014/main" id="{150AB5C1-CB94-DAAD-383D-AD353EA35D98}"/>
              </a:ext>
            </a:extLst>
          </p:cNvPr>
          <p:cNvSpPr>
            <a:spLocks noChangeArrowheads="1"/>
          </p:cNvSpPr>
          <p:nvPr/>
        </p:nvSpPr>
        <p:spPr bwMode="auto">
          <a:xfrm>
            <a:off x="2413000" y="4654550"/>
            <a:ext cx="1258888" cy="6350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J    N    K</a:t>
            </a:r>
          </a:p>
        </p:txBody>
      </p:sp>
      <p:sp>
        <p:nvSpPr>
          <p:cNvPr id="18481" name="Line 50">
            <a:extLst>
              <a:ext uri="{FF2B5EF4-FFF2-40B4-BE49-F238E27FC236}">
                <a16:creationId xmlns:a16="http://schemas.microsoft.com/office/drawing/2014/main" id="{7CBF6639-CE88-8AA7-0EB0-E3BE42BA0A65}"/>
              </a:ext>
            </a:extLst>
          </p:cNvPr>
          <p:cNvSpPr>
            <a:spLocks noChangeShapeType="1"/>
          </p:cNvSpPr>
          <p:nvPr/>
        </p:nvSpPr>
        <p:spPr bwMode="auto">
          <a:xfrm flipV="1">
            <a:off x="2413000" y="5024438"/>
            <a:ext cx="1258888" cy="15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2" name="Line 51">
            <a:extLst>
              <a:ext uri="{FF2B5EF4-FFF2-40B4-BE49-F238E27FC236}">
                <a16:creationId xmlns:a16="http://schemas.microsoft.com/office/drawing/2014/main" id="{9D7ED1B3-64E0-AB7F-3E08-24796E163B67}"/>
              </a:ext>
            </a:extLst>
          </p:cNvPr>
          <p:cNvSpPr>
            <a:spLocks noChangeShapeType="1"/>
          </p:cNvSpPr>
          <p:nvPr/>
        </p:nvSpPr>
        <p:spPr bwMode="auto">
          <a:xfrm>
            <a:off x="2817813"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3" name="Line 52">
            <a:extLst>
              <a:ext uri="{FF2B5EF4-FFF2-40B4-BE49-F238E27FC236}">
                <a16:creationId xmlns:a16="http://schemas.microsoft.com/office/drawing/2014/main" id="{7E319B74-BDE3-A0F2-977F-FE5C4CF82443}"/>
              </a:ext>
            </a:extLst>
          </p:cNvPr>
          <p:cNvSpPr>
            <a:spLocks noChangeShapeType="1"/>
          </p:cNvSpPr>
          <p:nvPr/>
        </p:nvSpPr>
        <p:spPr bwMode="auto">
          <a:xfrm>
            <a:off x="3222625"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4" name="Rectangle 53">
            <a:extLst>
              <a:ext uri="{FF2B5EF4-FFF2-40B4-BE49-F238E27FC236}">
                <a16:creationId xmlns:a16="http://schemas.microsoft.com/office/drawing/2014/main" id="{1812568C-683C-303A-A1A7-C29D938E034D}"/>
              </a:ext>
            </a:extLst>
          </p:cNvPr>
          <p:cNvSpPr>
            <a:spLocks noChangeArrowheads="1"/>
          </p:cNvSpPr>
          <p:nvPr/>
        </p:nvSpPr>
        <p:spPr bwMode="auto">
          <a:xfrm>
            <a:off x="2092325" y="4660900"/>
            <a:ext cx="3206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12</a:t>
            </a:r>
          </a:p>
        </p:txBody>
      </p:sp>
      <p:sp>
        <p:nvSpPr>
          <p:cNvPr id="18485" name="Rectangle 54">
            <a:extLst>
              <a:ext uri="{FF2B5EF4-FFF2-40B4-BE49-F238E27FC236}">
                <a16:creationId xmlns:a16="http://schemas.microsoft.com/office/drawing/2014/main" id="{602B4F40-6F09-42A8-DA63-EDC99F837485}"/>
              </a:ext>
            </a:extLst>
          </p:cNvPr>
          <p:cNvSpPr>
            <a:spLocks noChangeArrowheads="1"/>
          </p:cNvSpPr>
          <p:nvPr/>
        </p:nvSpPr>
        <p:spPr bwMode="auto">
          <a:xfrm>
            <a:off x="4308475" y="4654550"/>
            <a:ext cx="1274763" cy="6350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I    M    K</a:t>
            </a:r>
          </a:p>
        </p:txBody>
      </p:sp>
      <p:sp>
        <p:nvSpPr>
          <p:cNvPr id="18486" name="Line 55">
            <a:extLst>
              <a:ext uri="{FF2B5EF4-FFF2-40B4-BE49-F238E27FC236}">
                <a16:creationId xmlns:a16="http://schemas.microsoft.com/office/drawing/2014/main" id="{58B18B20-C222-3BA1-AF9E-9F8C0125447D}"/>
              </a:ext>
            </a:extLst>
          </p:cNvPr>
          <p:cNvSpPr>
            <a:spLocks noChangeShapeType="1"/>
          </p:cNvSpPr>
          <p:nvPr/>
        </p:nvSpPr>
        <p:spPr bwMode="auto">
          <a:xfrm flipV="1">
            <a:off x="4308475" y="5024438"/>
            <a:ext cx="1274763" cy="15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7" name="Line 56">
            <a:extLst>
              <a:ext uri="{FF2B5EF4-FFF2-40B4-BE49-F238E27FC236}">
                <a16:creationId xmlns:a16="http://schemas.microsoft.com/office/drawing/2014/main" id="{D706766F-CF77-1246-B71A-09C1DFC38298}"/>
              </a:ext>
            </a:extLst>
          </p:cNvPr>
          <p:cNvSpPr>
            <a:spLocks noChangeShapeType="1"/>
          </p:cNvSpPr>
          <p:nvPr/>
        </p:nvSpPr>
        <p:spPr bwMode="auto">
          <a:xfrm>
            <a:off x="4713288"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8" name="Line 57">
            <a:extLst>
              <a:ext uri="{FF2B5EF4-FFF2-40B4-BE49-F238E27FC236}">
                <a16:creationId xmlns:a16="http://schemas.microsoft.com/office/drawing/2014/main" id="{5F486BE5-33D5-E0AF-DBC8-2EABE23BFCCB}"/>
              </a:ext>
            </a:extLst>
          </p:cNvPr>
          <p:cNvSpPr>
            <a:spLocks noChangeShapeType="1"/>
          </p:cNvSpPr>
          <p:nvPr/>
        </p:nvSpPr>
        <p:spPr bwMode="auto">
          <a:xfrm>
            <a:off x="5118100"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89" name="Rectangle 58">
            <a:extLst>
              <a:ext uri="{FF2B5EF4-FFF2-40B4-BE49-F238E27FC236}">
                <a16:creationId xmlns:a16="http://schemas.microsoft.com/office/drawing/2014/main" id="{EC75B822-17DD-3CF4-DCB5-FFD5AD73EEE1}"/>
              </a:ext>
            </a:extLst>
          </p:cNvPr>
          <p:cNvSpPr>
            <a:spLocks noChangeArrowheads="1"/>
          </p:cNvSpPr>
          <p:nvPr/>
        </p:nvSpPr>
        <p:spPr bwMode="auto">
          <a:xfrm>
            <a:off x="3925888" y="4675188"/>
            <a:ext cx="382587"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13</a:t>
            </a:r>
          </a:p>
        </p:txBody>
      </p:sp>
      <p:sp>
        <p:nvSpPr>
          <p:cNvPr id="18490" name="Rectangle 59">
            <a:extLst>
              <a:ext uri="{FF2B5EF4-FFF2-40B4-BE49-F238E27FC236}">
                <a16:creationId xmlns:a16="http://schemas.microsoft.com/office/drawing/2014/main" id="{5CC21941-6E37-29B5-53E2-3FAB8083D91D}"/>
              </a:ext>
            </a:extLst>
          </p:cNvPr>
          <p:cNvSpPr>
            <a:spLocks noChangeArrowheads="1"/>
          </p:cNvSpPr>
          <p:nvPr/>
        </p:nvSpPr>
        <p:spPr bwMode="auto">
          <a:xfrm>
            <a:off x="6248400" y="4654550"/>
            <a:ext cx="1366838" cy="635000"/>
          </a:xfrm>
          <a:prstGeom prst="rect">
            <a:avLst/>
          </a:prstGeom>
          <a:solidFill>
            <a:srgbClr val="FFFFFF"/>
          </a:solidFill>
          <a:ln w="25400">
            <a:solidFill>
              <a:srgbClr val="000000"/>
            </a:solidFill>
            <a:miter lim="800000"/>
            <a:headEnd/>
            <a:tailEnd type="none" w="sm" len="med"/>
          </a:ln>
        </p:spPr>
        <p:txBody>
          <a:bodyPr lIns="93600" tIns="36000" rIns="54000" bIns="18000"/>
          <a:lstStyle/>
          <a:p>
            <a:pPr algn="just" eaLnBrk="0" hangingPunct="0"/>
            <a:r>
              <a:rPr lang="en-US" altLang="zh-CN" sz="1800" b="1">
                <a:latin typeface="Times New Roman" panose="02020603050405020304" pitchFamily="18" charset="0"/>
              </a:rPr>
              <a:t> A    H    F</a:t>
            </a:r>
          </a:p>
        </p:txBody>
      </p:sp>
      <p:sp>
        <p:nvSpPr>
          <p:cNvPr id="18491" name="Line 60">
            <a:extLst>
              <a:ext uri="{FF2B5EF4-FFF2-40B4-BE49-F238E27FC236}">
                <a16:creationId xmlns:a16="http://schemas.microsoft.com/office/drawing/2014/main" id="{A46DBDBB-B42B-B1A5-0053-D6FE4BDBAF05}"/>
              </a:ext>
            </a:extLst>
          </p:cNvPr>
          <p:cNvSpPr>
            <a:spLocks noChangeShapeType="1"/>
          </p:cNvSpPr>
          <p:nvPr/>
        </p:nvSpPr>
        <p:spPr bwMode="auto">
          <a:xfrm flipV="1">
            <a:off x="6248400" y="5024438"/>
            <a:ext cx="1366838" cy="15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92" name="Line 61">
            <a:extLst>
              <a:ext uri="{FF2B5EF4-FFF2-40B4-BE49-F238E27FC236}">
                <a16:creationId xmlns:a16="http://schemas.microsoft.com/office/drawing/2014/main" id="{1827FEE9-C34D-65BE-63D3-FFD4539FEE5E}"/>
              </a:ext>
            </a:extLst>
          </p:cNvPr>
          <p:cNvSpPr>
            <a:spLocks noChangeShapeType="1"/>
          </p:cNvSpPr>
          <p:nvPr/>
        </p:nvSpPr>
        <p:spPr bwMode="auto">
          <a:xfrm>
            <a:off x="6654800"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93" name="Line 62">
            <a:extLst>
              <a:ext uri="{FF2B5EF4-FFF2-40B4-BE49-F238E27FC236}">
                <a16:creationId xmlns:a16="http://schemas.microsoft.com/office/drawing/2014/main" id="{7F1205C7-DA74-6E56-1DC0-5AA9864A1EF4}"/>
              </a:ext>
            </a:extLst>
          </p:cNvPr>
          <p:cNvSpPr>
            <a:spLocks noChangeShapeType="1"/>
          </p:cNvSpPr>
          <p:nvPr/>
        </p:nvSpPr>
        <p:spPr bwMode="auto">
          <a:xfrm>
            <a:off x="7059613" y="4660900"/>
            <a:ext cx="0" cy="633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8494" name="Rectangle 63">
            <a:extLst>
              <a:ext uri="{FF2B5EF4-FFF2-40B4-BE49-F238E27FC236}">
                <a16:creationId xmlns:a16="http://schemas.microsoft.com/office/drawing/2014/main" id="{14354D54-8AED-19AD-4259-CBA6FC6A9EB5}"/>
              </a:ext>
            </a:extLst>
          </p:cNvPr>
          <p:cNvSpPr>
            <a:spLocks noChangeArrowheads="1"/>
          </p:cNvSpPr>
          <p:nvPr/>
        </p:nvSpPr>
        <p:spPr bwMode="auto">
          <a:xfrm>
            <a:off x="5851525" y="4660900"/>
            <a:ext cx="3825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14</a:t>
            </a:r>
          </a:p>
        </p:txBody>
      </p:sp>
      <p:sp>
        <p:nvSpPr>
          <p:cNvPr id="18495" name="Line 64">
            <a:extLst>
              <a:ext uri="{FF2B5EF4-FFF2-40B4-BE49-F238E27FC236}">
                <a16:creationId xmlns:a16="http://schemas.microsoft.com/office/drawing/2014/main" id="{92D3A81E-71DD-B303-6CBC-C5392556DA43}"/>
              </a:ext>
            </a:extLst>
          </p:cNvPr>
          <p:cNvSpPr>
            <a:spLocks noChangeShapeType="1"/>
          </p:cNvSpPr>
          <p:nvPr/>
        </p:nvSpPr>
        <p:spPr bwMode="auto">
          <a:xfrm flipH="1">
            <a:off x="3070225" y="3179763"/>
            <a:ext cx="795338" cy="14811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96" name="Line 65">
            <a:extLst>
              <a:ext uri="{FF2B5EF4-FFF2-40B4-BE49-F238E27FC236}">
                <a16:creationId xmlns:a16="http://schemas.microsoft.com/office/drawing/2014/main" id="{8D84EE2C-28B0-5217-61CE-5133CC5048FB}"/>
              </a:ext>
            </a:extLst>
          </p:cNvPr>
          <p:cNvSpPr>
            <a:spLocks noChangeShapeType="1"/>
          </p:cNvSpPr>
          <p:nvPr/>
        </p:nvSpPr>
        <p:spPr bwMode="auto">
          <a:xfrm>
            <a:off x="4322763" y="3165475"/>
            <a:ext cx="627062" cy="14890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97" name="Line 66">
            <a:extLst>
              <a:ext uri="{FF2B5EF4-FFF2-40B4-BE49-F238E27FC236}">
                <a16:creationId xmlns:a16="http://schemas.microsoft.com/office/drawing/2014/main" id="{902615FA-1F17-048E-A7C0-B21C5226A34F}"/>
              </a:ext>
            </a:extLst>
          </p:cNvPr>
          <p:cNvSpPr>
            <a:spLocks noChangeShapeType="1"/>
          </p:cNvSpPr>
          <p:nvPr/>
        </p:nvSpPr>
        <p:spPr bwMode="auto">
          <a:xfrm>
            <a:off x="4735513" y="3179763"/>
            <a:ext cx="1681162" cy="14779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498" name="Oval 67">
            <a:extLst>
              <a:ext uri="{FF2B5EF4-FFF2-40B4-BE49-F238E27FC236}">
                <a16:creationId xmlns:a16="http://schemas.microsoft.com/office/drawing/2014/main" id="{3A94CB23-B93C-4C39-8283-FAA64F0BD13A}"/>
              </a:ext>
            </a:extLst>
          </p:cNvPr>
          <p:cNvSpPr>
            <a:spLocks noChangeArrowheads="1"/>
          </p:cNvSpPr>
          <p:nvPr/>
        </p:nvSpPr>
        <p:spPr bwMode="auto">
          <a:xfrm>
            <a:off x="2230438"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499" name="Oval 68">
            <a:extLst>
              <a:ext uri="{FF2B5EF4-FFF2-40B4-BE49-F238E27FC236}">
                <a16:creationId xmlns:a16="http://schemas.microsoft.com/office/drawing/2014/main" id="{E199E720-20C1-F61A-3655-3C17658AFB68}"/>
              </a:ext>
            </a:extLst>
          </p:cNvPr>
          <p:cNvSpPr>
            <a:spLocks noChangeArrowheads="1"/>
          </p:cNvSpPr>
          <p:nvPr/>
        </p:nvSpPr>
        <p:spPr bwMode="auto">
          <a:xfrm>
            <a:off x="2871788"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00" name="Rectangle 69">
            <a:extLst>
              <a:ext uri="{FF2B5EF4-FFF2-40B4-BE49-F238E27FC236}">
                <a16:creationId xmlns:a16="http://schemas.microsoft.com/office/drawing/2014/main" id="{6E109605-BD5E-AB92-FADA-BAF1DC669CC8}"/>
              </a:ext>
            </a:extLst>
          </p:cNvPr>
          <p:cNvSpPr>
            <a:spLocks noChangeArrowheads="1"/>
          </p:cNvSpPr>
          <p:nvPr/>
        </p:nvSpPr>
        <p:spPr bwMode="auto">
          <a:xfrm>
            <a:off x="2306638" y="6019800"/>
            <a:ext cx="290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15</a:t>
            </a:r>
          </a:p>
        </p:txBody>
      </p:sp>
      <p:sp>
        <p:nvSpPr>
          <p:cNvPr id="18501" name="Rectangle 70">
            <a:extLst>
              <a:ext uri="{FF2B5EF4-FFF2-40B4-BE49-F238E27FC236}">
                <a16:creationId xmlns:a16="http://schemas.microsoft.com/office/drawing/2014/main" id="{F56590B1-CE96-1CC5-D133-9410B5F9AE15}"/>
              </a:ext>
            </a:extLst>
          </p:cNvPr>
          <p:cNvSpPr>
            <a:spLocks noChangeArrowheads="1"/>
          </p:cNvSpPr>
          <p:nvPr/>
        </p:nvSpPr>
        <p:spPr bwMode="auto">
          <a:xfrm>
            <a:off x="2971800" y="6016625"/>
            <a:ext cx="336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16</a:t>
            </a:r>
          </a:p>
        </p:txBody>
      </p:sp>
      <p:sp>
        <p:nvSpPr>
          <p:cNvPr id="18502" name="Oval 71">
            <a:extLst>
              <a:ext uri="{FF2B5EF4-FFF2-40B4-BE49-F238E27FC236}">
                <a16:creationId xmlns:a16="http://schemas.microsoft.com/office/drawing/2014/main" id="{5208DD5B-0F74-7A4B-8437-EDCE3A3CA438}"/>
              </a:ext>
            </a:extLst>
          </p:cNvPr>
          <p:cNvSpPr>
            <a:spLocks noChangeArrowheads="1"/>
          </p:cNvSpPr>
          <p:nvPr/>
        </p:nvSpPr>
        <p:spPr bwMode="auto">
          <a:xfrm>
            <a:off x="6234113"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03" name="Oval 72">
            <a:extLst>
              <a:ext uri="{FF2B5EF4-FFF2-40B4-BE49-F238E27FC236}">
                <a16:creationId xmlns:a16="http://schemas.microsoft.com/office/drawing/2014/main" id="{FD9D2A8A-173D-BFE7-E93B-EDED03C86249}"/>
              </a:ext>
            </a:extLst>
          </p:cNvPr>
          <p:cNvSpPr>
            <a:spLocks noChangeArrowheads="1"/>
          </p:cNvSpPr>
          <p:nvPr/>
        </p:nvSpPr>
        <p:spPr bwMode="auto">
          <a:xfrm>
            <a:off x="6875463"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04" name="Rectangle 73">
            <a:extLst>
              <a:ext uri="{FF2B5EF4-FFF2-40B4-BE49-F238E27FC236}">
                <a16:creationId xmlns:a16="http://schemas.microsoft.com/office/drawing/2014/main" id="{2441EA35-A1C8-8BCC-B6DE-4AF1B6994F2C}"/>
              </a:ext>
            </a:extLst>
          </p:cNvPr>
          <p:cNvSpPr>
            <a:spLocks noChangeArrowheads="1"/>
          </p:cNvSpPr>
          <p:nvPr/>
        </p:nvSpPr>
        <p:spPr bwMode="auto">
          <a:xfrm>
            <a:off x="6280150" y="6016625"/>
            <a:ext cx="3206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20</a:t>
            </a:r>
          </a:p>
        </p:txBody>
      </p:sp>
      <p:sp>
        <p:nvSpPr>
          <p:cNvPr id="18505" name="Rectangle 74">
            <a:extLst>
              <a:ext uri="{FF2B5EF4-FFF2-40B4-BE49-F238E27FC236}">
                <a16:creationId xmlns:a16="http://schemas.microsoft.com/office/drawing/2014/main" id="{A276C804-F2B3-CE02-FB13-5440D03DD39A}"/>
              </a:ext>
            </a:extLst>
          </p:cNvPr>
          <p:cNvSpPr>
            <a:spLocks noChangeArrowheads="1"/>
          </p:cNvSpPr>
          <p:nvPr/>
        </p:nvSpPr>
        <p:spPr bwMode="auto">
          <a:xfrm>
            <a:off x="6875463" y="6016625"/>
            <a:ext cx="36671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21</a:t>
            </a:r>
          </a:p>
        </p:txBody>
      </p:sp>
      <p:sp>
        <p:nvSpPr>
          <p:cNvPr id="18506" name="Oval 75">
            <a:extLst>
              <a:ext uri="{FF2B5EF4-FFF2-40B4-BE49-F238E27FC236}">
                <a16:creationId xmlns:a16="http://schemas.microsoft.com/office/drawing/2014/main" id="{39127CDC-170B-9B56-DABA-B2354ACB42D4}"/>
              </a:ext>
            </a:extLst>
          </p:cNvPr>
          <p:cNvSpPr>
            <a:spLocks noChangeArrowheads="1"/>
          </p:cNvSpPr>
          <p:nvPr/>
        </p:nvSpPr>
        <p:spPr bwMode="auto">
          <a:xfrm>
            <a:off x="4002088"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07" name="Oval 76">
            <a:extLst>
              <a:ext uri="{FF2B5EF4-FFF2-40B4-BE49-F238E27FC236}">
                <a16:creationId xmlns:a16="http://schemas.microsoft.com/office/drawing/2014/main" id="{6561DFF8-6334-DC0C-8AFE-495A30C871AB}"/>
              </a:ext>
            </a:extLst>
          </p:cNvPr>
          <p:cNvSpPr>
            <a:spLocks noChangeArrowheads="1"/>
          </p:cNvSpPr>
          <p:nvPr/>
        </p:nvSpPr>
        <p:spPr bwMode="auto">
          <a:xfrm>
            <a:off x="4645025"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08" name="Rectangle 77">
            <a:extLst>
              <a:ext uri="{FF2B5EF4-FFF2-40B4-BE49-F238E27FC236}">
                <a16:creationId xmlns:a16="http://schemas.microsoft.com/office/drawing/2014/main" id="{618A684E-1F96-59FF-1E1F-90F18536ABE9}"/>
              </a:ext>
            </a:extLst>
          </p:cNvPr>
          <p:cNvSpPr>
            <a:spLocks noChangeArrowheads="1"/>
          </p:cNvSpPr>
          <p:nvPr/>
        </p:nvSpPr>
        <p:spPr bwMode="auto">
          <a:xfrm>
            <a:off x="4140200" y="5972175"/>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17</a:t>
            </a:r>
          </a:p>
        </p:txBody>
      </p:sp>
      <p:sp>
        <p:nvSpPr>
          <p:cNvPr id="18509" name="Rectangle 78">
            <a:extLst>
              <a:ext uri="{FF2B5EF4-FFF2-40B4-BE49-F238E27FC236}">
                <a16:creationId xmlns:a16="http://schemas.microsoft.com/office/drawing/2014/main" id="{157CA6D7-73C7-1111-9B5F-26162C408D45}"/>
              </a:ext>
            </a:extLst>
          </p:cNvPr>
          <p:cNvSpPr>
            <a:spLocks noChangeArrowheads="1"/>
          </p:cNvSpPr>
          <p:nvPr/>
        </p:nvSpPr>
        <p:spPr bwMode="auto">
          <a:xfrm>
            <a:off x="4689475" y="6013450"/>
            <a:ext cx="322263"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18</a:t>
            </a:r>
          </a:p>
        </p:txBody>
      </p:sp>
      <p:sp>
        <p:nvSpPr>
          <p:cNvPr id="18510" name="Oval 79">
            <a:extLst>
              <a:ext uri="{FF2B5EF4-FFF2-40B4-BE49-F238E27FC236}">
                <a16:creationId xmlns:a16="http://schemas.microsoft.com/office/drawing/2014/main" id="{E9DC3722-F0E8-2611-CC84-A6B7075133F0}"/>
              </a:ext>
            </a:extLst>
          </p:cNvPr>
          <p:cNvSpPr>
            <a:spLocks noChangeArrowheads="1"/>
          </p:cNvSpPr>
          <p:nvPr/>
        </p:nvSpPr>
        <p:spPr bwMode="auto">
          <a:xfrm>
            <a:off x="5270500" y="5637213"/>
            <a:ext cx="381000" cy="349250"/>
          </a:xfrm>
          <a:prstGeom prst="ellipse">
            <a:avLst/>
          </a:prstGeom>
          <a:solidFill>
            <a:srgbClr val="FFFFFF"/>
          </a:solidFill>
          <a:ln w="25400">
            <a:solidFill>
              <a:srgbClr val="000000"/>
            </a:solidFill>
            <a:round/>
            <a:headEnd/>
            <a:tailEnd type="none" w="sm" len="med"/>
          </a:ln>
        </p:spPr>
        <p:txBody>
          <a:bodyPr lIns="0" tIns="0" rIns="0" bIns="0"/>
          <a:lstStyle/>
          <a:p>
            <a:endParaRPr lang="zh-CN" altLang="en-US"/>
          </a:p>
        </p:txBody>
      </p:sp>
      <p:sp>
        <p:nvSpPr>
          <p:cNvPr id="18511" name="Rectangle 80">
            <a:extLst>
              <a:ext uri="{FF2B5EF4-FFF2-40B4-BE49-F238E27FC236}">
                <a16:creationId xmlns:a16="http://schemas.microsoft.com/office/drawing/2014/main" id="{534D5758-52A0-C1F9-F3E9-8DA1B73E0093}"/>
              </a:ext>
            </a:extLst>
          </p:cNvPr>
          <p:cNvSpPr>
            <a:spLocks noChangeArrowheads="1"/>
          </p:cNvSpPr>
          <p:nvPr/>
        </p:nvSpPr>
        <p:spPr bwMode="auto">
          <a:xfrm>
            <a:off x="5364163" y="6022975"/>
            <a:ext cx="3508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19</a:t>
            </a:r>
          </a:p>
        </p:txBody>
      </p:sp>
      <p:sp>
        <p:nvSpPr>
          <p:cNvPr id="18512" name="Line 81">
            <a:extLst>
              <a:ext uri="{FF2B5EF4-FFF2-40B4-BE49-F238E27FC236}">
                <a16:creationId xmlns:a16="http://schemas.microsoft.com/office/drawing/2014/main" id="{1A946CE6-483C-37FF-FFC3-4E4E0277FBD9}"/>
              </a:ext>
            </a:extLst>
          </p:cNvPr>
          <p:cNvSpPr>
            <a:spLocks noChangeShapeType="1"/>
          </p:cNvSpPr>
          <p:nvPr/>
        </p:nvSpPr>
        <p:spPr bwMode="auto">
          <a:xfrm flipH="1">
            <a:off x="2459038" y="5164138"/>
            <a:ext cx="138112" cy="4746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3" name="Line 82">
            <a:extLst>
              <a:ext uri="{FF2B5EF4-FFF2-40B4-BE49-F238E27FC236}">
                <a16:creationId xmlns:a16="http://schemas.microsoft.com/office/drawing/2014/main" id="{C925A46F-B457-4DB7-16D0-B28153A1B16B}"/>
              </a:ext>
            </a:extLst>
          </p:cNvPr>
          <p:cNvSpPr>
            <a:spLocks noChangeShapeType="1"/>
          </p:cNvSpPr>
          <p:nvPr/>
        </p:nvSpPr>
        <p:spPr bwMode="auto">
          <a:xfrm>
            <a:off x="3024188" y="5164138"/>
            <a:ext cx="15875" cy="4746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4" name="Freeform 83">
            <a:extLst>
              <a:ext uri="{FF2B5EF4-FFF2-40B4-BE49-F238E27FC236}">
                <a16:creationId xmlns:a16="http://schemas.microsoft.com/office/drawing/2014/main" id="{C022AE67-4AAD-1F38-BB0E-8A7B2CD15263}"/>
              </a:ext>
            </a:extLst>
          </p:cNvPr>
          <p:cNvSpPr>
            <a:spLocks noChangeArrowheads="1"/>
          </p:cNvSpPr>
          <p:nvPr/>
        </p:nvSpPr>
        <p:spPr bwMode="auto">
          <a:xfrm>
            <a:off x="3406775" y="5178425"/>
            <a:ext cx="901700" cy="381000"/>
          </a:xfrm>
          <a:custGeom>
            <a:avLst/>
            <a:gdLst>
              <a:gd name="T0" fmla="*/ 0 w 885"/>
              <a:gd name="T1" fmla="*/ 0 h 410"/>
              <a:gd name="T2" fmla="*/ 30 w 885"/>
              <a:gd name="T3" fmla="*/ 150 h 410"/>
              <a:gd name="T4" fmla="*/ 135 w 885"/>
              <a:gd name="T5" fmla="*/ 300 h 410"/>
              <a:gd name="T6" fmla="*/ 285 w 885"/>
              <a:gd name="T7" fmla="*/ 375 h 410"/>
              <a:gd name="T8" fmla="*/ 435 w 885"/>
              <a:gd name="T9" fmla="*/ 405 h 410"/>
              <a:gd name="T10" fmla="*/ 585 w 885"/>
              <a:gd name="T11" fmla="*/ 345 h 410"/>
              <a:gd name="T12" fmla="*/ 720 w 885"/>
              <a:gd name="T13" fmla="*/ 255 h 410"/>
              <a:gd name="T14" fmla="*/ 885 w 885"/>
              <a:gd name="T15" fmla="*/ 120 h 4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5" h="410">
                <a:moveTo>
                  <a:pt x="0" y="0"/>
                </a:moveTo>
                <a:cubicBezTo>
                  <a:pt x="4" y="50"/>
                  <a:pt x="8" y="100"/>
                  <a:pt x="30" y="150"/>
                </a:cubicBezTo>
                <a:cubicBezTo>
                  <a:pt x="52" y="200"/>
                  <a:pt x="93" y="263"/>
                  <a:pt x="135" y="300"/>
                </a:cubicBezTo>
                <a:cubicBezTo>
                  <a:pt x="177" y="337"/>
                  <a:pt x="235" y="358"/>
                  <a:pt x="285" y="375"/>
                </a:cubicBezTo>
                <a:cubicBezTo>
                  <a:pt x="335" y="387"/>
                  <a:pt x="385" y="410"/>
                  <a:pt x="435" y="405"/>
                </a:cubicBezTo>
                <a:cubicBezTo>
                  <a:pt x="485" y="400"/>
                  <a:pt x="538" y="370"/>
                  <a:pt x="585" y="345"/>
                </a:cubicBezTo>
                <a:cubicBezTo>
                  <a:pt x="632" y="320"/>
                  <a:pt x="670" y="293"/>
                  <a:pt x="720" y="255"/>
                </a:cubicBezTo>
                <a:cubicBezTo>
                  <a:pt x="770" y="217"/>
                  <a:pt x="851" y="148"/>
                  <a:pt x="885" y="120"/>
                </a:cubicBezTo>
              </a:path>
            </a:pathLst>
          </a:custGeom>
          <a:noFill/>
          <a:ln w="25400">
            <a:solidFill>
              <a:schemeClr val="hlink"/>
            </a:solidFill>
            <a:prstDash val="sysDot"/>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515" name="Line 84">
            <a:extLst>
              <a:ext uri="{FF2B5EF4-FFF2-40B4-BE49-F238E27FC236}">
                <a16:creationId xmlns:a16="http://schemas.microsoft.com/office/drawing/2014/main" id="{BB8B4317-B74E-C92A-EFFA-08156E459796}"/>
              </a:ext>
            </a:extLst>
          </p:cNvPr>
          <p:cNvSpPr>
            <a:spLocks noChangeShapeType="1"/>
          </p:cNvSpPr>
          <p:nvPr/>
        </p:nvSpPr>
        <p:spPr bwMode="auto">
          <a:xfrm flipH="1">
            <a:off x="4276725" y="5164138"/>
            <a:ext cx="246063" cy="48895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6" name="Line 85">
            <a:extLst>
              <a:ext uri="{FF2B5EF4-FFF2-40B4-BE49-F238E27FC236}">
                <a16:creationId xmlns:a16="http://schemas.microsoft.com/office/drawing/2014/main" id="{1B8C1334-8D22-1A45-4868-1EFFA40DFB8E}"/>
              </a:ext>
            </a:extLst>
          </p:cNvPr>
          <p:cNvSpPr>
            <a:spLocks noChangeShapeType="1"/>
          </p:cNvSpPr>
          <p:nvPr/>
        </p:nvSpPr>
        <p:spPr bwMode="auto">
          <a:xfrm flipH="1">
            <a:off x="4857750" y="5164138"/>
            <a:ext cx="76200" cy="4746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7" name="Line 86">
            <a:extLst>
              <a:ext uri="{FF2B5EF4-FFF2-40B4-BE49-F238E27FC236}">
                <a16:creationId xmlns:a16="http://schemas.microsoft.com/office/drawing/2014/main" id="{EA7EDFA4-C57B-B0AC-83BD-AAEACF866ADE}"/>
              </a:ext>
            </a:extLst>
          </p:cNvPr>
          <p:cNvSpPr>
            <a:spLocks noChangeShapeType="1"/>
          </p:cNvSpPr>
          <p:nvPr/>
        </p:nvSpPr>
        <p:spPr bwMode="auto">
          <a:xfrm>
            <a:off x="5346700" y="5164138"/>
            <a:ext cx="107950" cy="4619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8" name="Line 87">
            <a:extLst>
              <a:ext uri="{FF2B5EF4-FFF2-40B4-BE49-F238E27FC236}">
                <a16:creationId xmlns:a16="http://schemas.microsoft.com/office/drawing/2014/main" id="{6C95509F-6790-8C23-C7F4-C7B623507182}"/>
              </a:ext>
            </a:extLst>
          </p:cNvPr>
          <p:cNvSpPr>
            <a:spLocks noChangeShapeType="1"/>
          </p:cNvSpPr>
          <p:nvPr/>
        </p:nvSpPr>
        <p:spPr bwMode="auto">
          <a:xfrm flipH="1">
            <a:off x="6416675" y="5164138"/>
            <a:ext cx="46038" cy="47466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19" name="Line 88">
            <a:extLst>
              <a:ext uri="{FF2B5EF4-FFF2-40B4-BE49-F238E27FC236}">
                <a16:creationId xmlns:a16="http://schemas.microsoft.com/office/drawing/2014/main" id="{B6D81B84-7B5B-4F23-5483-7150C0CA7363}"/>
              </a:ext>
            </a:extLst>
          </p:cNvPr>
          <p:cNvSpPr>
            <a:spLocks noChangeShapeType="1"/>
          </p:cNvSpPr>
          <p:nvPr/>
        </p:nvSpPr>
        <p:spPr bwMode="auto">
          <a:xfrm>
            <a:off x="6859588" y="5135563"/>
            <a:ext cx="200025" cy="5032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520" name="Freeform 89">
            <a:extLst>
              <a:ext uri="{FF2B5EF4-FFF2-40B4-BE49-F238E27FC236}">
                <a16:creationId xmlns:a16="http://schemas.microsoft.com/office/drawing/2014/main" id="{B36F31B9-BDB5-8075-EB55-6035E8CAC47F}"/>
              </a:ext>
            </a:extLst>
          </p:cNvPr>
          <p:cNvSpPr>
            <a:spLocks noChangeArrowheads="1"/>
          </p:cNvSpPr>
          <p:nvPr/>
        </p:nvSpPr>
        <p:spPr bwMode="auto">
          <a:xfrm>
            <a:off x="6921500" y="2652713"/>
            <a:ext cx="1003300" cy="2909887"/>
          </a:xfrm>
          <a:custGeom>
            <a:avLst/>
            <a:gdLst>
              <a:gd name="T0" fmla="*/ 345 w 985"/>
              <a:gd name="T1" fmla="*/ 2665 h 3122"/>
              <a:gd name="T2" fmla="*/ 375 w 985"/>
              <a:gd name="T3" fmla="*/ 2920 h 3122"/>
              <a:gd name="T4" fmla="*/ 495 w 985"/>
              <a:gd name="T5" fmla="*/ 3070 h 3122"/>
              <a:gd name="T6" fmla="*/ 735 w 985"/>
              <a:gd name="T7" fmla="*/ 3100 h 3122"/>
              <a:gd name="T8" fmla="*/ 945 w 985"/>
              <a:gd name="T9" fmla="*/ 2935 h 3122"/>
              <a:gd name="T10" fmla="*/ 975 w 985"/>
              <a:gd name="T11" fmla="*/ 2575 h 3122"/>
              <a:gd name="T12" fmla="*/ 975 w 985"/>
              <a:gd name="T13" fmla="*/ 2290 h 3122"/>
              <a:gd name="T14" fmla="*/ 945 w 985"/>
              <a:gd name="T15" fmla="*/ 1900 h 3122"/>
              <a:gd name="T16" fmla="*/ 885 w 985"/>
              <a:gd name="T17" fmla="*/ 1510 h 3122"/>
              <a:gd name="T18" fmla="*/ 795 w 985"/>
              <a:gd name="T19" fmla="*/ 1135 h 3122"/>
              <a:gd name="T20" fmla="*/ 660 w 985"/>
              <a:gd name="T21" fmla="*/ 760 h 3122"/>
              <a:gd name="T22" fmla="*/ 510 w 985"/>
              <a:gd name="T23" fmla="*/ 415 h 3122"/>
              <a:gd name="T24" fmla="*/ 300 w 985"/>
              <a:gd name="T25" fmla="*/ 160 h 3122"/>
              <a:gd name="T26" fmla="*/ 135 w 985"/>
              <a:gd name="T27" fmla="*/ 25 h 3122"/>
              <a:gd name="T28" fmla="*/ 0 w 985"/>
              <a:gd name="T29" fmla="*/ 10 h 3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5" h="3122">
                <a:moveTo>
                  <a:pt x="345" y="2665"/>
                </a:moveTo>
                <a:cubicBezTo>
                  <a:pt x="349" y="2758"/>
                  <a:pt x="350" y="2852"/>
                  <a:pt x="375" y="2920"/>
                </a:cubicBezTo>
                <a:cubicBezTo>
                  <a:pt x="400" y="2988"/>
                  <a:pt x="435" y="3040"/>
                  <a:pt x="495" y="3070"/>
                </a:cubicBezTo>
                <a:cubicBezTo>
                  <a:pt x="555" y="3100"/>
                  <a:pt x="660" y="3122"/>
                  <a:pt x="735" y="3100"/>
                </a:cubicBezTo>
                <a:cubicBezTo>
                  <a:pt x="810" y="3078"/>
                  <a:pt x="905" y="3022"/>
                  <a:pt x="945" y="2935"/>
                </a:cubicBezTo>
                <a:cubicBezTo>
                  <a:pt x="985" y="2848"/>
                  <a:pt x="970" y="2682"/>
                  <a:pt x="975" y="2575"/>
                </a:cubicBezTo>
                <a:cubicBezTo>
                  <a:pt x="980" y="2468"/>
                  <a:pt x="980" y="2402"/>
                  <a:pt x="975" y="2290"/>
                </a:cubicBezTo>
                <a:cubicBezTo>
                  <a:pt x="970" y="2178"/>
                  <a:pt x="960" y="2030"/>
                  <a:pt x="945" y="1900"/>
                </a:cubicBezTo>
                <a:cubicBezTo>
                  <a:pt x="930" y="1770"/>
                  <a:pt x="910" y="1637"/>
                  <a:pt x="885" y="1510"/>
                </a:cubicBezTo>
                <a:cubicBezTo>
                  <a:pt x="860" y="1383"/>
                  <a:pt x="832" y="1260"/>
                  <a:pt x="795" y="1135"/>
                </a:cubicBezTo>
                <a:cubicBezTo>
                  <a:pt x="758" y="1010"/>
                  <a:pt x="708" y="880"/>
                  <a:pt x="660" y="760"/>
                </a:cubicBezTo>
                <a:cubicBezTo>
                  <a:pt x="612" y="640"/>
                  <a:pt x="570" y="515"/>
                  <a:pt x="510" y="415"/>
                </a:cubicBezTo>
                <a:cubicBezTo>
                  <a:pt x="450" y="315"/>
                  <a:pt x="362" y="225"/>
                  <a:pt x="300" y="160"/>
                </a:cubicBezTo>
                <a:cubicBezTo>
                  <a:pt x="238" y="95"/>
                  <a:pt x="185" y="50"/>
                  <a:pt x="135" y="25"/>
                </a:cubicBezTo>
                <a:cubicBezTo>
                  <a:pt x="85" y="0"/>
                  <a:pt x="42" y="5"/>
                  <a:pt x="0" y="10"/>
                </a:cubicBezTo>
              </a:path>
            </a:pathLst>
          </a:custGeom>
          <a:noFill/>
          <a:ln w="25400">
            <a:solidFill>
              <a:schemeClr val="hlink"/>
            </a:solidFill>
            <a:prstDash val="sysDot"/>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521" name="Rectangle 90">
            <a:extLst>
              <a:ext uri="{FF2B5EF4-FFF2-40B4-BE49-F238E27FC236}">
                <a16:creationId xmlns:a16="http://schemas.microsoft.com/office/drawing/2014/main" id="{4210B1DD-630E-3E58-EC29-1D3BA3E3D7EF}"/>
              </a:ext>
            </a:extLst>
          </p:cNvPr>
          <p:cNvSpPr>
            <a:spLocks noChangeArrowheads="1"/>
          </p:cNvSpPr>
          <p:nvPr/>
        </p:nvSpPr>
        <p:spPr bwMode="auto">
          <a:xfrm>
            <a:off x="3787775" y="5216525"/>
            <a:ext cx="230188"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b</a:t>
            </a:r>
          </a:p>
        </p:txBody>
      </p:sp>
      <p:sp>
        <p:nvSpPr>
          <p:cNvPr id="18522" name="Rectangle 91">
            <a:extLst>
              <a:ext uri="{FF2B5EF4-FFF2-40B4-BE49-F238E27FC236}">
                <a16:creationId xmlns:a16="http://schemas.microsoft.com/office/drawing/2014/main" id="{DF5418B4-9C22-7FC6-A6BA-664D0EFA984D}"/>
              </a:ext>
            </a:extLst>
          </p:cNvPr>
          <p:cNvSpPr>
            <a:spLocks noChangeArrowheads="1"/>
          </p:cNvSpPr>
          <p:nvPr/>
        </p:nvSpPr>
        <p:spPr bwMode="auto">
          <a:xfrm>
            <a:off x="7532688" y="3749675"/>
            <a:ext cx="2286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a</a:t>
            </a:r>
          </a:p>
        </p:txBody>
      </p:sp>
    </p:spTree>
  </p:cSld>
  <p:clrMapOvr>
    <a:masterClrMapping/>
  </p:clrMapOvr>
  <p:transition spd="med">
    <p:zo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AFC3F96-74B4-997A-0627-3AE8BFD37DE9}"/>
              </a:ext>
            </a:extLst>
          </p:cNvPr>
          <p:cNvSpPr>
            <a:spLocks noGrp="1" noChangeArrowheads="1"/>
          </p:cNvSpPr>
          <p:nvPr>
            <p:ph type="title"/>
          </p:nvPr>
        </p:nvSpPr>
        <p:spPr>
          <a:xfrm>
            <a:off x="1042988" y="225431"/>
            <a:ext cx="7850187" cy="746125"/>
          </a:xfrm>
        </p:spPr>
        <p:txBody>
          <a:bodyPr/>
          <a:lstStyle/>
          <a:p>
            <a:r>
              <a:rPr lang="zh-CN" altLang="en-US"/>
              <a:t>基本文件目录表法</a:t>
            </a:r>
          </a:p>
        </p:txBody>
      </p:sp>
      <p:sp>
        <p:nvSpPr>
          <p:cNvPr id="362499" name="Rectangle 3">
            <a:extLst>
              <a:ext uri="{FF2B5EF4-FFF2-40B4-BE49-F238E27FC236}">
                <a16:creationId xmlns:a16="http://schemas.microsoft.com/office/drawing/2014/main" id="{8650CF16-E667-1A05-6DC7-786FA74DAFD1}"/>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基本文件目录表法</a:t>
            </a:r>
            <a:r>
              <a:rPr lang="zh-CN" altLang="en-US" dirty="0"/>
              <a:t>把所有文件目录的内容分成两部分：</a:t>
            </a:r>
          </a:p>
          <a:p>
            <a:pPr lvl="1"/>
            <a:r>
              <a:rPr lang="zh-CN" altLang="en-US" dirty="0"/>
              <a:t>基本文件目录表（</a:t>
            </a:r>
            <a:r>
              <a:rPr lang="en-US" altLang="zh-CN" dirty="0"/>
              <a:t>BFD）：</a:t>
            </a:r>
            <a:r>
              <a:rPr lang="zh-CN" altLang="en-US" dirty="0"/>
              <a:t>由文件的属性信息及内部标识符组成。</a:t>
            </a:r>
          </a:p>
          <a:p>
            <a:pPr lvl="1"/>
            <a:r>
              <a:rPr lang="zh-CN" altLang="en-US" dirty="0"/>
              <a:t>符号文件目录表（</a:t>
            </a:r>
            <a:r>
              <a:rPr lang="en-US" altLang="zh-CN" dirty="0"/>
              <a:t>SFD）：</a:t>
            </a:r>
            <a:r>
              <a:rPr lang="zh-CN" altLang="en-US" dirty="0"/>
              <a:t>由文件符号名和内部标识符组成。</a:t>
            </a:r>
          </a:p>
        </p:txBody>
      </p:sp>
    </p:spTree>
  </p:cSld>
  <p:clrMapOvr>
    <a:masterClrMapping/>
  </p:clrMapOvr>
  <p:transition spd="med">
    <p:zo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3F5D8D83-9E92-197D-5D14-BC5625F6237A}"/>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特殊标识符</a:t>
            </a:r>
          </a:p>
        </p:txBody>
      </p:sp>
      <p:sp>
        <p:nvSpPr>
          <p:cNvPr id="20482" name="Rectangle 3">
            <a:extLst>
              <a:ext uri="{FF2B5EF4-FFF2-40B4-BE49-F238E27FC236}">
                <a16:creationId xmlns:a16="http://schemas.microsoft.com/office/drawing/2014/main" id="{B08E7D88-CF0B-3AEB-8334-B254C0389ABE}"/>
              </a:ext>
            </a:extLst>
          </p:cNvPr>
          <p:cNvSpPr>
            <a:spLocks noGrp="1" noChangeArrowheads="1"/>
          </p:cNvSpPr>
          <p:nvPr>
            <p:ph idx="1"/>
          </p:nvPr>
        </p:nvSpPr>
        <p:spPr>
          <a:xfrm>
            <a:off x="827088" y="1270000"/>
            <a:ext cx="8128000" cy="4535488"/>
          </a:xfrm>
        </p:spPr>
        <p:txBody>
          <a:bodyPr/>
          <a:lstStyle/>
          <a:p>
            <a:pPr eaLnBrk="1" hangingPunct="1"/>
            <a:r>
              <a:rPr lang="zh-CN" altLang="en-US"/>
              <a:t>在文件系统中通常规定：</a:t>
            </a:r>
          </a:p>
          <a:p>
            <a:pPr lvl="1" eaLnBrk="1" hangingPunct="1"/>
            <a:r>
              <a:rPr lang="zh-CN" altLang="en-US"/>
              <a:t>0：基本文件目录标识</a:t>
            </a:r>
          </a:p>
          <a:p>
            <a:pPr lvl="1" eaLnBrk="1" hangingPunct="1"/>
            <a:r>
              <a:rPr lang="zh-CN" altLang="en-US"/>
              <a:t>1：空闲文件目录标识</a:t>
            </a:r>
          </a:p>
          <a:p>
            <a:pPr lvl="1" eaLnBrk="1" hangingPunct="1"/>
            <a:r>
              <a:rPr lang="zh-CN" altLang="en-US"/>
              <a:t>2：主目录标识符</a:t>
            </a:r>
          </a:p>
        </p:txBody>
      </p:sp>
    </p:spTree>
  </p:cSld>
  <p:clrMapOvr>
    <a:masterClrMapping/>
  </p:clrMapOvr>
  <p:transition spd="med">
    <p:zo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6D0B236-7015-4833-8FFF-7D9012133FAF}"/>
              </a:ext>
            </a:extLst>
          </p:cNvPr>
          <p:cNvSpPr>
            <a:spLocks noGrp="1" noChangeArrowheads="1"/>
          </p:cNvSpPr>
          <p:nvPr>
            <p:ph type="title"/>
          </p:nvPr>
        </p:nvSpPr>
        <p:spPr/>
        <p:txBody>
          <a:bodyPr/>
          <a:lstStyle/>
          <a:p>
            <a:pPr eaLnBrk="1" hangingPunct="1"/>
            <a:r>
              <a:rPr lang="zh-CN" altLang="en-US" b="1">
                <a:solidFill>
                  <a:schemeClr val="tx1"/>
                </a:solidFill>
                <a:latin typeface="Times New Roman" panose="02020603050405020304" pitchFamily="18" charset="0"/>
              </a:rPr>
              <a:t>基本文件目录示意图</a:t>
            </a:r>
          </a:p>
        </p:txBody>
      </p:sp>
      <p:sp>
        <p:nvSpPr>
          <p:cNvPr id="21506" name="Rectangle 3">
            <a:extLst>
              <a:ext uri="{FF2B5EF4-FFF2-40B4-BE49-F238E27FC236}">
                <a16:creationId xmlns:a16="http://schemas.microsoft.com/office/drawing/2014/main" id="{D9A376E7-3862-89A2-1AE6-5148957B6C01}"/>
              </a:ext>
            </a:extLst>
          </p:cNvPr>
          <p:cNvSpPr>
            <a:spLocks noChangeArrowheads="1"/>
          </p:cNvSpPr>
          <p:nvPr/>
        </p:nvSpPr>
        <p:spPr bwMode="auto">
          <a:xfrm>
            <a:off x="1274763" y="1917700"/>
            <a:ext cx="1030287" cy="3630613"/>
          </a:xfrm>
          <a:prstGeom prst="rect">
            <a:avLst/>
          </a:prstGeom>
          <a:solidFill>
            <a:srgbClr val="FFFFFF"/>
          </a:solidFill>
          <a:ln w="25400">
            <a:solidFill>
              <a:srgbClr val="000000"/>
            </a:solidFill>
            <a:miter lim="800000"/>
            <a:headEnd/>
            <a:tailEnd type="none" w="sm" len="med"/>
          </a:ln>
        </p:spPr>
        <p:txBody>
          <a:bodyPr lIns="126000" tIns="18000" rIns="36000" bIns="0"/>
          <a:lstStyle/>
          <a:p>
            <a:pPr algn="just" eaLnBrk="0" hangingPunct="0"/>
            <a:r>
              <a:rPr lang="zh-CN" altLang="en-US" sz="2000" b="1">
                <a:latin typeface="Times New Roman" panose="02020603050405020304" pitchFamily="18" charset="0"/>
              </a:rPr>
              <a:t>0</a:t>
            </a:r>
          </a:p>
          <a:p>
            <a:pPr algn="just" eaLnBrk="0" hangingPunct="0"/>
            <a:r>
              <a:rPr lang="zh-CN" altLang="en-US" sz="2000" b="1">
                <a:latin typeface="Times New Roman" panose="02020603050405020304" pitchFamily="18" charset="0"/>
              </a:rPr>
              <a:t>1</a:t>
            </a:r>
          </a:p>
          <a:p>
            <a:pPr algn="just" eaLnBrk="0" hangingPunct="0"/>
            <a:r>
              <a:rPr lang="zh-CN" altLang="en-US" sz="2000" b="1">
                <a:latin typeface="Times New Roman" panose="02020603050405020304" pitchFamily="18" charset="0"/>
              </a:rPr>
              <a:t>2</a:t>
            </a:r>
          </a:p>
          <a:p>
            <a:pPr algn="just" eaLnBrk="0" hangingPunct="0"/>
            <a:r>
              <a:rPr lang="zh-CN" altLang="en-US" sz="2000" b="1">
                <a:latin typeface="Times New Roman" panose="02020603050405020304" pitchFamily="18" charset="0"/>
              </a:rPr>
              <a:t>3</a:t>
            </a:r>
          </a:p>
          <a:p>
            <a:pPr algn="just" eaLnBrk="0" hangingPunct="0"/>
            <a:r>
              <a:rPr lang="zh-CN" altLang="en-US" sz="2000" b="1">
                <a:latin typeface="Times New Roman" panose="02020603050405020304" pitchFamily="18" charset="0"/>
              </a:rPr>
              <a:t>4</a:t>
            </a:r>
          </a:p>
          <a:p>
            <a:pPr algn="just" eaLnBrk="0" hangingPunct="0"/>
            <a:r>
              <a:rPr lang="zh-CN" altLang="en-US" sz="2000" b="1">
                <a:latin typeface="Times New Roman" panose="02020603050405020304" pitchFamily="18" charset="0"/>
              </a:rPr>
              <a:t>5</a:t>
            </a:r>
          </a:p>
          <a:p>
            <a:pPr algn="just" eaLnBrk="0" hangingPunct="0"/>
            <a:r>
              <a:rPr lang="zh-CN" altLang="en-US" sz="2000" b="1">
                <a:latin typeface="Times New Roman" panose="02020603050405020304" pitchFamily="18" charset="0"/>
              </a:rPr>
              <a:t>6</a:t>
            </a:r>
          </a:p>
          <a:p>
            <a:pPr algn="just" eaLnBrk="0" hangingPunct="0"/>
            <a:r>
              <a:rPr lang="zh-CN" altLang="en-US" sz="2000" b="1">
                <a:latin typeface="Times New Roman" panose="02020603050405020304" pitchFamily="18" charset="0"/>
              </a:rPr>
              <a:t>7</a:t>
            </a:r>
          </a:p>
          <a:p>
            <a:pPr algn="just" eaLnBrk="0" hangingPunct="0"/>
            <a:r>
              <a:rPr lang="zh-CN" altLang="en-US" sz="2000" b="1">
                <a:latin typeface="Times New Roman" panose="02020603050405020304" pitchFamily="18" charset="0"/>
              </a:rPr>
              <a:t>8</a:t>
            </a:r>
          </a:p>
          <a:p>
            <a:pPr algn="just" eaLnBrk="0" hangingPunct="0"/>
            <a:r>
              <a:rPr lang="zh-CN" altLang="en-US" sz="2000" b="1">
                <a:latin typeface="Times New Roman" panose="02020603050405020304" pitchFamily="18" charset="0"/>
              </a:rPr>
              <a:t>9</a:t>
            </a:r>
          </a:p>
          <a:p>
            <a:pPr algn="just" eaLnBrk="0" hangingPunct="0"/>
            <a:r>
              <a:rPr lang="zh-CN" altLang="en-US" sz="2000" b="1">
                <a:latin typeface="宋体" panose="02010600030101010101" pitchFamily="2" charset="-122"/>
              </a:rPr>
              <a:t>┆  ┆</a:t>
            </a:r>
            <a:endParaRPr lang="zh-CN" altLang="en-US" sz="2000" b="1">
              <a:latin typeface="Times New Roman" panose="02020603050405020304" pitchFamily="18" charset="0"/>
            </a:endParaRPr>
          </a:p>
        </p:txBody>
      </p:sp>
      <p:sp>
        <p:nvSpPr>
          <p:cNvPr id="21507" name="Line 4">
            <a:extLst>
              <a:ext uri="{FF2B5EF4-FFF2-40B4-BE49-F238E27FC236}">
                <a16:creationId xmlns:a16="http://schemas.microsoft.com/office/drawing/2014/main" id="{54CC4F41-542F-F68D-B6A7-27D6D5681224}"/>
              </a:ext>
            </a:extLst>
          </p:cNvPr>
          <p:cNvSpPr>
            <a:spLocks noChangeShapeType="1"/>
          </p:cNvSpPr>
          <p:nvPr/>
        </p:nvSpPr>
        <p:spPr bwMode="auto">
          <a:xfrm>
            <a:off x="1808163" y="1928813"/>
            <a:ext cx="1587" cy="36306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08" name="Line 5">
            <a:extLst>
              <a:ext uri="{FF2B5EF4-FFF2-40B4-BE49-F238E27FC236}">
                <a16:creationId xmlns:a16="http://schemas.microsoft.com/office/drawing/2014/main" id="{BD6A5C67-2604-C6E4-FB37-359C42DFEA39}"/>
              </a:ext>
            </a:extLst>
          </p:cNvPr>
          <p:cNvSpPr>
            <a:spLocks noChangeShapeType="1"/>
          </p:cNvSpPr>
          <p:nvPr/>
        </p:nvSpPr>
        <p:spPr bwMode="auto">
          <a:xfrm>
            <a:off x="1274763" y="22860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09" name="Line 6">
            <a:extLst>
              <a:ext uri="{FF2B5EF4-FFF2-40B4-BE49-F238E27FC236}">
                <a16:creationId xmlns:a16="http://schemas.microsoft.com/office/drawing/2014/main" id="{38C21718-8EA8-4333-82A4-E3437ACD05FF}"/>
              </a:ext>
            </a:extLst>
          </p:cNvPr>
          <p:cNvSpPr>
            <a:spLocks noChangeShapeType="1"/>
          </p:cNvSpPr>
          <p:nvPr/>
        </p:nvSpPr>
        <p:spPr bwMode="auto">
          <a:xfrm>
            <a:off x="1274763" y="25908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0" name="Line 7">
            <a:extLst>
              <a:ext uri="{FF2B5EF4-FFF2-40B4-BE49-F238E27FC236}">
                <a16:creationId xmlns:a16="http://schemas.microsoft.com/office/drawing/2014/main" id="{2626BBBE-D309-BA6D-40FA-40AC032D482C}"/>
              </a:ext>
            </a:extLst>
          </p:cNvPr>
          <p:cNvSpPr>
            <a:spLocks noChangeShapeType="1"/>
          </p:cNvSpPr>
          <p:nvPr/>
        </p:nvSpPr>
        <p:spPr bwMode="auto">
          <a:xfrm>
            <a:off x="1274763" y="28956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1" name="Line 8">
            <a:extLst>
              <a:ext uri="{FF2B5EF4-FFF2-40B4-BE49-F238E27FC236}">
                <a16:creationId xmlns:a16="http://schemas.microsoft.com/office/drawing/2014/main" id="{18ACF4D3-E32A-CF84-5C6D-4BB4305599C7}"/>
              </a:ext>
            </a:extLst>
          </p:cNvPr>
          <p:cNvSpPr>
            <a:spLocks noChangeShapeType="1"/>
          </p:cNvSpPr>
          <p:nvPr/>
        </p:nvSpPr>
        <p:spPr bwMode="auto">
          <a:xfrm>
            <a:off x="1274763" y="32004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2" name="Line 9">
            <a:extLst>
              <a:ext uri="{FF2B5EF4-FFF2-40B4-BE49-F238E27FC236}">
                <a16:creationId xmlns:a16="http://schemas.microsoft.com/office/drawing/2014/main" id="{7DB2DFB4-72EC-4848-D974-40AE63CE10E4}"/>
              </a:ext>
            </a:extLst>
          </p:cNvPr>
          <p:cNvSpPr>
            <a:spLocks noChangeShapeType="1"/>
          </p:cNvSpPr>
          <p:nvPr/>
        </p:nvSpPr>
        <p:spPr bwMode="auto">
          <a:xfrm>
            <a:off x="1274763" y="35052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3" name="Line 10">
            <a:extLst>
              <a:ext uri="{FF2B5EF4-FFF2-40B4-BE49-F238E27FC236}">
                <a16:creationId xmlns:a16="http://schemas.microsoft.com/office/drawing/2014/main" id="{AEBC36F9-8CA9-0A80-7BE1-72924A477779}"/>
              </a:ext>
            </a:extLst>
          </p:cNvPr>
          <p:cNvSpPr>
            <a:spLocks noChangeShapeType="1"/>
          </p:cNvSpPr>
          <p:nvPr/>
        </p:nvSpPr>
        <p:spPr bwMode="auto">
          <a:xfrm>
            <a:off x="1274763" y="38100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4" name="Line 11">
            <a:extLst>
              <a:ext uri="{FF2B5EF4-FFF2-40B4-BE49-F238E27FC236}">
                <a16:creationId xmlns:a16="http://schemas.microsoft.com/office/drawing/2014/main" id="{F09DED78-2A4E-B1DB-E8AD-6FA86FB9617C}"/>
              </a:ext>
            </a:extLst>
          </p:cNvPr>
          <p:cNvSpPr>
            <a:spLocks noChangeShapeType="1"/>
          </p:cNvSpPr>
          <p:nvPr/>
        </p:nvSpPr>
        <p:spPr bwMode="auto">
          <a:xfrm>
            <a:off x="1274763" y="41148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5" name="Line 12">
            <a:extLst>
              <a:ext uri="{FF2B5EF4-FFF2-40B4-BE49-F238E27FC236}">
                <a16:creationId xmlns:a16="http://schemas.microsoft.com/office/drawing/2014/main" id="{24ACBCBE-5E3F-8187-9990-0EF1E66EFE32}"/>
              </a:ext>
            </a:extLst>
          </p:cNvPr>
          <p:cNvSpPr>
            <a:spLocks noChangeShapeType="1"/>
          </p:cNvSpPr>
          <p:nvPr/>
        </p:nvSpPr>
        <p:spPr bwMode="auto">
          <a:xfrm>
            <a:off x="1274763" y="44196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6" name="Line 13">
            <a:extLst>
              <a:ext uri="{FF2B5EF4-FFF2-40B4-BE49-F238E27FC236}">
                <a16:creationId xmlns:a16="http://schemas.microsoft.com/office/drawing/2014/main" id="{2CBE79F8-161B-3839-5F43-486C19193933}"/>
              </a:ext>
            </a:extLst>
          </p:cNvPr>
          <p:cNvSpPr>
            <a:spLocks noChangeShapeType="1"/>
          </p:cNvSpPr>
          <p:nvPr/>
        </p:nvSpPr>
        <p:spPr bwMode="auto">
          <a:xfrm>
            <a:off x="1274763" y="47244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7" name="Line 14">
            <a:extLst>
              <a:ext uri="{FF2B5EF4-FFF2-40B4-BE49-F238E27FC236}">
                <a16:creationId xmlns:a16="http://schemas.microsoft.com/office/drawing/2014/main" id="{0CB02978-9475-9B86-CC83-DDBFEBE801E4}"/>
              </a:ext>
            </a:extLst>
          </p:cNvPr>
          <p:cNvSpPr>
            <a:spLocks noChangeShapeType="1"/>
          </p:cNvSpPr>
          <p:nvPr/>
        </p:nvSpPr>
        <p:spPr bwMode="auto">
          <a:xfrm>
            <a:off x="1274763" y="5029200"/>
            <a:ext cx="10318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18" name="Rectangle 15">
            <a:extLst>
              <a:ext uri="{FF2B5EF4-FFF2-40B4-BE49-F238E27FC236}">
                <a16:creationId xmlns:a16="http://schemas.microsoft.com/office/drawing/2014/main" id="{4CDFDBA6-13F5-EC64-98AF-8250AAA30AC7}"/>
              </a:ext>
            </a:extLst>
          </p:cNvPr>
          <p:cNvSpPr>
            <a:spLocks noChangeArrowheads="1"/>
          </p:cNvSpPr>
          <p:nvPr/>
        </p:nvSpPr>
        <p:spPr bwMode="auto">
          <a:xfrm>
            <a:off x="1371600" y="1600200"/>
            <a:ext cx="13716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ID   </a:t>
            </a:r>
            <a:r>
              <a:rPr lang="zh-CN" altLang="en-US" sz="1800" b="1">
                <a:latin typeface="Times New Roman" panose="02020603050405020304" pitchFamily="18" charset="0"/>
              </a:rPr>
              <a:t>物理位置</a:t>
            </a:r>
          </a:p>
        </p:txBody>
      </p:sp>
      <p:sp>
        <p:nvSpPr>
          <p:cNvPr id="21519" name="Rectangle 16">
            <a:extLst>
              <a:ext uri="{FF2B5EF4-FFF2-40B4-BE49-F238E27FC236}">
                <a16:creationId xmlns:a16="http://schemas.microsoft.com/office/drawing/2014/main" id="{97CD2EC5-CAC6-F280-446D-2E486F232164}"/>
              </a:ext>
            </a:extLst>
          </p:cNvPr>
          <p:cNvSpPr>
            <a:spLocks noChangeArrowheads="1"/>
          </p:cNvSpPr>
          <p:nvPr/>
        </p:nvSpPr>
        <p:spPr bwMode="auto">
          <a:xfrm>
            <a:off x="7010400" y="1790700"/>
            <a:ext cx="1600200" cy="415925"/>
          </a:xfrm>
          <a:prstGeom prst="rect">
            <a:avLst/>
          </a:prstGeom>
          <a:solidFill>
            <a:srgbClr val="FFFFFF"/>
          </a:solidFill>
          <a:ln w="25400">
            <a:solidFill>
              <a:srgbClr val="000000"/>
            </a:solidFill>
            <a:miter lim="800000"/>
            <a:headEnd/>
            <a:tailEnd type="none" w="sm" len="med"/>
          </a:ln>
        </p:spPr>
        <p:txBody>
          <a:bodyPr lIns="72000" tIns="36000" rIns="72000" bIns="36000"/>
          <a:lstStyle/>
          <a:p>
            <a:pPr algn="just" eaLnBrk="0" hangingPunct="0"/>
            <a:r>
              <a:rPr lang="zh-CN" altLang="en-US" sz="1800" b="1">
                <a:latin typeface="Times New Roman" panose="02020603050405020304" pitchFamily="18" charset="0"/>
              </a:rPr>
              <a:t>空闲文件目录</a:t>
            </a:r>
          </a:p>
        </p:txBody>
      </p:sp>
      <p:sp>
        <p:nvSpPr>
          <p:cNvPr id="21520" name="Rectangle 17">
            <a:extLst>
              <a:ext uri="{FF2B5EF4-FFF2-40B4-BE49-F238E27FC236}">
                <a16:creationId xmlns:a16="http://schemas.microsoft.com/office/drawing/2014/main" id="{793EB1B2-2A82-B494-43E1-BBDEC9E694DE}"/>
              </a:ext>
            </a:extLst>
          </p:cNvPr>
          <p:cNvSpPr>
            <a:spLocks noChangeArrowheads="1"/>
          </p:cNvSpPr>
          <p:nvPr/>
        </p:nvSpPr>
        <p:spPr bwMode="auto">
          <a:xfrm>
            <a:off x="5181600" y="2057400"/>
            <a:ext cx="175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1800" b="1">
                <a:latin typeface="Times New Roman" panose="02020603050405020304" pitchFamily="18" charset="0"/>
              </a:rPr>
              <a:t>主目录（</a:t>
            </a:r>
            <a:r>
              <a:rPr lang="en-US" altLang="zh-CN" sz="1800" b="1">
                <a:latin typeface="Times New Roman" panose="02020603050405020304" pitchFamily="18" charset="0"/>
              </a:rPr>
              <a:t>MFD）</a:t>
            </a:r>
          </a:p>
          <a:p>
            <a:pPr algn="just" eaLnBrk="0" hangingPunct="0"/>
            <a:r>
              <a:rPr lang="zh-CN" altLang="en-US" sz="1800" b="1">
                <a:latin typeface="Times New Roman" panose="02020603050405020304" pitchFamily="18" charset="0"/>
              </a:rPr>
              <a:t>符号名    </a:t>
            </a:r>
            <a:r>
              <a:rPr lang="en-US" altLang="zh-CN" sz="1800" b="1">
                <a:latin typeface="Times New Roman" panose="02020603050405020304" pitchFamily="18" charset="0"/>
              </a:rPr>
              <a:t>ID</a:t>
            </a:r>
          </a:p>
        </p:txBody>
      </p:sp>
      <p:sp>
        <p:nvSpPr>
          <p:cNvPr id="21521" name="Rectangle 18">
            <a:extLst>
              <a:ext uri="{FF2B5EF4-FFF2-40B4-BE49-F238E27FC236}">
                <a16:creationId xmlns:a16="http://schemas.microsoft.com/office/drawing/2014/main" id="{E94A4F4B-6F37-DBB7-F1F6-FDA2964099F5}"/>
              </a:ext>
            </a:extLst>
          </p:cNvPr>
          <p:cNvSpPr>
            <a:spLocks noChangeArrowheads="1"/>
          </p:cNvSpPr>
          <p:nvPr/>
        </p:nvSpPr>
        <p:spPr bwMode="auto">
          <a:xfrm>
            <a:off x="5218113" y="2624138"/>
            <a:ext cx="1435100" cy="712787"/>
          </a:xfrm>
          <a:prstGeom prst="rect">
            <a:avLst/>
          </a:prstGeom>
          <a:solidFill>
            <a:srgbClr val="FFFFFF"/>
          </a:solidFill>
          <a:ln w="25400">
            <a:solidFill>
              <a:srgbClr val="000000"/>
            </a:solidFill>
            <a:miter lim="800000"/>
            <a:headEnd/>
            <a:tailEnd type="none" w="sm" len="med"/>
          </a:ln>
        </p:spPr>
        <p:txBody>
          <a:bodyPr lIns="72000" tIns="0" rIns="72000" bIns="10800"/>
          <a:lstStyle/>
          <a:p>
            <a:pPr algn="just" eaLnBrk="0" hangingPunct="0"/>
            <a:r>
              <a:rPr lang="en-US" altLang="zh-CN" sz="2000" b="1">
                <a:latin typeface="Times New Roman" panose="02020603050405020304" pitchFamily="18" charset="0"/>
              </a:rPr>
              <a:t>Wang      3</a:t>
            </a:r>
          </a:p>
          <a:p>
            <a:pPr algn="just" eaLnBrk="0" hangingPunct="0"/>
            <a:r>
              <a:rPr lang="en-US" altLang="zh-CN" sz="2000" b="1">
                <a:latin typeface="Times New Roman" panose="02020603050405020304" pitchFamily="18" charset="0"/>
              </a:rPr>
              <a:t>Gao         4</a:t>
            </a:r>
          </a:p>
        </p:txBody>
      </p:sp>
      <p:sp>
        <p:nvSpPr>
          <p:cNvPr id="21522" name="Line 19">
            <a:extLst>
              <a:ext uri="{FF2B5EF4-FFF2-40B4-BE49-F238E27FC236}">
                <a16:creationId xmlns:a16="http://schemas.microsoft.com/office/drawing/2014/main" id="{AF47A71F-B141-F698-B96F-6096B05297B1}"/>
              </a:ext>
            </a:extLst>
          </p:cNvPr>
          <p:cNvSpPr>
            <a:spLocks noChangeShapeType="1"/>
          </p:cNvSpPr>
          <p:nvPr/>
        </p:nvSpPr>
        <p:spPr bwMode="auto">
          <a:xfrm flipV="1">
            <a:off x="5218113" y="2986088"/>
            <a:ext cx="1447800" cy="15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23" name="Line 20">
            <a:extLst>
              <a:ext uri="{FF2B5EF4-FFF2-40B4-BE49-F238E27FC236}">
                <a16:creationId xmlns:a16="http://schemas.microsoft.com/office/drawing/2014/main" id="{578620E3-BF0E-18BA-A565-E2DFA895488B}"/>
              </a:ext>
            </a:extLst>
          </p:cNvPr>
          <p:cNvSpPr>
            <a:spLocks noChangeShapeType="1"/>
          </p:cNvSpPr>
          <p:nvPr/>
        </p:nvSpPr>
        <p:spPr bwMode="auto">
          <a:xfrm>
            <a:off x="6096000" y="2624138"/>
            <a:ext cx="0" cy="7127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24" name="Rectangle 21">
            <a:extLst>
              <a:ext uri="{FF2B5EF4-FFF2-40B4-BE49-F238E27FC236}">
                <a16:creationId xmlns:a16="http://schemas.microsoft.com/office/drawing/2014/main" id="{9AC8B089-3049-AC5F-CD73-BE3C89DDE6A7}"/>
              </a:ext>
            </a:extLst>
          </p:cNvPr>
          <p:cNvSpPr>
            <a:spLocks noChangeArrowheads="1"/>
          </p:cNvSpPr>
          <p:nvPr/>
        </p:nvSpPr>
        <p:spPr bwMode="auto">
          <a:xfrm>
            <a:off x="5143500" y="3473450"/>
            <a:ext cx="14097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1800" b="1">
                <a:latin typeface="Times New Roman" panose="02020603050405020304" pitchFamily="18" charset="0"/>
              </a:rPr>
              <a:t>Wang</a:t>
            </a:r>
            <a:r>
              <a:rPr lang="zh-CN" altLang="en-US" sz="1800" b="1">
                <a:latin typeface="Times New Roman" panose="02020603050405020304" pitchFamily="18" charset="0"/>
              </a:rPr>
              <a:t>的</a:t>
            </a:r>
            <a:r>
              <a:rPr lang="en-US" altLang="zh-CN" sz="1800" b="1">
                <a:latin typeface="Times New Roman" panose="02020603050405020304" pitchFamily="18" charset="0"/>
              </a:rPr>
              <a:t>SFD</a:t>
            </a:r>
          </a:p>
          <a:p>
            <a:pPr algn="just" eaLnBrk="0" hangingPunct="0"/>
            <a:r>
              <a:rPr lang="zh-CN" altLang="en-US" sz="1800" b="1">
                <a:latin typeface="Times New Roman" panose="02020603050405020304" pitchFamily="18" charset="0"/>
              </a:rPr>
              <a:t>符号名   </a:t>
            </a:r>
            <a:r>
              <a:rPr lang="en-US" altLang="zh-CN" sz="1800" b="1">
                <a:latin typeface="Times New Roman" panose="02020603050405020304" pitchFamily="18" charset="0"/>
              </a:rPr>
              <a:t>ID</a:t>
            </a:r>
          </a:p>
        </p:txBody>
      </p:sp>
      <p:sp>
        <p:nvSpPr>
          <p:cNvPr id="21525" name="Rectangle 22">
            <a:extLst>
              <a:ext uri="{FF2B5EF4-FFF2-40B4-BE49-F238E27FC236}">
                <a16:creationId xmlns:a16="http://schemas.microsoft.com/office/drawing/2014/main" id="{16E2AD51-A668-9F62-E1A7-7C1FB29C5342}"/>
              </a:ext>
            </a:extLst>
          </p:cNvPr>
          <p:cNvSpPr>
            <a:spLocks noChangeArrowheads="1"/>
          </p:cNvSpPr>
          <p:nvPr/>
        </p:nvSpPr>
        <p:spPr bwMode="auto">
          <a:xfrm>
            <a:off x="4978400" y="4102100"/>
            <a:ext cx="1435100" cy="1006475"/>
          </a:xfrm>
          <a:prstGeom prst="rect">
            <a:avLst/>
          </a:prstGeom>
          <a:solidFill>
            <a:srgbClr val="FFFFFF"/>
          </a:solidFill>
          <a:ln w="25400">
            <a:solidFill>
              <a:srgbClr val="000000"/>
            </a:solidFill>
            <a:miter lim="800000"/>
            <a:headEnd/>
            <a:tailEnd type="none" w="sm" len="med"/>
          </a:ln>
        </p:spPr>
        <p:txBody>
          <a:bodyPr lIns="72000" tIns="0" rIns="72000" bIns="0"/>
          <a:lstStyle/>
          <a:p>
            <a:pPr algn="just" eaLnBrk="0" hangingPunct="0"/>
            <a:r>
              <a:rPr lang="en-US" altLang="zh-CN" sz="2000" b="1">
                <a:latin typeface="Times New Roman" panose="02020603050405020304" pitchFamily="18" charset="0"/>
              </a:rPr>
              <a:t>Sqrt       5</a:t>
            </a:r>
          </a:p>
          <a:p>
            <a:pPr algn="just" eaLnBrk="0" hangingPunct="0"/>
            <a:r>
              <a:rPr lang="en-US" altLang="zh-CN" sz="2000" b="1">
                <a:latin typeface="Times New Roman" panose="02020603050405020304" pitchFamily="18" charset="0"/>
              </a:rPr>
              <a:t>Beta       6</a:t>
            </a:r>
          </a:p>
          <a:p>
            <a:pPr algn="just" eaLnBrk="0" hangingPunct="0"/>
            <a:r>
              <a:rPr lang="en-US" altLang="zh-CN" sz="2000" b="1">
                <a:latin typeface="宋体" panose="02010600030101010101" pitchFamily="2" charset="-122"/>
              </a:rPr>
              <a:t>┆</a:t>
            </a:r>
          </a:p>
        </p:txBody>
      </p:sp>
      <p:sp>
        <p:nvSpPr>
          <p:cNvPr id="21526" name="Line 23">
            <a:extLst>
              <a:ext uri="{FF2B5EF4-FFF2-40B4-BE49-F238E27FC236}">
                <a16:creationId xmlns:a16="http://schemas.microsoft.com/office/drawing/2014/main" id="{E14EE087-37C0-6C3B-5D65-4FE8695AE983}"/>
              </a:ext>
            </a:extLst>
          </p:cNvPr>
          <p:cNvSpPr>
            <a:spLocks noChangeShapeType="1"/>
          </p:cNvSpPr>
          <p:nvPr/>
        </p:nvSpPr>
        <p:spPr bwMode="auto">
          <a:xfrm flipV="1">
            <a:off x="4978400" y="4464050"/>
            <a:ext cx="14478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27" name="Line 24">
            <a:extLst>
              <a:ext uri="{FF2B5EF4-FFF2-40B4-BE49-F238E27FC236}">
                <a16:creationId xmlns:a16="http://schemas.microsoft.com/office/drawing/2014/main" id="{F657B86C-7DCE-01CD-BA93-53A55A55A289}"/>
              </a:ext>
            </a:extLst>
          </p:cNvPr>
          <p:cNvSpPr>
            <a:spLocks noChangeShapeType="1"/>
          </p:cNvSpPr>
          <p:nvPr/>
        </p:nvSpPr>
        <p:spPr bwMode="auto">
          <a:xfrm>
            <a:off x="5770563" y="4102100"/>
            <a:ext cx="1587" cy="100647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28" name="Line 25">
            <a:extLst>
              <a:ext uri="{FF2B5EF4-FFF2-40B4-BE49-F238E27FC236}">
                <a16:creationId xmlns:a16="http://schemas.microsoft.com/office/drawing/2014/main" id="{B46A0883-0980-037C-39B8-78B16F86AA96}"/>
              </a:ext>
            </a:extLst>
          </p:cNvPr>
          <p:cNvSpPr>
            <a:spLocks noChangeShapeType="1"/>
          </p:cNvSpPr>
          <p:nvPr/>
        </p:nvSpPr>
        <p:spPr bwMode="auto">
          <a:xfrm flipV="1">
            <a:off x="4978400" y="4778375"/>
            <a:ext cx="14478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29" name="Rectangle 26">
            <a:extLst>
              <a:ext uri="{FF2B5EF4-FFF2-40B4-BE49-F238E27FC236}">
                <a16:creationId xmlns:a16="http://schemas.microsoft.com/office/drawing/2014/main" id="{28F3D035-1CED-7AA9-6CE3-15BB36C0B238}"/>
              </a:ext>
            </a:extLst>
          </p:cNvPr>
          <p:cNvSpPr>
            <a:spLocks noChangeArrowheads="1"/>
          </p:cNvSpPr>
          <p:nvPr/>
        </p:nvSpPr>
        <p:spPr bwMode="auto">
          <a:xfrm>
            <a:off x="7086600" y="3136900"/>
            <a:ext cx="13160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ctr" eaLnBrk="0" hangingPunct="0"/>
            <a:r>
              <a:rPr lang="en-US" altLang="zh-CN" sz="1800" b="1">
                <a:latin typeface="Times New Roman" panose="02020603050405020304" pitchFamily="18" charset="0"/>
              </a:rPr>
              <a:t>Gao</a:t>
            </a:r>
            <a:r>
              <a:rPr lang="zh-CN" altLang="en-US" sz="1800" b="1">
                <a:latin typeface="Times New Roman" panose="02020603050405020304" pitchFamily="18" charset="0"/>
              </a:rPr>
              <a:t>的</a:t>
            </a:r>
            <a:r>
              <a:rPr lang="en-US" altLang="zh-CN" sz="1800" b="1">
                <a:latin typeface="Times New Roman" panose="02020603050405020304" pitchFamily="18" charset="0"/>
              </a:rPr>
              <a:t>SFD</a:t>
            </a:r>
          </a:p>
          <a:p>
            <a:pPr algn="just" eaLnBrk="0" hangingPunct="0"/>
            <a:r>
              <a:rPr lang="zh-CN" altLang="en-US" sz="1800" b="1">
                <a:latin typeface="Times New Roman" panose="02020603050405020304" pitchFamily="18" charset="0"/>
              </a:rPr>
              <a:t>符号名    </a:t>
            </a:r>
            <a:r>
              <a:rPr lang="en-US" altLang="zh-CN" sz="1800" b="1">
                <a:latin typeface="Times New Roman" panose="02020603050405020304" pitchFamily="18" charset="0"/>
              </a:rPr>
              <a:t>ID</a:t>
            </a:r>
          </a:p>
        </p:txBody>
      </p:sp>
      <p:sp>
        <p:nvSpPr>
          <p:cNvPr id="21530" name="Rectangle 27">
            <a:extLst>
              <a:ext uri="{FF2B5EF4-FFF2-40B4-BE49-F238E27FC236}">
                <a16:creationId xmlns:a16="http://schemas.microsoft.com/office/drawing/2014/main" id="{4D318515-5FF7-A3A3-86F8-6BFCB56B7241}"/>
              </a:ext>
            </a:extLst>
          </p:cNvPr>
          <p:cNvSpPr>
            <a:spLocks noChangeArrowheads="1"/>
          </p:cNvSpPr>
          <p:nvPr/>
        </p:nvSpPr>
        <p:spPr bwMode="auto">
          <a:xfrm>
            <a:off x="7013575" y="3756025"/>
            <a:ext cx="1435100" cy="1719263"/>
          </a:xfrm>
          <a:prstGeom prst="rect">
            <a:avLst/>
          </a:prstGeom>
          <a:solidFill>
            <a:srgbClr val="FFFFFF"/>
          </a:solidFill>
          <a:ln w="25400">
            <a:solidFill>
              <a:srgbClr val="000000"/>
            </a:solidFill>
            <a:miter lim="800000"/>
            <a:headEnd/>
            <a:tailEnd type="none" w="sm" len="med"/>
          </a:ln>
        </p:spPr>
        <p:txBody>
          <a:bodyPr lIns="72000" tIns="0" rIns="72000" bIns="0"/>
          <a:lstStyle/>
          <a:p>
            <a:pPr algn="just" eaLnBrk="0" hangingPunct="0"/>
            <a:r>
              <a:rPr lang="en-US" altLang="zh-CN" sz="2000" b="1">
                <a:latin typeface="Times New Roman" panose="02020603050405020304" pitchFamily="18" charset="0"/>
              </a:rPr>
              <a:t>Test        7</a:t>
            </a:r>
          </a:p>
          <a:p>
            <a:pPr algn="just" eaLnBrk="0" hangingPunct="0"/>
            <a:r>
              <a:rPr lang="en-US" altLang="zh-CN" sz="2000" b="1">
                <a:latin typeface="Times New Roman" panose="02020603050405020304" pitchFamily="18" charset="0"/>
              </a:rPr>
              <a:t>Alpha     6</a:t>
            </a:r>
          </a:p>
          <a:p>
            <a:pPr algn="just" eaLnBrk="0" hangingPunct="0"/>
            <a:r>
              <a:rPr lang="en-US" altLang="zh-CN" sz="2000" b="1">
                <a:latin typeface="Times New Roman" panose="02020603050405020304" pitchFamily="18" charset="0"/>
              </a:rPr>
              <a:t>Right      8</a:t>
            </a:r>
          </a:p>
          <a:p>
            <a:pPr algn="just" eaLnBrk="0" hangingPunct="0"/>
            <a:r>
              <a:rPr lang="en-US" altLang="zh-CN" sz="2000" b="1">
                <a:latin typeface="Times New Roman" panose="02020603050405020304" pitchFamily="18" charset="0"/>
              </a:rPr>
              <a:t>Ol           9</a:t>
            </a:r>
          </a:p>
          <a:p>
            <a:pPr algn="just" eaLnBrk="0" hangingPunct="0"/>
            <a:r>
              <a:rPr lang="en-US" altLang="zh-CN" sz="2000" b="1">
                <a:latin typeface="宋体" panose="02010600030101010101" pitchFamily="2" charset="-122"/>
              </a:rPr>
              <a:t>┆</a:t>
            </a:r>
          </a:p>
        </p:txBody>
      </p:sp>
      <p:sp>
        <p:nvSpPr>
          <p:cNvPr id="21531" name="Line 28">
            <a:extLst>
              <a:ext uri="{FF2B5EF4-FFF2-40B4-BE49-F238E27FC236}">
                <a16:creationId xmlns:a16="http://schemas.microsoft.com/office/drawing/2014/main" id="{74F00B06-D741-1EFF-0157-0C4CBD10BC5E}"/>
              </a:ext>
            </a:extLst>
          </p:cNvPr>
          <p:cNvSpPr>
            <a:spLocks noChangeShapeType="1"/>
          </p:cNvSpPr>
          <p:nvPr/>
        </p:nvSpPr>
        <p:spPr bwMode="auto">
          <a:xfrm flipV="1">
            <a:off x="7010400" y="4102100"/>
            <a:ext cx="1447800"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32" name="Line 29">
            <a:extLst>
              <a:ext uri="{FF2B5EF4-FFF2-40B4-BE49-F238E27FC236}">
                <a16:creationId xmlns:a16="http://schemas.microsoft.com/office/drawing/2014/main" id="{D4E86E3D-6E8B-6BBF-AB18-09EED7A8873E}"/>
              </a:ext>
            </a:extLst>
          </p:cNvPr>
          <p:cNvSpPr>
            <a:spLocks noChangeShapeType="1"/>
          </p:cNvSpPr>
          <p:nvPr/>
        </p:nvSpPr>
        <p:spPr bwMode="auto">
          <a:xfrm>
            <a:off x="7802563" y="3756025"/>
            <a:ext cx="1587" cy="17192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33" name="Line 30">
            <a:extLst>
              <a:ext uri="{FF2B5EF4-FFF2-40B4-BE49-F238E27FC236}">
                <a16:creationId xmlns:a16="http://schemas.microsoft.com/office/drawing/2014/main" id="{D706849B-5674-DF9F-622F-A146C28E017A}"/>
              </a:ext>
            </a:extLst>
          </p:cNvPr>
          <p:cNvSpPr>
            <a:spLocks noChangeShapeType="1"/>
          </p:cNvSpPr>
          <p:nvPr/>
        </p:nvSpPr>
        <p:spPr bwMode="auto">
          <a:xfrm flipV="1">
            <a:off x="7010400" y="4432300"/>
            <a:ext cx="1447800"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34" name="Line 31">
            <a:extLst>
              <a:ext uri="{FF2B5EF4-FFF2-40B4-BE49-F238E27FC236}">
                <a16:creationId xmlns:a16="http://schemas.microsoft.com/office/drawing/2014/main" id="{8596721D-D273-D5FE-C538-3964B745EFEA}"/>
              </a:ext>
            </a:extLst>
          </p:cNvPr>
          <p:cNvSpPr>
            <a:spLocks noChangeShapeType="1"/>
          </p:cNvSpPr>
          <p:nvPr/>
        </p:nvSpPr>
        <p:spPr bwMode="auto">
          <a:xfrm flipV="1">
            <a:off x="7010400" y="4724400"/>
            <a:ext cx="14478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35" name="Line 32">
            <a:extLst>
              <a:ext uri="{FF2B5EF4-FFF2-40B4-BE49-F238E27FC236}">
                <a16:creationId xmlns:a16="http://schemas.microsoft.com/office/drawing/2014/main" id="{CFA65FB7-DCA5-6E6C-EC26-693E5AABA530}"/>
              </a:ext>
            </a:extLst>
          </p:cNvPr>
          <p:cNvSpPr>
            <a:spLocks noChangeShapeType="1"/>
          </p:cNvSpPr>
          <p:nvPr/>
        </p:nvSpPr>
        <p:spPr bwMode="auto">
          <a:xfrm flipV="1">
            <a:off x="7010400" y="5029200"/>
            <a:ext cx="14478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36" name="Oval 33">
            <a:extLst>
              <a:ext uri="{FF2B5EF4-FFF2-40B4-BE49-F238E27FC236}">
                <a16:creationId xmlns:a16="http://schemas.microsoft.com/office/drawing/2014/main" id="{7E3ABB2F-E6A8-6FD2-9E39-F82E388B7784}"/>
              </a:ext>
            </a:extLst>
          </p:cNvPr>
          <p:cNvSpPr>
            <a:spLocks noChangeArrowheads="1"/>
          </p:cNvSpPr>
          <p:nvPr/>
        </p:nvSpPr>
        <p:spPr bwMode="auto">
          <a:xfrm>
            <a:off x="2589213" y="3498850"/>
            <a:ext cx="323850" cy="323850"/>
          </a:xfrm>
          <a:prstGeom prst="ellipse">
            <a:avLst/>
          </a:prstGeom>
          <a:solidFill>
            <a:srgbClr val="FFFFFF"/>
          </a:solidFill>
          <a:ln w="25400">
            <a:solidFill>
              <a:srgbClr val="000000"/>
            </a:solidFill>
            <a:round/>
            <a:headEnd/>
            <a:tailEnd/>
          </a:ln>
        </p:spPr>
        <p:txBody>
          <a:bodyPr lIns="72000" tIns="10800" rIns="72000" bIns="10800"/>
          <a:lstStyle/>
          <a:p>
            <a:endParaRPr lang="zh-CN" altLang="en-US"/>
          </a:p>
        </p:txBody>
      </p:sp>
      <p:sp>
        <p:nvSpPr>
          <p:cNvPr id="21537" name="Oval 34">
            <a:extLst>
              <a:ext uri="{FF2B5EF4-FFF2-40B4-BE49-F238E27FC236}">
                <a16:creationId xmlns:a16="http://schemas.microsoft.com/office/drawing/2014/main" id="{A725B962-89A3-962F-B589-5A4FA4AB28F8}"/>
              </a:ext>
            </a:extLst>
          </p:cNvPr>
          <p:cNvSpPr>
            <a:spLocks noChangeArrowheads="1"/>
          </p:cNvSpPr>
          <p:nvPr/>
        </p:nvSpPr>
        <p:spPr bwMode="auto">
          <a:xfrm>
            <a:off x="2589213" y="3962400"/>
            <a:ext cx="323850" cy="323850"/>
          </a:xfrm>
          <a:prstGeom prst="ellipse">
            <a:avLst/>
          </a:prstGeom>
          <a:solidFill>
            <a:srgbClr val="FFFFFF"/>
          </a:solidFill>
          <a:ln w="25400">
            <a:solidFill>
              <a:srgbClr val="000000"/>
            </a:solidFill>
            <a:round/>
            <a:headEnd/>
            <a:tailEnd/>
          </a:ln>
        </p:spPr>
        <p:txBody>
          <a:bodyPr lIns="72000" tIns="10800" rIns="72000" bIns="10800"/>
          <a:lstStyle/>
          <a:p>
            <a:endParaRPr lang="zh-CN" altLang="en-US"/>
          </a:p>
        </p:txBody>
      </p:sp>
      <p:sp>
        <p:nvSpPr>
          <p:cNvPr id="21538" name="Oval 35">
            <a:extLst>
              <a:ext uri="{FF2B5EF4-FFF2-40B4-BE49-F238E27FC236}">
                <a16:creationId xmlns:a16="http://schemas.microsoft.com/office/drawing/2014/main" id="{C292F6CB-216B-CF0E-4789-AACDD9B4C3C1}"/>
              </a:ext>
            </a:extLst>
          </p:cNvPr>
          <p:cNvSpPr>
            <a:spLocks noChangeArrowheads="1"/>
          </p:cNvSpPr>
          <p:nvPr/>
        </p:nvSpPr>
        <p:spPr bwMode="auto">
          <a:xfrm>
            <a:off x="3181350" y="4495800"/>
            <a:ext cx="323850" cy="323850"/>
          </a:xfrm>
          <a:prstGeom prst="ellipse">
            <a:avLst/>
          </a:prstGeom>
          <a:solidFill>
            <a:srgbClr val="FFFFFF"/>
          </a:solidFill>
          <a:ln w="25400">
            <a:solidFill>
              <a:srgbClr val="000000"/>
            </a:solidFill>
            <a:round/>
            <a:headEnd/>
            <a:tailEnd/>
          </a:ln>
        </p:spPr>
        <p:txBody>
          <a:bodyPr lIns="72000" tIns="10800" rIns="72000" bIns="10800"/>
          <a:lstStyle/>
          <a:p>
            <a:endParaRPr lang="zh-CN" altLang="en-US"/>
          </a:p>
        </p:txBody>
      </p:sp>
      <p:sp>
        <p:nvSpPr>
          <p:cNvPr id="21539" name="Oval 36">
            <a:extLst>
              <a:ext uri="{FF2B5EF4-FFF2-40B4-BE49-F238E27FC236}">
                <a16:creationId xmlns:a16="http://schemas.microsoft.com/office/drawing/2014/main" id="{80554F3F-1AF1-D792-41BF-0F1D82ADA985}"/>
              </a:ext>
            </a:extLst>
          </p:cNvPr>
          <p:cNvSpPr>
            <a:spLocks noChangeArrowheads="1"/>
          </p:cNvSpPr>
          <p:nvPr/>
        </p:nvSpPr>
        <p:spPr bwMode="auto">
          <a:xfrm>
            <a:off x="2876550" y="5181600"/>
            <a:ext cx="323850" cy="323850"/>
          </a:xfrm>
          <a:prstGeom prst="ellipse">
            <a:avLst/>
          </a:prstGeom>
          <a:solidFill>
            <a:srgbClr val="FFFFFF"/>
          </a:solidFill>
          <a:ln w="25400">
            <a:solidFill>
              <a:srgbClr val="000000"/>
            </a:solidFill>
            <a:round/>
            <a:headEnd/>
            <a:tailEnd/>
          </a:ln>
        </p:spPr>
        <p:txBody>
          <a:bodyPr lIns="72000" tIns="10800" rIns="72000" bIns="10800"/>
          <a:lstStyle/>
          <a:p>
            <a:endParaRPr lang="zh-CN" altLang="en-US"/>
          </a:p>
        </p:txBody>
      </p:sp>
      <p:sp>
        <p:nvSpPr>
          <p:cNvPr id="21540" name="Oval 37">
            <a:extLst>
              <a:ext uri="{FF2B5EF4-FFF2-40B4-BE49-F238E27FC236}">
                <a16:creationId xmlns:a16="http://schemas.microsoft.com/office/drawing/2014/main" id="{C8D21989-7522-7CA9-BA16-91E5C001C135}"/>
              </a:ext>
            </a:extLst>
          </p:cNvPr>
          <p:cNvSpPr>
            <a:spLocks noChangeArrowheads="1"/>
          </p:cNvSpPr>
          <p:nvPr/>
        </p:nvSpPr>
        <p:spPr bwMode="auto">
          <a:xfrm>
            <a:off x="3657600" y="5029200"/>
            <a:ext cx="323850" cy="323850"/>
          </a:xfrm>
          <a:prstGeom prst="ellipse">
            <a:avLst/>
          </a:prstGeom>
          <a:solidFill>
            <a:srgbClr val="FFFFFF"/>
          </a:solidFill>
          <a:ln w="25400">
            <a:solidFill>
              <a:srgbClr val="000000"/>
            </a:solidFill>
            <a:round/>
            <a:headEnd/>
            <a:tailEnd/>
          </a:ln>
        </p:spPr>
        <p:txBody>
          <a:bodyPr lIns="72000" tIns="10800" rIns="72000" bIns="10800"/>
          <a:lstStyle/>
          <a:p>
            <a:endParaRPr lang="zh-CN" altLang="en-US"/>
          </a:p>
        </p:txBody>
      </p:sp>
      <p:sp>
        <p:nvSpPr>
          <p:cNvPr id="21541" name="Line 38">
            <a:extLst>
              <a:ext uri="{FF2B5EF4-FFF2-40B4-BE49-F238E27FC236}">
                <a16:creationId xmlns:a16="http://schemas.microsoft.com/office/drawing/2014/main" id="{C90F9E32-8315-44B9-058D-347E1ACD4BB5}"/>
              </a:ext>
            </a:extLst>
          </p:cNvPr>
          <p:cNvSpPr>
            <a:spLocks noChangeShapeType="1"/>
          </p:cNvSpPr>
          <p:nvPr/>
        </p:nvSpPr>
        <p:spPr bwMode="auto">
          <a:xfrm>
            <a:off x="2036763" y="3657600"/>
            <a:ext cx="563562"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42" name="Rectangle 39">
            <a:extLst>
              <a:ext uri="{FF2B5EF4-FFF2-40B4-BE49-F238E27FC236}">
                <a16:creationId xmlns:a16="http://schemas.microsoft.com/office/drawing/2014/main" id="{0288938F-51BD-A564-DB7F-03FB2818DB70}"/>
              </a:ext>
            </a:extLst>
          </p:cNvPr>
          <p:cNvSpPr>
            <a:spLocks noChangeArrowheads="1"/>
          </p:cNvSpPr>
          <p:nvPr/>
        </p:nvSpPr>
        <p:spPr bwMode="auto">
          <a:xfrm>
            <a:off x="2932113" y="3505200"/>
            <a:ext cx="598487"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en-US" altLang="zh-CN" sz="1800" b="1">
                <a:latin typeface="Times New Roman" panose="02020603050405020304" pitchFamily="18" charset="0"/>
              </a:rPr>
              <a:t>Sqrt</a:t>
            </a:r>
          </a:p>
        </p:txBody>
      </p:sp>
      <p:sp>
        <p:nvSpPr>
          <p:cNvPr id="21543" name="Line 40">
            <a:extLst>
              <a:ext uri="{FF2B5EF4-FFF2-40B4-BE49-F238E27FC236}">
                <a16:creationId xmlns:a16="http://schemas.microsoft.com/office/drawing/2014/main" id="{9FCDCEE6-B20F-CBB7-741E-92A04F0340B7}"/>
              </a:ext>
            </a:extLst>
          </p:cNvPr>
          <p:cNvSpPr>
            <a:spLocks noChangeShapeType="1"/>
          </p:cNvSpPr>
          <p:nvPr/>
        </p:nvSpPr>
        <p:spPr bwMode="auto">
          <a:xfrm>
            <a:off x="2036763" y="3962400"/>
            <a:ext cx="552450" cy="141288"/>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44" name="Rectangle 41">
            <a:extLst>
              <a:ext uri="{FF2B5EF4-FFF2-40B4-BE49-F238E27FC236}">
                <a16:creationId xmlns:a16="http://schemas.microsoft.com/office/drawing/2014/main" id="{AA0A34A7-8F19-5D54-E464-4535573D94F4}"/>
              </a:ext>
            </a:extLst>
          </p:cNvPr>
          <p:cNvSpPr>
            <a:spLocks noChangeArrowheads="1"/>
          </p:cNvSpPr>
          <p:nvPr/>
        </p:nvSpPr>
        <p:spPr bwMode="auto">
          <a:xfrm>
            <a:off x="2968625" y="3886200"/>
            <a:ext cx="145097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en-US" altLang="zh-CN" sz="1800" b="1">
                <a:latin typeface="Times New Roman" panose="02020603050405020304" pitchFamily="18" charset="0"/>
              </a:rPr>
              <a:t>Wang</a:t>
            </a:r>
            <a:r>
              <a:rPr lang="zh-CN" altLang="en-US" sz="1800" b="1">
                <a:latin typeface="Times New Roman" panose="02020603050405020304" pitchFamily="18" charset="0"/>
              </a:rPr>
              <a:t>的</a:t>
            </a:r>
            <a:r>
              <a:rPr lang="en-US" altLang="zh-CN" sz="1800" b="1">
                <a:latin typeface="Times New Roman" panose="02020603050405020304" pitchFamily="18" charset="0"/>
              </a:rPr>
              <a:t>Beta</a:t>
            </a:r>
          </a:p>
          <a:p>
            <a:pPr algn="just" eaLnBrk="0" hangingPunct="0"/>
            <a:r>
              <a:rPr lang="en-US" altLang="zh-CN" sz="1800" b="1">
                <a:latin typeface="Times New Roman" panose="02020603050405020304" pitchFamily="18" charset="0"/>
              </a:rPr>
              <a:t>Gao</a:t>
            </a:r>
            <a:r>
              <a:rPr lang="zh-CN" altLang="en-US" sz="1800" b="1">
                <a:latin typeface="Times New Roman" panose="02020603050405020304" pitchFamily="18" charset="0"/>
              </a:rPr>
              <a:t>的</a:t>
            </a:r>
            <a:r>
              <a:rPr lang="en-US" altLang="zh-CN" sz="1800" b="1">
                <a:latin typeface="Times New Roman" panose="02020603050405020304" pitchFamily="18" charset="0"/>
              </a:rPr>
              <a:t>Alpha</a:t>
            </a:r>
          </a:p>
        </p:txBody>
      </p:sp>
      <p:sp>
        <p:nvSpPr>
          <p:cNvPr id="21545" name="Line 42">
            <a:extLst>
              <a:ext uri="{FF2B5EF4-FFF2-40B4-BE49-F238E27FC236}">
                <a16:creationId xmlns:a16="http://schemas.microsoft.com/office/drawing/2014/main" id="{56BF2E8C-C0F4-97E9-7632-33B2879D34EE}"/>
              </a:ext>
            </a:extLst>
          </p:cNvPr>
          <p:cNvSpPr>
            <a:spLocks noChangeShapeType="1"/>
          </p:cNvSpPr>
          <p:nvPr/>
        </p:nvSpPr>
        <p:spPr bwMode="auto">
          <a:xfrm>
            <a:off x="2036763" y="4267200"/>
            <a:ext cx="1163637" cy="3810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46" name="Rectangle 43">
            <a:extLst>
              <a:ext uri="{FF2B5EF4-FFF2-40B4-BE49-F238E27FC236}">
                <a16:creationId xmlns:a16="http://schemas.microsoft.com/office/drawing/2014/main" id="{DACFBABB-A23B-582B-4FEF-D14A2D1944E5}"/>
              </a:ext>
            </a:extLst>
          </p:cNvPr>
          <p:cNvSpPr>
            <a:spLocks noChangeArrowheads="1"/>
          </p:cNvSpPr>
          <p:nvPr/>
        </p:nvSpPr>
        <p:spPr bwMode="auto">
          <a:xfrm>
            <a:off x="3486150" y="4572000"/>
            <a:ext cx="6286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en-US" altLang="zh-CN" sz="1800" b="1">
                <a:latin typeface="Times New Roman" panose="02020603050405020304" pitchFamily="18" charset="0"/>
              </a:rPr>
              <a:t>Test</a:t>
            </a:r>
          </a:p>
        </p:txBody>
      </p:sp>
      <p:sp>
        <p:nvSpPr>
          <p:cNvPr id="21547" name="Line 44">
            <a:extLst>
              <a:ext uri="{FF2B5EF4-FFF2-40B4-BE49-F238E27FC236}">
                <a16:creationId xmlns:a16="http://schemas.microsoft.com/office/drawing/2014/main" id="{DBC3798B-2256-CF8A-2173-06092C21BA27}"/>
              </a:ext>
            </a:extLst>
          </p:cNvPr>
          <p:cNvSpPr>
            <a:spLocks noChangeShapeType="1"/>
          </p:cNvSpPr>
          <p:nvPr/>
        </p:nvSpPr>
        <p:spPr bwMode="auto">
          <a:xfrm>
            <a:off x="2036763" y="4572000"/>
            <a:ext cx="1627187" cy="5969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48" name="Rectangle 45">
            <a:extLst>
              <a:ext uri="{FF2B5EF4-FFF2-40B4-BE49-F238E27FC236}">
                <a16:creationId xmlns:a16="http://schemas.microsoft.com/office/drawing/2014/main" id="{DEF65CA6-3E94-2866-87B1-61543D6AFC42}"/>
              </a:ext>
            </a:extLst>
          </p:cNvPr>
          <p:cNvSpPr>
            <a:spLocks noChangeArrowheads="1"/>
          </p:cNvSpPr>
          <p:nvPr/>
        </p:nvSpPr>
        <p:spPr bwMode="auto">
          <a:xfrm>
            <a:off x="3917950" y="5181600"/>
            <a:ext cx="8064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en-US" altLang="zh-CN" sz="1800" b="1">
                <a:latin typeface="Times New Roman" panose="02020603050405020304" pitchFamily="18" charset="0"/>
              </a:rPr>
              <a:t>Right</a:t>
            </a:r>
          </a:p>
        </p:txBody>
      </p:sp>
      <p:sp>
        <p:nvSpPr>
          <p:cNvPr id="21549" name="Line 46">
            <a:extLst>
              <a:ext uri="{FF2B5EF4-FFF2-40B4-BE49-F238E27FC236}">
                <a16:creationId xmlns:a16="http://schemas.microsoft.com/office/drawing/2014/main" id="{F9166316-1022-FF2A-8782-BCF3C5EFAFF7}"/>
              </a:ext>
            </a:extLst>
          </p:cNvPr>
          <p:cNvSpPr>
            <a:spLocks noChangeShapeType="1"/>
          </p:cNvSpPr>
          <p:nvPr/>
        </p:nvSpPr>
        <p:spPr bwMode="auto">
          <a:xfrm>
            <a:off x="2057400" y="4876800"/>
            <a:ext cx="838200" cy="38100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50" name="Rectangle 47">
            <a:extLst>
              <a:ext uri="{FF2B5EF4-FFF2-40B4-BE49-F238E27FC236}">
                <a16:creationId xmlns:a16="http://schemas.microsoft.com/office/drawing/2014/main" id="{E203F3B6-9AD4-E679-67FE-0C0703EA88F4}"/>
              </a:ext>
            </a:extLst>
          </p:cNvPr>
          <p:cNvSpPr>
            <a:spLocks noChangeArrowheads="1"/>
          </p:cNvSpPr>
          <p:nvPr/>
        </p:nvSpPr>
        <p:spPr bwMode="auto">
          <a:xfrm>
            <a:off x="3149600" y="5403850"/>
            <a:ext cx="5080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en-US" altLang="zh-CN" sz="1800" b="1">
                <a:latin typeface="Times New Roman" panose="02020603050405020304" pitchFamily="18" charset="0"/>
              </a:rPr>
              <a:t>Ol</a:t>
            </a:r>
          </a:p>
        </p:txBody>
      </p:sp>
      <p:sp>
        <p:nvSpPr>
          <p:cNvPr id="21551" name="Line 48">
            <a:extLst>
              <a:ext uri="{FF2B5EF4-FFF2-40B4-BE49-F238E27FC236}">
                <a16:creationId xmlns:a16="http://schemas.microsoft.com/office/drawing/2014/main" id="{D3CFA5AF-5513-A04C-3B24-28B7300D5303}"/>
              </a:ext>
            </a:extLst>
          </p:cNvPr>
          <p:cNvSpPr>
            <a:spLocks noChangeShapeType="1"/>
          </p:cNvSpPr>
          <p:nvPr/>
        </p:nvSpPr>
        <p:spPr bwMode="auto">
          <a:xfrm>
            <a:off x="2051050" y="2120900"/>
            <a:ext cx="74612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2" name="Line 49">
            <a:extLst>
              <a:ext uri="{FF2B5EF4-FFF2-40B4-BE49-F238E27FC236}">
                <a16:creationId xmlns:a16="http://schemas.microsoft.com/office/drawing/2014/main" id="{71BC5921-24C2-60CA-D135-9C69151EC51B}"/>
              </a:ext>
            </a:extLst>
          </p:cNvPr>
          <p:cNvSpPr>
            <a:spLocks noChangeShapeType="1"/>
          </p:cNvSpPr>
          <p:nvPr/>
        </p:nvSpPr>
        <p:spPr bwMode="auto">
          <a:xfrm flipV="1">
            <a:off x="2797175" y="1524000"/>
            <a:ext cx="0" cy="5969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3" name="Line 50">
            <a:extLst>
              <a:ext uri="{FF2B5EF4-FFF2-40B4-BE49-F238E27FC236}">
                <a16:creationId xmlns:a16="http://schemas.microsoft.com/office/drawing/2014/main" id="{5D23DFF8-0663-9938-F1DA-F72F06CC181F}"/>
              </a:ext>
            </a:extLst>
          </p:cNvPr>
          <p:cNvSpPr>
            <a:spLocks noChangeShapeType="1"/>
          </p:cNvSpPr>
          <p:nvPr/>
        </p:nvSpPr>
        <p:spPr bwMode="auto">
          <a:xfrm flipH="1">
            <a:off x="781050" y="1524000"/>
            <a:ext cx="201612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4" name="Line 51">
            <a:extLst>
              <a:ext uri="{FF2B5EF4-FFF2-40B4-BE49-F238E27FC236}">
                <a16:creationId xmlns:a16="http://schemas.microsoft.com/office/drawing/2014/main" id="{08A4E2C7-1363-654C-1A0A-B7EDB504E13C}"/>
              </a:ext>
            </a:extLst>
          </p:cNvPr>
          <p:cNvSpPr>
            <a:spLocks noChangeShapeType="1"/>
          </p:cNvSpPr>
          <p:nvPr/>
        </p:nvSpPr>
        <p:spPr bwMode="auto">
          <a:xfrm>
            <a:off x="781050" y="1524000"/>
            <a:ext cx="0" cy="4159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5" name="Line 52">
            <a:extLst>
              <a:ext uri="{FF2B5EF4-FFF2-40B4-BE49-F238E27FC236}">
                <a16:creationId xmlns:a16="http://schemas.microsoft.com/office/drawing/2014/main" id="{4A0F7078-FADA-0C99-C438-B41D24CFF1CC}"/>
              </a:ext>
            </a:extLst>
          </p:cNvPr>
          <p:cNvSpPr>
            <a:spLocks noChangeShapeType="1"/>
          </p:cNvSpPr>
          <p:nvPr/>
        </p:nvSpPr>
        <p:spPr bwMode="auto">
          <a:xfrm>
            <a:off x="781050" y="1935163"/>
            <a:ext cx="477838"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56" name="Line 53">
            <a:extLst>
              <a:ext uri="{FF2B5EF4-FFF2-40B4-BE49-F238E27FC236}">
                <a16:creationId xmlns:a16="http://schemas.microsoft.com/office/drawing/2014/main" id="{4A04F690-828E-0213-019B-183730E73D5C}"/>
              </a:ext>
            </a:extLst>
          </p:cNvPr>
          <p:cNvSpPr>
            <a:spLocks noChangeShapeType="1"/>
          </p:cNvSpPr>
          <p:nvPr/>
        </p:nvSpPr>
        <p:spPr bwMode="auto">
          <a:xfrm>
            <a:off x="2051050" y="2482850"/>
            <a:ext cx="892175"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7" name="Line 54">
            <a:extLst>
              <a:ext uri="{FF2B5EF4-FFF2-40B4-BE49-F238E27FC236}">
                <a16:creationId xmlns:a16="http://schemas.microsoft.com/office/drawing/2014/main" id="{3F77BCED-E140-1DD9-9D98-A26059F6FD97}"/>
              </a:ext>
            </a:extLst>
          </p:cNvPr>
          <p:cNvSpPr>
            <a:spLocks noChangeShapeType="1"/>
          </p:cNvSpPr>
          <p:nvPr/>
        </p:nvSpPr>
        <p:spPr bwMode="auto">
          <a:xfrm flipV="1">
            <a:off x="2949575" y="1963738"/>
            <a:ext cx="0" cy="51117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58" name="Line 55">
            <a:extLst>
              <a:ext uri="{FF2B5EF4-FFF2-40B4-BE49-F238E27FC236}">
                <a16:creationId xmlns:a16="http://schemas.microsoft.com/office/drawing/2014/main" id="{B0D2FC82-4CF2-0653-87C7-8FFEC1C14026}"/>
              </a:ext>
            </a:extLst>
          </p:cNvPr>
          <p:cNvSpPr>
            <a:spLocks noChangeShapeType="1"/>
          </p:cNvSpPr>
          <p:nvPr/>
        </p:nvSpPr>
        <p:spPr bwMode="auto">
          <a:xfrm>
            <a:off x="2949575" y="1979613"/>
            <a:ext cx="4067175"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59" name="Line 56">
            <a:extLst>
              <a:ext uri="{FF2B5EF4-FFF2-40B4-BE49-F238E27FC236}">
                <a16:creationId xmlns:a16="http://schemas.microsoft.com/office/drawing/2014/main" id="{B3E2E0E4-547A-1009-88B8-8B6824A80F14}"/>
              </a:ext>
            </a:extLst>
          </p:cNvPr>
          <p:cNvSpPr>
            <a:spLocks noChangeShapeType="1"/>
          </p:cNvSpPr>
          <p:nvPr/>
        </p:nvSpPr>
        <p:spPr bwMode="auto">
          <a:xfrm>
            <a:off x="2057400" y="2667000"/>
            <a:ext cx="3162300"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60" name="Line 57">
            <a:extLst>
              <a:ext uri="{FF2B5EF4-FFF2-40B4-BE49-F238E27FC236}">
                <a16:creationId xmlns:a16="http://schemas.microsoft.com/office/drawing/2014/main" id="{04DA30F7-5314-B1EC-015C-E0FFC5CC4D89}"/>
              </a:ext>
            </a:extLst>
          </p:cNvPr>
          <p:cNvSpPr>
            <a:spLocks noChangeShapeType="1"/>
          </p:cNvSpPr>
          <p:nvPr/>
        </p:nvSpPr>
        <p:spPr bwMode="auto">
          <a:xfrm>
            <a:off x="2057400" y="3048000"/>
            <a:ext cx="292576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61" name="Line 58">
            <a:extLst>
              <a:ext uri="{FF2B5EF4-FFF2-40B4-BE49-F238E27FC236}">
                <a16:creationId xmlns:a16="http://schemas.microsoft.com/office/drawing/2014/main" id="{92230F6D-7770-6DC4-AEFA-E23C48B89F28}"/>
              </a:ext>
            </a:extLst>
          </p:cNvPr>
          <p:cNvSpPr>
            <a:spLocks noChangeShapeType="1"/>
          </p:cNvSpPr>
          <p:nvPr/>
        </p:nvSpPr>
        <p:spPr bwMode="auto">
          <a:xfrm>
            <a:off x="4724400" y="3352800"/>
            <a:ext cx="0" cy="19415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62" name="Line 59">
            <a:extLst>
              <a:ext uri="{FF2B5EF4-FFF2-40B4-BE49-F238E27FC236}">
                <a16:creationId xmlns:a16="http://schemas.microsoft.com/office/drawing/2014/main" id="{DA3C58B5-FAEA-8142-60F6-8C94F21C1ED0}"/>
              </a:ext>
            </a:extLst>
          </p:cNvPr>
          <p:cNvSpPr>
            <a:spLocks noChangeShapeType="1"/>
          </p:cNvSpPr>
          <p:nvPr/>
        </p:nvSpPr>
        <p:spPr bwMode="auto">
          <a:xfrm>
            <a:off x="2051050" y="3352800"/>
            <a:ext cx="26924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63" name="Line 60">
            <a:extLst>
              <a:ext uri="{FF2B5EF4-FFF2-40B4-BE49-F238E27FC236}">
                <a16:creationId xmlns:a16="http://schemas.microsoft.com/office/drawing/2014/main" id="{50CBE993-12FC-43CA-D7C9-91E313C15BBB}"/>
              </a:ext>
            </a:extLst>
          </p:cNvPr>
          <p:cNvSpPr>
            <a:spLocks noChangeShapeType="1"/>
          </p:cNvSpPr>
          <p:nvPr/>
        </p:nvSpPr>
        <p:spPr bwMode="auto">
          <a:xfrm>
            <a:off x="4953000" y="3044825"/>
            <a:ext cx="0" cy="106997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64" name="Line 61">
            <a:extLst>
              <a:ext uri="{FF2B5EF4-FFF2-40B4-BE49-F238E27FC236}">
                <a16:creationId xmlns:a16="http://schemas.microsoft.com/office/drawing/2014/main" id="{521D6788-7D1B-E249-DC80-630A2C0614C2}"/>
              </a:ext>
            </a:extLst>
          </p:cNvPr>
          <p:cNvSpPr>
            <a:spLocks noChangeShapeType="1"/>
          </p:cNvSpPr>
          <p:nvPr/>
        </p:nvSpPr>
        <p:spPr bwMode="auto">
          <a:xfrm>
            <a:off x="4740275" y="5297488"/>
            <a:ext cx="180816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65" name="Line 62">
            <a:extLst>
              <a:ext uri="{FF2B5EF4-FFF2-40B4-BE49-F238E27FC236}">
                <a16:creationId xmlns:a16="http://schemas.microsoft.com/office/drawing/2014/main" id="{F2B12D8D-4759-6E25-5102-B3AD4B823136}"/>
              </a:ext>
            </a:extLst>
          </p:cNvPr>
          <p:cNvSpPr>
            <a:spLocks noChangeShapeType="1"/>
          </p:cNvSpPr>
          <p:nvPr/>
        </p:nvSpPr>
        <p:spPr bwMode="auto">
          <a:xfrm flipV="1">
            <a:off x="6548438" y="3756025"/>
            <a:ext cx="0" cy="15557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1566" name="Line 63">
            <a:extLst>
              <a:ext uri="{FF2B5EF4-FFF2-40B4-BE49-F238E27FC236}">
                <a16:creationId xmlns:a16="http://schemas.microsoft.com/office/drawing/2014/main" id="{2C2AE80A-6865-2A65-0442-4E5388EA36E2}"/>
              </a:ext>
            </a:extLst>
          </p:cNvPr>
          <p:cNvSpPr>
            <a:spLocks noChangeShapeType="1"/>
          </p:cNvSpPr>
          <p:nvPr/>
        </p:nvSpPr>
        <p:spPr bwMode="auto">
          <a:xfrm flipV="1">
            <a:off x="6548438" y="3775075"/>
            <a:ext cx="479425"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67" name="Rectangle 64">
            <a:extLst>
              <a:ext uri="{FF2B5EF4-FFF2-40B4-BE49-F238E27FC236}">
                <a16:creationId xmlns:a16="http://schemas.microsoft.com/office/drawing/2014/main" id="{8C614ADD-A816-9E40-0401-596FBF98D9C4}"/>
              </a:ext>
            </a:extLst>
          </p:cNvPr>
          <p:cNvSpPr>
            <a:spLocks noChangeArrowheads="1"/>
          </p:cNvSpPr>
          <p:nvPr/>
        </p:nvSpPr>
        <p:spPr bwMode="auto">
          <a:xfrm>
            <a:off x="1079500" y="5734050"/>
            <a:ext cx="15875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zh-CN" altLang="en-US" sz="1800" b="1">
                <a:latin typeface="Times New Roman" panose="02020603050405020304" pitchFamily="18" charset="0"/>
              </a:rPr>
              <a:t>基本文件目录</a:t>
            </a:r>
          </a:p>
        </p:txBody>
      </p:sp>
    </p:spTree>
  </p:cSld>
  <p:clrMapOvr>
    <a:masterClrMapping/>
  </p:clrMapOvr>
  <p:transition spd="med">
    <p:zoom/>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D2DA1612-A24B-62F5-D81D-675C0F48B550}"/>
              </a:ext>
            </a:extLst>
          </p:cNvPr>
          <p:cNvSpPr>
            <a:spLocks noGrp="1" noChangeArrowheads="1"/>
          </p:cNvSpPr>
          <p:nvPr>
            <p:ph type="title"/>
          </p:nvPr>
        </p:nvSpPr>
        <p:spPr/>
        <p:txBody>
          <a:bodyPr/>
          <a:lstStyle/>
          <a:p>
            <a:pPr eaLnBrk="1" hangingPunct="1"/>
            <a:r>
              <a:rPr lang="zh-CN" altLang="en-US" sz="4000">
                <a:latin typeface="Times New Roman" panose="02020603050405020304" pitchFamily="18" charset="0"/>
              </a:rPr>
              <a:t>用基本文件目录法实现文件共享</a:t>
            </a:r>
          </a:p>
        </p:txBody>
      </p:sp>
      <p:sp>
        <p:nvSpPr>
          <p:cNvPr id="365571" name="Rectangle 3">
            <a:extLst>
              <a:ext uri="{FF2B5EF4-FFF2-40B4-BE49-F238E27FC236}">
                <a16:creationId xmlns:a16="http://schemas.microsoft.com/office/drawing/2014/main" id="{C8C5E3A3-C3D6-9375-9B9F-FC9A0880BE96}"/>
              </a:ext>
            </a:extLst>
          </p:cNvPr>
          <p:cNvSpPr>
            <a:spLocks noGrp="1" noChangeArrowheads="1"/>
          </p:cNvSpPr>
          <p:nvPr>
            <p:ph idx="1"/>
          </p:nvPr>
        </p:nvSpPr>
        <p:spPr>
          <a:xfrm>
            <a:off x="684213" y="1196975"/>
            <a:ext cx="8231187" cy="4611688"/>
          </a:xfrm>
        </p:spPr>
        <p:txBody>
          <a:bodyPr/>
          <a:lstStyle/>
          <a:p>
            <a:pPr algn="just" eaLnBrk="1" hangingPunct="1"/>
            <a:r>
              <a:rPr lang="zh-CN" altLang="en-US">
                <a:latin typeface="Times New Roman" panose="02020603050405020304" pitchFamily="18" charset="0"/>
              </a:rPr>
              <a:t>用基本文件目录法可以方便地实现文件共享。若要共享某个文件，只需在相应的目录文件中增加一个目录项，在其中填上符号名及被共享文件的标识符。</a:t>
            </a:r>
          </a:p>
          <a:p>
            <a:pPr algn="just" eaLnBrk="1" hangingPunct="1"/>
            <a:r>
              <a:rPr lang="zh-CN" altLang="en-US">
                <a:latin typeface="Times New Roman" panose="02020603050405020304" pitchFamily="18" charset="0"/>
              </a:rPr>
              <a:t>如上图中，用户</a:t>
            </a:r>
            <a:r>
              <a:rPr lang="en-US" altLang="zh-CN">
                <a:latin typeface="Times New Roman" panose="02020603050405020304" pitchFamily="18" charset="0"/>
              </a:rPr>
              <a:t>Wang</a:t>
            </a:r>
            <a:r>
              <a:rPr lang="zh-CN" altLang="en-US">
                <a:latin typeface="Times New Roman" panose="02020603050405020304" pitchFamily="18" charset="0"/>
              </a:rPr>
              <a:t>和</a:t>
            </a:r>
            <a:r>
              <a:rPr lang="en-US" altLang="zh-CN">
                <a:latin typeface="Times New Roman" panose="02020603050405020304" pitchFamily="18" charset="0"/>
              </a:rPr>
              <a:t>Gao</a:t>
            </a:r>
            <a:r>
              <a:rPr lang="zh-CN" altLang="en-US">
                <a:latin typeface="Times New Roman" panose="02020603050405020304" pitchFamily="18" charset="0"/>
              </a:rPr>
              <a:t>共享标识符为6的文件，对于系统来说，标识符6指向同一个文件；而对</a:t>
            </a:r>
            <a:r>
              <a:rPr lang="en-US" altLang="zh-CN">
                <a:latin typeface="Times New Roman" panose="02020603050405020304" pitchFamily="18" charset="0"/>
              </a:rPr>
              <a:t>Wang</a:t>
            </a:r>
            <a:r>
              <a:rPr lang="zh-CN" altLang="en-US">
                <a:latin typeface="Times New Roman" panose="02020603050405020304" pitchFamily="18" charset="0"/>
              </a:rPr>
              <a:t>和</a:t>
            </a:r>
            <a:r>
              <a:rPr lang="en-US" altLang="zh-CN">
                <a:latin typeface="Times New Roman" panose="02020603050405020304" pitchFamily="18" charset="0"/>
              </a:rPr>
              <a:t>Gao</a:t>
            </a:r>
            <a:r>
              <a:rPr lang="zh-CN" altLang="en-US">
                <a:latin typeface="Times New Roman" panose="02020603050405020304" pitchFamily="18" charset="0"/>
              </a:rPr>
              <a:t>两个用户来说，则对应于不同的文件名</a:t>
            </a:r>
            <a:r>
              <a:rPr lang="en-US" altLang="zh-CN">
                <a:latin typeface="Times New Roman" panose="02020603050405020304" pitchFamily="18" charset="0"/>
              </a:rPr>
              <a:t>Beta</a:t>
            </a:r>
            <a:r>
              <a:rPr lang="zh-CN" altLang="en-US">
                <a:latin typeface="Times New Roman" panose="02020603050405020304" pitchFamily="18" charset="0"/>
              </a:rPr>
              <a:t>和</a:t>
            </a:r>
            <a:r>
              <a:rPr lang="en-US" altLang="zh-CN">
                <a:latin typeface="Times New Roman" panose="02020603050405020304" pitchFamily="18" charset="0"/>
              </a:rPr>
              <a:t>Alpha。</a:t>
            </a:r>
            <a:r>
              <a:rPr lang="en-US" altLang="zh-CN"/>
              <a:t> </a:t>
            </a:r>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Effect transition="in" filter="checkerboard(across)">
                                      <p:cBhvr>
                                        <p:cTn id="7" dur="500"/>
                                        <p:tgtEl>
                                          <p:spTgt spid="365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5571">
                                            <p:txEl>
                                              <p:pRg st="1" end="1"/>
                                            </p:txEl>
                                          </p:spTgt>
                                        </p:tgtEl>
                                        <p:attrNameLst>
                                          <p:attrName>style.visibility</p:attrName>
                                        </p:attrNameLst>
                                      </p:cBhvr>
                                      <p:to>
                                        <p:strVal val="visible"/>
                                      </p:to>
                                    </p:set>
                                    <p:animEffect transition="in" filter="checkerboard(across)">
                                      <p:cBhvr>
                                        <p:cTn id="12" dur="500"/>
                                        <p:tgtEl>
                                          <p:spTgt spid="3655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CDE7E08D-99F6-C3EF-A761-A135F833A7F2}"/>
              </a:ext>
            </a:extLst>
          </p:cNvPr>
          <p:cNvSpPr>
            <a:spLocks noGrp="1" noChangeArrowheads="1"/>
          </p:cNvSpPr>
          <p:nvPr>
            <p:ph type="title"/>
          </p:nvPr>
        </p:nvSpPr>
        <p:spPr/>
        <p:txBody>
          <a:bodyPr/>
          <a:lstStyle/>
          <a:p>
            <a:pPr eaLnBrk="1" hangingPunct="1"/>
            <a:r>
              <a:rPr lang="zh-CN" altLang="en-US"/>
              <a:t>基于索引节点的共享方式</a:t>
            </a:r>
          </a:p>
        </p:txBody>
      </p:sp>
      <p:sp>
        <p:nvSpPr>
          <p:cNvPr id="366595" name="Rectangle 3">
            <a:extLst>
              <a:ext uri="{FF2B5EF4-FFF2-40B4-BE49-F238E27FC236}">
                <a16:creationId xmlns:a16="http://schemas.microsoft.com/office/drawing/2014/main" id="{E9424ED6-C4B6-7416-416D-BBD365D7ED49}"/>
              </a:ext>
            </a:extLst>
          </p:cNvPr>
          <p:cNvSpPr>
            <a:spLocks noGrp="1" noChangeArrowheads="1"/>
          </p:cNvSpPr>
          <p:nvPr>
            <p:ph idx="1"/>
          </p:nvPr>
        </p:nvSpPr>
        <p:spPr>
          <a:xfrm>
            <a:off x="296863" y="1268413"/>
            <a:ext cx="4419600" cy="4419600"/>
          </a:xfrm>
        </p:spPr>
        <p:txBody>
          <a:bodyPr/>
          <a:lstStyle/>
          <a:p>
            <a:pPr algn="just" eaLnBrk="1" hangingPunct="1">
              <a:lnSpc>
                <a:spcPct val="90000"/>
              </a:lnSpc>
            </a:pPr>
            <a:r>
              <a:rPr lang="zh-CN" altLang="en-US"/>
              <a:t>当多个用户需要共享文件时，可以将共享文件链接到多个用户的目录中，如右图所示。</a:t>
            </a:r>
          </a:p>
          <a:p>
            <a:pPr algn="just" eaLnBrk="1" hangingPunct="1">
              <a:lnSpc>
                <a:spcPct val="90000"/>
              </a:lnSpc>
            </a:pPr>
            <a:r>
              <a:rPr lang="zh-CN" altLang="en-US"/>
              <a:t>图中</a:t>
            </a:r>
            <a:r>
              <a:rPr lang="en-US" altLang="zh-CN"/>
              <a:t>H</a:t>
            </a:r>
            <a:r>
              <a:rPr lang="zh-CN" altLang="en-US"/>
              <a:t>的一个文件现在也出现在</a:t>
            </a:r>
            <a:r>
              <a:rPr lang="en-US" altLang="zh-CN"/>
              <a:t>D</a:t>
            </a:r>
            <a:r>
              <a:rPr lang="zh-CN" altLang="en-US"/>
              <a:t>的目录下，</a:t>
            </a:r>
            <a:r>
              <a:rPr lang="en-US" altLang="zh-CN"/>
              <a:t>D</a:t>
            </a:r>
            <a:r>
              <a:rPr lang="zh-CN" altLang="en-US"/>
              <a:t>称为该共享文件的一个链接。</a:t>
            </a:r>
            <a:endParaRPr lang="zh-CN" altLang="en-US" sz="2800"/>
          </a:p>
        </p:txBody>
      </p:sp>
      <p:sp>
        <p:nvSpPr>
          <p:cNvPr id="23555" name="Rectangle 4">
            <a:extLst>
              <a:ext uri="{FF2B5EF4-FFF2-40B4-BE49-F238E27FC236}">
                <a16:creationId xmlns:a16="http://schemas.microsoft.com/office/drawing/2014/main" id="{8D40030F-FD3C-9FA1-F515-19D1B15364F1}"/>
              </a:ext>
            </a:extLst>
          </p:cNvPr>
          <p:cNvSpPr>
            <a:spLocks noChangeArrowheads="1"/>
          </p:cNvSpPr>
          <p:nvPr/>
        </p:nvSpPr>
        <p:spPr bwMode="auto">
          <a:xfrm>
            <a:off x="6437313" y="1752600"/>
            <a:ext cx="344487" cy="280988"/>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23556" name="Rectangle 5">
            <a:extLst>
              <a:ext uri="{FF2B5EF4-FFF2-40B4-BE49-F238E27FC236}">
                <a16:creationId xmlns:a16="http://schemas.microsoft.com/office/drawing/2014/main" id="{EEA82E6E-BBCA-37BC-41FA-33B6EA93741B}"/>
              </a:ext>
            </a:extLst>
          </p:cNvPr>
          <p:cNvSpPr>
            <a:spLocks noChangeArrowheads="1"/>
          </p:cNvSpPr>
          <p:nvPr/>
        </p:nvSpPr>
        <p:spPr bwMode="auto">
          <a:xfrm>
            <a:off x="6958013" y="1752600"/>
            <a:ext cx="89058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72000" tIns="10800" rIns="72000" bIns="10800"/>
          <a:lstStyle/>
          <a:p>
            <a:pPr algn="just" eaLnBrk="0" hangingPunct="0"/>
            <a:r>
              <a:rPr lang="zh-CN" altLang="en-US" sz="1800">
                <a:latin typeface="Times New Roman" panose="02020603050405020304" pitchFamily="18" charset="0"/>
              </a:rPr>
              <a:t>根目录</a:t>
            </a:r>
          </a:p>
        </p:txBody>
      </p:sp>
      <p:sp>
        <p:nvSpPr>
          <p:cNvPr id="23557" name="Rectangle 6">
            <a:extLst>
              <a:ext uri="{FF2B5EF4-FFF2-40B4-BE49-F238E27FC236}">
                <a16:creationId xmlns:a16="http://schemas.microsoft.com/office/drawing/2014/main" id="{D9338F6F-826F-F3C2-7F36-D33575BAB9D1}"/>
              </a:ext>
            </a:extLst>
          </p:cNvPr>
          <p:cNvSpPr>
            <a:spLocks noChangeArrowheads="1"/>
          </p:cNvSpPr>
          <p:nvPr/>
        </p:nvSpPr>
        <p:spPr bwMode="auto">
          <a:xfrm>
            <a:off x="5029200" y="2474913"/>
            <a:ext cx="342900"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A</a:t>
            </a:r>
          </a:p>
        </p:txBody>
      </p:sp>
      <p:sp>
        <p:nvSpPr>
          <p:cNvPr id="23558" name="Rectangle 7">
            <a:extLst>
              <a:ext uri="{FF2B5EF4-FFF2-40B4-BE49-F238E27FC236}">
                <a16:creationId xmlns:a16="http://schemas.microsoft.com/office/drawing/2014/main" id="{3F4B5AF1-E0F1-1B83-E686-7571283AFF69}"/>
              </a:ext>
            </a:extLst>
          </p:cNvPr>
          <p:cNvSpPr>
            <a:spLocks noChangeArrowheads="1"/>
          </p:cNvSpPr>
          <p:nvPr/>
        </p:nvSpPr>
        <p:spPr bwMode="auto">
          <a:xfrm>
            <a:off x="6413500" y="2474913"/>
            <a:ext cx="344488"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B</a:t>
            </a:r>
          </a:p>
        </p:txBody>
      </p:sp>
      <p:sp>
        <p:nvSpPr>
          <p:cNvPr id="23559" name="Rectangle 8">
            <a:extLst>
              <a:ext uri="{FF2B5EF4-FFF2-40B4-BE49-F238E27FC236}">
                <a16:creationId xmlns:a16="http://schemas.microsoft.com/office/drawing/2014/main" id="{B8000310-9D9F-CC28-AB40-4917E55B5803}"/>
              </a:ext>
            </a:extLst>
          </p:cNvPr>
          <p:cNvSpPr>
            <a:spLocks noChangeArrowheads="1"/>
          </p:cNvSpPr>
          <p:nvPr/>
        </p:nvSpPr>
        <p:spPr bwMode="auto">
          <a:xfrm>
            <a:off x="8283575" y="2474913"/>
            <a:ext cx="344488"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C</a:t>
            </a:r>
          </a:p>
        </p:txBody>
      </p:sp>
      <p:sp>
        <p:nvSpPr>
          <p:cNvPr id="23560" name="Rectangle 9">
            <a:extLst>
              <a:ext uri="{FF2B5EF4-FFF2-40B4-BE49-F238E27FC236}">
                <a16:creationId xmlns:a16="http://schemas.microsoft.com/office/drawing/2014/main" id="{DA659AAA-1CF3-0FC1-E6DB-C6F0C199FC06}"/>
              </a:ext>
            </a:extLst>
          </p:cNvPr>
          <p:cNvSpPr>
            <a:spLocks noChangeArrowheads="1"/>
          </p:cNvSpPr>
          <p:nvPr/>
        </p:nvSpPr>
        <p:spPr bwMode="auto">
          <a:xfrm>
            <a:off x="5751513" y="3246438"/>
            <a:ext cx="344487"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D</a:t>
            </a:r>
          </a:p>
        </p:txBody>
      </p:sp>
      <p:sp>
        <p:nvSpPr>
          <p:cNvPr id="23561" name="Rectangle 10">
            <a:extLst>
              <a:ext uri="{FF2B5EF4-FFF2-40B4-BE49-F238E27FC236}">
                <a16:creationId xmlns:a16="http://schemas.microsoft.com/office/drawing/2014/main" id="{2C638FCA-A1AD-EADA-523F-4C74D7C8D474}"/>
              </a:ext>
            </a:extLst>
          </p:cNvPr>
          <p:cNvSpPr>
            <a:spLocks noChangeArrowheads="1"/>
          </p:cNvSpPr>
          <p:nvPr/>
        </p:nvSpPr>
        <p:spPr bwMode="auto">
          <a:xfrm>
            <a:off x="6780213" y="3246438"/>
            <a:ext cx="344487"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E</a:t>
            </a:r>
          </a:p>
        </p:txBody>
      </p:sp>
      <p:sp>
        <p:nvSpPr>
          <p:cNvPr id="23562" name="Rectangle 11">
            <a:extLst>
              <a:ext uri="{FF2B5EF4-FFF2-40B4-BE49-F238E27FC236}">
                <a16:creationId xmlns:a16="http://schemas.microsoft.com/office/drawing/2014/main" id="{D1F75323-1059-315A-5F04-588A52E3FA97}"/>
              </a:ext>
            </a:extLst>
          </p:cNvPr>
          <p:cNvSpPr>
            <a:spLocks noChangeArrowheads="1"/>
          </p:cNvSpPr>
          <p:nvPr/>
        </p:nvSpPr>
        <p:spPr bwMode="auto">
          <a:xfrm>
            <a:off x="8223250" y="4019550"/>
            <a:ext cx="344488" cy="280988"/>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I</a:t>
            </a:r>
          </a:p>
        </p:txBody>
      </p:sp>
      <p:sp>
        <p:nvSpPr>
          <p:cNvPr id="23563" name="Rectangle 12">
            <a:extLst>
              <a:ext uri="{FF2B5EF4-FFF2-40B4-BE49-F238E27FC236}">
                <a16:creationId xmlns:a16="http://schemas.microsoft.com/office/drawing/2014/main" id="{D8043C35-9607-48C7-8D1B-7590FB1CFA36}"/>
              </a:ext>
            </a:extLst>
          </p:cNvPr>
          <p:cNvSpPr>
            <a:spLocks noChangeArrowheads="1"/>
          </p:cNvSpPr>
          <p:nvPr/>
        </p:nvSpPr>
        <p:spPr bwMode="auto">
          <a:xfrm>
            <a:off x="7962900" y="3246438"/>
            <a:ext cx="344488" cy="282575"/>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F</a:t>
            </a:r>
          </a:p>
        </p:txBody>
      </p:sp>
      <p:sp>
        <p:nvSpPr>
          <p:cNvPr id="23564" name="Rectangle 13">
            <a:extLst>
              <a:ext uri="{FF2B5EF4-FFF2-40B4-BE49-F238E27FC236}">
                <a16:creationId xmlns:a16="http://schemas.microsoft.com/office/drawing/2014/main" id="{9271FF5E-39D6-B75C-6978-F175DC1D6B62}"/>
              </a:ext>
            </a:extLst>
          </p:cNvPr>
          <p:cNvSpPr>
            <a:spLocks noChangeArrowheads="1"/>
          </p:cNvSpPr>
          <p:nvPr/>
        </p:nvSpPr>
        <p:spPr bwMode="auto">
          <a:xfrm>
            <a:off x="7526338" y="4019550"/>
            <a:ext cx="344487" cy="280988"/>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1800">
                <a:latin typeface="Times New Roman" panose="02020603050405020304" pitchFamily="18" charset="0"/>
              </a:rPr>
              <a:t>H</a:t>
            </a:r>
          </a:p>
        </p:txBody>
      </p:sp>
      <p:sp>
        <p:nvSpPr>
          <p:cNvPr id="23565" name="Oval 14">
            <a:extLst>
              <a:ext uri="{FF2B5EF4-FFF2-40B4-BE49-F238E27FC236}">
                <a16:creationId xmlns:a16="http://schemas.microsoft.com/office/drawing/2014/main" id="{B7755297-1965-02C9-A465-5328C9274F8E}"/>
              </a:ext>
            </a:extLst>
          </p:cNvPr>
          <p:cNvSpPr>
            <a:spLocks noChangeArrowheads="1"/>
          </p:cNvSpPr>
          <p:nvPr/>
        </p:nvSpPr>
        <p:spPr bwMode="auto">
          <a:xfrm>
            <a:off x="5040313" y="3200400"/>
            <a:ext cx="314325" cy="323850"/>
          </a:xfrm>
          <a:prstGeom prst="ellipse">
            <a:avLst/>
          </a:prstGeom>
          <a:solidFill>
            <a:srgbClr val="FFFFFF"/>
          </a:solidFill>
          <a:ln w="25400">
            <a:solidFill>
              <a:srgbClr val="000000"/>
            </a:solidFill>
            <a:round/>
            <a:headEnd/>
            <a:tailEnd type="none" w="sm" len="med"/>
          </a:ln>
        </p:spPr>
        <p:txBody>
          <a:bodyPr lIns="72000" tIns="0" rIns="72000" bIns="10800"/>
          <a:lstStyle/>
          <a:p>
            <a:pPr algn="ctr" eaLnBrk="0" hangingPunct="0"/>
            <a:endParaRPr lang="zh-CN" altLang="en-US" sz="900">
              <a:latin typeface="Times New Roman" panose="02020603050405020304" pitchFamily="18" charset="0"/>
            </a:endParaRPr>
          </a:p>
        </p:txBody>
      </p:sp>
      <p:sp>
        <p:nvSpPr>
          <p:cNvPr id="23566" name="Oval 15">
            <a:extLst>
              <a:ext uri="{FF2B5EF4-FFF2-40B4-BE49-F238E27FC236}">
                <a16:creationId xmlns:a16="http://schemas.microsoft.com/office/drawing/2014/main" id="{0F661C1F-4ABE-2559-0054-739AF0C9C1F0}"/>
              </a:ext>
            </a:extLst>
          </p:cNvPr>
          <p:cNvSpPr>
            <a:spLocks noChangeArrowheads="1"/>
          </p:cNvSpPr>
          <p:nvPr/>
        </p:nvSpPr>
        <p:spPr bwMode="auto">
          <a:xfrm>
            <a:off x="6804025" y="3922713"/>
            <a:ext cx="312738" cy="325437"/>
          </a:xfrm>
          <a:prstGeom prst="ellipse">
            <a:avLst/>
          </a:prstGeom>
          <a:solidFill>
            <a:srgbClr val="FFFFFF"/>
          </a:solidFill>
          <a:ln w="25400">
            <a:solidFill>
              <a:srgbClr val="000000"/>
            </a:solidFill>
            <a:round/>
            <a:headEnd/>
            <a:tailEnd type="none" w="sm" len="med"/>
          </a:ln>
        </p:spPr>
        <p:txBody>
          <a:bodyPr lIns="72000" tIns="0" rIns="72000" bIns="10800"/>
          <a:lstStyle/>
          <a:p>
            <a:pPr algn="ctr" eaLnBrk="0" hangingPunct="0"/>
            <a:endParaRPr lang="zh-CN" altLang="en-US" sz="900">
              <a:latin typeface="Times New Roman" panose="02020603050405020304" pitchFamily="18" charset="0"/>
            </a:endParaRPr>
          </a:p>
        </p:txBody>
      </p:sp>
      <p:sp>
        <p:nvSpPr>
          <p:cNvPr id="23567" name="Oval 16">
            <a:extLst>
              <a:ext uri="{FF2B5EF4-FFF2-40B4-BE49-F238E27FC236}">
                <a16:creationId xmlns:a16="http://schemas.microsoft.com/office/drawing/2014/main" id="{43D9AE61-C951-3B40-7A23-BA4DB0B0CBEC}"/>
              </a:ext>
            </a:extLst>
          </p:cNvPr>
          <p:cNvSpPr>
            <a:spLocks noChangeArrowheads="1"/>
          </p:cNvSpPr>
          <p:nvPr/>
        </p:nvSpPr>
        <p:spPr bwMode="auto">
          <a:xfrm>
            <a:off x="6470650" y="4657725"/>
            <a:ext cx="357188" cy="371475"/>
          </a:xfrm>
          <a:prstGeom prst="ellipse">
            <a:avLst/>
          </a:prstGeom>
          <a:solidFill>
            <a:srgbClr val="C0C0C0"/>
          </a:solidFill>
          <a:ln w="25400">
            <a:solidFill>
              <a:srgbClr val="000000"/>
            </a:solidFill>
            <a:round/>
            <a:headEnd/>
            <a:tailEnd type="none" w="sm" len="med"/>
          </a:ln>
        </p:spPr>
        <p:txBody>
          <a:bodyPr lIns="72000" tIns="10800" rIns="72000" bIns="10800"/>
          <a:lstStyle/>
          <a:p>
            <a:pPr algn="ctr" eaLnBrk="0" hangingPunct="0"/>
            <a:endParaRPr lang="zh-CN" altLang="en-US" sz="900">
              <a:latin typeface="Times New Roman" panose="02020603050405020304" pitchFamily="18" charset="0"/>
            </a:endParaRPr>
          </a:p>
        </p:txBody>
      </p:sp>
      <p:sp>
        <p:nvSpPr>
          <p:cNvPr id="23568" name="Oval 17">
            <a:extLst>
              <a:ext uri="{FF2B5EF4-FFF2-40B4-BE49-F238E27FC236}">
                <a16:creationId xmlns:a16="http://schemas.microsoft.com/office/drawing/2014/main" id="{0694D5E6-A1B4-4472-9076-3C81F1219C9F}"/>
              </a:ext>
            </a:extLst>
          </p:cNvPr>
          <p:cNvSpPr>
            <a:spLocks noChangeArrowheads="1"/>
          </p:cNvSpPr>
          <p:nvPr/>
        </p:nvSpPr>
        <p:spPr bwMode="auto">
          <a:xfrm>
            <a:off x="8602663" y="4646613"/>
            <a:ext cx="312737" cy="323850"/>
          </a:xfrm>
          <a:prstGeom prst="ellipse">
            <a:avLst/>
          </a:prstGeom>
          <a:solidFill>
            <a:srgbClr val="FFFFFF"/>
          </a:solidFill>
          <a:ln w="25400">
            <a:solidFill>
              <a:srgbClr val="000000"/>
            </a:solidFill>
            <a:round/>
            <a:headEnd/>
            <a:tailEnd type="none" w="sm" len="med"/>
          </a:ln>
        </p:spPr>
        <p:txBody>
          <a:bodyPr lIns="72000" tIns="0" rIns="72000" bIns="10800"/>
          <a:lstStyle/>
          <a:p>
            <a:pPr algn="just" eaLnBrk="0" hangingPunct="0"/>
            <a:endParaRPr lang="zh-CN" altLang="en-US" sz="900">
              <a:latin typeface="Times New Roman" panose="02020603050405020304" pitchFamily="18" charset="0"/>
            </a:endParaRPr>
          </a:p>
        </p:txBody>
      </p:sp>
      <p:sp>
        <p:nvSpPr>
          <p:cNvPr id="23569" name="Line 18">
            <a:extLst>
              <a:ext uri="{FF2B5EF4-FFF2-40B4-BE49-F238E27FC236}">
                <a16:creationId xmlns:a16="http://schemas.microsoft.com/office/drawing/2014/main" id="{EA7A9F99-6697-5CB2-1A6C-FBB6BB2AB65E}"/>
              </a:ext>
            </a:extLst>
          </p:cNvPr>
          <p:cNvSpPr>
            <a:spLocks noChangeShapeType="1"/>
          </p:cNvSpPr>
          <p:nvPr/>
        </p:nvSpPr>
        <p:spPr bwMode="auto">
          <a:xfrm flipH="1">
            <a:off x="5194300" y="2033588"/>
            <a:ext cx="1301750" cy="4413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0" name="Line 19">
            <a:extLst>
              <a:ext uri="{FF2B5EF4-FFF2-40B4-BE49-F238E27FC236}">
                <a16:creationId xmlns:a16="http://schemas.microsoft.com/office/drawing/2014/main" id="{19A1E6C7-C329-5065-5E33-49AD4615EA52}"/>
              </a:ext>
            </a:extLst>
          </p:cNvPr>
          <p:cNvSpPr>
            <a:spLocks noChangeShapeType="1"/>
          </p:cNvSpPr>
          <p:nvPr/>
        </p:nvSpPr>
        <p:spPr bwMode="auto">
          <a:xfrm>
            <a:off x="6591300" y="2033588"/>
            <a:ext cx="0" cy="4413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1" name="Line 20">
            <a:extLst>
              <a:ext uri="{FF2B5EF4-FFF2-40B4-BE49-F238E27FC236}">
                <a16:creationId xmlns:a16="http://schemas.microsoft.com/office/drawing/2014/main" id="{5371A21F-0BC2-9B7B-58A4-8FDD4FEF4770}"/>
              </a:ext>
            </a:extLst>
          </p:cNvPr>
          <p:cNvSpPr>
            <a:spLocks noChangeShapeType="1"/>
          </p:cNvSpPr>
          <p:nvPr/>
        </p:nvSpPr>
        <p:spPr bwMode="auto">
          <a:xfrm>
            <a:off x="6708775" y="2033588"/>
            <a:ext cx="1774825" cy="4413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2" name="Line 21">
            <a:extLst>
              <a:ext uri="{FF2B5EF4-FFF2-40B4-BE49-F238E27FC236}">
                <a16:creationId xmlns:a16="http://schemas.microsoft.com/office/drawing/2014/main" id="{89EBEB27-F70C-9884-081B-774928FCA78F}"/>
              </a:ext>
            </a:extLst>
          </p:cNvPr>
          <p:cNvSpPr>
            <a:spLocks noChangeShapeType="1"/>
          </p:cNvSpPr>
          <p:nvPr/>
        </p:nvSpPr>
        <p:spPr bwMode="auto">
          <a:xfrm>
            <a:off x="5194300" y="2757488"/>
            <a:ext cx="0" cy="4524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3" name="Line 22">
            <a:extLst>
              <a:ext uri="{FF2B5EF4-FFF2-40B4-BE49-F238E27FC236}">
                <a16:creationId xmlns:a16="http://schemas.microsoft.com/office/drawing/2014/main" id="{9E54F438-C1BB-E495-95B2-DE57C2E3A733}"/>
              </a:ext>
            </a:extLst>
          </p:cNvPr>
          <p:cNvSpPr>
            <a:spLocks noChangeShapeType="1"/>
          </p:cNvSpPr>
          <p:nvPr/>
        </p:nvSpPr>
        <p:spPr bwMode="auto">
          <a:xfrm flipH="1">
            <a:off x="5975350" y="2757488"/>
            <a:ext cx="496888" cy="4889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4" name="Line 23">
            <a:extLst>
              <a:ext uri="{FF2B5EF4-FFF2-40B4-BE49-F238E27FC236}">
                <a16:creationId xmlns:a16="http://schemas.microsoft.com/office/drawing/2014/main" id="{5EF3FCB0-5418-D228-4A33-29750E0468EF}"/>
              </a:ext>
            </a:extLst>
          </p:cNvPr>
          <p:cNvSpPr>
            <a:spLocks noChangeShapeType="1"/>
          </p:cNvSpPr>
          <p:nvPr/>
        </p:nvSpPr>
        <p:spPr bwMode="auto">
          <a:xfrm>
            <a:off x="6578600" y="2757488"/>
            <a:ext cx="355600" cy="50006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5" name="Line 24">
            <a:extLst>
              <a:ext uri="{FF2B5EF4-FFF2-40B4-BE49-F238E27FC236}">
                <a16:creationId xmlns:a16="http://schemas.microsoft.com/office/drawing/2014/main" id="{9B96DDFD-6840-E913-6A1B-764EF91410AD}"/>
              </a:ext>
            </a:extLst>
          </p:cNvPr>
          <p:cNvSpPr>
            <a:spLocks noChangeShapeType="1"/>
          </p:cNvSpPr>
          <p:nvPr/>
        </p:nvSpPr>
        <p:spPr bwMode="auto">
          <a:xfrm>
            <a:off x="6958013" y="3541713"/>
            <a:ext cx="0" cy="3937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6" name="Line 25">
            <a:extLst>
              <a:ext uri="{FF2B5EF4-FFF2-40B4-BE49-F238E27FC236}">
                <a16:creationId xmlns:a16="http://schemas.microsoft.com/office/drawing/2014/main" id="{0B9453DD-E62F-4D45-A191-AB5CA406D6D1}"/>
              </a:ext>
            </a:extLst>
          </p:cNvPr>
          <p:cNvSpPr>
            <a:spLocks noChangeShapeType="1"/>
          </p:cNvSpPr>
          <p:nvPr/>
        </p:nvSpPr>
        <p:spPr bwMode="auto">
          <a:xfrm flipH="1">
            <a:off x="8129588" y="2757488"/>
            <a:ext cx="271462" cy="4889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7" name="Line 26">
            <a:extLst>
              <a:ext uri="{FF2B5EF4-FFF2-40B4-BE49-F238E27FC236}">
                <a16:creationId xmlns:a16="http://schemas.microsoft.com/office/drawing/2014/main" id="{66760A6C-11AC-EAD5-F8F1-23390919E7FD}"/>
              </a:ext>
            </a:extLst>
          </p:cNvPr>
          <p:cNvSpPr>
            <a:spLocks noChangeShapeType="1"/>
          </p:cNvSpPr>
          <p:nvPr/>
        </p:nvSpPr>
        <p:spPr bwMode="auto">
          <a:xfrm flipH="1">
            <a:off x="7678738" y="3529013"/>
            <a:ext cx="403225" cy="4905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27">
            <a:extLst>
              <a:ext uri="{FF2B5EF4-FFF2-40B4-BE49-F238E27FC236}">
                <a16:creationId xmlns:a16="http://schemas.microsoft.com/office/drawing/2014/main" id="{230F83D4-F977-59DC-BC12-DD579AEBE29D}"/>
              </a:ext>
            </a:extLst>
          </p:cNvPr>
          <p:cNvSpPr>
            <a:spLocks noChangeShapeType="1"/>
          </p:cNvSpPr>
          <p:nvPr/>
        </p:nvSpPr>
        <p:spPr bwMode="auto">
          <a:xfrm>
            <a:off x="8212138" y="3529013"/>
            <a:ext cx="212725" cy="49053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66620" name="Line 28">
            <a:extLst>
              <a:ext uri="{FF2B5EF4-FFF2-40B4-BE49-F238E27FC236}">
                <a16:creationId xmlns:a16="http://schemas.microsoft.com/office/drawing/2014/main" id="{05FD13F0-DA93-6822-52EE-15A60D1FC1F9}"/>
              </a:ext>
            </a:extLst>
          </p:cNvPr>
          <p:cNvSpPr>
            <a:spLocks noChangeShapeType="1"/>
          </p:cNvSpPr>
          <p:nvPr/>
        </p:nvSpPr>
        <p:spPr bwMode="auto">
          <a:xfrm>
            <a:off x="5999163" y="3529013"/>
            <a:ext cx="579437" cy="1139825"/>
          </a:xfrm>
          <a:prstGeom prst="line">
            <a:avLst/>
          </a:prstGeom>
          <a:noFill/>
          <a:ln w="25400">
            <a:solidFill>
              <a:schemeClr val="hlink"/>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80" name="Line 29">
            <a:extLst>
              <a:ext uri="{FF2B5EF4-FFF2-40B4-BE49-F238E27FC236}">
                <a16:creationId xmlns:a16="http://schemas.microsoft.com/office/drawing/2014/main" id="{E70EBAF5-E12A-1102-2262-31182F7E7369}"/>
              </a:ext>
            </a:extLst>
          </p:cNvPr>
          <p:cNvSpPr>
            <a:spLocks noChangeShapeType="1"/>
          </p:cNvSpPr>
          <p:nvPr/>
        </p:nvSpPr>
        <p:spPr bwMode="auto">
          <a:xfrm flipH="1">
            <a:off x="6732588" y="4313238"/>
            <a:ext cx="876300" cy="36671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3581" name="Line 30">
            <a:extLst>
              <a:ext uri="{FF2B5EF4-FFF2-40B4-BE49-F238E27FC236}">
                <a16:creationId xmlns:a16="http://schemas.microsoft.com/office/drawing/2014/main" id="{71F8057A-D8D1-90FC-CE00-AD93167AABC0}"/>
              </a:ext>
            </a:extLst>
          </p:cNvPr>
          <p:cNvSpPr>
            <a:spLocks noChangeShapeType="1"/>
          </p:cNvSpPr>
          <p:nvPr/>
        </p:nvSpPr>
        <p:spPr bwMode="auto">
          <a:xfrm>
            <a:off x="8483600" y="4300538"/>
            <a:ext cx="212725" cy="3683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Effect transition="in" filter="checkerboard(across)">
                                      <p:cBhvr>
                                        <p:cTn id="7" dur="500"/>
                                        <p:tgtEl>
                                          <p:spTgt spid="366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nodeType="clickEffect">
                                  <p:stCondLst>
                                    <p:cond delay="0"/>
                                  </p:stCondLst>
                                  <p:childTnLst>
                                    <p:set>
                                      <p:cBhvr>
                                        <p:cTn id="11" dur="1" fill="hold">
                                          <p:stCondLst>
                                            <p:cond delay="0"/>
                                          </p:stCondLst>
                                        </p:cTn>
                                        <p:tgtEl>
                                          <p:spTgt spid="366620"/>
                                        </p:tgtEl>
                                        <p:attrNameLst>
                                          <p:attrName>style.visibility</p:attrName>
                                        </p:attrNameLst>
                                      </p:cBhvr>
                                      <p:to>
                                        <p:strVal val="visible"/>
                                      </p:to>
                                    </p:set>
                                    <p:anim calcmode="lin" valueType="num">
                                      <p:cBhvr>
                                        <p:cTn id="12" dur="3000" fill="hold"/>
                                        <p:tgtEl>
                                          <p:spTgt spid="366620"/>
                                        </p:tgtEl>
                                        <p:attrNameLst>
                                          <p:attrName>ppt_x</p:attrName>
                                        </p:attrNameLst>
                                      </p:cBhvr>
                                      <p:tavLst>
                                        <p:tav tm="0">
                                          <p:val>
                                            <p:strVal val="#ppt_x"/>
                                          </p:val>
                                        </p:tav>
                                        <p:tav tm="100000">
                                          <p:val>
                                            <p:strVal val="#ppt_x"/>
                                          </p:val>
                                        </p:tav>
                                      </p:tavLst>
                                    </p:anim>
                                    <p:anim calcmode="lin" valueType="num">
                                      <p:cBhvr>
                                        <p:cTn id="13" dur="3000" fill="hold"/>
                                        <p:tgtEl>
                                          <p:spTgt spid="366620"/>
                                        </p:tgtEl>
                                        <p:attrNameLst>
                                          <p:attrName>ppt_y</p:attrName>
                                        </p:attrNameLst>
                                      </p:cBhvr>
                                      <p:tavLst>
                                        <p:tav tm="0">
                                          <p:val>
                                            <p:strVal val="#ppt_y-#ppt_h/2"/>
                                          </p:val>
                                        </p:tav>
                                        <p:tav tm="100000">
                                          <p:val>
                                            <p:strVal val="#ppt_y"/>
                                          </p:val>
                                        </p:tav>
                                      </p:tavLst>
                                    </p:anim>
                                    <p:anim calcmode="lin" valueType="num">
                                      <p:cBhvr>
                                        <p:cTn id="14" dur="3000" fill="hold"/>
                                        <p:tgtEl>
                                          <p:spTgt spid="366620"/>
                                        </p:tgtEl>
                                        <p:attrNameLst>
                                          <p:attrName>ppt_w</p:attrName>
                                        </p:attrNameLst>
                                      </p:cBhvr>
                                      <p:tavLst>
                                        <p:tav tm="0">
                                          <p:val>
                                            <p:strVal val="#ppt_w"/>
                                          </p:val>
                                        </p:tav>
                                        <p:tav tm="100000">
                                          <p:val>
                                            <p:strVal val="#ppt_w"/>
                                          </p:val>
                                        </p:tav>
                                      </p:tavLst>
                                    </p:anim>
                                    <p:anim calcmode="lin" valueType="num">
                                      <p:cBhvr>
                                        <p:cTn id="15" dur="3000" fill="hold"/>
                                        <p:tgtEl>
                                          <p:spTgt spid="366620"/>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366595">
                                            <p:txEl>
                                              <p:pRg st="1" end="1"/>
                                            </p:txEl>
                                          </p:spTgt>
                                        </p:tgtEl>
                                        <p:attrNameLst>
                                          <p:attrName>style.visibility</p:attrName>
                                        </p:attrNameLst>
                                      </p:cBhvr>
                                      <p:to>
                                        <p:strVal val="visible"/>
                                      </p:to>
                                    </p:set>
                                    <p:animEffect transition="in" filter="checkerboard(across)">
                                      <p:cBhvr>
                                        <p:cTn id="20" dur="500"/>
                                        <p:tgtEl>
                                          <p:spTgt spid="3665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B7DC7323-0493-5B21-D821-06126ADB2D55}"/>
              </a:ext>
            </a:extLst>
          </p:cNvPr>
          <p:cNvSpPr>
            <a:spLocks noGrp="1" noChangeArrowheads="1"/>
          </p:cNvSpPr>
          <p:nvPr>
            <p:ph type="title"/>
          </p:nvPr>
        </p:nvSpPr>
        <p:spPr/>
        <p:txBody>
          <a:bodyPr/>
          <a:lstStyle/>
          <a:p>
            <a:pPr eaLnBrk="1" hangingPunct="1"/>
            <a:r>
              <a:rPr lang="zh-CN" altLang="en-US"/>
              <a:t>文件共享中存在的问题</a:t>
            </a:r>
          </a:p>
        </p:txBody>
      </p:sp>
      <p:sp>
        <p:nvSpPr>
          <p:cNvPr id="367619" name="Rectangle 3">
            <a:extLst>
              <a:ext uri="{FF2B5EF4-FFF2-40B4-BE49-F238E27FC236}">
                <a16:creationId xmlns:a16="http://schemas.microsoft.com/office/drawing/2014/main" id="{BA77B29A-1976-67AE-6B6C-A085BB7EFAB5}"/>
              </a:ext>
            </a:extLst>
          </p:cNvPr>
          <p:cNvSpPr>
            <a:spLocks noGrp="1" noChangeArrowheads="1"/>
          </p:cNvSpPr>
          <p:nvPr>
            <p:ph idx="1"/>
          </p:nvPr>
        </p:nvSpPr>
        <p:spPr>
          <a:xfrm>
            <a:off x="900113" y="1268413"/>
            <a:ext cx="8054975" cy="4860925"/>
          </a:xfrm>
        </p:spPr>
        <p:txBody>
          <a:bodyPr/>
          <a:lstStyle/>
          <a:p>
            <a:pPr algn="just" eaLnBrk="1" hangingPunct="1"/>
            <a:r>
              <a:rPr lang="zh-CN" altLang="en-US"/>
              <a:t>用链接实现文件共享很方便，但也带来一些问题。</a:t>
            </a:r>
          </a:p>
          <a:p>
            <a:pPr algn="just" eaLnBrk="1" hangingPunct="1"/>
            <a:r>
              <a:rPr lang="zh-CN" altLang="en-US"/>
              <a:t>如目录中包含文件的物理地址，则在链接文件时要将文件的物理地址复制到</a:t>
            </a:r>
            <a:r>
              <a:rPr lang="en-US" altLang="zh-CN"/>
              <a:t>D</a:t>
            </a:r>
            <a:r>
              <a:rPr lang="zh-CN" altLang="en-US"/>
              <a:t>目录中。但若随后通过</a:t>
            </a:r>
            <a:r>
              <a:rPr lang="en-US" altLang="zh-CN"/>
              <a:t>D</a:t>
            </a:r>
            <a:r>
              <a:rPr lang="zh-CN" altLang="en-US"/>
              <a:t>或</a:t>
            </a:r>
            <a:r>
              <a:rPr lang="en-US" altLang="zh-CN"/>
              <a:t>H</a:t>
            </a:r>
            <a:r>
              <a:rPr lang="zh-CN" altLang="en-US"/>
              <a:t>往该文件中添加内容，则新数据块将只会出现在进行添加操作的目录中，这种改变对其他目录而言是不可见的，因而新增加的这部分内容不能被共享。</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checkerboard(across)">
                                      <p:cBhvr>
                                        <p:cTn id="7" dur="500"/>
                                        <p:tgtEl>
                                          <p:spTgt spid="367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checkerboard(across)">
                                      <p:cBhvr>
                                        <p:cTn id="12" dur="500"/>
                                        <p:tgtEl>
                                          <p:spTgt spid="367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0D2E361-2FA0-9AF5-EDF9-E06A6CAEB4F9}"/>
              </a:ext>
            </a:extLst>
          </p:cNvPr>
          <p:cNvSpPr>
            <a:spLocks noGrp="1" noChangeArrowheads="1"/>
          </p:cNvSpPr>
          <p:nvPr>
            <p:ph type="title"/>
          </p:nvPr>
        </p:nvSpPr>
        <p:spPr/>
        <p:txBody>
          <a:bodyPr/>
          <a:lstStyle/>
          <a:p>
            <a:pPr eaLnBrk="1" hangingPunct="1"/>
            <a:r>
              <a:rPr lang="zh-CN" altLang="en-US"/>
              <a:t>解决办法</a:t>
            </a:r>
          </a:p>
        </p:txBody>
      </p:sp>
      <p:sp>
        <p:nvSpPr>
          <p:cNvPr id="368643" name="Rectangle 3">
            <a:extLst>
              <a:ext uri="{FF2B5EF4-FFF2-40B4-BE49-F238E27FC236}">
                <a16:creationId xmlns:a16="http://schemas.microsoft.com/office/drawing/2014/main" id="{1C81E47A-59B8-834A-10AB-0D0038838697}"/>
              </a:ext>
            </a:extLst>
          </p:cNvPr>
          <p:cNvSpPr>
            <a:spLocks noGrp="1" noChangeArrowheads="1"/>
          </p:cNvSpPr>
          <p:nvPr>
            <p:ph idx="1"/>
          </p:nvPr>
        </p:nvSpPr>
        <p:spPr>
          <a:xfrm>
            <a:off x="827088" y="1198563"/>
            <a:ext cx="8128000" cy="4535487"/>
          </a:xfrm>
        </p:spPr>
        <p:txBody>
          <a:bodyPr/>
          <a:lstStyle/>
          <a:p>
            <a:pPr algn="just" eaLnBrk="1" hangingPunct="1"/>
            <a:r>
              <a:rPr lang="zh-CN" altLang="en-US"/>
              <a:t>为了解决这个问题，可以将文件说明中的文件名和文件属性信息分开。</a:t>
            </a:r>
          </a:p>
          <a:p>
            <a:pPr algn="just" eaLnBrk="1" hangingPunct="1"/>
            <a:r>
              <a:rPr lang="zh-CN" altLang="en-US">
                <a:solidFill>
                  <a:srgbClr val="FF0000"/>
                </a:solidFill>
              </a:rPr>
              <a:t>索引节点</a:t>
            </a:r>
            <a:r>
              <a:rPr lang="zh-CN" altLang="en-US"/>
              <a:t>：文件属性信息构成的数据结构，又称</a:t>
            </a:r>
            <a:r>
              <a:rPr lang="en-US" altLang="zh-CN"/>
              <a:t>i</a:t>
            </a:r>
            <a:r>
              <a:rPr lang="zh-CN" altLang="en-US"/>
              <a:t>节点。</a:t>
            </a:r>
          </a:p>
          <a:p>
            <a:pPr algn="just" eaLnBrk="1" hangingPunct="1"/>
            <a:r>
              <a:rPr lang="zh-CN" altLang="en-US"/>
              <a:t>采用这种实现方案，文件目录项仅由文件名和索引节点号构成。</a:t>
            </a:r>
          </a:p>
          <a:p>
            <a:pPr algn="just" eaLnBrk="1" hangingPunct="1"/>
            <a:r>
              <a:rPr lang="zh-CN" altLang="en-US"/>
              <a:t>引入索引节点后可以减少查找文件的时间开销。</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checkerboard(across)">
                                      <p:cBhvr>
                                        <p:cTn id="7" dur="500"/>
                                        <p:tgtEl>
                                          <p:spTgt spid="368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8643">
                                            <p:txEl>
                                              <p:pRg st="1" end="1"/>
                                            </p:txEl>
                                          </p:spTgt>
                                        </p:tgtEl>
                                        <p:attrNameLst>
                                          <p:attrName>style.visibility</p:attrName>
                                        </p:attrNameLst>
                                      </p:cBhvr>
                                      <p:to>
                                        <p:strVal val="visible"/>
                                      </p:to>
                                    </p:set>
                                    <p:animEffect transition="in" filter="checkerboard(across)">
                                      <p:cBhvr>
                                        <p:cTn id="12" dur="500"/>
                                        <p:tgtEl>
                                          <p:spTgt spid="3686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68643">
                                            <p:txEl>
                                              <p:pRg st="2" end="2"/>
                                            </p:txEl>
                                          </p:spTgt>
                                        </p:tgtEl>
                                        <p:attrNameLst>
                                          <p:attrName>style.visibility</p:attrName>
                                        </p:attrNameLst>
                                      </p:cBhvr>
                                      <p:to>
                                        <p:strVal val="visible"/>
                                      </p:to>
                                    </p:set>
                                    <p:animEffect transition="in" filter="checkerboard(across)">
                                      <p:cBhvr>
                                        <p:cTn id="17" dur="500"/>
                                        <p:tgtEl>
                                          <p:spTgt spid="3686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68643">
                                            <p:txEl>
                                              <p:pRg st="3" end="3"/>
                                            </p:txEl>
                                          </p:spTgt>
                                        </p:tgtEl>
                                        <p:attrNameLst>
                                          <p:attrName>style.visibility</p:attrName>
                                        </p:attrNameLst>
                                      </p:cBhvr>
                                      <p:to>
                                        <p:strVal val="visible"/>
                                      </p:to>
                                    </p:set>
                                    <p:animEffect transition="in" filter="checkerboard(across)">
                                      <p:cBhvr>
                                        <p:cTn id="22" dur="500"/>
                                        <p:tgtEl>
                                          <p:spTgt spid="3686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B33C82C0-9F2B-1AB1-A4EE-FC38EB838FBC}"/>
              </a:ext>
            </a:extLst>
          </p:cNvPr>
          <p:cNvSpPr>
            <a:spLocks noGrp="1" noChangeArrowheads="1"/>
          </p:cNvSpPr>
          <p:nvPr>
            <p:ph type="title"/>
          </p:nvPr>
        </p:nvSpPr>
        <p:spPr/>
        <p:txBody>
          <a:bodyPr/>
          <a:lstStyle/>
          <a:p>
            <a:pPr eaLnBrk="1" hangingPunct="1"/>
            <a:r>
              <a:rPr lang="zh-CN" altLang="en-US"/>
              <a:t>基于索引节点的共享示意图</a:t>
            </a:r>
            <a:endParaRPr lang="en-US" altLang="zh-CN"/>
          </a:p>
        </p:txBody>
      </p:sp>
      <p:sp>
        <p:nvSpPr>
          <p:cNvPr id="26626" name="Rectangle 3">
            <a:extLst>
              <a:ext uri="{FF2B5EF4-FFF2-40B4-BE49-F238E27FC236}">
                <a16:creationId xmlns:a16="http://schemas.microsoft.com/office/drawing/2014/main" id="{7A81E072-964A-53DB-8FEC-71952EB7325C}"/>
              </a:ext>
            </a:extLst>
          </p:cNvPr>
          <p:cNvSpPr>
            <a:spLocks noGrp="1" noChangeArrowheads="1"/>
          </p:cNvSpPr>
          <p:nvPr>
            <p:ph idx="1"/>
          </p:nvPr>
        </p:nvSpPr>
        <p:spPr>
          <a:xfrm>
            <a:off x="3236913" y="4495800"/>
            <a:ext cx="5754687" cy="1219200"/>
          </a:xfrm>
        </p:spPr>
        <p:txBody>
          <a:bodyPr>
            <a:normAutofit lnSpcReduction="10000"/>
          </a:bodyPr>
          <a:lstStyle/>
          <a:p>
            <a:pPr algn="just" eaLnBrk="1" hangingPunct="1">
              <a:lnSpc>
                <a:spcPct val="90000"/>
              </a:lnSpc>
            </a:pPr>
            <a:r>
              <a:rPr lang="zh-CN" altLang="en-US" sz="2800"/>
              <a:t>此时，任何用户对文件的修改都会反映在索引节点中，其他用户可以通过索引节点存取文件。</a:t>
            </a:r>
          </a:p>
        </p:txBody>
      </p:sp>
      <p:sp>
        <p:nvSpPr>
          <p:cNvPr id="26627" name="Rectangle 4">
            <a:extLst>
              <a:ext uri="{FF2B5EF4-FFF2-40B4-BE49-F238E27FC236}">
                <a16:creationId xmlns:a16="http://schemas.microsoft.com/office/drawing/2014/main" id="{D9713B7A-EBA2-AE1B-79EE-581D0E91092F}"/>
              </a:ext>
            </a:extLst>
          </p:cNvPr>
          <p:cNvSpPr>
            <a:spLocks noChangeArrowheads="1"/>
          </p:cNvSpPr>
          <p:nvPr/>
        </p:nvSpPr>
        <p:spPr bwMode="auto">
          <a:xfrm>
            <a:off x="762000" y="1524000"/>
            <a:ext cx="29448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Wang</a:t>
            </a:r>
            <a:r>
              <a:rPr lang="zh-CN" altLang="en-US">
                <a:latin typeface="Times New Roman" panose="02020603050405020304" pitchFamily="18" charset="0"/>
              </a:rPr>
              <a:t>用户文件目录</a:t>
            </a:r>
          </a:p>
        </p:txBody>
      </p:sp>
      <p:sp>
        <p:nvSpPr>
          <p:cNvPr id="26628" name="Rectangle 5">
            <a:extLst>
              <a:ext uri="{FF2B5EF4-FFF2-40B4-BE49-F238E27FC236}">
                <a16:creationId xmlns:a16="http://schemas.microsoft.com/office/drawing/2014/main" id="{B02967E6-799C-5B79-E533-70DA2947A5CC}"/>
              </a:ext>
            </a:extLst>
          </p:cNvPr>
          <p:cNvSpPr>
            <a:spLocks noChangeArrowheads="1"/>
          </p:cNvSpPr>
          <p:nvPr/>
        </p:nvSpPr>
        <p:spPr bwMode="auto">
          <a:xfrm>
            <a:off x="1035050" y="2055813"/>
            <a:ext cx="1731963" cy="1373187"/>
          </a:xfrm>
          <a:prstGeom prst="rect">
            <a:avLst/>
          </a:prstGeom>
          <a:solidFill>
            <a:srgbClr val="FFFFFF"/>
          </a:solidFill>
          <a:ln w="28575">
            <a:solidFill>
              <a:srgbClr val="000000"/>
            </a:solidFill>
            <a:miter lim="800000"/>
            <a:headEnd/>
            <a:tailEnd type="none" w="sm" len="med"/>
          </a:ln>
        </p:spPr>
        <p:txBody>
          <a:bodyPr lIns="72000" tIns="0" rIns="72000" bIns="0"/>
          <a:lstStyle/>
          <a:p>
            <a:pPr algn="just" eaLnBrk="0" hangingPunct="0"/>
            <a:endParaRPr lang="zh-CN" altLang="en-US" sz="800" b="1">
              <a:latin typeface="宋体" panose="02010600030101010101" pitchFamily="2" charset="-122"/>
            </a:endParaRPr>
          </a:p>
          <a:p>
            <a:pPr algn="just" eaLnBrk="0" hangingPunct="0"/>
            <a:r>
              <a:rPr lang="zh-CN" altLang="en-US">
                <a:latin typeface="宋体" panose="02010600030101010101" pitchFamily="2" charset="-122"/>
              </a:rPr>
              <a:t> ┆</a:t>
            </a:r>
          </a:p>
          <a:p>
            <a:pPr algn="just" eaLnBrk="0" hangingPunct="0"/>
            <a:r>
              <a:rPr lang="en-US" altLang="zh-CN">
                <a:latin typeface="Times New Roman" panose="02020603050405020304" pitchFamily="18" charset="0"/>
              </a:rPr>
              <a:t> Testw</a:t>
            </a:r>
          </a:p>
          <a:p>
            <a:pPr algn="just" eaLnBrk="0" hangingPunct="0"/>
            <a:endParaRPr lang="en-US" altLang="zh-CN" sz="800">
              <a:latin typeface="Times New Roman" panose="02020603050405020304" pitchFamily="18" charset="0"/>
            </a:endParaRPr>
          </a:p>
          <a:p>
            <a:pPr algn="just" eaLnBrk="0" hangingPunct="0"/>
            <a:r>
              <a:rPr lang="en-US" altLang="zh-CN">
                <a:latin typeface="宋体" panose="02010600030101010101" pitchFamily="2" charset="-122"/>
              </a:rPr>
              <a:t> ┆</a:t>
            </a:r>
          </a:p>
        </p:txBody>
      </p:sp>
      <p:sp>
        <p:nvSpPr>
          <p:cNvPr id="26629" name="Line 6">
            <a:extLst>
              <a:ext uri="{FF2B5EF4-FFF2-40B4-BE49-F238E27FC236}">
                <a16:creationId xmlns:a16="http://schemas.microsoft.com/office/drawing/2014/main" id="{1F3EB3C9-2E83-74FC-E933-FF7D4B180E2F}"/>
              </a:ext>
            </a:extLst>
          </p:cNvPr>
          <p:cNvSpPr>
            <a:spLocks noChangeShapeType="1"/>
          </p:cNvSpPr>
          <p:nvPr/>
        </p:nvSpPr>
        <p:spPr bwMode="auto">
          <a:xfrm flipV="1">
            <a:off x="1031875" y="2589213"/>
            <a:ext cx="1747838" cy="1587"/>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0" name="Line 7">
            <a:extLst>
              <a:ext uri="{FF2B5EF4-FFF2-40B4-BE49-F238E27FC236}">
                <a16:creationId xmlns:a16="http://schemas.microsoft.com/office/drawing/2014/main" id="{5B9329F0-1C2A-C4CB-7FD2-AEB4DB83CDB5}"/>
              </a:ext>
            </a:extLst>
          </p:cNvPr>
          <p:cNvSpPr>
            <a:spLocks noChangeShapeType="1"/>
          </p:cNvSpPr>
          <p:nvPr/>
        </p:nvSpPr>
        <p:spPr bwMode="auto">
          <a:xfrm>
            <a:off x="2112963" y="2055813"/>
            <a:ext cx="1587" cy="1373187"/>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1" name="Line 8">
            <a:extLst>
              <a:ext uri="{FF2B5EF4-FFF2-40B4-BE49-F238E27FC236}">
                <a16:creationId xmlns:a16="http://schemas.microsoft.com/office/drawing/2014/main" id="{F496200C-9BE4-60E5-1161-A9A026463015}"/>
              </a:ext>
            </a:extLst>
          </p:cNvPr>
          <p:cNvSpPr>
            <a:spLocks noChangeShapeType="1"/>
          </p:cNvSpPr>
          <p:nvPr/>
        </p:nvSpPr>
        <p:spPr bwMode="auto">
          <a:xfrm flipV="1">
            <a:off x="1031875" y="2970213"/>
            <a:ext cx="1747838" cy="1587"/>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2" name="Rectangle 9">
            <a:extLst>
              <a:ext uri="{FF2B5EF4-FFF2-40B4-BE49-F238E27FC236}">
                <a16:creationId xmlns:a16="http://schemas.microsoft.com/office/drawing/2014/main" id="{8FFEABE5-4D78-D5AF-023B-17145F201017}"/>
              </a:ext>
            </a:extLst>
          </p:cNvPr>
          <p:cNvSpPr>
            <a:spLocks noChangeArrowheads="1"/>
          </p:cNvSpPr>
          <p:nvPr/>
        </p:nvSpPr>
        <p:spPr bwMode="auto">
          <a:xfrm>
            <a:off x="798513" y="3716338"/>
            <a:ext cx="240188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Lee</a:t>
            </a:r>
            <a:r>
              <a:rPr lang="zh-CN" altLang="en-US">
                <a:latin typeface="Times New Roman" panose="02020603050405020304" pitchFamily="18" charset="0"/>
              </a:rPr>
              <a:t>用户文件目录</a:t>
            </a:r>
          </a:p>
        </p:txBody>
      </p:sp>
      <p:sp>
        <p:nvSpPr>
          <p:cNvPr id="26633" name="Rectangle 10">
            <a:extLst>
              <a:ext uri="{FF2B5EF4-FFF2-40B4-BE49-F238E27FC236}">
                <a16:creationId xmlns:a16="http://schemas.microsoft.com/office/drawing/2014/main" id="{92604C68-5BD6-C102-2210-BFC44CC9E97F}"/>
              </a:ext>
            </a:extLst>
          </p:cNvPr>
          <p:cNvSpPr>
            <a:spLocks noChangeArrowheads="1"/>
          </p:cNvSpPr>
          <p:nvPr/>
        </p:nvSpPr>
        <p:spPr bwMode="auto">
          <a:xfrm>
            <a:off x="1017588" y="4186238"/>
            <a:ext cx="1730375" cy="1300162"/>
          </a:xfrm>
          <a:prstGeom prst="rect">
            <a:avLst/>
          </a:prstGeom>
          <a:solidFill>
            <a:srgbClr val="FFFFFF"/>
          </a:solidFill>
          <a:ln w="28575">
            <a:solidFill>
              <a:srgbClr val="000000"/>
            </a:solidFill>
            <a:miter lim="800000"/>
            <a:headEnd/>
            <a:tailEnd type="none" w="sm" len="med"/>
          </a:ln>
        </p:spPr>
        <p:txBody>
          <a:bodyPr lIns="72000" tIns="72000" rIns="72000" bIns="0"/>
          <a:lstStyle/>
          <a:p>
            <a:pPr algn="just" eaLnBrk="0" hangingPunct="0"/>
            <a:r>
              <a:rPr lang="zh-CN" altLang="en-US">
                <a:latin typeface="宋体" panose="02010600030101010101" pitchFamily="2" charset="-122"/>
              </a:rPr>
              <a:t> ┆</a:t>
            </a:r>
          </a:p>
          <a:p>
            <a:pPr algn="just" eaLnBrk="0" hangingPunct="0"/>
            <a:r>
              <a:rPr lang="en-US" altLang="zh-CN">
                <a:latin typeface="Times New Roman" panose="02020603050405020304" pitchFamily="18" charset="0"/>
              </a:rPr>
              <a:t> Testl</a:t>
            </a:r>
          </a:p>
          <a:p>
            <a:pPr algn="just" eaLnBrk="0" hangingPunct="0"/>
            <a:endParaRPr lang="en-US" altLang="zh-CN" sz="800">
              <a:latin typeface="Times New Roman" panose="02020603050405020304" pitchFamily="18" charset="0"/>
            </a:endParaRPr>
          </a:p>
          <a:p>
            <a:pPr algn="just" eaLnBrk="0" hangingPunct="0"/>
            <a:r>
              <a:rPr lang="en-US" altLang="zh-CN">
                <a:latin typeface="宋体" panose="02010600030101010101" pitchFamily="2" charset="-122"/>
              </a:rPr>
              <a:t> ┆</a:t>
            </a:r>
          </a:p>
        </p:txBody>
      </p:sp>
      <p:sp>
        <p:nvSpPr>
          <p:cNvPr id="26634" name="Line 11">
            <a:extLst>
              <a:ext uri="{FF2B5EF4-FFF2-40B4-BE49-F238E27FC236}">
                <a16:creationId xmlns:a16="http://schemas.microsoft.com/office/drawing/2014/main" id="{E404A189-CA83-968A-67D4-938408D1B6C9}"/>
              </a:ext>
            </a:extLst>
          </p:cNvPr>
          <p:cNvSpPr>
            <a:spLocks noChangeShapeType="1"/>
          </p:cNvSpPr>
          <p:nvPr/>
        </p:nvSpPr>
        <p:spPr bwMode="auto">
          <a:xfrm flipV="1">
            <a:off x="1014413" y="4659313"/>
            <a:ext cx="1746250" cy="1587"/>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5" name="Line 12">
            <a:extLst>
              <a:ext uri="{FF2B5EF4-FFF2-40B4-BE49-F238E27FC236}">
                <a16:creationId xmlns:a16="http://schemas.microsoft.com/office/drawing/2014/main" id="{D39569BC-7F0E-48AF-2649-124531F2BC85}"/>
              </a:ext>
            </a:extLst>
          </p:cNvPr>
          <p:cNvSpPr>
            <a:spLocks noChangeShapeType="1"/>
          </p:cNvSpPr>
          <p:nvPr/>
        </p:nvSpPr>
        <p:spPr bwMode="auto">
          <a:xfrm>
            <a:off x="1970088" y="4186238"/>
            <a:ext cx="1587" cy="1300162"/>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6" name="Line 13">
            <a:extLst>
              <a:ext uri="{FF2B5EF4-FFF2-40B4-BE49-F238E27FC236}">
                <a16:creationId xmlns:a16="http://schemas.microsoft.com/office/drawing/2014/main" id="{CACC4AD2-51A2-7748-5779-5AC9E8DDAA47}"/>
              </a:ext>
            </a:extLst>
          </p:cNvPr>
          <p:cNvSpPr>
            <a:spLocks noChangeShapeType="1"/>
          </p:cNvSpPr>
          <p:nvPr/>
        </p:nvSpPr>
        <p:spPr bwMode="auto">
          <a:xfrm flipV="1">
            <a:off x="1014413" y="5027613"/>
            <a:ext cx="1746250" cy="0"/>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37" name="Rectangle 14">
            <a:extLst>
              <a:ext uri="{FF2B5EF4-FFF2-40B4-BE49-F238E27FC236}">
                <a16:creationId xmlns:a16="http://schemas.microsoft.com/office/drawing/2014/main" id="{76393F04-2EAE-3887-9B66-A92232EFE2E3}"/>
              </a:ext>
            </a:extLst>
          </p:cNvPr>
          <p:cNvSpPr>
            <a:spLocks noChangeArrowheads="1"/>
          </p:cNvSpPr>
          <p:nvPr/>
        </p:nvSpPr>
        <p:spPr bwMode="auto">
          <a:xfrm>
            <a:off x="4156075" y="2208213"/>
            <a:ext cx="2162175" cy="1782762"/>
          </a:xfrm>
          <a:prstGeom prst="rect">
            <a:avLst/>
          </a:prstGeom>
          <a:solidFill>
            <a:srgbClr val="FFFFFF"/>
          </a:solidFill>
          <a:ln w="28575">
            <a:solidFill>
              <a:srgbClr val="000000"/>
            </a:solidFill>
            <a:miter lim="800000"/>
            <a:headEnd/>
            <a:tailEnd type="none" w="sm" len="med"/>
          </a:ln>
        </p:spPr>
        <p:txBody>
          <a:bodyPr lIns="72000" tIns="0" rIns="72000" bIns="10800"/>
          <a:lstStyle/>
          <a:p>
            <a:pPr algn="just" eaLnBrk="0" hangingPunct="0"/>
            <a:endParaRPr lang="zh-CN" altLang="en-US">
              <a:latin typeface="Times New Roman" panose="02020603050405020304" pitchFamily="18" charset="0"/>
            </a:endParaRPr>
          </a:p>
          <a:p>
            <a:pPr algn="just" eaLnBrk="0" hangingPunct="0"/>
            <a:r>
              <a:rPr lang="en-US" altLang="zh-CN">
                <a:latin typeface="Times New Roman" panose="02020603050405020304" pitchFamily="18" charset="0"/>
              </a:rPr>
              <a:t>count＝2</a:t>
            </a:r>
          </a:p>
          <a:p>
            <a:pPr algn="just" eaLnBrk="0" hangingPunct="0"/>
            <a:r>
              <a:rPr lang="zh-CN" altLang="en-US">
                <a:latin typeface="Times New Roman" panose="02020603050405020304" pitchFamily="18" charset="0"/>
              </a:rPr>
              <a:t>文件物理地址</a:t>
            </a:r>
          </a:p>
        </p:txBody>
      </p:sp>
      <p:sp>
        <p:nvSpPr>
          <p:cNvPr id="26638" name="Rectangle 15">
            <a:extLst>
              <a:ext uri="{FF2B5EF4-FFF2-40B4-BE49-F238E27FC236}">
                <a16:creationId xmlns:a16="http://schemas.microsoft.com/office/drawing/2014/main" id="{52516409-E1AF-A98D-846E-ABFC5802ACBF}"/>
              </a:ext>
            </a:extLst>
          </p:cNvPr>
          <p:cNvSpPr>
            <a:spLocks noChangeArrowheads="1"/>
          </p:cNvSpPr>
          <p:nvPr/>
        </p:nvSpPr>
        <p:spPr bwMode="auto">
          <a:xfrm>
            <a:off x="4384675" y="1676400"/>
            <a:ext cx="12446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索引节点</a:t>
            </a:r>
          </a:p>
        </p:txBody>
      </p:sp>
      <p:sp>
        <p:nvSpPr>
          <p:cNvPr id="26639" name="Oval 16">
            <a:extLst>
              <a:ext uri="{FF2B5EF4-FFF2-40B4-BE49-F238E27FC236}">
                <a16:creationId xmlns:a16="http://schemas.microsoft.com/office/drawing/2014/main" id="{E3AC2F93-B5A0-953C-FBDD-64E6C953E62B}"/>
              </a:ext>
            </a:extLst>
          </p:cNvPr>
          <p:cNvSpPr>
            <a:spLocks noChangeArrowheads="1"/>
          </p:cNvSpPr>
          <p:nvPr/>
        </p:nvSpPr>
        <p:spPr bwMode="auto">
          <a:xfrm>
            <a:off x="7396163" y="2598738"/>
            <a:ext cx="704850" cy="715962"/>
          </a:xfrm>
          <a:prstGeom prst="ellipse">
            <a:avLst/>
          </a:prstGeom>
          <a:solidFill>
            <a:srgbClr val="FFFFFF"/>
          </a:solidFill>
          <a:ln w="28575">
            <a:solidFill>
              <a:srgbClr val="000000"/>
            </a:solidFill>
            <a:round/>
            <a:headEnd/>
            <a:tailEnd type="none" w="sm" len="med"/>
          </a:ln>
        </p:spPr>
        <p:txBody>
          <a:bodyPr lIns="72000" tIns="10800" rIns="72000" bIns="10800"/>
          <a:lstStyle/>
          <a:p>
            <a:endParaRPr lang="zh-CN" altLang="en-US"/>
          </a:p>
        </p:txBody>
      </p:sp>
      <p:sp>
        <p:nvSpPr>
          <p:cNvPr id="26640" name="Line 17">
            <a:extLst>
              <a:ext uri="{FF2B5EF4-FFF2-40B4-BE49-F238E27FC236}">
                <a16:creationId xmlns:a16="http://schemas.microsoft.com/office/drawing/2014/main" id="{EAAA9CC4-62BA-EE04-051C-1B7D60050072}"/>
              </a:ext>
            </a:extLst>
          </p:cNvPr>
          <p:cNvSpPr>
            <a:spLocks noChangeShapeType="1"/>
          </p:cNvSpPr>
          <p:nvPr/>
        </p:nvSpPr>
        <p:spPr bwMode="auto">
          <a:xfrm flipV="1">
            <a:off x="6332538" y="2946400"/>
            <a:ext cx="1081087" cy="204788"/>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641" name="Line 18">
            <a:extLst>
              <a:ext uri="{FF2B5EF4-FFF2-40B4-BE49-F238E27FC236}">
                <a16:creationId xmlns:a16="http://schemas.microsoft.com/office/drawing/2014/main" id="{EBD34D91-732A-D757-580B-55694DCDCF61}"/>
              </a:ext>
            </a:extLst>
          </p:cNvPr>
          <p:cNvSpPr>
            <a:spLocks noChangeShapeType="1"/>
          </p:cNvSpPr>
          <p:nvPr/>
        </p:nvSpPr>
        <p:spPr bwMode="auto">
          <a:xfrm flipV="1">
            <a:off x="2525713" y="3040063"/>
            <a:ext cx="1625600" cy="1782762"/>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642" name="Line 19">
            <a:extLst>
              <a:ext uri="{FF2B5EF4-FFF2-40B4-BE49-F238E27FC236}">
                <a16:creationId xmlns:a16="http://schemas.microsoft.com/office/drawing/2014/main" id="{2F1CCD14-900F-CE18-04F9-AF2F20816BA4}"/>
              </a:ext>
            </a:extLst>
          </p:cNvPr>
          <p:cNvSpPr>
            <a:spLocks noChangeShapeType="1"/>
          </p:cNvSpPr>
          <p:nvPr/>
        </p:nvSpPr>
        <p:spPr bwMode="auto">
          <a:xfrm>
            <a:off x="2525713" y="2747963"/>
            <a:ext cx="1635125" cy="246062"/>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643" name="Rectangle 20">
            <a:extLst>
              <a:ext uri="{FF2B5EF4-FFF2-40B4-BE49-F238E27FC236}">
                <a16:creationId xmlns:a16="http://schemas.microsoft.com/office/drawing/2014/main" id="{BAB54041-387B-50FC-E16C-C9333CED0F4E}"/>
              </a:ext>
            </a:extLst>
          </p:cNvPr>
          <p:cNvSpPr>
            <a:spLocks noChangeArrowheads="1"/>
          </p:cNvSpPr>
          <p:nvPr/>
        </p:nvSpPr>
        <p:spPr bwMode="auto">
          <a:xfrm>
            <a:off x="8135938" y="2724150"/>
            <a:ext cx="7032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Test</a:t>
            </a:r>
          </a:p>
        </p:txBody>
      </p:sp>
    </p:spTree>
  </p:cSld>
  <p:clrMapOvr>
    <a:masterClrMapping/>
  </p:clrMapOvr>
  <p:transition spd="med">
    <p:zo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3416F4D-1C02-0F4D-FA94-0E917483080C}"/>
              </a:ext>
            </a:extLst>
          </p:cNvPr>
          <p:cNvSpPr>
            <a:spLocks noGrp="1" noChangeArrowheads="1"/>
          </p:cNvSpPr>
          <p:nvPr>
            <p:ph type="title"/>
          </p:nvPr>
        </p:nvSpPr>
        <p:spPr/>
        <p:txBody>
          <a:bodyPr/>
          <a:lstStyle/>
          <a:p>
            <a:pPr eaLnBrk="1" hangingPunct="1"/>
            <a:r>
              <a:rPr lang="zh-CN" altLang="en-US"/>
              <a:t>磁盘索引节点</a:t>
            </a:r>
          </a:p>
        </p:txBody>
      </p:sp>
      <p:sp>
        <p:nvSpPr>
          <p:cNvPr id="27650" name="Rectangle 3">
            <a:extLst>
              <a:ext uri="{FF2B5EF4-FFF2-40B4-BE49-F238E27FC236}">
                <a16:creationId xmlns:a16="http://schemas.microsoft.com/office/drawing/2014/main" id="{EF27665F-BC75-E15B-6B21-141239190308}"/>
              </a:ext>
            </a:extLst>
          </p:cNvPr>
          <p:cNvSpPr>
            <a:spLocks noGrp="1" noChangeArrowheads="1"/>
          </p:cNvSpPr>
          <p:nvPr>
            <p:ph idx="1"/>
          </p:nvPr>
        </p:nvSpPr>
        <p:spPr>
          <a:xfrm>
            <a:off x="827088" y="1231900"/>
            <a:ext cx="8128000" cy="5005388"/>
          </a:xfrm>
        </p:spPr>
        <p:txBody>
          <a:bodyPr/>
          <a:lstStyle/>
          <a:p>
            <a:pPr algn="just" eaLnBrk="1" hangingPunct="1"/>
            <a:r>
              <a:rPr lang="zh-CN" altLang="en-US"/>
              <a:t>每个文件有一个惟一的索引节点，主要包含：</a:t>
            </a:r>
          </a:p>
          <a:p>
            <a:pPr lvl="1" algn="just" eaLnBrk="1" hangingPunct="1"/>
            <a:r>
              <a:rPr lang="zh-CN" altLang="en-US"/>
              <a:t>文件主标识：</a:t>
            </a:r>
          </a:p>
          <a:p>
            <a:pPr lvl="1" algn="just" eaLnBrk="1" hangingPunct="1"/>
            <a:r>
              <a:rPr lang="zh-CN" altLang="en-US"/>
              <a:t>文件类型：正规、目录、特别</a:t>
            </a:r>
          </a:p>
          <a:p>
            <a:pPr lvl="1" algn="just" eaLnBrk="1" hangingPunct="1"/>
            <a:r>
              <a:rPr lang="zh-CN" altLang="en-US"/>
              <a:t>文件存取权限</a:t>
            </a:r>
          </a:p>
          <a:p>
            <a:pPr lvl="1" algn="just" eaLnBrk="1" hangingPunct="1"/>
            <a:r>
              <a:rPr lang="zh-CN" altLang="en-US"/>
              <a:t>文件物理地址</a:t>
            </a:r>
          </a:p>
          <a:p>
            <a:pPr lvl="1" algn="just" eaLnBrk="1" hangingPunct="1"/>
            <a:r>
              <a:rPr lang="zh-CN" altLang="en-US"/>
              <a:t>文件长度</a:t>
            </a:r>
          </a:p>
          <a:p>
            <a:pPr lvl="1" algn="just" eaLnBrk="1" hangingPunct="1"/>
            <a:r>
              <a:rPr lang="zh-CN" altLang="en-US"/>
              <a:t>文件链接计数：目录树中指向此文件的路径数。</a:t>
            </a:r>
          </a:p>
          <a:p>
            <a:pPr lvl="1" algn="just" eaLnBrk="1" hangingPunct="1"/>
            <a:r>
              <a:rPr lang="zh-CN" altLang="en-US"/>
              <a:t>文件存取时间</a:t>
            </a:r>
          </a:p>
        </p:txBody>
      </p:sp>
    </p:spTree>
  </p:cSld>
  <p:clrMapOvr>
    <a:masterClrMapping/>
  </p:clrMapOvr>
  <p:transition spd="med">
    <p:zoom/>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0751BCBF-E1B1-2E95-2968-52B827B0EB1C}"/>
              </a:ext>
            </a:extLst>
          </p:cNvPr>
          <p:cNvSpPr>
            <a:spLocks noGrp="1" noChangeArrowheads="1"/>
          </p:cNvSpPr>
          <p:nvPr>
            <p:ph type="title"/>
          </p:nvPr>
        </p:nvSpPr>
        <p:spPr/>
        <p:txBody>
          <a:bodyPr/>
          <a:lstStyle/>
          <a:p>
            <a:pPr eaLnBrk="1" hangingPunct="1"/>
            <a:r>
              <a:rPr lang="zh-CN" altLang="en-US"/>
              <a:t>内存索引节点</a:t>
            </a:r>
          </a:p>
        </p:txBody>
      </p:sp>
      <p:sp>
        <p:nvSpPr>
          <p:cNvPr id="28674" name="Rectangle 3">
            <a:extLst>
              <a:ext uri="{FF2B5EF4-FFF2-40B4-BE49-F238E27FC236}">
                <a16:creationId xmlns:a16="http://schemas.microsoft.com/office/drawing/2014/main" id="{1CE119DB-B05C-826C-F76D-EA70587E8042}"/>
              </a:ext>
            </a:extLst>
          </p:cNvPr>
          <p:cNvSpPr>
            <a:spLocks noGrp="1" noChangeArrowheads="1"/>
          </p:cNvSpPr>
          <p:nvPr>
            <p:ph idx="1"/>
          </p:nvPr>
        </p:nvSpPr>
        <p:spPr>
          <a:xfrm>
            <a:off x="684213" y="1233488"/>
            <a:ext cx="8270875" cy="4751387"/>
          </a:xfrm>
        </p:spPr>
        <p:txBody>
          <a:bodyPr/>
          <a:lstStyle/>
          <a:p>
            <a:pPr algn="just" eaLnBrk="1" hangingPunct="1"/>
            <a:r>
              <a:rPr lang="zh-CN" altLang="en-US"/>
              <a:t>文件打开时，要将磁盘索引节点拷贝到内存。内存索引节点除包含磁盘索引节点内容外，还应增加：</a:t>
            </a:r>
          </a:p>
          <a:p>
            <a:pPr lvl="1" algn="just" eaLnBrk="1" hangingPunct="1"/>
            <a:r>
              <a:rPr lang="zh-CN" altLang="en-US"/>
              <a:t>索引节点号</a:t>
            </a:r>
          </a:p>
          <a:p>
            <a:pPr lvl="1" algn="just" eaLnBrk="1" hangingPunct="1"/>
            <a:r>
              <a:rPr lang="zh-CN" altLang="en-US"/>
              <a:t>状态：索引节点是否上锁、修改</a:t>
            </a:r>
          </a:p>
          <a:p>
            <a:pPr lvl="1" algn="just" eaLnBrk="1" hangingPunct="1"/>
            <a:r>
              <a:rPr lang="zh-CN" altLang="en-US"/>
              <a:t>访问计数：正在使用此文件的进程数</a:t>
            </a:r>
          </a:p>
          <a:p>
            <a:pPr lvl="1" algn="just" eaLnBrk="1" hangingPunct="1"/>
            <a:r>
              <a:rPr lang="zh-CN" altLang="en-US"/>
              <a:t>文件所属文件系统的逻辑设备号</a:t>
            </a:r>
          </a:p>
          <a:p>
            <a:pPr lvl="1" algn="just" eaLnBrk="1" hangingPunct="1"/>
            <a:r>
              <a:rPr lang="zh-CN" altLang="en-US"/>
              <a:t>链接指针：如空闲队列、散列队列</a:t>
            </a:r>
          </a:p>
        </p:txBody>
      </p:sp>
    </p:spTree>
  </p:cSld>
  <p:clrMapOvr>
    <a:masterClrMapping/>
  </p:clrMapOvr>
  <p:transition spd="med">
    <p:zoom/>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B2FBC78-FBE3-F722-7010-8F081FDA1386}"/>
              </a:ext>
            </a:extLst>
          </p:cNvPr>
          <p:cNvSpPr>
            <a:spLocks noGrp="1" noChangeArrowheads="1"/>
          </p:cNvSpPr>
          <p:nvPr>
            <p:ph type="title"/>
          </p:nvPr>
        </p:nvSpPr>
        <p:spPr/>
        <p:txBody>
          <a:bodyPr/>
          <a:lstStyle/>
          <a:p>
            <a:pPr eaLnBrk="1" hangingPunct="1"/>
            <a:r>
              <a:rPr lang="zh-CN" altLang="en-US"/>
              <a:t>索引节点中的链接计数</a:t>
            </a:r>
          </a:p>
        </p:txBody>
      </p:sp>
      <p:sp>
        <p:nvSpPr>
          <p:cNvPr id="29698" name="Rectangle 3">
            <a:extLst>
              <a:ext uri="{FF2B5EF4-FFF2-40B4-BE49-F238E27FC236}">
                <a16:creationId xmlns:a16="http://schemas.microsoft.com/office/drawing/2014/main" id="{89C1FC35-0622-215C-26AC-E8E5793FD060}"/>
              </a:ext>
            </a:extLst>
          </p:cNvPr>
          <p:cNvSpPr>
            <a:spLocks noGrp="1" noChangeArrowheads="1"/>
          </p:cNvSpPr>
          <p:nvPr>
            <p:ph idx="1"/>
          </p:nvPr>
        </p:nvSpPr>
        <p:spPr>
          <a:xfrm>
            <a:off x="838200" y="1268413"/>
            <a:ext cx="7924800" cy="4114800"/>
          </a:xfrm>
        </p:spPr>
        <p:txBody>
          <a:bodyPr/>
          <a:lstStyle/>
          <a:p>
            <a:pPr algn="just" eaLnBrk="1" hangingPunct="1"/>
            <a:r>
              <a:rPr lang="zh-CN" altLang="en-US"/>
              <a:t>在索引节点中有一个链接计数</a:t>
            </a:r>
            <a:r>
              <a:rPr lang="en-US" altLang="zh-CN"/>
              <a:t>count</a:t>
            </a:r>
            <a:r>
              <a:rPr lang="zh-CN" altLang="en-US"/>
              <a:t>字段，用于表示链接到本索引节点的目录项的数目。</a:t>
            </a:r>
          </a:p>
          <a:p>
            <a:pPr algn="just" eaLnBrk="1" hangingPunct="1"/>
            <a:r>
              <a:rPr lang="zh-CN" altLang="en-US"/>
              <a:t>当</a:t>
            </a:r>
            <a:r>
              <a:rPr lang="en-US" altLang="zh-CN"/>
              <a:t>count＝2</a:t>
            </a:r>
            <a:r>
              <a:rPr lang="zh-CN" altLang="en-US"/>
              <a:t>时，表示有两个目录项链接到本文件上。</a:t>
            </a:r>
          </a:p>
        </p:txBody>
      </p:sp>
    </p:spTree>
  </p:cSld>
  <p:clrMapOvr>
    <a:masterClrMapping/>
  </p:clrMapOvr>
  <p:transition spd="med">
    <p:zo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543F5424-E112-B44A-F700-F6AF00DA823C}"/>
              </a:ext>
            </a:extLst>
          </p:cNvPr>
          <p:cNvSpPr>
            <a:spLocks noGrp="1" noChangeArrowheads="1"/>
          </p:cNvSpPr>
          <p:nvPr>
            <p:ph type="title"/>
          </p:nvPr>
        </p:nvSpPr>
        <p:spPr/>
        <p:txBody>
          <a:bodyPr/>
          <a:lstStyle/>
          <a:p>
            <a:pPr eaLnBrk="1" hangingPunct="1"/>
            <a:r>
              <a:rPr lang="zh-CN" altLang="en-US"/>
              <a:t>链接例--</a:t>
            </a:r>
            <a:r>
              <a:rPr lang="en-US" altLang="zh-CN"/>
              <a:t>C</a:t>
            </a:r>
            <a:r>
              <a:rPr lang="zh-CN" altLang="en-US"/>
              <a:t>创建一个新文件</a:t>
            </a:r>
          </a:p>
        </p:txBody>
      </p:sp>
      <p:sp>
        <p:nvSpPr>
          <p:cNvPr id="30722" name="Rectangle 3">
            <a:extLst>
              <a:ext uri="{FF2B5EF4-FFF2-40B4-BE49-F238E27FC236}">
                <a16:creationId xmlns:a16="http://schemas.microsoft.com/office/drawing/2014/main" id="{53D7EEC8-E5ED-AC28-1E5D-750C4561C08F}"/>
              </a:ext>
            </a:extLst>
          </p:cNvPr>
          <p:cNvSpPr>
            <a:spLocks noGrp="1" noChangeArrowheads="1"/>
          </p:cNvSpPr>
          <p:nvPr>
            <p:ph idx="1"/>
          </p:nvPr>
        </p:nvSpPr>
        <p:spPr>
          <a:xfrm>
            <a:off x="720725" y="1341438"/>
            <a:ext cx="4572000" cy="2782887"/>
          </a:xfrm>
        </p:spPr>
        <p:txBody>
          <a:bodyPr/>
          <a:lstStyle/>
          <a:p>
            <a:pPr algn="just" eaLnBrk="1" hangingPunct="1"/>
            <a:r>
              <a:rPr lang="zh-CN" altLang="en-US"/>
              <a:t>当用户</a:t>
            </a:r>
            <a:r>
              <a:rPr lang="en-US" altLang="zh-CN"/>
              <a:t>C</a:t>
            </a:r>
            <a:r>
              <a:rPr lang="zh-CN" altLang="en-US"/>
              <a:t>创建一个新文件时，他是该文件的所有者，此时</a:t>
            </a:r>
            <a:r>
              <a:rPr lang="en-US" altLang="zh-CN"/>
              <a:t>count</a:t>
            </a:r>
            <a:r>
              <a:rPr lang="zh-CN" altLang="en-US"/>
              <a:t>值为1。</a:t>
            </a:r>
          </a:p>
        </p:txBody>
      </p:sp>
      <p:sp>
        <p:nvSpPr>
          <p:cNvPr id="30723" name="Rectangle 4">
            <a:extLst>
              <a:ext uri="{FF2B5EF4-FFF2-40B4-BE49-F238E27FC236}">
                <a16:creationId xmlns:a16="http://schemas.microsoft.com/office/drawing/2014/main" id="{D6225082-A6CB-8D8A-8D39-828FBAD5ED2D}"/>
              </a:ext>
            </a:extLst>
          </p:cNvPr>
          <p:cNvSpPr>
            <a:spLocks noChangeArrowheads="1"/>
          </p:cNvSpPr>
          <p:nvPr/>
        </p:nvSpPr>
        <p:spPr bwMode="auto">
          <a:xfrm>
            <a:off x="6403975" y="1905000"/>
            <a:ext cx="1681163" cy="1130300"/>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30724" name="Rectangle 5">
            <a:extLst>
              <a:ext uri="{FF2B5EF4-FFF2-40B4-BE49-F238E27FC236}">
                <a16:creationId xmlns:a16="http://schemas.microsoft.com/office/drawing/2014/main" id="{8FEDBB9A-A36C-67DC-50EB-9717B725B627}"/>
              </a:ext>
            </a:extLst>
          </p:cNvPr>
          <p:cNvSpPr>
            <a:spLocks noChangeArrowheads="1"/>
          </p:cNvSpPr>
          <p:nvPr/>
        </p:nvSpPr>
        <p:spPr bwMode="auto">
          <a:xfrm>
            <a:off x="6400800" y="1524000"/>
            <a:ext cx="1146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C</a:t>
            </a:r>
            <a:r>
              <a:rPr lang="zh-CN" altLang="en-US" sz="2000">
                <a:latin typeface="Times New Roman" panose="02020603050405020304" pitchFamily="18" charset="0"/>
              </a:rPr>
              <a:t>的目录</a:t>
            </a:r>
          </a:p>
        </p:txBody>
      </p:sp>
      <p:sp>
        <p:nvSpPr>
          <p:cNvPr id="30725" name="Line 6">
            <a:extLst>
              <a:ext uri="{FF2B5EF4-FFF2-40B4-BE49-F238E27FC236}">
                <a16:creationId xmlns:a16="http://schemas.microsoft.com/office/drawing/2014/main" id="{6EAFE32D-3715-21A8-AC9F-FF4A2D7ADE5B}"/>
              </a:ext>
            </a:extLst>
          </p:cNvPr>
          <p:cNvSpPr>
            <a:spLocks noChangeShapeType="1"/>
          </p:cNvSpPr>
          <p:nvPr/>
        </p:nvSpPr>
        <p:spPr bwMode="auto">
          <a:xfrm>
            <a:off x="6416675" y="2209800"/>
            <a:ext cx="1677988"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0726" name="Line 7">
            <a:extLst>
              <a:ext uri="{FF2B5EF4-FFF2-40B4-BE49-F238E27FC236}">
                <a16:creationId xmlns:a16="http://schemas.microsoft.com/office/drawing/2014/main" id="{85013259-6B5D-ECE4-5B48-12138A15AF84}"/>
              </a:ext>
            </a:extLst>
          </p:cNvPr>
          <p:cNvSpPr>
            <a:spLocks noChangeShapeType="1"/>
          </p:cNvSpPr>
          <p:nvPr/>
        </p:nvSpPr>
        <p:spPr bwMode="auto">
          <a:xfrm>
            <a:off x="6403975" y="2438400"/>
            <a:ext cx="1677988"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0727" name="Line 8">
            <a:extLst>
              <a:ext uri="{FF2B5EF4-FFF2-40B4-BE49-F238E27FC236}">
                <a16:creationId xmlns:a16="http://schemas.microsoft.com/office/drawing/2014/main" id="{9A020A3E-46E9-2F6D-C8A1-5F8D67DFE3EA}"/>
              </a:ext>
            </a:extLst>
          </p:cNvPr>
          <p:cNvSpPr>
            <a:spLocks noChangeShapeType="1"/>
          </p:cNvSpPr>
          <p:nvPr/>
        </p:nvSpPr>
        <p:spPr bwMode="auto">
          <a:xfrm>
            <a:off x="6416675" y="2743200"/>
            <a:ext cx="1677988" cy="15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0728" name="Rectangle 9">
            <a:extLst>
              <a:ext uri="{FF2B5EF4-FFF2-40B4-BE49-F238E27FC236}">
                <a16:creationId xmlns:a16="http://schemas.microsoft.com/office/drawing/2014/main" id="{7EBB8F39-A5DB-1EFD-8520-52EBDEEBEC6D}"/>
              </a:ext>
            </a:extLst>
          </p:cNvPr>
          <p:cNvSpPr>
            <a:spLocks noChangeArrowheads="1"/>
          </p:cNvSpPr>
          <p:nvPr/>
        </p:nvSpPr>
        <p:spPr bwMode="auto">
          <a:xfrm>
            <a:off x="6432550" y="3508375"/>
            <a:ext cx="1800225" cy="835025"/>
          </a:xfrm>
          <a:prstGeom prst="rect">
            <a:avLst/>
          </a:prstGeom>
          <a:solidFill>
            <a:srgbClr val="FFFFFF"/>
          </a:solidFill>
          <a:ln w="25400">
            <a:solidFill>
              <a:srgbClr val="000000"/>
            </a:solidFill>
            <a:miter lim="800000"/>
            <a:headEnd/>
            <a:tailEnd type="none" w="sm" len="med"/>
          </a:ln>
        </p:spPr>
        <p:txBody>
          <a:bodyPr lIns="36000" tIns="36000" rIns="36000" bIns="0"/>
          <a:lstStyle/>
          <a:p>
            <a:pPr algn="just" eaLnBrk="0" hangingPunct="0"/>
            <a:r>
              <a:rPr lang="en-US" altLang="zh-CN" sz="2000">
                <a:latin typeface="Times New Roman" panose="02020603050405020304" pitchFamily="18" charset="0"/>
              </a:rPr>
              <a:t>owner＝C</a:t>
            </a:r>
          </a:p>
          <a:p>
            <a:pPr algn="just" eaLnBrk="0" hangingPunct="0"/>
            <a:r>
              <a:rPr lang="en-US" altLang="zh-CN" sz="2000">
                <a:latin typeface="Times New Roman" panose="02020603050405020304" pitchFamily="18" charset="0"/>
              </a:rPr>
              <a:t>count＝1</a:t>
            </a:r>
          </a:p>
        </p:txBody>
      </p:sp>
      <p:sp>
        <p:nvSpPr>
          <p:cNvPr id="30729" name="Line 10">
            <a:extLst>
              <a:ext uri="{FF2B5EF4-FFF2-40B4-BE49-F238E27FC236}">
                <a16:creationId xmlns:a16="http://schemas.microsoft.com/office/drawing/2014/main" id="{2C09EFA0-923F-BABC-19EA-BFA7CE015965}"/>
              </a:ext>
            </a:extLst>
          </p:cNvPr>
          <p:cNvSpPr>
            <a:spLocks noChangeShapeType="1"/>
          </p:cNvSpPr>
          <p:nvPr/>
        </p:nvSpPr>
        <p:spPr bwMode="auto">
          <a:xfrm flipH="1">
            <a:off x="6719888" y="2919413"/>
            <a:ext cx="263525" cy="59848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730" name="Oval 11">
            <a:extLst>
              <a:ext uri="{FF2B5EF4-FFF2-40B4-BE49-F238E27FC236}">
                <a16:creationId xmlns:a16="http://schemas.microsoft.com/office/drawing/2014/main" id="{2D8AE68E-15A7-F16D-BBE3-13CE6E1157F1}"/>
              </a:ext>
            </a:extLst>
          </p:cNvPr>
          <p:cNvSpPr>
            <a:spLocks noChangeArrowheads="1"/>
          </p:cNvSpPr>
          <p:nvPr/>
        </p:nvSpPr>
        <p:spPr bwMode="auto">
          <a:xfrm>
            <a:off x="6900863" y="4724400"/>
            <a:ext cx="493712" cy="482600"/>
          </a:xfrm>
          <a:prstGeom prst="ellipse">
            <a:avLst/>
          </a:prstGeom>
          <a:solidFill>
            <a:srgbClr val="FFFFFF"/>
          </a:solidFill>
          <a:ln w="25400">
            <a:solidFill>
              <a:srgbClr val="000000"/>
            </a:solidFill>
            <a:round/>
            <a:headEnd/>
            <a:tailEnd type="none" w="sm" len="med"/>
          </a:ln>
        </p:spPr>
        <p:txBody>
          <a:bodyPr lIns="72000" tIns="10800" rIns="72000" bIns="10800"/>
          <a:lstStyle/>
          <a:p>
            <a:endParaRPr lang="zh-CN" altLang="en-US"/>
          </a:p>
        </p:txBody>
      </p:sp>
      <p:sp>
        <p:nvSpPr>
          <p:cNvPr id="30731" name="Rectangle 12">
            <a:extLst>
              <a:ext uri="{FF2B5EF4-FFF2-40B4-BE49-F238E27FC236}">
                <a16:creationId xmlns:a16="http://schemas.microsoft.com/office/drawing/2014/main" id="{78D86089-B2C9-EC77-80CC-35DD49EE7B3C}"/>
              </a:ext>
            </a:extLst>
          </p:cNvPr>
          <p:cNvSpPr>
            <a:spLocks noChangeArrowheads="1"/>
          </p:cNvSpPr>
          <p:nvPr/>
        </p:nvSpPr>
        <p:spPr bwMode="auto">
          <a:xfrm>
            <a:off x="7735888" y="4800600"/>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链接前</a:t>
            </a:r>
          </a:p>
        </p:txBody>
      </p:sp>
      <p:sp>
        <p:nvSpPr>
          <p:cNvPr id="30732" name="Line 13">
            <a:extLst>
              <a:ext uri="{FF2B5EF4-FFF2-40B4-BE49-F238E27FC236}">
                <a16:creationId xmlns:a16="http://schemas.microsoft.com/office/drawing/2014/main" id="{822B8700-05A7-F06E-56DE-0CCFDD303CBC}"/>
              </a:ext>
            </a:extLst>
          </p:cNvPr>
          <p:cNvSpPr>
            <a:spLocks noChangeShapeType="1"/>
          </p:cNvSpPr>
          <p:nvPr/>
        </p:nvSpPr>
        <p:spPr bwMode="auto">
          <a:xfrm>
            <a:off x="7132638" y="4343400"/>
            <a:ext cx="3175" cy="41116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94BEA27A-6A8F-8BA2-1BE9-C2767B120A63}"/>
              </a:ext>
            </a:extLst>
          </p:cNvPr>
          <p:cNvSpPr>
            <a:spLocks noGrp="1" noChangeArrowheads="1"/>
          </p:cNvSpPr>
          <p:nvPr>
            <p:ph type="title"/>
          </p:nvPr>
        </p:nvSpPr>
        <p:spPr/>
        <p:txBody>
          <a:bodyPr/>
          <a:lstStyle/>
          <a:p>
            <a:pPr eaLnBrk="1" hangingPunct="1"/>
            <a:r>
              <a:rPr lang="zh-CN" altLang="en-US"/>
              <a:t>链接例--</a:t>
            </a:r>
            <a:r>
              <a:rPr lang="en-US" altLang="zh-CN"/>
              <a:t> B</a:t>
            </a:r>
            <a:r>
              <a:rPr lang="zh-CN" altLang="en-US"/>
              <a:t>链接到</a:t>
            </a:r>
            <a:r>
              <a:rPr lang="en-US" altLang="zh-CN"/>
              <a:t>C</a:t>
            </a:r>
            <a:r>
              <a:rPr lang="zh-CN" altLang="en-US"/>
              <a:t>的文件</a:t>
            </a:r>
            <a:endParaRPr lang="en-US" altLang="zh-CN"/>
          </a:p>
        </p:txBody>
      </p:sp>
      <p:sp>
        <p:nvSpPr>
          <p:cNvPr id="31746" name="Rectangle 3">
            <a:extLst>
              <a:ext uri="{FF2B5EF4-FFF2-40B4-BE49-F238E27FC236}">
                <a16:creationId xmlns:a16="http://schemas.microsoft.com/office/drawing/2014/main" id="{25309F0D-06C2-6350-F1C8-08DBD525251B}"/>
              </a:ext>
            </a:extLst>
          </p:cNvPr>
          <p:cNvSpPr>
            <a:spLocks noGrp="1" noChangeArrowheads="1"/>
          </p:cNvSpPr>
          <p:nvPr>
            <p:ph idx="1"/>
          </p:nvPr>
        </p:nvSpPr>
        <p:spPr>
          <a:xfrm>
            <a:off x="152400" y="1304925"/>
            <a:ext cx="5334000" cy="4114800"/>
          </a:xfrm>
        </p:spPr>
        <p:txBody>
          <a:bodyPr/>
          <a:lstStyle/>
          <a:p>
            <a:pPr algn="just" eaLnBrk="1" hangingPunct="1"/>
            <a:r>
              <a:rPr lang="zh-CN" altLang="en-US"/>
              <a:t>当用户</a:t>
            </a:r>
            <a:r>
              <a:rPr lang="en-US" altLang="zh-CN"/>
              <a:t>B</a:t>
            </a:r>
            <a:r>
              <a:rPr lang="zh-CN" altLang="en-US"/>
              <a:t>希望共享此文件时，应在用户</a:t>
            </a:r>
            <a:r>
              <a:rPr lang="en-US" altLang="zh-CN"/>
              <a:t>B</a:t>
            </a:r>
            <a:r>
              <a:rPr lang="zh-CN" altLang="en-US"/>
              <a:t>的目录中增加一个目录项，并设置指针指向该文件的索引节点，此时文件的所有者仍然是</a:t>
            </a:r>
            <a:r>
              <a:rPr lang="en-US" altLang="zh-CN"/>
              <a:t>C，</a:t>
            </a:r>
            <a:r>
              <a:rPr lang="zh-CN" altLang="en-US"/>
              <a:t>但索引节点的链接计数应加1（</a:t>
            </a:r>
            <a:r>
              <a:rPr lang="en-US" altLang="zh-CN"/>
              <a:t>count＝2）。</a:t>
            </a:r>
            <a:endParaRPr lang="zh-CN" altLang="en-US"/>
          </a:p>
        </p:txBody>
      </p:sp>
      <p:sp>
        <p:nvSpPr>
          <p:cNvPr id="31747" name="Rectangle 4">
            <a:extLst>
              <a:ext uri="{FF2B5EF4-FFF2-40B4-BE49-F238E27FC236}">
                <a16:creationId xmlns:a16="http://schemas.microsoft.com/office/drawing/2014/main" id="{DFF80EAF-980E-1242-D4B5-3BC4BC17FD8D}"/>
              </a:ext>
            </a:extLst>
          </p:cNvPr>
          <p:cNvSpPr>
            <a:spLocks noChangeArrowheads="1"/>
          </p:cNvSpPr>
          <p:nvPr/>
        </p:nvSpPr>
        <p:spPr bwMode="auto">
          <a:xfrm>
            <a:off x="5970588" y="1882775"/>
            <a:ext cx="1085850" cy="960438"/>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31748" name="Rectangle 5">
            <a:extLst>
              <a:ext uri="{FF2B5EF4-FFF2-40B4-BE49-F238E27FC236}">
                <a16:creationId xmlns:a16="http://schemas.microsoft.com/office/drawing/2014/main" id="{2276EC72-CF11-D9C7-F6A0-F41E149DC33E}"/>
              </a:ext>
            </a:extLst>
          </p:cNvPr>
          <p:cNvSpPr>
            <a:spLocks noChangeArrowheads="1"/>
          </p:cNvSpPr>
          <p:nvPr/>
        </p:nvSpPr>
        <p:spPr bwMode="auto">
          <a:xfrm>
            <a:off x="5956300" y="1524000"/>
            <a:ext cx="1089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B</a:t>
            </a:r>
            <a:r>
              <a:rPr lang="zh-CN" altLang="en-US" sz="2000">
                <a:latin typeface="Times New Roman" panose="02020603050405020304" pitchFamily="18" charset="0"/>
              </a:rPr>
              <a:t>的目录</a:t>
            </a:r>
          </a:p>
        </p:txBody>
      </p:sp>
      <p:sp>
        <p:nvSpPr>
          <p:cNvPr id="31749" name="Line 6">
            <a:extLst>
              <a:ext uri="{FF2B5EF4-FFF2-40B4-BE49-F238E27FC236}">
                <a16:creationId xmlns:a16="http://schemas.microsoft.com/office/drawing/2014/main" id="{F78EBC59-F645-08AB-42FF-D22E0C0CBA6B}"/>
              </a:ext>
            </a:extLst>
          </p:cNvPr>
          <p:cNvSpPr>
            <a:spLocks noChangeShapeType="1"/>
          </p:cNvSpPr>
          <p:nvPr/>
        </p:nvSpPr>
        <p:spPr bwMode="auto">
          <a:xfrm>
            <a:off x="5970588" y="2149475"/>
            <a:ext cx="10858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0" name="Line 7">
            <a:extLst>
              <a:ext uri="{FF2B5EF4-FFF2-40B4-BE49-F238E27FC236}">
                <a16:creationId xmlns:a16="http://schemas.microsoft.com/office/drawing/2014/main" id="{EFA7472E-927B-C7D6-50EF-376F89B5C710}"/>
              </a:ext>
            </a:extLst>
          </p:cNvPr>
          <p:cNvSpPr>
            <a:spLocks noChangeShapeType="1"/>
          </p:cNvSpPr>
          <p:nvPr/>
        </p:nvSpPr>
        <p:spPr bwMode="auto">
          <a:xfrm>
            <a:off x="5988050" y="2390775"/>
            <a:ext cx="108426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1" name="Line 8">
            <a:extLst>
              <a:ext uri="{FF2B5EF4-FFF2-40B4-BE49-F238E27FC236}">
                <a16:creationId xmlns:a16="http://schemas.microsoft.com/office/drawing/2014/main" id="{83B79A29-EF92-6569-3B7F-A1B64A4D39EC}"/>
              </a:ext>
            </a:extLst>
          </p:cNvPr>
          <p:cNvSpPr>
            <a:spLocks noChangeShapeType="1"/>
          </p:cNvSpPr>
          <p:nvPr/>
        </p:nvSpPr>
        <p:spPr bwMode="auto">
          <a:xfrm>
            <a:off x="5970588" y="2601913"/>
            <a:ext cx="10858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2" name="Rectangle 9">
            <a:extLst>
              <a:ext uri="{FF2B5EF4-FFF2-40B4-BE49-F238E27FC236}">
                <a16:creationId xmlns:a16="http://schemas.microsoft.com/office/drawing/2014/main" id="{698454D5-ECC2-6604-27A5-7C59801793F6}"/>
              </a:ext>
            </a:extLst>
          </p:cNvPr>
          <p:cNvSpPr>
            <a:spLocks noChangeArrowheads="1"/>
          </p:cNvSpPr>
          <p:nvPr/>
        </p:nvSpPr>
        <p:spPr bwMode="auto">
          <a:xfrm>
            <a:off x="7432675" y="1882775"/>
            <a:ext cx="1087438" cy="960438"/>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31753" name="Rectangle 10">
            <a:extLst>
              <a:ext uri="{FF2B5EF4-FFF2-40B4-BE49-F238E27FC236}">
                <a16:creationId xmlns:a16="http://schemas.microsoft.com/office/drawing/2014/main" id="{CB2460D3-E8F6-6626-4E26-313CFD2B111F}"/>
              </a:ext>
            </a:extLst>
          </p:cNvPr>
          <p:cNvSpPr>
            <a:spLocks noChangeArrowheads="1"/>
          </p:cNvSpPr>
          <p:nvPr/>
        </p:nvSpPr>
        <p:spPr bwMode="auto">
          <a:xfrm>
            <a:off x="7418388" y="1524000"/>
            <a:ext cx="10874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C</a:t>
            </a:r>
            <a:r>
              <a:rPr lang="zh-CN" altLang="en-US" sz="2000">
                <a:latin typeface="Times New Roman" panose="02020603050405020304" pitchFamily="18" charset="0"/>
              </a:rPr>
              <a:t>的目录</a:t>
            </a:r>
          </a:p>
        </p:txBody>
      </p:sp>
      <p:sp>
        <p:nvSpPr>
          <p:cNvPr id="31754" name="Line 11">
            <a:extLst>
              <a:ext uri="{FF2B5EF4-FFF2-40B4-BE49-F238E27FC236}">
                <a16:creationId xmlns:a16="http://schemas.microsoft.com/office/drawing/2014/main" id="{B5986F08-DB7A-C5E9-E21F-6BAF52D7E98B}"/>
              </a:ext>
            </a:extLst>
          </p:cNvPr>
          <p:cNvSpPr>
            <a:spLocks noChangeShapeType="1"/>
          </p:cNvSpPr>
          <p:nvPr/>
        </p:nvSpPr>
        <p:spPr bwMode="auto">
          <a:xfrm>
            <a:off x="7432675" y="2149475"/>
            <a:ext cx="108426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5" name="Line 12">
            <a:extLst>
              <a:ext uri="{FF2B5EF4-FFF2-40B4-BE49-F238E27FC236}">
                <a16:creationId xmlns:a16="http://schemas.microsoft.com/office/drawing/2014/main" id="{7C2F0893-902E-4F4F-63BE-51DA76D1E537}"/>
              </a:ext>
            </a:extLst>
          </p:cNvPr>
          <p:cNvSpPr>
            <a:spLocks noChangeShapeType="1"/>
          </p:cNvSpPr>
          <p:nvPr/>
        </p:nvSpPr>
        <p:spPr bwMode="auto">
          <a:xfrm>
            <a:off x="7448550" y="2390775"/>
            <a:ext cx="10858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6" name="Line 13">
            <a:extLst>
              <a:ext uri="{FF2B5EF4-FFF2-40B4-BE49-F238E27FC236}">
                <a16:creationId xmlns:a16="http://schemas.microsoft.com/office/drawing/2014/main" id="{433F4D7E-6828-734B-4EAF-0E7E5CCB506A}"/>
              </a:ext>
            </a:extLst>
          </p:cNvPr>
          <p:cNvSpPr>
            <a:spLocks noChangeShapeType="1"/>
          </p:cNvSpPr>
          <p:nvPr/>
        </p:nvSpPr>
        <p:spPr bwMode="auto">
          <a:xfrm>
            <a:off x="7432675" y="2601913"/>
            <a:ext cx="108426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1757" name="Rectangle 14">
            <a:extLst>
              <a:ext uri="{FF2B5EF4-FFF2-40B4-BE49-F238E27FC236}">
                <a16:creationId xmlns:a16="http://schemas.microsoft.com/office/drawing/2014/main" id="{25691AAC-688E-4A9A-39B2-40EC028DE617}"/>
              </a:ext>
            </a:extLst>
          </p:cNvPr>
          <p:cNvSpPr>
            <a:spLocks noChangeArrowheads="1"/>
          </p:cNvSpPr>
          <p:nvPr/>
        </p:nvSpPr>
        <p:spPr bwMode="auto">
          <a:xfrm>
            <a:off x="6553200" y="3427413"/>
            <a:ext cx="1408113" cy="687387"/>
          </a:xfrm>
          <a:prstGeom prst="rect">
            <a:avLst/>
          </a:prstGeom>
          <a:solidFill>
            <a:srgbClr val="FFFFFF"/>
          </a:solidFill>
          <a:ln w="25400">
            <a:solidFill>
              <a:srgbClr val="000000"/>
            </a:solidFill>
            <a:miter lim="800000"/>
            <a:headEnd/>
            <a:tailEnd type="none" w="sm" len="med"/>
          </a:ln>
        </p:spPr>
        <p:txBody>
          <a:bodyPr lIns="36000" tIns="36000" rIns="36000" bIns="0"/>
          <a:lstStyle/>
          <a:p>
            <a:pPr algn="just" eaLnBrk="0" hangingPunct="0"/>
            <a:r>
              <a:rPr lang="en-US" altLang="zh-CN" sz="2000">
                <a:latin typeface="Times New Roman" panose="02020603050405020304" pitchFamily="18" charset="0"/>
              </a:rPr>
              <a:t> owner＝C</a:t>
            </a:r>
          </a:p>
          <a:p>
            <a:pPr algn="just" eaLnBrk="0" hangingPunct="0"/>
            <a:r>
              <a:rPr lang="en-US" altLang="zh-CN" sz="2000">
                <a:latin typeface="Times New Roman" panose="02020603050405020304" pitchFamily="18" charset="0"/>
              </a:rPr>
              <a:t> count＝2</a:t>
            </a:r>
          </a:p>
        </p:txBody>
      </p:sp>
      <p:sp>
        <p:nvSpPr>
          <p:cNvPr id="31758" name="Line 15">
            <a:extLst>
              <a:ext uri="{FF2B5EF4-FFF2-40B4-BE49-F238E27FC236}">
                <a16:creationId xmlns:a16="http://schemas.microsoft.com/office/drawing/2014/main" id="{FC2C045B-8D6D-D885-655C-CD374E1AD849}"/>
              </a:ext>
            </a:extLst>
          </p:cNvPr>
          <p:cNvSpPr>
            <a:spLocks noChangeShapeType="1"/>
          </p:cNvSpPr>
          <p:nvPr/>
        </p:nvSpPr>
        <p:spPr bwMode="auto">
          <a:xfrm>
            <a:off x="6477000" y="2743200"/>
            <a:ext cx="479425" cy="6953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59" name="Line 16">
            <a:extLst>
              <a:ext uri="{FF2B5EF4-FFF2-40B4-BE49-F238E27FC236}">
                <a16:creationId xmlns:a16="http://schemas.microsoft.com/office/drawing/2014/main" id="{2CB5623E-DD04-88DF-5D32-782B0933B9EF}"/>
              </a:ext>
            </a:extLst>
          </p:cNvPr>
          <p:cNvSpPr>
            <a:spLocks noChangeShapeType="1"/>
          </p:cNvSpPr>
          <p:nvPr/>
        </p:nvSpPr>
        <p:spPr bwMode="auto">
          <a:xfrm flipH="1">
            <a:off x="7281863" y="2757488"/>
            <a:ext cx="730250" cy="68103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760" name="Oval 17">
            <a:extLst>
              <a:ext uri="{FF2B5EF4-FFF2-40B4-BE49-F238E27FC236}">
                <a16:creationId xmlns:a16="http://schemas.microsoft.com/office/drawing/2014/main" id="{66B2803A-89FA-8F48-3484-296AF8DF202D}"/>
              </a:ext>
            </a:extLst>
          </p:cNvPr>
          <p:cNvSpPr>
            <a:spLocks noChangeArrowheads="1"/>
          </p:cNvSpPr>
          <p:nvPr/>
        </p:nvSpPr>
        <p:spPr bwMode="auto">
          <a:xfrm>
            <a:off x="6843713" y="4559300"/>
            <a:ext cx="500062" cy="500063"/>
          </a:xfrm>
          <a:prstGeom prst="ellipse">
            <a:avLst/>
          </a:prstGeom>
          <a:solidFill>
            <a:srgbClr val="FFFFFF"/>
          </a:solidFill>
          <a:ln w="25400">
            <a:solidFill>
              <a:srgbClr val="000000"/>
            </a:solidFill>
            <a:round/>
            <a:headEnd/>
            <a:tailEnd type="none" w="sm" len="med"/>
          </a:ln>
        </p:spPr>
        <p:txBody>
          <a:bodyPr lIns="72000" tIns="10800" rIns="72000" bIns="10800"/>
          <a:lstStyle/>
          <a:p>
            <a:endParaRPr lang="zh-CN" altLang="en-US"/>
          </a:p>
        </p:txBody>
      </p:sp>
      <p:sp>
        <p:nvSpPr>
          <p:cNvPr id="31761" name="Rectangle 18">
            <a:extLst>
              <a:ext uri="{FF2B5EF4-FFF2-40B4-BE49-F238E27FC236}">
                <a16:creationId xmlns:a16="http://schemas.microsoft.com/office/drawing/2014/main" id="{2A77DD25-6BF1-383D-9C86-C40F4B96812C}"/>
              </a:ext>
            </a:extLst>
          </p:cNvPr>
          <p:cNvSpPr>
            <a:spLocks noChangeArrowheads="1"/>
          </p:cNvSpPr>
          <p:nvPr/>
        </p:nvSpPr>
        <p:spPr bwMode="auto">
          <a:xfrm>
            <a:off x="6567488" y="5229225"/>
            <a:ext cx="14779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建立链接后</a:t>
            </a:r>
          </a:p>
        </p:txBody>
      </p:sp>
      <p:sp>
        <p:nvSpPr>
          <p:cNvPr id="31762" name="Line 19">
            <a:extLst>
              <a:ext uri="{FF2B5EF4-FFF2-40B4-BE49-F238E27FC236}">
                <a16:creationId xmlns:a16="http://schemas.microsoft.com/office/drawing/2014/main" id="{291A281B-7C93-91EF-93BF-DBE29EF820B8}"/>
              </a:ext>
            </a:extLst>
          </p:cNvPr>
          <p:cNvSpPr>
            <a:spLocks noChangeShapeType="1"/>
          </p:cNvSpPr>
          <p:nvPr/>
        </p:nvSpPr>
        <p:spPr bwMode="auto">
          <a:xfrm>
            <a:off x="7129463" y="4090988"/>
            <a:ext cx="0" cy="4683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5EC1ECB6-46B4-A3E9-1472-23A1ACD2D419}"/>
              </a:ext>
            </a:extLst>
          </p:cNvPr>
          <p:cNvSpPr>
            <a:spLocks noGrp="1" noChangeArrowheads="1"/>
          </p:cNvSpPr>
          <p:nvPr>
            <p:ph type="title"/>
          </p:nvPr>
        </p:nvSpPr>
        <p:spPr/>
        <p:txBody>
          <a:bodyPr/>
          <a:lstStyle/>
          <a:p>
            <a:pPr eaLnBrk="1" hangingPunct="1"/>
            <a:r>
              <a:rPr lang="zh-CN" altLang="en-US"/>
              <a:t>链接例--</a:t>
            </a:r>
            <a:r>
              <a:rPr lang="en-US" altLang="zh-CN"/>
              <a:t> C</a:t>
            </a:r>
            <a:r>
              <a:rPr lang="zh-CN" altLang="en-US"/>
              <a:t>删除文件</a:t>
            </a:r>
          </a:p>
        </p:txBody>
      </p:sp>
      <p:sp>
        <p:nvSpPr>
          <p:cNvPr id="375811" name="Rectangle 3">
            <a:extLst>
              <a:ext uri="{FF2B5EF4-FFF2-40B4-BE49-F238E27FC236}">
                <a16:creationId xmlns:a16="http://schemas.microsoft.com/office/drawing/2014/main" id="{F11734B3-BE52-3B4E-C653-ACBEA0019512}"/>
              </a:ext>
            </a:extLst>
          </p:cNvPr>
          <p:cNvSpPr>
            <a:spLocks noGrp="1" noChangeArrowheads="1"/>
          </p:cNvSpPr>
          <p:nvPr>
            <p:ph idx="1"/>
          </p:nvPr>
        </p:nvSpPr>
        <p:spPr>
          <a:xfrm>
            <a:off x="457200" y="1196975"/>
            <a:ext cx="5562600" cy="4500563"/>
          </a:xfrm>
        </p:spPr>
        <p:txBody>
          <a:bodyPr>
            <a:normAutofit lnSpcReduction="10000"/>
          </a:bodyPr>
          <a:lstStyle/>
          <a:p>
            <a:pPr algn="just" eaLnBrk="1" hangingPunct="1"/>
            <a:r>
              <a:rPr lang="zh-CN" altLang="en-US" sz="2800"/>
              <a:t>如果以后用户</a:t>
            </a:r>
            <a:r>
              <a:rPr lang="en-US" altLang="zh-CN" sz="2800"/>
              <a:t>C</a:t>
            </a:r>
            <a:r>
              <a:rPr lang="zh-CN" altLang="en-US" sz="2800"/>
              <a:t>不再需要该文件，则系统只删除</a:t>
            </a:r>
            <a:r>
              <a:rPr lang="en-US" altLang="zh-CN" sz="2800"/>
              <a:t>C</a:t>
            </a:r>
            <a:r>
              <a:rPr lang="zh-CN" altLang="en-US" sz="2800"/>
              <a:t>的目录项，并将</a:t>
            </a:r>
            <a:r>
              <a:rPr lang="en-US" altLang="zh-CN" sz="2800"/>
              <a:t>count</a:t>
            </a:r>
            <a:r>
              <a:rPr lang="zh-CN" altLang="en-US" sz="2800"/>
              <a:t>减1。</a:t>
            </a:r>
          </a:p>
          <a:p>
            <a:pPr algn="just" eaLnBrk="1" hangingPunct="1"/>
            <a:r>
              <a:rPr lang="zh-CN" altLang="en-US" sz="2800"/>
              <a:t>此时只有</a:t>
            </a:r>
            <a:r>
              <a:rPr lang="en-US" altLang="zh-CN" sz="2800"/>
              <a:t>B</a:t>
            </a:r>
            <a:r>
              <a:rPr lang="zh-CN" altLang="en-US" sz="2800"/>
              <a:t>拥有指向该文件的目录项，而该文件的所有者仍然是</a:t>
            </a:r>
            <a:r>
              <a:rPr lang="en-US" altLang="zh-CN" sz="2800"/>
              <a:t>C。</a:t>
            </a:r>
            <a:r>
              <a:rPr lang="zh-CN" altLang="en-US" sz="2800"/>
              <a:t>如果系统进行记账，</a:t>
            </a:r>
            <a:r>
              <a:rPr lang="en-US" altLang="zh-CN" sz="2800"/>
              <a:t>C</a:t>
            </a:r>
            <a:r>
              <a:rPr lang="zh-CN" altLang="en-US" sz="2800"/>
              <a:t>将继续为该文件付账。</a:t>
            </a:r>
          </a:p>
          <a:p>
            <a:pPr algn="just" eaLnBrk="1" hangingPunct="1"/>
            <a:r>
              <a:rPr lang="zh-CN" altLang="en-US" sz="2800"/>
              <a:t>当</a:t>
            </a:r>
            <a:r>
              <a:rPr lang="en-US" altLang="zh-CN" sz="2800"/>
              <a:t>B</a:t>
            </a:r>
            <a:r>
              <a:rPr lang="zh-CN" altLang="en-US" sz="2800"/>
              <a:t>不再需要它，</a:t>
            </a:r>
            <a:r>
              <a:rPr lang="en-US" altLang="zh-CN" sz="2800"/>
              <a:t>count</a:t>
            </a:r>
            <a:r>
              <a:rPr lang="zh-CN" altLang="en-US" sz="2800"/>
              <a:t>为0，该文作被删除。</a:t>
            </a:r>
            <a:endParaRPr lang="en-US" altLang="zh-CN" sz="2800"/>
          </a:p>
        </p:txBody>
      </p:sp>
      <p:sp>
        <p:nvSpPr>
          <p:cNvPr id="32771" name="Rectangle 4">
            <a:extLst>
              <a:ext uri="{FF2B5EF4-FFF2-40B4-BE49-F238E27FC236}">
                <a16:creationId xmlns:a16="http://schemas.microsoft.com/office/drawing/2014/main" id="{7D868CCE-7FBF-6A5B-84D6-EF9A94441112}"/>
              </a:ext>
            </a:extLst>
          </p:cNvPr>
          <p:cNvSpPr>
            <a:spLocks noChangeArrowheads="1"/>
          </p:cNvSpPr>
          <p:nvPr/>
        </p:nvSpPr>
        <p:spPr bwMode="auto">
          <a:xfrm>
            <a:off x="7019925" y="1931988"/>
            <a:ext cx="1012825" cy="882650"/>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32772" name="Rectangle 5">
            <a:extLst>
              <a:ext uri="{FF2B5EF4-FFF2-40B4-BE49-F238E27FC236}">
                <a16:creationId xmlns:a16="http://schemas.microsoft.com/office/drawing/2014/main" id="{43A61DB6-B62E-3150-B3B3-0BB86634BA2C}"/>
              </a:ext>
            </a:extLst>
          </p:cNvPr>
          <p:cNvSpPr>
            <a:spLocks noChangeArrowheads="1"/>
          </p:cNvSpPr>
          <p:nvPr/>
        </p:nvSpPr>
        <p:spPr bwMode="auto">
          <a:xfrm>
            <a:off x="7005638" y="1600200"/>
            <a:ext cx="10128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a:latin typeface="Times New Roman" panose="02020603050405020304" pitchFamily="18" charset="0"/>
              </a:rPr>
              <a:t>B</a:t>
            </a:r>
            <a:r>
              <a:rPr lang="zh-CN" altLang="en-US" sz="2000">
                <a:latin typeface="Times New Roman" panose="02020603050405020304" pitchFamily="18" charset="0"/>
              </a:rPr>
              <a:t>的目录</a:t>
            </a:r>
          </a:p>
        </p:txBody>
      </p:sp>
      <p:sp>
        <p:nvSpPr>
          <p:cNvPr id="32773" name="Line 6">
            <a:extLst>
              <a:ext uri="{FF2B5EF4-FFF2-40B4-BE49-F238E27FC236}">
                <a16:creationId xmlns:a16="http://schemas.microsoft.com/office/drawing/2014/main" id="{B874BDE4-C44D-974A-ECCF-C9EEF2BA9742}"/>
              </a:ext>
            </a:extLst>
          </p:cNvPr>
          <p:cNvSpPr>
            <a:spLocks noChangeShapeType="1"/>
          </p:cNvSpPr>
          <p:nvPr/>
        </p:nvSpPr>
        <p:spPr bwMode="auto">
          <a:xfrm>
            <a:off x="7019925" y="2176463"/>
            <a:ext cx="10096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2774" name="Line 7">
            <a:extLst>
              <a:ext uri="{FF2B5EF4-FFF2-40B4-BE49-F238E27FC236}">
                <a16:creationId xmlns:a16="http://schemas.microsoft.com/office/drawing/2014/main" id="{5C4C25ED-434F-5931-4072-43473AD81A75}"/>
              </a:ext>
            </a:extLst>
          </p:cNvPr>
          <p:cNvSpPr>
            <a:spLocks noChangeShapeType="1"/>
          </p:cNvSpPr>
          <p:nvPr/>
        </p:nvSpPr>
        <p:spPr bwMode="auto">
          <a:xfrm>
            <a:off x="7035800" y="2397125"/>
            <a:ext cx="10096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2775" name="Line 8">
            <a:extLst>
              <a:ext uri="{FF2B5EF4-FFF2-40B4-BE49-F238E27FC236}">
                <a16:creationId xmlns:a16="http://schemas.microsoft.com/office/drawing/2014/main" id="{C96AF1E4-0DA0-1FAE-9E2A-19986B3AA122}"/>
              </a:ext>
            </a:extLst>
          </p:cNvPr>
          <p:cNvSpPr>
            <a:spLocks noChangeShapeType="1"/>
          </p:cNvSpPr>
          <p:nvPr/>
        </p:nvSpPr>
        <p:spPr bwMode="auto">
          <a:xfrm>
            <a:off x="7019925" y="2593975"/>
            <a:ext cx="100965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2776" name="Rectangle 9">
            <a:extLst>
              <a:ext uri="{FF2B5EF4-FFF2-40B4-BE49-F238E27FC236}">
                <a16:creationId xmlns:a16="http://schemas.microsoft.com/office/drawing/2014/main" id="{442CC88E-20EB-0A4F-691C-109732234FBC}"/>
              </a:ext>
            </a:extLst>
          </p:cNvPr>
          <p:cNvSpPr>
            <a:spLocks noChangeArrowheads="1"/>
          </p:cNvSpPr>
          <p:nvPr/>
        </p:nvSpPr>
        <p:spPr bwMode="auto">
          <a:xfrm>
            <a:off x="6958013" y="3276600"/>
            <a:ext cx="1314450" cy="677863"/>
          </a:xfrm>
          <a:prstGeom prst="rect">
            <a:avLst/>
          </a:prstGeom>
          <a:solidFill>
            <a:srgbClr val="FFFFFF"/>
          </a:solidFill>
          <a:ln w="25400">
            <a:solidFill>
              <a:srgbClr val="000000"/>
            </a:solidFill>
            <a:miter lim="800000"/>
            <a:headEnd/>
            <a:tailEnd type="none" w="sm" len="med"/>
          </a:ln>
        </p:spPr>
        <p:txBody>
          <a:bodyPr lIns="36000" tIns="36000" rIns="36000" bIns="0"/>
          <a:lstStyle/>
          <a:p>
            <a:pPr algn="just" eaLnBrk="0" hangingPunct="0"/>
            <a:r>
              <a:rPr lang="en-US" altLang="zh-CN" sz="2000">
                <a:latin typeface="Times New Roman" panose="02020603050405020304" pitchFamily="18" charset="0"/>
              </a:rPr>
              <a:t> owner＝C</a:t>
            </a:r>
          </a:p>
          <a:p>
            <a:pPr algn="just" eaLnBrk="0" hangingPunct="0"/>
            <a:r>
              <a:rPr lang="en-US" altLang="zh-CN" sz="2000">
                <a:latin typeface="Times New Roman" panose="02020603050405020304" pitchFamily="18" charset="0"/>
              </a:rPr>
              <a:t> count＝1</a:t>
            </a:r>
          </a:p>
        </p:txBody>
      </p:sp>
      <p:sp>
        <p:nvSpPr>
          <p:cNvPr id="32777" name="Line 10">
            <a:extLst>
              <a:ext uri="{FF2B5EF4-FFF2-40B4-BE49-F238E27FC236}">
                <a16:creationId xmlns:a16="http://schemas.microsoft.com/office/drawing/2014/main" id="{D1E9CD1A-A5CF-958B-6C15-48C2CB4F2CDD}"/>
              </a:ext>
            </a:extLst>
          </p:cNvPr>
          <p:cNvSpPr>
            <a:spLocks noChangeShapeType="1"/>
          </p:cNvSpPr>
          <p:nvPr/>
        </p:nvSpPr>
        <p:spPr bwMode="auto">
          <a:xfrm>
            <a:off x="7419975" y="2667000"/>
            <a:ext cx="393700" cy="62071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778" name="Oval 11">
            <a:extLst>
              <a:ext uri="{FF2B5EF4-FFF2-40B4-BE49-F238E27FC236}">
                <a16:creationId xmlns:a16="http://schemas.microsoft.com/office/drawing/2014/main" id="{777E2CE7-236D-F6D3-606B-B96D708E4FEC}"/>
              </a:ext>
            </a:extLst>
          </p:cNvPr>
          <p:cNvSpPr>
            <a:spLocks noChangeArrowheads="1"/>
          </p:cNvSpPr>
          <p:nvPr/>
        </p:nvSpPr>
        <p:spPr bwMode="auto">
          <a:xfrm>
            <a:off x="7262813" y="4384675"/>
            <a:ext cx="463550" cy="463550"/>
          </a:xfrm>
          <a:prstGeom prst="ellipse">
            <a:avLst/>
          </a:prstGeom>
          <a:solidFill>
            <a:srgbClr val="FFFFFF"/>
          </a:solidFill>
          <a:ln w="25400">
            <a:solidFill>
              <a:srgbClr val="000000"/>
            </a:solidFill>
            <a:round/>
            <a:headEnd/>
            <a:tailEnd type="none" w="sm" len="med"/>
          </a:ln>
        </p:spPr>
        <p:txBody>
          <a:bodyPr lIns="72000" tIns="10800" rIns="72000" bIns="10800"/>
          <a:lstStyle/>
          <a:p>
            <a:endParaRPr lang="zh-CN" altLang="en-US"/>
          </a:p>
        </p:txBody>
      </p:sp>
      <p:sp>
        <p:nvSpPr>
          <p:cNvPr id="32779" name="Rectangle 12">
            <a:extLst>
              <a:ext uri="{FF2B5EF4-FFF2-40B4-BE49-F238E27FC236}">
                <a16:creationId xmlns:a16="http://schemas.microsoft.com/office/drawing/2014/main" id="{A4DAD428-9F6E-9519-A4D2-1D40E3EEAE68}"/>
              </a:ext>
            </a:extLst>
          </p:cNvPr>
          <p:cNvSpPr>
            <a:spLocks noChangeArrowheads="1"/>
          </p:cNvSpPr>
          <p:nvPr/>
        </p:nvSpPr>
        <p:spPr bwMode="auto">
          <a:xfrm>
            <a:off x="6657975" y="5027613"/>
            <a:ext cx="210502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拥有者删除文件后</a:t>
            </a:r>
          </a:p>
        </p:txBody>
      </p:sp>
      <p:sp>
        <p:nvSpPr>
          <p:cNvPr id="32780" name="Line 13">
            <a:extLst>
              <a:ext uri="{FF2B5EF4-FFF2-40B4-BE49-F238E27FC236}">
                <a16:creationId xmlns:a16="http://schemas.microsoft.com/office/drawing/2014/main" id="{C1014B04-86A5-F5C2-9EF3-0D00B6A910F5}"/>
              </a:ext>
            </a:extLst>
          </p:cNvPr>
          <p:cNvSpPr>
            <a:spLocks noChangeShapeType="1"/>
          </p:cNvSpPr>
          <p:nvPr/>
        </p:nvSpPr>
        <p:spPr bwMode="auto">
          <a:xfrm>
            <a:off x="7527925" y="3954463"/>
            <a:ext cx="0" cy="430212"/>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checkerboard(across)">
                                      <p:cBhvr>
                                        <p:cTn id="7" dur="500"/>
                                        <p:tgtEl>
                                          <p:spTgt spid="375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75811">
                                            <p:txEl>
                                              <p:pRg st="1" end="1"/>
                                            </p:txEl>
                                          </p:spTgt>
                                        </p:tgtEl>
                                        <p:attrNameLst>
                                          <p:attrName>style.visibility</p:attrName>
                                        </p:attrNameLst>
                                      </p:cBhvr>
                                      <p:to>
                                        <p:strVal val="visible"/>
                                      </p:to>
                                    </p:set>
                                    <p:animEffect transition="in" filter="checkerboard(across)">
                                      <p:cBhvr>
                                        <p:cTn id="12" dur="500"/>
                                        <p:tgtEl>
                                          <p:spTgt spid="3758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75811">
                                            <p:txEl>
                                              <p:pRg st="2" end="2"/>
                                            </p:txEl>
                                          </p:spTgt>
                                        </p:tgtEl>
                                        <p:attrNameLst>
                                          <p:attrName>style.visibility</p:attrName>
                                        </p:attrNameLst>
                                      </p:cBhvr>
                                      <p:to>
                                        <p:strVal val="visible"/>
                                      </p:to>
                                    </p:set>
                                    <p:animEffect transition="in" filter="checkerboard(across)">
                                      <p:cBhvr>
                                        <p:cTn id="17" dur="500"/>
                                        <p:tgtEl>
                                          <p:spTgt spid="3758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build="p"/>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7C97E771-ABC9-6277-519F-04CF96AFAFC9}"/>
              </a:ext>
            </a:extLst>
          </p:cNvPr>
          <p:cNvSpPr>
            <a:spLocks noGrp="1" noChangeArrowheads="1"/>
          </p:cNvSpPr>
          <p:nvPr>
            <p:ph type="title"/>
          </p:nvPr>
        </p:nvSpPr>
        <p:spPr/>
        <p:txBody>
          <a:bodyPr/>
          <a:lstStyle/>
          <a:p>
            <a:pPr eaLnBrk="1" hangingPunct="1"/>
            <a:r>
              <a:rPr lang="zh-CN" altLang="en-US"/>
              <a:t>硬链接</a:t>
            </a:r>
          </a:p>
        </p:txBody>
      </p:sp>
      <p:sp>
        <p:nvSpPr>
          <p:cNvPr id="33794" name="Rectangle 3">
            <a:extLst>
              <a:ext uri="{FF2B5EF4-FFF2-40B4-BE49-F238E27FC236}">
                <a16:creationId xmlns:a16="http://schemas.microsoft.com/office/drawing/2014/main" id="{E152AD0C-CA5B-50CF-1834-C7880D11D9CA}"/>
              </a:ext>
            </a:extLst>
          </p:cNvPr>
          <p:cNvSpPr>
            <a:spLocks noGrp="1" noChangeArrowheads="1"/>
          </p:cNvSpPr>
          <p:nvPr>
            <p:ph idx="1"/>
          </p:nvPr>
        </p:nvSpPr>
        <p:spPr>
          <a:xfrm>
            <a:off x="685800" y="1233488"/>
            <a:ext cx="8305800" cy="1868487"/>
          </a:xfrm>
        </p:spPr>
        <p:txBody>
          <a:bodyPr/>
          <a:lstStyle/>
          <a:p>
            <a:pPr eaLnBrk="1" hangingPunct="1">
              <a:lnSpc>
                <a:spcPct val="90000"/>
              </a:lnSpc>
            </a:pPr>
            <a:r>
              <a:rPr lang="zh-CN" altLang="en-US" sz="2800"/>
              <a:t>基于索引节点的文件共享方式是通过在不同目录项中设置相同索引节点号来实现的。</a:t>
            </a:r>
          </a:p>
          <a:p>
            <a:pPr eaLnBrk="1" hangingPunct="1">
              <a:lnSpc>
                <a:spcPct val="90000"/>
              </a:lnSpc>
            </a:pPr>
            <a:r>
              <a:rPr lang="zh-CN" altLang="en-US" sz="2800"/>
              <a:t>这种文件的链接方式称为</a:t>
            </a:r>
            <a:r>
              <a:rPr lang="zh-CN" altLang="en-US" sz="2800">
                <a:solidFill>
                  <a:srgbClr val="FF0000"/>
                </a:solidFill>
              </a:rPr>
              <a:t>硬链接</a:t>
            </a:r>
            <a:r>
              <a:rPr lang="zh-CN" altLang="en-US" sz="2800"/>
              <a:t>。</a:t>
            </a:r>
          </a:p>
          <a:p>
            <a:pPr eaLnBrk="1" hangingPunct="1">
              <a:lnSpc>
                <a:spcPct val="90000"/>
              </a:lnSpc>
            </a:pPr>
            <a:r>
              <a:rPr lang="zh-CN" altLang="en-US" sz="2800"/>
              <a:t>硬链接的不足是无法跨越文件系统。</a:t>
            </a:r>
          </a:p>
        </p:txBody>
      </p:sp>
      <p:sp>
        <p:nvSpPr>
          <p:cNvPr id="33795" name="Rectangle 4">
            <a:extLst>
              <a:ext uri="{FF2B5EF4-FFF2-40B4-BE49-F238E27FC236}">
                <a16:creationId xmlns:a16="http://schemas.microsoft.com/office/drawing/2014/main" id="{094B2469-DFB4-B5B6-7105-81A0D0438651}"/>
              </a:ext>
            </a:extLst>
          </p:cNvPr>
          <p:cNvSpPr>
            <a:spLocks noChangeArrowheads="1"/>
          </p:cNvSpPr>
          <p:nvPr/>
        </p:nvSpPr>
        <p:spPr bwMode="auto">
          <a:xfrm>
            <a:off x="1031875" y="3349625"/>
            <a:ext cx="266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Wang</a:t>
            </a:r>
            <a:r>
              <a:rPr lang="zh-CN" altLang="en-US">
                <a:latin typeface="Times New Roman" panose="02020603050405020304" pitchFamily="18" charset="0"/>
              </a:rPr>
              <a:t>用户文件目录</a:t>
            </a:r>
          </a:p>
        </p:txBody>
      </p:sp>
      <p:sp>
        <p:nvSpPr>
          <p:cNvPr id="33796" name="Rectangle 5">
            <a:extLst>
              <a:ext uri="{FF2B5EF4-FFF2-40B4-BE49-F238E27FC236}">
                <a16:creationId xmlns:a16="http://schemas.microsoft.com/office/drawing/2014/main" id="{E5CC5E45-9557-265B-4A9F-F89F6867505F}"/>
              </a:ext>
            </a:extLst>
          </p:cNvPr>
          <p:cNvSpPr>
            <a:spLocks noChangeArrowheads="1"/>
          </p:cNvSpPr>
          <p:nvPr/>
        </p:nvSpPr>
        <p:spPr bwMode="auto">
          <a:xfrm>
            <a:off x="1304925" y="3763963"/>
            <a:ext cx="1731963" cy="871537"/>
          </a:xfrm>
          <a:prstGeom prst="rect">
            <a:avLst/>
          </a:prstGeom>
          <a:solidFill>
            <a:srgbClr val="FFFFFF"/>
          </a:solidFill>
          <a:ln w="28575">
            <a:solidFill>
              <a:srgbClr val="000000"/>
            </a:solidFill>
            <a:miter lim="800000"/>
            <a:headEnd/>
            <a:tailEnd type="none" w="sm" len="med"/>
          </a:ln>
        </p:spPr>
        <p:txBody>
          <a:bodyPr lIns="72000" tIns="0" rIns="72000" bIns="0"/>
          <a:lstStyle/>
          <a:p>
            <a:pPr algn="just" eaLnBrk="0" hangingPunct="0"/>
            <a:r>
              <a:rPr lang="zh-CN" altLang="en-US">
                <a:latin typeface="宋体" panose="02010600030101010101" pitchFamily="2" charset="-122"/>
              </a:rPr>
              <a:t> ┆</a:t>
            </a:r>
          </a:p>
          <a:p>
            <a:pPr algn="just" eaLnBrk="0" hangingPunct="0"/>
            <a:endParaRPr lang="zh-CN" altLang="en-US" sz="800">
              <a:latin typeface="宋体" panose="02010600030101010101" pitchFamily="2" charset="-122"/>
            </a:endParaRPr>
          </a:p>
          <a:p>
            <a:pPr algn="just" eaLnBrk="0" hangingPunct="0"/>
            <a:r>
              <a:rPr lang="en-US" altLang="zh-CN">
                <a:latin typeface="Times New Roman" panose="02020603050405020304" pitchFamily="18" charset="0"/>
              </a:rPr>
              <a:t> Testw     6</a:t>
            </a:r>
            <a:endParaRPr lang="en-US" altLang="zh-CN">
              <a:latin typeface="宋体" panose="02010600030101010101" pitchFamily="2" charset="-122"/>
            </a:endParaRPr>
          </a:p>
        </p:txBody>
      </p:sp>
      <p:sp>
        <p:nvSpPr>
          <p:cNvPr id="33797" name="Line 6">
            <a:extLst>
              <a:ext uri="{FF2B5EF4-FFF2-40B4-BE49-F238E27FC236}">
                <a16:creationId xmlns:a16="http://schemas.microsoft.com/office/drawing/2014/main" id="{78E72EE6-5104-424B-B81F-1C864D517529}"/>
              </a:ext>
            </a:extLst>
          </p:cNvPr>
          <p:cNvSpPr>
            <a:spLocks noChangeShapeType="1"/>
          </p:cNvSpPr>
          <p:nvPr/>
        </p:nvSpPr>
        <p:spPr bwMode="auto">
          <a:xfrm flipV="1">
            <a:off x="1301750" y="4187825"/>
            <a:ext cx="1747838" cy="0"/>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798" name="Line 7">
            <a:extLst>
              <a:ext uri="{FF2B5EF4-FFF2-40B4-BE49-F238E27FC236}">
                <a16:creationId xmlns:a16="http://schemas.microsoft.com/office/drawing/2014/main" id="{30FD39C1-236E-E711-9EDF-0B56220A2990}"/>
              </a:ext>
            </a:extLst>
          </p:cNvPr>
          <p:cNvSpPr>
            <a:spLocks noChangeShapeType="1"/>
          </p:cNvSpPr>
          <p:nvPr/>
        </p:nvSpPr>
        <p:spPr bwMode="auto">
          <a:xfrm>
            <a:off x="2382838" y="3763963"/>
            <a:ext cx="1587" cy="871537"/>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799" name="Rectangle 8">
            <a:extLst>
              <a:ext uri="{FF2B5EF4-FFF2-40B4-BE49-F238E27FC236}">
                <a16:creationId xmlns:a16="http://schemas.microsoft.com/office/drawing/2014/main" id="{073A9A07-7291-BF7F-8B6B-0210E8EFC835}"/>
              </a:ext>
            </a:extLst>
          </p:cNvPr>
          <p:cNvSpPr>
            <a:spLocks noChangeArrowheads="1"/>
          </p:cNvSpPr>
          <p:nvPr/>
        </p:nvSpPr>
        <p:spPr bwMode="auto">
          <a:xfrm>
            <a:off x="1068388" y="4816475"/>
            <a:ext cx="247808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Lee</a:t>
            </a:r>
            <a:r>
              <a:rPr lang="zh-CN" altLang="en-US">
                <a:latin typeface="Times New Roman" panose="02020603050405020304" pitchFamily="18" charset="0"/>
              </a:rPr>
              <a:t>用户文件目录</a:t>
            </a:r>
          </a:p>
        </p:txBody>
      </p:sp>
      <p:sp>
        <p:nvSpPr>
          <p:cNvPr id="33800" name="Rectangle 9">
            <a:extLst>
              <a:ext uri="{FF2B5EF4-FFF2-40B4-BE49-F238E27FC236}">
                <a16:creationId xmlns:a16="http://schemas.microsoft.com/office/drawing/2014/main" id="{93BB14B9-29E9-0285-D0C6-9928F91DCF66}"/>
              </a:ext>
            </a:extLst>
          </p:cNvPr>
          <p:cNvSpPr>
            <a:spLocks noChangeArrowheads="1"/>
          </p:cNvSpPr>
          <p:nvPr/>
        </p:nvSpPr>
        <p:spPr bwMode="auto">
          <a:xfrm>
            <a:off x="1287463" y="5267325"/>
            <a:ext cx="1730375" cy="825500"/>
          </a:xfrm>
          <a:prstGeom prst="rect">
            <a:avLst/>
          </a:prstGeom>
          <a:solidFill>
            <a:srgbClr val="FFFFFF"/>
          </a:solidFill>
          <a:ln w="28575">
            <a:solidFill>
              <a:srgbClr val="000000"/>
            </a:solidFill>
            <a:miter lim="800000"/>
            <a:headEnd/>
            <a:tailEnd type="none" w="sm" len="med"/>
          </a:ln>
        </p:spPr>
        <p:txBody>
          <a:bodyPr lIns="72000" tIns="72000" rIns="72000" bIns="0"/>
          <a:lstStyle/>
          <a:p>
            <a:pPr algn="just" eaLnBrk="0" hangingPunct="0"/>
            <a:r>
              <a:rPr lang="zh-CN" altLang="en-US">
                <a:latin typeface="宋体" panose="02010600030101010101" pitchFamily="2" charset="-122"/>
              </a:rPr>
              <a:t> ┆</a:t>
            </a:r>
          </a:p>
          <a:p>
            <a:pPr algn="just" eaLnBrk="0" hangingPunct="0"/>
            <a:r>
              <a:rPr lang="en-US" altLang="zh-CN">
                <a:latin typeface="Times New Roman" panose="02020603050405020304" pitchFamily="18" charset="0"/>
              </a:rPr>
              <a:t> Testl      6</a:t>
            </a:r>
            <a:r>
              <a:rPr lang="en-US" altLang="zh-CN">
                <a:latin typeface="宋体" panose="02010600030101010101" pitchFamily="2" charset="-122"/>
              </a:rPr>
              <a:t> </a:t>
            </a:r>
          </a:p>
        </p:txBody>
      </p:sp>
      <p:sp>
        <p:nvSpPr>
          <p:cNvPr id="33801" name="Line 10">
            <a:extLst>
              <a:ext uri="{FF2B5EF4-FFF2-40B4-BE49-F238E27FC236}">
                <a16:creationId xmlns:a16="http://schemas.microsoft.com/office/drawing/2014/main" id="{86103EB3-5E3B-C0FE-F6F2-2F258E957E12}"/>
              </a:ext>
            </a:extLst>
          </p:cNvPr>
          <p:cNvSpPr>
            <a:spLocks noChangeShapeType="1"/>
          </p:cNvSpPr>
          <p:nvPr/>
        </p:nvSpPr>
        <p:spPr bwMode="auto">
          <a:xfrm>
            <a:off x="2239963" y="5267325"/>
            <a:ext cx="1587" cy="825500"/>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802" name="Line 11">
            <a:extLst>
              <a:ext uri="{FF2B5EF4-FFF2-40B4-BE49-F238E27FC236}">
                <a16:creationId xmlns:a16="http://schemas.microsoft.com/office/drawing/2014/main" id="{F8DD52CD-AADE-9865-FFF3-59AF899DDFDA}"/>
              </a:ext>
            </a:extLst>
          </p:cNvPr>
          <p:cNvSpPr>
            <a:spLocks noChangeShapeType="1"/>
          </p:cNvSpPr>
          <p:nvPr/>
        </p:nvSpPr>
        <p:spPr bwMode="auto">
          <a:xfrm flipV="1">
            <a:off x="1284288" y="5711825"/>
            <a:ext cx="1746250" cy="0"/>
          </a:xfrm>
          <a:prstGeom prst="line">
            <a:avLst/>
          </a:prstGeom>
          <a:noFill/>
          <a:ln w="285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803" name="Rectangle 12">
            <a:extLst>
              <a:ext uri="{FF2B5EF4-FFF2-40B4-BE49-F238E27FC236}">
                <a16:creationId xmlns:a16="http://schemas.microsoft.com/office/drawing/2014/main" id="{185469D3-0210-0CE5-8FD0-B94627B354C2}"/>
              </a:ext>
            </a:extLst>
          </p:cNvPr>
          <p:cNvSpPr>
            <a:spLocks noChangeArrowheads="1"/>
          </p:cNvSpPr>
          <p:nvPr/>
        </p:nvSpPr>
        <p:spPr bwMode="auto">
          <a:xfrm>
            <a:off x="4425950" y="4348163"/>
            <a:ext cx="2162175" cy="1131887"/>
          </a:xfrm>
          <a:prstGeom prst="rect">
            <a:avLst/>
          </a:prstGeom>
          <a:solidFill>
            <a:srgbClr val="FFFFFF"/>
          </a:solidFill>
          <a:ln w="28575">
            <a:solidFill>
              <a:srgbClr val="000000"/>
            </a:solidFill>
            <a:miter lim="800000"/>
            <a:headEnd/>
            <a:tailEnd type="none" w="sm" len="med"/>
          </a:ln>
        </p:spPr>
        <p:txBody>
          <a:bodyPr lIns="72000" tIns="0" rIns="72000" bIns="10800"/>
          <a:lstStyle/>
          <a:p>
            <a:pPr algn="just" eaLnBrk="0" hangingPunct="0"/>
            <a:endParaRPr lang="zh-CN" altLang="en-US">
              <a:latin typeface="Times New Roman" panose="02020603050405020304" pitchFamily="18" charset="0"/>
            </a:endParaRPr>
          </a:p>
          <a:p>
            <a:pPr algn="just" eaLnBrk="0" hangingPunct="0"/>
            <a:r>
              <a:rPr lang="en-US" altLang="zh-CN">
                <a:latin typeface="Times New Roman" panose="02020603050405020304" pitchFamily="18" charset="0"/>
              </a:rPr>
              <a:t>count＝2</a:t>
            </a:r>
          </a:p>
          <a:p>
            <a:pPr algn="just" eaLnBrk="0" hangingPunct="0"/>
            <a:r>
              <a:rPr lang="zh-CN" altLang="en-US">
                <a:latin typeface="Times New Roman" panose="02020603050405020304" pitchFamily="18" charset="0"/>
              </a:rPr>
              <a:t>文件物理地址</a:t>
            </a:r>
          </a:p>
        </p:txBody>
      </p:sp>
      <p:sp>
        <p:nvSpPr>
          <p:cNvPr id="33804" name="Rectangle 13">
            <a:extLst>
              <a:ext uri="{FF2B5EF4-FFF2-40B4-BE49-F238E27FC236}">
                <a16:creationId xmlns:a16="http://schemas.microsoft.com/office/drawing/2014/main" id="{5A3ACF58-6814-19CA-927C-C39FA094E1F1}"/>
              </a:ext>
            </a:extLst>
          </p:cNvPr>
          <p:cNvSpPr>
            <a:spLocks noChangeArrowheads="1"/>
          </p:cNvSpPr>
          <p:nvPr/>
        </p:nvSpPr>
        <p:spPr bwMode="auto">
          <a:xfrm>
            <a:off x="4730750" y="3959225"/>
            <a:ext cx="155892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zh-CN" altLang="en-US">
                <a:latin typeface="Times New Roman" panose="02020603050405020304" pitchFamily="18" charset="0"/>
              </a:rPr>
              <a:t>索引节点6</a:t>
            </a:r>
          </a:p>
        </p:txBody>
      </p:sp>
      <p:sp>
        <p:nvSpPr>
          <p:cNvPr id="33805" name="Oval 14">
            <a:extLst>
              <a:ext uri="{FF2B5EF4-FFF2-40B4-BE49-F238E27FC236}">
                <a16:creationId xmlns:a16="http://schemas.microsoft.com/office/drawing/2014/main" id="{C70E25E9-14DF-3D22-504C-FCE2691C35FE}"/>
              </a:ext>
            </a:extLst>
          </p:cNvPr>
          <p:cNvSpPr>
            <a:spLocks noChangeArrowheads="1"/>
          </p:cNvSpPr>
          <p:nvPr/>
        </p:nvSpPr>
        <p:spPr bwMode="auto">
          <a:xfrm>
            <a:off x="7666038" y="4595813"/>
            <a:ext cx="704850" cy="455612"/>
          </a:xfrm>
          <a:prstGeom prst="ellipse">
            <a:avLst/>
          </a:prstGeom>
          <a:solidFill>
            <a:srgbClr val="FFFFFF"/>
          </a:solidFill>
          <a:ln w="28575">
            <a:solidFill>
              <a:srgbClr val="000000"/>
            </a:solidFill>
            <a:round/>
            <a:headEnd/>
            <a:tailEnd type="none" w="sm" len="med"/>
          </a:ln>
        </p:spPr>
        <p:txBody>
          <a:bodyPr lIns="72000" tIns="10800" rIns="72000" bIns="10800"/>
          <a:lstStyle/>
          <a:p>
            <a:endParaRPr lang="zh-CN" altLang="en-US"/>
          </a:p>
        </p:txBody>
      </p:sp>
      <p:sp>
        <p:nvSpPr>
          <p:cNvPr id="33806" name="Line 15">
            <a:extLst>
              <a:ext uri="{FF2B5EF4-FFF2-40B4-BE49-F238E27FC236}">
                <a16:creationId xmlns:a16="http://schemas.microsoft.com/office/drawing/2014/main" id="{CADF4C90-B70C-126D-203D-A47AA3A33E50}"/>
              </a:ext>
            </a:extLst>
          </p:cNvPr>
          <p:cNvSpPr>
            <a:spLocks noChangeShapeType="1"/>
          </p:cNvSpPr>
          <p:nvPr/>
        </p:nvSpPr>
        <p:spPr bwMode="auto">
          <a:xfrm flipV="1">
            <a:off x="6602413" y="4816475"/>
            <a:ext cx="1081087" cy="130175"/>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3807" name="Rectangle 16">
            <a:extLst>
              <a:ext uri="{FF2B5EF4-FFF2-40B4-BE49-F238E27FC236}">
                <a16:creationId xmlns:a16="http://schemas.microsoft.com/office/drawing/2014/main" id="{18464A48-9CFD-8E72-A10D-EAB69B4460C1}"/>
              </a:ext>
            </a:extLst>
          </p:cNvPr>
          <p:cNvSpPr>
            <a:spLocks noChangeArrowheads="1"/>
          </p:cNvSpPr>
          <p:nvPr/>
        </p:nvSpPr>
        <p:spPr bwMode="auto">
          <a:xfrm>
            <a:off x="8405813" y="4676775"/>
            <a:ext cx="7032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Test</a:t>
            </a:r>
          </a:p>
        </p:txBody>
      </p:sp>
    </p:spTree>
  </p:cSld>
  <p:clrMapOvr>
    <a:masterClrMapping/>
  </p:clrMapOvr>
  <p:transition spd="med">
    <p:zoom/>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6A52E41A-42AC-2EA7-FE15-762B3802AA74}"/>
              </a:ext>
            </a:extLst>
          </p:cNvPr>
          <p:cNvSpPr>
            <a:spLocks noGrp="1" noChangeArrowheads="1"/>
          </p:cNvSpPr>
          <p:nvPr>
            <p:ph type="title"/>
          </p:nvPr>
        </p:nvSpPr>
        <p:spPr/>
        <p:txBody>
          <a:bodyPr/>
          <a:lstStyle/>
          <a:p>
            <a:pPr eaLnBrk="1" hangingPunct="1"/>
            <a:r>
              <a:rPr lang="zh-CN" altLang="en-US" b="1"/>
              <a:t>利用符号链接实现文件共享</a:t>
            </a:r>
          </a:p>
        </p:txBody>
      </p:sp>
      <p:sp>
        <p:nvSpPr>
          <p:cNvPr id="377859" name="Rectangle 3">
            <a:extLst>
              <a:ext uri="{FF2B5EF4-FFF2-40B4-BE49-F238E27FC236}">
                <a16:creationId xmlns:a16="http://schemas.microsoft.com/office/drawing/2014/main" id="{961AD77E-6F34-80F8-15A7-32D97174180A}"/>
              </a:ext>
            </a:extLst>
          </p:cNvPr>
          <p:cNvSpPr>
            <a:spLocks noGrp="1" noChangeArrowheads="1"/>
          </p:cNvSpPr>
          <p:nvPr>
            <p:ph idx="1"/>
          </p:nvPr>
        </p:nvSpPr>
        <p:spPr>
          <a:xfrm>
            <a:off x="900113" y="1125538"/>
            <a:ext cx="8004175" cy="5040312"/>
          </a:xfrm>
        </p:spPr>
        <p:txBody>
          <a:bodyPr/>
          <a:lstStyle/>
          <a:p>
            <a:pPr algn="just" eaLnBrk="1" hangingPunct="1">
              <a:lnSpc>
                <a:spcPct val="90000"/>
              </a:lnSpc>
            </a:pPr>
            <a:r>
              <a:rPr lang="zh-CN" altLang="en-US">
                <a:latin typeface="Times New Roman" panose="02020603050405020304" pitchFamily="18" charset="0"/>
              </a:rPr>
              <a:t>利用符号链接也可以实现文件共享。</a:t>
            </a:r>
          </a:p>
          <a:p>
            <a:pPr algn="just" eaLnBrk="1" hangingPunct="1">
              <a:lnSpc>
                <a:spcPct val="90000"/>
              </a:lnSpc>
            </a:pPr>
            <a:r>
              <a:rPr lang="zh-CN" altLang="en-US">
                <a:latin typeface="Times New Roman" panose="02020603050405020304" pitchFamily="18" charset="0"/>
              </a:rPr>
              <a:t>例如，</a:t>
            </a:r>
            <a:r>
              <a:rPr lang="en-US" altLang="zh-CN"/>
              <a:t>B</a:t>
            </a:r>
            <a:r>
              <a:rPr lang="zh-CN" altLang="en-US">
                <a:latin typeface="Times New Roman" panose="02020603050405020304" pitchFamily="18" charset="0"/>
              </a:rPr>
              <a:t>为了共享</a:t>
            </a:r>
            <a:r>
              <a:rPr lang="en-US" altLang="zh-CN"/>
              <a:t>C</a:t>
            </a:r>
            <a:r>
              <a:rPr lang="zh-CN" altLang="en-US">
                <a:latin typeface="Times New Roman" panose="02020603050405020304" pitchFamily="18" charset="0"/>
              </a:rPr>
              <a:t>的一个文件</a:t>
            </a:r>
            <a:r>
              <a:rPr lang="en-US" altLang="zh-CN">
                <a:latin typeface="Times New Roman" panose="02020603050405020304" pitchFamily="18" charset="0"/>
              </a:rPr>
              <a:t>f，</a:t>
            </a:r>
            <a:r>
              <a:rPr lang="zh-CN" altLang="en-US">
                <a:latin typeface="Times New Roman" panose="02020603050405020304" pitchFamily="18" charset="0"/>
              </a:rPr>
              <a:t>可以由系统创建一个</a:t>
            </a:r>
            <a:r>
              <a:rPr lang="en-US" altLang="zh-CN"/>
              <a:t>LINK</a:t>
            </a:r>
            <a:r>
              <a:rPr lang="zh-CN" altLang="en-US">
                <a:latin typeface="Times New Roman" panose="02020603050405020304" pitchFamily="18" charset="0"/>
              </a:rPr>
              <a:t>类型的新文件</a:t>
            </a:r>
            <a:r>
              <a:rPr lang="en-US" altLang="zh-CN">
                <a:latin typeface="Times New Roman" panose="02020603050405020304" pitchFamily="18" charset="0"/>
              </a:rPr>
              <a:t>b1，</a:t>
            </a:r>
            <a:r>
              <a:rPr lang="zh-CN" altLang="en-US">
                <a:latin typeface="Times New Roman" panose="02020603050405020304" pitchFamily="18" charset="0"/>
              </a:rPr>
              <a:t>并把新文件</a:t>
            </a:r>
            <a:r>
              <a:rPr lang="en-US" altLang="zh-CN">
                <a:latin typeface="Times New Roman" panose="02020603050405020304" pitchFamily="18" charset="0"/>
              </a:rPr>
              <a:t>b1</a:t>
            </a:r>
            <a:r>
              <a:rPr lang="zh-CN" altLang="en-US">
                <a:latin typeface="Times New Roman" panose="02020603050405020304" pitchFamily="18" charset="0"/>
              </a:rPr>
              <a:t>添加到</a:t>
            </a:r>
            <a:r>
              <a:rPr lang="en-US" altLang="zh-CN"/>
              <a:t>B</a:t>
            </a:r>
            <a:r>
              <a:rPr lang="zh-CN" altLang="en-US">
                <a:latin typeface="Times New Roman" panose="02020603050405020304" pitchFamily="18" charset="0"/>
              </a:rPr>
              <a:t>的目录中，以实现</a:t>
            </a:r>
            <a:r>
              <a:rPr lang="en-US" altLang="zh-CN"/>
              <a:t>B</a:t>
            </a:r>
            <a:r>
              <a:rPr lang="zh-CN" altLang="en-US">
                <a:latin typeface="Times New Roman" panose="02020603050405020304" pitchFamily="18" charset="0"/>
              </a:rPr>
              <a:t>的一个目录</a:t>
            </a:r>
            <a:r>
              <a:rPr lang="en-US" altLang="zh-CN">
                <a:latin typeface="Times New Roman" panose="02020603050405020304" pitchFamily="18" charset="0"/>
              </a:rPr>
              <a:t>b1</a:t>
            </a:r>
            <a:r>
              <a:rPr lang="zh-CN" altLang="en-US">
                <a:latin typeface="Times New Roman" panose="02020603050405020304" pitchFamily="18" charset="0"/>
              </a:rPr>
              <a:t>与文件</a:t>
            </a:r>
            <a:r>
              <a:rPr lang="en-US" altLang="zh-CN">
                <a:latin typeface="Times New Roman" panose="02020603050405020304" pitchFamily="18" charset="0"/>
              </a:rPr>
              <a:t>f</a:t>
            </a:r>
            <a:r>
              <a:rPr lang="zh-CN" altLang="en-US">
                <a:latin typeface="Times New Roman" panose="02020603050405020304" pitchFamily="18" charset="0"/>
              </a:rPr>
              <a:t>的链接。</a:t>
            </a:r>
          </a:p>
          <a:p>
            <a:pPr algn="just" eaLnBrk="1" hangingPunct="1">
              <a:lnSpc>
                <a:spcPct val="90000"/>
              </a:lnSpc>
            </a:pPr>
            <a:r>
              <a:rPr lang="zh-CN" altLang="en-US">
                <a:latin typeface="Times New Roman" panose="02020603050405020304" pitchFamily="18" charset="0"/>
              </a:rPr>
              <a:t>新文件中只包含被链接文件</a:t>
            </a:r>
            <a:r>
              <a:rPr lang="en-US" altLang="zh-CN">
                <a:latin typeface="Times New Roman" panose="02020603050405020304" pitchFamily="18" charset="0"/>
              </a:rPr>
              <a:t>f</a:t>
            </a:r>
            <a:r>
              <a:rPr lang="zh-CN" altLang="en-US">
                <a:latin typeface="Times New Roman" panose="02020603050405020304" pitchFamily="18" charset="0"/>
              </a:rPr>
              <a:t>的路径名，称这种链接方式为</a:t>
            </a:r>
            <a:r>
              <a:rPr lang="zh-CN" altLang="en-US">
                <a:solidFill>
                  <a:srgbClr val="FF0000"/>
                </a:solidFill>
                <a:latin typeface="Times New Roman" panose="02020603050405020304" pitchFamily="18" charset="0"/>
              </a:rPr>
              <a:t>符号链接</a:t>
            </a:r>
            <a:r>
              <a:rPr lang="zh-CN" altLang="en-US">
                <a:latin typeface="Times New Roman" panose="02020603050405020304" pitchFamily="18" charset="0"/>
              </a:rPr>
              <a:t>。</a:t>
            </a:r>
            <a:r>
              <a:rPr lang="zh-CN" altLang="en-US">
                <a:solidFill>
                  <a:schemeClr val="folHlink"/>
                </a:solidFill>
                <a:latin typeface="Times New Roman" panose="02020603050405020304" pitchFamily="18" charset="0"/>
              </a:rPr>
              <a:t>也称为软链接。</a:t>
            </a:r>
            <a:r>
              <a:rPr lang="zh-CN" altLang="en-US">
                <a:solidFill>
                  <a:schemeClr val="folHlink"/>
                </a:solidFill>
              </a:rPr>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77859">
                                            <p:txEl>
                                              <p:pRg st="0" end="0"/>
                                            </p:txEl>
                                          </p:spTgt>
                                        </p:tgtEl>
                                        <p:attrNameLst>
                                          <p:attrName>style.visibility</p:attrName>
                                        </p:attrNameLst>
                                      </p:cBhvr>
                                      <p:to>
                                        <p:strVal val="visible"/>
                                      </p:to>
                                    </p:set>
                                    <p:animEffect transition="in" filter="checkerboard(across)">
                                      <p:cBhvr>
                                        <p:cTn id="7" dur="500"/>
                                        <p:tgtEl>
                                          <p:spTgt spid="3778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77859">
                                            <p:txEl>
                                              <p:pRg st="1" end="1"/>
                                            </p:txEl>
                                          </p:spTgt>
                                        </p:tgtEl>
                                        <p:attrNameLst>
                                          <p:attrName>style.visibility</p:attrName>
                                        </p:attrNameLst>
                                      </p:cBhvr>
                                      <p:to>
                                        <p:strVal val="visible"/>
                                      </p:to>
                                    </p:set>
                                    <p:animEffect transition="in" filter="checkerboard(across)">
                                      <p:cBhvr>
                                        <p:cTn id="12" dur="500"/>
                                        <p:tgtEl>
                                          <p:spTgt spid="3778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77859">
                                            <p:txEl>
                                              <p:pRg st="2" end="2"/>
                                            </p:txEl>
                                          </p:spTgt>
                                        </p:tgtEl>
                                        <p:attrNameLst>
                                          <p:attrName>style.visibility</p:attrName>
                                        </p:attrNameLst>
                                      </p:cBhvr>
                                      <p:to>
                                        <p:strVal val="visible"/>
                                      </p:to>
                                    </p:set>
                                    <p:animEffect transition="in" filter="checkerboard(across)">
                                      <p:cBhvr>
                                        <p:cTn id="17" dur="500"/>
                                        <p:tgtEl>
                                          <p:spTgt spid="3778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9" grpId="0" build="p"/>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217317CD-6F52-2FC2-DA0D-10972A349B2D}"/>
              </a:ext>
            </a:extLst>
          </p:cNvPr>
          <p:cNvSpPr>
            <a:spLocks noGrp="1" noChangeArrowheads="1"/>
          </p:cNvSpPr>
          <p:nvPr>
            <p:ph type="title"/>
          </p:nvPr>
        </p:nvSpPr>
        <p:spPr/>
        <p:txBody>
          <a:bodyPr/>
          <a:lstStyle/>
          <a:p>
            <a:pPr eaLnBrk="1" hangingPunct="1"/>
            <a:r>
              <a:rPr lang="zh-CN" altLang="en-US"/>
              <a:t>符号链接示意图</a:t>
            </a:r>
          </a:p>
        </p:txBody>
      </p:sp>
      <p:sp>
        <p:nvSpPr>
          <p:cNvPr id="35842" name="Rectangle 3">
            <a:extLst>
              <a:ext uri="{FF2B5EF4-FFF2-40B4-BE49-F238E27FC236}">
                <a16:creationId xmlns:a16="http://schemas.microsoft.com/office/drawing/2014/main" id="{0183B201-BE06-71CA-3AB0-E4C59AD4F426}"/>
              </a:ext>
            </a:extLst>
          </p:cNvPr>
          <p:cNvSpPr>
            <a:spLocks noGrp="1" noChangeArrowheads="1"/>
          </p:cNvSpPr>
          <p:nvPr>
            <p:ph idx="1"/>
          </p:nvPr>
        </p:nvSpPr>
        <p:spPr>
          <a:xfrm>
            <a:off x="762000" y="1341438"/>
            <a:ext cx="3008313" cy="3240087"/>
          </a:xfrm>
        </p:spPr>
        <p:txBody>
          <a:bodyPr/>
          <a:lstStyle/>
          <a:p>
            <a:pPr eaLnBrk="1" hangingPunct="1"/>
            <a:r>
              <a:rPr lang="zh-CN" altLang="en-US"/>
              <a:t>文件</a:t>
            </a:r>
            <a:r>
              <a:rPr lang="en-US" altLang="zh-CN"/>
              <a:t>f</a:t>
            </a:r>
            <a:r>
              <a:rPr lang="zh-CN" altLang="en-US"/>
              <a:t>的内容是：</a:t>
            </a:r>
            <a:r>
              <a:rPr lang="en-US" altLang="zh-CN"/>
              <a:t>abcde。</a:t>
            </a:r>
          </a:p>
          <a:p>
            <a:pPr eaLnBrk="1" hangingPunct="1"/>
            <a:r>
              <a:rPr lang="zh-CN" altLang="en-US"/>
              <a:t>文件</a:t>
            </a:r>
            <a:r>
              <a:rPr lang="en-US" altLang="zh-CN"/>
              <a:t>b1</a:t>
            </a:r>
            <a:r>
              <a:rPr lang="zh-CN" altLang="en-US"/>
              <a:t>的内容是：/</a:t>
            </a:r>
            <a:r>
              <a:rPr lang="en-US" altLang="zh-CN"/>
              <a:t>C/f。</a:t>
            </a:r>
          </a:p>
        </p:txBody>
      </p:sp>
      <p:sp>
        <p:nvSpPr>
          <p:cNvPr id="35843" name="Rectangle 4">
            <a:extLst>
              <a:ext uri="{FF2B5EF4-FFF2-40B4-BE49-F238E27FC236}">
                <a16:creationId xmlns:a16="http://schemas.microsoft.com/office/drawing/2014/main" id="{3564F77C-A382-9132-D0D9-53EE6A4AE3CE}"/>
              </a:ext>
            </a:extLst>
          </p:cNvPr>
          <p:cNvSpPr>
            <a:spLocks noChangeArrowheads="1"/>
          </p:cNvSpPr>
          <p:nvPr/>
        </p:nvSpPr>
        <p:spPr bwMode="auto">
          <a:xfrm>
            <a:off x="5969000" y="1524000"/>
            <a:ext cx="398463" cy="341313"/>
          </a:xfrm>
          <a:prstGeom prst="rect">
            <a:avLst/>
          </a:prstGeom>
          <a:solidFill>
            <a:srgbClr val="FFFFFF"/>
          </a:solidFill>
          <a:ln w="25400">
            <a:solidFill>
              <a:srgbClr val="000000"/>
            </a:solidFill>
            <a:miter lim="800000"/>
            <a:headEnd/>
            <a:tailEnd type="none" w="sm" len="med"/>
          </a:ln>
        </p:spPr>
        <p:txBody>
          <a:bodyPr lIns="72000" tIns="10800" rIns="72000" bIns="10800"/>
          <a:lstStyle/>
          <a:p>
            <a:endParaRPr lang="zh-CN" altLang="en-US"/>
          </a:p>
        </p:txBody>
      </p:sp>
      <p:sp>
        <p:nvSpPr>
          <p:cNvPr id="35844" name="Rectangle 5">
            <a:extLst>
              <a:ext uri="{FF2B5EF4-FFF2-40B4-BE49-F238E27FC236}">
                <a16:creationId xmlns:a16="http://schemas.microsoft.com/office/drawing/2014/main" id="{CB3A9D8B-1BB0-B1D3-1588-4EF253DD8BD5}"/>
              </a:ext>
            </a:extLst>
          </p:cNvPr>
          <p:cNvSpPr>
            <a:spLocks noChangeArrowheads="1"/>
          </p:cNvSpPr>
          <p:nvPr/>
        </p:nvSpPr>
        <p:spPr bwMode="auto">
          <a:xfrm>
            <a:off x="6570663" y="1527175"/>
            <a:ext cx="881062"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根目录</a:t>
            </a:r>
          </a:p>
        </p:txBody>
      </p:sp>
      <p:sp>
        <p:nvSpPr>
          <p:cNvPr id="35845" name="Rectangle 6">
            <a:extLst>
              <a:ext uri="{FF2B5EF4-FFF2-40B4-BE49-F238E27FC236}">
                <a16:creationId xmlns:a16="http://schemas.microsoft.com/office/drawing/2014/main" id="{2EEC8036-D454-C9DF-7E9B-8BE7FFA8520A}"/>
              </a:ext>
            </a:extLst>
          </p:cNvPr>
          <p:cNvSpPr>
            <a:spLocks noChangeArrowheads="1"/>
          </p:cNvSpPr>
          <p:nvPr/>
        </p:nvSpPr>
        <p:spPr bwMode="auto">
          <a:xfrm>
            <a:off x="4343400" y="2401888"/>
            <a:ext cx="396875" cy="341312"/>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2000">
                <a:latin typeface="Times New Roman" panose="02020603050405020304" pitchFamily="18" charset="0"/>
              </a:rPr>
              <a:t>A</a:t>
            </a:r>
          </a:p>
        </p:txBody>
      </p:sp>
      <p:sp>
        <p:nvSpPr>
          <p:cNvPr id="35846" name="Rectangle 7">
            <a:extLst>
              <a:ext uri="{FF2B5EF4-FFF2-40B4-BE49-F238E27FC236}">
                <a16:creationId xmlns:a16="http://schemas.microsoft.com/office/drawing/2014/main" id="{3BB3A6F4-ABCD-F6D4-FB04-789485DDC406}"/>
              </a:ext>
            </a:extLst>
          </p:cNvPr>
          <p:cNvSpPr>
            <a:spLocks noChangeArrowheads="1"/>
          </p:cNvSpPr>
          <p:nvPr/>
        </p:nvSpPr>
        <p:spPr bwMode="auto">
          <a:xfrm>
            <a:off x="5942013" y="2401888"/>
            <a:ext cx="396875" cy="341312"/>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2000">
                <a:latin typeface="Times New Roman" panose="02020603050405020304" pitchFamily="18" charset="0"/>
              </a:rPr>
              <a:t>B</a:t>
            </a:r>
          </a:p>
        </p:txBody>
      </p:sp>
      <p:sp>
        <p:nvSpPr>
          <p:cNvPr id="35847" name="Rectangle 8">
            <a:extLst>
              <a:ext uri="{FF2B5EF4-FFF2-40B4-BE49-F238E27FC236}">
                <a16:creationId xmlns:a16="http://schemas.microsoft.com/office/drawing/2014/main" id="{A5AF2351-B903-C59F-FEC8-CFF6AB94F2BC}"/>
              </a:ext>
            </a:extLst>
          </p:cNvPr>
          <p:cNvSpPr>
            <a:spLocks noChangeArrowheads="1"/>
          </p:cNvSpPr>
          <p:nvPr/>
        </p:nvSpPr>
        <p:spPr bwMode="auto">
          <a:xfrm>
            <a:off x="7086600" y="2401888"/>
            <a:ext cx="398463" cy="341312"/>
          </a:xfrm>
          <a:prstGeom prst="rect">
            <a:avLst/>
          </a:prstGeom>
          <a:solidFill>
            <a:srgbClr val="FFFFFF"/>
          </a:solidFill>
          <a:ln w="25400">
            <a:solidFill>
              <a:srgbClr val="000000"/>
            </a:solidFill>
            <a:miter lim="800000"/>
            <a:headEnd/>
            <a:tailEnd type="none" w="sm" len="med"/>
          </a:ln>
        </p:spPr>
        <p:txBody>
          <a:bodyPr lIns="72000" tIns="10800" rIns="72000" bIns="10800"/>
          <a:lstStyle/>
          <a:p>
            <a:pPr algn="ctr" eaLnBrk="0" hangingPunct="0"/>
            <a:r>
              <a:rPr lang="en-US" altLang="zh-CN" sz="2000">
                <a:latin typeface="Times New Roman" panose="02020603050405020304" pitchFamily="18" charset="0"/>
              </a:rPr>
              <a:t>C</a:t>
            </a:r>
          </a:p>
        </p:txBody>
      </p:sp>
      <p:sp>
        <p:nvSpPr>
          <p:cNvPr id="35848" name="Rectangle 9">
            <a:extLst>
              <a:ext uri="{FF2B5EF4-FFF2-40B4-BE49-F238E27FC236}">
                <a16:creationId xmlns:a16="http://schemas.microsoft.com/office/drawing/2014/main" id="{C4DC77A8-0F95-874F-3F8B-105186BBF8D2}"/>
              </a:ext>
            </a:extLst>
          </p:cNvPr>
          <p:cNvSpPr>
            <a:spLocks noChangeArrowheads="1"/>
          </p:cNvSpPr>
          <p:nvPr/>
        </p:nvSpPr>
        <p:spPr bwMode="auto">
          <a:xfrm>
            <a:off x="6172200" y="3338513"/>
            <a:ext cx="398463" cy="341312"/>
          </a:xfrm>
          <a:prstGeom prst="rect">
            <a:avLst/>
          </a:prstGeom>
          <a:solidFill>
            <a:srgbClr val="FFFFFF"/>
          </a:solidFill>
          <a:ln w="25400">
            <a:solidFill>
              <a:srgbClr val="000000"/>
            </a:solidFill>
            <a:miter lim="800000"/>
            <a:headEnd/>
            <a:tailEnd type="none" w="sm" len="med"/>
          </a:ln>
        </p:spPr>
        <p:txBody>
          <a:bodyPr lIns="0" tIns="10800" rIns="0" bIns="10800"/>
          <a:lstStyle/>
          <a:p>
            <a:pPr algn="ctr" eaLnBrk="0" hangingPunct="0"/>
            <a:r>
              <a:rPr lang="en-US" altLang="zh-CN" sz="2000">
                <a:latin typeface="Times New Roman" panose="02020603050405020304" pitchFamily="18" charset="0"/>
              </a:rPr>
              <a:t>B2</a:t>
            </a:r>
          </a:p>
        </p:txBody>
      </p:sp>
      <p:sp>
        <p:nvSpPr>
          <p:cNvPr id="35849" name="Rectangle 10">
            <a:extLst>
              <a:ext uri="{FF2B5EF4-FFF2-40B4-BE49-F238E27FC236}">
                <a16:creationId xmlns:a16="http://schemas.microsoft.com/office/drawing/2014/main" id="{80F1C915-5EA4-2589-B251-15F82DE00B90}"/>
              </a:ext>
            </a:extLst>
          </p:cNvPr>
          <p:cNvSpPr>
            <a:spLocks noChangeArrowheads="1"/>
          </p:cNvSpPr>
          <p:nvPr/>
        </p:nvSpPr>
        <p:spPr bwMode="auto">
          <a:xfrm>
            <a:off x="7602538" y="3338513"/>
            <a:ext cx="398462" cy="341312"/>
          </a:xfrm>
          <a:prstGeom prst="rect">
            <a:avLst/>
          </a:prstGeom>
          <a:solidFill>
            <a:srgbClr val="FFFFFF"/>
          </a:solidFill>
          <a:ln w="25400">
            <a:solidFill>
              <a:srgbClr val="000000"/>
            </a:solidFill>
            <a:miter lim="800000"/>
            <a:headEnd/>
            <a:tailEnd type="none" w="sm" len="med"/>
          </a:ln>
        </p:spPr>
        <p:txBody>
          <a:bodyPr lIns="0" tIns="10800" rIns="0" bIns="10800"/>
          <a:lstStyle/>
          <a:p>
            <a:pPr algn="ctr" eaLnBrk="0" hangingPunct="0"/>
            <a:r>
              <a:rPr lang="en-US" altLang="zh-CN" sz="2000">
                <a:latin typeface="Times New Roman" panose="02020603050405020304" pitchFamily="18" charset="0"/>
              </a:rPr>
              <a:t>C1</a:t>
            </a:r>
          </a:p>
        </p:txBody>
      </p:sp>
      <p:sp>
        <p:nvSpPr>
          <p:cNvPr id="35850" name="Oval 11">
            <a:extLst>
              <a:ext uri="{FF2B5EF4-FFF2-40B4-BE49-F238E27FC236}">
                <a16:creationId xmlns:a16="http://schemas.microsoft.com/office/drawing/2014/main" id="{87761787-9CE6-614D-9C0C-0A689B562656}"/>
              </a:ext>
            </a:extLst>
          </p:cNvPr>
          <p:cNvSpPr>
            <a:spLocks noChangeArrowheads="1"/>
          </p:cNvSpPr>
          <p:nvPr/>
        </p:nvSpPr>
        <p:spPr bwMode="auto">
          <a:xfrm>
            <a:off x="4267200" y="3287713"/>
            <a:ext cx="522288" cy="522287"/>
          </a:xfrm>
          <a:prstGeom prst="ellipse">
            <a:avLst/>
          </a:prstGeom>
          <a:solidFill>
            <a:srgbClr val="FFFFFF"/>
          </a:solidFill>
          <a:ln w="25400">
            <a:solidFill>
              <a:srgbClr val="000000"/>
            </a:solidFill>
            <a:round/>
            <a:headEnd/>
            <a:tailEnd type="none" w="sm" len="med"/>
          </a:ln>
        </p:spPr>
        <p:txBody>
          <a:bodyPr lIns="0" tIns="0" rIns="0" bIns="0"/>
          <a:lstStyle/>
          <a:p>
            <a:pPr algn="ctr" eaLnBrk="0" hangingPunct="0"/>
            <a:r>
              <a:rPr lang="en-US" altLang="zh-CN" sz="1800">
                <a:latin typeface="Times New Roman" panose="02020603050405020304" pitchFamily="18" charset="0"/>
              </a:rPr>
              <a:t>A1</a:t>
            </a:r>
          </a:p>
        </p:txBody>
      </p:sp>
      <p:sp>
        <p:nvSpPr>
          <p:cNvPr id="35851" name="Oval 12">
            <a:extLst>
              <a:ext uri="{FF2B5EF4-FFF2-40B4-BE49-F238E27FC236}">
                <a16:creationId xmlns:a16="http://schemas.microsoft.com/office/drawing/2014/main" id="{14EF4D4E-200D-DB0F-8856-D4A87DECA165}"/>
              </a:ext>
            </a:extLst>
          </p:cNvPr>
          <p:cNvSpPr>
            <a:spLocks noChangeArrowheads="1"/>
          </p:cNvSpPr>
          <p:nvPr/>
        </p:nvSpPr>
        <p:spPr bwMode="auto">
          <a:xfrm>
            <a:off x="6716713" y="3352800"/>
            <a:ext cx="522287" cy="522288"/>
          </a:xfrm>
          <a:prstGeom prst="ellipse">
            <a:avLst/>
          </a:prstGeom>
          <a:solidFill>
            <a:srgbClr val="FFFFFF"/>
          </a:solidFill>
          <a:ln w="25400">
            <a:solidFill>
              <a:srgbClr val="000000"/>
            </a:solidFill>
            <a:round/>
            <a:headEnd/>
            <a:tailEnd type="none" w="sm" len="med"/>
          </a:ln>
        </p:spPr>
        <p:txBody>
          <a:bodyPr lIns="0" tIns="10800" rIns="0" bIns="0"/>
          <a:lstStyle/>
          <a:p>
            <a:pPr algn="ctr" eaLnBrk="0" hangingPunct="0"/>
            <a:r>
              <a:rPr lang="en-US" altLang="zh-CN" sz="2000">
                <a:latin typeface="Times New Roman" panose="02020603050405020304" pitchFamily="18" charset="0"/>
              </a:rPr>
              <a:t>f</a:t>
            </a:r>
          </a:p>
        </p:txBody>
      </p:sp>
      <p:sp>
        <p:nvSpPr>
          <p:cNvPr id="35852" name="Oval 13">
            <a:extLst>
              <a:ext uri="{FF2B5EF4-FFF2-40B4-BE49-F238E27FC236}">
                <a16:creationId xmlns:a16="http://schemas.microsoft.com/office/drawing/2014/main" id="{72642C55-642E-3F45-71D1-52453AE0BAF4}"/>
              </a:ext>
            </a:extLst>
          </p:cNvPr>
          <p:cNvSpPr>
            <a:spLocks noChangeArrowheads="1"/>
          </p:cNvSpPr>
          <p:nvPr/>
        </p:nvSpPr>
        <p:spPr bwMode="auto">
          <a:xfrm>
            <a:off x="7091363" y="4953000"/>
            <a:ext cx="522287" cy="522288"/>
          </a:xfrm>
          <a:prstGeom prst="ellipse">
            <a:avLst/>
          </a:prstGeom>
          <a:solidFill>
            <a:srgbClr val="FFFFFF"/>
          </a:solidFill>
          <a:ln w="25400">
            <a:solidFill>
              <a:srgbClr val="000000"/>
            </a:solidFill>
            <a:round/>
            <a:headEnd/>
            <a:tailEnd type="none" w="sm" len="med"/>
          </a:ln>
        </p:spPr>
        <p:txBody>
          <a:bodyPr lIns="0" tIns="0" rIns="0" bIns="0"/>
          <a:lstStyle/>
          <a:p>
            <a:pPr algn="just" eaLnBrk="0" hangingPunct="0"/>
            <a:r>
              <a:rPr lang="en-US" altLang="zh-CN" sz="2000">
                <a:latin typeface="Times New Roman" panose="02020603050405020304" pitchFamily="18" charset="0"/>
              </a:rPr>
              <a:t>C2</a:t>
            </a:r>
          </a:p>
        </p:txBody>
      </p:sp>
      <p:sp>
        <p:nvSpPr>
          <p:cNvPr id="35853" name="Oval 14">
            <a:extLst>
              <a:ext uri="{FF2B5EF4-FFF2-40B4-BE49-F238E27FC236}">
                <a16:creationId xmlns:a16="http://schemas.microsoft.com/office/drawing/2014/main" id="{BEF7BE81-7B86-4343-E215-BB235992A984}"/>
              </a:ext>
            </a:extLst>
          </p:cNvPr>
          <p:cNvSpPr>
            <a:spLocks noChangeArrowheads="1"/>
          </p:cNvSpPr>
          <p:nvPr/>
        </p:nvSpPr>
        <p:spPr bwMode="auto">
          <a:xfrm>
            <a:off x="7813675" y="5035550"/>
            <a:ext cx="522288" cy="522288"/>
          </a:xfrm>
          <a:prstGeom prst="ellipse">
            <a:avLst/>
          </a:prstGeom>
          <a:solidFill>
            <a:srgbClr val="FFFFFF"/>
          </a:solidFill>
          <a:ln w="25400">
            <a:solidFill>
              <a:srgbClr val="000000"/>
            </a:solidFill>
            <a:round/>
            <a:headEnd/>
            <a:tailEnd type="none" w="sm" len="med"/>
          </a:ln>
        </p:spPr>
        <p:txBody>
          <a:bodyPr lIns="0" tIns="0" rIns="0" bIns="0"/>
          <a:lstStyle/>
          <a:p>
            <a:pPr algn="just" eaLnBrk="0" hangingPunct="0"/>
            <a:r>
              <a:rPr lang="en-US" altLang="zh-CN" sz="2000">
                <a:latin typeface="Times New Roman" panose="02020603050405020304" pitchFamily="18" charset="0"/>
              </a:rPr>
              <a:t>C3</a:t>
            </a:r>
          </a:p>
        </p:txBody>
      </p:sp>
      <p:sp>
        <p:nvSpPr>
          <p:cNvPr id="35854" name="Line 15">
            <a:extLst>
              <a:ext uri="{FF2B5EF4-FFF2-40B4-BE49-F238E27FC236}">
                <a16:creationId xmlns:a16="http://schemas.microsoft.com/office/drawing/2014/main" id="{1FCEA327-7622-CA0C-111C-80F1F58A6F09}"/>
              </a:ext>
            </a:extLst>
          </p:cNvPr>
          <p:cNvSpPr>
            <a:spLocks noChangeShapeType="1"/>
          </p:cNvSpPr>
          <p:nvPr/>
        </p:nvSpPr>
        <p:spPr bwMode="auto">
          <a:xfrm flipH="1">
            <a:off x="4533900" y="1865313"/>
            <a:ext cx="1503363" cy="53657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55" name="Line 16">
            <a:extLst>
              <a:ext uri="{FF2B5EF4-FFF2-40B4-BE49-F238E27FC236}">
                <a16:creationId xmlns:a16="http://schemas.microsoft.com/office/drawing/2014/main" id="{6C3D111B-5951-443C-668D-56E0AF376F8F}"/>
              </a:ext>
            </a:extLst>
          </p:cNvPr>
          <p:cNvSpPr>
            <a:spLocks noChangeShapeType="1"/>
          </p:cNvSpPr>
          <p:nvPr/>
        </p:nvSpPr>
        <p:spPr bwMode="auto">
          <a:xfrm>
            <a:off x="6146800" y="1865313"/>
            <a:ext cx="0" cy="5349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56" name="Line 17">
            <a:extLst>
              <a:ext uri="{FF2B5EF4-FFF2-40B4-BE49-F238E27FC236}">
                <a16:creationId xmlns:a16="http://schemas.microsoft.com/office/drawing/2014/main" id="{49038B8F-C158-B993-8859-AAE347974872}"/>
              </a:ext>
            </a:extLst>
          </p:cNvPr>
          <p:cNvSpPr>
            <a:spLocks noChangeShapeType="1"/>
          </p:cNvSpPr>
          <p:nvPr/>
        </p:nvSpPr>
        <p:spPr bwMode="auto">
          <a:xfrm>
            <a:off x="6283325" y="1865313"/>
            <a:ext cx="1031875" cy="4968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57" name="Line 18">
            <a:extLst>
              <a:ext uri="{FF2B5EF4-FFF2-40B4-BE49-F238E27FC236}">
                <a16:creationId xmlns:a16="http://schemas.microsoft.com/office/drawing/2014/main" id="{A4AD799F-6943-6C6B-5D21-9E93360912D6}"/>
              </a:ext>
            </a:extLst>
          </p:cNvPr>
          <p:cNvSpPr>
            <a:spLocks noChangeShapeType="1"/>
          </p:cNvSpPr>
          <p:nvPr/>
        </p:nvSpPr>
        <p:spPr bwMode="auto">
          <a:xfrm>
            <a:off x="4533900" y="2743200"/>
            <a:ext cx="0" cy="5508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19">
            <a:extLst>
              <a:ext uri="{FF2B5EF4-FFF2-40B4-BE49-F238E27FC236}">
                <a16:creationId xmlns:a16="http://schemas.microsoft.com/office/drawing/2014/main" id="{36EF8ABC-273F-30EF-3A39-50F75A761929}"/>
              </a:ext>
            </a:extLst>
          </p:cNvPr>
          <p:cNvSpPr>
            <a:spLocks noChangeShapeType="1"/>
          </p:cNvSpPr>
          <p:nvPr/>
        </p:nvSpPr>
        <p:spPr bwMode="auto">
          <a:xfrm flipH="1">
            <a:off x="5435600" y="2743200"/>
            <a:ext cx="574675" cy="5953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59" name="Line 20">
            <a:extLst>
              <a:ext uri="{FF2B5EF4-FFF2-40B4-BE49-F238E27FC236}">
                <a16:creationId xmlns:a16="http://schemas.microsoft.com/office/drawing/2014/main" id="{772406F3-1BA8-F0E4-CFD6-DC5EE680DF34}"/>
              </a:ext>
            </a:extLst>
          </p:cNvPr>
          <p:cNvSpPr>
            <a:spLocks noChangeShapeType="1"/>
          </p:cNvSpPr>
          <p:nvPr/>
        </p:nvSpPr>
        <p:spPr bwMode="auto">
          <a:xfrm>
            <a:off x="6283325" y="2743200"/>
            <a:ext cx="117475" cy="6096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0" name="Line 21">
            <a:extLst>
              <a:ext uri="{FF2B5EF4-FFF2-40B4-BE49-F238E27FC236}">
                <a16:creationId xmlns:a16="http://schemas.microsoft.com/office/drawing/2014/main" id="{7E70F0A9-D21C-55BA-6CF6-45F7FF285B7E}"/>
              </a:ext>
            </a:extLst>
          </p:cNvPr>
          <p:cNvSpPr>
            <a:spLocks noChangeShapeType="1"/>
          </p:cNvSpPr>
          <p:nvPr/>
        </p:nvSpPr>
        <p:spPr bwMode="auto">
          <a:xfrm>
            <a:off x="7421563" y="2743200"/>
            <a:ext cx="246062" cy="5953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1" name="Line 22">
            <a:extLst>
              <a:ext uri="{FF2B5EF4-FFF2-40B4-BE49-F238E27FC236}">
                <a16:creationId xmlns:a16="http://schemas.microsoft.com/office/drawing/2014/main" id="{5FC8E8DB-327A-7A1F-ABB6-81B33EBC4AA2}"/>
              </a:ext>
            </a:extLst>
          </p:cNvPr>
          <p:cNvSpPr>
            <a:spLocks noChangeShapeType="1"/>
          </p:cNvSpPr>
          <p:nvPr/>
        </p:nvSpPr>
        <p:spPr bwMode="auto">
          <a:xfrm flipH="1">
            <a:off x="6781800" y="3886200"/>
            <a:ext cx="152400" cy="1676400"/>
          </a:xfrm>
          <a:prstGeom prst="line">
            <a:avLst/>
          </a:prstGeom>
          <a:noFill/>
          <a:ln w="25400">
            <a:solidFill>
              <a:srgbClr val="000000"/>
            </a:solidFill>
            <a:prstDash val="sysDot"/>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2" name="Line 23">
            <a:extLst>
              <a:ext uri="{FF2B5EF4-FFF2-40B4-BE49-F238E27FC236}">
                <a16:creationId xmlns:a16="http://schemas.microsoft.com/office/drawing/2014/main" id="{6249154B-D515-EA72-341A-0A93A08DB47D}"/>
              </a:ext>
            </a:extLst>
          </p:cNvPr>
          <p:cNvSpPr>
            <a:spLocks noChangeShapeType="1"/>
          </p:cNvSpPr>
          <p:nvPr/>
        </p:nvSpPr>
        <p:spPr bwMode="auto">
          <a:xfrm flipH="1">
            <a:off x="7010400" y="2743200"/>
            <a:ext cx="228600" cy="6096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3" name="Line 24">
            <a:extLst>
              <a:ext uri="{FF2B5EF4-FFF2-40B4-BE49-F238E27FC236}">
                <a16:creationId xmlns:a16="http://schemas.microsoft.com/office/drawing/2014/main" id="{E54F4553-D5A2-6559-D228-7E4217C6A9F1}"/>
              </a:ext>
            </a:extLst>
          </p:cNvPr>
          <p:cNvSpPr>
            <a:spLocks noChangeShapeType="1"/>
          </p:cNvSpPr>
          <p:nvPr/>
        </p:nvSpPr>
        <p:spPr bwMode="auto">
          <a:xfrm flipH="1">
            <a:off x="7307263" y="3657600"/>
            <a:ext cx="388937" cy="13144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4" name="Line 25">
            <a:extLst>
              <a:ext uri="{FF2B5EF4-FFF2-40B4-BE49-F238E27FC236}">
                <a16:creationId xmlns:a16="http://schemas.microsoft.com/office/drawing/2014/main" id="{7B2B45FB-6933-A6CE-076A-0AED50CCDAD2}"/>
              </a:ext>
            </a:extLst>
          </p:cNvPr>
          <p:cNvSpPr>
            <a:spLocks noChangeShapeType="1"/>
          </p:cNvSpPr>
          <p:nvPr/>
        </p:nvSpPr>
        <p:spPr bwMode="auto">
          <a:xfrm>
            <a:off x="7848600" y="3657600"/>
            <a:ext cx="155575" cy="13763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65" name="Oval 26">
            <a:extLst>
              <a:ext uri="{FF2B5EF4-FFF2-40B4-BE49-F238E27FC236}">
                <a16:creationId xmlns:a16="http://schemas.microsoft.com/office/drawing/2014/main" id="{68763E3C-FA64-AAA9-800D-422EDF461C90}"/>
              </a:ext>
            </a:extLst>
          </p:cNvPr>
          <p:cNvSpPr>
            <a:spLocks noChangeArrowheads="1"/>
          </p:cNvSpPr>
          <p:nvPr/>
        </p:nvSpPr>
        <p:spPr bwMode="auto">
          <a:xfrm>
            <a:off x="5181600" y="3352800"/>
            <a:ext cx="522288" cy="522288"/>
          </a:xfrm>
          <a:prstGeom prst="ellipse">
            <a:avLst/>
          </a:prstGeom>
          <a:solidFill>
            <a:srgbClr val="FFFFFF"/>
          </a:solidFill>
          <a:ln w="25400">
            <a:solidFill>
              <a:srgbClr val="000000"/>
            </a:solidFill>
            <a:round/>
            <a:headEnd/>
            <a:tailEnd type="none" w="sm" len="med"/>
          </a:ln>
        </p:spPr>
        <p:txBody>
          <a:bodyPr lIns="0" tIns="10800" rIns="0" bIns="0"/>
          <a:lstStyle/>
          <a:p>
            <a:pPr algn="ctr" eaLnBrk="0" hangingPunct="0"/>
            <a:r>
              <a:rPr lang="en-US" altLang="zh-CN" sz="2000">
                <a:latin typeface="Times New Roman" panose="02020603050405020304" pitchFamily="18" charset="0"/>
              </a:rPr>
              <a:t>b1</a:t>
            </a:r>
          </a:p>
        </p:txBody>
      </p:sp>
      <p:sp>
        <p:nvSpPr>
          <p:cNvPr id="35866" name="Rectangle 27">
            <a:extLst>
              <a:ext uri="{FF2B5EF4-FFF2-40B4-BE49-F238E27FC236}">
                <a16:creationId xmlns:a16="http://schemas.microsoft.com/office/drawing/2014/main" id="{5F37518D-1D81-851F-926E-1CAA91FECD9F}"/>
              </a:ext>
            </a:extLst>
          </p:cNvPr>
          <p:cNvSpPr>
            <a:spLocks noChangeArrowheads="1"/>
          </p:cNvSpPr>
          <p:nvPr/>
        </p:nvSpPr>
        <p:spPr bwMode="auto">
          <a:xfrm>
            <a:off x="5181600" y="5562600"/>
            <a:ext cx="1981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altLang="zh-CN"/>
              <a:t>abcde</a:t>
            </a:r>
          </a:p>
        </p:txBody>
      </p:sp>
      <p:sp>
        <p:nvSpPr>
          <p:cNvPr id="35867" name="Rectangle 28">
            <a:extLst>
              <a:ext uri="{FF2B5EF4-FFF2-40B4-BE49-F238E27FC236}">
                <a16:creationId xmlns:a16="http://schemas.microsoft.com/office/drawing/2014/main" id="{8B5C0395-7257-DB00-4D4A-0316421BF4E8}"/>
              </a:ext>
            </a:extLst>
          </p:cNvPr>
          <p:cNvSpPr>
            <a:spLocks noChangeArrowheads="1"/>
          </p:cNvSpPr>
          <p:nvPr/>
        </p:nvSpPr>
        <p:spPr bwMode="auto">
          <a:xfrm>
            <a:off x="5257800" y="5159375"/>
            <a:ext cx="15240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文件</a:t>
            </a:r>
            <a:r>
              <a:rPr lang="en-US" altLang="zh-CN" sz="2000" b="1">
                <a:latin typeface="Times New Roman" panose="02020603050405020304" pitchFamily="18" charset="0"/>
              </a:rPr>
              <a:t>f</a:t>
            </a:r>
            <a:r>
              <a:rPr lang="zh-CN" altLang="en-US" sz="2000" b="1">
                <a:latin typeface="Times New Roman" panose="02020603050405020304" pitchFamily="18" charset="0"/>
              </a:rPr>
              <a:t>的内容</a:t>
            </a:r>
          </a:p>
        </p:txBody>
      </p:sp>
      <p:sp>
        <p:nvSpPr>
          <p:cNvPr id="35868" name="Rectangle 29">
            <a:extLst>
              <a:ext uri="{FF2B5EF4-FFF2-40B4-BE49-F238E27FC236}">
                <a16:creationId xmlns:a16="http://schemas.microsoft.com/office/drawing/2014/main" id="{EE471DC1-2F8D-2335-0D7B-A7A6CB9ECE33}"/>
              </a:ext>
            </a:extLst>
          </p:cNvPr>
          <p:cNvSpPr>
            <a:spLocks noChangeArrowheads="1"/>
          </p:cNvSpPr>
          <p:nvPr/>
        </p:nvSpPr>
        <p:spPr bwMode="auto">
          <a:xfrm>
            <a:off x="2514600" y="5562600"/>
            <a:ext cx="1981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altLang="zh-CN"/>
              <a:t>/C/f</a:t>
            </a:r>
          </a:p>
        </p:txBody>
      </p:sp>
      <p:sp>
        <p:nvSpPr>
          <p:cNvPr id="35869" name="Rectangle 30">
            <a:extLst>
              <a:ext uri="{FF2B5EF4-FFF2-40B4-BE49-F238E27FC236}">
                <a16:creationId xmlns:a16="http://schemas.microsoft.com/office/drawing/2014/main" id="{350919D0-6030-E9B3-4FC5-B4D3E127FFB8}"/>
              </a:ext>
            </a:extLst>
          </p:cNvPr>
          <p:cNvSpPr>
            <a:spLocks noChangeArrowheads="1"/>
          </p:cNvSpPr>
          <p:nvPr/>
        </p:nvSpPr>
        <p:spPr bwMode="auto">
          <a:xfrm>
            <a:off x="2590800" y="5159375"/>
            <a:ext cx="19050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b="1">
                <a:latin typeface="Times New Roman" panose="02020603050405020304" pitchFamily="18" charset="0"/>
              </a:rPr>
              <a:t>文件</a:t>
            </a:r>
            <a:r>
              <a:rPr lang="en-US" altLang="zh-CN" sz="2000" b="1">
                <a:latin typeface="Times New Roman" panose="02020603050405020304" pitchFamily="18" charset="0"/>
              </a:rPr>
              <a:t>b1</a:t>
            </a:r>
            <a:r>
              <a:rPr lang="zh-CN" altLang="en-US" sz="2000" b="1">
                <a:latin typeface="Times New Roman" panose="02020603050405020304" pitchFamily="18" charset="0"/>
              </a:rPr>
              <a:t>的内容</a:t>
            </a:r>
          </a:p>
        </p:txBody>
      </p:sp>
      <p:sp>
        <p:nvSpPr>
          <p:cNvPr id="35870" name="Line 31">
            <a:extLst>
              <a:ext uri="{FF2B5EF4-FFF2-40B4-BE49-F238E27FC236}">
                <a16:creationId xmlns:a16="http://schemas.microsoft.com/office/drawing/2014/main" id="{0923A74D-E73E-2609-945D-FBDCB88D1687}"/>
              </a:ext>
            </a:extLst>
          </p:cNvPr>
          <p:cNvSpPr>
            <a:spLocks noChangeShapeType="1"/>
          </p:cNvSpPr>
          <p:nvPr/>
        </p:nvSpPr>
        <p:spPr bwMode="auto">
          <a:xfrm flipH="1">
            <a:off x="4191000" y="3886200"/>
            <a:ext cx="1143000" cy="1676400"/>
          </a:xfrm>
          <a:prstGeom prst="line">
            <a:avLst/>
          </a:prstGeom>
          <a:noFill/>
          <a:ln w="25400">
            <a:solidFill>
              <a:srgbClr val="000000"/>
            </a:solidFill>
            <a:prstDash val="sysDot"/>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5871" name="Line 32">
            <a:extLst>
              <a:ext uri="{FF2B5EF4-FFF2-40B4-BE49-F238E27FC236}">
                <a16:creationId xmlns:a16="http://schemas.microsoft.com/office/drawing/2014/main" id="{13F0E673-8EC8-E50F-6CAF-4B89B6017924}"/>
              </a:ext>
            </a:extLst>
          </p:cNvPr>
          <p:cNvSpPr>
            <a:spLocks noChangeShapeType="1"/>
          </p:cNvSpPr>
          <p:nvPr/>
        </p:nvSpPr>
        <p:spPr bwMode="auto">
          <a:xfrm>
            <a:off x="4495800" y="5791200"/>
            <a:ext cx="685800" cy="0"/>
          </a:xfrm>
          <a:prstGeom prst="line">
            <a:avLst/>
          </a:prstGeom>
          <a:noFill/>
          <a:ln w="25400">
            <a:solidFill>
              <a:srgbClr val="000000"/>
            </a:solidFill>
            <a:prstDash val="sysDot"/>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70A5C491-9D9C-DD0C-2D08-A9A83B8D3420}"/>
              </a:ext>
            </a:extLst>
          </p:cNvPr>
          <p:cNvSpPr>
            <a:spLocks noGrp="1" noChangeArrowheads="1"/>
          </p:cNvSpPr>
          <p:nvPr>
            <p:ph type="title"/>
          </p:nvPr>
        </p:nvSpPr>
        <p:spPr/>
        <p:txBody>
          <a:bodyPr/>
          <a:lstStyle/>
          <a:p>
            <a:pPr eaLnBrk="1" hangingPunct="1"/>
            <a:r>
              <a:rPr lang="zh-CN" altLang="en-US"/>
              <a:t>文件的访问</a:t>
            </a:r>
          </a:p>
        </p:txBody>
      </p:sp>
      <p:sp>
        <p:nvSpPr>
          <p:cNvPr id="36866" name="Rectangle 3">
            <a:extLst>
              <a:ext uri="{FF2B5EF4-FFF2-40B4-BE49-F238E27FC236}">
                <a16:creationId xmlns:a16="http://schemas.microsoft.com/office/drawing/2014/main" id="{45D14302-68A1-7E32-11E8-163967A47EEE}"/>
              </a:ext>
            </a:extLst>
          </p:cNvPr>
          <p:cNvSpPr>
            <a:spLocks noGrp="1" noChangeArrowheads="1"/>
          </p:cNvSpPr>
          <p:nvPr>
            <p:ph idx="1"/>
          </p:nvPr>
        </p:nvSpPr>
        <p:spPr>
          <a:xfrm>
            <a:off x="755650" y="1304925"/>
            <a:ext cx="8199438" cy="4114800"/>
          </a:xfrm>
        </p:spPr>
        <p:txBody>
          <a:bodyPr/>
          <a:lstStyle/>
          <a:p>
            <a:pPr algn="just" eaLnBrk="1" hangingPunct="1"/>
            <a:r>
              <a:rPr lang="zh-CN" altLang="en-US"/>
              <a:t>当用户</a:t>
            </a:r>
            <a:r>
              <a:rPr lang="en-US" altLang="zh-CN"/>
              <a:t>B</a:t>
            </a:r>
            <a:r>
              <a:rPr lang="zh-CN" altLang="en-US"/>
              <a:t>要访问被链接的文件</a:t>
            </a:r>
            <a:r>
              <a:rPr lang="en-US" altLang="zh-CN"/>
              <a:t>f</a:t>
            </a:r>
            <a:r>
              <a:rPr lang="zh-CN" altLang="en-US"/>
              <a:t>时，操作系统发现要读的文件</a:t>
            </a:r>
            <a:r>
              <a:rPr lang="en-US" altLang="zh-CN"/>
              <a:t>b1</a:t>
            </a:r>
            <a:r>
              <a:rPr lang="zh-CN" altLang="en-US"/>
              <a:t>是</a:t>
            </a:r>
            <a:r>
              <a:rPr lang="en-US" altLang="zh-CN"/>
              <a:t>LINK</a:t>
            </a:r>
            <a:r>
              <a:rPr lang="zh-CN" altLang="en-US"/>
              <a:t>类型，则由操作系统根据文件</a:t>
            </a:r>
            <a:r>
              <a:rPr lang="en-US" altLang="zh-CN"/>
              <a:t>b1</a:t>
            </a:r>
            <a:r>
              <a:rPr lang="zh-CN" altLang="en-US"/>
              <a:t>中的路径名去读该文件，从而实现了用户</a:t>
            </a:r>
            <a:r>
              <a:rPr lang="en-US" altLang="zh-CN"/>
              <a:t>B</a:t>
            </a:r>
            <a:r>
              <a:rPr lang="zh-CN" altLang="en-US"/>
              <a:t>对文件</a:t>
            </a:r>
            <a:r>
              <a:rPr lang="en-US" altLang="zh-CN"/>
              <a:t>f</a:t>
            </a:r>
            <a:r>
              <a:rPr lang="zh-CN" altLang="en-US"/>
              <a:t>的共享。</a:t>
            </a:r>
          </a:p>
        </p:txBody>
      </p:sp>
    </p:spTree>
  </p:cSld>
  <p:clrMapOvr>
    <a:masterClrMapping/>
  </p:clrMapOvr>
  <p:transition spd="med">
    <p:zoom/>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477D2C9F-713D-53EB-7690-E9BBB8716114}"/>
              </a:ext>
            </a:extLst>
          </p:cNvPr>
          <p:cNvSpPr>
            <a:spLocks noGrp="1" noChangeArrowheads="1"/>
          </p:cNvSpPr>
          <p:nvPr>
            <p:ph type="title"/>
          </p:nvPr>
        </p:nvSpPr>
        <p:spPr/>
        <p:txBody>
          <a:bodyPr/>
          <a:lstStyle/>
          <a:p>
            <a:pPr eaLnBrk="1" hangingPunct="1"/>
            <a:r>
              <a:rPr lang="zh-CN" altLang="en-US"/>
              <a:t>文件的删除</a:t>
            </a:r>
          </a:p>
        </p:txBody>
      </p:sp>
      <p:sp>
        <p:nvSpPr>
          <p:cNvPr id="380931" name="Rectangle 3">
            <a:extLst>
              <a:ext uri="{FF2B5EF4-FFF2-40B4-BE49-F238E27FC236}">
                <a16:creationId xmlns:a16="http://schemas.microsoft.com/office/drawing/2014/main" id="{8153AE81-E944-8411-4010-4547615A185D}"/>
              </a:ext>
            </a:extLst>
          </p:cNvPr>
          <p:cNvSpPr>
            <a:spLocks noGrp="1" noChangeArrowheads="1"/>
          </p:cNvSpPr>
          <p:nvPr>
            <p:ph idx="1"/>
          </p:nvPr>
        </p:nvSpPr>
        <p:spPr>
          <a:xfrm>
            <a:off x="827088" y="1304925"/>
            <a:ext cx="8128000" cy="4787900"/>
          </a:xfrm>
        </p:spPr>
        <p:txBody>
          <a:bodyPr/>
          <a:lstStyle/>
          <a:p>
            <a:pPr algn="just" eaLnBrk="1" hangingPunct="1"/>
            <a:r>
              <a:rPr lang="zh-CN" altLang="en-US"/>
              <a:t>在利用符号链接实现文件共享时，仅文件所有者拥有指向其索引节点的指针，共享该文件的用户只有其路径名，而没有指向索引节点的指针。</a:t>
            </a:r>
          </a:p>
          <a:p>
            <a:pPr algn="just" eaLnBrk="1" hangingPunct="1"/>
            <a:r>
              <a:rPr lang="zh-CN" altLang="en-US"/>
              <a:t>当文件所有者删除文件后，其他用户若试图通过符号链接访问该文件将导致失败，因为系统找不到该文件，于是系统</a:t>
            </a:r>
            <a:r>
              <a:rPr lang="en-US" altLang="zh-CN"/>
              <a:t>(</a:t>
            </a:r>
            <a:r>
              <a:rPr lang="zh-CN" altLang="en-US"/>
              <a:t>可以</a:t>
            </a:r>
            <a:r>
              <a:rPr lang="en-US" altLang="zh-CN"/>
              <a:t>)</a:t>
            </a:r>
            <a:r>
              <a:rPr lang="zh-CN" altLang="en-US"/>
              <a:t>将符号链删除。</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0931">
                                            <p:txEl>
                                              <p:pRg st="0" end="0"/>
                                            </p:txEl>
                                          </p:spTgt>
                                        </p:tgtEl>
                                        <p:attrNameLst>
                                          <p:attrName>style.visibility</p:attrName>
                                        </p:attrNameLst>
                                      </p:cBhvr>
                                      <p:to>
                                        <p:strVal val="visible"/>
                                      </p:to>
                                    </p:set>
                                    <p:animEffect transition="in" filter="checkerboard(across)">
                                      <p:cBhvr>
                                        <p:cTn id="7" dur="500"/>
                                        <p:tgtEl>
                                          <p:spTgt spid="380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0931">
                                            <p:txEl>
                                              <p:pRg st="1" end="1"/>
                                            </p:txEl>
                                          </p:spTgt>
                                        </p:tgtEl>
                                        <p:attrNameLst>
                                          <p:attrName>style.visibility</p:attrName>
                                        </p:attrNameLst>
                                      </p:cBhvr>
                                      <p:to>
                                        <p:strVal val="visible"/>
                                      </p:to>
                                    </p:set>
                                    <p:animEffect transition="in" filter="checkerboard(across)">
                                      <p:cBhvr>
                                        <p:cTn id="12" dur="500"/>
                                        <p:tgtEl>
                                          <p:spTgt spid="3809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1" grpId="0"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AF677AE3-E347-1944-4508-2703556C0348}"/>
              </a:ext>
            </a:extLst>
          </p:cNvPr>
          <p:cNvSpPr>
            <a:spLocks noGrp="1" noChangeArrowheads="1"/>
          </p:cNvSpPr>
          <p:nvPr>
            <p:ph type="title"/>
          </p:nvPr>
        </p:nvSpPr>
        <p:spPr/>
        <p:txBody>
          <a:bodyPr/>
          <a:lstStyle/>
          <a:p>
            <a:pPr eaLnBrk="1" hangingPunct="1"/>
            <a:r>
              <a:rPr lang="zh-CN" altLang="en-US"/>
              <a:t>符号链接的特点</a:t>
            </a:r>
          </a:p>
        </p:txBody>
      </p:sp>
      <p:sp>
        <p:nvSpPr>
          <p:cNvPr id="381955" name="Rectangle 3">
            <a:extLst>
              <a:ext uri="{FF2B5EF4-FFF2-40B4-BE49-F238E27FC236}">
                <a16:creationId xmlns:a16="http://schemas.microsoft.com/office/drawing/2014/main" id="{12202AA3-E208-614D-6E6F-E36697276180}"/>
              </a:ext>
            </a:extLst>
          </p:cNvPr>
          <p:cNvSpPr>
            <a:spLocks noGrp="1" noChangeArrowheads="1"/>
          </p:cNvSpPr>
          <p:nvPr>
            <p:ph idx="1"/>
          </p:nvPr>
        </p:nvSpPr>
        <p:spPr>
          <a:xfrm>
            <a:off x="827088" y="1268413"/>
            <a:ext cx="8128000" cy="4383087"/>
          </a:xfrm>
        </p:spPr>
        <p:txBody>
          <a:bodyPr/>
          <a:lstStyle/>
          <a:p>
            <a:pPr algn="just" eaLnBrk="1" hangingPunct="1">
              <a:lnSpc>
                <a:spcPct val="90000"/>
              </a:lnSpc>
            </a:pPr>
            <a:r>
              <a:rPr lang="zh-CN" altLang="en-US"/>
              <a:t>符号链接的不足是需要额外的开销（根据文件路径名逐个分量进行查找，需要多次访问磁盘）。另外，符号链接需要配置索引节点以及一个磁盘块用于存储路径，这也要消耗一些磁盘空间。</a:t>
            </a:r>
          </a:p>
          <a:p>
            <a:pPr algn="just" eaLnBrk="1" hangingPunct="1">
              <a:lnSpc>
                <a:spcPct val="90000"/>
              </a:lnSpc>
            </a:pPr>
            <a:r>
              <a:rPr lang="zh-CN" altLang="en-US"/>
              <a:t>符号链接的优点是只要提供一个机器的网络地址以及文件在该机器上的驻留路径，就可以链接全球任何地方的机器上的文件。即可以跨越文件系统。</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Effect transition="in" filter="checkerboard(across)">
                                      <p:cBhvr>
                                        <p:cTn id="7" dur="500"/>
                                        <p:tgtEl>
                                          <p:spTgt spid="381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1955">
                                            <p:txEl>
                                              <p:pRg st="1" end="1"/>
                                            </p:txEl>
                                          </p:spTgt>
                                        </p:tgtEl>
                                        <p:attrNameLst>
                                          <p:attrName>style.visibility</p:attrName>
                                        </p:attrNameLst>
                                      </p:cBhvr>
                                      <p:to>
                                        <p:strVal val="visible"/>
                                      </p:to>
                                    </p:set>
                                    <p:animEffect transition="in" filter="checkerboard(across)">
                                      <p:cBhvr>
                                        <p:cTn id="12" dur="500"/>
                                        <p:tgtEl>
                                          <p:spTgt spid="3819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5A527D0A-7C2F-FC9E-D101-C12A9AE490EB}"/>
              </a:ext>
            </a:extLst>
          </p:cNvPr>
          <p:cNvSpPr>
            <a:spLocks noGrp="1" noChangeArrowheads="1"/>
          </p:cNvSpPr>
          <p:nvPr>
            <p:ph type="title"/>
          </p:nvPr>
        </p:nvSpPr>
        <p:spPr>
          <a:xfrm>
            <a:off x="1042988" y="225431"/>
            <a:ext cx="7850187" cy="746125"/>
          </a:xfrm>
        </p:spPr>
        <p:txBody>
          <a:bodyPr/>
          <a:lstStyle/>
          <a:p>
            <a:r>
              <a:rPr lang="zh-CN" altLang="en-US" dirty="0"/>
              <a:t>虚拟文件系统</a:t>
            </a:r>
          </a:p>
        </p:txBody>
      </p:sp>
      <p:sp>
        <p:nvSpPr>
          <p:cNvPr id="386051" name="Rectangle 3">
            <a:extLst>
              <a:ext uri="{FF2B5EF4-FFF2-40B4-BE49-F238E27FC236}">
                <a16:creationId xmlns:a16="http://schemas.microsoft.com/office/drawing/2014/main" id="{FB9D3B2A-BDB5-A4E4-0CFE-82971503DE99}"/>
              </a:ext>
            </a:extLst>
          </p:cNvPr>
          <p:cNvSpPr>
            <a:spLocks noGrp="1" noChangeArrowheads="1"/>
          </p:cNvSpPr>
          <p:nvPr>
            <p:ph idx="1"/>
          </p:nvPr>
        </p:nvSpPr>
        <p:spPr>
          <a:xfrm>
            <a:off x="935038" y="1233488"/>
            <a:ext cx="7772400" cy="4895850"/>
          </a:xfrm>
        </p:spPr>
        <p:txBody>
          <a:bodyPr>
            <a:normAutofit/>
          </a:bodyPr>
          <a:lstStyle/>
          <a:p>
            <a:r>
              <a:rPr lang="zh-CN" altLang="en-US" dirty="0"/>
              <a:t>虚拟文件系统提供一个面向对象的文件系统实现方法</a:t>
            </a:r>
          </a:p>
          <a:p>
            <a:r>
              <a:rPr lang="en-US" altLang="zh-CN" dirty="0"/>
              <a:t>VFS</a:t>
            </a:r>
            <a:r>
              <a:rPr lang="zh-CN" altLang="en-US" dirty="0"/>
              <a:t>允许不同类型的文件系统使用相同的系统调用接口</a:t>
            </a:r>
            <a:endParaRPr lang="en-US" altLang="zh-CN" dirty="0"/>
          </a:p>
          <a:p>
            <a:r>
              <a:rPr lang="en-US" altLang="zh-CN" dirty="0"/>
              <a:t>API</a:t>
            </a:r>
            <a:r>
              <a:rPr lang="zh-CN" altLang="en-US" dirty="0"/>
              <a:t>是针对</a:t>
            </a:r>
            <a:r>
              <a:rPr lang="en-US" altLang="zh-CN" dirty="0"/>
              <a:t>VFS</a:t>
            </a:r>
            <a:r>
              <a:rPr lang="zh-CN" altLang="en-US" dirty="0"/>
              <a:t>的接口，而非对任何特定类型的文件系统</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checkerboard(across)">
                                      <p:cBhvr>
                                        <p:cTn id="7" dur="500"/>
                                        <p:tgtEl>
                                          <p:spTgt spid="386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6051">
                                            <p:txEl>
                                              <p:pRg st="1" end="1"/>
                                            </p:txEl>
                                          </p:spTgt>
                                        </p:tgtEl>
                                        <p:attrNameLst>
                                          <p:attrName>style.visibility</p:attrName>
                                        </p:attrNameLst>
                                      </p:cBhvr>
                                      <p:to>
                                        <p:strVal val="visible"/>
                                      </p:to>
                                    </p:set>
                                    <p:animEffect transition="in" filter="checkerboard(across)">
                                      <p:cBhvr>
                                        <p:cTn id="12" dur="500"/>
                                        <p:tgtEl>
                                          <p:spTgt spid="386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6051">
                                            <p:txEl>
                                              <p:pRg st="2" end="2"/>
                                            </p:txEl>
                                          </p:spTgt>
                                        </p:tgtEl>
                                        <p:attrNameLst>
                                          <p:attrName>style.visibility</p:attrName>
                                        </p:attrNameLst>
                                      </p:cBhvr>
                                      <p:to>
                                        <p:strVal val="visible"/>
                                      </p:to>
                                    </p:set>
                                    <p:animEffect transition="in" filter="checkerboard(across)">
                                      <p:cBhvr>
                                        <p:cTn id="17" dur="500"/>
                                        <p:tgtEl>
                                          <p:spTgt spid="3860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A0931969-D255-913D-317B-06C0528608A9}"/>
              </a:ext>
            </a:extLst>
          </p:cNvPr>
          <p:cNvSpPr>
            <a:spLocks noGrp="1" noChangeArrowheads="1"/>
          </p:cNvSpPr>
          <p:nvPr>
            <p:ph type="title"/>
          </p:nvPr>
        </p:nvSpPr>
        <p:spPr>
          <a:xfrm>
            <a:off x="1042988" y="225431"/>
            <a:ext cx="7850187" cy="746125"/>
          </a:xfrm>
        </p:spPr>
        <p:txBody>
          <a:bodyPr/>
          <a:lstStyle/>
          <a:p>
            <a:r>
              <a:rPr lang="zh-CN" altLang="en-US"/>
              <a:t>虚拟文件系统实现的三个层次</a:t>
            </a:r>
          </a:p>
        </p:txBody>
      </p:sp>
      <p:sp>
        <p:nvSpPr>
          <p:cNvPr id="388099" name="Rectangle 3">
            <a:extLst>
              <a:ext uri="{FF2B5EF4-FFF2-40B4-BE49-F238E27FC236}">
                <a16:creationId xmlns:a16="http://schemas.microsoft.com/office/drawing/2014/main" id="{64E8BCDB-0C49-1FE7-F90A-A64AAE72542C}"/>
              </a:ext>
            </a:extLst>
          </p:cNvPr>
          <p:cNvSpPr>
            <a:spLocks noGrp="1" noChangeArrowheads="1"/>
          </p:cNvSpPr>
          <p:nvPr>
            <p:ph idx="1"/>
          </p:nvPr>
        </p:nvSpPr>
        <p:spPr>
          <a:xfrm>
            <a:off x="935038" y="1233488"/>
            <a:ext cx="7772400" cy="4895850"/>
          </a:xfrm>
        </p:spPr>
        <p:txBody>
          <a:bodyPr>
            <a:normAutofit fontScale="92500"/>
          </a:bodyPr>
          <a:lstStyle/>
          <a:p>
            <a:r>
              <a:rPr lang="zh-CN" altLang="en-US" dirty="0"/>
              <a:t>顶层：文件系统接口</a:t>
            </a:r>
            <a:endParaRPr lang="en-US" altLang="zh-CN" dirty="0"/>
          </a:p>
          <a:p>
            <a:pPr lvl="1"/>
            <a:r>
              <a:rPr lang="en-US" altLang="zh-CN" dirty="0"/>
              <a:t>Open, read, write, and close and file descriptors</a:t>
            </a:r>
          </a:p>
          <a:p>
            <a:r>
              <a:rPr lang="zh-CN" altLang="en-US" dirty="0"/>
              <a:t>中间层：</a:t>
            </a:r>
            <a:r>
              <a:rPr lang="en-US" altLang="zh-CN" dirty="0"/>
              <a:t>VFS</a:t>
            </a:r>
          </a:p>
          <a:p>
            <a:pPr lvl="1"/>
            <a:r>
              <a:rPr lang="zh-CN" altLang="en-US" dirty="0"/>
              <a:t>通过定义清晰的</a:t>
            </a:r>
            <a:r>
              <a:rPr lang="en-US" altLang="zh-CN" dirty="0"/>
              <a:t>VFS</a:t>
            </a:r>
            <a:r>
              <a:rPr lang="zh-CN" altLang="en-US" dirty="0"/>
              <a:t>接口，将文件系统的通用操作与实现分开</a:t>
            </a:r>
          </a:p>
          <a:p>
            <a:pPr lvl="1"/>
            <a:r>
              <a:rPr lang="en-US" altLang="zh-CN" dirty="0"/>
              <a:t>VFS</a:t>
            </a:r>
            <a:r>
              <a:rPr lang="zh-CN" altLang="en-US" dirty="0"/>
              <a:t>基于称为</a:t>
            </a:r>
            <a:r>
              <a:rPr lang="en-US" altLang="zh-CN" dirty="0" err="1"/>
              <a:t>Vnode</a:t>
            </a:r>
            <a:r>
              <a:rPr lang="zh-CN" altLang="en-US" dirty="0"/>
              <a:t>的文件表示结构，该结构包含一个数值标识符以表示网络范围内的唯一文件</a:t>
            </a:r>
          </a:p>
          <a:p>
            <a:r>
              <a:rPr lang="zh-CN" altLang="en-US" dirty="0"/>
              <a:t>底层 </a:t>
            </a:r>
            <a:r>
              <a:rPr lang="en-US" altLang="zh-CN" dirty="0"/>
              <a:t>The bottom layer</a:t>
            </a:r>
          </a:p>
          <a:p>
            <a:pPr lvl="1"/>
            <a:r>
              <a:rPr lang="zh-CN" altLang="en-US" dirty="0"/>
              <a:t>不同文件系统实现，如</a:t>
            </a:r>
            <a:r>
              <a:rPr lang="en-US" altLang="zh-CN" dirty="0"/>
              <a:t>ext3</a:t>
            </a:r>
            <a:r>
              <a:rPr lang="zh-CN" altLang="en-US" dirty="0"/>
              <a:t>、 </a:t>
            </a:r>
            <a:r>
              <a:rPr lang="en-US" altLang="zh-CN" dirty="0"/>
              <a:t>NFS</a:t>
            </a:r>
          </a:p>
          <a:p>
            <a:endParaRPr lang="en-US" altLang="zh-CN"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checkerboard(across)">
                                      <p:cBhvr>
                                        <p:cTn id="7" dur="500"/>
                                        <p:tgtEl>
                                          <p:spTgt spid="388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8099">
                                            <p:txEl>
                                              <p:pRg st="1" end="1"/>
                                            </p:txEl>
                                          </p:spTgt>
                                        </p:tgtEl>
                                        <p:attrNameLst>
                                          <p:attrName>style.visibility</p:attrName>
                                        </p:attrNameLst>
                                      </p:cBhvr>
                                      <p:to>
                                        <p:strVal val="visible"/>
                                      </p:to>
                                    </p:set>
                                    <p:animEffect transition="in" filter="checkerboard(across)">
                                      <p:cBhvr>
                                        <p:cTn id="12" dur="500"/>
                                        <p:tgtEl>
                                          <p:spTgt spid="388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8099">
                                            <p:txEl>
                                              <p:pRg st="2" end="2"/>
                                            </p:txEl>
                                          </p:spTgt>
                                        </p:tgtEl>
                                        <p:attrNameLst>
                                          <p:attrName>style.visibility</p:attrName>
                                        </p:attrNameLst>
                                      </p:cBhvr>
                                      <p:to>
                                        <p:strVal val="visible"/>
                                      </p:to>
                                    </p:set>
                                    <p:animEffect transition="in" filter="checkerboard(across)">
                                      <p:cBhvr>
                                        <p:cTn id="17" dur="500"/>
                                        <p:tgtEl>
                                          <p:spTgt spid="388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8099">
                                            <p:txEl>
                                              <p:pRg st="3" end="3"/>
                                            </p:txEl>
                                          </p:spTgt>
                                        </p:tgtEl>
                                        <p:attrNameLst>
                                          <p:attrName>style.visibility</p:attrName>
                                        </p:attrNameLst>
                                      </p:cBhvr>
                                      <p:to>
                                        <p:strVal val="visible"/>
                                      </p:to>
                                    </p:set>
                                    <p:animEffect transition="in" filter="checkerboard(across)">
                                      <p:cBhvr>
                                        <p:cTn id="22" dur="500"/>
                                        <p:tgtEl>
                                          <p:spTgt spid="388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8099">
                                            <p:txEl>
                                              <p:pRg st="4" end="4"/>
                                            </p:txEl>
                                          </p:spTgt>
                                        </p:tgtEl>
                                        <p:attrNameLst>
                                          <p:attrName>style.visibility</p:attrName>
                                        </p:attrNameLst>
                                      </p:cBhvr>
                                      <p:to>
                                        <p:strVal val="visible"/>
                                      </p:to>
                                    </p:set>
                                    <p:animEffect transition="in" filter="checkerboard(across)">
                                      <p:cBhvr>
                                        <p:cTn id="27" dur="500"/>
                                        <p:tgtEl>
                                          <p:spTgt spid="3880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88099">
                                            <p:txEl>
                                              <p:pRg st="5" end="5"/>
                                            </p:txEl>
                                          </p:spTgt>
                                        </p:tgtEl>
                                        <p:attrNameLst>
                                          <p:attrName>style.visibility</p:attrName>
                                        </p:attrNameLst>
                                      </p:cBhvr>
                                      <p:to>
                                        <p:strVal val="visible"/>
                                      </p:to>
                                    </p:set>
                                    <p:animEffect transition="in" filter="checkerboard(across)">
                                      <p:cBhvr>
                                        <p:cTn id="32" dur="500"/>
                                        <p:tgtEl>
                                          <p:spTgt spid="3880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88099">
                                            <p:txEl>
                                              <p:pRg st="6" end="6"/>
                                            </p:txEl>
                                          </p:spTgt>
                                        </p:tgtEl>
                                        <p:attrNameLst>
                                          <p:attrName>style.visibility</p:attrName>
                                        </p:attrNameLst>
                                      </p:cBhvr>
                                      <p:to>
                                        <p:strVal val="visible"/>
                                      </p:to>
                                    </p:set>
                                    <p:animEffect transition="in" filter="checkerboard(across)">
                                      <p:cBhvr>
                                        <p:cTn id="37" dur="500"/>
                                        <p:tgtEl>
                                          <p:spTgt spid="3880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00FA7251-176E-2137-748A-871CC6122C9D}"/>
              </a:ext>
            </a:extLst>
          </p:cNvPr>
          <p:cNvSpPr>
            <a:spLocks noGrp="1" noChangeArrowheads="1"/>
          </p:cNvSpPr>
          <p:nvPr>
            <p:ph type="title"/>
          </p:nvPr>
        </p:nvSpPr>
        <p:spPr>
          <a:xfrm>
            <a:off x="1042988" y="225431"/>
            <a:ext cx="7850187" cy="746125"/>
          </a:xfrm>
        </p:spPr>
        <p:txBody>
          <a:bodyPr/>
          <a:lstStyle/>
          <a:p>
            <a:r>
              <a:rPr lang="zh-CN" altLang="en-US" dirty="0"/>
              <a:t>虚拟文件系统示意图</a:t>
            </a:r>
          </a:p>
        </p:txBody>
      </p:sp>
      <p:pic>
        <p:nvPicPr>
          <p:cNvPr id="43010" name="Picture 4">
            <a:extLst>
              <a:ext uri="{FF2B5EF4-FFF2-40B4-BE49-F238E27FC236}">
                <a16:creationId xmlns:a16="http://schemas.microsoft.com/office/drawing/2014/main" id="{5F9AC4C7-2339-7C12-ADC2-57159F4AB1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783" t="1147" r="2631" b="1653"/>
          <a:stretch>
            <a:fillRect/>
          </a:stretch>
        </p:blipFill>
        <p:spPr>
          <a:xfrm>
            <a:off x="1645114" y="1233488"/>
            <a:ext cx="6352248" cy="4895850"/>
          </a:xfrm>
          <a:ln w="57150" cmpd="thickThin">
            <a:solidFill>
              <a:schemeClr val="tx1"/>
            </a:solidFill>
            <a:miter lim="800000"/>
            <a:headEnd/>
            <a:tailEnd/>
          </a:ln>
        </p:spPr>
      </p:pic>
    </p:spTree>
  </p:cSld>
  <p:clrMapOvr>
    <a:masterClrMapping/>
  </p:clrMapOvr>
  <p:transition spd="med">
    <p:zoom/>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53B54360-B139-BFD9-F008-22452F92946F}"/>
              </a:ext>
            </a:extLst>
          </p:cNvPr>
          <p:cNvSpPr>
            <a:spLocks noGrp="1" noChangeArrowheads="1"/>
          </p:cNvSpPr>
          <p:nvPr>
            <p:ph type="title"/>
          </p:nvPr>
        </p:nvSpPr>
        <p:spPr/>
        <p:txBody>
          <a:bodyPr/>
          <a:lstStyle/>
          <a:p>
            <a:pPr eaLnBrk="1" hangingPunct="1"/>
            <a:r>
              <a:rPr lang="zh-CN" altLang="en-US" sz="4000" dirty="0"/>
              <a:t>练习题</a:t>
            </a:r>
          </a:p>
        </p:txBody>
      </p:sp>
      <p:sp>
        <p:nvSpPr>
          <p:cNvPr id="97282" name="Rectangle 3">
            <a:extLst>
              <a:ext uri="{FF2B5EF4-FFF2-40B4-BE49-F238E27FC236}">
                <a16:creationId xmlns:a16="http://schemas.microsoft.com/office/drawing/2014/main" id="{362819B5-8F73-E133-73A1-7F31E1A7DDEC}"/>
              </a:ext>
            </a:extLst>
          </p:cNvPr>
          <p:cNvSpPr>
            <a:spLocks noGrp="1" noChangeArrowheads="1"/>
          </p:cNvSpPr>
          <p:nvPr>
            <p:ph idx="1"/>
          </p:nvPr>
        </p:nvSpPr>
        <p:spPr>
          <a:xfrm>
            <a:off x="334963" y="1125538"/>
            <a:ext cx="8569325" cy="4895850"/>
          </a:xfrm>
        </p:spPr>
        <p:txBody>
          <a:bodyPr/>
          <a:lstStyle/>
          <a:p>
            <a:pPr eaLnBrk="1" hangingPunct="1"/>
            <a:r>
              <a:rPr lang="en-US" altLang="zh-CN" sz="2000"/>
              <a:t>13.5 Explain the purpose of the open() and close() operations. </a:t>
            </a:r>
          </a:p>
        </p:txBody>
      </p:sp>
    </p:spTree>
  </p:cSld>
  <p:clrMapOvr>
    <a:masterClrMapping/>
  </p:clrMapOvr>
  <p:transition spd="med">
    <p:zoom/>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33C0627E-CEC3-20A9-14BE-8AE563E523F9}"/>
              </a:ext>
            </a:extLst>
          </p:cNvPr>
          <p:cNvSpPr>
            <a:spLocks noGrp="1" noChangeArrowheads="1"/>
          </p:cNvSpPr>
          <p:nvPr>
            <p:ph type="title"/>
          </p:nvPr>
        </p:nvSpPr>
        <p:spPr/>
        <p:txBody>
          <a:bodyPr/>
          <a:lstStyle/>
          <a:p>
            <a:pPr eaLnBrk="1" hangingPunct="1"/>
            <a:r>
              <a:rPr lang="zh-CN" altLang="en-US" dirty="0"/>
              <a:t>练习题</a:t>
            </a:r>
          </a:p>
        </p:txBody>
      </p:sp>
      <p:sp>
        <p:nvSpPr>
          <p:cNvPr id="82947" name="Rectangle 3">
            <a:extLst>
              <a:ext uri="{FF2B5EF4-FFF2-40B4-BE49-F238E27FC236}">
                <a16:creationId xmlns:a16="http://schemas.microsoft.com/office/drawing/2014/main" id="{DB888E5C-6CAC-60E2-7F8A-EE2A0FC7E03A}"/>
              </a:ext>
            </a:extLst>
          </p:cNvPr>
          <p:cNvSpPr>
            <a:spLocks noGrp="1"/>
          </p:cNvSpPr>
          <p:nvPr>
            <p:ph idx="1"/>
          </p:nvPr>
        </p:nvSpPr>
        <p:spPr>
          <a:xfrm>
            <a:off x="355600" y="1304925"/>
            <a:ext cx="8621713" cy="4994275"/>
          </a:xfrm>
        </p:spPr>
        <p:txBody>
          <a:bodyPr/>
          <a:lstStyle/>
          <a:p>
            <a:pPr algn="just" eaLnBrk="1" hangingPunct="1">
              <a:lnSpc>
                <a:spcPct val="90000"/>
              </a:lnSpc>
            </a:pPr>
            <a:r>
              <a:rPr kumimoji="1" lang="zh-CN" altLang="en-US" sz="2000" noProof="1"/>
              <a:t>14.1 Consider a file currently consisting of 100 blocks. Assume that the file-control block (and the index block, in the case of indexed allocation) is already in memory. Calculate how many disk I/O operations are required for contiguous, linked, and indexed (single-level) allocation strategies, if, for one block, the following conditions hold. In the contiguous-allocation case, assume that there is no room to grow at the beginning but there is room to grow at the end. Also assume that the block information to be added is stored in memory. </a:t>
            </a:r>
          </a:p>
          <a:p>
            <a:pPr marL="0" indent="0" algn="just" eaLnBrk="1" hangingPunct="1">
              <a:lnSpc>
                <a:spcPct val="90000"/>
              </a:lnSpc>
              <a:buFont typeface="Wingdings" pitchFamily="2" charset="2"/>
              <a:buNone/>
            </a:pPr>
            <a:r>
              <a:rPr kumimoji="1" lang="zh-CN" altLang="en-US" sz="2000" noProof="1"/>
              <a:t>a. The block is added at the beginning. </a:t>
            </a:r>
          </a:p>
          <a:p>
            <a:pPr marL="0" indent="0" algn="just" eaLnBrk="1" hangingPunct="1">
              <a:lnSpc>
                <a:spcPct val="90000"/>
              </a:lnSpc>
              <a:buFont typeface="Wingdings" pitchFamily="2" charset="2"/>
              <a:buNone/>
            </a:pPr>
            <a:r>
              <a:rPr kumimoji="1" lang="zh-CN" altLang="en-US" sz="2000" noProof="1"/>
              <a:t>b. The block is added in the middle. </a:t>
            </a:r>
          </a:p>
          <a:p>
            <a:pPr marL="0" indent="0" algn="just" eaLnBrk="1" hangingPunct="1">
              <a:lnSpc>
                <a:spcPct val="90000"/>
              </a:lnSpc>
              <a:buFont typeface="Wingdings" pitchFamily="2" charset="2"/>
              <a:buNone/>
            </a:pPr>
            <a:r>
              <a:rPr kumimoji="1" lang="zh-CN" altLang="en-US" sz="2000" noProof="1"/>
              <a:t>c. The block is added at the end. </a:t>
            </a:r>
          </a:p>
          <a:p>
            <a:pPr marL="0" indent="0" algn="just" eaLnBrk="1" hangingPunct="1">
              <a:lnSpc>
                <a:spcPct val="90000"/>
              </a:lnSpc>
              <a:buFont typeface="Wingdings" pitchFamily="2" charset="2"/>
              <a:buNone/>
            </a:pPr>
            <a:r>
              <a:rPr kumimoji="1" lang="zh-CN" altLang="en-US" sz="2000" noProof="1"/>
              <a:t>d. The block is removed from the beginning. </a:t>
            </a:r>
          </a:p>
          <a:p>
            <a:pPr marL="0" indent="0" algn="just" eaLnBrk="1" hangingPunct="1">
              <a:lnSpc>
                <a:spcPct val="90000"/>
              </a:lnSpc>
              <a:buFont typeface="Wingdings" pitchFamily="2" charset="2"/>
              <a:buNone/>
            </a:pPr>
            <a:r>
              <a:rPr kumimoji="1" lang="zh-CN" altLang="en-US" sz="2000" noProof="1"/>
              <a:t>e. The block is removed from the middle. </a:t>
            </a:r>
          </a:p>
          <a:p>
            <a:pPr marL="0" indent="0" algn="just" eaLnBrk="1" hangingPunct="1">
              <a:lnSpc>
                <a:spcPct val="90000"/>
              </a:lnSpc>
              <a:buFont typeface="Wingdings" pitchFamily="2" charset="2"/>
              <a:buNone/>
            </a:pPr>
            <a:r>
              <a:rPr kumimoji="1" lang="zh-CN" altLang="en-US" sz="2000" noProof="1"/>
              <a:t>f. The block is removed from the end.</a:t>
            </a:r>
          </a:p>
        </p:txBody>
      </p:sp>
    </p:spTree>
  </p:cSld>
  <p:clrMapOvr>
    <a:masterClrMapping/>
  </p:clrMapOvr>
  <p:transition spd="med">
    <p:zoom/>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636A8348-86B6-652C-FB07-AA8CA1A631CD}"/>
              </a:ext>
            </a:extLst>
          </p:cNvPr>
          <p:cNvSpPr>
            <a:spLocks noGrp="1" noChangeArrowheads="1"/>
          </p:cNvSpPr>
          <p:nvPr>
            <p:ph type="title"/>
          </p:nvPr>
        </p:nvSpPr>
        <p:spPr/>
        <p:txBody>
          <a:bodyPr/>
          <a:lstStyle/>
          <a:p>
            <a:pPr eaLnBrk="1" hangingPunct="1"/>
            <a:r>
              <a:rPr lang="zh-CN" altLang="en-US" sz="4000" dirty="0"/>
              <a:t>选择题</a:t>
            </a:r>
            <a:r>
              <a:rPr lang="en-US" altLang="zh-CN" sz="4000" dirty="0"/>
              <a:t>1</a:t>
            </a:r>
            <a:endParaRPr lang="zh-CN" altLang="en-US" sz="4000" dirty="0"/>
          </a:p>
        </p:txBody>
      </p:sp>
      <p:sp>
        <p:nvSpPr>
          <p:cNvPr id="98306" name="Rectangle 3">
            <a:extLst>
              <a:ext uri="{FF2B5EF4-FFF2-40B4-BE49-F238E27FC236}">
                <a16:creationId xmlns:a16="http://schemas.microsoft.com/office/drawing/2014/main" id="{25474F57-D3D2-7E32-1A46-CAF167B5C822}"/>
              </a:ext>
            </a:extLst>
          </p:cNvPr>
          <p:cNvSpPr>
            <a:spLocks noGrp="1" noChangeArrowheads="1"/>
          </p:cNvSpPr>
          <p:nvPr>
            <p:ph idx="1"/>
          </p:nvPr>
        </p:nvSpPr>
        <p:spPr>
          <a:xfrm>
            <a:off x="900113" y="1196975"/>
            <a:ext cx="8004175" cy="4895850"/>
          </a:xfrm>
        </p:spPr>
        <p:txBody>
          <a:bodyPr/>
          <a:lstStyle/>
          <a:p>
            <a:pPr eaLnBrk="1" hangingPunct="1">
              <a:lnSpc>
                <a:spcPct val="90000"/>
              </a:lnSpc>
            </a:pPr>
            <a:r>
              <a:rPr lang="zh-CN" altLang="en-US" sz="2800"/>
              <a:t>操作系统中对外存上的数据信息进行管理的部分叫做 </a:t>
            </a:r>
            <a:r>
              <a:rPr lang="en-US" altLang="zh-CN" sz="2800"/>
              <a:t>_____ </a:t>
            </a:r>
            <a:r>
              <a:rPr lang="zh-CN" altLang="en-US" sz="2800"/>
              <a:t>。</a:t>
            </a:r>
          </a:p>
          <a:p>
            <a:pPr eaLnBrk="1" hangingPunct="1">
              <a:lnSpc>
                <a:spcPct val="90000"/>
              </a:lnSpc>
              <a:buFont typeface="Wingdings" pitchFamily="2" charset="2"/>
              <a:buNone/>
            </a:pPr>
            <a:r>
              <a:rPr lang="en-US" altLang="zh-CN" sz="2800"/>
              <a:t>   A. </a:t>
            </a:r>
            <a:r>
              <a:rPr lang="zh-CN" altLang="en-US" sz="2800"/>
              <a:t>数据库系统             </a:t>
            </a:r>
            <a:r>
              <a:rPr lang="en-US" altLang="zh-CN" sz="2800"/>
              <a:t>B. </a:t>
            </a:r>
            <a:r>
              <a:rPr lang="zh-CN" altLang="en-US" sz="2800"/>
              <a:t>文件系统</a:t>
            </a:r>
          </a:p>
          <a:p>
            <a:pPr eaLnBrk="1" hangingPunct="1">
              <a:lnSpc>
                <a:spcPct val="90000"/>
              </a:lnSpc>
              <a:buFont typeface="Wingdings" pitchFamily="2" charset="2"/>
              <a:buNone/>
            </a:pPr>
            <a:r>
              <a:rPr lang="en-US" altLang="zh-CN" sz="2800"/>
              <a:t>   C. </a:t>
            </a:r>
            <a:r>
              <a:rPr lang="zh-CN" altLang="en-US" sz="2800"/>
              <a:t>检索系统                </a:t>
            </a:r>
            <a:r>
              <a:rPr lang="en-US" altLang="zh-CN" sz="2800"/>
              <a:t>D. </a:t>
            </a:r>
            <a:r>
              <a:rPr lang="zh-CN" altLang="en-US" sz="2800"/>
              <a:t>数据存储系统</a:t>
            </a:r>
          </a:p>
          <a:p>
            <a:pPr eaLnBrk="1" hangingPunct="1">
              <a:lnSpc>
                <a:spcPct val="90000"/>
              </a:lnSpc>
            </a:pPr>
            <a:r>
              <a:rPr lang="zh-CN" altLang="en-US" sz="2800"/>
              <a:t>文件系统中，打开文件（</a:t>
            </a:r>
            <a:r>
              <a:rPr lang="en-US" altLang="zh-CN" sz="2800"/>
              <a:t>open</a:t>
            </a:r>
            <a:r>
              <a:rPr lang="zh-CN" altLang="en-US" sz="2800"/>
              <a:t>）操作的功能是 </a:t>
            </a:r>
            <a:r>
              <a:rPr lang="zh-CN" altLang="en-US" sz="2800" u="sng"/>
              <a:t>     </a:t>
            </a:r>
            <a:r>
              <a:rPr lang="zh-CN" altLang="en-US" sz="2800"/>
              <a:t> 。 </a:t>
            </a:r>
          </a:p>
          <a:p>
            <a:pPr eaLnBrk="1" hangingPunct="1">
              <a:lnSpc>
                <a:spcPct val="90000"/>
              </a:lnSpc>
              <a:buFont typeface="Wingdings" pitchFamily="2" charset="2"/>
              <a:buNone/>
            </a:pPr>
            <a:r>
              <a:rPr lang="en-US" altLang="zh-CN" sz="2800"/>
              <a:t>   A. </a:t>
            </a:r>
            <a:r>
              <a:rPr lang="zh-CN" altLang="en-US" sz="2800"/>
              <a:t>把文件信息从辅存读到内存</a:t>
            </a:r>
          </a:p>
          <a:p>
            <a:pPr eaLnBrk="1" hangingPunct="1">
              <a:lnSpc>
                <a:spcPct val="90000"/>
              </a:lnSpc>
              <a:buFont typeface="Wingdings" pitchFamily="2" charset="2"/>
              <a:buNone/>
            </a:pPr>
            <a:r>
              <a:rPr lang="en-US" altLang="zh-CN" sz="2800"/>
              <a:t>   B. </a:t>
            </a:r>
            <a:r>
              <a:rPr lang="zh-CN" altLang="en-US" sz="2800"/>
              <a:t>把磁盘的超级块从辅存读到内存</a:t>
            </a:r>
          </a:p>
          <a:p>
            <a:pPr eaLnBrk="1" hangingPunct="1">
              <a:lnSpc>
                <a:spcPct val="90000"/>
              </a:lnSpc>
              <a:buFont typeface="Wingdings" pitchFamily="2" charset="2"/>
              <a:buNone/>
            </a:pPr>
            <a:r>
              <a:rPr lang="en-US" altLang="zh-CN" sz="2800"/>
              <a:t>   C. </a:t>
            </a:r>
            <a:r>
              <a:rPr lang="zh-CN" altLang="en-US" sz="2800"/>
              <a:t>把文件的</a:t>
            </a:r>
            <a:r>
              <a:rPr lang="en-US" altLang="zh-CN" sz="2800"/>
              <a:t>FAT</a:t>
            </a:r>
            <a:r>
              <a:rPr lang="zh-CN" altLang="en-US" sz="2800"/>
              <a:t>表信息从辅存读到内存</a:t>
            </a:r>
          </a:p>
          <a:p>
            <a:pPr eaLnBrk="1" hangingPunct="1">
              <a:lnSpc>
                <a:spcPct val="90000"/>
              </a:lnSpc>
              <a:buFont typeface="Wingdings" pitchFamily="2" charset="2"/>
              <a:buNone/>
            </a:pPr>
            <a:r>
              <a:rPr lang="en-US" altLang="zh-CN" sz="2800"/>
              <a:t>   D. </a:t>
            </a:r>
            <a:r>
              <a:rPr lang="zh-CN" altLang="en-US" sz="2800"/>
              <a:t>把文件的控制管理信息从辅存读到内存</a:t>
            </a:r>
          </a:p>
          <a:p>
            <a:pPr eaLnBrk="1" hangingPunct="1">
              <a:lnSpc>
                <a:spcPct val="90000"/>
              </a:lnSpc>
              <a:buFont typeface="Wingdings" pitchFamily="2" charset="2"/>
              <a:buNone/>
            </a:pPr>
            <a:endParaRPr lang="zh-CN" altLang="en-US" sz="2800"/>
          </a:p>
        </p:txBody>
      </p:sp>
    </p:spTree>
  </p:cSld>
  <p:clrMapOvr>
    <a:masterClrMapping/>
  </p:clrMapOvr>
  <p:transition spd="med">
    <p:zoom/>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90F14493-91A3-F66D-AC4C-12F732CC9B58}"/>
              </a:ext>
            </a:extLst>
          </p:cNvPr>
          <p:cNvSpPr>
            <a:spLocks noGrp="1" noChangeArrowheads="1"/>
          </p:cNvSpPr>
          <p:nvPr>
            <p:ph type="title"/>
          </p:nvPr>
        </p:nvSpPr>
        <p:spPr/>
        <p:txBody>
          <a:bodyPr/>
          <a:lstStyle/>
          <a:p>
            <a:pPr eaLnBrk="1" hangingPunct="1"/>
            <a:r>
              <a:rPr lang="zh-CN" altLang="en-US" sz="4000"/>
              <a:t>选择题</a:t>
            </a:r>
            <a:r>
              <a:rPr lang="en-US" altLang="zh-CN" sz="4000"/>
              <a:t>2</a:t>
            </a:r>
          </a:p>
        </p:txBody>
      </p:sp>
      <p:sp>
        <p:nvSpPr>
          <p:cNvPr id="99330" name="Rectangle 3">
            <a:extLst>
              <a:ext uri="{FF2B5EF4-FFF2-40B4-BE49-F238E27FC236}">
                <a16:creationId xmlns:a16="http://schemas.microsoft.com/office/drawing/2014/main" id="{31E39784-05DA-1E8E-03AA-A71057559D5B}"/>
              </a:ext>
            </a:extLst>
          </p:cNvPr>
          <p:cNvSpPr>
            <a:spLocks noGrp="1" noChangeArrowheads="1"/>
          </p:cNvSpPr>
          <p:nvPr>
            <p:ph idx="1"/>
          </p:nvPr>
        </p:nvSpPr>
        <p:spPr>
          <a:xfrm>
            <a:off x="900113" y="1196975"/>
            <a:ext cx="8004175" cy="4895850"/>
          </a:xfrm>
        </p:spPr>
        <p:txBody>
          <a:bodyPr/>
          <a:lstStyle/>
          <a:p>
            <a:pPr eaLnBrk="1" hangingPunct="1">
              <a:lnSpc>
                <a:spcPct val="90000"/>
              </a:lnSpc>
            </a:pPr>
            <a:r>
              <a:rPr lang="zh-CN" altLang="en-US" sz="2800"/>
              <a:t>文件的绝对路径名是指 </a:t>
            </a:r>
            <a:r>
              <a:rPr lang="en-US" altLang="zh-CN" sz="2800"/>
              <a:t>_____ </a:t>
            </a:r>
            <a:r>
              <a:rPr lang="zh-CN" altLang="en-US" sz="2800"/>
              <a:t>。</a:t>
            </a:r>
          </a:p>
          <a:p>
            <a:pPr eaLnBrk="1" hangingPunct="1">
              <a:lnSpc>
                <a:spcPct val="90000"/>
              </a:lnSpc>
              <a:buFont typeface="Wingdings" pitchFamily="2" charset="2"/>
              <a:buNone/>
            </a:pPr>
            <a:r>
              <a:rPr lang="en-US" altLang="zh-CN" sz="2800"/>
              <a:t>   A. </a:t>
            </a:r>
            <a:r>
              <a:rPr lang="zh-CN" altLang="en-US" sz="2800"/>
              <a:t>文件名和文件扩展名</a:t>
            </a:r>
          </a:p>
          <a:p>
            <a:pPr eaLnBrk="1" hangingPunct="1">
              <a:lnSpc>
                <a:spcPct val="90000"/>
              </a:lnSpc>
              <a:buFont typeface="Wingdings" pitchFamily="2" charset="2"/>
              <a:buNone/>
            </a:pPr>
            <a:r>
              <a:rPr lang="en-US" altLang="zh-CN" sz="2800"/>
              <a:t>   B. </a:t>
            </a:r>
            <a:r>
              <a:rPr lang="zh-CN" altLang="en-US" sz="2800"/>
              <a:t>一系列的目录文件名和该文件的文件名</a:t>
            </a:r>
          </a:p>
          <a:p>
            <a:pPr eaLnBrk="1" hangingPunct="1">
              <a:lnSpc>
                <a:spcPct val="90000"/>
              </a:lnSpc>
              <a:buFont typeface="Wingdings" pitchFamily="2" charset="2"/>
              <a:buNone/>
            </a:pPr>
            <a:r>
              <a:rPr lang="en-US" altLang="zh-CN" sz="2800"/>
              <a:t>   C. </a:t>
            </a:r>
            <a:r>
              <a:rPr lang="zh-CN" altLang="en-US" sz="2800"/>
              <a:t>从根目录到该文件所经历的路径中各符号名的集合</a:t>
            </a:r>
          </a:p>
          <a:p>
            <a:pPr eaLnBrk="1" hangingPunct="1">
              <a:lnSpc>
                <a:spcPct val="90000"/>
              </a:lnSpc>
              <a:buFont typeface="Wingdings" pitchFamily="2" charset="2"/>
              <a:buNone/>
            </a:pPr>
            <a:r>
              <a:rPr lang="en-US" altLang="zh-CN" sz="2800"/>
              <a:t>   D. </a:t>
            </a:r>
            <a:r>
              <a:rPr lang="zh-CN" altLang="en-US" sz="2800"/>
              <a:t>目录文件名和文件名的集合</a:t>
            </a:r>
          </a:p>
          <a:p>
            <a:pPr eaLnBrk="1" hangingPunct="1">
              <a:lnSpc>
                <a:spcPct val="90000"/>
              </a:lnSpc>
            </a:pPr>
            <a:r>
              <a:rPr lang="zh-CN" altLang="en-US" sz="2800"/>
              <a:t>为了解决不同用户文件的</a:t>
            </a:r>
            <a:r>
              <a:rPr lang="zh-CN" altLang="en-US" sz="2800">
                <a:latin typeface="Times New Roman" panose="02020603050405020304" pitchFamily="18" charset="0"/>
              </a:rPr>
              <a:t>“</a:t>
            </a:r>
            <a:r>
              <a:rPr lang="zh-CN" altLang="en-US" sz="2800"/>
              <a:t>命名冲突</a:t>
            </a:r>
            <a:r>
              <a:rPr lang="zh-CN" altLang="en-US" sz="2800">
                <a:latin typeface="Times New Roman" panose="02020603050405020304" pitchFamily="18" charset="0"/>
              </a:rPr>
              <a:t>”</a:t>
            </a:r>
            <a:r>
              <a:rPr lang="zh-CN" altLang="en-US" sz="2800"/>
              <a:t>问题，通常在文件系统中采用 </a:t>
            </a:r>
            <a:r>
              <a:rPr lang="en-US" altLang="zh-CN" sz="2800"/>
              <a:t>_____ </a:t>
            </a:r>
            <a:r>
              <a:rPr lang="zh-CN" altLang="en-US" sz="2800"/>
              <a:t>。</a:t>
            </a:r>
          </a:p>
          <a:p>
            <a:pPr eaLnBrk="1" hangingPunct="1">
              <a:lnSpc>
                <a:spcPct val="90000"/>
              </a:lnSpc>
              <a:buFont typeface="Wingdings" pitchFamily="2" charset="2"/>
              <a:buNone/>
            </a:pPr>
            <a:r>
              <a:rPr lang="en-US" altLang="zh-CN" sz="2800"/>
              <a:t>   A. </a:t>
            </a:r>
            <a:r>
              <a:rPr lang="zh-CN" altLang="en-US" sz="2800"/>
              <a:t>约定的方法        </a:t>
            </a:r>
            <a:r>
              <a:rPr lang="en-US" altLang="zh-CN" sz="2800"/>
              <a:t>B. </a:t>
            </a:r>
            <a:r>
              <a:rPr lang="zh-CN" altLang="en-US" sz="2800"/>
              <a:t>多级目录</a:t>
            </a:r>
          </a:p>
          <a:p>
            <a:pPr eaLnBrk="1" hangingPunct="1">
              <a:lnSpc>
                <a:spcPct val="90000"/>
              </a:lnSpc>
              <a:buFont typeface="Wingdings" pitchFamily="2" charset="2"/>
              <a:buNone/>
            </a:pPr>
            <a:r>
              <a:rPr lang="en-US" altLang="zh-CN" sz="2800"/>
              <a:t>   C. </a:t>
            </a:r>
            <a:r>
              <a:rPr lang="zh-CN" altLang="en-US" sz="2800"/>
              <a:t>路径                  </a:t>
            </a:r>
            <a:r>
              <a:rPr lang="en-US" altLang="zh-CN" sz="2800"/>
              <a:t>D. </a:t>
            </a:r>
            <a:r>
              <a:rPr lang="zh-CN" altLang="en-US" sz="2800"/>
              <a:t>索引</a:t>
            </a:r>
          </a:p>
        </p:txBody>
      </p:sp>
    </p:spTree>
  </p:cSld>
  <p:clrMapOvr>
    <a:masterClrMapping/>
  </p:clrMapOvr>
  <p:transition spd="med">
    <p:zoom/>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18730AEB-7A83-EC8A-386E-3531CC246A44}"/>
              </a:ext>
            </a:extLst>
          </p:cNvPr>
          <p:cNvSpPr>
            <a:spLocks noGrp="1" noChangeArrowheads="1"/>
          </p:cNvSpPr>
          <p:nvPr>
            <p:ph type="title"/>
          </p:nvPr>
        </p:nvSpPr>
        <p:spPr/>
        <p:txBody>
          <a:bodyPr/>
          <a:lstStyle/>
          <a:p>
            <a:pPr eaLnBrk="1" hangingPunct="1"/>
            <a:r>
              <a:rPr lang="zh-CN" altLang="en-US" sz="4000"/>
              <a:t>选择题</a:t>
            </a:r>
            <a:r>
              <a:rPr lang="en-US" altLang="zh-CN" sz="4000"/>
              <a:t>3</a:t>
            </a:r>
          </a:p>
        </p:txBody>
      </p:sp>
      <p:sp>
        <p:nvSpPr>
          <p:cNvPr id="100354" name="Rectangle 3">
            <a:extLst>
              <a:ext uri="{FF2B5EF4-FFF2-40B4-BE49-F238E27FC236}">
                <a16:creationId xmlns:a16="http://schemas.microsoft.com/office/drawing/2014/main" id="{A415405F-E987-80EA-641C-8F79A486596C}"/>
              </a:ext>
            </a:extLst>
          </p:cNvPr>
          <p:cNvSpPr>
            <a:spLocks noGrp="1" noChangeArrowheads="1"/>
          </p:cNvSpPr>
          <p:nvPr>
            <p:ph idx="1"/>
          </p:nvPr>
        </p:nvSpPr>
        <p:spPr>
          <a:xfrm>
            <a:off x="900113" y="1196975"/>
            <a:ext cx="8004175" cy="4895850"/>
          </a:xfrm>
        </p:spPr>
        <p:txBody>
          <a:bodyPr/>
          <a:lstStyle/>
          <a:p>
            <a:pPr eaLnBrk="1" hangingPunct="1"/>
            <a:r>
              <a:rPr lang="zh-CN" altLang="en-US" sz="2800"/>
              <a:t>一个文件的相对路径名是从 </a:t>
            </a:r>
            <a:r>
              <a:rPr lang="en-US" altLang="zh-CN" sz="2800"/>
              <a:t>_____ </a:t>
            </a:r>
            <a:r>
              <a:rPr lang="zh-CN" altLang="en-US" sz="2800"/>
              <a:t>开始，逐步沿着各级子目录追溯，最后到指定文件的整个通路上所有子目录名组成的一个字符串。</a:t>
            </a:r>
          </a:p>
          <a:p>
            <a:pPr eaLnBrk="1" hangingPunct="1">
              <a:buFont typeface="Wingdings" pitchFamily="2" charset="2"/>
              <a:buNone/>
            </a:pPr>
            <a:r>
              <a:rPr lang="en-US" altLang="zh-CN" sz="2800"/>
              <a:t>   A. </a:t>
            </a:r>
            <a:r>
              <a:rPr lang="zh-CN" altLang="en-US" sz="2800"/>
              <a:t>当前目录              </a:t>
            </a:r>
            <a:r>
              <a:rPr lang="en-US" altLang="zh-CN" sz="2800"/>
              <a:t>B. </a:t>
            </a:r>
            <a:r>
              <a:rPr lang="zh-CN" altLang="en-US" sz="2800"/>
              <a:t>根目录</a:t>
            </a:r>
          </a:p>
          <a:p>
            <a:pPr eaLnBrk="1" hangingPunct="1">
              <a:buFont typeface="Wingdings" pitchFamily="2" charset="2"/>
              <a:buNone/>
            </a:pPr>
            <a:r>
              <a:rPr lang="en-US" altLang="zh-CN" sz="2800"/>
              <a:t>   C. </a:t>
            </a:r>
            <a:r>
              <a:rPr lang="zh-CN" altLang="en-US" sz="2800"/>
              <a:t>二级目录              </a:t>
            </a:r>
            <a:r>
              <a:rPr lang="en-US" altLang="zh-CN" sz="2800"/>
              <a:t>D. </a:t>
            </a:r>
            <a:r>
              <a:rPr lang="zh-CN" altLang="en-US" sz="2800"/>
              <a:t>多级目录</a:t>
            </a:r>
          </a:p>
          <a:p>
            <a:pPr eaLnBrk="1" hangingPunct="1"/>
            <a:r>
              <a:rPr lang="zh-CN" altLang="en-US" sz="2800"/>
              <a:t>使用文件前必须先 </a:t>
            </a:r>
            <a:r>
              <a:rPr lang="zh-CN" altLang="en-US" sz="2800" u="sng"/>
              <a:t>  ①  </a:t>
            </a:r>
            <a:r>
              <a:rPr lang="zh-CN" altLang="en-US" sz="2800"/>
              <a:t> 文件，文件使用完毕后应该 </a:t>
            </a:r>
            <a:r>
              <a:rPr lang="zh-CN" altLang="en-US" sz="2800" u="sng"/>
              <a:t>  ②  </a:t>
            </a:r>
            <a:r>
              <a:rPr lang="zh-CN" altLang="en-US" sz="2800"/>
              <a:t> 。</a:t>
            </a:r>
          </a:p>
          <a:p>
            <a:pPr eaLnBrk="1" hangingPunct="1">
              <a:buFont typeface="Wingdings" pitchFamily="2" charset="2"/>
              <a:buNone/>
            </a:pPr>
            <a:r>
              <a:rPr lang="en-US" altLang="zh-CN" sz="2800"/>
              <a:t>   A. </a:t>
            </a:r>
            <a:r>
              <a:rPr lang="zh-CN" altLang="en-US" sz="2800"/>
              <a:t>建立          </a:t>
            </a:r>
            <a:r>
              <a:rPr lang="en-US" altLang="zh-CN" sz="2800"/>
              <a:t>B. </a:t>
            </a:r>
            <a:r>
              <a:rPr lang="zh-CN" altLang="en-US" sz="2800"/>
              <a:t>打开</a:t>
            </a:r>
          </a:p>
          <a:p>
            <a:pPr eaLnBrk="1" hangingPunct="1">
              <a:buFont typeface="Wingdings" pitchFamily="2" charset="2"/>
              <a:buNone/>
            </a:pPr>
            <a:r>
              <a:rPr lang="en-US" altLang="zh-CN" sz="2800"/>
              <a:t>   C. </a:t>
            </a:r>
            <a:r>
              <a:rPr lang="zh-CN" altLang="en-US" sz="2800"/>
              <a:t>命名          </a:t>
            </a:r>
            <a:r>
              <a:rPr lang="en-US" altLang="zh-CN" sz="2800"/>
              <a:t>D. </a:t>
            </a:r>
            <a:r>
              <a:rPr lang="zh-CN" altLang="en-US" sz="2800"/>
              <a:t>关闭</a:t>
            </a:r>
          </a:p>
        </p:txBody>
      </p:sp>
    </p:spTree>
  </p:cSld>
  <p:clrMapOvr>
    <a:masterClrMapping/>
  </p:clrMapOvr>
  <p:transition spd="med">
    <p:zoom/>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EBFC953A-9AAB-272A-A9F6-AB5B294558BC}"/>
              </a:ext>
            </a:extLst>
          </p:cNvPr>
          <p:cNvSpPr>
            <a:spLocks noGrp="1" noChangeArrowheads="1"/>
          </p:cNvSpPr>
          <p:nvPr>
            <p:ph type="title"/>
          </p:nvPr>
        </p:nvSpPr>
        <p:spPr/>
        <p:txBody>
          <a:bodyPr/>
          <a:lstStyle/>
          <a:p>
            <a:pPr eaLnBrk="1" hangingPunct="1"/>
            <a:r>
              <a:rPr lang="zh-CN" altLang="en-US" sz="4000"/>
              <a:t>选择题</a:t>
            </a:r>
            <a:r>
              <a:rPr lang="en-US" altLang="zh-CN" sz="4000"/>
              <a:t>4</a:t>
            </a:r>
          </a:p>
        </p:txBody>
      </p:sp>
      <p:sp>
        <p:nvSpPr>
          <p:cNvPr id="101378" name="Rectangle 3">
            <a:extLst>
              <a:ext uri="{FF2B5EF4-FFF2-40B4-BE49-F238E27FC236}">
                <a16:creationId xmlns:a16="http://schemas.microsoft.com/office/drawing/2014/main" id="{259412A5-DD74-2A50-E1C9-A851A3E16BD8}"/>
              </a:ext>
            </a:extLst>
          </p:cNvPr>
          <p:cNvSpPr>
            <a:spLocks noGrp="1" noChangeArrowheads="1"/>
          </p:cNvSpPr>
          <p:nvPr>
            <p:ph idx="1"/>
          </p:nvPr>
        </p:nvSpPr>
        <p:spPr>
          <a:xfrm>
            <a:off x="684213" y="1125538"/>
            <a:ext cx="8220075" cy="4895850"/>
          </a:xfrm>
        </p:spPr>
        <p:txBody>
          <a:bodyPr/>
          <a:lstStyle/>
          <a:p>
            <a:pPr marL="533400" indent="-533400" eaLnBrk="1" hangingPunct="1">
              <a:lnSpc>
                <a:spcPct val="80000"/>
              </a:lnSpc>
            </a:pPr>
            <a:r>
              <a:rPr lang="zh-CN" altLang="en-US" sz="2800"/>
              <a:t>在文件系统中，文件的不同物理结构有不同的优缺点。在下列文件的物理结构中，</a:t>
            </a:r>
            <a:r>
              <a:rPr lang="zh-CN" altLang="en-US" sz="2800" u="sng"/>
              <a:t>  ①  </a:t>
            </a:r>
            <a:r>
              <a:rPr lang="zh-CN" altLang="en-US" sz="2800"/>
              <a:t> 不具有直接读写文件任意一个记录的能力，</a:t>
            </a:r>
            <a:r>
              <a:rPr lang="zh-CN" altLang="en-US" sz="2800" u="sng"/>
              <a:t>  ②  </a:t>
            </a:r>
            <a:r>
              <a:rPr lang="zh-CN" altLang="en-US" sz="2800"/>
              <a:t> 不利于文件长度动态增长。</a:t>
            </a:r>
          </a:p>
          <a:p>
            <a:pPr marL="533400" indent="-533400" eaLnBrk="1" hangingPunct="1">
              <a:lnSpc>
                <a:spcPct val="80000"/>
              </a:lnSpc>
              <a:buFont typeface="Wingdings" pitchFamily="2" charset="2"/>
              <a:buNone/>
            </a:pPr>
            <a:r>
              <a:rPr lang="en-US" altLang="zh-CN" sz="2800"/>
              <a:t>   A. </a:t>
            </a:r>
            <a:r>
              <a:rPr lang="zh-CN" altLang="en-US" sz="2800"/>
              <a:t>顺序结构            </a:t>
            </a:r>
            <a:r>
              <a:rPr lang="en-US" altLang="zh-CN" sz="2800"/>
              <a:t>B. </a:t>
            </a:r>
            <a:r>
              <a:rPr lang="zh-CN" altLang="en-US" sz="2800"/>
              <a:t>链接结构</a:t>
            </a:r>
          </a:p>
          <a:p>
            <a:pPr marL="533400" indent="-533400" eaLnBrk="1" hangingPunct="1">
              <a:lnSpc>
                <a:spcPct val="80000"/>
              </a:lnSpc>
              <a:buFont typeface="Wingdings" pitchFamily="2" charset="2"/>
              <a:buNone/>
            </a:pPr>
            <a:r>
              <a:rPr lang="en-US" altLang="zh-CN" sz="2800"/>
              <a:t>   C. </a:t>
            </a:r>
            <a:r>
              <a:rPr lang="zh-CN" altLang="en-US" sz="2800"/>
              <a:t>索引结构            </a:t>
            </a:r>
            <a:r>
              <a:rPr lang="en-US" altLang="zh-CN" sz="2800"/>
              <a:t>D. Hash</a:t>
            </a:r>
            <a:r>
              <a:rPr lang="zh-CN" altLang="en-US" sz="2800"/>
              <a:t>结构</a:t>
            </a:r>
          </a:p>
          <a:p>
            <a:pPr marL="533400" indent="-533400" eaLnBrk="1" hangingPunct="1">
              <a:lnSpc>
                <a:spcPct val="80000"/>
              </a:lnSpc>
            </a:pPr>
            <a:r>
              <a:rPr lang="zh-CN" altLang="en-US" sz="2800"/>
              <a:t>文件系统采用二级目录结构，这样可以 </a:t>
            </a:r>
            <a:r>
              <a:rPr lang="en-US" altLang="zh-CN" sz="2800"/>
              <a:t>_____ </a:t>
            </a:r>
            <a:r>
              <a:rPr lang="zh-CN" altLang="en-US" sz="2800"/>
              <a:t>。</a:t>
            </a:r>
          </a:p>
          <a:p>
            <a:pPr marL="533400" indent="-533400" eaLnBrk="1" hangingPunct="1">
              <a:lnSpc>
                <a:spcPct val="80000"/>
              </a:lnSpc>
              <a:buFont typeface="Wingdings" pitchFamily="2" charset="2"/>
              <a:buNone/>
            </a:pPr>
            <a:r>
              <a:rPr lang="zh-CN" altLang="en-US" sz="2800"/>
              <a:t>    </a:t>
            </a:r>
            <a:r>
              <a:rPr lang="en-US" altLang="zh-CN" sz="2800"/>
              <a:t>A.</a:t>
            </a:r>
            <a:r>
              <a:rPr lang="zh-CN" altLang="en-US" sz="2800"/>
              <a:t> 缩短访问文件存储器时间 </a:t>
            </a:r>
          </a:p>
          <a:p>
            <a:pPr marL="533400" indent="-533400" eaLnBrk="1" hangingPunct="1">
              <a:lnSpc>
                <a:spcPct val="80000"/>
              </a:lnSpc>
              <a:buFont typeface="Wingdings" pitchFamily="2" charset="2"/>
              <a:buNone/>
            </a:pPr>
            <a:r>
              <a:rPr lang="en-US" altLang="zh-CN" sz="2800"/>
              <a:t>    B. </a:t>
            </a:r>
            <a:r>
              <a:rPr lang="zh-CN" altLang="en-US" sz="2800"/>
              <a:t>实现文件共享</a:t>
            </a:r>
          </a:p>
          <a:p>
            <a:pPr marL="533400" indent="-533400" eaLnBrk="1" hangingPunct="1">
              <a:lnSpc>
                <a:spcPct val="80000"/>
              </a:lnSpc>
              <a:buFont typeface="Wingdings" pitchFamily="2" charset="2"/>
              <a:buNone/>
            </a:pPr>
            <a:r>
              <a:rPr lang="en-US" altLang="zh-CN" sz="2800"/>
              <a:t>    C. </a:t>
            </a:r>
            <a:r>
              <a:rPr lang="zh-CN" altLang="en-US" sz="2800"/>
              <a:t>解决不同用户之间的文件名冲突问题</a:t>
            </a:r>
          </a:p>
          <a:p>
            <a:pPr marL="533400" indent="-533400" eaLnBrk="1" hangingPunct="1">
              <a:lnSpc>
                <a:spcPct val="80000"/>
              </a:lnSpc>
              <a:buFont typeface="Wingdings" pitchFamily="2" charset="2"/>
              <a:buNone/>
            </a:pPr>
            <a:r>
              <a:rPr lang="zh-CN" altLang="en-US" sz="2800"/>
              <a:t>    </a:t>
            </a:r>
            <a:r>
              <a:rPr lang="en-US" altLang="zh-CN" sz="2800"/>
              <a:t>D.</a:t>
            </a:r>
            <a:r>
              <a:rPr lang="zh-CN" altLang="en-US" sz="2800"/>
              <a:t>节省主存空间</a:t>
            </a:r>
          </a:p>
        </p:txBody>
      </p:sp>
    </p:spTree>
  </p:cSld>
  <p:clrMapOvr>
    <a:masterClrMapping/>
  </p:clrMapOvr>
  <p:transition spd="med">
    <p:zoom/>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392293D6-0596-6272-3C21-DBE1DF2CAFE5}"/>
              </a:ext>
            </a:extLst>
          </p:cNvPr>
          <p:cNvSpPr>
            <a:spLocks noGrp="1" noChangeArrowheads="1"/>
          </p:cNvSpPr>
          <p:nvPr>
            <p:ph type="title"/>
          </p:nvPr>
        </p:nvSpPr>
        <p:spPr/>
        <p:txBody>
          <a:bodyPr/>
          <a:lstStyle/>
          <a:p>
            <a:pPr eaLnBrk="1" hangingPunct="1"/>
            <a:r>
              <a:rPr lang="zh-CN" altLang="en-US" sz="4000"/>
              <a:t>选择题</a:t>
            </a:r>
            <a:r>
              <a:rPr lang="en-US" altLang="zh-CN" sz="4000"/>
              <a:t>5</a:t>
            </a:r>
          </a:p>
        </p:txBody>
      </p:sp>
      <p:sp>
        <p:nvSpPr>
          <p:cNvPr id="102402" name="Rectangle 3">
            <a:extLst>
              <a:ext uri="{FF2B5EF4-FFF2-40B4-BE49-F238E27FC236}">
                <a16:creationId xmlns:a16="http://schemas.microsoft.com/office/drawing/2014/main" id="{13EA64BE-C517-6080-1CAC-5CD8543724A5}"/>
              </a:ext>
            </a:extLst>
          </p:cNvPr>
          <p:cNvSpPr>
            <a:spLocks noGrp="1" noChangeArrowheads="1"/>
          </p:cNvSpPr>
          <p:nvPr>
            <p:ph idx="1"/>
          </p:nvPr>
        </p:nvSpPr>
        <p:spPr>
          <a:xfrm>
            <a:off x="900113" y="1125538"/>
            <a:ext cx="8004175" cy="4895850"/>
          </a:xfrm>
        </p:spPr>
        <p:txBody>
          <a:bodyPr>
            <a:normAutofit fontScale="92500" lnSpcReduction="10000"/>
          </a:bodyPr>
          <a:lstStyle/>
          <a:p>
            <a:pPr eaLnBrk="1" hangingPunct="1"/>
            <a:r>
              <a:rPr lang="zh-CN" altLang="en-US" dirty="0"/>
              <a:t>常用的文件存取方法有两种：顺序存取和 </a:t>
            </a:r>
            <a:r>
              <a:rPr lang="en-US" altLang="zh-CN" dirty="0"/>
              <a:t>_____ </a:t>
            </a:r>
            <a:r>
              <a:rPr lang="zh-CN" altLang="en-US" dirty="0"/>
              <a:t>存取。</a:t>
            </a:r>
          </a:p>
          <a:p>
            <a:pPr eaLnBrk="1" hangingPunct="1">
              <a:buFont typeface="Wingdings" pitchFamily="2" charset="2"/>
              <a:buNone/>
            </a:pPr>
            <a:r>
              <a:rPr lang="en-US" altLang="zh-CN" dirty="0"/>
              <a:t>   A. </a:t>
            </a:r>
            <a:r>
              <a:rPr lang="zh-CN" altLang="en-US" dirty="0"/>
              <a:t>流式            </a:t>
            </a:r>
            <a:r>
              <a:rPr lang="en-US" altLang="zh-CN" dirty="0"/>
              <a:t>B. </a:t>
            </a:r>
            <a:r>
              <a:rPr lang="zh-CN" altLang="en-US" dirty="0"/>
              <a:t>串联</a:t>
            </a:r>
          </a:p>
          <a:p>
            <a:pPr eaLnBrk="1" hangingPunct="1">
              <a:buFont typeface="Wingdings" pitchFamily="2" charset="2"/>
              <a:buNone/>
            </a:pPr>
            <a:r>
              <a:rPr lang="en-US" altLang="zh-CN" dirty="0"/>
              <a:t>   C. </a:t>
            </a:r>
            <a:r>
              <a:rPr lang="zh-CN" altLang="en-US" dirty="0"/>
              <a:t>记录            </a:t>
            </a:r>
            <a:r>
              <a:rPr lang="en-US" altLang="zh-CN" dirty="0"/>
              <a:t>D. </a:t>
            </a:r>
            <a:r>
              <a:rPr lang="zh-CN" altLang="en-US" dirty="0"/>
              <a:t>随机</a:t>
            </a:r>
            <a:endParaRPr lang="en-US" altLang="zh-CN" dirty="0"/>
          </a:p>
          <a:p>
            <a:pPr eaLnBrk="1" hangingPunct="1"/>
            <a:r>
              <a:rPr lang="zh-CN" altLang="en-US" dirty="0"/>
              <a:t>位示图可用于 </a:t>
            </a:r>
            <a:r>
              <a:rPr lang="en-US" altLang="zh-CN" dirty="0"/>
              <a:t>_____ </a:t>
            </a:r>
            <a:r>
              <a:rPr lang="zh-CN" altLang="en-US" dirty="0"/>
              <a:t>。</a:t>
            </a:r>
          </a:p>
          <a:p>
            <a:pPr eaLnBrk="1" hangingPunct="1">
              <a:buFont typeface="Wingdings" pitchFamily="2" charset="2"/>
              <a:buNone/>
            </a:pPr>
            <a:r>
              <a:rPr lang="en-US" altLang="zh-CN" dirty="0"/>
              <a:t>   A. </a:t>
            </a:r>
            <a:r>
              <a:rPr lang="zh-CN" altLang="en-US" dirty="0"/>
              <a:t>文件目录的查找</a:t>
            </a:r>
          </a:p>
          <a:p>
            <a:pPr eaLnBrk="1" hangingPunct="1">
              <a:buFont typeface="Wingdings" pitchFamily="2" charset="2"/>
              <a:buNone/>
            </a:pPr>
            <a:r>
              <a:rPr lang="zh-CN" altLang="en-US" dirty="0"/>
              <a:t>   </a:t>
            </a:r>
            <a:r>
              <a:rPr lang="en-US" altLang="zh-CN" dirty="0"/>
              <a:t>B. </a:t>
            </a:r>
            <a:r>
              <a:rPr lang="zh-CN" altLang="en-US" dirty="0"/>
              <a:t>磁盘空间的管理</a:t>
            </a:r>
          </a:p>
          <a:p>
            <a:pPr eaLnBrk="1" hangingPunct="1">
              <a:buFont typeface="Wingdings" pitchFamily="2" charset="2"/>
              <a:buNone/>
            </a:pPr>
            <a:r>
              <a:rPr lang="en-US" altLang="zh-CN" dirty="0"/>
              <a:t>   C. </a:t>
            </a:r>
            <a:r>
              <a:rPr lang="zh-CN" altLang="en-US" dirty="0"/>
              <a:t>主存空间的共享</a:t>
            </a:r>
          </a:p>
          <a:p>
            <a:pPr eaLnBrk="1" hangingPunct="1">
              <a:buFont typeface="Wingdings" pitchFamily="2" charset="2"/>
              <a:buNone/>
            </a:pPr>
            <a:r>
              <a:rPr lang="zh-CN" altLang="en-US" dirty="0"/>
              <a:t>   </a:t>
            </a:r>
            <a:r>
              <a:rPr lang="en-US" altLang="zh-CN" dirty="0"/>
              <a:t>D. </a:t>
            </a:r>
            <a:r>
              <a:rPr lang="zh-CN" altLang="en-US" dirty="0"/>
              <a:t>实现文件的保护和保密</a:t>
            </a:r>
          </a:p>
        </p:txBody>
      </p:sp>
    </p:spTree>
  </p:cSld>
  <p:clrMapOvr>
    <a:masterClrMapping/>
  </p:clrMapOvr>
  <p:transition spd="med">
    <p:zoom/>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28727FBE-D669-AE5C-066E-61B6ADEF93E5}"/>
              </a:ext>
            </a:extLst>
          </p:cNvPr>
          <p:cNvSpPr>
            <a:spLocks noGrp="1" noChangeArrowheads="1"/>
          </p:cNvSpPr>
          <p:nvPr>
            <p:ph type="title"/>
          </p:nvPr>
        </p:nvSpPr>
        <p:spPr/>
        <p:txBody>
          <a:bodyPr/>
          <a:lstStyle/>
          <a:p>
            <a:pPr eaLnBrk="1" hangingPunct="1"/>
            <a:r>
              <a:rPr lang="zh-CN" altLang="en-US" sz="4000" dirty="0"/>
              <a:t>填空题</a:t>
            </a:r>
            <a:r>
              <a:rPr lang="en-US" altLang="zh-CN" sz="4000" dirty="0"/>
              <a:t>1</a:t>
            </a:r>
            <a:endParaRPr lang="zh-CN" altLang="en-US" sz="4000" dirty="0"/>
          </a:p>
        </p:txBody>
      </p:sp>
      <p:sp>
        <p:nvSpPr>
          <p:cNvPr id="103426" name="Rectangle 3">
            <a:extLst>
              <a:ext uri="{FF2B5EF4-FFF2-40B4-BE49-F238E27FC236}">
                <a16:creationId xmlns:a16="http://schemas.microsoft.com/office/drawing/2014/main" id="{D3089BBD-BF19-E4F1-BDCB-79378237716D}"/>
              </a:ext>
            </a:extLst>
          </p:cNvPr>
          <p:cNvSpPr>
            <a:spLocks noGrp="1" noChangeArrowheads="1"/>
          </p:cNvSpPr>
          <p:nvPr>
            <p:ph idx="1"/>
          </p:nvPr>
        </p:nvSpPr>
        <p:spPr>
          <a:xfrm>
            <a:off x="755650" y="1125538"/>
            <a:ext cx="8148638" cy="4895850"/>
          </a:xfrm>
        </p:spPr>
        <p:txBody>
          <a:bodyPr/>
          <a:lstStyle/>
          <a:p>
            <a:pPr eaLnBrk="1" hangingPunct="1"/>
            <a:r>
              <a:rPr lang="zh-CN" altLang="en-US" dirty="0"/>
              <a:t>索引文件大体上由 </a:t>
            </a:r>
            <a:r>
              <a:rPr lang="zh-CN" altLang="en-US" u="sng" dirty="0"/>
              <a:t>  ①  </a:t>
            </a:r>
            <a:r>
              <a:rPr lang="zh-CN" altLang="en-US" dirty="0"/>
              <a:t> 区和 </a:t>
            </a:r>
            <a:r>
              <a:rPr lang="zh-CN" altLang="en-US" u="sng" dirty="0"/>
              <a:t>  ②  </a:t>
            </a:r>
            <a:r>
              <a:rPr lang="zh-CN" altLang="en-US" dirty="0"/>
              <a:t> 区构成。</a:t>
            </a:r>
          </a:p>
          <a:p>
            <a:pPr eaLnBrk="1" hangingPunct="1"/>
            <a:r>
              <a:rPr lang="zh-CN" altLang="en-US" dirty="0"/>
              <a:t>逻辑文件有两种类型，即 </a:t>
            </a:r>
            <a:r>
              <a:rPr lang="zh-CN" altLang="en-US" u="sng" dirty="0"/>
              <a:t>  ①  </a:t>
            </a:r>
            <a:r>
              <a:rPr lang="zh-CN" altLang="en-US" dirty="0"/>
              <a:t> 文件与 </a:t>
            </a:r>
            <a:r>
              <a:rPr lang="zh-CN" altLang="en-US" u="sng" dirty="0"/>
              <a:t>  ②  </a:t>
            </a:r>
            <a:r>
              <a:rPr lang="zh-CN" altLang="en-US" dirty="0"/>
              <a:t> 文件。</a:t>
            </a:r>
          </a:p>
          <a:p>
            <a:pPr eaLnBrk="1" hangingPunct="1"/>
            <a:r>
              <a:rPr lang="zh-CN" altLang="en-US" dirty="0"/>
              <a:t>文件的物理组织有顺序结构、</a:t>
            </a:r>
            <a:r>
              <a:rPr lang="en-US" altLang="zh-CN" dirty="0"/>
              <a:t>________</a:t>
            </a:r>
            <a:r>
              <a:rPr lang="zh-CN" altLang="en-US" dirty="0"/>
              <a:t>和索引结构。</a:t>
            </a:r>
          </a:p>
          <a:p>
            <a:pPr eaLnBrk="1" hangingPunct="1"/>
            <a:r>
              <a:rPr lang="zh-CN" altLang="en-US" dirty="0"/>
              <a:t>在文件系统中，要求物理块必须连续的物理文件是 </a:t>
            </a:r>
            <a:r>
              <a:rPr lang="en-US" altLang="zh-CN" dirty="0"/>
              <a:t>_____ </a:t>
            </a:r>
            <a:r>
              <a:rPr lang="zh-CN" altLang="en-US" dirty="0"/>
              <a:t>。</a:t>
            </a:r>
            <a:endParaRPr lang="en-US" altLang="zh-CN" dirty="0"/>
          </a:p>
          <a:p>
            <a:r>
              <a:rPr lang="zh-CN" altLang="en-US" dirty="0"/>
              <a:t>文件转储的方法有两种：全量转储和 </a:t>
            </a:r>
            <a:r>
              <a:rPr lang="en-US" altLang="zh-CN" dirty="0"/>
              <a:t>_____ </a:t>
            </a:r>
            <a:r>
              <a:rPr lang="zh-CN" altLang="en-US" dirty="0"/>
              <a:t>。 </a:t>
            </a:r>
          </a:p>
        </p:txBody>
      </p:sp>
    </p:spTree>
  </p:cSld>
  <p:clrMapOvr>
    <a:masterClrMapping/>
  </p:clrMapOvr>
  <p:transition spd="med">
    <p:zoom/>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007BAEA3-5D33-A97A-F52F-B1A22596E56B}"/>
              </a:ext>
            </a:extLst>
          </p:cNvPr>
          <p:cNvSpPr>
            <a:spLocks noGrp="1" noChangeArrowheads="1"/>
          </p:cNvSpPr>
          <p:nvPr>
            <p:ph type="title"/>
          </p:nvPr>
        </p:nvSpPr>
        <p:spPr/>
        <p:txBody>
          <a:bodyPr/>
          <a:lstStyle/>
          <a:p>
            <a:pPr eaLnBrk="1" hangingPunct="1"/>
            <a:r>
              <a:rPr lang="zh-CN" altLang="en-US" sz="4000"/>
              <a:t>填空题</a:t>
            </a:r>
            <a:r>
              <a:rPr lang="en-US" altLang="zh-CN" sz="4000"/>
              <a:t>2</a:t>
            </a:r>
          </a:p>
        </p:txBody>
      </p:sp>
      <p:sp>
        <p:nvSpPr>
          <p:cNvPr id="104450" name="Rectangle 3">
            <a:extLst>
              <a:ext uri="{FF2B5EF4-FFF2-40B4-BE49-F238E27FC236}">
                <a16:creationId xmlns:a16="http://schemas.microsoft.com/office/drawing/2014/main" id="{02C6BFFD-A366-AF96-6F07-313809BB40CF}"/>
              </a:ext>
            </a:extLst>
          </p:cNvPr>
          <p:cNvSpPr>
            <a:spLocks noGrp="1" noChangeArrowheads="1"/>
          </p:cNvSpPr>
          <p:nvPr>
            <p:ph idx="1"/>
          </p:nvPr>
        </p:nvSpPr>
        <p:spPr>
          <a:xfrm>
            <a:off x="755650" y="1125538"/>
            <a:ext cx="8148638" cy="4895850"/>
          </a:xfrm>
        </p:spPr>
        <p:txBody>
          <a:bodyPr>
            <a:normAutofit lnSpcReduction="10000"/>
          </a:bodyPr>
          <a:lstStyle/>
          <a:p>
            <a:pPr eaLnBrk="1" hangingPunct="1"/>
            <a:r>
              <a:rPr lang="zh-CN" altLang="en-US"/>
              <a:t>文件的结构就是文件的组织形式，从用户观点出发所看到的文件组织形式称为文件的 </a:t>
            </a:r>
            <a:r>
              <a:rPr lang="zh-CN" altLang="en-US" u="sng"/>
              <a:t>  ①  </a:t>
            </a:r>
            <a:r>
              <a:rPr lang="zh-CN" altLang="en-US"/>
              <a:t>；从实现观点出发，文件在外存上的存放组织形式称为文件的 </a:t>
            </a:r>
            <a:r>
              <a:rPr lang="zh-CN" altLang="en-US" u="sng"/>
              <a:t>  ②  </a:t>
            </a:r>
            <a:r>
              <a:rPr lang="zh-CN" altLang="en-US"/>
              <a:t>。</a:t>
            </a:r>
          </a:p>
          <a:p>
            <a:pPr eaLnBrk="1" hangingPunct="1"/>
            <a:r>
              <a:rPr lang="zh-CN" altLang="en-US"/>
              <a:t>文件系统中若文件的物理结构采用连续结构，则文件控制块中关于文件的物理位置信息应包括文件的 </a:t>
            </a:r>
            <a:r>
              <a:rPr lang="zh-CN" altLang="en-US" u="sng"/>
              <a:t>  ①  </a:t>
            </a:r>
            <a:r>
              <a:rPr lang="zh-CN" altLang="en-US"/>
              <a:t> 和 </a:t>
            </a:r>
            <a:r>
              <a:rPr lang="zh-CN" altLang="en-US" u="sng"/>
              <a:t>  ②  </a:t>
            </a:r>
            <a:r>
              <a:rPr lang="zh-CN" altLang="en-US"/>
              <a:t> 。</a:t>
            </a:r>
          </a:p>
          <a:p>
            <a:pPr eaLnBrk="1" hangingPunct="1"/>
            <a:r>
              <a:rPr lang="zh-CN" altLang="en-US"/>
              <a:t>二级目录结构通常由</a:t>
            </a:r>
            <a:r>
              <a:rPr lang="zh-CN" altLang="en-US" u="sng"/>
              <a:t>  ①  </a:t>
            </a:r>
            <a:r>
              <a:rPr lang="zh-CN" altLang="en-US"/>
              <a:t> 和各用户的 </a:t>
            </a:r>
            <a:r>
              <a:rPr lang="zh-CN" altLang="en-US" u="sng"/>
              <a:t>  ②  </a:t>
            </a:r>
            <a:r>
              <a:rPr lang="zh-CN" altLang="en-US"/>
              <a:t> 组成。</a:t>
            </a:r>
          </a:p>
        </p:txBody>
      </p:sp>
    </p:spTree>
  </p:cSld>
  <p:clrMapOvr>
    <a:masterClrMapping/>
  </p:clrMapOvr>
  <p:transition spd="med">
    <p:zoom/>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F120C9C5-02DB-0567-611E-C2AAD7BF42CC}"/>
              </a:ext>
            </a:extLst>
          </p:cNvPr>
          <p:cNvSpPr>
            <a:spLocks noGrp="1" noChangeArrowheads="1"/>
          </p:cNvSpPr>
          <p:nvPr>
            <p:ph type="title"/>
          </p:nvPr>
        </p:nvSpPr>
        <p:spPr/>
        <p:txBody>
          <a:bodyPr/>
          <a:lstStyle/>
          <a:p>
            <a:pPr eaLnBrk="1" hangingPunct="1"/>
            <a:r>
              <a:rPr lang="zh-CN" altLang="en-US" sz="4000"/>
              <a:t>填空题</a:t>
            </a:r>
            <a:r>
              <a:rPr lang="en-US" altLang="zh-CN" sz="4000"/>
              <a:t>3</a:t>
            </a:r>
          </a:p>
        </p:txBody>
      </p:sp>
      <p:sp>
        <p:nvSpPr>
          <p:cNvPr id="105474" name="Rectangle 3">
            <a:extLst>
              <a:ext uri="{FF2B5EF4-FFF2-40B4-BE49-F238E27FC236}">
                <a16:creationId xmlns:a16="http://schemas.microsoft.com/office/drawing/2014/main" id="{59C44934-5948-2C1F-7D28-07B804E58E9B}"/>
              </a:ext>
            </a:extLst>
          </p:cNvPr>
          <p:cNvSpPr>
            <a:spLocks noGrp="1" noChangeArrowheads="1"/>
          </p:cNvSpPr>
          <p:nvPr>
            <p:ph idx="1"/>
          </p:nvPr>
        </p:nvSpPr>
        <p:spPr>
          <a:xfrm>
            <a:off x="827088" y="1125538"/>
            <a:ext cx="8077200" cy="4895850"/>
          </a:xfrm>
        </p:spPr>
        <p:txBody>
          <a:bodyPr/>
          <a:lstStyle/>
          <a:p>
            <a:pPr eaLnBrk="1" hangingPunct="1"/>
            <a:r>
              <a:rPr lang="zh-CN" altLang="en-US"/>
              <a:t>按用户对文件的存取权限将用户分为若干组，同时规定每一组用户对文件的访问权限。这样，所有用户组存取权限的集合称为该文件的 </a:t>
            </a:r>
            <a:r>
              <a:rPr lang="en-US" altLang="zh-CN"/>
              <a:t>_____ </a:t>
            </a:r>
            <a:r>
              <a:rPr lang="zh-CN" altLang="en-US"/>
              <a:t>。 </a:t>
            </a:r>
          </a:p>
          <a:p>
            <a:pPr algn="just" eaLnBrk="1" hangingPunct="1"/>
            <a:r>
              <a:rPr lang="en-US" altLang="zh-CN"/>
              <a:t>_____ </a:t>
            </a:r>
            <a:r>
              <a:rPr lang="zh-CN" altLang="en-US"/>
              <a:t>是指避免文件拥有者或其他用户因有意或无意的错误操作使文件受到破坏。</a:t>
            </a:r>
          </a:p>
        </p:txBody>
      </p:sp>
    </p:spTree>
  </p:cSld>
  <p:clrMapOvr>
    <a:masterClrMapping/>
  </p:clrMapOvr>
  <p:transition spd="med">
    <p:zoom/>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7F816D1F-8A1D-BF27-C29F-90659107D7F5}"/>
              </a:ext>
            </a:extLst>
          </p:cNvPr>
          <p:cNvSpPr>
            <a:spLocks noGrp="1" noChangeArrowheads="1"/>
          </p:cNvSpPr>
          <p:nvPr>
            <p:ph type="title"/>
          </p:nvPr>
        </p:nvSpPr>
        <p:spPr/>
        <p:txBody>
          <a:bodyPr/>
          <a:lstStyle/>
          <a:p>
            <a:pPr eaLnBrk="1" hangingPunct="1"/>
            <a:r>
              <a:rPr lang="zh-CN" altLang="en-US"/>
              <a:t>考研题</a:t>
            </a:r>
            <a:r>
              <a:rPr lang="en-US" altLang="zh-CN"/>
              <a:t>1</a:t>
            </a:r>
          </a:p>
        </p:txBody>
      </p:sp>
      <p:sp>
        <p:nvSpPr>
          <p:cNvPr id="83970" name="Rectangle 3">
            <a:extLst>
              <a:ext uri="{FF2B5EF4-FFF2-40B4-BE49-F238E27FC236}">
                <a16:creationId xmlns:a16="http://schemas.microsoft.com/office/drawing/2014/main" id="{24FE67B2-BE3E-AFAA-0941-8A2C82D29934}"/>
              </a:ext>
            </a:extLst>
          </p:cNvPr>
          <p:cNvSpPr>
            <a:spLocks noGrp="1" noChangeArrowheads="1"/>
          </p:cNvSpPr>
          <p:nvPr>
            <p:ph idx="1"/>
          </p:nvPr>
        </p:nvSpPr>
        <p:spPr>
          <a:xfrm>
            <a:off x="468313" y="1125538"/>
            <a:ext cx="8496300" cy="5507037"/>
          </a:xfrm>
        </p:spPr>
        <p:txBody>
          <a:bodyPr/>
          <a:lstStyle/>
          <a:p>
            <a:pPr marL="609600" indent="-609600" eaLnBrk="1" hangingPunct="1"/>
            <a:r>
              <a:rPr lang="zh-CN" altLang="en-US"/>
              <a:t>设文件索引节点中有</a:t>
            </a:r>
            <a:r>
              <a:rPr lang="en-US" altLang="zh-CN"/>
              <a:t>7</a:t>
            </a:r>
            <a:r>
              <a:rPr lang="zh-CN" altLang="en-US"/>
              <a:t>个地址项，其中</a:t>
            </a:r>
            <a:r>
              <a:rPr lang="en-US" altLang="zh-CN"/>
              <a:t>4</a:t>
            </a:r>
            <a:r>
              <a:rPr lang="zh-CN" altLang="en-US"/>
              <a:t>个地址项为直接地址索引，</a:t>
            </a:r>
            <a:r>
              <a:rPr lang="en-US" altLang="zh-CN"/>
              <a:t>2</a:t>
            </a:r>
            <a:r>
              <a:rPr lang="zh-CN" altLang="en-US"/>
              <a:t>个地址项是一级间接地址索引，</a:t>
            </a:r>
            <a:r>
              <a:rPr lang="en-US" altLang="zh-CN"/>
              <a:t>1</a:t>
            </a:r>
            <a:r>
              <a:rPr lang="zh-CN" altLang="en-US"/>
              <a:t>个地址项是二级间接地址索引，每个地址项大小为</a:t>
            </a:r>
            <a:r>
              <a:rPr lang="en-US" altLang="zh-CN"/>
              <a:t>4</a:t>
            </a:r>
            <a:r>
              <a:rPr lang="zh-CN" altLang="en-US"/>
              <a:t>字节，若磁盘索引块和磁盘数据块大小均为</a:t>
            </a:r>
            <a:r>
              <a:rPr lang="en-US" altLang="zh-CN"/>
              <a:t>256</a:t>
            </a:r>
            <a:r>
              <a:rPr lang="zh-CN" altLang="en-US"/>
              <a:t>字节，则可表示的单个文件最大长度是</a:t>
            </a:r>
            <a:r>
              <a:rPr lang="zh-CN" altLang="en-US" u="sng"/>
              <a:t>      </a:t>
            </a:r>
            <a:r>
              <a:rPr lang="zh-CN" altLang="en-US"/>
              <a:t>。</a:t>
            </a:r>
            <a:r>
              <a:rPr lang="en-US" altLang="zh-CN"/>
              <a:t>10</a:t>
            </a:r>
          </a:p>
          <a:p>
            <a:pPr marL="609600" indent="-609600" eaLnBrk="1" hangingPunct="1">
              <a:buFont typeface="Wingdings" pitchFamily="2" charset="2"/>
              <a:buNone/>
            </a:pPr>
            <a:r>
              <a:rPr lang="en-US" altLang="zh-CN"/>
              <a:t>     A.33KB  B. 519KB   C. 1057KB  D. 16613KB</a:t>
            </a:r>
          </a:p>
        </p:txBody>
      </p:sp>
    </p:spTree>
    <p:extLst>
      <p:ext uri="{BB962C8B-B14F-4D97-AF65-F5344CB8AC3E}">
        <p14:creationId xmlns:p14="http://schemas.microsoft.com/office/powerpoint/2010/main" val="3382008125"/>
      </p:ext>
    </p:extLst>
  </p:cSld>
  <p:clrMapOvr>
    <a:masterClrMapping/>
  </p:clrMapOvr>
  <p:transition spd="med">
    <p:zoom/>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453A8186-185C-D84A-8515-9B32B5FC92A4}"/>
              </a:ext>
            </a:extLst>
          </p:cNvPr>
          <p:cNvSpPr>
            <a:spLocks noGrp="1" noChangeArrowheads="1"/>
          </p:cNvSpPr>
          <p:nvPr>
            <p:ph type="title"/>
          </p:nvPr>
        </p:nvSpPr>
        <p:spPr>
          <a:xfrm>
            <a:off x="1042988" y="225431"/>
            <a:ext cx="7850187" cy="746125"/>
          </a:xfrm>
        </p:spPr>
        <p:txBody>
          <a:bodyPr/>
          <a:lstStyle/>
          <a:p>
            <a:r>
              <a:rPr lang="zh-CN" altLang="en-US"/>
              <a:t>考研题</a:t>
            </a:r>
            <a:r>
              <a:rPr lang="en-US" altLang="zh-CN"/>
              <a:t>2-1</a:t>
            </a:r>
            <a:endParaRPr lang="zh-CN" altLang="en-US"/>
          </a:p>
        </p:txBody>
      </p:sp>
      <p:sp>
        <p:nvSpPr>
          <p:cNvPr id="84994" name="Rectangle 3">
            <a:extLst>
              <a:ext uri="{FF2B5EF4-FFF2-40B4-BE49-F238E27FC236}">
                <a16:creationId xmlns:a16="http://schemas.microsoft.com/office/drawing/2014/main" id="{F9AD2CA2-6A3F-69CA-FFD0-20AF92D9125E}"/>
              </a:ext>
            </a:extLst>
          </p:cNvPr>
          <p:cNvSpPr>
            <a:spLocks noGrp="1" noChangeArrowheads="1"/>
          </p:cNvSpPr>
          <p:nvPr>
            <p:ph idx="1"/>
          </p:nvPr>
        </p:nvSpPr>
        <p:spPr>
          <a:xfrm>
            <a:off x="935038" y="1233488"/>
            <a:ext cx="7772400" cy="4895850"/>
          </a:xfrm>
        </p:spPr>
        <p:txBody>
          <a:bodyPr>
            <a:normAutofit fontScale="77500" lnSpcReduction="20000"/>
          </a:bodyPr>
          <a:lstStyle/>
          <a:p>
            <a:r>
              <a:rPr lang="zh-CN" altLang="en-US" dirty="0"/>
              <a:t>某文件系统空间的最大容量为</a:t>
            </a:r>
            <a:r>
              <a:rPr lang="en-US" altLang="zh-CN" dirty="0"/>
              <a:t>4TB</a:t>
            </a:r>
            <a:r>
              <a:rPr lang="zh-CN" altLang="en-US" dirty="0"/>
              <a:t>（</a:t>
            </a:r>
            <a:r>
              <a:rPr lang="en-US" altLang="zh-CN" dirty="0"/>
              <a:t>1TB=240</a:t>
            </a:r>
            <a:r>
              <a:rPr lang="zh-CN" altLang="en-US" dirty="0"/>
              <a:t>），以磁盘块为基本分配单元。磁盘块大小为</a:t>
            </a:r>
            <a:r>
              <a:rPr lang="en-US" altLang="zh-CN" dirty="0"/>
              <a:t>1KB</a:t>
            </a:r>
            <a:r>
              <a:rPr lang="zh-CN" altLang="en-US" dirty="0"/>
              <a:t>。文件控制块（</a:t>
            </a:r>
            <a:r>
              <a:rPr lang="en-US" altLang="zh-CN" dirty="0"/>
              <a:t>FCB</a:t>
            </a:r>
            <a:r>
              <a:rPr lang="zh-CN" altLang="en-US" dirty="0"/>
              <a:t>）包含一个</a:t>
            </a:r>
            <a:r>
              <a:rPr lang="en-US" altLang="zh-CN" dirty="0"/>
              <a:t>512B</a:t>
            </a:r>
            <a:r>
              <a:rPr lang="zh-CN" altLang="en-US" dirty="0"/>
              <a:t>的索引表区。请回答下列问题。</a:t>
            </a:r>
            <a:r>
              <a:rPr lang="en-US" altLang="zh-CN" dirty="0"/>
              <a:t>12</a:t>
            </a:r>
          </a:p>
          <a:p>
            <a:r>
              <a:rPr lang="zh-CN" altLang="en-US" dirty="0"/>
              <a:t>（</a:t>
            </a:r>
            <a:r>
              <a:rPr lang="en-US" altLang="zh-CN" dirty="0"/>
              <a:t>1</a:t>
            </a:r>
            <a:r>
              <a:rPr lang="zh-CN" altLang="en-US" dirty="0"/>
              <a:t>）假设索引表区仅采用直接索引结构，索引表区存放文件占用的磁盘块号，索引项中块号最少占多少字节？可支持的单个文件最大长度是多少字节？</a:t>
            </a:r>
          </a:p>
          <a:p>
            <a:r>
              <a:rPr lang="zh-CN" altLang="en-US" dirty="0"/>
              <a:t>（</a:t>
            </a:r>
            <a:r>
              <a:rPr lang="en-US" altLang="zh-CN" dirty="0"/>
              <a:t>2</a:t>
            </a:r>
            <a:r>
              <a:rPr lang="zh-CN" altLang="en-US" dirty="0"/>
              <a:t>）假设索引表区采用如下结构：第</a:t>
            </a:r>
            <a:r>
              <a:rPr lang="en-US" altLang="zh-CN" dirty="0"/>
              <a:t>0</a:t>
            </a:r>
            <a:r>
              <a:rPr lang="zh-CN" altLang="en-US" dirty="0"/>
              <a:t>～</a:t>
            </a:r>
            <a:r>
              <a:rPr lang="en-US" altLang="zh-CN" dirty="0"/>
              <a:t>7</a:t>
            </a:r>
            <a:r>
              <a:rPr lang="zh-CN" altLang="en-US" dirty="0"/>
              <a:t>字节采用</a:t>
            </a:r>
            <a:r>
              <a:rPr lang="en-US" altLang="zh-CN" dirty="0"/>
              <a:t>&lt;</a:t>
            </a:r>
            <a:r>
              <a:rPr lang="zh-CN" altLang="en-US" dirty="0"/>
              <a:t>起始块号，块数</a:t>
            </a:r>
            <a:r>
              <a:rPr lang="en-US" altLang="zh-CN" dirty="0"/>
              <a:t>&gt;</a:t>
            </a:r>
            <a:r>
              <a:rPr lang="zh-CN" altLang="en-US" dirty="0"/>
              <a:t>格式表示文件创建时预分配的连续存储空间。其中起始块号占</a:t>
            </a:r>
            <a:r>
              <a:rPr lang="en-US" altLang="zh-CN" dirty="0"/>
              <a:t>6B</a:t>
            </a:r>
            <a:r>
              <a:rPr lang="zh-CN" altLang="en-US" dirty="0"/>
              <a:t>，块数占</a:t>
            </a:r>
            <a:r>
              <a:rPr lang="en-US" altLang="zh-CN" dirty="0"/>
              <a:t>2B</a:t>
            </a:r>
            <a:r>
              <a:rPr lang="zh-CN" altLang="en-US" dirty="0"/>
              <a:t>，剩余</a:t>
            </a:r>
            <a:r>
              <a:rPr lang="en-US" altLang="zh-CN" dirty="0"/>
              <a:t>504</a:t>
            </a:r>
            <a:r>
              <a:rPr lang="zh-CN" altLang="en-US" dirty="0"/>
              <a:t>字节采用直接索引结构，一个索引项占</a:t>
            </a:r>
            <a:r>
              <a:rPr lang="en-US" altLang="zh-CN" dirty="0"/>
              <a:t>6B</a:t>
            </a:r>
            <a:r>
              <a:rPr lang="zh-CN" altLang="en-US" dirty="0"/>
              <a:t>，则可支持的单个文件最大长度是多少字节？为了使单个文件的长度达到最大，请指出起始块号和块数分别所占字节数的合理值并说明理由。</a:t>
            </a:r>
          </a:p>
        </p:txBody>
      </p:sp>
    </p:spTree>
    <p:extLst>
      <p:ext uri="{BB962C8B-B14F-4D97-AF65-F5344CB8AC3E}">
        <p14:creationId xmlns:p14="http://schemas.microsoft.com/office/powerpoint/2010/main" val="841434203"/>
      </p:ext>
    </p:extLst>
  </p:cSld>
  <p:clrMapOvr>
    <a:masterClrMapping/>
  </p:clrMapOvr>
  <p:transition spd="med">
    <p:zoom/>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D30586FD-F861-C676-A8D3-A91A39D8DE45}"/>
              </a:ext>
            </a:extLst>
          </p:cNvPr>
          <p:cNvSpPr>
            <a:spLocks noGrp="1" noChangeArrowheads="1"/>
          </p:cNvSpPr>
          <p:nvPr>
            <p:ph type="title"/>
          </p:nvPr>
        </p:nvSpPr>
        <p:spPr/>
        <p:txBody>
          <a:bodyPr/>
          <a:lstStyle/>
          <a:p>
            <a:pPr eaLnBrk="1" hangingPunct="1"/>
            <a:r>
              <a:rPr lang="zh-CN" altLang="en-US"/>
              <a:t>考研题</a:t>
            </a:r>
            <a:r>
              <a:rPr lang="en-US" altLang="zh-CN"/>
              <a:t>2-2</a:t>
            </a:r>
            <a:endParaRPr lang="zh-CN" altLang="en-US"/>
          </a:p>
        </p:txBody>
      </p:sp>
      <p:sp>
        <p:nvSpPr>
          <p:cNvPr id="86018" name="Rectangle 3">
            <a:extLst>
              <a:ext uri="{FF2B5EF4-FFF2-40B4-BE49-F238E27FC236}">
                <a16:creationId xmlns:a16="http://schemas.microsoft.com/office/drawing/2014/main" id="{C99B0120-9801-333A-DE09-DBB9F80AEA4D}"/>
              </a:ext>
            </a:extLst>
          </p:cNvPr>
          <p:cNvSpPr>
            <a:spLocks noGrp="1" noChangeArrowheads="1"/>
          </p:cNvSpPr>
          <p:nvPr>
            <p:ph idx="1"/>
          </p:nvPr>
        </p:nvSpPr>
        <p:spPr>
          <a:xfrm>
            <a:off x="468313" y="1125538"/>
            <a:ext cx="8496300" cy="5507037"/>
          </a:xfrm>
        </p:spPr>
        <p:txBody>
          <a:bodyPr/>
          <a:lstStyle/>
          <a:p>
            <a:pPr eaLnBrk="1" hangingPunct="1"/>
            <a:r>
              <a:rPr lang="zh-CN" altLang="en-US" sz="2800" dirty="0"/>
              <a:t>（</a:t>
            </a:r>
            <a:r>
              <a:rPr lang="en-US" altLang="zh-CN" sz="2800" dirty="0"/>
              <a:t>1</a:t>
            </a:r>
            <a:r>
              <a:rPr lang="zh-CN" altLang="en-US" sz="2800" dirty="0"/>
              <a:t>）文件系统存储空间共有块数</a:t>
            </a:r>
            <a:r>
              <a:rPr lang="en-US" altLang="zh-CN" sz="2800" dirty="0"/>
              <a:t>=2</a:t>
            </a:r>
            <a:r>
              <a:rPr lang="en-US" altLang="zh-CN" sz="2800" baseline="30000" dirty="0"/>
              <a:t>42</a:t>
            </a:r>
            <a:r>
              <a:rPr lang="en-US" altLang="zh-CN" sz="2800" dirty="0"/>
              <a:t>/2</a:t>
            </a:r>
            <a:r>
              <a:rPr lang="en-US" altLang="zh-CN" sz="2800" baseline="30000" dirty="0"/>
              <a:t>10</a:t>
            </a:r>
            <a:r>
              <a:rPr lang="en-US" altLang="zh-CN" sz="2800" dirty="0"/>
              <a:t>=2</a:t>
            </a:r>
            <a:r>
              <a:rPr lang="en-US" altLang="zh-CN" sz="2800" baseline="30000" dirty="0"/>
              <a:t>32</a:t>
            </a:r>
            <a:r>
              <a:rPr lang="zh-CN" altLang="en-US" sz="2800" dirty="0"/>
              <a:t>。为表示</a:t>
            </a:r>
            <a:r>
              <a:rPr lang="en-US" altLang="zh-CN" sz="2800" dirty="0"/>
              <a:t>2</a:t>
            </a:r>
            <a:r>
              <a:rPr lang="en-US" altLang="zh-CN" sz="2800" baseline="30000" dirty="0"/>
              <a:t>32</a:t>
            </a:r>
            <a:r>
              <a:rPr lang="zh-CN" altLang="en-US" sz="2800" dirty="0"/>
              <a:t>个块号，索引表项占</a:t>
            </a:r>
            <a:r>
              <a:rPr lang="en-US" altLang="zh-CN" sz="2800" dirty="0"/>
              <a:t>32/8=4B</a:t>
            </a:r>
            <a:r>
              <a:rPr lang="zh-CN" altLang="en-US" sz="2800" dirty="0"/>
              <a:t>。</a:t>
            </a:r>
          </a:p>
          <a:p>
            <a:pPr eaLnBrk="1" hangingPunct="1"/>
            <a:r>
              <a:rPr lang="en-US" altLang="zh-CN" sz="2800" dirty="0"/>
              <a:t>512</a:t>
            </a:r>
            <a:r>
              <a:rPr lang="zh-CN" altLang="en-US" sz="2800" dirty="0"/>
              <a:t>可存放</a:t>
            </a:r>
            <a:r>
              <a:rPr lang="en-US" altLang="zh-CN" sz="2800" dirty="0"/>
              <a:t>2</a:t>
            </a:r>
            <a:r>
              <a:rPr lang="en-US" altLang="zh-CN" sz="2800" baseline="30000" dirty="0"/>
              <a:t>7</a:t>
            </a:r>
            <a:r>
              <a:rPr lang="zh-CN" altLang="en-US" sz="2800" dirty="0"/>
              <a:t>个索引表项，故最大文件长度</a:t>
            </a:r>
            <a:r>
              <a:rPr lang="en-US" altLang="zh-CN" sz="2800" dirty="0"/>
              <a:t>=2</a:t>
            </a:r>
            <a:r>
              <a:rPr lang="en-US" altLang="zh-CN" sz="2800" baseline="30000" dirty="0"/>
              <a:t>7</a:t>
            </a:r>
            <a:r>
              <a:rPr lang="en-US" altLang="zh-CN" sz="2800" dirty="0"/>
              <a:t>×2</a:t>
            </a:r>
            <a:r>
              <a:rPr lang="en-US" altLang="zh-CN" sz="2800" baseline="30000" dirty="0"/>
              <a:t>10</a:t>
            </a:r>
            <a:r>
              <a:rPr lang="en-US" altLang="zh-CN" sz="2800" dirty="0"/>
              <a:t>=2</a:t>
            </a:r>
            <a:r>
              <a:rPr lang="en-US" altLang="zh-CN" sz="2800" baseline="30000" dirty="0"/>
              <a:t>17</a:t>
            </a:r>
            <a:r>
              <a:rPr lang="en-US" altLang="zh-CN" sz="2800" dirty="0"/>
              <a:t>B=128KB</a:t>
            </a:r>
            <a:r>
              <a:rPr lang="zh-CN" altLang="en-US" sz="2800" dirty="0"/>
              <a:t>。</a:t>
            </a:r>
          </a:p>
          <a:p>
            <a:pPr eaLnBrk="1" hangingPunct="1"/>
            <a:r>
              <a:rPr lang="zh-CN" altLang="en-US" sz="2800" dirty="0"/>
              <a:t>（</a:t>
            </a:r>
            <a:r>
              <a:rPr lang="en-US" altLang="zh-CN" sz="2800" dirty="0"/>
              <a:t>2</a:t>
            </a:r>
            <a:r>
              <a:rPr lang="zh-CN" altLang="en-US" sz="2800" dirty="0"/>
              <a:t>）块号占</a:t>
            </a:r>
            <a:r>
              <a:rPr lang="en-US" altLang="zh-CN" sz="2800" dirty="0"/>
              <a:t>6</a:t>
            </a:r>
            <a:r>
              <a:rPr lang="zh-CN" altLang="en-US" sz="2800" dirty="0"/>
              <a:t>字节，块数占</a:t>
            </a:r>
            <a:r>
              <a:rPr lang="en-US" altLang="zh-CN" sz="2800" dirty="0"/>
              <a:t>2</a:t>
            </a:r>
            <a:r>
              <a:rPr lang="zh-CN" altLang="en-US" sz="2800" dirty="0"/>
              <a:t>字节的情况下，最大文件长度</a:t>
            </a:r>
            <a:r>
              <a:rPr lang="en-US" altLang="zh-CN" sz="2800" dirty="0"/>
              <a:t>=2</a:t>
            </a:r>
            <a:r>
              <a:rPr lang="en-US" altLang="zh-CN" sz="2800" baseline="30000" dirty="0"/>
              <a:t>16</a:t>
            </a:r>
            <a:r>
              <a:rPr lang="en-US" altLang="zh-CN" sz="2800" dirty="0"/>
              <a:t>×2</a:t>
            </a:r>
            <a:r>
              <a:rPr lang="en-US" altLang="zh-CN" sz="2800" baseline="30000" dirty="0"/>
              <a:t>10</a:t>
            </a:r>
            <a:r>
              <a:rPr lang="en-US" altLang="zh-CN" sz="2800" dirty="0"/>
              <a:t>+(504/6)×2</a:t>
            </a:r>
            <a:r>
              <a:rPr lang="en-US" altLang="zh-CN" sz="2800" baseline="30000" dirty="0"/>
              <a:t>10</a:t>
            </a:r>
            <a:r>
              <a:rPr lang="en-US" altLang="zh-CN" sz="2800" dirty="0"/>
              <a:t>=64MB+84KB</a:t>
            </a:r>
            <a:r>
              <a:rPr lang="zh-CN" altLang="en-US" sz="2800" dirty="0"/>
              <a:t>。</a:t>
            </a:r>
            <a:r>
              <a:rPr lang="en-US" altLang="zh-CN" sz="2800" dirty="0"/>
              <a:t>=65620KB</a:t>
            </a:r>
          </a:p>
          <a:p>
            <a:pPr eaLnBrk="1" hangingPunct="1"/>
            <a:r>
              <a:rPr lang="zh-CN" altLang="en-US" sz="2800" dirty="0"/>
              <a:t>合理的起始块号和块数所占字节数分别为</a:t>
            </a:r>
            <a:r>
              <a:rPr lang="en-US" altLang="zh-CN" sz="2800" dirty="0"/>
              <a:t>4</a:t>
            </a:r>
            <a:r>
              <a:rPr lang="zh-CN" altLang="en-US" sz="2800" dirty="0"/>
              <a:t>，</a:t>
            </a:r>
            <a:r>
              <a:rPr lang="en-US" altLang="zh-CN" sz="2800" dirty="0"/>
              <a:t>4</a:t>
            </a:r>
            <a:r>
              <a:rPr lang="zh-CN" altLang="en-US" sz="2800" dirty="0"/>
              <a:t>（</a:t>
            </a:r>
            <a:r>
              <a:rPr lang="en-US" altLang="zh-CN" sz="2800" dirty="0"/>
              <a:t>1</a:t>
            </a:r>
            <a:r>
              <a:rPr lang="zh-CN" altLang="en-US" sz="2800" dirty="0"/>
              <a:t>，</a:t>
            </a:r>
            <a:r>
              <a:rPr lang="en-US" altLang="zh-CN" sz="2800" dirty="0"/>
              <a:t>7</a:t>
            </a:r>
            <a:r>
              <a:rPr lang="zh-CN" altLang="en-US" sz="2800" dirty="0"/>
              <a:t>或</a:t>
            </a:r>
            <a:r>
              <a:rPr lang="en-US" altLang="zh-CN" sz="2800" dirty="0"/>
              <a:t>2</a:t>
            </a:r>
            <a:r>
              <a:rPr lang="zh-CN" altLang="en-US" sz="2800" dirty="0"/>
              <a:t>，</a:t>
            </a:r>
            <a:r>
              <a:rPr lang="en-US" altLang="zh-CN" sz="2800" dirty="0"/>
              <a:t>6</a:t>
            </a:r>
            <a:r>
              <a:rPr lang="zh-CN" altLang="en-US" sz="2800" dirty="0"/>
              <a:t>或</a:t>
            </a:r>
            <a:r>
              <a:rPr lang="en-US" altLang="zh-CN" sz="2800" dirty="0"/>
              <a:t>3</a:t>
            </a:r>
            <a:r>
              <a:rPr lang="zh-CN" altLang="en-US" sz="2800" dirty="0"/>
              <a:t>，</a:t>
            </a:r>
            <a:r>
              <a:rPr lang="en-US" altLang="zh-CN" sz="2800" dirty="0"/>
              <a:t>5</a:t>
            </a:r>
            <a:r>
              <a:rPr lang="zh-CN" altLang="en-US" sz="2800" dirty="0"/>
              <a:t>）。因为块数占</a:t>
            </a:r>
            <a:r>
              <a:rPr lang="en-US" altLang="zh-CN" sz="2800" dirty="0"/>
              <a:t>4B</a:t>
            </a:r>
            <a:r>
              <a:rPr lang="zh-CN" altLang="en-US" sz="2800" dirty="0"/>
              <a:t>或以上，就可表示</a:t>
            </a:r>
            <a:r>
              <a:rPr lang="en-US" altLang="zh-CN" sz="2800" dirty="0"/>
              <a:t>4TB</a:t>
            </a:r>
            <a:r>
              <a:rPr lang="zh-CN" altLang="en-US" sz="2800" dirty="0"/>
              <a:t>大小的文件长度，达到文件系统的空间上限。</a:t>
            </a:r>
          </a:p>
        </p:txBody>
      </p:sp>
    </p:spTree>
    <p:extLst>
      <p:ext uri="{BB962C8B-B14F-4D97-AF65-F5344CB8AC3E}">
        <p14:creationId xmlns:p14="http://schemas.microsoft.com/office/powerpoint/2010/main" val="4239171601"/>
      </p:ext>
    </p:extLst>
  </p:cSld>
  <p:clrMapOvr>
    <a:masterClrMapping/>
  </p:clrMapOvr>
  <p:transition spd="med">
    <p:zoom/>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40C65B5C-4A98-BB6F-057E-909A983CA3E2}"/>
              </a:ext>
            </a:extLst>
          </p:cNvPr>
          <p:cNvSpPr>
            <a:spLocks noGrp="1" noChangeArrowheads="1"/>
          </p:cNvSpPr>
          <p:nvPr>
            <p:ph type="title"/>
          </p:nvPr>
        </p:nvSpPr>
        <p:spPr/>
        <p:txBody>
          <a:bodyPr/>
          <a:lstStyle/>
          <a:p>
            <a:pPr eaLnBrk="1" hangingPunct="1"/>
            <a:r>
              <a:rPr lang="zh-CN" altLang="en-US" sz="4000" dirty="0"/>
              <a:t>考研题</a:t>
            </a:r>
            <a:r>
              <a:rPr lang="en-US" altLang="zh-CN" sz="4000" dirty="0"/>
              <a:t>3</a:t>
            </a:r>
          </a:p>
        </p:txBody>
      </p:sp>
      <p:sp>
        <p:nvSpPr>
          <p:cNvPr id="106498" name="Rectangle 3">
            <a:extLst>
              <a:ext uri="{FF2B5EF4-FFF2-40B4-BE49-F238E27FC236}">
                <a16:creationId xmlns:a16="http://schemas.microsoft.com/office/drawing/2014/main" id="{777F7CF5-72AB-5CB9-C425-BAF76BC72F47}"/>
              </a:ext>
            </a:extLst>
          </p:cNvPr>
          <p:cNvSpPr>
            <a:spLocks noGrp="1" noChangeArrowheads="1"/>
          </p:cNvSpPr>
          <p:nvPr>
            <p:ph idx="1"/>
          </p:nvPr>
        </p:nvSpPr>
        <p:spPr>
          <a:xfrm>
            <a:off x="611188" y="1125538"/>
            <a:ext cx="8293100" cy="4895850"/>
          </a:xfrm>
        </p:spPr>
        <p:txBody>
          <a:bodyPr/>
          <a:lstStyle/>
          <a:p>
            <a:pPr eaLnBrk="1" hangingPunct="1"/>
            <a:r>
              <a:rPr lang="zh-CN" altLang="en-US"/>
              <a:t>下列文件物理结构中，适合随机访问且易于文件扩展的是（）</a:t>
            </a:r>
            <a:r>
              <a:rPr lang="en-US" altLang="zh-CN"/>
              <a:t>09</a:t>
            </a:r>
          </a:p>
          <a:p>
            <a:pPr eaLnBrk="1" hangingPunct="1">
              <a:buFont typeface="Wingdings" pitchFamily="2" charset="2"/>
              <a:buNone/>
            </a:pPr>
            <a:r>
              <a:rPr lang="en-US" altLang="zh-CN"/>
              <a:t>   A</a:t>
            </a:r>
            <a:r>
              <a:rPr lang="zh-CN" altLang="en-US"/>
              <a:t>、连续结构     </a:t>
            </a:r>
            <a:r>
              <a:rPr lang="en-US" altLang="zh-CN"/>
              <a:t>C</a:t>
            </a:r>
            <a:r>
              <a:rPr lang="zh-CN" altLang="en-US"/>
              <a:t>、链式结构且磁盘块定长</a:t>
            </a:r>
          </a:p>
          <a:p>
            <a:pPr eaLnBrk="1" hangingPunct="1">
              <a:buFont typeface="Wingdings" pitchFamily="2" charset="2"/>
              <a:buNone/>
            </a:pPr>
            <a:r>
              <a:rPr lang="en-US" altLang="zh-CN"/>
              <a:t>   B</a:t>
            </a:r>
            <a:r>
              <a:rPr lang="zh-CN" altLang="en-US"/>
              <a:t>、索引结构     </a:t>
            </a:r>
            <a:r>
              <a:rPr lang="en-US" altLang="zh-CN"/>
              <a:t>D</a:t>
            </a:r>
            <a:r>
              <a:rPr lang="zh-CN" altLang="en-US"/>
              <a:t>、链式结构且磁盘块变长</a:t>
            </a:r>
          </a:p>
          <a:p>
            <a:pPr eaLnBrk="1" hangingPunct="1"/>
            <a:r>
              <a:rPr lang="zh-CN" altLang="en-US"/>
              <a:t>设置当前工作目录的主要目的是</a:t>
            </a:r>
            <a:r>
              <a:rPr lang="zh-CN" altLang="en-US" u="sng"/>
              <a:t>      </a:t>
            </a:r>
            <a:r>
              <a:rPr lang="zh-CN" altLang="en-US"/>
              <a:t>。</a:t>
            </a:r>
            <a:r>
              <a:rPr lang="en-US" altLang="zh-CN"/>
              <a:t>10</a:t>
            </a:r>
          </a:p>
          <a:p>
            <a:pPr eaLnBrk="1" hangingPunct="1">
              <a:buFont typeface="Wingdings" pitchFamily="2" charset="2"/>
              <a:buNone/>
            </a:pPr>
            <a:r>
              <a:rPr lang="en-US" altLang="zh-CN" sz="2800"/>
              <a:t>A. </a:t>
            </a:r>
            <a:r>
              <a:rPr lang="zh-CN" altLang="en-US" sz="2800"/>
              <a:t>节省外存空间		   </a:t>
            </a:r>
            <a:r>
              <a:rPr lang="en-US" altLang="zh-CN" sz="2800"/>
              <a:t>B. </a:t>
            </a:r>
            <a:r>
              <a:rPr lang="zh-CN" altLang="en-US" sz="2800"/>
              <a:t>节省内存空间</a:t>
            </a:r>
          </a:p>
          <a:p>
            <a:pPr eaLnBrk="1" hangingPunct="1">
              <a:buFont typeface="Wingdings" pitchFamily="2" charset="2"/>
              <a:buNone/>
            </a:pPr>
            <a:r>
              <a:rPr lang="en-US" altLang="zh-CN" sz="2800"/>
              <a:t>C. </a:t>
            </a:r>
            <a:r>
              <a:rPr lang="zh-CN" altLang="en-US" sz="2800"/>
              <a:t>加快文件的检索速度	   </a:t>
            </a:r>
            <a:r>
              <a:rPr lang="en-US" altLang="zh-CN" sz="2800"/>
              <a:t>D. </a:t>
            </a:r>
            <a:r>
              <a:rPr lang="zh-CN" altLang="en-US" sz="2800"/>
              <a:t>加快文件的读</a:t>
            </a:r>
            <a:r>
              <a:rPr lang="en-US" altLang="zh-CN" sz="2800"/>
              <a:t>/</a:t>
            </a:r>
            <a:r>
              <a:rPr lang="zh-CN" altLang="en-US" sz="2800"/>
              <a:t>写速度</a:t>
            </a:r>
            <a:endParaRPr lang="zh-CN" altLang="en-US"/>
          </a:p>
        </p:txBody>
      </p:sp>
    </p:spTree>
  </p:cSld>
  <p:clrMapOvr>
    <a:masterClrMapping/>
  </p:clrMapOvr>
  <p:transition spd="med">
    <p:zoom/>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F3642EB8-8162-D8C0-1804-1901BFF18AC9}"/>
              </a:ext>
            </a:extLst>
          </p:cNvPr>
          <p:cNvSpPr>
            <a:spLocks noGrp="1" noChangeArrowheads="1"/>
          </p:cNvSpPr>
          <p:nvPr>
            <p:ph type="title"/>
          </p:nvPr>
        </p:nvSpPr>
        <p:spPr/>
        <p:txBody>
          <a:bodyPr/>
          <a:lstStyle/>
          <a:p>
            <a:pPr eaLnBrk="1" hangingPunct="1"/>
            <a:r>
              <a:rPr lang="zh-CN" altLang="en-US" sz="4000" dirty="0"/>
              <a:t>考研题</a:t>
            </a:r>
            <a:r>
              <a:rPr lang="en-US" altLang="zh-CN" sz="4000" dirty="0"/>
              <a:t>4</a:t>
            </a:r>
          </a:p>
        </p:txBody>
      </p:sp>
      <p:sp>
        <p:nvSpPr>
          <p:cNvPr id="107522" name="Rectangle 3">
            <a:extLst>
              <a:ext uri="{FF2B5EF4-FFF2-40B4-BE49-F238E27FC236}">
                <a16:creationId xmlns:a16="http://schemas.microsoft.com/office/drawing/2014/main" id="{924E02C6-112E-E7FD-5E2E-D1D6782AF6AB}"/>
              </a:ext>
            </a:extLst>
          </p:cNvPr>
          <p:cNvSpPr>
            <a:spLocks noGrp="1" noChangeArrowheads="1"/>
          </p:cNvSpPr>
          <p:nvPr>
            <p:ph idx="1"/>
          </p:nvPr>
        </p:nvSpPr>
        <p:spPr>
          <a:xfrm>
            <a:off x="827088" y="1125538"/>
            <a:ext cx="8077200" cy="4895850"/>
          </a:xfrm>
        </p:spPr>
        <p:txBody>
          <a:bodyPr>
            <a:normAutofit fontScale="92500" lnSpcReduction="10000"/>
          </a:bodyPr>
          <a:lstStyle/>
          <a:p>
            <a:pPr eaLnBrk="1" hangingPunct="1"/>
            <a:r>
              <a:rPr lang="zh-CN" altLang="en-US" sz="2800"/>
              <a:t>文件系统中，文件访问控制信息存储的合理位置是（）。</a:t>
            </a:r>
            <a:r>
              <a:rPr lang="en-US" altLang="zh-CN" sz="2800"/>
              <a:t>09</a:t>
            </a:r>
          </a:p>
          <a:p>
            <a:pPr eaLnBrk="1" hangingPunct="1">
              <a:buFont typeface="Wingdings" pitchFamily="2" charset="2"/>
              <a:buNone/>
            </a:pPr>
            <a:r>
              <a:rPr lang="en-US" altLang="zh-CN" sz="2800"/>
              <a:t>   A</a:t>
            </a:r>
            <a:r>
              <a:rPr lang="zh-CN" altLang="en-US" sz="2800"/>
              <a:t>、文件控制块     </a:t>
            </a:r>
            <a:r>
              <a:rPr lang="en-US" altLang="zh-CN" sz="2800"/>
              <a:t>B</a:t>
            </a:r>
            <a:r>
              <a:rPr lang="zh-CN" altLang="en-US" sz="2800"/>
              <a:t>、文件分配表</a:t>
            </a:r>
          </a:p>
          <a:p>
            <a:pPr eaLnBrk="1" hangingPunct="1">
              <a:buFont typeface="Wingdings" pitchFamily="2" charset="2"/>
              <a:buNone/>
            </a:pPr>
            <a:r>
              <a:rPr lang="zh-CN" altLang="en-US" sz="2800"/>
              <a:t>   </a:t>
            </a:r>
            <a:r>
              <a:rPr lang="en-US" altLang="zh-CN" sz="2800"/>
              <a:t>C</a:t>
            </a:r>
            <a:r>
              <a:rPr lang="zh-CN" altLang="en-US" sz="2800"/>
              <a:t>、用户口令表     </a:t>
            </a:r>
            <a:r>
              <a:rPr lang="en-US" altLang="zh-CN" sz="2800"/>
              <a:t>D</a:t>
            </a:r>
            <a:r>
              <a:rPr lang="zh-CN" altLang="en-US" sz="2800"/>
              <a:t>、系统注册表</a:t>
            </a:r>
          </a:p>
          <a:p>
            <a:pPr eaLnBrk="1" hangingPunct="1"/>
            <a:r>
              <a:rPr lang="zh-CN" altLang="en-US" sz="2800"/>
              <a:t>设文件</a:t>
            </a:r>
            <a:r>
              <a:rPr lang="en-US" altLang="zh-CN" sz="2800"/>
              <a:t>F1</a:t>
            </a:r>
            <a:r>
              <a:rPr lang="zh-CN" altLang="en-US" sz="2800"/>
              <a:t>的当前连接计数为</a:t>
            </a:r>
            <a:r>
              <a:rPr lang="en-US" altLang="zh-CN" sz="2800"/>
              <a:t>1</a:t>
            </a:r>
            <a:r>
              <a:rPr lang="zh-CN" altLang="en-US" sz="2800"/>
              <a:t>，先建立</a:t>
            </a:r>
            <a:r>
              <a:rPr lang="en-US" altLang="zh-CN" sz="2800"/>
              <a:t>F1</a:t>
            </a:r>
            <a:r>
              <a:rPr lang="zh-CN" altLang="en-US" sz="2800"/>
              <a:t>的符号链接（软连接）文件</a:t>
            </a:r>
            <a:r>
              <a:rPr lang="en-US" altLang="zh-CN" sz="2800"/>
              <a:t>F2</a:t>
            </a:r>
            <a:r>
              <a:rPr lang="zh-CN" altLang="en-US" sz="2800"/>
              <a:t>，再建立</a:t>
            </a:r>
            <a:r>
              <a:rPr lang="en-US" altLang="zh-CN" sz="2800"/>
              <a:t>F1</a:t>
            </a:r>
            <a:r>
              <a:rPr lang="zh-CN" altLang="en-US" sz="2800"/>
              <a:t>的硬链接文件</a:t>
            </a:r>
            <a:r>
              <a:rPr lang="en-US" altLang="zh-CN" sz="2800"/>
              <a:t>F3</a:t>
            </a:r>
            <a:r>
              <a:rPr lang="zh-CN" altLang="en-US" sz="2800"/>
              <a:t>，然后删除</a:t>
            </a:r>
            <a:r>
              <a:rPr lang="en-US" altLang="zh-CN" sz="2800"/>
              <a:t>F1</a:t>
            </a:r>
            <a:r>
              <a:rPr lang="zh-CN" altLang="en-US" sz="2800"/>
              <a:t>。此时</a:t>
            </a:r>
            <a:r>
              <a:rPr lang="en-US" altLang="zh-CN" sz="2800"/>
              <a:t>F2</a:t>
            </a:r>
            <a:r>
              <a:rPr lang="zh-CN" altLang="en-US" sz="2800"/>
              <a:t>和</a:t>
            </a:r>
            <a:r>
              <a:rPr lang="en-US" altLang="zh-CN" sz="2800"/>
              <a:t>F3</a:t>
            </a:r>
            <a:r>
              <a:rPr lang="zh-CN" altLang="en-US" sz="2800"/>
              <a:t>的连接计数值分别是（）。</a:t>
            </a:r>
            <a:r>
              <a:rPr lang="en-US" altLang="zh-CN" sz="2800"/>
              <a:t>09</a:t>
            </a:r>
          </a:p>
          <a:p>
            <a:pPr eaLnBrk="1" hangingPunct="1">
              <a:buFont typeface="Wingdings" pitchFamily="2" charset="2"/>
              <a:buNone/>
            </a:pPr>
            <a:r>
              <a:rPr lang="en-US" altLang="zh-CN" sz="2800"/>
              <a:t>   A</a:t>
            </a:r>
            <a:r>
              <a:rPr lang="zh-CN" altLang="en-US" sz="2800"/>
              <a:t>、</a:t>
            </a:r>
            <a:r>
              <a:rPr lang="en-US" altLang="zh-CN" sz="2800"/>
              <a:t>0</a:t>
            </a:r>
            <a:r>
              <a:rPr lang="zh-CN" altLang="en-US" sz="2800"/>
              <a:t>、</a:t>
            </a:r>
            <a:r>
              <a:rPr lang="en-US" altLang="zh-CN" sz="2800"/>
              <a:t>1        B</a:t>
            </a:r>
            <a:r>
              <a:rPr lang="zh-CN" altLang="en-US" sz="2800"/>
              <a:t>、</a:t>
            </a:r>
            <a:r>
              <a:rPr lang="en-US" altLang="zh-CN" sz="2800"/>
              <a:t>1</a:t>
            </a:r>
            <a:r>
              <a:rPr lang="zh-CN" altLang="en-US" sz="2800"/>
              <a:t>、</a:t>
            </a:r>
            <a:r>
              <a:rPr lang="en-US" altLang="zh-CN" sz="2800"/>
              <a:t>1</a:t>
            </a:r>
          </a:p>
          <a:p>
            <a:pPr eaLnBrk="1" hangingPunct="1">
              <a:buFont typeface="Wingdings" pitchFamily="2" charset="2"/>
              <a:buNone/>
            </a:pPr>
            <a:r>
              <a:rPr lang="en-US" altLang="zh-CN" sz="2800"/>
              <a:t>   C</a:t>
            </a:r>
            <a:r>
              <a:rPr lang="zh-CN" altLang="en-US" sz="2800"/>
              <a:t>、</a:t>
            </a:r>
            <a:r>
              <a:rPr lang="en-US" altLang="zh-CN" sz="2800"/>
              <a:t>1</a:t>
            </a:r>
            <a:r>
              <a:rPr lang="zh-CN" altLang="en-US" sz="2800"/>
              <a:t>、</a:t>
            </a:r>
            <a:r>
              <a:rPr lang="en-US" altLang="zh-CN" sz="2800"/>
              <a:t>2        D</a:t>
            </a:r>
            <a:r>
              <a:rPr lang="zh-CN" altLang="en-US" sz="2800"/>
              <a:t>、</a:t>
            </a:r>
            <a:r>
              <a:rPr lang="en-US" altLang="zh-CN" sz="2800"/>
              <a:t>2</a:t>
            </a:r>
            <a:r>
              <a:rPr lang="zh-CN" altLang="en-US" sz="2800"/>
              <a:t>、</a:t>
            </a:r>
            <a:r>
              <a:rPr lang="en-US" altLang="zh-CN" sz="2800"/>
              <a:t>1</a:t>
            </a:r>
            <a:endParaRPr lang="zh-CN" altLang="en-US" sz="2800"/>
          </a:p>
        </p:txBody>
      </p:sp>
    </p:spTree>
  </p:cSld>
  <p:clrMapOvr>
    <a:masterClrMapping/>
  </p:clrMapOvr>
  <p:transition spd="med">
    <p:zoom/>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5213A7EA-0BA3-2BA1-F9BB-5AB09F2163C4}"/>
              </a:ext>
            </a:extLst>
          </p:cNvPr>
          <p:cNvSpPr>
            <a:spLocks noGrp="1" noChangeArrowheads="1"/>
          </p:cNvSpPr>
          <p:nvPr>
            <p:ph type="title"/>
          </p:nvPr>
        </p:nvSpPr>
        <p:spPr/>
        <p:txBody>
          <a:bodyPr/>
          <a:lstStyle/>
          <a:p>
            <a:pPr eaLnBrk="1" hangingPunct="1"/>
            <a:r>
              <a:rPr lang="zh-CN" altLang="en-US" dirty="0"/>
              <a:t>考研题</a:t>
            </a:r>
            <a:r>
              <a:rPr lang="en-US" altLang="zh-CN" dirty="0"/>
              <a:t>5</a:t>
            </a:r>
          </a:p>
        </p:txBody>
      </p:sp>
      <p:sp>
        <p:nvSpPr>
          <p:cNvPr id="108546" name="Rectangle 3">
            <a:extLst>
              <a:ext uri="{FF2B5EF4-FFF2-40B4-BE49-F238E27FC236}">
                <a16:creationId xmlns:a16="http://schemas.microsoft.com/office/drawing/2014/main" id="{6ECDBB40-FF3D-1CE8-0BDD-7A668944F49B}"/>
              </a:ext>
            </a:extLst>
          </p:cNvPr>
          <p:cNvSpPr>
            <a:spLocks noGrp="1" noChangeArrowheads="1"/>
          </p:cNvSpPr>
          <p:nvPr>
            <p:ph idx="1"/>
          </p:nvPr>
        </p:nvSpPr>
        <p:spPr>
          <a:xfrm>
            <a:off x="468313" y="1125538"/>
            <a:ext cx="8496300" cy="5507037"/>
          </a:xfrm>
        </p:spPr>
        <p:txBody>
          <a:bodyPr/>
          <a:lstStyle/>
          <a:p>
            <a:pPr eaLnBrk="1" hangingPunct="1"/>
            <a:r>
              <a:rPr lang="zh-CN" altLang="en-US"/>
              <a:t>某文件系统为一级目录结构，文件的数据一次性写入磁盘，已写入的文件不可修改，但可多次创建新文件。请回答如下问题。</a:t>
            </a:r>
            <a:r>
              <a:rPr lang="en-US" altLang="zh-CN"/>
              <a:t>11</a:t>
            </a:r>
          </a:p>
          <a:p>
            <a:pPr eaLnBrk="1" hangingPunct="1"/>
            <a:r>
              <a:rPr lang="zh-CN" altLang="en-US"/>
              <a:t>（</a:t>
            </a:r>
            <a:r>
              <a:rPr lang="en-US" altLang="zh-CN"/>
              <a:t>1</a:t>
            </a:r>
            <a:r>
              <a:rPr lang="zh-CN" altLang="en-US"/>
              <a:t>）在连续、链式、索引三种文件的数据块组织方式中，哪种更合适？要求说明理由。为定位文件数据块，需在</a:t>
            </a:r>
            <a:r>
              <a:rPr lang="en-US" altLang="zh-CN"/>
              <a:t>FCB</a:t>
            </a:r>
            <a:r>
              <a:rPr lang="zh-CN" altLang="en-US"/>
              <a:t>中设计哪些相关字段？</a:t>
            </a:r>
          </a:p>
          <a:p>
            <a:pPr eaLnBrk="1" hangingPunct="1"/>
            <a:r>
              <a:rPr lang="zh-CN" altLang="en-US"/>
              <a:t>（</a:t>
            </a:r>
            <a:r>
              <a:rPr lang="en-US" altLang="zh-CN"/>
              <a:t>2</a:t>
            </a:r>
            <a:r>
              <a:rPr lang="zh-CN" altLang="en-US"/>
              <a:t>）为快速找到文件，对于</a:t>
            </a:r>
            <a:r>
              <a:rPr lang="en-US" altLang="zh-CN"/>
              <a:t>FCB</a:t>
            </a:r>
            <a:r>
              <a:rPr lang="zh-CN" altLang="en-US"/>
              <a:t>，是集中存储好，还是与对应的文件数据块连续存储好？要求说明理由。</a:t>
            </a:r>
          </a:p>
        </p:txBody>
      </p:sp>
    </p:spTree>
  </p:cSld>
  <p:clrMapOvr>
    <a:masterClrMapping/>
  </p:clrMapOvr>
  <p:transition spd="med">
    <p:zoom/>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C990AE00-4373-EB41-8A1A-22D2CDE04E9E}"/>
              </a:ext>
            </a:extLst>
          </p:cNvPr>
          <p:cNvSpPr>
            <a:spLocks noGrp="1" noChangeArrowheads="1"/>
          </p:cNvSpPr>
          <p:nvPr>
            <p:ph type="title"/>
          </p:nvPr>
        </p:nvSpPr>
        <p:spPr/>
        <p:txBody>
          <a:bodyPr/>
          <a:lstStyle/>
          <a:p>
            <a:pPr eaLnBrk="1" hangingPunct="1"/>
            <a:r>
              <a:rPr lang="zh-CN" altLang="en-US" dirty="0"/>
              <a:t>考研题</a:t>
            </a:r>
            <a:r>
              <a:rPr lang="en-US" altLang="zh-CN" dirty="0"/>
              <a:t>5</a:t>
            </a:r>
            <a:r>
              <a:rPr lang="zh-CN" altLang="en-US" dirty="0"/>
              <a:t>答案</a:t>
            </a:r>
          </a:p>
        </p:txBody>
      </p:sp>
      <p:sp>
        <p:nvSpPr>
          <p:cNvPr id="109570" name="Rectangle 3">
            <a:extLst>
              <a:ext uri="{FF2B5EF4-FFF2-40B4-BE49-F238E27FC236}">
                <a16:creationId xmlns:a16="http://schemas.microsoft.com/office/drawing/2014/main" id="{E054C8F3-DD59-92EF-89F7-511DC1AA581F}"/>
              </a:ext>
            </a:extLst>
          </p:cNvPr>
          <p:cNvSpPr>
            <a:spLocks noGrp="1" noChangeArrowheads="1"/>
          </p:cNvSpPr>
          <p:nvPr>
            <p:ph idx="1"/>
          </p:nvPr>
        </p:nvSpPr>
        <p:spPr>
          <a:xfrm>
            <a:off x="468313" y="1125538"/>
            <a:ext cx="8496300" cy="5507037"/>
          </a:xfrm>
        </p:spPr>
        <p:txBody>
          <a:bodyPr/>
          <a:lstStyle/>
          <a:p>
            <a:pPr eaLnBrk="1" hangingPunct="1"/>
            <a:r>
              <a:rPr lang="en-US" altLang="zh-CN"/>
              <a:t>(1)</a:t>
            </a:r>
            <a:r>
              <a:rPr lang="zh-CN" altLang="en-US"/>
              <a:t>在磁盘中连续存放</a:t>
            </a:r>
            <a:r>
              <a:rPr lang="en-US" altLang="zh-CN"/>
              <a:t>(</a:t>
            </a:r>
            <a:r>
              <a:rPr lang="zh-CN" altLang="en-US"/>
              <a:t>采取连续结构</a:t>
            </a:r>
            <a:r>
              <a:rPr lang="en-US" altLang="zh-CN"/>
              <a:t>)</a:t>
            </a:r>
            <a:r>
              <a:rPr lang="zh-CN" altLang="en-US"/>
              <a:t>，磁盘寻道时间更短，文件随机访问效率更高；在</a:t>
            </a:r>
            <a:r>
              <a:rPr lang="en-US" altLang="zh-CN"/>
              <a:t>FCB</a:t>
            </a:r>
            <a:r>
              <a:rPr lang="zh-CN" altLang="en-US"/>
              <a:t>中加入的字段为：</a:t>
            </a:r>
            <a:r>
              <a:rPr lang="en-US" altLang="zh-CN"/>
              <a:t>&lt;</a:t>
            </a:r>
            <a:r>
              <a:rPr lang="zh-CN" altLang="en-US"/>
              <a:t>起始块号，块数</a:t>
            </a:r>
            <a:r>
              <a:rPr lang="en-US" altLang="zh-CN"/>
              <a:t>&gt;</a:t>
            </a:r>
            <a:r>
              <a:rPr lang="zh-CN" altLang="en-US"/>
              <a:t>或者</a:t>
            </a:r>
            <a:r>
              <a:rPr lang="en-US" altLang="zh-CN"/>
              <a:t>&lt;</a:t>
            </a:r>
            <a:r>
              <a:rPr lang="zh-CN" altLang="en-US"/>
              <a:t>起始块号，结束块号</a:t>
            </a:r>
            <a:r>
              <a:rPr lang="en-US" altLang="zh-CN"/>
              <a:t>&gt;</a:t>
            </a:r>
            <a:r>
              <a:rPr lang="zh-CN" altLang="en-US"/>
              <a:t>。</a:t>
            </a:r>
            <a:r>
              <a:rPr lang="en-US" altLang="zh-CN"/>
              <a:t>  </a:t>
            </a:r>
          </a:p>
          <a:p>
            <a:pPr eaLnBrk="1" hangingPunct="1"/>
            <a:r>
              <a:rPr lang="en-US" altLang="zh-CN"/>
              <a:t>(2)</a:t>
            </a:r>
            <a:r>
              <a:rPr lang="zh-CN" altLang="en-US"/>
              <a:t>将所有</a:t>
            </a:r>
            <a:r>
              <a:rPr lang="en-US" altLang="zh-CN"/>
              <a:t>FCB</a:t>
            </a:r>
            <a:r>
              <a:rPr lang="zh-CN" altLang="en-US"/>
              <a:t>集中存放，文件数据集中存放。这样在随机查找文件名时，只需访问</a:t>
            </a:r>
            <a:r>
              <a:rPr lang="en-US" altLang="zh-CN"/>
              <a:t>FCB</a:t>
            </a:r>
            <a:r>
              <a:rPr lang="zh-CN" altLang="en-US"/>
              <a:t>对应的块，可减少磁头移动和磁盘</a:t>
            </a:r>
            <a:r>
              <a:rPr lang="en-US" altLang="zh-CN"/>
              <a:t>I/O</a:t>
            </a:r>
            <a:r>
              <a:rPr lang="zh-CN" altLang="en-US"/>
              <a:t>访问的次数。</a:t>
            </a:r>
          </a:p>
        </p:txBody>
      </p:sp>
    </p:spTree>
  </p:cSld>
  <p:clrMapOvr>
    <a:masterClrMapping/>
  </p:clrMapOvr>
  <p:transition spd="med">
    <p:zoom/>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9CF1CE42-6F49-3E50-D4E4-704C7AA2751E}"/>
              </a:ext>
            </a:extLst>
          </p:cNvPr>
          <p:cNvSpPr>
            <a:spLocks noGrp="1" noChangeArrowheads="1"/>
          </p:cNvSpPr>
          <p:nvPr>
            <p:ph type="title"/>
          </p:nvPr>
        </p:nvSpPr>
        <p:spPr/>
        <p:txBody>
          <a:bodyPr/>
          <a:lstStyle/>
          <a:p>
            <a:pPr eaLnBrk="1" hangingPunct="1"/>
            <a:r>
              <a:rPr lang="zh-CN" altLang="en-US" dirty="0"/>
              <a:t>考研题</a:t>
            </a:r>
            <a:r>
              <a:rPr lang="en-US" altLang="zh-CN"/>
              <a:t>6</a:t>
            </a:r>
            <a:endParaRPr lang="zh-CN" altLang="en-US"/>
          </a:p>
        </p:txBody>
      </p:sp>
      <p:sp>
        <p:nvSpPr>
          <p:cNvPr id="110594" name="Rectangle 3">
            <a:extLst>
              <a:ext uri="{FF2B5EF4-FFF2-40B4-BE49-F238E27FC236}">
                <a16:creationId xmlns:a16="http://schemas.microsoft.com/office/drawing/2014/main" id="{1970A3C0-323E-141A-D049-3108AB17AD17}"/>
              </a:ext>
            </a:extLst>
          </p:cNvPr>
          <p:cNvSpPr>
            <a:spLocks noGrp="1" noChangeArrowheads="1"/>
          </p:cNvSpPr>
          <p:nvPr>
            <p:ph idx="1"/>
          </p:nvPr>
        </p:nvSpPr>
        <p:spPr>
          <a:xfrm>
            <a:off x="468313" y="1125538"/>
            <a:ext cx="8496300" cy="5507037"/>
          </a:xfrm>
        </p:spPr>
        <p:txBody>
          <a:bodyPr/>
          <a:lstStyle/>
          <a:p>
            <a:pPr eaLnBrk="1" hangingPunct="1"/>
            <a:r>
              <a:rPr lang="zh-CN" altLang="zh-CN"/>
              <a:t>若一个用户进程通过</a:t>
            </a:r>
            <a:r>
              <a:rPr lang="en-US" altLang="zh-CN"/>
              <a:t>read</a:t>
            </a:r>
            <a:r>
              <a:rPr lang="zh-CN" altLang="en-US"/>
              <a:t>系统调用读取一个磁盘文件中的数据，则下列关于此过程的叙述中，正确的是  </a:t>
            </a:r>
            <a:r>
              <a:rPr lang="en-US" altLang="zh-CN"/>
              <a:t>12</a:t>
            </a:r>
          </a:p>
          <a:p>
            <a:pPr lvl="1" eaLnBrk="1" hangingPunct="1">
              <a:buFont typeface="Wingdings" pitchFamily="2" charset="2"/>
              <a:buNone/>
            </a:pPr>
            <a:r>
              <a:rPr lang="en-US" altLang="zh-CN"/>
              <a:t>Ⅰ.</a:t>
            </a:r>
            <a:r>
              <a:rPr lang="zh-CN" altLang="en-US"/>
              <a:t>若该文件的数据不在内存，则该进程进入睡眠等待状态</a:t>
            </a:r>
          </a:p>
          <a:p>
            <a:pPr lvl="1" eaLnBrk="1" hangingPunct="1">
              <a:buFont typeface="Wingdings" pitchFamily="2" charset="2"/>
              <a:buNone/>
            </a:pPr>
            <a:r>
              <a:rPr lang="en-US" altLang="zh-CN"/>
              <a:t>Ⅱ.</a:t>
            </a:r>
            <a:r>
              <a:rPr lang="zh-CN" altLang="en-US"/>
              <a:t>请求</a:t>
            </a:r>
            <a:r>
              <a:rPr lang="en-US" altLang="zh-CN"/>
              <a:t>read</a:t>
            </a:r>
            <a:r>
              <a:rPr lang="zh-CN" altLang="en-US"/>
              <a:t>系统调用会导致</a:t>
            </a:r>
            <a:r>
              <a:rPr lang="en-US" altLang="zh-CN"/>
              <a:t>CPU</a:t>
            </a:r>
            <a:r>
              <a:rPr lang="zh-CN" altLang="en-US"/>
              <a:t>从用户态切换到核心态</a:t>
            </a:r>
          </a:p>
          <a:p>
            <a:pPr lvl="1" eaLnBrk="1" hangingPunct="1">
              <a:buFont typeface="Wingdings" pitchFamily="2" charset="2"/>
              <a:buNone/>
            </a:pPr>
            <a:r>
              <a:rPr lang="en-US" altLang="zh-CN"/>
              <a:t>Ⅲ.read</a:t>
            </a:r>
            <a:r>
              <a:rPr lang="zh-CN" altLang="en-US"/>
              <a:t>系统调用的参数应包括文件的名称</a:t>
            </a:r>
          </a:p>
          <a:p>
            <a:pPr lvl="1" eaLnBrk="1" hangingPunct="1"/>
            <a:r>
              <a:rPr lang="en-US" altLang="zh-CN" sz="3200"/>
              <a:t>A.</a:t>
            </a:r>
            <a:r>
              <a:rPr lang="zh-CN" altLang="en-US" sz="3200"/>
              <a:t>仅</a:t>
            </a:r>
            <a:r>
              <a:rPr lang="en-US" altLang="zh-CN" sz="3200"/>
              <a:t>Ⅰ</a:t>
            </a:r>
            <a:r>
              <a:rPr lang="zh-CN" altLang="en-US" sz="3200"/>
              <a:t>，</a:t>
            </a:r>
            <a:r>
              <a:rPr lang="en-US" altLang="zh-CN" sz="3200"/>
              <a:t>Ⅱ      B.</a:t>
            </a:r>
            <a:r>
              <a:rPr lang="zh-CN" altLang="en-US" sz="3200"/>
              <a:t>仅</a:t>
            </a:r>
            <a:r>
              <a:rPr lang="en-US" altLang="zh-CN" sz="3200"/>
              <a:t>Ⅰ</a:t>
            </a:r>
            <a:r>
              <a:rPr lang="zh-CN" altLang="en-US" sz="3200"/>
              <a:t>，</a:t>
            </a:r>
            <a:r>
              <a:rPr lang="en-US" altLang="zh-CN" sz="3200"/>
              <a:t>Ⅲ  </a:t>
            </a:r>
          </a:p>
          <a:p>
            <a:pPr lvl="1" eaLnBrk="1" hangingPunct="1"/>
            <a:r>
              <a:rPr lang="en-US" altLang="zh-CN" sz="3200"/>
              <a:t>C. </a:t>
            </a:r>
            <a:r>
              <a:rPr lang="zh-CN" altLang="en-US" sz="3200"/>
              <a:t>仅</a:t>
            </a:r>
            <a:r>
              <a:rPr lang="en-US" altLang="zh-CN" sz="3200"/>
              <a:t>Ⅱ</a:t>
            </a:r>
            <a:r>
              <a:rPr lang="zh-CN" altLang="en-US" sz="3200"/>
              <a:t>，</a:t>
            </a:r>
            <a:r>
              <a:rPr lang="en-US" altLang="zh-CN" sz="3200"/>
              <a:t>Ⅲ     D.Ⅰ</a:t>
            </a:r>
            <a:r>
              <a:rPr lang="zh-CN" altLang="en-US" sz="3200"/>
              <a:t>，</a:t>
            </a:r>
            <a:r>
              <a:rPr lang="en-US" altLang="zh-CN" sz="3200"/>
              <a:t>Ⅱ</a:t>
            </a:r>
            <a:r>
              <a:rPr lang="zh-CN" altLang="en-US" sz="3200"/>
              <a:t>，</a:t>
            </a:r>
            <a:r>
              <a:rPr lang="en-US" altLang="zh-CN" sz="3200"/>
              <a:t>Ⅲ</a:t>
            </a:r>
          </a:p>
        </p:txBody>
      </p:sp>
    </p:spTree>
  </p:cSld>
  <p:clrMapOvr>
    <a:masterClrMapping/>
  </p:clrMapOvr>
  <p:transition spd="med">
    <p:zoom/>
  </p:transition>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28319</TotalTime>
  <Words>12862</Words>
  <Application>Microsoft Macintosh PowerPoint</Application>
  <PresentationFormat>全屏显示(4:3)</PresentationFormat>
  <Paragraphs>1404</Paragraphs>
  <Slides>209</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209</vt:i4>
      </vt:variant>
    </vt:vector>
  </HeadingPairs>
  <TitlesOfParts>
    <vt:vector size="221" baseType="lpstr">
      <vt:lpstr>等线</vt:lpstr>
      <vt:lpstr>宋体</vt:lpstr>
      <vt:lpstr>Arial</vt:lpstr>
      <vt:lpstr>Century</vt:lpstr>
      <vt:lpstr>Courier New</vt:lpstr>
      <vt:lpstr>Helvetica</vt:lpstr>
      <vt:lpstr>Noto Sans</vt:lpstr>
      <vt:lpstr>Tahoma</vt:lpstr>
      <vt:lpstr>Times New Roman</vt:lpstr>
      <vt:lpstr>Wingdings</vt:lpstr>
      <vt:lpstr>1_Blends</vt:lpstr>
      <vt:lpstr>Acrobat Document</vt:lpstr>
      <vt:lpstr>第8章 文件系统</vt:lpstr>
      <vt:lpstr>文件的相关概念</vt:lpstr>
      <vt:lpstr>文件属性</vt:lpstr>
      <vt:lpstr>Mac OS X的文件信息窗口</vt:lpstr>
      <vt:lpstr>文件元数据</vt:lpstr>
      <vt:lpstr>文件系统</vt:lpstr>
      <vt:lpstr>文件系统的主要功能</vt:lpstr>
      <vt:lpstr>文件操作</vt:lpstr>
      <vt:lpstr>创建文件</vt:lpstr>
      <vt:lpstr>创建文件的步骤</vt:lpstr>
      <vt:lpstr>删除文件</vt:lpstr>
      <vt:lpstr>读文件</vt:lpstr>
      <vt:lpstr>写文件</vt:lpstr>
      <vt:lpstr>在文件内重定位</vt:lpstr>
      <vt:lpstr>打开文件</vt:lpstr>
      <vt:lpstr>打开文件的相关信息</vt:lpstr>
      <vt:lpstr>关闭文件</vt:lpstr>
      <vt:lpstr>截断文件</vt:lpstr>
      <vt:lpstr>文件类型</vt:lpstr>
      <vt:lpstr>常见文件类型</vt:lpstr>
      <vt:lpstr>文件分类</vt:lpstr>
      <vt:lpstr>按用途分类</vt:lpstr>
      <vt:lpstr>按保护级别分类</vt:lpstr>
      <vt:lpstr>按信息流向分类</vt:lpstr>
      <vt:lpstr>按数据形式分类</vt:lpstr>
      <vt:lpstr>文件结构</vt:lpstr>
      <vt:lpstr>文件结构</vt:lpstr>
      <vt:lpstr>文件的逻辑结构</vt:lpstr>
      <vt:lpstr>记录式文件的组织方式</vt:lpstr>
      <vt:lpstr>文件的物理结构</vt:lpstr>
      <vt:lpstr>物理结构类型</vt:lpstr>
      <vt:lpstr>顺序结构</vt:lpstr>
      <vt:lpstr>链接结构</vt:lpstr>
      <vt:lpstr>索引结构</vt:lpstr>
      <vt:lpstr>文件的访问方法</vt:lpstr>
      <vt:lpstr>顺序访问</vt:lpstr>
      <vt:lpstr>顺序访问文件</vt:lpstr>
      <vt:lpstr>直接访问</vt:lpstr>
      <vt:lpstr>在直接访问文件上模拟顺序访问</vt:lpstr>
      <vt:lpstr>按键存取</vt:lpstr>
      <vt:lpstr>目录结构</vt:lpstr>
      <vt:lpstr>目录结构</vt:lpstr>
      <vt:lpstr>目录概述</vt:lpstr>
      <vt:lpstr>文件控制块</vt:lpstr>
      <vt:lpstr>文件控制块的内容</vt:lpstr>
      <vt:lpstr>文件目录及目录文件</vt:lpstr>
      <vt:lpstr>目录具有的功能</vt:lpstr>
      <vt:lpstr>DOS的文件控制块</vt:lpstr>
      <vt:lpstr>目录结构</vt:lpstr>
      <vt:lpstr>单级目录结构</vt:lpstr>
      <vt:lpstr>单级目录结构的操作</vt:lpstr>
      <vt:lpstr>二级目录结构</vt:lpstr>
      <vt:lpstr>二级目录结构的操作</vt:lpstr>
      <vt:lpstr>二级目录结构的特点</vt:lpstr>
      <vt:lpstr>树型目录结构</vt:lpstr>
      <vt:lpstr>树型目录结构</vt:lpstr>
      <vt:lpstr>路径名</vt:lpstr>
      <vt:lpstr>当前目录</vt:lpstr>
      <vt:lpstr>绝对路径和相对路径</vt:lpstr>
      <vt:lpstr>两个特殊目录</vt:lpstr>
      <vt:lpstr>无环图目录</vt:lpstr>
      <vt:lpstr>可能的问题</vt:lpstr>
      <vt:lpstr>通用图目录</vt:lpstr>
      <vt:lpstr>存在的问题</vt:lpstr>
      <vt:lpstr>保护 Protection</vt:lpstr>
      <vt:lpstr>访问类型</vt:lpstr>
      <vt:lpstr>访问控制 Access Control</vt:lpstr>
      <vt:lpstr>用户类型 The class of users</vt:lpstr>
      <vt:lpstr>文件保护</vt:lpstr>
      <vt:lpstr>存取控制矩阵</vt:lpstr>
      <vt:lpstr>存取控制矩阵例</vt:lpstr>
      <vt:lpstr>存取控制矩阵的特点</vt:lpstr>
      <vt:lpstr> 存取控制表</vt:lpstr>
      <vt:lpstr>存取控制表例</vt:lpstr>
      <vt:lpstr>用户权限表</vt:lpstr>
      <vt:lpstr>用户权限表例</vt:lpstr>
      <vt:lpstr>口令</vt:lpstr>
      <vt:lpstr>口令方法的特点</vt:lpstr>
      <vt:lpstr>密码</vt:lpstr>
      <vt:lpstr>密码方法的特点</vt:lpstr>
      <vt:lpstr>内存映射文件</vt:lpstr>
      <vt:lpstr>Memory Mapped Files</vt:lpstr>
      <vt:lpstr>文件系统结构</vt:lpstr>
      <vt:lpstr>分层文件系统</vt:lpstr>
      <vt:lpstr>分层文件系统示意图</vt:lpstr>
      <vt:lpstr>I/O控制层</vt:lpstr>
      <vt:lpstr>基本文件系统层</vt:lpstr>
      <vt:lpstr>文件组织模块层</vt:lpstr>
      <vt:lpstr>逻辑文件系统层</vt:lpstr>
      <vt:lpstr>实例 Example</vt:lpstr>
      <vt:lpstr>文件系统实现</vt:lpstr>
      <vt:lpstr>概述</vt:lpstr>
      <vt:lpstr>用于文件系统管理的内存信息</vt:lpstr>
      <vt:lpstr>一个典型的文件控制块</vt:lpstr>
      <vt:lpstr>内存中的文件系统结构</vt:lpstr>
      <vt:lpstr>分区与安装</vt:lpstr>
      <vt:lpstr>分区与安装</vt:lpstr>
      <vt:lpstr>引导信息</vt:lpstr>
      <vt:lpstr>安装分区</vt:lpstr>
      <vt:lpstr>目录实现</vt:lpstr>
      <vt:lpstr>线性表 Linear list </vt:lpstr>
      <vt:lpstr>哈希表 Hash Table </vt:lpstr>
      <vt:lpstr>分配方法</vt:lpstr>
      <vt:lpstr>文件存储空间的分配</vt:lpstr>
      <vt:lpstr>连续分配</vt:lpstr>
      <vt:lpstr>磁盘空间的连续分配</vt:lpstr>
      <vt:lpstr>连续分配续</vt:lpstr>
      <vt:lpstr>基于扩展的系统</vt:lpstr>
      <vt:lpstr>链接分配</vt:lpstr>
      <vt:lpstr>以扇区为单位的链接分配</vt:lpstr>
      <vt:lpstr>磁盘空间的链接分配</vt:lpstr>
      <vt:lpstr>特点</vt:lpstr>
      <vt:lpstr>以区段（或簇）为单位分配</vt:lpstr>
      <vt:lpstr>文件分配表</vt:lpstr>
      <vt:lpstr>文件分配表示意图</vt:lpstr>
      <vt:lpstr>文件分配表例1</vt:lpstr>
      <vt:lpstr>文件分配表例2</vt:lpstr>
      <vt:lpstr>文件分配表例3</vt:lpstr>
      <vt:lpstr>索引分配</vt:lpstr>
      <vt:lpstr>索引分配</vt:lpstr>
      <vt:lpstr>索引分配示意图</vt:lpstr>
      <vt:lpstr>索引分配的特点</vt:lpstr>
      <vt:lpstr>二级索引和多级索引 </vt:lpstr>
      <vt:lpstr>两级索引分配示意图</vt:lpstr>
      <vt:lpstr>两级索引分配允许的文件最大长度</vt:lpstr>
      <vt:lpstr>混合索引分配方式</vt:lpstr>
      <vt:lpstr>混合索引方式示意图</vt:lpstr>
      <vt:lpstr>直接地址</vt:lpstr>
      <vt:lpstr>一次间接地址</vt:lpstr>
      <vt:lpstr>多次间接地址</vt:lpstr>
      <vt:lpstr>空闲空间管理</vt:lpstr>
      <vt:lpstr>位向量/位示图</vt:lpstr>
      <vt:lpstr>盘块的分配</vt:lpstr>
      <vt:lpstr>盘块的回收</vt:lpstr>
      <vt:lpstr>空闲块链 Linked List</vt:lpstr>
      <vt:lpstr>Linked Free Space List on Disk</vt:lpstr>
      <vt:lpstr>空闲块链的特点及改进</vt:lpstr>
      <vt:lpstr>成组链接法</vt:lpstr>
      <vt:lpstr>成组链接法示意图</vt:lpstr>
      <vt:lpstr>空闲盘块的分配</vt:lpstr>
      <vt:lpstr>分配超级块中最后一个盘块号例</vt:lpstr>
      <vt:lpstr>空闲盘块的回收</vt:lpstr>
      <vt:lpstr>超级块已满时回收盘块例</vt:lpstr>
      <vt:lpstr>空闲文件目录</vt:lpstr>
      <vt:lpstr>空闲文件目录示例</vt:lpstr>
      <vt:lpstr>空闲文件目录法的空闲空间管理</vt:lpstr>
      <vt:lpstr>空闲文件目录法的特点</vt:lpstr>
      <vt:lpstr>恢复 Recovery</vt:lpstr>
      <vt:lpstr>一致性检查</vt:lpstr>
      <vt:lpstr>备份和恢复</vt:lpstr>
      <vt:lpstr>全量转储 full backup</vt:lpstr>
      <vt:lpstr>增量转储</vt:lpstr>
      <vt:lpstr>文件系统的恢复过程</vt:lpstr>
      <vt:lpstr>文件系统</vt:lpstr>
      <vt:lpstr>存储结构 </vt:lpstr>
      <vt:lpstr>典型的文件系统组织</vt:lpstr>
      <vt:lpstr>文件系统安装</vt:lpstr>
      <vt:lpstr> (a)已有文件系统   (b)未安装的分区</vt:lpstr>
      <vt:lpstr>安装点 Mount point</vt:lpstr>
      <vt:lpstr>文件共享 File Sharing</vt:lpstr>
      <vt:lpstr>一致性语义 </vt:lpstr>
      <vt:lpstr>UNIX 语义</vt:lpstr>
      <vt:lpstr>会话语义 Session Semantics</vt:lpstr>
      <vt:lpstr>不可修改共享文件语义</vt:lpstr>
      <vt:lpstr>文件共享的早期实现</vt:lpstr>
      <vt:lpstr>绕道法</vt:lpstr>
      <vt:lpstr>链接法</vt:lpstr>
      <vt:lpstr>链接示意图—虚线表示链接</vt:lpstr>
      <vt:lpstr>基本文件目录表法</vt:lpstr>
      <vt:lpstr>特殊标识符</vt:lpstr>
      <vt:lpstr>基本文件目录示意图</vt:lpstr>
      <vt:lpstr>用基本文件目录法实现文件共享</vt:lpstr>
      <vt:lpstr>基于索引节点的共享方式</vt:lpstr>
      <vt:lpstr>文件共享中存在的问题</vt:lpstr>
      <vt:lpstr>解决办法</vt:lpstr>
      <vt:lpstr>基于索引节点的共享示意图</vt:lpstr>
      <vt:lpstr>磁盘索引节点</vt:lpstr>
      <vt:lpstr>内存索引节点</vt:lpstr>
      <vt:lpstr>索引节点中的链接计数</vt:lpstr>
      <vt:lpstr>链接例--C创建一个新文件</vt:lpstr>
      <vt:lpstr>链接例-- B链接到C的文件</vt:lpstr>
      <vt:lpstr>链接例-- C删除文件</vt:lpstr>
      <vt:lpstr>硬链接</vt:lpstr>
      <vt:lpstr>利用符号链接实现文件共享</vt:lpstr>
      <vt:lpstr>符号链接示意图</vt:lpstr>
      <vt:lpstr>文件的访问</vt:lpstr>
      <vt:lpstr>文件的删除</vt:lpstr>
      <vt:lpstr>符号链接的特点</vt:lpstr>
      <vt:lpstr>虚拟文件系统</vt:lpstr>
      <vt:lpstr>虚拟文件系统实现的三个层次</vt:lpstr>
      <vt:lpstr>虚拟文件系统示意图</vt:lpstr>
      <vt:lpstr>练习题</vt:lpstr>
      <vt:lpstr>练习题</vt:lpstr>
      <vt:lpstr>选择题1</vt:lpstr>
      <vt:lpstr>选择题2</vt:lpstr>
      <vt:lpstr>选择题3</vt:lpstr>
      <vt:lpstr>选择题4</vt:lpstr>
      <vt:lpstr>选择题5</vt:lpstr>
      <vt:lpstr>填空题1</vt:lpstr>
      <vt:lpstr>填空题2</vt:lpstr>
      <vt:lpstr>填空题3</vt:lpstr>
      <vt:lpstr>考研题1</vt:lpstr>
      <vt:lpstr>考研题2-1</vt:lpstr>
      <vt:lpstr>考研题2-2</vt:lpstr>
      <vt:lpstr>考研题3</vt:lpstr>
      <vt:lpstr>考研题4</vt:lpstr>
      <vt:lpstr>考研题5</vt:lpstr>
      <vt:lpstr>考研题5答案</vt:lpstr>
      <vt:lpstr>考研题6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进程线程调度</dc:title>
  <dc:creator>jj Jiang</dc:creator>
  <cp:lastModifiedBy>jj Jiang</cp:lastModifiedBy>
  <cp:revision>166</cp:revision>
  <dcterms:created xsi:type="dcterms:W3CDTF">2023-10-06T13:55:10Z</dcterms:created>
  <dcterms:modified xsi:type="dcterms:W3CDTF">2024-11-26T10:39:05Z</dcterms:modified>
</cp:coreProperties>
</file>