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79"/>
  </p:notesMasterIdLst>
  <p:sldIdLst>
    <p:sldId id="257" r:id="rId2"/>
    <p:sldId id="258" r:id="rId3"/>
    <p:sldId id="261" r:id="rId4"/>
    <p:sldId id="262" r:id="rId5"/>
    <p:sldId id="407" r:id="rId6"/>
    <p:sldId id="409" r:id="rId7"/>
    <p:sldId id="263" r:id="rId8"/>
    <p:sldId id="266" r:id="rId9"/>
    <p:sldId id="268" r:id="rId10"/>
    <p:sldId id="269" r:id="rId11"/>
    <p:sldId id="270" r:id="rId12"/>
    <p:sldId id="271" r:id="rId13"/>
    <p:sldId id="491" r:id="rId14"/>
    <p:sldId id="687" r:id="rId15"/>
    <p:sldId id="393" r:id="rId16"/>
    <p:sldId id="267" r:id="rId17"/>
    <p:sldId id="500" r:id="rId18"/>
    <p:sldId id="501" r:id="rId19"/>
    <p:sldId id="502" r:id="rId20"/>
    <p:sldId id="387" r:id="rId21"/>
    <p:sldId id="346" r:id="rId22"/>
    <p:sldId id="347" r:id="rId23"/>
    <p:sldId id="273" r:id="rId24"/>
    <p:sldId id="503" r:id="rId25"/>
    <p:sldId id="274" r:id="rId26"/>
    <p:sldId id="275" r:id="rId27"/>
    <p:sldId id="276" r:id="rId28"/>
    <p:sldId id="338" r:id="rId29"/>
    <p:sldId id="339" r:id="rId30"/>
    <p:sldId id="340" r:id="rId31"/>
    <p:sldId id="380" r:id="rId32"/>
    <p:sldId id="381" r:id="rId33"/>
    <p:sldId id="341" r:id="rId34"/>
    <p:sldId id="382" r:id="rId35"/>
    <p:sldId id="383" r:id="rId36"/>
    <p:sldId id="688" r:id="rId37"/>
    <p:sldId id="277" r:id="rId38"/>
    <p:sldId id="278" r:id="rId39"/>
    <p:sldId id="279" r:id="rId40"/>
    <p:sldId id="282" r:id="rId41"/>
    <p:sldId id="281" r:id="rId42"/>
    <p:sldId id="280" r:id="rId43"/>
    <p:sldId id="283" r:id="rId44"/>
    <p:sldId id="689" r:id="rId45"/>
    <p:sldId id="285" r:id="rId46"/>
    <p:sldId id="286" r:id="rId47"/>
    <p:sldId id="421" r:id="rId48"/>
    <p:sldId id="349" r:id="rId49"/>
    <p:sldId id="385" r:id="rId50"/>
    <p:sldId id="386" r:id="rId51"/>
    <p:sldId id="350" r:id="rId52"/>
    <p:sldId id="351" r:id="rId53"/>
    <p:sldId id="353" r:id="rId54"/>
    <p:sldId id="352" r:id="rId55"/>
    <p:sldId id="354" r:id="rId56"/>
    <p:sldId id="296" r:id="rId57"/>
    <p:sldId id="297" r:id="rId58"/>
    <p:sldId id="428" r:id="rId59"/>
    <p:sldId id="300" r:id="rId60"/>
    <p:sldId id="360" r:id="rId61"/>
    <p:sldId id="445" r:id="rId62"/>
    <p:sldId id="356" r:id="rId63"/>
    <p:sldId id="357" r:id="rId64"/>
    <p:sldId id="504" r:id="rId65"/>
    <p:sldId id="359" r:id="rId66"/>
    <p:sldId id="303" r:id="rId67"/>
    <p:sldId id="304" r:id="rId68"/>
    <p:sldId id="305" r:id="rId69"/>
    <p:sldId id="306" r:id="rId70"/>
    <p:sldId id="307" r:id="rId71"/>
    <p:sldId id="430" r:id="rId72"/>
    <p:sldId id="431" r:id="rId73"/>
    <p:sldId id="310" r:id="rId74"/>
    <p:sldId id="311" r:id="rId75"/>
    <p:sldId id="443" r:id="rId76"/>
    <p:sldId id="531" r:id="rId77"/>
    <p:sldId id="532" r:id="rId78"/>
    <p:sldId id="533" r:id="rId79"/>
    <p:sldId id="534" r:id="rId80"/>
    <p:sldId id="535" r:id="rId81"/>
    <p:sldId id="507" r:id="rId82"/>
    <p:sldId id="312" r:id="rId83"/>
    <p:sldId id="508" r:id="rId84"/>
    <p:sldId id="511" r:id="rId85"/>
    <p:sldId id="314" r:id="rId86"/>
    <p:sldId id="317" r:id="rId87"/>
    <p:sldId id="315" r:id="rId88"/>
    <p:sldId id="316" r:id="rId89"/>
    <p:sldId id="446" r:id="rId90"/>
    <p:sldId id="447" r:id="rId91"/>
    <p:sldId id="512" r:id="rId92"/>
    <p:sldId id="514" r:id="rId93"/>
    <p:sldId id="513" r:id="rId94"/>
    <p:sldId id="361" r:id="rId95"/>
    <p:sldId id="362" r:id="rId96"/>
    <p:sldId id="363" r:id="rId97"/>
    <p:sldId id="364" r:id="rId98"/>
    <p:sldId id="678" r:id="rId99"/>
    <p:sldId id="679" r:id="rId100"/>
    <p:sldId id="680" r:id="rId101"/>
    <p:sldId id="681" r:id="rId102"/>
    <p:sldId id="676" r:id="rId103"/>
    <p:sldId id="677" r:id="rId104"/>
    <p:sldId id="682" r:id="rId105"/>
    <p:sldId id="683" r:id="rId106"/>
    <p:sldId id="684" r:id="rId107"/>
    <p:sldId id="319" r:id="rId108"/>
    <p:sldId id="516" r:id="rId109"/>
    <p:sldId id="320" r:id="rId110"/>
    <p:sldId id="321" r:id="rId111"/>
    <p:sldId id="322" r:id="rId112"/>
    <p:sldId id="323" r:id="rId113"/>
    <p:sldId id="324" r:id="rId114"/>
    <p:sldId id="325" r:id="rId115"/>
    <p:sldId id="326" r:id="rId116"/>
    <p:sldId id="327" r:id="rId117"/>
    <p:sldId id="328" r:id="rId118"/>
    <p:sldId id="329" r:id="rId119"/>
    <p:sldId id="372" r:id="rId120"/>
    <p:sldId id="685" r:id="rId121"/>
    <p:sldId id="686" r:id="rId122"/>
    <p:sldId id="366" r:id="rId123"/>
    <p:sldId id="367" r:id="rId124"/>
    <p:sldId id="373" r:id="rId125"/>
    <p:sldId id="368" r:id="rId126"/>
    <p:sldId id="369" r:id="rId127"/>
    <p:sldId id="370" r:id="rId128"/>
    <p:sldId id="371" r:id="rId129"/>
    <p:sldId id="374" r:id="rId130"/>
    <p:sldId id="690" r:id="rId131"/>
    <p:sldId id="475" r:id="rId132"/>
    <p:sldId id="477" r:id="rId133"/>
    <p:sldId id="476" r:id="rId134"/>
    <p:sldId id="427" r:id="rId135"/>
    <p:sldId id="426" r:id="rId136"/>
    <p:sldId id="691" r:id="rId137"/>
    <p:sldId id="692" r:id="rId138"/>
    <p:sldId id="284" r:id="rId139"/>
    <p:sldId id="479" r:id="rId140"/>
    <p:sldId id="693" r:id="rId141"/>
    <p:sldId id="694" r:id="rId142"/>
    <p:sldId id="289" r:id="rId143"/>
    <p:sldId id="290" r:id="rId144"/>
    <p:sldId id="494" r:id="rId145"/>
    <p:sldId id="496" r:id="rId146"/>
    <p:sldId id="497" r:id="rId147"/>
    <p:sldId id="498" r:id="rId148"/>
    <p:sldId id="499" r:id="rId149"/>
    <p:sldId id="291" r:id="rId150"/>
    <p:sldId id="365" r:id="rId151"/>
    <p:sldId id="695" r:id="rId152"/>
    <p:sldId id="292" r:id="rId153"/>
    <p:sldId id="293" r:id="rId154"/>
    <p:sldId id="481" r:id="rId155"/>
    <p:sldId id="482" r:id="rId156"/>
    <p:sldId id="483" r:id="rId157"/>
    <p:sldId id="484" r:id="rId158"/>
    <p:sldId id="480" r:id="rId159"/>
    <p:sldId id="485" r:id="rId160"/>
    <p:sldId id="493" r:id="rId161"/>
    <p:sldId id="697" r:id="rId162"/>
    <p:sldId id="698" r:id="rId163"/>
    <p:sldId id="699" r:id="rId164"/>
    <p:sldId id="700" r:id="rId165"/>
    <p:sldId id="505" r:id="rId166"/>
    <p:sldId id="506" r:id="rId167"/>
    <p:sldId id="701" r:id="rId168"/>
    <p:sldId id="702" r:id="rId169"/>
    <p:sldId id="703" r:id="rId170"/>
    <p:sldId id="704" r:id="rId171"/>
    <p:sldId id="308" r:id="rId172"/>
    <p:sldId id="705" r:id="rId173"/>
    <p:sldId id="706" r:id="rId174"/>
    <p:sldId id="707" r:id="rId175"/>
    <p:sldId id="708" r:id="rId176"/>
    <p:sldId id="709" r:id="rId177"/>
    <p:sldId id="509" r:id="rId178"/>
    <p:sldId id="418" r:id="rId179"/>
    <p:sldId id="712" r:id="rId180"/>
    <p:sldId id="510" r:id="rId181"/>
    <p:sldId id="713" r:id="rId182"/>
    <p:sldId id="734" r:id="rId183"/>
    <p:sldId id="715" r:id="rId184"/>
    <p:sldId id="716" r:id="rId185"/>
    <p:sldId id="717" r:id="rId186"/>
    <p:sldId id="718" r:id="rId187"/>
    <p:sldId id="462" r:id="rId188"/>
    <p:sldId id="719" r:id="rId189"/>
    <p:sldId id="720" r:id="rId190"/>
    <p:sldId id="438" r:id="rId191"/>
    <p:sldId id="721" r:id="rId192"/>
    <p:sldId id="722" r:id="rId193"/>
    <p:sldId id="486" r:id="rId194"/>
    <p:sldId id="487" r:id="rId195"/>
    <p:sldId id="488" r:id="rId196"/>
    <p:sldId id="489" r:id="rId197"/>
    <p:sldId id="490" r:id="rId198"/>
    <p:sldId id="723" r:id="rId199"/>
    <p:sldId id="492" r:id="rId200"/>
    <p:sldId id="444" r:id="rId201"/>
    <p:sldId id="419" r:id="rId202"/>
    <p:sldId id="521" r:id="rId203"/>
    <p:sldId id="520" r:id="rId204"/>
    <p:sldId id="523" r:id="rId205"/>
    <p:sldId id="524" r:id="rId206"/>
    <p:sldId id="522" r:id="rId207"/>
    <p:sldId id="525" r:id="rId208"/>
    <p:sldId id="396" r:id="rId209"/>
    <p:sldId id="398" r:id="rId210"/>
    <p:sldId id="397" r:id="rId211"/>
    <p:sldId id="399" r:id="rId212"/>
    <p:sldId id="400" r:id="rId213"/>
    <p:sldId id="401" r:id="rId214"/>
    <p:sldId id="402" r:id="rId215"/>
    <p:sldId id="403" r:id="rId216"/>
    <p:sldId id="528" r:id="rId217"/>
    <p:sldId id="529" r:id="rId218"/>
    <p:sldId id="530" r:id="rId219"/>
    <p:sldId id="724" r:id="rId220"/>
    <p:sldId id="725" r:id="rId221"/>
    <p:sldId id="726" r:id="rId222"/>
    <p:sldId id="727" r:id="rId223"/>
    <p:sldId id="406" r:id="rId224"/>
    <p:sldId id="729" r:id="rId225"/>
    <p:sldId id="408" r:id="rId226"/>
    <p:sldId id="730" r:id="rId227"/>
    <p:sldId id="411" r:id="rId228"/>
    <p:sldId id="412" r:id="rId229"/>
    <p:sldId id="330" r:id="rId230"/>
    <p:sldId id="331" r:id="rId231"/>
    <p:sldId id="332" r:id="rId232"/>
    <p:sldId id="333" r:id="rId233"/>
    <p:sldId id="413" r:id="rId234"/>
    <p:sldId id="334" r:id="rId235"/>
    <p:sldId id="414" r:id="rId236"/>
    <p:sldId id="415" r:id="rId237"/>
    <p:sldId id="335" r:id="rId238"/>
    <p:sldId id="336" r:id="rId239"/>
    <p:sldId id="337" r:id="rId240"/>
    <p:sldId id="731" r:id="rId241"/>
    <p:sldId id="452" r:id="rId242"/>
    <p:sldId id="735" r:id="rId243"/>
    <p:sldId id="732" r:id="rId244"/>
    <p:sldId id="742" r:id="rId245"/>
    <p:sldId id="733" r:id="rId246"/>
    <p:sldId id="736" r:id="rId247"/>
    <p:sldId id="519" r:id="rId248"/>
    <p:sldId id="737" r:id="rId249"/>
    <p:sldId id="738" r:id="rId250"/>
    <p:sldId id="739" r:id="rId251"/>
    <p:sldId id="740" r:id="rId252"/>
    <p:sldId id="538" r:id="rId253"/>
    <p:sldId id="539" r:id="rId254"/>
    <p:sldId id="540" r:id="rId255"/>
    <p:sldId id="551" r:id="rId256"/>
    <p:sldId id="552" r:id="rId257"/>
    <p:sldId id="741" r:id="rId258"/>
    <p:sldId id="526" r:id="rId259"/>
    <p:sldId id="527" r:id="rId260"/>
    <p:sldId id="553" r:id="rId261"/>
    <p:sldId id="554" r:id="rId262"/>
    <p:sldId id="432" r:id="rId263"/>
    <p:sldId id="449" r:id="rId264"/>
    <p:sldId id="450" r:id="rId265"/>
    <p:sldId id="465" r:id="rId266"/>
    <p:sldId id="464" r:id="rId267"/>
    <p:sldId id="466" r:id="rId268"/>
    <p:sldId id="470" r:id="rId269"/>
    <p:sldId id="471" r:id="rId270"/>
    <p:sldId id="472" r:id="rId271"/>
    <p:sldId id="473" r:id="rId272"/>
    <p:sldId id="474" r:id="rId273"/>
    <p:sldId id="545" r:id="rId274"/>
    <p:sldId id="546" r:id="rId275"/>
    <p:sldId id="548" r:id="rId276"/>
    <p:sldId id="549" r:id="rId277"/>
    <p:sldId id="550" r:id="rId27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F6FF"/>
    <a:srgbClr val="BAE3F3"/>
    <a:srgbClr val="EAF1F1"/>
    <a:srgbClr val="FFEDD8"/>
    <a:srgbClr val="FFF8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98"/>
    <p:restoredTop sz="79228"/>
  </p:normalViewPr>
  <p:slideViewPr>
    <p:cSldViewPr snapToGrid="0">
      <p:cViewPr varScale="1">
        <p:scale>
          <a:sx n="102" d="100"/>
          <a:sy n="102" d="100"/>
        </p:scale>
        <p:origin x="22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presProps" Target="presProps.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viewProps" Target="viewProps.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theme" Target="theme/theme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tableStyles" Target="tableStyles.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C4591-32D9-4248-9B09-4A3FCC9A2071}" type="datetimeFigureOut">
              <a:rPr kumimoji="1" lang="zh-CN" altLang="en-US" smtClean="0"/>
              <a:t>2025/2/13</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5ACA3-2961-3740-91A0-2A6370DAD6B5}" type="slidenum">
              <a:rPr kumimoji="1" lang="zh-CN" altLang="en-US" smtClean="0"/>
              <a:t>‹#›</a:t>
            </a:fld>
            <a:endParaRPr kumimoji="1" lang="zh-CN" altLang="en-US"/>
          </a:p>
        </p:txBody>
      </p:sp>
    </p:spTree>
    <p:extLst>
      <p:ext uri="{BB962C8B-B14F-4D97-AF65-F5344CB8AC3E}">
        <p14:creationId xmlns:p14="http://schemas.microsoft.com/office/powerpoint/2010/main" val="3964223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编译时绑定：不需硬件支持，但程序运行时不能在内存移动，程序需要连续存储空间，难以共享。</a:t>
            </a:r>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4</a:t>
            </a:fld>
            <a:endParaRPr kumimoji="1" lang="zh-CN" altLang="en-US"/>
          </a:p>
        </p:txBody>
      </p:sp>
    </p:spTree>
    <p:extLst>
      <p:ext uri="{BB962C8B-B14F-4D97-AF65-F5344CB8AC3E}">
        <p14:creationId xmlns:p14="http://schemas.microsoft.com/office/powerpoint/2010/main" val="3596104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在程序执行过程中，每次访问内存之前将要访问程序地址转换成内存地址。</a:t>
            </a:r>
            <a:endParaRPr kumimoji="1" lang="en-US" altLang="zh-CN" dirty="0"/>
          </a:p>
          <a:p>
            <a:r>
              <a:rPr kumimoji="1" lang="zh-CN" altLang="en-US" dirty="0"/>
              <a:t>执行时绑定：</a:t>
            </a:r>
            <a:r>
              <a:rPr lang="zh-CN" altLang="en-US" dirty="0"/>
              <a:t>需要硬件支持，不需连续空间，可以实现虚拟存储。 </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6</a:t>
            </a:fld>
            <a:endParaRPr kumimoji="1" lang="zh-CN" altLang="en-US"/>
          </a:p>
        </p:txBody>
      </p:sp>
    </p:spTree>
    <p:extLst>
      <p:ext uri="{BB962C8B-B14F-4D97-AF65-F5344CB8AC3E}">
        <p14:creationId xmlns:p14="http://schemas.microsoft.com/office/powerpoint/2010/main" val="2086027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11</a:t>
            </a:fld>
            <a:endParaRPr kumimoji="1" lang="zh-CN" altLang="en-US"/>
          </a:p>
        </p:txBody>
      </p:sp>
    </p:spTree>
    <p:extLst>
      <p:ext uri="{BB962C8B-B14F-4D97-AF65-F5344CB8AC3E}">
        <p14:creationId xmlns:p14="http://schemas.microsoft.com/office/powerpoint/2010/main" val="3322202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158</a:t>
            </a:fld>
            <a:endParaRPr kumimoji="1" lang="zh-CN" altLang="en-US"/>
          </a:p>
        </p:txBody>
      </p:sp>
    </p:spTree>
    <p:extLst>
      <p:ext uri="{BB962C8B-B14F-4D97-AF65-F5344CB8AC3E}">
        <p14:creationId xmlns:p14="http://schemas.microsoft.com/office/powerpoint/2010/main" val="3337809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219</a:t>
            </a:fld>
            <a:endParaRPr kumimoji="1" lang="zh-CN" altLang="en-US"/>
          </a:p>
        </p:txBody>
      </p:sp>
    </p:spTree>
    <p:extLst>
      <p:ext uri="{BB962C8B-B14F-4D97-AF65-F5344CB8AC3E}">
        <p14:creationId xmlns:p14="http://schemas.microsoft.com/office/powerpoint/2010/main" val="2250046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id="{D83262CC-8151-B2AB-BA12-23B57D1FE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6A953F2-2E64-494F-8063-1425447268D1}" type="slidenum">
              <a:rPr lang="zh-CN" altLang="en-US"/>
              <a:pPr/>
              <a:t>224</a:t>
            </a:fld>
            <a:endParaRPr lang="zh-CN" altLang="en-US"/>
          </a:p>
        </p:txBody>
      </p:sp>
      <p:sp>
        <p:nvSpPr>
          <p:cNvPr id="111618" name="Rectangle 2">
            <a:extLst>
              <a:ext uri="{FF2B5EF4-FFF2-40B4-BE49-F238E27FC236}">
                <a16:creationId xmlns:a16="http://schemas.microsoft.com/office/drawing/2014/main" id="{6CE1E1C2-BDBF-04DE-97EF-D853622B5A2A}"/>
              </a:ext>
            </a:extLst>
          </p:cNvPr>
          <p:cNvSpPr>
            <a:spLocks noGrp="1" noRot="1" noChangeAspect="1" noChangeArrowheads="1" noTextEdit="1"/>
          </p:cNvSpPr>
          <p:nvPr>
            <p:ph type="sldImg" idx="4294967295"/>
          </p:nvPr>
        </p:nvSpPr>
        <p:spPr>
          <a:ln/>
        </p:spPr>
      </p:sp>
      <p:sp>
        <p:nvSpPr>
          <p:cNvPr id="111619" name="Rectangle 3">
            <a:extLst>
              <a:ext uri="{FF2B5EF4-FFF2-40B4-BE49-F238E27FC236}">
                <a16:creationId xmlns:a16="http://schemas.microsoft.com/office/drawing/2014/main" id="{7507F948-54BD-83BB-96CC-7E8FC9337141}"/>
              </a:ext>
            </a:extLst>
          </p:cNvPr>
          <p:cNvSpPr>
            <a:spLocks noGrp="1" noChangeArrowheads="1"/>
          </p:cNvSpPr>
          <p:nvPr>
            <p:ph type="body" idx="4294967295"/>
          </p:nvPr>
        </p:nvSpPr>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B88C42DC-425B-3417-F791-E8AE74C416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560B9E1-38A6-9E4A-B89F-B41FD3C6D0D6}" type="slidenum">
              <a:rPr lang="zh-CN" altLang="en-US"/>
              <a:pPr/>
              <a:t>225</a:t>
            </a:fld>
            <a:endParaRPr lang="zh-CN" altLang="en-US"/>
          </a:p>
        </p:txBody>
      </p:sp>
      <p:sp>
        <p:nvSpPr>
          <p:cNvPr id="113666" name="Rectangle 2">
            <a:extLst>
              <a:ext uri="{FF2B5EF4-FFF2-40B4-BE49-F238E27FC236}">
                <a16:creationId xmlns:a16="http://schemas.microsoft.com/office/drawing/2014/main" id="{0C681B7C-42ED-5152-8F53-86DDDD240AE4}"/>
              </a:ext>
            </a:extLst>
          </p:cNvPr>
          <p:cNvSpPr>
            <a:spLocks noGrp="1" noRot="1" noChangeAspect="1" noChangeArrowheads="1" noTextEdit="1"/>
          </p:cNvSpPr>
          <p:nvPr>
            <p:ph type="sldImg" idx="4294967295"/>
          </p:nvPr>
        </p:nvSpPr>
        <p:spPr>
          <a:ln/>
        </p:spPr>
      </p:sp>
      <p:sp>
        <p:nvSpPr>
          <p:cNvPr id="113667" name="Rectangle 3">
            <a:extLst>
              <a:ext uri="{FF2B5EF4-FFF2-40B4-BE49-F238E27FC236}">
                <a16:creationId xmlns:a16="http://schemas.microsoft.com/office/drawing/2014/main" id="{0B404F7E-A7D2-BE37-124D-A4A35A81CBA0}"/>
              </a:ext>
            </a:extLst>
          </p:cNvPr>
          <p:cNvSpPr>
            <a:spLocks noGrp="1" noChangeArrowheads="1"/>
          </p:cNvSpPr>
          <p:nvPr>
            <p:ph type="body" idx="4294967295"/>
          </p:nvPr>
        </p:nvSpPr>
        <p:spPr/>
        <p:txBody>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CB31256-4040-D574-1352-7BF9958E21CB}"/>
              </a:ext>
            </a:extLst>
          </p:cNvPr>
          <p:cNvGrpSpPr>
            <a:grpSpLocks/>
          </p:cNvGrpSpPr>
          <p:nvPr/>
        </p:nvGrpSpPr>
        <p:grpSpPr bwMode="auto">
          <a:xfrm>
            <a:off x="2" y="2438406"/>
            <a:ext cx="9009063" cy="1052513"/>
            <a:chOff x="0" y="1536"/>
            <a:chExt cx="5675" cy="663"/>
          </a:xfrm>
        </p:grpSpPr>
        <p:grpSp>
          <p:nvGrpSpPr>
            <p:cNvPr id="3" name="Group 3">
              <a:extLst>
                <a:ext uri="{FF2B5EF4-FFF2-40B4-BE49-F238E27FC236}">
                  <a16:creationId xmlns:a16="http://schemas.microsoft.com/office/drawing/2014/main" id="{EA6626CB-3703-E0DB-640B-674546674C3A}"/>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B2311AE7-2C4F-8267-D2B8-353BB0376962}"/>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11" name="Rectangle 5">
                <a:extLst>
                  <a:ext uri="{FF2B5EF4-FFF2-40B4-BE49-F238E27FC236}">
                    <a16:creationId xmlns:a16="http://schemas.microsoft.com/office/drawing/2014/main" id="{8CF3E795-8736-A25F-18DB-60F43310902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grpSp>
          <p:nvGrpSpPr>
            <p:cNvPr id="4" name="Group 6">
              <a:extLst>
                <a:ext uri="{FF2B5EF4-FFF2-40B4-BE49-F238E27FC236}">
                  <a16:creationId xmlns:a16="http://schemas.microsoft.com/office/drawing/2014/main" id="{332554FD-EA9F-C7BC-4962-5BD0321F09CF}"/>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F247E854-890A-8AB4-8D1E-21A25F6EC492}"/>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9" name="Rectangle 8">
                <a:extLst>
                  <a:ext uri="{FF2B5EF4-FFF2-40B4-BE49-F238E27FC236}">
                    <a16:creationId xmlns:a16="http://schemas.microsoft.com/office/drawing/2014/main" id="{F9BD07B4-2FE4-0227-16AD-D37B05C8FC03}"/>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sp>
          <p:nvSpPr>
            <p:cNvPr id="5" name="Rectangle 9">
              <a:extLst>
                <a:ext uri="{FF2B5EF4-FFF2-40B4-BE49-F238E27FC236}">
                  <a16:creationId xmlns:a16="http://schemas.microsoft.com/office/drawing/2014/main" id="{CC6F0594-41E8-FEBD-7452-6A6E1E24460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6" name="Rectangle 10">
              <a:extLst>
                <a:ext uri="{FF2B5EF4-FFF2-40B4-BE49-F238E27FC236}">
                  <a16:creationId xmlns:a16="http://schemas.microsoft.com/office/drawing/2014/main" id="{E3D8FBF2-0838-B26A-51A0-086A51CFA693}"/>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7" name="Rectangle 11">
              <a:extLst>
                <a:ext uri="{FF2B5EF4-FFF2-40B4-BE49-F238E27FC236}">
                  <a16:creationId xmlns:a16="http://schemas.microsoft.com/office/drawing/2014/main" id="{7B338C99-4BFA-EC8E-7B91-F5844CDD83BD}"/>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sp>
        <p:nvSpPr>
          <p:cNvPr id="65548" name="Rectangle 12"/>
          <p:cNvSpPr>
            <a:spLocks noGrp="1" noChangeArrowheads="1"/>
          </p:cNvSpPr>
          <p:nvPr>
            <p:ph type="ctrTitle"/>
          </p:nvPr>
        </p:nvSpPr>
        <p:spPr>
          <a:xfrm>
            <a:off x="990600" y="1828800"/>
            <a:ext cx="7772400" cy="1143000"/>
          </a:xfrm>
        </p:spPr>
        <p:txBody>
          <a:bodyPr/>
          <a:lstStyle>
            <a:lvl1pPr>
              <a:defRPr/>
            </a:lvl1pPr>
          </a:lstStyle>
          <a:p>
            <a:r>
              <a:rPr lang="zh-CN" altLang="en-US" noProof="1"/>
              <a:t>单击此处编辑母版标题样式</a:t>
            </a:r>
          </a:p>
        </p:txBody>
      </p:sp>
      <p:sp>
        <p:nvSpPr>
          <p:cNvPr id="6554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2" name="Rectangle 14">
            <a:extLst>
              <a:ext uri="{FF2B5EF4-FFF2-40B4-BE49-F238E27FC236}">
                <a16:creationId xmlns:a16="http://schemas.microsoft.com/office/drawing/2014/main" id="{69E201AF-481D-D7F5-F5A3-B7C5682D2571}"/>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a16="http://schemas.microsoft.com/office/drawing/2014/main" id="{701192B2-B64A-92F9-322E-CE658D3C1F41}"/>
              </a:ext>
            </a:extLst>
          </p:cNvPr>
          <p:cNvSpPr>
            <a:spLocks noGrp="1" noChangeArrowheads="1"/>
          </p:cNvSpPr>
          <p:nvPr>
            <p:ph type="ftr" sz="quarter" idx="11"/>
          </p:nvPr>
        </p:nvSpPr>
        <p:spPr>
          <a:xfrm>
            <a:off x="3429000" y="6248400"/>
            <a:ext cx="2895600" cy="457200"/>
          </a:xfrm>
          <a:prstGeom prst="rect">
            <a:avLst/>
          </a:prstGeom>
        </p:spPr>
        <p:txBody>
          <a:bodyPr/>
          <a:lstStyle>
            <a:lvl1pPr>
              <a:defRPr>
                <a:solidFill>
                  <a:schemeClr val="bg2"/>
                </a:solidFill>
              </a:defRPr>
            </a:lvl1pPr>
          </a:lstStyle>
          <a:p>
            <a:pPr>
              <a:defRPr/>
            </a:pPr>
            <a:endParaRPr lang="en-US" altLang="zh-CN"/>
          </a:p>
        </p:txBody>
      </p:sp>
      <p:sp>
        <p:nvSpPr>
          <p:cNvPr id="14" name="Rectangle 16">
            <a:extLst>
              <a:ext uri="{FF2B5EF4-FFF2-40B4-BE49-F238E27FC236}">
                <a16:creationId xmlns:a16="http://schemas.microsoft.com/office/drawing/2014/main" id="{1003B9B5-2387-F5A9-AE3D-CEEB0E21370C}"/>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6B6F798D-A431-694C-B66B-13A47D786A04}" type="slidenum">
              <a:rPr lang="zh-CN" altLang="en-US"/>
              <a:pPr/>
              <a:t>‹#›</a:t>
            </a:fld>
            <a:endParaRPr lang="zh-CN" altLang="en-US"/>
          </a:p>
        </p:txBody>
      </p:sp>
    </p:spTree>
    <p:extLst>
      <p:ext uri="{BB962C8B-B14F-4D97-AF65-F5344CB8AC3E}">
        <p14:creationId xmlns:p14="http://schemas.microsoft.com/office/powerpoint/2010/main" val="491551916"/>
      </p:ext>
    </p:extLst>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atin typeface="Century" panose="02040604050505020304" pitchFamily="18" charset="0"/>
              </a:defRPr>
            </a:lvl1pPr>
          </a:lstStyle>
          <a:p>
            <a:r>
              <a:rPr lang="zh-CN" altLang="en-US" noProof="1"/>
              <a:t>单击此处编辑母版标题样式</a:t>
            </a:r>
          </a:p>
        </p:txBody>
      </p:sp>
      <p:sp>
        <p:nvSpPr>
          <p:cNvPr id="3" name="内容占位符 2"/>
          <p:cNvSpPr>
            <a:spLocks noGrp="1"/>
          </p:cNvSpPr>
          <p:nvPr>
            <p:ph idx="1"/>
          </p:nvPr>
        </p:nvSpPr>
        <p:spPr/>
        <p:txBody>
          <a:bodyPr>
            <a:normAutofit/>
          </a:bodyPr>
          <a:lstStyle>
            <a:lvl1pPr hangingPunct="1">
              <a:buClr>
                <a:schemeClr val="accent4"/>
              </a:buClr>
              <a:defRPr sz="3000">
                <a:latin typeface="Century" panose="02040604050505020304" pitchFamily="18" charset="0"/>
              </a:defRPr>
            </a:lvl1pPr>
            <a:lvl2pPr hangingPunct="1">
              <a:buClr>
                <a:srgbClr val="C00000"/>
              </a:buClr>
              <a:defRPr sz="2600">
                <a:latin typeface="Century" panose="02040604050505020304" pitchFamily="18" charset="0"/>
              </a:defRPr>
            </a:lvl2pPr>
            <a:lvl3pPr hangingPunct="1">
              <a:buClr>
                <a:schemeClr val="tx2"/>
              </a:buClr>
              <a:defRPr sz="2200">
                <a:latin typeface="Century" panose="02040604050505020304" pitchFamily="18" charset="0"/>
              </a:defRPr>
            </a:lvl3pPr>
            <a:lvl4pPr hangingPunct="1">
              <a:buClr>
                <a:schemeClr val="accent2">
                  <a:lumMod val="50000"/>
                </a:schemeClr>
              </a:buClr>
              <a:defRPr sz="1800">
                <a:latin typeface="Century" panose="02040604050505020304" pitchFamily="18" charset="0"/>
              </a:defRPr>
            </a:lvl4pPr>
            <a:lvl5pPr hangingPunct="1">
              <a:buClr>
                <a:schemeClr val="accent5">
                  <a:lumMod val="25000"/>
                </a:schemeClr>
              </a:buClr>
              <a:defRPr sz="1800">
                <a:latin typeface="Century" panose="02040604050505020304" pitchFamily="18" charset="0"/>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D84B8634-86D3-A0AE-194D-6A15AFAFFACB}"/>
              </a:ext>
            </a:extLst>
          </p:cNvPr>
          <p:cNvSpPr>
            <a:spLocks noGrp="1" noChangeArrowheads="1"/>
          </p:cNvSpPr>
          <p:nvPr>
            <p:ph type="dt" sz="half" idx="10"/>
          </p:nvPr>
        </p:nvSpPr>
        <p:spPr>
          <a:ln/>
        </p:spPr>
        <p:txBody>
          <a:bodyPr/>
          <a:lstStyle>
            <a:lvl1pPr>
              <a:defRPr/>
            </a:lvl1pPr>
          </a:lstStyle>
          <a:p>
            <a:pPr>
              <a:defRPr/>
            </a:pPr>
            <a:endParaRPr lang="en-US" altLang="zh-CN" dirty="0"/>
          </a:p>
        </p:txBody>
      </p:sp>
      <p:sp>
        <p:nvSpPr>
          <p:cNvPr id="5" name="Rectangle 12">
            <a:extLst>
              <a:ext uri="{FF2B5EF4-FFF2-40B4-BE49-F238E27FC236}">
                <a16:creationId xmlns:a16="http://schemas.microsoft.com/office/drawing/2014/main" id="{0723DE67-FDB7-4E97-1714-22C53D101CB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dirty="0"/>
          </a:p>
        </p:txBody>
      </p:sp>
      <p:sp>
        <p:nvSpPr>
          <p:cNvPr id="6" name="Rectangle 13">
            <a:extLst>
              <a:ext uri="{FF2B5EF4-FFF2-40B4-BE49-F238E27FC236}">
                <a16:creationId xmlns:a16="http://schemas.microsoft.com/office/drawing/2014/main" id="{724CAC9F-9A1C-2025-A160-151BDB7FFF03}"/>
              </a:ext>
            </a:extLst>
          </p:cNvPr>
          <p:cNvSpPr>
            <a:spLocks noGrp="1" noChangeArrowheads="1"/>
          </p:cNvSpPr>
          <p:nvPr>
            <p:ph type="sldNum" sz="quarter" idx="12"/>
          </p:nvPr>
        </p:nvSpPr>
        <p:spPr>
          <a:ln/>
        </p:spPr>
        <p:txBody>
          <a:bodyPr/>
          <a:lstStyle>
            <a:lvl1pPr>
              <a:defRPr/>
            </a:lvl1pPr>
          </a:lstStyle>
          <a:p>
            <a:fld id="{4093CC90-4002-504C-BD88-C9A1D374048E}" type="slidenum">
              <a:rPr lang="zh-CN" altLang="en-US" smtClean="0"/>
              <a:pPr/>
              <a:t>‹#›</a:t>
            </a:fld>
            <a:endParaRPr lang="zh-CN" altLang="en-US" dirty="0"/>
          </a:p>
        </p:txBody>
      </p:sp>
    </p:spTree>
    <p:extLst>
      <p:ext uri="{BB962C8B-B14F-4D97-AF65-F5344CB8AC3E}">
        <p14:creationId xmlns:p14="http://schemas.microsoft.com/office/powerpoint/2010/main" val="1495866086"/>
      </p:ext>
    </p:extLst>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3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884" indent="0">
              <a:buNone/>
              <a:defRPr sz="1350"/>
            </a:lvl2pPr>
            <a:lvl3pPr marL="685766" indent="0">
              <a:buNone/>
              <a:defRPr sz="1200"/>
            </a:lvl3pPr>
            <a:lvl4pPr marL="1028649" indent="0">
              <a:buNone/>
              <a:defRPr sz="1050"/>
            </a:lvl4pPr>
            <a:lvl5pPr marL="1371532" indent="0">
              <a:buNone/>
              <a:defRPr sz="1050"/>
            </a:lvl5pPr>
            <a:lvl6pPr marL="1714415" indent="0">
              <a:buNone/>
              <a:defRPr sz="1050"/>
            </a:lvl6pPr>
            <a:lvl7pPr marL="2057297" indent="0">
              <a:buNone/>
              <a:defRPr sz="1050"/>
            </a:lvl7pPr>
            <a:lvl8pPr marL="2400180" indent="0">
              <a:buNone/>
              <a:defRPr sz="1050"/>
            </a:lvl8pPr>
            <a:lvl9pPr marL="2743064" indent="0">
              <a:buNone/>
              <a:defRPr sz="1050"/>
            </a:lvl9pPr>
          </a:lstStyle>
          <a:p>
            <a:pPr lvl="0"/>
            <a:r>
              <a:rPr lang="zh-CN" altLang="en-US" noProof="1"/>
              <a:t>单击此处编辑母版文本样式</a:t>
            </a:r>
          </a:p>
        </p:txBody>
      </p:sp>
      <p:sp>
        <p:nvSpPr>
          <p:cNvPr id="7" name="日期占位符 6">
            <a:extLst>
              <a:ext uri="{FF2B5EF4-FFF2-40B4-BE49-F238E27FC236}">
                <a16:creationId xmlns:a16="http://schemas.microsoft.com/office/drawing/2014/main" id="{FFBDFF65-8CBE-FC8E-C2AB-BF39F778E411}"/>
              </a:ext>
            </a:extLst>
          </p:cNvPr>
          <p:cNvSpPr>
            <a:spLocks noGrp="1"/>
          </p:cNvSpPr>
          <p:nvPr>
            <p:ph type="dt" sz="half" idx="10"/>
          </p:nvPr>
        </p:nvSpPr>
        <p:spPr/>
        <p:txBody>
          <a:bodyPr/>
          <a:lstStyle/>
          <a:p>
            <a:pPr>
              <a:defRPr/>
            </a:pPr>
            <a:endParaRPr lang="en-US" altLang="zh-CN" dirty="0"/>
          </a:p>
        </p:txBody>
      </p:sp>
      <p:sp>
        <p:nvSpPr>
          <p:cNvPr id="8" name="页脚占位符 7">
            <a:extLst>
              <a:ext uri="{FF2B5EF4-FFF2-40B4-BE49-F238E27FC236}">
                <a16:creationId xmlns:a16="http://schemas.microsoft.com/office/drawing/2014/main" id="{557BB269-8BCF-19AE-2E4C-4F50A72F7BB4}"/>
              </a:ext>
            </a:extLst>
          </p:cNvPr>
          <p:cNvSpPr>
            <a:spLocks noGrp="1"/>
          </p:cNvSpPr>
          <p:nvPr>
            <p:ph type="ftr" sz="quarter" idx="11"/>
          </p:nvPr>
        </p:nvSpPr>
        <p:spPr>
          <a:xfrm>
            <a:off x="3352800" y="6324600"/>
            <a:ext cx="2895600" cy="457200"/>
          </a:xfrm>
          <a:prstGeom prst="rect">
            <a:avLst/>
          </a:prstGeom>
        </p:spPr>
        <p:txBody>
          <a:bodyPr/>
          <a:lstStyle/>
          <a:p>
            <a:pPr>
              <a:defRPr/>
            </a:pPr>
            <a:endParaRPr lang="en-US" altLang="zh-CN"/>
          </a:p>
        </p:txBody>
      </p:sp>
      <p:sp>
        <p:nvSpPr>
          <p:cNvPr id="9" name="灯片编号占位符 8">
            <a:extLst>
              <a:ext uri="{FF2B5EF4-FFF2-40B4-BE49-F238E27FC236}">
                <a16:creationId xmlns:a16="http://schemas.microsoft.com/office/drawing/2014/main" id="{EC4B4EC5-8D14-B9F8-3A0E-6B6E3FB2CF26}"/>
              </a:ext>
            </a:extLst>
          </p:cNvPr>
          <p:cNvSpPr>
            <a:spLocks noGrp="1"/>
          </p:cNvSpPr>
          <p:nvPr>
            <p:ph type="sldNum" sz="quarter" idx="12"/>
          </p:nvPr>
        </p:nvSpPr>
        <p:spPr/>
        <p:txBody>
          <a:bodyPr/>
          <a:lstStyle/>
          <a:p>
            <a:fld id="{6F73D78D-38BD-D44D-8D86-2D2DB0BEC18B}" type="slidenum">
              <a:rPr lang="zh-CN" altLang="en-US" smtClean="0"/>
              <a:pPr/>
              <a:t>‹#›</a:t>
            </a:fld>
            <a:endParaRPr lang="zh-CN" altLang="en-US" dirty="0"/>
          </a:p>
        </p:txBody>
      </p:sp>
    </p:spTree>
    <p:extLst>
      <p:ext uri="{BB962C8B-B14F-4D97-AF65-F5344CB8AC3E}">
        <p14:creationId xmlns:p14="http://schemas.microsoft.com/office/powerpoint/2010/main" val="43693493"/>
      </p:ext>
    </p:extLst>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9350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8974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577088FB-A6B7-73F5-7F94-4748D69CAC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8B037231-D77C-7620-5048-020218A5671E}"/>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1616081F-299F-D60B-0ECC-280BE114E5F3}"/>
              </a:ext>
            </a:extLst>
          </p:cNvPr>
          <p:cNvSpPr>
            <a:spLocks noGrp="1" noChangeArrowheads="1"/>
          </p:cNvSpPr>
          <p:nvPr>
            <p:ph type="sldNum" sz="quarter" idx="12"/>
          </p:nvPr>
        </p:nvSpPr>
        <p:spPr>
          <a:ln/>
        </p:spPr>
        <p:txBody>
          <a:bodyPr/>
          <a:lstStyle>
            <a:lvl1pPr>
              <a:defRPr/>
            </a:lvl1pPr>
          </a:lstStyle>
          <a:p>
            <a:fld id="{78968A19-278A-0A41-BBE8-65E5D3125EB9}" type="slidenum">
              <a:rPr lang="zh-CN" altLang="en-US"/>
              <a:pPr/>
              <a:t>‹#›</a:t>
            </a:fld>
            <a:endParaRPr lang="zh-CN" altLang="en-US"/>
          </a:p>
        </p:txBody>
      </p:sp>
    </p:spTree>
    <p:extLst>
      <p:ext uri="{BB962C8B-B14F-4D97-AF65-F5344CB8AC3E}">
        <p14:creationId xmlns:p14="http://schemas.microsoft.com/office/powerpoint/2010/main" val="3539847077"/>
      </p:ext>
    </p:extLst>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a:extLst>
              <a:ext uri="{FF2B5EF4-FFF2-40B4-BE49-F238E27FC236}">
                <a16:creationId xmlns:a16="http://schemas.microsoft.com/office/drawing/2014/main" id="{68794170-3BE8-63A8-84A0-433E04CC41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4EE836C1-36AB-35B2-63E3-C5C32DFB7DE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A14EBA2A-C5A1-FF69-4383-F487A84086FC}"/>
              </a:ext>
            </a:extLst>
          </p:cNvPr>
          <p:cNvSpPr>
            <a:spLocks noGrp="1" noChangeArrowheads="1"/>
          </p:cNvSpPr>
          <p:nvPr>
            <p:ph type="sldNum" sz="quarter" idx="12"/>
          </p:nvPr>
        </p:nvSpPr>
        <p:spPr>
          <a:ln/>
        </p:spPr>
        <p:txBody>
          <a:bodyPr/>
          <a:lstStyle>
            <a:lvl1pPr>
              <a:defRPr/>
            </a:lvl1pPr>
          </a:lstStyle>
          <a:p>
            <a:fld id="{A45D52E0-A696-0244-8333-2084DA18EEE0}" type="slidenum">
              <a:rPr lang="zh-CN" altLang="en-US"/>
              <a:pPr/>
              <a:t>‹#›</a:t>
            </a:fld>
            <a:endParaRPr lang="zh-CN" altLang="en-US"/>
          </a:p>
        </p:txBody>
      </p:sp>
    </p:spTree>
    <p:extLst>
      <p:ext uri="{BB962C8B-B14F-4D97-AF65-F5344CB8AC3E}">
        <p14:creationId xmlns:p14="http://schemas.microsoft.com/office/powerpoint/2010/main" val="2963665912"/>
      </p:ext>
    </p:extLst>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a:extLst>
              <a:ext uri="{FF2B5EF4-FFF2-40B4-BE49-F238E27FC236}">
                <a16:creationId xmlns:a16="http://schemas.microsoft.com/office/drawing/2014/main" id="{90622892-0589-9624-9441-6D3D8D420AC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DE3302D8-0022-5549-6AF3-C9DF37FD08A8}"/>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5BAF381E-A9DD-B4FB-A99D-D6A7443039BB}"/>
              </a:ext>
            </a:extLst>
          </p:cNvPr>
          <p:cNvSpPr>
            <a:spLocks noGrp="1" noChangeArrowheads="1"/>
          </p:cNvSpPr>
          <p:nvPr>
            <p:ph type="sldNum" sz="quarter" idx="12"/>
          </p:nvPr>
        </p:nvSpPr>
        <p:spPr>
          <a:ln/>
        </p:spPr>
        <p:txBody>
          <a:bodyPr/>
          <a:lstStyle>
            <a:lvl1pPr>
              <a:defRPr/>
            </a:lvl1pPr>
          </a:lstStyle>
          <a:p>
            <a:fld id="{4DE15609-3D60-D842-9ED4-D898F320B191}" type="slidenum">
              <a:rPr lang="zh-CN" altLang="en-US"/>
              <a:pPr/>
              <a:t>‹#›</a:t>
            </a:fld>
            <a:endParaRPr lang="zh-CN" altLang="en-US"/>
          </a:p>
        </p:txBody>
      </p:sp>
    </p:spTree>
    <p:extLst>
      <p:ext uri="{BB962C8B-B14F-4D97-AF65-F5344CB8AC3E}">
        <p14:creationId xmlns:p14="http://schemas.microsoft.com/office/powerpoint/2010/main" val="3752375608"/>
      </p:ext>
    </p:extLst>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31F610FA-62F8-3A69-9BB8-68EAD4093A7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030F8BB0-0FEC-EDAC-A497-49A707FDB0DF}"/>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1004B668-435E-6B54-9B71-30E6E86C672E}"/>
              </a:ext>
            </a:extLst>
          </p:cNvPr>
          <p:cNvSpPr>
            <a:spLocks noGrp="1" noChangeArrowheads="1"/>
          </p:cNvSpPr>
          <p:nvPr>
            <p:ph type="sldNum" sz="quarter" idx="12"/>
          </p:nvPr>
        </p:nvSpPr>
        <p:spPr>
          <a:ln/>
        </p:spPr>
        <p:txBody>
          <a:bodyPr/>
          <a:lstStyle>
            <a:lvl1pPr>
              <a:defRPr/>
            </a:lvl1pPr>
          </a:lstStyle>
          <a:p>
            <a:fld id="{8C438AA8-90D7-9745-B439-F7E019CC101C}" type="slidenum">
              <a:rPr lang="zh-CN" altLang="en-US"/>
              <a:pPr/>
              <a:t>‹#›</a:t>
            </a:fld>
            <a:endParaRPr lang="zh-CN" altLang="en-US"/>
          </a:p>
        </p:txBody>
      </p:sp>
    </p:spTree>
    <p:extLst>
      <p:ext uri="{BB962C8B-B14F-4D97-AF65-F5344CB8AC3E}">
        <p14:creationId xmlns:p14="http://schemas.microsoft.com/office/powerpoint/2010/main" val="675615399"/>
      </p:ext>
    </p:extLst>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lstStyle>
            <a:lvl1pPr algn="l">
              <a:defRPr sz="1500" b="1"/>
            </a:lvl1pPr>
          </a:lstStyle>
          <a:p>
            <a:r>
              <a:rPr lang="zh-CN" altLang="en-US" noProof="1"/>
              <a:t>单击此处编辑母版标题样式</a:t>
            </a:r>
          </a:p>
        </p:txBody>
      </p:sp>
      <p:sp>
        <p:nvSpPr>
          <p:cNvPr id="3" name="内容占位符 2"/>
          <p:cNvSpPr>
            <a:spLocks noGrp="1"/>
          </p:cNvSpPr>
          <p:nvPr>
            <p:ph idx="1"/>
          </p:nvPr>
        </p:nvSpPr>
        <p:spPr>
          <a:xfrm>
            <a:off x="3575050"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2" y="1435103"/>
            <a:ext cx="3008313" cy="4691063"/>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077BF47D-FB2C-CA75-3290-9D390F1A1B8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FCEDDD16-8334-8815-AE79-D96BE28013B5}"/>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EF672E88-31B4-2E74-6924-50EA7B00DFE2}"/>
              </a:ext>
            </a:extLst>
          </p:cNvPr>
          <p:cNvSpPr>
            <a:spLocks noGrp="1" noChangeArrowheads="1"/>
          </p:cNvSpPr>
          <p:nvPr>
            <p:ph type="sldNum" sz="quarter" idx="12"/>
          </p:nvPr>
        </p:nvSpPr>
        <p:spPr>
          <a:ln/>
        </p:spPr>
        <p:txBody>
          <a:bodyPr/>
          <a:lstStyle>
            <a:lvl1pPr>
              <a:defRPr/>
            </a:lvl1pPr>
          </a:lstStyle>
          <a:p>
            <a:fld id="{D70B590F-D627-7E4E-9EE8-F0575448761B}" type="slidenum">
              <a:rPr lang="zh-CN" altLang="en-US"/>
              <a:pPr/>
              <a:t>‹#›</a:t>
            </a:fld>
            <a:endParaRPr lang="zh-CN" altLang="en-US"/>
          </a:p>
        </p:txBody>
      </p:sp>
    </p:spTree>
    <p:extLst>
      <p:ext uri="{BB962C8B-B14F-4D97-AF65-F5344CB8AC3E}">
        <p14:creationId xmlns:p14="http://schemas.microsoft.com/office/powerpoint/2010/main" val="2246611658"/>
      </p:ext>
    </p:extLst>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7DF7E1FA-7229-6F80-9195-95494C6B6D4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BA7BEB0C-60AB-4B90-0858-DC9F851CFC6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C8113A4C-B97F-6D35-E97A-9BCA743B1036}"/>
              </a:ext>
            </a:extLst>
          </p:cNvPr>
          <p:cNvSpPr>
            <a:spLocks noGrp="1" noChangeArrowheads="1"/>
          </p:cNvSpPr>
          <p:nvPr>
            <p:ph type="sldNum" sz="quarter" idx="12"/>
          </p:nvPr>
        </p:nvSpPr>
        <p:spPr>
          <a:ln/>
        </p:spPr>
        <p:txBody>
          <a:bodyPr/>
          <a:lstStyle>
            <a:lvl1pPr>
              <a:defRPr/>
            </a:lvl1pPr>
          </a:lstStyle>
          <a:p>
            <a:fld id="{A75CE171-2466-3E49-953C-8D9416E27C46}" type="slidenum">
              <a:rPr lang="zh-CN" altLang="en-US"/>
              <a:pPr/>
              <a:t>‹#›</a:t>
            </a:fld>
            <a:endParaRPr lang="zh-CN" altLang="en-US"/>
          </a:p>
        </p:txBody>
      </p:sp>
    </p:spTree>
    <p:extLst>
      <p:ext uri="{BB962C8B-B14F-4D97-AF65-F5344CB8AC3E}">
        <p14:creationId xmlns:p14="http://schemas.microsoft.com/office/powerpoint/2010/main" val="2042727056"/>
      </p:ext>
    </p:extLst>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8969790B-5FDE-ACFE-CBF8-D6D25FB9781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042DD340-A062-ECA2-BACD-72DF641D7A99}"/>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5A990D87-E397-DDBA-9741-B7BDB82788A5}"/>
              </a:ext>
            </a:extLst>
          </p:cNvPr>
          <p:cNvSpPr>
            <a:spLocks noGrp="1" noChangeArrowheads="1"/>
          </p:cNvSpPr>
          <p:nvPr>
            <p:ph type="sldNum" sz="quarter" idx="12"/>
          </p:nvPr>
        </p:nvSpPr>
        <p:spPr>
          <a:ln/>
        </p:spPr>
        <p:txBody>
          <a:bodyPr/>
          <a:lstStyle>
            <a:lvl1pPr>
              <a:defRPr/>
            </a:lvl1pPr>
          </a:lstStyle>
          <a:p>
            <a:fld id="{DE6A2B9D-4C43-344E-A3AD-CDEFA12D4607}" type="slidenum">
              <a:rPr lang="zh-CN" altLang="en-US"/>
              <a:pPr/>
              <a:t>‹#›</a:t>
            </a:fld>
            <a:endParaRPr lang="zh-CN" altLang="en-US"/>
          </a:p>
        </p:txBody>
      </p:sp>
    </p:spTree>
    <p:extLst>
      <p:ext uri="{BB962C8B-B14F-4D97-AF65-F5344CB8AC3E}">
        <p14:creationId xmlns:p14="http://schemas.microsoft.com/office/powerpoint/2010/main" val="3712375271"/>
      </p:ext>
    </p:extLst>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4041" y="225431"/>
            <a:ext cx="1989137" cy="59039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935038" y="225431"/>
            <a:ext cx="5816600" cy="59039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BB6D72A0-9ACC-FB01-B500-09347F0725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1C2E9BFB-3F4C-57E7-BA00-4AD71CFAAD3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4462F64-AE9C-AD7E-F866-AAEDC027A672}"/>
              </a:ext>
            </a:extLst>
          </p:cNvPr>
          <p:cNvSpPr>
            <a:spLocks noGrp="1" noChangeArrowheads="1"/>
          </p:cNvSpPr>
          <p:nvPr>
            <p:ph type="sldNum" sz="quarter" idx="12"/>
          </p:nvPr>
        </p:nvSpPr>
        <p:spPr>
          <a:ln/>
        </p:spPr>
        <p:txBody>
          <a:bodyPr/>
          <a:lstStyle>
            <a:lvl1pPr>
              <a:defRPr/>
            </a:lvl1pPr>
          </a:lstStyle>
          <a:p>
            <a:fld id="{854D01F4-2BF8-A745-90E2-0A334AE3AAFA}" type="slidenum">
              <a:rPr lang="zh-CN" altLang="en-US"/>
              <a:pPr/>
              <a:t>‹#›</a:t>
            </a:fld>
            <a:endParaRPr lang="zh-CN" altLang="en-US"/>
          </a:p>
        </p:txBody>
      </p:sp>
    </p:spTree>
    <p:extLst>
      <p:ext uri="{BB962C8B-B14F-4D97-AF65-F5344CB8AC3E}">
        <p14:creationId xmlns:p14="http://schemas.microsoft.com/office/powerpoint/2010/main" val="2467722587"/>
      </p:ext>
    </p:extLst>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935038" y="1233488"/>
            <a:ext cx="3810000" cy="4895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图表占位符 3"/>
          <p:cNvSpPr>
            <a:spLocks noGrp="1"/>
          </p:cNvSpPr>
          <p:nvPr>
            <p:ph type="chart" sz="half" idx="2"/>
          </p:nvPr>
        </p:nvSpPr>
        <p:spPr>
          <a:xfrm>
            <a:off x="4897438" y="1233488"/>
            <a:ext cx="3810000" cy="4895850"/>
          </a:xfrm>
        </p:spPr>
        <p:txBody>
          <a:bodyPr/>
          <a:lstStyle/>
          <a:p>
            <a:pPr lvl="0"/>
            <a:endParaRPr lang="zh-CN" altLang="en-US" noProof="0"/>
          </a:p>
        </p:txBody>
      </p:sp>
      <p:sp>
        <p:nvSpPr>
          <p:cNvPr id="5" name="Rectangle 11">
            <a:extLst>
              <a:ext uri="{FF2B5EF4-FFF2-40B4-BE49-F238E27FC236}">
                <a16:creationId xmlns:a16="http://schemas.microsoft.com/office/drawing/2014/main" id="{EF4DAB6F-0109-F932-D41D-114D2B361EA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3B9B9A9B-4F44-E332-8013-87B918E44541}"/>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D1D42F48-85F2-C1B3-34A9-42D4A700CCFC}"/>
              </a:ext>
            </a:extLst>
          </p:cNvPr>
          <p:cNvSpPr>
            <a:spLocks noGrp="1" noChangeArrowheads="1"/>
          </p:cNvSpPr>
          <p:nvPr>
            <p:ph type="sldNum" sz="quarter" idx="12"/>
          </p:nvPr>
        </p:nvSpPr>
        <p:spPr>
          <a:ln/>
        </p:spPr>
        <p:txBody>
          <a:bodyPr/>
          <a:lstStyle>
            <a:lvl1pPr>
              <a:defRPr/>
            </a:lvl1pPr>
          </a:lstStyle>
          <a:p>
            <a:fld id="{C3310DF3-193F-E44C-B1F0-408591F45CF7}" type="slidenum">
              <a:rPr lang="zh-CN" altLang="en-US"/>
              <a:pPr/>
              <a:t>‹#›</a:t>
            </a:fld>
            <a:endParaRPr lang="zh-CN" altLang="en-US"/>
          </a:p>
        </p:txBody>
      </p:sp>
    </p:spTree>
    <p:extLst>
      <p:ext uri="{BB962C8B-B14F-4D97-AF65-F5344CB8AC3E}">
        <p14:creationId xmlns:p14="http://schemas.microsoft.com/office/powerpoint/2010/main" val="3040218793"/>
      </p:ext>
    </p:extLst>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a:t>单击此处编辑母版标题样式</a:t>
            </a:r>
          </a:p>
        </p:txBody>
      </p:sp>
      <p:sp>
        <p:nvSpPr>
          <p:cNvPr id="3" name="图表占位符 2"/>
          <p:cNvSpPr>
            <a:spLocks noGrp="1"/>
          </p:cNvSpPr>
          <p:nvPr>
            <p:ph type="chart" idx="1"/>
          </p:nvPr>
        </p:nvSpPr>
        <p:spPr>
          <a:xfrm>
            <a:off x="935038" y="1233488"/>
            <a:ext cx="7772400" cy="4895850"/>
          </a:xfrm>
        </p:spPr>
        <p:txBody>
          <a:bodyPr/>
          <a:lstStyle/>
          <a:p>
            <a:pPr lvl="0"/>
            <a:endParaRPr lang="zh-CN" altLang="en-US" noProof="0"/>
          </a:p>
        </p:txBody>
      </p:sp>
      <p:sp>
        <p:nvSpPr>
          <p:cNvPr id="4" name="Rectangle 11">
            <a:extLst>
              <a:ext uri="{FF2B5EF4-FFF2-40B4-BE49-F238E27FC236}">
                <a16:creationId xmlns:a16="http://schemas.microsoft.com/office/drawing/2014/main" id="{F708D4BC-3A8D-E878-0802-13BCC7E23DC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925FD2C4-690E-646E-8669-143AD1BD9F2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54E36240-FA62-8027-3821-D40DEB78E100}"/>
              </a:ext>
            </a:extLst>
          </p:cNvPr>
          <p:cNvSpPr>
            <a:spLocks noGrp="1" noChangeArrowheads="1"/>
          </p:cNvSpPr>
          <p:nvPr>
            <p:ph type="sldNum" sz="quarter" idx="12"/>
          </p:nvPr>
        </p:nvSpPr>
        <p:spPr>
          <a:ln/>
        </p:spPr>
        <p:txBody>
          <a:bodyPr/>
          <a:lstStyle>
            <a:lvl1pPr>
              <a:defRPr/>
            </a:lvl1pPr>
          </a:lstStyle>
          <a:p>
            <a:fld id="{05BB1C6D-14C1-844E-9115-70642E9631DF}" type="slidenum">
              <a:rPr lang="zh-CN" altLang="en-US"/>
              <a:pPr/>
              <a:t>‹#›</a:t>
            </a:fld>
            <a:endParaRPr lang="zh-CN" altLang="en-US"/>
          </a:p>
        </p:txBody>
      </p:sp>
    </p:spTree>
    <p:extLst>
      <p:ext uri="{BB962C8B-B14F-4D97-AF65-F5344CB8AC3E}">
        <p14:creationId xmlns:p14="http://schemas.microsoft.com/office/powerpoint/2010/main" val="1114928925"/>
      </p:ext>
    </p:extLst>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00138" y="152400"/>
            <a:ext cx="7793037" cy="7556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131888" y="1125538"/>
            <a:ext cx="3810000" cy="49672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094288" y="1125538"/>
            <a:ext cx="3810000" cy="49672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C5D473F3-CEFF-0990-73A1-D07C4866D0B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4C27A744-60E1-D9AC-77B9-9A42E41DC82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84ACE89C-6866-565A-50A9-BF38F4B17F4D}"/>
              </a:ext>
            </a:extLst>
          </p:cNvPr>
          <p:cNvSpPr>
            <a:spLocks noGrp="1" noChangeArrowheads="1"/>
          </p:cNvSpPr>
          <p:nvPr>
            <p:ph type="sldNum" sz="quarter" idx="12"/>
          </p:nvPr>
        </p:nvSpPr>
        <p:spPr>
          <a:ln/>
        </p:spPr>
        <p:txBody>
          <a:bodyPr/>
          <a:lstStyle>
            <a:lvl1pPr>
              <a:defRPr/>
            </a:lvl1pPr>
          </a:lstStyle>
          <a:p>
            <a:fld id="{59200D3D-1F4C-0644-86B0-C625BAF1F732}" type="slidenum">
              <a:rPr lang="zh-CN" altLang="en-US"/>
              <a:pPr/>
              <a:t>‹#›</a:t>
            </a:fld>
            <a:endParaRPr lang="zh-CN" altLang="en-US"/>
          </a:p>
        </p:txBody>
      </p:sp>
    </p:spTree>
    <p:extLst>
      <p:ext uri="{BB962C8B-B14F-4D97-AF65-F5344CB8AC3E}">
        <p14:creationId xmlns:p14="http://schemas.microsoft.com/office/powerpoint/2010/main" val="2278104009"/>
      </p:ext>
    </p:extLst>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tiff"/><Relationship Id="rId2" Type="http://schemas.openxmlformats.org/officeDocument/2006/relationships/slideLayout" Target="../slideLayouts/slideLayout2.xml"/><Relationship Id="rId16" Type="http://schemas.openxmlformats.org/officeDocument/2006/relationships/image" Target="../media/image1.tif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A9824247-C8A8-C57F-CAEC-3A223BA6F4D0}"/>
              </a:ext>
            </a:extLst>
          </p:cNvPr>
          <p:cNvSpPr>
            <a:spLocks noChangeArrowheads="1"/>
          </p:cNvSpPr>
          <p:nvPr/>
        </p:nvSpPr>
        <p:spPr bwMode="auto">
          <a:xfrm>
            <a:off x="711201" y="26988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7" name="Rectangle 8">
            <a:extLst>
              <a:ext uri="{FF2B5EF4-FFF2-40B4-BE49-F238E27FC236}">
                <a16:creationId xmlns:a16="http://schemas.microsoft.com/office/drawing/2014/main" id="{4A0B2333-B6EA-176D-0028-5AB7711DF1B1}"/>
              </a:ext>
            </a:extLst>
          </p:cNvPr>
          <p:cNvSpPr>
            <a:spLocks noChangeArrowheads="1"/>
          </p:cNvSpPr>
          <p:nvPr/>
        </p:nvSpPr>
        <p:spPr bwMode="auto">
          <a:xfrm>
            <a:off x="392116" y="10604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8" name="Rectangle 9">
            <a:extLst>
              <a:ext uri="{FF2B5EF4-FFF2-40B4-BE49-F238E27FC236}">
                <a16:creationId xmlns:a16="http://schemas.microsoft.com/office/drawing/2014/main" id="{0D3A9279-CA87-4E7F-DAC6-015EE242A976}"/>
              </a:ext>
            </a:extLst>
          </p:cNvPr>
          <p:cNvSpPr>
            <a:spLocks noGrp="1" noChangeArrowheads="1"/>
          </p:cNvSpPr>
          <p:nvPr>
            <p:ph type="title" idx="4294967295"/>
          </p:nvPr>
        </p:nvSpPr>
        <p:spPr bwMode="auto">
          <a:xfrm>
            <a:off x="1042988" y="225431"/>
            <a:ext cx="785018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9" name="Rectangle 10">
            <a:extLst>
              <a:ext uri="{FF2B5EF4-FFF2-40B4-BE49-F238E27FC236}">
                <a16:creationId xmlns:a16="http://schemas.microsoft.com/office/drawing/2014/main" id="{86AE627A-1B93-6388-397F-5C8186FBAFEE}"/>
              </a:ext>
            </a:extLst>
          </p:cNvPr>
          <p:cNvSpPr>
            <a:spLocks noGrp="1" noChangeArrowheads="1"/>
          </p:cNvSpPr>
          <p:nvPr>
            <p:ph type="body" idx="4294967295"/>
          </p:nvPr>
        </p:nvSpPr>
        <p:spPr bwMode="auto">
          <a:xfrm>
            <a:off x="935038" y="1233488"/>
            <a:ext cx="77724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4523" name="Rectangle 11">
            <a:extLst>
              <a:ext uri="{FF2B5EF4-FFF2-40B4-BE49-F238E27FC236}">
                <a16:creationId xmlns:a16="http://schemas.microsoft.com/office/drawing/2014/main" id="{DE3D8E3B-D458-C570-9919-DE02EA9FC78D}"/>
              </a:ext>
            </a:extLst>
          </p:cNvPr>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buClrTx/>
              <a:buSzTx/>
              <a:buFontTx/>
              <a:buNone/>
              <a:defRPr kumimoji="0" sz="1050"/>
            </a:lvl1pPr>
          </a:lstStyle>
          <a:p>
            <a:pPr>
              <a:defRPr/>
            </a:pPr>
            <a:endParaRPr lang="en-US" altLang="zh-CN" dirty="0"/>
          </a:p>
        </p:txBody>
      </p:sp>
      <p:sp>
        <p:nvSpPr>
          <p:cNvPr id="64525" name="Rectangle 13">
            <a:extLst>
              <a:ext uri="{FF2B5EF4-FFF2-40B4-BE49-F238E27FC236}">
                <a16:creationId xmlns:a16="http://schemas.microsoft.com/office/drawing/2014/main" id="{C2D98F74-F2B6-4A7D-03A8-AB9BF3598B96}"/>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050"/>
            </a:lvl1pPr>
          </a:lstStyle>
          <a:p>
            <a:fld id="{6F73D78D-38BD-D44D-8D86-2D2DB0BEC18B}" type="slidenum">
              <a:rPr lang="zh-CN" altLang="en-US" smtClean="0"/>
              <a:pPr/>
              <a:t>‹#›</a:t>
            </a:fld>
            <a:endParaRPr lang="zh-CN" altLang="en-US" dirty="0"/>
          </a:p>
        </p:txBody>
      </p:sp>
      <p:pic>
        <p:nvPicPr>
          <p:cNvPr id="5" name="图片 4">
            <a:extLst>
              <a:ext uri="{FF2B5EF4-FFF2-40B4-BE49-F238E27FC236}">
                <a16:creationId xmlns:a16="http://schemas.microsoft.com/office/drawing/2014/main" id="{C3BB9AFC-C9BC-E655-334A-DE8EBC2F172F}"/>
              </a:ext>
            </a:extLst>
          </p:cNvPr>
          <p:cNvPicPr>
            <a:picLocks noChangeAspect="1"/>
          </p:cNvPicPr>
          <p:nvPr userDrawn="1"/>
        </p:nvPicPr>
        <p:blipFill>
          <a:blip r:embed="rId16"/>
          <a:stretch>
            <a:fillRect/>
          </a:stretch>
        </p:blipFill>
        <p:spPr>
          <a:xfrm>
            <a:off x="8532443" y="5624518"/>
            <a:ext cx="512549" cy="1106809"/>
          </a:xfrm>
          <a:prstGeom prst="rect">
            <a:avLst/>
          </a:prstGeom>
        </p:spPr>
      </p:pic>
      <p:pic>
        <p:nvPicPr>
          <p:cNvPr id="6" name="图片 5">
            <a:extLst>
              <a:ext uri="{FF2B5EF4-FFF2-40B4-BE49-F238E27FC236}">
                <a16:creationId xmlns:a16="http://schemas.microsoft.com/office/drawing/2014/main" id="{3CE6F6BF-4B21-EBA8-0316-496A78B2CDF2}"/>
              </a:ext>
            </a:extLst>
          </p:cNvPr>
          <p:cNvPicPr>
            <a:picLocks noChangeAspect="1"/>
          </p:cNvPicPr>
          <p:nvPr userDrawn="1"/>
        </p:nvPicPr>
        <p:blipFill>
          <a:blip r:embed="rId17"/>
          <a:stretch>
            <a:fillRect/>
          </a:stretch>
        </p:blipFill>
        <p:spPr>
          <a:xfrm rot="3532301">
            <a:off x="53066" y="512497"/>
            <a:ext cx="678101" cy="376134"/>
          </a:xfrm>
          <a:prstGeom prst="rect">
            <a:avLst/>
          </a:prstGeom>
        </p:spPr>
      </p:pic>
    </p:spTree>
    <p:extLst>
      <p:ext uri="{BB962C8B-B14F-4D97-AF65-F5344CB8AC3E}">
        <p14:creationId xmlns:p14="http://schemas.microsoft.com/office/powerpoint/2010/main" val="37945150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spd="med">
    <p:zoom/>
  </p:transition>
  <p:hf hdr="0" ftr="0" dt="0"/>
  <p:txStyles>
    <p:titleStyle>
      <a:lvl1pPr algn="l" rtl="0" eaLnBrk="0" fontAlgn="base" hangingPunct="0">
        <a:spcBef>
          <a:spcPct val="0"/>
        </a:spcBef>
        <a:spcAft>
          <a:spcPct val="0"/>
        </a:spcAft>
        <a:defRPr sz="3300">
          <a:solidFill>
            <a:schemeClr val="tx2"/>
          </a:solidFill>
          <a:latin typeface="+mj-lt"/>
          <a:ea typeface="+mj-ea"/>
          <a:cs typeface="+mj-cs"/>
        </a:defRPr>
      </a:lvl1pPr>
      <a:lvl2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5pPr>
      <a:lvl6pPr marL="342884"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6pPr>
      <a:lvl7pPr marL="685766"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7pPr>
      <a:lvl8pPr marL="1028649"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8pPr>
      <a:lvl9pPr marL="1371532"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9pPr>
    </p:titleStyle>
    <p:bodyStyle>
      <a:lvl1pPr marL="257162" indent="-257162" algn="l" rtl="0" eaLnBrk="1" fontAlgn="base" hangingPunct="1">
        <a:lnSpc>
          <a:spcPct val="114000"/>
        </a:lnSpc>
        <a:spcBef>
          <a:spcPct val="20000"/>
        </a:spcBef>
        <a:spcAft>
          <a:spcPct val="0"/>
        </a:spcAft>
        <a:buClr>
          <a:schemeClr val="tx1"/>
        </a:buClr>
        <a:buSzPct val="60000"/>
        <a:buFont typeface="Wingdings" pitchFamily="2" charset="2"/>
        <a:buChar char="n"/>
        <a:defRPr sz="2250">
          <a:solidFill>
            <a:schemeClr val="tx1"/>
          </a:solidFill>
          <a:latin typeface="+mn-lt"/>
          <a:ea typeface="+mn-ea"/>
          <a:cs typeface="+mn-cs"/>
        </a:defRPr>
      </a:lvl1pPr>
      <a:lvl2pPr marL="557185" indent="-214303" algn="l" rtl="0" eaLnBrk="1" fontAlgn="base" hangingPunct="1">
        <a:lnSpc>
          <a:spcPct val="114000"/>
        </a:lnSpc>
        <a:spcBef>
          <a:spcPct val="20000"/>
        </a:spcBef>
        <a:spcAft>
          <a:spcPct val="0"/>
        </a:spcAft>
        <a:buClr>
          <a:srgbClr val="C00000"/>
        </a:buClr>
        <a:buSzPct val="55000"/>
        <a:buFont typeface="Wingdings" pitchFamily="2" charset="2"/>
        <a:buChar char="n"/>
        <a:defRPr sz="1950">
          <a:solidFill>
            <a:schemeClr val="tx1"/>
          </a:solidFill>
          <a:latin typeface="+mn-lt"/>
          <a:ea typeface="+mn-ea"/>
        </a:defRPr>
      </a:lvl2pPr>
      <a:lvl3pPr marL="857207" indent="-171442" algn="l" rtl="0" eaLnBrk="1" fontAlgn="base" hangingPunct="1">
        <a:lnSpc>
          <a:spcPct val="114000"/>
        </a:lnSpc>
        <a:spcBef>
          <a:spcPct val="20000"/>
        </a:spcBef>
        <a:spcAft>
          <a:spcPct val="0"/>
        </a:spcAft>
        <a:buClr>
          <a:schemeClr val="tx2"/>
        </a:buClr>
        <a:buSzPct val="50000"/>
        <a:buFont typeface="Wingdings" pitchFamily="2" charset="2"/>
        <a:buChar char="n"/>
        <a:defRPr sz="1650">
          <a:solidFill>
            <a:schemeClr val="tx1"/>
          </a:solidFill>
          <a:latin typeface="+mn-lt"/>
          <a:ea typeface="+mn-ea"/>
        </a:defRPr>
      </a:lvl3pPr>
      <a:lvl4pPr marL="1200090" indent="-171442" algn="l" rtl="0" eaLnBrk="1" fontAlgn="base" hangingPunct="1">
        <a:lnSpc>
          <a:spcPct val="114000"/>
        </a:lnSpc>
        <a:spcBef>
          <a:spcPct val="20000"/>
        </a:spcBef>
        <a:spcAft>
          <a:spcPct val="0"/>
        </a:spcAft>
        <a:buClr>
          <a:schemeClr val="accent6">
            <a:lumMod val="50000"/>
          </a:schemeClr>
        </a:buClr>
        <a:buSzPct val="55000"/>
        <a:buFont typeface="Wingdings" pitchFamily="2" charset="2"/>
        <a:buChar char="n"/>
        <a:defRPr sz="1350">
          <a:solidFill>
            <a:schemeClr val="tx1"/>
          </a:solidFill>
          <a:latin typeface="+mn-lt"/>
          <a:ea typeface="+mn-ea"/>
        </a:defRPr>
      </a:lvl4pPr>
      <a:lvl5pPr marL="1542974" indent="-171442" algn="l" rtl="0" eaLnBrk="1" fontAlgn="base" hangingPunct="1">
        <a:lnSpc>
          <a:spcPct val="114000"/>
        </a:lnSpc>
        <a:spcBef>
          <a:spcPct val="20000"/>
        </a:spcBef>
        <a:spcAft>
          <a:spcPct val="0"/>
        </a:spcAft>
        <a:buClr>
          <a:schemeClr val="accent5">
            <a:lumMod val="25000"/>
          </a:schemeClr>
        </a:buClr>
        <a:buSzPct val="50000"/>
        <a:buFont typeface="Wingdings" pitchFamily="2" charset="2"/>
        <a:buChar char="n"/>
        <a:defRPr sz="1350">
          <a:solidFill>
            <a:schemeClr val="tx1"/>
          </a:solidFill>
          <a:latin typeface="+mn-lt"/>
          <a:ea typeface="+mn-ea"/>
        </a:defRPr>
      </a:lvl5pPr>
      <a:lvl6pPr marL="1885856"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6pPr>
      <a:lvl7pPr marL="2228739"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7pPr>
      <a:lvl8pPr marL="2571622"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8pPr>
      <a:lvl9pPr marL="2914505"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9pPr>
    </p:bodyStyle>
    <p:otherStyle>
      <a:defPPr>
        <a:defRPr lang="zh-CN"/>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2.bin"/><Relationship Id="rId1" Type="http://schemas.openxmlformats.org/officeDocument/2006/relationships/slideLayout" Target="../slideLayouts/slideLayout14.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a:t>第</a:t>
            </a:r>
            <a:r>
              <a:rPr lang="en-US" altLang="zh-CN" dirty="0"/>
              <a:t>7</a:t>
            </a:r>
            <a:r>
              <a:rPr lang="zh-CN" altLang="en-US" dirty="0"/>
              <a:t>章 内存管理</a:t>
            </a:r>
          </a:p>
        </p:txBody>
      </p:sp>
      <p:sp>
        <p:nvSpPr>
          <p:cNvPr id="3" name="内容占位符 2">
            <a:extLst>
              <a:ext uri="{FF2B5EF4-FFF2-40B4-BE49-F238E27FC236}">
                <a16:creationId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本章内容</a:t>
            </a:r>
            <a:endParaRPr lang="en-US" altLang="zh-CN" dirty="0"/>
          </a:p>
          <a:p>
            <a:r>
              <a:rPr lang="en-US" altLang="zh-CN" dirty="0"/>
              <a:t>1.</a:t>
            </a:r>
            <a:r>
              <a:rPr lang="zh-CN" altLang="en-US" dirty="0"/>
              <a:t> 内存管理的基本概念</a:t>
            </a:r>
            <a:endParaRPr lang="zh-CN" altLang="zh-CN" dirty="0"/>
          </a:p>
          <a:p>
            <a:r>
              <a:rPr lang="en-US" altLang="zh-CN" dirty="0"/>
              <a:t>2.</a:t>
            </a:r>
            <a:r>
              <a:rPr lang="zh-CN" altLang="en-US" dirty="0"/>
              <a:t> 基本内存管理方案（分区、页式、段式、段页式管理方案）</a:t>
            </a:r>
            <a:endParaRPr lang="zh-CN" altLang="zh-CN" dirty="0"/>
          </a:p>
          <a:p>
            <a:r>
              <a:rPr lang="en-US" altLang="zh-CN" dirty="0"/>
              <a:t>3.</a:t>
            </a:r>
            <a:r>
              <a:rPr lang="zh-CN" altLang="en-US" dirty="0"/>
              <a:t> 虚拟页式内存管理</a:t>
            </a:r>
            <a:endParaRPr lang="en-US" altLang="zh-CN" dirty="0"/>
          </a:p>
          <a:p>
            <a:r>
              <a:rPr lang="en-US" altLang="zh-CN" dirty="0"/>
              <a:t>4.</a:t>
            </a:r>
            <a:r>
              <a:rPr lang="zh-CN" altLang="en-US" dirty="0"/>
              <a:t> 页面置换算法</a:t>
            </a:r>
            <a:endParaRPr lang="en-US" altLang="zh-CN" dirty="0"/>
          </a:p>
          <a:p>
            <a:r>
              <a:rPr lang="en-US" altLang="zh-CN" dirty="0"/>
              <a:t>5.</a:t>
            </a:r>
            <a:r>
              <a:rPr lang="zh-CN" altLang="en-US" dirty="0"/>
              <a:t> 虚存性能的影响因素</a:t>
            </a:r>
            <a:endParaRPr lang="en-US" altLang="zh-CN" dirty="0"/>
          </a:p>
          <a:p>
            <a:r>
              <a:rPr lang="en-US" altLang="zh-CN" dirty="0"/>
              <a:t>6.</a:t>
            </a:r>
            <a:r>
              <a:rPr lang="zh-CN" altLang="en-US" dirty="0"/>
              <a:t> 虚存相关技术</a:t>
            </a:r>
          </a:p>
        </p:txBody>
      </p:sp>
      <p:sp>
        <p:nvSpPr>
          <p:cNvPr id="4" name="灯片编号占位符 3">
            <a:extLst>
              <a:ext uri="{FF2B5EF4-FFF2-40B4-BE49-F238E27FC236}">
                <a16:creationId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a:t>
            </a:fld>
            <a:endParaRPr lang="zh-CN" altLang="en-US" dirty="0"/>
          </a:p>
        </p:txBody>
      </p:sp>
    </p:spTree>
    <p:extLst>
      <p:ext uri="{BB962C8B-B14F-4D97-AF65-F5344CB8AC3E}">
        <p14:creationId xmlns:p14="http://schemas.microsoft.com/office/powerpoint/2010/main" val="984432439"/>
      </p:ext>
    </p:extLst>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453159-5A28-4489-CE08-DD6033AEC65C}"/>
              </a:ext>
            </a:extLst>
          </p:cNvPr>
          <p:cNvSpPr>
            <a:spLocks noGrp="1"/>
          </p:cNvSpPr>
          <p:nvPr>
            <p:ph type="title"/>
          </p:nvPr>
        </p:nvSpPr>
        <p:spPr/>
        <p:txBody>
          <a:bodyPr/>
          <a:lstStyle/>
          <a:p>
            <a:r>
              <a:rPr kumimoji="1" lang="zh-CN" altLang="en-US" dirty="0"/>
              <a:t>背景知识</a:t>
            </a:r>
          </a:p>
        </p:txBody>
      </p:sp>
      <p:sp>
        <p:nvSpPr>
          <p:cNvPr id="3" name="内容占位符 2">
            <a:extLst>
              <a:ext uri="{FF2B5EF4-FFF2-40B4-BE49-F238E27FC236}">
                <a16:creationId xmlns:a16="http://schemas.microsoft.com/office/drawing/2014/main" id="{631937D6-47F2-0048-69CB-E35F38E26AE4}"/>
              </a:ext>
            </a:extLst>
          </p:cNvPr>
          <p:cNvSpPr>
            <a:spLocks noGrp="1"/>
          </p:cNvSpPr>
          <p:nvPr>
            <p:ph idx="1"/>
          </p:nvPr>
        </p:nvSpPr>
        <p:spPr/>
        <p:txBody>
          <a:bodyPr>
            <a:normAutofit fontScale="92500" lnSpcReduction="20000"/>
          </a:bodyPr>
          <a:lstStyle/>
          <a:p>
            <a:pPr>
              <a:lnSpc>
                <a:spcPct val="120000"/>
              </a:lnSpc>
            </a:pPr>
            <a:r>
              <a:rPr kumimoji="1" lang="zh-CN" altLang="en-US" dirty="0"/>
              <a:t>程序被永久地保存在磁盘上</a:t>
            </a:r>
            <a:endParaRPr kumimoji="1" lang="en-US" altLang="zh-CN" dirty="0"/>
          </a:p>
          <a:p>
            <a:pPr>
              <a:lnSpc>
                <a:spcPct val="120000"/>
              </a:lnSpc>
            </a:pPr>
            <a:r>
              <a:rPr kumimoji="1" lang="zh-CN" altLang="en-US" dirty="0"/>
              <a:t>要运行一个程序，必须将其从磁盘中取出，并放置到一个进程的内存中</a:t>
            </a:r>
            <a:endParaRPr kumimoji="1" lang="en-US" altLang="zh-CN" dirty="0"/>
          </a:p>
          <a:p>
            <a:pPr>
              <a:lnSpc>
                <a:spcPct val="120000"/>
              </a:lnSpc>
            </a:pPr>
            <a:r>
              <a:rPr kumimoji="1" lang="zh-CN" altLang="en-US" dirty="0"/>
              <a:t>主存和寄存器是</a:t>
            </a:r>
            <a:r>
              <a:rPr kumimoji="1" lang="en" altLang="zh-CN" dirty="0"/>
              <a:t>CPU</a:t>
            </a:r>
            <a:r>
              <a:rPr kumimoji="1" lang="zh-CN" altLang="en" dirty="0"/>
              <a:t>唯一</a:t>
            </a:r>
            <a:r>
              <a:rPr kumimoji="1" lang="zh-CN" altLang="en-US" dirty="0"/>
              <a:t>可以直接访问的存储设备。内存单元只看到一个流：地址</a:t>
            </a:r>
            <a:r>
              <a:rPr kumimoji="1" lang="en-US" altLang="zh-CN" dirty="0"/>
              <a:t>+</a:t>
            </a:r>
            <a:r>
              <a:rPr kumimoji="1" lang="zh-CN" altLang="en-US" dirty="0"/>
              <a:t>读请求，或地址</a:t>
            </a:r>
            <a:r>
              <a:rPr kumimoji="1" lang="en-US" altLang="zh-CN" dirty="0"/>
              <a:t>+</a:t>
            </a:r>
            <a:r>
              <a:rPr kumimoji="1" lang="zh-CN" altLang="en-US" dirty="0"/>
              <a:t>数据和写请求。</a:t>
            </a:r>
            <a:endParaRPr kumimoji="1" lang="en-US" altLang="zh-CN" dirty="0"/>
          </a:p>
          <a:p>
            <a:pPr>
              <a:lnSpc>
                <a:spcPct val="120000"/>
              </a:lnSpc>
            </a:pPr>
            <a:r>
              <a:rPr kumimoji="1" lang="zh-CN" altLang="en-US" dirty="0"/>
              <a:t>对寄存器的访问可以在一个</a:t>
            </a:r>
            <a:r>
              <a:rPr kumimoji="1" lang="en" altLang="zh-CN" dirty="0"/>
              <a:t>CPU</a:t>
            </a:r>
            <a:r>
              <a:rPr kumimoji="1" lang="zh-CN" altLang="en-US" dirty="0"/>
              <a:t>时钟（或更短）内完成，而主存访问可能需要多个时钟周期</a:t>
            </a:r>
            <a:endParaRPr kumimoji="1" lang="en-US" altLang="zh-CN" dirty="0"/>
          </a:p>
          <a:p>
            <a:pPr>
              <a:lnSpc>
                <a:spcPct val="120000"/>
              </a:lnSpc>
            </a:pPr>
            <a:r>
              <a:rPr kumimoji="1" lang="zh-CN" altLang="en-US" dirty="0"/>
              <a:t>高速缓存位于主存和</a:t>
            </a:r>
            <a:r>
              <a:rPr kumimoji="1" lang="en" altLang="zh-CN" dirty="0"/>
              <a:t>CPU</a:t>
            </a:r>
            <a:r>
              <a:rPr kumimoji="1" lang="zh-CN" altLang="en-US" dirty="0"/>
              <a:t>寄存器之间</a:t>
            </a:r>
            <a:endParaRPr kumimoji="1" lang="en-US" altLang="zh-CN" dirty="0"/>
          </a:p>
          <a:p>
            <a:pPr>
              <a:lnSpc>
                <a:spcPct val="120000"/>
              </a:lnSpc>
            </a:pPr>
            <a:r>
              <a:rPr kumimoji="1" lang="zh-CN" altLang="en-US" dirty="0"/>
              <a:t>需要保护内存以确保正确的操作</a:t>
            </a:r>
          </a:p>
        </p:txBody>
      </p:sp>
      <p:sp>
        <p:nvSpPr>
          <p:cNvPr id="4" name="灯片编号占位符 3">
            <a:extLst>
              <a:ext uri="{FF2B5EF4-FFF2-40B4-BE49-F238E27FC236}">
                <a16:creationId xmlns:a16="http://schemas.microsoft.com/office/drawing/2014/main" id="{685113A5-16C9-F23E-A530-978B202E6433}"/>
              </a:ext>
            </a:extLst>
          </p:cNvPr>
          <p:cNvSpPr>
            <a:spLocks noGrp="1"/>
          </p:cNvSpPr>
          <p:nvPr>
            <p:ph type="sldNum" sz="quarter" idx="12"/>
          </p:nvPr>
        </p:nvSpPr>
        <p:spPr/>
        <p:txBody>
          <a:bodyPr/>
          <a:lstStyle/>
          <a:p>
            <a:fld id="{4093CC90-4002-504C-BD88-C9A1D374048E}" type="slidenum">
              <a:rPr lang="zh-CN" altLang="en-US" smtClean="0"/>
              <a:pPr/>
              <a:t>2</a:t>
            </a:fld>
            <a:endParaRPr lang="zh-CN" altLang="en-US" dirty="0"/>
          </a:p>
        </p:txBody>
      </p:sp>
    </p:spTree>
    <p:extLst>
      <p:ext uri="{BB962C8B-B14F-4D97-AF65-F5344CB8AC3E}">
        <p14:creationId xmlns:p14="http://schemas.microsoft.com/office/powerpoint/2010/main" val="3340545414"/>
      </p:ext>
    </p:extLst>
  </p:cSld>
  <p:clrMapOvr>
    <a:masterClrMapping/>
  </p:clrMapOvr>
  <p:transition spd="med">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82E578-A7DA-857B-759B-24049A0BEB6D}"/>
              </a:ext>
            </a:extLst>
          </p:cNvPr>
          <p:cNvSpPr>
            <a:spLocks noGrp="1"/>
          </p:cNvSpPr>
          <p:nvPr>
            <p:ph type="title"/>
          </p:nvPr>
        </p:nvSpPr>
        <p:spPr/>
        <p:txBody>
          <a:bodyPr/>
          <a:lstStyle/>
          <a:p>
            <a:r>
              <a:rPr kumimoji="1" lang="zh-CN" altLang="en-US" dirty="0"/>
              <a:t>地址绑定（映射）</a:t>
            </a:r>
          </a:p>
        </p:txBody>
      </p:sp>
      <p:sp>
        <p:nvSpPr>
          <p:cNvPr id="3" name="内容占位符 2">
            <a:extLst>
              <a:ext uri="{FF2B5EF4-FFF2-40B4-BE49-F238E27FC236}">
                <a16:creationId xmlns:a16="http://schemas.microsoft.com/office/drawing/2014/main" id="{EFDD9161-B52D-C25F-B1A3-4250EEEA6AF4}"/>
              </a:ext>
            </a:extLst>
          </p:cNvPr>
          <p:cNvSpPr>
            <a:spLocks noGrp="1"/>
          </p:cNvSpPr>
          <p:nvPr>
            <p:ph idx="1"/>
          </p:nvPr>
        </p:nvSpPr>
        <p:spPr/>
        <p:txBody>
          <a:bodyPr>
            <a:normAutofit fontScale="77500" lnSpcReduction="20000"/>
          </a:bodyPr>
          <a:lstStyle/>
          <a:p>
            <a:r>
              <a:rPr kumimoji="1" lang="zh-CN" altLang="en-US" dirty="0"/>
              <a:t>磁盘上的程序若要执行需要首先加载到内存中，待加载的程序构成了一个输入队列</a:t>
            </a:r>
            <a:endParaRPr kumimoji="1" lang="en-US" altLang="zh-CN" dirty="0"/>
          </a:p>
          <a:p>
            <a:pPr lvl="1"/>
            <a:r>
              <a:rPr kumimoji="1" lang="zh-CN" altLang="en-US" dirty="0"/>
              <a:t>如果没有特别的支持，则必须加载到地址</a:t>
            </a:r>
            <a:r>
              <a:rPr kumimoji="1" lang="en-US" altLang="zh-CN" dirty="0"/>
              <a:t>0000</a:t>
            </a:r>
          </a:p>
          <a:p>
            <a:r>
              <a:rPr kumimoji="1" lang="zh-CN" altLang="en-US" dirty="0"/>
              <a:t>将第一个用户进程的物理地址始终设置为</a:t>
            </a:r>
            <a:r>
              <a:rPr kumimoji="1" lang="en-US" altLang="zh-CN" dirty="0"/>
              <a:t>0000</a:t>
            </a:r>
            <a:r>
              <a:rPr kumimoji="1" lang="zh-CN" altLang="en-US" dirty="0"/>
              <a:t>非常不方便</a:t>
            </a:r>
            <a:endParaRPr kumimoji="1" lang="en-US" altLang="zh-CN" dirty="0"/>
          </a:p>
          <a:p>
            <a:pPr lvl="1"/>
            <a:r>
              <a:rPr kumimoji="1" lang="zh-CN" altLang="en-US" dirty="0"/>
              <a:t>如何避免呢？</a:t>
            </a:r>
            <a:endParaRPr kumimoji="1" lang="en-US" altLang="zh-CN" dirty="0"/>
          </a:p>
          <a:p>
            <a:r>
              <a:rPr kumimoji="1" lang="zh-CN" altLang="en-US" dirty="0"/>
              <a:t>在程序的生命周期的不同阶段，地址以不同的方式表示。</a:t>
            </a:r>
            <a:endParaRPr kumimoji="1" lang="en-US" altLang="zh-CN" dirty="0"/>
          </a:p>
          <a:p>
            <a:pPr lvl="1"/>
            <a:r>
              <a:rPr kumimoji="1" lang="zh-CN" altLang="en-US" dirty="0"/>
              <a:t>源代码地址通常是符号化的</a:t>
            </a:r>
            <a:endParaRPr kumimoji="1" lang="en-US" altLang="zh-CN" dirty="0"/>
          </a:p>
          <a:p>
            <a:pPr lvl="1"/>
            <a:r>
              <a:rPr kumimoji="1" lang="zh-CN" altLang="en-US" dirty="0"/>
              <a:t>编译后的代码地址绑定到可重</a:t>
            </a:r>
            <a:r>
              <a:rPr kumimoji="1" lang="zh-CN" altLang="en-US"/>
              <a:t>定位地址</a:t>
            </a:r>
            <a:endParaRPr kumimoji="1" lang="en-US" altLang="zh-CN" dirty="0"/>
          </a:p>
          <a:p>
            <a:pPr lvl="2"/>
            <a:r>
              <a:rPr kumimoji="1" lang="zh-CN" altLang="en-US" dirty="0"/>
              <a:t>比如“从该模块开始的</a:t>
            </a:r>
            <a:r>
              <a:rPr kumimoji="1" lang="en-US" altLang="zh-CN" dirty="0"/>
              <a:t>14</a:t>
            </a:r>
            <a:r>
              <a:rPr kumimoji="1" lang="zh-CN" altLang="en-US" dirty="0"/>
              <a:t>个字节”</a:t>
            </a:r>
            <a:endParaRPr kumimoji="1" lang="en-US" altLang="zh-CN" dirty="0"/>
          </a:p>
          <a:p>
            <a:pPr lvl="1"/>
            <a:r>
              <a:rPr kumimoji="1" lang="zh-CN" altLang="en-US" dirty="0"/>
              <a:t>链接器或加载器将可重定位地址绑定到绝对地址</a:t>
            </a:r>
            <a:endParaRPr kumimoji="1" lang="en-US" altLang="zh-CN" dirty="0"/>
          </a:p>
          <a:p>
            <a:pPr lvl="2"/>
            <a:r>
              <a:rPr kumimoji="1" lang="zh-CN" altLang="en-US" dirty="0"/>
              <a:t>比如，</a:t>
            </a:r>
            <a:r>
              <a:rPr kumimoji="1" lang="en-US" altLang="zh-CN" dirty="0"/>
              <a:t>74014</a:t>
            </a:r>
          </a:p>
          <a:p>
            <a:pPr lvl="1"/>
            <a:r>
              <a:rPr kumimoji="1" lang="zh-CN" altLang="en-US" dirty="0"/>
              <a:t>每个绑定都将一个地址空间映射到另一个地址空间</a:t>
            </a:r>
          </a:p>
        </p:txBody>
      </p:sp>
      <p:sp>
        <p:nvSpPr>
          <p:cNvPr id="4" name="灯片编号占位符 3">
            <a:extLst>
              <a:ext uri="{FF2B5EF4-FFF2-40B4-BE49-F238E27FC236}">
                <a16:creationId xmlns:a16="http://schemas.microsoft.com/office/drawing/2014/main" id="{D8230815-A508-AC36-1E72-F1C06FAC84AA}"/>
              </a:ext>
            </a:extLst>
          </p:cNvPr>
          <p:cNvSpPr>
            <a:spLocks noGrp="1"/>
          </p:cNvSpPr>
          <p:nvPr>
            <p:ph type="sldNum" sz="quarter" idx="12"/>
          </p:nvPr>
        </p:nvSpPr>
        <p:spPr/>
        <p:txBody>
          <a:bodyPr/>
          <a:lstStyle/>
          <a:p>
            <a:fld id="{4093CC90-4002-504C-BD88-C9A1D374048E}" type="slidenum">
              <a:rPr lang="zh-CN" altLang="en-US" smtClean="0"/>
              <a:pPr/>
              <a:t>3</a:t>
            </a:fld>
            <a:endParaRPr lang="zh-CN" altLang="en-US" dirty="0"/>
          </a:p>
        </p:txBody>
      </p:sp>
    </p:spTree>
    <p:extLst>
      <p:ext uri="{BB962C8B-B14F-4D97-AF65-F5344CB8AC3E}">
        <p14:creationId xmlns:p14="http://schemas.microsoft.com/office/powerpoint/2010/main" val="2602745728"/>
      </p:ext>
    </p:extLst>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7A7A4E-4EB9-3C83-37BB-04125D1CBADD}"/>
              </a:ext>
            </a:extLst>
          </p:cNvPr>
          <p:cNvSpPr>
            <a:spLocks noGrp="1"/>
          </p:cNvSpPr>
          <p:nvPr>
            <p:ph type="title"/>
          </p:nvPr>
        </p:nvSpPr>
        <p:spPr/>
        <p:txBody>
          <a:bodyPr/>
          <a:lstStyle/>
          <a:p>
            <a:r>
              <a:rPr kumimoji="1" lang="zh-CN" altLang="en-US" dirty="0"/>
              <a:t>指令和数据绑定到内存</a:t>
            </a:r>
          </a:p>
        </p:txBody>
      </p:sp>
      <p:sp>
        <p:nvSpPr>
          <p:cNvPr id="3" name="内容占位符 2">
            <a:extLst>
              <a:ext uri="{FF2B5EF4-FFF2-40B4-BE49-F238E27FC236}">
                <a16:creationId xmlns:a16="http://schemas.microsoft.com/office/drawing/2014/main" id="{F7DE50DB-B20D-05D2-1EEB-940719EF443F}"/>
              </a:ext>
            </a:extLst>
          </p:cNvPr>
          <p:cNvSpPr>
            <a:spLocks noGrp="1"/>
          </p:cNvSpPr>
          <p:nvPr>
            <p:ph idx="1"/>
          </p:nvPr>
        </p:nvSpPr>
        <p:spPr/>
        <p:txBody>
          <a:bodyPr>
            <a:normAutofit/>
          </a:bodyPr>
          <a:lstStyle/>
          <a:p>
            <a:r>
              <a:rPr kumimoji="1" lang="zh-CN" altLang="en-US" dirty="0"/>
              <a:t>指令和数据的地址绑定有三个时机：</a:t>
            </a:r>
          </a:p>
          <a:p>
            <a:pPr lvl="1"/>
            <a:r>
              <a:rPr kumimoji="1" lang="zh-CN" altLang="en-US" dirty="0"/>
              <a:t>编译时：如果事先知道在内存的驻留地址，则可以生成绝对代码；如果起始位置发生改变，则必须重新编译代码</a:t>
            </a:r>
          </a:p>
          <a:p>
            <a:pPr lvl="1"/>
            <a:r>
              <a:rPr kumimoji="1" lang="zh-CN" altLang="en-US" dirty="0"/>
              <a:t>加载时：如果在编译时不知道在内存的驻留地址，则必须生成可重定位代码 </a:t>
            </a:r>
          </a:p>
          <a:p>
            <a:pPr lvl="1"/>
            <a:r>
              <a:rPr kumimoji="1" lang="zh-CN" altLang="en-US" dirty="0"/>
              <a:t>执行时：如果进程在执行过程中可以从一个内存段移动到另一个内存段，则绑定将延迟到运行时 </a:t>
            </a:r>
          </a:p>
          <a:p>
            <a:pPr lvl="2"/>
            <a:r>
              <a:rPr kumimoji="1" lang="zh-CN" altLang="en-US" dirty="0"/>
              <a:t>需要硬件支持地址映射（例如，基址和限址寄存器）</a:t>
            </a:r>
          </a:p>
        </p:txBody>
      </p:sp>
      <p:sp>
        <p:nvSpPr>
          <p:cNvPr id="4" name="灯片编号占位符 3">
            <a:extLst>
              <a:ext uri="{FF2B5EF4-FFF2-40B4-BE49-F238E27FC236}">
                <a16:creationId xmlns:a16="http://schemas.microsoft.com/office/drawing/2014/main" id="{37A72039-012C-449F-791F-0F3A925BBFEB}"/>
              </a:ext>
            </a:extLst>
          </p:cNvPr>
          <p:cNvSpPr>
            <a:spLocks noGrp="1"/>
          </p:cNvSpPr>
          <p:nvPr>
            <p:ph type="sldNum" sz="quarter" idx="12"/>
          </p:nvPr>
        </p:nvSpPr>
        <p:spPr/>
        <p:txBody>
          <a:bodyPr/>
          <a:lstStyle/>
          <a:p>
            <a:fld id="{4093CC90-4002-504C-BD88-C9A1D374048E}" type="slidenum">
              <a:rPr lang="zh-CN" altLang="en-US" smtClean="0"/>
              <a:pPr/>
              <a:t>4</a:t>
            </a:fld>
            <a:endParaRPr lang="zh-CN" altLang="en-US" dirty="0"/>
          </a:p>
        </p:txBody>
      </p:sp>
    </p:spTree>
    <p:extLst>
      <p:ext uri="{BB962C8B-B14F-4D97-AF65-F5344CB8AC3E}">
        <p14:creationId xmlns:p14="http://schemas.microsoft.com/office/powerpoint/2010/main" val="835262424"/>
      </p:ext>
    </p:extLst>
  </p:cSld>
  <p:clrMapOvr>
    <a:masterClrMapping/>
  </p:clrMapOvr>
  <p:transition spd="med">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058F24BC-929C-438B-D978-2688A298587E}"/>
              </a:ext>
            </a:extLst>
          </p:cNvPr>
          <p:cNvSpPr>
            <a:spLocks noGrp="1" noChangeArrowheads="1"/>
          </p:cNvSpPr>
          <p:nvPr>
            <p:ph type="title"/>
          </p:nvPr>
        </p:nvSpPr>
        <p:spPr/>
        <p:txBody>
          <a:bodyPr/>
          <a:lstStyle/>
          <a:p>
            <a:pPr eaLnBrk="1" hangingPunct="1"/>
            <a:r>
              <a:rPr lang="zh-CN" altLang="en-US" dirty="0">
                <a:solidFill>
                  <a:schemeClr val="tx1"/>
                </a:solidFill>
              </a:rPr>
              <a:t>加载时绑定示意图</a:t>
            </a:r>
          </a:p>
        </p:txBody>
      </p:sp>
      <p:sp>
        <p:nvSpPr>
          <p:cNvPr id="23554" name="Rectangle 3">
            <a:extLst>
              <a:ext uri="{FF2B5EF4-FFF2-40B4-BE49-F238E27FC236}">
                <a16:creationId xmlns:a16="http://schemas.microsoft.com/office/drawing/2014/main" id="{D200AB1F-CA81-1CEC-1F9D-803CA7291850}"/>
              </a:ext>
            </a:extLst>
          </p:cNvPr>
          <p:cNvSpPr>
            <a:spLocks noChangeArrowheads="1"/>
          </p:cNvSpPr>
          <p:nvPr/>
        </p:nvSpPr>
        <p:spPr bwMode="auto">
          <a:xfrm>
            <a:off x="820738" y="2100263"/>
            <a:ext cx="1739900" cy="2774950"/>
          </a:xfrm>
          <a:prstGeom prst="rect">
            <a:avLst/>
          </a:prstGeom>
          <a:solidFill>
            <a:srgbClr val="FFFFFF"/>
          </a:solidFill>
          <a:ln w="25400">
            <a:solidFill>
              <a:srgbClr val="000000"/>
            </a:solidFill>
            <a:miter lim="800000"/>
            <a:headEnd/>
            <a:tailEnd/>
          </a:ln>
        </p:spPr>
        <p:txBody>
          <a:bodyPr lIns="0" tIns="72000" rIns="0" bIns="0"/>
          <a:lstStyle/>
          <a:p>
            <a:pPr algn="just" eaLnBrk="0" hangingPunct="0"/>
            <a:r>
              <a:rPr lang="zh-CN" altLang="en-US" sz="2000">
                <a:latin typeface="宋体" panose="02010600030101010101" pitchFamily="2" charset="-122"/>
              </a:rPr>
              <a:t>    ┆</a:t>
            </a:r>
          </a:p>
          <a:p>
            <a:pPr algn="just" eaLnBrk="0" hangingPunct="0"/>
            <a:endParaRPr lang="zh-CN" altLang="en-US" sz="2000">
              <a:latin typeface="宋体" panose="02010600030101010101" pitchFamily="2" charset="-122"/>
            </a:endParaRPr>
          </a:p>
          <a:p>
            <a:pPr algn="just" eaLnBrk="0" hangingPunct="0"/>
            <a:r>
              <a:rPr lang="en-US" altLang="zh-CN" sz="2000" b="1">
                <a:latin typeface="宋体" panose="02010600030101010101" pitchFamily="2" charset="-122"/>
              </a:rPr>
              <a:t> mov ax,[500]</a:t>
            </a:r>
          </a:p>
          <a:p>
            <a:pPr algn="just" eaLnBrk="0" hangingPunct="0"/>
            <a:r>
              <a:rPr lang="en-US" altLang="zh-CN" sz="2000" b="1">
                <a:latin typeface="宋体" panose="02010600030101010101" pitchFamily="2" charset="-122"/>
              </a:rPr>
              <a:t>    </a:t>
            </a:r>
          </a:p>
          <a:p>
            <a:pPr algn="just" eaLnBrk="0" hangingPunct="0"/>
            <a:r>
              <a:rPr lang="en-US" altLang="zh-CN" sz="2000" b="1">
                <a:latin typeface="宋体" panose="02010600030101010101" pitchFamily="2" charset="-122"/>
              </a:rPr>
              <a:t>    ┆ </a:t>
            </a:r>
          </a:p>
          <a:p>
            <a:pPr algn="just" eaLnBrk="0" hangingPunct="0"/>
            <a:r>
              <a:rPr lang="en-US" altLang="zh-CN" sz="2000" b="1">
                <a:latin typeface="宋体" panose="02010600030101010101" pitchFamily="2" charset="-122"/>
              </a:rPr>
              <a:t> </a:t>
            </a:r>
          </a:p>
          <a:p>
            <a:pPr algn="just" eaLnBrk="0" hangingPunct="0"/>
            <a:r>
              <a:rPr lang="en-US" altLang="zh-CN" sz="2000" b="1">
                <a:latin typeface="宋体" panose="02010600030101010101" pitchFamily="2" charset="-122"/>
              </a:rPr>
              <a:t>   54321</a:t>
            </a:r>
          </a:p>
          <a:p>
            <a:pPr algn="just" eaLnBrk="0" hangingPunct="0"/>
            <a:r>
              <a:rPr lang="en-US" altLang="zh-CN" sz="2000">
                <a:latin typeface="宋体" panose="02010600030101010101" pitchFamily="2" charset="-122"/>
              </a:rPr>
              <a:t>    </a:t>
            </a:r>
            <a:endParaRPr lang="en-US" altLang="zh-CN" sz="2000">
              <a:latin typeface="Times New Roman" panose="02020603050405020304" pitchFamily="18" charset="0"/>
            </a:endParaRPr>
          </a:p>
        </p:txBody>
      </p:sp>
      <p:sp>
        <p:nvSpPr>
          <p:cNvPr id="264196" name="Rectangle 4">
            <a:extLst>
              <a:ext uri="{FF2B5EF4-FFF2-40B4-BE49-F238E27FC236}">
                <a16:creationId xmlns:a16="http://schemas.microsoft.com/office/drawing/2014/main" id="{7AF6F962-2179-BDEA-BE74-DAD1580E7D44}"/>
              </a:ext>
            </a:extLst>
          </p:cNvPr>
          <p:cNvSpPr>
            <a:spLocks noChangeArrowheads="1"/>
          </p:cNvSpPr>
          <p:nvPr/>
        </p:nvSpPr>
        <p:spPr bwMode="auto">
          <a:xfrm>
            <a:off x="5851525" y="1630363"/>
            <a:ext cx="2682875" cy="3600450"/>
          </a:xfrm>
          <a:prstGeom prst="rect">
            <a:avLst/>
          </a:prstGeom>
          <a:solidFill>
            <a:srgbClr val="FFFFFF"/>
          </a:solidFill>
          <a:ln w="25400">
            <a:solidFill>
              <a:srgbClr val="000000"/>
            </a:solidFill>
            <a:miter lim="800000"/>
            <a:headEnd/>
            <a:tailEnd/>
          </a:ln>
        </p:spPr>
        <p:txBody>
          <a:bodyPr lIns="0" tIns="72000" rIns="0" bIns="0"/>
          <a:lstStyle/>
          <a:p>
            <a:pPr algn="just" eaLnBrk="0" hangingPunct="0"/>
            <a:r>
              <a:rPr lang="zh-CN" altLang="en-US" sz="2000">
                <a:latin typeface="宋体" panose="02010600030101010101" pitchFamily="2" charset="-122"/>
              </a:rPr>
              <a:t>     </a:t>
            </a:r>
            <a:r>
              <a:rPr lang="zh-CN" altLang="en-US" sz="2000" b="1">
                <a:latin typeface="宋体" panose="02010600030101010101" pitchFamily="2" charset="-122"/>
              </a:rPr>
              <a:t>┆</a:t>
            </a:r>
          </a:p>
          <a:p>
            <a:pPr algn="just" eaLnBrk="0" hangingPunct="0"/>
            <a:endParaRPr lang="zh-CN" altLang="en-US" sz="1000" b="1">
              <a:latin typeface="宋体" panose="02010600030101010101" pitchFamily="2" charset="-122"/>
            </a:endParaRPr>
          </a:p>
          <a:p>
            <a:pPr algn="just" eaLnBrk="0" hangingPunct="0"/>
            <a:r>
              <a:rPr lang="zh-CN" altLang="en-US" sz="2000" b="1">
                <a:latin typeface="宋体" panose="02010600030101010101" pitchFamily="2" charset="-122"/>
              </a:rPr>
              <a:t>     ┆</a:t>
            </a:r>
          </a:p>
          <a:p>
            <a:pPr algn="just" eaLnBrk="0" hangingPunct="0"/>
            <a:endParaRPr lang="zh-CN" altLang="en-US" sz="1000" b="1">
              <a:latin typeface="宋体" panose="02010600030101010101" pitchFamily="2" charset="-122"/>
            </a:endParaRPr>
          </a:p>
          <a:p>
            <a:pPr algn="just" eaLnBrk="0" hangingPunct="0"/>
            <a:r>
              <a:rPr lang="en-US" altLang="zh-CN" sz="2000" b="1">
                <a:latin typeface="宋体" panose="02010600030101010101" pitchFamily="2" charset="-122"/>
              </a:rPr>
              <a:t> mov ax,[1000+500]</a:t>
            </a:r>
          </a:p>
          <a:p>
            <a:pPr algn="just" eaLnBrk="0" hangingPunct="0"/>
            <a:endParaRPr lang="en-US" altLang="zh-CN" sz="2000" b="1">
              <a:latin typeface="宋体" panose="02010600030101010101" pitchFamily="2" charset="-122"/>
            </a:endParaRPr>
          </a:p>
          <a:p>
            <a:pPr algn="just" eaLnBrk="0" hangingPunct="0"/>
            <a:r>
              <a:rPr lang="en-US" altLang="zh-CN" sz="2000" b="1">
                <a:latin typeface="宋体" panose="02010600030101010101" pitchFamily="2" charset="-122"/>
              </a:rPr>
              <a:t>     </a:t>
            </a:r>
          </a:p>
          <a:p>
            <a:pPr algn="just" eaLnBrk="0" hangingPunct="0"/>
            <a:r>
              <a:rPr lang="en-US" altLang="zh-CN" sz="2000" b="1">
                <a:latin typeface="宋体" panose="02010600030101010101" pitchFamily="2" charset="-122"/>
              </a:rPr>
              <a:t>     ┆</a:t>
            </a:r>
          </a:p>
          <a:p>
            <a:pPr algn="just" eaLnBrk="0" hangingPunct="0"/>
            <a:endParaRPr lang="en-US" altLang="zh-CN" sz="1000" b="1">
              <a:latin typeface="宋体" panose="02010600030101010101" pitchFamily="2" charset="-122"/>
            </a:endParaRPr>
          </a:p>
          <a:p>
            <a:pPr algn="just" eaLnBrk="0" hangingPunct="0"/>
            <a:r>
              <a:rPr lang="en-US" altLang="zh-CN" sz="2000" b="1">
                <a:latin typeface="宋体" panose="02010600030101010101" pitchFamily="2" charset="-122"/>
              </a:rPr>
              <a:t>    54321</a:t>
            </a:r>
          </a:p>
          <a:p>
            <a:pPr algn="just" eaLnBrk="0" hangingPunct="0"/>
            <a:endParaRPr lang="en-US" altLang="zh-CN" sz="1000" b="1">
              <a:latin typeface="宋体" panose="02010600030101010101" pitchFamily="2" charset="-122"/>
            </a:endParaRPr>
          </a:p>
          <a:p>
            <a:pPr algn="just" eaLnBrk="0" hangingPunct="0"/>
            <a:r>
              <a:rPr lang="en-US" altLang="zh-CN" sz="2000" b="1">
                <a:latin typeface="宋体" panose="02010600030101010101" pitchFamily="2" charset="-122"/>
              </a:rPr>
              <a:t>     ┆</a:t>
            </a:r>
          </a:p>
          <a:p>
            <a:pPr algn="just" eaLnBrk="0" hangingPunct="0"/>
            <a:endParaRPr lang="en-US" altLang="zh-CN" sz="1000" b="1">
              <a:latin typeface="宋体" panose="02010600030101010101" pitchFamily="2" charset="-122"/>
            </a:endParaRPr>
          </a:p>
          <a:p>
            <a:pPr algn="just" eaLnBrk="0" hangingPunct="0"/>
            <a:r>
              <a:rPr lang="en-US" altLang="zh-CN" sz="2000" b="1">
                <a:latin typeface="宋体" panose="02010600030101010101" pitchFamily="2" charset="-122"/>
              </a:rPr>
              <a:t>     ┆</a:t>
            </a:r>
            <a:endParaRPr lang="en-US" altLang="zh-CN" sz="2000" b="1">
              <a:latin typeface="Times New Roman" panose="02020603050405020304" pitchFamily="18" charset="0"/>
            </a:endParaRPr>
          </a:p>
        </p:txBody>
      </p:sp>
      <p:sp>
        <p:nvSpPr>
          <p:cNvPr id="23556" name="Line 5">
            <a:extLst>
              <a:ext uri="{FF2B5EF4-FFF2-40B4-BE49-F238E27FC236}">
                <a16:creationId xmlns:a16="http://schemas.microsoft.com/office/drawing/2014/main" id="{EFEC7074-FC09-DEF5-E183-25CC102A0E3B}"/>
              </a:ext>
            </a:extLst>
          </p:cNvPr>
          <p:cNvSpPr>
            <a:spLocks noChangeShapeType="1"/>
          </p:cNvSpPr>
          <p:nvPr/>
        </p:nvSpPr>
        <p:spPr bwMode="auto">
          <a:xfrm>
            <a:off x="817563" y="2576513"/>
            <a:ext cx="1739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57" name="Line 6">
            <a:extLst>
              <a:ext uri="{FF2B5EF4-FFF2-40B4-BE49-F238E27FC236}">
                <a16:creationId xmlns:a16="http://schemas.microsoft.com/office/drawing/2014/main" id="{31C084D0-7680-6597-D832-A9B9600EE3A8}"/>
              </a:ext>
            </a:extLst>
          </p:cNvPr>
          <p:cNvSpPr>
            <a:spLocks noChangeShapeType="1"/>
          </p:cNvSpPr>
          <p:nvPr/>
        </p:nvSpPr>
        <p:spPr bwMode="auto">
          <a:xfrm>
            <a:off x="817563" y="3205163"/>
            <a:ext cx="1739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58" name="Line 7">
            <a:extLst>
              <a:ext uri="{FF2B5EF4-FFF2-40B4-BE49-F238E27FC236}">
                <a16:creationId xmlns:a16="http://schemas.microsoft.com/office/drawing/2014/main" id="{30524460-6B77-0326-457A-F6B9530F613D}"/>
              </a:ext>
            </a:extLst>
          </p:cNvPr>
          <p:cNvSpPr>
            <a:spLocks noChangeShapeType="1"/>
          </p:cNvSpPr>
          <p:nvPr/>
        </p:nvSpPr>
        <p:spPr bwMode="auto">
          <a:xfrm>
            <a:off x="817563" y="3916363"/>
            <a:ext cx="1739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59" name="Line 8">
            <a:extLst>
              <a:ext uri="{FF2B5EF4-FFF2-40B4-BE49-F238E27FC236}">
                <a16:creationId xmlns:a16="http://schemas.microsoft.com/office/drawing/2014/main" id="{25BD2EB3-176E-591B-0D98-C0EBF10F90D2}"/>
              </a:ext>
            </a:extLst>
          </p:cNvPr>
          <p:cNvSpPr>
            <a:spLocks noChangeShapeType="1"/>
          </p:cNvSpPr>
          <p:nvPr/>
        </p:nvSpPr>
        <p:spPr bwMode="auto">
          <a:xfrm>
            <a:off x="817563" y="4414838"/>
            <a:ext cx="1739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0" name="Line 9">
            <a:extLst>
              <a:ext uri="{FF2B5EF4-FFF2-40B4-BE49-F238E27FC236}">
                <a16:creationId xmlns:a16="http://schemas.microsoft.com/office/drawing/2014/main" id="{E459862D-88CC-481D-1D0D-50EAFCC019CA}"/>
              </a:ext>
            </a:extLst>
          </p:cNvPr>
          <p:cNvSpPr>
            <a:spLocks noChangeShapeType="1"/>
          </p:cNvSpPr>
          <p:nvPr/>
        </p:nvSpPr>
        <p:spPr bwMode="auto">
          <a:xfrm>
            <a:off x="5851525" y="2084388"/>
            <a:ext cx="26812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1" name="Line 10">
            <a:extLst>
              <a:ext uri="{FF2B5EF4-FFF2-40B4-BE49-F238E27FC236}">
                <a16:creationId xmlns:a16="http://schemas.microsoft.com/office/drawing/2014/main" id="{3623DE8A-A30D-6CD5-D031-8E0A7767FE56}"/>
              </a:ext>
            </a:extLst>
          </p:cNvPr>
          <p:cNvSpPr>
            <a:spLocks noChangeShapeType="1"/>
          </p:cNvSpPr>
          <p:nvPr/>
        </p:nvSpPr>
        <p:spPr bwMode="auto">
          <a:xfrm>
            <a:off x="5851525" y="2563813"/>
            <a:ext cx="26812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2" name="Line 11">
            <a:extLst>
              <a:ext uri="{FF2B5EF4-FFF2-40B4-BE49-F238E27FC236}">
                <a16:creationId xmlns:a16="http://schemas.microsoft.com/office/drawing/2014/main" id="{886C6003-47EC-38D5-73BF-9B16E44C8336}"/>
              </a:ext>
            </a:extLst>
          </p:cNvPr>
          <p:cNvSpPr>
            <a:spLocks noChangeShapeType="1"/>
          </p:cNvSpPr>
          <p:nvPr/>
        </p:nvSpPr>
        <p:spPr bwMode="auto">
          <a:xfrm>
            <a:off x="5851525" y="3097213"/>
            <a:ext cx="26812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3" name="Line 12">
            <a:extLst>
              <a:ext uri="{FF2B5EF4-FFF2-40B4-BE49-F238E27FC236}">
                <a16:creationId xmlns:a16="http://schemas.microsoft.com/office/drawing/2014/main" id="{309780EA-A29F-DC5F-CE25-6ED44C8F0B82}"/>
              </a:ext>
            </a:extLst>
          </p:cNvPr>
          <p:cNvSpPr>
            <a:spLocks noChangeShapeType="1"/>
          </p:cNvSpPr>
          <p:nvPr/>
        </p:nvSpPr>
        <p:spPr bwMode="auto">
          <a:xfrm>
            <a:off x="5851525" y="4773613"/>
            <a:ext cx="26812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4" name="Line 13">
            <a:extLst>
              <a:ext uri="{FF2B5EF4-FFF2-40B4-BE49-F238E27FC236}">
                <a16:creationId xmlns:a16="http://schemas.microsoft.com/office/drawing/2014/main" id="{36B378DD-BAFB-D9DE-6913-65D19C9DF3DD}"/>
              </a:ext>
            </a:extLst>
          </p:cNvPr>
          <p:cNvSpPr>
            <a:spLocks noChangeShapeType="1"/>
          </p:cNvSpPr>
          <p:nvPr/>
        </p:nvSpPr>
        <p:spPr bwMode="auto">
          <a:xfrm>
            <a:off x="5851525" y="3935413"/>
            <a:ext cx="26812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5" name="Line 14">
            <a:extLst>
              <a:ext uri="{FF2B5EF4-FFF2-40B4-BE49-F238E27FC236}">
                <a16:creationId xmlns:a16="http://schemas.microsoft.com/office/drawing/2014/main" id="{2F7CB5F6-EDBF-D887-9074-F10E8715C2FB}"/>
              </a:ext>
            </a:extLst>
          </p:cNvPr>
          <p:cNvSpPr>
            <a:spLocks noChangeShapeType="1"/>
          </p:cNvSpPr>
          <p:nvPr/>
        </p:nvSpPr>
        <p:spPr bwMode="auto">
          <a:xfrm>
            <a:off x="5851525" y="4392613"/>
            <a:ext cx="26812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6" name="Text Box 15">
            <a:extLst>
              <a:ext uri="{FF2B5EF4-FFF2-40B4-BE49-F238E27FC236}">
                <a16:creationId xmlns:a16="http://schemas.microsoft.com/office/drawing/2014/main" id="{631675BD-C9C9-1A46-B7E2-ACB7B26E02E9}"/>
              </a:ext>
            </a:extLst>
          </p:cNvPr>
          <p:cNvSpPr txBox="1">
            <a:spLocks noChangeArrowheads="1"/>
          </p:cNvSpPr>
          <p:nvPr/>
        </p:nvSpPr>
        <p:spPr bwMode="auto">
          <a:xfrm>
            <a:off x="228600" y="1979613"/>
            <a:ext cx="557213"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72000" rIns="0" bIns="0"/>
          <a:lstStyle/>
          <a:p>
            <a:pPr algn="just" eaLnBrk="0" hangingPunct="0"/>
            <a:r>
              <a:rPr lang="zh-CN" altLang="en-US" sz="2000">
                <a:latin typeface="Times New Roman" panose="02020603050405020304" pitchFamily="18" charset="0"/>
              </a:rPr>
              <a:t>  </a:t>
            </a:r>
            <a:r>
              <a:rPr lang="zh-CN" altLang="en-US" sz="2000" b="1">
                <a:latin typeface="Times New Roman" panose="02020603050405020304" pitchFamily="18" charset="0"/>
              </a:rPr>
              <a:t>0</a:t>
            </a:r>
          </a:p>
          <a:p>
            <a:pPr algn="just" eaLnBrk="0" hangingPunct="0"/>
            <a:endParaRPr lang="zh-CN" altLang="en-US" sz="1000" b="1">
              <a:latin typeface="Times New Roman" panose="02020603050405020304" pitchFamily="18" charset="0"/>
            </a:endParaRPr>
          </a:p>
          <a:p>
            <a:pPr algn="just" eaLnBrk="0" hangingPunct="0"/>
            <a:r>
              <a:rPr lang="zh-CN" altLang="en-US" sz="2000" b="1">
                <a:latin typeface="Times New Roman" panose="02020603050405020304" pitchFamily="18" charset="0"/>
              </a:rPr>
              <a:t>100</a:t>
            </a:r>
          </a:p>
          <a:p>
            <a:pPr algn="just" eaLnBrk="0" hangingPunct="0"/>
            <a:endParaRPr lang="zh-CN" altLang="en-US" sz="2000" b="1">
              <a:latin typeface="Times New Roman" panose="02020603050405020304" pitchFamily="18" charset="0"/>
            </a:endParaRPr>
          </a:p>
          <a:p>
            <a:pPr algn="just" eaLnBrk="0" hangingPunct="0"/>
            <a:endParaRPr lang="zh-CN" altLang="en-US" sz="2000" b="1">
              <a:latin typeface="Times New Roman" panose="02020603050405020304" pitchFamily="18" charset="0"/>
            </a:endParaRPr>
          </a:p>
          <a:p>
            <a:pPr algn="just" eaLnBrk="0" hangingPunct="0"/>
            <a:endParaRPr lang="zh-CN" altLang="en-US" sz="2000" b="1">
              <a:latin typeface="Times New Roman" panose="02020603050405020304" pitchFamily="18" charset="0"/>
            </a:endParaRPr>
          </a:p>
          <a:p>
            <a:pPr algn="just" eaLnBrk="0" hangingPunct="0"/>
            <a:r>
              <a:rPr lang="zh-CN" altLang="en-US" sz="2000" b="1">
                <a:latin typeface="Times New Roman" panose="02020603050405020304" pitchFamily="18" charset="0"/>
              </a:rPr>
              <a:t>500</a:t>
            </a:r>
          </a:p>
          <a:p>
            <a:pPr algn="just" eaLnBrk="0" hangingPunct="0"/>
            <a:endParaRPr lang="zh-CN" altLang="en-US" sz="2000" b="1">
              <a:latin typeface="Times New Roman" panose="02020603050405020304" pitchFamily="18" charset="0"/>
            </a:endParaRPr>
          </a:p>
          <a:p>
            <a:pPr algn="just" eaLnBrk="0" hangingPunct="0"/>
            <a:endParaRPr lang="zh-CN" altLang="en-US" sz="2000" b="1">
              <a:latin typeface="Times New Roman" panose="02020603050405020304" pitchFamily="18" charset="0"/>
            </a:endParaRPr>
          </a:p>
          <a:p>
            <a:pPr algn="just" eaLnBrk="0" hangingPunct="0"/>
            <a:r>
              <a:rPr lang="zh-CN" altLang="en-US" sz="2000" b="1">
                <a:latin typeface="Times New Roman" panose="02020603050405020304" pitchFamily="18" charset="0"/>
              </a:rPr>
              <a:t>999</a:t>
            </a:r>
          </a:p>
        </p:txBody>
      </p:sp>
      <p:sp>
        <p:nvSpPr>
          <p:cNvPr id="23567" name="Text Box 16">
            <a:extLst>
              <a:ext uri="{FF2B5EF4-FFF2-40B4-BE49-F238E27FC236}">
                <a16:creationId xmlns:a16="http://schemas.microsoft.com/office/drawing/2014/main" id="{235F1910-ADFC-BAFE-CDAE-6FC74497598A}"/>
              </a:ext>
            </a:extLst>
          </p:cNvPr>
          <p:cNvSpPr txBox="1">
            <a:spLocks noChangeArrowheads="1"/>
          </p:cNvSpPr>
          <p:nvPr/>
        </p:nvSpPr>
        <p:spPr bwMode="auto">
          <a:xfrm>
            <a:off x="5029200" y="1535113"/>
            <a:ext cx="838200" cy="415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   </a:t>
            </a:r>
            <a:r>
              <a:rPr lang="zh-CN" altLang="en-US" sz="2000" b="1">
                <a:latin typeface="Times New Roman" panose="02020603050405020304" pitchFamily="18" charset="0"/>
              </a:rPr>
              <a:t> 0</a:t>
            </a:r>
          </a:p>
          <a:p>
            <a:pPr algn="just" eaLnBrk="0" hangingPunct="0"/>
            <a:endParaRPr lang="zh-CN" altLang="en-US" sz="1000" b="1">
              <a:latin typeface="Times New Roman" panose="02020603050405020304" pitchFamily="18" charset="0"/>
            </a:endParaRPr>
          </a:p>
          <a:p>
            <a:pPr algn="just" eaLnBrk="0" hangingPunct="0"/>
            <a:r>
              <a:rPr lang="zh-CN" altLang="en-US" sz="2000" b="1">
                <a:latin typeface="Times New Roman" panose="02020603050405020304" pitchFamily="18" charset="0"/>
              </a:rPr>
              <a:t> 1000</a:t>
            </a:r>
          </a:p>
          <a:p>
            <a:pPr algn="just" eaLnBrk="0" hangingPunct="0"/>
            <a:endParaRPr lang="zh-CN" altLang="en-US" sz="1000" b="1">
              <a:latin typeface="Times New Roman" panose="02020603050405020304" pitchFamily="18" charset="0"/>
            </a:endParaRPr>
          </a:p>
          <a:p>
            <a:pPr algn="just" eaLnBrk="0" hangingPunct="0"/>
            <a:r>
              <a:rPr lang="zh-CN" altLang="en-US" sz="2000" b="1">
                <a:latin typeface="Times New Roman" panose="02020603050405020304" pitchFamily="18" charset="0"/>
              </a:rPr>
              <a:t> 1100</a:t>
            </a:r>
          </a:p>
          <a:p>
            <a:pPr algn="just" eaLnBrk="0" hangingPunct="0"/>
            <a:endParaRPr lang="zh-CN" altLang="en-US" sz="2000" b="1">
              <a:latin typeface="Times New Roman" panose="02020603050405020304" pitchFamily="18" charset="0"/>
            </a:endParaRPr>
          </a:p>
          <a:p>
            <a:pPr algn="just" eaLnBrk="0" hangingPunct="0"/>
            <a:endParaRPr lang="zh-CN" altLang="en-US" sz="2000" b="1">
              <a:latin typeface="Times New Roman" panose="02020603050405020304" pitchFamily="18" charset="0"/>
            </a:endParaRPr>
          </a:p>
          <a:p>
            <a:pPr algn="just" eaLnBrk="0" hangingPunct="0"/>
            <a:endParaRPr lang="zh-CN" altLang="en-US" sz="2000" b="1">
              <a:latin typeface="Times New Roman" panose="02020603050405020304" pitchFamily="18" charset="0"/>
            </a:endParaRPr>
          </a:p>
          <a:p>
            <a:pPr algn="just" eaLnBrk="0" hangingPunct="0"/>
            <a:endParaRPr lang="zh-CN" altLang="en-US" sz="1000" b="1">
              <a:latin typeface="Times New Roman" panose="02020603050405020304" pitchFamily="18" charset="0"/>
            </a:endParaRPr>
          </a:p>
          <a:p>
            <a:pPr algn="just" eaLnBrk="0" hangingPunct="0"/>
            <a:r>
              <a:rPr lang="zh-CN" altLang="en-US" sz="2000" b="1">
                <a:latin typeface="Times New Roman" panose="02020603050405020304" pitchFamily="18" charset="0"/>
              </a:rPr>
              <a:t> 1500</a:t>
            </a:r>
          </a:p>
          <a:p>
            <a:pPr algn="just" eaLnBrk="0" hangingPunct="0"/>
            <a:endParaRPr lang="zh-CN" altLang="en-US" sz="1000" b="1">
              <a:latin typeface="Times New Roman" panose="02020603050405020304" pitchFamily="18" charset="0"/>
            </a:endParaRPr>
          </a:p>
          <a:p>
            <a:pPr algn="just" eaLnBrk="0" hangingPunct="0"/>
            <a:endParaRPr lang="zh-CN" altLang="en-US" sz="1000" b="1">
              <a:latin typeface="Times New Roman" panose="02020603050405020304" pitchFamily="18" charset="0"/>
            </a:endParaRPr>
          </a:p>
          <a:p>
            <a:pPr algn="just" eaLnBrk="0" hangingPunct="0"/>
            <a:endParaRPr lang="zh-CN" altLang="en-US" sz="1000" b="1">
              <a:latin typeface="Times New Roman" panose="02020603050405020304" pitchFamily="18" charset="0"/>
            </a:endParaRPr>
          </a:p>
          <a:p>
            <a:pPr algn="just" eaLnBrk="0" hangingPunct="0"/>
            <a:r>
              <a:rPr lang="zh-CN" altLang="en-US" sz="2000" b="1">
                <a:latin typeface="Times New Roman" panose="02020603050405020304" pitchFamily="18" charset="0"/>
              </a:rPr>
              <a:t> 1999</a:t>
            </a:r>
          </a:p>
          <a:p>
            <a:pPr algn="just" eaLnBrk="0" hangingPunct="0"/>
            <a:endParaRPr lang="zh-CN" altLang="en-US" sz="1000" b="1">
              <a:latin typeface="Times New Roman" panose="02020603050405020304" pitchFamily="18" charset="0"/>
            </a:endParaRPr>
          </a:p>
          <a:p>
            <a:pPr algn="just" eaLnBrk="0" hangingPunct="0"/>
            <a:endParaRPr lang="zh-CN" altLang="en-US" sz="1000" b="1">
              <a:latin typeface="Times New Roman" panose="02020603050405020304" pitchFamily="18" charset="0"/>
            </a:endParaRPr>
          </a:p>
          <a:p>
            <a:pPr algn="just" eaLnBrk="0" hangingPunct="0"/>
            <a:r>
              <a:rPr lang="zh-CN" altLang="en-US" sz="2000" b="1">
                <a:latin typeface="Times New Roman" panose="02020603050405020304" pitchFamily="18" charset="0"/>
              </a:rPr>
              <a:t>1</a:t>
            </a:r>
            <a:r>
              <a:rPr lang="en-US" altLang="zh-CN" sz="2000" b="1">
                <a:latin typeface="Times New Roman" panose="02020603050405020304" pitchFamily="18" charset="0"/>
              </a:rPr>
              <a:t>M-1</a:t>
            </a:r>
          </a:p>
        </p:txBody>
      </p:sp>
      <p:sp>
        <p:nvSpPr>
          <p:cNvPr id="23568" name="Text Box 17">
            <a:extLst>
              <a:ext uri="{FF2B5EF4-FFF2-40B4-BE49-F238E27FC236}">
                <a16:creationId xmlns:a16="http://schemas.microsoft.com/office/drawing/2014/main" id="{3D493F95-C408-6FDA-F528-09B148C53896}"/>
              </a:ext>
            </a:extLst>
          </p:cNvPr>
          <p:cNvSpPr txBox="1">
            <a:spLocks noChangeArrowheads="1"/>
          </p:cNvSpPr>
          <p:nvPr/>
        </p:nvSpPr>
        <p:spPr bwMode="auto">
          <a:xfrm>
            <a:off x="552450" y="5021263"/>
            <a:ext cx="225742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72000" rIns="0" bIns="0"/>
          <a:lstStyle/>
          <a:p>
            <a:pPr algn="just" eaLnBrk="0" hangingPunct="0"/>
            <a:r>
              <a:rPr lang="zh-CN" altLang="en-US">
                <a:latin typeface="Times New Roman" panose="02020603050405020304" pitchFamily="18" charset="0"/>
              </a:rPr>
              <a:t>作业的地址空间</a:t>
            </a:r>
          </a:p>
        </p:txBody>
      </p:sp>
      <p:sp>
        <p:nvSpPr>
          <p:cNvPr id="23569" name="Text Box 18">
            <a:extLst>
              <a:ext uri="{FF2B5EF4-FFF2-40B4-BE49-F238E27FC236}">
                <a16:creationId xmlns:a16="http://schemas.microsoft.com/office/drawing/2014/main" id="{7ABFF374-9837-C91E-E55D-E9E3B1AEABF6}"/>
              </a:ext>
            </a:extLst>
          </p:cNvPr>
          <p:cNvSpPr txBox="1">
            <a:spLocks noChangeArrowheads="1"/>
          </p:cNvSpPr>
          <p:nvPr/>
        </p:nvSpPr>
        <p:spPr bwMode="auto">
          <a:xfrm>
            <a:off x="6451600" y="5402263"/>
            <a:ext cx="13208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72000" rIns="0" bIns="0"/>
          <a:lstStyle/>
          <a:p>
            <a:pPr algn="just" eaLnBrk="0" hangingPunct="0"/>
            <a:r>
              <a:rPr lang="zh-CN" altLang="en-US">
                <a:latin typeface="Times New Roman" panose="02020603050405020304" pitchFamily="18" charset="0"/>
              </a:rPr>
              <a:t>主存空间</a:t>
            </a:r>
          </a:p>
        </p:txBody>
      </p:sp>
      <p:grpSp>
        <p:nvGrpSpPr>
          <p:cNvPr id="23570" name="Group 19">
            <a:extLst>
              <a:ext uri="{FF2B5EF4-FFF2-40B4-BE49-F238E27FC236}">
                <a16:creationId xmlns:a16="http://schemas.microsoft.com/office/drawing/2014/main" id="{C1C7DC43-B901-97F5-4E64-BFC5862050A7}"/>
              </a:ext>
            </a:extLst>
          </p:cNvPr>
          <p:cNvGrpSpPr>
            <a:grpSpLocks/>
          </p:cNvGrpSpPr>
          <p:nvPr/>
        </p:nvGrpSpPr>
        <p:grpSpPr bwMode="auto">
          <a:xfrm>
            <a:off x="2700338" y="2944813"/>
            <a:ext cx="2438400" cy="628650"/>
            <a:chOff x="1701" y="1991"/>
            <a:chExt cx="1536" cy="396"/>
          </a:xfrm>
        </p:grpSpPr>
        <p:sp>
          <p:nvSpPr>
            <p:cNvPr id="23571" name="Line 20">
              <a:extLst>
                <a:ext uri="{FF2B5EF4-FFF2-40B4-BE49-F238E27FC236}">
                  <a16:creationId xmlns:a16="http://schemas.microsoft.com/office/drawing/2014/main" id="{298597B8-463F-C5DB-ED9E-2086E136CA04}"/>
                </a:ext>
              </a:extLst>
            </p:cNvPr>
            <p:cNvSpPr>
              <a:spLocks noChangeShapeType="1"/>
            </p:cNvSpPr>
            <p:nvPr/>
          </p:nvSpPr>
          <p:spPr bwMode="auto">
            <a:xfrm>
              <a:off x="1701" y="2387"/>
              <a:ext cx="1536" cy="0"/>
            </a:xfrm>
            <a:prstGeom prst="line">
              <a:avLst/>
            </a:prstGeom>
            <a:noFill/>
            <a:ln w="28575">
              <a:solidFill>
                <a:schemeClr val="tx1"/>
              </a:solidFill>
              <a:miter lim="800000"/>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3572" name="Text Box 21">
              <a:extLst>
                <a:ext uri="{FF2B5EF4-FFF2-40B4-BE49-F238E27FC236}">
                  <a16:creationId xmlns:a16="http://schemas.microsoft.com/office/drawing/2014/main" id="{D0B1C18F-AE54-08F6-6034-F8BD89E0478A}"/>
                </a:ext>
              </a:extLst>
            </p:cNvPr>
            <p:cNvSpPr txBox="1">
              <a:spLocks noChangeArrowheads="1"/>
            </p:cNvSpPr>
            <p:nvPr/>
          </p:nvSpPr>
          <p:spPr bwMode="auto">
            <a:xfrm>
              <a:off x="1845" y="1991"/>
              <a:ext cx="1392"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72000" rIns="0" bIns="0"/>
            <a:lstStyle/>
            <a:p>
              <a:pPr algn="just" eaLnBrk="0" hangingPunct="0"/>
              <a:r>
                <a:rPr lang="zh-CN" altLang="en-US">
                  <a:latin typeface="Times New Roman" panose="02020603050405020304" pitchFamily="18" charset="0"/>
                </a:rPr>
                <a:t>重定位装入程序</a:t>
              </a:r>
            </a:p>
          </p:txBody>
        </p:sp>
      </p:grpSp>
      <p:sp>
        <p:nvSpPr>
          <p:cNvPr id="264214" name="AutoShape 22">
            <a:extLst>
              <a:ext uri="{FF2B5EF4-FFF2-40B4-BE49-F238E27FC236}">
                <a16:creationId xmlns:a16="http://schemas.microsoft.com/office/drawing/2014/main" id="{E98B30AB-E1C6-E7C9-3A75-1A1E618C5089}"/>
              </a:ext>
            </a:extLst>
          </p:cNvPr>
          <p:cNvSpPr>
            <a:spLocks noChangeArrowheads="1"/>
          </p:cNvSpPr>
          <p:nvPr/>
        </p:nvSpPr>
        <p:spPr bwMode="auto">
          <a:xfrm>
            <a:off x="1979613" y="1125538"/>
            <a:ext cx="2881312" cy="860425"/>
          </a:xfrm>
          <a:prstGeom prst="wedgeRoundRectCallout">
            <a:avLst>
              <a:gd name="adj1" fmla="val 82505"/>
              <a:gd name="adj2" fmla="val 57181"/>
              <a:gd name="adj3" fmla="val 16667"/>
            </a:avLst>
          </a:prstGeom>
          <a:solidFill>
            <a:srgbClr val="D0F6FF"/>
          </a:solidFill>
          <a:ln w="28575">
            <a:solidFill>
              <a:srgbClr val="000000"/>
            </a:solidFill>
            <a:miter lim="800000"/>
            <a:headEnd/>
            <a:tailEnd type="none" w="sm" len="med"/>
          </a:ln>
        </p:spPr>
        <p:txBody>
          <a:bodyPr lIns="0" tIns="0" rIns="0" bIns="0"/>
          <a:lstStyle/>
          <a:p>
            <a:pPr algn="ctr"/>
            <a:r>
              <a:rPr lang="zh-CN" altLang="en-US" b="1"/>
              <a:t>将作业装入从</a:t>
            </a:r>
            <a:r>
              <a:rPr lang="en-US" altLang="zh-CN" b="1"/>
              <a:t>1000</a:t>
            </a:r>
            <a:r>
              <a:rPr lang="zh-CN" altLang="en-US" b="1"/>
              <a:t>开始的内存区域</a:t>
            </a:r>
          </a:p>
        </p:txBody>
      </p:sp>
      <p:sp>
        <p:nvSpPr>
          <p:cNvPr id="264215" name="AutoShape 23">
            <a:extLst>
              <a:ext uri="{FF2B5EF4-FFF2-40B4-BE49-F238E27FC236}">
                <a16:creationId xmlns:a16="http://schemas.microsoft.com/office/drawing/2014/main" id="{BD7B4F2F-D8B1-4666-5F2C-CD9CCE61BE90}"/>
              </a:ext>
            </a:extLst>
          </p:cNvPr>
          <p:cNvSpPr>
            <a:spLocks noChangeArrowheads="1"/>
          </p:cNvSpPr>
          <p:nvPr/>
        </p:nvSpPr>
        <p:spPr bwMode="auto">
          <a:xfrm>
            <a:off x="1403350" y="5300663"/>
            <a:ext cx="5905500" cy="1079500"/>
          </a:xfrm>
          <a:prstGeom prst="cloudCallout">
            <a:avLst>
              <a:gd name="adj1" fmla="val -44731"/>
              <a:gd name="adj2" fmla="val 63361"/>
            </a:avLst>
          </a:prstGeom>
          <a:solidFill>
            <a:srgbClr val="D0F6FF"/>
          </a:solidFill>
          <a:ln w="28575">
            <a:solidFill>
              <a:srgbClr val="000000"/>
            </a:solidFill>
            <a:round/>
            <a:headEnd/>
            <a:tailEnd type="none" w="sm" len="med"/>
          </a:ln>
        </p:spPr>
        <p:txBody>
          <a:bodyPr lIns="0" tIns="0" rIns="0" bIns="0"/>
          <a:lstStyle/>
          <a:p>
            <a:pPr algn="ctr"/>
            <a:r>
              <a:rPr lang="zh-CN" altLang="en-US" dirty="0"/>
              <a:t>注意：逻辑地址</a:t>
            </a:r>
            <a:r>
              <a:rPr lang="en-US" altLang="zh-CN" dirty="0"/>
              <a:t>500</a:t>
            </a:r>
            <a:r>
              <a:rPr lang="zh-CN" altLang="en-US" dirty="0"/>
              <a:t>在装入时转换为物理地址</a:t>
            </a:r>
            <a:r>
              <a:rPr lang="en-US" altLang="zh-CN" dirty="0"/>
              <a:t>1500</a:t>
            </a:r>
          </a:p>
        </p:txBody>
      </p:sp>
    </p:spTree>
    <p:extLst>
      <p:ext uri="{BB962C8B-B14F-4D97-AF65-F5344CB8AC3E}">
        <p14:creationId xmlns:p14="http://schemas.microsoft.com/office/powerpoint/2010/main" val="2507279501"/>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5" presetClass="entr" presetSubtype="0" fill="hold" nodeType="clickEffect">
                                  <p:stCondLst>
                                    <p:cond delay="0"/>
                                  </p:stCondLst>
                                  <p:childTnLst>
                                    <p:set>
                                      <p:cBhvr>
                                        <p:cTn id="6" dur="1" fill="hold">
                                          <p:stCondLst>
                                            <p:cond delay="0"/>
                                          </p:stCondLst>
                                        </p:cTn>
                                        <p:tgtEl>
                                          <p:spTgt spid="264214"/>
                                        </p:tgtEl>
                                        <p:attrNameLst>
                                          <p:attrName>style.visibility</p:attrName>
                                        </p:attrNameLst>
                                      </p:cBhvr>
                                      <p:to>
                                        <p:strVal val="visible"/>
                                      </p:to>
                                    </p:set>
                                    <p:anim calcmode="lin" valueType="num">
                                      <p:cBhvr>
                                        <p:cTn id="7" dur="1000" decel="50000" fill="hold">
                                          <p:stCondLst>
                                            <p:cond delay="0"/>
                                          </p:stCondLst>
                                        </p:cTn>
                                        <p:tgtEl>
                                          <p:spTgt spid="264214"/>
                                        </p:tgtEl>
                                        <p:attrNameLst>
                                          <p:attrName>style.rotation</p:attrName>
                                        </p:attrNameLst>
                                      </p:cBhvr>
                                      <p:tavLst>
                                        <p:tav tm="0">
                                          <p:val>
                                            <p:fltVal val="-90"/>
                                          </p:val>
                                        </p:tav>
                                        <p:tav tm="100000">
                                          <p:val>
                                            <p:fltVal val="0"/>
                                          </p:val>
                                        </p:tav>
                                      </p:tavLst>
                                    </p:anim>
                                    <p:anim calcmode="lin" valueType="num">
                                      <p:cBhvr>
                                        <p:cTn id="8" dur="1000" decel="50000" fill="hold">
                                          <p:stCondLst>
                                            <p:cond delay="0"/>
                                          </p:stCondLst>
                                        </p:cTn>
                                        <p:tgtEl>
                                          <p:spTgt spid="264214"/>
                                        </p:tgtEl>
                                        <p:attrNameLst>
                                          <p:attrName>ppt_w</p:attrName>
                                        </p:attrNameLst>
                                      </p:cBhvr>
                                      <p:tavLst>
                                        <p:tav tm="0">
                                          <p:val>
                                            <p:strVal val="#ppt_w"/>
                                          </p:val>
                                        </p:tav>
                                        <p:tav tm="100000">
                                          <p:val>
                                            <p:strVal val="#ppt_w*.05"/>
                                          </p:val>
                                        </p:tav>
                                      </p:tavLst>
                                    </p:anim>
                                    <p:anim calcmode="lin" valueType="num">
                                      <p:cBhvr>
                                        <p:cTn id="9" dur="1000" accel="50000" fill="hold">
                                          <p:stCondLst>
                                            <p:cond delay="1000"/>
                                          </p:stCondLst>
                                        </p:cTn>
                                        <p:tgtEl>
                                          <p:spTgt spid="264214"/>
                                        </p:tgtEl>
                                        <p:attrNameLst>
                                          <p:attrName>ppt_w</p:attrName>
                                        </p:attrNameLst>
                                      </p:cBhvr>
                                      <p:tavLst>
                                        <p:tav tm="0">
                                          <p:val>
                                            <p:strVal val="#ppt_w*.05"/>
                                          </p:val>
                                        </p:tav>
                                        <p:tav tm="100000">
                                          <p:val>
                                            <p:strVal val="#ppt_w"/>
                                          </p:val>
                                        </p:tav>
                                      </p:tavLst>
                                    </p:anim>
                                    <p:anim calcmode="lin" valueType="num">
                                      <p:cBhvr>
                                        <p:cTn id="10" dur="2000" fill="hold"/>
                                        <p:tgtEl>
                                          <p:spTgt spid="264214"/>
                                        </p:tgtEl>
                                        <p:attrNameLst>
                                          <p:attrName>ppt_h</p:attrName>
                                        </p:attrNameLst>
                                      </p:cBhvr>
                                      <p:tavLst>
                                        <p:tav tm="0">
                                          <p:val>
                                            <p:strVal val="#ppt_h"/>
                                          </p:val>
                                        </p:tav>
                                        <p:tav tm="100000">
                                          <p:val>
                                            <p:strVal val="#ppt_h"/>
                                          </p:val>
                                        </p:tav>
                                      </p:tavLst>
                                    </p:anim>
                                    <p:anim calcmode="lin" valueType="num">
                                      <p:cBhvr>
                                        <p:cTn id="11" dur="1000" decel="50000" fill="hold">
                                          <p:stCondLst>
                                            <p:cond delay="0"/>
                                          </p:stCondLst>
                                        </p:cTn>
                                        <p:tgtEl>
                                          <p:spTgt spid="264214"/>
                                        </p:tgtEl>
                                        <p:attrNameLst>
                                          <p:attrName>ppt_x</p:attrName>
                                        </p:attrNameLst>
                                      </p:cBhvr>
                                      <p:tavLst>
                                        <p:tav tm="0">
                                          <p:val>
                                            <p:strVal val="#ppt_x+.4"/>
                                          </p:val>
                                        </p:tav>
                                        <p:tav tm="100000">
                                          <p:val>
                                            <p:strVal val="#ppt_x"/>
                                          </p:val>
                                        </p:tav>
                                      </p:tavLst>
                                    </p:anim>
                                    <p:anim calcmode="lin" valueType="num">
                                      <p:cBhvr>
                                        <p:cTn id="12" dur="1000" decel="50000" fill="hold">
                                          <p:stCondLst>
                                            <p:cond delay="0"/>
                                          </p:stCondLst>
                                        </p:cTn>
                                        <p:tgtEl>
                                          <p:spTgt spid="264214"/>
                                        </p:tgtEl>
                                        <p:attrNameLst>
                                          <p:attrName>ppt_y</p:attrName>
                                        </p:attrNameLst>
                                      </p:cBhvr>
                                      <p:tavLst>
                                        <p:tav tm="0">
                                          <p:val>
                                            <p:strVal val="#ppt_y-.2"/>
                                          </p:val>
                                        </p:tav>
                                        <p:tav tm="100000">
                                          <p:val>
                                            <p:strVal val="#ppt_y+.1"/>
                                          </p:val>
                                        </p:tav>
                                      </p:tavLst>
                                    </p:anim>
                                    <p:anim calcmode="lin" valueType="num">
                                      <p:cBhvr>
                                        <p:cTn id="13" dur="1000" accel="50000" fill="hold">
                                          <p:stCondLst>
                                            <p:cond delay="1000"/>
                                          </p:stCondLst>
                                        </p:cTn>
                                        <p:tgtEl>
                                          <p:spTgt spid="264214"/>
                                        </p:tgtEl>
                                        <p:attrNameLst>
                                          <p:attrName>ppt_y</p:attrName>
                                        </p:attrNameLst>
                                      </p:cBhvr>
                                      <p:tavLst>
                                        <p:tav tm="0">
                                          <p:val>
                                            <p:strVal val="#ppt_y+.1"/>
                                          </p:val>
                                        </p:tav>
                                        <p:tav tm="100000">
                                          <p:val>
                                            <p:strVal val="#ppt_y"/>
                                          </p:val>
                                        </p:tav>
                                      </p:tavLst>
                                    </p:anim>
                                    <p:animEffect transition="in" filter="fade">
                                      <p:cBhvr>
                                        <p:cTn id="14" dur="2000" decel="50000">
                                          <p:stCondLst>
                                            <p:cond delay="0"/>
                                          </p:stCondLst>
                                        </p:cTn>
                                        <p:tgtEl>
                                          <p:spTgt spid="26421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 fill="hold" nodeType="clickEffect">
                                  <p:stCondLst>
                                    <p:cond delay="0"/>
                                  </p:stCondLst>
                                  <p:childTnLst>
                                    <p:set>
                                      <p:cBhvr>
                                        <p:cTn id="18" dur="1" fill="hold">
                                          <p:stCondLst>
                                            <p:cond delay="0"/>
                                          </p:stCondLst>
                                        </p:cTn>
                                        <p:tgtEl>
                                          <p:spTgt spid="264196">
                                            <p:txEl>
                                              <p:pRg st="4" end="4"/>
                                            </p:txEl>
                                          </p:spTgt>
                                        </p:tgtEl>
                                        <p:attrNameLst>
                                          <p:attrName>style.visibility</p:attrName>
                                        </p:attrNameLst>
                                      </p:cBhvr>
                                      <p:to>
                                        <p:strVal val="visible"/>
                                      </p:to>
                                    </p:set>
                                    <p:anim calcmode="lin" valueType="num">
                                      <p:cBhvr>
                                        <p:cTn id="19" dur="2000" fill="hold"/>
                                        <p:tgtEl>
                                          <p:spTgt spid="264196">
                                            <p:txEl>
                                              <p:pRg st="4" end="4"/>
                                            </p:txEl>
                                          </p:spTgt>
                                        </p:tgtEl>
                                        <p:attrNameLst>
                                          <p:attrName>ppt_x</p:attrName>
                                        </p:attrNameLst>
                                      </p:cBhvr>
                                      <p:tavLst>
                                        <p:tav tm="0">
                                          <p:val>
                                            <p:strVal val="#ppt_x"/>
                                          </p:val>
                                        </p:tav>
                                        <p:tav tm="100000">
                                          <p:val>
                                            <p:strVal val="#ppt_x"/>
                                          </p:val>
                                        </p:tav>
                                      </p:tavLst>
                                    </p:anim>
                                    <p:anim calcmode="lin" valueType="num">
                                      <p:cBhvr>
                                        <p:cTn id="20" dur="2000" fill="hold"/>
                                        <p:tgtEl>
                                          <p:spTgt spid="264196">
                                            <p:txEl>
                                              <p:pRg st="4" end="4"/>
                                            </p:txEl>
                                          </p:spTgt>
                                        </p:tgtEl>
                                        <p:attrNameLst>
                                          <p:attrName>ppt_y</p:attrName>
                                        </p:attrNameLst>
                                      </p:cBhvr>
                                      <p:tavLst>
                                        <p:tav tm="0">
                                          <p:val>
                                            <p:strVal val="#ppt_y-#ppt_h/2"/>
                                          </p:val>
                                        </p:tav>
                                        <p:tav tm="100000">
                                          <p:val>
                                            <p:strVal val="#ppt_y"/>
                                          </p:val>
                                        </p:tav>
                                      </p:tavLst>
                                    </p:anim>
                                    <p:anim calcmode="lin" valueType="num">
                                      <p:cBhvr>
                                        <p:cTn id="21" dur="2000" fill="hold"/>
                                        <p:tgtEl>
                                          <p:spTgt spid="264196">
                                            <p:txEl>
                                              <p:pRg st="4" end="4"/>
                                            </p:txEl>
                                          </p:spTgt>
                                        </p:tgtEl>
                                        <p:attrNameLst>
                                          <p:attrName>ppt_w</p:attrName>
                                        </p:attrNameLst>
                                      </p:cBhvr>
                                      <p:tavLst>
                                        <p:tav tm="0">
                                          <p:val>
                                            <p:strVal val="#ppt_w"/>
                                          </p:val>
                                        </p:tav>
                                        <p:tav tm="100000">
                                          <p:val>
                                            <p:strVal val="#ppt_w"/>
                                          </p:val>
                                        </p:tav>
                                      </p:tavLst>
                                    </p:anim>
                                    <p:anim calcmode="lin" valueType="num">
                                      <p:cBhvr>
                                        <p:cTn id="22" dur="2000" fill="hold"/>
                                        <p:tgtEl>
                                          <p:spTgt spid="264196">
                                            <p:txEl>
                                              <p:pRg st="4" end="4"/>
                                            </p:txEl>
                                          </p:spTgt>
                                        </p:tgtEl>
                                        <p:attrNameLst>
                                          <p:attrName>ppt_h</p:attrName>
                                        </p:attrNameLst>
                                      </p:cBhvr>
                                      <p:tavLst>
                                        <p:tav tm="0">
                                          <p:val>
                                            <p:fltVal val="0"/>
                                          </p:val>
                                        </p:tav>
                                        <p:tav tm="100000">
                                          <p:val>
                                            <p:strVal val="#ppt_h"/>
                                          </p:val>
                                        </p:tav>
                                      </p:tavLst>
                                    </p:anim>
                                  </p:childTnLst>
                                </p:cTn>
                              </p:par>
                            </p:childTnLst>
                          </p:cTn>
                        </p:par>
                        <p:par>
                          <p:cTn id="23" fill="hold" nodeType="afterGroup">
                            <p:stCondLst>
                              <p:cond delay="2000"/>
                            </p:stCondLst>
                            <p:childTnLst>
                              <p:par>
                                <p:cTn id="24" presetID="17" presetClass="entr" presetSubtype="1" fill="hold" nodeType="afterEffect">
                                  <p:stCondLst>
                                    <p:cond delay="0"/>
                                  </p:stCondLst>
                                  <p:childTnLst>
                                    <p:set>
                                      <p:cBhvr>
                                        <p:cTn id="25" dur="1" fill="hold">
                                          <p:stCondLst>
                                            <p:cond delay="0"/>
                                          </p:stCondLst>
                                        </p:cTn>
                                        <p:tgtEl>
                                          <p:spTgt spid="264196">
                                            <p:txEl>
                                              <p:pRg st="6" end="6"/>
                                            </p:txEl>
                                          </p:spTgt>
                                        </p:tgtEl>
                                        <p:attrNameLst>
                                          <p:attrName>style.visibility</p:attrName>
                                        </p:attrNameLst>
                                      </p:cBhvr>
                                      <p:to>
                                        <p:strVal val="visible"/>
                                      </p:to>
                                    </p:set>
                                    <p:anim calcmode="lin" valueType="num">
                                      <p:cBhvr>
                                        <p:cTn id="26" dur="2000" fill="hold"/>
                                        <p:tgtEl>
                                          <p:spTgt spid="264196">
                                            <p:txEl>
                                              <p:pRg st="6" end="6"/>
                                            </p:txEl>
                                          </p:spTgt>
                                        </p:tgtEl>
                                        <p:attrNameLst>
                                          <p:attrName>ppt_x</p:attrName>
                                        </p:attrNameLst>
                                      </p:cBhvr>
                                      <p:tavLst>
                                        <p:tav tm="0">
                                          <p:val>
                                            <p:strVal val="#ppt_x"/>
                                          </p:val>
                                        </p:tav>
                                        <p:tav tm="100000">
                                          <p:val>
                                            <p:strVal val="#ppt_x"/>
                                          </p:val>
                                        </p:tav>
                                      </p:tavLst>
                                    </p:anim>
                                    <p:anim calcmode="lin" valueType="num">
                                      <p:cBhvr>
                                        <p:cTn id="27" dur="2000" fill="hold"/>
                                        <p:tgtEl>
                                          <p:spTgt spid="264196">
                                            <p:txEl>
                                              <p:pRg st="6" end="6"/>
                                            </p:txEl>
                                          </p:spTgt>
                                        </p:tgtEl>
                                        <p:attrNameLst>
                                          <p:attrName>ppt_y</p:attrName>
                                        </p:attrNameLst>
                                      </p:cBhvr>
                                      <p:tavLst>
                                        <p:tav tm="0">
                                          <p:val>
                                            <p:strVal val="#ppt_y-#ppt_h/2"/>
                                          </p:val>
                                        </p:tav>
                                        <p:tav tm="100000">
                                          <p:val>
                                            <p:strVal val="#ppt_y"/>
                                          </p:val>
                                        </p:tav>
                                      </p:tavLst>
                                    </p:anim>
                                    <p:anim calcmode="lin" valueType="num">
                                      <p:cBhvr>
                                        <p:cTn id="28" dur="2000" fill="hold"/>
                                        <p:tgtEl>
                                          <p:spTgt spid="264196">
                                            <p:txEl>
                                              <p:pRg st="6" end="6"/>
                                            </p:txEl>
                                          </p:spTgt>
                                        </p:tgtEl>
                                        <p:attrNameLst>
                                          <p:attrName>ppt_w</p:attrName>
                                        </p:attrNameLst>
                                      </p:cBhvr>
                                      <p:tavLst>
                                        <p:tav tm="0">
                                          <p:val>
                                            <p:strVal val="#ppt_w"/>
                                          </p:val>
                                        </p:tav>
                                        <p:tav tm="100000">
                                          <p:val>
                                            <p:strVal val="#ppt_w"/>
                                          </p:val>
                                        </p:tav>
                                      </p:tavLst>
                                    </p:anim>
                                    <p:anim calcmode="lin" valueType="num">
                                      <p:cBhvr>
                                        <p:cTn id="29" dur="2000" fill="hold"/>
                                        <p:tgtEl>
                                          <p:spTgt spid="264196">
                                            <p:txEl>
                                              <p:pRg st="6" end="6"/>
                                            </p:txEl>
                                          </p:spTgt>
                                        </p:tgtEl>
                                        <p:attrNameLst>
                                          <p:attrName>ppt_h</p:attrName>
                                        </p:attrNameLst>
                                      </p:cBhvr>
                                      <p:tavLst>
                                        <p:tav tm="0">
                                          <p:val>
                                            <p:fltVal val="0"/>
                                          </p:val>
                                        </p:tav>
                                        <p:tav tm="100000">
                                          <p:val>
                                            <p:strVal val="#ppt_h"/>
                                          </p:val>
                                        </p:tav>
                                      </p:tavLst>
                                    </p:anim>
                                  </p:childTnLst>
                                </p:cTn>
                              </p:par>
                            </p:childTnLst>
                          </p:cTn>
                        </p:par>
                        <p:par>
                          <p:cTn id="30" fill="hold" nodeType="afterGroup">
                            <p:stCondLst>
                              <p:cond delay="4000"/>
                            </p:stCondLst>
                            <p:childTnLst>
                              <p:par>
                                <p:cTn id="31" presetID="17" presetClass="entr" presetSubtype="1" fill="hold" nodeType="afterEffect">
                                  <p:stCondLst>
                                    <p:cond delay="0"/>
                                  </p:stCondLst>
                                  <p:childTnLst>
                                    <p:set>
                                      <p:cBhvr>
                                        <p:cTn id="32" dur="1" fill="hold">
                                          <p:stCondLst>
                                            <p:cond delay="0"/>
                                          </p:stCondLst>
                                        </p:cTn>
                                        <p:tgtEl>
                                          <p:spTgt spid="264196">
                                            <p:txEl>
                                              <p:pRg st="7" end="7"/>
                                            </p:txEl>
                                          </p:spTgt>
                                        </p:tgtEl>
                                        <p:attrNameLst>
                                          <p:attrName>style.visibility</p:attrName>
                                        </p:attrNameLst>
                                      </p:cBhvr>
                                      <p:to>
                                        <p:strVal val="visible"/>
                                      </p:to>
                                    </p:set>
                                    <p:anim calcmode="lin" valueType="num">
                                      <p:cBhvr>
                                        <p:cTn id="33" dur="2000" fill="hold"/>
                                        <p:tgtEl>
                                          <p:spTgt spid="264196">
                                            <p:txEl>
                                              <p:pRg st="7" end="7"/>
                                            </p:txEl>
                                          </p:spTgt>
                                        </p:tgtEl>
                                        <p:attrNameLst>
                                          <p:attrName>ppt_x</p:attrName>
                                        </p:attrNameLst>
                                      </p:cBhvr>
                                      <p:tavLst>
                                        <p:tav tm="0">
                                          <p:val>
                                            <p:strVal val="#ppt_x"/>
                                          </p:val>
                                        </p:tav>
                                        <p:tav tm="100000">
                                          <p:val>
                                            <p:strVal val="#ppt_x"/>
                                          </p:val>
                                        </p:tav>
                                      </p:tavLst>
                                    </p:anim>
                                    <p:anim calcmode="lin" valueType="num">
                                      <p:cBhvr>
                                        <p:cTn id="34" dur="2000" fill="hold"/>
                                        <p:tgtEl>
                                          <p:spTgt spid="264196">
                                            <p:txEl>
                                              <p:pRg st="7" end="7"/>
                                            </p:txEl>
                                          </p:spTgt>
                                        </p:tgtEl>
                                        <p:attrNameLst>
                                          <p:attrName>ppt_y</p:attrName>
                                        </p:attrNameLst>
                                      </p:cBhvr>
                                      <p:tavLst>
                                        <p:tav tm="0">
                                          <p:val>
                                            <p:strVal val="#ppt_y-#ppt_h/2"/>
                                          </p:val>
                                        </p:tav>
                                        <p:tav tm="100000">
                                          <p:val>
                                            <p:strVal val="#ppt_y"/>
                                          </p:val>
                                        </p:tav>
                                      </p:tavLst>
                                    </p:anim>
                                    <p:anim calcmode="lin" valueType="num">
                                      <p:cBhvr>
                                        <p:cTn id="35" dur="2000" fill="hold"/>
                                        <p:tgtEl>
                                          <p:spTgt spid="264196">
                                            <p:txEl>
                                              <p:pRg st="7" end="7"/>
                                            </p:txEl>
                                          </p:spTgt>
                                        </p:tgtEl>
                                        <p:attrNameLst>
                                          <p:attrName>ppt_w</p:attrName>
                                        </p:attrNameLst>
                                      </p:cBhvr>
                                      <p:tavLst>
                                        <p:tav tm="0">
                                          <p:val>
                                            <p:strVal val="#ppt_w"/>
                                          </p:val>
                                        </p:tav>
                                        <p:tav tm="100000">
                                          <p:val>
                                            <p:strVal val="#ppt_w"/>
                                          </p:val>
                                        </p:tav>
                                      </p:tavLst>
                                    </p:anim>
                                    <p:anim calcmode="lin" valueType="num">
                                      <p:cBhvr>
                                        <p:cTn id="36" dur="2000" fill="hold"/>
                                        <p:tgtEl>
                                          <p:spTgt spid="264196">
                                            <p:txEl>
                                              <p:pRg st="7" end="7"/>
                                            </p:txEl>
                                          </p:spTgt>
                                        </p:tgtEl>
                                        <p:attrNameLst>
                                          <p:attrName>ppt_h</p:attrName>
                                        </p:attrNameLst>
                                      </p:cBhvr>
                                      <p:tavLst>
                                        <p:tav tm="0">
                                          <p:val>
                                            <p:fltVal val="0"/>
                                          </p:val>
                                        </p:tav>
                                        <p:tav tm="100000">
                                          <p:val>
                                            <p:strVal val="#ppt_h"/>
                                          </p:val>
                                        </p:tav>
                                      </p:tavLst>
                                    </p:anim>
                                  </p:childTnLst>
                                </p:cTn>
                              </p:par>
                            </p:childTnLst>
                          </p:cTn>
                        </p:par>
                        <p:par>
                          <p:cTn id="37" fill="hold" nodeType="afterGroup">
                            <p:stCondLst>
                              <p:cond delay="6000"/>
                            </p:stCondLst>
                            <p:childTnLst>
                              <p:par>
                                <p:cTn id="38" presetID="17" presetClass="entr" presetSubtype="1" fill="hold" nodeType="afterEffect">
                                  <p:stCondLst>
                                    <p:cond delay="0"/>
                                  </p:stCondLst>
                                  <p:childTnLst>
                                    <p:set>
                                      <p:cBhvr>
                                        <p:cTn id="39" dur="1" fill="hold">
                                          <p:stCondLst>
                                            <p:cond delay="0"/>
                                          </p:stCondLst>
                                        </p:cTn>
                                        <p:tgtEl>
                                          <p:spTgt spid="264196">
                                            <p:txEl>
                                              <p:pRg st="9" end="9"/>
                                            </p:txEl>
                                          </p:spTgt>
                                        </p:tgtEl>
                                        <p:attrNameLst>
                                          <p:attrName>style.visibility</p:attrName>
                                        </p:attrNameLst>
                                      </p:cBhvr>
                                      <p:to>
                                        <p:strVal val="visible"/>
                                      </p:to>
                                    </p:set>
                                    <p:anim calcmode="lin" valueType="num">
                                      <p:cBhvr>
                                        <p:cTn id="40" dur="2000" fill="hold"/>
                                        <p:tgtEl>
                                          <p:spTgt spid="264196">
                                            <p:txEl>
                                              <p:pRg st="9" end="9"/>
                                            </p:txEl>
                                          </p:spTgt>
                                        </p:tgtEl>
                                        <p:attrNameLst>
                                          <p:attrName>ppt_x</p:attrName>
                                        </p:attrNameLst>
                                      </p:cBhvr>
                                      <p:tavLst>
                                        <p:tav tm="0">
                                          <p:val>
                                            <p:strVal val="#ppt_x"/>
                                          </p:val>
                                        </p:tav>
                                        <p:tav tm="100000">
                                          <p:val>
                                            <p:strVal val="#ppt_x"/>
                                          </p:val>
                                        </p:tav>
                                      </p:tavLst>
                                    </p:anim>
                                    <p:anim calcmode="lin" valueType="num">
                                      <p:cBhvr>
                                        <p:cTn id="41" dur="2000" fill="hold"/>
                                        <p:tgtEl>
                                          <p:spTgt spid="264196">
                                            <p:txEl>
                                              <p:pRg st="9" end="9"/>
                                            </p:txEl>
                                          </p:spTgt>
                                        </p:tgtEl>
                                        <p:attrNameLst>
                                          <p:attrName>ppt_y</p:attrName>
                                        </p:attrNameLst>
                                      </p:cBhvr>
                                      <p:tavLst>
                                        <p:tav tm="0">
                                          <p:val>
                                            <p:strVal val="#ppt_y-#ppt_h/2"/>
                                          </p:val>
                                        </p:tav>
                                        <p:tav tm="100000">
                                          <p:val>
                                            <p:strVal val="#ppt_y"/>
                                          </p:val>
                                        </p:tav>
                                      </p:tavLst>
                                    </p:anim>
                                    <p:anim calcmode="lin" valueType="num">
                                      <p:cBhvr>
                                        <p:cTn id="42" dur="2000" fill="hold"/>
                                        <p:tgtEl>
                                          <p:spTgt spid="264196">
                                            <p:txEl>
                                              <p:pRg st="9" end="9"/>
                                            </p:txEl>
                                          </p:spTgt>
                                        </p:tgtEl>
                                        <p:attrNameLst>
                                          <p:attrName>ppt_w</p:attrName>
                                        </p:attrNameLst>
                                      </p:cBhvr>
                                      <p:tavLst>
                                        <p:tav tm="0">
                                          <p:val>
                                            <p:strVal val="#ppt_w"/>
                                          </p:val>
                                        </p:tav>
                                        <p:tav tm="100000">
                                          <p:val>
                                            <p:strVal val="#ppt_w"/>
                                          </p:val>
                                        </p:tav>
                                      </p:tavLst>
                                    </p:anim>
                                    <p:anim calcmode="lin" valueType="num">
                                      <p:cBhvr>
                                        <p:cTn id="43" dur="2000" fill="hold"/>
                                        <p:tgtEl>
                                          <p:spTgt spid="264196">
                                            <p:txEl>
                                              <p:pRg st="9" end="9"/>
                                            </p:txEl>
                                          </p:spTgt>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5" presetClass="entr" presetSubtype="0" fill="hold" nodeType="clickEffect">
                                  <p:stCondLst>
                                    <p:cond delay="0"/>
                                  </p:stCondLst>
                                  <p:childTnLst>
                                    <p:set>
                                      <p:cBhvr>
                                        <p:cTn id="47" dur="1" fill="hold">
                                          <p:stCondLst>
                                            <p:cond delay="0"/>
                                          </p:stCondLst>
                                        </p:cTn>
                                        <p:tgtEl>
                                          <p:spTgt spid="264215"/>
                                        </p:tgtEl>
                                        <p:attrNameLst>
                                          <p:attrName>style.visibility</p:attrName>
                                        </p:attrNameLst>
                                      </p:cBhvr>
                                      <p:to>
                                        <p:strVal val="visible"/>
                                      </p:to>
                                    </p:set>
                                    <p:anim calcmode="lin" valueType="num">
                                      <p:cBhvr>
                                        <p:cTn id="48" dur="1000" decel="50000" fill="hold">
                                          <p:stCondLst>
                                            <p:cond delay="0"/>
                                          </p:stCondLst>
                                        </p:cTn>
                                        <p:tgtEl>
                                          <p:spTgt spid="264215"/>
                                        </p:tgtEl>
                                        <p:attrNameLst>
                                          <p:attrName>style.rotation</p:attrName>
                                        </p:attrNameLst>
                                      </p:cBhvr>
                                      <p:tavLst>
                                        <p:tav tm="0">
                                          <p:val>
                                            <p:fltVal val="-90"/>
                                          </p:val>
                                        </p:tav>
                                        <p:tav tm="100000">
                                          <p:val>
                                            <p:fltVal val="0"/>
                                          </p:val>
                                        </p:tav>
                                      </p:tavLst>
                                    </p:anim>
                                    <p:anim calcmode="lin" valueType="num">
                                      <p:cBhvr>
                                        <p:cTn id="49" dur="1000" decel="50000" fill="hold">
                                          <p:stCondLst>
                                            <p:cond delay="0"/>
                                          </p:stCondLst>
                                        </p:cTn>
                                        <p:tgtEl>
                                          <p:spTgt spid="264215"/>
                                        </p:tgtEl>
                                        <p:attrNameLst>
                                          <p:attrName>ppt_w</p:attrName>
                                        </p:attrNameLst>
                                      </p:cBhvr>
                                      <p:tavLst>
                                        <p:tav tm="0">
                                          <p:val>
                                            <p:strVal val="#ppt_w"/>
                                          </p:val>
                                        </p:tav>
                                        <p:tav tm="100000">
                                          <p:val>
                                            <p:strVal val="#ppt_w*.05"/>
                                          </p:val>
                                        </p:tav>
                                      </p:tavLst>
                                    </p:anim>
                                    <p:anim calcmode="lin" valueType="num">
                                      <p:cBhvr>
                                        <p:cTn id="50" dur="1000" accel="50000" fill="hold">
                                          <p:stCondLst>
                                            <p:cond delay="1000"/>
                                          </p:stCondLst>
                                        </p:cTn>
                                        <p:tgtEl>
                                          <p:spTgt spid="264215"/>
                                        </p:tgtEl>
                                        <p:attrNameLst>
                                          <p:attrName>ppt_w</p:attrName>
                                        </p:attrNameLst>
                                      </p:cBhvr>
                                      <p:tavLst>
                                        <p:tav tm="0">
                                          <p:val>
                                            <p:strVal val="#ppt_w*.05"/>
                                          </p:val>
                                        </p:tav>
                                        <p:tav tm="100000">
                                          <p:val>
                                            <p:strVal val="#ppt_w"/>
                                          </p:val>
                                        </p:tav>
                                      </p:tavLst>
                                    </p:anim>
                                    <p:anim calcmode="lin" valueType="num">
                                      <p:cBhvr>
                                        <p:cTn id="51" dur="2000" fill="hold"/>
                                        <p:tgtEl>
                                          <p:spTgt spid="264215"/>
                                        </p:tgtEl>
                                        <p:attrNameLst>
                                          <p:attrName>ppt_h</p:attrName>
                                        </p:attrNameLst>
                                      </p:cBhvr>
                                      <p:tavLst>
                                        <p:tav tm="0">
                                          <p:val>
                                            <p:strVal val="#ppt_h"/>
                                          </p:val>
                                        </p:tav>
                                        <p:tav tm="100000">
                                          <p:val>
                                            <p:strVal val="#ppt_h"/>
                                          </p:val>
                                        </p:tav>
                                      </p:tavLst>
                                    </p:anim>
                                    <p:anim calcmode="lin" valueType="num">
                                      <p:cBhvr>
                                        <p:cTn id="52" dur="1000" decel="50000" fill="hold">
                                          <p:stCondLst>
                                            <p:cond delay="0"/>
                                          </p:stCondLst>
                                        </p:cTn>
                                        <p:tgtEl>
                                          <p:spTgt spid="264215"/>
                                        </p:tgtEl>
                                        <p:attrNameLst>
                                          <p:attrName>ppt_x</p:attrName>
                                        </p:attrNameLst>
                                      </p:cBhvr>
                                      <p:tavLst>
                                        <p:tav tm="0">
                                          <p:val>
                                            <p:strVal val="#ppt_x+.4"/>
                                          </p:val>
                                        </p:tav>
                                        <p:tav tm="100000">
                                          <p:val>
                                            <p:strVal val="#ppt_x"/>
                                          </p:val>
                                        </p:tav>
                                      </p:tavLst>
                                    </p:anim>
                                    <p:anim calcmode="lin" valueType="num">
                                      <p:cBhvr>
                                        <p:cTn id="53" dur="1000" decel="50000" fill="hold">
                                          <p:stCondLst>
                                            <p:cond delay="0"/>
                                          </p:stCondLst>
                                        </p:cTn>
                                        <p:tgtEl>
                                          <p:spTgt spid="264215"/>
                                        </p:tgtEl>
                                        <p:attrNameLst>
                                          <p:attrName>ppt_y</p:attrName>
                                        </p:attrNameLst>
                                      </p:cBhvr>
                                      <p:tavLst>
                                        <p:tav tm="0">
                                          <p:val>
                                            <p:strVal val="#ppt_y-.2"/>
                                          </p:val>
                                        </p:tav>
                                        <p:tav tm="100000">
                                          <p:val>
                                            <p:strVal val="#ppt_y+.1"/>
                                          </p:val>
                                        </p:tav>
                                      </p:tavLst>
                                    </p:anim>
                                    <p:anim calcmode="lin" valueType="num">
                                      <p:cBhvr>
                                        <p:cTn id="54" dur="1000" accel="50000" fill="hold">
                                          <p:stCondLst>
                                            <p:cond delay="1000"/>
                                          </p:stCondLst>
                                        </p:cTn>
                                        <p:tgtEl>
                                          <p:spTgt spid="264215"/>
                                        </p:tgtEl>
                                        <p:attrNameLst>
                                          <p:attrName>ppt_y</p:attrName>
                                        </p:attrNameLst>
                                      </p:cBhvr>
                                      <p:tavLst>
                                        <p:tav tm="0">
                                          <p:val>
                                            <p:strVal val="#ppt_y+.1"/>
                                          </p:val>
                                        </p:tav>
                                        <p:tav tm="100000">
                                          <p:val>
                                            <p:strVal val="#ppt_y"/>
                                          </p:val>
                                        </p:tav>
                                      </p:tavLst>
                                    </p:anim>
                                    <p:animEffect transition="in" filter="fade">
                                      <p:cBhvr>
                                        <p:cTn id="55" dur="2000" decel="50000">
                                          <p:stCondLst>
                                            <p:cond delay="0"/>
                                          </p:stCondLst>
                                        </p:cTn>
                                        <p:tgtEl>
                                          <p:spTgt spid="264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214" grpId="0" animBg="1"/>
      <p:bldP spid="2642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AutoShape 2">
            <a:extLst>
              <a:ext uri="{FF2B5EF4-FFF2-40B4-BE49-F238E27FC236}">
                <a16:creationId xmlns:a16="http://schemas.microsoft.com/office/drawing/2014/main" id="{FC296393-0AC8-BAD6-3CE6-0C8A85E4D2AA}"/>
              </a:ext>
            </a:extLst>
          </p:cNvPr>
          <p:cNvSpPr>
            <a:spLocks noChangeArrowheads="1"/>
          </p:cNvSpPr>
          <p:nvPr/>
        </p:nvSpPr>
        <p:spPr bwMode="auto">
          <a:xfrm>
            <a:off x="4932363" y="1974850"/>
            <a:ext cx="1584325" cy="936625"/>
          </a:xfrm>
          <a:prstGeom prst="rightArrow">
            <a:avLst>
              <a:gd name="adj1" fmla="val 50000"/>
              <a:gd name="adj2" fmla="val 42272"/>
            </a:avLst>
          </a:prstGeom>
          <a:solidFill>
            <a:srgbClr val="D0F6FF"/>
          </a:solidFill>
          <a:ln w="28575">
            <a:solidFill>
              <a:srgbClr val="000000"/>
            </a:solidFill>
            <a:miter lim="800000"/>
            <a:headEnd/>
            <a:tailEnd type="none" w="sm" len="med"/>
          </a:ln>
        </p:spPr>
        <p:txBody>
          <a:bodyPr wrap="none" lIns="0" tIns="0" rIns="0" bIns="0" anchor="ctr"/>
          <a:lstStyle/>
          <a:p>
            <a:pPr algn="ctr"/>
            <a:r>
              <a:rPr lang="zh-CN" altLang="en-US" b="1"/>
              <a:t>执行指令</a:t>
            </a:r>
          </a:p>
        </p:txBody>
      </p:sp>
      <p:sp>
        <p:nvSpPr>
          <p:cNvPr id="25602" name="Rectangle 3">
            <a:extLst>
              <a:ext uri="{FF2B5EF4-FFF2-40B4-BE49-F238E27FC236}">
                <a16:creationId xmlns:a16="http://schemas.microsoft.com/office/drawing/2014/main" id="{5BA5467B-B93F-4BE9-2E4E-69CBFE95787E}"/>
              </a:ext>
            </a:extLst>
          </p:cNvPr>
          <p:cNvSpPr>
            <a:spLocks noGrp="1" noChangeArrowheads="1"/>
          </p:cNvSpPr>
          <p:nvPr>
            <p:ph type="title"/>
          </p:nvPr>
        </p:nvSpPr>
        <p:spPr/>
        <p:txBody>
          <a:bodyPr/>
          <a:lstStyle/>
          <a:p>
            <a:pPr eaLnBrk="1" hangingPunct="1"/>
            <a:r>
              <a:rPr lang="zh-CN" altLang="en-US" dirty="0">
                <a:solidFill>
                  <a:schemeClr val="tx1"/>
                </a:solidFill>
              </a:rPr>
              <a:t>执行时绑定示意图</a:t>
            </a:r>
          </a:p>
        </p:txBody>
      </p:sp>
      <p:grpSp>
        <p:nvGrpSpPr>
          <p:cNvPr id="25603" name="Group 4">
            <a:extLst>
              <a:ext uri="{FF2B5EF4-FFF2-40B4-BE49-F238E27FC236}">
                <a16:creationId xmlns:a16="http://schemas.microsoft.com/office/drawing/2014/main" id="{70D0C7E1-D325-97AC-CC05-297F7D7D49BE}"/>
              </a:ext>
            </a:extLst>
          </p:cNvPr>
          <p:cNvGrpSpPr>
            <a:grpSpLocks/>
          </p:cNvGrpSpPr>
          <p:nvPr/>
        </p:nvGrpSpPr>
        <p:grpSpPr bwMode="auto">
          <a:xfrm>
            <a:off x="6659563" y="1382713"/>
            <a:ext cx="2179637" cy="3760787"/>
            <a:chOff x="6759" y="7812"/>
            <a:chExt cx="1656" cy="3207"/>
          </a:xfrm>
        </p:grpSpPr>
        <p:sp>
          <p:nvSpPr>
            <p:cNvPr id="25604" name="Rectangle 5">
              <a:extLst>
                <a:ext uri="{FF2B5EF4-FFF2-40B4-BE49-F238E27FC236}">
                  <a16:creationId xmlns:a16="http://schemas.microsoft.com/office/drawing/2014/main" id="{6613EAF6-37DC-A9D4-E2DD-92556C6BE9C5}"/>
                </a:ext>
              </a:extLst>
            </p:cNvPr>
            <p:cNvSpPr>
              <a:spLocks noChangeArrowheads="1"/>
            </p:cNvSpPr>
            <p:nvPr/>
          </p:nvSpPr>
          <p:spPr bwMode="auto">
            <a:xfrm>
              <a:off x="6759" y="7812"/>
              <a:ext cx="1656" cy="3207"/>
            </a:xfrm>
            <a:prstGeom prst="rect">
              <a:avLst/>
            </a:prstGeom>
            <a:solidFill>
              <a:srgbClr val="FFFFFF"/>
            </a:solidFill>
            <a:ln w="34925">
              <a:solidFill>
                <a:srgbClr val="000000"/>
              </a:solidFill>
              <a:miter lim="800000"/>
              <a:headEnd/>
              <a:tailEnd/>
            </a:ln>
          </p:spPr>
          <p:txBody>
            <a:bodyPr tIns="72000"/>
            <a:lstStyle/>
            <a:p>
              <a:pPr algn="just" eaLnBrk="0" hangingPunct="0"/>
              <a:r>
                <a:rPr lang="zh-CN" altLang="en-US">
                  <a:latin typeface="宋体" panose="02010600030101010101" pitchFamily="2" charset="-122"/>
                </a:rPr>
                <a:t>     ┆</a:t>
              </a:r>
            </a:p>
            <a:p>
              <a:pPr algn="just" eaLnBrk="0" hangingPunct="0"/>
              <a:r>
                <a:rPr lang="zh-CN" altLang="en-US">
                  <a:latin typeface="宋体" panose="02010600030101010101" pitchFamily="2" charset="-122"/>
                </a:rPr>
                <a:t>     ┆</a:t>
              </a:r>
            </a:p>
            <a:p>
              <a:pPr algn="just" eaLnBrk="0" hangingPunct="0"/>
              <a:r>
                <a:rPr lang="en-US" altLang="zh-CN" b="1">
                  <a:latin typeface="宋体" panose="02010600030101010101" pitchFamily="2" charset="-122"/>
                </a:rPr>
                <a:t>mov ax,[500]</a:t>
              </a:r>
            </a:p>
            <a:p>
              <a:pPr algn="just" eaLnBrk="0" hangingPunct="0"/>
              <a:endParaRPr lang="en-US" altLang="zh-CN" b="1">
                <a:latin typeface="宋体" panose="02010600030101010101" pitchFamily="2" charset="-122"/>
              </a:endParaRPr>
            </a:p>
            <a:p>
              <a:pPr algn="just" eaLnBrk="0" hangingPunct="0"/>
              <a:r>
                <a:rPr lang="en-US" altLang="zh-CN">
                  <a:latin typeface="宋体" panose="02010600030101010101" pitchFamily="2" charset="-122"/>
                </a:rPr>
                <a:t>     ┆</a:t>
              </a:r>
            </a:p>
            <a:p>
              <a:pPr algn="just" eaLnBrk="0" hangingPunct="0"/>
              <a:endParaRPr lang="en-US" altLang="zh-CN">
                <a:latin typeface="宋体" panose="02010600030101010101" pitchFamily="2" charset="-122"/>
              </a:endParaRPr>
            </a:p>
            <a:p>
              <a:pPr algn="just" eaLnBrk="0" hangingPunct="0"/>
              <a:r>
                <a:rPr lang="en-US" altLang="zh-CN" b="1">
                  <a:latin typeface="宋体" panose="02010600030101010101" pitchFamily="2" charset="-122"/>
                </a:rPr>
                <a:t>    54321</a:t>
              </a:r>
            </a:p>
            <a:p>
              <a:pPr algn="just" eaLnBrk="0" hangingPunct="0"/>
              <a:r>
                <a:rPr lang="en-US" altLang="zh-CN">
                  <a:latin typeface="宋体" panose="02010600030101010101" pitchFamily="2" charset="-122"/>
                </a:rPr>
                <a:t>     ┆</a:t>
              </a:r>
            </a:p>
            <a:p>
              <a:pPr algn="just" eaLnBrk="0" hangingPunct="0"/>
              <a:endParaRPr lang="en-US" altLang="zh-CN" sz="2000">
                <a:latin typeface="宋体" panose="02010600030101010101" pitchFamily="2" charset="-122"/>
              </a:endParaRPr>
            </a:p>
            <a:p>
              <a:pPr algn="just" eaLnBrk="0" hangingPunct="0"/>
              <a:r>
                <a:rPr lang="en-US" altLang="zh-CN">
                  <a:latin typeface="宋体" panose="02010600030101010101" pitchFamily="2" charset="-122"/>
                </a:rPr>
                <a:t>     ┆</a:t>
              </a:r>
              <a:endParaRPr lang="en-US" altLang="zh-CN">
                <a:latin typeface="Times New Roman" panose="02020603050405020304" pitchFamily="18" charset="0"/>
              </a:endParaRPr>
            </a:p>
          </p:txBody>
        </p:sp>
        <p:sp>
          <p:nvSpPr>
            <p:cNvPr id="25605" name="Line 6">
              <a:extLst>
                <a:ext uri="{FF2B5EF4-FFF2-40B4-BE49-F238E27FC236}">
                  <a16:creationId xmlns:a16="http://schemas.microsoft.com/office/drawing/2014/main" id="{92A89CAF-5895-312A-DACC-5A740CE41949}"/>
                </a:ext>
              </a:extLst>
            </p:cNvPr>
            <p:cNvSpPr>
              <a:spLocks noChangeShapeType="1"/>
            </p:cNvSpPr>
            <p:nvPr/>
          </p:nvSpPr>
          <p:spPr bwMode="auto">
            <a:xfrm>
              <a:off x="6759" y="8205"/>
              <a:ext cx="1656" cy="0"/>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6" name="Line 7">
              <a:extLst>
                <a:ext uri="{FF2B5EF4-FFF2-40B4-BE49-F238E27FC236}">
                  <a16:creationId xmlns:a16="http://schemas.microsoft.com/office/drawing/2014/main" id="{39887E0F-E8C3-BCD3-2262-3770CA513844}"/>
                </a:ext>
              </a:extLst>
            </p:cNvPr>
            <p:cNvSpPr>
              <a:spLocks noChangeShapeType="1"/>
            </p:cNvSpPr>
            <p:nvPr/>
          </p:nvSpPr>
          <p:spPr bwMode="auto">
            <a:xfrm>
              <a:off x="6759" y="8529"/>
              <a:ext cx="1656" cy="0"/>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7" name="Line 8">
              <a:extLst>
                <a:ext uri="{FF2B5EF4-FFF2-40B4-BE49-F238E27FC236}">
                  <a16:creationId xmlns:a16="http://schemas.microsoft.com/office/drawing/2014/main" id="{1E1A6028-9E19-CE57-80BE-BA0CC39D5115}"/>
                </a:ext>
              </a:extLst>
            </p:cNvPr>
            <p:cNvSpPr>
              <a:spLocks noChangeShapeType="1"/>
            </p:cNvSpPr>
            <p:nvPr/>
          </p:nvSpPr>
          <p:spPr bwMode="auto">
            <a:xfrm>
              <a:off x="6759" y="8871"/>
              <a:ext cx="1656" cy="0"/>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8" name="Line 9">
              <a:extLst>
                <a:ext uri="{FF2B5EF4-FFF2-40B4-BE49-F238E27FC236}">
                  <a16:creationId xmlns:a16="http://schemas.microsoft.com/office/drawing/2014/main" id="{59AFEC3B-893B-6FAB-2F2A-78ED769644BA}"/>
                </a:ext>
              </a:extLst>
            </p:cNvPr>
            <p:cNvSpPr>
              <a:spLocks noChangeShapeType="1"/>
            </p:cNvSpPr>
            <p:nvPr/>
          </p:nvSpPr>
          <p:spPr bwMode="auto">
            <a:xfrm>
              <a:off x="6759" y="9768"/>
              <a:ext cx="1656" cy="0"/>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9" name="Line 10">
              <a:extLst>
                <a:ext uri="{FF2B5EF4-FFF2-40B4-BE49-F238E27FC236}">
                  <a16:creationId xmlns:a16="http://schemas.microsoft.com/office/drawing/2014/main" id="{15E88869-FE5D-5C5C-FC16-E2FBCA543F39}"/>
                </a:ext>
              </a:extLst>
            </p:cNvPr>
            <p:cNvSpPr>
              <a:spLocks noChangeShapeType="1"/>
            </p:cNvSpPr>
            <p:nvPr/>
          </p:nvSpPr>
          <p:spPr bwMode="auto">
            <a:xfrm>
              <a:off x="6759" y="10086"/>
              <a:ext cx="1656" cy="0"/>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0" name="Line 11">
              <a:extLst>
                <a:ext uri="{FF2B5EF4-FFF2-40B4-BE49-F238E27FC236}">
                  <a16:creationId xmlns:a16="http://schemas.microsoft.com/office/drawing/2014/main" id="{0771A4EA-D4F9-9662-FEFE-5EB56FEEE354}"/>
                </a:ext>
              </a:extLst>
            </p:cNvPr>
            <p:cNvSpPr>
              <a:spLocks noChangeShapeType="1"/>
            </p:cNvSpPr>
            <p:nvPr/>
          </p:nvSpPr>
          <p:spPr bwMode="auto">
            <a:xfrm>
              <a:off x="6759" y="10410"/>
              <a:ext cx="1656" cy="0"/>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5611" name="Rectangle 12">
            <a:extLst>
              <a:ext uri="{FF2B5EF4-FFF2-40B4-BE49-F238E27FC236}">
                <a16:creationId xmlns:a16="http://schemas.microsoft.com/office/drawing/2014/main" id="{55C88D98-D0FD-E505-86D7-F8140CFC6733}"/>
              </a:ext>
            </a:extLst>
          </p:cNvPr>
          <p:cNvSpPr>
            <a:spLocks noChangeArrowheads="1"/>
          </p:cNvSpPr>
          <p:nvPr/>
        </p:nvSpPr>
        <p:spPr bwMode="auto">
          <a:xfrm>
            <a:off x="803275" y="2446338"/>
            <a:ext cx="1863725" cy="2644775"/>
          </a:xfrm>
          <a:prstGeom prst="rect">
            <a:avLst/>
          </a:prstGeom>
          <a:solidFill>
            <a:srgbClr val="FFFFFF"/>
          </a:solidFill>
          <a:ln w="34925">
            <a:solidFill>
              <a:srgbClr val="000000"/>
            </a:solidFill>
            <a:miter lim="800000"/>
            <a:headEnd/>
            <a:tailEnd/>
          </a:ln>
        </p:spPr>
        <p:txBody>
          <a:bodyPr tIns="72000"/>
          <a:lstStyle/>
          <a:p>
            <a:pPr algn="just" eaLnBrk="0" hangingPunct="0"/>
            <a:r>
              <a:rPr lang="zh-CN" altLang="en-US">
                <a:latin typeface="宋体" panose="02010600030101010101" pitchFamily="2" charset="-122"/>
              </a:rPr>
              <a:t>   ┆</a:t>
            </a:r>
          </a:p>
          <a:p>
            <a:pPr algn="just" eaLnBrk="0" hangingPunct="0"/>
            <a:r>
              <a:rPr lang="en-US" altLang="zh-CN" sz="2000" b="1">
                <a:latin typeface="宋体" panose="02010600030101010101" pitchFamily="2" charset="-122"/>
              </a:rPr>
              <a:t>mov ax,[500]</a:t>
            </a:r>
          </a:p>
          <a:p>
            <a:pPr algn="just" eaLnBrk="0" hangingPunct="0"/>
            <a:endParaRPr lang="en-US" altLang="zh-CN" sz="2000" b="1">
              <a:latin typeface="宋体" panose="02010600030101010101" pitchFamily="2" charset="-122"/>
            </a:endParaRPr>
          </a:p>
          <a:p>
            <a:pPr algn="just" eaLnBrk="0" hangingPunct="0"/>
            <a:r>
              <a:rPr lang="en-US" altLang="zh-CN" b="1">
                <a:latin typeface="宋体" panose="02010600030101010101" pitchFamily="2" charset="-122"/>
              </a:rPr>
              <a:t>   ┆</a:t>
            </a:r>
          </a:p>
          <a:p>
            <a:pPr algn="just" eaLnBrk="0" hangingPunct="0"/>
            <a:endParaRPr lang="en-US" altLang="zh-CN" sz="2000" b="1">
              <a:latin typeface="宋体" panose="02010600030101010101" pitchFamily="2" charset="-122"/>
            </a:endParaRPr>
          </a:p>
          <a:p>
            <a:pPr algn="just" eaLnBrk="0" hangingPunct="0"/>
            <a:endParaRPr lang="en-US" altLang="zh-CN" sz="800" b="1">
              <a:latin typeface="宋体" panose="02010600030101010101" pitchFamily="2" charset="-122"/>
            </a:endParaRPr>
          </a:p>
          <a:p>
            <a:pPr algn="just" eaLnBrk="0" hangingPunct="0"/>
            <a:r>
              <a:rPr lang="en-US" altLang="zh-CN" b="1">
                <a:latin typeface="宋体" panose="02010600030101010101" pitchFamily="2" charset="-122"/>
              </a:rPr>
              <a:t>  54321</a:t>
            </a:r>
          </a:p>
          <a:p>
            <a:pPr algn="just" eaLnBrk="0" hangingPunct="0"/>
            <a:r>
              <a:rPr lang="en-US" altLang="zh-CN" b="1">
                <a:latin typeface="宋体" panose="02010600030101010101" pitchFamily="2" charset="-122"/>
              </a:rPr>
              <a:t>   ┆</a:t>
            </a:r>
            <a:endParaRPr lang="en-US" altLang="zh-CN" b="1">
              <a:latin typeface="Times New Roman" panose="02020603050405020304" pitchFamily="18" charset="0"/>
            </a:endParaRPr>
          </a:p>
        </p:txBody>
      </p:sp>
      <p:sp>
        <p:nvSpPr>
          <p:cNvPr id="25612" name="Line 13">
            <a:extLst>
              <a:ext uri="{FF2B5EF4-FFF2-40B4-BE49-F238E27FC236}">
                <a16:creationId xmlns:a16="http://schemas.microsoft.com/office/drawing/2014/main" id="{E7759127-9157-34DA-749D-80D8246FEF06}"/>
              </a:ext>
            </a:extLst>
          </p:cNvPr>
          <p:cNvSpPr>
            <a:spLocks noChangeShapeType="1"/>
          </p:cNvSpPr>
          <p:nvPr/>
        </p:nvSpPr>
        <p:spPr bwMode="auto">
          <a:xfrm>
            <a:off x="803275" y="2878138"/>
            <a:ext cx="1863725" cy="1587"/>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3" name="Line 14">
            <a:extLst>
              <a:ext uri="{FF2B5EF4-FFF2-40B4-BE49-F238E27FC236}">
                <a16:creationId xmlns:a16="http://schemas.microsoft.com/office/drawing/2014/main" id="{D16FAA84-2A8E-A81B-A3A1-9A13E4502D0D}"/>
              </a:ext>
            </a:extLst>
          </p:cNvPr>
          <p:cNvSpPr>
            <a:spLocks noChangeShapeType="1"/>
          </p:cNvSpPr>
          <p:nvPr/>
        </p:nvSpPr>
        <p:spPr bwMode="auto">
          <a:xfrm>
            <a:off x="803275" y="3357563"/>
            <a:ext cx="1863725" cy="1587"/>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4" name="Line 15">
            <a:extLst>
              <a:ext uri="{FF2B5EF4-FFF2-40B4-BE49-F238E27FC236}">
                <a16:creationId xmlns:a16="http://schemas.microsoft.com/office/drawing/2014/main" id="{AEE0B045-3996-7AAE-F28B-DA0B9EB7983E}"/>
              </a:ext>
            </a:extLst>
          </p:cNvPr>
          <p:cNvSpPr>
            <a:spLocks noChangeShapeType="1"/>
          </p:cNvSpPr>
          <p:nvPr/>
        </p:nvSpPr>
        <p:spPr bwMode="auto">
          <a:xfrm>
            <a:off x="803275" y="4694238"/>
            <a:ext cx="1863725" cy="1587"/>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5" name="Text Box 16">
            <a:extLst>
              <a:ext uri="{FF2B5EF4-FFF2-40B4-BE49-F238E27FC236}">
                <a16:creationId xmlns:a16="http://schemas.microsoft.com/office/drawing/2014/main" id="{A43FB76E-C5A9-1140-39AC-49122DB1F4AB}"/>
              </a:ext>
            </a:extLst>
          </p:cNvPr>
          <p:cNvSpPr txBox="1">
            <a:spLocks noChangeArrowheads="1"/>
          </p:cNvSpPr>
          <p:nvPr/>
        </p:nvSpPr>
        <p:spPr bwMode="auto">
          <a:xfrm>
            <a:off x="152400" y="2298700"/>
            <a:ext cx="465138"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lIns="0" tIns="72000" rIns="0" bIns="0"/>
          <a:lstStyle/>
          <a:p>
            <a:pPr algn="just" eaLnBrk="0" hangingPunct="0"/>
            <a:r>
              <a:rPr lang="zh-CN" altLang="en-US">
                <a:latin typeface="Times New Roman" panose="02020603050405020304" pitchFamily="18" charset="0"/>
              </a:rPr>
              <a:t>  0</a:t>
            </a:r>
          </a:p>
          <a:p>
            <a:pPr algn="just" eaLnBrk="0" hangingPunct="0"/>
            <a:r>
              <a:rPr lang="zh-CN" altLang="en-US">
                <a:latin typeface="Times New Roman" panose="02020603050405020304" pitchFamily="18" charset="0"/>
              </a:rPr>
              <a:t>100</a:t>
            </a: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500</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999</a:t>
            </a:r>
          </a:p>
        </p:txBody>
      </p:sp>
      <p:sp>
        <p:nvSpPr>
          <p:cNvPr id="25616" name="Text Box 17">
            <a:extLst>
              <a:ext uri="{FF2B5EF4-FFF2-40B4-BE49-F238E27FC236}">
                <a16:creationId xmlns:a16="http://schemas.microsoft.com/office/drawing/2014/main" id="{B92BF20D-5371-5C1E-E98B-A2E666EC1474}"/>
              </a:ext>
            </a:extLst>
          </p:cNvPr>
          <p:cNvSpPr txBox="1">
            <a:spLocks noChangeArrowheads="1"/>
          </p:cNvSpPr>
          <p:nvPr/>
        </p:nvSpPr>
        <p:spPr bwMode="auto">
          <a:xfrm>
            <a:off x="5627688" y="1196975"/>
            <a:ext cx="1230312" cy="412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tIns="72000"/>
          <a:lstStyle/>
          <a:p>
            <a:pPr algn="just" eaLnBrk="0" hangingPunct="0"/>
            <a:r>
              <a:rPr lang="zh-CN" altLang="en-US">
                <a:latin typeface="Times New Roman" panose="02020603050405020304" pitchFamily="18" charset="0"/>
              </a:rPr>
              <a:t>    0</a:t>
            </a:r>
          </a:p>
          <a:p>
            <a:pPr algn="just" eaLnBrk="0" hangingPunct="0"/>
            <a:r>
              <a:rPr lang="zh-CN" altLang="en-US">
                <a:latin typeface="Times New Roman" panose="02020603050405020304" pitchFamily="18" charset="0"/>
              </a:rPr>
              <a:t> 1000</a:t>
            </a:r>
          </a:p>
          <a:p>
            <a:pPr algn="just" eaLnBrk="0" hangingPunct="0"/>
            <a:r>
              <a:rPr lang="zh-CN" altLang="en-US">
                <a:latin typeface="Times New Roman" panose="02020603050405020304" pitchFamily="18" charset="0"/>
              </a:rPr>
              <a:t> 1100</a:t>
            </a: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 1500</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 1999</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1</a:t>
            </a:r>
            <a:r>
              <a:rPr lang="en-US" altLang="zh-CN">
                <a:latin typeface="Times New Roman" panose="02020603050405020304" pitchFamily="18" charset="0"/>
              </a:rPr>
              <a:t>M-1</a:t>
            </a:r>
          </a:p>
        </p:txBody>
      </p:sp>
      <p:sp>
        <p:nvSpPr>
          <p:cNvPr id="25617" name="Text Box 18">
            <a:extLst>
              <a:ext uri="{FF2B5EF4-FFF2-40B4-BE49-F238E27FC236}">
                <a16:creationId xmlns:a16="http://schemas.microsoft.com/office/drawing/2014/main" id="{7F61925A-C0DB-8EC9-4C00-46844B5ADBB0}"/>
              </a:ext>
            </a:extLst>
          </p:cNvPr>
          <p:cNvSpPr txBox="1">
            <a:spLocks noChangeArrowheads="1"/>
          </p:cNvSpPr>
          <p:nvPr/>
        </p:nvSpPr>
        <p:spPr bwMode="auto">
          <a:xfrm>
            <a:off x="533400" y="5349875"/>
            <a:ext cx="237648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tIns="72000"/>
          <a:lstStyle/>
          <a:p>
            <a:pPr algn="just" eaLnBrk="0" hangingPunct="0"/>
            <a:r>
              <a:rPr lang="zh-CN" altLang="en-US">
                <a:latin typeface="Times New Roman" panose="02020603050405020304" pitchFamily="18" charset="0"/>
              </a:rPr>
              <a:t>作业的地址空间</a:t>
            </a:r>
          </a:p>
        </p:txBody>
      </p:sp>
      <p:sp>
        <p:nvSpPr>
          <p:cNvPr id="25618" name="Text Box 19">
            <a:extLst>
              <a:ext uri="{FF2B5EF4-FFF2-40B4-BE49-F238E27FC236}">
                <a16:creationId xmlns:a16="http://schemas.microsoft.com/office/drawing/2014/main" id="{CC2D8864-AC4E-E418-42A3-D7A503E08D11}"/>
              </a:ext>
            </a:extLst>
          </p:cNvPr>
          <p:cNvSpPr txBox="1">
            <a:spLocks noChangeArrowheads="1"/>
          </p:cNvSpPr>
          <p:nvPr/>
        </p:nvSpPr>
        <p:spPr bwMode="auto">
          <a:xfrm>
            <a:off x="6858000" y="5326063"/>
            <a:ext cx="188595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tIns="72000"/>
          <a:lstStyle/>
          <a:p>
            <a:pPr algn="just" eaLnBrk="0" hangingPunct="0"/>
            <a:r>
              <a:rPr lang="zh-CN" altLang="en-US">
                <a:latin typeface="Times New Roman" panose="02020603050405020304" pitchFamily="18" charset="0"/>
              </a:rPr>
              <a:t>存储空间</a:t>
            </a:r>
          </a:p>
        </p:txBody>
      </p:sp>
      <p:sp>
        <p:nvSpPr>
          <p:cNvPr id="25619" name="Line 20">
            <a:extLst>
              <a:ext uri="{FF2B5EF4-FFF2-40B4-BE49-F238E27FC236}">
                <a16:creationId xmlns:a16="http://schemas.microsoft.com/office/drawing/2014/main" id="{D0B5C363-FA42-C385-D304-378DDE88BCAF}"/>
              </a:ext>
            </a:extLst>
          </p:cNvPr>
          <p:cNvSpPr>
            <a:spLocks noChangeShapeType="1"/>
          </p:cNvSpPr>
          <p:nvPr/>
        </p:nvSpPr>
        <p:spPr bwMode="auto">
          <a:xfrm>
            <a:off x="2678113" y="3132138"/>
            <a:ext cx="465137" cy="1587"/>
          </a:xfrm>
          <a:prstGeom prst="line">
            <a:avLst/>
          </a:prstGeom>
          <a:noFill/>
          <a:ln w="349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5620" name="Rectangle 21">
            <a:extLst>
              <a:ext uri="{FF2B5EF4-FFF2-40B4-BE49-F238E27FC236}">
                <a16:creationId xmlns:a16="http://schemas.microsoft.com/office/drawing/2014/main" id="{EE64FBB2-398E-91B1-4A09-5AD5785B4337}"/>
              </a:ext>
            </a:extLst>
          </p:cNvPr>
          <p:cNvSpPr>
            <a:spLocks noChangeArrowheads="1"/>
          </p:cNvSpPr>
          <p:nvPr/>
        </p:nvSpPr>
        <p:spPr bwMode="auto">
          <a:xfrm>
            <a:off x="3143250" y="2913063"/>
            <a:ext cx="755650" cy="466725"/>
          </a:xfrm>
          <a:prstGeom prst="rect">
            <a:avLst/>
          </a:prstGeom>
          <a:solidFill>
            <a:srgbClr val="FFFFFF"/>
          </a:solidFill>
          <a:ln w="34925">
            <a:solidFill>
              <a:srgbClr val="000000"/>
            </a:solidFill>
            <a:miter lim="800000"/>
            <a:headEnd/>
            <a:tailEnd/>
          </a:ln>
        </p:spPr>
        <p:txBody>
          <a:bodyPr tIns="72000" bIns="10800"/>
          <a:lstStyle/>
          <a:p>
            <a:pPr algn="just" eaLnBrk="0" hangingPunct="0"/>
            <a:r>
              <a:rPr lang="zh-CN" altLang="en-US">
                <a:latin typeface="Times New Roman" panose="02020603050405020304" pitchFamily="18" charset="0"/>
              </a:rPr>
              <a:t>500</a:t>
            </a:r>
          </a:p>
        </p:txBody>
      </p:sp>
      <p:sp>
        <p:nvSpPr>
          <p:cNvPr id="25621" name="Rectangle 22">
            <a:extLst>
              <a:ext uri="{FF2B5EF4-FFF2-40B4-BE49-F238E27FC236}">
                <a16:creationId xmlns:a16="http://schemas.microsoft.com/office/drawing/2014/main" id="{69DF4F8B-1790-E26E-2E48-DBE62E36373F}"/>
              </a:ext>
            </a:extLst>
          </p:cNvPr>
          <p:cNvSpPr>
            <a:spLocks noChangeArrowheads="1"/>
          </p:cNvSpPr>
          <p:nvPr/>
        </p:nvSpPr>
        <p:spPr bwMode="auto">
          <a:xfrm>
            <a:off x="4386263" y="1749425"/>
            <a:ext cx="835025" cy="465138"/>
          </a:xfrm>
          <a:prstGeom prst="rect">
            <a:avLst/>
          </a:prstGeom>
          <a:solidFill>
            <a:srgbClr val="FFFFFF"/>
          </a:solidFill>
          <a:ln w="34925">
            <a:solidFill>
              <a:srgbClr val="000000"/>
            </a:solidFill>
            <a:miter lim="800000"/>
            <a:headEnd/>
            <a:tailEnd/>
          </a:ln>
        </p:spPr>
        <p:txBody>
          <a:bodyPr tIns="72000" bIns="10800"/>
          <a:lstStyle/>
          <a:p>
            <a:pPr algn="just" eaLnBrk="0" hangingPunct="0"/>
            <a:r>
              <a:rPr lang="zh-CN" altLang="en-US">
                <a:latin typeface="Times New Roman" panose="02020603050405020304" pitchFamily="18" charset="0"/>
              </a:rPr>
              <a:t>1000</a:t>
            </a:r>
          </a:p>
        </p:txBody>
      </p:sp>
      <p:sp>
        <p:nvSpPr>
          <p:cNvPr id="25622" name="Text Box 23">
            <a:extLst>
              <a:ext uri="{FF2B5EF4-FFF2-40B4-BE49-F238E27FC236}">
                <a16:creationId xmlns:a16="http://schemas.microsoft.com/office/drawing/2014/main" id="{9D568538-C388-47B7-78F3-A19A5C574EED}"/>
              </a:ext>
            </a:extLst>
          </p:cNvPr>
          <p:cNvSpPr txBox="1">
            <a:spLocks noChangeArrowheads="1"/>
          </p:cNvSpPr>
          <p:nvPr/>
        </p:nvSpPr>
        <p:spPr bwMode="auto">
          <a:xfrm>
            <a:off x="2819400" y="2416175"/>
            <a:ext cx="15367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tIns="72000"/>
          <a:lstStyle/>
          <a:p>
            <a:pPr algn="just" eaLnBrk="0" hangingPunct="0"/>
            <a:r>
              <a:rPr lang="zh-CN" altLang="en-US">
                <a:latin typeface="Times New Roman" panose="02020603050405020304" pitchFamily="18" charset="0"/>
              </a:rPr>
              <a:t>逻辑地址</a:t>
            </a:r>
          </a:p>
        </p:txBody>
      </p:sp>
      <p:sp>
        <p:nvSpPr>
          <p:cNvPr id="25623" name="Text Box 24">
            <a:extLst>
              <a:ext uri="{FF2B5EF4-FFF2-40B4-BE49-F238E27FC236}">
                <a16:creationId xmlns:a16="http://schemas.microsoft.com/office/drawing/2014/main" id="{3C86AB55-9487-82E8-B681-61090271550C}"/>
              </a:ext>
            </a:extLst>
          </p:cNvPr>
          <p:cNvSpPr txBox="1">
            <a:spLocks noChangeArrowheads="1"/>
          </p:cNvSpPr>
          <p:nvPr/>
        </p:nvSpPr>
        <p:spPr bwMode="auto">
          <a:xfrm>
            <a:off x="3733800" y="1196975"/>
            <a:ext cx="2209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tIns="72000"/>
          <a:lstStyle/>
          <a:p>
            <a:pPr algn="just" eaLnBrk="0" hangingPunct="0"/>
            <a:r>
              <a:rPr lang="zh-CN" altLang="en-US">
                <a:latin typeface="Times New Roman" panose="02020603050405020304" pitchFamily="18" charset="0"/>
              </a:rPr>
              <a:t>重定位寄存器</a:t>
            </a:r>
          </a:p>
        </p:txBody>
      </p:sp>
      <p:sp>
        <p:nvSpPr>
          <p:cNvPr id="25624" name="Oval 25">
            <a:extLst>
              <a:ext uri="{FF2B5EF4-FFF2-40B4-BE49-F238E27FC236}">
                <a16:creationId xmlns:a16="http://schemas.microsoft.com/office/drawing/2014/main" id="{623FD061-E2B3-C853-894F-8DFE3BD77B67}"/>
              </a:ext>
            </a:extLst>
          </p:cNvPr>
          <p:cNvSpPr>
            <a:spLocks noChangeArrowheads="1"/>
          </p:cNvSpPr>
          <p:nvPr/>
        </p:nvSpPr>
        <p:spPr bwMode="auto">
          <a:xfrm>
            <a:off x="4532313" y="2800350"/>
            <a:ext cx="576262" cy="598488"/>
          </a:xfrm>
          <a:prstGeom prst="ellipse">
            <a:avLst/>
          </a:prstGeom>
          <a:solidFill>
            <a:srgbClr val="FFFFFF"/>
          </a:solidFill>
          <a:ln w="34925">
            <a:solidFill>
              <a:srgbClr val="000000"/>
            </a:solidFill>
            <a:round/>
            <a:headEnd/>
            <a:tailEnd/>
          </a:ln>
        </p:spPr>
        <p:txBody>
          <a:bodyPr lIns="0" tIns="36000" rIns="0" bIns="0"/>
          <a:lstStyle/>
          <a:p>
            <a:pPr algn="ctr" eaLnBrk="0" hangingPunct="0"/>
            <a:r>
              <a:rPr lang="zh-CN" altLang="en-US">
                <a:latin typeface="Times New Roman" panose="02020603050405020304" pitchFamily="18" charset="0"/>
              </a:rPr>
              <a:t>＋</a:t>
            </a:r>
          </a:p>
        </p:txBody>
      </p:sp>
      <p:sp>
        <p:nvSpPr>
          <p:cNvPr id="25625" name="Line 26">
            <a:extLst>
              <a:ext uri="{FF2B5EF4-FFF2-40B4-BE49-F238E27FC236}">
                <a16:creationId xmlns:a16="http://schemas.microsoft.com/office/drawing/2014/main" id="{A56638C1-4CFB-60F5-E6AB-E543E27B5270}"/>
              </a:ext>
            </a:extLst>
          </p:cNvPr>
          <p:cNvSpPr>
            <a:spLocks noChangeShapeType="1"/>
          </p:cNvSpPr>
          <p:nvPr/>
        </p:nvSpPr>
        <p:spPr bwMode="auto">
          <a:xfrm>
            <a:off x="3887788" y="3132138"/>
            <a:ext cx="684212" cy="0"/>
          </a:xfrm>
          <a:prstGeom prst="line">
            <a:avLst/>
          </a:prstGeom>
          <a:noFill/>
          <a:ln w="349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5626" name="Line 27">
            <a:extLst>
              <a:ext uri="{FF2B5EF4-FFF2-40B4-BE49-F238E27FC236}">
                <a16:creationId xmlns:a16="http://schemas.microsoft.com/office/drawing/2014/main" id="{87D44227-57FA-289D-1420-806DAF49561F}"/>
              </a:ext>
            </a:extLst>
          </p:cNvPr>
          <p:cNvSpPr>
            <a:spLocks noChangeShapeType="1"/>
          </p:cNvSpPr>
          <p:nvPr/>
        </p:nvSpPr>
        <p:spPr bwMode="auto">
          <a:xfrm>
            <a:off x="4800600" y="2209800"/>
            <a:ext cx="0" cy="585788"/>
          </a:xfrm>
          <a:prstGeom prst="line">
            <a:avLst/>
          </a:prstGeom>
          <a:noFill/>
          <a:ln w="349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5627" name="Line 28">
            <a:extLst>
              <a:ext uri="{FF2B5EF4-FFF2-40B4-BE49-F238E27FC236}">
                <a16:creationId xmlns:a16="http://schemas.microsoft.com/office/drawing/2014/main" id="{315DA487-9509-6883-C01D-2C53977F8D44}"/>
              </a:ext>
            </a:extLst>
          </p:cNvPr>
          <p:cNvSpPr>
            <a:spLocks noChangeShapeType="1"/>
          </p:cNvSpPr>
          <p:nvPr/>
        </p:nvSpPr>
        <p:spPr bwMode="auto">
          <a:xfrm>
            <a:off x="4819650" y="3375025"/>
            <a:ext cx="0" cy="331788"/>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8" name="Line 29">
            <a:extLst>
              <a:ext uri="{FF2B5EF4-FFF2-40B4-BE49-F238E27FC236}">
                <a16:creationId xmlns:a16="http://schemas.microsoft.com/office/drawing/2014/main" id="{88664919-0A97-93AF-FDE7-2A5594480C26}"/>
              </a:ext>
            </a:extLst>
          </p:cNvPr>
          <p:cNvSpPr>
            <a:spLocks noChangeShapeType="1"/>
          </p:cNvSpPr>
          <p:nvPr/>
        </p:nvSpPr>
        <p:spPr bwMode="auto">
          <a:xfrm>
            <a:off x="4837113" y="3684588"/>
            <a:ext cx="838200" cy="0"/>
          </a:xfrm>
          <a:prstGeom prst="line">
            <a:avLst/>
          </a:prstGeom>
          <a:noFill/>
          <a:ln w="349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5629" name="Line 30">
            <a:extLst>
              <a:ext uri="{FF2B5EF4-FFF2-40B4-BE49-F238E27FC236}">
                <a16:creationId xmlns:a16="http://schemas.microsoft.com/office/drawing/2014/main" id="{CD13F8BC-3CCF-6552-D8EC-81690461D7F8}"/>
              </a:ext>
            </a:extLst>
          </p:cNvPr>
          <p:cNvSpPr>
            <a:spLocks noChangeShapeType="1"/>
          </p:cNvSpPr>
          <p:nvPr/>
        </p:nvSpPr>
        <p:spPr bwMode="auto">
          <a:xfrm>
            <a:off x="803275" y="4321175"/>
            <a:ext cx="1863725" cy="1588"/>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271" name="AutoShape 31">
            <a:extLst>
              <a:ext uri="{FF2B5EF4-FFF2-40B4-BE49-F238E27FC236}">
                <a16:creationId xmlns:a16="http://schemas.microsoft.com/office/drawing/2014/main" id="{81D21422-6AFE-F51C-99E3-27B3AC8351E1}"/>
              </a:ext>
            </a:extLst>
          </p:cNvPr>
          <p:cNvSpPr>
            <a:spLocks noChangeArrowheads="1"/>
          </p:cNvSpPr>
          <p:nvPr/>
        </p:nvSpPr>
        <p:spPr bwMode="auto">
          <a:xfrm>
            <a:off x="2771775" y="4062413"/>
            <a:ext cx="2952750" cy="1223962"/>
          </a:xfrm>
          <a:prstGeom prst="wedgeRoundRectCallout">
            <a:avLst>
              <a:gd name="adj1" fmla="val 47204"/>
              <a:gd name="adj2" fmla="val -74903"/>
              <a:gd name="adj3" fmla="val 16667"/>
            </a:avLst>
          </a:prstGeom>
          <a:solidFill>
            <a:srgbClr val="D0F6FF"/>
          </a:solidFill>
          <a:ln w="28575">
            <a:solidFill>
              <a:srgbClr val="000000"/>
            </a:solidFill>
            <a:miter lim="800000"/>
            <a:headEnd/>
            <a:tailEnd type="none" w="sm" len="med"/>
          </a:ln>
        </p:spPr>
        <p:txBody>
          <a:bodyPr lIns="0" tIns="0" rIns="0" bIns="0"/>
          <a:lstStyle/>
          <a:p>
            <a:pPr algn="ctr"/>
            <a:r>
              <a:rPr lang="zh-CN" altLang="en-US"/>
              <a:t>将逻辑地址</a:t>
            </a:r>
            <a:r>
              <a:rPr lang="en-US" altLang="zh-CN"/>
              <a:t>500</a:t>
            </a:r>
            <a:r>
              <a:rPr lang="zh-CN" altLang="en-US"/>
              <a:t>变换为物理地址</a:t>
            </a:r>
            <a:r>
              <a:rPr lang="en-US" altLang="zh-CN"/>
              <a:t>1500</a:t>
            </a:r>
            <a:r>
              <a:rPr lang="zh-CN" altLang="en-US"/>
              <a:t>，再取数据</a:t>
            </a:r>
          </a:p>
        </p:txBody>
      </p:sp>
    </p:spTree>
    <p:extLst>
      <p:ext uri="{BB962C8B-B14F-4D97-AF65-F5344CB8AC3E}">
        <p14:creationId xmlns:p14="http://schemas.microsoft.com/office/powerpoint/2010/main" val="3544278332"/>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266242"/>
                                        </p:tgtEl>
                                        <p:attrNameLst>
                                          <p:attrName>style.visibility</p:attrName>
                                        </p:attrNameLst>
                                      </p:cBhvr>
                                      <p:to>
                                        <p:strVal val="visible"/>
                                      </p:to>
                                    </p:set>
                                    <p:anim calcmode="lin" valueType="num">
                                      <p:cBhvr>
                                        <p:cTn id="7" dur="2000" fill="hold"/>
                                        <p:tgtEl>
                                          <p:spTgt spid="266242"/>
                                        </p:tgtEl>
                                        <p:attrNameLst>
                                          <p:attrName>ppt_x</p:attrName>
                                        </p:attrNameLst>
                                      </p:cBhvr>
                                      <p:tavLst>
                                        <p:tav tm="0">
                                          <p:val>
                                            <p:strVal val="#ppt_x-#ppt_w/2"/>
                                          </p:val>
                                        </p:tav>
                                        <p:tav tm="100000">
                                          <p:val>
                                            <p:strVal val="#ppt_x"/>
                                          </p:val>
                                        </p:tav>
                                      </p:tavLst>
                                    </p:anim>
                                    <p:anim calcmode="lin" valueType="num">
                                      <p:cBhvr>
                                        <p:cTn id="8" dur="2000" fill="hold"/>
                                        <p:tgtEl>
                                          <p:spTgt spid="266242"/>
                                        </p:tgtEl>
                                        <p:attrNameLst>
                                          <p:attrName>ppt_y</p:attrName>
                                        </p:attrNameLst>
                                      </p:cBhvr>
                                      <p:tavLst>
                                        <p:tav tm="0">
                                          <p:val>
                                            <p:strVal val="#ppt_y"/>
                                          </p:val>
                                        </p:tav>
                                        <p:tav tm="100000">
                                          <p:val>
                                            <p:strVal val="#ppt_y"/>
                                          </p:val>
                                        </p:tav>
                                      </p:tavLst>
                                    </p:anim>
                                    <p:anim calcmode="lin" valueType="num">
                                      <p:cBhvr>
                                        <p:cTn id="9" dur="2000" fill="hold"/>
                                        <p:tgtEl>
                                          <p:spTgt spid="266242"/>
                                        </p:tgtEl>
                                        <p:attrNameLst>
                                          <p:attrName>ppt_w</p:attrName>
                                        </p:attrNameLst>
                                      </p:cBhvr>
                                      <p:tavLst>
                                        <p:tav tm="0">
                                          <p:val>
                                            <p:fltVal val="0"/>
                                          </p:val>
                                        </p:tav>
                                        <p:tav tm="100000">
                                          <p:val>
                                            <p:strVal val="#ppt_w"/>
                                          </p:val>
                                        </p:tav>
                                      </p:tavLst>
                                    </p:anim>
                                    <p:anim calcmode="lin" valueType="num">
                                      <p:cBhvr>
                                        <p:cTn id="10" dur="2000" fill="hold"/>
                                        <p:tgtEl>
                                          <p:spTgt spid="266242"/>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nodeType="clickEffect">
                                  <p:stCondLst>
                                    <p:cond delay="0"/>
                                  </p:stCondLst>
                                  <p:childTnLst>
                                    <p:set>
                                      <p:cBhvr>
                                        <p:cTn id="14" dur="1" fill="hold">
                                          <p:stCondLst>
                                            <p:cond delay="0"/>
                                          </p:stCondLst>
                                        </p:cTn>
                                        <p:tgtEl>
                                          <p:spTgt spid="266271"/>
                                        </p:tgtEl>
                                        <p:attrNameLst>
                                          <p:attrName>style.visibility</p:attrName>
                                        </p:attrNameLst>
                                      </p:cBhvr>
                                      <p:to>
                                        <p:strVal val="visible"/>
                                      </p:to>
                                    </p:set>
                                    <p:anim calcmode="lin" valueType="num">
                                      <p:cBhvr>
                                        <p:cTn id="15" dur="2000" fill="hold"/>
                                        <p:tgtEl>
                                          <p:spTgt spid="266271"/>
                                        </p:tgtEl>
                                        <p:attrNameLst>
                                          <p:attrName>ppt_x</p:attrName>
                                        </p:attrNameLst>
                                      </p:cBhvr>
                                      <p:tavLst>
                                        <p:tav tm="0">
                                          <p:val>
                                            <p:strVal val="#ppt_x-#ppt_w/2"/>
                                          </p:val>
                                        </p:tav>
                                        <p:tav tm="100000">
                                          <p:val>
                                            <p:strVal val="#ppt_x"/>
                                          </p:val>
                                        </p:tav>
                                      </p:tavLst>
                                    </p:anim>
                                    <p:anim calcmode="lin" valueType="num">
                                      <p:cBhvr>
                                        <p:cTn id="16" dur="2000" fill="hold"/>
                                        <p:tgtEl>
                                          <p:spTgt spid="266271"/>
                                        </p:tgtEl>
                                        <p:attrNameLst>
                                          <p:attrName>ppt_y</p:attrName>
                                        </p:attrNameLst>
                                      </p:cBhvr>
                                      <p:tavLst>
                                        <p:tav tm="0">
                                          <p:val>
                                            <p:strVal val="#ppt_y"/>
                                          </p:val>
                                        </p:tav>
                                        <p:tav tm="100000">
                                          <p:val>
                                            <p:strVal val="#ppt_y"/>
                                          </p:val>
                                        </p:tav>
                                      </p:tavLst>
                                    </p:anim>
                                    <p:anim calcmode="lin" valueType="num">
                                      <p:cBhvr>
                                        <p:cTn id="17" dur="2000" fill="hold"/>
                                        <p:tgtEl>
                                          <p:spTgt spid="266271"/>
                                        </p:tgtEl>
                                        <p:attrNameLst>
                                          <p:attrName>ppt_w</p:attrName>
                                        </p:attrNameLst>
                                      </p:cBhvr>
                                      <p:tavLst>
                                        <p:tav tm="0">
                                          <p:val>
                                            <p:fltVal val="0"/>
                                          </p:val>
                                        </p:tav>
                                        <p:tav tm="100000">
                                          <p:val>
                                            <p:strVal val="#ppt_w"/>
                                          </p:val>
                                        </p:tav>
                                      </p:tavLst>
                                    </p:anim>
                                    <p:anim calcmode="lin" valueType="num">
                                      <p:cBhvr>
                                        <p:cTn id="18" dur="2000" fill="hold"/>
                                        <p:tgtEl>
                                          <p:spTgt spid="26627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2" grpId="0" animBg="1"/>
      <p:bldP spid="26627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97E5E9-4E11-0AA0-3F60-E8C543B193A4}"/>
              </a:ext>
            </a:extLst>
          </p:cNvPr>
          <p:cNvSpPr>
            <a:spLocks noGrp="1"/>
          </p:cNvSpPr>
          <p:nvPr>
            <p:ph type="title"/>
          </p:nvPr>
        </p:nvSpPr>
        <p:spPr/>
        <p:txBody>
          <a:bodyPr/>
          <a:lstStyle/>
          <a:p>
            <a:r>
              <a:rPr kumimoji="1" lang="zh-CN" altLang="en-US" dirty="0"/>
              <a:t>用户程序的多步处理</a:t>
            </a:r>
          </a:p>
        </p:txBody>
      </p:sp>
      <p:sp>
        <p:nvSpPr>
          <p:cNvPr id="4" name="灯片编号占位符 3">
            <a:extLst>
              <a:ext uri="{FF2B5EF4-FFF2-40B4-BE49-F238E27FC236}">
                <a16:creationId xmlns:a16="http://schemas.microsoft.com/office/drawing/2014/main" id="{3D8CA566-26CD-4AF4-6B9A-10032BE0E6DB}"/>
              </a:ext>
            </a:extLst>
          </p:cNvPr>
          <p:cNvSpPr>
            <a:spLocks noGrp="1"/>
          </p:cNvSpPr>
          <p:nvPr>
            <p:ph type="sldNum" sz="quarter" idx="12"/>
          </p:nvPr>
        </p:nvSpPr>
        <p:spPr/>
        <p:txBody>
          <a:bodyPr/>
          <a:lstStyle/>
          <a:p>
            <a:fld id="{4093CC90-4002-504C-BD88-C9A1D374048E}" type="slidenum">
              <a:rPr lang="zh-CN" altLang="en-US" smtClean="0"/>
              <a:pPr/>
              <a:t>7</a:t>
            </a:fld>
            <a:endParaRPr lang="zh-CN" altLang="en-US" dirty="0"/>
          </a:p>
        </p:txBody>
      </p:sp>
      <p:pic>
        <p:nvPicPr>
          <p:cNvPr id="5" name="Picture 4" descr="8">
            <a:extLst>
              <a:ext uri="{FF2B5EF4-FFF2-40B4-BE49-F238E27FC236}">
                <a16:creationId xmlns:a16="http://schemas.microsoft.com/office/drawing/2014/main" id="{AF19D170-3AD5-131A-331E-454F5F4C74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6147" y="1186664"/>
            <a:ext cx="3027935" cy="5619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5033647"/>
      </p:ext>
    </p:extLst>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9D88EA-5989-B438-C5D1-FA92A24D4F41}"/>
              </a:ext>
            </a:extLst>
          </p:cNvPr>
          <p:cNvSpPr>
            <a:spLocks noGrp="1"/>
          </p:cNvSpPr>
          <p:nvPr>
            <p:ph type="title"/>
          </p:nvPr>
        </p:nvSpPr>
        <p:spPr/>
        <p:txBody>
          <a:bodyPr/>
          <a:lstStyle/>
          <a:p>
            <a:r>
              <a:rPr kumimoji="1" lang="zh-CN" altLang="en-US" dirty="0"/>
              <a:t>逻辑地址空间</a:t>
            </a:r>
            <a:r>
              <a:rPr kumimoji="1" lang="en-US" altLang="zh-CN" dirty="0"/>
              <a:t>vs.</a:t>
            </a:r>
            <a:r>
              <a:rPr kumimoji="1" lang="zh-CN" altLang="en-US" dirty="0"/>
              <a:t>物理地址空间</a:t>
            </a:r>
          </a:p>
        </p:txBody>
      </p:sp>
      <p:sp>
        <p:nvSpPr>
          <p:cNvPr id="3" name="内容占位符 2">
            <a:extLst>
              <a:ext uri="{FF2B5EF4-FFF2-40B4-BE49-F238E27FC236}">
                <a16:creationId xmlns:a16="http://schemas.microsoft.com/office/drawing/2014/main" id="{48E13CFB-F2A6-2CD3-CD0E-42FE6428409E}"/>
              </a:ext>
            </a:extLst>
          </p:cNvPr>
          <p:cNvSpPr>
            <a:spLocks noGrp="1"/>
          </p:cNvSpPr>
          <p:nvPr>
            <p:ph idx="1"/>
          </p:nvPr>
        </p:nvSpPr>
        <p:spPr/>
        <p:txBody>
          <a:bodyPr>
            <a:normAutofit fontScale="85000" lnSpcReduction="10000"/>
          </a:bodyPr>
          <a:lstStyle/>
          <a:p>
            <a:r>
              <a:rPr kumimoji="1" lang="zh-CN" altLang="en-US" dirty="0"/>
              <a:t>逻辑地址空间与独立的物理地址空间绑定的概念对于正确的内存管理至关重要。</a:t>
            </a:r>
          </a:p>
          <a:p>
            <a:r>
              <a:rPr kumimoji="1" lang="zh-CN" altLang="en-US" dirty="0"/>
              <a:t>逻辑地址由</a:t>
            </a:r>
            <a:r>
              <a:rPr kumimoji="1" lang="en" altLang="zh-CN" dirty="0"/>
              <a:t>CPU</a:t>
            </a:r>
            <a:r>
              <a:rPr kumimoji="1" lang="zh-CN" altLang="en-US" dirty="0"/>
              <a:t>生成，也称为虚拟地址。</a:t>
            </a:r>
          </a:p>
          <a:p>
            <a:r>
              <a:rPr kumimoji="1" lang="zh-CN" altLang="en-US" dirty="0"/>
              <a:t>物理地址是内存单元所看到的地址。</a:t>
            </a:r>
          </a:p>
          <a:p>
            <a:r>
              <a:rPr kumimoji="1" lang="zh-CN" altLang="en-US" dirty="0"/>
              <a:t>在编译时和加载时的地址绑定方案中，逻辑地址和物理地址是相同的；在执行时的地址绑定方案中，逻辑（虚拟）地址和物理地址是不同的。</a:t>
            </a:r>
          </a:p>
          <a:p>
            <a:r>
              <a:rPr kumimoji="1" lang="zh-CN" altLang="en-US" dirty="0"/>
              <a:t>逻辑地址空间是程序生成的所有逻辑地址的集合。</a:t>
            </a:r>
          </a:p>
          <a:p>
            <a:r>
              <a:rPr kumimoji="1" lang="zh-CN" altLang="en-US" dirty="0"/>
              <a:t>物理地址空间是程序生成的所有物理地址的集合。</a:t>
            </a:r>
          </a:p>
        </p:txBody>
      </p:sp>
      <p:sp>
        <p:nvSpPr>
          <p:cNvPr id="4" name="灯片编号占位符 3">
            <a:extLst>
              <a:ext uri="{FF2B5EF4-FFF2-40B4-BE49-F238E27FC236}">
                <a16:creationId xmlns:a16="http://schemas.microsoft.com/office/drawing/2014/main" id="{C7B9D6E9-D17A-736B-F042-C657FA42257D}"/>
              </a:ext>
            </a:extLst>
          </p:cNvPr>
          <p:cNvSpPr>
            <a:spLocks noGrp="1"/>
          </p:cNvSpPr>
          <p:nvPr>
            <p:ph type="sldNum" sz="quarter" idx="12"/>
          </p:nvPr>
        </p:nvSpPr>
        <p:spPr/>
        <p:txBody>
          <a:bodyPr/>
          <a:lstStyle/>
          <a:p>
            <a:fld id="{4093CC90-4002-504C-BD88-C9A1D374048E}" type="slidenum">
              <a:rPr lang="zh-CN" altLang="en-US" smtClean="0"/>
              <a:pPr/>
              <a:t>8</a:t>
            </a:fld>
            <a:endParaRPr lang="zh-CN" altLang="en-US" dirty="0"/>
          </a:p>
        </p:txBody>
      </p:sp>
    </p:spTree>
    <p:extLst>
      <p:ext uri="{BB962C8B-B14F-4D97-AF65-F5344CB8AC3E}">
        <p14:creationId xmlns:p14="http://schemas.microsoft.com/office/powerpoint/2010/main" val="801142079"/>
      </p:ext>
    </p:extLst>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1C9FE7-D62F-B6D3-6C8A-2B1299B38C90}"/>
              </a:ext>
            </a:extLst>
          </p:cNvPr>
          <p:cNvSpPr>
            <a:spLocks noGrp="1"/>
          </p:cNvSpPr>
          <p:nvPr>
            <p:ph type="title"/>
          </p:nvPr>
        </p:nvSpPr>
        <p:spPr/>
        <p:txBody>
          <a:bodyPr/>
          <a:lstStyle/>
          <a:p>
            <a:r>
              <a:rPr kumimoji="1" lang="zh-CN" altLang="en-US" dirty="0"/>
              <a:t>内存管理单元</a:t>
            </a:r>
          </a:p>
        </p:txBody>
      </p:sp>
      <p:sp>
        <p:nvSpPr>
          <p:cNvPr id="3" name="内容占位符 2">
            <a:extLst>
              <a:ext uri="{FF2B5EF4-FFF2-40B4-BE49-F238E27FC236}">
                <a16:creationId xmlns:a16="http://schemas.microsoft.com/office/drawing/2014/main" id="{4EE8748E-F80A-B40B-65F4-583FA5C7AFD5}"/>
              </a:ext>
            </a:extLst>
          </p:cNvPr>
          <p:cNvSpPr>
            <a:spLocks noGrp="1"/>
          </p:cNvSpPr>
          <p:nvPr>
            <p:ph idx="1"/>
          </p:nvPr>
        </p:nvSpPr>
        <p:spPr/>
        <p:txBody>
          <a:bodyPr/>
          <a:lstStyle/>
          <a:p>
            <a:r>
              <a:rPr kumimoji="1" lang="zh-CN" altLang="en-US" dirty="0"/>
              <a:t>硬件设备可以在运行时将逻辑地址映射到物理地址</a:t>
            </a:r>
          </a:p>
        </p:txBody>
      </p:sp>
      <p:sp>
        <p:nvSpPr>
          <p:cNvPr id="4" name="灯片编号占位符 3">
            <a:extLst>
              <a:ext uri="{FF2B5EF4-FFF2-40B4-BE49-F238E27FC236}">
                <a16:creationId xmlns:a16="http://schemas.microsoft.com/office/drawing/2014/main" id="{5B16021F-8E1D-27C6-16D0-4A30B1F1F1B9}"/>
              </a:ext>
            </a:extLst>
          </p:cNvPr>
          <p:cNvSpPr>
            <a:spLocks noGrp="1"/>
          </p:cNvSpPr>
          <p:nvPr>
            <p:ph type="sldNum" sz="quarter" idx="12"/>
          </p:nvPr>
        </p:nvSpPr>
        <p:spPr/>
        <p:txBody>
          <a:bodyPr/>
          <a:lstStyle/>
          <a:p>
            <a:fld id="{4093CC90-4002-504C-BD88-C9A1D374048E}" type="slidenum">
              <a:rPr lang="zh-CN" altLang="en-US" smtClean="0"/>
              <a:pPr/>
              <a:t>9</a:t>
            </a:fld>
            <a:endParaRPr lang="zh-CN" altLang="en-US" dirty="0"/>
          </a:p>
        </p:txBody>
      </p:sp>
      <p:pic>
        <p:nvPicPr>
          <p:cNvPr id="5" name="Picture 4" descr="W:\os-book\OS10\slide-dir\os-figures\9_04.jpg">
            <a:extLst>
              <a:ext uri="{FF2B5EF4-FFF2-40B4-BE49-F238E27FC236}">
                <a16:creationId xmlns:a16="http://schemas.microsoft.com/office/drawing/2014/main" id="{36A86D7A-C337-DF21-DC2E-B429C571DF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361" y="2478949"/>
            <a:ext cx="6609278" cy="2393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1564632"/>
      </p:ext>
    </p:extLst>
  </p:cSld>
  <p:clrMapOvr>
    <a:masterClrMapping/>
  </p:clrMapOvr>
  <p:transition spd="med">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3595B6-9B23-D41A-EED7-8692CD51D8DD}"/>
              </a:ext>
            </a:extLst>
          </p:cNvPr>
          <p:cNvSpPr>
            <a:spLocks noGrp="1"/>
          </p:cNvSpPr>
          <p:nvPr>
            <p:ph type="title"/>
          </p:nvPr>
        </p:nvSpPr>
        <p:spPr/>
        <p:txBody>
          <a:bodyPr/>
          <a:lstStyle/>
          <a:p>
            <a:r>
              <a:rPr kumimoji="1" lang="en-US" altLang="zh-CN" dirty="0"/>
              <a:t>MMU</a:t>
            </a:r>
            <a:r>
              <a:rPr kumimoji="1" lang="zh-CN" altLang="en-US" dirty="0"/>
              <a:t> </a:t>
            </a:r>
            <a:r>
              <a:rPr kumimoji="1" lang="en-US" altLang="zh-CN" dirty="0"/>
              <a:t>—</a:t>
            </a:r>
            <a:r>
              <a:rPr kumimoji="1" lang="zh-CN" altLang="en-US" dirty="0"/>
              <a:t> 重定位寄存器</a:t>
            </a:r>
          </a:p>
        </p:txBody>
      </p:sp>
      <p:sp>
        <p:nvSpPr>
          <p:cNvPr id="3" name="内容占位符 2">
            <a:extLst>
              <a:ext uri="{FF2B5EF4-FFF2-40B4-BE49-F238E27FC236}">
                <a16:creationId xmlns:a16="http://schemas.microsoft.com/office/drawing/2014/main" id="{3A2BE008-E696-3099-0611-AA9C2322E4F5}"/>
              </a:ext>
            </a:extLst>
          </p:cNvPr>
          <p:cNvSpPr>
            <a:spLocks noGrp="1"/>
          </p:cNvSpPr>
          <p:nvPr>
            <p:ph idx="1"/>
          </p:nvPr>
        </p:nvSpPr>
        <p:spPr>
          <a:xfrm>
            <a:off x="935038" y="1233487"/>
            <a:ext cx="7772400" cy="5399081"/>
          </a:xfrm>
        </p:spPr>
        <p:txBody>
          <a:bodyPr>
            <a:normAutofit fontScale="85000" lnSpcReduction="10000"/>
          </a:bodyPr>
          <a:lstStyle/>
          <a:p>
            <a:r>
              <a:rPr kumimoji="1" lang="zh-CN" altLang="en-US" sz="2400" dirty="0"/>
              <a:t>用户进程生成的每个地址在加载到内存时都会加上重定位寄存器中的值</a:t>
            </a:r>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r>
              <a:rPr kumimoji="1" lang="zh-CN" altLang="en-US" sz="2400" dirty="0"/>
              <a:t>用户程序中处理的是逻辑地址，它永远不会看到真正的物理地址</a:t>
            </a:r>
            <a:endParaRPr kumimoji="1" lang="en-US" altLang="zh-CN" sz="2400" dirty="0"/>
          </a:p>
          <a:p>
            <a:pPr lvl="1"/>
            <a:r>
              <a:rPr kumimoji="1" lang="zh-CN" altLang="en-US" sz="2000" dirty="0"/>
              <a:t>当引用内存中的地址时，“执行时绑定”就发生了</a:t>
            </a:r>
            <a:endParaRPr kumimoji="1" lang="en-US" altLang="zh-CN" sz="2000" dirty="0"/>
          </a:p>
          <a:p>
            <a:pPr lvl="1"/>
            <a:r>
              <a:rPr kumimoji="1" lang="zh-CN" altLang="en-US" sz="2000" dirty="0"/>
              <a:t>逻辑地址绑定到物理地址</a:t>
            </a:r>
          </a:p>
        </p:txBody>
      </p:sp>
      <p:sp>
        <p:nvSpPr>
          <p:cNvPr id="4" name="灯片编号占位符 3">
            <a:extLst>
              <a:ext uri="{FF2B5EF4-FFF2-40B4-BE49-F238E27FC236}">
                <a16:creationId xmlns:a16="http://schemas.microsoft.com/office/drawing/2014/main" id="{2CDDAC3E-934C-E30C-2332-B33EC91519C9}"/>
              </a:ext>
            </a:extLst>
          </p:cNvPr>
          <p:cNvSpPr>
            <a:spLocks noGrp="1"/>
          </p:cNvSpPr>
          <p:nvPr>
            <p:ph type="sldNum" sz="quarter" idx="12"/>
          </p:nvPr>
        </p:nvSpPr>
        <p:spPr/>
        <p:txBody>
          <a:bodyPr/>
          <a:lstStyle/>
          <a:p>
            <a:fld id="{4093CC90-4002-504C-BD88-C9A1D374048E}" type="slidenum">
              <a:rPr lang="zh-CN" altLang="en-US" smtClean="0"/>
              <a:pPr/>
              <a:t>10</a:t>
            </a:fld>
            <a:endParaRPr lang="zh-CN" altLang="en-US" dirty="0"/>
          </a:p>
        </p:txBody>
      </p:sp>
      <p:pic>
        <p:nvPicPr>
          <p:cNvPr id="5" name="Picture 2" descr="W:\os-book\OS10\slide-dir\os-figures\9_05.jpg">
            <a:extLst>
              <a:ext uri="{FF2B5EF4-FFF2-40B4-BE49-F238E27FC236}">
                <a16:creationId xmlns:a16="http://schemas.microsoft.com/office/drawing/2014/main" id="{38B4DE65-7992-1506-2337-3D97B33D7D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7275" y="1690336"/>
            <a:ext cx="4929449" cy="3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2119497"/>
      </p:ext>
    </p:extLst>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91B129-50A6-72DB-C923-2B6066984446}"/>
              </a:ext>
            </a:extLst>
          </p:cNvPr>
          <p:cNvSpPr>
            <a:spLocks noGrp="1"/>
          </p:cNvSpPr>
          <p:nvPr>
            <p:ph type="title"/>
          </p:nvPr>
        </p:nvSpPr>
        <p:spPr/>
        <p:txBody>
          <a:bodyPr/>
          <a:lstStyle/>
          <a:p>
            <a:r>
              <a:rPr kumimoji="1" lang="zh-CN" altLang="en-US" dirty="0"/>
              <a:t>动态加载</a:t>
            </a:r>
          </a:p>
        </p:txBody>
      </p:sp>
      <p:sp>
        <p:nvSpPr>
          <p:cNvPr id="3" name="内容占位符 2">
            <a:extLst>
              <a:ext uri="{FF2B5EF4-FFF2-40B4-BE49-F238E27FC236}">
                <a16:creationId xmlns:a16="http://schemas.microsoft.com/office/drawing/2014/main" id="{C559D481-904E-1850-53AC-1F8DC35D9FD3}"/>
              </a:ext>
            </a:extLst>
          </p:cNvPr>
          <p:cNvSpPr>
            <a:spLocks noGrp="1"/>
          </p:cNvSpPr>
          <p:nvPr>
            <p:ph idx="1"/>
          </p:nvPr>
        </p:nvSpPr>
        <p:spPr/>
        <p:txBody>
          <a:bodyPr>
            <a:normAutofit fontScale="85000" lnSpcReduction="20000"/>
          </a:bodyPr>
          <a:lstStyle/>
          <a:p>
            <a:r>
              <a:rPr kumimoji="1" lang="zh-CN" altLang="en-US" dirty="0"/>
              <a:t>程序是由主程序和许多子程序组成</a:t>
            </a:r>
            <a:endParaRPr kumimoji="1" lang="en-US" altLang="zh-CN" dirty="0"/>
          </a:p>
          <a:p>
            <a:r>
              <a:rPr kumimoji="1" lang="zh-CN" altLang="en-US" dirty="0"/>
              <a:t>整个程序不需要完全存储到内存中才能执行</a:t>
            </a:r>
            <a:endParaRPr kumimoji="1" lang="en-US" altLang="zh-CN" dirty="0"/>
          </a:p>
          <a:p>
            <a:r>
              <a:rPr kumimoji="1" lang="zh-CN" altLang="en-US" dirty="0"/>
              <a:t>只有在</a:t>
            </a:r>
            <a:r>
              <a:rPr kumimoji="1" lang="zh-CN" altLang="en-US" dirty="0">
                <a:solidFill>
                  <a:srgbClr val="FF0000"/>
                </a:solidFill>
              </a:rPr>
              <a:t>调用子程序时才会加载</a:t>
            </a:r>
            <a:r>
              <a:rPr kumimoji="1" lang="zh-CN" altLang="en-US" dirty="0"/>
              <a:t>该子程序</a:t>
            </a:r>
            <a:endParaRPr kumimoji="1" lang="en-US" altLang="zh-CN" dirty="0"/>
          </a:p>
          <a:p>
            <a:r>
              <a:rPr kumimoji="1" lang="zh-CN" altLang="en-US" dirty="0"/>
              <a:t>这样可以更好地利用内存空间，因为</a:t>
            </a:r>
            <a:r>
              <a:rPr kumimoji="1" lang="zh-CN" altLang="en-US" b="1" dirty="0">
                <a:solidFill>
                  <a:srgbClr val="FF0000"/>
                </a:solidFill>
              </a:rPr>
              <a:t>未使用的子程序不会被加载</a:t>
            </a:r>
            <a:endParaRPr kumimoji="1" lang="en-US" altLang="zh-CN" b="1" dirty="0">
              <a:solidFill>
                <a:srgbClr val="FF0000"/>
              </a:solidFill>
            </a:endParaRPr>
          </a:p>
          <a:p>
            <a:r>
              <a:rPr kumimoji="1" lang="zh-CN" altLang="en-US" dirty="0"/>
              <a:t>所有子程序以可重定位的加载格式保存在磁盘上</a:t>
            </a:r>
            <a:endParaRPr kumimoji="1" lang="en-US" altLang="zh-CN" dirty="0"/>
          </a:p>
          <a:p>
            <a:r>
              <a:rPr kumimoji="1" lang="zh-CN" altLang="en-US" dirty="0"/>
              <a:t>当需要大量代码来处理不经常发生的情况时，这种方法非常有用</a:t>
            </a:r>
            <a:endParaRPr kumimoji="1" lang="en-US" altLang="zh-CN" dirty="0"/>
          </a:p>
          <a:p>
            <a:r>
              <a:rPr kumimoji="1" lang="zh-CN" altLang="en-US" dirty="0"/>
              <a:t>不需要操作系统提供特殊的支持</a:t>
            </a:r>
            <a:endParaRPr kumimoji="1" lang="en-US" altLang="zh-CN" dirty="0"/>
          </a:p>
          <a:p>
            <a:pPr lvl="1"/>
            <a:r>
              <a:rPr kumimoji="1" lang="zh-CN" altLang="en-US" dirty="0"/>
              <a:t>可以通过程序设计实现</a:t>
            </a:r>
            <a:endParaRPr kumimoji="1" lang="en-US" altLang="zh-CN" dirty="0"/>
          </a:p>
          <a:p>
            <a:pPr lvl="1"/>
            <a:r>
              <a:rPr kumimoji="1" lang="zh-CN" altLang="en-US" dirty="0"/>
              <a:t>操作系统可以通过提供库来实现动态加载</a:t>
            </a:r>
          </a:p>
        </p:txBody>
      </p:sp>
      <p:sp>
        <p:nvSpPr>
          <p:cNvPr id="4" name="灯片编号占位符 3">
            <a:extLst>
              <a:ext uri="{FF2B5EF4-FFF2-40B4-BE49-F238E27FC236}">
                <a16:creationId xmlns:a16="http://schemas.microsoft.com/office/drawing/2014/main" id="{19FB12E3-194A-AE50-7C33-A2CE2A4DECCC}"/>
              </a:ext>
            </a:extLst>
          </p:cNvPr>
          <p:cNvSpPr>
            <a:spLocks noGrp="1"/>
          </p:cNvSpPr>
          <p:nvPr>
            <p:ph type="sldNum" sz="quarter" idx="12"/>
          </p:nvPr>
        </p:nvSpPr>
        <p:spPr/>
        <p:txBody>
          <a:bodyPr/>
          <a:lstStyle/>
          <a:p>
            <a:fld id="{4093CC90-4002-504C-BD88-C9A1D374048E}" type="slidenum">
              <a:rPr lang="zh-CN" altLang="en-US" smtClean="0"/>
              <a:pPr/>
              <a:t>11</a:t>
            </a:fld>
            <a:endParaRPr lang="zh-CN" altLang="en-US" dirty="0"/>
          </a:p>
        </p:txBody>
      </p:sp>
    </p:spTree>
    <p:extLst>
      <p:ext uri="{BB962C8B-B14F-4D97-AF65-F5344CB8AC3E}">
        <p14:creationId xmlns:p14="http://schemas.microsoft.com/office/powerpoint/2010/main" val="1595865292"/>
      </p:ext>
    </p:extLst>
  </p:cSld>
  <p:clrMapOvr>
    <a:masterClrMapping/>
  </p:clrMapOvr>
  <p:transition spd="med">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2A1BEF-9CB1-D2A6-EEF0-0566B05DAD06}"/>
              </a:ext>
            </a:extLst>
          </p:cNvPr>
          <p:cNvSpPr>
            <a:spLocks noGrp="1"/>
          </p:cNvSpPr>
          <p:nvPr>
            <p:ph type="title"/>
          </p:nvPr>
        </p:nvSpPr>
        <p:spPr/>
        <p:txBody>
          <a:bodyPr/>
          <a:lstStyle/>
          <a:p>
            <a:r>
              <a:rPr kumimoji="1" lang="zh-CN" altLang="en-US" dirty="0"/>
              <a:t>动态链接</a:t>
            </a:r>
          </a:p>
        </p:txBody>
      </p:sp>
      <p:sp>
        <p:nvSpPr>
          <p:cNvPr id="3" name="内容占位符 2">
            <a:extLst>
              <a:ext uri="{FF2B5EF4-FFF2-40B4-BE49-F238E27FC236}">
                <a16:creationId xmlns:a16="http://schemas.microsoft.com/office/drawing/2014/main" id="{2A895BA4-CAB5-4DE5-BA4A-FD78A1AAD166}"/>
              </a:ext>
            </a:extLst>
          </p:cNvPr>
          <p:cNvSpPr>
            <a:spLocks noGrp="1"/>
          </p:cNvSpPr>
          <p:nvPr>
            <p:ph idx="1"/>
          </p:nvPr>
        </p:nvSpPr>
        <p:spPr/>
        <p:txBody>
          <a:bodyPr>
            <a:normAutofit lnSpcReduction="10000"/>
          </a:bodyPr>
          <a:lstStyle/>
          <a:p>
            <a:r>
              <a:rPr kumimoji="1" lang="zh-CN" altLang="en-US" dirty="0"/>
              <a:t>静态链接 </a:t>
            </a:r>
            <a:r>
              <a:rPr kumimoji="1" lang="en-US" altLang="zh-CN" dirty="0"/>
              <a:t>—— </a:t>
            </a:r>
            <a:r>
              <a:rPr kumimoji="1" lang="zh-CN" altLang="en-US" dirty="0"/>
              <a:t>系统库和程序代码由加载器组合成二进制程序映像</a:t>
            </a:r>
          </a:p>
          <a:p>
            <a:r>
              <a:rPr kumimoji="1" lang="zh-CN" altLang="en-US" dirty="0"/>
              <a:t>动态链接 </a:t>
            </a:r>
            <a:r>
              <a:rPr kumimoji="1" lang="en-US" altLang="zh-CN" dirty="0"/>
              <a:t>—— </a:t>
            </a:r>
            <a:r>
              <a:rPr kumimoji="1" lang="zh-CN" altLang="en-US" dirty="0"/>
              <a:t>链接推迟到执行时进行</a:t>
            </a:r>
          </a:p>
          <a:p>
            <a:r>
              <a:rPr kumimoji="1" lang="zh-CN" altLang="en-US" dirty="0"/>
              <a:t>使用“存根” 来定位适当的内存驻留库例程</a:t>
            </a:r>
          </a:p>
          <a:p>
            <a:r>
              <a:rPr kumimoji="1" lang="zh-CN" altLang="en-US" dirty="0"/>
              <a:t>存根用例程的地址来替换自己，并执行该例程</a:t>
            </a:r>
            <a:endParaRPr kumimoji="1" lang="en-US" altLang="zh-CN" dirty="0"/>
          </a:p>
          <a:p>
            <a:r>
              <a:rPr kumimoji="1" lang="zh-CN" altLang="en-US" dirty="0"/>
              <a:t>操作系统检查例程是否在进程的内存地址中</a:t>
            </a:r>
          </a:p>
          <a:p>
            <a:pPr lvl="1"/>
            <a:r>
              <a:rPr kumimoji="1" lang="zh-CN" altLang="en-US" dirty="0"/>
              <a:t>如果不在地址空间中，则添加到地址空间中</a:t>
            </a:r>
          </a:p>
        </p:txBody>
      </p:sp>
      <p:sp>
        <p:nvSpPr>
          <p:cNvPr id="4" name="灯片编号占位符 3">
            <a:extLst>
              <a:ext uri="{FF2B5EF4-FFF2-40B4-BE49-F238E27FC236}">
                <a16:creationId xmlns:a16="http://schemas.microsoft.com/office/drawing/2014/main" id="{023C7929-7204-BA16-1762-ED37F00102F9}"/>
              </a:ext>
            </a:extLst>
          </p:cNvPr>
          <p:cNvSpPr>
            <a:spLocks noGrp="1"/>
          </p:cNvSpPr>
          <p:nvPr>
            <p:ph type="sldNum" sz="quarter" idx="12"/>
          </p:nvPr>
        </p:nvSpPr>
        <p:spPr/>
        <p:txBody>
          <a:bodyPr/>
          <a:lstStyle/>
          <a:p>
            <a:fld id="{4093CC90-4002-504C-BD88-C9A1D374048E}" type="slidenum">
              <a:rPr lang="zh-CN" altLang="en-US" smtClean="0"/>
              <a:pPr/>
              <a:t>12</a:t>
            </a:fld>
            <a:endParaRPr lang="zh-CN" altLang="en-US" dirty="0"/>
          </a:p>
        </p:txBody>
      </p:sp>
    </p:spTree>
    <p:extLst>
      <p:ext uri="{BB962C8B-B14F-4D97-AF65-F5344CB8AC3E}">
        <p14:creationId xmlns:p14="http://schemas.microsoft.com/office/powerpoint/2010/main" val="784764390"/>
      </p:ext>
    </p:extLst>
  </p:cSld>
  <p:clrMapOvr>
    <a:masterClrMapping/>
  </p:clrMapOvr>
  <p:transition spd="med">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27DE9887-32A2-CB78-60F4-D0507AD96942}"/>
              </a:ext>
            </a:extLst>
          </p:cNvPr>
          <p:cNvSpPr>
            <a:spLocks noGrp="1" noChangeArrowheads="1"/>
          </p:cNvSpPr>
          <p:nvPr>
            <p:ph type="title"/>
          </p:nvPr>
        </p:nvSpPr>
        <p:spPr>
          <a:xfrm>
            <a:off x="1042988" y="225431"/>
            <a:ext cx="7850187" cy="746125"/>
          </a:xfrm>
        </p:spPr>
        <p:txBody>
          <a:bodyPr/>
          <a:lstStyle/>
          <a:p>
            <a:r>
              <a:rPr lang="zh-CN" altLang="en-US" dirty="0"/>
              <a:t>内存保护</a:t>
            </a:r>
          </a:p>
        </p:txBody>
      </p:sp>
      <p:sp>
        <p:nvSpPr>
          <p:cNvPr id="32770" name="Rectangle 3">
            <a:extLst>
              <a:ext uri="{FF2B5EF4-FFF2-40B4-BE49-F238E27FC236}">
                <a16:creationId xmlns:a16="http://schemas.microsoft.com/office/drawing/2014/main" id="{BD1CB7F6-8162-F89E-3D00-D8EFC1CB9935}"/>
              </a:ext>
            </a:extLst>
          </p:cNvPr>
          <p:cNvSpPr>
            <a:spLocks noGrp="1" noChangeArrowheads="1"/>
          </p:cNvSpPr>
          <p:nvPr>
            <p:ph idx="1"/>
          </p:nvPr>
        </p:nvSpPr>
        <p:spPr>
          <a:xfrm>
            <a:off x="935038" y="1233488"/>
            <a:ext cx="7772400" cy="3125570"/>
          </a:xfrm>
        </p:spPr>
        <p:txBody>
          <a:bodyPr>
            <a:normAutofit fontScale="85000" lnSpcReduction="20000"/>
          </a:bodyPr>
          <a:lstStyle/>
          <a:p>
            <a:r>
              <a:rPr lang="zh-CN" altLang="en-US" dirty="0"/>
              <a:t>重定位寄存器用于保护用户进程之间的相互影响，以及防止更改操作系统代码和数据</a:t>
            </a:r>
            <a:endParaRPr lang="en-US" altLang="zh-CN" dirty="0"/>
          </a:p>
          <a:p>
            <a:pPr lvl="1"/>
            <a:r>
              <a:rPr lang="zh-CN" altLang="en-US" dirty="0"/>
              <a:t>基址寄存器包含最小物理地址的值</a:t>
            </a:r>
            <a:endParaRPr lang="en-US" altLang="zh-CN" dirty="0"/>
          </a:p>
          <a:p>
            <a:pPr lvl="1"/>
            <a:r>
              <a:rPr lang="zh-CN" altLang="en-US" dirty="0"/>
              <a:t>界限寄存器包含逻辑地址的范围 </a:t>
            </a:r>
            <a:r>
              <a:rPr lang="en-US" altLang="zh-CN" dirty="0"/>
              <a:t>—— </a:t>
            </a:r>
            <a:r>
              <a:rPr lang="zh-CN" altLang="en-US" dirty="0"/>
              <a:t>每个逻辑地址必须小于界限寄存器</a:t>
            </a:r>
            <a:endParaRPr lang="en-US" altLang="zh-CN" dirty="0"/>
          </a:p>
          <a:p>
            <a:pPr lvl="1"/>
            <a:r>
              <a:rPr lang="zh-CN" altLang="en-US" dirty="0"/>
              <a:t>内存管理单元（</a:t>
            </a:r>
            <a:r>
              <a:rPr lang="en-US" altLang="zh-CN" dirty="0"/>
              <a:t>MMU</a:t>
            </a:r>
            <a:r>
              <a:rPr lang="zh-CN" altLang="en-US" dirty="0"/>
              <a:t>）可以动态地映射逻辑地址。这样可以允许内核代码根据需要调入调出和内核大小的更改等操作。</a:t>
            </a:r>
            <a:endParaRPr lang="en-US" altLang="zh-CN" dirty="0"/>
          </a:p>
        </p:txBody>
      </p:sp>
      <p:pic>
        <p:nvPicPr>
          <p:cNvPr id="4" name="Picture 4" descr="8">
            <a:extLst>
              <a:ext uri="{FF2B5EF4-FFF2-40B4-BE49-F238E27FC236}">
                <a16:creationId xmlns:a16="http://schemas.microsoft.com/office/drawing/2014/main" id="{A29C3603-265B-5B1A-2734-AC7831F5EF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0158" y="3995802"/>
            <a:ext cx="5063683" cy="251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A04986-4A17-2DBD-8EE1-D6D19FE6EFD1}"/>
              </a:ext>
            </a:extLst>
          </p:cNvPr>
          <p:cNvSpPr>
            <a:spLocks noGrp="1"/>
          </p:cNvSpPr>
          <p:nvPr>
            <p:ph type="title"/>
          </p:nvPr>
        </p:nvSpPr>
        <p:spPr/>
        <p:txBody>
          <a:bodyPr/>
          <a:lstStyle/>
          <a:p>
            <a:r>
              <a:rPr kumimoji="1" lang="zh-CN" altLang="en-US" dirty="0"/>
              <a:t>内存分配</a:t>
            </a:r>
          </a:p>
        </p:txBody>
      </p:sp>
      <p:sp>
        <p:nvSpPr>
          <p:cNvPr id="3" name="内容占位符 2">
            <a:extLst>
              <a:ext uri="{FF2B5EF4-FFF2-40B4-BE49-F238E27FC236}">
                <a16:creationId xmlns:a16="http://schemas.microsoft.com/office/drawing/2014/main" id="{FD6498C1-D55F-F5F3-CB58-DDD9EEAA0D7F}"/>
              </a:ext>
            </a:extLst>
          </p:cNvPr>
          <p:cNvSpPr>
            <a:spLocks noGrp="1"/>
          </p:cNvSpPr>
          <p:nvPr>
            <p:ph idx="1"/>
          </p:nvPr>
        </p:nvSpPr>
        <p:spPr/>
        <p:txBody>
          <a:bodyPr/>
          <a:lstStyle/>
          <a:p>
            <a:r>
              <a:rPr kumimoji="1" lang="zh-CN" altLang="en-US" dirty="0"/>
              <a:t>主存必须同时支持操作系统和用户进程</a:t>
            </a:r>
            <a:endParaRPr kumimoji="1" lang="en-US" altLang="zh-CN" dirty="0"/>
          </a:p>
          <a:p>
            <a:r>
              <a:rPr kumimoji="1" lang="zh-CN" altLang="en-US" dirty="0"/>
              <a:t>作为一种有限资源，必须高效地进行分配</a:t>
            </a:r>
            <a:endParaRPr kumimoji="1" lang="en-US" altLang="zh-CN" dirty="0"/>
          </a:p>
          <a:p>
            <a:r>
              <a:rPr kumimoji="1" lang="zh-CN" altLang="en-US" b="1" dirty="0">
                <a:solidFill>
                  <a:srgbClr val="FF0000"/>
                </a:solidFill>
              </a:rPr>
              <a:t>连续分配</a:t>
            </a:r>
            <a:r>
              <a:rPr kumimoji="1" lang="zh-CN" altLang="en-US" dirty="0"/>
              <a:t>是一种早期的方法</a:t>
            </a:r>
            <a:endParaRPr kumimoji="1" lang="en-US" altLang="zh-CN" dirty="0"/>
          </a:p>
          <a:p>
            <a:pPr lvl="1"/>
            <a:r>
              <a:rPr kumimoji="1" lang="zh-CN" altLang="en-US" dirty="0"/>
              <a:t>主存通常由两个分区组成：</a:t>
            </a:r>
            <a:endParaRPr kumimoji="1" lang="en-US" altLang="zh-CN" dirty="0"/>
          </a:p>
          <a:p>
            <a:pPr lvl="2"/>
            <a:r>
              <a:rPr kumimoji="1" lang="zh-CN" altLang="en-US" dirty="0"/>
              <a:t>常驻操作系统通常存储在低地址内存中，包括中断向量</a:t>
            </a:r>
            <a:endParaRPr kumimoji="1" lang="en-US" altLang="zh-CN" dirty="0"/>
          </a:p>
          <a:p>
            <a:pPr lvl="2"/>
            <a:r>
              <a:rPr kumimoji="1" lang="zh-CN" altLang="en-US" dirty="0"/>
              <a:t>用户进程存储在高地址内存中</a:t>
            </a:r>
            <a:endParaRPr kumimoji="1" lang="en-US" altLang="zh-CN" dirty="0"/>
          </a:p>
          <a:p>
            <a:pPr lvl="1"/>
            <a:r>
              <a:rPr kumimoji="1" lang="zh-CN" altLang="en-US" dirty="0"/>
              <a:t>每个进程都存储在连续的内存部分</a:t>
            </a:r>
          </a:p>
        </p:txBody>
      </p:sp>
      <p:sp>
        <p:nvSpPr>
          <p:cNvPr id="4" name="灯片编号占位符 3">
            <a:extLst>
              <a:ext uri="{FF2B5EF4-FFF2-40B4-BE49-F238E27FC236}">
                <a16:creationId xmlns:a16="http://schemas.microsoft.com/office/drawing/2014/main" id="{32462A05-8AE2-5888-68B2-F3EAD1484FA5}"/>
              </a:ext>
            </a:extLst>
          </p:cNvPr>
          <p:cNvSpPr>
            <a:spLocks noGrp="1"/>
          </p:cNvSpPr>
          <p:nvPr>
            <p:ph type="sldNum" sz="quarter" idx="12"/>
          </p:nvPr>
        </p:nvSpPr>
        <p:spPr/>
        <p:txBody>
          <a:bodyPr/>
          <a:lstStyle/>
          <a:p>
            <a:fld id="{4093CC90-4002-504C-BD88-C9A1D374048E}" type="slidenum">
              <a:rPr lang="zh-CN" altLang="en-US" smtClean="0"/>
              <a:pPr/>
              <a:t>14</a:t>
            </a:fld>
            <a:endParaRPr lang="zh-CN" altLang="en-US" dirty="0"/>
          </a:p>
        </p:txBody>
      </p:sp>
    </p:spTree>
    <p:extLst>
      <p:ext uri="{BB962C8B-B14F-4D97-AF65-F5344CB8AC3E}">
        <p14:creationId xmlns:p14="http://schemas.microsoft.com/office/powerpoint/2010/main" val="70078037"/>
      </p:ext>
    </p:extLst>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50B2D9AB-D2B2-A49C-2E62-80A0B36A512E}"/>
              </a:ext>
            </a:extLst>
          </p:cNvPr>
          <p:cNvSpPr>
            <a:spLocks noGrp="1" noChangeArrowheads="1"/>
          </p:cNvSpPr>
          <p:nvPr>
            <p:ph type="title"/>
          </p:nvPr>
        </p:nvSpPr>
        <p:spPr>
          <a:xfrm>
            <a:off x="1042988" y="225431"/>
            <a:ext cx="7850187" cy="746125"/>
          </a:xfrm>
        </p:spPr>
        <p:txBody>
          <a:bodyPr/>
          <a:lstStyle/>
          <a:p>
            <a:r>
              <a:rPr lang="zh-CN" altLang="en-US" dirty="0"/>
              <a:t>单一分区分配</a:t>
            </a:r>
          </a:p>
        </p:txBody>
      </p:sp>
      <p:sp>
        <p:nvSpPr>
          <p:cNvPr id="249859" name="Rectangle 3">
            <a:extLst>
              <a:ext uri="{FF2B5EF4-FFF2-40B4-BE49-F238E27FC236}">
                <a16:creationId xmlns:a16="http://schemas.microsoft.com/office/drawing/2014/main" id="{F74AE2B4-2A14-877C-4CD4-3FEF365EC5DE}"/>
              </a:ext>
            </a:extLst>
          </p:cNvPr>
          <p:cNvSpPr>
            <a:spLocks noGrp="1" noChangeArrowheads="1"/>
          </p:cNvSpPr>
          <p:nvPr>
            <p:ph idx="1"/>
          </p:nvPr>
        </p:nvSpPr>
        <p:spPr>
          <a:xfrm>
            <a:off x="935038" y="1233488"/>
            <a:ext cx="4526310" cy="4895850"/>
          </a:xfrm>
        </p:spPr>
        <p:txBody>
          <a:bodyPr>
            <a:normAutofit lnSpcReduction="10000"/>
          </a:bodyPr>
          <a:lstStyle/>
          <a:p>
            <a:r>
              <a:rPr lang="zh-CN" altLang="en-US" dirty="0"/>
              <a:t>也称单一连续分配</a:t>
            </a:r>
          </a:p>
          <a:p>
            <a:r>
              <a:rPr lang="zh-CN" altLang="en-US" dirty="0"/>
              <a:t>在这种分配方式中，内存分为系统区和用户区。系统区给操作系统使用，用户区给一道用户作业使用。</a:t>
            </a:r>
          </a:p>
          <a:p>
            <a:r>
              <a:rPr lang="zh-CN" altLang="en-US" dirty="0"/>
              <a:t>特点：管理简单，只需很少的软硬件支持；但各类资源的利用率不高</a:t>
            </a:r>
          </a:p>
        </p:txBody>
      </p:sp>
      <p:grpSp>
        <p:nvGrpSpPr>
          <p:cNvPr id="40963" name="Group 11">
            <a:extLst>
              <a:ext uri="{FF2B5EF4-FFF2-40B4-BE49-F238E27FC236}">
                <a16:creationId xmlns:a16="http://schemas.microsoft.com/office/drawing/2014/main" id="{5CCD3798-F344-6A49-D74C-1329E1961788}"/>
              </a:ext>
            </a:extLst>
          </p:cNvPr>
          <p:cNvGrpSpPr>
            <a:grpSpLocks/>
          </p:cNvGrpSpPr>
          <p:nvPr/>
        </p:nvGrpSpPr>
        <p:grpSpPr bwMode="auto">
          <a:xfrm>
            <a:off x="5257800" y="1484313"/>
            <a:ext cx="3778250" cy="4267200"/>
            <a:chOff x="3131" y="1344"/>
            <a:chExt cx="2380" cy="2688"/>
          </a:xfrm>
        </p:grpSpPr>
        <p:sp>
          <p:nvSpPr>
            <p:cNvPr id="40964" name="Rectangle 4">
              <a:extLst>
                <a:ext uri="{FF2B5EF4-FFF2-40B4-BE49-F238E27FC236}">
                  <a16:creationId xmlns:a16="http://schemas.microsoft.com/office/drawing/2014/main" id="{4602979D-CC9D-A236-E253-FFB450BE93FC}"/>
                </a:ext>
              </a:extLst>
            </p:cNvPr>
            <p:cNvSpPr>
              <a:spLocks noChangeArrowheads="1"/>
            </p:cNvSpPr>
            <p:nvPr/>
          </p:nvSpPr>
          <p:spPr bwMode="auto">
            <a:xfrm>
              <a:off x="3814" y="1388"/>
              <a:ext cx="910" cy="1412"/>
            </a:xfrm>
            <a:prstGeom prst="rect">
              <a:avLst/>
            </a:prstGeom>
            <a:solidFill>
              <a:srgbClr val="FFFFFF"/>
            </a:solidFill>
            <a:ln w="25400">
              <a:solidFill>
                <a:srgbClr val="000000"/>
              </a:solidFill>
              <a:miter lim="800000"/>
              <a:headEnd/>
              <a:tailEnd/>
            </a:ln>
          </p:spPr>
          <p:txBody>
            <a:bodyPr/>
            <a:lstStyle/>
            <a:p>
              <a:pPr algn="just" eaLnBrk="0" hangingPunct="0"/>
              <a:r>
                <a:rPr lang="zh-CN" altLang="en-US" sz="2000">
                  <a:latin typeface="Times New Roman" panose="02020603050405020304" pitchFamily="18" charset="0"/>
                </a:rPr>
                <a:t>     </a:t>
              </a:r>
              <a:r>
                <a:rPr lang="zh-CN" altLang="en-US">
                  <a:latin typeface="Times New Roman" panose="02020603050405020304" pitchFamily="18" charset="0"/>
                </a:rPr>
                <a:t>操作</a:t>
              </a:r>
            </a:p>
            <a:p>
              <a:pPr algn="just" eaLnBrk="0" hangingPunct="0"/>
              <a:r>
                <a:rPr lang="zh-CN" altLang="en-US">
                  <a:latin typeface="Times New Roman" panose="02020603050405020304" pitchFamily="18" charset="0"/>
                </a:rPr>
                <a:t>    系统</a:t>
              </a: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     作业</a:t>
              </a:r>
            </a:p>
          </p:txBody>
        </p:sp>
        <p:sp>
          <p:nvSpPr>
            <p:cNvPr id="40965" name="Line 5">
              <a:extLst>
                <a:ext uri="{FF2B5EF4-FFF2-40B4-BE49-F238E27FC236}">
                  <a16:creationId xmlns:a16="http://schemas.microsoft.com/office/drawing/2014/main" id="{E6DA4CB3-F351-9EDD-D0F7-171635F55FFE}"/>
                </a:ext>
              </a:extLst>
            </p:cNvPr>
            <p:cNvSpPr>
              <a:spLocks noChangeShapeType="1"/>
            </p:cNvSpPr>
            <p:nvPr/>
          </p:nvSpPr>
          <p:spPr bwMode="auto">
            <a:xfrm>
              <a:off x="3814" y="1949"/>
              <a:ext cx="91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66" name="Text Box 6">
              <a:extLst>
                <a:ext uri="{FF2B5EF4-FFF2-40B4-BE49-F238E27FC236}">
                  <a16:creationId xmlns:a16="http://schemas.microsoft.com/office/drawing/2014/main" id="{28AF2967-8376-1703-0587-B6422C57CB23}"/>
                </a:ext>
              </a:extLst>
            </p:cNvPr>
            <p:cNvSpPr txBox="1">
              <a:spLocks noChangeArrowheads="1"/>
            </p:cNvSpPr>
            <p:nvPr/>
          </p:nvSpPr>
          <p:spPr bwMode="auto">
            <a:xfrm>
              <a:off x="4765" y="1344"/>
              <a:ext cx="746" cy="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p>
              <a:pPr algn="just" eaLnBrk="0" hangingPunct="0"/>
              <a:r>
                <a:rPr lang="zh-CN" altLang="en-US">
                  <a:latin typeface="Times New Roman" panose="02020603050405020304" pitchFamily="18" charset="0"/>
                </a:rPr>
                <a:t>0</a:t>
              </a:r>
              <a:r>
                <a:rPr lang="en-US" altLang="zh-CN">
                  <a:latin typeface="Times New Roman" panose="02020603050405020304" pitchFamily="18" charset="0"/>
                </a:rPr>
                <a:t>KB</a:t>
              </a:r>
            </a:p>
            <a:p>
              <a:pPr algn="just" eaLnBrk="0" hangingPunct="0"/>
              <a:endParaRPr lang="en-US" altLang="zh-CN">
                <a:latin typeface="Times New Roman" panose="02020603050405020304" pitchFamily="18" charset="0"/>
              </a:endParaRPr>
            </a:p>
            <a:p>
              <a:pPr algn="just" eaLnBrk="0" hangingPunct="0"/>
              <a:r>
                <a:rPr lang="en-US" altLang="zh-CN">
                  <a:latin typeface="Times New Roman" panose="02020603050405020304" pitchFamily="18" charset="0"/>
                </a:rPr>
                <a:t>32KB</a:t>
              </a:r>
            </a:p>
            <a:p>
              <a:pPr algn="just" eaLnBrk="0" hangingPunct="0"/>
              <a:endParaRPr lang="en-US" altLang="zh-CN">
                <a:latin typeface="Times New Roman" panose="02020603050405020304" pitchFamily="18" charset="0"/>
              </a:endParaRPr>
            </a:p>
            <a:p>
              <a:pPr algn="just" eaLnBrk="0" hangingPunct="0"/>
              <a:endParaRPr lang="en-US" altLang="zh-CN">
                <a:latin typeface="Times New Roman" panose="02020603050405020304" pitchFamily="18" charset="0"/>
              </a:endParaRPr>
            </a:p>
            <a:p>
              <a:pPr algn="just" eaLnBrk="0" hangingPunct="0"/>
              <a:endParaRPr lang="en-US" altLang="zh-CN">
                <a:latin typeface="Times New Roman" panose="02020603050405020304" pitchFamily="18" charset="0"/>
              </a:endParaRPr>
            </a:p>
            <a:p>
              <a:pPr algn="just" eaLnBrk="0" hangingPunct="0"/>
              <a:r>
                <a:rPr lang="en-US" altLang="zh-CN">
                  <a:latin typeface="Times New Roman" panose="02020603050405020304" pitchFamily="18" charset="0"/>
                </a:rPr>
                <a:t>96KB</a:t>
              </a:r>
            </a:p>
            <a:p>
              <a:pPr algn="just" eaLnBrk="0" hangingPunct="0"/>
              <a:endParaRPr lang="en-US" altLang="zh-CN">
                <a:latin typeface="Times New Roman" panose="02020603050405020304" pitchFamily="18" charset="0"/>
              </a:endParaRPr>
            </a:p>
            <a:p>
              <a:pPr algn="just" eaLnBrk="0" hangingPunct="0"/>
              <a:endParaRPr lang="en-US" altLang="zh-CN">
                <a:latin typeface="Times New Roman" panose="02020603050405020304" pitchFamily="18" charset="0"/>
              </a:endParaRPr>
            </a:p>
            <a:p>
              <a:pPr algn="just" eaLnBrk="0" hangingPunct="0"/>
              <a:endParaRPr lang="en-US" altLang="zh-CN">
                <a:latin typeface="Times New Roman" panose="02020603050405020304" pitchFamily="18" charset="0"/>
              </a:endParaRPr>
            </a:p>
            <a:p>
              <a:pPr algn="just" eaLnBrk="0" hangingPunct="0"/>
              <a:r>
                <a:rPr lang="en-US" altLang="zh-CN">
                  <a:latin typeface="Times New Roman" panose="02020603050405020304" pitchFamily="18" charset="0"/>
                </a:rPr>
                <a:t>256KB-</a:t>
              </a:r>
              <a:r>
                <a:rPr lang="en-US" altLang="zh-CN" b="1">
                  <a:latin typeface="Times New Roman" panose="02020603050405020304" pitchFamily="18" charset="0"/>
                </a:rPr>
                <a:t>1</a:t>
              </a:r>
            </a:p>
          </p:txBody>
        </p:sp>
        <p:sp>
          <p:nvSpPr>
            <p:cNvPr id="40967" name="Rectangle 7">
              <a:extLst>
                <a:ext uri="{FF2B5EF4-FFF2-40B4-BE49-F238E27FC236}">
                  <a16:creationId xmlns:a16="http://schemas.microsoft.com/office/drawing/2014/main" id="{0DD5C3C2-D5B2-AB2D-DA50-972337F334A1}"/>
                </a:ext>
              </a:extLst>
            </p:cNvPr>
            <p:cNvSpPr>
              <a:spLocks noChangeArrowheads="1"/>
            </p:cNvSpPr>
            <p:nvPr/>
          </p:nvSpPr>
          <p:spPr bwMode="auto">
            <a:xfrm>
              <a:off x="3814" y="2800"/>
              <a:ext cx="910" cy="1067"/>
            </a:xfrm>
            <a:prstGeom prst="rect">
              <a:avLst/>
            </a:prstGeom>
            <a:solidFill>
              <a:srgbClr val="CCFFFF"/>
            </a:solidFill>
            <a:ln w="25400">
              <a:solidFill>
                <a:srgbClr val="000000"/>
              </a:solidFill>
              <a:miter lim="800000"/>
              <a:headEnd/>
              <a:tailEnd/>
            </a:ln>
          </p:spPr>
          <p:txBody>
            <a:bodyPr/>
            <a:lstStyle/>
            <a:p>
              <a:endParaRPr lang="zh-CN" altLang="en-US"/>
            </a:p>
            <a:p>
              <a:r>
                <a:rPr lang="zh-CN" altLang="en-US"/>
                <a:t>  空闲</a:t>
              </a:r>
            </a:p>
          </p:txBody>
        </p:sp>
        <p:sp>
          <p:nvSpPr>
            <p:cNvPr id="40968" name="AutoShape 8">
              <a:extLst>
                <a:ext uri="{FF2B5EF4-FFF2-40B4-BE49-F238E27FC236}">
                  <a16:creationId xmlns:a16="http://schemas.microsoft.com/office/drawing/2014/main" id="{2B4BC1E2-D43E-D247-8BD7-D3A4D3E31291}"/>
                </a:ext>
              </a:extLst>
            </p:cNvPr>
            <p:cNvSpPr>
              <a:spLocks/>
            </p:cNvSpPr>
            <p:nvPr/>
          </p:nvSpPr>
          <p:spPr bwMode="auto">
            <a:xfrm>
              <a:off x="3702" y="1949"/>
              <a:ext cx="95" cy="1931"/>
            </a:xfrm>
            <a:prstGeom prst="leftBrace">
              <a:avLst>
                <a:gd name="adj1" fmla="val 169198"/>
                <a:gd name="adj2" fmla="val 50000"/>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en-US"/>
            </a:p>
          </p:txBody>
        </p:sp>
        <p:sp>
          <p:nvSpPr>
            <p:cNvPr id="40969" name="Text Box 9">
              <a:extLst>
                <a:ext uri="{FF2B5EF4-FFF2-40B4-BE49-F238E27FC236}">
                  <a16:creationId xmlns:a16="http://schemas.microsoft.com/office/drawing/2014/main" id="{C76C97A5-525F-0A40-A9F8-CE04C52299E4}"/>
                </a:ext>
              </a:extLst>
            </p:cNvPr>
            <p:cNvSpPr txBox="1">
              <a:spLocks noChangeArrowheads="1"/>
            </p:cNvSpPr>
            <p:nvPr/>
          </p:nvSpPr>
          <p:spPr bwMode="auto">
            <a:xfrm>
              <a:off x="3131" y="2400"/>
              <a:ext cx="565"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ctr" eaLnBrk="0" hangingPunct="0"/>
              <a:r>
                <a:rPr lang="zh-CN" altLang="en-US">
                  <a:latin typeface="Times New Roman" panose="02020603050405020304" pitchFamily="18" charset="0"/>
                </a:rPr>
                <a:t>分配给用户的空间</a:t>
              </a: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Effect transition="in" filter="checkerboard(across)">
                                      <p:cBhvr>
                                        <p:cTn id="7" dur="500"/>
                                        <p:tgtEl>
                                          <p:spTgt spid="2498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49859">
                                            <p:txEl>
                                              <p:pRg st="1" end="1"/>
                                            </p:txEl>
                                          </p:spTgt>
                                        </p:tgtEl>
                                        <p:attrNameLst>
                                          <p:attrName>style.visibility</p:attrName>
                                        </p:attrNameLst>
                                      </p:cBhvr>
                                      <p:to>
                                        <p:strVal val="visible"/>
                                      </p:to>
                                    </p:set>
                                    <p:animEffect transition="in" filter="checkerboard(across)">
                                      <p:cBhvr>
                                        <p:cTn id="12" dur="500"/>
                                        <p:tgtEl>
                                          <p:spTgt spid="2498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49859">
                                            <p:txEl>
                                              <p:pRg st="2" end="2"/>
                                            </p:txEl>
                                          </p:spTgt>
                                        </p:tgtEl>
                                        <p:attrNameLst>
                                          <p:attrName>style.visibility</p:attrName>
                                        </p:attrNameLst>
                                      </p:cBhvr>
                                      <p:to>
                                        <p:strVal val="visible"/>
                                      </p:to>
                                    </p:set>
                                    <p:animEffect transition="in" filter="checkerboard(across)">
                                      <p:cBhvr>
                                        <p:cTn id="17" dur="500"/>
                                        <p:tgtEl>
                                          <p:spTgt spid="2498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7C18A1E8-3C3B-3881-787E-8B0166300F0B}"/>
              </a:ext>
            </a:extLst>
          </p:cNvPr>
          <p:cNvSpPr>
            <a:spLocks noGrp="1" noChangeArrowheads="1"/>
          </p:cNvSpPr>
          <p:nvPr>
            <p:ph type="title"/>
          </p:nvPr>
        </p:nvSpPr>
        <p:spPr>
          <a:xfrm>
            <a:off x="1042988" y="225431"/>
            <a:ext cx="7850187" cy="746125"/>
          </a:xfrm>
        </p:spPr>
        <p:txBody>
          <a:bodyPr/>
          <a:lstStyle/>
          <a:p>
            <a:r>
              <a:rPr lang="zh-CN" altLang="en-US" dirty="0"/>
              <a:t>固定分区分配</a:t>
            </a:r>
          </a:p>
        </p:txBody>
      </p:sp>
      <p:sp>
        <p:nvSpPr>
          <p:cNvPr id="106499" name="Rectangle 3">
            <a:extLst>
              <a:ext uri="{FF2B5EF4-FFF2-40B4-BE49-F238E27FC236}">
                <a16:creationId xmlns:a16="http://schemas.microsoft.com/office/drawing/2014/main" id="{35E48F6C-9405-C5B3-4A3F-18D14D07EF54}"/>
              </a:ext>
            </a:extLst>
          </p:cNvPr>
          <p:cNvSpPr>
            <a:spLocks noGrp="1" noChangeArrowheads="1"/>
          </p:cNvSpPr>
          <p:nvPr>
            <p:ph idx="1"/>
          </p:nvPr>
        </p:nvSpPr>
        <p:spPr>
          <a:xfrm>
            <a:off x="935038" y="1233488"/>
            <a:ext cx="7772400" cy="4895850"/>
          </a:xfrm>
        </p:spPr>
        <p:txBody>
          <a:bodyPr/>
          <a:lstStyle/>
          <a:p>
            <a:r>
              <a:rPr lang="zh-CN" altLang="en-US"/>
              <a:t>固定分区存储管理方法将内存空间划分为若干个固定大小的分区，每个分区中可以装入一道程序。分区的位置及大小在运行期间不能改变。</a:t>
            </a:r>
          </a:p>
          <a:p>
            <a:r>
              <a:rPr lang="zh-CN" altLang="en-US"/>
              <a:t>为了便于管理内存，系统需要建立一张分区使用表，其中记录系统中的分区数目、分区大小、分区起始地址及状态。</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checkerboard(across)">
                                      <p:cBhvr>
                                        <p:cTn id="7" dur="500"/>
                                        <p:tgtEl>
                                          <p:spTgt spid="1064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6499">
                                            <p:txEl>
                                              <p:pRg st="1" end="1"/>
                                            </p:txEl>
                                          </p:spTgt>
                                        </p:tgtEl>
                                        <p:attrNameLst>
                                          <p:attrName>style.visibility</p:attrName>
                                        </p:attrNameLst>
                                      </p:cBhvr>
                                      <p:to>
                                        <p:strVal val="visible"/>
                                      </p:to>
                                    </p:set>
                                    <p:animEffect transition="in" filter="checkerboard(across)">
                                      <p:cBhvr>
                                        <p:cTn id="12" dur="500"/>
                                        <p:tgtEl>
                                          <p:spTgt spid="1064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8EC721E5-DA46-96DD-3BC5-088F6DDA3B87}"/>
              </a:ext>
            </a:extLst>
          </p:cNvPr>
          <p:cNvSpPr>
            <a:spLocks noGrp="1" noChangeArrowheads="1"/>
          </p:cNvSpPr>
          <p:nvPr>
            <p:ph type="title"/>
          </p:nvPr>
        </p:nvSpPr>
        <p:spPr>
          <a:xfrm>
            <a:off x="1042988" y="225431"/>
            <a:ext cx="7850187" cy="746125"/>
          </a:xfrm>
        </p:spPr>
        <p:txBody>
          <a:bodyPr/>
          <a:lstStyle/>
          <a:p>
            <a:r>
              <a:rPr lang="zh-CN" altLang="en-US" dirty="0"/>
              <a:t>分区使用表示例</a:t>
            </a:r>
          </a:p>
        </p:txBody>
      </p:sp>
      <p:sp>
        <p:nvSpPr>
          <p:cNvPr id="44034" name="Rectangle 5">
            <a:extLst>
              <a:ext uri="{FF2B5EF4-FFF2-40B4-BE49-F238E27FC236}">
                <a16:creationId xmlns:a16="http://schemas.microsoft.com/office/drawing/2014/main" id="{EC047DED-CE84-63E1-57F9-AD5A2ED9B78B}"/>
              </a:ext>
            </a:extLst>
          </p:cNvPr>
          <p:cNvSpPr>
            <a:spLocks noChangeArrowheads="1"/>
          </p:cNvSpPr>
          <p:nvPr/>
        </p:nvSpPr>
        <p:spPr bwMode="auto">
          <a:xfrm>
            <a:off x="6669088" y="1706563"/>
            <a:ext cx="1865312" cy="1582737"/>
          </a:xfrm>
          <a:prstGeom prst="rect">
            <a:avLst/>
          </a:prstGeom>
          <a:solidFill>
            <a:srgbClr val="FFFFFF"/>
          </a:solidFill>
          <a:ln w="25400">
            <a:solidFill>
              <a:srgbClr val="000000"/>
            </a:solidFill>
            <a:miter lim="800000"/>
            <a:headEnd/>
            <a:tailEnd/>
          </a:ln>
        </p:spPr>
        <p:txBody>
          <a:bodyPr tIns="82800" bIns="118800"/>
          <a:lstStyle/>
          <a:p>
            <a:pPr algn="just" eaLnBrk="0" hangingPunct="0"/>
            <a:r>
              <a:rPr lang="zh-CN" altLang="en-US" sz="2200">
                <a:latin typeface="Times New Roman" panose="02020603050405020304" pitchFamily="18" charset="0"/>
              </a:rPr>
              <a:t>  操作系统</a:t>
            </a:r>
          </a:p>
          <a:p>
            <a:pPr algn="just" eaLnBrk="0" hangingPunct="0"/>
            <a:endParaRPr lang="zh-CN" altLang="en-US" sz="1200">
              <a:latin typeface="Times New Roman" panose="02020603050405020304" pitchFamily="18" charset="0"/>
            </a:endParaRPr>
          </a:p>
          <a:p>
            <a:pPr algn="just" eaLnBrk="0" hangingPunct="0"/>
            <a:r>
              <a:rPr lang="zh-CN" altLang="en-US" sz="2200">
                <a:latin typeface="Times New Roman" panose="02020603050405020304" pitchFamily="18" charset="0"/>
              </a:rPr>
              <a:t>  用户作业</a:t>
            </a:r>
            <a:endParaRPr lang="zh-CN" altLang="en-US" sz="800">
              <a:latin typeface="Times New Roman" panose="02020603050405020304" pitchFamily="18" charset="0"/>
            </a:endParaRPr>
          </a:p>
          <a:p>
            <a:pPr algn="just" eaLnBrk="0" hangingPunct="0"/>
            <a:r>
              <a:rPr lang="zh-CN" altLang="en-US" sz="800">
                <a:latin typeface="Times New Roman" panose="02020603050405020304" pitchFamily="18" charset="0"/>
              </a:rPr>
              <a:t>   </a:t>
            </a:r>
          </a:p>
          <a:p>
            <a:pPr algn="just" eaLnBrk="0" hangingPunct="0"/>
            <a:r>
              <a:rPr lang="zh-CN" altLang="en-US" sz="2200">
                <a:latin typeface="Times New Roman" panose="02020603050405020304" pitchFamily="18" charset="0"/>
              </a:rPr>
              <a:t>  用户作业</a:t>
            </a:r>
          </a:p>
        </p:txBody>
      </p:sp>
      <p:sp>
        <p:nvSpPr>
          <p:cNvPr id="44035" name="Rectangle 6">
            <a:extLst>
              <a:ext uri="{FF2B5EF4-FFF2-40B4-BE49-F238E27FC236}">
                <a16:creationId xmlns:a16="http://schemas.microsoft.com/office/drawing/2014/main" id="{EA831D3B-E66D-3286-6C79-8845528635EE}"/>
              </a:ext>
            </a:extLst>
          </p:cNvPr>
          <p:cNvSpPr>
            <a:spLocks noChangeArrowheads="1"/>
          </p:cNvSpPr>
          <p:nvPr/>
        </p:nvSpPr>
        <p:spPr bwMode="auto">
          <a:xfrm>
            <a:off x="609600" y="2109788"/>
            <a:ext cx="4343400" cy="3535362"/>
          </a:xfrm>
          <a:prstGeom prst="rect">
            <a:avLst/>
          </a:prstGeom>
          <a:solidFill>
            <a:srgbClr val="FFFFFF"/>
          </a:solidFill>
          <a:ln w="25400">
            <a:solidFill>
              <a:srgbClr val="000000"/>
            </a:solidFill>
            <a:miter lim="800000"/>
            <a:headEnd/>
            <a:tailEnd/>
          </a:ln>
        </p:spPr>
        <p:txBody>
          <a:bodyPr tIns="72000"/>
          <a:lstStyle/>
          <a:p>
            <a:pPr algn="just" eaLnBrk="0" hangingPunct="0"/>
            <a:r>
              <a:rPr lang="zh-CN" altLang="en-US" sz="2200">
                <a:latin typeface="Times New Roman" panose="02020603050405020304" pitchFamily="18" charset="0"/>
              </a:rPr>
              <a:t>分区号     大小   起始地址   状态</a:t>
            </a:r>
          </a:p>
          <a:p>
            <a:pPr algn="just" eaLnBrk="0" hangingPunct="0"/>
            <a:endParaRPr lang="zh-CN" altLang="en-US" sz="1600">
              <a:latin typeface="Times New Roman" panose="02020603050405020304" pitchFamily="18" charset="0"/>
            </a:endParaRPr>
          </a:p>
          <a:p>
            <a:pPr algn="just" eaLnBrk="0" hangingPunct="0"/>
            <a:r>
              <a:rPr lang="zh-CN" altLang="en-US" sz="2200">
                <a:latin typeface="Times New Roman" panose="02020603050405020304" pitchFamily="18" charset="0"/>
              </a:rPr>
              <a:t>    1           8</a:t>
            </a:r>
            <a:r>
              <a:rPr lang="en-US" altLang="zh-CN" sz="2200">
                <a:latin typeface="Times New Roman" panose="02020603050405020304" pitchFamily="18" charset="0"/>
              </a:rPr>
              <a:t>KB      20KB      </a:t>
            </a:r>
            <a:r>
              <a:rPr lang="zh-CN" altLang="en-US" sz="2200">
                <a:latin typeface="Times New Roman" panose="02020603050405020304" pitchFamily="18" charset="0"/>
              </a:rPr>
              <a:t>已分配</a:t>
            </a:r>
          </a:p>
          <a:p>
            <a:pPr algn="just" eaLnBrk="0" hangingPunct="0"/>
            <a:r>
              <a:rPr lang="zh-CN" altLang="en-US" sz="2200">
                <a:latin typeface="Times New Roman" panose="02020603050405020304" pitchFamily="18" charset="0"/>
              </a:rPr>
              <a:t>  </a:t>
            </a:r>
          </a:p>
          <a:p>
            <a:pPr algn="just" eaLnBrk="0" hangingPunct="0"/>
            <a:r>
              <a:rPr lang="zh-CN" altLang="en-US" sz="2200">
                <a:latin typeface="Times New Roman" panose="02020603050405020304" pitchFamily="18" charset="0"/>
              </a:rPr>
              <a:t>    2         32</a:t>
            </a:r>
            <a:r>
              <a:rPr lang="en-US" altLang="zh-CN" sz="2200">
                <a:latin typeface="Times New Roman" panose="02020603050405020304" pitchFamily="18" charset="0"/>
              </a:rPr>
              <a:t>KB      28KB      </a:t>
            </a:r>
            <a:r>
              <a:rPr lang="zh-CN" altLang="en-US" sz="2200">
                <a:latin typeface="Times New Roman" panose="02020603050405020304" pitchFamily="18" charset="0"/>
              </a:rPr>
              <a:t>已分配</a:t>
            </a:r>
            <a:endParaRPr lang="en-US" altLang="zh-CN" sz="2200">
              <a:latin typeface="Times New Roman" panose="02020603050405020304" pitchFamily="18" charset="0"/>
            </a:endParaRPr>
          </a:p>
          <a:p>
            <a:pPr algn="just" eaLnBrk="0" hangingPunct="0"/>
            <a:endParaRPr lang="zh-CN" altLang="en-US" sz="1200">
              <a:latin typeface="Times New Roman" panose="02020603050405020304" pitchFamily="18" charset="0"/>
            </a:endParaRPr>
          </a:p>
          <a:p>
            <a:pPr algn="just" eaLnBrk="0" hangingPunct="0"/>
            <a:r>
              <a:rPr lang="zh-CN" altLang="en-US" sz="2200">
                <a:latin typeface="Times New Roman" panose="02020603050405020304" pitchFamily="18" charset="0"/>
              </a:rPr>
              <a:t>    3         32</a:t>
            </a:r>
            <a:r>
              <a:rPr lang="en-US" altLang="zh-CN" sz="2200">
                <a:latin typeface="Times New Roman" panose="02020603050405020304" pitchFamily="18" charset="0"/>
              </a:rPr>
              <a:t>KB       60KB     </a:t>
            </a:r>
            <a:r>
              <a:rPr lang="zh-CN" altLang="en-US" sz="2200">
                <a:latin typeface="Times New Roman" panose="02020603050405020304" pitchFamily="18" charset="0"/>
              </a:rPr>
              <a:t>未分配</a:t>
            </a:r>
          </a:p>
          <a:p>
            <a:pPr algn="just" eaLnBrk="0" hangingPunct="0"/>
            <a:endParaRPr lang="zh-CN" altLang="en-US" sz="2200">
              <a:latin typeface="Times New Roman" panose="02020603050405020304" pitchFamily="18" charset="0"/>
            </a:endParaRPr>
          </a:p>
          <a:p>
            <a:pPr algn="just" eaLnBrk="0" hangingPunct="0"/>
            <a:r>
              <a:rPr lang="zh-CN" altLang="en-US" sz="2200">
                <a:latin typeface="Times New Roman" panose="02020603050405020304" pitchFamily="18" charset="0"/>
              </a:rPr>
              <a:t>    4        120</a:t>
            </a:r>
            <a:r>
              <a:rPr lang="en-US" altLang="zh-CN" sz="2200">
                <a:latin typeface="Times New Roman" panose="02020603050405020304" pitchFamily="18" charset="0"/>
              </a:rPr>
              <a:t>KB      92KB     </a:t>
            </a:r>
            <a:r>
              <a:rPr lang="zh-CN" altLang="en-US" sz="2200">
                <a:latin typeface="Times New Roman" panose="02020603050405020304" pitchFamily="18" charset="0"/>
              </a:rPr>
              <a:t>未分配</a:t>
            </a:r>
          </a:p>
          <a:p>
            <a:pPr algn="just" eaLnBrk="0" hangingPunct="0"/>
            <a:endParaRPr lang="zh-CN" altLang="en-US" sz="1200">
              <a:latin typeface="Times New Roman" panose="02020603050405020304" pitchFamily="18" charset="0"/>
            </a:endParaRPr>
          </a:p>
          <a:p>
            <a:pPr algn="just" eaLnBrk="0" hangingPunct="0"/>
            <a:r>
              <a:rPr lang="zh-CN" altLang="en-US" sz="2200">
                <a:latin typeface="Times New Roman" panose="02020603050405020304" pitchFamily="18" charset="0"/>
              </a:rPr>
              <a:t>    5        300</a:t>
            </a:r>
            <a:r>
              <a:rPr lang="en-US" altLang="zh-CN" sz="2200">
                <a:latin typeface="Times New Roman" panose="02020603050405020304" pitchFamily="18" charset="0"/>
              </a:rPr>
              <a:t>KB     212KB     </a:t>
            </a:r>
            <a:r>
              <a:rPr lang="zh-CN" altLang="en-US" sz="2200">
                <a:latin typeface="Times New Roman" panose="02020603050405020304" pitchFamily="18" charset="0"/>
              </a:rPr>
              <a:t>已分配</a:t>
            </a:r>
          </a:p>
        </p:txBody>
      </p:sp>
      <p:sp>
        <p:nvSpPr>
          <p:cNvPr id="44036" name="Line 7">
            <a:extLst>
              <a:ext uri="{FF2B5EF4-FFF2-40B4-BE49-F238E27FC236}">
                <a16:creationId xmlns:a16="http://schemas.microsoft.com/office/drawing/2014/main" id="{0D724965-3FD3-CA8D-F8BC-61DFFBC19EFE}"/>
              </a:ext>
            </a:extLst>
          </p:cNvPr>
          <p:cNvSpPr>
            <a:spLocks noChangeShapeType="1"/>
          </p:cNvSpPr>
          <p:nvPr/>
        </p:nvSpPr>
        <p:spPr bwMode="auto">
          <a:xfrm>
            <a:off x="1600200" y="2109788"/>
            <a:ext cx="0" cy="3535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37" name="Line 8">
            <a:extLst>
              <a:ext uri="{FF2B5EF4-FFF2-40B4-BE49-F238E27FC236}">
                <a16:creationId xmlns:a16="http://schemas.microsoft.com/office/drawing/2014/main" id="{A58D3859-2C5C-B5A8-1ADB-A36AEFC25D94}"/>
              </a:ext>
            </a:extLst>
          </p:cNvPr>
          <p:cNvSpPr>
            <a:spLocks noChangeShapeType="1"/>
          </p:cNvSpPr>
          <p:nvPr/>
        </p:nvSpPr>
        <p:spPr bwMode="auto">
          <a:xfrm>
            <a:off x="2590800" y="2109788"/>
            <a:ext cx="0" cy="3535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38" name="Line 9">
            <a:extLst>
              <a:ext uri="{FF2B5EF4-FFF2-40B4-BE49-F238E27FC236}">
                <a16:creationId xmlns:a16="http://schemas.microsoft.com/office/drawing/2014/main" id="{7EC8750D-2408-3815-BD7A-6792387EBD02}"/>
              </a:ext>
            </a:extLst>
          </p:cNvPr>
          <p:cNvSpPr>
            <a:spLocks noChangeShapeType="1"/>
          </p:cNvSpPr>
          <p:nvPr/>
        </p:nvSpPr>
        <p:spPr bwMode="auto">
          <a:xfrm>
            <a:off x="3886200" y="2109788"/>
            <a:ext cx="0" cy="3535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39" name="Line 10">
            <a:extLst>
              <a:ext uri="{FF2B5EF4-FFF2-40B4-BE49-F238E27FC236}">
                <a16:creationId xmlns:a16="http://schemas.microsoft.com/office/drawing/2014/main" id="{7EA984D6-F9E5-0128-AF68-75287E52EAE8}"/>
              </a:ext>
            </a:extLst>
          </p:cNvPr>
          <p:cNvSpPr>
            <a:spLocks noChangeShapeType="1"/>
          </p:cNvSpPr>
          <p:nvPr/>
        </p:nvSpPr>
        <p:spPr bwMode="auto">
          <a:xfrm>
            <a:off x="609600" y="2659063"/>
            <a:ext cx="434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0" name="Line 11">
            <a:extLst>
              <a:ext uri="{FF2B5EF4-FFF2-40B4-BE49-F238E27FC236}">
                <a16:creationId xmlns:a16="http://schemas.microsoft.com/office/drawing/2014/main" id="{08C92085-5164-BBF9-8686-E157D4AFC239}"/>
              </a:ext>
            </a:extLst>
          </p:cNvPr>
          <p:cNvSpPr>
            <a:spLocks noChangeShapeType="1"/>
          </p:cNvSpPr>
          <p:nvPr/>
        </p:nvSpPr>
        <p:spPr bwMode="auto">
          <a:xfrm>
            <a:off x="609600" y="3259138"/>
            <a:ext cx="434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1" name="Line 12">
            <a:extLst>
              <a:ext uri="{FF2B5EF4-FFF2-40B4-BE49-F238E27FC236}">
                <a16:creationId xmlns:a16="http://schemas.microsoft.com/office/drawing/2014/main" id="{D9AC24CA-075A-1D68-0FB8-03FB1E60DE9C}"/>
              </a:ext>
            </a:extLst>
          </p:cNvPr>
          <p:cNvSpPr>
            <a:spLocks noChangeShapeType="1"/>
          </p:cNvSpPr>
          <p:nvPr/>
        </p:nvSpPr>
        <p:spPr bwMode="auto">
          <a:xfrm>
            <a:off x="609600" y="3875088"/>
            <a:ext cx="434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2" name="Line 13">
            <a:extLst>
              <a:ext uri="{FF2B5EF4-FFF2-40B4-BE49-F238E27FC236}">
                <a16:creationId xmlns:a16="http://schemas.microsoft.com/office/drawing/2014/main" id="{0B739DC8-DDD6-F272-FCCC-6108B2A63821}"/>
              </a:ext>
            </a:extLst>
          </p:cNvPr>
          <p:cNvSpPr>
            <a:spLocks noChangeShapeType="1"/>
          </p:cNvSpPr>
          <p:nvPr/>
        </p:nvSpPr>
        <p:spPr bwMode="auto">
          <a:xfrm>
            <a:off x="609600" y="4489450"/>
            <a:ext cx="434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3" name="Line 14">
            <a:extLst>
              <a:ext uri="{FF2B5EF4-FFF2-40B4-BE49-F238E27FC236}">
                <a16:creationId xmlns:a16="http://schemas.microsoft.com/office/drawing/2014/main" id="{C5678677-4F29-C3BA-4910-7A905021EC0F}"/>
              </a:ext>
            </a:extLst>
          </p:cNvPr>
          <p:cNvSpPr>
            <a:spLocks noChangeShapeType="1"/>
          </p:cNvSpPr>
          <p:nvPr/>
        </p:nvSpPr>
        <p:spPr bwMode="auto">
          <a:xfrm>
            <a:off x="609600" y="5089525"/>
            <a:ext cx="434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4" name="Line 15">
            <a:extLst>
              <a:ext uri="{FF2B5EF4-FFF2-40B4-BE49-F238E27FC236}">
                <a16:creationId xmlns:a16="http://schemas.microsoft.com/office/drawing/2014/main" id="{6B8FA7FD-F91E-2D81-0149-064DC8D9AA16}"/>
              </a:ext>
            </a:extLst>
          </p:cNvPr>
          <p:cNvSpPr>
            <a:spLocks noChangeShapeType="1"/>
          </p:cNvSpPr>
          <p:nvPr/>
        </p:nvSpPr>
        <p:spPr bwMode="auto">
          <a:xfrm>
            <a:off x="6669088" y="2209800"/>
            <a:ext cx="18653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5" name="Line 16">
            <a:extLst>
              <a:ext uri="{FF2B5EF4-FFF2-40B4-BE49-F238E27FC236}">
                <a16:creationId xmlns:a16="http://schemas.microsoft.com/office/drawing/2014/main" id="{FBB594DC-28C3-B824-B1B4-C8EF45D8F49C}"/>
              </a:ext>
            </a:extLst>
          </p:cNvPr>
          <p:cNvSpPr>
            <a:spLocks noChangeShapeType="1"/>
          </p:cNvSpPr>
          <p:nvPr/>
        </p:nvSpPr>
        <p:spPr bwMode="auto">
          <a:xfrm>
            <a:off x="6669088" y="2667000"/>
            <a:ext cx="18653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6" name="Rectangle 17" descr="宽上对角线">
            <a:extLst>
              <a:ext uri="{FF2B5EF4-FFF2-40B4-BE49-F238E27FC236}">
                <a16:creationId xmlns:a16="http://schemas.microsoft.com/office/drawing/2014/main" id="{DAAC2E6C-A105-5F24-6129-FFC0264EC6E4}"/>
              </a:ext>
            </a:extLst>
          </p:cNvPr>
          <p:cNvSpPr>
            <a:spLocks noChangeArrowheads="1"/>
          </p:cNvSpPr>
          <p:nvPr/>
        </p:nvSpPr>
        <p:spPr bwMode="auto">
          <a:xfrm>
            <a:off x="6669088" y="3289300"/>
            <a:ext cx="1865312" cy="571500"/>
          </a:xfrm>
          <a:prstGeom prst="rect">
            <a:avLst/>
          </a:prstGeom>
          <a:blipFill dpi="0" rotWithShape="0">
            <a:blip r:embed="rId2"/>
            <a:srcRect/>
            <a:tile tx="0" ty="0" sx="100000" sy="100000" flip="none" algn="tl"/>
          </a:blipFill>
          <a:ln w="25400">
            <a:solidFill>
              <a:srgbClr val="000000"/>
            </a:solidFill>
            <a:miter lim="800000"/>
            <a:headEnd/>
            <a:tailEnd/>
          </a:ln>
        </p:spPr>
        <p:txBody>
          <a:bodyPr/>
          <a:lstStyle/>
          <a:p>
            <a:pPr algn="ctr"/>
            <a:endParaRPr lang="zh-CN" altLang="en-US"/>
          </a:p>
        </p:txBody>
      </p:sp>
      <p:sp>
        <p:nvSpPr>
          <p:cNvPr id="44047" name="Rectangle 18" descr="宽下对角线">
            <a:extLst>
              <a:ext uri="{FF2B5EF4-FFF2-40B4-BE49-F238E27FC236}">
                <a16:creationId xmlns:a16="http://schemas.microsoft.com/office/drawing/2014/main" id="{0430454B-4DCC-34FD-18C3-2812918A4EF1}"/>
              </a:ext>
            </a:extLst>
          </p:cNvPr>
          <p:cNvSpPr>
            <a:spLocks noChangeArrowheads="1"/>
          </p:cNvSpPr>
          <p:nvPr/>
        </p:nvSpPr>
        <p:spPr bwMode="auto">
          <a:xfrm>
            <a:off x="6669088" y="3860800"/>
            <a:ext cx="1865312" cy="911225"/>
          </a:xfrm>
          <a:prstGeom prst="rect">
            <a:avLst/>
          </a:prstGeom>
          <a:blipFill dpi="0" rotWithShape="0">
            <a:blip r:embed="rId3"/>
            <a:srcRect/>
            <a:tile tx="0" ty="0" sx="100000" sy="100000" flip="none" algn="tl"/>
          </a:blipFill>
          <a:ln w="25400">
            <a:solidFill>
              <a:srgbClr val="000000"/>
            </a:solidFill>
            <a:miter lim="800000"/>
            <a:headEnd/>
            <a:tailEnd/>
          </a:ln>
        </p:spPr>
        <p:txBody>
          <a:bodyPr/>
          <a:lstStyle/>
          <a:p>
            <a:pPr algn="ctr"/>
            <a:endParaRPr lang="zh-CN" altLang="en-US"/>
          </a:p>
        </p:txBody>
      </p:sp>
      <p:sp>
        <p:nvSpPr>
          <p:cNvPr id="44048" name="Rectangle 19">
            <a:extLst>
              <a:ext uri="{FF2B5EF4-FFF2-40B4-BE49-F238E27FC236}">
                <a16:creationId xmlns:a16="http://schemas.microsoft.com/office/drawing/2014/main" id="{E01BA5BE-780A-F49D-1450-D6B31D82C74A}"/>
              </a:ext>
            </a:extLst>
          </p:cNvPr>
          <p:cNvSpPr>
            <a:spLocks noChangeArrowheads="1"/>
          </p:cNvSpPr>
          <p:nvPr/>
        </p:nvSpPr>
        <p:spPr bwMode="auto">
          <a:xfrm>
            <a:off x="6669088" y="4773613"/>
            <a:ext cx="1865312" cy="871537"/>
          </a:xfrm>
          <a:prstGeom prst="rect">
            <a:avLst/>
          </a:prstGeom>
          <a:solidFill>
            <a:srgbClr val="FFFFFF"/>
          </a:solidFill>
          <a:ln w="25400">
            <a:solidFill>
              <a:srgbClr val="000000"/>
            </a:solidFill>
            <a:miter lim="800000"/>
            <a:headEnd/>
            <a:tailEnd/>
          </a:ln>
        </p:spPr>
        <p:txBody>
          <a:bodyPr/>
          <a:lstStyle/>
          <a:p>
            <a:pPr algn="just" eaLnBrk="0" hangingPunct="0"/>
            <a:endParaRPr lang="zh-CN" altLang="en-US" sz="2200">
              <a:latin typeface="Times New Roman" panose="02020603050405020304" pitchFamily="18" charset="0"/>
            </a:endParaRPr>
          </a:p>
          <a:p>
            <a:pPr algn="just" eaLnBrk="0" hangingPunct="0"/>
            <a:r>
              <a:rPr lang="zh-CN" altLang="en-US" sz="2200">
                <a:latin typeface="Times New Roman" panose="02020603050405020304" pitchFamily="18" charset="0"/>
              </a:rPr>
              <a:t>   用户作业</a:t>
            </a:r>
          </a:p>
        </p:txBody>
      </p:sp>
      <p:sp>
        <p:nvSpPr>
          <p:cNvPr id="44049" name="Text Box 20">
            <a:extLst>
              <a:ext uri="{FF2B5EF4-FFF2-40B4-BE49-F238E27FC236}">
                <a16:creationId xmlns:a16="http://schemas.microsoft.com/office/drawing/2014/main" id="{3FF11B52-C5BB-9BA9-DDD7-86B876B8A9A0}"/>
              </a:ext>
            </a:extLst>
          </p:cNvPr>
          <p:cNvSpPr txBox="1">
            <a:spLocks noChangeArrowheads="1"/>
          </p:cNvSpPr>
          <p:nvPr/>
        </p:nvSpPr>
        <p:spPr bwMode="auto">
          <a:xfrm>
            <a:off x="5638800" y="1600200"/>
            <a:ext cx="10668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18000" rIns="0" bIns="0"/>
          <a:lstStyle/>
          <a:p>
            <a:pPr algn="just" eaLnBrk="0" hangingPunct="0"/>
            <a:r>
              <a:rPr lang="zh-CN" altLang="en-US" sz="2200">
                <a:latin typeface="Times New Roman" panose="02020603050405020304" pitchFamily="18" charset="0"/>
              </a:rPr>
              <a:t>         0</a:t>
            </a:r>
          </a:p>
          <a:p>
            <a:pPr algn="just" eaLnBrk="0" hangingPunct="0"/>
            <a:endParaRPr lang="zh-CN" altLang="en-US" sz="800">
              <a:latin typeface="Times New Roman" panose="02020603050405020304" pitchFamily="18" charset="0"/>
            </a:endParaRPr>
          </a:p>
          <a:p>
            <a:pPr algn="just" eaLnBrk="0" hangingPunct="0"/>
            <a:r>
              <a:rPr lang="zh-CN" altLang="en-US" sz="2200">
                <a:latin typeface="Times New Roman" panose="02020603050405020304" pitchFamily="18" charset="0"/>
              </a:rPr>
              <a:t>     20</a:t>
            </a:r>
            <a:r>
              <a:rPr lang="en-US" altLang="zh-CN" sz="2200">
                <a:latin typeface="Times New Roman" panose="02020603050405020304" pitchFamily="18" charset="0"/>
              </a:rPr>
              <a:t>KB</a:t>
            </a:r>
          </a:p>
          <a:p>
            <a:pPr algn="just" eaLnBrk="0" hangingPunct="0"/>
            <a:endParaRPr lang="en-US" altLang="zh-CN" sz="800">
              <a:latin typeface="Times New Roman" panose="02020603050405020304" pitchFamily="18" charset="0"/>
            </a:endParaRPr>
          </a:p>
          <a:p>
            <a:pPr algn="just" eaLnBrk="0" hangingPunct="0"/>
            <a:r>
              <a:rPr lang="en-US" altLang="zh-CN" sz="2200">
                <a:latin typeface="Times New Roman" panose="02020603050405020304" pitchFamily="18" charset="0"/>
              </a:rPr>
              <a:t>     28KB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     60KB</a:t>
            </a:r>
          </a:p>
          <a:p>
            <a:pPr algn="just" eaLnBrk="0" hangingPunct="0"/>
            <a:endParaRPr lang="en-US" altLang="zh-CN" sz="1400">
              <a:latin typeface="Times New Roman" panose="02020603050405020304" pitchFamily="18" charset="0"/>
            </a:endParaRPr>
          </a:p>
          <a:p>
            <a:pPr algn="just" eaLnBrk="0" hangingPunct="0"/>
            <a:r>
              <a:rPr lang="en-US" altLang="zh-CN" sz="2200">
                <a:latin typeface="Times New Roman" panose="02020603050405020304" pitchFamily="18" charset="0"/>
              </a:rPr>
              <a:t>     92KB</a:t>
            </a:r>
          </a:p>
          <a:p>
            <a:pPr algn="just" eaLnBrk="0" hangingPunct="0"/>
            <a:endParaRPr lang="en-US" altLang="zh-CN" sz="2200">
              <a:latin typeface="Times New Roman" panose="02020603050405020304" pitchFamily="18" charset="0"/>
            </a:endParaRP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   212KB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512KB-1</a:t>
            </a:r>
          </a:p>
        </p:txBody>
      </p:sp>
      <p:sp>
        <p:nvSpPr>
          <p:cNvPr id="44050" name="Rectangle 22">
            <a:extLst>
              <a:ext uri="{FF2B5EF4-FFF2-40B4-BE49-F238E27FC236}">
                <a16:creationId xmlns:a16="http://schemas.microsoft.com/office/drawing/2014/main" id="{65F3970C-8B17-4042-F18A-EAB4A288798A}"/>
              </a:ext>
            </a:extLst>
          </p:cNvPr>
          <p:cNvSpPr>
            <a:spLocks noChangeArrowheads="1"/>
          </p:cNvSpPr>
          <p:nvPr/>
        </p:nvSpPr>
        <p:spPr bwMode="auto">
          <a:xfrm>
            <a:off x="1763713" y="1563187"/>
            <a:ext cx="1655762"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nchor="ctr"/>
          <a:lstStyle/>
          <a:p>
            <a:pPr algn="ctr"/>
            <a:r>
              <a:rPr lang="zh-CN" altLang="en-US" sz="2000" dirty="0"/>
              <a:t>分区说明表</a:t>
            </a:r>
          </a:p>
        </p:txBody>
      </p:sp>
      <p:sp>
        <p:nvSpPr>
          <p:cNvPr id="44051" name="Rectangle 23">
            <a:extLst>
              <a:ext uri="{FF2B5EF4-FFF2-40B4-BE49-F238E27FC236}">
                <a16:creationId xmlns:a16="http://schemas.microsoft.com/office/drawing/2014/main" id="{242CFFE6-95F5-3806-FB79-DD06C8D91FEE}"/>
              </a:ext>
            </a:extLst>
          </p:cNvPr>
          <p:cNvSpPr>
            <a:spLocks noChangeArrowheads="1"/>
          </p:cNvSpPr>
          <p:nvPr/>
        </p:nvSpPr>
        <p:spPr bwMode="auto">
          <a:xfrm>
            <a:off x="6732588" y="5805488"/>
            <a:ext cx="16557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nchor="ctr"/>
          <a:lstStyle/>
          <a:p>
            <a:pPr algn="ctr"/>
            <a:r>
              <a:rPr lang="zh-CN" altLang="en-US"/>
              <a:t>内存布局图</a:t>
            </a:r>
          </a:p>
        </p:txBody>
      </p:sp>
    </p:spTree>
  </p:cSld>
  <p:clrMapOvr>
    <a:masterClrMapping/>
  </p:clrMapOvr>
  <p:transition spd="med">
    <p:zoom/>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432CB333-DBF9-B6F4-004F-B155413C2150}"/>
              </a:ext>
            </a:extLst>
          </p:cNvPr>
          <p:cNvSpPr>
            <a:spLocks noGrp="1" noChangeArrowheads="1"/>
          </p:cNvSpPr>
          <p:nvPr>
            <p:ph type="title"/>
          </p:nvPr>
        </p:nvSpPr>
        <p:spPr>
          <a:xfrm>
            <a:off x="1042988" y="225431"/>
            <a:ext cx="7850187" cy="746125"/>
          </a:xfrm>
        </p:spPr>
        <p:txBody>
          <a:bodyPr/>
          <a:lstStyle/>
          <a:p>
            <a:r>
              <a:rPr lang="zh-CN" altLang="en-US"/>
              <a:t>固定分区的内存分配</a:t>
            </a:r>
          </a:p>
        </p:txBody>
      </p:sp>
      <p:sp>
        <p:nvSpPr>
          <p:cNvPr id="107523" name="Rectangle 3">
            <a:extLst>
              <a:ext uri="{FF2B5EF4-FFF2-40B4-BE49-F238E27FC236}">
                <a16:creationId xmlns:a16="http://schemas.microsoft.com/office/drawing/2014/main" id="{457EF8F3-368D-3D5F-6F45-D2715E35268B}"/>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a:t>分区分配：当有用户程序要装入时，由内存分配程序检索分区使用表，从中找出一个能满足要求的空闲分区分配给该程序，然后修改分区说明表中相应表项的状态；若找不到大小足够的分区，则拒绝分配内存。</a:t>
            </a:r>
          </a:p>
          <a:p>
            <a:r>
              <a:rPr lang="zh-CN" altLang="en-US"/>
              <a:t>分区回收：当程序执行完毕不再需要内存资源时，释放程序占用的分区，管理程序只需将对应分区的状态置为未分配即可。</a:t>
            </a:r>
          </a:p>
          <a:p>
            <a:r>
              <a:rPr lang="zh-CN" altLang="en-US"/>
              <a:t>特点：最早的多道程序存储管理方式，不能充分利用内存，存在内存碎片。</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Effect transition="in" filter="checkerboard(across)">
                                      <p:cBhvr>
                                        <p:cTn id="7" dur="500"/>
                                        <p:tgtEl>
                                          <p:spTgt spid="1075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7523">
                                            <p:txEl>
                                              <p:pRg st="1" end="1"/>
                                            </p:txEl>
                                          </p:spTgt>
                                        </p:tgtEl>
                                        <p:attrNameLst>
                                          <p:attrName>style.visibility</p:attrName>
                                        </p:attrNameLst>
                                      </p:cBhvr>
                                      <p:to>
                                        <p:strVal val="visible"/>
                                      </p:to>
                                    </p:set>
                                    <p:animEffect transition="in" filter="checkerboard(across)">
                                      <p:cBhvr>
                                        <p:cTn id="12" dur="500"/>
                                        <p:tgtEl>
                                          <p:spTgt spid="1075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7523">
                                            <p:txEl>
                                              <p:pRg st="2" end="2"/>
                                            </p:txEl>
                                          </p:spTgt>
                                        </p:tgtEl>
                                        <p:attrNameLst>
                                          <p:attrName>style.visibility</p:attrName>
                                        </p:attrNameLst>
                                      </p:cBhvr>
                                      <p:to>
                                        <p:strVal val="visible"/>
                                      </p:to>
                                    </p:set>
                                    <p:animEffect transition="in" filter="checkerboard(across)">
                                      <p:cBhvr>
                                        <p:cTn id="17" dur="500"/>
                                        <p:tgtEl>
                                          <p:spTgt spid="1075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3248E9DF-3339-EFF9-EFBC-72038E2ECF42}"/>
              </a:ext>
            </a:extLst>
          </p:cNvPr>
          <p:cNvSpPr>
            <a:spLocks noGrp="1" noChangeArrowheads="1"/>
          </p:cNvSpPr>
          <p:nvPr>
            <p:ph type="title"/>
          </p:nvPr>
        </p:nvSpPr>
        <p:spPr>
          <a:xfrm>
            <a:off x="1042988" y="225431"/>
            <a:ext cx="7850187" cy="746125"/>
          </a:xfrm>
        </p:spPr>
        <p:txBody>
          <a:bodyPr/>
          <a:lstStyle/>
          <a:p>
            <a:r>
              <a:rPr lang="zh-CN" altLang="en-US" dirty="0"/>
              <a:t>可变分区分配</a:t>
            </a:r>
          </a:p>
        </p:txBody>
      </p:sp>
      <p:sp>
        <p:nvSpPr>
          <p:cNvPr id="46082" name="Rectangle 3">
            <a:extLst>
              <a:ext uri="{FF2B5EF4-FFF2-40B4-BE49-F238E27FC236}">
                <a16:creationId xmlns:a16="http://schemas.microsoft.com/office/drawing/2014/main" id="{B6E7ECA2-A91F-8653-928B-CEDDCB4FAF14}"/>
              </a:ext>
            </a:extLst>
          </p:cNvPr>
          <p:cNvSpPr>
            <a:spLocks noGrp="1" noChangeArrowheads="1"/>
          </p:cNvSpPr>
          <p:nvPr>
            <p:ph idx="1"/>
          </p:nvPr>
        </p:nvSpPr>
        <p:spPr>
          <a:xfrm>
            <a:off x="935038" y="1233488"/>
            <a:ext cx="7772400" cy="4895850"/>
          </a:xfrm>
        </p:spPr>
        <p:txBody>
          <a:bodyPr>
            <a:normAutofit fontScale="85000" lnSpcReduction="20000"/>
          </a:bodyPr>
          <a:lstStyle/>
          <a:p>
            <a:pPr>
              <a:lnSpc>
                <a:spcPct val="120000"/>
              </a:lnSpc>
            </a:pPr>
            <a:r>
              <a:rPr lang="zh-CN" altLang="en-US" dirty="0"/>
              <a:t>多道程序设计的道数受到分区数量的限制</a:t>
            </a:r>
            <a:endParaRPr lang="en-US" altLang="zh-CN" dirty="0"/>
          </a:p>
          <a:p>
            <a:pPr>
              <a:lnSpc>
                <a:spcPct val="120000"/>
              </a:lnSpc>
            </a:pPr>
            <a:r>
              <a:rPr lang="zh-CN" altLang="en-US" dirty="0"/>
              <a:t>为了提高效率，可以使用可变大小的分区（根据给定进程的需求进行调整）</a:t>
            </a:r>
            <a:endParaRPr lang="en-US" altLang="zh-CN" dirty="0"/>
          </a:p>
          <a:p>
            <a:pPr>
              <a:lnSpc>
                <a:spcPct val="120000"/>
              </a:lnSpc>
            </a:pPr>
            <a:r>
              <a:rPr lang="zh-CN" altLang="en-US" dirty="0"/>
              <a:t>空洞是指可用内存块，各种大小的空洞分散在内存中</a:t>
            </a:r>
            <a:endParaRPr lang="en-US" altLang="zh-CN" dirty="0"/>
          </a:p>
          <a:p>
            <a:pPr>
              <a:lnSpc>
                <a:spcPct val="120000"/>
              </a:lnSpc>
            </a:pPr>
            <a:r>
              <a:rPr lang="zh-CN" altLang="en-US" dirty="0"/>
              <a:t>当一个进程到达时，它会从足够大的空洞中分配内存以容纳它</a:t>
            </a:r>
            <a:endParaRPr lang="en-US" altLang="zh-CN" dirty="0"/>
          </a:p>
          <a:p>
            <a:pPr>
              <a:lnSpc>
                <a:spcPct val="120000"/>
              </a:lnSpc>
            </a:pPr>
            <a:r>
              <a:rPr lang="zh-CN" altLang="en-US" dirty="0"/>
              <a:t>进程退出时会释放其分区，相邻的空闲分区会合并。</a:t>
            </a:r>
            <a:endParaRPr lang="en-US" altLang="zh-CN" dirty="0"/>
          </a:p>
          <a:p>
            <a:pPr>
              <a:lnSpc>
                <a:spcPct val="120000"/>
              </a:lnSpc>
            </a:pPr>
            <a:r>
              <a:rPr lang="zh-CN" altLang="en-US" dirty="0"/>
              <a:t>操作系统会维护以下信息：</a:t>
            </a:r>
          </a:p>
          <a:p>
            <a:pPr lvl="1">
              <a:lnSpc>
                <a:spcPct val="120000"/>
              </a:lnSpc>
            </a:pPr>
            <a:r>
              <a:rPr lang="en-US" altLang="zh-CN" dirty="0"/>
              <a:t>(a) </a:t>
            </a:r>
            <a:r>
              <a:rPr lang="zh-CN" altLang="en-US" dirty="0"/>
              <a:t>已分配的分区</a:t>
            </a:r>
          </a:p>
          <a:p>
            <a:pPr lvl="1">
              <a:lnSpc>
                <a:spcPct val="120000"/>
              </a:lnSpc>
            </a:pPr>
            <a:r>
              <a:rPr lang="en-US" altLang="zh-CN" dirty="0"/>
              <a:t>(b) </a:t>
            </a:r>
            <a:r>
              <a:rPr lang="zh-CN" altLang="en-US" dirty="0"/>
              <a:t>空闲的分区（空洞）</a:t>
            </a:r>
            <a:endParaRPr lang="en-US" altLang="zh-CN" dirty="0"/>
          </a:p>
        </p:txBody>
      </p:sp>
    </p:spTree>
  </p:cSld>
  <p:clrMapOvr>
    <a:masterClrMapping/>
  </p:clrMapOvr>
  <p:transition spd="med">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36592AE8-2786-3A16-9230-1855A0A2E0D4}"/>
              </a:ext>
            </a:extLst>
          </p:cNvPr>
          <p:cNvSpPr>
            <a:spLocks noGrp="1" noChangeArrowheads="1"/>
          </p:cNvSpPr>
          <p:nvPr>
            <p:ph type="title"/>
          </p:nvPr>
        </p:nvSpPr>
        <p:spPr>
          <a:xfrm>
            <a:off x="1042988" y="225431"/>
            <a:ext cx="7850187" cy="746125"/>
          </a:xfrm>
        </p:spPr>
        <p:txBody>
          <a:bodyPr/>
          <a:lstStyle/>
          <a:p>
            <a:r>
              <a:rPr lang="zh-CN" altLang="en-US"/>
              <a:t>动态分区存储管理示意图</a:t>
            </a:r>
          </a:p>
        </p:txBody>
      </p:sp>
      <p:sp>
        <p:nvSpPr>
          <p:cNvPr id="236547" name="Rectangle 3">
            <a:extLst>
              <a:ext uri="{FF2B5EF4-FFF2-40B4-BE49-F238E27FC236}">
                <a16:creationId xmlns:a16="http://schemas.microsoft.com/office/drawing/2014/main" id="{DB50BE31-4A47-F55B-4896-9837D37F3368}"/>
              </a:ext>
            </a:extLst>
          </p:cNvPr>
          <p:cNvSpPr>
            <a:spLocks noGrp="1" noChangeArrowheads="1"/>
          </p:cNvSpPr>
          <p:nvPr>
            <p:ph idx="1"/>
          </p:nvPr>
        </p:nvSpPr>
        <p:spPr>
          <a:xfrm>
            <a:off x="935038" y="1233488"/>
            <a:ext cx="4939669" cy="4895850"/>
          </a:xfrm>
        </p:spPr>
        <p:txBody>
          <a:bodyPr>
            <a:normAutofit/>
          </a:bodyPr>
          <a:lstStyle/>
          <a:p>
            <a:r>
              <a:rPr lang="zh-CN" altLang="en-US" dirty="0"/>
              <a:t>初始时，整个用户区是</a:t>
            </a:r>
            <a:r>
              <a:rPr lang="en-US" altLang="zh-CN" dirty="0"/>
              <a:t>1</a:t>
            </a:r>
            <a:r>
              <a:rPr lang="zh-CN" altLang="en-US" dirty="0"/>
              <a:t>个空闲块</a:t>
            </a:r>
          </a:p>
          <a:p>
            <a:r>
              <a:rPr lang="zh-CN" altLang="en-US" dirty="0"/>
              <a:t>作业</a:t>
            </a:r>
            <a:r>
              <a:rPr lang="en-US" altLang="zh-CN" dirty="0"/>
              <a:t>1</a:t>
            </a:r>
            <a:r>
              <a:rPr lang="zh-CN" altLang="en-US" dirty="0"/>
              <a:t>进入，</a:t>
            </a:r>
            <a:r>
              <a:rPr lang="en-US" altLang="zh-CN" dirty="0"/>
              <a:t>2</a:t>
            </a:r>
            <a:r>
              <a:rPr lang="zh-CN" altLang="en-US" dirty="0"/>
              <a:t>个分区</a:t>
            </a:r>
          </a:p>
          <a:p>
            <a:r>
              <a:rPr lang="zh-CN" altLang="en-US" dirty="0"/>
              <a:t>作业</a:t>
            </a:r>
            <a:r>
              <a:rPr lang="en-US" altLang="zh-CN" dirty="0"/>
              <a:t>2</a:t>
            </a:r>
            <a:r>
              <a:rPr lang="zh-CN" altLang="en-US" dirty="0"/>
              <a:t>进入，</a:t>
            </a:r>
            <a:r>
              <a:rPr lang="en-US" altLang="zh-CN" dirty="0"/>
              <a:t>3</a:t>
            </a:r>
            <a:r>
              <a:rPr lang="zh-CN" altLang="en-US" dirty="0"/>
              <a:t>个分区</a:t>
            </a:r>
          </a:p>
          <a:p>
            <a:r>
              <a:rPr lang="zh-CN" altLang="en-US" dirty="0"/>
              <a:t>作业</a:t>
            </a:r>
            <a:r>
              <a:rPr lang="en-US" altLang="zh-CN" dirty="0"/>
              <a:t>3</a:t>
            </a:r>
            <a:r>
              <a:rPr lang="zh-CN" altLang="en-US" dirty="0"/>
              <a:t>进入，</a:t>
            </a:r>
            <a:r>
              <a:rPr lang="en-US" altLang="zh-CN" dirty="0"/>
              <a:t>4</a:t>
            </a:r>
            <a:r>
              <a:rPr lang="zh-CN" altLang="en-US" dirty="0"/>
              <a:t>个分区</a:t>
            </a:r>
          </a:p>
          <a:p>
            <a:r>
              <a:rPr lang="zh-CN" altLang="en-US" dirty="0"/>
              <a:t>作业</a:t>
            </a:r>
            <a:r>
              <a:rPr lang="en-US" altLang="zh-CN" dirty="0"/>
              <a:t>1</a:t>
            </a:r>
            <a:r>
              <a:rPr lang="zh-CN" altLang="en-US" dirty="0"/>
              <a:t>结束，</a:t>
            </a:r>
            <a:r>
              <a:rPr lang="en-US" altLang="zh-CN" dirty="0"/>
              <a:t>4</a:t>
            </a:r>
            <a:r>
              <a:rPr lang="zh-CN" altLang="en-US" dirty="0"/>
              <a:t>个分区</a:t>
            </a:r>
          </a:p>
          <a:p>
            <a:r>
              <a:rPr lang="zh-CN" altLang="en-US" dirty="0"/>
              <a:t>作业</a:t>
            </a:r>
            <a:r>
              <a:rPr lang="en-US" altLang="zh-CN" dirty="0"/>
              <a:t>3</a:t>
            </a:r>
            <a:r>
              <a:rPr lang="zh-CN" altLang="en-US" dirty="0"/>
              <a:t>结束，</a:t>
            </a:r>
            <a:r>
              <a:rPr lang="en-US" altLang="zh-CN" dirty="0"/>
              <a:t>3</a:t>
            </a:r>
            <a:r>
              <a:rPr lang="zh-CN" altLang="en-US" dirty="0"/>
              <a:t>个分区</a:t>
            </a:r>
          </a:p>
          <a:p>
            <a:r>
              <a:rPr lang="zh-CN" altLang="en-US" dirty="0"/>
              <a:t>作业</a:t>
            </a:r>
            <a:r>
              <a:rPr lang="en-US" altLang="zh-CN" dirty="0"/>
              <a:t>2</a:t>
            </a:r>
            <a:r>
              <a:rPr lang="zh-CN" altLang="en-US" dirty="0"/>
              <a:t>结束，</a:t>
            </a:r>
            <a:r>
              <a:rPr lang="en-US" altLang="zh-CN" dirty="0"/>
              <a:t>1</a:t>
            </a:r>
            <a:r>
              <a:rPr lang="zh-CN" altLang="en-US" dirty="0"/>
              <a:t>个分区</a:t>
            </a:r>
          </a:p>
        </p:txBody>
      </p:sp>
      <p:sp>
        <p:nvSpPr>
          <p:cNvPr id="47107" name="Rectangle 4">
            <a:extLst>
              <a:ext uri="{FF2B5EF4-FFF2-40B4-BE49-F238E27FC236}">
                <a16:creationId xmlns:a16="http://schemas.microsoft.com/office/drawing/2014/main" id="{7FF6A1F4-308A-84D5-454E-65852577191F}"/>
              </a:ext>
            </a:extLst>
          </p:cNvPr>
          <p:cNvSpPr>
            <a:spLocks noChangeArrowheads="1"/>
          </p:cNvSpPr>
          <p:nvPr/>
        </p:nvSpPr>
        <p:spPr bwMode="auto">
          <a:xfrm>
            <a:off x="6084888" y="1341438"/>
            <a:ext cx="2520950" cy="4681537"/>
          </a:xfrm>
          <a:prstGeom prst="rect">
            <a:avLst/>
          </a:prstGeom>
          <a:noFill/>
          <a:ln w="25400">
            <a:solidFill>
              <a:srgbClr val="000000"/>
            </a:solidFill>
            <a:miter lim="800000"/>
            <a:headEnd/>
            <a:tailEnd type="none" w="sm" len="me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p>
        </p:txBody>
      </p:sp>
      <p:sp>
        <p:nvSpPr>
          <p:cNvPr id="47108" name="Rectangle 5">
            <a:extLst>
              <a:ext uri="{FF2B5EF4-FFF2-40B4-BE49-F238E27FC236}">
                <a16:creationId xmlns:a16="http://schemas.microsoft.com/office/drawing/2014/main" id="{BDC6F9E7-86EC-6099-8BD4-385AACD26ADE}"/>
              </a:ext>
            </a:extLst>
          </p:cNvPr>
          <p:cNvSpPr>
            <a:spLocks noChangeArrowheads="1"/>
          </p:cNvSpPr>
          <p:nvPr/>
        </p:nvSpPr>
        <p:spPr bwMode="auto">
          <a:xfrm>
            <a:off x="6805613" y="6094413"/>
            <a:ext cx="1150937"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nchor="ctr"/>
          <a:lstStyle/>
          <a:p>
            <a:pPr algn="ctr"/>
            <a:r>
              <a:rPr lang="zh-CN" altLang="en-US"/>
              <a:t>用户区</a:t>
            </a:r>
          </a:p>
        </p:txBody>
      </p:sp>
      <p:sp>
        <p:nvSpPr>
          <p:cNvPr id="236550" name="Line 6">
            <a:extLst>
              <a:ext uri="{FF2B5EF4-FFF2-40B4-BE49-F238E27FC236}">
                <a16:creationId xmlns:a16="http://schemas.microsoft.com/office/drawing/2014/main" id="{3846279D-0EC6-95A7-BC10-E5E2282FEC6C}"/>
              </a:ext>
            </a:extLst>
          </p:cNvPr>
          <p:cNvSpPr>
            <a:spLocks noChangeShapeType="1"/>
          </p:cNvSpPr>
          <p:nvPr/>
        </p:nvSpPr>
        <p:spPr bwMode="auto">
          <a:xfrm>
            <a:off x="6084888" y="2206625"/>
            <a:ext cx="252095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6551" name="Rectangle 7">
            <a:extLst>
              <a:ext uri="{FF2B5EF4-FFF2-40B4-BE49-F238E27FC236}">
                <a16:creationId xmlns:a16="http://schemas.microsoft.com/office/drawing/2014/main" id="{46E440EE-33B3-6F38-415F-82511EB890FC}"/>
              </a:ext>
            </a:extLst>
          </p:cNvPr>
          <p:cNvSpPr>
            <a:spLocks noChangeArrowheads="1"/>
          </p:cNvSpPr>
          <p:nvPr/>
        </p:nvSpPr>
        <p:spPr bwMode="auto">
          <a:xfrm>
            <a:off x="6807200" y="1630363"/>
            <a:ext cx="115093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nchor="ctr"/>
          <a:lstStyle/>
          <a:p>
            <a:pPr algn="ctr"/>
            <a:r>
              <a:rPr lang="zh-CN" altLang="en-US"/>
              <a:t>作业</a:t>
            </a:r>
            <a:r>
              <a:rPr lang="en-US" altLang="zh-CN"/>
              <a:t>1</a:t>
            </a:r>
            <a:endParaRPr lang="zh-CN" altLang="en-US"/>
          </a:p>
        </p:txBody>
      </p:sp>
      <p:sp>
        <p:nvSpPr>
          <p:cNvPr id="236552" name="Line 8">
            <a:extLst>
              <a:ext uri="{FF2B5EF4-FFF2-40B4-BE49-F238E27FC236}">
                <a16:creationId xmlns:a16="http://schemas.microsoft.com/office/drawing/2014/main" id="{F6C7A936-758E-5A98-04F6-2B50B55D6D7D}"/>
              </a:ext>
            </a:extLst>
          </p:cNvPr>
          <p:cNvSpPr>
            <a:spLocks noChangeShapeType="1"/>
          </p:cNvSpPr>
          <p:nvPr/>
        </p:nvSpPr>
        <p:spPr bwMode="auto">
          <a:xfrm>
            <a:off x="6084888" y="3214688"/>
            <a:ext cx="252095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6553" name="Rectangle 9">
            <a:extLst>
              <a:ext uri="{FF2B5EF4-FFF2-40B4-BE49-F238E27FC236}">
                <a16:creationId xmlns:a16="http://schemas.microsoft.com/office/drawing/2014/main" id="{23765374-C083-8CCE-4B58-7FB281369A07}"/>
              </a:ext>
            </a:extLst>
          </p:cNvPr>
          <p:cNvSpPr>
            <a:spLocks noChangeArrowheads="1"/>
          </p:cNvSpPr>
          <p:nvPr/>
        </p:nvSpPr>
        <p:spPr bwMode="auto">
          <a:xfrm>
            <a:off x="6807200" y="2593975"/>
            <a:ext cx="11509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nchor="ctr"/>
          <a:lstStyle/>
          <a:p>
            <a:pPr algn="ctr"/>
            <a:r>
              <a:rPr lang="zh-CN" altLang="en-US"/>
              <a:t>作业</a:t>
            </a:r>
            <a:r>
              <a:rPr lang="en-US" altLang="zh-CN"/>
              <a:t>2</a:t>
            </a:r>
            <a:endParaRPr lang="zh-CN" altLang="en-US"/>
          </a:p>
        </p:txBody>
      </p:sp>
      <p:sp>
        <p:nvSpPr>
          <p:cNvPr id="236554" name="Line 10">
            <a:extLst>
              <a:ext uri="{FF2B5EF4-FFF2-40B4-BE49-F238E27FC236}">
                <a16:creationId xmlns:a16="http://schemas.microsoft.com/office/drawing/2014/main" id="{ECF4E590-066B-0CA0-C639-153930FD03F6}"/>
              </a:ext>
            </a:extLst>
          </p:cNvPr>
          <p:cNvSpPr>
            <a:spLocks noChangeShapeType="1"/>
          </p:cNvSpPr>
          <p:nvPr/>
        </p:nvSpPr>
        <p:spPr bwMode="auto">
          <a:xfrm>
            <a:off x="6084888" y="4581525"/>
            <a:ext cx="252095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6555" name="Rectangle 11">
            <a:extLst>
              <a:ext uri="{FF2B5EF4-FFF2-40B4-BE49-F238E27FC236}">
                <a16:creationId xmlns:a16="http://schemas.microsoft.com/office/drawing/2014/main" id="{F30AD720-FB95-DDAA-7ACC-F72FF799112F}"/>
              </a:ext>
            </a:extLst>
          </p:cNvPr>
          <p:cNvSpPr>
            <a:spLocks noChangeArrowheads="1"/>
          </p:cNvSpPr>
          <p:nvPr/>
        </p:nvSpPr>
        <p:spPr bwMode="auto">
          <a:xfrm>
            <a:off x="6807200" y="3744913"/>
            <a:ext cx="115093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nchor="ctr"/>
          <a:lstStyle/>
          <a:p>
            <a:pPr algn="ctr"/>
            <a:r>
              <a:rPr lang="zh-CN" altLang="en-US"/>
              <a:t>作业</a:t>
            </a:r>
            <a:r>
              <a:rPr lang="en-US" altLang="zh-CN"/>
              <a:t>3</a:t>
            </a:r>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7" presetClass="entr" presetSubtype="8" fill="hold" nodeType="afterEffect">
                                  <p:stCondLst>
                                    <p:cond delay="0"/>
                                  </p:stCondLst>
                                  <p:childTnLst>
                                    <p:set>
                                      <p:cBhvr>
                                        <p:cTn id="6" dur="1" fill="hold">
                                          <p:stCondLst>
                                            <p:cond delay="0"/>
                                          </p:stCondLst>
                                        </p:cTn>
                                        <p:tgtEl>
                                          <p:spTgt spid="236550"/>
                                        </p:tgtEl>
                                        <p:attrNameLst>
                                          <p:attrName>style.visibility</p:attrName>
                                        </p:attrNameLst>
                                      </p:cBhvr>
                                      <p:to>
                                        <p:strVal val="visible"/>
                                      </p:to>
                                    </p:set>
                                    <p:anim calcmode="lin" valueType="num">
                                      <p:cBhvr>
                                        <p:cTn id="7" dur="2000" fill="hold"/>
                                        <p:tgtEl>
                                          <p:spTgt spid="236550"/>
                                        </p:tgtEl>
                                        <p:attrNameLst>
                                          <p:attrName>ppt_x</p:attrName>
                                        </p:attrNameLst>
                                      </p:cBhvr>
                                      <p:tavLst>
                                        <p:tav tm="0">
                                          <p:val>
                                            <p:strVal val="#ppt_x-#ppt_w/2"/>
                                          </p:val>
                                        </p:tav>
                                        <p:tav tm="100000">
                                          <p:val>
                                            <p:strVal val="#ppt_x"/>
                                          </p:val>
                                        </p:tav>
                                      </p:tavLst>
                                    </p:anim>
                                    <p:anim calcmode="lin" valueType="num">
                                      <p:cBhvr>
                                        <p:cTn id="8" dur="2000" fill="hold"/>
                                        <p:tgtEl>
                                          <p:spTgt spid="236550"/>
                                        </p:tgtEl>
                                        <p:attrNameLst>
                                          <p:attrName>ppt_y</p:attrName>
                                        </p:attrNameLst>
                                      </p:cBhvr>
                                      <p:tavLst>
                                        <p:tav tm="0">
                                          <p:val>
                                            <p:strVal val="#ppt_y"/>
                                          </p:val>
                                        </p:tav>
                                        <p:tav tm="100000">
                                          <p:val>
                                            <p:strVal val="#ppt_y"/>
                                          </p:val>
                                        </p:tav>
                                      </p:tavLst>
                                    </p:anim>
                                    <p:anim calcmode="lin" valueType="num">
                                      <p:cBhvr>
                                        <p:cTn id="9" dur="2000" fill="hold"/>
                                        <p:tgtEl>
                                          <p:spTgt spid="236550"/>
                                        </p:tgtEl>
                                        <p:attrNameLst>
                                          <p:attrName>ppt_w</p:attrName>
                                        </p:attrNameLst>
                                      </p:cBhvr>
                                      <p:tavLst>
                                        <p:tav tm="0">
                                          <p:val>
                                            <p:fltVal val="0"/>
                                          </p:val>
                                        </p:tav>
                                        <p:tav tm="100000">
                                          <p:val>
                                            <p:strVal val="#ppt_w"/>
                                          </p:val>
                                        </p:tav>
                                      </p:tavLst>
                                    </p:anim>
                                    <p:anim calcmode="lin" valueType="num">
                                      <p:cBhvr>
                                        <p:cTn id="10" dur="2000" fill="hold"/>
                                        <p:tgtEl>
                                          <p:spTgt spid="236550"/>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2000"/>
                            </p:stCondLst>
                            <p:childTnLst>
                              <p:par>
                                <p:cTn id="12" presetID="10" presetClass="entr" presetSubtype="0" fill="hold" nodeType="afterEffect">
                                  <p:stCondLst>
                                    <p:cond delay="0"/>
                                  </p:stCondLst>
                                  <p:childTnLst>
                                    <p:set>
                                      <p:cBhvr>
                                        <p:cTn id="13" dur="1" fill="hold">
                                          <p:stCondLst>
                                            <p:cond delay="0"/>
                                          </p:stCondLst>
                                        </p:cTn>
                                        <p:tgtEl>
                                          <p:spTgt spid="236551"/>
                                        </p:tgtEl>
                                        <p:attrNameLst>
                                          <p:attrName>style.visibility</p:attrName>
                                        </p:attrNameLst>
                                      </p:cBhvr>
                                      <p:to>
                                        <p:strVal val="visible"/>
                                      </p:to>
                                    </p:set>
                                    <p:animEffect transition="in" filter="fade">
                                      <p:cBhvr>
                                        <p:cTn id="14" dur="2000"/>
                                        <p:tgtEl>
                                          <p:spTgt spid="236551"/>
                                        </p:tgtEl>
                                      </p:cBhvr>
                                    </p:animEffect>
                                  </p:childTnLst>
                                </p:cTn>
                              </p:par>
                            </p:childTnLst>
                          </p:cTn>
                        </p:par>
                        <p:par>
                          <p:cTn id="15" fill="hold" nodeType="afterGroup">
                            <p:stCondLst>
                              <p:cond delay="4000"/>
                            </p:stCondLst>
                            <p:childTnLst>
                              <p:par>
                                <p:cTn id="16" presetID="17" presetClass="entr" presetSubtype="8" fill="hold" nodeType="afterEffect">
                                  <p:stCondLst>
                                    <p:cond delay="0"/>
                                  </p:stCondLst>
                                  <p:childTnLst>
                                    <p:set>
                                      <p:cBhvr>
                                        <p:cTn id="17" dur="1" fill="hold">
                                          <p:stCondLst>
                                            <p:cond delay="0"/>
                                          </p:stCondLst>
                                        </p:cTn>
                                        <p:tgtEl>
                                          <p:spTgt spid="236552"/>
                                        </p:tgtEl>
                                        <p:attrNameLst>
                                          <p:attrName>style.visibility</p:attrName>
                                        </p:attrNameLst>
                                      </p:cBhvr>
                                      <p:to>
                                        <p:strVal val="visible"/>
                                      </p:to>
                                    </p:set>
                                    <p:anim calcmode="lin" valueType="num">
                                      <p:cBhvr>
                                        <p:cTn id="18" dur="2000" fill="hold"/>
                                        <p:tgtEl>
                                          <p:spTgt spid="236552"/>
                                        </p:tgtEl>
                                        <p:attrNameLst>
                                          <p:attrName>ppt_x</p:attrName>
                                        </p:attrNameLst>
                                      </p:cBhvr>
                                      <p:tavLst>
                                        <p:tav tm="0">
                                          <p:val>
                                            <p:strVal val="#ppt_x-#ppt_w/2"/>
                                          </p:val>
                                        </p:tav>
                                        <p:tav tm="100000">
                                          <p:val>
                                            <p:strVal val="#ppt_x"/>
                                          </p:val>
                                        </p:tav>
                                      </p:tavLst>
                                    </p:anim>
                                    <p:anim calcmode="lin" valueType="num">
                                      <p:cBhvr>
                                        <p:cTn id="19" dur="2000" fill="hold"/>
                                        <p:tgtEl>
                                          <p:spTgt spid="236552"/>
                                        </p:tgtEl>
                                        <p:attrNameLst>
                                          <p:attrName>ppt_y</p:attrName>
                                        </p:attrNameLst>
                                      </p:cBhvr>
                                      <p:tavLst>
                                        <p:tav tm="0">
                                          <p:val>
                                            <p:strVal val="#ppt_y"/>
                                          </p:val>
                                        </p:tav>
                                        <p:tav tm="100000">
                                          <p:val>
                                            <p:strVal val="#ppt_y"/>
                                          </p:val>
                                        </p:tav>
                                      </p:tavLst>
                                    </p:anim>
                                    <p:anim calcmode="lin" valueType="num">
                                      <p:cBhvr>
                                        <p:cTn id="20" dur="2000" fill="hold"/>
                                        <p:tgtEl>
                                          <p:spTgt spid="236552"/>
                                        </p:tgtEl>
                                        <p:attrNameLst>
                                          <p:attrName>ppt_w</p:attrName>
                                        </p:attrNameLst>
                                      </p:cBhvr>
                                      <p:tavLst>
                                        <p:tav tm="0">
                                          <p:val>
                                            <p:fltVal val="0"/>
                                          </p:val>
                                        </p:tav>
                                        <p:tav tm="100000">
                                          <p:val>
                                            <p:strVal val="#ppt_w"/>
                                          </p:val>
                                        </p:tav>
                                      </p:tavLst>
                                    </p:anim>
                                    <p:anim calcmode="lin" valueType="num">
                                      <p:cBhvr>
                                        <p:cTn id="21" dur="2000" fill="hold"/>
                                        <p:tgtEl>
                                          <p:spTgt spid="236552"/>
                                        </p:tgtEl>
                                        <p:attrNameLst>
                                          <p:attrName>ppt_h</p:attrName>
                                        </p:attrNameLst>
                                      </p:cBhvr>
                                      <p:tavLst>
                                        <p:tav tm="0">
                                          <p:val>
                                            <p:strVal val="#ppt_h"/>
                                          </p:val>
                                        </p:tav>
                                        <p:tav tm="100000">
                                          <p:val>
                                            <p:strVal val="#ppt_h"/>
                                          </p:val>
                                        </p:tav>
                                      </p:tavLst>
                                    </p:anim>
                                  </p:childTnLst>
                                </p:cTn>
                              </p:par>
                            </p:childTnLst>
                          </p:cTn>
                        </p:par>
                        <p:par>
                          <p:cTn id="22" fill="hold" nodeType="afterGroup">
                            <p:stCondLst>
                              <p:cond delay="6000"/>
                            </p:stCondLst>
                            <p:childTnLst>
                              <p:par>
                                <p:cTn id="23" presetID="10" presetClass="entr" presetSubtype="0" fill="hold" nodeType="afterEffect">
                                  <p:stCondLst>
                                    <p:cond delay="0"/>
                                  </p:stCondLst>
                                  <p:childTnLst>
                                    <p:set>
                                      <p:cBhvr>
                                        <p:cTn id="24" dur="1" fill="hold">
                                          <p:stCondLst>
                                            <p:cond delay="0"/>
                                          </p:stCondLst>
                                        </p:cTn>
                                        <p:tgtEl>
                                          <p:spTgt spid="236553"/>
                                        </p:tgtEl>
                                        <p:attrNameLst>
                                          <p:attrName>style.visibility</p:attrName>
                                        </p:attrNameLst>
                                      </p:cBhvr>
                                      <p:to>
                                        <p:strVal val="visible"/>
                                      </p:to>
                                    </p:set>
                                    <p:animEffect transition="in" filter="fade">
                                      <p:cBhvr>
                                        <p:cTn id="25" dur="2000"/>
                                        <p:tgtEl>
                                          <p:spTgt spid="236553"/>
                                        </p:tgtEl>
                                      </p:cBhvr>
                                    </p:animEffect>
                                  </p:childTnLst>
                                </p:cTn>
                              </p:par>
                            </p:childTnLst>
                          </p:cTn>
                        </p:par>
                        <p:par>
                          <p:cTn id="26" fill="hold" nodeType="afterGroup">
                            <p:stCondLst>
                              <p:cond delay="8000"/>
                            </p:stCondLst>
                            <p:childTnLst>
                              <p:par>
                                <p:cTn id="27" presetID="17" presetClass="entr" presetSubtype="8" fill="hold" nodeType="afterEffect">
                                  <p:stCondLst>
                                    <p:cond delay="0"/>
                                  </p:stCondLst>
                                  <p:childTnLst>
                                    <p:set>
                                      <p:cBhvr>
                                        <p:cTn id="28" dur="1" fill="hold">
                                          <p:stCondLst>
                                            <p:cond delay="0"/>
                                          </p:stCondLst>
                                        </p:cTn>
                                        <p:tgtEl>
                                          <p:spTgt spid="236554"/>
                                        </p:tgtEl>
                                        <p:attrNameLst>
                                          <p:attrName>style.visibility</p:attrName>
                                        </p:attrNameLst>
                                      </p:cBhvr>
                                      <p:to>
                                        <p:strVal val="visible"/>
                                      </p:to>
                                    </p:set>
                                    <p:anim calcmode="lin" valueType="num">
                                      <p:cBhvr>
                                        <p:cTn id="29" dur="2000" fill="hold"/>
                                        <p:tgtEl>
                                          <p:spTgt spid="236554"/>
                                        </p:tgtEl>
                                        <p:attrNameLst>
                                          <p:attrName>ppt_x</p:attrName>
                                        </p:attrNameLst>
                                      </p:cBhvr>
                                      <p:tavLst>
                                        <p:tav tm="0">
                                          <p:val>
                                            <p:strVal val="#ppt_x-#ppt_w/2"/>
                                          </p:val>
                                        </p:tav>
                                        <p:tav tm="100000">
                                          <p:val>
                                            <p:strVal val="#ppt_x"/>
                                          </p:val>
                                        </p:tav>
                                      </p:tavLst>
                                    </p:anim>
                                    <p:anim calcmode="lin" valueType="num">
                                      <p:cBhvr>
                                        <p:cTn id="30" dur="2000" fill="hold"/>
                                        <p:tgtEl>
                                          <p:spTgt spid="236554"/>
                                        </p:tgtEl>
                                        <p:attrNameLst>
                                          <p:attrName>ppt_y</p:attrName>
                                        </p:attrNameLst>
                                      </p:cBhvr>
                                      <p:tavLst>
                                        <p:tav tm="0">
                                          <p:val>
                                            <p:strVal val="#ppt_y"/>
                                          </p:val>
                                        </p:tav>
                                        <p:tav tm="100000">
                                          <p:val>
                                            <p:strVal val="#ppt_y"/>
                                          </p:val>
                                        </p:tav>
                                      </p:tavLst>
                                    </p:anim>
                                    <p:anim calcmode="lin" valueType="num">
                                      <p:cBhvr>
                                        <p:cTn id="31" dur="2000" fill="hold"/>
                                        <p:tgtEl>
                                          <p:spTgt spid="236554"/>
                                        </p:tgtEl>
                                        <p:attrNameLst>
                                          <p:attrName>ppt_w</p:attrName>
                                        </p:attrNameLst>
                                      </p:cBhvr>
                                      <p:tavLst>
                                        <p:tav tm="0">
                                          <p:val>
                                            <p:fltVal val="0"/>
                                          </p:val>
                                        </p:tav>
                                        <p:tav tm="100000">
                                          <p:val>
                                            <p:strVal val="#ppt_w"/>
                                          </p:val>
                                        </p:tav>
                                      </p:tavLst>
                                    </p:anim>
                                    <p:anim calcmode="lin" valueType="num">
                                      <p:cBhvr>
                                        <p:cTn id="32" dur="2000" fill="hold"/>
                                        <p:tgtEl>
                                          <p:spTgt spid="236554"/>
                                        </p:tgtEl>
                                        <p:attrNameLst>
                                          <p:attrName>ppt_h</p:attrName>
                                        </p:attrNameLst>
                                      </p:cBhvr>
                                      <p:tavLst>
                                        <p:tav tm="0">
                                          <p:val>
                                            <p:strVal val="#ppt_h"/>
                                          </p:val>
                                        </p:tav>
                                        <p:tav tm="100000">
                                          <p:val>
                                            <p:strVal val="#ppt_h"/>
                                          </p:val>
                                        </p:tav>
                                      </p:tavLst>
                                    </p:anim>
                                  </p:childTnLst>
                                </p:cTn>
                              </p:par>
                            </p:childTnLst>
                          </p:cTn>
                        </p:par>
                        <p:par>
                          <p:cTn id="33" fill="hold" nodeType="afterGroup">
                            <p:stCondLst>
                              <p:cond delay="10000"/>
                            </p:stCondLst>
                            <p:childTnLst>
                              <p:par>
                                <p:cTn id="34" presetID="10" presetClass="entr" presetSubtype="0" fill="hold" nodeType="afterEffect">
                                  <p:stCondLst>
                                    <p:cond delay="0"/>
                                  </p:stCondLst>
                                  <p:childTnLst>
                                    <p:set>
                                      <p:cBhvr>
                                        <p:cTn id="35" dur="1" fill="hold">
                                          <p:stCondLst>
                                            <p:cond delay="0"/>
                                          </p:stCondLst>
                                        </p:cTn>
                                        <p:tgtEl>
                                          <p:spTgt spid="236555"/>
                                        </p:tgtEl>
                                        <p:attrNameLst>
                                          <p:attrName>style.visibility</p:attrName>
                                        </p:attrNameLst>
                                      </p:cBhvr>
                                      <p:to>
                                        <p:strVal val="visible"/>
                                      </p:to>
                                    </p:set>
                                    <p:animEffect transition="in" filter="fade">
                                      <p:cBhvr>
                                        <p:cTn id="36" dur="2000"/>
                                        <p:tgtEl>
                                          <p:spTgt spid="236555"/>
                                        </p:tgtEl>
                                      </p:cBhvr>
                                    </p:animEffect>
                                  </p:childTnLst>
                                </p:cTn>
                              </p:par>
                            </p:childTnLst>
                          </p:cTn>
                        </p:par>
                        <p:par>
                          <p:cTn id="37" fill="hold" nodeType="afterGroup">
                            <p:stCondLst>
                              <p:cond delay="12000"/>
                            </p:stCondLst>
                            <p:childTnLst>
                              <p:par>
                                <p:cTn id="38" presetID="2" presetClass="exit" presetSubtype="2" fill="hold" nodeType="afterEffect">
                                  <p:stCondLst>
                                    <p:cond delay="0"/>
                                  </p:stCondLst>
                                  <p:childTnLst>
                                    <p:anim calcmode="lin" valueType="num">
                                      <p:cBhvr additive="base">
                                        <p:cTn id="39" dur="5000"/>
                                        <p:tgtEl>
                                          <p:spTgt spid="236551"/>
                                        </p:tgtEl>
                                        <p:attrNameLst>
                                          <p:attrName>ppt_x</p:attrName>
                                        </p:attrNameLst>
                                      </p:cBhvr>
                                      <p:tavLst>
                                        <p:tav tm="0">
                                          <p:val>
                                            <p:strVal val="ppt_x"/>
                                          </p:val>
                                        </p:tav>
                                        <p:tav tm="100000">
                                          <p:val>
                                            <p:strVal val="1+ppt_w/2"/>
                                          </p:val>
                                        </p:tav>
                                      </p:tavLst>
                                    </p:anim>
                                    <p:anim calcmode="lin" valueType="num">
                                      <p:cBhvr additive="base">
                                        <p:cTn id="40" dur="5000"/>
                                        <p:tgtEl>
                                          <p:spTgt spid="236551"/>
                                        </p:tgtEl>
                                        <p:attrNameLst>
                                          <p:attrName>ppt_y</p:attrName>
                                        </p:attrNameLst>
                                      </p:cBhvr>
                                      <p:tavLst>
                                        <p:tav tm="0">
                                          <p:val>
                                            <p:strVal val="ppt_y"/>
                                          </p:val>
                                        </p:tav>
                                        <p:tav tm="100000">
                                          <p:val>
                                            <p:strVal val="ppt_y"/>
                                          </p:val>
                                        </p:tav>
                                      </p:tavLst>
                                    </p:anim>
                                    <p:set>
                                      <p:cBhvr>
                                        <p:cTn id="41" dur="1" fill="hold">
                                          <p:stCondLst>
                                            <p:cond delay="4999"/>
                                          </p:stCondLst>
                                        </p:cTn>
                                        <p:tgtEl>
                                          <p:spTgt spid="236551"/>
                                        </p:tgtEl>
                                        <p:attrNameLst>
                                          <p:attrName>style.visibility</p:attrName>
                                        </p:attrNameLst>
                                      </p:cBhvr>
                                      <p:to>
                                        <p:strVal val="hidden"/>
                                      </p:to>
                                    </p:set>
                                  </p:childTnLst>
                                </p:cTn>
                              </p:par>
                            </p:childTnLst>
                          </p:cTn>
                        </p:par>
                        <p:par>
                          <p:cTn id="42" fill="hold" nodeType="afterGroup">
                            <p:stCondLst>
                              <p:cond delay="17000"/>
                            </p:stCondLst>
                            <p:childTnLst>
                              <p:par>
                                <p:cTn id="43" presetID="17" presetClass="entr" presetSubtype="8" fill="hold" nodeType="afterEffect">
                                  <p:stCondLst>
                                    <p:cond delay="0"/>
                                  </p:stCondLst>
                                  <p:childTnLst>
                                    <p:set>
                                      <p:cBhvr>
                                        <p:cTn id="44" dur="1" fill="hold">
                                          <p:stCondLst>
                                            <p:cond delay="0"/>
                                          </p:stCondLst>
                                        </p:cTn>
                                        <p:tgtEl>
                                          <p:spTgt spid="236550"/>
                                        </p:tgtEl>
                                        <p:attrNameLst>
                                          <p:attrName>style.visibility</p:attrName>
                                        </p:attrNameLst>
                                      </p:cBhvr>
                                      <p:to>
                                        <p:strVal val="visible"/>
                                      </p:to>
                                    </p:set>
                                    <p:anim calcmode="lin" valueType="num">
                                      <p:cBhvr>
                                        <p:cTn id="45" dur="2000" fill="hold"/>
                                        <p:tgtEl>
                                          <p:spTgt spid="236550"/>
                                        </p:tgtEl>
                                        <p:attrNameLst>
                                          <p:attrName>ppt_x</p:attrName>
                                        </p:attrNameLst>
                                      </p:cBhvr>
                                      <p:tavLst>
                                        <p:tav tm="0">
                                          <p:val>
                                            <p:strVal val="#ppt_x-#ppt_w/2"/>
                                          </p:val>
                                        </p:tav>
                                        <p:tav tm="100000">
                                          <p:val>
                                            <p:strVal val="#ppt_x"/>
                                          </p:val>
                                        </p:tav>
                                      </p:tavLst>
                                    </p:anim>
                                    <p:anim calcmode="lin" valueType="num">
                                      <p:cBhvr>
                                        <p:cTn id="46" dur="2000" fill="hold"/>
                                        <p:tgtEl>
                                          <p:spTgt spid="236550"/>
                                        </p:tgtEl>
                                        <p:attrNameLst>
                                          <p:attrName>ppt_y</p:attrName>
                                        </p:attrNameLst>
                                      </p:cBhvr>
                                      <p:tavLst>
                                        <p:tav tm="0">
                                          <p:val>
                                            <p:strVal val="#ppt_y"/>
                                          </p:val>
                                        </p:tav>
                                        <p:tav tm="100000">
                                          <p:val>
                                            <p:strVal val="#ppt_y"/>
                                          </p:val>
                                        </p:tav>
                                      </p:tavLst>
                                    </p:anim>
                                    <p:anim calcmode="lin" valueType="num">
                                      <p:cBhvr>
                                        <p:cTn id="47" dur="2000" fill="hold"/>
                                        <p:tgtEl>
                                          <p:spTgt spid="236550"/>
                                        </p:tgtEl>
                                        <p:attrNameLst>
                                          <p:attrName>ppt_w</p:attrName>
                                        </p:attrNameLst>
                                      </p:cBhvr>
                                      <p:tavLst>
                                        <p:tav tm="0">
                                          <p:val>
                                            <p:fltVal val="0"/>
                                          </p:val>
                                        </p:tav>
                                        <p:tav tm="100000">
                                          <p:val>
                                            <p:strVal val="#ppt_w"/>
                                          </p:val>
                                        </p:tav>
                                      </p:tavLst>
                                    </p:anim>
                                    <p:anim calcmode="lin" valueType="num">
                                      <p:cBhvr>
                                        <p:cTn id="48" dur="2000" fill="hold"/>
                                        <p:tgtEl>
                                          <p:spTgt spid="236550"/>
                                        </p:tgtEl>
                                        <p:attrNameLst>
                                          <p:attrName>ppt_h</p:attrName>
                                        </p:attrNameLst>
                                      </p:cBhvr>
                                      <p:tavLst>
                                        <p:tav tm="0">
                                          <p:val>
                                            <p:strVal val="#ppt_h"/>
                                          </p:val>
                                        </p:tav>
                                        <p:tav tm="100000">
                                          <p:val>
                                            <p:strVal val="#ppt_h"/>
                                          </p:val>
                                        </p:tav>
                                      </p:tavLst>
                                    </p:anim>
                                  </p:childTnLst>
                                </p:cTn>
                              </p:par>
                            </p:childTnLst>
                          </p:cTn>
                        </p:par>
                        <p:par>
                          <p:cTn id="49" fill="hold" nodeType="afterGroup">
                            <p:stCondLst>
                              <p:cond delay="19000"/>
                            </p:stCondLst>
                            <p:childTnLst>
                              <p:par>
                                <p:cTn id="50" presetID="10" presetClass="entr" presetSubtype="0" fill="hold" nodeType="afterEffect">
                                  <p:stCondLst>
                                    <p:cond delay="0"/>
                                  </p:stCondLst>
                                  <p:childTnLst>
                                    <p:set>
                                      <p:cBhvr>
                                        <p:cTn id="51" dur="1" fill="hold">
                                          <p:stCondLst>
                                            <p:cond delay="0"/>
                                          </p:stCondLst>
                                        </p:cTn>
                                        <p:tgtEl>
                                          <p:spTgt spid="236551"/>
                                        </p:tgtEl>
                                        <p:attrNameLst>
                                          <p:attrName>style.visibility</p:attrName>
                                        </p:attrNameLst>
                                      </p:cBhvr>
                                      <p:to>
                                        <p:strVal val="visible"/>
                                      </p:to>
                                    </p:set>
                                    <p:animEffect transition="in" filter="fade">
                                      <p:cBhvr>
                                        <p:cTn id="52" dur="2000"/>
                                        <p:tgtEl>
                                          <p:spTgt spid="236551"/>
                                        </p:tgtEl>
                                      </p:cBhvr>
                                    </p:animEffect>
                                  </p:childTnLst>
                                </p:cTn>
                              </p:par>
                            </p:childTnLst>
                          </p:cTn>
                        </p:par>
                        <p:par>
                          <p:cTn id="53" fill="hold" nodeType="afterGroup">
                            <p:stCondLst>
                              <p:cond delay="21000"/>
                            </p:stCondLst>
                            <p:childTnLst>
                              <p:par>
                                <p:cTn id="54" presetID="17" presetClass="entr" presetSubtype="8" fill="hold" nodeType="afterEffect">
                                  <p:stCondLst>
                                    <p:cond delay="0"/>
                                  </p:stCondLst>
                                  <p:childTnLst>
                                    <p:set>
                                      <p:cBhvr>
                                        <p:cTn id="55" dur="1" fill="hold">
                                          <p:stCondLst>
                                            <p:cond delay="0"/>
                                          </p:stCondLst>
                                        </p:cTn>
                                        <p:tgtEl>
                                          <p:spTgt spid="236552"/>
                                        </p:tgtEl>
                                        <p:attrNameLst>
                                          <p:attrName>style.visibility</p:attrName>
                                        </p:attrNameLst>
                                      </p:cBhvr>
                                      <p:to>
                                        <p:strVal val="visible"/>
                                      </p:to>
                                    </p:set>
                                    <p:anim calcmode="lin" valueType="num">
                                      <p:cBhvr>
                                        <p:cTn id="56" dur="2000" fill="hold"/>
                                        <p:tgtEl>
                                          <p:spTgt spid="236552"/>
                                        </p:tgtEl>
                                        <p:attrNameLst>
                                          <p:attrName>ppt_x</p:attrName>
                                        </p:attrNameLst>
                                      </p:cBhvr>
                                      <p:tavLst>
                                        <p:tav tm="0">
                                          <p:val>
                                            <p:strVal val="#ppt_x-#ppt_w/2"/>
                                          </p:val>
                                        </p:tav>
                                        <p:tav tm="100000">
                                          <p:val>
                                            <p:strVal val="#ppt_x"/>
                                          </p:val>
                                        </p:tav>
                                      </p:tavLst>
                                    </p:anim>
                                    <p:anim calcmode="lin" valueType="num">
                                      <p:cBhvr>
                                        <p:cTn id="57" dur="2000" fill="hold"/>
                                        <p:tgtEl>
                                          <p:spTgt spid="236552"/>
                                        </p:tgtEl>
                                        <p:attrNameLst>
                                          <p:attrName>ppt_y</p:attrName>
                                        </p:attrNameLst>
                                      </p:cBhvr>
                                      <p:tavLst>
                                        <p:tav tm="0">
                                          <p:val>
                                            <p:strVal val="#ppt_y"/>
                                          </p:val>
                                        </p:tav>
                                        <p:tav tm="100000">
                                          <p:val>
                                            <p:strVal val="#ppt_y"/>
                                          </p:val>
                                        </p:tav>
                                      </p:tavLst>
                                    </p:anim>
                                    <p:anim calcmode="lin" valueType="num">
                                      <p:cBhvr>
                                        <p:cTn id="58" dur="2000" fill="hold"/>
                                        <p:tgtEl>
                                          <p:spTgt spid="236552"/>
                                        </p:tgtEl>
                                        <p:attrNameLst>
                                          <p:attrName>ppt_w</p:attrName>
                                        </p:attrNameLst>
                                      </p:cBhvr>
                                      <p:tavLst>
                                        <p:tav tm="0">
                                          <p:val>
                                            <p:fltVal val="0"/>
                                          </p:val>
                                        </p:tav>
                                        <p:tav tm="100000">
                                          <p:val>
                                            <p:strVal val="#ppt_w"/>
                                          </p:val>
                                        </p:tav>
                                      </p:tavLst>
                                    </p:anim>
                                    <p:anim calcmode="lin" valueType="num">
                                      <p:cBhvr>
                                        <p:cTn id="59" dur="2000" fill="hold"/>
                                        <p:tgtEl>
                                          <p:spTgt spid="236552"/>
                                        </p:tgtEl>
                                        <p:attrNameLst>
                                          <p:attrName>ppt_h</p:attrName>
                                        </p:attrNameLst>
                                      </p:cBhvr>
                                      <p:tavLst>
                                        <p:tav tm="0">
                                          <p:val>
                                            <p:strVal val="#ppt_h"/>
                                          </p:val>
                                        </p:tav>
                                        <p:tav tm="100000">
                                          <p:val>
                                            <p:strVal val="#ppt_h"/>
                                          </p:val>
                                        </p:tav>
                                      </p:tavLst>
                                    </p:anim>
                                  </p:childTnLst>
                                </p:cTn>
                              </p:par>
                            </p:childTnLst>
                          </p:cTn>
                        </p:par>
                        <p:par>
                          <p:cTn id="60" fill="hold" nodeType="afterGroup">
                            <p:stCondLst>
                              <p:cond delay="23000"/>
                            </p:stCondLst>
                            <p:childTnLst>
                              <p:par>
                                <p:cTn id="61" presetID="10" presetClass="entr" presetSubtype="0" fill="hold" nodeType="afterEffect">
                                  <p:stCondLst>
                                    <p:cond delay="0"/>
                                  </p:stCondLst>
                                  <p:childTnLst>
                                    <p:set>
                                      <p:cBhvr>
                                        <p:cTn id="62" dur="1" fill="hold">
                                          <p:stCondLst>
                                            <p:cond delay="0"/>
                                          </p:stCondLst>
                                        </p:cTn>
                                        <p:tgtEl>
                                          <p:spTgt spid="236553"/>
                                        </p:tgtEl>
                                        <p:attrNameLst>
                                          <p:attrName>style.visibility</p:attrName>
                                        </p:attrNameLst>
                                      </p:cBhvr>
                                      <p:to>
                                        <p:strVal val="visible"/>
                                      </p:to>
                                    </p:set>
                                    <p:animEffect transition="in" filter="fade">
                                      <p:cBhvr>
                                        <p:cTn id="63" dur="2000"/>
                                        <p:tgtEl>
                                          <p:spTgt spid="236553"/>
                                        </p:tgtEl>
                                      </p:cBhvr>
                                    </p:animEffect>
                                  </p:childTnLst>
                                </p:cTn>
                              </p:par>
                            </p:childTnLst>
                          </p:cTn>
                        </p:par>
                        <p:par>
                          <p:cTn id="64" fill="hold" nodeType="afterGroup">
                            <p:stCondLst>
                              <p:cond delay="25000"/>
                            </p:stCondLst>
                            <p:childTnLst>
                              <p:par>
                                <p:cTn id="65" presetID="17" presetClass="entr" presetSubtype="8" fill="hold" nodeType="afterEffect">
                                  <p:stCondLst>
                                    <p:cond delay="0"/>
                                  </p:stCondLst>
                                  <p:childTnLst>
                                    <p:set>
                                      <p:cBhvr>
                                        <p:cTn id="66" dur="1" fill="hold">
                                          <p:stCondLst>
                                            <p:cond delay="0"/>
                                          </p:stCondLst>
                                        </p:cTn>
                                        <p:tgtEl>
                                          <p:spTgt spid="236554"/>
                                        </p:tgtEl>
                                        <p:attrNameLst>
                                          <p:attrName>style.visibility</p:attrName>
                                        </p:attrNameLst>
                                      </p:cBhvr>
                                      <p:to>
                                        <p:strVal val="visible"/>
                                      </p:to>
                                    </p:set>
                                    <p:anim calcmode="lin" valueType="num">
                                      <p:cBhvr>
                                        <p:cTn id="67" dur="2000" fill="hold"/>
                                        <p:tgtEl>
                                          <p:spTgt spid="236554"/>
                                        </p:tgtEl>
                                        <p:attrNameLst>
                                          <p:attrName>ppt_x</p:attrName>
                                        </p:attrNameLst>
                                      </p:cBhvr>
                                      <p:tavLst>
                                        <p:tav tm="0">
                                          <p:val>
                                            <p:strVal val="#ppt_x-#ppt_w/2"/>
                                          </p:val>
                                        </p:tav>
                                        <p:tav tm="100000">
                                          <p:val>
                                            <p:strVal val="#ppt_x"/>
                                          </p:val>
                                        </p:tav>
                                      </p:tavLst>
                                    </p:anim>
                                    <p:anim calcmode="lin" valueType="num">
                                      <p:cBhvr>
                                        <p:cTn id="68" dur="2000" fill="hold"/>
                                        <p:tgtEl>
                                          <p:spTgt spid="236554"/>
                                        </p:tgtEl>
                                        <p:attrNameLst>
                                          <p:attrName>ppt_y</p:attrName>
                                        </p:attrNameLst>
                                      </p:cBhvr>
                                      <p:tavLst>
                                        <p:tav tm="0">
                                          <p:val>
                                            <p:strVal val="#ppt_y"/>
                                          </p:val>
                                        </p:tav>
                                        <p:tav tm="100000">
                                          <p:val>
                                            <p:strVal val="#ppt_y"/>
                                          </p:val>
                                        </p:tav>
                                      </p:tavLst>
                                    </p:anim>
                                    <p:anim calcmode="lin" valueType="num">
                                      <p:cBhvr>
                                        <p:cTn id="69" dur="2000" fill="hold"/>
                                        <p:tgtEl>
                                          <p:spTgt spid="236554"/>
                                        </p:tgtEl>
                                        <p:attrNameLst>
                                          <p:attrName>ppt_w</p:attrName>
                                        </p:attrNameLst>
                                      </p:cBhvr>
                                      <p:tavLst>
                                        <p:tav tm="0">
                                          <p:val>
                                            <p:fltVal val="0"/>
                                          </p:val>
                                        </p:tav>
                                        <p:tav tm="100000">
                                          <p:val>
                                            <p:strVal val="#ppt_w"/>
                                          </p:val>
                                        </p:tav>
                                      </p:tavLst>
                                    </p:anim>
                                    <p:anim calcmode="lin" valueType="num">
                                      <p:cBhvr>
                                        <p:cTn id="70" dur="2000" fill="hold"/>
                                        <p:tgtEl>
                                          <p:spTgt spid="236554"/>
                                        </p:tgtEl>
                                        <p:attrNameLst>
                                          <p:attrName>ppt_h</p:attrName>
                                        </p:attrNameLst>
                                      </p:cBhvr>
                                      <p:tavLst>
                                        <p:tav tm="0">
                                          <p:val>
                                            <p:strVal val="#ppt_h"/>
                                          </p:val>
                                        </p:tav>
                                        <p:tav tm="100000">
                                          <p:val>
                                            <p:strVal val="#ppt_h"/>
                                          </p:val>
                                        </p:tav>
                                      </p:tavLst>
                                    </p:anim>
                                  </p:childTnLst>
                                </p:cTn>
                              </p:par>
                            </p:childTnLst>
                          </p:cTn>
                        </p:par>
                        <p:par>
                          <p:cTn id="71" fill="hold" nodeType="afterGroup">
                            <p:stCondLst>
                              <p:cond delay="27000"/>
                            </p:stCondLst>
                            <p:childTnLst>
                              <p:par>
                                <p:cTn id="72" presetID="10" presetClass="entr" presetSubtype="0" fill="hold" nodeType="afterEffect">
                                  <p:stCondLst>
                                    <p:cond delay="0"/>
                                  </p:stCondLst>
                                  <p:childTnLst>
                                    <p:set>
                                      <p:cBhvr>
                                        <p:cTn id="73" dur="1" fill="hold">
                                          <p:stCondLst>
                                            <p:cond delay="0"/>
                                          </p:stCondLst>
                                        </p:cTn>
                                        <p:tgtEl>
                                          <p:spTgt spid="236555"/>
                                        </p:tgtEl>
                                        <p:attrNameLst>
                                          <p:attrName>style.visibility</p:attrName>
                                        </p:attrNameLst>
                                      </p:cBhvr>
                                      <p:to>
                                        <p:strVal val="visible"/>
                                      </p:to>
                                    </p:set>
                                    <p:animEffect transition="in" filter="fade">
                                      <p:cBhvr>
                                        <p:cTn id="74" dur="2000"/>
                                        <p:tgtEl>
                                          <p:spTgt spid="236555"/>
                                        </p:tgtEl>
                                      </p:cBhvr>
                                    </p:animEffect>
                                  </p:childTnLst>
                                </p:cTn>
                              </p:par>
                            </p:childTnLst>
                          </p:cTn>
                        </p:par>
                        <p:par>
                          <p:cTn id="75" fill="hold" nodeType="afterGroup">
                            <p:stCondLst>
                              <p:cond delay="29000"/>
                            </p:stCondLst>
                            <p:childTnLst>
                              <p:par>
                                <p:cTn id="76" presetID="2" presetClass="exit" presetSubtype="2" fill="hold" nodeType="afterEffect">
                                  <p:stCondLst>
                                    <p:cond delay="0"/>
                                  </p:stCondLst>
                                  <p:childTnLst>
                                    <p:anim calcmode="lin" valueType="num">
                                      <p:cBhvr additive="base">
                                        <p:cTn id="77" dur="5000"/>
                                        <p:tgtEl>
                                          <p:spTgt spid="236551"/>
                                        </p:tgtEl>
                                        <p:attrNameLst>
                                          <p:attrName>ppt_x</p:attrName>
                                        </p:attrNameLst>
                                      </p:cBhvr>
                                      <p:tavLst>
                                        <p:tav tm="0">
                                          <p:val>
                                            <p:strVal val="ppt_x"/>
                                          </p:val>
                                        </p:tav>
                                        <p:tav tm="100000">
                                          <p:val>
                                            <p:strVal val="1+ppt_w/2"/>
                                          </p:val>
                                        </p:tav>
                                      </p:tavLst>
                                    </p:anim>
                                    <p:anim calcmode="lin" valueType="num">
                                      <p:cBhvr additive="base">
                                        <p:cTn id="78" dur="5000"/>
                                        <p:tgtEl>
                                          <p:spTgt spid="236551"/>
                                        </p:tgtEl>
                                        <p:attrNameLst>
                                          <p:attrName>ppt_y</p:attrName>
                                        </p:attrNameLst>
                                      </p:cBhvr>
                                      <p:tavLst>
                                        <p:tav tm="0">
                                          <p:val>
                                            <p:strVal val="ppt_y"/>
                                          </p:val>
                                        </p:tav>
                                        <p:tav tm="100000">
                                          <p:val>
                                            <p:strVal val="ppt_y"/>
                                          </p:val>
                                        </p:tav>
                                      </p:tavLst>
                                    </p:anim>
                                    <p:set>
                                      <p:cBhvr>
                                        <p:cTn id="79" dur="1" fill="hold">
                                          <p:stCondLst>
                                            <p:cond delay="4999"/>
                                          </p:stCondLst>
                                        </p:cTn>
                                        <p:tgtEl>
                                          <p:spTgt spid="236551"/>
                                        </p:tgtEl>
                                        <p:attrNameLst>
                                          <p:attrName>style.visibility</p:attrName>
                                        </p:attrNameLst>
                                      </p:cBhvr>
                                      <p:to>
                                        <p:strVal val="hidden"/>
                                      </p:to>
                                    </p:set>
                                  </p:childTnLst>
                                </p:cTn>
                              </p:par>
                            </p:childTnLst>
                          </p:cTn>
                        </p:par>
                        <p:par>
                          <p:cTn id="80" fill="hold" nodeType="afterGroup">
                            <p:stCondLst>
                              <p:cond delay="34000"/>
                            </p:stCondLst>
                            <p:childTnLst>
                              <p:par>
                                <p:cTn id="81" presetID="2" presetClass="exit" presetSubtype="2" fill="hold" nodeType="afterEffect">
                                  <p:stCondLst>
                                    <p:cond delay="0"/>
                                  </p:stCondLst>
                                  <p:childTnLst>
                                    <p:anim calcmode="lin" valueType="num">
                                      <p:cBhvr additive="base">
                                        <p:cTn id="82" dur="5000"/>
                                        <p:tgtEl>
                                          <p:spTgt spid="236553"/>
                                        </p:tgtEl>
                                        <p:attrNameLst>
                                          <p:attrName>ppt_x</p:attrName>
                                        </p:attrNameLst>
                                      </p:cBhvr>
                                      <p:tavLst>
                                        <p:tav tm="0">
                                          <p:val>
                                            <p:strVal val="ppt_x"/>
                                          </p:val>
                                        </p:tav>
                                        <p:tav tm="100000">
                                          <p:val>
                                            <p:strVal val="1+ppt_w/2"/>
                                          </p:val>
                                        </p:tav>
                                      </p:tavLst>
                                    </p:anim>
                                    <p:anim calcmode="lin" valueType="num">
                                      <p:cBhvr additive="base">
                                        <p:cTn id="83" dur="5000"/>
                                        <p:tgtEl>
                                          <p:spTgt spid="236553"/>
                                        </p:tgtEl>
                                        <p:attrNameLst>
                                          <p:attrName>ppt_y</p:attrName>
                                        </p:attrNameLst>
                                      </p:cBhvr>
                                      <p:tavLst>
                                        <p:tav tm="0">
                                          <p:val>
                                            <p:strVal val="ppt_y"/>
                                          </p:val>
                                        </p:tav>
                                        <p:tav tm="100000">
                                          <p:val>
                                            <p:strVal val="ppt_y"/>
                                          </p:val>
                                        </p:tav>
                                      </p:tavLst>
                                    </p:anim>
                                    <p:set>
                                      <p:cBhvr>
                                        <p:cTn id="84" dur="1" fill="hold">
                                          <p:stCondLst>
                                            <p:cond delay="4999"/>
                                          </p:stCondLst>
                                        </p:cTn>
                                        <p:tgtEl>
                                          <p:spTgt spid="236553"/>
                                        </p:tgtEl>
                                        <p:attrNameLst>
                                          <p:attrName>style.visibility</p:attrName>
                                        </p:attrNameLst>
                                      </p:cBhvr>
                                      <p:to>
                                        <p:strVal val="hidden"/>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2" presetClass="exit" presetSubtype="2" fill="hold" nodeType="clickEffect">
                                  <p:stCondLst>
                                    <p:cond delay="0"/>
                                  </p:stCondLst>
                                  <p:childTnLst>
                                    <p:anim calcmode="lin" valueType="num">
                                      <p:cBhvr additive="base">
                                        <p:cTn id="88" dur="5000"/>
                                        <p:tgtEl>
                                          <p:spTgt spid="236555"/>
                                        </p:tgtEl>
                                        <p:attrNameLst>
                                          <p:attrName>ppt_x</p:attrName>
                                        </p:attrNameLst>
                                      </p:cBhvr>
                                      <p:tavLst>
                                        <p:tav tm="0">
                                          <p:val>
                                            <p:strVal val="ppt_x"/>
                                          </p:val>
                                        </p:tav>
                                        <p:tav tm="100000">
                                          <p:val>
                                            <p:strVal val="1+ppt_w/2"/>
                                          </p:val>
                                        </p:tav>
                                      </p:tavLst>
                                    </p:anim>
                                    <p:anim calcmode="lin" valueType="num">
                                      <p:cBhvr additive="base">
                                        <p:cTn id="89" dur="5000"/>
                                        <p:tgtEl>
                                          <p:spTgt spid="236555"/>
                                        </p:tgtEl>
                                        <p:attrNameLst>
                                          <p:attrName>ppt_y</p:attrName>
                                        </p:attrNameLst>
                                      </p:cBhvr>
                                      <p:tavLst>
                                        <p:tav tm="0">
                                          <p:val>
                                            <p:strVal val="ppt_y"/>
                                          </p:val>
                                        </p:tav>
                                        <p:tav tm="100000">
                                          <p:val>
                                            <p:strVal val="ppt_y"/>
                                          </p:val>
                                        </p:tav>
                                      </p:tavLst>
                                    </p:anim>
                                    <p:set>
                                      <p:cBhvr>
                                        <p:cTn id="90" dur="1" fill="hold">
                                          <p:stCondLst>
                                            <p:cond delay="4999"/>
                                          </p:stCondLst>
                                        </p:cTn>
                                        <p:tgtEl>
                                          <p:spTgt spid="236555"/>
                                        </p:tgtEl>
                                        <p:attrNameLst>
                                          <p:attrName>style.visibility</p:attrName>
                                        </p:attrNameLst>
                                      </p:cBhvr>
                                      <p:to>
                                        <p:strVal val="hidden"/>
                                      </p:to>
                                    </p:set>
                                  </p:childTnLst>
                                </p:cTn>
                              </p:par>
                            </p:childTnLst>
                          </p:cTn>
                        </p:par>
                        <p:par>
                          <p:cTn id="91" fill="hold" nodeType="afterGroup">
                            <p:stCondLst>
                              <p:cond delay="5000"/>
                            </p:stCondLst>
                            <p:childTnLst>
                              <p:par>
                                <p:cTn id="92" presetID="22" presetClass="exit" presetSubtype="8" fill="hold" nodeType="afterEffect">
                                  <p:stCondLst>
                                    <p:cond delay="0"/>
                                  </p:stCondLst>
                                  <p:childTnLst>
                                    <p:animEffect transition="out" filter="wipe(left)">
                                      <p:cBhvr>
                                        <p:cTn id="93" dur="5000"/>
                                        <p:tgtEl>
                                          <p:spTgt spid="236554"/>
                                        </p:tgtEl>
                                      </p:cBhvr>
                                    </p:animEffect>
                                    <p:set>
                                      <p:cBhvr>
                                        <p:cTn id="94" dur="1" fill="hold">
                                          <p:stCondLst>
                                            <p:cond delay="4999"/>
                                          </p:stCondLst>
                                        </p:cTn>
                                        <p:tgtEl>
                                          <p:spTgt spid="236554"/>
                                        </p:tgtEl>
                                        <p:attrNameLst>
                                          <p:attrName>style.visibility</p:attrName>
                                        </p:attrNameLst>
                                      </p:cBhvr>
                                      <p:to>
                                        <p:strVal val="hidden"/>
                                      </p:to>
                                    </p:set>
                                  </p:childTnLst>
                                </p:cTn>
                              </p:par>
                            </p:childTnLst>
                          </p:cTn>
                        </p:par>
                        <p:par>
                          <p:cTn id="95" fill="hold" nodeType="afterGroup">
                            <p:stCondLst>
                              <p:cond delay="10000"/>
                            </p:stCondLst>
                            <p:childTnLst>
                              <p:par>
                                <p:cTn id="96" presetID="2" presetClass="exit" presetSubtype="2" fill="hold" nodeType="afterEffect">
                                  <p:stCondLst>
                                    <p:cond delay="0"/>
                                  </p:stCondLst>
                                  <p:childTnLst>
                                    <p:anim calcmode="lin" valueType="num">
                                      <p:cBhvr additive="base">
                                        <p:cTn id="97" dur="5000"/>
                                        <p:tgtEl>
                                          <p:spTgt spid="236553"/>
                                        </p:tgtEl>
                                        <p:attrNameLst>
                                          <p:attrName>ppt_x</p:attrName>
                                        </p:attrNameLst>
                                      </p:cBhvr>
                                      <p:tavLst>
                                        <p:tav tm="0">
                                          <p:val>
                                            <p:strVal val="ppt_x"/>
                                          </p:val>
                                        </p:tav>
                                        <p:tav tm="100000">
                                          <p:val>
                                            <p:strVal val="1+ppt_w/2"/>
                                          </p:val>
                                        </p:tav>
                                      </p:tavLst>
                                    </p:anim>
                                    <p:anim calcmode="lin" valueType="num">
                                      <p:cBhvr additive="base">
                                        <p:cTn id="98" dur="5000"/>
                                        <p:tgtEl>
                                          <p:spTgt spid="236553"/>
                                        </p:tgtEl>
                                        <p:attrNameLst>
                                          <p:attrName>ppt_y</p:attrName>
                                        </p:attrNameLst>
                                      </p:cBhvr>
                                      <p:tavLst>
                                        <p:tav tm="0">
                                          <p:val>
                                            <p:strVal val="ppt_y"/>
                                          </p:val>
                                        </p:tav>
                                        <p:tav tm="100000">
                                          <p:val>
                                            <p:strVal val="ppt_y"/>
                                          </p:val>
                                        </p:tav>
                                      </p:tavLst>
                                    </p:anim>
                                    <p:set>
                                      <p:cBhvr>
                                        <p:cTn id="99" dur="1" fill="hold">
                                          <p:stCondLst>
                                            <p:cond delay="4999"/>
                                          </p:stCondLst>
                                        </p:cTn>
                                        <p:tgtEl>
                                          <p:spTgt spid="236553"/>
                                        </p:tgtEl>
                                        <p:attrNameLst>
                                          <p:attrName>style.visibility</p:attrName>
                                        </p:attrNameLst>
                                      </p:cBhvr>
                                      <p:to>
                                        <p:strVal val="hidden"/>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xit" presetSubtype="8" fill="hold" nodeType="clickEffect">
                                  <p:stCondLst>
                                    <p:cond delay="0"/>
                                  </p:stCondLst>
                                  <p:childTnLst>
                                    <p:animEffect transition="out" filter="wipe(left)">
                                      <p:cBhvr>
                                        <p:cTn id="103" dur="5000"/>
                                        <p:tgtEl>
                                          <p:spTgt spid="236552"/>
                                        </p:tgtEl>
                                      </p:cBhvr>
                                    </p:animEffect>
                                    <p:set>
                                      <p:cBhvr>
                                        <p:cTn id="104" dur="1" fill="hold">
                                          <p:stCondLst>
                                            <p:cond delay="4999"/>
                                          </p:stCondLst>
                                        </p:cTn>
                                        <p:tgtEl>
                                          <p:spTgt spid="236552"/>
                                        </p:tgtEl>
                                        <p:attrNameLst>
                                          <p:attrName>style.visibility</p:attrName>
                                        </p:attrNameLst>
                                      </p:cBhvr>
                                      <p:to>
                                        <p:strVal val="hidden"/>
                                      </p:to>
                                    </p:set>
                                  </p:childTnLst>
                                </p:cTn>
                              </p:par>
                            </p:childTnLst>
                          </p:cTn>
                        </p:par>
                        <p:par>
                          <p:cTn id="105" fill="hold" nodeType="afterGroup">
                            <p:stCondLst>
                              <p:cond delay="5000"/>
                            </p:stCondLst>
                            <p:childTnLst>
                              <p:par>
                                <p:cTn id="106" presetID="22" presetClass="exit" presetSubtype="8" fill="hold" nodeType="afterEffect">
                                  <p:stCondLst>
                                    <p:cond delay="0"/>
                                  </p:stCondLst>
                                  <p:childTnLst>
                                    <p:animEffect transition="out" filter="wipe(left)">
                                      <p:cBhvr>
                                        <p:cTn id="107" dur="5000"/>
                                        <p:tgtEl>
                                          <p:spTgt spid="236550"/>
                                        </p:tgtEl>
                                      </p:cBhvr>
                                    </p:animEffect>
                                    <p:set>
                                      <p:cBhvr>
                                        <p:cTn id="108" dur="1" fill="hold">
                                          <p:stCondLst>
                                            <p:cond delay="4999"/>
                                          </p:stCondLst>
                                        </p:cTn>
                                        <p:tgtEl>
                                          <p:spTgt spid="2365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51" grpId="0"/>
      <p:bldP spid="236551" grpId="1"/>
      <p:bldP spid="236553" grpId="0"/>
      <p:bldP spid="236553" grpId="1"/>
      <p:bldP spid="236555" grpId="0"/>
      <p:bldP spid="236555"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144425F2-7277-AAB4-920B-DD50166A7A6B}"/>
              </a:ext>
            </a:extLst>
          </p:cNvPr>
          <p:cNvSpPr>
            <a:spLocks noGrp="1" noChangeArrowheads="1"/>
          </p:cNvSpPr>
          <p:nvPr>
            <p:ph type="title"/>
          </p:nvPr>
        </p:nvSpPr>
        <p:spPr>
          <a:xfrm>
            <a:off x="1042988" y="225431"/>
            <a:ext cx="7850187" cy="746125"/>
          </a:xfrm>
        </p:spPr>
        <p:txBody>
          <a:bodyPr/>
          <a:lstStyle/>
          <a:p>
            <a:r>
              <a:rPr lang="zh-CN" altLang="en-US"/>
              <a:t>空闲分区表示意图</a:t>
            </a:r>
          </a:p>
        </p:txBody>
      </p:sp>
      <p:sp>
        <p:nvSpPr>
          <p:cNvPr id="49154" name="Rectangle 31">
            <a:extLst>
              <a:ext uri="{FF2B5EF4-FFF2-40B4-BE49-F238E27FC236}">
                <a16:creationId xmlns:a16="http://schemas.microsoft.com/office/drawing/2014/main" id="{31E3E81A-9993-F906-80EB-E496857A2A8C}"/>
              </a:ext>
            </a:extLst>
          </p:cNvPr>
          <p:cNvSpPr>
            <a:spLocks noChangeArrowheads="1"/>
          </p:cNvSpPr>
          <p:nvPr/>
        </p:nvSpPr>
        <p:spPr bwMode="auto">
          <a:xfrm>
            <a:off x="4608513" y="1789113"/>
            <a:ext cx="3276600" cy="3535362"/>
          </a:xfrm>
          <a:prstGeom prst="rect">
            <a:avLst/>
          </a:prstGeom>
          <a:solidFill>
            <a:srgbClr val="FFFFFF"/>
          </a:solidFill>
          <a:ln w="25400">
            <a:solidFill>
              <a:srgbClr val="000000"/>
            </a:solidFill>
            <a:miter lim="800000"/>
            <a:headEnd/>
            <a:tailEnd/>
          </a:ln>
        </p:spPr>
        <p:txBody>
          <a:bodyPr tIns="72000"/>
          <a:lstStyle/>
          <a:p>
            <a:pPr algn="just" eaLnBrk="0" hangingPunct="0"/>
            <a:r>
              <a:rPr lang="zh-CN" altLang="en-US" sz="2200">
                <a:latin typeface="Times New Roman" panose="02020603050405020304" pitchFamily="18" charset="0"/>
              </a:rPr>
              <a:t>分区号   大小    起始地址 </a:t>
            </a:r>
          </a:p>
          <a:p>
            <a:pPr algn="just" eaLnBrk="0" hangingPunct="0"/>
            <a:endParaRPr lang="zh-CN" altLang="en-US" sz="1600">
              <a:latin typeface="Times New Roman" panose="02020603050405020304" pitchFamily="18" charset="0"/>
            </a:endParaRPr>
          </a:p>
          <a:p>
            <a:pPr algn="just" eaLnBrk="0" hangingPunct="0"/>
            <a:r>
              <a:rPr lang="zh-CN" altLang="en-US" sz="2200">
                <a:latin typeface="Times New Roman" panose="02020603050405020304" pitchFamily="18" charset="0"/>
              </a:rPr>
              <a:t>    1           8</a:t>
            </a:r>
            <a:r>
              <a:rPr lang="en-US" altLang="zh-CN" sz="2200">
                <a:latin typeface="Times New Roman" panose="02020603050405020304" pitchFamily="18" charset="0"/>
              </a:rPr>
              <a:t>KB      24KB</a:t>
            </a:r>
            <a:endParaRPr lang="zh-CN" altLang="en-US" sz="2200">
              <a:latin typeface="Times New Roman" panose="02020603050405020304" pitchFamily="18" charset="0"/>
            </a:endParaRPr>
          </a:p>
          <a:p>
            <a:pPr algn="just" eaLnBrk="0" hangingPunct="0"/>
            <a:r>
              <a:rPr lang="zh-CN" altLang="en-US" sz="2200">
                <a:latin typeface="Times New Roman" panose="02020603050405020304" pitchFamily="18" charset="0"/>
              </a:rPr>
              <a:t>  </a:t>
            </a:r>
          </a:p>
          <a:p>
            <a:pPr algn="just" eaLnBrk="0" hangingPunct="0"/>
            <a:r>
              <a:rPr lang="zh-CN" altLang="en-US" sz="2200">
                <a:latin typeface="Times New Roman" panose="02020603050405020304" pitchFamily="18" charset="0"/>
              </a:rPr>
              <a:t>    2         12</a:t>
            </a:r>
            <a:r>
              <a:rPr lang="en-US" altLang="zh-CN" sz="2200">
                <a:latin typeface="Times New Roman" panose="02020603050405020304" pitchFamily="18" charset="0"/>
              </a:rPr>
              <a:t>KB      128KB</a:t>
            </a:r>
          </a:p>
          <a:p>
            <a:pPr algn="just" eaLnBrk="0" hangingPunct="0"/>
            <a:endParaRPr lang="zh-CN" altLang="en-US" sz="1200">
              <a:latin typeface="Times New Roman" panose="02020603050405020304" pitchFamily="18" charset="0"/>
            </a:endParaRPr>
          </a:p>
          <a:p>
            <a:pPr algn="just" eaLnBrk="0" hangingPunct="0"/>
            <a:r>
              <a:rPr lang="zh-CN" altLang="en-US" sz="2200">
                <a:latin typeface="Times New Roman" panose="02020603050405020304" pitchFamily="18" charset="0"/>
              </a:rPr>
              <a:t>    3          8</a:t>
            </a:r>
            <a:r>
              <a:rPr lang="en-US" altLang="zh-CN" sz="2200">
                <a:latin typeface="Times New Roman" panose="02020603050405020304" pitchFamily="18" charset="0"/>
              </a:rPr>
              <a:t>KB       248KB</a:t>
            </a:r>
            <a:endParaRPr lang="zh-CN" altLang="en-US" sz="2200">
              <a:latin typeface="Times New Roman" panose="02020603050405020304" pitchFamily="18" charset="0"/>
            </a:endParaRPr>
          </a:p>
          <a:p>
            <a:pPr algn="just" eaLnBrk="0" hangingPunct="0"/>
            <a:endParaRPr lang="zh-CN" altLang="en-US" sz="2200">
              <a:latin typeface="Times New Roman" panose="02020603050405020304" pitchFamily="18" charset="0"/>
            </a:endParaRPr>
          </a:p>
          <a:p>
            <a:pPr algn="just" eaLnBrk="0" hangingPunct="0"/>
            <a:r>
              <a:rPr lang="zh-CN" altLang="en-US" sz="2200">
                <a:latin typeface="Times New Roman" panose="02020603050405020304" pitchFamily="18" charset="0"/>
              </a:rPr>
              <a:t>    4           …             …</a:t>
            </a:r>
          </a:p>
          <a:p>
            <a:pPr algn="just" eaLnBrk="0" hangingPunct="0"/>
            <a:endParaRPr lang="zh-CN" altLang="en-US" sz="1200">
              <a:latin typeface="Times New Roman" panose="02020603050405020304" pitchFamily="18" charset="0"/>
            </a:endParaRPr>
          </a:p>
          <a:p>
            <a:pPr algn="just" eaLnBrk="0" hangingPunct="0"/>
            <a:r>
              <a:rPr lang="zh-CN" altLang="en-US" sz="2200">
                <a:latin typeface="Times New Roman" panose="02020603050405020304" pitchFamily="18" charset="0"/>
              </a:rPr>
              <a:t>    5           …             …</a:t>
            </a:r>
          </a:p>
        </p:txBody>
      </p:sp>
      <p:sp>
        <p:nvSpPr>
          <p:cNvPr id="49155" name="Line 32">
            <a:extLst>
              <a:ext uri="{FF2B5EF4-FFF2-40B4-BE49-F238E27FC236}">
                <a16:creationId xmlns:a16="http://schemas.microsoft.com/office/drawing/2014/main" id="{4DCD0113-0ABB-F84A-DE68-A9E1AB647C97}"/>
              </a:ext>
            </a:extLst>
          </p:cNvPr>
          <p:cNvSpPr>
            <a:spLocks noChangeShapeType="1"/>
          </p:cNvSpPr>
          <p:nvPr/>
        </p:nvSpPr>
        <p:spPr bwMode="auto">
          <a:xfrm>
            <a:off x="5599113" y="1789113"/>
            <a:ext cx="0" cy="3535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6" name="Line 33">
            <a:extLst>
              <a:ext uri="{FF2B5EF4-FFF2-40B4-BE49-F238E27FC236}">
                <a16:creationId xmlns:a16="http://schemas.microsoft.com/office/drawing/2014/main" id="{EA90E42A-20A1-ADBC-74FE-D421686FEB1C}"/>
              </a:ext>
            </a:extLst>
          </p:cNvPr>
          <p:cNvSpPr>
            <a:spLocks noChangeShapeType="1"/>
          </p:cNvSpPr>
          <p:nvPr/>
        </p:nvSpPr>
        <p:spPr bwMode="auto">
          <a:xfrm>
            <a:off x="6513513" y="1789113"/>
            <a:ext cx="0" cy="3535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7" name="Line 35">
            <a:extLst>
              <a:ext uri="{FF2B5EF4-FFF2-40B4-BE49-F238E27FC236}">
                <a16:creationId xmlns:a16="http://schemas.microsoft.com/office/drawing/2014/main" id="{CAF67E42-02B8-54E3-22F8-F9FEC0BA1C76}"/>
              </a:ext>
            </a:extLst>
          </p:cNvPr>
          <p:cNvSpPr>
            <a:spLocks noChangeShapeType="1"/>
          </p:cNvSpPr>
          <p:nvPr/>
        </p:nvSpPr>
        <p:spPr bwMode="auto">
          <a:xfrm>
            <a:off x="4608513" y="2338388"/>
            <a:ext cx="327660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8" name="Line 36">
            <a:extLst>
              <a:ext uri="{FF2B5EF4-FFF2-40B4-BE49-F238E27FC236}">
                <a16:creationId xmlns:a16="http://schemas.microsoft.com/office/drawing/2014/main" id="{618F5F12-9997-C83D-5DA7-72BD9D7CD55D}"/>
              </a:ext>
            </a:extLst>
          </p:cNvPr>
          <p:cNvSpPr>
            <a:spLocks noChangeShapeType="1"/>
          </p:cNvSpPr>
          <p:nvPr/>
        </p:nvSpPr>
        <p:spPr bwMode="auto">
          <a:xfrm>
            <a:off x="4608513" y="2938463"/>
            <a:ext cx="327660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9" name="Line 37">
            <a:extLst>
              <a:ext uri="{FF2B5EF4-FFF2-40B4-BE49-F238E27FC236}">
                <a16:creationId xmlns:a16="http://schemas.microsoft.com/office/drawing/2014/main" id="{60C47190-5721-47BC-C59B-8811D04C2C56}"/>
              </a:ext>
            </a:extLst>
          </p:cNvPr>
          <p:cNvSpPr>
            <a:spLocks noChangeShapeType="1"/>
          </p:cNvSpPr>
          <p:nvPr/>
        </p:nvSpPr>
        <p:spPr bwMode="auto">
          <a:xfrm>
            <a:off x="4608513" y="3554413"/>
            <a:ext cx="327660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0" name="Line 38">
            <a:extLst>
              <a:ext uri="{FF2B5EF4-FFF2-40B4-BE49-F238E27FC236}">
                <a16:creationId xmlns:a16="http://schemas.microsoft.com/office/drawing/2014/main" id="{AD0A770D-F8C1-8586-2233-42DF1448D05B}"/>
              </a:ext>
            </a:extLst>
          </p:cNvPr>
          <p:cNvSpPr>
            <a:spLocks noChangeShapeType="1"/>
          </p:cNvSpPr>
          <p:nvPr/>
        </p:nvSpPr>
        <p:spPr bwMode="auto">
          <a:xfrm>
            <a:off x="4608513" y="4168775"/>
            <a:ext cx="3276600"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1" name="Line 39">
            <a:extLst>
              <a:ext uri="{FF2B5EF4-FFF2-40B4-BE49-F238E27FC236}">
                <a16:creationId xmlns:a16="http://schemas.microsoft.com/office/drawing/2014/main" id="{87DF5437-8920-4DC9-140D-D1AD2CF428D8}"/>
              </a:ext>
            </a:extLst>
          </p:cNvPr>
          <p:cNvSpPr>
            <a:spLocks noChangeShapeType="1"/>
          </p:cNvSpPr>
          <p:nvPr/>
        </p:nvSpPr>
        <p:spPr bwMode="auto">
          <a:xfrm>
            <a:off x="4608513" y="4768850"/>
            <a:ext cx="3276600"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2" name="Rectangle 30">
            <a:extLst>
              <a:ext uri="{FF2B5EF4-FFF2-40B4-BE49-F238E27FC236}">
                <a16:creationId xmlns:a16="http://schemas.microsoft.com/office/drawing/2014/main" id="{E7153E2B-A743-9EA9-D508-D0C5D75462B3}"/>
              </a:ext>
            </a:extLst>
          </p:cNvPr>
          <p:cNvSpPr>
            <a:spLocks noChangeArrowheads="1"/>
          </p:cNvSpPr>
          <p:nvPr/>
        </p:nvSpPr>
        <p:spPr bwMode="auto">
          <a:xfrm>
            <a:off x="1828800" y="1679575"/>
            <a:ext cx="1865313" cy="3562350"/>
          </a:xfrm>
          <a:prstGeom prst="rect">
            <a:avLst/>
          </a:prstGeom>
          <a:solidFill>
            <a:srgbClr val="FFFFFF"/>
          </a:solidFill>
          <a:ln w="25400">
            <a:solidFill>
              <a:srgbClr val="000000"/>
            </a:solidFill>
            <a:miter lim="800000"/>
            <a:headEnd/>
            <a:tailEnd/>
          </a:ln>
        </p:spPr>
        <p:txBody>
          <a:bodyPr tIns="82800" bIns="118800"/>
          <a:lstStyle/>
          <a:p>
            <a:pPr algn="just" eaLnBrk="0" hangingPunct="0"/>
            <a:r>
              <a:rPr lang="zh-CN" altLang="en-US" sz="2200">
                <a:latin typeface="Times New Roman" panose="02020603050405020304" pitchFamily="18" charset="0"/>
              </a:rPr>
              <a:t>  操作系统</a:t>
            </a:r>
          </a:p>
          <a:p>
            <a:pPr algn="just" eaLnBrk="0" hangingPunct="0"/>
            <a:endParaRPr lang="zh-CN" altLang="en-US" sz="1200">
              <a:latin typeface="Times New Roman" panose="02020603050405020304" pitchFamily="18" charset="0"/>
            </a:endParaRPr>
          </a:p>
          <a:p>
            <a:pPr algn="just" eaLnBrk="0" hangingPunct="0"/>
            <a:r>
              <a:rPr lang="zh-CN" altLang="en-US" sz="2200">
                <a:latin typeface="Times New Roman" panose="02020603050405020304" pitchFamily="18" charset="0"/>
              </a:rPr>
              <a:t>  空闲 (</a:t>
            </a:r>
            <a:r>
              <a:rPr lang="en-US" altLang="zh-CN" sz="2200">
                <a:latin typeface="Times New Roman" panose="02020603050405020304" pitchFamily="18" charset="0"/>
              </a:rPr>
              <a:t>8K)</a:t>
            </a:r>
            <a:endParaRPr lang="zh-CN" altLang="en-US" sz="800">
              <a:latin typeface="Times New Roman" panose="02020603050405020304" pitchFamily="18" charset="0"/>
            </a:endParaRPr>
          </a:p>
          <a:p>
            <a:pPr algn="just" eaLnBrk="0" hangingPunct="0"/>
            <a:r>
              <a:rPr lang="zh-CN" altLang="en-US" sz="800">
                <a:latin typeface="Times New Roman" panose="02020603050405020304" pitchFamily="18" charset="0"/>
              </a:rPr>
              <a:t>   </a:t>
            </a:r>
          </a:p>
          <a:p>
            <a:pPr algn="just" eaLnBrk="0" hangingPunct="0"/>
            <a:r>
              <a:rPr lang="zh-CN" altLang="en-US" sz="2200">
                <a:latin typeface="Times New Roman" panose="02020603050405020304" pitchFamily="18" charset="0"/>
              </a:rPr>
              <a:t>  已分 (96</a:t>
            </a:r>
            <a:r>
              <a:rPr lang="en-US" altLang="zh-CN" sz="2200">
                <a:latin typeface="Times New Roman" panose="02020603050405020304" pitchFamily="18" charset="0"/>
              </a:rPr>
              <a:t>K)</a:t>
            </a:r>
          </a:p>
          <a:p>
            <a:pPr algn="just" eaLnBrk="0" hangingPunct="0"/>
            <a:endParaRPr lang="en-US" altLang="zh-CN" sz="2200">
              <a:latin typeface="Times New Roman" panose="02020603050405020304" pitchFamily="18" charset="0"/>
            </a:endParaRPr>
          </a:p>
          <a:p>
            <a:pPr algn="just" eaLnBrk="0" hangingPunct="0"/>
            <a:r>
              <a:rPr lang="zh-CN" altLang="en-US" sz="2200">
                <a:latin typeface="Times New Roman" panose="02020603050405020304" pitchFamily="18" charset="0"/>
              </a:rPr>
              <a:t>  空闲 (12</a:t>
            </a:r>
            <a:r>
              <a:rPr lang="en-US" altLang="zh-CN" sz="2200">
                <a:latin typeface="Times New Roman" panose="02020603050405020304" pitchFamily="18" charset="0"/>
              </a:rPr>
              <a:t>K)</a:t>
            </a:r>
          </a:p>
          <a:p>
            <a:pPr algn="just" eaLnBrk="0" hangingPunct="0"/>
            <a:endParaRPr lang="zh-CN" altLang="en-US" sz="800">
              <a:latin typeface="Times New Roman" panose="02020603050405020304" pitchFamily="18" charset="0"/>
            </a:endParaRPr>
          </a:p>
          <a:p>
            <a:pPr algn="just" eaLnBrk="0" hangingPunct="0"/>
            <a:r>
              <a:rPr lang="zh-CN" altLang="en-US" sz="800">
                <a:latin typeface="Times New Roman" panose="02020603050405020304" pitchFamily="18" charset="0"/>
              </a:rPr>
              <a:t>   </a:t>
            </a:r>
          </a:p>
          <a:p>
            <a:pPr algn="just" eaLnBrk="0" hangingPunct="0"/>
            <a:r>
              <a:rPr lang="zh-CN" altLang="en-US" sz="2200">
                <a:latin typeface="Times New Roman" panose="02020603050405020304" pitchFamily="18" charset="0"/>
              </a:rPr>
              <a:t> 已分 (108</a:t>
            </a:r>
            <a:r>
              <a:rPr lang="en-US" altLang="zh-CN" sz="2200">
                <a:latin typeface="Times New Roman" panose="02020603050405020304" pitchFamily="18" charset="0"/>
              </a:rPr>
              <a:t>K)</a:t>
            </a:r>
          </a:p>
          <a:p>
            <a:pPr algn="just" eaLnBrk="0" hangingPunct="0"/>
            <a:endParaRPr lang="en-US" altLang="zh-CN" sz="2200">
              <a:latin typeface="Times New Roman" panose="02020603050405020304" pitchFamily="18" charset="0"/>
            </a:endParaRPr>
          </a:p>
          <a:p>
            <a:pPr algn="just" eaLnBrk="0" hangingPunct="0"/>
            <a:r>
              <a:rPr lang="zh-CN" altLang="en-US" sz="2200">
                <a:latin typeface="Times New Roman" panose="02020603050405020304" pitchFamily="18" charset="0"/>
              </a:rPr>
              <a:t>  空闲 (</a:t>
            </a:r>
            <a:r>
              <a:rPr lang="en-US" altLang="zh-CN" sz="2200">
                <a:latin typeface="Times New Roman" panose="02020603050405020304" pitchFamily="18" charset="0"/>
              </a:rPr>
              <a:t>8K)</a:t>
            </a:r>
          </a:p>
          <a:p>
            <a:pPr algn="just" eaLnBrk="0" hangingPunct="0"/>
            <a:endParaRPr lang="en-US" altLang="zh-CN" sz="2200">
              <a:latin typeface="Times New Roman" panose="02020603050405020304" pitchFamily="18" charset="0"/>
            </a:endParaRPr>
          </a:p>
          <a:p>
            <a:pPr algn="just" eaLnBrk="0" hangingPunct="0"/>
            <a:endParaRPr lang="en-US" altLang="zh-CN" sz="2200">
              <a:latin typeface="Times New Roman" panose="02020603050405020304" pitchFamily="18" charset="0"/>
            </a:endParaRPr>
          </a:p>
        </p:txBody>
      </p:sp>
      <p:sp>
        <p:nvSpPr>
          <p:cNvPr id="49163" name="Line 40">
            <a:extLst>
              <a:ext uri="{FF2B5EF4-FFF2-40B4-BE49-F238E27FC236}">
                <a16:creationId xmlns:a16="http://schemas.microsoft.com/office/drawing/2014/main" id="{2D4802D2-9E83-02A3-F83C-67BB3229FD1C}"/>
              </a:ext>
            </a:extLst>
          </p:cNvPr>
          <p:cNvSpPr>
            <a:spLocks noChangeShapeType="1"/>
          </p:cNvSpPr>
          <p:nvPr/>
        </p:nvSpPr>
        <p:spPr bwMode="auto">
          <a:xfrm>
            <a:off x="1828800" y="2182813"/>
            <a:ext cx="1865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4" name="Line 41">
            <a:extLst>
              <a:ext uri="{FF2B5EF4-FFF2-40B4-BE49-F238E27FC236}">
                <a16:creationId xmlns:a16="http://schemas.microsoft.com/office/drawing/2014/main" id="{006E650F-EF58-7D2D-936E-39BACDC1790A}"/>
              </a:ext>
            </a:extLst>
          </p:cNvPr>
          <p:cNvSpPr>
            <a:spLocks noChangeShapeType="1"/>
          </p:cNvSpPr>
          <p:nvPr/>
        </p:nvSpPr>
        <p:spPr bwMode="auto">
          <a:xfrm>
            <a:off x="1828800" y="2716213"/>
            <a:ext cx="1865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5" name="Text Box 45">
            <a:extLst>
              <a:ext uri="{FF2B5EF4-FFF2-40B4-BE49-F238E27FC236}">
                <a16:creationId xmlns:a16="http://schemas.microsoft.com/office/drawing/2014/main" id="{9F83BF4E-EC25-5C28-D976-8DC30C1CC3A4}"/>
              </a:ext>
            </a:extLst>
          </p:cNvPr>
          <p:cNvSpPr txBox="1">
            <a:spLocks noChangeArrowheads="1"/>
          </p:cNvSpPr>
          <p:nvPr/>
        </p:nvSpPr>
        <p:spPr bwMode="auto">
          <a:xfrm>
            <a:off x="722313" y="1508125"/>
            <a:ext cx="10668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18000" rIns="0" bIns="0"/>
          <a:lstStyle/>
          <a:p>
            <a:pPr algn="just" eaLnBrk="0" hangingPunct="0"/>
            <a:r>
              <a:rPr lang="zh-CN" altLang="en-US" sz="2200">
                <a:latin typeface="Times New Roman" panose="02020603050405020304" pitchFamily="18" charset="0"/>
              </a:rPr>
              <a:t>         0</a:t>
            </a:r>
          </a:p>
          <a:p>
            <a:pPr algn="just" eaLnBrk="0" hangingPunct="0"/>
            <a:endParaRPr lang="zh-CN" altLang="en-US" sz="800">
              <a:latin typeface="Times New Roman" panose="02020603050405020304" pitchFamily="18" charset="0"/>
            </a:endParaRPr>
          </a:p>
          <a:p>
            <a:pPr algn="just" eaLnBrk="0" hangingPunct="0"/>
            <a:r>
              <a:rPr lang="zh-CN" altLang="en-US" sz="2200">
                <a:latin typeface="Times New Roman" panose="02020603050405020304" pitchFamily="18" charset="0"/>
              </a:rPr>
              <a:t>     24</a:t>
            </a:r>
            <a:r>
              <a:rPr lang="en-US" altLang="zh-CN" sz="2200">
                <a:latin typeface="Times New Roman" panose="02020603050405020304" pitchFamily="18" charset="0"/>
              </a:rPr>
              <a:t>KB</a:t>
            </a:r>
          </a:p>
          <a:p>
            <a:pPr algn="just" eaLnBrk="0" hangingPunct="0"/>
            <a:endParaRPr lang="en-US" altLang="zh-CN" sz="800">
              <a:latin typeface="Times New Roman" panose="02020603050405020304" pitchFamily="18" charset="0"/>
            </a:endParaRPr>
          </a:p>
          <a:p>
            <a:pPr algn="just" eaLnBrk="0" hangingPunct="0"/>
            <a:r>
              <a:rPr lang="en-US" altLang="zh-CN" sz="2200">
                <a:latin typeface="Times New Roman" panose="02020603050405020304" pitchFamily="18" charset="0"/>
              </a:rPr>
              <a:t>     32KB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   128KB</a:t>
            </a:r>
          </a:p>
          <a:p>
            <a:pPr algn="just" eaLnBrk="0" hangingPunct="0"/>
            <a:endParaRPr lang="en-US" altLang="zh-CN" sz="1400">
              <a:latin typeface="Times New Roman" panose="02020603050405020304" pitchFamily="18" charset="0"/>
            </a:endParaRPr>
          </a:p>
          <a:p>
            <a:pPr algn="just" eaLnBrk="0" hangingPunct="0"/>
            <a:r>
              <a:rPr lang="en-US" altLang="zh-CN" sz="2200">
                <a:latin typeface="Times New Roman" panose="02020603050405020304" pitchFamily="18" charset="0"/>
              </a:rPr>
              <a:t>   140KB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   248KB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256KB-1</a:t>
            </a:r>
          </a:p>
        </p:txBody>
      </p:sp>
      <p:sp>
        <p:nvSpPr>
          <p:cNvPr id="49166" name="Line 48">
            <a:extLst>
              <a:ext uri="{FF2B5EF4-FFF2-40B4-BE49-F238E27FC236}">
                <a16:creationId xmlns:a16="http://schemas.microsoft.com/office/drawing/2014/main" id="{33E2A301-2F14-7269-78CF-3535E56FAD59}"/>
              </a:ext>
            </a:extLst>
          </p:cNvPr>
          <p:cNvSpPr>
            <a:spLocks noChangeShapeType="1"/>
          </p:cNvSpPr>
          <p:nvPr/>
        </p:nvSpPr>
        <p:spPr bwMode="auto">
          <a:xfrm>
            <a:off x="1828800" y="3249613"/>
            <a:ext cx="1865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7" name="Line 49">
            <a:extLst>
              <a:ext uri="{FF2B5EF4-FFF2-40B4-BE49-F238E27FC236}">
                <a16:creationId xmlns:a16="http://schemas.microsoft.com/office/drawing/2014/main" id="{8849D419-8A73-98B3-E9CA-5962A8A7994C}"/>
              </a:ext>
            </a:extLst>
          </p:cNvPr>
          <p:cNvSpPr>
            <a:spLocks noChangeShapeType="1"/>
          </p:cNvSpPr>
          <p:nvPr/>
        </p:nvSpPr>
        <p:spPr bwMode="auto">
          <a:xfrm>
            <a:off x="1828800" y="3859213"/>
            <a:ext cx="1865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8" name="Line 50">
            <a:extLst>
              <a:ext uri="{FF2B5EF4-FFF2-40B4-BE49-F238E27FC236}">
                <a16:creationId xmlns:a16="http://schemas.microsoft.com/office/drawing/2014/main" id="{5A42E37E-AC20-2CC6-DF5D-F4E090E80269}"/>
              </a:ext>
            </a:extLst>
          </p:cNvPr>
          <p:cNvSpPr>
            <a:spLocks noChangeShapeType="1"/>
          </p:cNvSpPr>
          <p:nvPr/>
        </p:nvSpPr>
        <p:spPr bwMode="auto">
          <a:xfrm>
            <a:off x="1828800" y="4545013"/>
            <a:ext cx="1865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9" name="Rectangle 51">
            <a:extLst>
              <a:ext uri="{FF2B5EF4-FFF2-40B4-BE49-F238E27FC236}">
                <a16:creationId xmlns:a16="http://schemas.microsoft.com/office/drawing/2014/main" id="{0055B249-F000-4D33-E3CB-032EB5D5E8EC}"/>
              </a:ext>
            </a:extLst>
          </p:cNvPr>
          <p:cNvSpPr>
            <a:spLocks noChangeArrowheads="1"/>
          </p:cNvSpPr>
          <p:nvPr/>
        </p:nvSpPr>
        <p:spPr bwMode="auto">
          <a:xfrm>
            <a:off x="5292725" y="1196975"/>
            <a:ext cx="165576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nchor="ctr"/>
          <a:lstStyle/>
          <a:p>
            <a:pPr algn="ctr"/>
            <a:r>
              <a:rPr lang="zh-CN" altLang="en-US"/>
              <a:t>空闲分区表</a:t>
            </a:r>
          </a:p>
        </p:txBody>
      </p:sp>
      <p:sp>
        <p:nvSpPr>
          <p:cNvPr id="49170" name="Rectangle 52">
            <a:extLst>
              <a:ext uri="{FF2B5EF4-FFF2-40B4-BE49-F238E27FC236}">
                <a16:creationId xmlns:a16="http://schemas.microsoft.com/office/drawing/2014/main" id="{B29D6947-2A80-117E-0D9E-CC759B8DCFDF}"/>
              </a:ext>
            </a:extLst>
          </p:cNvPr>
          <p:cNvSpPr>
            <a:spLocks noChangeArrowheads="1"/>
          </p:cNvSpPr>
          <p:nvPr/>
        </p:nvSpPr>
        <p:spPr bwMode="auto">
          <a:xfrm>
            <a:off x="1835150" y="5373688"/>
            <a:ext cx="165576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nchor="ctr"/>
          <a:lstStyle/>
          <a:p>
            <a:pPr algn="ctr"/>
            <a:r>
              <a:rPr lang="zh-CN" altLang="en-US"/>
              <a:t>内存布局图</a:t>
            </a:r>
          </a:p>
        </p:txBody>
      </p:sp>
    </p:spTree>
  </p:cSld>
  <p:clrMapOvr>
    <a:masterClrMapping/>
  </p:clrMapOvr>
  <p:transition spd="med">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53E3A20F-BB74-FA25-D825-7E49CF19FFEF}"/>
              </a:ext>
            </a:extLst>
          </p:cNvPr>
          <p:cNvSpPr>
            <a:spLocks noGrp="1" noChangeArrowheads="1"/>
          </p:cNvSpPr>
          <p:nvPr>
            <p:ph type="title"/>
          </p:nvPr>
        </p:nvSpPr>
        <p:spPr>
          <a:xfrm>
            <a:off x="1042988" y="225431"/>
            <a:ext cx="7850187" cy="746125"/>
          </a:xfrm>
        </p:spPr>
        <p:txBody>
          <a:bodyPr/>
          <a:lstStyle/>
          <a:p>
            <a:r>
              <a:rPr lang="zh-CN" altLang="en-US"/>
              <a:t>空闲分区链示意图</a:t>
            </a:r>
          </a:p>
        </p:txBody>
      </p:sp>
      <p:sp>
        <p:nvSpPr>
          <p:cNvPr id="50178" name="Rectangle 12">
            <a:extLst>
              <a:ext uri="{FF2B5EF4-FFF2-40B4-BE49-F238E27FC236}">
                <a16:creationId xmlns:a16="http://schemas.microsoft.com/office/drawing/2014/main" id="{2E4E9AA9-14DE-B142-54BE-425A0320DD2C}"/>
              </a:ext>
            </a:extLst>
          </p:cNvPr>
          <p:cNvSpPr>
            <a:spLocks noChangeArrowheads="1"/>
          </p:cNvSpPr>
          <p:nvPr/>
        </p:nvSpPr>
        <p:spPr bwMode="auto">
          <a:xfrm>
            <a:off x="1411288" y="1679575"/>
            <a:ext cx="1865312" cy="3562350"/>
          </a:xfrm>
          <a:prstGeom prst="rect">
            <a:avLst/>
          </a:prstGeom>
          <a:solidFill>
            <a:srgbClr val="FFFFFF"/>
          </a:solidFill>
          <a:ln w="25400">
            <a:solidFill>
              <a:srgbClr val="000000"/>
            </a:solidFill>
            <a:miter lim="800000"/>
            <a:headEnd/>
            <a:tailEnd/>
          </a:ln>
        </p:spPr>
        <p:txBody>
          <a:bodyPr tIns="82800" bIns="118800"/>
          <a:lstStyle/>
          <a:p>
            <a:pPr algn="just" eaLnBrk="0" hangingPunct="0"/>
            <a:r>
              <a:rPr lang="zh-CN" altLang="en-US" sz="2200">
                <a:latin typeface="Times New Roman" panose="02020603050405020304" pitchFamily="18" charset="0"/>
              </a:rPr>
              <a:t>  操作系统</a:t>
            </a:r>
          </a:p>
          <a:p>
            <a:pPr algn="just" eaLnBrk="0" hangingPunct="0"/>
            <a:endParaRPr lang="zh-CN" altLang="en-US" sz="1200">
              <a:latin typeface="Times New Roman" panose="02020603050405020304" pitchFamily="18" charset="0"/>
            </a:endParaRPr>
          </a:p>
          <a:p>
            <a:pPr algn="just" eaLnBrk="0" hangingPunct="0"/>
            <a:r>
              <a:rPr lang="zh-CN" altLang="en-US" sz="2200">
                <a:latin typeface="Times New Roman" panose="02020603050405020304" pitchFamily="18" charset="0"/>
              </a:rPr>
              <a:t>  空闲 (</a:t>
            </a:r>
            <a:r>
              <a:rPr lang="en-US" altLang="zh-CN" sz="2200">
                <a:latin typeface="Times New Roman" panose="02020603050405020304" pitchFamily="18" charset="0"/>
              </a:rPr>
              <a:t>8K)</a:t>
            </a:r>
            <a:endParaRPr lang="zh-CN" altLang="en-US" sz="800">
              <a:latin typeface="Times New Roman" panose="02020603050405020304" pitchFamily="18" charset="0"/>
            </a:endParaRPr>
          </a:p>
          <a:p>
            <a:pPr algn="just" eaLnBrk="0" hangingPunct="0"/>
            <a:r>
              <a:rPr lang="zh-CN" altLang="en-US" sz="800">
                <a:latin typeface="Times New Roman" panose="02020603050405020304" pitchFamily="18" charset="0"/>
              </a:rPr>
              <a:t>   </a:t>
            </a:r>
          </a:p>
          <a:p>
            <a:pPr algn="just" eaLnBrk="0" hangingPunct="0"/>
            <a:r>
              <a:rPr lang="zh-CN" altLang="en-US" sz="2200">
                <a:latin typeface="Times New Roman" panose="02020603050405020304" pitchFamily="18" charset="0"/>
              </a:rPr>
              <a:t>  已分 (96</a:t>
            </a:r>
            <a:r>
              <a:rPr lang="en-US" altLang="zh-CN" sz="2200">
                <a:latin typeface="Times New Roman" panose="02020603050405020304" pitchFamily="18" charset="0"/>
              </a:rPr>
              <a:t>K)</a:t>
            </a:r>
          </a:p>
          <a:p>
            <a:pPr algn="just" eaLnBrk="0" hangingPunct="0"/>
            <a:endParaRPr lang="en-US" altLang="zh-CN" sz="2200">
              <a:latin typeface="Times New Roman" panose="02020603050405020304" pitchFamily="18" charset="0"/>
            </a:endParaRPr>
          </a:p>
          <a:p>
            <a:pPr algn="just" eaLnBrk="0" hangingPunct="0"/>
            <a:r>
              <a:rPr lang="zh-CN" altLang="en-US" sz="2200">
                <a:latin typeface="Times New Roman" panose="02020603050405020304" pitchFamily="18" charset="0"/>
              </a:rPr>
              <a:t>  空闲 (12</a:t>
            </a:r>
            <a:r>
              <a:rPr lang="en-US" altLang="zh-CN" sz="2200">
                <a:latin typeface="Times New Roman" panose="02020603050405020304" pitchFamily="18" charset="0"/>
              </a:rPr>
              <a:t>K)</a:t>
            </a:r>
          </a:p>
          <a:p>
            <a:pPr algn="just" eaLnBrk="0" hangingPunct="0"/>
            <a:endParaRPr lang="zh-CN" altLang="en-US" sz="800">
              <a:latin typeface="Times New Roman" panose="02020603050405020304" pitchFamily="18" charset="0"/>
            </a:endParaRPr>
          </a:p>
          <a:p>
            <a:pPr algn="just" eaLnBrk="0" hangingPunct="0"/>
            <a:r>
              <a:rPr lang="zh-CN" altLang="en-US" sz="800">
                <a:latin typeface="Times New Roman" panose="02020603050405020304" pitchFamily="18" charset="0"/>
              </a:rPr>
              <a:t>   </a:t>
            </a:r>
          </a:p>
          <a:p>
            <a:pPr algn="just" eaLnBrk="0" hangingPunct="0"/>
            <a:r>
              <a:rPr lang="zh-CN" altLang="en-US" sz="2200">
                <a:latin typeface="Times New Roman" panose="02020603050405020304" pitchFamily="18" charset="0"/>
              </a:rPr>
              <a:t> 已分 (108</a:t>
            </a:r>
            <a:r>
              <a:rPr lang="en-US" altLang="zh-CN" sz="2200">
                <a:latin typeface="Times New Roman" panose="02020603050405020304" pitchFamily="18" charset="0"/>
              </a:rPr>
              <a:t>K)</a:t>
            </a:r>
          </a:p>
          <a:p>
            <a:pPr algn="just" eaLnBrk="0" hangingPunct="0"/>
            <a:endParaRPr lang="en-US" altLang="zh-CN" sz="2200">
              <a:latin typeface="Times New Roman" panose="02020603050405020304" pitchFamily="18" charset="0"/>
            </a:endParaRPr>
          </a:p>
          <a:p>
            <a:pPr algn="just" eaLnBrk="0" hangingPunct="0"/>
            <a:r>
              <a:rPr lang="zh-CN" altLang="en-US" sz="2200">
                <a:latin typeface="Times New Roman" panose="02020603050405020304" pitchFamily="18" charset="0"/>
              </a:rPr>
              <a:t>  空闲 (</a:t>
            </a:r>
            <a:r>
              <a:rPr lang="en-US" altLang="zh-CN" sz="2200">
                <a:latin typeface="Times New Roman" panose="02020603050405020304" pitchFamily="18" charset="0"/>
              </a:rPr>
              <a:t>8K)</a:t>
            </a:r>
          </a:p>
          <a:p>
            <a:pPr algn="just" eaLnBrk="0" hangingPunct="0"/>
            <a:endParaRPr lang="en-US" altLang="zh-CN" sz="2200">
              <a:latin typeface="Times New Roman" panose="02020603050405020304" pitchFamily="18" charset="0"/>
            </a:endParaRPr>
          </a:p>
          <a:p>
            <a:pPr algn="just" eaLnBrk="0" hangingPunct="0"/>
            <a:endParaRPr lang="en-US" altLang="zh-CN" sz="2200">
              <a:latin typeface="Times New Roman" panose="02020603050405020304" pitchFamily="18" charset="0"/>
            </a:endParaRPr>
          </a:p>
        </p:txBody>
      </p:sp>
      <p:sp>
        <p:nvSpPr>
          <p:cNvPr id="50179" name="Line 13">
            <a:extLst>
              <a:ext uri="{FF2B5EF4-FFF2-40B4-BE49-F238E27FC236}">
                <a16:creationId xmlns:a16="http://schemas.microsoft.com/office/drawing/2014/main" id="{39206C0A-8017-6169-AB7F-76E3F17C4181}"/>
              </a:ext>
            </a:extLst>
          </p:cNvPr>
          <p:cNvSpPr>
            <a:spLocks noChangeShapeType="1"/>
          </p:cNvSpPr>
          <p:nvPr/>
        </p:nvSpPr>
        <p:spPr bwMode="auto">
          <a:xfrm>
            <a:off x="1411288" y="2182813"/>
            <a:ext cx="18653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0" name="Line 14">
            <a:extLst>
              <a:ext uri="{FF2B5EF4-FFF2-40B4-BE49-F238E27FC236}">
                <a16:creationId xmlns:a16="http://schemas.microsoft.com/office/drawing/2014/main" id="{9DB20CA3-8707-4A21-6C64-A3C13F961E7C}"/>
              </a:ext>
            </a:extLst>
          </p:cNvPr>
          <p:cNvSpPr>
            <a:spLocks noChangeShapeType="1"/>
          </p:cNvSpPr>
          <p:nvPr/>
        </p:nvSpPr>
        <p:spPr bwMode="auto">
          <a:xfrm>
            <a:off x="1411288" y="2716213"/>
            <a:ext cx="18653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1" name="Text Box 15">
            <a:extLst>
              <a:ext uri="{FF2B5EF4-FFF2-40B4-BE49-F238E27FC236}">
                <a16:creationId xmlns:a16="http://schemas.microsoft.com/office/drawing/2014/main" id="{3C402EB3-07E3-EF6A-3BF1-16E3061F68F1}"/>
              </a:ext>
            </a:extLst>
          </p:cNvPr>
          <p:cNvSpPr txBox="1">
            <a:spLocks noChangeArrowheads="1"/>
          </p:cNvSpPr>
          <p:nvPr/>
        </p:nvSpPr>
        <p:spPr bwMode="auto">
          <a:xfrm>
            <a:off x="304800" y="1508125"/>
            <a:ext cx="10668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18000" rIns="0" bIns="0"/>
          <a:lstStyle/>
          <a:p>
            <a:pPr algn="just" eaLnBrk="0" hangingPunct="0"/>
            <a:r>
              <a:rPr lang="zh-CN" altLang="en-US" sz="2200">
                <a:latin typeface="Times New Roman" panose="02020603050405020304" pitchFamily="18" charset="0"/>
              </a:rPr>
              <a:t>         0</a:t>
            </a:r>
          </a:p>
          <a:p>
            <a:pPr algn="just" eaLnBrk="0" hangingPunct="0"/>
            <a:endParaRPr lang="zh-CN" altLang="en-US" sz="800">
              <a:latin typeface="Times New Roman" panose="02020603050405020304" pitchFamily="18" charset="0"/>
            </a:endParaRPr>
          </a:p>
          <a:p>
            <a:pPr algn="just" eaLnBrk="0" hangingPunct="0"/>
            <a:r>
              <a:rPr lang="zh-CN" altLang="en-US" sz="2200">
                <a:latin typeface="Times New Roman" panose="02020603050405020304" pitchFamily="18" charset="0"/>
              </a:rPr>
              <a:t>     24</a:t>
            </a:r>
            <a:r>
              <a:rPr lang="en-US" altLang="zh-CN" sz="2200">
                <a:latin typeface="Times New Roman" panose="02020603050405020304" pitchFamily="18" charset="0"/>
              </a:rPr>
              <a:t>KB</a:t>
            </a:r>
          </a:p>
          <a:p>
            <a:pPr algn="just" eaLnBrk="0" hangingPunct="0"/>
            <a:endParaRPr lang="en-US" altLang="zh-CN" sz="800">
              <a:latin typeface="Times New Roman" panose="02020603050405020304" pitchFamily="18" charset="0"/>
            </a:endParaRPr>
          </a:p>
          <a:p>
            <a:pPr algn="just" eaLnBrk="0" hangingPunct="0"/>
            <a:r>
              <a:rPr lang="en-US" altLang="zh-CN" sz="2200">
                <a:latin typeface="Times New Roman" panose="02020603050405020304" pitchFamily="18" charset="0"/>
              </a:rPr>
              <a:t>     32KB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   128KB</a:t>
            </a:r>
          </a:p>
          <a:p>
            <a:pPr algn="just" eaLnBrk="0" hangingPunct="0"/>
            <a:endParaRPr lang="en-US" altLang="zh-CN" sz="1400">
              <a:latin typeface="Times New Roman" panose="02020603050405020304" pitchFamily="18" charset="0"/>
            </a:endParaRPr>
          </a:p>
          <a:p>
            <a:pPr algn="just" eaLnBrk="0" hangingPunct="0"/>
            <a:r>
              <a:rPr lang="en-US" altLang="zh-CN" sz="2200">
                <a:latin typeface="Times New Roman" panose="02020603050405020304" pitchFamily="18" charset="0"/>
              </a:rPr>
              <a:t>   140KB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   248KB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256KB-1</a:t>
            </a:r>
          </a:p>
        </p:txBody>
      </p:sp>
      <p:sp>
        <p:nvSpPr>
          <p:cNvPr id="50182" name="Line 16">
            <a:extLst>
              <a:ext uri="{FF2B5EF4-FFF2-40B4-BE49-F238E27FC236}">
                <a16:creationId xmlns:a16="http://schemas.microsoft.com/office/drawing/2014/main" id="{715E7FD6-8A00-BEDF-79CC-7C6B4214E3E2}"/>
              </a:ext>
            </a:extLst>
          </p:cNvPr>
          <p:cNvSpPr>
            <a:spLocks noChangeShapeType="1"/>
          </p:cNvSpPr>
          <p:nvPr/>
        </p:nvSpPr>
        <p:spPr bwMode="auto">
          <a:xfrm>
            <a:off x="1411288" y="3249613"/>
            <a:ext cx="18653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3" name="Line 17">
            <a:extLst>
              <a:ext uri="{FF2B5EF4-FFF2-40B4-BE49-F238E27FC236}">
                <a16:creationId xmlns:a16="http://schemas.microsoft.com/office/drawing/2014/main" id="{06184A4F-DFB3-63CA-4589-A272B884E1E8}"/>
              </a:ext>
            </a:extLst>
          </p:cNvPr>
          <p:cNvSpPr>
            <a:spLocks noChangeShapeType="1"/>
          </p:cNvSpPr>
          <p:nvPr/>
        </p:nvSpPr>
        <p:spPr bwMode="auto">
          <a:xfrm>
            <a:off x="1411288" y="3859213"/>
            <a:ext cx="18653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4" name="Line 18">
            <a:extLst>
              <a:ext uri="{FF2B5EF4-FFF2-40B4-BE49-F238E27FC236}">
                <a16:creationId xmlns:a16="http://schemas.microsoft.com/office/drawing/2014/main" id="{1F3AD809-1458-7270-2D18-44BE9A4544F8}"/>
              </a:ext>
            </a:extLst>
          </p:cNvPr>
          <p:cNvSpPr>
            <a:spLocks noChangeShapeType="1"/>
          </p:cNvSpPr>
          <p:nvPr/>
        </p:nvSpPr>
        <p:spPr bwMode="auto">
          <a:xfrm>
            <a:off x="1411288" y="4545013"/>
            <a:ext cx="18653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5" name="Rectangle 19">
            <a:extLst>
              <a:ext uri="{FF2B5EF4-FFF2-40B4-BE49-F238E27FC236}">
                <a16:creationId xmlns:a16="http://schemas.microsoft.com/office/drawing/2014/main" id="{39D3904D-42BD-C5AC-AEE7-36762E4CF9D7}"/>
              </a:ext>
            </a:extLst>
          </p:cNvPr>
          <p:cNvSpPr>
            <a:spLocks noChangeArrowheads="1"/>
          </p:cNvSpPr>
          <p:nvPr/>
        </p:nvSpPr>
        <p:spPr bwMode="auto">
          <a:xfrm>
            <a:off x="5108575" y="1603375"/>
            <a:ext cx="1865313" cy="3562350"/>
          </a:xfrm>
          <a:prstGeom prst="rect">
            <a:avLst/>
          </a:prstGeom>
          <a:solidFill>
            <a:srgbClr val="FFFFFF"/>
          </a:solidFill>
          <a:ln w="25400">
            <a:solidFill>
              <a:srgbClr val="000000"/>
            </a:solidFill>
            <a:miter lim="800000"/>
            <a:headEnd/>
            <a:tailEnd/>
          </a:ln>
        </p:spPr>
        <p:txBody>
          <a:bodyPr tIns="82800" bIns="118800"/>
          <a:lstStyle/>
          <a:p>
            <a:pPr algn="just" eaLnBrk="0" hangingPunct="0"/>
            <a:r>
              <a:rPr lang="zh-CN" altLang="en-US" sz="2200">
                <a:latin typeface="Times New Roman" panose="02020603050405020304" pitchFamily="18" charset="0"/>
              </a:rPr>
              <a:t>  操作系统</a:t>
            </a:r>
          </a:p>
          <a:p>
            <a:pPr algn="just" eaLnBrk="0" hangingPunct="0"/>
            <a:endParaRPr lang="zh-CN" altLang="en-US" sz="1200">
              <a:latin typeface="Times New Roman" panose="02020603050405020304" pitchFamily="18" charset="0"/>
            </a:endParaRPr>
          </a:p>
          <a:p>
            <a:pPr algn="just" eaLnBrk="0" hangingPunct="0"/>
            <a:r>
              <a:rPr lang="zh-CN" altLang="en-US" sz="2200">
                <a:latin typeface="Times New Roman" panose="02020603050405020304" pitchFamily="18" charset="0"/>
              </a:rPr>
              <a:t>  空闲 (</a:t>
            </a:r>
            <a:r>
              <a:rPr lang="en-US" altLang="zh-CN" sz="2200">
                <a:latin typeface="Times New Roman" panose="02020603050405020304" pitchFamily="18" charset="0"/>
              </a:rPr>
              <a:t>8K)</a:t>
            </a:r>
            <a:endParaRPr lang="zh-CN" altLang="en-US" sz="800">
              <a:latin typeface="Times New Roman" panose="02020603050405020304" pitchFamily="18" charset="0"/>
            </a:endParaRPr>
          </a:p>
          <a:p>
            <a:pPr algn="just" eaLnBrk="0" hangingPunct="0"/>
            <a:r>
              <a:rPr lang="zh-CN" altLang="en-US" sz="800">
                <a:latin typeface="Times New Roman" panose="02020603050405020304" pitchFamily="18" charset="0"/>
              </a:rPr>
              <a:t>   </a:t>
            </a:r>
          </a:p>
          <a:p>
            <a:pPr algn="just" eaLnBrk="0" hangingPunct="0"/>
            <a:r>
              <a:rPr lang="zh-CN" altLang="en-US" sz="2200">
                <a:latin typeface="Times New Roman" panose="02020603050405020304" pitchFamily="18" charset="0"/>
              </a:rPr>
              <a:t>  已分 (96</a:t>
            </a:r>
            <a:r>
              <a:rPr lang="en-US" altLang="zh-CN" sz="2200">
                <a:latin typeface="Times New Roman" panose="02020603050405020304" pitchFamily="18" charset="0"/>
              </a:rPr>
              <a:t>K)</a:t>
            </a:r>
          </a:p>
          <a:p>
            <a:pPr algn="just" eaLnBrk="0" hangingPunct="0"/>
            <a:endParaRPr lang="en-US" altLang="zh-CN" sz="2200">
              <a:latin typeface="Times New Roman" panose="02020603050405020304" pitchFamily="18" charset="0"/>
            </a:endParaRPr>
          </a:p>
          <a:p>
            <a:pPr algn="just" eaLnBrk="0" hangingPunct="0"/>
            <a:r>
              <a:rPr lang="zh-CN" altLang="en-US" sz="2200">
                <a:latin typeface="Times New Roman" panose="02020603050405020304" pitchFamily="18" charset="0"/>
              </a:rPr>
              <a:t>  空闲 (12</a:t>
            </a:r>
            <a:r>
              <a:rPr lang="en-US" altLang="zh-CN" sz="2200">
                <a:latin typeface="Times New Roman" panose="02020603050405020304" pitchFamily="18" charset="0"/>
              </a:rPr>
              <a:t>K)</a:t>
            </a:r>
          </a:p>
          <a:p>
            <a:pPr algn="just" eaLnBrk="0" hangingPunct="0"/>
            <a:endParaRPr lang="zh-CN" altLang="en-US" sz="800">
              <a:latin typeface="Times New Roman" panose="02020603050405020304" pitchFamily="18" charset="0"/>
            </a:endParaRPr>
          </a:p>
          <a:p>
            <a:pPr algn="just" eaLnBrk="0" hangingPunct="0"/>
            <a:r>
              <a:rPr lang="zh-CN" altLang="en-US" sz="800">
                <a:latin typeface="Times New Roman" panose="02020603050405020304" pitchFamily="18" charset="0"/>
              </a:rPr>
              <a:t>   </a:t>
            </a:r>
          </a:p>
          <a:p>
            <a:pPr algn="just" eaLnBrk="0" hangingPunct="0"/>
            <a:r>
              <a:rPr lang="zh-CN" altLang="en-US" sz="2200">
                <a:latin typeface="Times New Roman" panose="02020603050405020304" pitchFamily="18" charset="0"/>
              </a:rPr>
              <a:t> 已分 (108</a:t>
            </a:r>
            <a:r>
              <a:rPr lang="en-US" altLang="zh-CN" sz="2200">
                <a:latin typeface="Times New Roman" panose="02020603050405020304" pitchFamily="18" charset="0"/>
              </a:rPr>
              <a:t>K)</a:t>
            </a:r>
          </a:p>
          <a:p>
            <a:pPr algn="just" eaLnBrk="0" hangingPunct="0"/>
            <a:endParaRPr lang="en-US" altLang="zh-CN" sz="2200">
              <a:latin typeface="Times New Roman" panose="02020603050405020304" pitchFamily="18" charset="0"/>
            </a:endParaRPr>
          </a:p>
          <a:p>
            <a:pPr algn="just" eaLnBrk="0" hangingPunct="0"/>
            <a:r>
              <a:rPr lang="zh-CN" altLang="en-US" sz="2200">
                <a:latin typeface="Times New Roman" panose="02020603050405020304" pitchFamily="18" charset="0"/>
              </a:rPr>
              <a:t>  空闲 (</a:t>
            </a:r>
            <a:r>
              <a:rPr lang="en-US" altLang="zh-CN" sz="2200">
                <a:latin typeface="Times New Roman" panose="02020603050405020304" pitchFamily="18" charset="0"/>
              </a:rPr>
              <a:t>8K)</a:t>
            </a:r>
          </a:p>
          <a:p>
            <a:pPr algn="just" eaLnBrk="0" hangingPunct="0"/>
            <a:endParaRPr lang="en-US" altLang="zh-CN" sz="2200">
              <a:latin typeface="Times New Roman" panose="02020603050405020304" pitchFamily="18" charset="0"/>
            </a:endParaRPr>
          </a:p>
          <a:p>
            <a:pPr algn="just" eaLnBrk="0" hangingPunct="0"/>
            <a:endParaRPr lang="en-US" altLang="zh-CN" sz="2200">
              <a:latin typeface="Times New Roman" panose="02020603050405020304" pitchFamily="18" charset="0"/>
            </a:endParaRPr>
          </a:p>
        </p:txBody>
      </p:sp>
      <p:sp>
        <p:nvSpPr>
          <p:cNvPr id="50186" name="Line 20">
            <a:extLst>
              <a:ext uri="{FF2B5EF4-FFF2-40B4-BE49-F238E27FC236}">
                <a16:creationId xmlns:a16="http://schemas.microsoft.com/office/drawing/2014/main" id="{CEAA4100-25B9-EF99-2975-9585C282E94B}"/>
              </a:ext>
            </a:extLst>
          </p:cNvPr>
          <p:cNvSpPr>
            <a:spLocks noChangeShapeType="1"/>
          </p:cNvSpPr>
          <p:nvPr/>
        </p:nvSpPr>
        <p:spPr bwMode="auto">
          <a:xfrm>
            <a:off x="5108575" y="2106613"/>
            <a:ext cx="1865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7" name="Line 21">
            <a:extLst>
              <a:ext uri="{FF2B5EF4-FFF2-40B4-BE49-F238E27FC236}">
                <a16:creationId xmlns:a16="http://schemas.microsoft.com/office/drawing/2014/main" id="{4CE5471C-ADF7-3878-B5C3-EF99B7BA11C9}"/>
              </a:ext>
            </a:extLst>
          </p:cNvPr>
          <p:cNvSpPr>
            <a:spLocks noChangeShapeType="1"/>
          </p:cNvSpPr>
          <p:nvPr/>
        </p:nvSpPr>
        <p:spPr bwMode="auto">
          <a:xfrm>
            <a:off x="5108575" y="2640013"/>
            <a:ext cx="1865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8" name="Text Box 22">
            <a:extLst>
              <a:ext uri="{FF2B5EF4-FFF2-40B4-BE49-F238E27FC236}">
                <a16:creationId xmlns:a16="http://schemas.microsoft.com/office/drawing/2014/main" id="{AFFA88D0-D6C6-01E6-9507-4177668BE77A}"/>
              </a:ext>
            </a:extLst>
          </p:cNvPr>
          <p:cNvSpPr txBox="1">
            <a:spLocks noChangeArrowheads="1"/>
          </p:cNvSpPr>
          <p:nvPr/>
        </p:nvSpPr>
        <p:spPr bwMode="auto">
          <a:xfrm>
            <a:off x="4002088" y="1431925"/>
            <a:ext cx="10668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18000" rIns="0" bIns="0"/>
          <a:lstStyle/>
          <a:p>
            <a:pPr algn="just" eaLnBrk="0" hangingPunct="0"/>
            <a:r>
              <a:rPr lang="zh-CN" altLang="en-US" sz="2200">
                <a:latin typeface="Times New Roman" panose="02020603050405020304" pitchFamily="18" charset="0"/>
              </a:rPr>
              <a:t>         0</a:t>
            </a:r>
          </a:p>
          <a:p>
            <a:pPr algn="just" eaLnBrk="0" hangingPunct="0"/>
            <a:endParaRPr lang="zh-CN" altLang="en-US" sz="800">
              <a:latin typeface="Times New Roman" panose="02020603050405020304" pitchFamily="18" charset="0"/>
            </a:endParaRPr>
          </a:p>
          <a:p>
            <a:pPr algn="just" eaLnBrk="0" hangingPunct="0"/>
            <a:r>
              <a:rPr lang="zh-CN" altLang="en-US" sz="2200">
                <a:latin typeface="Times New Roman" panose="02020603050405020304" pitchFamily="18" charset="0"/>
              </a:rPr>
              <a:t>     24</a:t>
            </a:r>
            <a:r>
              <a:rPr lang="en-US" altLang="zh-CN" sz="2200">
                <a:latin typeface="Times New Roman" panose="02020603050405020304" pitchFamily="18" charset="0"/>
              </a:rPr>
              <a:t>KB</a:t>
            </a:r>
          </a:p>
          <a:p>
            <a:pPr algn="just" eaLnBrk="0" hangingPunct="0"/>
            <a:endParaRPr lang="en-US" altLang="zh-CN" sz="800">
              <a:latin typeface="Times New Roman" panose="02020603050405020304" pitchFamily="18" charset="0"/>
            </a:endParaRPr>
          </a:p>
          <a:p>
            <a:pPr algn="just" eaLnBrk="0" hangingPunct="0"/>
            <a:r>
              <a:rPr lang="en-US" altLang="zh-CN" sz="2200">
                <a:latin typeface="Times New Roman" panose="02020603050405020304" pitchFamily="18" charset="0"/>
              </a:rPr>
              <a:t>     32KB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   128KB</a:t>
            </a:r>
          </a:p>
          <a:p>
            <a:pPr algn="just" eaLnBrk="0" hangingPunct="0"/>
            <a:endParaRPr lang="en-US" altLang="zh-CN" sz="1400">
              <a:latin typeface="Times New Roman" panose="02020603050405020304" pitchFamily="18" charset="0"/>
            </a:endParaRPr>
          </a:p>
          <a:p>
            <a:pPr algn="just" eaLnBrk="0" hangingPunct="0"/>
            <a:r>
              <a:rPr lang="en-US" altLang="zh-CN" sz="2200">
                <a:latin typeface="Times New Roman" panose="02020603050405020304" pitchFamily="18" charset="0"/>
              </a:rPr>
              <a:t>   140KB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   248KB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256KB-1</a:t>
            </a:r>
          </a:p>
        </p:txBody>
      </p:sp>
      <p:sp>
        <p:nvSpPr>
          <p:cNvPr id="50189" name="Line 23">
            <a:extLst>
              <a:ext uri="{FF2B5EF4-FFF2-40B4-BE49-F238E27FC236}">
                <a16:creationId xmlns:a16="http://schemas.microsoft.com/office/drawing/2014/main" id="{EE4EE223-F754-E87C-0243-CCB4C687D552}"/>
              </a:ext>
            </a:extLst>
          </p:cNvPr>
          <p:cNvSpPr>
            <a:spLocks noChangeShapeType="1"/>
          </p:cNvSpPr>
          <p:nvPr/>
        </p:nvSpPr>
        <p:spPr bwMode="auto">
          <a:xfrm>
            <a:off x="5108575" y="3173413"/>
            <a:ext cx="1865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0" name="Line 24">
            <a:extLst>
              <a:ext uri="{FF2B5EF4-FFF2-40B4-BE49-F238E27FC236}">
                <a16:creationId xmlns:a16="http://schemas.microsoft.com/office/drawing/2014/main" id="{DC7F3204-8768-D2CF-5591-F0F628761C38}"/>
              </a:ext>
            </a:extLst>
          </p:cNvPr>
          <p:cNvSpPr>
            <a:spLocks noChangeShapeType="1"/>
          </p:cNvSpPr>
          <p:nvPr/>
        </p:nvSpPr>
        <p:spPr bwMode="auto">
          <a:xfrm>
            <a:off x="5108575" y="3783013"/>
            <a:ext cx="1865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1" name="Line 25">
            <a:extLst>
              <a:ext uri="{FF2B5EF4-FFF2-40B4-BE49-F238E27FC236}">
                <a16:creationId xmlns:a16="http://schemas.microsoft.com/office/drawing/2014/main" id="{29E5B584-3ED8-1E66-D3F5-9891156DA360}"/>
              </a:ext>
            </a:extLst>
          </p:cNvPr>
          <p:cNvSpPr>
            <a:spLocks noChangeShapeType="1"/>
          </p:cNvSpPr>
          <p:nvPr/>
        </p:nvSpPr>
        <p:spPr bwMode="auto">
          <a:xfrm>
            <a:off x="5108575" y="4468813"/>
            <a:ext cx="1865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2" name="Line 26">
            <a:extLst>
              <a:ext uri="{FF2B5EF4-FFF2-40B4-BE49-F238E27FC236}">
                <a16:creationId xmlns:a16="http://schemas.microsoft.com/office/drawing/2014/main" id="{10A5326A-234D-F81B-527D-30D46DEB7CD3}"/>
              </a:ext>
            </a:extLst>
          </p:cNvPr>
          <p:cNvSpPr>
            <a:spLocks noChangeShapeType="1"/>
          </p:cNvSpPr>
          <p:nvPr/>
        </p:nvSpPr>
        <p:spPr bwMode="auto">
          <a:xfrm>
            <a:off x="6973888" y="2346325"/>
            <a:ext cx="38100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3" name="Line 27">
            <a:extLst>
              <a:ext uri="{FF2B5EF4-FFF2-40B4-BE49-F238E27FC236}">
                <a16:creationId xmlns:a16="http://schemas.microsoft.com/office/drawing/2014/main" id="{2D525E39-6798-5E80-E9D0-821E68221274}"/>
              </a:ext>
            </a:extLst>
          </p:cNvPr>
          <p:cNvSpPr>
            <a:spLocks noChangeShapeType="1"/>
          </p:cNvSpPr>
          <p:nvPr/>
        </p:nvSpPr>
        <p:spPr bwMode="auto">
          <a:xfrm>
            <a:off x="7354888" y="2346325"/>
            <a:ext cx="0" cy="83820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4" name="Line 28">
            <a:extLst>
              <a:ext uri="{FF2B5EF4-FFF2-40B4-BE49-F238E27FC236}">
                <a16:creationId xmlns:a16="http://schemas.microsoft.com/office/drawing/2014/main" id="{3FDD1DAE-9A34-5095-CE4F-F1FCBC8954D6}"/>
              </a:ext>
            </a:extLst>
          </p:cNvPr>
          <p:cNvSpPr>
            <a:spLocks noChangeShapeType="1"/>
          </p:cNvSpPr>
          <p:nvPr/>
        </p:nvSpPr>
        <p:spPr bwMode="auto">
          <a:xfrm>
            <a:off x="6973888" y="3184525"/>
            <a:ext cx="381000" cy="0"/>
          </a:xfrm>
          <a:prstGeom prst="line">
            <a:avLst/>
          </a:prstGeom>
          <a:noFill/>
          <a:ln w="25400">
            <a:solidFill>
              <a:schemeClr val="tx1"/>
            </a:solidFill>
            <a:miter lim="800000"/>
            <a:headEnd type="triangle" w="lg" len="lg"/>
            <a:tailEnd/>
          </a:ln>
          <a:extLst>
            <a:ext uri="{909E8E84-426E-40DD-AFC4-6F175D3DCCD1}">
              <a14:hiddenFill xmlns:a14="http://schemas.microsoft.com/office/drawing/2010/main">
                <a:noFill/>
              </a14:hiddenFill>
            </a:ext>
          </a:extLst>
        </p:spPr>
        <p:txBody>
          <a:bodyPr/>
          <a:lstStyle/>
          <a:p>
            <a:endParaRPr lang="zh-CN" altLang="en-US"/>
          </a:p>
        </p:txBody>
      </p:sp>
      <p:sp>
        <p:nvSpPr>
          <p:cNvPr id="50195" name="Line 29">
            <a:extLst>
              <a:ext uri="{FF2B5EF4-FFF2-40B4-BE49-F238E27FC236}">
                <a16:creationId xmlns:a16="http://schemas.microsoft.com/office/drawing/2014/main" id="{3E882978-34D9-85DE-5DE8-5BF3189DDA7E}"/>
              </a:ext>
            </a:extLst>
          </p:cNvPr>
          <p:cNvSpPr>
            <a:spLocks noChangeShapeType="1"/>
          </p:cNvSpPr>
          <p:nvPr/>
        </p:nvSpPr>
        <p:spPr bwMode="auto">
          <a:xfrm>
            <a:off x="6973888" y="3489325"/>
            <a:ext cx="38100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6" name="Line 30">
            <a:extLst>
              <a:ext uri="{FF2B5EF4-FFF2-40B4-BE49-F238E27FC236}">
                <a16:creationId xmlns:a16="http://schemas.microsoft.com/office/drawing/2014/main" id="{06CA0915-232E-F09E-5E09-8D9C3D72F4C6}"/>
              </a:ext>
            </a:extLst>
          </p:cNvPr>
          <p:cNvSpPr>
            <a:spLocks noChangeShapeType="1"/>
          </p:cNvSpPr>
          <p:nvPr/>
        </p:nvSpPr>
        <p:spPr bwMode="auto">
          <a:xfrm>
            <a:off x="7354888" y="3489325"/>
            <a:ext cx="0" cy="99060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7" name="Line 31">
            <a:extLst>
              <a:ext uri="{FF2B5EF4-FFF2-40B4-BE49-F238E27FC236}">
                <a16:creationId xmlns:a16="http://schemas.microsoft.com/office/drawing/2014/main" id="{E306068C-6E1E-4938-0848-182C3816EBF1}"/>
              </a:ext>
            </a:extLst>
          </p:cNvPr>
          <p:cNvSpPr>
            <a:spLocks noChangeShapeType="1"/>
          </p:cNvSpPr>
          <p:nvPr/>
        </p:nvSpPr>
        <p:spPr bwMode="auto">
          <a:xfrm>
            <a:off x="6973888" y="4479925"/>
            <a:ext cx="381000" cy="0"/>
          </a:xfrm>
          <a:prstGeom prst="line">
            <a:avLst/>
          </a:prstGeom>
          <a:noFill/>
          <a:ln w="25400">
            <a:solidFill>
              <a:schemeClr val="tx1"/>
            </a:solidFill>
            <a:miter lim="800000"/>
            <a:headEnd type="triangle" w="lg" len="lg"/>
            <a:tailEnd/>
          </a:ln>
          <a:extLst>
            <a:ext uri="{909E8E84-426E-40DD-AFC4-6F175D3DCCD1}">
              <a14:hiddenFill xmlns:a14="http://schemas.microsoft.com/office/drawing/2010/main">
                <a:noFill/>
              </a14:hiddenFill>
            </a:ext>
          </a:extLst>
        </p:spPr>
        <p:txBody>
          <a:bodyPr/>
          <a:lstStyle/>
          <a:p>
            <a:endParaRPr lang="zh-CN" altLang="en-US"/>
          </a:p>
        </p:txBody>
      </p:sp>
      <p:sp>
        <p:nvSpPr>
          <p:cNvPr id="50198" name="Rectangle 32">
            <a:extLst>
              <a:ext uri="{FF2B5EF4-FFF2-40B4-BE49-F238E27FC236}">
                <a16:creationId xmlns:a16="http://schemas.microsoft.com/office/drawing/2014/main" id="{C861B2FA-F84F-4D30-D84E-E18A2E48C56A}"/>
              </a:ext>
            </a:extLst>
          </p:cNvPr>
          <p:cNvSpPr>
            <a:spLocks noChangeArrowheads="1"/>
          </p:cNvSpPr>
          <p:nvPr/>
        </p:nvSpPr>
        <p:spPr bwMode="auto">
          <a:xfrm>
            <a:off x="7600950" y="1889125"/>
            <a:ext cx="123825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a:t>表头指针</a:t>
            </a:r>
          </a:p>
        </p:txBody>
      </p:sp>
      <p:sp>
        <p:nvSpPr>
          <p:cNvPr id="50199" name="Line 33">
            <a:extLst>
              <a:ext uri="{FF2B5EF4-FFF2-40B4-BE49-F238E27FC236}">
                <a16:creationId xmlns:a16="http://schemas.microsoft.com/office/drawing/2014/main" id="{3D95B12C-0CB4-8B74-724C-C790AB810941}"/>
              </a:ext>
            </a:extLst>
          </p:cNvPr>
          <p:cNvSpPr>
            <a:spLocks noChangeShapeType="1"/>
          </p:cNvSpPr>
          <p:nvPr/>
        </p:nvSpPr>
        <p:spPr bwMode="auto">
          <a:xfrm>
            <a:off x="6973888" y="2117725"/>
            <a:ext cx="609600" cy="0"/>
          </a:xfrm>
          <a:prstGeom prst="line">
            <a:avLst/>
          </a:prstGeom>
          <a:noFill/>
          <a:ln w="25400">
            <a:solidFill>
              <a:schemeClr val="tx1"/>
            </a:solidFill>
            <a:miter lim="800000"/>
            <a:headEnd type="triangle" w="lg" len="lg"/>
            <a:tailEnd/>
          </a:ln>
          <a:extLst>
            <a:ext uri="{909E8E84-426E-40DD-AFC4-6F175D3DCCD1}">
              <a14:hiddenFill xmlns:a14="http://schemas.microsoft.com/office/drawing/2010/main">
                <a:noFill/>
              </a14:hiddenFill>
            </a:ext>
          </a:extLst>
        </p:spPr>
        <p:txBody>
          <a:bodyPr/>
          <a:lstStyle/>
          <a:p>
            <a:endParaRPr lang="zh-CN" altLang="en-US"/>
          </a:p>
        </p:txBody>
      </p:sp>
      <p:sp>
        <p:nvSpPr>
          <p:cNvPr id="50200" name="Rectangle 34">
            <a:extLst>
              <a:ext uri="{FF2B5EF4-FFF2-40B4-BE49-F238E27FC236}">
                <a16:creationId xmlns:a16="http://schemas.microsoft.com/office/drawing/2014/main" id="{420093D9-6CBA-50A9-9209-3BD2CC515A36}"/>
              </a:ext>
            </a:extLst>
          </p:cNvPr>
          <p:cNvSpPr>
            <a:spLocks noChangeArrowheads="1"/>
          </p:cNvSpPr>
          <p:nvPr/>
        </p:nvSpPr>
        <p:spPr bwMode="auto">
          <a:xfrm>
            <a:off x="5221288" y="1052513"/>
            <a:ext cx="16557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nchor="ctr"/>
          <a:lstStyle/>
          <a:p>
            <a:pPr algn="ctr"/>
            <a:r>
              <a:rPr lang="zh-CN" altLang="en-US"/>
              <a:t>空闲分区链</a:t>
            </a:r>
          </a:p>
        </p:txBody>
      </p:sp>
      <p:sp>
        <p:nvSpPr>
          <p:cNvPr id="50201" name="Rectangle 35">
            <a:extLst>
              <a:ext uri="{FF2B5EF4-FFF2-40B4-BE49-F238E27FC236}">
                <a16:creationId xmlns:a16="http://schemas.microsoft.com/office/drawing/2014/main" id="{DB10E16B-AD09-1773-9006-BFFC31C0C194}"/>
              </a:ext>
            </a:extLst>
          </p:cNvPr>
          <p:cNvSpPr>
            <a:spLocks noChangeArrowheads="1"/>
          </p:cNvSpPr>
          <p:nvPr/>
        </p:nvSpPr>
        <p:spPr bwMode="auto">
          <a:xfrm>
            <a:off x="1403350" y="5300663"/>
            <a:ext cx="165576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nchor="ctr"/>
          <a:lstStyle/>
          <a:p>
            <a:pPr algn="ctr"/>
            <a:r>
              <a:rPr lang="zh-CN" altLang="en-US"/>
              <a:t>内存布局图</a:t>
            </a:r>
          </a:p>
        </p:txBody>
      </p:sp>
    </p:spTree>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809F4B9D-2F4B-2D00-1E80-4F82D7839828}"/>
              </a:ext>
            </a:extLst>
          </p:cNvPr>
          <p:cNvSpPr>
            <a:spLocks noGrp="1" noChangeArrowheads="1"/>
          </p:cNvSpPr>
          <p:nvPr>
            <p:ph type="title"/>
          </p:nvPr>
        </p:nvSpPr>
        <p:spPr>
          <a:xfrm>
            <a:off x="1042988" y="225431"/>
            <a:ext cx="7850187" cy="746125"/>
          </a:xfrm>
        </p:spPr>
        <p:txBody>
          <a:bodyPr/>
          <a:lstStyle/>
          <a:p>
            <a:r>
              <a:rPr lang="zh-CN" altLang="en-US" dirty="0"/>
              <a:t>动态分区分配问题</a:t>
            </a:r>
          </a:p>
        </p:txBody>
      </p:sp>
      <p:sp>
        <p:nvSpPr>
          <p:cNvPr id="51202" name="Rectangle 3">
            <a:extLst>
              <a:ext uri="{FF2B5EF4-FFF2-40B4-BE49-F238E27FC236}">
                <a16:creationId xmlns:a16="http://schemas.microsoft.com/office/drawing/2014/main" id="{6BFB8E77-F971-7B22-593F-0FC982AC4818}"/>
              </a:ext>
            </a:extLst>
          </p:cNvPr>
          <p:cNvSpPr>
            <a:spLocks noGrp="1" noChangeArrowheads="1"/>
          </p:cNvSpPr>
          <p:nvPr>
            <p:ph idx="1"/>
          </p:nvPr>
        </p:nvSpPr>
        <p:spPr>
          <a:xfrm>
            <a:off x="935038" y="1233488"/>
            <a:ext cx="7772400" cy="4895850"/>
          </a:xfrm>
        </p:spPr>
        <p:txBody>
          <a:bodyPr/>
          <a:lstStyle/>
          <a:p>
            <a:r>
              <a:rPr lang="zh-CN" altLang="en-US" dirty="0"/>
              <a:t>如何从空闲分区中找到满足申请要求的分区？</a:t>
            </a:r>
            <a:endParaRPr lang="en-US" altLang="zh-CN" dirty="0"/>
          </a:p>
          <a:p>
            <a:pPr lvl="1"/>
            <a:r>
              <a:rPr lang="zh-CN" altLang="en-US" dirty="0"/>
              <a:t>首次适应算法</a:t>
            </a:r>
          </a:p>
          <a:p>
            <a:pPr lvl="1"/>
            <a:r>
              <a:rPr lang="zh-CN" altLang="en-US" dirty="0"/>
              <a:t>循环首次适应算法</a:t>
            </a:r>
          </a:p>
          <a:p>
            <a:pPr lvl="1"/>
            <a:r>
              <a:rPr lang="zh-CN" altLang="en-US" dirty="0"/>
              <a:t>最佳适应算法</a:t>
            </a:r>
          </a:p>
          <a:p>
            <a:pPr lvl="1"/>
            <a:r>
              <a:rPr lang="zh-CN" altLang="en-US" dirty="0"/>
              <a:t>最坏适应算法</a:t>
            </a:r>
          </a:p>
        </p:txBody>
      </p:sp>
    </p:spTree>
  </p:cSld>
  <p:clrMapOvr>
    <a:masterClrMapping/>
  </p:clrMapOvr>
  <p:transition spd="med">
    <p:zoom/>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858F2121-C006-65C1-4A0F-6153583EC757}"/>
              </a:ext>
            </a:extLst>
          </p:cNvPr>
          <p:cNvSpPr>
            <a:spLocks noGrp="1" noChangeArrowheads="1"/>
          </p:cNvSpPr>
          <p:nvPr>
            <p:ph type="title"/>
          </p:nvPr>
        </p:nvSpPr>
        <p:spPr>
          <a:xfrm>
            <a:off x="1042988" y="225431"/>
            <a:ext cx="7850187" cy="746125"/>
          </a:xfrm>
        </p:spPr>
        <p:txBody>
          <a:bodyPr/>
          <a:lstStyle/>
          <a:p>
            <a:r>
              <a:rPr lang="zh-CN" altLang="en-US"/>
              <a:t>首次适应算法 </a:t>
            </a:r>
            <a:r>
              <a:rPr lang="en-US" altLang="zh-CN"/>
              <a:t>First-fit</a:t>
            </a:r>
            <a:endParaRPr lang="zh-CN" altLang="en-US"/>
          </a:p>
        </p:txBody>
      </p:sp>
      <p:sp>
        <p:nvSpPr>
          <p:cNvPr id="109571" name="Rectangle 3">
            <a:extLst>
              <a:ext uri="{FF2B5EF4-FFF2-40B4-BE49-F238E27FC236}">
                <a16:creationId xmlns:a16="http://schemas.microsoft.com/office/drawing/2014/main" id="{993C4CD3-7D65-BA48-2ED1-FA8909AE2F0C}"/>
              </a:ext>
            </a:extLst>
          </p:cNvPr>
          <p:cNvSpPr>
            <a:spLocks noGrp="1" noChangeArrowheads="1"/>
          </p:cNvSpPr>
          <p:nvPr>
            <p:ph idx="1"/>
          </p:nvPr>
        </p:nvSpPr>
        <p:spPr>
          <a:xfrm>
            <a:off x="935038" y="1233488"/>
            <a:ext cx="7772400" cy="4895850"/>
          </a:xfrm>
        </p:spPr>
        <p:txBody>
          <a:bodyPr>
            <a:normAutofit fontScale="92500" lnSpcReduction="20000"/>
          </a:bodyPr>
          <a:lstStyle/>
          <a:p>
            <a:r>
              <a:rPr lang="zh-CN" altLang="en-US" b="1" dirty="0">
                <a:solidFill>
                  <a:srgbClr val="FF0000"/>
                </a:solidFill>
              </a:rPr>
              <a:t>首次适应算法</a:t>
            </a:r>
            <a:r>
              <a:rPr lang="zh-CN" altLang="en-US" dirty="0"/>
              <a:t>又称最先适应算法，该算法要求空闲分区按地址递增的次序排列。</a:t>
            </a:r>
          </a:p>
          <a:p>
            <a:r>
              <a:rPr lang="zh-CN" altLang="en-US" dirty="0"/>
              <a:t>在进行内存分配时，从空闲分区表（或空闲分区链）首开始顺序查找，直到找到第一个能满足其大小要求的空闲分区为止。</a:t>
            </a:r>
          </a:p>
          <a:p>
            <a:r>
              <a:rPr lang="zh-CN" altLang="en-US" dirty="0"/>
              <a:t>然后，再按照作业大小，从该分区中划出一块内存空间分配给请求者，余下的空闲分区仍然留在空闲分区表（或空闲分区链）中。</a:t>
            </a:r>
            <a:endParaRPr lang="en-US" altLang="zh-CN" dirty="0"/>
          </a:p>
          <a:p>
            <a:r>
              <a:rPr lang="zh-CN" altLang="en-US" dirty="0"/>
              <a:t>特点：优先利用内存低地址端，高地址端有大空闲区。但低地址端有许多小空闲分区时会增加查找开销。</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animEffect transition="in" filter="checkerboard(across)">
                                      <p:cBhvr>
                                        <p:cTn id="7" dur="500"/>
                                        <p:tgtEl>
                                          <p:spTgt spid="1095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9571">
                                            <p:txEl>
                                              <p:pRg st="1" end="1"/>
                                            </p:txEl>
                                          </p:spTgt>
                                        </p:tgtEl>
                                        <p:attrNameLst>
                                          <p:attrName>style.visibility</p:attrName>
                                        </p:attrNameLst>
                                      </p:cBhvr>
                                      <p:to>
                                        <p:strVal val="visible"/>
                                      </p:to>
                                    </p:set>
                                    <p:animEffect transition="in" filter="checkerboard(across)">
                                      <p:cBhvr>
                                        <p:cTn id="12" dur="500"/>
                                        <p:tgtEl>
                                          <p:spTgt spid="1095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9571">
                                            <p:txEl>
                                              <p:pRg st="2" end="2"/>
                                            </p:txEl>
                                          </p:spTgt>
                                        </p:tgtEl>
                                        <p:attrNameLst>
                                          <p:attrName>style.visibility</p:attrName>
                                        </p:attrNameLst>
                                      </p:cBhvr>
                                      <p:to>
                                        <p:strVal val="visible"/>
                                      </p:to>
                                    </p:set>
                                    <p:animEffect transition="in" filter="checkerboard(across)">
                                      <p:cBhvr>
                                        <p:cTn id="17" dur="500"/>
                                        <p:tgtEl>
                                          <p:spTgt spid="1095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09571">
                                            <p:txEl>
                                              <p:pRg st="3" end="3"/>
                                            </p:txEl>
                                          </p:spTgt>
                                        </p:tgtEl>
                                        <p:attrNameLst>
                                          <p:attrName>style.visibility</p:attrName>
                                        </p:attrNameLst>
                                      </p:cBhvr>
                                      <p:to>
                                        <p:strVal val="visible"/>
                                      </p:to>
                                    </p:set>
                                    <p:animEffect transition="in" filter="checkerboard(across)">
                                      <p:cBhvr>
                                        <p:cTn id="22" dur="500"/>
                                        <p:tgtEl>
                                          <p:spTgt spid="1095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45B4D494-4785-2B7C-48CF-DD2A4A975FDE}"/>
              </a:ext>
            </a:extLst>
          </p:cNvPr>
          <p:cNvSpPr>
            <a:spLocks noGrp="1" noChangeArrowheads="1"/>
          </p:cNvSpPr>
          <p:nvPr>
            <p:ph type="title"/>
          </p:nvPr>
        </p:nvSpPr>
        <p:spPr>
          <a:xfrm>
            <a:off x="1042988" y="225431"/>
            <a:ext cx="7850187" cy="746125"/>
          </a:xfrm>
        </p:spPr>
        <p:txBody>
          <a:bodyPr/>
          <a:lstStyle/>
          <a:p>
            <a:r>
              <a:rPr lang="zh-CN" altLang="en-US"/>
              <a:t>循环首次适应算法 </a:t>
            </a:r>
            <a:r>
              <a:rPr lang="en-US" altLang="zh-CN"/>
              <a:t>Next-fit</a:t>
            </a:r>
            <a:endParaRPr lang="zh-CN" altLang="en-US"/>
          </a:p>
        </p:txBody>
      </p:sp>
      <p:sp>
        <p:nvSpPr>
          <p:cNvPr id="113667" name="Rectangle 3">
            <a:extLst>
              <a:ext uri="{FF2B5EF4-FFF2-40B4-BE49-F238E27FC236}">
                <a16:creationId xmlns:a16="http://schemas.microsoft.com/office/drawing/2014/main" id="{44407259-0305-A972-F94E-FAE99885D714}"/>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b="1" dirty="0">
                <a:solidFill>
                  <a:srgbClr val="FF0000"/>
                </a:solidFill>
              </a:rPr>
              <a:t>循环首次适应算法</a:t>
            </a:r>
            <a:r>
              <a:rPr lang="zh-CN" altLang="en-US" dirty="0"/>
              <a:t>又称下次适应算法，它是首次适应算法的变形。</a:t>
            </a:r>
          </a:p>
          <a:p>
            <a:r>
              <a:rPr lang="zh-CN" altLang="en-US" dirty="0"/>
              <a:t>该算法在为进程分配内存空间时，从上次找到的空闲分区的下一个空闲分区开始查找，直到找到第一个能满足其大小要求的空闲分区为止。</a:t>
            </a:r>
          </a:p>
          <a:p>
            <a:r>
              <a:rPr lang="zh-CN" altLang="en-US" dirty="0"/>
              <a:t>然后，再按照作业大小，从该分区中划出一块内存空间分配给请求者，余下的空闲分区仍然留在空闲分区表（或空闲分区链）中。</a:t>
            </a:r>
            <a:endParaRPr lang="en-US" altLang="zh-CN" dirty="0"/>
          </a:p>
          <a:p>
            <a:r>
              <a:rPr lang="zh-CN" altLang="en-US" dirty="0"/>
              <a:t>特点：使存储空间的利用更加均衡，但会使系统缺乏大的空闲分区。</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checkerboard(across)">
                                      <p:cBhvr>
                                        <p:cTn id="7" dur="500"/>
                                        <p:tgtEl>
                                          <p:spTgt spid="1136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3667">
                                            <p:txEl>
                                              <p:pRg st="1" end="1"/>
                                            </p:txEl>
                                          </p:spTgt>
                                        </p:tgtEl>
                                        <p:attrNameLst>
                                          <p:attrName>style.visibility</p:attrName>
                                        </p:attrNameLst>
                                      </p:cBhvr>
                                      <p:to>
                                        <p:strVal val="visible"/>
                                      </p:to>
                                    </p:set>
                                    <p:animEffect transition="in" filter="checkerboard(across)">
                                      <p:cBhvr>
                                        <p:cTn id="12" dur="500"/>
                                        <p:tgtEl>
                                          <p:spTgt spid="1136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13667">
                                            <p:txEl>
                                              <p:pRg st="2" end="2"/>
                                            </p:txEl>
                                          </p:spTgt>
                                        </p:tgtEl>
                                        <p:attrNameLst>
                                          <p:attrName>style.visibility</p:attrName>
                                        </p:attrNameLst>
                                      </p:cBhvr>
                                      <p:to>
                                        <p:strVal val="visible"/>
                                      </p:to>
                                    </p:set>
                                    <p:animEffect transition="in" filter="checkerboard(across)">
                                      <p:cBhvr>
                                        <p:cTn id="17" dur="500"/>
                                        <p:tgtEl>
                                          <p:spTgt spid="1136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13667">
                                            <p:txEl>
                                              <p:pRg st="3" end="3"/>
                                            </p:txEl>
                                          </p:spTgt>
                                        </p:tgtEl>
                                        <p:attrNameLst>
                                          <p:attrName>style.visibility</p:attrName>
                                        </p:attrNameLst>
                                      </p:cBhvr>
                                      <p:to>
                                        <p:strVal val="visible"/>
                                      </p:to>
                                    </p:set>
                                    <p:animEffect transition="in" filter="checkerboard(across)">
                                      <p:cBhvr>
                                        <p:cTn id="22" dur="500"/>
                                        <p:tgtEl>
                                          <p:spTgt spid="1136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6D24AD22-4D1F-63E6-0E4F-0E97B345C189}"/>
              </a:ext>
            </a:extLst>
          </p:cNvPr>
          <p:cNvSpPr>
            <a:spLocks noGrp="1" noChangeArrowheads="1"/>
          </p:cNvSpPr>
          <p:nvPr>
            <p:ph type="title"/>
          </p:nvPr>
        </p:nvSpPr>
        <p:spPr>
          <a:xfrm>
            <a:off x="1042988" y="225431"/>
            <a:ext cx="7850187" cy="746125"/>
          </a:xfrm>
        </p:spPr>
        <p:txBody>
          <a:bodyPr/>
          <a:lstStyle/>
          <a:p>
            <a:r>
              <a:rPr lang="zh-CN" altLang="en-US"/>
              <a:t>最佳适应算法 </a:t>
            </a:r>
            <a:r>
              <a:rPr lang="en-US" altLang="zh-CN"/>
              <a:t>Best-fit </a:t>
            </a:r>
            <a:endParaRPr lang="zh-CN" altLang="en-US"/>
          </a:p>
        </p:txBody>
      </p:sp>
      <p:sp>
        <p:nvSpPr>
          <p:cNvPr id="114691" name="Rectangle 3">
            <a:extLst>
              <a:ext uri="{FF2B5EF4-FFF2-40B4-BE49-F238E27FC236}">
                <a16:creationId xmlns:a16="http://schemas.microsoft.com/office/drawing/2014/main" id="{D085FC66-6176-31E8-3139-C41F6D04548D}"/>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b="1" dirty="0">
                <a:solidFill>
                  <a:srgbClr val="FF0000"/>
                </a:solidFill>
              </a:rPr>
              <a:t>最佳适应算法</a:t>
            </a:r>
            <a:r>
              <a:rPr lang="zh-CN" altLang="en-US" dirty="0"/>
              <a:t>要求空闲分区按容量大小递增的次序排列。</a:t>
            </a:r>
          </a:p>
          <a:p>
            <a:r>
              <a:rPr lang="zh-CN" altLang="en-US" dirty="0"/>
              <a:t>在进行内存分配时，从空闲分区表（或空闲分区链）首开始顺序查找，直到找到第一个能满足其大小要求的空闲分区为止。</a:t>
            </a:r>
          </a:p>
          <a:p>
            <a:r>
              <a:rPr lang="zh-CN" altLang="en-US" dirty="0"/>
              <a:t>如果该空闲分区大于作业的大小，则从该分区中划出一块内存空间分配给请求者，将剩余空闲区仍然留在空闲分区表（或空闲分区链）中。</a:t>
            </a:r>
            <a:endParaRPr lang="en-US" altLang="zh-CN" dirty="0"/>
          </a:p>
          <a:p>
            <a:r>
              <a:rPr lang="zh-CN" altLang="en-US" dirty="0"/>
              <a:t>特点：保留了大的空闲区。但分割后的剩余空闲区很小。</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Effect transition="in" filter="checkerboard(across)">
                                      <p:cBhvr>
                                        <p:cTn id="7" dur="500"/>
                                        <p:tgtEl>
                                          <p:spTgt spid="1146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4691">
                                            <p:txEl>
                                              <p:pRg st="1" end="1"/>
                                            </p:txEl>
                                          </p:spTgt>
                                        </p:tgtEl>
                                        <p:attrNameLst>
                                          <p:attrName>style.visibility</p:attrName>
                                        </p:attrNameLst>
                                      </p:cBhvr>
                                      <p:to>
                                        <p:strVal val="visible"/>
                                      </p:to>
                                    </p:set>
                                    <p:animEffect transition="in" filter="checkerboard(across)">
                                      <p:cBhvr>
                                        <p:cTn id="12" dur="500"/>
                                        <p:tgtEl>
                                          <p:spTgt spid="1146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14691">
                                            <p:txEl>
                                              <p:pRg st="2" end="2"/>
                                            </p:txEl>
                                          </p:spTgt>
                                        </p:tgtEl>
                                        <p:attrNameLst>
                                          <p:attrName>style.visibility</p:attrName>
                                        </p:attrNameLst>
                                      </p:cBhvr>
                                      <p:to>
                                        <p:strVal val="visible"/>
                                      </p:to>
                                    </p:set>
                                    <p:animEffect transition="in" filter="checkerboard(across)">
                                      <p:cBhvr>
                                        <p:cTn id="17" dur="500"/>
                                        <p:tgtEl>
                                          <p:spTgt spid="1146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14691">
                                            <p:txEl>
                                              <p:pRg st="3" end="3"/>
                                            </p:txEl>
                                          </p:spTgt>
                                        </p:tgtEl>
                                        <p:attrNameLst>
                                          <p:attrName>style.visibility</p:attrName>
                                        </p:attrNameLst>
                                      </p:cBhvr>
                                      <p:to>
                                        <p:strVal val="visible"/>
                                      </p:to>
                                    </p:set>
                                    <p:animEffect transition="in" filter="checkerboard(across)">
                                      <p:cBhvr>
                                        <p:cTn id="22" dur="500"/>
                                        <p:tgtEl>
                                          <p:spTgt spid="1146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8F5FE614-03DB-E48C-27D1-FE6668BC7B3B}"/>
              </a:ext>
            </a:extLst>
          </p:cNvPr>
          <p:cNvSpPr>
            <a:spLocks noGrp="1" noChangeArrowheads="1"/>
          </p:cNvSpPr>
          <p:nvPr>
            <p:ph type="title"/>
          </p:nvPr>
        </p:nvSpPr>
        <p:spPr>
          <a:xfrm>
            <a:off x="1042988" y="225431"/>
            <a:ext cx="7850187" cy="746125"/>
          </a:xfrm>
        </p:spPr>
        <p:txBody>
          <a:bodyPr/>
          <a:lstStyle/>
          <a:p>
            <a:r>
              <a:rPr lang="zh-CN" altLang="en-US"/>
              <a:t>最坏适应算法 </a:t>
            </a:r>
            <a:r>
              <a:rPr lang="en-US" altLang="zh-CN"/>
              <a:t>Worst-fit</a:t>
            </a:r>
            <a:endParaRPr lang="zh-CN" altLang="en-US"/>
          </a:p>
        </p:txBody>
      </p:sp>
      <p:sp>
        <p:nvSpPr>
          <p:cNvPr id="115715" name="Rectangle 3">
            <a:extLst>
              <a:ext uri="{FF2B5EF4-FFF2-40B4-BE49-F238E27FC236}">
                <a16:creationId xmlns:a16="http://schemas.microsoft.com/office/drawing/2014/main" id="{8F3E6C06-7A84-9289-A60D-361CB6D9841A}"/>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b="1" dirty="0">
                <a:solidFill>
                  <a:srgbClr val="FF0000"/>
                </a:solidFill>
              </a:rPr>
              <a:t>最坏适应算法</a:t>
            </a:r>
            <a:r>
              <a:rPr lang="zh-CN" altLang="en-US" dirty="0"/>
              <a:t>要求空闲分区按容量大小递减的次序排列。</a:t>
            </a:r>
          </a:p>
          <a:p>
            <a:r>
              <a:rPr lang="zh-CN" altLang="en-US" dirty="0"/>
              <a:t>在进行内存分配时，先检查空闲分区表（或空闲分区链）中的第一个空闲分区，若第一个空闲分区小于作业要求的大小，则分配失败；</a:t>
            </a:r>
          </a:p>
          <a:p>
            <a:r>
              <a:rPr lang="zh-CN" altLang="en-US" dirty="0"/>
              <a:t>否则从该空闲分区中划出与作业大小相等的一块内存空间分配给请求者，余下的空闲分区仍然留在空闲分区表（或空闲分区链）中。</a:t>
            </a:r>
            <a:endParaRPr lang="en-US" altLang="zh-CN" dirty="0"/>
          </a:p>
          <a:p>
            <a:r>
              <a:rPr lang="zh-CN" altLang="en-US" dirty="0"/>
              <a:t>特点：剩下的空闲区比较大，但当大作业到来时，其存储空间的申请往往得不到满足。</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checkerboard(across)">
                                      <p:cBhvr>
                                        <p:cTn id="7" dur="500"/>
                                        <p:tgtEl>
                                          <p:spTgt spid="1157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5715">
                                            <p:txEl>
                                              <p:pRg st="1" end="1"/>
                                            </p:txEl>
                                          </p:spTgt>
                                        </p:tgtEl>
                                        <p:attrNameLst>
                                          <p:attrName>style.visibility</p:attrName>
                                        </p:attrNameLst>
                                      </p:cBhvr>
                                      <p:to>
                                        <p:strVal val="visible"/>
                                      </p:to>
                                    </p:set>
                                    <p:animEffect transition="in" filter="checkerboard(across)">
                                      <p:cBhvr>
                                        <p:cTn id="12" dur="500"/>
                                        <p:tgtEl>
                                          <p:spTgt spid="1157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15715">
                                            <p:txEl>
                                              <p:pRg st="2" end="2"/>
                                            </p:txEl>
                                          </p:spTgt>
                                        </p:tgtEl>
                                        <p:attrNameLst>
                                          <p:attrName>style.visibility</p:attrName>
                                        </p:attrNameLst>
                                      </p:cBhvr>
                                      <p:to>
                                        <p:strVal val="visible"/>
                                      </p:to>
                                    </p:set>
                                    <p:animEffect transition="in" filter="checkerboard(across)">
                                      <p:cBhvr>
                                        <p:cTn id="17" dur="500"/>
                                        <p:tgtEl>
                                          <p:spTgt spid="1157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15715">
                                            <p:txEl>
                                              <p:pRg st="3" end="3"/>
                                            </p:txEl>
                                          </p:spTgt>
                                        </p:tgtEl>
                                        <p:attrNameLst>
                                          <p:attrName>style.visibility</p:attrName>
                                        </p:attrNameLst>
                                      </p:cBhvr>
                                      <p:to>
                                        <p:strVal val="visible"/>
                                      </p:to>
                                    </p:set>
                                    <p:animEffect transition="in" filter="checkerboard(across)">
                                      <p:cBhvr>
                                        <p:cTn id="22" dur="500"/>
                                        <p:tgtEl>
                                          <p:spTgt spid="1157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3226F849-A301-0DA2-EC36-18D1B4A09A14}"/>
              </a:ext>
            </a:extLst>
          </p:cNvPr>
          <p:cNvSpPr>
            <a:spLocks noGrp="1" noChangeArrowheads="1"/>
          </p:cNvSpPr>
          <p:nvPr>
            <p:ph type="title"/>
          </p:nvPr>
        </p:nvSpPr>
        <p:spPr>
          <a:xfrm>
            <a:off x="1042988" y="225431"/>
            <a:ext cx="7850187" cy="746125"/>
          </a:xfrm>
        </p:spPr>
        <p:txBody>
          <a:bodyPr/>
          <a:lstStyle/>
          <a:p>
            <a:r>
              <a:rPr lang="zh-CN" altLang="en-US"/>
              <a:t>如何衡量分配算法的好坏</a:t>
            </a:r>
          </a:p>
        </p:txBody>
      </p:sp>
      <p:sp>
        <p:nvSpPr>
          <p:cNvPr id="60418" name="Rectangle 3">
            <a:extLst>
              <a:ext uri="{FF2B5EF4-FFF2-40B4-BE49-F238E27FC236}">
                <a16:creationId xmlns:a16="http://schemas.microsoft.com/office/drawing/2014/main" id="{56836CC1-839B-D410-FD42-70ED2E63405C}"/>
              </a:ext>
            </a:extLst>
          </p:cNvPr>
          <p:cNvSpPr>
            <a:spLocks noGrp="1" noChangeArrowheads="1"/>
          </p:cNvSpPr>
          <p:nvPr>
            <p:ph idx="1"/>
          </p:nvPr>
        </p:nvSpPr>
        <p:spPr>
          <a:xfrm>
            <a:off x="935038" y="1233488"/>
            <a:ext cx="7772400" cy="4895850"/>
          </a:xfrm>
        </p:spPr>
        <p:txBody>
          <a:bodyPr/>
          <a:lstStyle/>
          <a:p>
            <a:r>
              <a:rPr lang="zh-CN" altLang="en-US"/>
              <a:t>对于某一个作业序列来说，若某种分配算法能将该作业序列中所有作业安置完毕，则称该分配算法对这一作业序列合适，否则称为不合适。</a:t>
            </a:r>
          </a:p>
        </p:txBody>
      </p:sp>
    </p:spTree>
  </p:cSld>
  <p:clrMapOvr>
    <a:masterClrMapping/>
  </p:clrMapOvr>
  <p:transition spd="med">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167FDF3F-F812-78C0-9C84-DB4C87ABF6DE}"/>
              </a:ext>
            </a:extLst>
          </p:cNvPr>
          <p:cNvSpPr>
            <a:spLocks noGrp="1" noChangeArrowheads="1"/>
          </p:cNvSpPr>
          <p:nvPr>
            <p:ph type="title"/>
          </p:nvPr>
        </p:nvSpPr>
        <p:spPr>
          <a:xfrm>
            <a:off x="1042988" y="225431"/>
            <a:ext cx="7850187" cy="746125"/>
          </a:xfrm>
        </p:spPr>
        <p:txBody>
          <a:bodyPr/>
          <a:lstStyle/>
          <a:p>
            <a:r>
              <a:rPr lang="zh-CN" altLang="en-US" dirty="0"/>
              <a:t>示例</a:t>
            </a:r>
          </a:p>
        </p:txBody>
      </p:sp>
      <p:sp>
        <p:nvSpPr>
          <p:cNvPr id="61442" name="Rectangle 3">
            <a:extLst>
              <a:ext uri="{FF2B5EF4-FFF2-40B4-BE49-F238E27FC236}">
                <a16:creationId xmlns:a16="http://schemas.microsoft.com/office/drawing/2014/main" id="{E7E320CB-858F-F23B-C82D-E2467F0BE8C8}"/>
              </a:ext>
            </a:extLst>
          </p:cNvPr>
          <p:cNvSpPr>
            <a:spLocks noGrp="1" noChangeArrowheads="1"/>
          </p:cNvSpPr>
          <p:nvPr>
            <p:ph idx="1"/>
          </p:nvPr>
        </p:nvSpPr>
        <p:spPr>
          <a:xfrm>
            <a:off x="935038" y="1233488"/>
            <a:ext cx="7772400" cy="1979612"/>
          </a:xfrm>
        </p:spPr>
        <p:txBody>
          <a:bodyPr>
            <a:normAutofit fontScale="85000" lnSpcReduction="20000"/>
          </a:bodyPr>
          <a:lstStyle/>
          <a:p>
            <a:r>
              <a:rPr lang="zh-CN" altLang="en-US" dirty="0"/>
              <a:t>下表给出了某系统的空闲分区表，系统采用可变式分区存储管理策略。现有以下作业序列：96</a:t>
            </a:r>
            <a:r>
              <a:rPr lang="en-US" altLang="zh-CN" dirty="0"/>
              <a:t>K、20K、200K。</a:t>
            </a:r>
            <a:r>
              <a:rPr lang="zh-CN" altLang="en-US" dirty="0"/>
              <a:t>若用首次适应算法和最佳适应算法来处理这些作业序列，试问哪一种算法可以满足该作业序列的请求?</a:t>
            </a:r>
          </a:p>
        </p:txBody>
      </p:sp>
      <p:graphicFrame>
        <p:nvGraphicFramePr>
          <p:cNvPr id="67588" name="表格 67587">
            <a:extLst>
              <a:ext uri="{FF2B5EF4-FFF2-40B4-BE49-F238E27FC236}">
                <a16:creationId xmlns:a16="http://schemas.microsoft.com/office/drawing/2014/main" id="{3E0670EE-F919-BCB7-7E87-3009AC57EE64}"/>
              </a:ext>
            </a:extLst>
          </p:cNvPr>
          <p:cNvGraphicFramePr>
            <a:graphicFrameLocks noGrp="1"/>
          </p:cNvGraphicFramePr>
          <p:nvPr/>
        </p:nvGraphicFramePr>
        <p:xfrm>
          <a:off x="1066800" y="3213100"/>
          <a:ext cx="7162800" cy="2911475"/>
        </p:xfrm>
        <a:graphic>
          <a:graphicData uri="http://schemas.openxmlformats.org/drawingml/2006/table">
            <a:tbl>
              <a:tblPr/>
              <a:tblGrid>
                <a:gridCol w="2362200">
                  <a:extLst>
                    <a:ext uri="{9D8B030D-6E8A-4147-A177-3AD203B41FA5}">
                      <a16:colId xmlns:a16="http://schemas.microsoft.com/office/drawing/2014/main" val="3957735285"/>
                    </a:ext>
                  </a:extLst>
                </a:gridCol>
                <a:gridCol w="2514600">
                  <a:extLst>
                    <a:ext uri="{9D8B030D-6E8A-4147-A177-3AD203B41FA5}">
                      <a16:colId xmlns:a16="http://schemas.microsoft.com/office/drawing/2014/main" val="1146173681"/>
                    </a:ext>
                  </a:extLst>
                </a:gridCol>
                <a:gridCol w="2286000">
                  <a:extLst>
                    <a:ext uri="{9D8B030D-6E8A-4147-A177-3AD203B41FA5}">
                      <a16:colId xmlns:a16="http://schemas.microsoft.com/office/drawing/2014/main" val="2060297088"/>
                    </a:ext>
                  </a:extLst>
                </a:gridCol>
              </a:tblGrid>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53861411"/>
                  </a:ext>
                </a:extLst>
              </a:tr>
              <a:tr h="5334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32</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57625366"/>
                  </a:ext>
                </a:extLst>
              </a:tr>
              <a:tr h="5334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150</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333437751"/>
                  </a:ext>
                </a:extLst>
              </a:tr>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200</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359638303"/>
                  </a:ext>
                </a:extLst>
              </a:tr>
              <a:tr h="4730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218</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220</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732600282"/>
                  </a:ext>
                </a:extLst>
              </a:tr>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96</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530</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321383884"/>
                  </a:ext>
                </a:extLst>
              </a:tr>
            </a:tbl>
          </a:graphicData>
        </a:graphic>
      </p:graphicFrame>
    </p:spTree>
  </p:cSld>
  <p:clrMapOvr>
    <a:masterClrMapping/>
  </p:clrMapOvr>
  <p:transition spd="med">
    <p:zoom/>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69FBBDA-1893-681D-6AA8-76B6422EDF7B}"/>
              </a:ext>
            </a:extLst>
          </p:cNvPr>
          <p:cNvSpPr>
            <a:spLocks noGrp="1" noChangeArrowheads="1"/>
          </p:cNvSpPr>
          <p:nvPr>
            <p:ph type="title"/>
          </p:nvPr>
        </p:nvSpPr>
        <p:spPr>
          <a:xfrm>
            <a:off x="1042988" y="225431"/>
            <a:ext cx="7850187" cy="746125"/>
          </a:xfrm>
        </p:spPr>
        <p:txBody>
          <a:bodyPr/>
          <a:lstStyle/>
          <a:p>
            <a:r>
              <a:rPr lang="zh-CN" altLang="en-US"/>
              <a:t>例--采用最佳适应算法分配1</a:t>
            </a:r>
            <a:endParaRPr lang="en-US" altLang="zh-CN"/>
          </a:p>
        </p:txBody>
      </p:sp>
      <p:sp>
        <p:nvSpPr>
          <p:cNvPr id="183299" name="Rectangle 3">
            <a:extLst>
              <a:ext uri="{FF2B5EF4-FFF2-40B4-BE49-F238E27FC236}">
                <a16:creationId xmlns:a16="http://schemas.microsoft.com/office/drawing/2014/main" id="{681039E1-9337-7A2A-C671-8F545F4B044F}"/>
              </a:ext>
            </a:extLst>
          </p:cNvPr>
          <p:cNvSpPr>
            <a:spLocks noGrp="1" noChangeArrowheads="1"/>
          </p:cNvSpPr>
          <p:nvPr>
            <p:ph idx="1"/>
          </p:nvPr>
        </p:nvSpPr>
        <p:spPr>
          <a:xfrm>
            <a:off x="935038" y="1233488"/>
            <a:ext cx="3408363" cy="4895850"/>
          </a:xfrm>
        </p:spPr>
        <p:txBody>
          <a:bodyPr/>
          <a:lstStyle/>
          <a:p>
            <a:r>
              <a:rPr lang="zh-CN" altLang="en-US" dirty="0"/>
              <a:t>申请96</a:t>
            </a:r>
            <a:r>
              <a:rPr lang="en-US" altLang="zh-CN" dirty="0"/>
              <a:t>K</a:t>
            </a:r>
            <a:r>
              <a:rPr lang="zh-CN" altLang="en-US" dirty="0"/>
              <a:t>，</a:t>
            </a:r>
          </a:p>
          <a:p>
            <a:r>
              <a:rPr lang="zh-CN" altLang="en-US" dirty="0"/>
              <a:t>选中5号分区，5号分区大小与申请空间大小一致，应从空闲分区表中删去该表项；</a:t>
            </a:r>
          </a:p>
        </p:txBody>
      </p:sp>
      <p:graphicFrame>
        <p:nvGraphicFramePr>
          <p:cNvPr id="68612" name="表格 68611">
            <a:extLst>
              <a:ext uri="{FF2B5EF4-FFF2-40B4-BE49-F238E27FC236}">
                <a16:creationId xmlns:a16="http://schemas.microsoft.com/office/drawing/2014/main" id="{EC16A11E-D03E-6FCA-0D3B-3C45B85891CE}"/>
              </a:ext>
            </a:extLst>
          </p:cNvPr>
          <p:cNvGraphicFramePr>
            <a:graphicFrameLocks noGrp="1"/>
          </p:cNvGraphicFramePr>
          <p:nvPr/>
        </p:nvGraphicFramePr>
        <p:xfrm>
          <a:off x="4800600" y="1196975"/>
          <a:ext cx="3962400" cy="2380615"/>
        </p:xfrm>
        <a:graphic>
          <a:graphicData uri="http://schemas.openxmlformats.org/drawingml/2006/table">
            <a:tbl>
              <a:tblPr/>
              <a:tblGrid>
                <a:gridCol w="1143000">
                  <a:extLst>
                    <a:ext uri="{9D8B030D-6E8A-4147-A177-3AD203B41FA5}">
                      <a16:colId xmlns:a16="http://schemas.microsoft.com/office/drawing/2014/main" val="3365253193"/>
                    </a:ext>
                  </a:extLst>
                </a:gridCol>
                <a:gridCol w="1295400">
                  <a:extLst>
                    <a:ext uri="{9D8B030D-6E8A-4147-A177-3AD203B41FA5}">
                      <a16:colId xmlns:a16="http://schemas.microsoft.com/office/drawing/2014/main" val="3278596107"/>
                    </a:ext>
                  </a:extLst>
                </a:gridCol>
                <a:gridCol w="1524000">
                  <a:extLst>
                    <a:ext uri="{9D8B030D-6E8A-4147-A177-3AD203B41FA5}">
                      <a16:colId xmlns:a16="http://schemas.microsoft.com/office/drawing/2014/main" val="3769345617"/>
                    </a:ext>
                  </a:extLst>
                </a:gridCol>
              </a:tblGrid>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944954605"/>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178629775"/>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150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813231796"/>
                  </a:ext>
                </a:extLst>
              </a:tr>
              <a:tr h="395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768781671"/>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218</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220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555667668"/>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96</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530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115145990"/>
                  </a:ext>
                </a:extLst>
              </a:tr>
            </a:tbl>
          </a:graphicData>
        </a:graphic>
      </p:graphicFrame>
      <p:graphicFrame>
        <p:nvGraphicFramePr>
          <p:cNvPr id="68642" name="表格 68641">
            <a:extLst>
              <a:ext uri="{FF2B5EF4-FFF2-40B4-BE49-F238E27FC236}">
                <a16:creationId xmlns:a16="http://schemas.microsoft.com/office/drawing/2014/main" id="{1E56CE56-961D-2CEF-784C-D540796427DC}"/>
              </a:ext>
            </a:extLst>
          </p:cNvPr>
          <p:cNvGraphicFramePr>
            <a:graphicFrameLocks noGrp="1"/>
          </p:cNvGraphicFramePr>
          <p:nvPr/>
        </p:nvGraphicFramePr>
        <p:xfrm>
          <a:off x="4800600" y="3797300"/>
          <a:ext cx="3962400" cy="2380615"/>
        </p:xfrm>
        <a:graphic>
          <a:graphicData uri="http://schemas.openxmlformats.org/drawingml/2006/table">
            <a:tbl>
              <a:tblPr/>
              <a:tblGrid>
                <a:gridCol w="1143000">
                  <a:extLst>
                    <a:ext uri="{9D8B030D-6E8A-4147-A177-3AD203B41FA5}">
                      <a16:colId xmlns:a16="http://schemas.microsoft.com/office/drawing/2014/main" val="308431248"/>
                    </a:ext>
                  </a:extLst>
                </a:gridCol>
                <a:gridCol w="1295400">
                  <a:extLst>
                    <a:ext uri="{9D8B030D-6E8A-4147-A177-3AD203B41FA5}">
                      <a16:colId xmlns:a16="http://schemas.microsoft.com/office/drawing/2014/main" val="3695336300"/>
                    </a:ext>
                  </a:extLst>
                </a:gridCol>
                <a:gridCol w="1524000">
                  <a:extLst>
                    <a:ext uri="{9D8B030D-6E8A-4147-A177-3AD203B41FA5}">
                      <a16:colId xmlns:a16="http://schemas.microsoft.com/office/drawing/2014/main" val="1955313756"/>
                    </a:ext>
                  </a:extLst>
                </a:gridCol>
              </a:tblGrid>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441135099"/>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080745526"/>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150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085110159"/>
                  </a:ext>
                </a:extLst>
              </a:tr>
              <a:tr h="395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164027068"/>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218</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220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933172750"/>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829455208"/>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83299">
                                            <p:txEl>
                                              <p:pRg st="0" end="0"/>
                                            </p:txEl>
                                          </p:spTgt>
                                        </p:tgtEl>
                                        <p:attrNameLst>
                                          <p:attrName>style.visibility</p:attrName>
                                        </p:attrNameLst>
                                      </p:cBhvr>
                                      <p:to>
                                        <p:strVal val="visible"/>
                                      </p:to>
                                    </p:set>
                                    <p:animEffect transition="in" filter="checkerboard(across)">
                                      <p:cBhvr>
                                        <p:cTn id="7" dur="500"/>
                                        <p:tgtEl>
                                          <p:spTgt spid="1832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83299">
                                            <p:txEl>
                                              <p:pRg st="1" end="1"/>
                                            </p:txEl>
                                          </p:spTgt>
                                        </p:tgtEl>
                                        <p:attrNameLst>
                                          <p:attrName>style.visibility</p:attrName>
                                        </p:attrNameLst>
                                      </p:cBhvr>
                                      <p:to>
                                        <p:strVal val="visible"/>
                                      </p:to>
                                    </p:set>
                                    <p:animEffect transition="in" filter="checkerboard(across)">
                                      <p:cBhvr>
                                        <p:cTn id="12" dur="500"/>
                                        <p:tgtEl>
                                          <p:spTgt spid="1832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68642"/>
                                        </p:tgtEl>
                                        <p:attrNameLst>
                                          <p:attrName>style.visibility</p:attrName>
                                        </p:attrNameLst>
                                      </p:cBhvr>
                                      <p:to>
                                        <p:strVal val="visible"/>
                                      </p:to>
                                    </p:set>
                                    <p:animEffect transition="in" filter="checkerboard(across)">
                                      <p:cBhvr>
                                        <p:cTn id="17" dur="500"/>
                                        <p:tgtEl>
                                          <p:spTgt spid="68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28EEA90D-ACED-A671-3773-7591C6C4FB86}"/>
              </a:ext>
            </a:extLst>
          </p:cNvPr>
          <p:cNvSpPr>
            <a:spLocks noGrp="1" noChangeArrowheads="1"/>
          </p:cNvSpPr>
          <p:nvPr>
            <p:ph type="title"/>
          </p:nvPr>
        </p:nvSpPr>
        <p:spPr>
          <a:xfrm>
            <a:off x="1042988" y="225431"/>
            <a:ext cx="7850187" cy="746125"/>
          </a:xfrm>
        </p:spPr>
        <p:txBody>
          <a:bodyPr/>
          <a:lstStyle/>
          <a:p>
            <a:r>
              <a:rPr lang="zh-CN" altLang="en-US"/>
              <a:t>例--采用最佳适应算法分配2</a:t>
            </a:r>
            <a:endParaRPr lang="en-US" altLang="zh-CN"/>
          </a:p>
        </p:txBody>
      </p:sp>
      <p:sp>
        <p:nvSpPr>
          <p:cNvPr id="229379" name="Rectangle 3">
            <a:extLst>
              <a:ext uri="{FF2B5EF4-FFF2-40B4-BE49-F238E27FC236}">
                <a16:creationId xmlns:a16="http://schemas.microsoft.com/office/drawing/2014/main" id="{EB5D6B7D-8477-2DB2-6CB5-7511A6F2FCD3}"/>
              </a:ext>
            </a:extLst>
          </p:cNvPr>
          <p:cNvSpPr>
            <a:spLocks noGrp="1" noChangeArrowheads="1"/>
          </p:cNvSpPr>
          <p:nvPr>
            <p:ph idx="1"/>
          </p:nvPr>
        </p:nvSpPr>
        <p:spPr>
          <a:xfrm>
            <a:off x="935038" y="1233488"/>
            <a:ext cx="3636962" cy="4895850"/>
          </a:xfrm>
        </p:spPr>
        <p:txBody>
          <a:bodyPr/>
          <a:lstStyle/>
          <a:p>
            <a:r>
              <a:rPr lang="zh-CN" altLang="en-US" dirty="0"/>
              <a:t>申请20</a:t>
            </a:r>
            <a:r>
              <a:rPr lang="en-US" altLang="zh-CN" dirty="0"/>
              <a:t>K</a:t>
            </a:r>
            <a:r>
              <a:rPr lang="zh-CN" altLang="en-US" dirty="0"/>
              <a:t>，</a:t>
            </a:r>
          </a:p>
          <a:p>
            <a:r>
              <a:rPr lang="zh-CN" altLang="en-US" dirty="0"/>
              <a:t>选中1号分区，分配后1号分区还剩下12</a:t>
            </a:r>
            <a:r>
              <a:rPr lang="en-US" altLang="zh-CN" dirty="0"/>
              <a:t>K；</a:t>
            </a:r>
            <a:endParaRPr lang="zh-CN" altLang="en-US" dirty="0"/>
          </a:p>
        </p:txBody>
      </p:sp>
      <p:graphicFrame>
        <p:nvGraphicFramePr>
          <p:cNvPr id="69636" name="表格 69635">
            <a:extLst>
              <a:ext uri="{FF2B5EF4-FFF2-40B4-BE49-F238E27FC236}">
                <a16:creationId xmlns:a16="http://schemas.microsoft.com/office/drawing/2014/main" id="{43E088DC-3EF4-8F3F-7330-E7339367AC4B}"/>
              </a:ext>
            </a:extLst>
          </p:cNvPr>
          <p:cNvGraphicFramePr>
            <a:graphicFrameLocks noGrp="1"/>
          </p:cNvGraphicFramePr>
          <p:nvPr/>
        </p:nvGraphicFramePr>
        <p:xfrm>
          <a:off x="4800600" y="1268413"/>
          <a:ext cx="3962400" cy="2380615"/>
        </p:xfrm>
        <a:graphic>
          <a:graphicData uri="http://schemas.openxmlformats.org/drawingml/2006/table">
            <a:tbl>
              <a:tblPr/>
              <a:tblGrid>
                <a:gridCol w="1143000">
                  <a:extLst>
                    <a:ext uri="{9D8B030D-6E8A-4147-A177-3AD203B41FA5}">
                      <a16:colId xmlns:a16="http://schemas.microsoft.com/office/drawing/2014/main" val="1567860783"/>
                    </a:ext>
                  </a:extLst>
                </a:gridCol>
                <a:gridCol w="1295400">
                  <a:extLst>
                    <a:ext uri="{9D8B030D-6E8A-4147-A177-3AD203B41FA5}">
                      <a16:colId xmlns:a16="http://schemas.microsoft.com/office/drawing/2014/main" val="3101239547"/>
                    </a:ext>
                  </a:extLst>
                </a:gridCol>
                <a:gridCol w="1524000">
                  <a:extLst>
                    <a:ext uri="{9D8B030D-6E8A-4147-A177-3AD203B41FA5}">
                      <a16:colId xmlns:a16="http://schemas.microsoft.com/office/drawing/2014/main" val="771886840"/>
                    </a:ext>
                  </a:extLst>
                </a:gridCol>
              </a:tblGrid>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645212560"/>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668785096"/>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150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004761475"/>
                  </a:ext>
                </a:extLst>
              </a:tr>
              <a:tr h="395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16772015"/>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218</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220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312168928"/>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599959692"/>
                  </a:ext>
                </a:extLst>
              </a:tr>
            </a:tbl>
          </a:graphicData>
        </a:graphic>
      </p:graphicFrame>
      <p:graphicFrame>
        <p:nvGraphicFramePr>
          <p:cNvPr id="69666" name="表格 69665">
            <a:extLst>
              <a:ext uri="{FF2B5EF4-FFF2-40B4-BE49-F238E27FC236}">
                <a16:creationId xmlns:a16="http://schemas.microsoft.com/office/drawing/2014/main" id="{D9D93831-A31D-892A-78E0-F6A300A0D974}"/>
              </a:ext>
            </a:extLst>
          </p:cNvPr>
          <p:cNvGraphicFramePr>
            <a:graphicFrameLocks noGrp="1"/>
          </p:cNvGraphicFramePr>
          <p:nvPr/>
        </p:nvGraphicFramePr>
        <p:xfrm>
          <a:off x="4800600" y="3868738"/>
          <a:ext cx="3962400" cy="2380615"/>
        </p:xfrm>
        <a:graphic>
          <a:graphicData uri="http://schemas.openxmlformats.org/drawingml/2006/table">
            <a:tbl>
              <a:tblPr/>
              <a:tblGrid>
                <a:gridCol w="1143000">
                  <a:extLst>
                    <a:ext uri="{9D8B030D-6E8A-4147-A177-3AD203B41FA5}">
                      <a16:colId xmlns:a16="http://schemas.microsoft.com/office/drawing/2014/main" val="1483090040"/>
                    </a:ext>
                  </a:extLst>
                </a:gridCol>
                <a:gridCol w="1295400">
                  <a:extLst>
                    <a:ext uri="{9D8B030D-6E8A-4147-A177-3AD203B41FA5}">
                      <a16:colId xmlns:a16="http://schemas.microsoft.com/office/drawing/2014/main" val="3121605587"/>
                    </a:ext>
                  </a:extLst>
                </a:gridCol>
                <a:gridCol w="1524000">
                  <a:extLst>
                    <a:ext uri="{9D8B030D-6E8A-4147-A177-3AD203B41FA5}">
                      <a16:colId xmlns:a16="http://schemas.microsoft.com/office/drawing/2014/main" val="1392702808"/>
                    </a:ext>
                  </a:extLst>
                </a:gridCol>
              </a:tblGrid>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500073485"/>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167163803"/>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150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734001219"/>
                  </a:ext>
                </a:extLst>
              </a:tr>
              <a:tr h="395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467887361"/>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218</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220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281614181"/>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4763573"/>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29379">
                                            <p:txEl>
                                              <p:pRg st="0" end="0"/>
                                            </p:txEl>
                                          </p:spTgt>
                                        </p:tgtEl>
                                        <p:attrNameLst>
                                          <p:attrName>style.visibility</p:attrName>
                                        </p:attrNameLst>
                                      </p:cBhvr>
                                      <p:to>
                                        <p:strVal val="visible"/>
                                      </p:to>
                                    </p:set>
                                    <p:animEffect transition="in" filter="checkerboard(across)">
                                      <p:cBhvr>
                                        <p:cTn id="7" dur="500"/>
                                        <p:tgtEl>
                                          <p:spTgt spid="2293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9379">
                                            <p:txEl>
                                              <p:pRg st="1" end="1"/>
                                            </p:txEl>
                                          </p:spTgt>
                                        </p:tgtEl>
                                        <p:attrNameLst>
                                          <p:attrName>style.visibility</p:attrName>
                                        </p:attrNameLst>
                                      </p:cBhvr>
                                      <p:to>
                                        <p:strVal val="visible"/>
                                      </p:to>
                                    </p:set>
                                    <p:animEffect transition="in" filter="checkerboard(across)">
                                      <p:cBhvr>
                                        <p:cTn id="12" dur="500"/>
                                        <p:tgtEl>
                                          <p:spTgt spid="2293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69666"/>
                                        </p:tgtEl>
                                        <p:attrNameLst>
                                          <p:attrName>style.visibility</p:attrName>
                                        </p:attrNameLst>
                                      </p:cBhvr>
                                      <p:to>
                                        <p:strVal val="visible"/>
                                      </p:to>
                                    </p:set>
                                    <p:animEffect transition="in" filter="checkerboard(across)">
                                      <p:cBhvr>
                                        <p:cTn id="17" dur="500"/>
                                        <p:tgtEl>
                                          <p:spTgt spid="69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EAC6709A-0A49-FA86-D987-77EEF991549A}"/>
              </a:ext>
            </a:extLst>
          </p:cNvPr>
          <p:cNvSpPr>
            <a:spLocks noGrp="1" noChangeArrowheads="1"/>
          </p:cNvSpPr>
          <p:nvPr>
            <p:ph type="title"/>
          </p:nvPr>
        </p:nvSpPr>
        <p:spPr>
          <a:xfrm>
            <a:off x="1042988" y="225431"/>
            <a:ext cx="7850187" cy="746125"/>
          </a:xfrm>
        </p:spPr>
        <p:txBody>
          <a:bodyPr/>
          <a:lstStyle/>
          <a:p>
            <a:r>
              <a:rPr lang="zh-CN" altLang="en-US"/>
              <a:t>例--采用最佳适应算法分配3</a:t>
            </a:r>
            <a:endParaRPr lang="en-US" altLang="zh-CN"/>
          </a:p>
        </p:txBody>
      </p:sp>
      <p:sp>
        <p:nvSpPr>
          <p:cNvPr id="230403" name="Rectangle 3">
            <a:extLst>
              <a:ext uri="{FF2B5EF4-FFF2-40B4-BE49-F238E27FC236}">
                <a16:creationId xmlns:a16="http://schemas.microsoft.com/office/drawing/2014/main" id="{33B67DE6-D7A7-2C85-7704-546E1BC681F4}"/>
              </a:ext>
            </a:extLst>
          </p:cNvPr>
          <p:cNvSpPr>
            <a:spLocks noGrp="1" noChangeArrowheads="1"/>
          </p:cNvSpPr>
          <p:nvPr>
            <p:ph idx="1"/>
          </p:nvPr>
        </p:nvSpPr>
        <p:spPr>
          <a:xfrm>
            <a:off x="935038" y="1233488"/>
            <a:ext cx="3636962" cy="4895850"/>
          </a:xfrm>
        </p:spPr>
        <p:txBody>
          <a:bodyPr/>
          <a:lstStyle/>
          <a:p>
            <a:r>
              <a:rPr lang="zh-CN" altLang="en-US" dirty="0"/>
              <a:t>申请200</a:t>
            </a:r>
            <a:r>
              <a:rPr lang="en-US" altLang="zh-CN" dirty="0"/>
              <a:t>K,</a:t>
            </a:r>
          </a:p>
          <a:p>
            <a:r>
              <a:rPr lang="zh-CN" altLang="en-US" dirty="0"/>
              <a:t>选中4号分区，分配后剩下18</a:t>
            </a:r>
            <a:r>
              <a:rPr lang="en-US" altLang="zh-CN" dirty="0"/>
              <a:t>K。</a:t>
            </a:r>
            <a:endParaRPr lang="zh-CN" altLang="en-US" dirty="0"/>
          </a:p>
        </p:txBody>
      </p:sp>
      <p:graphicFrame>
        <p:nvGraphicFramePr>
          <p:cNvPr id="70660" name="表格 70659">
            <a:extLst>
              <a:ext uri="{FF2B5EF4-FFF2-40B4-BE49-F238E27FC236}">
                <a16:creationId xmlns:a16="http://schemas.microsoft.com/office/drawing/2014/main" id="{F67A1F25-C133-5813-5648-C95777624AF7}"/>
              </a:ext>
            </a:extLst>
          </p:cNvPr>
          <p:cNvGraphicFramePr>
            <a:graphicFrameLocks noGrp="1"/>
          </p:cNvGraphicFramePr>
          <p:nvPr/>
        </p:nvGraphicFramePr>
        <p:xfrm>
          <a:off x="4800600" y="1196975"/>
          <a:ext cx="3962400" cy="2380615"/>
        </p:xfrm>
        <a:graphic>
          <a:graphicData uri="http://schemas.openxmlformats.org/drawingml/2006/table">
            <a:tbl>
              <a:tblPr/>
              <a:tblGrid>
                <a:gridCol w="1143000">
                  <a:extLst>
                    <a:ext uri="{9D8B030D-6E8A-4147-A177-3AD203B41FA5}">
                      <a16:colId xmlns:a16="http://schemas.microsoft.com/office/drawing/2014/main" val="1858330299"/>
                    </a:ext>
                  </a:extLst>
                </a:gridCol>
                <a:gridCol w="1295400">
                  <a:extLst>
                    <a:ext uri="{9D8B030D-6E8A-4147-A177-3AD203B41FA5}">
                      <a16:colId xmlns:a16="http://schemas.microsoft.com/office/drawing/2014/main" val="3498921400"/>
                    </a:ext>
                  </a:extLst>
                </a:gridCol>
                <a:gridCol w="1524000">
                  <a:extLst>
                    <a:ext uri="{9D8B030D-6E8A-4147-A177-3AD203B41FA5}">
                      <a16:colId xmlns:a16="http://schemas.microsoft.com/office/drawing/2014/main" val="4290732626"/>
                    </a:ext>
                  </a:extLst>
                </a:gridCol>
              </a:tblGrid>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655168984"/>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904211867"/>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150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146980819"/>
                  </a:ext>
                </a:extLst>
              </a:tr>
              <a:tr h="395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682580759"/>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218</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220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32382604"/>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472504303"/>
                  </a:ext>
                </a:extLst>
              </a:tr>
            </a:tbl>
          </a:graphicData>
        </a:graphic>
      </p:graphicFrame>
      <p:graphicFrame>
        <p:nvGraphicFramePr>
          <p:cNvPr id="70690" name="表格 70689">
            <a:extLst>
              <a:ext uri="{FF2B5EF4-FFF2-40B4-BE49-F238E27FC236}">
                <a16:creationId xmlns:a16="http://schemas.microsoft.com/office/drawing/2014/main" id="{F959FC92-B0BD-FA5F-4FCE-E92473438BCB}"/>
              </a:ext>
            </a:extLst>
          </p:cNvPr>
          <p:cNvGraphicFramePr>
            <a:graphicFrameLocks noGrp="1"/>
          </p:cNvGraphicFramePr>
          <p:nvPr/>
        </p:nvGraphicFramePr>
        <p:xfrm>
          <a:off x="4800600" y="3797300"/>
          <a:ext cx="3962400" cy="2380615"/>
        </p:xfrm>
        <a:graphic>
          <a:graphicData uri="http://schemas.openxmlformats.org/drawingml/2006/table">
            <a:tbl>
              <a:tblPr/>
              <a:tblGrid>
                <a:gridCol w="1143000">
                  <a:extLst>
                    <a:ext uri="{9D8B030D-6E8A-4147-A177-3AD203B41FA5}">
                      <a16:colId xmlns:a16="http://schemas.microsoft.com/office/drawing/2014/main" val="1473546010"/>
                    </a:ext>
                  </a:extLst>
                </a:gridCol>
                <a:gridCol w="1295400">
                  <a:extLst>
                    <a:ext uri="{9D8B030D-6E8A-4147-A177-3AD203B41FA5}">
                      <a16:colId xmlns:a16="http://schemas.microsoft.com/office/drawing/2014/main" val="715525182"/>
                    </a:ext>
                  </a:extLst>
                </a:gridCol>
                <a:gridCol w="1524000">
                  <a:extLst>
                    <a:ext uri="{9D8B030D-6E8A-4147-A177-3AD203B41FA5}">
                      <a16:colId xmlns:a16="http://schemas.microsoft.com/office/drawing/2014/main" val="396553324"/>
                    </a:ext>
                  </a:extLst>
                </a:gridCol>
              </a:tblGrid>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367435754"/>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899598533"/>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150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674427365"/>
                  </a:ext>
                </a:extLst>
              </a:tr>
              <a:tr h="395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359816224"/>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18</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220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646493510"/>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444744906"/>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animEffect transition="in" filter="checkerboard(across)">
                                      <p:cBhvr>
                                        <p:cTn id="7" dur="500"/>
                                        <p:tgtEl>
                                          <p:spTgt spid="2304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30403">
                                            <p:txEl>
                                              <p:pRg st="1" end="1"/>
                                            </p:txEl>
                                          </p:spTgt>
                                        </p:tgtEl>
                                        <p:attrNameLst>
                                          <p:attrName>style.visibility</p:attrName>
                                        </p:attrNameLst>
                                      </p:cBhvr>
                                      <p:to>
                                        <p:strVal val="visible"/>
                                      </p:to>
                                    </p:set>
                                    <p:animEffect transition="in" filter="checkerboard(across)">
                                      <p:cBhvr>
                                        <p:cTn id="12" dur="500"/>
                                        <p:tgtEl>
                                          <p:spTgt spid="2304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70690"/>
                                        </p:tgtEl>
                                        <p:attrNameLst>
                                          <p:attrName>style.visibility</p:attrName>
                                        </p:attrNameLst>
                                      </p:cBhvr>
                                      <p:to>
                                        <p:strVal val="visible"/>
                                      </p:to>
                                    </p:set>
                                    <p:animEffect transition="in" filter="checkerboard(across)">
                                      <p:cBhvr>
                                        <p:cTn id="17" dur="500"/>
                                        <p:tgtEl>
                                          <p:spTgt spid="70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AB1892C9-9386-058D-4EAF-F71ABA20AF62}"/>
              </a:ext>
            </a:extLst>
          </p:cNvPr>
          <p:cNvSpPr>
            <a:spLocks noGrp="1" noChangeArrowheads="1"/>
          </p:cNvSpPr>
          <p:nvPr>
            <p:ph type="title"/>
          </p:nvPr>
        </p:nvSpPr>
        <p:spPr>
          <a:xfrm>
            <a:off x="1042988" y="225431"/>
            <a:ext cx="7850187" cy="746125"/>
          </a:xfrm>
        </p:spPr>
        <p:txBody>
          <a:bodyPr/>
          <a:lstStyle/>
          <a:p>
            <a:r>
              <a:rPr lang="zh-CN" altLang="en-US"/>
              <a:t>例--采用首次适应算法分配1</a:t>
            </a:r>
            <a:endParaRPr lang="en-US" altLang="zh-CN"/>
          </a:p>
        </p:txBody>
      </p:sp>
      <p:sp>
        <p:nvSpPr>
          <p:cNvPr id="184323" name="Rectangle 3">
            <a:extLst>
              <a:ext uri="{FF2B5EF4-FFF2-40B4-BE49-F238E27FC236}">
                <a16:creationId xmlns:a16="http://schemas.microsoft.com/office/drawing/2014/main" id="{4EF3BB34-5A82-2726-F76F-2DCC318DC48F}"/>
              </a:ext>
            </a:extLst>
          </p:cNvPr>
          <p:cNvSpPr>
            <a:spLocks noGrp="1" noChangeArrowheads="1"/>
          </p:cNvSpPr>
          <p:nvPr>
            <p:ph idx="1"/>
          </p:nvPr>
        </p:nvSpPr>
        <p:spPr>
          <a:xfrm>
            <a:off x="935038" y="1233488"/>
            <a:ext cx="3636962" cy="4895850"/>
          </a:xfrm>
        </p:spPr>
        <p:txBody>
          <a:bodyPr/>
          <a:lstStyle/>
          <a:p>
            <a:r>
              <a:rPr lang="zh-CN" altLang="en-US" dirty="0"/>
              <a:t>申请96</a:t>
            </a:r>
            <a:r>
              <a:rPr lang="en-US" altLang="zh-CN" dirty="0"/>
              <a:t>K</a:t>
            </a:r>
            <a:r>
              <a:rPr lang="zh-CN" altLang="en-US" dirty="0"/>
              <a:t>，</a:t>
            </a:r>
          </a:p>
          <a:p>
            <a:r>
              <a:rPr lang="zh-CN" altLang="en-US" dirty="0"/>
              <a:t>选中4号分区，进行分配后4号分区还剩下122</a:t>
            </a:r>
            <a:r>
              <a:rPr lang="en-US" altLang="zh-CN" dirty="0"/>
              <a:t>K；</a:t>
            </a:r>
          </a:p>
        </p:txBody>
      </p:sp>
      <p:graphicFrame>
        <p:nvGraphicFramePr>
          <p:cNvPr id="71684" name="表格 71683">
            <a:extLst>
              <a:ext uri="{FF2B5EF4-FFF2-40B4-BE49-F238E27FC236}">
                <a16:creationId xmlns:a16="http://schemas.microsoft.com/office/drawing/2014/main" id="{20C888F4-72DA-3C56-32D7-648F0C55A61F}"/>
              </a:ext>
            </a:extLst>
          </p:cNvPr>
          <p:cNvGraphicFramePr>
            <a:graphicFrameLocks noGrp="1"/>
          </p:cNvGraphicFramePr>
          <p:nvPr/>
        </p:nvGraphicFramePr>
        <p:xfrm>
          <a:off x="4800600" y="1196975"/>
          <a:ext cx="3962400" cy="2380615"/>
        </p:xfrm>
        <a:graphic>
          <a:graphicData uri="http://schemas.openxmlformats.org/drawingml/2006/table">
            <a:tbl>
              <a:tblPr/>
              <a:tblGrid>
                <a:gridCol w="1143000">
                  <a:extLst>
                    <a:ext uri="{9D8B030D-6E8A-4147-A177-3AD203B41FA5}">
                      <a16:colId xmlns:a16="http://schemas.microsoft.com/office/drawing/2014/main" val="506133405"/>
                    </a:ext>
                  </a:extLst>
                </a:gridCol>
                <a:gridCol w="1219200">
                  <a:extLst>
                    <a:ext uri="{9D8B030D-6E8A-4147-A177-3AD203B41FA5}">
                      <a16:colId xmlns:a16="http://schemas.microsoft.com/office/drawing/2014/main" val="3847281114"/>
                    </a:ext>
                  </a:extLst>
                </a:gridCol>
                <a:gridCol w="1600200">
                  <a:extLst>
                    <a:ext uri="{9D8B030D-6E8A-4147-A177-3AD203B41FA5}">
                      <a16:colId xmlns:a16="http://schemas.microsoft.com/office/drawing/2014/main" val="2247358342"/>
                    </a:ext>
                  </a:extLst>
                </a:gridCol>
              </a:tblGrid>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095138456"/>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560790033"/>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150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489491606"/>
                  </a:ext>
                </a:extLst>
              </a:tr>
              <a:tr h="395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017158433"/>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218</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220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113297791"/>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96</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530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925214745"/>
                  </a:ext>
                </a:extLst>
              </a:tr>
            </a:tbl>
          </a:graphicData>
        </a:graphic>
      </p:graphicFrame>
      <p:graphicFrame>
        <p:nvGraphicFramePr>
          <p:cNvPr id="71714" name="表格 71713">
            <a:extLst>
              <a:ext uri="{FF2B5EF4-FFF2-40B4-BE49-F238E27FC236}">
                <a16:creationId xmlns:a16="http://schemas.microsoft.com/office/drawing/2014/main" id="{DACF4411-7E81-E160-EAE6-FDEC69CE70DD}"/>
              </a:ext>
            </a:extLst>
          </p:cNvPr>
          <p:cNvGraphicFramePr>
            <a:graphicFrameLocks noGrp="1"/>
          </p:cNvGraphicFramePr>
          <p:nvPr/>
        </p:nvGraphicFramePr>
        <p:xfrm>
          <a:off x="4800600" y="3711575"/>
          <a:ext cx="3962400" cy="2380615"/>
        </p:xfrm>
        <a:graphic>
          <a:graphicData uri="http://schemas.openxmlformats.org/drawingml/2006/table">
            <a:tbl>
              <a:tblPr/>
              <a:tblGrid>
                <a:gridCol w="1143000">
                  <a:extLst>
                    <a:ext uri="{9D8B030D-6E8A-4147-A177-3AD203B41FA5}">
                      <a16:colId xmlns:a16="http://schemas.microsoft.com/office/drawing/2014/main" val="257087875"/>
                    </a:ext>
                  </a:extLst>
                </a:gridCol>
                <a:gridCol w="1219200">
                  <a:extLst>
                    <a:ext uri="{9D8B030D-6E8A-4147-A177-3AD203B41FA5}">
                      <a16:colId xmlns:a16="http://schemas.microsoft.com/office/drawing/2014/main" val="969524202"/>
                    </a:ext>
                  </a:extLst>
                </a:gridCol>
                <a:gridCol w="1600200">
                  <a:extLst>
                    <a:ext uri="{9D8B030D-6E8A-4147-A177-3AD203B41FA5}">
                      <a16:colId xmlns:a16="http://schemas.microsoft.com/office/drawing/2014/main" val="798577374"/>
                    </a:ext>
                  </a:extLst>
                </a:gridCol>
              </a:tblGrid>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06231393"/>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656934323"/>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150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23139207"/>
                  </a:ext>
                </a:extLst>
              </a:tr>
              <a:tr h="395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857511228"/>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122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220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566243940"/>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96</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530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363935682"/>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84323">
                                            <p:txEl>
                                              <p:pRg st="0" end="0"/>
                                            </p:txEl>
                                          </p:spTgt>
                                        </p:tgtEl>
                                        <p:attrNameLst>
                                          <p:attrName>style.visibility</p:attrName>
                                        </p:attrNameLst>
                                      </p:cBhvr>
                                      <p:to>
                                        <p:strVal val="visible"/>
                                      </p:to>
                                    </p:set>
                                    <p:animEffect transition="in" filter="checkerboard(across)">
                                      <p:cBhvr>
                                        <p:cTn id="7" dur="500"/>
                                        <p:tgtEl>
                                          <p:spTgt spid="1843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84323">
                                            <p:txEl>
                                              <p:pRg st="1" end="1"/>
                                            </p:txEl>
                                          </p:spTgt>
                                        </p:tgtEl>
                                        <p:attrNameLst>
                                          <p:attrName>style.visibility</p:attrName>
                                        </p:attrNameLst>
                                      </p:cBhvr>
                                      <p:to>
                                        <p:strVal val="visible"/>
                                      </p:to>
                                    </p:set>
                                    <p:animEffect transition="in" filter="checkerboard(across)">
                                      <p:cBhvr>
                                        <p:cTn id="12" dur="500"/>
                                        <p:tgtEl>
                                          <p:spTgt spid="1843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71714"/>
                                        </p:tgtEl>
                                        <p:attrNameLst>
                                          <p:attrName>style.visibility</p:attrName>
                                        </p:attrNameLst>
                                      </p:cBhvr>
                                      <p:to>
                                        <p:strVal val="visible"/>
                                      </p:to>
                                    </p:set>
                                    <p:animEffect transition="in" filter="checkerboard(across)">
                                      <p:cBhvr>
                                        <p:cTn id="17" dur="500"/>
                                        <p:tgtEl>
                                          <p:spTgt spid="71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3"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09C7D5CD-07E8-483C-F773-6FB6F5E8A269}"/>
              </a:ext>
            </a:extLst>
          </p:cNvPr>
          <p:cNvSpPr>
            <a:spLocks noGrp="1" noChangeArrowheads="1"/>
          </p:cNvSpPr>
          <p:nvPr>
            <p:ph type="title"/>
          </p:nvPr>
        </p:nvSpPr>
        <p:spPr>
          <a:xfrm>
            <a:off x="1042988" y="225431"/>
            <a:ext cx="7850187" cy="746125"/>
          </a:xfrm>
        </p:spPr>
        <p:txBody>
          <a:bodyPr/>
          <a:lstStyle/>
          <a:p>
            <a:r>
              <a:rPr lang="zh-CN" altLang="en-US"/>
              <a:t>例--采用首次适应算法分配2</a:t>
            </a:r>
            <a:endParaRPr lang="en-US" altLang="zh-CN"/>
          </a:p>
        </p:txBody>
      </p:sp>
      <p:sp>
        <p:nvSpPr>
          <p:cNvPr id="231427" name="Rectangle 3">
            <a:extLst>
              <a:ext uri="{FF2B5EF4-FFF2-40B4-BE49-F238E27FC236}">
                <a16:creationId xmlns:a16="http://schemas.microsoft.com/office/drawing/2014/main" id="{3DE03B4C-63C7-A8AD-8022-647DC8043947}"/>
              </a:ext>
            </a:extLst>
          </p:cNvPr>
          <p:cNvSpPr>
            <a:spLocks noGrp="1" noChangeArrowheads="1"/>
          </p:cNvSpPr>
          <p:nvPr>
            <p:ph idx="1"/>
          </p:nvPr>
        </p:nvSpPr>
        <p:spPr>
          <a:xfrm>
            <a:off x="935038" y="1233488"/>
            <a:ext cx="3636962" cy="4895850"/>
          </a:xfrm>
        </p:spPr>
        <p:txBody>
          <a:bodyPr/>
          <a:lstStyle/>
          <a:p>
            <a:r>
              <a:rPr lang="zh-CN" altLang="en-US" dirty="0"/>
              <a:t>申请20</a:t>
            </a:r>
            <a:r>
              <a:rPr lang="en-US" altLang="zh-CN" dirty="0"/>
              <a:t>K，</a:t>
            </a:r>
          </a:p>
          <a:p>
            <a:r>
              <a:rPr lang="zh-CN" altLang="en-US" dirty="0"/>
              <a:t>选中1号分区，分配后剩下12</a:t>
            </a:r>
            <a:r>
              <a:rPr lang="en-US" altLang="zh-CN" dirty="0"/>
              <a:t>K；</a:t>
            </a:r>
          </a:p>
        </p:txBody>
      </p:sp>
      <p:graphicFrame>
        <p:nvGraphicFramePr>
          <p:cNvPr id="72708" name="表格 72707">
            <a:extLst>
              <a:ext uri="{FF2B5EF4-FFF2-40B4-BE49-F238E27FC236}">
                <a16:creationId xmlns:a16="http://schemas.microsoft.com/office/drawing/2014/main" id="{45B027F2-87EB-A723-B3F4-4BEEB15C0A12}"/>
              </a:ext>
            </a:extLst>
          </p:cNvPr>
          <p:cNvGraphicFramePr>
            <a:graphicFrameLocks noGrp="1"/>
          </p:cNvGraphicFramePr>
          <p:nvPr/>
        </p:nvGraphicFramePr>
        <p:xfrm>
          <a:off x="4800600" y="1196975"/>
          <a:ext cx="3962400" cy="2380615"/>
        </p:xfrm>
        <a:graphic>
          <a:graphicData uri="http://schemas.openxmlformats.org/drawingml/2006/table">
            <a:tbl>
              <a:tblPr/>
              <a:tblGrid>
                <a:gridCol w="1143000">
                  <a:extLst>
                    <a:ext uri="{9D8B030D-6E8A-4147-A177-3AD203B41FA5}">
                      <a16:colId xmlns:a16="http://schemas.microsoft.com/office/drawing/2014/main" val="2486740973"/>
                    </a:ext>
                  </a:extLst>
                </a:gridCol>
                <a:gridCol w="1219200">
                  <a:extLst>
                    <a:ext uri="{9D8B030D-6E8A-4147-A177-3AD203B41FA5}">
                      <a16:colId xmlns:a16="http://schemas.microsoft.com/office/drawing/2014/main" val="1399130835"/>
                    </a:ext>
                  </a:extLst>
                </a:gridCol>
                <a:gridCol w="1600200">
                  <a:extLst>
                    <a:ext uri="{9D8B030D-6E8A-4147-A177-3AD203B41FA5}">
                      <a16:colId xmlns:a16="http://schemas.microsoft.com/office/drawing/2014/main" val="2590884883"/>
                    </a:ext>
                  </a:extLst>
                </a:gridCol>
              </a:tblGrid>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32148940"/>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93592184"/>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150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069384364"/>
                  </a:ext>
                </a:extLst>
              </a:tr>
              <a:tr h="395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10736905"/>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122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220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557617053"/>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96</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530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425022258"/>
                  </a:ext>
                </a:extLst>
              </a:tr>
            </a:tbl>
          </a:graphicData>
        </a:graphic>
      </p:graphicFrame>
      <p:graphicFrame>
        <p:nvGraphicFramePr>
          <p:cNvPr id="72738" name="表格 72737">
            <a:extLst>
              <a:ext uri="{FF2B5EF4-FFF2-40B4-BE49-F238E27FC236}">
                <a16:creationId xmlns:a16="http://schemas.microsoft.com/office/drawing/2014/main" id="{5F854A71-324F-9C98-CAB1-5C3BEC27FC39}"/>
              </a:ext>
            </a:extLst>
          </p:cNvPr>
          <p:cNvGraphicFramePr>
            <a:graphicFrameLocks noGrp="1"/>
          </p:cNvGraphicFramePr>
          <p:nvPr/>
        </p:nvGraphicFramePr>
        <p:xfrm>
          <a:off x="4800600" y="3711575"/>
          <a:ext cx="3962400" cy="2380615"/>
        </p:xfrm>
        <a:graphic>
          <a:graphicData uri="http://schemas.openxmlformats.org/drawingml/2006/table">
            <a:tbl>
              <a:tblPr/>
              <a:tblGrid>
                <a:gridCol w="1143000">
                  <a:extLst>
                    <a:ext uri="{9D8B030D-6E8A-4147-A177-3AD203B41FA5}">
                      <a16:colId xmlns:a16="http://schemas.microsoft.com/office/drawing/2014/main" val="2971670729"/>
                    </a:ext>
                  </a:extLst>
                </a:gridCol>
                <a:gridCol w="1219200">
                  <a:extLst>
                    <a:ext uri="{9D8B030D-6E8A-4147-A177-3AD203B41FA5}">
                      <a16:colId xmlns:a16="http://schemas.microsoft.com/office/drawing/2014/main" val="3544032244"/>
                    </a:ext>
                  </a:extLst>
                </a:gridCol>
                <a:gridCol w="1600200">
                  <a:extLst>
                    <a:ext uri="{9D8B030D-6E8A-4147-A177-3AD203B41FA5}">
                      <a16:colId xmlns:a16="http://schemas.microsoft.com/office/drawing/2014/main" val="2276252007"/>
                    </a:ext>
                  </a:extLst>
                </a:gridCol>
              </a:tblGrid>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74940874"/>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223720236"/>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150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906060226"/>
                  </a:ext>
                </a:extLst>
              </a:tr>
              <a:tr h="395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93894259"/>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122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220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211670019"/>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96</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530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176025517"/>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Effect transition="in" filter="checkerboard(across)">
                                      <p:cBhvr>
                                        <p:cTn id="7" dur="500"/>
                                        <p:tgtEl>
                                          <p:spTgt spid="2314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31427">
                                            <p:txEl>
                                              <p:pRg st="1" end="1"/>
                                            </p:txEl>
                                          </p:spTgt>
                                        </p:tgtEl>
                                        <p:attrNameLst>
                                          <p:attrName>style.visibility</p:attrName>
                                        </p:attrNameLst>
                                      </p:cBhvr>
                                      <p:to>
                                        <p:strVal val="visible"/>
                                      </p:to>
                                    </p:set>
                                    <p:animEffect transition="in" filter="checkerboard(across)">
                                      <p:cBhvr>
                                        <p:cTn id="12" dur="500"/>
                                        <p:tgtEl>
                                          <p:spTgt spid="2314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72738"/>
                                        </p:tgtEl>
                                        <p:attrNameLst>
                                          <p:attrName>style.visibility</p:attrName>
                                        </p:attrNameLst>
                                      </p:cBhvr>
                                      <p:to>
                                        <p:strVal val="visible"/>
                                      </p:to>
                                    </p:set>
                                    <p:animEffect transition="in" filter="checkerboard(across)">
                                      <p:cBhvr>
                                        <p:cTn id="17" dur="500"/>
                                        <p:tgtEl>
                                          <p:spTgt spid="72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A000ED01-C2AD-0A7A-91A1-E533C9FD41DB}"/>
              </a:ext>
            </a:extLst>
          </p:cNvPr>
          <p:cNvSpPr>
            <a:spLocks noGrp="1" noChangeArrowheads="1"/>
          </p:cNvSpPr>
          <p:nvPr>
            <p:ph type="title"/>
          </p:nvPr>
        </p:nvSpPr>
        <p:spPr>
          <a:xfrm>
            <a:off x="1042988" y="225431"/>
            <a:ext cx="7850187" cy="746125"/>
          </a:xfrm>
        </p:spPr>
        <p:txBody>
          <a:bodyPr/>
          <a:lstStyle/>
          <a:p>
            <a:r>
              <a:rPr lang="zh-CN" altLang="en-US"/>
              <a:t>例--采用首次适应算法分配3</a:t>
            </a:r>
            <a:endParaRPr lang="en-US" altLang="zh-CN"/>
          </a:p>
        </p:txBody>
      </p:sp>
      <p:sp>
        <p:nvSpPr>
          <p:cNvPr id="232451" name="Rectangle 3">
            <a:extLst>
              <a:ext uri="{FF2B5EF4-FFF2-40B4-BE49-F238E27FC236}">
                <a16:creationId xmlns:a16="http://schemas.microsoft.com/office/drawing/2014/main" id="{7876EFC6-A003-F242-43C3-11E291367C65}"/>
              </a:ext>
            </a:extLst>
          </p:cNvPr>
          <p:cNvSpPr>
            <a:spLocks noGrp="1" noChangeArrowheads="1"/>
          </p:cNvSpPr>
          <p:nvPr>
            <p:ph idx="1"/>
          </p:nvPr>
        </p:nvSpPr>
        <p:spPr>
          <a:xfrm>
            <a:off x="935038" y="1233488"/>
            <a:ext cx="3749696" cy="4895850"/>
          </a:xfrm>
        </p:spPr>
        <p:txBody>
          <a:bodyPr/>
          <a:lstStyle/>
          <a:p>
            <a:r>
              <a:rPr lang="zh-CN" altLang="en-US" dirty="0"/>
              <a:t>申请200</a:t>
            </a:r>
            <a:r>
              <a:rPr lang="en-US" altLang="zh-CN" dirty="0"/>
              <a:t>K，</a:t>
            </a:r>
          </a:p>
          <a:p>
            <a:r>
              <a:rPr lang="zh-CN" altLang="en-US" dirty="0"/>
              <a:t>现有的五个分区都无法满足要求，该作业等待。</a:t>
            </a:r>
          </a:p>
          <a:p>
            <a:r>
              <a:rPr lang="zh-CN" altLang="en-US" dirty="0"/>
              <a:t>显然采用首次适应算法进行内存分配，无法满足该作业序列的需求。</a:t>
            </a:r>
          </a:p>
        </p:txBody>
      </p:sp>
      <p:graphicFrame>
        <p:nvGraphicFramePr>
          <p:cNvPr id="73732" name="表格 73731">
            <a:extLst>
              <a:ext uri="{FF2B5EF4-FFF2-40B4-BE49-F238E27FC236}">
                <a16:creationId xmlns:a16="http://schemas.microsoft.com/office/drawing/2014/main" id="{91FE95D7-2D94-72A2-3287-3A77BEE776C2}"/>
              </a:ext>
            </a:extLst>
          </p:cNvPr>
          <p:cNvGraphicFramePr>
            <a:graphicFrameLocks noGrp="1"/>
          </p:cNvGraphicFramePr>
          <p:nvPr/>
        </p:nvGraphicFramePr>
        <p:xfrm>
          <a:off x="4800600" y="1268413"/>
          <a:ext cx="3962400" cy="2380615"/>
        </p:xfrm>
        <a:graphic>
          <a:graphicData uri="http://schemas.openxmlformats.org/drawingml/2006/table">
            <a:tbl>
              <a:tblPr/>
              <a:tblGrid>
                <a:gridCol w="1143000">
                  <a:extLst>
                    <a:ext uri="{9D8B030D-6E8A-4147-A177-3AD203B41FA5}">
                      <a16:colId xmlns:a16="http://schemas.microsoft.com/office/drawing/2014/main" val="1868195133"/>
                    </a:ext>
                  </a:extLst>
                </a:gridCol>
                <a:gridCol w="1219200">
                  <a:extLst>
                    <a:ext uri="{9D8B030D-6E8A-4147-A177-3AD203B41FA5}">
                      <a16:colId xmlns:a16="http://schemas.microsoft.com/office/drawing/2014/main" val="520377894"/>
                    </a:ext>
                  </a:extLst>
                </a:gridCol>
                <a:gridCol w="1600200">
                  <a:extLst>
                    <a:ext uri="{9D8B030D-6E8A-4147-A177-3AD203B41FA5}">
                      <a16:colId xmlns:a16="http://schemas.microsoft.com/office/drawing/2014/main" val="277757435"/>
                    </a:ext>
                  </a:extLst>
                </a:gridCol>
              </a:tblGrid>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65217219"/>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410241568"/>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150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855171550"/>
                  </a:ext>
                </a:extLst>
              </a:tr>
              <a:tr h="395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254509348"/>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hlink"/>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122</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220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452141202"/>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96</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530</a:t>
                      </a: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779242264"/>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32451">
                                            <p:txEl>
                                              <p:pRg st="0" end="0"/>
                                            </p:txEl>
                                          </p:spTgt>
                                        </p:tgtEl>
                                        <p:attrNameLst>
                                          <p:attrName>style.visibility</p:attrName>
                                        </p:attrNameLst>
                                      </p:cBhvr>
                                      <p:to>
                                        <p:strVal val="visible"/>
                                      </p:to>
                                    </p:set>
                                    <p:animEffect transition="in" filter="checkerboard(across)">
                                      <p:cBhvr>
                                        <p:cTn id="7" dur="500"/>
                                        <p:tgtEl>
                                          <p:spTgt spid="2324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32451">
                                            <p:txEl>
                                              <p:pRg st="1" end="1"/>
                                            </p:txEl>
                                          </p:spTgt>
                                        </p:tgtEl>
                                        <p:attrNameLst>
                                          <p:attrName>style.visibility</p:attrName>
                                        </p:attrNameLst>
                                      </p:cBhvr>
                                      <p:to>
                                        <p:strVal val="visible"/>
                                      </p:to>
                                    </p:set>
                                    <p:animEffect transition="in" filter="checkerboard(across)">
                                      <p:cBhvr>
                                        <p:cTn id="12" dur="500"/>
                                        <p:tgtEl>
                                          <p:spTgt spid="2324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32451">
                                            <p:txEl>
                                              <p:pRg st="2" end="2"/>
                                            </p:txEl>
                                          </p:spTgt>
                                        </p:tgtEl>
                                        <p:attrNameLst>
                                          <p:attrName>style.visibility</p:attrName>
                                        </p:attrNameLst>
                                      </p:cBhvr>
                                      <p:to>
                                        <p:strVal val="visible"/>
                                      </p:to>
                                    </p:set>
                                    <p:animEffect transition="in" filter="checkerboard(across)">
                                      <p:cBhvr>
                                        <p:cTn id="17" dur="500"/>
                                        <p:tgtEl>
                                          <p:spTgt spid="2324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378101-4F2E-50DA-2CDB-44BF78200F38}"/>
              </a:ext>
            </a:extLst>
          </p:cNvPr>
          <p:cNvSpPr>
            <a:spLocks noGrp="1"/>
          </p:cNvSpPr>
          <p:nvPr>
            <p:ph type="title"/>
          </p:nvPr>
        </p:nvSpPr>
        <p:spPr/>
        <p:txBody>
          <a:bodyPr/>
          <a:lstStyle/>
          <a:p>
            <a:r>
              <a:rPr lang="zh-CN" altLang="en-US" dirty="0"/>
              <a:t>示例</a:t>
            </a:r>
            <a:endParaRPr kumimoji="1" lang="zh-CN" altLang="en-US" dirty="0"/>
          </a:p>
        </p:txBody>
      </p:sp>
      <p:sp>
        <p:nvSpPr>
          <p:cNvPr id="3" name="内容占位符 2">
            <a:extLst>
              <a:ext uri="{FF2B5EF4-FFF2-40B4-BE49-F238E27FC236}">
                <a16:creationId xmlns:a16="http://schemas.microsoft.com/office/drawing/2014/main" id="{97EDCB73-9413-DE9E-6AC1-5C96326E86C1}"/>
              </a:ext>
            </a:extLst>
          </p:cNvPr>
          <p:cNvSpPr>
            <a:spLocks noGrp="1"/>
          </p:cNvSpPr>
          <p:nvPr>
            <p:ph idx="1"/>
          </p:nvPr>
        </p:nvSpPr>
        <p:spPr>
          <a:xfrm>
            <a:off x="935038" y="1233488"/>
            <a:ext cx="7772400" cy="3087991"/>
          </a:xfrm>
        </p:spPr>
        <p:txBody>
          <a:bodyPr>
            <a:normAutofit fontScale="92500" lnSpcReduction="20000"/>
          </a:bodyPr>
          <a:lstStyle/>
          <a:p>
            <a:r>
              <a:rPr lang="zh-CN" altLang="en-US" dirty="0"/>
              <a:t>下表给出了某系统的空闲分区表，系统采用可变式分区存储管理策略。现有以下作业序列：申请</a:t>
            </a:r>
            <a:r>
              <a:rPr lang="en-US" altLang="zh-CN" dirty="0"/>
              <a:t>150kb</a:t>
            </a:r>
            <a:r>
              <a:rPr lang="zh-CN" altLang="en-US" dirty="0"/>
              <a:t>，申请</a:t>
            </a:r>
            <a:r>
              <a:rPr lang="en-US" altLang="zh-CN" dirty="0"/>
              <a:t>50kb</a:t>
            </a:r>
            <a:r>
              <a:rPr lang="zh-CN" altLang="en-US" dirty="0"/>
              <a:t>，申请</a:t>
            </a:r>
            <a:r>
              <a:rPr lang="en-US" altLang="zh-CN" dirty="0"/>
              <a:t>90kb</a:t>
            </a:r>
            <a:r>
              <a:rPr lang="zh-CN" altLang="en-US" dirty="0"/>
              <a:t>，申请</a:t>
            </a:r>
            <a:r>
              <a:rPr lang="en-US" altLang="zh-CN" dirty="0"/>
              <a:t>80kb</a:t>
            </a:r>
          </a:p>
          <a:p>
            <a:r>
              <a:rPr lang="zh-CN" altLang="en-US" dirty="0"/>
              <a:t>若用首次适应算法和最佳适应算法来处理这些作业序列，试问哪一种算法可以满足该作业序列的请求?</a:t>
            </a:r>
          </a:p>
          <a:p>
            <a:endParaRPr kumimoji="1" lang="zh-CN" altLang="en-US" dirty="0"/>
          </a:p>
        </p:txBody>
      </p:sp>
      <p:sp>
        <p:nvSpPr>
          <p:cNvPr id="4" name="灯片编号占位符 3">
            <a:extLst>
              <a:ext uri="{FF2B5EF4-FFF2-40B4-BE49-F238E27FC236}">
                <a16:creationId xmlns:a16="http://schemas.microsoft.com/office/drawing/2014/main" id="{8F82458F-3ED0-C592-9A2E-BEC3000CD62C}"/>
              </a:ext>
            </a:extLst>
          </p:cNvPr>
          <p:cNvSpPr>
            <a:spLocks noGrp="1"/>
          </p:cNvSpPr>
          <p:nvPr>
            <p:ph type="sldNum" sz="quarter" idx="12"/>
          </p:nvPr>
        </p:nvSpPr>
        <p:spPr/>
        <p:txBody>
          <a:bodyPr/>
          <a:lstStyle/>
          <a:p>
            <a:fld id="{4093CC90-4002-504C-BD88-C9A1D374048E}" type="slidenum">
              <a:rPr lang="zh-CN" altLang="en-US" smtClean="0"/>
              <a:pPr/>
              <a:t>36</a:t>
            </a:fld>
            <a:endParaRPr lang="zh-CN" altLang="en-US" dirty="0"/>
          </a:p>
        </p:txBody>
      </p:sp>
      <p:graphicFrame>
        <p:nvGraphicFramePr>
          <p:cNvPr id="5" name="内容占位符 74755">
            <a:extLst>
              <a:ext uri="{FF2B5EF4-FFF2-40B4-BE49-F238E27FC236}">
                <a16:creationId xmlns:a16="http://schemas.microsoft.com/office/drawing/2014/main" id="{0C25E290-36B1-17A4-CCDF-004B9D371B38}"/>
              </a:ext>
            </a:extLst>
          </p:cNvPr>
          <p:cNvGraphicFramePr>
            <a:graphicFrameLocks/>
          </p:cNvGraphicFramePr>
          <p:nvPr>
            <p:extLst>
              <p:ext uri="{D42A27DB-BD31-4B8C-83A1-F6EECF244321}">
                <p14:modId xmlns:p14="http://schemas.microsoft.com/office/powerpoint/2010/main" val="2862362696"/>
              </p:ext>
            </p:extLst>
          </p:nvPr>
        </p:nvGraphicFramePr>
        <p:xfrm>
          <a:off x="1042988" y="4511979"/>
          <a:ext cx="7481169" cy="1371600"/>
        </p:xfrm>
        <a:graphic>
          <a:graphicData uri="http://schemas.openxmlformats.org/drawingml/2006/table">
            <a:tbl>
              <a:tblPr/>
              <a:tblGrid>
                <a:gridCol w="2488545">
                  <a:extLst>
                    <a:ext uri="{9D8B030D-6E8A-4147-A177-3AD203B41FA5}">
                      <a16:colId xmlns:a16="http://schemas.microsoft.com/office/drawing/2014/main" val="4063377340"/>
                    </a:ext>
                  </a:extLst>
                </a:gridCol>
                <a:gridCol w="2615924">
                  <a:extLst>
                    <a:ext uri="{9D8B030D-6E8A-4147-A177-3AD203B41FA5}">
                      <a16:colId xmlns:a16="http://schemas.microsoft.com/office/drawing/2014/main" val="3749351442"/>
                    </a:ext>
                  </a:extLst>
                </a:gridCol>
                <a:gridCol w="2376700">
                  <a:extLst>
                    <a:ext uri="{9D8B030D-6E8A-4147-A177-3AD203B41FA5}">
                      <a16:colId xmlns:a16="http://schemas.microsoft.com/office/drawing/2014/main" val="491404395"/>
                    </a:ext>
                  </a:extLst>
                </a:gridCol>
              </a:tblGrid>
              <a:tr h="415004">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分区号</a:t>
                      </a: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大小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起始地址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32294346"/>
                  </a:ext>
                </a:extLst>
              </a:tr>
              <a:tr h="415004">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300K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100</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229131624"/>
                  </a:ext>
                </a:extLst>
              </a:tr>
              <a:tr h="415004">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112K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500K</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684671306"/>
                  </a:ext>
                </a:extLst>
              </a:tr>
            </a:tbl>
          </a:graphicData>
        </a:graphic>
      </p:graphicFrame>
    </p:spTree>
    <p:extLst>
      <p:ext uri="{BB962C8B-B14F-4D97-AF65-F5344CB8AC3E}">
        <p14:creationId xmlns:p14="http://schemas.microsoft.com/office/powerpoint/2010/main" val="2075057092"/>
      </p:ext>
    </p:extLst>
  </p:cSld>
  <p:clrMapOvr>
    <a:masterClrMapping/>
  </p:clrMapOvr>
  <p:transition spd="med">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8F1D4F82-71DA-E617-49AF-D66BEE2B0B56}"/>
              </a:ext>
            </a:extLst>
          </p:cNvPr>
          <p:cNvSpPr>
            <a:spLocks noGrp="1" noChangeArrowheads="1"/>
          </p:cNvSpPr>
          <p:nvPr>
            <p:ph type="title"/>
          </p:nvPr>
        </p:nvSpPr>
        <p:spPr>
          <a:xfrm>
            <a:off x="1042988" y="225431"/>
            <a:ext cx="7850187" cy="746125"/>
          </a:xfrm>
        </p:spPr>
        <p:txBody>
          <a:bodyPr/>
          <a:lstStyle/>
          <a:p>
            <a:r>
              <a:rPr lang="zh-CN" altLang="en-US"/>
              <a:t>分区分配</a:t>
            </a:r>
          </a:p>
        </p:txBody>
      </p:sp>
      <p:sp>
        <p:nvSpPr>
          <p:cNvPr id="69634" name="Rectangle 3">
            <a:extLst>
              <a:ext uri="{FF2B5EF4-FFF2-40B4-BE49-F238E27FC236}">
                <a16:creationId xmlns:a16="http://schemas.microsoft.com/office/drawing/2014/main" id="{BA947E35-7569-46CA-873B-FE38D67D8C20}"/>
              </a:ext>
            </a:extLst>
          </p:cNvPr>
          <p:cNvSpPr>
            <a:spLocks noGrp="1" noChangeArrowheads="1"/>
          </p:cNvSpPr>
          <p:nvPr>
            <p:ph idx="1"/>
          </p:nvPr>
        </p:nvSpPr>
        <p:spPr>
          <a:xfrm>
            <a:off x="935038" y="1233488"/>
            <a:ext cx="1833563" cy="4895850"/>
          </a:xfrm>
        </p:spPr>
        <p:txBody>
          <a:bodyPr>
            <a:normAutofit fontScale="85000" lnSpcReduction="10000"/>
          </a:bodyPr>
          <a:lstStyle/>
          <a:p>
            <a:r>
              <a:rPr lang="zh-CN" altLang="en-US" dirty="0"/>
              <a:t>以首次适应算法及空闲链表为例，申请分区大小为</a:t>
            </a:r>
            <a:r>
              <a:rPr lang="en-US" altLang="zh-CN" dirty="0"/>
              <a:t>x， e</a:t>
            </a:r>
            <a:r>
              <a:rPr lang="zh-CN" altLang="en-US" dirty="0"/>
              <a:t>是规定的不再分割的剩余区大小</a:t>
            </a:r>
          </a:p>
        </p:txBody>
      </p:sp>
      <p:grpSp>
        <p:nvGrpSpPr>
          <p:cNvPr id="69635" name="Group 36">
            <a:extLst>
              <a:ext uri="{FF2B5EF4-FFF2-40B4-BE49-F238E27FC236}">
                <a16:creationId xmlns:a16="http://schemas.microsoft.com/office/drawing/2014/main" id="{F892A062-370F-0F6E-E539-9AF0C035EA45}"/>
              </a:ext>
            </a:extLst>
          </p:cNvPr>
          <p:cNvGrpSpPr>
            <a:grpSpLocks/>
          </p:cNvGrpSpPr>
          <p:nvPr/>
        </p:nvGrpSpPr>
        <p:grpSpPr bwMode="auto">
          <a:xfrm>
            <a:off x="2615852" y="1196975"/>
            <a:ext cx="6511925" cy="4648200"/>
            <a:chOff x="806" y="1536"/>
            <a:chExt cx="4102" cy="2556"/>
          </a:xfrm>
        </p:grpSpPr>
        <p:sp>
          <p:nvSpPr>
            <p:cNvPr id="69636" name="Rectangle 26">
              <a:extLst>
                <a:ext uri="{FF2B5EF4-FFF2-40B4-BE49-F238E27FC236}">
                  <a16:creationId xmlns:a16="http://schemas.microsoft.com/office/drawing/2014/main" id="{E773A821-42C7-F4E2-CFDE-6B69FB01A834}"/>
                </a:ext>
              </a:extLst>
            </p:cNvPr>
            <p:cNvSpPr>
              <a:spLocks noChangeArrowheads="1"/>
            </p:cNvSpPr>
            <p:nvPr/>
          </p:nvSpPr>
          <p:spPr bwMode="auto">
            <a:xfrm>
              <a:off x="3143" y="2860"/>
              <a:ext cx="176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将该分区从链中移出</a:t>
              </a:r>
            </a:p>
          </p:txBody>
        </p:sp>
        <p:sp>
          <p:nvSpPr>
            <p:cNvPr id="69637" name="Rectangle 5">
              <a:extLst>
                <a:ext uri="{FF2B5EF4-FFF2-40B4-BE49-F238E27FC236}">
                  <a16:creationId xmlns:a16="http://schemas.microsoft.com/office/drawing/2014/main" id="{D6E075AF-7A9A-AA78-2BAD-E362CC3701A8}"/>
                </a:ext>
              </a:extLst>
            </p:cNvPr>
            <p:cNvSpPr>
              <a:spLocks noChangeArrowheads="1"/>
            </p:cNvSpPr>
            <p:nvPr/>
          </p:nvSpPr>
          <p:spPr bwMode="auto">
            <a:xfrm>
              <a:off x="1315" y="1716"/>
              <a:ext cx="766"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开始查表</a:t>
              </a:r>
            </a:p>
          </p:txBody>
        </p:sp>
        <p:sp>
          <p:nvSpPr>
            <p:cNvPr id="69638" name="Rectangle 6">
              <a:extLst>
                <a:ext uri="{FF2B5EF4-FFF2-40B4-BE49-F238E27FC236}">
                  <a16:creationId xmlns:a16="http://schemas.microsoft.com/office/drawing/2014/main" id="{B387B582-28D4-D9B5-C2B5-230E090FCFFA}"/>
                </a:ext>
              </a:extLst>
            </p:cNvPr>
            <p:cNvSpPr>
              <a:spLocks noChangeArrowheads="1"/>
            </p:cNvSpPr>
            <p:nvPr/>
          </p:nvSpPr>
          <p:spPr bwMode="auto">
            <a:xfrm>
              <a:off x="1387" y="2068"/>
              <a:ext cx="886"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是链表尾？</a:t>
              </a:r>
            </a:p>
          </p:txBody>
        </p:sp>
        <p:sp>
          <p:nvSpPr>
            <p:cNvPr id="69639" name="Line 7">
              <a:extLst>
                <a:ext uri="{FF2B5EF4-FFF2-40B4-BE49-F238E27FC236}">
                  <a16:creationId xmlns:a16="http://schemas.microsoft.com/office/drawing/2014/main" id="{6B714693-38D2-1B1E-3618-6A77221C72E9}"/>
                </a:ext>
              </a:extLst>
            </p:cNvPr>
            <p:cNvSpPr>
              <a:spLocks noChangeShapeType="1"/>
            </p:cNvSpPr>
            <p:nvPr/>
          </p:nvSpPr>
          <p:spPr bwMode="auto">
            <a:xfrm>
              <a:off x="1697" y="1536"/>
              <a:ext cx="0" cy="184"/>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0" name="Line 8">
              <a:extLst>
                <a:ext uri="{FF2B5EF4-FFF2-40B4-BE49-F238E27FC236}">
                  <a16:creationId xmlns:a16="http://schemas.microsoft.com/office/drawing/2014/main" id="{ACBDC719-D89B-8D2C-35DA-80B0BDE30561}"/>
                </a:ext>
              </a:extLst>
            </p:cNvPr>
            <p:cNvSpPr>
              <a:spLocks noChangeShapeType="1"/>
            </p:cNvSpPr>
            <p:nvPr/>
          </p:nvSpPr>
          <p:spPr bwMode="auto">
            <a:xfrm>
              <a:off x="1694" y="1932"/>
              <a:ext cx="0" cy="184"/>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1" name="Line 9">
              <a:extLst>
                <a:ext uri="{FF2B5EF4-FFF2-40B4-BE49-F238E27FC236}">
                  <a16:creationId xmlns:a16="http://schemas.microsoft.com/office/drawing/2014/main" id="{27F442F0-33CB-66E8-66F3-0E16B63FBFD2}"/>
                </a:ext>
              </a:extLst>
            </p:cNvPr>
            <p:cNvSpPr>
              <a:spLocks noChangeShapeType="1"/>
            </p:cNvSpPr>
            <p:nvPr/>
          </p:nvSpPr>
          <p:spPr bwMode="auto">
            <a:xfrm>
              <a:off x="2261" y="2212"/>
              <a:ext cx="465" cy="13"/>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2" name="Rectangle 10">
              <a:extLst>
                <a:ext uri="{FF2B5EF4-FFF2-40B4-BE49-F238E27FC236}">
                  <a16:creationId xmlns:a16="http://schemas.microsoft.com/office/drawing/2014/main" id="{F176BC4F-00C7-E63E-F05E-CB303D585D07}"/>
                </a:ext>
              </a:extLst>
            </p:cNvPr>
            <p:cNvSpPr>
              <a:spLocks noChangeArrowheads="1"/>
            </p:cNvSpPr>
            <p:nvPr/>
          </p:nvSpPr>
          <p:spPr bwMode="auto">
            <a:xfrm>
              <a:off x="2736" y="2135"/>
              <a:ext cx="150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本次无法分配，返回</a:t>
              </a:r>
            </a:p>
          </p:txBody>
        </p:sp>
        <p:sp>
          <p:nvSpPr>
            <p:cNvPr id="69643" name="Rectangle 11">
              <a:extLst>
                <a:ext uri="{FF2B5EF4-FFF2-40B4-BE49-F238E27FC236}">
                  <a16:creationId xmlns:a16="http://schemas.microsoft.com/office/drawing/2014/main" id="{8A4D3600-211C-FD39-411E-D4A30EA6BC76}"/>
                </a:ext>
              </a:extLst>
            </p:cNvPr>
            <p:cNvSpPr>
              <a:spLocks noChangeArrowheads="1"/>
            </p:cNvSpPr>
            <p:nvPr/>
          </p:nvSpPr>
          <p:spPr bwMode="auto">
            <a:xfrm>
              <a:off x="2375" y="1986"/>
              <a:ext cx="22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Y</a:t>
              </a:r>
            </a:p>
          </p:txBody>
        </p:sp>
        <p:sp>
          <p:nvSpPr>
            <p:cNvPr id="69644" name="Rectangle 12">
              <a:extLst>
                <a:ext uri="{FF2B5EF4-FFF2-40B4-BE49-F238E27FC236}">
                  <a16:creationId xmlns:a16="http://schemas.microsoft.com/office/drawing/2014/main" id="{E9EB22CD-4DBA-FEEB-E359-34F48D8E5F39}"/>
                </a:ext>
              </a:extLst>
            </p:cNvPr>
            <p:cNvSpPr>
              <a:spLocks noChangeArrowheads="1"/>
            </p:cNvSpPr>
            <p:nvPr/>
          </p:nvSpPr>
          <p:spPr bwMode="auto">
            <a:xfrm>
              <a:off x="1817" y="2266"/>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N</a:t>
              </a:r>
            </a:p>
          </p:txBody>
        </p:sp>
        <p:sp>
          <p:nvSpPr>
            <p:cNvPr id="69645" name="Line 13">
              <a:extLst>
                <a:ext uri="{FF2B5EF4-FFF2-40B4-BE49-F238E27FC236}">
                  <a16:creationId xmlns:a16="http://schemas.microsoft.com/office/drawing/2014/main" id="{727C615D-4C03-E7F2-1CD6-BEBA68177F5C}"/>
                </a:ext>
              </a:extLst>
            </p:cNvPr>
            <p:cNvSpPr>
              <a:spLocks noChangeShapeType="1"/>
            </p:cNvSpPr>
            <p:nvPr/>
          </p:nvSpPr>
          <p:spPr bwMode="auto">
            <a:xfrm>
              <a:off x="1673" y="2293"/>
              <a:ext cx="0" cy="219"/>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6" name="Rectangle 14">
              <a:extLst>
                <a:ext uri="{FF2B5EF4-FFF2-40B4-BE49-F238E27FC236}">
                  <a16:creationId xmlns:a16="http://schemas.microsoft.com/office/drawing/2014/main" id="{EB53A511-F358-1642-54C3-A1E9D77BE696}"/>
                </a:ext>
              </a:extLst>
            </p:cNvPr>
            <p:cNvSpPr>
              <a:spLocks noChangeArrowheads="1"/>
            </p:cNvSpPr>
            <p:nvPr/>
          </p:nvSpPr>
          <p:spPr bwMode="auto">
            <a:xfrm>
              <a:off x="1135" y="2532"/>
              <a:ext cx="11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空闲区容量≥</a:t>
              </a:r>
              <a:r>
                <a:rPr lang="en-US" altLang="zh-CN" sz="2000">
                  <a:latin typeface="Times New Roman" panose="02020603050405020304" pitchFamily="18" charset="0"/>
                </a:rPr>
                <a:t>x?</a:t>
              </a:r>
            </a:p>
          </p:txBody>
        </p:sp>
        <p:sp>
          <p:nvSpPr>
            <p:cNvPr id="69647" name="Rectangle 15">
              <a:extLst>
                <a:ext uri="{FF2B5EF4-FFF2-40B4-BE49-F238E27FC236}">
                  <a16:creationId xmlns:a16="http://schemas.microsoft.com/office/drawing/2014/main" id="{31674061-D463-240E-E466-712FBED98C3D}"/>
                </a:ext>
              </a:extLst>
            </p:cNvPr>
            <p:cNvSpPr>
              <a:spLocks noChangeArrowheads="1"/>
            </p:cNvSpPr>
            <p:nvPr/>
          </p:nvSpPr>
          <p:spPr bwMode="auto">
            <a:xfrm>
              <a:off x="2519" y="2369"/>
              <a:ext cx="22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N</a:t>
              </a:r>
            </a:p>
          </p:txBody>
        </p:sp>
        <p:sp>
          <p:nvSpPr>
            <p:cNvPr id="69648" name="Line 16">
              <a:extLst>
                <a:ext uri="{FF2B5EF4-FFF2-40B4-BE49-F238E27FC236}">
                  <a16:creationId xmlns:a16="http://schemas.microsoft.com/office/drawing/2014/main" id="{7FC8C598-25C6-58DB-997A-375F0D37F334}"/>
                </a:ext>
              </a:extLst>
            </p:cNvPr>
            <p:cNvSpPr>
              <a:spLocks noChangeShapeType="1"/>
            </p:cNvSpPr>
            <p:nvPr/>
          </p:nvSpPr>
          <p:spPr bwMode="auto">
            <a:xfrm>
              <a:off x="2375" y="2607"/>
              <a:ext cx="413" cy="0"/>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9" name="Rectangle 17">
              <a:extLst>
                <a:ext uri="{FF2B5EF4-FFF2-40B4-BE49-F238E27FC236}">
                  <a16:creationId xmlns:a16="http://schemas.microsoft.com/office/drawing/2014/main" id="{4F1F65E3-C037-B27F-FE69-FE9DCF9AA402}"/>
                </a:ext>
              </a:extLst>
            </p:cNvPr>
            <p:cNvSpPr>
              <a:spLocks noChangeArrowheads="1"/>
            </p:cNvSpPr>
            <p:nvPr/>
          </p:nvSpPr>
          <p:spPr bwMode="auto">
            <a:xfrm>
              <a:off x="2870" y="2485"/>
              <a:ext cx="144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继续检查下一项</a:t>
              </a:r>
            </a:p>
          </p:txBody>
        </p:sp>
        <p:sp>
          <p:nvSpPr>
            <p:cNvPr id="69650" name="Line 18">
              <a:extLst>
                <a:ext uri="{FF2B5EF4-FFF2-40B4-BE49-F238E27FC236}">
                  <a16:creationId xmlns:a16="http://schemas.microsoft.com/office/drawing/2014/main" id="{A767207C-94F7-85F5-9734-1EC6E6A63A47}"/>
                </a:ext>
              </a:extLst>
            </p:cNvPr>
            <p:cNvSpPr>
              <a:spLocks noChangeShapeType="1"/>
            </p:cNvSpPr>
            <p:nvPr/>
          </p:nvSpPr>
          <p:spPr bwMode="auto">
            <a:xfrm>
              <a:off x="4116" y="2620"/>
              <a:ext cx="444"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1" name="Line 19">
              <a:extLst>
                <a:ext uri="{FF2B5EF4-FFF2-40B4-BE49-F238E27FC236}">
                  <a16:creationId xmlns:a16="http://schemas.microsoft.com/office/drawing/2014/main" id="{B155B94B-A1CE-9180-5434-426A450C6B25}"/>
                </a:ext>
              </a:extLst>
            </p:cNvPr>
            <p:cNvSpPr>
              <a:spLocks noChangeShapeType="1"/>
            </p:cNvSpPr>
            <p:nvPr/>
          </p:nvSpPr>
          <p:spPr bwMode="auto">
            <a:xfrm>
              <a:off x="4550" y="1966"/>
              <a:ext cx="0" cy="648"/>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2" name="Line 20">
              <a:extLst>
                <a:ext uri="{FF2B5EF4-FFF2-40B4-BE49-F238E27FC236}">
                  <a16:creationId xmlns:a16="http://schemas.microsoft.com/office/drawing/2014/main" id="{E29DC578-C340-3711-FE69-AE2FB0ACC66B}"/>
                </a:ext>
              </a:extLst>
            </p:cNvPr>
            <p:cNvSpPr>
              <a:spLocks noChangeShapeType="1"/>
            </p:cNvSpPr>
            <p:nvPr/>
          </p:nvSpPr>
          <p:spPr bwMode="auto">
            <a:xfrm flipH="1" flipV="1">
              <a:off x="1937" y="1966"/>
              <a:ext cx="2602" cy="7"/>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3" name="Rectangle 21">
              <a:extLst>
                <a:ext uri="{FF2B5EF4-FFF2-40B4-BE49-F238E27FC236}">
                  <a16:creationId xmlns:a16="http://schemas.microsoft.com/office/drawing/2014/main" id="{8CF13E92-CFE8-1764-5BED-67C14114A214}"/>
                </a:ext>
              </a:extLst>
            </p:cNvPr>
            <p:cNvSpPr>
              <a:spLocks noChangeArrowheads="1"/>
            </p:cNvSpPr>
            <p:nvPr/>
          </p:nvSpPr>
          <p:spPr bwMode="auto">
            <a:xfrm>
              <a:off x="1302" y="2860"/>
              <a:ext cx="875"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容量－</a:t>
              </a:r>
              <a:r>
                <a:rPr lang="en-US" altLang="zh-CN" sz="2000">
                  <a:latin typeface="Times New Roman" panose="02020603050405020304" pitchFamily="18" charset="0"/>
                </a:rPr>
                <a:t>x≤e?</a:t>
              </a:r>
            </a:p>
          </p:txBody>
        </p:sp>
        <p:sp>
          <p:nvSpPr>
            <p:cNvPr id="69654" name="Line 22">
              <a:extLst>
                <a:ext uri="{FF2B5EF4-FFF2-40B4-BE49-F238E27FC236}">
                  <a16:creationId xmlns:a16="http://schemas.microsoft.com/office/drawing/2014/main" id="{F1A5E114-74AC-F5D0-2B9D-98E98DBAC20F}"/>
                </a:ext>
              </a:extLst>
            </p:cNvPr>
            <p:cNvSpPr>
              <a:spLocks noChangeShapeType="1"/>
            </p:cNvSpPr>
            <p:nvPr/>
          </p:nvSpPr>
          <p:spPr bwMode="auto">
            <a:xfrm>
              <a:off x="1673" y="2682"/>
              <a:ext cx="0" cy="219"/>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5" name="Rectangle 23">
              <a:extLst>
                <a:ext uri="{FF2B5EF4-FFF2-40B4-BE49-F238E27FC236}">
                  <a16:creationId xmlns:a16="http://schemas.microsoft.com/office/drawing/2014/main" id="{7C2DD903-6152-AFD6-3714-2D96276733C1}"/>
                </a:ext>
              </a:extLst>
            </p:cNvPr>
            <p:cNvSpPr>
              <a:spLocks noChangeArrowheads="1"/>
            </p:cNvSpPr>
            <p:nvPr/>
          </p:nvSpPr>
          <p:spPr bwMode="auto">
            <a:xfrm>
              <a:off x="1859" y="2676"/>
              <a:ext cx="22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Y</a:t>
              </a:r>
            </a:p>
          </p:txBody>
        </p:sp>
        <p:sp>
          <p:nvSpPr>
            <p:cNvPr id="69656" name="Rectangle 24">
              <a:extLst>
                <a:ext uri="{FF2B5EF4-FFF2-40B4-BE49-F238E27FC236}">
                  <a16:creationId xmlns:a16="http://schemas.microsoft.com/office/drawing/2014/main" id="{A8A2798D-AD4F-347B-0BAF-502F1DFBF1EB}"/>
                </a:ext>
              </a:extLst>
            </p:cNvPr>
            <p:cNvSpPr>
              <a:spLocks noChangeArrowheads="1"/>
            </p:cNvSpPr>
            <p:nvPr/>
          </p:nvSpPr>
          <p:spPr bwMode="auto">
            <a:xfrm>
              <a:off x="2417" y="2730"/>
              <a:ext cx="22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Y</a:t>
              </a:r>
            </a:p>
          </p:txBody>
        </p:sp>
        <p:sp>
          <p:nvSpPr>
            <p:cNvPr id="69657" name="Line 25">
              <a:extLst>
                <a:ext uri="{FF2B5EF4-FFF2-40B4-BE49-F238E27FC236}">
                  <a16:creationId xmlns:a16="http://schemas.microsoft.com/office/drawing/2014/main" id="{1F140C9B-FFF5-1604-AFE4-981992E2F407}"/>
                </a:ext>
              </a:extLst>
            </p:cNvPr>
            <p:cNvSpPr>
              <a:spLocks noChangeShapeType="1"/>
            </p:cNvSpPr>
            <p:nvPr/>
          </p:nvSpPr>
          <p:spPr bwMode="auto">
            <a:xfrm>
              <a:off x="2225" y="2964"/>
              <a:ext cx="866" cy="0"/>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8" name="Rectangle 27">
              <a:extLst>
                <a:ext uri="{FF2B5EF4-FFF2-40B4-BE49-F238E27FC236}">
                  <a16:creationId xmlns:a16="http://schemas.microsoft.com/office/drawing/2014/main" id="{BD26D4BD-4794-FD46-1D0D-21FDDC71A1ED}"/>
                </a:ext>
              </a:extLst>
            </p:cNvPr>
            <p:cNvSpPr>
              <a:spLocks noChangeArrowheads="1"/>
            </p:cNvSpPr>
            <p:nvPr/>
          </p:nvSpPr>
          <p:spPr bwMode="auto">
            <a:xfrm>
              <a:off x="1838" y="3112"/>
              <a:ext cx="22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N</a:t>
              </a:r>
            </a:p>
          </p:txBody>
        </p:sp>
        <p:sp>
          <p:nvSpPr>
            <p:cNvPr id="69659" name="Line 28">
              <a:extLst>
                <a:ext uri="{FF2B5EF4-FFF2-40B4-BE49-F238E27FC236}">
                  <a16:creationId xmlns:a16="http://schemas.microsoft.com/office/drawing/2014/main" id="{414DC5EE-964D-E70F-08B4-E84163F1793E}"/>
                </a:ext>
              </a:extLst>
            </p:cNvPr>
            <p:cNvSpPr>
              <a:spLocks noChangeShapeType="1"/>
            </p:cNvSpPr>
            <p:nvPr/>
          </p:nvSpPr>
          <p:spPr bwMode="auto">
            <a:xfrm>
              <a:off x="1663" y="3106"/>
              <a:ext cx="0" cy="218"/>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0" name="Rectangle 29">
              <a:extLst>
                <a:ext uri="{FF2B5EF4-FFF2-40B4-BE49-F238E27FC236}">
                  <a16:creationId xmlns:a16="http://schemas.microsoft.com/office/drawing/2014/main" id="{40BBCE30-AAA3-1655-3AD3-7794CBDAF786}"/>
                </a:ext>
              </a:extLst>
            </p:cNvPr>
            <p:cNvSpPr>
              <a:spLocks noChangeArrowheads="1"/>
            </p:cNvSpPr>
            <p:nvPr/>
          </p:nvSpPr>
          <p:spPr bwMode="auto">
            <a:xfrm>
              <a:off x="881" y="3324"/>
              <a:ext cx="196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从该分区中划出</a:t>
              </a:r>
              <a:r>
                <a:rPr lang="en-US" altLang="zh-CN" sz="2000">
                  <a:latin typeface="Times New Roman" panose="02020603050405020304" pitchFamily="18" charset="0"/>
                </a:rPr>
                <a:t>x</a:t>
              </a:r>
              <a:r>
                <a:rPr lang="zh-CN" altLang="en-US" sz="2000">
                  <a:latin typeface="Times New Roman" panose="02020603050405020304" pitchFamily="18" charset="0"/>
                </a:rPr>
                <a:t>大小</a:t>
              </a:r>
            </a:p>
          </p:txBody>
        </p:sp>
        <p:sp>
          <p:nvSpPr>
            <p:cNvPr id="69661" name="Line 30">
              <a:extLst>
                <a:ext uri="{FF2B5EF4-FFF2-40B4-BE49-F238E27FC236}">
                  <a16:creationId xmlns:a16="http://schemas.microsoft.com/office/drawing/2014/main" id="{CEB36197-4699-C61F-00C1-F5C8A80DECFE}"/>
                </a:ext>
              </a:extLst>
            </p:cNvPr>
            <p:cNvSpPr>
              <a:spLocks noChangeShapeType="1"/>
            </p:cNvSpPr>
            <p:nvPr/>
          </p:nvSpPr>
          <p:spPr bwMode="auto">
            <a:xfrm>
              <a:off x="1683" y="3549"/>
              <a:ext cx="0" cy="219"/>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2" name="Rectangle 31">
              <a:extLst>
                <a:ext uri="{FF2B5EF4-FFF2-40B4-BE49-F238E27FC236}">
                  <a16:creationId xmlns:a16="http://schemas.microsoft.com/office/drawing/2014/main" id="{CEAF3373-A7CC-3A70-A91D-5578C74066FE}"/>
                </a:ext>
              </a:extLst>
            </p:cNvPr>
            <p:cNvSpPr>
              <a:spLocks noChangeArrowheads="1"/>
            </p:cNvSpPr>
            <p:nvPr/>
          </p:nvSpPr>
          <p:spPr bwMode="auto">
            <a:xfrm>
              <a:off x="806" y="3840"/>
              <a:ext cx="319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将分区分配给请求者，修改数据结构</a:t>
              </a:r>
            </a:p>
          </p:txBody>
        </p:sp>
        <p:sp>
          <p:nvSpPr>
            <p:cNvPr id="69663" name="Line 32">
              <a:extLst>
                <a:ext uri="{FF2B5EF4-FFF2-40B4-BE49-F238E27FC236}">
                  <a16:creationId xmlns:a16="http://schemas.microsoft.com/office/drawing/2014/main" id="{5D0F2F55-5A91-48DF-AD72-2418DAF3EE72}"/>
                </a:ext>
              </a:extLst>
            </p:cNvPr>
            <p:cNvSpPr>
              <a:spLocks noChangeShapeType="1"/>
            </p:cNvSpPr>
            <p:nvPr/>
          </p:nvSpPr>
          <p:spPr bwMode="auto">
            <a:xfrm flipH="1">
              <a:off x="4047" y="3112"/>
              <a:ext cx="0" cy="51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4" name="Line 33">
              <a:extLst>
                <a:ext uri="{FF2B5EF4-FFF2-40B4-BE49-F238E27FC236}">
                  <a16:creationId xmlns:a16="http://schemas.microsoft.com/office/drawing/2014/main" id="{1AD232DF-E9AF-4CF4-1D63-E118EC96A9FF}"/>
                </a:ext>
              </a:extLst>
            </p:cNvPr>
            <p:cNvSpPr>
              <a:spLocks noChangeShapeType="1"/>
            </p:cNvSpPr>
            <p:nvPr/>
          </p:nvSpPr>
          <p:spPr bwMode="auto">
            <a:xfrm flipV="1">
              <a:off x="1797" y="3624"/>
              <a:ext cx="2261" cy="7"/>
            </a:xfrm>
            <a:prstGeom prst="line">
              <a:avLst/>
            </a:prstGeom>
            <a:noFill/>
            <a:ln w="317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2E59895A-A930-CEFE-0E50-8CA150E83844}"/>
              </a:ext>
            </a:extLst>
          </p:cNvPr>
          <p:cNvSpPr>
            <a:spLocks noGrp="1" noChangeArrowheads="1"/>
          </p:cNvSpPr>
          <p:nvPr>
            <p:ph type="title"/>
          </p:nvPr>
        </p:nvSpPr>
        <p:spPr>
          <a:xfrm>
            <a:off x="1042988" y="225431"/>
            <a:ext cx="7850187" cy="746125"/>
          </a:xfrm>
        </p:spPr>
        <p:txBody>
          <a:bodyPr/>
          <a:lstStyle/>
          <a:p>
            <a:r>
              <a:rPr lang="zh-CN" altLang="en-US"/>
              <a:t>分区回收</a:t>
            </a:r>
          </a:p>
        </p:txBody>
      </p:sp>
      <p:sp>
        <p:nvSpPr>
          <p:cNvPr id="70658" name="Rectangle 3">
            <a:extLst>
              <a:ext uri="{FF2B5EF4-FFF2-40B4-BE49-F238E27FC236}">
                <a16:creationId xmlns:a16="http://schemas.microsoft.com/office/drawing/2014/main" id="{FEBFF53C-7A41-75F8-0B75-5EC47CD2CE57}"/>
              </a:ext>
            </a:extLst>
          </p:cNvPr>
          <p:cNvSpPr>
            <a:spLocks noGrp="1" noChangeArrowheads="1"/>
          </p:cNvSpPr>
          <p:nvPr>
            <p:ph idx="1"/>
          </p:nvPr>
        </p:nvSpPr>
        <p:spPr>
          <a:xfrm>
            <a:off x="935038" y="1233488"/>
            <a:ext cx="7772400" cy="4895850"/>
          </a:xfrm>
        </p:spPr>
        <p:txBody>
          <a:bodyPr/>
          <a:lstStyle/>
          <a:p>
            <a:r>
              <a:rPr lang="zh-CN" altLang="en-US"/>
              <a:t>回收分区时，应将空闲区插入适当位置，此时有以下四种：</a:t>
            </a:r>
          </a:p>
          <a:p>
            <a:pPr lvl="1"/>
            <a:r>
              <a:rPr lang="zh-CN" altLang="en-US"/>
              <a:t>回收分区</a:t>
            </a:r>
            <a:r>
              <a:rPr lang="en-US" altLang="zh-CN"/>
              <a:t>r</a:t>
            </a:r>
            <a:r>
              <a:rPr lang="zh-CN" altLang="en-US"/>
              <a:t>上面邻接一个空闲分区</a:t>
            </a:r>
          </a:p>
          <a:p>
            <a:pPr lvl="1"/>
            <a:r>
              <a:rPr lang="zh-CN" altLang="en-US"/>
              <a:t>回收分区</a:t>
            </a:r>
            <a:r>
              <a:rPr lang="en-US" altLang="zh-CN"/>
              <a:t>r</a:t>
            </a:r>
            <a:r>
              <a:rPr lang="zh-CN" altLang="en-US"/>
              <a:t>下面邻接一个空闲分区</a:t>
            </a:r>
          </a:p>
          <a:p>
            <a:pPr lvl="1"/>
            <a:r>
              <a:rPr lang="zh-CN" altLang="en-US"/>
              <a:t>回收分区</a:t>
            </a:r>
            <a:r>
              <a:rPr lang="en-US" altLang="zh-CN"/>
              <a:t>r</a:t>
            </a:r>
            <a:r>
              <a:rPr lang="zh-CN" altLang="en-US"/>
              <a:t>上面、下面各邻接一个空闲分区</a:t>
            </a:r>
          </a:p>
          <a:p>
            <a:pPr lvl="1"/>
            <a:r>
              <a:rPr lang="zh-CN" altLang="en-US"/>
              <a:t>回收分区</a:t>
            </a:r>
            <a:r>
              <a:rPr lang="en-US" altLang="zh-CN"/>
              <a:t>r</a:t>
            </a:r>
            <a:r>
              <a:rPr lang="zh-CN" altLang="en-US"/>
              <a:t>不与任何空闲分区相邻</a:t>
            </a:r>
          </a:p>
        </p:txBody>
      </p:sp>
    </p:spTree>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9830F56A-33C0-A01C-7542-B857F453B88A}"/>
              </a:ext>
            </a:extLst>
          </p:cNvPr>
          <p:cNvSpPr>
            <a:spLocks noGrp="1" noChangeArrowheads="1"/>
          </p:cNvSpPr>
          <p:nvPr>
            <p:ph type="title"/>
          </p:nvPr>
        </p:nvSpPr>
        <p:spPr>
          <a:xfrm>
            <a:off x="1042988" y="225431"/>
            <a:ext cx="7850187" cy="746125"/>
          </a:xfrm>
        </p:spPr>
        <p:txBody>
          <a:bodyPr/>
          <a:lstStyle/>
          <a:p>
            <a:r>
              <a:rPr lang="zh-CN" altLang="en-US"/>
              <a:t>回收分区</a:t>
            </a:r>
            <a:r>
              <a:rPr lang="en-US" altLang="zh-CN"/>
              <a:t>r</a:t>
            </a:r>
            <a:r>
              <a:rPr lang="zh-CN" altLang="en-US"/>
              <a:t>上邻接一个空闲分区</a:t>
            </a:r>
          </a:p>
        </p:txBody>
      </p:sp>
      <p:sp>
        <p:nvSpPr>
          <p:cNvPr id="118787" name="Rectangle 3">
            <a:extLst>
              <a:ext uri="{FF2B5EF4-FFF2-40B4-BE49-F238E27FC236}">
                <a16:creationId xmlns:a16="http://schemas.microsoft.com/office/drawing/2014/main" id="{25712C4B-E85D-C7F4-4793-54FBF80B2627}"/>
              </a:ext>
            </a:extLst>
          </p:cNvPr>
          <p:cNvSpPr>
            <a:spLocks noGrp="1" noChangeArrowheads="1"/>
          </p:cNvSpPr>
          <p:nvPr>
            <p:ph idx="1"/>
          </p:nvPr>
        </p:nvSpPr>
        <p:spPr>
          <a:xfrm>
            <a:off x="935038" y="1233488"/>
            <a:ext cx="5490814" cy="4895850"/>
          </a:xfrm>
        </p:spPr>
        <p:txBody>
          <a:bodyPr/>
          <a:lstStyle/>
          <a:p>
            <a:r>
              <a:rPr lang="zh-CN" altLang="en-US" dirty="0"/>
              <a:t>此时应将回收区</a:t>
            </a:r>
            <a:r>
              <a:rPr lang="en-US" altLang="zh-CN" dirty="0"/>
              <a:t>r</a:t>
            </a:r>
            <a:r>
              <a:rPr lang="zh-CN" altLang="en-US" dirty="0"/>
              <a:t>与上邻接分区</a:t>
            </a:r>
            <a:r>
              <a:rPr lang="en-US" altLang="zh-CN" dirty="0"/>
              <a:t>F1</a:t>
            </a:r>
            <a:r>
              <a:rPr lang="zh-CN" altLang="en-US" dirty="0"/>
              <a:t>合并成一个连续的空闲区；</a:t>
            </a:r>
          </a:p>
          <a:p>
            <a:r>
              <a:rPr lang="zh-CN" altLang="en-US" dirty="0"/>
              <a:t>合并分区的首地址为空闲区</a:t>
            </a:r>
            <a:r>
              <a:rPr lang="en-US" altLang="zh-CN" dirty="0"/>
              <a:t>F1</a:t>
            </a:r>
            <a:r>
              <a:rPr lang="zh-CN" altLang="en-US" dirty="0"/>
              <a:t>的首地址，</a:t>
            </a:r>
          </a:p>
          <a:p>
            <a:r>
              <a:rPr lang="zh-CN" altLang="en-US" dirty="0"/>
              <a:t>其大小为二者之和</a:t>
            </a:r>
          </a:p>
        </p:txBody>
      </p:sp>
      <p:grpSp>
        <p:nvGrpSpPr>
          <p:cNvPr id="71683" name="Group 8">
            <a:extLst>
              <a:ext uri="{FF2B5EF4-FFF2-40B4-BE49-F238E27FC236}">
                <a16:creationId xmlns:a16="http://schemas.microsoft.com/office/drawing/2014/main" id="{0CBF3B92-0145-730C-F774-3D3749B57B20}"/>
              </a:ext>
            </a:extLst>
          </p:cNvPr>
          <p:cNvGrpSpPr>
            <a:grpSpLocks/>
          </p:cNvGrpSpPr>
          <p:nvPr/>
        </p:nvGrpSpPr>
        <p:grpSpPr bwMode="auto">
          <a:xfrm>
            <a:off x="6629400" y="2097088"/>
            <a:ext cx="1828800" cy="2514600"/>
            <a:chOff x="3408" y="1680"/>
            <a:chExt cx="1152" cy="1584"/>
          </a:xfrm>
        </p:grpSpPr>
        <p:sp>
          <p:nvSpPr>
            <p:cNvPr id="71684" name="Rectangle 4">
              <a:extLst>
                <a:ext uri="{FF2B5EF4-FFF2-40B4-BE49-F238E27FC236}">
                  <a16:creationId xmlns:a16="http://schemas.microsoft.com/office/drawing/2014/main" id="{4AC8DD1B-591C-D170-B6D8-A6E7EF735478}"/>
                </a:ext>
              </a:extLst>
            </p:cNvPr>
            <p:cNvSpPr>
              <a:spLocks noChangeArrowheads="1"/>
            </p:cNvSpPr>
            <p:nvPr/>
          </p:nvSpPr>
          <p:spPr bwMode="auto">
            <a:xfrm>
              <a:off x="3408" y="1680"/>
              <a:ext cx="1152" cy="1584"/>
            </a:xfrm>
            <a:prstGeom prst="rect">
              <a:avLst/>
            </a:prstGeom>
            <a:solidFill>
              <a:srgbClr val="FFFFFF"/>
            </a:solidFill>
            <a:ln w="31750">
              <a:solidFill>
                <a:srgbClr val="000000"/>
              </a:solidFill>
              <a:miter lim="800000"/>
              <a:headEnd/>
              <a:tailEnd/>
            </a:ln>
          </p:spPr>
          <p:txBody>
            <a:bodyPr tIns="108000" bIns="0"/>
            <a:lstStyle/>
            <a:p>
              <a:pPr algn="ctr" eaLnBrk="0" hangingPunct="0"/>
              <a:r>
                <a:rPr lang="zh-CN" altLang="en-US" dirty="0">
                  <a:latin typeface="宋体" panose="02010600030101010101" pitchFamily="2" charset="-122"/>
                </a:rPr>
                <a:t>┇</a:t>
              </a:r>
            </a:p>
            <a:p>
              <a:pPr algn="ctr" eaLnBrk="0" hangingPunct="0"/>
              <a:endParaRPr lang="zh-CN" altLang="en-US" sz="1400" dirty="0">
                <a:latin typeface="宋体" panose="02010600030101010101" pitchFamily="2" charset="-122"/>
              </a:endParaRPr>
            </a:p>
            <a:p>
              <a:pPr algn="ctr" eaLnBrk="0" hangingPunct="0"/>
              <a:endParaRPr lang="en-US" altLang="zh-CN" dirty="0">
                <a:latin typeface="宋体" panose="02010600030101010101" pitchFamily="2" charset="-122"/>
              </a:endParaRPr>
            </a:p>
            <a:p>
              <a:pPr algn="ctr" eaLnBrk="0" hangingPunct="0"/>
              <a:r>
                <a:rPr lang="en-US" altLang="zh-CN" dirty="0">
                  <a:latin typeface="宋体" panose="02010600030101010101" pitchFamily="2" charset="-122"/>
                </a:rPr>
                <a:t>F1</a:t>
              </a:r>
            </a:p>
            <a:p>
              <a:pPr algn="ctr" eaLnBrk="0" hangingPunct="0"/>
              <a:endParaRPr lang="en-US" altLang="zh-CN" sz="1400" dirty="0">
                <a:latin typeface="宋体" panose="02010600030101010101" pitchFamily="2" charset="-122"/>
              </a:endParaRPr>
            </a:p>
            <a:p>
              <a:pPr algn="ctr" eaLnBrk="0" hangingPunct="0"/>
              <a:r>
                <a:rPr lang="zh-CN" altLang="en-US" dirty="0">
                  <a:latin typeface="宋体" panose="02010600030101010101" pitchFamily="2" charset="-122"/>
                </a:rPr>
                <a:t>回收区</a:t>
              </a:r>
            </a:p>
            <a:p>
              <a:pPr algn="ctr" eaLnBrk="0" hangingPunct="0"/>
              <a:endParaRPr lang="zh-CN" altLang="en-US" dirty="0">
                <a:latin typeface="宋体" panose="02010600030101010101" pitchFamily="2" charset="-122"/>
              </a:endParaRPr>
            </a:p>
            <a:p>
              <a:pPr algn="ctr" eaLnBrk="0" hangingPunct="0"/>
              <a:r>
                <a:rPr lang="zh-CN" altLang="en-US" dirty="0">
                  <a:latin typeface="宋体" panose="02010600030101010101" pitchFamily="2" charset="-122"/>
                </a:rPr>
                <a:t>┇</a:t>
              </a:r>
              <a:endParaRPr lang="zh-CN" altLang="en-US" dirty="0">
                <a:latin typeface="Times New Roman" panose="02020603050405020304" pitchFamily="18" charset="0"/>
              </a:endParaRPr>
            </a:p>
          </p:txBody>
        </p:sp>
        <p:sp>
          <p:nvSpPr>
            <p:cNvPr id="71685" name="Line 5">
              <a:extLst>
                <a:ext uri="{FF2B5EF4-FFF2-40B4-BE49-F238E27FC236}">
                  <a16:creationId xmlns:a16="http://schemas.microsoft.com/office/drawing/2014/main" id="{7FF6A503-952A-E64B-A8FC-81D8AC960A16}"/>
                </a:ext>
              </a:extLst>
            </p:cNvPr>
            <p:cNvSpPr>
              <a:spLocks noChangeShapeType="1"/>
            </p:cNvSpPr>
            <p:nvPr/>
          </p:nvSpPr>
          <p:spPr bwMode="auto">
            <a:xfrm>
              <a:off x="3408" y="2063"/>
              <a:ext cx="115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6" name="Line 6">
              <a:extLst>
                <a:ext uri="{FF2B5EF4-FFF2-40B4-BE49-F238E27FC236}">
                  <a16:creationId xmlns:a16="http://schemas.microsoft.com/office/drawing/2014/main" id="{9B343B3A-3A10-7B7E-37B3-DE762D1DB9AF}"/>
                </a:ext>
              </a:extLst>
            </p:cNvPr>
            <p:cNvSpPr>
              <a:spLocks noChangeShapeType="1"/>
            </p:cNvSpPr>
            <p:nvPr/>
          </p:nvSpPr>
          <p:spPr bwMode="auto">
            <a:xfrm>
              <a:off x="3408" y="2831"/>
              <a:ext cx="115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7" name="Line 7">
              <a:extLst>
                <a:ext uri="{FF2B5EF4-FFF2-40B4-BE49-F238E27FC236}">
                  <a16:creationId xmlns:a16="http://schemas.microsoft.com/office/drawing/2014/main" id="{FF1B599B-01F8-0395-E358-9A71D1EE9C6E}"/>
                </a:ext>
              </a:extLst>
            </p:cNvPr>
            <p:cNvSpPr>
              <a:spLocks noChangeShapeType="1"/>
            </p:cNvSpPr>
            <p:nvPr/>
          </p:nvSpPr>
          <p:spPr bwMode="auto">
            <a:xfrm>
              <a:off x="3408" y="2415"/>
              <a:ext cx="115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checkerboard(across)">
                                      <p:cBhvr>
                                        <p:cTn id="7" dur="500"/>
                                        <p:tgtEl>
                                          <p:spTgt spid="118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8787">
                                            <p:txEl>
                                              <p:pRg st="1" end="1"/>
                                            </p:txEl>
                                          </p:spTgt>
                                        </p:tgtEl>
                                        <p:attrNameLst>
                                          <p:attrName>style.visibility</p:attrName>
                                        </p:attrNameLst>
                                      </p:cBhvr>
                                      <p:to>
                                        <p:strVal val="visible"/>
                                      </p:to>
                                    </p:set>
                                    <p:animEffect transition="in" filter="checkerboard(across)">
                                      <p:cBhvr>
                                        <p:cTn id="12" dur="500"/>
                                        <p:tgtEl>
                                          <p:spTgt spid="1187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18787">
                                            <p:txEl>
                                              <p:pRg st="2" end="2"/>
                                            </p:txEl>
                                          </p:spTgt>
                                        </p:tgtEl>
                                        <p:attrNameLst>
                                          <p:attrName>style.visibility</p:attrName>
                                        </p:attrNameLst>
                                      </p:cBhvr>
                                      <p:to>
                                        <p:strVal val="visible"/>
                                      </p:to>
                                    </p:set>
                                    <p:animEffect transition="in" filter="checkerboard(across)">
                                      <p:cBhvr>
                                        <p:cTn id="17" dur="500"/>
                                        <p:tgtEl>
                                          <p:spTgt spid="1187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4FBCC954-D790-4A35-793F-C8251CC82AD2}"/>
              </a:ext>
            </a:extLst>
          </p:cNvPr>
          <p:cNvSpPr>
            <a:spLocks noGrp="1" noChangeArrowheads="1"/>
          </p:cNvSpPr>
          <p:nvPr>
            <p:ph type="title"/>
          </p:nvPr>
        </p:nvSpPr>
        <p:spPr>
          <a:xfrm>
            <a:off x="1042988" y="225431"/>
            <a:ext cx="7850187" cy="746125"/>
          </a:xfrm>
        </p:spPr>
        <p:txBody>
          <a:bodyPr/>
          <a:lstStyle/>
          <a:p>
            <a:r>
              <a:rPr lang="zh-CN" altLang="en-US"/>
              <a:t>回收分区</a:t>
            </a:r>
            <a:r>
              <a:rPr lang="en-US" altLang="zh-CN"/>
              <a:t>r</a:t>
            </a:r>
            <a:r>
              <a:rPr lang="zh-CN" altLang="en-US"/>
              <a:t>下邻接一个空闲分区</a:t>
            </a:r>
          </a:p>
        </p:txBody>
      </p:sp>
      <p:sp>
        <p:nvSpPr>
          <p:cNvPr id="121859" name="Rectangle 3">
            <a:extLst>
              <a:ext uri="{FF2B5EF4-FFF2-40B4-BE49-F238E27FC236}">
                <a16:creationId xmlns:a16="http://schemas.microsoft.com/office/drawing/2014/main" id="{D28BE1DB-60E0-29EA-AF0F-12343625A17B}"/>
              </a:ext>
            </a:extLst>
          </p:cNvPr>
          <p:cNvSpPr>
            <a:spLocks noGrp="1" noChangeArrowheads="1"/>
          </p:cNvSpPr>
          <p:nvPr>
            <p:ph idx="1"/>
          </p:nvPr>
        </p:nvSpPr>
        <p:spPr>
          <a:xfrm>
            <a:off x="935038" y="1233488"/>
            <a:ext cx="5440710" cy="4895850"/>
          </a:xfrm>
        </p:spPr>
        <p:txBody>
          <a:bodyPr/>
          <a:lstStyle/>
          <a:p>
            <a:r>
              <a:rPr lang="zh-CN" altLang="en-US" dirty="0"/>
              <a:t>此时应将回收区</a:t>
            </a:r>
            <a:r>
              <a:rPr lang="en-US" altLang="zh-CN" dirty="0"/>
              <a:t>r</a:t>
            </a:r>
            <a:r>
              <a:rPr lang="zh-CN" altLang="en-US" dirty="0"/>
              <a:t>与下邻接分区</a:t>
            </a:r>
            <a:r>
              <a:rPr lang="en-US" altLang="zh-CN" dirty="0"/>
              <a:t>F2</a:t>
            </a:r>
            <a:r>
              <a:rPr lang="zh-CN" altLang="en-US" dirty="0"/>
              <a:t>合并成一个连续的空闲区；</a:t>
            </a:r>
          </a:p>
          <a:p>
            <a:r>
              <a:rPr lang="zh-CN" altLang="en-US" dirty="0"/>
              <a:t>合并分区的首地址为回收分区</a:t>
            </a:r>
            <a:r>
              <a:rPr lang="en-US" altLang="zh-CN" dirty="0"/>
              <a:t>r</a:t>
            </a:r>
            <a:r>
              <a:rPr lang="zh-CN" altLang="en-US" dirty="0"/>
              <a:t>的首地址，</a:t>
            </a:r>
          </a:p>
          <a:p>
            <a:r>
              <a:rPr lang="zh-CN" altLang="en-US" dirty="0"/>
              <a:t>其大小为二者之和</a:t>
            </a:r>
          </a:p>
        </p:txBody>
      </p:sp>
      <p:grpSp>
        <p:nvGrpSpPr>
          <p:cNvPr id="72707" name="Group 8">
            <a:extLst>
              <a:ext uri="{FF2B5EF4-FFF2-40B4-BE49-F238E27FC236}">
                <a16:creationId xmlns:a16="http://schemas.microsoft.com/office/drawing/2014/main" id="{E796EB87-A212-74CE-B71F-28B67B371B42}"/>
              </a:ext>
            </a:extLst>
          </p:cNvPr>
          <p:cNvGrpSpPr>
            <a:grpSpLocks/>
          </p:cNvGrpSpPr>
          <p:nvPr/>
        </p:nvGrpSpPr>
        <p:grpSpPr bwMode="auto">
          <a:xfrm>
            <a:off x="6627813" y="2133600"/>
            <a:ext cx="1449387" cy="2971800"/>
            <a:chOff x="3839" y="1824"/>
            <a:chExt cx="913" cy="1872"/>
          </a:xfrm>
        </p:grpSpPr>
        <p:sp>
          <p:nvSpPr>
            <p:cNvPr id="72708" name="Rectangle 4">
              <a:extLst>
                <a:ext uri="{FF2B5EF4-FFF2-40B4-BE49-F238E27FC236}">
                  <a16:creationId xmlns:a16="http://schemas.microsoft.com/office/drawing/2014/main" id="{0EDCA32E-B24C-841E-A296-434E7511156A}"/>
                </a:ext>
              </a:extLst>
            </p:cNvPr>
            <p:cNvSpPr>
              <a:spLocks noChangeArrowheads="1"/>
            </p:cNvSpPr>
            <p:nvPr/>
          </p:nvSpPr>
          <p:spPr bwMode="auto">
            <a:xfrm>
              <a:off x="3840" y="1824"/>
              <a:ext cx="912" cy="1872"/>
            </a:xfrm>
            <a:prstGeom prst="rect">
              <a:avLst/>
            </a:prstGeom>
            <a:solidFill>
              <a:srgbClr val="FFFFFF"/>
            </a:solidFill>
            <a:ln w="31750">
              <a:solidFill>
                <a:srgbClr val="000000"/>
              </a:solidFill>
              <a:miter lim="800000"/>
              <a:headEnd/>
              <a:tailEnd/>
            </a:ln>
          </p:spPr>
          <p:txBody>
            <a:bodyPr tIns="108000"/>
            <a:lstStyle/>
            <a:p>
              <a:pPr algn="ctr" eaLnBrk="0" hangingPunct="0"/>
              <a:r>
                <a:rPr lang="zh-CN" altLang="en-US" dirty="0">
                  <a:latin typeface="宋体" panose="02010600030101010101" pitchFamily="2" charset="-122"/>
                </a:rPr>
                <a:t>┇</a:t>
              </a:r>
            </a:p>
            <a:p>
              <a:pPr algn="ctr" eaLnBrk="0" hangingPunct="0"/>
              <a:endParaRPr lang="en-US" altLang="zh-CN" sz="1400" dirty="0">
                <a:latin typeface="宋体" panose="02010600030101010101" pitchFamily="2" charset="-122"/>
              </a:endParaRPr>
            </a:p>
            <a:p>
              <a:pPr algn="ctr" eaLnBrk="0" hangingPunct="0"/>
              <a:endParaRPr lang="zh-CN" altLang="en-US" sz="1400" dirty="0">
                <a:latin typeface="宋体" panose="02010600030101010101" pitchFamily="2" charset="-122"/>
              </a:endParaRPr>
            </a:p>
            <a:p>
              <a:pPr algn="ctr" eaLnBrk="0" hangingPunct="0"/>
              <a:r>
                <a:rPr lang="zh-CN" altLang="en-US" dirty="0">
                  <a:latin typeface="宋体" panose="02010600030101010101" pitchFamily="2" charset="-122"/>
                </a:rPr>
                <a:t>回收区</a:t>
              </a:r>
            </a:p>
            <a:p>
              <a:pPr algn="ctr" eaLnBrk="0" hangingPunct="0"/>
              <a:endParaRPr lang="zh-CN" altLang="en-US" sz="1400" dirty="0">
                <a:latin typeface="宋体" panose="02010600030101010101" pitchFamily="2" charset="-122"/>
              </a:endParaRPr>
            </a:p>
            <a:p>
              <a:pPr algn="ctr" eaLnBrk="0" hangingPunct="0"/>
              <a:r>
                <a:rPr lang="en-US" altLang="zh-CN" dirty="0">
                  <a:latin typeface="宋体" panose="02010600030101010101" pitchFamily="2" charset="-122"/>
                </a:rPr>
                <a:t>F2</a:t>
              </a:r>
            </a:p>
            <a:p>
              <a:pPr algn="ctr" eaLnBrk="0" hangingPunct="0"/>
              <a:endParaRPr lang="en-US" altLang="zh-CN" dirty="0">
                <a:latin typeface="宋体" panose="02010600030101010101" pitchFamily="2" charset="-122"/>
              </a:endParaRPr>
            </a:p>
            <a:p>
              <a:pPr algn="ctr" eaLnBrk="0" hangingPunct="0"/>
              <a:r>
                <a:rPr lang="en-US" altLang="zh-CN" dirty="0">
                  <a:latin typeface="宋体" panose="02010600030101010101" pitchFamily="2" charset="-122"/>
                </a:rPr>
                <a:t>┇</a:t>
              </a:r>
              <a:endParaRPr lang="en-US" altLang="zh-CN" dirty="0">
                <a:latin typeface="Times New Roman" panose="02020603050405020304" pitchFamily="18" charset="0"/>
              </a:endParaRPr>
            </a:p>
          </p:txBody>
        </p:sp>
        <p:sp>
          <p:nvSpPr>
            <p:cNvPr id="72709" name="Line 5">
              <a:extLst>
                <a:ext uri="{FF2B5EF4-FFF2-40B4-BE49-F238E27FC236}">
                  <a16:creationId xmlns:a16="http://schemas.microsoft.com/office/drawing/2014/main" id="{85276798-0E21-B019-9FEA-236DEF53FB2E}"/>
                </a:ext>
              </a:extLst>
            </p:cNvPr>
            <p:cNvSpPr>
              <a:spLocks noChangeShapeType="1"/>
            </p:cNvSpPr>
            <p:nvPr/>
          </p:nvSpPr>
          <p:spPr bwMode="auto">
            <a:xfrm>
              <a:off x="3839" y="2206"/>
              <a:ext cx="912" cy="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0" name="Line 6">
              <a:extLst>
                <a:ext uri="{FF2B5EF4-FFF2-40B4-BE49-F238E27FC236}">
                  <a16:creationId xmlns:a16="http://schemas.microsoft.com/office/drawing/2014/main" id="{3668EA4E-4462-EB04-F6A8-8742CFACAF69}"/>
                </a:ext>
              </a:extLst>
            </p:cNvPr>
            <p:cNvSpPr>
              <a:spLocks noChangeShapeType="1"/>
            </p:cNvSpPr>
            <p:nvPr/>
          </p:nvSpPr>
          <p:spPr bwMode="auto">
            <a:xfrm>
              <a:off x="3839" y="2928"/>
              <a:ext cx="912" cy="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1" name="Line 7">
              <a:extLst>
                <a:ext uri="{FF2B5EF4-FFF2-40B4-BE49-F238E27FC236}">
                  <a16:creationId xmlns:a16="http://schemas.microsoft.com/office/drawing/2014/main" id="{C83DF8D3-BB24-A1C2-AC7E-9B55E4842F1F}"/>
                </a:ext>
              </a:extLst>
            </p:cNvPr>
            <p:cNvSpPr>
              <a:spLocks noChangeShapeType="1"/>
            </p:cNvSpPr>
            <p:nvPr/>
          </p:nvSpPr>
          <p:spPr bwMode="auto">
            <a:xfrm>
              <a:off x="3839" y="2590"/>
              <a:ext cx="912" cy="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Effect transition="in" filter="checkerboard(across)">
                                      <p:cBhvr>
                                        <p:cTn id="7" dur="500"/>
                                        <p:tgtEl>
                                          <p:spTgt spid="1218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1859">
                                            <p:txEl>
                                              <p:pRg st="1" end="1"/>
                                            </p:txEl>
                                          </p:spTgt>
                                        </p:tgtEl>
                                        <p:attrNameLst>
                                          <p:attrName>style.visibility</p:attrName>
                                        </p:attrNameLst>
                                      </p:cBhvr>
                                      <p:to>
                                        <p:strVal val="visible"/>
                                      </p:to>
                                    </p:set>
                                    <p:animEffect transition="in" filter="checkerboard(across)">
                                      <p:cBhvr>
                                        <p:cTn id="12" dur="500"/>
                                        <p:tgtEl>
                                          <p:spTgt spid="1218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21859">
                                            <p:txEl>
                                              <p:pRg st="2" end="2"/>
                                            </p:txEl>
                                          </p:spTgt>
                                        </p:tgtEl>
                                        <p:attrNameLst>
                                          <p:attrName>style.visibility</p:attrName>
                                        </p:attrNameLst>
                                      </p:cBhvr>
                                      <p:to>
                                        <p:strVal val="visible"/>
                                      </p:to>
                                    </p:set>
                                    <p:animEffect transition="in" filter="checkerboard(across)">
                                      <p:cBhvr>
                                        <p:cTn id="17" dur="500"/>
                                        <p:tgtEl>
                                          <p:spTgt spid="1218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14D7D7DE-E87A-F74A-A847-0E7254E86DD5}"/>
              </a:ext>
            </a:extLst>
          </p:cNvPr>
          <p:cNvSpPr>
            <a:spLocks noGrp="1" noChangeArrowheads="1"/>
          </p:cNvSpPr>
          <p:nvPr>
            <p:ph type="title"/>
          </p:nvPr>
        </p:nvSpPr>
        <p:spPr>
          <a:xfrm>
            <a:off x="1042988" y="225431"/>
            <a:ext cx="7850187" cy="746125"/>
          </a:xfrm>
        </p:spPr>
        <p:txBody>
          <a:bodyPr/>
          <a:lstStyle/>
          <a:p>
            <a:r>
              <a:rPr lang="zh-CN" altLang="en-US"/>
              <a:t>回收分区</a:t>
            </a:r>
            <a:r>
              <a:rPr lang="en-US" altLang="zh-CN"/>
              <a:t>r</a:t>
            </a:r>
            <a:r>
              <a:rPr lang="zh-CN" altLang="en-US"/>
              <a:t>上下邻接空闲分区</a:t>
            </a:r>
          </a:p>
        </p:txBody>
      </p:sp>
      <p:sp>
        <p:nvSpPr>
          <p:cNvPr id="120835" name="Rectangle 3">
            <a:extLst>
              <a:ext uri="{FF2B5EF4-FFF2-40B4-BE49-F238E27FC236}">
                <a16:creationId xmlns:a16="http://schemas.microsoft.com/office/drawing/2014/main" id="{0A9FE8C2-D5FF-3E07-B3A1-79CA72020D2B}"/>
              </a:ext>
            </a:extLst>
          </p:cNvPr>
          <p:cNvSpPr>
            <a:spLocks noGrp="1" noChangeArrowheads="1"/>
          </p:cNvSpPr>
          <p:nvPr>
            <p:ph idx="1"/>
          </p:nvPr>
        </p:nvSpPr>
        <p:spPr>
          <a:xfrm>
            <a:off x="935038" y="1233488"/>
            <a:ext cx="5277872" cy="4895850"/>
          </a:xfrm>
        </p:spPr>
        <p:txBody>
          <a:bodyPr>
            <a:normAutofit lnSpcReduction="10000"/>
          </a:bodyPr>
          <a:lstStyle/>
          <a:p>
            <a:r>
              <a:rPr lang="zh-CN" altLang="en-US" dirty="0"/>
              <a:t>此时应将回收区</a:t>
            </a:r>
            <a:r>
              <a:rPr lang="en-US" altLang="zh-CN" dirty="0"/>
              <a:t>r</a:t>
            </a:r>
            <a:r>
              <a:rPr lang="zh-CN" altLang="en-US" dirty="0"/>
              <a:t>与上、下邻接分区合并成一个连续的空闲区；</a:t>
            </a:r>
          </a:p>
          <a:p>
            <a:r>
              <a:rPr lang="zh-CN" altLang="en-US" dirty="0"/>
              <a:t>合并分区的首地址为与</a:t>
            </a:r>
            <a:r>
              <a:rPr lang="en-US" altLang="zh-CN" dirty="0"/>
              <a:t>r</a:t>
            </a:r>
            <a:r>
              <a:rPr lang="zh-CN" altLang="en-US" dirty="0"/>
              <a:t>上邻接空闲区</a:t>
            </a:r>
            <a:r>
              <a:rPr lang="en-US" altLang="zh-CN" dirty="0"/>
              <a:t>F1</a:t>
            </a:r>
            <a:r>
              <a:rPr lang="zh-CN" altLang="en-US" dirty="0"/>
              <a:t>的首地址，</a:t>
            </a:r>
          </a:p>
          <a:p>
            <a:r>
              <a:rPr lang="zh-CN" altLang="en-US" dirty="0"/>
              <a:t>其大小为三者之和，</a:t>
            </a:r>
          </a:p>
          <a:p>
            <a:r>
              <a:rPr lang="zh-CN" altLang="en-US" dirty="0"/>
              <a:t>且应将与</a:t>
            </a:r>
            <a:r>
              <a:rPr lang="en-US" altLang="zh-CN" dirty="0"/>
              <a:t>r</a:t>
            </a:r>
            <a:r>
              <a:rPr lang="zh-CN" altLang="en-US" dirty="0"/>
              <a:t>下邻接的空闲区</a:t>
            </a:r>
            <a:r>
              <a:rPr lang="en-US" altLang="zh-CN" dirty="0"/>
              <a:t>F2</a:t>
            </a:r>
            <a:r>
              <a:rPr lang="zh-CN" altLang="en-US" dirty="0"/>
              <a:t>从空闲分区表(或空闲分区链)中删去</a:t>
            </a:r>
          </a:p>
        </p:txBody>
      </p:sp>
      <p:grpSp>
        <p:nvGrpSpPr>
          <p:cNvPr id="73731" name="Group 9">
            <a:extLst>
              <a:ext uri="{FF2B5EF4-FFF2-40B4-BE49-F238E27FC236}">
                <a16:creationId xmlns:a16="http://schemas.microsoft.com/office/drawing/2014/main" id="{64B65D9E-1E89-F49E-349B-0480946F7856}"/>
              </a:ext>
            </a:extLst>
          </p:cNvPr>
          <p:cNvGrpSpPr>
            <a:grpSpLocks/>
          </p:cNvGrpSpPr>
          <p:nvPr/>
        </p:nvGrpSpPr>
        <p:grpSpPr bwMode="auto">
          <a:xfrm>
            <a:off x="6342063" y="2155825"/>
            <a:ext cx="1506537" cy="3217863"/>
            <a:chOff x="3755" y="1573"/>
            <a:chExt cx="949" cy="2027"/>
          </a:xfrm>
        </p:grpSpPr>
        <p:sp>
          <p:nvSpPr>
            <p:cNvPr id="73732" name="Rectangle 4">
              <a:extLst>
                <a:ext uri="{FF2B5EF4-FFF2-40B4-BE49-F238E27FC236}">
                  <a16:creationId xmlns:a16="http://schemas.microsoft.com/office/drawing/2014/main" id="{D17D0F22-6A3A-AB51-93A6-9549DD0A8F20}"/>
                </a:ext>
              </a:extLst>
            </p:cNvPr>
            <p:cNvSpPr>
              <a:spLocks noChangeArrowheads="1"/>
            </p:cNvSpPr>
            <p:nvPr/>
          </p:nvSpPr>
          <p:spPr bwMode="auto">
            <a:xfrm>
              <a:off x="3755" y="1573"/>
              <a:ext cx="949" cy="2027"/>
            </a:xfrm>
            <a:prstGeom prst="rect">
              <a:avLst/>
            </a:prstGeom>
            <a:solidFill>
              <a:srgbClr val="FFFFFF"/>
            </a:solidFill>
            <a:ln w="31750">
              <a:solidFill>
                <a:srgbClr val="000000"/>
              </a:solidFill>
              <a:miter lim="800000"/>
              <a:headEnd/>
              <a:tailEnd/>
            </a:ln>
          </p:spPr>
          <p:txBody>
            <a:bodyPr tIns="108000" bIns="0"/>
            <a:lstStyle/>
            <a:p>
              <a:pPr algn="ctr" eaLnBrk="0" hangingPunct="0"/>
              <a:r>
                <a:rPr lang="zh-CN" altLang="en-US" dirty="0">
                  <a:latin typeface="宋体" panose="02010600030101010101" pitchFamily="2" charset="-122"/>
                </a:rPr>
                <a:t>┇</a:t>
              </a:r>
            </a:p>
            <a:p>
              <a:pPr algn="ctr" eaLnBrk="0" hangingPunct="0"/>
              <a:endParaRPr lang="en-US" altLang="zh-CN" sz="1400" dirty="0">
                <a:latin typeface="宋体" panose="02010600030101010101" pitchFamily="2" charset="-122"/>
              </a:endParaRPr>
            </a:p>
            <a:p>
              <a:pPr algn="ctr" eaLnBrk="0" hangingPunct="0"/>
              <a:endParaRPr lang="zh-CN" altLang="en-US" sz="1400" dirty="0">
                <a:latin typeface="宋体" panose="02010600030101010101" pitchFamily="2" charset="-122"/>
              </a:endParaRPr>
            </a:p>
            <a:p>
              <a:pPr algn="ctr" eaLnBrk="0" hangingPunct="0"/>
              <a:r>
                <a:rPr lang="en-US" altLang="zh-CN" dirty="0">
                  <a:latin typeface="宋体" panose="02010600030101010101" pitchFamily="2" charset="-122"/>
                </a:rPr>
                <a:t>F1</a:t>
              </a:r>
            </a:p>
            <a:p>
              <a:pPr algn="ctr" eaLnBrk="0" hangingPunct="0"/>
              <a:endParaRPr lang="en-US" altLang="zh-CN" sz="1400" dirty="0">
                <a:latin typeface="宋体" panose="02010600030101010101" pitchFamily="2" charset="-122"/>
              </a:endParaRPr>
            </a:p>
            <a:p>
              <a:pPr algn="ctr" eaLnBrk="0" hangingPunct="0"/>
              <a:r>
                <a:rPr lang="zh-CN" altLang="en-US" dirty="0">
                  <a:latin typeface="宋体" panose="02010600030101010101" pitchFamily="2" charset="-122"/>
                </a:rPr>
                <a:t>回收区</a:t>
              </a:r>
            </a:p>
            <a:p>
              <a:pPr algn="ctr" eaLnBrk="0" hangingPunct="0"/>
              <a:endParaRPr lang="zh-CN" altLang="en-US" sz="1400" dirty="0">
                <a:latin typeface="宋体" panose="02010600030101010101" pitchFamily="2" charset="-122"/>
              </a:endParaRPr>
            </a:p>
            <a:p>
              <a:pPr algn="ctr" eaLnBrk="0" hangingPunct="0"/>
              <a:r>
                <a:rPr lang="en-US" altLang="zh-CN" dirty="0">
                  <a:latin typeface="宋体" panose="02010600030101010101" pitchFamily="2" charset="-122"/>
                </a:rPr>
                <a:t>F2</a:t>
              </a:r>
            </a:p>
            <a:p>
              <a:pPr algn="ctr" eaLnBrk="0" hangingPunct="0"/>
              <a:endParaRPr lang="en-US" altLang="zh-CN" dirty="0">
                <a:latin typeface="宋体" panose="02010600030101010101" pitchFamily="2" charset="-122"/>
              </a:endParaRPr>
            </a:p>
            <a:p>
              <a:pPr algn="ctr" eaLnBrk="0" hangingPunct="0"/>
              <a:r>
                <a:rPr lang="en-US" altLang="zh-CN" dirty="0">
                  <a:latin typeface="宋体" panose="02010600030101010101" pitchFamily="2" charset="-122"/>
                </a:rPr>
                <a:t>┇</a:t>
              </a:r>
              <a:endParaRPr lang="en-US" altLang="zh-CN" dirty="0">
                <a:latin typeface="Times New Roman" panose="02020603050405020304" pitchFamily="18" charset="0"/>
              </a:endParaRPr>
            </a:p>
          </p:txBody>
        </p:sp>
        <p:sp>
          <p:nvSpPr>
            <p:cNvPr id="73733" name="Line 5">
              <a:extLst>
                <a:ext uri="{FF2B5EF4-FFF2-40B4-BE49-F238E27FC236}">
                  <a16:creationId xmlns:a16="http://schemas.microsoft.com/office/drawing/2014/main" id="{7BE7C4BB-9EA8-C60B-9165-449AF657AE6B}"/>
                </a:ext>
              </a:extLst>
            </p:cNvPr>
            <p:cNvSpPr>
              <a:spLocks noChangeShapeType="1"/>
            </p:cNvSpPr>
            <p:nvPr/>
          </p:nvSpPr>
          <p:spPr bwMode="auto">
            <a:xfrm>
              <a:off x="3755" y="1966"/>
              <a:ext cx="949" cy="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4" name="Line 6">
              <a:extLst>
                <a:ext uri="{FF2B5EF4-FFF2-40B4-BE49-F238E27FC236}">
                  <a16:creationId xmlns:a16="http://schemas.microsoft.com/office/drawing/2014/main" id="{C2788EF2-2628-8A04-2490-FACD62C220A4}"/>
                </a:ext>
              </a:extLst>
            </p:cNvPr>
            <p:cNvSpPr>
              <a:spLocks noChangeShapeType="1"/>
            </p:cNvSpPr>
            <p:nvPr/>
          </p:nvSpPr>
          <p:spPr bwMode="auto">
            <a:xfrm>
              <a:off x="3755" y="3022"/>
              <a:ext cx="949" cy="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5" name="Line 7">
              <a:extLst>
                <a:ext uri="{FF2B5EF4-FFF2-40B4-BE49-F238E27FC236}">
                  <a16:creationId xmlns:a16="http://schemas.microsoft.com/office/drawing/2014/main" id="{D8018765-253E-45B0-5126-9994B2E77B00}"/>
                </a:ext>
              </a:extLst>
            </p:cNvPr>
            <p:cNvSpPr>
              <a:spLocks noChangeShapeType="1"/>
            </p:cNvSpPr>
            <p:nvPr/>
          </p:nvSpPr>
          <p:spPr bwMode="auto">
            <a:xfrm>
              <a:off x="3755" y="2296"/>
              <a:ext cx="949" cy="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6" name="Line 8">
              <a:extLst>
                <a:ext uri="{FF2B5EF4-FFF2-40B4-BE49-F238E27FC236}">
                  <a16:creationId xmlns:a16="http://schemas.microsoft.com/office/drawing/2014/main" id="{4D9D66E1-F81B-7F49-E334-6B72FAD37AC5}"/>
                </a:ext>
              </a:extLst>
            </p:cNvPr>
            <p:cNvSpPr>
              <a:spLocks noChangeShapeType="1"/>
            </p:cNvSpPr>
            <p:nvPr/>
          </p:nvSpPr>
          <p:spPr bwMode="auto">
            <a:xfrm>
              <a:off x="3755" y="2686"/>
              <a:ext cx="949" cy="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Effect transition="in" filter="checkerboard(across)">
                                      <p:cBhvr>
                                        <p:cTn id="7" dur="500"/>
                                        <p:tgtEl>
                                          <p:spTgt spid="120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0835">
                                            <p:txEl>
                                              <p:pRg st="1" end="1"/>
                                            </p:txEl>
                                          </p:spTgt>
                                        </p:tgtEl>
                                        <p:attrNameLst>
                                          <p:attrName>style.visibility</p:attrName>
                                        </p:attrNameLst>
                                      </p:cBhvr>
                                      <p:to>
                                        <p:strVal val="visible"/>
                                      </p:to>
                                    </p:set>
                                    <p:animEffect transition="in" filter="checkerboard(across)">
                                      <p:cBhvr>
                                        <p:cTn id="12" dur="500"/>
                                        <p:tgtEl>
                                          <p:spTgt spid="1208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20835">
                                            <p:txEl>
                                              <p:pRg st="2" end="2"/>
                                            </p:txEl>
                                          </p:spTgt>
                                        </p:tgtEl>
                                        <p:attrNameLst>
                                          <p:attrName>style.visibility</p:attrName>
                                        </p:attrNameLst>
                                      </p:cBhvr>
                                      <p:to>
                                        <p:strVal val="visible"/>
                                      </p:to>
                                    </p:set>
                                    <p:animEffect transition="in" filter="checkerboard(across)">
                                      <p:cBhvr>
                                        <p:cTn id="17" dur="500"/>
                                        <p:tgtEl>
                                          <p:spTgt spid="1208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20835">
                                            <p:txEl>
                                              <p:pRg st="3" end="3"/>
                                            </p:txEl>
                                          </p:spTgt>
                                        </p:tgtEl>
                                        <p:attrNameLst>
                                          <p:attrName>style.visibility</p:attrName>
                                        </p:attrNameLst>
                                      </p:cBhvr>
                                      <p:to>
                                        <p:strVal val="visible"/>
                                      </p:to>
                                    </p:set>
                                    <p:animEffect transition="in" filter="checkerboard(across)">
                                      <p:cBhvr>
                                        <p:cTn id="22" dur="500"/>
                                        <p:tgtEl>
                                          <p:spTgt spid="1208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DE1F64AB-35F3-2CA3-1D6C-FD23F04F0E62}"/>
              </a:ext>
            </a:extLst>
          </p:cNvPr>
          <p:cNvSpPr>
            <a:spLocks noGrp="1" noChangeArrowheads="1"/>
          </p:cNvSpPr>
          <p:nvPr>
            <p:ph type="title"/>
          </p:nvPr>
        </p:nvSpPr>
        <p:spPr>
          <a:xfrm>
            <a:off x="1042988" y="225431"/>
            <a:ext cx="7850187" cy="746125"/>
          </a:xfrm>
        </p:spPr>
        <p:txBody>
          <a:bodyPr/>
          <a:lstStyle/>
          <a:p>
            <a:r>
              <a:rPr lang="zh-CN" altLang="en-US"/>
              <a:t>回收分区</a:t>
            </a:r>
            <a:r>
              <a:rPr lang="en-US" altLang="zh-CN"/>
              <a:t>r</a:t>
            </a:r>
            <a:r>
              <a:rPr lang="zh-CN" altLang="en-US"/>
              <a:t>不与任何空闲分区相邻</a:t>
            </a:r>
          </a:p>
        </p:txBody>
      </p:sp>
      <p:sp>
        <p:nvSpPr>
          <p:cNvPr id="74754" name="Rectangle 3">
            <a:extLst>
              <a:ext uri="{FF2B5EF4-FFF2-40B4-BE49-F238E27FC236}">
                <a16:creationId xmlns:a16="http://schemas.microsoft.com/office/drawing/2014/main" id="{BD3B57A8-F159-80AD-E521-649921730105}"/>
              </a:ext>
            </a:extLst>
          </p:cNvPr>
          <p:cNvSpPr>
            <a:spLocks noGrp="1" noChangeArrowheads="1"/>
          </p:cNvSpPr>
          <p:nvPr>
            <p:ph idx="1"/>
          </p:nvPr>
        </p:nvSpPr>
        <p:spPr>
          <a:xfrm>
            <a:off x="935038" y="1233488"/>
            <a:ext cx="5453236" cy="4895850"/>
          </a:xfrm>
        </p:spPr>
        <p:txBody>
          <a:bodyPr/>
          <a:lstStyle/>
          <a:p>
            <a:r>
              <a:rPr lang="zh-CN" altLang="en-US" dirty="0"/>
              <a:t>这时应为回收区单独建立一个新表项，填写分区大小及起始地址等信息，并将其加入到空闲分区表(或空闲分区链)中的适当位置。</a:t>
            </a:r>
          </a:p>
        </p:txBody>
      </p:sp>
      <p:sp>
        <p:nvSpPr>
          <p:cNvPr id="119813" name="AutoShape 5">
            <a:extLst>
              <a:ext uri="{FF2B5EF4-FFF2-40B4-BE49-F238E27FC236}">
                <a16:creationId xmlns:a16="http://schemas.microsoft.com/office/drawing/2014/main" id="{69971238-9DD4-8644-1482-60A08521D854}"/>
              </a:ext>
            </a:extLst>
          </p:cNvPr>
          <p:cNvSpPr>
            <a:spLocks noChangeArrowheads="1"/>
          </p:cNvSpPr>
          <p:nvPr/>
        </p:nvSpPr>
        <p:spPr bwMode="auto">
          <a:xfrm>
            <a:off x="539750" y="4581525"/>
            <a:ext cx="6769100" cy="1584325"/>
          </a:xfrm>
          <a:prstGeom prst="cloudCallout">
            <a:avLst>
              <a:gd name="adj1" fmla="val -32505"/>
              <a:gd name="adj2" fmla="val 74847"/>
            </a:avLst>
          </a:prstGeom>
          <a:solidFill>
            <a:srgbClr val="D0F6FF"/>
          </a:solidFill>
          <a:ln w="28575">
            <a:solidFill>
              <a:srgbClr val="000000"/>
            </a:solidFill>
            <a:round/>
            <a:headEnd/>
            <a:tailEnd type="none" w="sm" len="med"/>
          </a:ln>
        </p:spPr>
        <p:txBody>
          <a:bodyPr/>
          <a:lstStyle/>
          <a:p>
            <a:pPr algn="just">
              <a:spcBef>
                <a:spcPct val="20000"/>
              </a:spcBef>
              <a:buClr>
                <a:schemeClr val="folHlink"/>
              </a:buClr>
              <a:buSzPct val="60000"/>
            </a:pPr>
            <a:r>
              <a:rPr lang="zh-CN" altLang="en-US" sz="2800" dirty="0">
                <a:solidFill>
                  <a:srgbClr val="0070C0"/>
                </a:solidFill>
              </a:rPr>
              <a:t>问题：空闲分区的个数在上述几种情况下如何变化？</a:t>
            </a:r>
          </a:p>
          <a:p>
            <a:pPr algn="ctr"/>
            <a:endParaRPr lang="zh-CN" altLang="en-US" sz="2800" dirty="0"/>
          </a:p>
        </p:txBody>
      </p:sp>
      <p:grpSp>
        <p:nvGrpSpPr>
          <p:cNvPr id="74756" name="Group 6">
            <a:extLst>
              <a:ext uri="{FF2B5EF4-FFF2-40B4-BE49-F238E27FC236}">
                <a16:creationId xmlns:a16="http://schemas.microsoft.com/office/drawing/2014/main" id="{E9E3001B-B336-343E-1950-E826AC2CBFA9}"/>
              </a:ext>
            </a:extLst>
          </p:cNvPr>
          <p:cNvGrpSpPr>
            <a:grpSpLocks/>
          </p:cNvGrpSpPr>
          <p:nvPr/>
        </p:nvGrpSpPr>
        <p:grpSpPr bwMode="auto">
          <a:xfrm>
            <a:off x="6594475" y="1196975"/>
            <a:ext cx="1506538" cy="3217863"/>
            <a:chOff x="3755" y="1573"/>
            <a:chExt cx="949" cy="2027"/>
          </a:xfrm>
        </p:grpSpPr>
        <p:sp>
          <p:nvSpPr>
            <p:cNvPr id="74757" name="Rectangle 7">
              <a:extLst>
                <a:ext uri="{FF2B5EF4-FFF2-40B4-BE49-F238E27FC236}">
                  <a16:creationId xmlns:a16="http://schemas.microsoft.com/office/drawing/2014/main" id="{2DB4C30B-D517-00D8-4264-23FFE28B8765}"/>
                </a:ext>
              </a:extLst>
            </p:cNvPr>
            <p:cNvSpPr>
              <a:spLocks noChangeArrowheads="1"/>
            </p:cNvSpPr>
            <p:nvPr/>
          </p:nvSpPr>
          <p:spPr bwMode="auto">
            <a:xfrm>
              <a:off x="3755" y="1573"/>
              <a:ext cx="949" cy="2027"/>
            </a:xfrm>
            <a:prstGeom prst="rect">
              <a:avLst/>
            </a:prstGeom>
            <a:solidFill>
              <a:srgbClr val="FFFFFF"/>
            </a:solidFill>
            <a:ln w="31750">
              <a:solidFill>
                <a:srgbClr val="000000"/>
              </a:solidFill>
              <a:miter lim="800000"/>
              <a:headEnd/>
              <a:tailEnd/>
            </a:ln>
          </p:spPr>
          <p:txBody>
            <a:bodyPr tIns="108000" bIns="0"/>
            <a:lstStyle/>
            <a:p>
              <a:pPr algn="ctr" eaLnBrk="0" hangingPunct="0"/>
              <a:r>
                <a:rPr lang="zh-CN" altLang="en-US" dirty="0">
                  <a:latin typeface="宋体" panose="02010600030101010101" pitchFamily="2" charset="-122"/>
                </a:rPr>
                <a:t>┇</a:t>
              </a:r>
            </a:p>
            <a:p>
              <a:pPr algn="ctr" eaLnBrk="0" hangingPunct="0"/>
              <a:endParaRPr lang="en-US" altLang="zh-CN" sz="1400" dirty="0">
                <a:latin typeface="宋体" panose="02010600030101010101" pitchFamily="2" charset="-122"/>
              </a:endParaRPr>
            </a:p>
            <a:p>
              <a:pPr algn="ctr" eaLnBrk="0" hangingPunct="0"/>
              <a:endParaRPr lang="zh-CN" altLang="en-US" sz="1400" dirty="0">
                <a:latin typeface="宋体" panose="02010600030101010101" pitchFamily="2" charset="-122"/>
              </a:endParaRPr>
            </a:p>
            <a:p>
              <a:pPr algn="ctr" eaLnBrk="0" hangingPunct="0"/>
              <a:r>
                <a:rPr lang="zh-CN" altLang="en-US" dirty="0">
                  <a:latin typeface="宋体" panose="02010600030101010101" pitchFamily="2" charset="-122"/>
                </a:rPr>
                <a:t>作业</a:t>
              </a:r>
              <a:r>
                <a:rPr lang="en-US" altLang="zh-CN" dirty="0">
                  <a:latin typeface="宋体" panose="02010600030101010101" pitchFamily="2" charset="-122"/>
                </a:rPr>
                <a:t>1</a:t>
              </a:r>
            </a:p>
            <a:p>
              <a:pPr algn="ctr" eaLnBrk="0" hangingPunct="0"/>
              <a:endParaRPr lang="en-US" altLang="zh-CN" sz="1400" dirty="0">
                <a:latin typeface="宋体" panose="02010600030101010101" pitchFamily="2" charset="-122"/>
              </a:endParaRPr>
            </a:p>
            <a:p>
              <a:pPr algn="ctr" eaLnBrk="0" hangingPunct="0"/>
              <a:r>
                <a:rPr lang="zh-CN" altLang="en-US" dirty="0">
                  <a:latin typeface="宋体" panose="02010600030101010101" pitchFamily="2" charset="-122"/>
                </a:rPr>
                <a:t>回收区</a:t>
              </a:r>
            </a:p>
            <a:p>
              <a:pPr algn="ctr" eaLnBrk="0" hangingPunct="0"/>
              <a:endParaRPr lang="zh-CN" altLang="en-US" sz="1400" dirty="0">
                <a:latin typeface="宋体" panose="02010600030101010101" pitchFamily="2" charset="-122"/>
              </a:endParaRPr>
            </a:p>
            <a:p>
              <a:pPr algn="ctr" eaLnBrk="0" hangingPunct="0"/>
              <a:r>
                <a:rPr lang="zh-CN" altLang="en-US" dirty="0">
                  <a:latin typeface="宋体" panose="02010600030101010101" pitchFamily="2" charset="-122"/>
                </a:rPr>
                <a:t>作业</a:t>
              </a:r>
              <a:r>
                <a:rPr lang="en-US" altLang="zh-CN" dirty="0">
                  <a:latin typeface="宋体" panose="02010600030101010101" pitchFamily="2" charset="-122"/>
                </a:rPr>
                <a:t>2</a:t>
              </a:r>
            </a:p>
            <a:p>
              <a:pPr algn="ctr" eaLnBrk="0" hangingPunct="0"/>
              <a:endParaRPr lang="en-US" altLang="zh-CN" dirty="0">
                <a:latin typeface="宋体" panose="02010600030101010101" pitchFamily="2" charset="-122"/>
              </a:endParaRPr>
            </a:p>
            <a:p>
              <a:pPr algn="ctr" eaLnBrk="0" hangingPunct="0"/>
              <a:r>
                <a:rPr lang="en-US" altLang="zh-CN" dirty="0">
                  <a:latin typeface="宋体" panose="02010600030101010101" pitchFamily="2" charset="-122"/>
                </a:rPr>
                <a:t>┇</a:t>
              </a:r>
              <a:endParaRPr lang="en-US" altLang="zh-CN" dirty="0">
                <a:latin typeface="Times New Roman" panose="02020603050405020304" pitchFamily="18" charset="0"/>
              </a:endParaRPr>
            </a:p>
          </p:txBody>
        </p:sp>
        <p:sp>
          <p:nvSpPr>
            <p:cNvPr id="74758" name="Line 8">
              <a:extLst>
                <a:ext uri="{FF2B5EF4-FFF2-40B4-BE49-F238E27FC236}">
                  <a16:creationId xmlns:a16="http://schemas.microsoft.com/office/drawing/2014/main" id="{264FDA1F-69A4-107B-EEBE-30ABC307AF10}"/>
                </a:ext>
              </a:extLst>
            </p:cNvPr>
            <p:cNvSpPr>
              <a:spLocks noChangeShapeType="1"/>
            </p:cNvSpPr>
            <p:nvPr/>
          </p:nvSpPr>
          <p:spPr bwMode="auto">
            <a:xfrm>
              <a:off x="3755" y="1966"/>
              <a:ext cx="949" cy="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59" name="Line 9">
              <a:extLst>
                <a:ext uri="{FF2B5EF4-FFF2-40B4-BE49-F238E27FC236}">
                  <a16:creationId xmlns:a16="http://schemas.microsoft.com/office/drawing/2014/main" id="{CE542FAF-9EBA-441D-DEFE-46BB65267649}"/>
                </a:ext>
              </a:extLst>
            </p:cNvPr>
            <p:cNvSpPr>
              <a:spLocks noChangeShapeType="1"/>
            </p:cNvSpPr>
            <p:nvPr/>
          </p:nvSpPr>
          <p:spPr bwMode="auto">
            <a:xfrm>
              <a:off x="3755" y="3022"/>
              <a:ext cx="949" cy="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0" name="Line 10">
              <a:extLst>
                <a:ext uri="{FF2B5EF4-FFF2-40B4-BE49-F238E27FC236}">
                  <a16:creationId xmlns:a16="http://schemas.microsoft.com/office/drawing/2014/main" id="{E9C96003-91E4-026D-AB8B-EAA92265DF7D}"/>
                </a:ext>
              </a:extLst>
            </p:cNvPr>
            <p:cNvSpPr>
              <a:spLocks noChangeShapeType="1"/>
            </p:cNvSpPr>
            <p:nvPr/>
          </p:nvSpPr>
          <p:spPr bwMode="auto">
            <a:xfrm>
              <a:off x="3755" y="2296"/>
              <a:ext cx="949" cy="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1" name="Line 11">
              <a:extLst>
                <a:ext uri="{FF2B5EF4-FFF2-40B4-BE49-F238E27FC236}">
                  <a16:creationId xmlns:a16="http://schemas.microsoft.com/office/drawing/2014/main" id="{4294E729-3B2C-96AD-2443-AC49EC945A05}"/>
                </a:ext>
              </a:extLst>
            </p:cNvPr>
            <p:cNvSpPr>
              <a:spLocks noChangeShapeType="1"/>
            </p:cNvSpPr>
            <p:nvPr/>
          </p:nvSpPr>
          <p:spPr bwMode="auto">
            <a:xfrm>
              <a:off x="3755" y="2686"/>
              <a:ext cx="949" cy="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5" presetClass="entr" presetSubtype="0" fill="hold" nodeType="clickEffect">
                                  <p:stCondLst>
                                    <p:cond delay="0"/>
                                  </p:stCondLst>
                                  <p:childTnLst>
                                    <p:set>
                                      <p:cBhvr>
                                        <p:cTn id="6" dur="1" fill="hold">
                                          <p:stCondLst>
                                            <p:cond delay="0"/>
                                          </p:stCondLst>
                                        </p:cTn>
                                        <p:tgtEl>
                                          <p:spTgt spid="119813"/>
                                        </p:tgtEl>
                                        <p:attrNameLst>
                                          <p:attrName>style.visibility</p:attrName>
                                        </p:attrNameLst>
                                      </p:cBhvr>
                                      <p:to>
                                        <p:strVal val="visible"/>
                                      </p:to>
                                    </p:set>
                                    <p:anim calcmode="lin" valueType="num">
                                      <p:cBhvr>
                                        <p:cTn id="7" dur="500" decel="50000" fill="hold">
                                          <p:stCondLst>
                                            <p:cond delay="0"/>
                                          </p:stCondLst>
                                        </p:cTn>
                                        <p:tgtEl>
                                          <p:spTgt spid="119813"/>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19813"/>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19813"/>
                                        </p:tgtEl>
                                        <p:attrNameLst>
                                          <p:attrName>ppt_w</p:attrName>
                                        </p:attrNameLst>
                                      </p:cBhvr>
                                      <p:tavLst>
                                        <p:tav tm="0">
                                          <p:val>
                                            <p:strVal val="#ppt_w*.05"/>
                                          </p:val>
                                        </p:tav>
                                        <p:tav tm="100000">
                                          <p:val>
                                            <p:strVal val="#ppt_w"/>
                                          </p:val>
                                        </p:tav>
                                      </p:tavLst>
                                    </p:anim>
                                    <p:anim calcmode="lin" valueType="num">
                                      <p:cBhvr>
                                        <p:cTn id="10" dur="1000" fill="hold"/>
                                        <p:tgtEl>
                                          <p:spTgt spid="119813"/>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19813"/>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19813"/>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19813"/>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19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3"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8426B81C-3AEC-347B-D025-71083B978DB3}"/>
              </a:ext>
            </a:extLst>
          </p:cNvPr>
          <p:cNvSpPr>
            <a:spLocks noGrp="1" noChangeArrowheads="1"/>
          </p:cNvSpPr>
          <p:nvPr>
            <p:ph type="title"/>
          </p:nvPr>
        </p:nvSpPr>
        <p:spPr>
          <a:xfrm>
            <a:off x="1042988" y="225431"/>
            <a:ext cx="7850187" cy="746125"/>
          </a:xfrm>
        </p:spPr>
        <p:txBody>
          <a:bodyPr/>
          <a:lstStyle/>
          <a:p>
            <a:r>
              <a:rPr lang="zh-CN" altLang="en-US" dirty="0"/>
              <a:t>碎片问题（</a:t>
            </a:r>
            <a:r>
              <a:rPr lang="en-US" altLang="zh-CN" dirty="0"/>
              <a:t>Fragmentation</a:t>
            </a:r>
            <a:r>
              <a:rPr lang="zh-CN" altLang="en-US" dirty="0"/>
              <a:t>）</a:t>
            </a:r>
          </a:p>
        </p:txBody>
      </p:sp>
      <p:sp>
        <p:nvSpPr>
          <p:cNvPr id="122883" name="Rectangle 3">
            <a:extLst>
              <a:ext uri="{FF2B5EF4-FFF2-40B4-BE49-F238E27FC236}">
                <a16:creationId xmlns:a16="http://schemas.microsoft.com/office/drawing/2014/main" id="{956018FE-A7D0-E032-56CD-8F721843821F}"/>
              </a:ext>
            </a:extLst>
          </p:cNvPr>
          <p:cNvSpPr>
            <a:spLocks noGrp="1" noChangeArrowheads="1"/>
          </p:cNvSpPr>
          <p:nvPr>
            <p:ph idx="1"/>
          </p:nvPr>
        </p:nvSpPr>
        <p:spPr>
          <a:xfrm>
            <a:off x="935038" y="1233488"/>
            <a:ext cx="7772400" cy="4895850"/>
          </a:xfrm>
        </p:spPr>
        <p:txBody>
          <a:bodyPr>
            <a:normAutofit/>
          </a:bodyPr>
          <a:lstStyle/>
          <a:p>
            <a:r>
              <a:rPr lang="zh-CN" altLang="en-US" b="1" dirty="0">
                <a:solidFill>
                  <a:srgbClr val="FF0000"/>
                </a:solidFill>
              </a:rPr>
              <a:t>外部碎片</a:t>
            </a:r>
            <a:r>
              <a:rPr lang="en-US" altLang="zh-CN" dirty="0"/>
              <a:t>——</a:t>
            </a:r>
            <a:r>
              <a:rPr lang="zh-CN" altLang="en-US" dirty="0"/>
              <a:t>内存空间合起来可以满足请求，但不是连续的</a:t>
            </a:r>
            <a:endParaRPr lang="en-US" altLang="zh-CN" dirty="0"/>
          </a:p>
          <a:p>
            <a:r>
              <a:rPr lang="zh-CN" altLang="en-US" b="1" dirty="0">
                <a:solidFill>
                  <a:srgbClr val="FF0000"/>
                </a:solidFill>
              </a:rPr>
              <a:t>内部碎片</a:t>
            </a:r>
            <a:r>
              <a:rPr lang="en-US" altLang="zh-CN" dirty="0"/>
              <a:t>——</a:t>
            </a:r>
            <a:r>
              <a:rPr lang="zh-CN" altLang="en-US" dirty="0"/>
              <a:t>已分配的内存可能略大于请求的内存；存在于分区内部，但未被使用</a:t>
            </a:r>
            <a:endParaRPr lang="en-US" altLang="zh-CN" dirty="0"/>
          </a:p>
          <a:p>
            <a:r>
              <a:rPr lang="zh-CN" altLang="en-US" dirty="0"/>
              <a:t>首次适应分析显示，在给定</a:t>
            </a:r>
            <a:r>
              <a:rPr lang="en" altLang="zh-CN" dirty="0"/>
              <a:t>N</a:t>
            </a:r>
            <a:r>
              <a:rPr lang="zh-CN" altLang="en-US" dirty="0"/>
              <a:t>个分配块的情况下，有</a:t>
            </a:r>
            <a:r>
              <a:rPr lang="en-US" altLang="zh-CN" dirty="0"/>
              <a:t>0.5</a:t>
            </a:r>
            <a:r>
              <a:rPr lang="en" altLang="zh-CN" dirty="0"/>
              <a:t>N</a:t>
            </a:r>
            <a:r>
              <a:rPr lang="zh-CN" altLang="en-US" dirty="0"/>
              <a:t>个分区因碎片化而丢失。</a:t>
            </a:r>
          </a:p>
          <a:p>
            <a:pPr lvl="1"/>
            <a:r>
              <a:rPr lang="en-US" altLang="zh-CN" dirty="0"/>
              <a:t>1/3</a:t>
            </a:r>
            <a:r>
              <a:rPr lang="zh-CN" altLang="en-US" dirty="0"/>
              <a:t>可能无法使用 </a:t>
            </a:r>
            <a:r>
              <a:rPr lang="en-US" altLang="zh-CN" dirty="0"/>
              <a:t>-&gt; 50%</a:t>
            </a:r>
            <a:r>
              <a:rPr lang="zh-CN" altLang="en-US" dirty="0"/>
              <a:t>规则</a:t>
            </a:r>
          </a:p>
          <a:p>
            <a:r>
              <a:rPr lang="zh-CN" altLang="en-US" dirty="0"/>
              <a:t>可以通过</a:t>
            </a:r>
            <a:r>
              <a:rPr lang="zh-CN" altLang="en-US" b="1" dirty="0">
                <a:solidFill>
                  <a:srgbClr val="FF0000"/>
                </a:solidFill>
              </a:rPr>
              <a:t>紧凑</a:t>
            </a:r>
            <a:r>
              <a:rPr lang="en-US" altLang="zh-CN" dirty="0"/>
              <a:t>(compaction)</a:t>
            </a:r>
            <a:r>
              <a:rPr lang="zh-CN" altLang="en-US" dirty="0"/>
              <a:t>来减少外部碎片</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22883">
                                            <p:txEl>
                                              <p:pRg st="0" end="0"/>
                                            </p:txEl>
                                          </p:spTgt>
                                        </p:tgtEl>
                                        <p:attrNameLst>
                                          <p:attrName>style.visibility</p:attrName>
                                        </p:attrNameLst>
                                      </p:cBhvr>
                                      <p:to>
                                        <p:strVal val="visible"/>
                                      </p:to>
                                    </p:set>
                                    <p:animEffect transition="in" filter="checkerboard(across)">
                                      <p:cBhvr>
                                        <p:cTn id="7" dur="500"/>
                                        <p:tgtEl>
                                          <p:spTgt spid="1228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2883">
                                            <p:txEl>
                                              <p:pRg st="1" end="1"/>
                                            </p:txEl>
                                          </p:spTgt>
                                        </p:tgtEl>
                                        <p:attrNameLst>
                                          <p:attrName>style.visibility</p:attrName>
                                        </p:attrNameLst>
                                      </p:cBhvr>
                                      <p:to>
                                        <p:strVal val="visible"/>
                                      </p:to>
                                    </p:set>
                                    <p:animEffect transition="in" filter="checkerboard(across)">
                                      <p:cBhvr>
                                        <p:cTn id="12" dur="500"/>
                                        <p:tgtEl>
                                          <p:spTgt spid="1228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22883">
                                            <p:txEl>
                                              <p:pRg st="4" end="4"/>
                                            </p:txEl>
                                          </p:spTgt>
                                        </p:tgtEl>
                                        <p:attrNameLst>
                                          <p:attrName>style.visibility</p:attrName>
                                        </p:attrNameLst>
                                      </p:cBhvr>
                                      <p:to>
                                        <p:strVal val="visible"/>
                                      </p:to>
                                    </p:set>
                                    <p:animEffect transition="in" filter="checkerboard(across)">
                                      <p:cBhvr>
                                        <p:cTn id="17" dur="500"/>
                                        <p:tgtEl>
                                          <p:spTgt spid="12288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22883">
                                            <p:txEl>
                                              <p:pRg st="2" end="2"/>
                                            </p:txEl>
                                          </p:spTgt>
                                        </p:tgtEl>
                                        <p:attrNameLst>
                                          <p:attrName>style.visibility</p:attrName>
                                        </p:attrNameLst>
                                      </p:cBhvr>
                                      <p:to>
                                        <p:strVal val="visible"/>
                                      </p:to>
                                    </p:set>
                                    <p:animEffect transition="in" filter="checkerboard(across)">
                                      <p:cBhvr>
                                        <p:cTn id="22" dur="500"/>
                                        <p:tgtEl>
                                          <p:spTgt spid="12288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22883">
                                            <p:txEl>
                                              <p:pRg st="3" end="3"/>
                                            </p:txEl>
                                          </p:spTgt>
                                        </p:tgtEl>
                                        <p:attrNameLst>
                                          <p:attrName>style.visibility</p:attrName>
                                        </p:attrNameLst>
                                      </p:cBhvr>
                                      <p:to>
                                        <p:strVal val="visible"/>
                                      </p:to>
                                    </p:set>
                                    <p:animEffect transition="in" filter="checkerboard(across)">
                                      <p:cBhvr>
                                        <p:cTn id="27" dur="500"/>
                                        <p:tgtEl>
                                          <p:spTgt spid="1228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E6BC38-9AC4-6B76-FB39-F76E28BC4146}"/>
              </a:ext>
            </a:extLst>
          </p:cNvPr>
          <p:cNvSpPr>
            <a:spLocks noGrp="1"/>
          </p:cNvSpPr>
          <p:nvPr>
            <p:ph type="title"/>
          </p:nvPr>
        </p:nvSpPr>
        <p:spPr/>
        <p:txBody>
          <a:bodyPr/>
          <a:lstStyle/>
          <a:p>
            <a:r>
              <a:rPr lang="zh-CN" altLang="en-US" dirty="0"/>
              <a:t>紧凑解决外部碎片问题</a:t>
            </a:r>
            <a:endParaRPr kumimoji="1" lang="zh-CN" altLang="en-US" dirty="0"/>
          </a:p>
        </p:txBody>
      </p:sp>
      <p:sp>
        <p:nvSpPr>
          <p:cNvPr id="3" name="内容占位符 2">
            <a:extLst>
              <a:ext uri="{FF2B5EF4-FFF2-40B4-BE49-F238E27FC236}">
                <a16:creationId xmlns:a16="http://schemas.microsoft.com/office/drawing/2014/main" id="{58CF1EC5-53FF-D281-7E7C-6457E7C31CDB}"/>
              </a:ext>
            </a:extLst>
          </p:cNvPr>
          <p:cNvSpPr>
            <a:spLocks noGrp="1"/>
          </p:cNvSpPr>
          <p:nvPr>
            <p:ph idx="1"/>
          </p:nvPr>
        </p:nvSpPr>
        <p:spPr/>
        <p:txBody>
          <a:bodyPr>
            <a:normAutofit fontScale="92500" lnSpcReduction="20000"/>
          </a:bodyPr>
          <a:lstStyle/>
          <a:p>
            <a:r>
              <a:rPr lang="zh-CN" altLang="en-US" dirty="0"/>
              <a:t>需移动内存内容，使所有空闲内拼成一个大的分区</a:t>
            </a:r>
          </a:p>
          <a:p>
            <a:r>
              <a:rPr lang="zh-CN" altLang="en-US" dirty="0"/>
              <a:t>需要运行时动态重定位的支持</a:t>
            </a:r>
            <a:endParaRPr lang="en-US" altLang="zh-CN" dirty="0"/>
          </a:p>
          <a:p>
            <a:r>
              <a:rPr lang="zh-CN" altLang="en-US" dirty="0"/>
              <a:t>若紧凑时进行了</a:t>
            </a:r>
            <a:r>
              <a:rPr lang="en" altLang="zh-CN" dirty="0"/>
              <a:t>I/O</a:t>
            </a:r>
            <a:r>
              <a:rPr lang="zh-CN" altLang="en-US" dirty="0"/>
              <a:t>操作，数据将到达错误的位置</a:t>
            </a:r>
          </a:p>
          <a:p>
            <a:r>
              <a:rPr lang="zh-CN" altLang="en-US" dirty="0"/>
              <a:t>解决</a:t>
            </a:r>
            <a:r>
              <a:rPr lang="en" altLang="zh-CN" dirty="0"/>
              <a:t>I/O</a:t>
            </a:r>
            <a:r>
              <a:rPr lang="zh-CN" altLang="en-US" dirty="0"/>
              <a:t>问题的方法：</a:t>
            </a:r>
          </a:p>
          <a:p>
            <a:pPr lvl="1"/>
            <a:r>
              <a:rPr lang="zh-CN" altLang="en-US" dirty="0"/>
              <a:t>参与</a:t>
            </a:r>
            <a:r>
              <a:rPr lang="en" altLang="zh-CN" dirty="0"/>
              <a:t>I/O</a:t>
            </a:r>
            <a:r>
              <a:rPr lang="zh-CN" altLang="en-US" dirty="0"/>
              <a:t>操作的进程在内存中保持锁定状态</a:t>
            </a:r>
          </a:p>
          <a:p>
            <a:pPr lvl="1"/>
            <a:r>
              <a:rPr lang="zh-CN" altLang="en-US" dirty="0"/>
              <a:t>仅将</a:t>
            </a:r>
            <a:r>
              <a:rPr lang="en" altLang="zh-CN" dirty="0"/>
              <a:t>I/O</a:t>
            </a:r>
            <a:r>
              <a:rPr lang="zh-CN" altLang="en-US" dirty="0"/>
              <a:t>操作执行到操作系统缓冲区中</a:t>
            </a:r>
          </a:p>
          <a:p>
            <a:r>
              <a:rPr lang="zh-CN" altLang="en-US" dirty="0"/>
              <a:t>磁盘上的存储具有相同的碎片问题</a:t>
            </a:r>
            <a:endParaRPr lang="en-US" altLang="zh-CN" dirty="0"/>
          </a:p>
          <a:p>
            <a:r>
              <a:rPr lang="zh-CN" altLang="en-US" dirty="0"/>
              <a:t>紧凑需要耗费大量处理机时间</a:t>
            </a:r>
            <a:endParaRPr kumimoji="1" lang="zh-CN" altLang="en-US" dirty="0"/>
          </a:p>
        </p:txBody>
      </p:sp>
      <p:sp>
        <p:nvSpPr>
          <p:cNvPr id="4" name="灯片编号占位符 3">
            <a:extLst>
              <a:ext uri="{FF2B5EF4-FFF2-40B4-BE49-F238E27FC236}">
                <a16:creationId xmlns:a16="http://schemas.microsoft.com/office/drawing/2014/main" id="{12E01109-7A13-05F7-0B26-F910C38DCE54}"/>
              </a:ext>
            </a:extLst>
          </p:cNvPr>
          <p:cNvSpPr>
            <a:spLocks noGrp="1"/>
          </p:cNvSpPr>
          <p:nvPr>
            <p:ph type="sldNum" sz="quarter" idx="12"/>
          </p:nvPr>
        </p:nvSpPr>
        <p:spPr/>
        <p:txBody>
          <a:bodyPr/>
          <a:lstStyle/>
          <a:p>
            <a:fld id="{4093CC90-4002-504C-BD88-C9A1D374048E}" type="slidenum">
              <a:rPr lang="zh-CN" altLang="en-US" smtClean="0"/>
              <a:pPr/>
              <a:t>44</a:t>
            </a:fld>
            <a:endParaRPr lang="zh-CN" altLang="en-US" dirty="0"/>
          </a:p>
        </p:txBody>
      </p:sp>
    </p:spTree>
    <p:extLst>
      <p:ext uri="{BB962C8B-B14F-4D97-AF65-F5344CB8AC3E}">
        <p14:creationId xmlns:p14="http://schemas.microsoft.com/office/powerpoint/2010/main" val="2549640803"/>
      </p:ext>
    </p:extLst>
  </p:cSld>
  <p:clrMapOvr>
    <a:masterClrMapping/>
  </p:clrMapOvr>
  <p:transition spd="med">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FFBC514D-DB37-75F1-A35C-9B950BFE938B}"/>
              </a:ext>
            </a:extLst>
          </p:cNvPr>
          <p:cNvSpPr>
            <a:spLocks noGrp="1" noChangeArrowheads="1"/>
          </p:cNvSpPr>
          <p:nvPr>
            <p:ph type="title"/>
          </p:nvPr>
        </p:nvSpPr>
        <p:spPr>
          <a:xfrm>
            <a:off x="1042988" y="225431"/>
            <a:ext cx="7850187" cy="746125"/>
          </a:xfrm>
        </p:spPr>
        <p:txBody>
          <a:bodyPr/>
          <a:lstStyle/>
          <a:p>
            <a:r>
              <a:rPr lang="zh-CN" altLang="en-US"/>
              <a:t>拼接示意图</a:t>
            </a:r>
          </a:p>
        </p:txBody>
      </p:sp>
      <p:sp>
        <p:nvSpPr>
          <p:cNvPr id="124948" name="AutoShape 20">
            <a:extLst>
              <a:ext uri="{FF2B5EF4-FFF2-40B4-BE49-F238E27FC236}">
                <a16:creationId xmlns:a16="http://schemas.microsoft.com/office/drawing/2014/main" id="{16604051-9F67-B221-DFDD-FE334BF3D6F4}"/>
              </a:ext>
            </a:extLst>
          </p:cNvPr>
          <p:cNvSpPr>
            <a:spLocks noChangeArrowheads="1"/>
          </p:cNvSpPr>
          <p:nvPr/>
        </p:nvSpPr>
        <p:spPr bwMode="auto">
          <a:xfrm>
            <a:off x="4125913" y="2954338"/>
            <a:ext cx="1524000" cy="685800"/>
          </a:xfrm>
          <a:prstGeom prst="rightArrow">
            <a:avLst>
              <a:gd name="adj1" fmla="val 50000"/>
              <a:gd name="adj2" fmla="val 55535"/>
            </a:avLst>
          </a:prstGeom>
          <a:solidFill>
            <a:schemeClr val="accent1"/>
          </a:solidFill>
          <a:ln w="9525">
            <a:solidFill>
              <a:schemeClr val="tx1"/>
            </a:solidFill>
            <a:miter lim="800000"/>
            <a:headEnd/>
            <a:tailEnd/>
          </a:ln>
        </p:spPr>
        <p:txBody>
          <a:bodyPr wrap="none" anchor="ctr"/>
          <a:lstStyle/>
          <a:p>
            <a:pPr algn="ctr"/>
            <a:endParaRPr lang="zh-CN" altLang="en-US"/>
          </a:p>
        </p:txBody>
      </p:sp>
      <p:grpSp>
        <p:nvGrpSpPr>
          <p:cNvPr id="2" name="Group 30">
            <a:extLst>
              <a:ext uri="{FF2B5EF4-FFF2-40B4-BE49-F238E27FC236}">
                <a16:creationId xmlns:a16="http://schemas.microsoft.com/office/drawing/2014/main" id="{744B6B05-63E4-9C86-AD35-2D0BB430D252}"/>
              </a:ext>
            </a:extLst>
          </p:cNvPr>
          <p:cNvGrpSpPr>
            <a:grpSpLocks/>
          </p:cNvGrpSpPr>
          <p:nvPr/>
        </p:nvGrpSpPr>
        <p:grpSpPr bwMode="auto">
          <a:xfrm>
            <a:off x="392113" y="1125538"/>
            <a:ext cx="3722687" cy="4572000"/>
            <a:chOff x="192" y="1056"/>
            <a:chExt cx="2345" cy="2880"/>
          </a:xfrm>
        </p:grpSpPr>
        <p:sp>
          <p:nvSpPr>
            <p:cNvPr id="79877" name="Rectangle 5">
              <a:extLst>
                <a:ext uri="{FF2B5EF4-FFF2-40B4-BE49-F238E27FC236}">
                  <a16:creationId xmlns:a16="http://schemas.microsoft.com/office/drawing/2014/main" id="{7D7A322D-6EAF-FDC0-A194-F8A53F581CAF}"/>
                </a:ext>
              </a:extLst>
            </p:cNvPr>
            <p:cNvSpPr>
              <a:spLocks noChangeArrowheads="1"/>
            </p:cNvSpPr>
            <p:nvPr/>
          </p:nvSpPr>
          <p:spPr bwMode="auto">
            <a:xfrm>
              <a:off x="970" y="1104"/>
              <a:ext cx="1567" cy="2736"/>
            </a:xfrm>
            <a:prstGeom prst="rect">
              <a:avLst/>
            </a:prstGeom>
            <a:solidFill>
              <a:srgbClr val="FFFFFF"/>
            </a:solidFill>
            <a:ln w="28575">
              <a:solidFill>
                <a:srgbClr val="000000"/>
              </a:solidFill>
              <a:miter lim="800000"/>
              <a:headEnd/>
              <a:tailEnd/>
            </a:ln>
          </p:spPr>
          <p:txBody>
            <a:bodyPr lIns="72000" tIns="72000" rIns="72000" bIns="0"/>
            <a:lstStyle/>
            <a:p>
              <a:pPr algn="just" eaLnBrk="0" hangingPunct="0"/>
              <a:r>
                <a:rPr lang="zh-CN" altLang="en-US" dirty="0">
                  <a:latin typeface="Times New Roman" panose="02020603050405020304" pitchFamily="18" charset="0"/>
                </a:rPr>
                <a:t>      操作系统</a:t>
              </a:r>
            </a:p>
            <a:p>
              <a:pPr algn="just" eaLnBrk="0" hangingPunct="0"/>
              <a:endParaRPr lang="zh-CN" altLang="en-US" sz="900" dirty="0">
                <a:latin typeface="Times New Roman" panose="02020603050405020304" pitchFamily="18" charset="0"/>
              </a:endParaRPr>
            </a:p>
            <a:p>
              <a:pPr algn="just" eaLnBrk="0" hangingPunct="0"/>
              <a:r>
                <a:rPr lang="zh-CN" altLang="en-US" dirty="0">
                  <a:latin typeface="Times New Roman" panose="02020603050405020304" pitchFamily="18" charset="0"/>
                </a:rPr>
                <a:t>       </a:t>
              </a:r>
              <a:endParaRPr lang="en-US" altLang="zh-CN" dirty="0">
                <a:latin typeface="Times New Roman" panose="02020603050405020304" pitchFamily="18" charset="0"/>
              </a:endParaRPr>
            </a:p>
            <a:p>
              <a:pPr algn="just" eaLnBrk="0" hangingPunct="0"/>
              <a:r>
                <a:rPr lang="zh-CN" altLang="en-US" dirty="0">
                  <a:latin typeface="Times New Roman" panose="02020603050405020304" pitchFamily="18" charset="0"/>
                </a:rPr>
                <a:t>   进程5</a:t>
              </a:r>
            </a:p>
            <a:p>
              <a:pPr algn="just" eaLnBrk="0" hangingPunct="0"/>
              <a:endParaRPr lang="en-US" altLang="zh-CN" sz="1800" dirty="0">
                <a:latin typeface="Times New Roman" panose="02020603050405020304" pitchFamily="18" charset="0"/>
              </a:endParaRPr>
            </a:p>
            <a:p>
              <a:pPr algn="just" eaLnBrk="0" hangingPunct="0"/>
              <a:r>
                <a:rPr lang="zh-CN" altLang="en-US" dirty="0">
                  <a:latin typeface="Times New Roman" panose="02020603050405020304" pitchFamily="18" charset="0"/>
                </a:rPr>
                <a:t>   空闲（10</a:t>
              </a:r>
              <a:r>
                <a:rPr lang="en-US" altLang="zh-CN" dirty="0">
                  <a:latin typeface="Times New Roman" panose="02020603050405020304" pitchFamily="18" charset="0"/>
                </a:rPr>
                <a:t>KB）</a:t>
              </a:r>
            </a:p>
            <a:p>
              <a:pPr algn="just" eaLnBrk="0" hangingPunct="0"/>
              <a:endParaRPr lang="zh-CN" altLang="en-US" sz="1600" dirty="0">
                <a:latin typeface="Times New Roman" panose="02020603050405020304" pitchFamily="18" charset="0"/>
              </a:endParaRPr>
            </a:p>
            <a:p>
              <a:pPr algn="just" eaLnBrk="0" hangingPunct="0"/>
              <a:r>
                <a:rPr lang="zh-CN" altLang="en-US" dirty="0">
                  <a:latin typeface="Times New Roman" panose="02020603050405020304" pitchFamily="18" charset="0"/>
                </a:rPr>
                <a:t>  进程4</a:t>
              </a:r>
              <a:endParaRPr lang="en-US" altLang="zh-CN" dirty="0">
                <a:latin typeface="Times New Roman" panose="02020603050405020304" pitchFamily="18" charset="0"/>
              </a:endParaRPr>
            </a:p>
            <a:p>
              <a:pPr algn="just" eaLnBrk="0" hangingPunct="0"/>
              <a:endParaRPr lang="en-US" altLang="zh-CN" sz="1600" dirty="0">
                <a:latin typeface="Times New Roman" panose="02020603050405020304" pitchFamily="18" charset="0"/>
              </a:endParaRPr>
            </a:p>
            <a:p>
              <a:pPr algn="just" eaLnBrk="0" hangingPunct="0"/>
              <a:r>
                <a:rPr lang="zh-CN" altLang="en-US" dirty="0">
                  <a:latin typeface="Times New Roman" panose="02020603050405020304" pitchFamily="18" charset="0"/>
                </a:rPr>
                <a:t>  空闲（30</a:t>
              </a:r>
              <a:r>
                <a:rPr lang="en-US" altLang="zh-CN" dirty="0">
                  <a:latin typeface="Times New Roman" panose="02020603050405020304" pitchFamily="18" charset="0"/>
                </a:rPr>
                <a:t>KB）</a:t>
              </a:r>
            </a:p>
            <a:p>
              <a:pPr algn="just" eaLnBrk="0" hangingPunct="0"/>
              <a:endParaRPr lang="en-US" altLang="zh-CN" sz="1600" dirty="0">
                <a:latin typeface="Times New Roman" panose="02020603050405020304" pitchFamily="18" charset="0"/>
              </a:endParaRPr>
            </a:p>
            <a:p>
              <a:pPr algn="just" eaLnBrk="0" hangingPunct="0"/>
              <a:r>
                <a:rPr lang="zh-CN" altLang="en-US" dirty="0">
                  <a:latin typeface="Times New Roman" panose="02020603050405020304" pitchFamily="18" charset="0"/>
                </a:rPr>
                <a:t>       </a:t>
              </a:r>
              <a:endParaRPr lang="en-US" altLang="zh-CN" dirty="0">
                <a:latin typeface="Times New Roman" panose="02020603050405020304" pitchFamily="18" charset="0"/>
              </a:endParaRPr>
            </a:p>
            <a:p>
              <a:pPr algn="just" eaLnBrk="0" hangingPunct="0"/>
              <a:r>
                <a:rPr lang="zh-CN" altLang="en-US" dirty="0">
                  <a:latin typeface="Times New Roman" panose="02020603050405020304" pitchFamily="18" charset="0"/>
                </a:rPr>
                <a:t>  进程3</a:t>
              </a:r>
            </a:p>
            <a:p>
              <a:pPr algn="just" eaLnBrk="0" hangingPunct="0"/>
              <a:endParaRPr lang="zh-CN" altLang="en-US" dirty="0">
                <a:latin typeface="Times New Roman" panose="02020603050405020304" pitchFamily="18" charset="0"/>
              </a:endParaRPr>
            </a:p>
            <a:p>
              <a:pPr algn="just" eaLnBrk="0" hangingPunct="0"/>
              <a:r>
                <a:rPr lang="zh-CN" altLang="en-US" dirty="0">
                  <a:latin typeface="Times New Roman" panose="02020603050405020304" pitchFamily="18" charset="0"/>
                </a:rPr>
                <a:t>  空闲（26</a:t>
              </a:r>
              <a:r>
                <a:rPr lang="en-US" altLang="zh-CN" dirty="0">
                  <a:latin typeface="Times New Roman" panose="02020603050405020304" pitchFamily="18" charset="0"/>
                </a:rPr>
                <a:t>KB）</a:t>
              </a:r>
              <a:endParaRPr lang="zh-CN" altLang="en-US" dirty="0">
                <a:latin typeface="Times New Roman" panose="02020603050405020304" pitchFamily="18" charset="0"/>
              </a:endParaRPr>
            </a:p>
          </p:txBody>
        </p:sp>
        <p:sp>
          <p:nvSpPr>
            <p:cNvPr id="79878" name="Line 7">
              <a:extLst>
                <a:ext uri="{FF2B5EF4-FFF2-40B4-BE49-F238E27FC236}">
                  <a16:creationId xmlns:a16="http://schemas.microsoft.com/office/drawing/2014/main" id="{A9CE9995-EC00-CEAB-6AA2-CB6AB3E7DFD5}"/>
                </a:ext>
              </a:extLst>
            </p:cNvPr>
            <p:cNvSpPr>
              <a:spLocks noChangeShapeType="1"/>
            </p:cNvSpPr>
            <p:nvPr/>
          </p:nvSpPr>
          <p:spPr bwMode="auto">
            <a:xfrm>
              <a:off x="970" y="1431"/>
              <a:ext cx="156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9" name="Text Box 22">
              <a:extLst>
                <a:ext uri="{FF2B5EF4-FFF2-40B4-BE49-F238E27FC236}">
                  <a16:creationId xmlns:a16="http://schemas.microsoft.com/office/drawing/2014/main" id="{629AF7F9-5891-98BF-CFEB-EAA989E98F7C}"/>
                </a:ext>
              </a:extLst>
            </p:cNvPr>
            <p:cNvSpPr txBox="1">
              <a:spLocks noChangeArrowheads="1"/>
            </p:cNvSpPr>
            <p:nvPr/>
          </p:nvSpPr>
          <p:spPr bwMode="auto">
            <a:xfrm>
              <a:off x="192" y="1056"/>
              <a:ext cx="672" cy="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18000" rIns="0" bIns="0"/>
            <a:lstStyle/>
            <a:p>
              <a:pPr algn="just" eaLnBrk="0" hangingPunct="0"/>
              <a:r>
                <a:rPr lang="zh-CN" altLang="en-US" sz="2200" dirty="0">
                  <a:latin typeface="Times New Roman" panose="02020603050405020304" pitchFamily="18" charset="0"/>
                </a:rPr>
                <a:t>         0</a:t>
              </a:r>
            </a:p>
            <a:p>
              <a:pPr algn="just" eaLnBrk="0" hangingPunct="0"/>
              <a:endParaRPr lang="zh-CN" altLang="en-US" sz="800" dirty="0">
                <a:latin typeface="Times New Roman" panose="02020603050405020304" pitchFamily="18" charset="0"/>
              </a:endParaRPr>
            </a:p>
            <a:p>
              <a:pPr algn="just" eaLnBrk="0" hangingPunct="0"/>
              <a:r>
                <a:rPr lang="zh-CN" altLang="en-US" sz="2200" dirty="0">
                  <a:latin typeface="Times New Roman" panose="02020603050405020304" pitchFamily="18" charset="0"/>
                </a:rPr>
                <a:t>     40</a:t>
              </a:r>
              <a:r>
                <a:rPr lang="en-US" altLang="zh-CN" sz="2200" dirty="0">
                  <a:latin typeface="Times New Roman" panose="02020603050405020304" pitchFamily="18" charset="0"/>
                </a:rPr>
                <a:t>KB</a:t>
              </a:r>
            </a:p>
            <a:p>
              <a:pPr algn="just" eaLnBrk="0" hangingPunct="0"/>
              <a:endParaRPr lang="en-US" altLang="zh-CN" sz="800" dirty="0">
                <a:latin typeface="Times New Roman" panose="02020603050405020304" pitchFamily="18" charset="0"/>
              </a:endParaRPr>
            </a:p>
            <a:p>
              <a:pPr algn="just" eaLnBrk="0" hangingPunct="0"/>
              <a:r>
                <a:rPr lang="en-US" altLang="zh-CN" sz="2200" dirty="0">
                  <a:latin typeface="Times New Roman" panose="02020603050405020304" pitchFamily="18" charset="0"/>
                </a:rPr>
                <a:t>     90KB</a:t>
              </a:r>
            </a:p>
            <a:p>
              <a:pPr algn="just" eaLnBrk="0" hangingPunct="0"/>
              <a:endParaRPr lang="en-US" altLang="zh-CN" sz="2200" dirty="0">
                <a:latin typeface="Times New Roman" panose="02020603050405020304" pitchFamily="18" charset="0"/>
              </a:endParaRPr>
            </a:p>
            <a:p>
              <a:pPr algn="just" eaLnBrk="0" hangingPunct="0"/>
              <a:r>
                <a:rPr lang="en-US" altLang="zh-CN" sz="2200" dirty="0">
                  <a:latin typeface="Times New Roman" panose="02020603050405020304" pitchFamily="18" charset="0"/>
                </a:rPr>
                <a:t>   100KB</a:t>
              </a:r>
            </a:p>
            <a:p>
              <a:pPr algn="just" eaLnBrk="0" hangingPunct="0"/>
              <a:endParaRPr lang="en-US" altLang="zh-CN" sz="1400" dirty="0">
                <a:latin typeface="Times New Roman" panose="02020603050405020304" pitchFamily="18" charset="0"/>
              </a:endParaRPr>
            </a:p>
            <a:p>
              <a:pPr algn="just" eaLnBrk="0" hangingPunct="0"/>
              <a:r>
                <a:rPr lang="en-US" altLang="zh-CN" sz="2200" dirty="0">
                  <a:latin typeface="Times New Roman" panose="02020603050405020304" pitchFamily="18" charset="0"/>
                </a:rPr>
                <a:t>   170KB</a:t>
              </a:r>
            </a:p>
            <a:p>
              <a:pPr algn="just" eaLnBrk="0" hangingPunct="0"/>
              <a:endParaRPr lang="en-US" altLang="zh-CN" sz="2200" dirty="0">
                <a:latin typeface="Times New Roman" panose="02020603050405020304" pitchFamily="18" charset="0"/>
              </a:endParaRPr>
            </a:p>
            <a:p>
              <a:pPr algn="just" eaLnBrk="0" hangingPunct="0"/>
              <a:r>
                <a:rPr lang="en-US" altLang="zh-CN" sz="2200" dirty="0">
                  <a:latin typeface="Times New Roman" panose="02020603050405020304" pitchFamily="18" charset="0"/>
                </a:rPr>
                <a:t>   200KB</a:t>
              </a:r>
            </a:p>
            <a:p>
              <a:pPr algn="just" eaLnBrk="0" hangingPunct="0"/>
              <a:r>
                <a:rPr lang="en-US" altLang="zh-CN" sz="2200" dirty="0">
                  <a:latin typeface="Times New Roman" panose="02020603050405020304" pitchFamily="18" charset="0"/>
                </a:rPr>
                <a:t> </a:t>
              </a:r>
            </a:p>
            <a:p>
              <a:pPr algn="just" eaLnBrk="0" hangingPunct="0"/>
              <a:r>
                <a:rPr lang="en-US" altLang="zh-CN" sz="2200" dirty="0">
                  <a:latin typeface="Times New Roman" panose="02020603050405020304" pitchFamily="18" charset="0"/>
                </a:rPr>
                <a:t>   230KB</a:t>
              </a:r>
            </a:p>
            <a:p>
              <a:pPr algn="just" eaLnBrk="0" hangingPunct="0"/>
              <a:endParaRPr lang="en-US" altLang="zh-CN" sz="2200" dirty="0">
                <a:latin typeface="Times New Roman" panose="02020603050405020304" pitchFamily="18" charset="0"/>
              </a:endParaRPr>
            </a:p>
            <a:p>
              <a:pPr algn="just" eaLnBrk="0" hangingPunct="0"/>
              <a:r>
                <a:rPr lang="en-US" altLang="zh-CN" sz="2200" dirty="0">
                  <a:latin typeface="Times New Roman" panose="02020603050405020304" pitchFamily="18" charset="0"/>
                </a:rPr>
                <a:t>256KB-1</a:t>
              </a:r>
            </a:p>
          </p:txBody>
        </p:sp>
        <p:sp>
          <p:nvSpPr>
            <p:cNvPr id="79880" name="Line 23">
              <a:extLst>
                <a:ext uri="{FF2B5EF4-FFF2-40B4-BE49-F238E27FC236}">
                  <a16:creationId xmlns:a16="http://schemas.microsoft.com/office/drawing/2014/main" id="{112CF927-6764-E0E4-1D7A-44D18EC68263}"/>
                </a:ext>
              </a:extLst>
            </p:cNvPr>
            <p:cNvSpPr>
              <a:spLocks noChangeShapeType="1"/>
            </p:cNvSpPr>
            <p:nvPr/>
          </p:nvSpPr>
          <p:spPr bwMode="auto">
            <a:xfrm>
              <a:off x="960" y="1776"/>
              <a:ext cx="156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81" name="Line 24">
              <a:extLst>
                <a:ext uri="{FF2B5EF4-FFF2-40B4-BE49-F238E27FC236}">
                  <a16:creationId xmlns:a16="http://schemas.microsoft.com/office/drawing/2014/main" id="{0B377FD2-5E18-8D4C-C2A0-1908D60263BE}"/>
                </a:ext>
              </a:extLst>
            </p:cNvPr>
            <p:cNvSpPr>
              <a:spLocks noChangeShapeType="1"/>
            </p:cNvSpPr>
            <p:nvPr/>
          </p:nvSpPr>
          <p:spPr bwMode="auto">
            <a:xfrm>
              <a:off x="960" y="2160"/>
              <a:ext cx="156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82" name="Line 25">
              <a:extLst>
                <a:ext uri="{FF2B5EF4-FFF2-40B4-BE49-F238E27FC236}">
                  <a16:creationId xmlns:a16="http://schemas.microsoft.com/office/drawing/2014/main" id="{51F36CCB-DD0C-C63F-6521-BE8D303BBD25}"/>
                </a:ext>
              </a:extLst>
            </p:cNvPr>
            <p:cNvSpPr>
              <a:spLocks noChangeShapeType="1"/>
            </p:cNvSpPr>
            <p:nvPr/>
          </p:nvSpPr>
          <p:spPr bwMode="auto">
            <a:xfrm>
              <a:off x="960" y="2544"/>
              <a:ext cx="156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83" name="Line 26">
              <a:extLst>
                <a:ext uri="{FF2B5EF4-FFF2-40B4-BE49-F238E27FC236}">
                  <a16:creationId xmlns:a16="http://schemas.microsoft.com/office/drawing/2014/main" id="{D9B45CE7-223B-5DB5-D643-8D620E5229DE}"/>
                </a:ext>
              </a:extLst>
            </p:cNvPr>
            <p:cNvSpPr>
              <a:spLocks noChangeShapeType="1"/>
            </p:cNvSpPr>
            <p:nvPr/>
          </p:nvSpPr>
          <p:spPr bwMode="auto">
            <a:xfrm>
              <a:off x="960" y="2928"/>
              <a:ext cx="156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84" name="Line 27">
              <a:extLst>
                <a:ext uri="{FF2B5EF4-FFF2-40B4-BE49-F238E27FC236}">
                  <a16:creationId xmlns:a16="http://schemas.microsoft.com/office/drawing/2014/main" id="{2F15A038-2848-B4F9-A423-7C187DD8D701}"/>
                </a:ext>
              </a:extLst>
            </p:cNvPr>
            <p:cNvSpPr>
              <a:spLocks noChangeShapeType="1"/>
            </p:cNvSpPr>
            <p:nvPr/>
          </p:nvSpPr>
          <p:spPr bwMode="auto">
            <a:xfrm>
              <a:off x="960" y="3360"/>
              <a:ext cx="156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31">
            <a:extLst>
              <a:ext uri="{FF2B5EF4-FFF2-40B4-BE49-F238E27FC236}">
                <a16:creationId xmlns:a16="http://schemas.microsoft.com/office/drawing/2014/main" id="{81408D12-802B-9150-088A-5F577B7EC81F}"/>
              </a:ext>
            </a:extLst>
          </p:cNvPr>
          <p:cNvGrpSpPr>
            <a:grpSpLocks/>
          </p:cNvGrpSpPr>
          <p:nvPr/>
        </p:nvGrpSpPr>
        <p:grpSpPr bwMode="auto">
          <a:xfrm>
            <a:off x="5421313" y="1125538"/>
            <a:ext cx="3505200" cy="4572000"/>
            <a:chOff x="3360" y="1056"/>
            <a:chExt cx="2208" cy="2880"/>
          </a:xfrm>
        </p:grpSpPr>
        <p:sp>
          <p:nvSpPr>
            <p:cNvPr id="79886" name="Rectangle 6">
              <a:extLst>
                <a:ext uri="{FF2B5EF4-FFF2-40B4-BE49-F238E27FC236}">
                  <a16:creationId xmlns:a16="http://schemas.microsoft.com/office/drawing/2014/main" id="{0830F582-FD22-7AE8-0CB0-2E5F926AAE83}"/>
                </a:ext>
              </a:extLst>
            </p:cNvPr>
            <p:cNvSpPr>
              <a:spLocks noChangeArrowheads="1"/>
            </p:cNvSpPr>
            <p:nvPr/>
          </p:nvSpPr>
          <p:spPr bwMode="auto">
            <a:xfrm>
              <a:off x="4080" y="1104"/>
              <a:ext cx="1488" cy="2736"/>
            </a:xfrm>
            <a:prstGeom prst="rect">
              <a:avLst/>
            </a:prstGeom>
            <a:solidFill>
              <a:srgbClr val="FFFFFF"/>
            </a:solidFill>
            <a:ln w="28575">
              <a:solidFill>
                <a:srgbClr val="000000"/>
              </a:solidFill>
              <a:miter lim="800000"/>
              <a:headEnd/>
              <a:tailEnd/>
            </a:ln>
          </p:spPr>
          <p:txBody>
            <a:bodyPr tIns="72000" bIns="0"/>
            <a:lstStyle/>
            <a:p>
              <a:pPr algn="just" eaLnBrk="0" hangingPunct="0"/>
              <a:r>
                <a:rPr lang="zh-CN" altLang="en-US" dirty="0">
                  <a:latin typeface="Times New Roman" panose="02020603050405020304" pitchFamily="18" charset="0"/>
                </a:rPr>
                <a:t>       操作系统</a:t>
              </a:r>
            </a:p>
            <a:p>
              <a:pPr algn="just" eaLnBrk="0" hangingPunct="0"/>
              <a:endParaRPr lang="zh-CN" altLang="en-US" sz="1000" dirty="0">
                <a:latin typeface="Times New Roman" panose="02020603050405020304" pitchFamily="18" charset="0"/>
              </a:endParaRPr>
            </a:p>
            <a:p>
              <a:pPr algn="just" eaLnBrk="0" hangingPunct="0"/>
              <a:r>
                <a:rPr lang="zh-CN" altLang="en-US" dirty="0">
                  <a:latin typeface="Times New Roman" panose="02020603050405020304" pitchFamily="18" charset="0"/>
                </a:rPr>
                <a:t>         </a:t>
              </a:r>
              <a:endParaRPr lang="en-US" altLang="zh-CN" dirty="0">
                <a:latin typeface="Times New Roman" panose="02020603050405020304" pitchFamily="18" charset="0"/>
              </a:endParaRPr>
            </a:p>
            <a:p>
              <a:pPr algn="just" eaLnBrk="0" hangingPunct="0"/>
              <a:r>
                <a:rPr lang="zh-CN" altLang="en-US" dirty="0">
                  <a:latin typeface="Times New Roman" panose="02020603050405020304" pitchFamily="18" charset="0"/>
                </a:rPr>
                <a:t>         进程5</a:t>
              </a:r>
              <a:endParaRPr lang="en-US" altLang="zh-CN" dirty="0">
                <a:latin typeface="Times New Roman" panose="02020603050405020304" pitchFamily="18" charset="0"/>
              </a:endParaRPr>
            </a:p>
            <a:p>
              <a:pPr algn="just" eaLnBrk="0" hangingPunct="0"/>
              <a:endParaRPr lang="en-US" altLang="zh-CN" sz="1600" dirty="0">
                <a:latin typeface="Times New Roman" panose="02020603050405020304" pitchFamily="18" charset="0"/>
              </a:endParaRPr>
            </a:p>
            <a:p>
              <a:pPr algn="just" eaLnBrk="0" hangingPunct="0"/>
              <a:r>
                <a:rPr lang="en-US" altLang="zh-CN" dirty="0">
                  <a:latin typeface="Times New Roman" panose="02020603050405020304" pitchFamily="18" charset="0"/>
                </a:rPr>
                <a:t>         </a:t>
              </a:r>
              <a:r>
                <a:rPr lang="zh-CN" altLang="en-US" dirty="0">
                  <a:latin typeface="Times New Roman" panose="02020603050405020304" pitchFamily="18" charset="0"/>
                </a:rPr>
                <a:t>进程4</a:t>
              </a:r>
              <a:endParaRPr lang="en-US" altLang="zh-CN" dirty="0">
                <a:latin typeface="Times New Roman" panose="02020603050405020304" pitchFamily="18" charset="0"/>
              </a:endParaRPr>
            </a:p>
            <a:p>
              <a:pPr algn="just" eaLnBrk="0" hangingPunct="0"/>
              <a:endParaRPr lang="en-US" altLang="zh-CN" sz="1800" dirty="0">
                <a:latin typeface="Times New Roman" panose="02020603050405020304" pitchFamily="18" charset="0"/>
              </a:endParaRPr>
            </a:p>
            <a:p>
              <a:pPr algn="just" eaLnBrk="0" hangingPunct="0"/>
              <a:r>
                <a:rPr lang="en-US" altLang="zh-CN" dirty="0">
                  <a:latin typeface="Times New Roman" panose="02020603050405020304" pitchFamily="18" charset="0"/>
                </a:rPr>
                <a:t>         </a:t>
              </a:r>
              <a:r>
                <a:rPr lang="zh-CN" altLang="en-US" dirty="0">
                  <a:latin typeface="Times New Roman" panose="02020603050405020304" pitchFamily="18" charset="0"/>
                </a:rPr>
                <a:t>进程3</a:t>
              </a:r>
              <a:endParaRPr lang="en-US" altLang="zh-CN" dirty="0">
                <a:latin typeface="Times New Roman" panose="02020603050405020304" pitchFamily="18" charset="0"/>
              </a:endParaRPr>
            </a:p>
            <a:p>
              <a:pPr algn="just" eaLnBrk="0" hangingPunct="0"/>
              <a:endParaRPr lang="en-US" altLang="zh-CN" sz="1200" dirty="0">
                <a:latin typeface="Times New Roman" panose="02020603050405020304" pitchFamily="18" charset="0"/>
              </a:endParaRPr>
            </a:p>
            <a:p>
              <a:pPr algn="just" eaLnBrk="0" hangingPunct="0"/>
              <a:r>
                <a:rPr lang="en-US" altLang="zh-CN" dirty="0">
                  <a:latin typeface="Times New Roman" panose="02020603050405020304" pitchFamily="18" charset="0"/>
                </a:rPr>
                <a:t>         </a:t>
              </a:r>
            </a:p>
            <a:p>
              <a:pPr algn="just" eaLnBrk="0" hangingPunct="0"/>
              <a:endParaRPr lang="zh-CN" altLang="en-US" dirty="0">
                <a:latin typeface="Times New Roman" panose="02020603050405020304" pitchFamily="18" charset="0"/>
              </a:endParaRPr>
            </a:p>
            <a:p>
              <a:pPr algn="just" eaLnBrk="0" hangingPunct="0"/>
              <a:r>
                <a:rPr lang="zh-CN" altLang="en-US" dirty="0">
                  <a:latin typeface="Times New Roman" panose="02020603050405020304" pitchFamily="18" charset="0"/>
                </a:rPr>
                <a:t>  空闲（66</a:t>
              </a:r>
              <a:r>
                <a:rPr lang="en-US" altLang="zh-CN" dirty="0">
                  <a:latin typeface="Times New Roman" panose="02020603050405020304" pitchFamily="18" charset="0"/>
                </a:rPr>
                <a:t>KB）</a:t>
              </a:r>
            </a:p>
          </p:txBody>
        </p:sp>
        <p:sp>
          <p:nvSpPr>
            <p:cNvPr id="79887" name="Line 15">
              <a:extLst>
                <a:ext uri="{FF2B5EF4-FFF2-40B4-BE49-F238E27FC236}">
                  <a16:creationId xmlns:a16="http://schemas.microsoft.com/office/drawing/2014/main" id="{6AE762DB-C621-E63B-2574-883CDFEABF7C}"/>
                </a:ext>
              </a:extLst>
            </p:cNvPr>
            <p:cNvSpPr>
              <a:spLocks noChangeShapeType="1"/>
            </p:cNvSpPr>
            <p:nvPr/>
          </p:nvSpPr>
          <p:spPr bwMode="auto">
            <a:xfrm>
              <a:off x="4080" y="1431"/>
              <a:ext cx="14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88" name="Line 16">
              <a:extLst>
                <a:ext uri="{FF2B5EF4-FFF2-40B4-BE49-F238E27FC236}">
                  <a16:creationId xmlns:a16="http://schemas.microsoft.com/office/drawing/2014/main" id="{35B782AE-6281-DDC8-BCB2-955B5F370B60}"/>
                </a:ext>
              </a:extLst>
            </p:cNvPr>
            <p:cNvSpPr>
              <a:spLocks noChangeShapeType="1"/>
            </p:cNvSpPr>
            <p:nvPr/>
          </p:nvSpPr>
          <p:spPr bwMode="auto">
            <a:xfrm>
              <a:off x="4080" y="2207"/>
              <a:ext cx="14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89" name="Line 17">
              <a:extLst>
                <a:ext uri="{FF2B5EF4-FFF2-40B4-BE49-F238E27FC236}">
                  <a16:creationId xmlns:a16="http://schemas.microsoft.com/office/drawing/2014/main" id="{A7219886-0B9B-F8C6-F5ED-21675AE64CEF}"/>
                </a:ext>
              </a:extLst>
            </p:cNvPr>
            <p:cNvSpPr>
              <a:spLocks noChangeShapeType="1"/>
            </p:cNvSpPr>
            <p:nvPr/>
          </p:nvSpPr>
          <p:spPr bwMode="auto">
            <a:xfrm>
              <a:off x="4080" y="1780"/>
              <a:ext cx="14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90" name="Line 18">
              <a:extLst>
                <a:ext uri="{FF2B5EF4-FFF2-40B4-BE49-F238E27FC236}">
                  <a16:creationId xmlns:a16="http://schemas.microsoft.com/office/drawing/2014/main" id="{D2B2EA0A-E709-993E-61DB-AF19FCE2B700}"/>
                </a:ext>
              </a:extLst>
            </p:cNvPr>
            <p:cNvSpPr>
              <a:spLocks noChangeShapeType="1"/>
            </p:cNvSpPr>
            <p:nvPr/>
          </p:nvSpPr>
          <p:spPr bwMode="auto">
            <a:xfrm>
              <a:off x="4080" y="2543"/>
              <a:ext cx="14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91" name="Text Box 29">
              <a:extLst>
                <a:ext uri="{FF2B5EF4-FFF2-40B4-BE49-F238E27FC236}">
                  <a16:creationId xmlns:a16="http://schemas.microsoft.com/office/drawing/2014/main" id="{E2F8A86F-456D-9C92-5AD9-54B5837746F2}"/>
                </a:ext>
              </a:extLst>
            </p:cNvPr>
            <p:cNvSpPr txBox="1">
              <a:spLocks noChangeArrowheads="1"/>
            </p:cNvSpPr>
            <p:nvPr/>
          </p:nvSpPr>
          <p:spPr bwMode="auto">
            <a:xfrm>
              <a:off x="3360" y="1056"/>
              <a:ext cx="672" cy="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18000" rIns="0" bIns="0"/>
            <a:lstStyle/>
            <a:p>
              <a:pPr algn="just" eaLnBrk="0" hangingPunct="0"/>
              <a:r>
                <a:rPr lang="zh-CN" altLang="en-US" sz="2200">
                  <a:latin typeface="Times New Roman" panose="02020603050405020304" pitchFamily="18" charset="0"/>
                </a:rPr>
                <a:t>         0</a:t>
              </a:r>
            </a:p>
            <a:p>
              <a:pPr algn="just" eaLnBrk="0" hangingPunct="0"/>
              <a:endParaRPr lang="zh-CN" altLang="en-US" sz="800">
                <a:latin typeface="Times New Roman" panose="02020603050405020304" pitchFamily="18" charset="0"/>
              </a:endParaRPr>
            </a:p>
            <a:p>
              <a:pPr algn="just" eaLnBrk="0" hangingPunct="0"/>
              <a:r>
                <a:rPr lang="zh-CN" altLang="en-US" sz="2200">
                  <a:latin typeface="Times New Roman" panose="02020603050405020304" pitchFamily="18" charset="0"/>
                </a:rPr>
                <a:t>     40</a:t>
              </a:r>
              <a:r>
                <a:rPr lang="en-US" altLang="zh-CN" sz="2200">
                  <a:latin typeface="Times New Roman" panose="02020603050405020304" pitchFamily="18" charset="0"/>
                </a:rPr>
                <a:t>KB</a:t>
              </a:r>
            </a:p>
            <a:p>
              <a:pPr algn="just" eaLnBrk="0" hangingPunct="0"/>
              <a:endParaRPr lang="en-US" altLang="zh-CN" sz="800">
                <a:latin typeface="Times New Roman" panose="02020603050405020304" pitchFamily="18" charset="0"/>
              </a:endParaRPr>
            </a:p>
            <a:p>
              <a:pPr algn="just" eaLnBrk="0" hangingPunct="0"/>
              <a:r>
                <a:rPr lang="en-US" altLang="zh-CN" sz="2200">
                  <a:latin typeface="Times New Roman" panose="02020603050405020304" pitchFamily="18" charset="0"/>
                </a:rPr>
                <a:t>     90KB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   160KB</a:t>
              </a:r>
            </a:p>
            <a:p>
              <a:pPr algn="just" eaLnBrk="0" hangingPunct="0"/>
              <a:endParaRPr lang="en-US" altLang="zh-CN" sz="1400">
                <a:latin typeface="Times New Roman" panose="02020603050405020304" pitchFamily="18" charset="0"/>
              </a:endParaRPr>
            </a:p>
            <a:p>
              <a:pPr algn="just" eaLnBrk="0" hangingPunct="0"/>
              <a:r>
                <a:rPr lang="en-US" altLang="zh-CN" sz="2200">
                  <a:latin typeface="Times New Roman" panose="02020603050405020304" pitchFamily="18" charset="0"/>
                </a:rPr>
                <a:t>   190KB</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   </a:t>
              </a:r>
            </a:p>
            <a:p>
              <a:pPr algn="just" eaLnBrk="0" hangingPunct="0"/>
              <a:r>
                <a:rPr lang="en-US" altLang="zh-CN" sz="2200">
                  <a:latin typeface="Times New Roman" panose="02020603050405020304" pitchFamily="18" charset="0"/>
                </a:rPr>
                <a:t> </a:t>
              </a:r>
            </a:p>
            <a:p>
              <a:pPr algn="just" eaLnBrk="0" hangingPunct="0"/>
              <a:r>
                <a:rPr lang="en-US" altLang="zh-CN" sz="2200">
                  <a:latin typeface="Times New Roman" panose="02020603050405020304" pitchFamily="18" charset="0"/>
                </a:rPr>
                <a:t>   </a:t>
              </a:r>
            </a:p>
            <a:p>
              <a:pPr algn="just" eaLnBrk="0" hangingPunct="0"/>
              <a:endParaRPr lang="en-US" altLang="zh-CN" sz="2200">
                <a:latin typeface="Times New Roman" panose="02020603050405020304" pitchFamily="18" charset="0"/>
              </a:endParaRPr>
            </a:p>
            <a:p>
              <a:pPr algn="just" eaLnBrk="0" hangingPunct="0"/>
              <a:r>
                <a:rPr lang="en-US" altLang="zh-CN" sz="2200">
                  <a:latin typeface="Times New Roman" panose="02020603050405020304" pitchFamily="18" charset="0"/>
                </a:rPr>
                <a:t>256KB-1</a:t>
              </a: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24948"/>
                                        </p:tgtEl>
                                        <p:attrNameLst>
                                          <p:attrName>style.visibility</p:attrName>
                                        </p:attrNameLst>
                                      </p:cBhvr>
                                      <p:to>
                                        <p:strVal val="visible"/>
                                      </p:to>
                                    </p:set>
                                    <p:animEffect transition="in" filter="checkerboard(across)">
                                      <p:cBhvr>
                                        <p:cTn id="12" dur="500"/>
                                        <p:tgtEl>
                                          <p:spTgt spid="1249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heckerboard(across)">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48"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C1EF75EA-CAE3-B536-BA80-868494362446}"/>
              </a:ext>
            </a:extLst>
          </p:cNvPr>
          <p:cNvSpPr>
            <a:spLocks noGrp="1" noChangeArrowheads="1"/>
          </p:cNvSpPr>
          <p:nvPr>
            <p:ph type="title"/>
          </p:nvPr>
        </p:nvSpPr>
        <p:spPr>
          <a:xfrm>
            <a:off x="1042988" y="225431"/>
            <a:ext cx="7850187" cy="746125"/>
          </a:xfrm>
        </p:spPr>
        <p:txBody>
          <a:bodyPr/>
          <a:lstStyle/>
          <a:p>
            <a:r>
              <a:rPr lang="zh-CN" altLang="en-US"/>
              <a:t>拼接需要的技术支持</a:t>
            </a:r>
          </a:p>
        </p:txBody>
      </p:sp>
      <p:sp>
        <p:nvSpPr>
          <p:cNvPr id="125955" name="Rectangle 3">
            <a:extLst>
              <a:ext uri="{FF2B5EF4-FFF2-40B4-BE49-F238E27FC236}">
                <a16:creationId xmlns:a16="http://schemas.microsoft.com/office/drawing/2014/main" id="{0CB2FD97-8562-9156-FA02-CDEE4EE096E9}"/>
              </a:ext>
            </a:extLst>
          </p:cNvPr>
          <p:cNvSpPr>
            <a:spLocks noGrp="1" noChangeArrowheads="1"/>
          </p:cNvSpPr>
          <p:nvPr>
            <p:ph idx="1"/>
          </p:nvPr>
        </p:nvSpPr>
        <p:spPr>
          <a:xfrm>
            <a:off x="935038" y="1233488"/>
            <a:ext cx="7772400" cy="4895850"/>
          </a:xfrm>
        </p:spPr>
        <p:txBody>
          <a:bodyPr>
            <a:normAutofit fontScale="92500"/>
          </a:bodyPr>
          <a:lstStyle/>
          <a:p>
            <a:r>
              <a:rPr lang="zh-CN" altLang="en-US"/>
              <a:t>拼接后程序在内存的位置发生变化，因此需要动态重定位技术支持。</a:t>
            </a:r>
          </a:p>
          <a:p>
            <a:r>
              <a:rPr lang="zh-CN" altLang="en-US"/>
              <a:t>空闲区放在何处：拼接后的空闲区放在何处不能一概而论，应根据移动信息量的多少来决定。</a:t>
            </a:r>
          </a:p>
          <a:p>
            <a:r>
              <a:rPr lang="zh-CN" altLang="en-US"/>
              <a:t>拼接的时机：</a:t>
            </a:r>
          </a:p>
          <a:p>
            <a:pPr lvl="1"/>
            <a:r>
              <a:rPr lang="zh-CN" altLang="en-US"/>
              <a:t>回收分区时拼接：只有一个空闲区，但拼接频率过高增加系统开销。</a:t>
            </a:r>
          </a:p>
          <a:p>
            <a:pPr lvl="1"/>
            <a:r>
              <a:rPr lang="zh-CN" altLang="en-US"/>
              <a:t>找不到足够大的空闲区且系统空闲空间总量能满足要求：拼接频率小于前者，空闲区管理稍复杂。也可以只拼接部分空闲区。</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Effect transition="in" filter="checkerboard(across)">
                                      <p:cBhvr>
                                        <p:cTn id="7" dur="500"/>
                                        <p:tgtEl>
                                          <p:spTgt spid="1259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5955">
                                            <p:txEl>
                                              <p:pRg st="1" end="1"/>
                                            </p:txEl>
                                          </p:spTgt>
                                        </p:tgtEl>
                                        <p:attrNameLst>
                                          <p:attrName>style.visibility</p:attrName>
                                        </p:attrNameLst>
                                      </p:cBhvr>
                                      <p:to>
                                        <p:strVal val="visible"/>
                                      </p:to>
                                    </p:set>
                                    <p:animEffect transition="in" filter="checkerboard(across)">
                                      <p:cBhvr>
                                        <p:cTn id="12" dur="500"/>
                                        <p:tgtEl>
                                          <p:spTgt spid="1259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25955">
                                            <p:txEl>
                                              <p:pRg st="2" end="2"/>
                                            </p:txEl>
                                          </p:spTgt>
                                        </p:tgtEl>
                                        <p:attrNameLst>
                                          <p:attrName>style.visibility</p:attrName>
                                        </p:attrNameLst>
                                      </p:cBhvr>
                                      <p:to>
                                        <p:strVal val="visible"/>
                                      </p:to>
                                    </p:set>
                                    <p:animEffect transition="in" filter="checkerboard(across)">
                                      <p:cBhvr>
                                        <p:cTn id="17" dur="500"/>
                                        <p:tgtEl>
                                          <p:spTgt spid="1259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25955">
                                            <p:txEl>
                                              <p:pRg st="3" end="3"/>
                                            </p:txEl>
                                          </p:spTgt>
                                        </p:tgtEl>
                                        <p:attrNameLst>
                                          <p:attrName>style.visibility</p:attrName>
                                        </p:attrNameLst>
                                      </p:cBhvr>
                                      <p:to>
                                        <p:strVal val="visible"/>
                                      </p:to>
                                    </p:set>
                                    <p:animEffect transition="in" filter="checkerboard(across)">
                                      <p:cBhvr>
                                        <p:cTn id="22" dur="500"/>
                                        <p:tgtEl>
                                          <p:spTgt spid="1259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25955">
                                            <p:txEl>
                                              <p:pRg st="4" end="4"/>
                                            </p:txEl>
                                          </p:spTgt>
                                        </p:tgtEl>
                                        <p:attrNameLst>
                                          <p:attrName>style.visibility</p:attrName>
                                        </p:attrNameLst>
                                      </p:cBhvr>
                                      <p:to>
                                        <p:strVal val="visible"/>
                                      </p:to>
                                    </p:set>
                                    <p:animEffect transition="in" filter="checkerboard(across)">
                                      <p:cBhvr>
                                        <p:cTn id="27" dur="500"/>
                                        <p:tgtEl>
                                          <p:spTgt spid="1259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E68E82D4-8B57-BC35-7B32-9CBD5E60D589}"/>
              </a:ext>
            </a:extLst>
          </p:cNvPr>
          <p:cNvSpPr>
            <a:spLocks noGrp="1" noChangeArrowheads="1"/>
          </p:cNvSpPr>
          <p:nvPr>
            <p:ph type="title"/>
          </p:nvPr>
        </p:nvSpPr>
        <p:spPr>
          <a:xfrm>
            <a:off x="1042988" y="225431"/>
            <a:ext cx="7850187" cy="746125"/>
          </a:xfrm>
        </p:spPr>
        <p:txBody>
          <a:bodyPr/>
          <a:lstStyle/>
          <a:p>
            <a:r>
              <a:rPr lang="zh-CN" altLang="en-US"/>
              <a:t>可重定位分区分配技术</a:t>
            </a:r>
          </a:p>
        </p:txBody>
      </p:sp>
      <p:sp>
        <p:nvSpPr>
          <p:cNvPr id="81922" name="Rectangle 3">
            <a:extLst>
              <a:ext uri="{FF2B5EF4-FFF2-40B4-BE49-F238E27FC236}">
                <a16:creationId xmlns:a16="http://schemas.microsoft.com/office/drawing/2014/main" id="{EF8DB45B-E366-75F9-2E4C-B961F353808B}"/>
              </a:ext>
            </a:extLst>
          </p:cNvPr>
          <p:cNvSpPr>
            <a:spLocks noGrp="1" noChangeArrowheads="1"/>
          </p:cNvSpPr>
          <p:nvPr>
            <p:ph idx="1"/>
          </p:nvPr>
        </p:nvSpPr>
        <p:spPr>
          <a:xfrm>
            <a:off x="935038" y="1233487"/>
            <a:ext cx="7772400" cy="1255713"/>
          </a:xfrm>
        </p:spPr>
        <p:txBody>
          <a:bodyPr>
            <a:normAutofit fontScale="85000" lnSpcReduction="20000"/>
          </a:bodyPr>
          <a:lstStyle/>
          <a:p>
            <a:r>
              <a:rPr lang="zh-CN" altLang="en-US" dirty="0"/>
              <a:t>可重定位分区分配算法与动态分区分配算法基本相同，差别仅在于：在这种分配算法中增加了拼接功能。</a:t>
            </a:r>
          </a:p>
        </p:txBody>
      </p:sp>
      <p:sp>
        <p:nvSpPr>
          <p:cNvPr id="81923" name="Rectangle 4">
            <a:extLst>
              <a:ext uri="{FF2B5EF4-FFF2-40B4-BE49-F238E27FC236}">
                <a16:creationId xmlns:a16="http://schemas.microsoft.com/office/drawing/2014/main" id="{831699D8-A216-381A-12A5-6CEF31877E8B}"/>
              </a:ext>
            </a:extLst>
          </p:cNvPr>
          <p:cNvSpPr>
            <a:spLocks noChangeArrowheads="1"/>
          </p:cNvSpPr>
          <p:nvPr/>
        </p:nvSpPr>
        <p:spPr bwMode="auto">
          <a:xfrm>
            <a:off x="1905000" y="2349500"/>
            <a:ext cx="1600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请求分配大小为</a:t>
            </a:r>
            <a:r>
              <a:rPr lang="en-US" altLang="zh-CN" sz="2000">
                <a:latin typeface="Times New Roman" panose="02020603050405020304" pitchFamily="18" charset="0"/>
              </a:rPr>
              <a:t>x</a:t>
            </a:r>
            <a:r>
              <a:rPr lang="zh-CN" altLang="en-US" sz="2000">
                <a:latin typeface="Times New Roman" panose="02020603050405020304" pitchFamily="18" charset="0"/>
              </a:rPr>
              <a:t>的空闲区</a:t>
            </a:r>
          </a:p>
        </p:txBody>
      </p:sp>
      <p:sp>
        <p:nvSpPr>
          <p:cNvPr id="81924" name="Rectangle 5">
            <a:extLst>
              <a:ext uri="{FF2B5EF4-FFF2-40B4-BE49-F238E27FC236}">
                <a16:creationId xmlns:a16="http://schemas.microsoft.com/office/drawing/2014/main" id="{B6474A91-AAF4-CC4D-C296-B3B15094862F}"/>
              </a:ext>
            </a:extLst>
          </p:cNvPr>
          <p:cNvSpPr>
            <a:spLocks noChangeArrowheads="1"/>
          </p:cNvSpPr>
          <p:nvPr/>
        </p:nvSpPr>
        <p:spPr bwMode="auto">
          <a:xfrm>
            <a:off x="1600200" y="3413125"/>
            <a:ext cx="2590800"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有大于</a:t>
            </a:r>
            <a:r>
              <a:rPr lang="en-US" altLang="zh-CN" sz="2000">
                <a:latin typeface="Times New Roman" panose="02020603050405020304" pitchFamily="18" charset="0"/>
              </a:rPr>
              <a:t>x</a:t>
            </a:r>
            <a:r>
              <a:rPr lang="zh-CN" altLang="en-US" sz="2000">
                <a:latin typeface="Times New Roman" panose="02020603050405020304" pitchFamily="18" charset="0"/>
              </a:rPr>
              <a:t>的空闲分区？</a:t>
            </a:r>
          </a:p>
        </p:txBody>
      </p:sp>
      <p:sp>
        <p:nvSpPr>
          <p:cNvPr id="81925" name="Line 6">
            <a:extLst>
              <a:ext uri="{FF2B5EF4-FFF2-40B4-BE49-F238E27FC236}">
                <a16:creationId xmlns:a16="http://schemas.microsoft.com/office/drawing/2014/main" id="{EC1C6C49-4164-E0CD-F07D-B698D0C518BA}"/>
              </a:ext>
            </a:extLst>
          </p:cNvPr>
          <p:cNvSpPr>
            <a:spLocks noChangeShapeType="1"/>
          </p:cNvSpPr>
          <p:nvPr/>
        </p:nvSpPr>
        <p:spPr bwMode="auto">
          <a:xfrm>
            <a:off x="2676525" y="2978150"/>
            <a:ext cx="0" cy="36195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1926" name="Line 7">
            <a:extLst>
              <a:ext uri="{FF2B5EF4-FFF2-40B4-BE49-F238E27FC236}">
                <a16:creationId xmlns:a16="http://schemas.microsoft.com/office/drawing/2014/main" id="{F9FFB572-D764-02B6-046B-5E0D6D5371A3}"/>
              </a:ext>
            </a:extLst>
          </p:cNvPr>
          <p:cNvSpPr>
            <a:spLocks noChangeShapeType="1"/>
          </p:cNvSpPr>
          <p:nvPr/>
        </p:nvSpPr>
        <p:spPr bwMode="auto">
          <a:xfrm>
            <a:off x="4213225" y="3578225"/>
            <a:ext cx="620713" cy="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1927" name="Rectangle 8">
            <a:extLst>
              <a:ext uri="{FF2B5EF4-FFF2-40B4-BE49-F238E27FC236}">
                <a16:creationId xmlns:a16="http://schemas.microsoft.com/office/drawing/2014/main" id="{AE7D0838-7F72-E815-2B7A-2EE81D539E89}"/>
              </a:ext>
            </a:extLst>
          </p:cNvPr>
          <p:cNvSpPr>
            <a:spLocks noChangeArrowheads="1"/>
          </p:cNvSpPr>
          <p:nvPr/>
        </p:nvSpPr>
        <p:spPr bwMode="auto">
          <a:xfrm>
            <a:off x="4953000" y="3419475"/>
            <a:ext cx="205740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空闲分区总和≥</a:t>
            </a:r>
            <a:r>
              <a:rPr lang="en-US" altLang="zh-CN" sz="2000">
                <a:latin typeface="Times New Roman" panose="02020603050405020304" pitchFamily="18" charset="0"/>
              </a:rPr>
              <a:t>x</a:t>
            </a:r>
          </a:p>
        </p:txBody>
      </p:sp>
      <p:sp>
        <p:nvSpPr>
          <p:cNvPr id="81928" name="Rectangle 9">
            <a:extLst>
              <a:ext uri="{FF2B5EF4-FFF2-40B4-BE49-F238E27FC236}">
                <a16:creationId xmlns:a16="http://schemas.microsoft.com/office/drawing/2014/main" id="{4E810E59-F866-4A53-8BA4-B54123866B71}"/>
              </a:ext>
            </a:extLst>
          </p:cNvPr>
          <p:cNvSpPr>
            <a:spLocks noChangeArrowheads="1"/>
          </p:cNvSpPr>
          <p:nvPr/>
        </p:nvSpPr>
        <p:spPr bwMode="auto">
          <a:xfrm>
            <a:off x="4321175" y="3175000"/>
            <a:ext cx="34131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N</a:t>
            </a:r>
          </a:p>
        </p:txBody>
      </p:sp>
      <p:sp>
        <p:nvSpPr>
          <p:cNvPr id="81929" name="Rectangle 10">
            <a:extLst>
              <a:ext uri="{FF2B5EF4-FFF2-40B4-BE49-F238E27FC236}">
                <a16:creationId xmlns:a16="http://schemas.microsoft.com/office/drawing/2014/main" id="{2C219041-B09D-6576-520A-F3A3B804BED6}"/>
              </a:ext>
            </a:extLst>
          </p:cNvPr>
          <p:cNvSpPr>
            <a:spLocks noChangeArrowheads="1"/>
          </p:cNvSpPr>
          <p:nvPr/>
        </p:nvSpPr>
        <p:spPr bwMode="auto">
          <a:xfrm>
            <a:off x="1914525" y="3727450"/>
            <a:ext cx="3429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Y</a:t>
            </a:r>
          </a:p>
        </p:txBody>
      </p:sp>
      <p:sp>
        <p:nvSpPr>
          <p:cNvPr id="81930" name="Line 11">
            <a:extLst>
              <a:ext uri="{FF2B5EF4-FFF2-40B4-BE49-F238E27FC236}">
                <a16:creationId xmlns:a16="http://schemas.microsoft.com/office/drawing/2014/main" id="{9923DFF8-2BF7-7EA0-1421-FA7E05632961}"/>
              </a:ext>
            </a:extLst>
          </p:cNvPr>
          <p:cNvSpPr>
            <a:spLocks noChangeShapeType="1"/>
          </p:cNvSpPr>
          <p:nvPr/>
        </p:nvSpPr>
        <p:spPr bwMode="auto">
          <a:xfrm>
            <a:off x="2644775" y="3744913"/>
            <a:ext cx="0" cy="43021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1931" name="Rectangle 12">
            <a:extLst>
              <a:ext uri="{FF2B5EF4-FFF2-40B4-BE49-F238E27FC236}">
                <a16:creationId xmlns:a16="http://schemas.microsoft.com/office/drawing/2014/main" id="{16BE5418-71F7-B31B-EE05-9823BA51411C}"/>
              </a:ext>
            </a:extLst>
          </p:cNvPr>
          <p:cNvSpPr>
            <a:spLocks noChangeArrowheads="1"/>
          </p:cNvSpPr>
          <p:nvPr/>
        </p:nvSpPr>
        <p:spPr bwMode="auto">
          <a:xfrm>
            <a:off x="1257300" y="4130675"/>
            <a:ext cx="30099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按动态分区方式进行分配</a:t>
            </a:r>
          </a:p>
        </p:txBody>
      </p:sp>
      <p:sp>
        <p:nvSpPr>
          <p:cNvPr id="81932" name="Rectangle 13">
            <a:extLst>
              <a:ext uri="{FF2B5EF4-FFF2-40B4-BE49-F238E27FC236}">
                <a16:creationId xmlns:a16="http://schemas.microsoft.com/office/drawing/2014/main" id="{8B9F1C3D-8786-3EB4-22D2-69BB0F95ADA7}"/>
              </a:ext>
            </a:extLst>
          </p:cNvPr>
          <p:cNvSpPr>
            <a:spLocks noChangeArrowheads="1"/>
          </p:cNvSpPr>
          <p:nvPr/>
        </p:nvSpPr>
        <p:spPr bwMode="auto">
          <a:xfrm>
            <a:off x="6013450" y="3794125"/>
            <a:ext cx="34131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Y</a:t>
            </a:r>
          </a:p>
        </p:txBody>
      </p:sp>
      <p:sp>
        <p:nvSpPr>
          <p:cNvPr id="81933" name="Line 14">
            <a:extLst>
              <a:ext uri="{FF2B5EF4-FFF2-40B4-BE49-F238E27FC236}">
                <a16:creationId xmlns:a16="http://schemas.microsoft.com/office/drawing/2014/main" id="{46A83F0A-94BA-CE15-A1A4-26E35C7FB2AB}"/>
              </a:ext>
            </a:extLst>
          </p:cNvPr>
          <p:cNvSpPr>
            <a:spLocks noChangeShapeType="1"/>
          </p:cNvSpPr>
          <p:nvPr/>
        </p:nvSpPr>
        <p:spPr bwMode="auto">
          <a:xfrm flipH="1">
            <a:off x="5905500" y="4602163"/>
            <a:ext cx="0" cy="37782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1934" name="Rectangle 15">
            <a:extLst>
              <a:ext uri="{FF2B5EF4-FFF2-40B4-BE49-F238E27FC236}">
                <a16:creationId xmlns:a16="http://schemas.microsoft.com/office/drawing/2014/main" id="{C9BEB4AB-2BDD-8866-1C02-2E87FB63162F}"/>
              </a:ext>
            </a:extLst>
          </p:cNvPr>
          <p:cNvSpPr>
            <a:spLocks noChangeArrowheads="1"/>
          </p:cNvSpPr>
          <p:nvPr/>
        </p:nvSpPr>
        <p:spPr bwMode="auto">
          <a:xfrm>
            <a:off x="5018088" y="4241800"/>
            <a:ext cx="2449512"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紧凑形成连续空闲区</a:t>
            </a:r>
          </a:p>
        </p:txBody>
      </p:sp>
      <p:sp>
        <p:nvSpPr>
          <p:cNvPr id="81935" name="Line 16">
            <a:extLst>
              <a:ext uri="{FF2B5EF4-FFF2-40B4-BE49-F238E27FC236}">
                <a16:creationId xmlns:a16="http://schemas.microsoft.com/office/drawing/2014/main" id="{EA731346-3065-A741-991E-0B3F6AD3EF60}"/>
              </a:ext>
            </a:extLst>
          </p:cNvPr>
          <p:cNvSpPr>
            <a:spLocks noChangeShapeType="1"/>
          </p:cNvSpPr>
          <p:nvPr/>
        </p:nvSpPr>
        <p:spPr bwMode="auto">
          <a:xfrm flipH="1">
            <a:off x="5857875" y="3744913"/>
            <a:ext cx="0" cy="45720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1936" name="Line 17">
            <a:extLst>
              <a:ext uri="{FF2B5EF4-FFF2-40B4-BE49-F238E27FC236}">
                <a16:creationId xmlns:a16="http://schemas.microsoft.com/office/drawing/2014/main" id="{962CD2DD-B05E-B087-88DD-DA19ECB2A351}"/>
              </a:ext>
            </a:extLst>
          </p:cNvPr>
          <p:cNvSpPr>
            <a:spLocks noChangeShapeType="1"/>
          </p:cNvSpPr>
          <p:nvPr/>
        </p:nvSpPr>
        <p:spPr bwMode="auto">
          <a:xfrm flipH="1">
            <a:off x="6324600" y="2916238"/>
            <a:ext cx="0" cy="447675"/>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81937" name="Rectangle 18">
            <a:extLst>
              <a:ext uri="{FF2B5EF4-FFF2-40B4-BE49-F238E27FC236}">
                <a16:creationId xmlns:a16="http://schemas.microsoft.com/office/drawing/2014/main" id="{5E8C6C02-1011-46A2-A073-62546D744F55}"/>
              </a:ext>
            </a:extLst>
          </p:cNvPr>
          <p:cNvSpPr>
            <a:spLocks noChangeArrowheads="1"/>
          </p:cNvSpPr>
          <p:nvPr/>
        </p:nvSpPr>
        <p:spPr bwMode="auto">
          <a:xfrm>
            <a:off x="1706563" y="4903788"/>
            <a:ext cx="2179637"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修改有关数据结构</a:t>
            </a:r>
          </a:p>
        </p:txBody>
      </p:sp>
      <p:sp>
        <p:nvSpPr>
          <p:cNvPr id="81938" name="Line 19">
            <a:extLst>
              <a:ext uri="{FF2B5EF4-FFF2-40B4-BE49-F238E27FC236}">
                <a16:creationId xmlns:a16="http://schemas.microsoft.com/office/drawing/2014/main" id="{ABBE3C9F-F931-C0AA-B9D1-835C234ACD5A}"/>
              </a:ext>
            </a:extLst>
          </p:cNvPr>
          <p:cNvSpPr>
            <a:spLocks noChangeShapeType="1"/>
          </p:cNvSpPr>
          <p:nvPr/>
        </p:nvSpPr>
        <p:spPr bwMode="auto">
          <a:xfrm>
            <a:off x="2644775" y="4489450"/>
            <a:ext cx="0" cy="43180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1939" name="Rectangle 20">
            <a:extLst>
              <a:ext uri="{FF2B5EF4-FFF2-40B4-BE49-F238E27FC236}">
                <a16:creationId xmlns:a16="http://schemas.microsoft.com/office/drawing/2014/main" id="{789C46EA-2DB4-78D9-DD11-E9EF33A236E0}"/>
              </a:ext>
            </a:extLst>
          </p:cNvPr>
          <p:cNvSpPr>
            <a:spLocks noChangeArrowheads="1"/>
          </p:cNvSpPr>
          <p:nvPr/>
        </p:nvSpPr>
        <p:spPr bwMode="auto">
          <a:xfrm>
            <a:off x="5453063" y="5064125"/>
            <a:ext cx="2319337"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修改有关数据结构</a:t>
            </a:r>
          </a:p>
        </p:txBody>
      </p:sp>
      <p:sp>
        <p:nvSpPr>
          <p:cNvPr id="81940" name="Rectangle 21">
            <a:extLst>
              <a:ext uri="{FF2B5EF4-FFF2-40B4-BE49-F238E27FC236}">
                <a16:creationId xmlns:a16="http://schemas.microsoft.com/office/drawing/2014/main" id="{78387AFE-195B-5BB9-1744-AFABDF84ED95}"/>
              </a:ext>
            </a:extLst>
          </p:cNvPr>
          <p:cNvSpPr>
            <a:spLocks noChangeArrowheads="1"/>
          </p:cNvSpPr>
          <p:nvPr/>
        </p:nvSpPr>
        <p:spPr bwMode="auto">
          <a:xfrm>
            <a:off x="6629400" y="2998788"/>
            <a:ext cx="3413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N</a:t>
            </a:r>
          </a:p>
        </p:txBody>
      </p:sp>
      <p:sp>
        <p:nvSpPr>
          <p:cNvPr id="81941" name="Line 22">
            <a:extLst>
              <a:ext uri="{FF2B5EF4-FFF2-40B4-BE49-F238E27FC236}">
                <a16:creationId xmlns:a16="http://schemas.microsoft.com/office/drawing/2014/main" id="{DA2C7B24-6B3E-79C2-2556-FB744D90F481}"/>
              </a:ext>
            </a:extLst>
          </p:cNvPr>
          <p:cNvSpPr>
            <a:spLocks noChangeShapeType="1"/>
          </p:cNvSpPr>
          <p:nvPr/>
        </p:nvSpPr>
        <p:spPr bwMode="auto">
          <a:xfrm>
            <a:off x="2628900" y="5318125"/>
            <a:ext cx="0" cy="43021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1942" name="Rectangle 23">
            <a:extLst>
              <a:ext uri="{FF2B5EF4-FFF2-40B4-BE49-F238E27FC236}">
                <a16:creationId xmlns:a16="http://schemas.microsoft.com/office/drawing/2014/main" id="{13E96F69-360B-8020-0509-FFA127FE2B4C}"/>
              </a:ext>
            </a:extLst>
          </p:cNvPr>
          <p:cNvSpPr>
            <a:spLocks noChangeArrowheads="1"/>
          </p:cNvSpPr>
          <p:nvPr/>
        </p:nvSpPr>
        <p:spPr bwMode="auto">
          <a:xfrm>
            <a:off x="1752600" y="5876925"/>
            <a:ext cx="22098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返回分区号和首址</a:t>
            </a:r>
          </a:p>
        </p:txBody>
      </p:sp>
      <p:sp>
        <p:nvSpPr>
          <p:cNvPr id="81943" name="Rectangle 24">
            <a:extLst>
              <a:ext uri="{FF2B5EF4-FFF2-40B4-BE49-F238E27FC236}">
                <a16:creationId xmlns:a16="http://schemas.microsoft.com/office/drawing/2014/main" id="{0245DB75-6810-1972-07A0-509E3AB5BEE6}"/>
              </a:ext>
            </a:extLst>
          </p:cNvPr>
          <p:cNvSpPr>
            <a:spLocks noChangeArrowheads="1"/>
          </p:cNvSpPr>
          <p:nvPr/>
        </p:nvSpPr>
        <p:spPr bwMode="auto">
          <a:xfrm>
            <a:off x="5334000" y="2501900"/>
            <a:ext cx="200660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无法分配，返回</a:t>
            </a:r>
          </a:p>
        </p:txBody>
      </p:sp>
      <p:sp>
        <p:nvSpPr>
          <p:cNvPr id="81944" name="Line 25">
            <a:extLst>
              <a:ext uri="{FF2B5EF4-FFF2-40B4-BE49-F238E27FC236}">
                <a16:creationId xmlns:a16="http://schemas.microsoft.com/office/drawing/2014/main" id="{B986BDB3-16F3-DEBF-3F03-622A8CCCBD72}"/>
              </a:ext>
            </a:extLst>
          </p:cNvPr>
          <p:cNvSpPr>
            <a:spLocks noChangeShapeType="1"/>
          </p:cNvSpPr>
          <p:nvPr/>
        </p:nvSpPr>
        <p:spPr bwMode="auto">
          <a:xfrm flipH="1">
            <a:off x="4398963" y="5207000"/>
            <a:ext cx="9318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5" name="Line 26">
            <a:extLst>
              <a:ext uri="{FF2B5EF4-FFF2-40B4-BE49-F238E27FC236}">
                <a16:creationId xmlns:a16="http://schemas.microsoft.com/office/drawing/2014/main" id="{8FACC549-1DCD-52BB-3993-5705B9A31657}"/>
              </a:ext>
            </a:extLst>
          </p:cNvPr>
          <p:cNvSpPr>
            <a:spLocks noChangeShapeType="1"/>
          </p:cNvSpPr>
          <p:nvPr/>
        </p:nvSpPr>
        <p:spPr bwMode="auto">
          <a:xfrm>
            <a:off x="4398963" y="3875088"/>
            <a:ext cx="0" cy="13319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6" name="Line 27">
            <a:extLst>
              <a:ext uri="{FF2B5EF4-FFF2-40B4-BE49-F238E27FC236}">
                <a16:creationId xmlns:a16="http://schemas.microsoft.com/office/drawing/2014/main" id="{FA906F00-C109-CF82-8D6C-BF3188435690}"/>
              </a:ext>
            </a:extLst>
          </p:cNvPr>
          <p:cNvSpPr>
            <a:spLocks noChangeShapeType="1"/>
          </p:cNvSpPr>
          <p:nvPr/>
        </p:nvSpPr>
        <p:spPr bwMode="auto">
          <a:xfrm flipV="1">
            <a:off x="2800350" y="3875088"/>
            <a:ext cx="1598613" cy="0"/>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70721F27-485C-B8D5-157B-68189C8E335A}"/>
              </a:ext>
            </a:extLst>
          </p:cNvPr>
          <p:cNvSpPr>
            <a:spLocks noGrp="1" noChangeArrowheads="1"/>
          </p:cNvSpPr>
          <p:nvPr>
            <p:ph type="title"/>
          </p:nvPr>
        </p:nvSpPr>
        <p:spPr>
          <a:xfrm>
            <a:off x="1042988" y="225431"/>
            <a:ext cx="7850187" cy="746125"/>
          </a:xfrm>
        </p:spPr>
        <p:txBody>
          <a:bodyPr/>
          <a:lstStyle/>
          <a:p>
            <a:r>
              <a:rPr lang="zh-CN" altLang="en-US"/>
              <a:t>伙伴系统</a:t>
            </a:r>
          </a:p>
        </p:txBody>
      </p:sp>
      <p:sp>
        <p:nvSpPr>
          <p:cNvPr id="196611" name="Rectangle 3">
            <a:extLst>
              <a:ext uri="{FF2B5EF4-FFF2-40B4-BE49-F238E27FC236}">
                <a16:creationId xmlns:a16="http://schemas.microsoft.com/office/drawing/2014/main" id="{013CC5A2-469E-A154-618B-6327BE13D5FB}"/>
              </a:ext>
            </a:extLst>
          </p:cNvPr>
          <p:cNvSpPr>
            <a:spLocks noGrp="1" noChangeArrowheads="1"/>
          </p:cNvSpPr>
          <p:nvPr>
            <p:ph idx="1"/>
          </p:nvPr>
        </p:nvSpPr>
        <p:spPr>
          <a:xfrm>
            <a:off x="935038" y="1233488"/>
            <a:ext cx="7772400" cy="4895850"/>
          </a:xfrm>
        </p:spPr>
        <p:txBody>
          <a:bodyPr/>
          <a:lstStyle/>
          <a:p>
            <a:r>
              <a:rPr lang="zh-CN" altLang="en-US" dirty="0"/>
              <a:t>固定分区存储管理限制了内存中的进程数，动态分区的拼接需要大量时间，而伙伴系统是一种较为实用的动态存储管理办法。</a:t>
            </a:r>
          </a:p>
          <a:p>
            <a:r>
              <a:rPr lang="zh-CN" altLang="en-US" b="1" dirty="0">
                <a:solidFill>
                  <a:srgbClr val="FF0000"/>
                </a:solidFill>
              </a:rPr>
              <a:t>伙伴系统</a:t>
            </a:r>
            <a:r>
              <a:rPr lang="zh-CN" altLang="en-US" dirty="0"/>
              <a:t>采用伙伴算法对空闲内存进行管理。该方法通过不断对分大的空闲存储块来获得小的空闲存储块。当内存块释放时，应尽可能合并空闲块。</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96611">
                                            <p:txEl>
                                              <p:pRg st="0" end="0"/>
                                            </p:txEl>
                                          </p:spTgt>
                                        </p:tgtEl>
                                        <p:attrNameLst>
                                          <p:attrName>style.visibility</p:attrName>
                                        </p:attrNameLst>
                                      </p:cBhvr>
                                      <p:to>
                                        <p:strVal val="visible"/>
                                      </p:to>
                                    </p:set>
                                    <p:animEffect transition="in" filter="checkerboard(across)">
                                      <p:cBhvr>
                                        <p:cTn id="7" dur="500"/>
                                        <p:tgtEl>
                                          <p:spTgt spid="1966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96611">
                                            <p:txEl>
                                              <p:pRg st="1" end="1"/>
                                            </p:txEl>
                                          </p:spTgt>
                                        </p:tgtEl>
                                        <p:attrNameLst>
                                          <p:attrName>style.visibility</p:attrName>
                                        </p:attrNameLst>
                                      </p:cBhvr>
                                      <p:to>
                                        <p:strVal val="visible"/>
                                      </p:to>
                                    </p:set>
                                    <p:animEffect transition="in" filter="checkerboard(across)">
                                      <p:cBhvr>
                                        <p:cTn id="12" dur="500"/>
                                        <p:tgtEl>
                                          <p:spTgt spid="1966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702CC0A5-8228-673F-75B9-AB2DE739D10C}"/>
              </a:ext>
            </a:extLst>
          </p:cNvPr>
          <p:cNvSpPr>
            <a:spLocks noGrp="1" noChangeArrowheads="1"/>
          </p:cNvSpPr>
          <p:nvPr>
            <p:ph type="title"/>
          </p:nvPr>
        </p:nvSpPr>
        <p:spPr>
          <a:xfrm>
            <a:off x="1042988" y="225431"/>
            <a:ext cx="7850187" cy="746125"/>
          </a:xfrm>
        </p:spPr>
        <p:txBody>
          <a:bodyPr/>
          <a:lstStyle/>
          <a:p>
            <a:r>
              <a:rPr lang="zh-CN" altLang="en-US"/>
              <a:t>伙伴系统的内存分配</a:t>
            </a:r>
          </a:p>
        </p:txBody>
      </p:sp>
      <p:sp>
        <p:nvSpPr>
          <p:cNvPr id="234499" name="Rectangle 3">
            <a:extLst>
              <a:ext uri="{FF2B5EF4-FFF2-40B4-BE49-F238E27FC236}">
                <a16:creationId xmlns:a16="http://schemas.microsoft.com/office/drawing/2014/main" id="{83A66714-E8D9-E4CB-22A2-D0D98208D54B}"/>
              </a:ext>
            </a:extLst>
          </p:cNvPr>
          <p:cNvSpPr>
            <a:spLocks noGrp="1" noChangeArrowheads="1"/>
          </p:cNvSpPr>
          <p:nvPr>
            <p:ph idx="1"/>
          </p:nvPr>
        </p:nvSpPr>
        <p:spPr>
          <a:xfrm>
            <a:off x="935038" y="1233488"/>
            <a:ext cx="7772400" cy="4895850"/>
          </a:xfrm>
        </p:spPr>
        <p:txBody>
          <a:bodyPr/>
          <a:lstStyle/>
          <a:p>
            <a:r>
              <a:rPr lang="zh-CN" altLang="en-US" dirty="0"/>
              <a:t>设系统初始时可供分配的空间为2</a:t>
            </a:r>
            <a:r>
              <a:rPr lang="en-US" altLang="zh-CN" baseline="30000" dirty="0"/>
              <a:t>m</a:t>
            </a:r>
            <a:r>
              <a:rPr lang="zh-CN" altLang="en-US" dirty="0"/>
              <a:t>个单元。</a:t>
            </a:r>
          </a:p>
          <a:p>
            <a:r>
              <a:rPr lang="zh-CN" altLang="en-US" dirty="0"/>
              <a:t>当进程申请大小为</a:t>
            </a:r>
            <a:r>
              <a:rPr lang="en-US" altLang="zh-CN" dirty="0"/>
              <a:t>n</a:t>
            </a:r>
            <a:r>
              <a:rPr lang="zh-CN" altLang="en-US" dirty="0"/>
              <a:t>的空间时，设2</a:t>
            </a:r>
            <a:r>
              <a:rPr lang="en-US" altLang="zh-CN" baseline="30000" dirty="0"/>
              <a:t>i-1</a:t>
            </a:r>
            <a:r>
              <a:rPr lang="en-US" altLang="zh-CN" dirty="0"/>
              <a:t>&lt;n≤2</a:t>
            </a:r>
            <a:r>
              <a:rPr lang="en-US" altLang="zh-CN" baseline="30000" dirty="0"/>
              <a:t>i</a:t>
            </a:r>
            <a:r>
              <a:rPr lang="en-US" altLang="zh-CN" dirty="0"/>
              <a:t>，</a:t>
            </a:r>
            <a:r>
              <a:rPr lang="zh-CN" altLang="en-US" dirty="0"/>
              <a:t>则为进程分配大小为2</a:t>
            </a:r>
            <a:r>
              <a:rPr lang="en-US" altLang="zh-CN" baseline="30000" dirty="0" err="1"/>
              <a:t>i</a:t>
            </a:r>
            <a:r>
              <a:rPr lang="zh-CN" altLang="en-US" dirty="0"/>
              <a:t>的空间。</a:t>
            </a:r>
          </a:p>
          <a:p>
            <a:r>
              <a:rPr lang="zh-CN" altLang="en-US" dirty="0"/>
              <a:t>如系统不存在大小为2</a:t>
            </a:r>
            <a:r>
              <a:rPr lang="en-US" altLang="zh-CN" baseline="30000" dirty="0" err="1"/>
              <a:t>i</a:t>
            </a:r>
            <a:r>
              <a:rPr lang="zh-CN" altLang="en-US" dirty="0"/>
              <a:t>的空闲块，则查找系统中是否存在大于2</a:t>
            </a:r>
            <a:r>
              <a:rPr lang="en-US" altLang="zh-CN" baseline="30000" dirty="0" err="1"/>
              <a:t>i</a:t>
            </a:r>
            <a:r>
              <a:rPr lang="zh-CN" altLang="en-US" dirty="0"/>
              <a:t>的空闲块，若找到则对其进行对半划分，直到产生大小为2</a:t>
            </a:r>
            <a:r>
              <a:rPr lang="en-US" altLang="zh-CN" baseline="30000" dirty="0" err="1"/>
              <a:t>i</a:t>
            </a:r>
            <a:r>
              <a:rPr lang="zh-CN" altLang="en-US" dirty="0"/>
              <a:t>的空闲块为止。</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34499">
                                            <p:txEl>
                                              <p:pRg st="0" end="0"/>
                                            </p:txEl>
                                          </p:spTgt>
                                        </p:tgtEl>
                                        <p:attrNameLst>
                                          <p:attrName>style.visibility</p:attrName>
                                        </p:attrNameLst>
                                      </p:cBhvr>
                                      <p:to>
                                        <p:strVal val="visible"/>
                                      </p:to>
                                    </p:set>
                                    <p:animEffect transition="in" filter="checkerboard(across)">
                                      <p:cBhvr>
                                        <p:cTn id="7" dur="500"/>
                                        <p:tgtEl>
                                          <p:spTgt spid="2344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34499">
                                            <p:txEl>
                                              <p:pRg st="1" end="1"/>
                                            </p:txEl>
                                          </p:spTgt>
                                        </p:tgtEl>
                                        <p:attrNameLst>
                                          <p:attrName>style.visibility</p:attrName>
                                        </p:attrNameLst>
                                      </p:cBhvr>
                                      <p:to>
                                        <p:strVal val="visible"/>
                                      </p:to>
                                    </p:set>
                                    <p:animEffect transition="in" filter="checkerboard(across)">
                                      <p:cBhvr>
                                        <p:cTn id="12" dur="500"/>
                                        <p:tgtEl>
                                          <p:spTgt spid="2344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34499">
                                            <p:txEl>
                                              <p:pRg st="2" end="2"/>
                                            </p:txEl>
                                          </p:spTgt>
                                        </p:tgtEl>
                                        <p:attrNameLst>
                                          <p:attrName>style.visibility</p:attrName>
                                        </p:attrNameLst>
                                      </p:cBhvr>
                                      <p:to>
                                        <p:strVal val="visible"/>
                                      </p:to>
                                    </p:set>
                                    <p:animEffect transition="in" filter="checkerboard(across)">
                                      <p:cBhvr>
                                        <p:cTn id="17" dur="500"/>
                                        <p:tgtEl>
                                          <p:spTgt spid="2344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08F99C2C-D21F-9971-78A6-9B58D296002D}"/>
              </a:ext>
            </a:extLst>
          </p:cNvPr>
          <p:cNvSpPr>
            <a:spLocks noGrp="1" noChangeArrowheads="1"/>
          </p:cNvSpPr>
          <p:nvPr>
            <p:ph type="title"/>
          </p:nvPr>
        </p:nvSpPr>
        <p:spPr>
          <a:xfrm>
            <a:off x="1042988" y="225431"/>
            <a:ext cx="7850187" cy="746125"/>
          </a:xfrm>
        </p:spPr>
        <p:txBody>
          <a:bodyPr/>
          <a:lstStyle/>
          <a:p>
            <a:r>
              <a:rPr lang="zh-CN" altLang="en-US"/>
              <a:t>伙伴系统的内存回收</a:t>
            </a:r>
          </a:p>
        </p:txBody>
      </p:sp>
      <p:sp>
        <p:nvSpPr>
          <p:cNvPr id="235523" name="Rectangle 3">
            <a:extLst>
              <a:ext uri="{FF2B5EF4-FFF2-40B4-BE49-F238E27FC236}">
                <a16:creationId xmlns:a16="http://schemas.microsoft.com/office/drawing/2014/main" id="{CC22DC66-C712-669E-EF66-905E62B209AF}"/>
              </a:ext>
            </a:extLst>
          </p:cNvPr>
          <p:cNvSpPr>
            <a:spLocks noGrp="1" noChangeArrowheads="1"/>
          </p:cNvSpPr>
          <p:nvPr>
            <p:ph idx="1"/>
          </p:nvPr>
        </p:nvSpPr>
        <p:spPr>
          <a:xfrm>
            <a:off x="935038" y="1233488"/>
            <a:ext cx="7772400" cy="4895850"/>
          </a:xfrm>
        </p:spPr>
        <p:txBody>
          <a:bodyPr/>
          <a:lstStyle/>
          <a:p>
            <a:r>
              <a:rPr lang="zh-CN" altLang="en-US" dirty="0"/>
              <a:t>当一块被分成两个大小相等的块时，这两块称为</a:t>
            </a:r>
            <a:r>
              <a:rPr lang="zh-CN" altLang="en-US" b="1" dirty="0">
                <a:solidFill>
                  <a:srgbClr val="FF0000"/>
                </a:solidFill>
              </a:rPr>
              <a:t>伙伴</a:t>
            </a:r>
            <a:r>
              <a:rPr lang="zh-CN" altLang="en-US" dirty="0"/>
              <a:t>。</a:t>
            </a:r>
          </a:p>
          <a:p>
            <a:r>
              <a:rPr lang="zh-CN" altLang="en-US" dirty="0"/>
              <a:t>当进程释放存储空间时，应检查释放块的伙伴是否空闲，若空闲则合并。这个较大的空闲块也可能存在空闲伙伴，此时也应合并。重复上述过程，直至没有可以合并的伙伴为止。</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35523">
                                            <p:txEl>
                                              <p:pRg st="0" end="0"/>
                                            </p:txEl>
                                          </p:spTgt>
                                        </p:tgtEl>
                                        <p:attrNameLst>
                                          <p:attrName>style.visibility</p:attrName>
                                        </p:attrNameLst>
                                      </p:cBhvr>
                                      <p:to>
                                        <p:strVal val="visible"/>
                                      </p:to>
                                    </p:set>
                                    <p:animEffect transition="in" filter="checkerboard(across)">
                                      <p:cBhvr>
                                        <p:cTn id="7" dur="500"/>
                                        <p:tgtEl>
                                          <p:spTgt spid="2355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35523">
                                            <p:txEl>
                                              <p:pRg st="1" end="1"/>
                                            </p:txEl>
                                          </p:spTgt>
                                        </p:tgtEl>
                                        <p:attrNameLst>
                                          <p:attrName>style.visibility</p:attrName>
                                        </p:attrNameLst>
                                      </p:cBhvr>
                                      <p:to>
                                        <p:strVal val="visible"/>
                                      </p:to>
                                    </p:set>
                                    <p:animEffect transition="in" filter="checkerboard(across)">
                                      <p:cBhvr>
                                        <p:cTn id="12" dur="500"/>
                                        <p:tgtEl>
                                          <p:spTgt spid="2355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63EBA2D4-D68F-2B27-D4EF-9BE08E3260C6}"/>
              </a:ext>
            </a:extLst>
          </p:cNvPr>
          <p:cNvSpPr>
            <a:spLocks noGrp="1" noChangeArrowheads="1"/>
          </p:cNvSpPr>
          <p:nvPr>
            <p:ph type="title"/>
          </p:nvPr>
        </p:nvSpPr>
        <p:spPr/>
        <p:txBody>
          <a:bodyPr/>
          <a:lstStyle/>
          <a:p>
            <a:pPr eaLnBrk="1" hangingPunct="1"/>
            <a:r>
              <a:rPr lang="zh-CN" altLang="en-US">
                <a:solidFill>
                  <a:schemeClr val="tx1"/>
                </a:solidFill>
              </a:rPr>
              <a:t>伙伴地址公式</a:t>
            </a:r>
          </a:p>
        </p:txBody>
      </p:sp>
      <p:sp>
        <p:nvSpPr>
          <p:cNvPr id="197635" name="Rectangle 3">
            <a:extLst>
              <a:ext uri="{FF2B5EF4-FFF2-40B4-BE49-F238E27FC236}">
                <a16:creationId xmlns:a16="http://schemas.microsoft.com/office/drawing/2014/main" id="{96C46F6F-68E9-76AD-786C-4304E7FD4DFF}"/>
              </a:ext>
            </a:extLst>
          </p:cNvPr>
          <p:cNvSpPr>
            <a:spLocks noGrp="1" noChangeArrowheads="1"/>
          </p:cNvSpPr>
          <p:nvPr>
            <p:ph idx="1"/>
          </p:nvPr>
        </p:nvSpPr>
        <p:spPr>
          <a:xfrm>
            <a:off x="611188" y="1196975"/>
            <a:ext cx="8343900" cy="4895850"/>
          </a:xfrm>
        </p:spPr>
        <p:txBody>
          <a:bodyPr/>
          <a:lstStyle/>
          <a:p>
            <a:pPr eaLnBrk="1" hangingPunct="1"/>
            <a:r>
              <a:rPr lang="zh-CN" altLang="en-US"/>
              <a:t>设某空闲块的开始地址为</a:t>
            </a:r>
            <a:r>
              <a:rPr lang="en-US" altLang="zh-CN"/>
              <a:t>d，</a:t>
            </a:r>
            <a:r>
              <a:rPr lang="zh-CN" altLang="en-US"/>
              <a:t>长度为2</a:t>
            </a:r>
            <a:r>
              <a:rPr lang="en-US" altLang="zh-CN" baseline="30000"/>
              <a:t>K</a:t>
            </a:r>
            <a:r>
              <a:rPr lang="zh-CN" altLang="en-US"/>
              <a:t>，其伙伴的开始地址为：</a:t>
            </a:r>
          </a:p>
          <a:p>
            <a:pPr lvl="1" eaLnBrk="1" hangingPunct="1"/>
            <a:r>
              <a:rPr lang="en-US" altLang="zh-CN"/>
              <a:t>Buddy（k，d）=d+2</a:t>
            </a:r>
            <a:r>
              <a:rPr lang="en-US" altLang="zh-CN" baseline="30000"/>
              <a:t>k</a:t>
            </a:r>
            <a:r>
              <a:rPr lang="en-US" altLang="zh-CN"/>
              <a:t>，</a:t>
            </a:r>
            <a:r>
              <a:rPr lang="zh-CN" altLang="en-US"/>
              <a:t>若</a:t>
            </a:r>
            <a:r>
              <a:rPr lang="en-US" altLang="zh-CN"/>
              <a:t>d % 2</a:t>
            </a:r>
            <a:r>
              <a:rPr lang="en-US" altLang="zh-CN" baseline="30000"/>
              <a:t>k+1</a:t>
            </a:r>
            <a:r>
              <a:rPr lang="en-US" altLang="zh-CN"/>
              <a:t>=0</a:t>
            </a:r>
          </a:p>
          <a:p>
            <a:pPr lvl="1" eaLnBrk="1" hangingPunct="1"/>
            <a:r>
              <a:rPr lang="en-US" altLang="zh-CN"/>
              <a:t>                      =d-2</a:t>
            </a:r>
            <a:r>
              <a:rPr lang="en-US" altLang="zh-CN" baseline="30000"/>
              <a:t>k</a:t>
            </a:r>
            <a:r>
              <a:rPr lang="en-US" altLang="zh-CN"/>
              <a:t>，</a:t>
            </a:r>
            <a:r>
              <a:rPr lang="zh-CN" altLang="en-US"/>
              <a:t>若</a:t>
            </a:r>
            <a:r>
              <a:rPr lang="en-US" altLang="zh-CN"/>
              <a:t>d % 2</a:t>
            </a:r>
            <a:r>
              <a:rPr lang="en-US" altLang="zh-CN" baseline="30000"/>
              <a:t>k+1</a:t>
            </a:r>
            <a:r>
              <a:rPr lang="en-US" altLang="zh-CN"/>
              <a:t>= 2</a:t>
            </a:r>
            <a:r>
              <a:rPr lang="en-US" altLang="zh-CN" baseline="30000"/>
              <a:t>k</a:t>
            </a:r>
          </a:p>
          <a:p>
            <a:pPr eaLnBrk="1" hangingPunct="1"/>
            <a:r>
              <a:rPr lang="zh-CN" altLang="en-US"/>
              <a:t>如果参与分配的2</a:t>
            </a:r>
            <a:r>
              <a:rPr lang="en-US" altLang="zh-CN" baseline="30000"/>
              <a:t>m</a:t>
            </a:r>
            <a:r>
              <a:rPr lang="zh-CN" altLang="en-US"/>
              <a:t>个单元从</a:t>
            </a:r>
            <a:r>
              <a:rPr lang="en-US" altLang="zh-CN"/>
              <a:t>a</a:t>
            </a:r>
            <a:r>
              <a:rPr lang="zh-CN" altLang="en-US"/>
              <a:t>开始，则长度为2</a:t>
            </a:r>
            <a:r>
              <a:rPr lang="en-US" altLang="zh-CN" baseline="30000"/>
              <a:t>K</a:t>
            </a:r>
            <a:r>
              <a:rPr lang="en-US" altLang="zh-CN"/>
              <a:t>、</a:t>
            </a:r>
            <a:r>
              <a:rPr lang="zh-CN" altLang="en-US"/>
              <a:t>开始地址为</a:t>
            </a:r>
            <a:r>
              <a:rPr lang="en-US" altLang="zh-CN"/>
              <a:t>d</a:t>
            </a:r>
            <a:r>
              <a:rPr lang="zh-CN" altLang="en-US"/>
              <a:t>的块，其伙伴的开始地址为：</a:t>
            </a:r>
          </a:p>
          <a:p>
            <a:pPr lvl="1" eaLnBrk="1" hangingPunct="1"/>
            <a:r>
              <a:rPr lang="en-US" altLang="zh-CN"/>
              <a:t>Buddy（k，d）=d+2</a:t>
            </a:r>
            <a:r>
              <a:rPr lang="en-US" altLang="zh-CN" baseline="30000"/>
              <a:t>k</a:t>
            </a:r>
            <a:r>
              <a:rPr lang="en-US" altLang="zh-CN"/>
              <a:t>，</a:t>
            </a:r>
            <a:r>
              <a:rPr lang="zh-CN" altLang="en-US"/>
              <a:t>若（</a:t>
            </a:r>
            <a:r>
              <a:rPr lang="en-US" altLang="zh-CN"/>
              <a:t>d-a</a:t>
            </a:r>
            <a:r>
              <a:rPr lang="zh-CN" altLang="en-US"/>
              <a:t>）% 2</a:t>
            </a:r>
            <a:r>
              <a:rPr lang="en-US" altLang="zh-CN" baseline="30000"/>
              <a:t>k+1</a:t>
            </a:r>
            <a:r>
              <a:rPr lang="en-US" altLang="zh-CN"/>
              <a:t>=0</a:t>
            </a:r>
          </a:p>
          <a:p>
            <a:pPr lvl="1" eaLnBrk="1" hangingPunct="1"/>
            <a:r>
              <a:rPr lang="en-US" altLang="zh-CN"/>
              <a:t>                      =d-2</a:t>
            </a:r>
            <a:r>
              <a:rPr lang="en-US" altLang="zh-CN" baseline="30000"/>
              <a:t>k</a:t>
            </a:r>
            <a:r>
              <a:rPr lang="en-US" altLang="zh-CN"/>
              <a:t>，</a:t>
            </a:r>
            <a:r>
              <a:rPr lang="zh-CN" altLang="en-US"/>
              <a:t>若（</a:t>
            </a:r>
            <a:r>
              <a:rPr lang="en-US" altLang="zh-CN"/>
              <a:t>d-a）% 2</a:t>
            </a:r>
            <a:r>
              <a:rPr lang="en-US" altLang="zh-CN" baseline="30000"/>
              <a:t>k+1</a:t>
            </a:r>
            <a:r>
              <a:rPr lang="en-US" altLang="zh-CN"/>
              <a:t>= 2</a:t>
            </a:r>
            <a:r>
              <a:rPr lang="en-US" altLang="zh-CN" baseline="30000"/>
              <a:t>k</a:t>
            </a:r>
            <a:endParaRPr lang="en-US" altLang="zh-CN"/>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97635">
                                            <p:txEl>
                                              <p:pRg st="0" end="0"/>
                                            </p:txEl>
                                          </p:spTgt>
                                        </p:tgtEl>
                                        <p:attrNameLst>
                                          <p:attrName>style.visibility</p:attrName>
                                        </p:attrNameLst>
                                      </p:cBhvr>
                                      <p:to>
                                        <p:strVal val="visible"/>
                                      </p:to>
                                    </p:set>
                                    <p:animEffect transition="in" filter="checkerboard(across)">
                                      <p:cBhvr>
                                        <p:cTn id="7" dur="500"/>
                                        <p:tgtEl>
                                          <p:spTgt spid="197635">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97635">
                                            <p:txEl>
                                              <p:pRg st="1" end="1"/>
                                            </p:txEl>
                                          </p:spTgt>
                                        </p:tgtEl>
                                        <p:attrNameLst>
                                          <p:attrName>style.visibility</p:attrName>
                                        </p:attrNameLst>
                                      </p:cBhvr>
                                      <p:to>
                                        <p:strVal val="visible"/>
                                      </p:to>
                                    </p:set>
                                    <p:animEffect transition="in" filter="checkerboard(across)">
                                      <p:cBhvr>
                                        <p:cTn id="10" dur="500"/>
                                        <p:tgtEl>
                                          <p:spTgt spid="197635">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97635">
                                            <p:txEl>
                                              <p:pRg st="2" end="2"/>
                                            </p:txEl>
                                          </p:spTgt>
                                        </p:tgtEl>
                                        <p:attrNameLst>
                                          <p:attrName>style.visibility</p:attrName>
                                        </p:attrNameLst>
                                      </p:cBhvr>
                                      <p:to>
                                        <p:strVal val="visible"/>
                                      </p:to>
                                    </p:set>
                                    <p:animEffect transition="in" filter="checkerboard(across)">
                                      <p:cBhvr>
                                        <p:cTn id="13" dur="500"/>
                                        <p:tgtEl>
                                          <p:spTgt spid="19763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197635">
                                            <p:txEl>
                                              <p:pRg st="3" end="3"/>
                                            </p:txEl>
                                          </p:spTgt>
                                        </p:tgtEl>
                                        <p:attrNameLst>
                                          <p:attrName>style.visibility</p:attrName>
                                        </p:attrNameLst>
                                      </p:cBhvr>
                                      <p:to>
                                        <p:strVal val="visible"/>
                                      </p:to>
                                    </p:set>
                                    <p:animEffect transition="in" filter="checkerboard(across)">
                                      <p:cBhvr>
                                        <p:cTn id="18" dur="500"/>
                                        <p:tgtEl>
                                          <p:spTgt spid="197635">
                                            <p:txEl>
                                              <p:pRg st="3" end="3"/>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197635">
                                            <p:txEl>
                                              <p:pRg st="4" end="4"/>
                                            </p:txEl>
                                          </p:spTgt>
                                        </p:tgtEl>
                                        <p:attrNameLst>
                                          <p:attrName>style.visibility</p:attrName>
                                        </p:attrNameLst>
                                      </p:cBhvr>
                                      <p:to>
                                        <p:strVal val="visible"/>
                                      </p:to>
                                    </p:set>
                                    <p:animEffect transition="in" filter="checkerboard(across)">
                                      <p:cBhvr>
                                        <p:cTn id="21" dur="500"/>
                                        <p:tgtEl>
                                          <p:spTgt spid="197635">
                                            <p:txEl>
                                              <p:pRg st="4" end="4"/>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197635">
                                            <p:txEl>
                                              <p:pRg st="5" end="5"/>
                                            </p:txEl>
                                          </p:spTgt>
                                        </p:tgtEl>
                                        <p:attrNameLst>
                                          <p:attrName>style.visibility</p:attrName>
                                        </p:attrNameLst>
                                      </p:cBhvr>
                                      <p:to>
                                        <p:strVal val="visible"/>
                                      </p:to>
                                    </p:set>
                                    <p:animEffect transition="in" filter="checkerboard(across)">
                                      <p:cBhvr>
                                        <p:cTn id="24" dur="500"/>
                                        <p:tgtEl>
                                          <p:spTgt spid="1976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0EA61A07-5EB6-89EE-D9A2-635FE1CC3FF0}"/>
              </a:ext>
            </a:extLst>
          </p:cNvPr>
          <p:cNvSpPr>
            <a:spLocks noGrp="1" noChangeArrowheads="1"/>
          </p:cNvSpPr>
          <p:nvPr>
            <p:ph type="title"/>
          </p:nvPr>
        </p:nvSpPr>
        <p:spPr>
          <a:xfrm>
            <a:off x="1042988" y="225431"/>
            <a:ext cx="7850187" cy="746125"/>
          </a:xfrm>
        </p:spPr>
        <p:txBody>
          <a:bodyPr/>
          <a:lstStyle/>
          <a:p>
            <a:r>
              <a:rPr lang="zh-CN" altLang="en-US"/>
              <a:t>伙伴系统分配及回收例</a:t>
            </a:r>
          </a:p>
        </p:txBody>
      </p:sp>
      <p:sp>
        <p:nvSpPr>
          <p:cNvPr id="87042" name="Rectangle 3">
            <a:extLst>
              <a:ext uri="{FF2B5EF4-FFF2-40B4-BE49-F238E27FC236}">
                <a16:creationId xmlns:a16="http://schemas.microsoft.com/office/drawing/2014/main" id="{9B0EE8A6-B08F-576C-0BF3-4B1D87B611E0}"/>
              </a:ext>
            </a:extLst>
          </p:cNvPr>
          <p:cNvSpPr>
            <a:spLocks noGrp="1" noChangeArrowheads="1"/>
          </p:cNvSpPr>
          <p:nvPr>
            <p:ph idx="1"/>
          </p:nvPr>
        </p:nvSpPr>
        <p:spPr>
          <a:xfrm>
            <a:off x="935038" y="1233488"/>
            <a:ext cx="7772400" cy="4895850"/>
          </a:xfrm>
        </p:spPr>
        <p:txBody>
          <a:bodyPr/>
          <a:lstStyle/>
          <a:p>
            <a:r>
              <a:rPr lang="zh-CN" altLang="en-US"/>
              <a:t>设系统中初始内存空间大小为1</a:t>
            </a:r>
            <a:r>
              <a:rPr lang="en-US" altLang="zh-CN"/>
              <a:t>MB，</a:t>
            </a:r>
            <a:r>
              <a:rPr lang="zh-CN" altLang="en-US"/>
              <a:t>进程请求和释放空间的操作序列为：</a:t>
            </a:r>
          </a:p>
          <a:p>
            <a:pPr lvl="1"/>
            <a:r>
              <a:rPr lang="zh-CN" altLang="en-US"/>
              <a:t>进程</a:t>
            </a:r>
            <a:r>
              <a:rPr lang="en-US" altLang="zh-CN"/>
              <a:t>A</a:t>
            </a:r>
            <a:r>
              <a:rPr lang="zh-CN" altLang="en-US"/>
              <a:t>申请200</a:t>
            </a:r>
            <a:r>
              <a:rPr lang="en-US" altLang="zh-CN"/>
              <a:t>KB；B</a:t>
            </a:r>
            <a:r>
              <a:rPr lang="zh-CN" altLang="en-US"/>
              <a:t>申请120</a:t>
            </a:r>
            <a:r>
              <a:rPr lang="en-US" altLang="zh-CN"/>
              <a:t>KB；C</a:t>
            </a:r>
            <a:r>
              <a:rPr lang="zh-CN" altLang="en-US"/>
              <a:t>申请240</a:t>
            </a:r>
            <a:r>
              <a:rPr lang="en-US" altLang="zh-CN"/>
              <a:t>KB； D</a:t>
            </a:r>
            <a:r>
              <a:rPr lang="zh-CN" altLang="en-US"/>
              <a:t>申请100</a:t>
            </a:r>
            <a:r>
              <a:rPr lang="en-US" altLang="zh-CN"/>
              <a:t>KB；</a:t>
            </a:r>
          </a:p>
          <a:p>
            <a:pPr lvl="1"/>
            <a:r>
              <a:rPr lang="zh-CN" altLang="en-US"/>
              <a:t>进程</a:t>
            </a:r>
            <a:r>
              <a:rPr lang="en-US" altLang="zh-CN"/>
              <a:t>B</a:t>
            </a:r>
            <a:r>
              <a:rPr lang="zh-CN" altLang="en-US"/>
              <a:t>释放；</a:t>
            </a:r>
            <a:r>
              <a:rPr lang="en-US" altLang="zh-CN"/>
              <a:t>E</a:t>
            </a:r>
            <a:r>
              <a:rPr lang="zh-CN" altLang="en-US"/>
              <a:t>申请60</a:t>
            </a:r>
            <a:r>
              <a:rPr lang="en-US" altLang="zh-CN"/>
              <a:t>KB；</a:t>
            </a:r>
          </a:p>
          <a:p>
            <a:pPr lvl="1"/>
            <a:r>
              <a:rPr lang="zh-CN" altLang="en-US"/>
              <a:t>进程</a:t>
            </a:r>
            <a:r>
              <a:rPr lang="en-US" altLang="zh-CN"/>
              <a:t>A、C</a:t>
            </a:r>
            <a:r>
              <a:rPr lang="zh-CN" altLang="en-US"/>
              <a:t>释放；</a:t>
            </a:r>
          </a:p>
          <a:p>
            <a:pPr lvl="1"/>
            <a:r>
              <a:rPr lang="zh-CN" altLang="en-US"/>
              <a:t>进程</a:t>
            </a:r>
            <a:r>
              <a:rPr lang="en-US" altLang="zh-CN"/>
              <a:t>D</a:t>
            </a:r>
            <a:r>
              <a:rPr lang="zh-CN" altLang="en-US"/>
              <a:t>释放；进程</a:t>
            </a:r>
            <a:r>
              <a:rPr lang="en-US" altLang="zh-CN"/>
              <a:t>E</a:t>
            </a:r>
            <a:r>
              <a:rPr lang="zh-CN" altLang="en-US"/>
              <a:t>释放。</a:t>
            </a:r>
            <a:endParaRPr lang="en-US" altLang="zh-CN"/>
          </a:p>
        </p:txBody>
      </p:sp>
    </p:spTree>
  </p:cSld>
  <p:clrMapOvr>
    <a:masterClrMapping/>
  </p:clrMapOvr>
  <p:transition spd="med">
    <p:zoom/>
  </p:transition>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0785" name="Text Box 81">
            <a:extLst>
              <a:ext uri="{FF2B5EF4-FFF2-40B4-BE49-F238E27FC236}">
                <a16:creationId xmlns:a16="http://schemas.microsoft.com/office/drawing/2014/main" id="{0F124EF7-ABC3-EDED-0C2B-BADF19F2479A}"/>
              </a:ext>
            </a:extLst>
          </p:cNvPr>
          <p:cNvSpPr txBox="1">
            <a:spLocks noChangeArrowheads="1"/>
          </p:cNvSpPr>
          <p:nvPr/>
        </p:nvSpPr>
        <p:spPr bwMode="auto">
          <a:xfrm>
            <a:off x="3505200" y="50117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E</a:t>
            </a:r>
          </a:p>
        </p:txBody>
      </p:sp>
      <p:sp>
        <p:nvSpPr>
          <p:cNvPr id="200733" name="Text Box 29">
            <a:extLst>
              <a:ext uri="{FF2B5EF4-FFF2-40B4-BE49-F238E27FC236}">
                <a16:creationId xmlns:a16="http://schemas.microsoft.com/office/drawing/2014/main" id="{6EA9E989-031B-D303-5E77-B22E729AF047}"/>
              </a:ext>
            </a:extLst>
          </p:cNvPr>
          <p:cNvSpPr txBox="1">
            <a:spLocks noChangeArrowheads="1"/>
          </p:cNvSpPr>
          <p:nvPr/>
        </p:nvSpPr>
        <p:spPr bwMode="auto">
          <a:xfrm>
            <a:off x="365125" y="4576763"/>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     A</a:t>
            </a:r>
            <a:r>
              <a:rPr lang="zh-CN" altLang="en-US" sz="2000"/>
              <a:t>释放</a:t>
            </a:r>
          </a:p>
        </p:txBody>
      </p:sp>
      <p:sp>
        <p:nvSpPr>
          <p:cNvPr id="88067" name="Rectangle 2">
            <a:extLst>
              <a:ext uri="{FF2B5EF4-FFF2-40B4-BE49-F238E27FC236}">
                <a16:creationId xmlns:a16="http://schemas.microsoft.com/office/drawing/2014/main" id="{C1C9EA77-693F-6200-A2C7-617BD8853E5F}"/>
              </a:ext>
            </a:extLst>
          </p:cNvPr>
          <p:cNvSpPr>
            <a:spLocks noGrp="1" noChangeArrowheads="1"/>
          </p:cNvSpPr>
          <p:nvPr>
            <p:ph type="title"/>
          </p:nvPr>
        </p:nvSpPr>
        <p:spPr/>
        <p:txBody>
          <a:bodyPr/>
          <a:lstStyle/>
          <a:p>
            <a:pPr eaLnBrk="1" hangingPunct="1"/>
            <a:r>
              <a:rPr lang="zh-CN" altLang="en-US">
                <a:solidFill>
                  <a:schemeClr val="tx1"/>
                </a:solidFill>
              </a:rPr>
              <a:t>分配过程示意图</a:t>
            </a:r>
            <a:endParaRPr lang="en-US" altLang="zh-CN">
              <a:solidFill>
                <a:schemeClr val="tx1"/>
              </a:solidFill>
            </a:endParaRPr>
          </a:p>
        </p:txBody>
      </p:sp>
      <p:sp>
        <p:nvSpPr>
          <p:cNvPr id="88068" name="Rectangle 3">
            <a:extLst>
              <a:ext uri="{FF2B5EF4-FFF2-40B4-BE49-F238E27FC236}">
                <a16:creationId xmlns:a16="http://schemas.microsoft.com/office/drawing/2014/main" id="{7D86D644-E9A3-888A-E2D7-291CAA6C291A}"/>
              </a:ext>
            </a:extLst>
          </p:cNvPr>
          <p:cNvSpPr>
            <a:spLocks noGrp="1" noChangeArrowheads="1"/>
          </p:cNvSpPr>
          <p:nvPr>
            <p:ph idx="1"/>
          </p:nvPr>
        </p:nvSpPr>
        <p:spPr>
          <a:xfrm>
            <a:off x="381000" y="1125538"/>
            <a:ext cx="8458200" cy="496887"/>
          </a:xfrm>
        </p:spPr>
        <p:txBody>
          <a:bodyPr/>
          <a:lstStyle/>
          <a:p>
            <a:pPr eaLnBrk="1" hangingPunct="1">
              <a:lnSpc>
                <a:spcPct val="90000"/>
              </a:lnSpc>
            </a:pPr>
            <a:r>
              <a:rPr lang="zh-CN" altLang="en-US" sz="2800"/>
              <a:t>       </a:t>
            </a:r>
            <a:r>
              <a:rPr lang="zh-CN" altLang="en-US" sz="2000"/>
              <a:t>0      128</a:t>
            </a:r>
            <a:r>
              <a:rPr lang="en-US" altLang="zh-CN" sz="2000"/>
              <a:t>K    256K   384K    512K    640K    768K    896K    1M</a:t>
            </a:r>
          </a:p>
        </p:txBody>
      </p:sp>
      <p:sp>
        <p:nvSpPr>
          <p:cNvPr id="88069" name="Line 4">
            <a:extLst>
              <a:ext uri="{FF2B5EF4-FFF2-40B4-BE49-F238E27FC236}">
                <a16:creationId xmlns:a16="http://schemas.microsoft.com/office/drawing/2014/main" id="{ACE77796-0D4E-44C1-D75E-255C19000AFF}"/>
              </a:ext>
            </a:extLst>
          </p:cNvPr>
          <p:cNvSpPr>
            <a:spLocks noChangeShapeType="1"/>
          </p:cNvSpPr>
          <p:nvPr/>
        </p:nvSpPr>
        <p:spPr bwMode="auto">
          <a:xfrm>
            <a:off x="1624013" y="1582738"/>
            <a:ext cx="6910387"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0" name="Line 5">
            <a:extLst>
              <a:ext uri="{FF2B5EF4-FFF2-40B4-BE49-F238E27FC236}">
                <a16:creationId xmlns:a16="http://schemas.microsoft.com/office/drawing/2014/main" id="{A54321C6-C9CF-D16F-B206-44B5A214F859}"/>
              </a:ext>
            </a:extLst>
          </p:cNvPr>
          <p:cNvSpPr>
            <a:spLocks noChangeShapeType="1"/>
          </p:cNvSpPr>
          <p:nvPr/>
        </p:nvSpPr>
        <p:spPr bwMode="auto">
          <a:xfrm>
            <a:off x="1600200" y="1584325"/>
            <a:ext cx="0" cy="460692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1" name="Line 10">
            <a:extLst>
              <a:ext uri="{FF2B5EF4-FFF2-40B4-BE49-F238E27FC236}">
                <a16:creationId xmlns:a16="http://schemas.microsoft.com/office/drawing/2014/main" id="{649EE269-099C-CEDC-0B25-9BE676F07487}"/>
              </a:ext>
            </a:extLst>
          </p:cNvPr>
          <p:cNvSpPr>
            <a:spLocks noChangeShapeType="1"/>
          </p:cNvSpPr>
          <p:nvPr/>
        </p:nvSpPr>
        <p:spPr bwMode="auto">
          <a:xfrm>
            <a:off x="2462213" y="1582738"/>
            <a:ext cx="0" cy="17938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2" name="Line 11">
            <a:extLst>
              <a:ext uri="{FF2B5EF4-FFF2-40B4-BE49-F238E27FC236}">
                <a16:creationId xmlns:a16="http://schemas.microsoft.com/office/drawing/2014/main" id="{37FA6829-1636-AD8A-BE04-5DC7CA9893AE}"/>
              </a:ext>
            </a:extLst>
          </p:cNvPr>
          <p:cNvSpPr>
            <a:spLocks noChangeShapeType="1"/>
          </p:cNvSpPr>
          <p:nvPr/>
        </p:nvSpPr>
        <p:spPr bwMode="auto">
          <a:xfrm>
            <a:off x="3325813" y="1582738"/>
            <a:ext cx="0" cy="17938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3" name="Line 12">
            <a:extLst>
              <a:ext uri="{FF2B5EF4-FFF2-40B4-BE49-F238E27FC236}">
                <a16:creationId xmlns:a16="http://schemas.microsoft.com/office/drawing/2014/main" id="{B4D2ED19-D576-AA09-DBD2-9070AD5C4F1A}"/>
              </a:ext>
            </a:extLst>
          </p:cNvPr>
          <p:cNvSpPr>
            <a:spLocks noChangeShapeType="1"/>
          </p:cNvSpPr>
          <p:nvPr/>
        </p:nvSpPr>
        <p:spPr bwMode="auto">
          <a:xfrm>
            <a:off x="4191000" y="1582738"/>
            <a:ext cx="0" cy="17938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4" name="Line 13">
            <a:extLst>
              <a:ext uri="{FF2B5EF4-FFF2-40B4-BE49-F238E27FC236}">
                <a16:creationId xmlns:a16="http://schemas.microsoft.com/office/drawing/2014/main" id="{0709B84B-C943-EFCF-2CEA-0ACB1B61AE61}"/>
              </a:ext>
            </a:extLst>
          </p:cNvPr>
          <p:cNvSpPr>
            <a:spLocks noChangeShapeType="1"/>
          </p:cNvSpPr>
          <p:nvPr/>
        </p:nvSpPr>
        <p:spPr bwMode="auto">
          <a:xfrm>
            <a:off x="5053013" y="1582738"/>
            <a:ext cx="0" cy="17938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5" name="Line 14">
            <a:extLst>
              <a:ext uri="{FF2B5EF4-FFF2-40B4-BE49-F238E27FC236}">
                <a16:creationId xmlns:a16="http://schemas.microsoft.com/office/drawing/2014/main" id="{E291336C-89E0-4184-509B-A39943A5B55A}"/>
              </a:ext>
            </a:extLst>
          </p:cNvPr>
          <p:cNvSpPr>
            <a:spLocks noChangeShapeType="1"/>
          </p:cNvSpPr>
          <p:nvPr/>
        </p:nvSpPr>
        <p:spPr bwMode="auto">
          <a:xfrm>
            <a:off x="5916613" y="1582738"/>
            <a:ext cx="0" cy="17938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6" name="Line 15">
            <a:extLst>
              <a:ext uri="{FF2B5EF4-FFF2-40B4-BE49-F238E27FC236}">
                <a16:creationId xmlns:a16="http://schemas.microsoft.com/office/drawing/2014/main" id="{D35E998C-7665-8A3B-64CC-41038D9DDC81}"/>
              </a:ext>
            </a:extLst>
          </p:cNvPr>
          <p:cNvSpPr>
            <a:spLocks noChangeShapeType="1"/>
          </p:cNvSpPr>
          <p:nvPr/>
        </p:nvSpPr>
        <p:spPr bwMode="auto">
          <a:xfrm>
            <a:off x="6780213" y="1582738"/>
            <a:ext cx="0" cy="17938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7" name="Line 16">
            <a:extLst>
              <a:ext uri="{FF2B5EF4-FFF2-40B4-BE49-F238E27FC236}">
                <a16:creationId xmlns:a16="http://schemas.microsoft.com/office/drawing/2014/main" id="{574716B7-0B3D-F094-8FBC-7428A2578D3F}"/>
              </a:ext>
            </a:extLst>
          </p:cNvPr>
          <p:cNvSpPr>
            <a:spLocks noChangeShapeType="1"/>
          </p:cNvSpPr>
          <p:nvPr/>
        </p:nvSpPr>
        <p:spPr bwMode="auto">
          <a:xfrm>
            <a:off x="7643813" y="1582738"/>
            <a:ext cx="0" cy="179387"/>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8" name="Line 17">
            <a:extLst>
              <a:ext uri="{FF2B5EF4-FFF2-40B4-BE49-F238E27FC236}">
                <a16:creationId xmlns:a16="http://schemas.microsoft.com/office/drawing/2014/main" id="{8D1686D0-C9D6-48ED-4934-236F75628DF9}"/>
              </a:ext>
            </a:extLst>
          </p:cNvPr>
          <p:cNvSpPr>
            <a:spLocks noChangeShapeType="1"/>
          </p:cNvSpPr>
          <p:nvPr/>
        </p:nvSpPr>
        <p:spPr bwMode="auto">
          <a:xfrm>
            <a:off x="8534400" y="1582738"/>
            <a:ext cx="0" cy="460692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22" name="Text Box 18">
            <a:extLst>
              <a:ext uri="{FF2B5EF4-FFF2-40B4-BE49-F238E27FC236}">
                <a16:creationId xmlns:a16="http://schemas.microsoft.com/office/drawing/2014/main" id="{CC6E615A-F383-43F8-910F-67F1C23E93BD}"/>
              </a:ext>
            </a:extLst>
          </p:cNvPr>
          <p:cNvSpPr txBox="1">
            <a:spLocks noChangeArrowheads="1"/>
          </p:cNvSpPr>
          <p:nvPr/>
        </p:nvSpPr>
        <p:spPr bwMode="auto">
          <a:xfrm>
            <a:off x="365125" y="1582738"/>
            <a:ext cx="1158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2000"/>
              <a:t>初始状态</a:t>
            </a:r>
          </a:p>
        </p:txBody>
      </p:sp>
      <p:sp>
        <p:nvSpPr>
          <p:cNvPr id="200723" name="Line 19">
            <a:extLst>
              <a:ext uri="{FF2B5EF4-FFF2-40B4-BE49-F238E27FC236}">
                <a16:creationId xmlns:a16="http://schemas.microsoft.com/office/drawing/2014/main" id="{F60F950E-ADB0-E6A1-BD89-62E2F92F71A8}"/>
              </a:ext>
            </a:extLst>
          </p:cNvPr>
          <p:cNvSpPr>
            <a:spLocks noChangeShapeType="1"/>
          </p:cNvSpPr>
          <p:nvPr/>
        </p:nvSpPr>
        <p:spPr bwMode="auto">
          <a:xfrm>
            <a:off x="1600200" y="1887538"/>
            <a:ext cx="691038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24" name="Line 20">
            <a:extLst>
              <a:ext uri="{FF2B5EF4-FFF2-40B4-BE49-F238E27FC236}">
                <a16:creationId xmlns:a16="http://schemas.microsoft.com/office/drawing/2014/main" id="{55D2D064-F899-57AD-412B-74993CF3BDBE}"/>
              </a:ext>
            </a:extLst>
          </p:cNvPr>
          <p:cNvSpPr>
            <a:spLocks noChangeShapeType="1"/>
          </p:cNvSpPr>
          <p:nvPr/>
        </p:nvSpPr>
        <p:spPr bwMode="auto">
          <a:xfrm>
            <a:off x="1600200" y="2324100"/>
            <a:ext cx="691038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25" name="Line 21">
            <a:extLst>
              <a:ext uri="{FF2B5EF4-FFF2-40B4-BE49-F238E27FC236}">
                <a16:creationId xmlns:a16="http://schemas.microsoft.com/office/drawing/2014/main" id="{48137BDF-D605-1DE9-D200-1DB5A7D3F72F}"/>
              </a:ext>
            </a:extLst>
          </p:cNvPr>
          <p:cNvSpPr>
            <a:spLocks noChangeShapeType="1"/>
          </p:cNvSpPr>
          <p:nvPr/>
        </p:nvSpPr>
        <p:spPr bwMode="auto">
          <a:xfrm>
            <a:off x="5053013" y="1887538"/>
            <a:ext cx="0" cy="392271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27" name="Text Box 23">
            <a:extLst>
              <a:ext uri="{FF2B5EF4-FFF2-40B4-BE49-F238E27FC236}">
                <a16:creationId xmlns:a16="http://schemas.microsoft.com/office/drawing/2014/main" id="{71C98557-1C22-CDCF-1CA2-066988C77930}"/>
              </a:ext>
            </a:extLst>
          </p:cNvPr>
          <p:cNvSpPr txBox="1">
            <a:spLocks noChangeArrowheads="1"/>
          </p:cNvSpPr>
          <p:nvPr/>
        </p:nvSpPr>
        <p:spPr bwMode="auto">
          <a:xfrm>
            <a:off x="365125" y="1963738"/>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A</a:t>
            </a:r>
            <a:r>
              <a:rPr lang="zh-CN" altLang="en-US" sz="2000"/>
              <a:t>申请200</a:t>
            </a:r>
          </a:p>
        </p:txBody>
      </p:sp>
      <p:sp>
        <p:nvSpPr>
          <p:cNvPr id="200728" name="Text Box 24">
            <a:extLst>
              <a:ext uri="{FF2B5EF4-FFF2-40B4-BE49-F238E27FC236}">
                <a16:creationId xmlns:a16="http://schemas.microsoft.com/office/drawing/2014/main" id="{2284E0C9-9CF8-9C28-9DBF-AFDD62674A1C}"/>
              </a:ext>
            </a:extLst>
          </p:cNvPr>
          <p:cNvSpPr txBox="1">
            <a:spLocks noChangeArrowheads="1"/>
          </p:cNvSpPr>
          <p:nvPr/>
        </p:nvSpPr>
        <p:spPr bwMode="auto">
          <a:xfrm>
            <a:off x="365125" y="2398713"/>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B</a:t>
            </a:r>
            <a:r>
              <a:rPr lang="zh-CN" altLang="en-US" sz="2000"/>
              <a:t>申请120</a:t>
            </a:r>
          </a:p>
        </p:txBody>
      </p:sp>
      <p:sp>
        <p:nvSpPr>
          <p:cNvPr id="200729" name="Text Box 25">
            <a:extLst>
              <a:ext uri="{FF2B5EF4-FFF2-40B4-BE49-F238E27FC236}">
                <a16:creationId xmlns:a16="http://schemas.microsoft.com/office/drawing/2014/main" id="{D940D06B-9C9E-B9FB-ECD6-1BC23FA9C83C}"/>
              </a:ext>
            </a:extLst>
          </p:cNvPr>
          <p:cNvSpPr txBox="1">
            <a:spLocks noChangeArrowheads="1"/>
          </p:cNvSpPr>
          <p:nvPr/>
        </p:nvSpPr>
        <p:spPr bwMode="auto">
          <a:xfrm>
            <a:off x="365125" y="2833688"/>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C</a:t>
            </a:r>
            <a:r>
              <a:rPr lang="zh-CN" altLang="en-US" sz="2000"/>
              <a:t>申请240</a:t>
            </a:r>
          </a:p>
        </p:txBody>
      </p:sp>
      <p:sp>
        <p:nvSpPr>
          <p:cNvPr id="200730" name="Text Box 26">
            <a:extLst>
              <a:ext uri="{FF2B5EF4-FFF2-40B4-BE49-F238E27FC236}">
                <a16:creationId xmlns:a16="http://schemas.microsoft.com/office/drawing/2014/main" id="{9F199905-ED9D-279B-853A-1EF9E09BD208}"/>
              </a:ext>
            </a:extLst>
          </p:cNvPr>
          <p:cNvSpPr txBox="1">
            <a:spLocks noChangeArrowheads="1"/>
          </p:cNvSpPr>
          <p:nvPr/>
        </p:nvSpPr>
        <p:spPr bwMode="auto">
          <a:xfrm>
            <a:off x="365125" y="327025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D</a:t>
            </a:r>
            <a:r>
              <a:rPr lang="zh-CN" altLang="en-US" sz="2000"/>
              <a:t>申请100</a:t>
            </a:r>
          </a:p>
        </p:txBody>
      </p:sp>
      <p:sp>
        <p:nvSpPr>
          <p:cNvPr id="200731" name="Text Box 27">
            <a:extLst>
              <a:ext uri="{FF2B5EF4-FFF2-40B4-BE49-F238E27FC236}">
                <a16:creationId xmlns:a16="http://schemas.microsoft.com/office/drawing/2014/main" id="{394191C6-A163-8545-16E6-5C6631DD149F}"/>
              </a:ext>
            </a:extLst>
          </p:cNvPr>
          <p:cNvSpPr txBox="1">
            <a:spLocks noChangeArrowheads="1"/>
          </p:cNvSpPr>
          <p:nvPr/>
        </p:nvSpPr>
        <p:spPr bwMode="auto">
          <a:xfrm>
            <a:off x="365125" y="3705225"/>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     B</a:t>
            </a:r>
            <a:r>
              <a:rPr lang="zh-CN" altLang="en-US" sz="2000"/>
              <a:t>释放</a:t>
            </a:r>
          </a:p>
        </p:txBody>
      </p:sp>
      <p:sp>
        <p:nvSpPr>
          <p:cNvPr id="200732" name="Text Box 28">
            <a:extLst>
              <a:ext uri="{FF2B5EF4-FFF2-40B4-BE49-F238E27FC236}">
                <a16:creationId xmlns:a16="http://schemas.microsoft.com/office/drawing/2014/main" id="{8E27696E-749A-1A92-2BC2-A3C59D44AA9A}"/>
              </a:ext>
            </a:extLst>
          </p:cNvPr>
          <p:cNvSpPr txBox="1">
            <a:spLocks noChangeArrowheads="1"/>
          </p:cNvSpPr>
          <p:nvPr/>
        </p:nvSpPr>
        <p:spPr bwMode="auto">
          <a:xfrm>
            <a:off x="365125" y="4141788"/>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  E</a:t>
            </a:r>
            <a:r>
              <a:rPr lang="zh-CN" altLang="en-US" sz="2000"/>
              <a:t>申请60</a:t>
            </a:r>
          </a:p>
        </p:txBody>
      </p:sp>
      <p:sp>
        <p:nvSpPr>
          <p:cNvPr id="200734" name="Text Box 30">
            <a:extLst>
              <a:ext uri="{FF2B5EF4-FFF2-40B4-BE49-F238E27FC236}">
                <a16:creationId xmlns:a16="http://schemas.microsoft.com/office/drawing/2014/main" id="{10F43663-D91A-3433-1BCC-CDABB4C8CFE1}"/>
              </a:ext>
            </a:extLst>
          </p:cNvPr>
          <p:cNvSpPr txBox="1">
            <a:spLocks noChangeArrowheads="1"/>
          </p:cNvSpPr>
          <p:nvPr/>
        </p:nvSpPr>
        <p:spPr bwMode="auto">
          <a:xfrm>
            <a:off x="365125" y="5011738"/>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     C</a:t>
            </a:r>
            <a:r>
              <a:rPr lang="zh-CN" altLang="en-US" sz="2000"/>
              <a:t>释放</a:t>
            </a:r>
          </a:p>
        </p:txBody>
      </p:sp>
      <p:sp>
        <p:nvSpPr>
          <p:cNvPr id="200735" name="Text Box 31">
            <a:extLst>
              <a:ext uri="{FF2B5EF4-FFF2-40B4-BE49-F238E27FC236}">
                <a16:creationId xmlns:a16="http://schemas.microsoft.com/office/drawing/2014/main" id="{8CA3AFA1-0E2D-DF51-6601-0C45AEE4AEE4}"/>
              </a:ext>
            </a:extLst>
          </p:cNvPr>
          <p:cNvSpPr txBox="1">
            <a:spLocks noChangeArrowheads="1"/>
          </p:cNvSpPr>
          <p:nvPr/>
        </p:nvSpPr>
        <p:spPr bwMode="auto">
          <a:xfrm>
            <a:off x="365125" y="5440363"/>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     D</a:t>
            </a:r>
            <a:r>
              <a:rPr lang="zh-CN" altLang="en-US" sz="2000"/>
              <a:t>释放</a:t>
            </a:r>
          </a:p>
        </p:txBody>
      </p:sp>
      <p:sp>
        <p:nvSpPr>
          <p:cNvPr id="200736" name="Text Box 32">
            <a:extLst>
              <a:ext uri="{FF2B5EF4-FFF2-40B4-BE49-F238E27FC236}">
                <a16:creationId xmlns:a16="http://schemas.microsoft.com/office/drawing/2014/main" id="{5AD898FC-B23E-874F-2D80-DBC9F0590CAA}"/>
              </a:ext>
            </a:extLst>
          </p:cNvPr>
          <p:cNvSpPr txBox="1">
            <a:spLocks noChangeArrowheads="1"/>
          </p:cNvSpPr>
          <p:nvPr/>
        </p:nvSpPr>
        <p:spPr bwMode="auto">
          <a:xfrm>
            <a:off x="365125" y="5883275"/>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     E</a:t>
            </a:r>
            <a:r>
              <a:rPr lang="zh-CN" altLang="en-US" sz="2000"/>
              <a:t>释放</a:t>
            </a:r>
          </a:p>
        </p:txBody>
      </p:sp>
      <p:sp>
        <p:nvSpPr>
          <p:cNvPr id="200737" name="Text Box 33">
            <a:extLst>
              <a:ext uri="{FF2B5EF4-FFF2-40B4-BE49-F238E27FC236}">
                <a16:creationId xmlns:a16="http://schemas.microsoft.com/office/drawing/2014/main" id="{00BCB743-C079-31DB-BA12-7DD50036D8BC}"/>
              </a:ext>
            </a:extLst>
          </p:cNvPr>
          <p:cNvSpPr txBox="1">
            <a:spLocks noChangeArrowheads="1"/>
          </p:cNvSpPr>
          <p:nvPr/>
        </p:nvSpPr>
        <p:spPr bwMode="auto">
          <a:xfrm>
            <a:off x="6553200" y="19637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512</a:t>
            </a:r>
            <a:r>
              <a:rPr lang="en-US" altLang="zh-CN" sz="2000"/>
              <a:t>K</a:t>
            </a:r>
          </a:p>
        </p:txBody>
      </p:sp>
      <p:sp>
        <p:nvSpPr>
          <p:cNvPr id="200738" name="Line 34">
            <a:extLst>
              <a:ext uri="{FF2B5EF4-FFF2-40B4-BE49-F238E27FC236}">
                <a16:creationId xmlns:a16="http://schemas.microsoft.com/office/drawing/2014/main" id="{4B720AA3-844A-9B6A-D882-FC5C3130B84F}"/>
              </a:ext>
            </a:extLst>
          </p:cNvPr>
          <p:cNvSpPr>
            <a:spLocks noChangeShapeType="1"/>
          </p:cNvSpPr>
          <p:nvPr/>
        </p:nvSpPr>
        <p:spPr bwMode="auto">
          <a:xfrm>
            <a:off x="3325813" y="1887538"/>
            <a:ext cx="0" cy="392271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39" name="Text Box 35">
            <a:extLst>
              <a:ext uri="{FF2B5EF4-FFF2-40B4-BE49-F238E27FC236}">
                <a16:creationId xmlns:a16="http://schemas.microsoft.com/office/drawing/2014/main" id="{9805CEA6-FDC2-B83D-E687-D8CC234E2B65}"/>
              </a:ext>
            </a:extLst>
          </p:cNvPr>
          <p:cNvSpPr txBox="1">
            <a:spLocks noChangeArrowheads="1"/>
          </p:cNvSpPr>
          <p:nvPr/>
        </p:nvSpPr>
        <p:spPr bwMode="auto">
          <a:xfrm>
            <a:off x="3886200" y="19637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256</a:t>
            </a:r>
            <a:r>
              <a:rPr lang="en-US" altLang="zh-CN" sz="2000"/>
              <a:t>K</a:t>
            </a:r>
          </a:p>
        </p:txBody>
      </p:sp>
      <p:sp>
        <p:nvSpPr>
          <p:cNvPr id="200740" name="Text Box 36">
            <a:extLst>
              <a:ext uri="{FF2B5EF4-FFF2-40B4-BE49-F238E27FC236}">
                <a16:creationId xmlns:a16="http://schemas.microsoft.com/office/drawing/2014/main" id="{3C8308C4-7ECE-6F17-01F0-97698FBEABA7}"/>
              </a:ext>
            </a:extLst>
          </p:cNvPr>
          <p:cNvSpPr txBox="1">
            <a:spLocks noChangeArrowheads="1"/>
          </p:cNvSpPr>
          <p:nvPr/>
        </p:nvSpPr>
        <p:spPr bwMode="auto">
          <a:xfrm>
            <a:off x="2438400" y="19637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A</a:t>
            </a:r>
          </a:p>
        </p:txBody>
      </p:sp>
      <p:sp>
        <p:nvSpPr>
          <p:cNvPr id="200741" name="Line 37">
            <a:extLst>
              <a:ext uri="{FF2B5EF4-FFF2-40B4-BE49-F238E27FC236}">
                <a16:creationId xmlns:a16="http://schemas.microsoft.com/office/drawing/2014/main" id="{71ADADDE-1BA6-A7CD-C46D-315F40C6CEA2}"/>
              </a:ext>
            </a:extLst>
          </p:cNvPr>
          <p:cNvSpPr>
            <a:spLocks noChangeShapeType="1"/>
          </p:cNvSpPr>
          <p:nvPr/>
        </p:nvSpPr>
        <p:spPr bwMode="auto">
          <a:xfrm>
            <a:off x="1600200" y="2759075"/>
            <a:ext cx="691038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42" name="Text Box 38">
            <a:extLst>
              <a:ext uri="{FF2B5EF4-FFF2-40B4-BE49-F238E27FC236}">
                <a16:creationId xmlns:a16="http://schemas.microsoft.com/office/drawing/2014/main" id="{EE21D883-B729-5C4F-AA60-AEDF2F85C7E6}"/>
              </a:ext>
            </a:extLst>
          </p:cNvPr>
          <p:cNvSpPr txBox="1">
            <a:spLocks noChangeArrowheads="1"/>
          </p:cNvSpPr>
          <p:nvPr/>
        </p:nvSpPr>
        <p:spPr bwMode="auto">
          <a:xfrm>
            <a:off x="2438400" y="2420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A</a:t>
            </a:r>
          </a:p>
        </p:txBody>
      </p:sp>
      <p:sp>
        <p:nvSpPr>
          <p:cNvPr id="200743" name="Text Box 39">
            <a:extLst>
              <a:ext uri="{FF2B5EF4-FFF2-40B4-BE49-F238E27FC236}">
                <a16:creationId xmlns:a16="http://schemas.microsoft.com/office/drawing/2014/main" id="{44C86963-7697-C8FB-975A-3E26C6193E3A}"/>
              </a:ext>
            </a:extLst>
          </p:cNvPr>
          <p:cNvSpPr txBox="1">
            <a:spLocks noChangeArrowheads="1"/>
          </p:cNvSpPr>
          <p:nvPr/>
        </p:nvSpPr>
        <p:spPr bwMode="auto">
          <a:xfrm>
            <a:off x="6553200" y="24209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512</a:t>
            </a:r>
            <a:r>
              <a:rPr lang="en-US" altLang="zh-CN" sz="2000"/>
              <a:t>K</a:t>
            </a:r>
          </a:p>
        </p:txBody>
      </p:sp>
      <p:sp>
        <p:nvSpPr>
          <p:cNvPr id="200744" name="Line 40">
            <a:extLst>
              <a:ext uri="{FF2B5EF4-FFF2-40B4-BE49-F238E27FC236}">
                <a16:creationId xmlns:a16="http://schemas.microsoft.com/office/drawing/2014/main" id="{2C9EE8BD-BC55-AAA6-4B6B-1091AC3D1902}"/>
              </a:ext>
            </a:extLst>
          </p:cNvPr>
          <p:cNvSpPr>
            <a:spLocks noChangeShapeType="1"/>
          </p:cNvSpPr>
          <p:nvPr/>
        </p:nvSpPr>
        <p:spPr bwMode="auto">
          <a:xfrm>
            <a:off x="4191000" y="2344738"/>
            <a:ext cx="0" cy="349091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45" name="Text Box 41">
            <a:extLst>
              <a:ext uri="{FF2B5EF4-FFF2-40B4-BE49-F238E27FC236}">
                <a16:creationId xmlns:a16="http://schemas.microsoft.com/office/drawing/2014/main" id="{6B1F1F3B-E3D2-8D19-4741-E8BA8F928E63}"/>
              </a:ext>
            </a:extLst>
          </p:cNvPr>
          <p:cNvSpPr txBox="1">
            <a:spLocks noChangeArrowheads="1"/>
          </p:cNvSpPr>
          <p:nvPr/>
        </p:nvSpPr>
        <p:spPr bwMode="auto">
          <a:xfrm>
            <a:off x="4343400" y="24209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128</a:t>
            </a:r>
            <a:r>
              <a:rPr lang="en-US" altLang="zh-CN" sz="2000"/>
              <a:t>K</a:t>
            </a:r>
          </a:p>
        </p:txBody>
      </p:sp>
      <p:sp>
        <p:nvSpPr>
          <p:cNvPr id="200746" name="Text Box 42">
            <a:extLst>
              <a:ext uri="{FF2B5EF4-FFF2-40B4-BE49-F238E27FC236}">
                <a16:creationId xmlns:a16="http://schemas.microsoft.com/office/drawing/2014/main" id="{134910C7-6D3D-60AE-5C48-AC043ACD4BF4}"/>
              </a:ext>
            </a:extLst>
          </p:cNvPr>
          <p:cNvSpPr txBox="1">
            <a:spLocks noChangeArrowheads="1"/>
          </p:cNvSpPr>
          <p:nvPr/>
        </p:nvSpPr>
        <p:spPr bwMode="auto">
          <a:xfrm>
            <a:off x="3733800" y="2420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B</a:t>
            </a:r>
          </a:p>
        </p:txBody>
      </p:sp>
      <p:sp>
        <p:nvSpPr>
          <p:cNvPr id="200747" name="Line 43">
            <a:extLst>
              <a:ext uri="{FF2B5EF4-FFF2-40B4-BE49-F238E27FC236}">
                <a16:creationId xmlns:a16="http://schemas.microsoft.com/office/drawing/2014/main" id="{3DEE801E-3BC0-2BA8-8A8A-746A389BEFAE}"/>
              </a:ext>
            </a:extLst>
          </p:cNvPr>
          <p:cNvSpPr>
            <a:spLocks noChangeShapeType="1"/>
          </p:cNvSpPr>
          <p:nvPr/>
        </p:nvSpPr>
        <p:spPr bwMode="auto">
          <a:xfrm>
            <a:off x="1600200" y="3194050"/>
            <a:ext cx="691038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48" name="Text Box 44">
            <a:extLst>
              <a:ext uri="{FF2B5EF4-FFF2-40B4-BE49-F238E27FC236}">
                <a16:creationId xmlns:a16="http://schemas.microsoft.com/office/drawing/2014/main" id="{E5FFE4AB-09B4-97D3-E7A8-7E04E63B2FB2}"/>
              </a:ext>
            </a:extLst>
          </p:cNvPr>
          <p:cNvSpPr txBox="1">
            <a:spLocks noChangeArrowheads="1"/>
          </p:cNvSpPr>
          <p:nvPr/>
        </p:nvSpPr>
        <p:spPr bwMode="auto">
          <a:xfrm>
            <a:off x="2438400" y="28463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A</a:t>
            </a:r>
          </a:p>
        </p:txBody>
      </p:sp>
      <p:sp>
        <p:nvSpPr>
          <p:cNvPr id="200750" name="Text Box 46">
            <a:extLst>
              <a:ext uri="{FF2B5EF4-FFF2-40B4-BE49-F238E27FC236}">
                <a16:creationId xmlns:a16="http://schemas.microsoft.com/office/drawing/2014/main" id="{A117E767-C13A-5DA1-1675-3DD2A59E7E2E}"/>
              </a:ext>
            </a:extLst>
          </p:cNvPr>
          <p:cNvSpPr txBox="1">
            <a:spLocks noChangeArrowheads="1"/>
          </p:cNvSpPr>
          <p:nvPr/>
        </p:nvSpPr>
        <p:spPr bwMode="auto">
          <a:xfrm>
            <a:off x="3733800" y="28463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B</a:t>
            </a:r>
          </a:p>
        </p:txBody>
      </p:sp>
      <p:sp>
        <p:nvSpPr>
          <p:cNvPr id="200751" name="Line 47">
            <a:extLst>
              <a:ext uri="{FF2B5EF4-FFF2-40B4-BE49-F238E27FC236}">
                <a16:creationId xmlns:a16="http://schemas.microsoft.com/office/drawing/2014/main" id="{8B5895BC-21DB-32B1-7679-8204E143DC5D}"/>
              </a:ext>
            </a:extLst>
          </p:cNvPr>
          <p:cNvSpPr>
            <a:spLocks noChangeShapeType="1"/>
          </p:cNvSpPr>
          <p:nvPr/>
        </p:nvSpPr>
        <p:spPr bwMode="auto">
          <a:xfrm>
            <a:off x="6781800" y="2759075"/>
            <a:ext cx="0" cy="219233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52" name="Text Box 48">
            <a:extLst>
              <a:ext uri="{FF2B5EF4-FFF2-40B4-BE49-F238E27FC236}">
                <a16:creationId xmlns:a16="http://schemas.microsoft.com/office/drawing/2014/main" id="{0B9D12A1-FCF8-B63B-18A2-94B40BECF464}"/>
              </a:ext>
            </a:extLst>
          </p:cNvPr>
          <p:cNvSpPr txBox="1">
            <a:spLocks noChangeArrowheads="1"/>
          </p:cNvSpPr>
          <p:nvPr/>
        </p:nvSpPr>
        <p:spPr bwMode="auto">
          <a:xfrm>
            <a:off x="7391400" y="284638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256</a:t>
            </a:r>
            <a:r>
              <a:rPr lang="en-US" altLang="zh-CN" sz="2000"/>
              <a:t>K</a:t>
            </a:r>
          </a:p>
        </p:txBody>
      </p:sp>
      <p:sp>
        <p:nvSpPr>
          <p:cNvPr id="200753" name="Text Box 49">
            <a:extLst>
              <a:ext uri="{FF2B5EF4-FFF2-40B4-BE49-F238E27FC236}">
                <a16:creationId xmlns:a16="http://schemas.microsoft.com/office/drawing/2014/main" id="{5D0C017E-5412-B9D2-6D4B-B3E562B7C634}"/>
              </a:ext>
            </a:extLst>
          </p:cNvPr>
          <p:cNvSpPr txBox="1">
            <a:spLocks noChangeArrowheads="1"/>
          </p:cNvSpPr>
          <p:nvPr/>
        </p:nvSpPr>
        <p:spPr bwMode="auto">
          <a:xfrm>
            <a:off x="5867400" y="28463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C</a:t>
            </a:r>
          </a:p>
        </p:txBody>
      </p:sp>
      <p:sp>
        <p:nvSpPr>
          <p:cNvPr id="200754" name="Line 50">
            <a:extLst>
              <a:ext uri="{FF2B5EF4-FFF2-40B4-BE49-F238E27FC236}">
                <a16:creationId xmlns:a16="http://schemas.microsoft.com/office/drawing/2014/main" id="{59BD6508-517C-D7C8-6D24-5DF5EA135B51}"/>
              </a:ext>
            </a:extLst>
          </p:cNvPr>
          <p:cNvSpPr>
            <a:spLocks noChangeShapeType="1"/>
          </p:cNvSpPr>
          <p:nvPr/>
        </p:nvSpPr>
        <p:spPr bwMode="auto">
          <a:xfrm>
            <a:off x="1600200" y="3630613"/>
            <a:ext cx="691038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55" name="Text Box 51">
            <a:extLst>
              <a:ext uri="{FF2B5EF4-FFF2-40B4-BE49-F238E27FC236}">
                <a16:creationId xmlns:a16="http://schemas.microsoft.com/office/drawing/2014/main" id="{05086380-01D0-5731-9700-DFB7EB5203E2}"/>
              </a:ext>
            </a:extLst>
          </p:cNvPr>
          <p:cNvSpPr txBox="1">
            <a:spLocks noChangeArrowheads="1"/>
          </p:cNvSpPr>
          <p:nvPr/>
        </p:nvSpPr>
        <p:spPr bwMode="auto">
          <a:xfrm>
            <a:off x="2438400" y="3259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A</a:t>
            </a:r>
          </a:p>
        </p:txBody>
      </p:sp>
      <p:sp>
        <p:nvSpPr>
          <p:cNvPr id="200756" name="Text Box 52">
            <a:extLst>
              <a:ext uri="{FF2B5EF4-FFF2-40B4-BE49-F238E27FC236}">
                <a16:creationId xmlns:a16="http://schemas.microsoft.com/office/drawing/2014/main" id="{63C97ACB-9DB9-6944-D090-A05498500EE6}"/>
              </a:ext>
            </a:extLst>
          </p:cNvPr>
          <p:cNvSpPr txBox="1">
            <a:spLocks noChangeArrowheads="1"/>
          </p:cNvSpPr>
          <p:nvPr/>
        </p:nvSpPr>
        <p:spPr bwMode="auto">
          <a:xfrm>
            <a:off x="3733800" y="3259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B</a:t>
            </a:r>
          </a:p>
        </p:txBody>
      </p:sp>
      <p:sp>
        <p:nvSpPr>
          <p:cNvPr id="200757" name="Text Box 53">
            <a:extLst>
              <a:ext uri="{FF2B5EF4-FFF2-40B4-BE49-F238E27FC236}">
                <a16:creationId xmlns:a16="http://schemas.microsoft.com/office/drawing/2014/main" id="{85021ED5-064E-C929-C4AC-D786FCA2A13D}"/>
              </a:ext>
            </a:extLst>
          </p:cNvPr>
          <p:cNvSpPr txBox="1">
            <a:spLocks noChangeArrowheads="1"/>
          </p:cNvSpPr>
          <p:nvPr/>
        </p:nvSpPr>
        <p:spPr bwMode="auto">
          <a:xfrm>
            <a:off x="7391400" y="32591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256</a:t>
            </a:r>
            <a:r>
              <a:rPr lang="en-US" altLang="zh-CN" sz="2000"/>
              <a:t>K</a:t>
            </a:r>
          </a:p>
        </p:txBody>
      </p:sp>
      <p:sp>
        <p:nvSpPr>
          <p:cNvPr id="200758" name="Text Box 54">
            <a:extLst>
              <a:ext uri="{FF2B5EF4-FFF2-40B4-BE49-F238E27FC236}">
                <a16:creationId xmlns:a16="http://schemas.microsoft.com/office/drawing/2014/main" id="{6195C056-6653-09F2-5944-546AB399CD9B}"/>
              </a:ext>
            </a:extLst>
          </p:cNvPr>
          <p:cNvSpPr txBox="1">
            <a:spLocks noChangeArrowheads="1"/>
          </p:cNvSpPr>
          <p:nvPr/>
        </p:nvSpPr>
        <p:spPr bwMode="auto">
          <a:xfrm>
            <a:off x="5867400" y="3259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C</a:t>
            </a:r>
          </a:p>
        </p:txBody>
      </p:sp>
      <p:sp>
        <p:nvSpPr>
          <p:cNvPr id="200759" name="Text Box 55">
            <a:extLst>
              <a:ext uri="{FF2B5EF4-FFF2-40B4-BE49-F238E27FC236}">
                <a16:creationId xmlns:a16="http://schemas.microsoft.com/office/drawing/2014/main" id="{5F6FA556-8FAC-562A-A88C-9F540F4F3391}"/>
              </a:ext>
            </a:extLst>
          </p:cNvPr>
          <p:cNvSpPr txBox="1">
            <a:spLocks noChangeArrowheads="1"/>
          </p:cNvSpPr>
          <p:nvPr/>
        </p:nvSpPr>
        <p:spPr bwMode="auto">
          <a:xfrm>
            <a:off x="4572000" y="3259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D</a:t>
            </a:r>
          </a:p>
        </p:txBody>
      </p:sp>
      <p:sp>
        <p:nvSpPr>
          <p:cNvPr id="200760" name="Line 56">
            <a:extLst>
              <a:ext uri="{FF2B5EF4-FFF2-40B4-BE49-F238E27FC236}">
                <a16:creationId xmlns:a16="http://schemas.microsoft.com/office/drawing/2014/main" id="{75A7972C-8844-D95E-85F3-B34004CD405D}"/>
              </a:ext>
            </a:extLst>
          </p:cNvPr>
          <p:cNvSpPr>
            <a:spLocks noChangeShapeType="1"/>
          </p:cNvSpPr>
          <p:nvPr/>
        </p:nvSpPr>
        <p:spPr bwMode="auto">
          <a:xfrm>
            <a:off x="1600200" y="4065588"/>
            <a:ext cx="691038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61" name="Text Box 57">
            <a:extLst>
              <a:ext uri="{FF2B5EF4-FFF2-40B4-BE49-F238E27FC236}">
                <a16:creationId xmlns:a16="http://schemas.microsoft.com/office/drawing/2014/main" id="{051EBEE7-8563-6435-AA35-81916D8AF969}"/>
              </a:ext>
            </a:extLst>
          </p:cNvPr>
          <p:cNvSpPr txBox="1">
            <a:spLocks noChangeArrowheads="1"/>
          </p:cNvSpPr>
          <p:nvPr/>
        </p:nvSpPr>
        <p:spPr bwMode="auto">
          <a:xfrm>
            <a:off x="2438400" y="37163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A</a:t>
            </a:r>
          </a:p>
        </p:txBody>
      </p:sp>
      <p:sp>
        <p:nvSpPr>
          <p:cNvPr id="200762" name="Text Box 58">
            <a:extLst>
              <a:ext uri="{FF2B5EF4-FFF2-40B4-BE49-F238E27FC236}">
                <a16:creationId xmlns:a16="http://schemas.microsoft.com/office/drawing/2014/main" id="{C3013486-6F0D-1D06-BF35-CD803F575ED4}"/>
              </a:ext>
            </a:extLst>
          </p:cNvPr>
          <p:cNvSpPr txBox="1">
            <a:spLocks noChangeArrowheads="1"/>
          </p:cNvSpPr>
          <p:nvPr/>
        </p:nvSpPr>
        <p:spPr bwMode="auto">
          <a:xfrm>
            <a:off x="7391400" y="37163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256</a:t>
            </a:r>
            <a:r>
              <a:rPr lang="en-US" altLang="zh-CN" sz="2000"/>
              <a:t>K</a:t>
            </a:r>
          </a:p>
        </p:txBody>
      </p:sp>
      <p:sp>
        <p:nvSpPr>
          <p:cNvPr id="200763" name="Text Box 59">
            <a:extLst>
              <a:ext uri="{FF2B5EF4-FFF2-40B4-BE49-F238E27FC236}">
                <a16:creationId xmlns:a16="http://schemas.microsoft.com/office/drawing/2014/main" id="{41C47A34-CAA2-9A17-F15E-ACBF77D075CC}"/>
              </a:ext>
            </a:extLst>
          </p:cNvPr>
          <p:cNvSpPr txBox="1">
            <a:spLocks noChangeArrowheads="1"/>
          </p:cNvSpPr>
          <p:nvPr/>
        </p:nvSpPr>
        <p:spPr bwMode="auto">
          <a:xfrm>
            <a:off x="5867400" y="37163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C</a:t>
            </a:r>
          </a:p>
        </p:txBody>
      </p:sp>
      <p:sp>
        <p:nvSpPr>
          <p:cNvPr id="200764" name="Text Box 60">
            <a:extLst>
              <a:ext uri="{FF2B5EF4-FFF2-40B4-BE49-F238E27FC236}">
                <a16:creationId xmlns:a16="http://schemas.microsoft.com/office/drawing/2014/main" id="{DA7E581E-7105-EB72-C34A-485568E2EBBE}"/>
              </a:ext>
            </a:extLst>
          </p:cNvPr>
          <p:cNvSpPr txBox="1">
            <a:spLocks noChangeArrowheads="1"/>
          </p:cNvSpPr>
          <p:nvPr/>
        </p:nvSpPr>
        <p:spPr bwMode="auto">
          <a:xfrm>
            <a:off x="4572000" y="37163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D</a:t>
            </a:r>
          </a:p>
        </p:txBody>
      </p:sp>
      <p:sp>
        <p:nvSpPr>
          <p:cNvPr id="200765" name="Text Box 61">
            <a:extLst>
              <a:ext uri="{FF2B5EF4-FFF2-40B4-BE49-F238E27FC236}">
                <a16:creationId xmlns:a16="http://schemas.microsoft.com/office/drawing/2014/main" id="{10E44199-31B8-52EA-ED45-CF5C3AC08602}"/>
              </a:ext>
            </a:extLst>
          </p:cNvPr>
          <p:cNvSpPr txBox="1">
            <a:spLocks noChangeArrowheads="1"/>
          </p:cNvSpPr>
          <p:nvPr/>
        </p:nvSpPr>
        <p:spPr bwMode="auto">
          <a:xfrm>
            <a:off x="3505200" y="37163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128</a:t>
            </a:r>
            <a:r>
              <a:rPr lang="en-US" altLang="zh-CN" sz="2000"/>
              <a:t>K</a:t>
            </a:r>
          </a:p>
        </p:txBody>
      </p:sp>
      <p:sp>
        <p:nvSpPr>
          <p:cNvPr id="200766" name="Line 62">
            <a:extLst>
              <a:ext uri="{FF2B5EF4-FFF2-40B4-BE49-F238E27FC236}">
                <a16:creationId xmlns:a16="http://schemas.microsoft.com/office/drawing/2014/main" id="{7D66BC5D-187E-7864-DDA3-A0E1DD8C6C08}"/>
              </a:ext>
            </a:extLst>
          </p:cNvPr>
          <p:cNvSpPr>
            <a:spLocks noChangeShapeType="1"/>
          </p:cNvSpPr>
          <p:nvPr/>
        </p:nvSpPr>
        <p:spPr bwMode="auto">
          <a:xfrm>
            <a:off x="1600200" y="4500563"/>
            <a:ext cx="691038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67" name="Text Box 63">
            <a:extLst>
              <a:ext uri="{FF2B5EF4-FFF2-40B4-BE49-F238E27FC236}">
                <a16:creationId xmlns:a16="http://schemas.microsoft.com/office/drawing/2014/main" id="{DC7CF821-6ED2-3435-1A80-52E97B87C602}"/>
              </a:ext>
            </a:extLst>
          </p:cNvPr>
          <p:cNvSpPr txBox="1">
            <a:spLocks noChangeArrowheads="1"/>
          </p:cNvSpPr>
          <p:nvPr/>
        </p:nvSpPr>
        <p:spPr bwMode="auto">
          <a:xfrm>
            <a:off x="2438400" y="4173538"/>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A</a:t>
            </a:r>
          </a:p>
        </p:txBody>
      </p:sp>
      <p:sp>
        <p:nvSpPr>
          <p:cNvPr id="200768" name="Text Box 64">
            <a:extLst>
              <a:ext uri="{FF2B5EF4-FFF2-40B4-BE49-F238E27FC236}">
                <a16:creationId xmlns:a16="http://schemas.microsoft.com/office/drawing/2014/main" id="{78AC94D1-96C9-AFB4-DD8B-ACB97B614370}"/>
              </a:ext>
            </a:extLst>
          </p:cNvPr>
          <p:cNvSpPr txBox="1">
            <a:spLocks noChangeArrowheads="1"/>
          </p:cNvSpPr>
          <p:nvPr/>
        </p:nvSpPr>
        <p:spPr bwMode="auto">
          <a:xfrm>
            <a:off x="7391400" y="41735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256</a:t>
            </a:r>
            <a:r>
              <a:rPr lang="en-US" altLang="zh-CN" sz="2000"/>
              <a:t>K</a:t>
            </a:r>
          </a:p>
        </p:txBody>
      </p:sp>
      <p:sp>
        <p:nvSpPr>
          <p:cNvPr id="200769" name="Text Box 65">
            <a:extLst>
              <a:ext uri="{FF2B5EF4-FFF2-40B4-BE49-F238E27FC236}">
                <a16:creationId xmlns:a16="http://schemas.microsoft.com/office/drawing/2014/main" id="{2FCC3799-7F88-F837-5E8F-C943FAEF5927}"/>
              </a:ext>
            </a:extLst>
          </p:cNvPr>
          <p:cNvSpPr txBox="1">
            <a:spLocks noChangeArrowheads="1"/>
          </p:cNvSpPr>
          <p:nvPr/>
        </p:nvSpPr>
        <p:spPr bwMode="auto">
          <a:xfrm>
            <a:off x="5867400" y="41735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C</a:t>
            </a:r>
          </a:p>
        </p:txBody>
      </p:sp>
      <p:sp>
        <p:nvSpPr>
          <p:cNvPr id="200770" name="Text Box 66">
            <a:extLst>
              <a:ext uri="{FF2B5EF4-FFF2-40B4-BE49-F238E27FC236}">
                <a16:creationId xmlns:a16="http://schemas.microsoft.com/office/drawing/2014/main" id="{74CF1C6C-8719-6AD5-D039-EA0839F1069B}"/>
              </a:ext>
            </a:extLst>
          </p:cNvPr>
          <p:cNvSpPr txBox="1">
            <a:spLocks noChangeArrowheads="1"/>
          </p:cNvSpPr>
          <p:nvPr/>
        </p:nvSpPr>
        <p:spPr bwMode="auto">
          <a:xfrm>
            <a:off x="4572000" y="41735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D</a:t>
            </a:r>
          </a:p>
        </p:txBody>
      </p:sp>
      <p:sp>
        <p:nvSpPr>
          <p:cNvPr id="200772" name="Line 68">
            <a:extLst>
              <a:ext uri="{FF2B5EF4-FFF2-40B4-BE49-F238E27FC236}">
                <a16:creationId xmlns:a16="http://schemas.microsoft.com/office/drawing/2014/main" id="{C40EDDAF-6FF9-542C-6147-A82692FAEBF4}"/>
              </a:ext>
            </a:extLst>
          </p:cNvPr>
          <p:cNvSpPr>
            <a:spLocks noChangeShapeType="1"/>
          </p:cNvSpPr>
          <p:nvPr/>
        </p:nvSpPr>
        <p:spPr bwMode="auto">
          <a:xfrm>
            <a:off x="3765550" y="4065588"/>
            <a:ext cx="0" cy="176371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73" name="Text Box 69">
            <a:extLst>
              <a:ext uri="{FF2B5EF4-FFF2-40B4-BE49-F238E27FC236}">
                <a16:creationId xmlns:a16="http://schemas.microsoft.com/office/drawing/2014/main" id="{90615B08-1431-F5DA-35A6-3A57B1C612BD}"/>
              </a:ext>
            </a:extLst>
          </p:cNvPr>
          <p:cNvSpPr txBox="1">
            <a:spLocks noChangeArrowheads="1"/>
          </p:cNvSpPr>
          <p:nvPr/>
        </p:nvSpPr>
        <p:spPr bwMode="auto">
          <a:xfrm>
            <a:off x="3886200" y="41735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64</a:t>
            </a:r>
          </a:p>
        </p:txBody>
      </p:sp>
      <p:sp>
        <p:nvSpPr>
          <p:cNvPr id="200774" name="Text Box 70">
            <a:extLst>
              <a:ext uri="{FF2B5EF4-FFF2-40B4-BE49-F238E27FC236}">
                <a16:creationId xmlns:a16="http://schemas.microsoft.com/office/drawing/2014/main" id="{C7E2773D-93CE-6BBE-C63C-F49FF4AD3802}"/>
              </a:ext>
            </a:extLst>
          </p:cNvPr>
          <p:cNvSpPr txBox="1">
            <a:spLocks noChangeArrowheads="1"/>
          </p:cNvSpPr>
          <p:nvPr/>
        </p:nvSpPr>
        <p:spPr bwMode="auto">
          <a:xfrm>
            <a:off x="3505200" y="41735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E</a:t>
            </a:r>
          </a:p>
        </p:txBody>
      </p:sp>
      <p:sp>
        <p:nvSpPr>
          <p:cNvPr id="200775" name="Line 71">
            <a:extLst>
              <a:ext uri="{FF2B5EF4-FFF2-40B4-BE49-F238E27FC236}">
                <a16:creationId xmlns:a16="http://schemas.microsoft.com/office/drawing/2014/main" id="{9F2FF893-4A7B-64EF-93CE-94DB2B6D396A}"/>
              </a:ext>
            </a:extLst>
          </p:cNvPr>
          <p:cNvSpPr>
            <a:spLocks noChangeShapeType="1"/>
          </p:cNvSpPr>
          <p:nvPr/>
        </p:nvSpPr>
        <p:spPr bwMode="auto">
          <a:xfrm>
            <a:off x="1600200" y="4937125"/>
            <a:ext cx="691038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76" name="Text Box 72">
            <a:extLst>
              <a:ext uri="{FF2B5EF4-FFF2-40B4-BE49-F238E27FC236}">
                <a16:creationId xmlns:a16="http://schemas.microsoft.com/office/drawing/2014/main" id="{2B95D2E8-8419-C7EF-4BE4-A7CF0A40B0EE}"/>
              </a:ext>
            </a:extLst>
          </p:cNvPr>
          <p:cNvSpPr txBox="1">
            <a:spLocks noChangeArrowheads="1"/>
          </p:cNvSpPr>
          <p:nvPr/>
        </p:nvSpPr>
        <p:spPr bwMode="auto">
          <a:xfrm>
            <a:off x="7391400" y="45545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256</a:t>
            </a:r>
            <a:r>
              <a:rPr lang="en-US" altLang="zh-CN" sz="2000"/>
              <a:t>K</a:t>
            </a:r>
          </a:p>
        </p:txBody>
      </p:sp>
      <p:sp>
        <p:nvSpPr>
          <p:cNvPr id="200777" name="Text Box 73">
            <a:extLst>
              <a:ext uri="{FF2B5EF4-FFF2-40B4-BE49-F238E27FC236}">
                <a16:creationId xmlns:a16="http://schemas.microsoft.com/office/drawing/2014/main" id="{D9B56D12-EBA7-AF87-9B62-9BFB13CABDBF}"/>
              </a:ext>
            </a:extLst>
          </p:cNvPr>
          <p:cNvSpPr txBox="1">
            <a:spLocks noChangeArrowheads="1"/>
          </p:cNvSpPr>
          <p:nvPr/>
        </p:nvSpPr>
        <p:spPr bwMode="auto">
          <a:xfrm>
            <a:off x="5867400" y="45545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C</a:t>
            </a:r>
          </a:p>
        </p:txBody>
      </p:sp>
      <p:sp>
        <p:nvSpPr>
          <p:cNvPr id="200778" name="Text Box 74">
            <a:extLst>
              <a:ext uri="{FF2B5EF4-FFF2-40B4-BE49-F238E27FC236}">
                <a16:creationId xmlns:a16="http://schemas.microsoft.com/office/drawing/2014/main" id="{E99AEB15-0DED-1C36-74C1-8F2C3E51CFE2}"/>
              </a:ext>
            </a:extLst>
          </p:cNvPr>
          <p:cNvSpPr txBox="1">
            <a:spLocks noChangeArrowheads="1"/>
          </p:cNvSpPr>
          <p:nvPr/>
        </p:nvSpPr>
        <p:spPr bwMode="auto">
          <a:xfrm>
            <a:off x="4572000" y="45545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D</a:t>
            </a:r>
          </a:p>
        </p:txBody>
      </p:sp>
      <p:sp>
        <p:nvSpPr>
          <p:cNvPr id="200779" name="Text Box 75">
            <a:extLst>
              <a:ext uri="{FF2B5EF4-FFF2-40B4-BE49-F238E27FC236}">
                <a16:creationId xmlns:a16="http://schemas.microsoft.com/office/drawing/2014/main" id="{E6AF2707-ABAE-B10B-6A0B-0517F1F0196A}"/>
              </a:ext>
            </a:extLst>
          </p:cNvPr>
          <p:cNvSpPr txBox="1">
            <a:spLocks noChangeArrowheads="1"/>
          </p:cNvSpPr>
          <p:nvPr/>
        </p:nvSpPr>
        <p:spPr bwMode="auto">
          <a:xfrm>
            <a:off x="3886200" y="45545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64</a:t>
            </a:r>
          </a:p>
        </p:txBody>
      </p:sp>
      <p:sp>
        <p:nvSpPr>
          <p:cNvPr id="200780" name="Text Box 76">
            <a:extLst>
              <a:ext uri="{FF2B5EF4-FFF2-40B4-BE49-F238E27FC236}">
                <a16:creationId xmlns:a16="http://schemas.microsoft.com/office/drawing/2014/main" id="{37271333-E1CE-3B76-E913-C06AB46287C7}"/>
              </a:ext>
            </a:extLst>
          </p:cNvPr>
          <p:cNvSpPr txBox="1">
            <a:spLocks noChangeArrowheads="1"/>
          </p:cNvSpPr>
          <p:nvPr/>
        </p:nvSpPr>
        <p:spPr bwMode="auto">
          <a:xfrm>
            <a:off x="3505200" y="45545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E</a:t>
            </a:r>
          </a:p>
        </p:txBody>
      </p:sp>
      <p:sp>
        <p:nvSpPr>
          <p:cNvPr id="200781" name="Text Box 77">
            <a:extLst>
              <a:ext uri="{FF2B5EF4-FFF2-40B4-BE49-F238E27FC236}">
                <a16:creationId xmlns:a16="http://schemas.microsoft.com/office/drawing/2014/main" id="{973CA419-EEC5-CC4C-8DB4-40AE6235774C}"/>
              </a:ext>
            </a:extLst>
          </p:cNvPr>
          <p:cNvSpPr txBox="1">
            <a:spLocks noChangeArrowheads="1"/>
          </p:cNvSpPr>
          <p:nvPr/>
        </p:nvSpPr>
        <p:spPr bwMode="auto">
          <a:xfrm>
            <a:off x="2286000" y="45545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256</a:t>
            </a:r>
            <a:r>
              <a:rPr lang="en-US" altLang="zh-CN" sz="2000"/>
              <a:t>K</a:t>
            </a:r>
          </a:p>
        </p:txBody>
      </p:sp>
      <p:sp>
        <p:nvSpPr>
          <p:cNvPr id="200782" name="Line 78">
            <a:extLst>
              <a:ext uri="{FF2B5EF4-FFF2-40B4-BE49-F238E27FC236}">
                <a16:creationId xmlns:a16="http://schemas.microsoft.com/office/drawing/2014/main" id="{B3AE947C-D53A-6D50-368F-2A8B5C592470}"/>
              </a:ext>
            </a:extLst>
          </p:cNvPr>
          <p:cNvSpPr>
            <a:spLocks noChangeShapeType="1"/>
          </p:cNvSpPr>
          <p:nvPr/>
        </p:nvSpPr>
        <p:spPr bwMode="auto">
          <a:xfrm>
            <a:off x="1600200" y="5372100"/>
            <a:ext cx="691038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83" name="Text Box 79">
            <a:extLst>
              <a:ext uri="{FF2B5EF4-FFF2-40B4-BE49-F238E27FC236}">
                <a16:creationId xmlns:a16="http://schemas.microsoft.com/office/drawing/2014/main" id="{3EEE44A8-2959-5C11-D6E7-21F9AC53CE86}"/>
              </a:ext>
            </a:extLst>
          </p:cNvPr>
          <p:cNvSpPr txBox="1">
            <a:spLocks noChangeArrowheads="1"/>
          </p:cNvSpPr>
          <p:nvPr/>
        </p:nvSpPr>
        <p:spPr bwMode="auto">
          <a:xfrm>
            <a:off x="4572000" y="50117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D</a:t>
            </a:r>
          </a:p>
        </p:txBody>
      </p:sp>
      <p:sp>
        <p:nvSpPr>
          <p:cNvPr id="200784" name="Text Box 80">
            <a:extLst>
              <a:ext uri="{FF2B5EF4-FFF2-40B4-BE49-F238E27FC236}">
                <a16:creationId xmlns:a16="http://schemas.microsoft.com/office/drawing/2014/main" id="{719A9B28-F292-E65F-2AD9-47552A17B60D}"/>
              </a:ext>
            </a:extLst>
          </p:cNvPr>
          <p:cNvSpPr txBox="1">
            <a:spLocks noChangeArrowheads="1"/>
          </p:cNvSpPr>
          <p:nvPr/>
        </p:nvSpPr>
        <p:spPr bwMode="auto">
          <a:xfrm>
            <a:off x="3886200" y="50117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64</a:t>
            </a:r>
          </a:p>
        </p:txBody>
      </p:sp>
      <p:sp>
        <p:nvSpPr>
          <p:cNvPr id="200786" name="Text Box 82">
            <a:extLst>
              <a:ext uri="{FF2B5EF4-FFF2-40B4-BE49-F238E27FC236}">
                <a16:creationId xmlns:a16="http://schemas.microsoft.com/office/drawing/2014/main" id="{5BAC9319-EB93-366A-E107-36BD145F6431}"/>
              </a:ext>
            </a:extLst>
          </p:cNvPr>
          <p:cNvSpPr txBox="1">
            <a:spLocks noChangeArrowheads="1"/>
          </p:cNvSpPr>
          <p:nvPr/>
        </p:nvSpPr>
        <p:spPr bwMode="auto">
          <a:xfrm>
            <a:off x="2286000" y="50117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256</a:t>
            </a:r>
            <a:r>
              <a:rPr lang="en-US" altLang="zh-CN" sz="2000"/>
              <a:t>K</a:t>
            </a:r>
          </a:p>
        </p:txBody>
      </p:sp>
      <p:sp>
        <p:nvSpPr>
          <p:cNvPr id="200787" name="Text Box 83">
            <a:extLst>
              <a:ext uri="{FF2B5EF4-FFF2-40B4-BE49-F238E27FC236}">
                <a16:creationId xmlns:a16="http://schemas.microsoft.com/office/drawing/2014/main" id="{2F03D405-D3EA-EEF9-1561-5358FC202BAE}"/>
              </a:ext>
            </a:extLst>
          </p:cNvPr>
          <p:cNvSpPr txBox="1">
            <a:spLocks noChangeArrowheads="1"/>
          </p:cNvSpPr>
          <p:nvPr/>
        </p:nvSpPr>
        <p:spPr bwMode="auto">
          <a:xfrm>
            <a:off x="6553200" y="50117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512</a:t>
            </a:r>
            <a:r>
              <a:rPr lang="en-US" altLang="zh-CN" sz="2000"/>
              <a:t>K</a:t>
            </a:r>
          </a:p>
        </p:txBody>
      </p:sp>
      <p:sp>
        <p:nvSpPr>
          <p:cNvPr id="200788" name="Line 84">
            <a:extLst>
              <a:ext uri="{FF2B5EF4-FFF2-40B4-BE49-F238E27FC236}">
                <a16:creationId xmlns:a16="http://schemas.microsoft.com/office/drawing/2014/main" id="{86723DB4-B5A7-7953-44F1-60C29263E247}"/>
              </a:ext>
            </a:extLst>
          </p:cNvPr>
          <p:cNvSpPr>
            <a:spLocks noChangeShapeType="1"/>
          </p:cNvSpPr>
          <p:nvPr/>
        </p:nvSpPr>
        <p:spPr bwMode="auto">
          <a:xfrm>
            <a:off x="1600200" y="5807075"/>
            <a:ext cx="691038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89" name="Text Box 85">
            <a:extLst>
              <a:ext uri="{FF2B5EF4-FFF2-40B4-BE49-F238E27FC236}">
                <a16:creationId xmlns:a16="http://schemas.microsoft.com/office/drawing/2014/main" id="{04137808-9ABA-B119-9DE4-B7F3CFB6F37B}"/>
              </a:ext>
            </a:extLst>
          </p:cNvPr>
          <p:cNvSpPr txBox="1">
            <a:spLocks noChangeArrowheads="1"/>
          </p:cNvSpPr>
          <p:nvPr/>
        </p:nvSpPr>
        <p:spPr bwMode="auto">
          <a:xfrm>
            <a:off x="3505200" y="5468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E</a:t>
            </a:r>
          </a:p>
        </p:txBody>
      </p:sp>
      <p:sp>
        <p:nvSpPr>
          <p:cNvPr id="200790" name="Text Box 86">
            <a:extLst>
              <a:ext uri="{FF2B5EF4-FFF2-40B4-BE49-F238E27FC236}">
                <a16:creationId xmlns:a16="http://schemas.microsoft.com/office/drawing/2014/main" id="{D02C0664-2898-4BF1-CADB-EDA69775DA59}"/>
              </a:ext>
            </a:extLst>
          </p:cNvPr>
          <p:cNvSpPr txBox="1">
            <a:spLocks noChangeArrowheads="1"/>
          </p:cNvSpPr>
          <p:nvPr/>
        </p:nvSpPr>
        <p:spPr bwMode="auto">
          <a:xfrm>
            <a:off x="3886200" y="5468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en-US" altLang="zh-CN" sz="2000"/>
              <a:t>64</a:t>
            </a:r>
          </a:p>
        </p:txBody>
      </p:sp>
      <p:sp>
        <p:nvSpPr>
          <p:cNvPr id="200791" name="Text Box 87">
            <a:extLst>
              <a:ext uri="{FF2B5EF4-FFF2-40B4-BE49-F238E27FC236}">
                <a16:creationId xmlns:a16="http://schemas.microsoft.com/office/drawing/2014/main" id="{D2538392-0463-BABA-540E-57FFE7398860}"/>
              </a:ext>
            </a:extLst>
          </p:cNvPr>
          <p:cNvSpPr txBox="1">
            <a:spLocks noChangeArrowheads="1"/>
          </p:cNvSpPr>
          <p:nvPr/>
        </p:nvSpPr>
        <p:spPr bwMode="auto">
          <a:xfrm>
            <a:off x="2286000" y="54689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256</a:t>
            </a:r>
            <a:r>
              <a:rPr lang="en-US" altLang="zh-CN" sz="2000"/>
              <a:t>K</a:t>
            </a:r>
          </a:p>
        </p:txBody>
      </p:sp>
      <p:sp>
        <p:nvSpPr>
          <p:cNvPr id="200792" name="Text Box 88">
            <a:extLst>
              <a:ext uri="{FF2B5EF4-FFF2-40B4-BE49-F238E27FC236}">
                <a16:creationId xmlns:a16="http://schemas.microsoft.com/office/drawing/2014/main" id="{2945B157-A7E9-CC3E-04D9-8DF1FC56AE2C}"/>
              </a:ext>
            </a:extLst>
          </p:cNvPr>
          <p:cNvSpPr txBox="1">
            <a:spLocks noChangeArrowheads="1"/>
          </p:cNvSpPr>
          <p:nvPr/>
        </p:nvSpPr>
        <p:spPr bwMode="auto">
          <a:xfrm>
            <a:off x="6553200" y="54689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512</a:t>
            </a:r>
            <a:r>
              <a:rPr lang="en-US" altLang="zh-CN" sz="2000"/>
              <a:t>K</a:t>
            </a:r>
          </a:p>
        </p:txBody>
      </p:sp>
      <p:sp>
        <p:nvSpPr>
          <p:cNvPr id="200793" name="Text Box 89">
            <a:extLst>
              <a:ext uri="{FF2B5EF4-FFF2-40B4-BE49-F238E27FC236}">
                <a16:creationId xmlns:a16="http://schemas.microsoft.com/office/drawing/2014/main" id="{9A7E2F45-AEAA-E9F3-5BCB-5F104570694E}"/>
              </a:ext>
            </a:extLst>
          </p:cNvPr>
          <p:cNvSpPr txBox="1">
            <a:spLocks noChangeArrowheads="1"/>
          </p:cNvSpPr>
          <p:nvPr/>
        </p:nvSpPr>
        <p:spPr bwMode="auto">
          <a:xfrm>
            <a:off x="4343400" y="54689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128</a:t>
            </a:r>
            <a:r>
              <a:rPr lang="en-US" altLang="zh-CN" sz="2000"/>
              <a:t>K</a:t>
            </a:r>
          </a:p>
        </p:txBody>
      </p:sp>
      <p:sp>
        <p:nvSpPr>
          <p:cNvPr id="200794" name="Text Box 90">
            <a:extLst>
              <a:ext uri="{FF2B5EF4-FFF2-40B4-BE49-F238E27FC236}">
                <a16:creationId xmlns:a16="http://schemas.microsoft.com/office/drawing/2014/main" id="{8A66580E-6773-D00B-C6D9-7DBF18B69AA3}"/>
              </a:ext>
            </a:extLst>
          </p:cNvPr>
          <p:cNvSpPr txBox="1">
            <a:spLocks noChangeArrowheads="1"/>
          </p:cNvSpPr>
          <p:nvPr/>
        </p:nvSpPr>
        <p:spPr bwMode="auto">
          <a:xfrm>
            <a:off x="4343400" y="2801938"/>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2000"/>
              <a:t>128</a:t>
            </a:r>
            <a:r>
              <a:rPr lang="en-US" altLang="zh-CN" sz="2000"/>
              <a:t>K</a:t>
            </a:r>
          </a:p>
        </p:txBody>
      </p:sp>
      <p:sp>
        <p:nvSpPr>
          <p:cNvPr id="200795" name="Line 91">
            <a:extLst>
              <a:ext uri="{FF2B5EF4-FFF2-40B4-BE49-F238E27FC236}">
                <a16:creationId xmlns:a16="http://schemas.microsoft.com/office/drawing/2014/main" id="{A48297DC-3395-D05D-F3D7-302D2C412281}"/>
              </a:ext>
            </a:extLst>
          </p:cNvPr>
          <p:cNvSpPr>
            <a:spLocks noChangeShapeType="1"/>
          </p:cNvSpPr>
          <p:nvPr/>
        </p:nvSpPr>
        <p:spPr bwMode="auto">
          <a:xfrm>
            <a:off x="1600200" y="6230938"/>
            <a:ext cx="691038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iterate type="wd">
                                    <p:tmPct val="100000"/>
                                  </p:iterate>
                                  <p:childTnLst>
                                    <p:set>
                                      <p:cBhvr>
                                        <p:cTn id="6" dur="1" fill="hold">
                                          <p:stCondLst>
                                            <p:cond delay="0"/>
                                          </p:stCondLst>
                                        </p:cTn>
                                        <p:tgtEl>
                                          <p:spTgt spid="200722"/>
                                        </p:tgtEl>
                                        <p:attrNameLst>
                                          <p:attrName>style.visibility</p:attrName>
                                        </p:attrNameLst>
                                      </p:cBhvr>
                                      <p:to>
                                        <p:strVal val="visible"/>
                                      </p:to>
                                    </p:set>
                                    <p:animEffect transition="in" filter="barn(outHorizontal)">
                                      <p:cBhvr>
                                        <p:cTn id="7" dur="300"/>
                                        <p:tgtEl>
                                          <p:spTgt spid="2007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nodeType="clickEffect">
                                  <p:stCondLst>
                                    <p:cond delay="0"/>
                                  </p:stCondLst>
                                  <p:childTnLst>
                                    <p:set>
                                      <p:cBhvr>
                                        <p:cTn id="11" dur="1" fill="hold">
                                          <p:stCondLst>
                                            <p:cond delay="0"/>
                                          </p:stCondLst>
                                        </p:cTn>
                                        <p:tgtEl>
                                          <p:spTgt spid="200723"/>
                                        </p:tgtEl>
                                        <p:attrNameLst>
                                          <p:attrName>style.visibility</p:attrName>
                                        </p:attrNameLst>
                                      </p:cBhvr>
                                      <p:to>
                                        <p:strVal val="visible"/>
                                      </p:to>
                                    </p:set>
                                    <p:animEffect transition="in" filter="barn(outVertical)">
                                      <p:cBhvr>
                                        <p:cTn id="12" dur="500"/>
                                        <p:tgtEl>
                                          <p:spTgt spid="2007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200727"/>
                                        </p:tgtEl>
                                        <p:attrNameLst>
                                          <p:attrName>style.visibility</p:attrName>
                                        </p:attrNameLst>
                                      </p:cBhvr>
                                      <p:to>
                                        <p:strVal val="visible"/>
                                      </p:to>
                                    </p:set>
                                    <p:animEffect transition="in" filter="barn(outHorizontal)">
                                      <p:cBhvr>
                                        <p:cTn id="17" dur="500"/>
                                        <p:tgtEl>
                                          <p:spTgt spid="2007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nodeType="clickEffect">
                                  <p:stCondLst>
                                    <p:cond delay="0"/>
                                  </p:stCondLst>
                                  <p:childTnLst>
                                    <p:set>
                                      <p:cBhvr>
                                        <p:cTn id="21" dur="1" fill="hold">
                                          <p:stCondLst>
                                            <p:cond delay="0"/>
                                          </p:stCondLst>
                                        </p:cTn>
                                        <p:tgtEl>
                                          <p:spTgt spid="200724"/>
                                        </p:tgtEl>
                                        <p:attrNameLst>
                                          <p:attrName>style.visibility</p:attrName>
                                        </p:attrNameLst>
                                      </p:cBhvr>
                                      <p:to>
                                        <p:strVal val="visible"/>
                                      </p:to>
                                    </p:set>
                                    <p:animEffect transition="in" filter="barn(outVertical)">
                                      <p:cBhvr>
                                        <p:cTn id="22" dur="500"/>
                                        <p:tgtEl>
                                          <p:spTgt spid="2007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200725"/>
                                        </p:tgtEl>
                                        <p:attrNameLst>
                                          <p:attrName>style.visibility</p:attrName>
                                        </p:attrNameLst>
                                      </p:cBhvr>
                                      <p:to>
                                        <p:strVal val="visible"/>
                                      </p:to>
                                    </p:set>
                                    <p:animEffect transition="in" filter="barn(outHorizontal)">
                                      <p:cBhvr>
                                        <p:cTn id="27" dur="500"/>
                                        <p:tgtEl>
                                          <p:spTgt spid="2007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200737"/>
                                        </p:tgtEl>
                                        <p:attrNameLst>
                                          <p:attrName>style.visibility</p:attrName>
                                        </p:attrNameLst>
                                      </p:cBhvr>
                                      <p:to>
                                        <p:strVal val="visible"/>
                                      </p:to>
                                    </p:set>
                                    <p:animEffect transition="in" filter="barn(outHorizontal)">
                                      <p:cBhvr>
                                        <p:cTn id="32" dur="500"/>
                                        <p:tgtEl>
                                          <p:spTgt spid="20073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200738"/>
                                        </p:tgtEl>
                                        <p:attrNameLst>
                                          <p:attrName>style.visibility</p:attrName>
                                        </p:attrNameLst>
                                      </p:cBhvr>
                                      <p:to>
                                        <p:strVal val="visible"/>
                                      </p:to>
                                    </p:set>
                                    <p:animEffect transition="in" filter="barn(outHorizontal)">
                                      <p:cBhvr>
                                        <p:cTn id="37" dur="500"/>
                                        <p:tgtEl>
                                          <p:spTgt spid="20073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200739"/>
                                        </p:tgtEl>
                                        <p:attrNameLst>
                                          <p:attrName>style.visibility</p:attrName>
                                        </p:attrNameLst>
                                      </p:cBhvr>
                                      <p:to>
                                        <p:strVal val="visible"/>
                                      </p:to>
                                    </p:set>
                                    <p:animEffect transition="in" filter="barn(outHorizontal)">
                                      <p:cBhvr>
                                        <p:cTn id="42" dur="500"/>
                                        <p:tgtEl>
                                          <p:spTgt spid="20073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200740"/>
                                        </p:tgtEl>
                                        <p:attrNameLst>
                                          <p:attrName>style.visibility</p:attrName>
                                        </p:attrNameLst>
                                      </p:cBhvr>
                                      <p:to>
                                        <p:strVal val="visible"/>
                                      </p:to>
                                    </p:set>
                                    <p:animEffect transition="in" filter="barn(outHorizontal)">
                                      <p:cBhvr>
                                        <p:cTn id="47" dur="500"/>
                                        <p:tgtEl>
                                          <p:spTgt spid="20074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200728"/>
                                        </p:tgtEl>
                                        <p:attrNameLst>
                                          <p:attrName>style.visibility</p:attrName>
                                        </p:attrNameLst>
                                      </p:cBhvr>
                                      <p:to>
                                        <p:strVal val="visible"/>
                                      </p:to>
                                    </p:set>
                                    <p:animEffect transition="in" filter="barn(outHorizontal)">
                                      <p:cBhvr>
                                        <p:cTn id="52" dur="500"/>
                                        <p:tgtEl>
                                          <p:spTgt spid="20072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37" fill="hold" nodeType="clickEffect">
                                  <p:stCondLst>
                                    <p:cond delay="0"/>
                                  </p:stCondLst>
                                  <p:childTnLst>
                                    <p:set>
                                      <p:cBhvr>
                                        <p:cTn id="56" dur="1" fill="hold">
                                          <p:stCondLst>
                                            <p:cond delay="0"/>
                                          </p:stCondLst>
                                        </p:cTn>
                                        <p:tgtEl>
                                          <p:spTgt spid="200741"/>
                                        </p:tgtEl>
                                        <p:attrNameLst>
                                          <p:attrName>style.visibility</p:attrName>
                                        </p:attrNameLst>
                                      </p:cBhvr>
                                      <p:to>
                                        <p:strVal val="visible"/>
                                      </p:to>
                                    </p:set>
                                    <p:animEffect transition="in" filter="barn(outVertical)">
                                      <p:cBhvr>
                                        <p:cTn id="57" dur="500"/>
                                        <p:tgtEl>
                                          <p:spTgt spid="200741"/>
                                        </p:tgtEl>
                                      </p:cBhvr>
                                    </p:animEffect>
                                  </p:childTnLst>
                                </p:cTn>
                              </p:par>
                            </p:childTnLst>
                          </p:cTn>
                        </p:par>
                        <p:par>
                          <p:cTn id="58" fill="hold" nodeType="afterGroup">
                            <p:stCondLst>
                              <p:cond delay="500"/>
                            </p:stCondLst>
                            <p:childTnLst>
                              <p:par>
                                <p:cTn id="59" presetID="16" presetClass="entr" presetSubtype="42" fill="hold" nodeType="afterEffect">
                                  <p:stCondLst>
                                    <p:cond delay="0"/>
                                  </p:stCondLst>
                                  <p:childTnLst>
                                    <p:set>
                                      <p:cBhvr>
                                        <p:cTn id="60" dur="1" fill="hold">
                                          <p:stCondLst>
                                            <p:cond delay="0"/>
                                          </p:stCondLst>
                                        </p:cTn>
                                        <p:tgtEl>
                                          <p:spTgt spid="200743"/>
                                        </p:tgtEl>
                                        <p:attrNameLst>
                                          <p:attrName>style.visibility</p:attrName>
                                        </p:attrNameLst>
                                      </p:cBhvr>
                                      <p:to>
                                        <p:strVal val="visible"/>
                                      </p:to>
                                    </p:set>
                                    <p:animEffect transition="in" filter="barn(outHorizontal)">
                                      <p:cBhvr>
                                        <p:cTn id="61" dur="500"/>
                                        <p:tgtEl>
                                          <p:spTgt spid="200743"/>
                                        </p:tgtEl>
                                      </p:cBhvr>
                                    </p:animEffect>
                                  </p:childTnLst>
                                </p:cTn>
                              </p:par>
                            </p:childTnLst>
                          </p:cTn>
                        </p:par>
                        <p:par>
                          <p:cTn id="62" fill="hold" nodeType="afterGroup">
                            <p:stCondLst>
                              <p:cond delay="1000"/>
                            </p:stCondLst>
                            <p:childTnLst>
                              <p:par>
                                <p:cTn id="63" presetID="16" presetClass="entr" presetSubtype="42" fill="hold" nodeType="afterEffect">
                                  <p:stCondLst>
                                    <p:cond delay="0"/>
                                  </p:stCondLst>
                                  <p:childTnLst>
                                    <p:set>
                                      <p:cBhvr>
                                        <p:cTn id="64" dur="1" fill="hold">
                                          <p:stCondLst>
                                            <p:cond delay="0"/>
                                          </p:stCondLst>
                                        </p:cTn>
                                        <p:tgtEl>
                                          <p:spTgt spid="200742"/>
                                        </p:tgtEl>
                                        <p:attrNameLst>
                                          <p:attrName>style.visibility</p:attrName>
                                        </p:attrNameLst>
                                      </p:cBhvr>
                                      <p:to>
                                        <p:strVal val="visible"/>
                                      </p:to>
                                    </p:set>
                                    <p:animEffect transition="in" filter="barn(outHorizontal)">
                                      <p:cBhvr>
                                        <p:cTn id="65" dur="500"/>
                                        <p:tgtEl>
                                          <p:spTgt spid="200742"/>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6" presetClass="entr" presetSubtype="42" fill="hold" nodeType="clickEffect">
                                  <p:stCondLst>
                                    <p:cond delay="0"/>
                                  </p:stCondLst>
                                  <p:childTnLst>
                                    <p:set>
                                      <p:cBhvr>
                                        <p:cTn id="69" dur="1" fill="hold">
                                          <p:stCondLst>
                                            <p:cond delay="0"/>
                                          </p:stCondLst>
                                        </p:cTn>
                                        <p:tgtEl>
                                          <p:spTgt spid="200744"/>
                                        </p:tgtEl>
                                        <p:attrNameLst>
                                          <p:attrName>style.visibility</p:attrName>
                                        </p:attrNameLst>
                                      </p:cBhvr>
                                      <p:to>
                                        <p:strVal val="visible"/>
                                      </p:to>
                                    </p:set>
                                    <p:animEffect transition="in" filter="barn(outHorizontal)">
                                      <p:cBhvr>
                                        <p:cTn id="70" dur="500"/>
                                        <p:tgtEl>
                                          <p:spTgt spid="200744"/>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6" presetClass="entr" presetSubtype="42" fill="hold" nodeType="clickEffect">
                                  <p:stCondLst>
                                    <p:cond delay="0"/>
                                  </p:stCondLst>
                                  <p:childTnLst>
                                    <p:set>
                                      <p:cBhvr>
                                        <p:cTn id="74" dur="1" fill="hold">
                                          <p:stCondLst>
                                            <p:cond delay="0"/>
                                          </p:stCondLst>
                                        </p:cTn>
                                        <p:tgtEl>
                                          <p:spTgt spid="200745"/>
                                        </p:tgtEl>
                                        <p:attrNameLst>
                                          <p:attrName>style.visibility</p:attrName>
                                        </p:attrNameLst>
                                      </p:cBhvr>
                                      <p:to>
                                        <p:strVal val="visible"/>
                                      </p:to>
                                    </p:set>
                                    <p:animEffect transition="in" filter="barn(outHorizontal)">
                                      <p:cBhvr>
                                        <p:cTn id="75" dur="500"/>
                                        <p:tgtEl>
                                          <p:spTgt spid="200745"/>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6" presetClass="entr" presetSubtype="42" fill="hold" nodeType="clickEffect">
                                  <p:stCondLst>
                                    <p:cond delay="0"/>
                                  </p:stCondLst>
                                  <p:childTnLst>
                                    <p:set>
                                      <p:cBhvr>
                                        <p:cTn id="79" dur="1" fill="hold">
                                          <p:stCondLst>
                                            <p:cond delay="0"/>
                                          </p:stCondLst>
                                        </p:cTn>
                                        <p:tgtEl>
                                          <p:spTgt spid="200746"/>
                                        </p:tgtEl>
                                        <p:attrNameLst>
                                          <p:attrName>style.visibility</p:attrName>
                                        </p:attrNameLst>
                                      </p:cBhvr>
                                      <p:to>
                                        <p:strVal val="visible"/>
                                      </p:to>
                                    </p:set>
                                    <p:animEffect transition="in" filter="barn(outHorizontal)">
                                      <p:cBhvr>
                                        <p:cTn id="80" dur="500"/>
                                        <p:tgtEl>
                                          <p:spTgt spid="20074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6" presetClass="entr" presetSubtype="42" fill="hold" nodeType="clickEffect">
                                  <p:stCondLst>
                                    <p:cond delay="0"/>
                                  </p:stCondLst>
                                  <p:childTnLst>
                                    <p:set>
                                      <p:cBhvr>
                                        <p:cTn id="84" dur="1" fill="hold">
                                          <p:stCondLst>
                                            <p:cond delay="0"/>
                                          </p:stCondLst>
                                        </p:cTn>
                                        <p:tgtEl>
                                          <p:spTgt spid="200729"/>
                                        </p:tgtEl>
                                        <p:attrNameLst>
                                          <p:attrName>style.visibility</p:attrName>
                                        </p:attrNameLst>
                                      </p:cBhvr>
                                      <p:to>
                                        <p:strVal val="visible"/>
                                      </p:to>
                                    </p:set>
                                    <p:animEffect transition="in" filter="barn(outHorizontal)">
                                      <p:cBhvr>
                                        <p:cTn id="85" dur="500"/>
                                        <p:tgtEl>
                                          <p:spTgt spid="20072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6" presetClass="entr" presetSubtype="37" fill="hold" nodeType="clickEffect">
                                  <p:stCondLst>
                                    <p:cond delay="0"/>
                                  </p:stCondLst>
                                  <p:childTnLst>
                                    <p:set>
                                      <p:cBhvr>
                                        <p:cTn id="89" dur="1" fill="hold">
                                          <p:stCondLst>
                                            <p:cond delay="0"/>
                                          </p:stCondLst>
                                        </p:cTn>
                                        <p:tgtEl>
                                          <p:spTgt spid="200747"/>
                                        </p:tgtEl>
                                        <p:attrNameLst>
                                          <p:attrName>style.visibility</p:attrName>
                                        </p:attrNameLst>
                                      </p:cBhvr>
                                      <p:to>
                                        <p:strVal val="visible"/>
                                      </p:to>
                                    </p:set>
                                    <p:animEffect transition="in" filter="barn(outVertical)">
                                      <p:cBhvr>
                                        <p:cTn id="90" dur="500"/>
                                        <p:tgtEl>
                                          <p:spTgt spid="200747"/>
                                        </p:tgtEl>
                                      </p:cBhvr>
                                    </p:animEffect>
                                  </p:childTnLst>
                                </p:cTn>
                              </p:par>
                            </p:childTnLst>
                          </p:cTn>
                        </p:par>
                        <p:par>
                          <p:cTn id="91" fill="hold" nodeType="afterGroup">
                            <p:stCondLst>
                              <p:cond delay="500"/>
                            </p:stCondLst>
                            <p:childTnLst>
                              <p:par>
                                <p:cTn id="92" presetID="16" presetClass="entr" presetSubtype="42" fill="hold" nodeType="afterEffect">
                                  <p:stCondLst>
                                    <p:cond delay="0"/>
                                  </p:stCondLst>
                                  <p:childTnLst>
                                    <p:set>
                                      <p:cBhvr>
                                        <p:cTn id="93" dur="1" fill="hold">
                                          <p:stCondLst>
                                            <p:cond delay="0"/>
                                          </p:stCondLst>
                                        </p:cTn>
                                        <p:tgtEl>
                                          <p:spTgt spid="200748"/>
                                        </p:tgtEl>
                                        <p:attrNameLst>
                                          <p:attrName>style.visibility</p:attrName>
                                        </p:attrNameLst>
                                      </p:cBhvr>
                                      <p:to>
                                        <p:strVal val="visible"/>
                                      </p:to>
                                    </p:set>
                                    <p:animEffect transition="in" filter="barn(outHorizontal)">
                                      <p:cBhvr>
                                        <p:cTn id="94" dur="500"/>
                                        <p:tgtEl>
                                          <p:spTgt spid="200748"/>
                                        </p:tgtEl>
                                      </p:cBhvr>
                                    </p:animEffect>
                                  </p:childTnLst>
                                </p:cTn>
                              </p:par>
                            </p:childTnLst>
                          </p:cTn>
                        </p:par>
                        <p:par>
                          <p:cTn id="95" fill="hold" nodeType="afterGroup">
                            <p:stCondLst>
                              <p:cond delay="1000"/>
                            </p:stCondLst>
                            <p:childTnLst>
                              <p:par>
                                <p:cTn id="96" presetID="16" presetClass="entr" presetSubtype="42" fill="hold" nodeType="afterEffect">
                                  <p:stCondLst>
                                    <p:cond delay="0"/>
                                  </p:stCondLst>
                                  <p:childTnLst>
                                    <p:set>
                                      <p:cBhvr>
                                        <p:cTn id="97" dur="1" fill="hold">
                                          <p:stCondLst>
                                            <p:cond delay="0"/>
                                          </p:stCondLst>
                                        </p:cTn>
                                        <p:tgtEl>
                                          <p:spTgt spid="200750"/>
                                        </p:tgtEl>
                                        <p:attrNameLst>
                                          <p:attrName>style.visibility</p:attrName>
                                        </p:attrNameLst>
                                      </p:cBhvr>
                                      <p:to>
                                        <p:strVal val="visible"/>
                                      </p:to>
                                    </p:set>
                                    <p:animEffect transition="in" filter="barn(outHorizontal)">
                                      <p:cBhvr>
                                        <p:cTn id="98" dur="500"/>
                                        <p:tgtEl>
                                          <p:spTgt spid="200750"/>
                                        </p:tgtEl>
                                      </p:cBhvr>
                                    </p:animEffect>
                                  </p:childTnLst>
                                </p:cTn>
                              </p:par>
                            </p:childTnLst>
                          </p:cTn>
                        </p:par>
                        <p:par>
                          <p:cTn id="99" fill="hold" nodeType="afterGroup">
                            <p:stCondLst>
                              <p:cond delay="1500"/>
                            </p:stCondLst>
                            <p:childTnLst>
                              <p:par>
                                <p:cTn id="100" presetID="16" presetClass="entr" presetSubtype="42" fill="hold" nodeType="afterEffect">
                                  <p:stCondLst>
                                    <p:cond delay="0"/>
                                  </p:stCondLst>
                                  <p:childTnLst>
                                    <p:set>
                                      <p:cBhvr>
                                        <p:cTn id="101" dur="1" fill="hold">
                                          <p:stCondLst>
                                            <p:cond delay="0"/>
                                          </p:stCondLst>
                                        </p:cTn>
                                        <p:tgtEl>
                                          <p:spTgt spid="200794"/>
                                        </p:tgtEl>
                                        <p:attrNameLst>
                                          <p:attrName>style.visibility</p:attrName>
                                        </p:attrNameLst>
                                      </p:cBhvr>
                                      <p:to>
                                        <p:strVal val="visible"/>
                                      </p:to>
                                    </p:set>
                                    <p:animEffect transition="in" filter="barn(outHorizontal)">
                                      <p:cBhvr>
                                        <p:cTn id="102" dur="500"/>
                                        <p:tgtEl>
                                          <p:spTgt spid="200794"/>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6" presetClass="entr" presetSubtype="42" fill="hold" nodeType="clickEffect">
                                  <p:stCondLst>
                                    <p:cond delay="0"/>
                                  </p:stCondLst>
                                  <p:childTnLst>
                                    <p:set>
                                      <p:cBhvr>
                                        <p:cTn id="106" dur="1" fill="hold">
                                          <p:stCondLst>
                                            <p:cond delay="0"/>
                                          </p:stCondLst>
                                        </p:cTn>
                                        <p:tgtEl>
                                          <p:spTgt spid="200751"/>
                                        </p:tgtEl>
                                        <p:attrNameLst>
                                          <p:attrName>style.visibility</p:attrName>
                                        </p:attrNameLst>
                                      </p:cBhvr>
                                      <p:to>
                                        <p:strVal val="visible"/>
                                      </p:to>
                                    </p:set>
                                    <p:animEffect transition="in" filter="barn(outHorizontal)">
                                      <p:cBhvr>
                                        <p:cTn id="107" dur="500"/>
                                        <p:tgtEl>
                                          <p:spTgt spid="200751"/>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6" presetClass="entr" presetSubtype="42" fill="hold" nodeType="clickEffect">
                                  <p:stCondLst>
                                    <p:cond delay="0"/>
                                  </p:stCondLst>
                                  <p:childTnLst>
                                    <p:set>
                                      <p:cBhvr>
                                        <p:cTn id="111" dur="1" fill="hold">
                                          <p:stCondLst>
                                            <p:cond delay="0"/>
                                          </p:stCondLst>
                                        </p:cTn>
                                        <p:tgtEl>
                                          <p:spTgt spid="200752"/>
                                        </p:tgtEl>
                                        <p:attrNameLst>
                                          <p:attrName>style.visibility</p:attrName>
                                        </p:attrNameLst>
                                      </p:cBhvr>
                                      <p:to>
                                        <p:strVal val="visible"/>
                                      </p:to>
                                    </p:set>
                                    <p:animEffect transition="in" filter="barn(outHorizontal)">
                                      <p:cBhvr>
                                        <p:cTn id="112" dur="500"/>
                                        <p:tgtEl>
                                          <p:spTgt spid="200752"/>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6" presetClass="entr" presetSubtype="42" fill="hold" nodeType="clickEffect">
                                  <p:stCondLst>
                                    <p:cond delay="0"/>
                                  </p:stCondLst>
                                  <p:childTnLst>
                                    <p:set>
                                      <p:cBhvr>
                                        <p:cTn id="116" dur="1" fill="hold">
                                          <p:stCondLst>
                                            <p:cond delay="0"/>
                                          </p:stCondLst>
                                        </p:cTn>
                                        <p:tgtEl>
                                          <p:spTgt spid="200753"/>
                                        </p:tgtEl>
                                        <p:attrNameLst>
                                          <p:attrName>style.visibility</p:attrName>
                                        </p:attrNameLst>
                                      </p:cBhvr>
                                      <p:to>
                                        <p:strVal val="visible"/>
                                      </p:to>
                                    </p:set>
                                    <p:animEffect transition="in" filter="barn(outHorizontal)">
                                      <p:cBhvr>
                                        <p:cTn id="117" dur="500"/>
                                        <p:tgtEl>
                                          <p:spTgt spid="200753"/>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6" presetClass="entr" presetSubtype="42" fill="hold" nodeType="clickEffect">
                                  <p:stCondLst>
                                    <p:cond delay="0"/>
                                  </p:stCondLst>
                                  <p:childTnLst>
                                    <p:set>
                                      <p:cBhvr>
                                        <p:cTn id="121" dur="1" fill="hold">
                                          <p:stCondLst>
                                            <p:cond delay="0"/>
                                          </p:stCondLst>
                                        </p:cTn>
                                        <p:tgtEl>
                                          <p:spTgt spid="200730"/>
                                        </p:tgtEl>
                                        <p:attrNameLst>
                                          <p:attrName>style.visibility</p:attrName>
                                        </p:attrNameLst>
                                      </p:cBhvr>
                                      <p:to>
                                        <p:strVal val="visible"/>
                                      </p:to>
                                    </p:set>
                                    <p:animEffect transition="in" filter="barn(outHorizontal)">
                                      <p:cBhvr>
                                        <p:cTn id="122" dur="500"/>
                                        <p:tgtEl>
                                          <p:spTgt spid="200730"/>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6" presetClass="entr" presetSubtype="37" fill="hold" nodeType="clickEffect">
                                  <p:stCondLst>
                                    <p:cond delay="0"/>
                                  </p:stCondLst>
                                  <p:childTnLst>
                                    <p:set>
                                      <p:cBhvr>
                                        <p:cTn id="126" dur="1" fill="hold">
                                          <p:stCondLst>
                                            <p:cond delay="0"/>
                                          </p:stCondLst>
                                        </p:cTn>
                                        <p:tgtEl>
                                          <p:spTgt spid="200754"/>
                                        </p:tgtEl>
                                        <p:attrNameLst>
                                          <p:attrName>style.visibility</p:attrName>
                                        </p:attrNameLst>
                                      </p:cBhvr>
                                      <p:to>
                                        <p:strVal val="visible"/>
                                      </p:to>
                                    </p:set>
                                    <p:animEffect transition="in" filter="barn(outVertical)">
                                      <p:cBhvr>
                                        <p:cTn id="127" dur="500"/>
                                        <p:tgtEl>
                                          <p:spTgt spid="200754"/>
                                        </p:tgtEl>
                                      </p:cBhvr>
                                    </p:animEffect>
                                  </p:childTnLst>
                                </p:cTn>
                              </p:par>
                            </p:childTnLst>
                          </p:cTn>
                        </p:par>
                        <p:par>
                          <p:cTn id="128" fill="hold" nodeType="afterGroup">
                            <p:stCondLst>
                              <p:cond delay="500"/>
                            </p:stCondLst>
                            <p:childTnLst>
                              <p:par>
                                <p:cTn id="129" presetID="16" presetClass="entr" presetSubtype="42" fill="hold" nodeType="afterEffect">
                                  <p:stCondLst>
                                    <p:cond delay="0"/>
                                  </p:stCondLst>
                                  <p:childTnLst>
                                    <p:set>
                                      <p:cBhvr>
                                        <p:cTn id="130" dur="1" fill="hold">
                                          <p:stCondLst>
                                            <p:cond delay="0"/>
                                          </p:stCondLst>
                                        </p:cTn>
                                        <p:tgtEl>
                                          <p:spTgt spid="200755"/>
                                        </p:tgtEl>
                                        <p:attrNameLst>
                                          <p:attrName>style.visibility</p:attrName>
                                        </p:attrNameLst>
                                      </p:cBhvr>
                                      <p:to>
                                        <p:strVal val="visible"/>
                                      </p:to>
                                    </p:set>
                                    <p:animEffect transition="in" filter="barn(outHorizontal)">
                                      <p:cBhvr>
                                        <p:cTn id="131" dur="500"/>
                                        <p:tgtEl>
                                          <p:spTgt spid="200755"/>
                                        </p:tgtEl>
                                      </p:cBhvr>
                                    </p:animEffect>
                                  </p:childTnLst>
                                </p:cTn>
                              </p:par>
                            </p:childTnLst>
                          </p:cTn>
                        </p:par>
                        <p:par>
                          <p:cTn id="132" fill="hold" nodeType="afterGroup">
                            <p:stCondLst>
                              <p:cond delay="1000"/>
                            </p:stCondLst>
                            <p:childTnLst>
                              <p:par>
                                <p:cTn id="133" presetID="16" presetClass="entr" presetSubtype="42" fill="hold" nodeType="afterEffect">
                                  <p:stCondLst>
                                    <p:cond delay="0"/>
                                  </p:stCondLst>
                                  <p:childTnLst>
                                    <p:set>
                                      <p:cBhvr>
                                        <p:cTn id="134" dur="1" fill="hold">
                                          <p:stCondLst>
                                            <p:cond delay="0"/>
                                          </p:stCondLst>
                                        </p:cTn>
                                        <p:tgtEl>
                                          <p:spTgt spid="200756"/>
                                        </p:tgtEl>
                                        <p:attrNameLst>
                                          <p:attrName>style.visibility</p:attrName>
                                        </p:attrNameLst>
                                      </p:cBhvr>
                                      <p:to>
                                        <p:strVal val="visible"/>
                                      </p:to>
                                    </p:set>
                                    <p:animEffect transition="in" filter="barn(outHorizontal)">
                                      <p:cBhvr>
                                        <p:cTn id="135" dur="500"/>
                                        <p:tgtEl>
                                          <p:spTgt spid="200756"/>
                                        </p:tgtEl>
                                      </p:cBhvr>
                                    </p:animEffect>
                                  </p:childTnLst>
                                </p:cTn>
                              </p:par>
                            </p:childTnLst>
                          </p:cTn>
                        </p:par>
                        <p:par>
                          <p:cTn id="136" fill="hold" nodeType="afterGroup">
                            <p:stCondLst>
                              <p:cond delay="1500"/>
                            </p:stCondLst>
                            <p:childTnLst>
                              <p:par>
                                <p:cTn id="137" presetID="16" presetClass="entr" presetSubtype="42" fill="hold" nodeType="afterEffect">
                                  <p:stCondLst>
                                    <p:cond delay="0"/>
                                  </p:stCondLst>
                                  <p:childTnLst>
                                    <p:set>
                                      <p:cBhvr>
                                        <p:cTn id="138" dur="1" fill="hold">
                                          <p:stCondLst>
                                            <p:cond delay="0"/>
                                          </p:stCondLst>
                                        </p:cTn>
                                        <p:tgtEl>
                                          <p:spTgt spid="200757"/>
                                        </p:tgtEl>
                                        <p:attrNameLst>
                                          <p:attrName>style.visibility</p:attrName>
                                        </p:attrNameLst>
                                      </p:cBhvr>
                                      <p:to>
                                        <p:strVal val="visible"/>
                                      </p:to>
                                    </p:set>
                                    <p:animEffect transition="in" filter="barn(outHorizontal)">
                                      <p:cBhvr>
                                        <p:cTn id="139" dur="500"/>
                                        <p:tgtEl>
                                          <p:spTgt spid="200757"/>
                                        </p:tgtEl>
                                      </p:cBhvr>
                                    </p:animEffect>
                                  </p:childTnLst>
                                </p:cTn>
                              </p:par>
                            </p:childTnLst>
                          </p:cTn>
                        </p:par>
                        <p:par>
                          <p:cTn id="140" fill="hold" nodeType="afterGroup">
                            <p:stCondLst>
                              <p:cond delay="2000"/>
                            </p:stCondLst>
                            <p:childTnLst>
                              <p:par>
                                <p:cTn id="141" presetID="16" presetClass="entr" presetSubtype="42" fill="hold" nodeType="afterEffect">
                                  <p:stCondLst>
                                    <p:cond delay="0"/>
                                  </p:stCondLst>
                                  <p:childTnLst>
                                    <p:set>
                                      <p:cBhvr>
                                        <p:cTn id="142" dur="1" fill="hold">
                                          <p:stCondLst>
                                            <p:cond delay="0"/>
                                          </p:stCondLst>
                                        </p:cTn>
                                        <p:tgtEl>
                                          <p:spTgt spid="200758"/>
                                        </p:tgtEl>
                                        <p:attrNameLst>
                                          <p:attrName>style.visibility</p:attrName>
                                        </p:attrNameLst>
                                      </p:cBhvr>
                                      <p:to>
                                        <p:strVal val="visible"/>
                                      </p:to>
                                    </p:set>
                                    <p:animEffect transition="in" filter="barn(outHorizontal)">
                                      <p:cBhvr>
                                        <p:cTn id="143" dur="500"/>
                                        <p:tgtEl>
                                          <p:spTgt spid="200758"/>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6" presetClass="entr" presetSubtype="42" fill="hold" nodeType="clickEffect">
                                  <p:stCondLst>
                                    <p:cond delay="0"/>
                                  </p:stCondLst>
                                  <p:childTnLst>
                                    <p:set>
                                      <p:cBhvr>
                                        <p:cTn id="147" dur="1" fill="hold">
                                          <p:stCondLst>
                                            <p:cond delay="0"/>
                                          </p:stCondLst>
                                        </p:cTn>
                                        <p:tgtEl>
                                          <p:spTgt spid="200759"/>
                                        </p:tgtEl>
                                        <p:attrNameLst>
                                          <p:attrName>style.visibility</p:attrName>
                                        </p:attrNameLst>
                                      </p:cBhvr>
                                      <p:to>
                                        <p:strVal val="visible"/>
                                      </p:to>
                                    </p:set>
                                    <p:animEffect transition="in" filter="barn(outHorizontal)">
                                      <p:cBhvr>
                                        <p:cTn id="148" dur="500"/>
                                        <p:tgtEl>
                                          <p:spTgt spid="200759"/>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16" presetClass="entr" presetSubtype="42" fill="hold" nodeType="clickEffect">
                                  <p:stCondLst>
                                    <p:cond delay="0"/>
                                  </p:stCondLst>
                                  <p:childTnLst>
                                    <p:set>
                                      <p:cBhvr>
                                        <p:cTn id="152" dur="1" fill="hold">
                                          <p:stCondLst>
                                            <p:cond delay="0"/>
                                          </p:stCondLst>
                                        </p:cTn>
                                        <p:tgtEl>
                                          <p:spTgt spid="200731"/>
                                        </p:tgtEl>
                                        <p:attrNameLst>
                                          <p:attrName>style.visibility</p:attrName>
                                        </p:attrNameLst>
                                      </p:cBhvr>
                                      <p:to>
                                        <p:strVal val="visible"/>
                                      </p:to>
                                    </p:set>
                                    <p:animEffect transition="in" filter="barn(outHorizontal)">
                                      <p:cBhvr>
                                        <p:cTn id="153" dur="500"/>
                                        <p:tgtEl>
                                          <p:spTgt spid="200731"/>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6" presetClass="entr" presetSubtype="37" fill="hold" nodeType="clickEffect">
                                  <p:stCondLst>
                                    <p:cond delay="0"/>
                                  </p:stCondLst>
                                  <p:childTnLst>
                                    <p:set>
                                      <p:cBhvr>
                                        <p:cTn id="157" dur="1" fill="hold">
                                          <p:stCondLst>
                                            <p:cond delay="0"/>
                                          </p:stCondLst>
                                        </p:cTn>
                                        <p:tgtEl>
                                          <p:spTgt spid="200760"/>
                                        </p:tgtEl>
                                        <p:attrNameLst>
                                          <p:attrName>style.visibility</p:attrName>
                                        </p:attrNameLst>
                                      </p:cBhvr>
                                      <p:to>
                                        <p:strVal val="visible"/>
                                      </p:to>
                                    </p:set>
                                    <p:animEffect transition="in" filter="barn(outVertical)">
                                      <p:cBhvr>
                                        <p:cTn id="158" dur="500"/>
                                        <p:tgtEl>
                                          <p:spTgt spid="200760"/>
                                        </p:tgtEl>
                                      </p:cBhvr>
                                    </p:animEffect>
                                  </p:childTnLst>
                                </p:cTn>
                              </p:par>
                            </p:childTnLst>
                          </p:cTn>
                        </p:par>
                        <p:par>
                          <p:cTn id="159" fill="hold" nodeType="afterGroup">
                            <p:stCondLst>
                              <p:cond delay="500"/>
                            </p:stCondLst>
                            <p:childTnLst>
                              <p:par>
                                <p:cTn id="160" presetID="16" presetClass="entr" presetSubtype="42" fill="hold" nodeType="afterEffect">
                                  <p:stCondLst>
                                    <p:cond delay="0"/>
                                  </p:stCondLst>
                                  <p:childTnLst>
                                    <p:set>
                                      <p:cBhvr>
                                        <p:cTn id="161" dur="1" fill="hold">
                                          <p:stCondLst>
                                            <p:cond delay="0"/>
                                          </p:stCondLst>
                                        </p:cTn>
                                        <p:tgtEl>
                                          <p:spTgt spid="200761"/>
                                        </p:tgtEl>
                                        <p:attrNameLst>
                                          <p:attrName>style.visibility</p:attrName>
                                        </p:attrNameLst>
                                      </p:cBhvr>
                                      <p:to>
                                        <p:strVal val="visible"/>
                                      </p:to>
                                    </p:set>
                                    <p:animEffect transition="in" filter="barn(outHorizontal)">
                                      <p:cBhvr>
                                        <p:cTn id="162" dur="500"/>
                                        <p:tgtEl>
                                          <p:spTgt spid="200761"/>
                                        </p:tgtEl>
                                      </p:cBhvr>
                                    </p:animEffect>
                                  </p:childTnLst>
                                </p:cTn>
                              </p:par>
                            </p:childTnLst>
                          </p:cTn>
                        </p:par>
                        <p:par>
                          <p:cTn id="163" fill="hold" nodeType="afterGroup">
                            <p:stCondLst>
                              <p:cond delay="1000"/>
                            </p:stCondLst>
                            <p:childTnLst>
                              <p:par>
                                <p:cTn id="164" presetID="16" presetClass="entr" presetSubtype="42" fill="hold" nodeType="afterEffect">
                                  <p:stCondLst>
                                    <p:cond delay="0"/>
                                  </p:stCondLst>
                                  <p:childTnLst>
                                    <p:set>
                                      <p:cBhvr>
                                        <p:cTn id="165" dur="1" fill="hold">
                                          <p:stCondLst>
                                            <p:cond delay="0"/>
                                          </p:stCondLst>
                                        </p:cTn>
                                        <p:tgtEl>
                                          <p:spTgt spid="200762"/>
                                        </p:tgtEl>
                                        <p:attrNameLst>
                                          <p:attrName>style.visibility</p:attrName>
                                        </p:attrNameLst>
                                      </p:cBhvr>
                                      <p:to>
                                        <p:strVal val="visible"/>
                                      </p:to>
                                    </p:set>
                                    <p:animEffect transition="in" filter="barn(outHorizontal)">
                                      <p:cBhvr>
                                        <p:cTn id="166" dur="500"/>
                                        <p:tgtEl>
                                          <p:spTgt spid="200762"/>
                                        </p:tgtEl>
                                      </p:cBhvr>
                                    </p:animEffect>
                                  </p:childTnLst>
                                </p:cTn>
                              </p:par>
                            </p:childTnLst>
                          </p:cTn>
                        </p:par>
                        <p:par>
                          <p:cTn id="167" fill="hold" nodeType="afterGroup">
                            <p:stCondLst>
                              <p:cond delay="1500"/>
                            </p:stCondLst>
                            <p:childTnLst>
                              <p:par>
                                <p:cTn id="168" presetID="16" presetClass="entr" presetSubtype="42" fill="hold" nodeType="afterEffect">
                                  <p:stCondLst>
                                    <p:cond delay="0"/>
                                  </p:stCondLst>
                                  <p:childTnLst>
                                    <p:set>
                                      <p:cBhvr>
                                        <p:cTn id="169" dur="1" fill="hold">
                                          <p:stCondLst>
                                            <p:cond delay="0"/>
                                          </p:stCondLst>
                                        </p:cTn>
                                        <p:tgtEl>
                                          <p:spTgt spid="200763"/>
                                        </p:tgtEl>
                                        <p:attrNameLst>
                                          <p:attrName>style.visibility</p:attrName>
                                        </p:attrNameLst>
                                      </p:cBhvr>
                                      <p:to>
                                        <p:strVal val="visible"/>
                                      </p:to>
                                    </p:set>
                                    <p:animEffect transition="in" filter="barn(outHorizontal)">
                                      <p:cBhvr>
                                        <p:cTn id="170" dur="500"/>
                                        <p:tgtEl>
                                          <p:spTgt spid="200763"/>
                                        </p:tgtEl>
                                      </p:cBhvr>
                                    </p:animEffect>
                                  </p:childTnLst>
                                </p:cTn>
                              </p:par>
                            </p:childTnLst>
                          </p:cTn>
                        </p:par>
                        <p:par>
                          <p:cTn id="171" fill="hold" nodeType="afterGroup">
                            <p:stCondLst>
                              <p:cond delay="2000"/>
                            </p:stCondLst>
                            <p:childTnLst>
                              <p:par>
                                <p:cTn id="172" presetID="16" presetClass="entr" presetSubtype="42" fill="hold" nodeType="afterEffect">
                                  <p:stCondLst>
                                    <p:cond delay="0"/>
                                  </p:stCondLst>
                                  <p:childTnLst>
                                    <p:set>
                                      <p:cBhvr>
                                        <p:cTn id="173" dur="1" fill="hold">
                                          <p:stCondLst>
                                            <p:cond delay="0"/>
                                          </p:stCondLst>
                                        </p:cTn>
                                        <p:tgtEl>
                                          <p:spTgt spid="200764"/>
                                        </p:tgtEl>
                                        <p:attrNameLst>
                                          <p:attrName>style.visibility</p:attrName>
                                        </p:attrNameLst>
                                      </p:cBhvr>
                                      <p:to>
                                        <p:strVal val="visible"/>
                                      </p:to>
                                    </p:set>
                                    <p:animEffect transition="in" filter="barn(outHorizontal)">
                                      <p:cBhvr>
                                        <p:cTn id="174" dur="500"/>
                                        <p:tgtEl>
                                          <p:spTgt spid="200764"/>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6" presetClass="entr" presetSubtype="42" fill="hold" nodeType="clickEffect">
                                  <p:stCondLst>
                                    <p:cond delay="0"/>
                                  </p:stCondLst>
                                  <p:childTnLst>
                                    <p:set>
                                      <p:cBhvr>
                                        <p:cTn id="178" dur="1" fill="hold">
                                          <p:stCondLst>
                                            <p:cond delay="0"/>
                                          </p:stCondLst>
                                        </p:cTn>
                                        <p:tgtEl>
                                          <p:spTgt spid="200765"/>
                                        </p:tgtEl>
                                        <p:attrNameLst>
                                          <p:attrName>style.visibility</p:attrName>
                                        </p:attrNameLst>
                                      </p:cBhvr>
                                      <p:to>
                                        <p:strVal val="visible"/>
                                      </p:to>
                                    </p:set>
                                    <p:animEffect transition="in" filter="barn(outHorizontal)">
                                      <p:cBhvr>
                                        <p:cTn id="179" dur="500"/>
                                        <p:tgtEl>
                                          <p:spTgt spid="200765"/>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16" presetClass="entr" presetSubtype="42" fill="hold" nodeType="clickEffect">
                                  <p:stCondLst>
                                    <p:cond delay="0"/>
                                  </p:stCondLst>
                                  <p:childTnLst>
                                    <p:set>
                                      <p:cBhvr>
                                        <p:cTn id="183" dur="1" fill="hold">
                                          <p:stCondLst>
                                            <p:cond delay="0"/>
                                          </p:stCondLst>
                                        </p:cTn>
                                        <p:tgtEl>
                                          <p:spTgt spid="200732"/>
                                        </p:tgtEl>
                                        <p:attrNameLst>
                                          <p:attrName>style.visibility</p:attrName>
                                        </p:attrNameLst>
                                      </p:cBhvr>
                                      <p:to>
                                        <p:strVal val="visible"/>
                                      </p:to>
                                    </p:set>
                                    <p:animEffect transition="in" filter="barn(outHorizontal)">
                                      <p:cBhvr>
                                        <p:cTn id="184" dur="500"/>
                                        <p:tgtEl>
                                          <p:spTgt spid="200732"/>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6" presetClass="entr" presetSubtype="37" fill="hold" nodeType="clickEffect">
                                  <p:stCondLst>
                                    <p:cond delay="0"/>
                                  </p:stCondLst>
                                  <p:childTnLst>
                                    <p:set>
                                      <p:cBhvr>
                                        <p:cTn id="188" dur="1" fill="hold">
                                          <p:stCondLst>
                                            <p:cond delay="0"/>
                                          </p:stCondLst>
                                        </p:cTn>
                                        <p:tgtEl>
                                          <p:spTgt spid="200766"/>
                                        </p:tgtEl>
                                        <p:attrNameLst>
                                          <p:attrName>style.visibility</p:attrName>
                                        </p:attrNameLst>
                                      </p:cBhvr>
                                      <p:to>
                                        <p:strVal val="visible"/>
                                      </p:to>
                                    </p:set>
                                    <p:animEffect transition="in" filter="barn(outVertical)">
                                      <p:cBhvr>
                                        <p:cTn id="189" dur="500"/>
                                        <p:tgtEl>
                                          <p:spTgt spid="200766"/>
                                        </p:tgtEl>
                                      </p:cBhvr>
                                    </p:animEffect>
                                  </p:childTnLst>
                                </p:cTn>
                              </p:par>
                            </p:childTnLst>
                          </p:cTn>
                        </p:par>
                        <p:par>
                          <p:cTn id="190" fill="hold" nodeType="afterGroup">
                            <p:stCondLst>
                              <p:cond delay="500"/>
                            </p:stCondLst>
                            <p:childTnLst>
                              <p:par>
                                <p:cTn id="191" presetID="16" presetClass="entr" presetSubtype="42" fill="hold" nodeType="afterEffect">
                                  <p:stCondLst>
                                    <p:cond delay="0"/>
                                  </p:stCondLst>
                                  <p:childTnLst>
                                    <p:set>
                                      <p:cBhvr>
                                        <p:cTn id="192" dur="1" fill="hold">
                                          <p:stCondLst>
                                            <p:cond delay="0"/>
                                          </p:stCondLst>
                                        </p:cTn>
                                        <p:tgtEl>
                                          <p:spTgt spid="200767"/>
                                        </p:tgtEl>
                                        <p:attrNameLst>
                                          <p:attrName>style.visibility</p:attrName>
                                        </p:attrNameLst>
                                      </p:cBhvr>
                                      <p:to>
                                        <p:strVal val="visible"/>
                                      </p:to>
                                    </p:set>
                                    <p:animEffect transition="in" filter="barn(outHorizontal)">
                                      <p:cBhvr>
                                        <p:cTn id="193" dur="500"/>
                                        <p:tgtEl>
                                          <p:spTgt spid="200767"/>
                                        </p:tgtEl>
                                      </p:cBhvr>
                                    </p:animEffect>
                                  </p:childTnLst>
                                </p:cTn>
                              </p:par>
                            </p:childTnLst>
                          </p:cTn>
                        </p:par>
                        <p:par>
                          <p:cTn id="194" fill="hold" nodeType="afterGroup">
                            <p:stCondLst>
                              <p:cond delay="1000"/>
                            </p:stCondLst>
                            <p:childTnLst>
                              <p:par>
                                <p:cTn id="195" presetID="16" presetClass="entr" presetSubtype="42" fill="hold" nodeType="afterEffect">
                                  <p:stCondLst>
                                    <p:cond delay="0"/>
                                  </p:stCondLst>
                                  <p:childTnLst>
                                    <p:set>
                                      <p:cBhvr>
                                        <p:cTn id="196" dur="1" fill="hold">
                                          <p:stCondLst>
                                            <p:cond delay="0"/>
                                          </p:stCondLst>
                                        </p:cTn>
                                        <p:tgtEl>
                                          <p:spTgt spid="200768"/>
                                        </p:tgtEl>
                                        <p:attrNameLst>
                                          <p:attrName>style.visibility</p:attrName>
                                        </p:attrNameLst>
                                      </p:cBhvr>
                                      <p:to>
                                        <p:strVal val="visible"/>
                                      </p:to>
                                    </p:set>
                                    <p:animEffect transition="in" filter="barn(outHorizontal)">
                                      <p:cBhvr>
                                        <p:cTn id="197" dur="500"/>
                                        <p:tgtEl>
                                          <p:spTgt spid="200768"/>
                                        </p:tgtEl>
                                      </p:cBhvr>
                                    </p:animEffect>
                                  </p:childTnLst>
                                </p:cTn>
                              </p:par>
                            </p:childTnLst>
                          </p:cTn>
                        </p:par>
                        <p:par>
                          <p:cTn id="198" fill="hold" nodeType="afterGroup">
                            <p:stCondLst>
                              <p:cond delay="1500"/>
                            </p:stCondLst>
                            <p:childTnLst>
                              <p:par>
                                <p:cTn id="199" presetID="16" presetClass="entr" presetSubtype="42" fill="hold" nodeType="afterEffect">
                                  <p:stCondLst>
                                    <p:cond delay="0"/>
                                  </p:stCondLst>
                                  <p:childTnLst>
                                    <p:set>
                                      <p:cBhvr>
                                        <p:cTn id="200" dur="1" fill="hold">
                                          <p:stCondLst>
                                            <p:cond delay="0"/>
                                          </p:stCondLst>
                                        </p:cTn>
                                        <p:tgtEl>
                                          <p:spTgt spid="200769"/>
                                        </p:tgtEl>
                                        <p:attrNameLst>
                                          <p:attrName>style.visibility</p:attrName>
                                        </p:attrNameLst>
                                      </p:cBhvr>
                                      <p:to>
                                        <p:strVal val="visible"/>
                                      </p:to>
                                    </p:set>
                                    <p:animEffect transition="in" filter="barn(outHorizontal)">
                                      <p:cBhvr>
                                        <p:cTn id="201" dur="500"/>
                                        <p:tgtEl>
                                          <p:spTgt spid="200769"/>
                                        </p:tgtEl>
                                      </p:cBhvr>
                                    </p:animEffect>
                                  </p:childTnLst>
                                </p:cTn>
                              </p:par>
                            </p:childTnLst>
                          </p:cTn>
                        </p:par>
                        <p:par>
                          <p:cTn id="202" fill="hold" nodeType="afterGroup">
                            <p:stCondLst>
                              <p:cond delay="2000"/>
                            </p:stCondLst>
                            <p:childTnLst>
                              <p:par>
                                <p:cTn id="203" presetID="16" presetClass="entr" presetSubtype="42" fill="hold" nodeType="afterEffect">
                                  <p:stCondLst>
                                    <p:cond delay="0"/>
                                  </p:stCondLst>
                                  <p:childTnLst>
                                    <p:set>
                                      <p:cBhvr>
                                        <p:cTn id="204" dur="1" fill="hold">
                                          <p:stCondLst>
                                            <p:cond delay="0"/>
                                          </p:stCondLst>
                                        </p:cTn>
                                        <p:tgtEl>
                                          <p:spTgt spid="200770"/>
                                        </p:tgtEl>
                                        <p:attrNameLst>
                                          <p:attrName>style.visibility</p:attrName>
                                        </p:attrNameLst>
                                      </p:cBhvr>
                                      <p:to>
                                        <p:strVal val="visible"/>
                                      </p:to>
                                    </p:set>
                                    <p:animEffect transition="in" filter="barn(outHorizontal)">
                                      <p:cBhvr>
                                        <p:cTn id="205" dur="500"/>
                                        <p:tgtEl>
                                          <p:spTgt spid="200770"/>
                                        </p:tgtEl>
                                      </p:cBhvr>
                                    </p:animEffec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16" presetClass="entr" presetSubtype="42" fill="hold" nodeType="clickEffect">
                                  <p:stCondLst>
                                    <p:cond delay="0"/>
                                  </p:stCondLst>
                                  <p:childTnLst>
                                    <p:set>
                                      <p:cBhvr>
                                        <p:cTn id="209" dur="1" fill="hold">
                                          <p:stCondLst>
                                            <p:cond delay="0"/>
                                          </p:stCondLst>
                                        </p:cTn>
                                        <p:tgtEl>
                                          <p:spTgt spid="200772"/>
                                        </p:tgtEl>
                                        <p:attrNameLst>
                                          <p:attrName>style.visibility</p:attrName>
                                        </p:attrNameLst>
                                      </p:cBhvr>
                                      <p:to>
                                        <p:strVal val="visible"/>
                                      </p:to>
                                    </p:set>
                                    <p:animEffect transition="in" filter="barn(outHorizontal)">
                                      <p:cBhvr>
                                        <p:cTn id="210" dur="500"/>
                                        <p:tgtEl>
                                          <p:spTgt spid="200772"/>
                                        </p:tgtEl>
                                      </p:cBhvr>
                                    </p:animEffect>
                                  </p:childTnLst>
                                </p:cTn>
                              </p:par>
                            </p:childTnLst>
                          </p:cTn>
                        </p:par>
                      </p:childTnLst>
                    </p:cTn>
                  </p:par>
                  <p:par>
                    <p:cTn id="211" fill="hold" nodeType="clickPar">
                      <p:stCondLst>
                        <p:cond delay="indefinite"/>
                      </p:stCondLst>
                      <p:childTnLst>
                        <p:par>
                          <p:cTn id="212" fill="hold" nodeType="withGroup">
                            <p:stCondLst>
                              <p:cond delay="0"/>
                            </p:stCondLst>
                            <p:childTnLst>
                              <p:par>
                                <p:cTn id="213" presetID="16" presetClass="entr" presetSubtype="42" fill="hold" nodeType="clickEffect">
                                  <p:stCondLst>
                                    <p:cond delay="0"/>
                                  </p:stCondLst>
                                  <p:childTnLst>
                                    <p:set>
                                      <p:cBhvr>
                                        <p:cTn id="214" dur="1" fill="hold">
                                          <p:stCondLst>
                                            <p:cond delay="0"/>
                                          </p:stCondLst>
                                        </p:cTn>
                                        <p:tgtEl>
                                          <p:spTgt spid="200773"/>
                                        </p:tgtEl>
                                        <p:attrNameLst>
                                          <p:attrName>style.visibility</p:attrName>
                                        </p:attrNameLst>
                                      </p:cBhvr>
                                      <p:to>
                                        <p:strVal val="visible"/>
                                      </p:to>
                                    </p:set>
                                    <p:animEffect transition="in" filter="barn(outHorizontal)">
                                      <p:cBhvr>
                                        <p:cTn id="215" dur="500"/>
                                        <p:tgtEl>
                                          <p:spTgt spid="200773"/>
                                        </p:tgtEl>
                                      </p:cBhvr>
                                    </p:animEffec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16" presetClass="entr" presetSubtype="42" fill="hold" nodeType="clickEffect">
                                  <p:stCondLst>
                                    <p:cond delay="0"/>
                                  </p:stCondLst>
                                  <p:childTnLst>
                                    <p:set>
                                      <p:cBhvr>
                                        <p:cTn id="219" dur="1" fill="hold">
                                          <p:stCondLst>
                                            <p:cond delay="0"/>
                                          </p:stCondLst>
                                        </p:cTn>
                                        <p:tgtEl>
                                          <p:spTgt spid="200774"/>
                                        </p:tgtEl>
                                        <p:attrNameLst>
                                          <p:attrName>style.visibility</p:attrName>
                                        </p:attrNameLst>
                                      </p:cBhvr>
                                      <p:to>
                                        <p:strVal val="visible"/>
                                      </p:to>
                                    </p:set>
                                    <p:animEffect transition="in" filter="barn(outHorizontal)">
                                      <p:cBhvr>
                                        <p:cTn id="220" dur="500"/>
                                        <p:tgtEl>
                                          <p:spTgt spid="200774"/>
                                        </p:tgtEl>
                                      </p:cBhvr>
                                    </p:animEffect>
                                  </p:childTnLst>
                                </p:cTn>
                              </p:par>
                            </p:childTnLst>
                          </p:cTn>
                        </p:par>
                      </p:childTnLst>
                    </p:cTn>
                  </p:par>
                  <p:par>
                    <p:cTn id="221" fill="hold" nodeType="clickPar">
                      <p:stCondLst>
                        <p:cond delay="indefinite"/>
                      </p:stCondLst>
                      <p:childTnLst>
                        <p:par>
                          <p:cTn id="222" fill="hold" nodeType="withGroup">
                            <p:stCondLst>
                              <p:cond delay="0"/>
                            </p:stCondLst>
                            <p:childTnLst>
                              <p:par>
                                <p:cTn id="223" presetID="16" presetClass="entr" presetSubtype="42" fill="hold" nodeType="clickEffect">
                                  <p:stCondLst>
                                    <p:cond delay="0"/>
                                  </p:stCondLst>
                                  <p:childTnLst>
                                    <p:set>
                                      <p:cBhvr>
                                        <p:cTn id="224" dur="1" fill="hold">
                                          <p:stCondLst>
                                            <p:cond delay="0"/>
                                          </p:stCondLst>
                                        </p:cTn>
                                        <p:tgtEl>
                                          <p:spTgt spid="200733"/>
                                        </p:tgtEl>
                                        <p:attrNameLst>
                                          <p:attrName>style.visibility</p:attrName>
                                        </p:attrNameLst>
                                      </p:cBhvr>
                                      <p:to>
                                        <p:strVal val="visible"/>
                                      </p:to>
                                    </p:set>
                                    <p:animEffect transition="in" filter="barn(outHorizontal)">
                                      <p:cBhvr>
                                        <p:cTn id="225" dur="500"/>
                                        <p:tgtEl>
                                          <p:spTgt spid="200733"/>
                                        </p:tgtEl>
                                      </p:cBhvr>
                                    </p:animEffect>
                                  </p:childTnLst>
                                </p:cTn>
                              </p:par>
                            </p:childTnLst>
                          </p:cTn>
                        </p:par>
                      </p:childTnLst>
                    </p:cTn>
                  </p:par>
                  <p:par>
                    <p:cTn id="226" fill="hold" nodeType="clickPar">
                      <p:stCondLst>
                        <p:cond delay="indefinite"/>
                      </p:stCondLst>
                      <p:childTnLst>
                        <p:par>
                          <p:cTn id="227" fill="hold" nodeType="withGroup">
                            <p:stCondLst>
                              <p:cond delay="0"/>
                            </p:stCondLst>
                            <p:childTnLst>
                              <p:par>
                                <p:cTn id="228" presetID="16" presetClass="entr" presetSubtype="37" fill="hold" nodeType="clickEffect">
                                  <p:stCondLst>
                                    <p:cond delay="0"/>
                                  </p:stCondLst>
                                  <p:childTnLst>
                                    <p:set>
                                      <p:cBhvr>
                                        <p:cTn id="229" dur="1" fill="hold">
                                          <p:stCondLst>
                                            <p:cond delay="0"/>
                                          </p:stCondLst>
                                        </p:cTn>
                                        <p:tgtEl>
                                          <p:spTgt spid="200775"/>
                                        </p:tgtEl>
                                        <p:attrNameLst>
                                          <p:attrName>style.visibility</p:attrName>
                                        </p:attrNameLst>
                                      </p:cBhvr>
                                      <p:to>
                                        <p:strVal val="visible"/>
                                      </p:to>
                                    </p:set>
                                    <p:animEffect transition="in" filter="barn(outVertical)">
                                      <p:cBhvr>
                                        <p:cTn id="230" dur="500"/>
                                        <p:tgtEl>
                                          <p:spTgt spid="200775"/>
                                        </p:tgtEl>
                                      </p:cBhvr>
                                    </p:animEffect>
                                  </p:childTnLst>
                                </p:cTn>
                              </p:par>
                            </p:childTnLst>
                          </p:cTn>
                        </p:par>
                        <p:par>
                          <p:cTn id="231" fill="hold" nodeType="afterGroup">
                            <p:stCondLst>
                              <p:cond delay="500"/>
                            </p:stCondLst>
                            <p:childTnLst>
                              <p:par>
                                <p:cTn id="232" presetID="16" presetClass="entr" presetSubtype="42" fill="hold" nodeType="afterEffect">
                                  <p:stCondLst>
                                    <p:cond delay="0"/>
                                  </p:stCondLst>
                                  <p:childTnLst>
                                    <p:set>
                                      <p:cBhvr>
                                        <p:cTn id="233" dur="1" fill="hold">
                                          <p:stCondLst>
                                            <p:cond delay="0"/>
                                          </p:stCondLst>
                                        </p:cTn>
                                        <p:tgtEl>
                                          <p:spTgt spid="200776"/>
                                        </p:tgtEl>
                                        <p:attrNameLst>
                                          <p:attrName>style.visibility</p:attrName>
                                        </p:attrNameLst>
                                      </p:cBhvr>
                                      <p:to>
                                        <p:strVal val="visible"/>
                                      </p:to>
                                    </p:set>
                                    <p:animEffect transition="in" filter="barn(outHorizontal)">
                                      <p:cBhvr>
                                        <p:cTn id="234" dur="500"/>
                                        <p:tgtEl>
                                          <p:spTgt spid="200776"/>
                                        </p:tgtEl>
                                      </p:cBhvr>
                                    </p:animEffect>
                                  </p:childTnLst>
                                </p:cTn>
                              </p:par>
                            </p:childTnLst>
                          </p:cTn>
                        </p:par>
                        <p:par>
                          <p:cTn id="235" fill="hold" nodeType="afterGroup">
                            <p:stCondLst>
                              <p:cond delay="1000"/>
                            </p:stCondLst>
                            <p:childTnLst>
                              <p:par>
                                <p:cTn id="236" presetID="16" presetClass="entr" presetSubtype="42" fill="hold" nodeType="afterEffect">
                                  <p:stCondLst>
                                    <p:cond delay="0"/>
                                  </p:stCondLst>
                                  <p:childTnLst>
                                    <p:set>
                                      <p:cBhvr>
                                        <p:cTn id="237" dur="1" fill="hold">
                                          <p:stCondLst>
                                            <p:cond delay="0"/>
                                          </p:stCondLst>
                                        </p:cTn>
                                        <p:tgtEl>
                                          <p:spTgt spid="200777"/>
                                        </p:tgtEl>
                                        <p:attrNameLst>
                                          <p:attrName>style.visibility</p:attrName>
                                        </p:attrNameLst>
                                      </p:cBhvr>
                                      <p:to>
                                        <p:strVal val="visible"/>
                                      </p:to>
                                    </p:set>
                                    <p:animEffect transition="in" filter="barn(outHorizontal)">
                                      <p:cBhvr>
                                        <p:cTn id="238" dur="500"/>
                                        <p:tgtEl>
                                          <p:spTgt spid="200777"/>
                                        </p:tgtEl>
                                      </p:cBhvr>
                                    </p:animEffect>
                                  </p:childTnLst>
                                </p:cTn>
                              </p:par>
                            </p:childTnLst>
                          </p:cTn>
                        </p:par>
                        <p:par>
                          <p:cTn id="239" fill="hold" nodeType="afterGroup">
                            <p:stCondLst>
                              <p:cond delay="1500"/>
                            </p:stCondLst>
                            <p:childTnLst>
                              <p:par>
                                <p:cTn id="240" presetID="16" presetClass="entr" presetSubtype="42" fill="hold" nodeType="afterEffect">
                                  <p:stCondLst>
                                    <p:cond delay="0"/>
                                  </p:stCondLst>
                                  <p:childTnLst>
                                    <p:set>
                                      <p:cBhvr>
                                        <p:cTn id="241" dur="1" fill="hold">
                                          <p:stCondLst>
                                            <p:cond delay="0"/>
                                          </p:stCondLst>
                                        </p:cTn>
                                        <p:tgtEl>
                                          <p:spTgt spid="200778"/>
                                        </p:tgtEl>
                                        <p:attrNameLst>
                                          <p:attrName>style.visibility</p:attrName>
                                        </p:attrNameLst>
                                      </p:cBhvr>
                                      <p:to>
                                        <p:strVal val="visible"/>
                                      </p:to>
                                    </p:set>
                                    <p:animEffect transition="in" filter="barn(outHorizontal)">
                                      <p:cBhvr>
                                        <p:cTn id="242" dur="500"/>
                                        <p:tgtEl>
                                          <p:spTgt spid="200778"/>
                                        </p:tgtEl>
                                      </p:cBhvr>
                                    </p:animEffect>
                                  </p:childTnLst>
                                </p:cTn>
                              </p:par>
                            </p:childTnLst>
                          </p:cTn>
                        </p:par>
                        <p:par>
                          <p:cTn id="243" fill="hold" nodeType="afterGroup">
                            <p:stCondLst>
                              <p:cond delay="2000"/>
                            </p:stCondLst>
                            <p:childTnLst>
                              <p:par>
                                <p:cTn id="244" presetID="16" presetClass="entr" presetSubtype="42" fill="hold" nodeType="afterEffect">
                                  <p:stCondLst>
                                    <p:cond delay="0"/>
                                  </p:stCondLst>
                                  <p:childTnLst>
                                    <p:set>
                                      <p:cBhvr>
                                        <p:cTn id="245" dur="1" fill="hold">
                                          <p:stCondLst>
                                            <p:cond delay="0"/>
                                          </p:stCondLst>
                                        </p:cTn>
                                        <p:tgtEl>
                                          <p:spTgt spid="200779"/>
                                        </p:tgtEl>
                                        <p:attrNameLst>
                                          <p:attrName>style.visibility</p:attrName>
                                        </p:attrNameLst>
                                      </p:cBhvr>
                                      <p:to>
                                        <p:strVal val="visible"/>
                                      </p:to>
                                    </p:set>
                                    <p:animEffect transition="in" filter="barn(outHorizontal)">
                                      <p:cBhvr>
                                        <p:cTn id="246" dur="500"/>
                                        <p:tgtEl>
                                          <p:spTgt spid="200779"/>
                                        </p:tgtEl>
                                      </p:cBhvr>
                                    </p:animEffect>
                                  </p:childTnLst>
                                </p:cTn>
                              </p:par>
                            </p:childTnLst>
                          </p:cTn>
                        </p:par>
                        <p:par>
                          <p:cTn id="247" fill="hold" nodeType="afterGroup">
                            <p:stCondLst>
                              <p:cond delay="2500"/>
                            </p:stCondLst>
                            <p:childTnLst>
                              <p:par>
                                <p:cTn id="248" presetID="16" presetClass="entr" presetSubtype="42" fill="hold" nodeType="afterEffect">
                                  <p:stCondLst>
                                    <p:cond delay="0"/>
                                  </p:stCondLst>
                                  <p:childTnLst>
                                    <p:set>
                                      <p:cBhvr>
                                        <p:cTn id="249" dur="1" fill="hold">
                                          <p:stCondLst>
                                            <p:cond delay="0"/>
                                          </p:stCondLst>
                                        </p:cTn>
                                        <p:tgtEl>
                                          <p:spTgt spid="200780"/>
                                        </p:tgtEl>
                                        <p:attrNameLst>
                                          <p:attrName>style.visibility</p:attrName>
                                        </p:attrNameLst>
                                      </p:cBhvr>
                                      <p:to>
                                        <p:strVal val="visible"/>
                                      </p:to>
                                    </p:set>
                                    <p:animEffect transition="in" filter="barn(outHorizontal)">
                                      <p:cBhvr>
                                        <p:cTn id="250" dur="500"/>
                                        <p:tgtEl>
                                          <p:spTgt spid="200780"/>
                                        </p:tgtEl>
                                      </p:cBhvr>
                                    </p:animEffect>
                                  </p:childTnLst>
                                </p:cTn>
                              </p:par>
                            </p:childTnLst>
                          </p:cTn>
                        </p:par>
                      </p:childTnLst>
                    </p:cTn>
                  </p:par>
                  <p:par>
                    <p:cTn id="251" fill="hold" nodeType="clickPar">
                      <p:stCondLst>
                        <p:cond delay="indefinite"/>
                      </p:stCondLst>
                      <p:childTnLst>
                        <p:par>
                          <p:cTn id="252" fill="hold" nodeType="withGroup">
                            <p:stCondLst>
                              <p:cond delay="0"/>
                            </p:stCondLst>
                            <p:childTnLst>
                              <p:par>
                                <p:cTn id="253" presetID="16" presetClass="entr" presetSubtype="42" fill="hold" nodeType="clickEffect">
                                  <p:stCondLst>
                                    <p:cond delay="0"/>
                                  </p:stCondLst>
                                  <p:childTnLst>
                                    <p:set>
                                      <p:cBhvr>
                                        <p:cTn id="254" dur="1" fill="hold">
                                          <p:stCondLst>
                                            <p:cond delay="0"/>
                                          </p:stCondLst>
                                        </p:cTn>
                                        <p:tgtEl>
                                          <p:spTgt spid="200781"/>
                                        </p:tgtEl>
                                        <p:attrNameLst>
                                          <p:attrName>style.visibility</p:attrName>
                                        </p:attrNameLst>
                                      </p:cBhvr>
                                      <p:to>
                                        <p:strVal val="visible"/>
                                      </p:to>
                                    </p:set>
                                    <p:animEffect transition="in" filter="barn(outHorizontal)">
                                      <p:cBhvr>
                                        <p:cTn id="255" dur="500"/>
                                        <p:tgtEl>
                                          <p:spTgt spid="200781"/>
                                        </p:tgtEl>
                                      </p:cBhvr>
                                    </p:animEffect>
                                  </p:childTnLst>
                                </p:cTn>
                              </p:par>
                            </p:childTnLst>
                          </p:cTn>
                        </p:par>
                      </p:childTnLst>
                    </p:cTn>
                  </p:par>
                  <p:par>
                    <p:cTn id="256" fill="hold" nodeType="clickPar">
                      <p:stCondLst>
                        <p:cond delay="indefinite"/>
                      </p:stCondLst>
                      <p:childTnLst>
                        <p:par>
                          <p:cTn id="257" fill="hold" nodeType="withGroup">
                            <p:stCondLst>
                              <p:cond delay="0"/>
                            </p:stCondLst>
                            <p:childTnLst>
                              <p:par>
                                <p:cTn id="258" presetID="16" presetClass="entr" presetSubtype="42" fill="hold" nodeType="clickEffect">
                                  <p:stCondLst>
                                    <p:cond delay="0"/>
                                  </p:stCondLst>
                                  <p:childTnLst>
                                    <p:set>
                                      <p:cBhvr>
                                        <p:cTn id="259" dur="1" fill="hold">
                                          <p:stCondLst>
                                            <p:cond delay="0"/>
                                          </p:stCondLst>
                                        </p:cTn>
                                        <p:tgtEl>
                                          <p:spTgt spid="200734"/>
                                        </p:tgtEl>
                                        <p:attrNameLst>
                                          <p:attrName>style.visibility</p:attrName>
                                        </p:attrNameLst>
                                      </p:cBhvr>
                                      <p:to>
                                        <p:strVal val="visible"/>
                                      </p:to>
                                    </p:set>
                                    <p:animEffect transition="in" filter="barn(outHorizontal)">
                                      <p:cBhvr>
                                        <p:cTn id="260" dur="500"/>
                                        <p:tgtEl>
                                          <p:spTgt spid="200734"/>
                                        </p:tgtEl>
                                      </p:cBhvr>
                                    </p:animEffect>
                                  </p:childTnLst>
                                </p:cTn>
                              </p:par>
                            </p:childTnLst>
                          </p:cTn>
                        </p:par>
                      </p:childTnLst>
                    </p:cTn>
                  </p:par>
                  <p:par>
                    <p:cTn id="261" fill="hold" nodeType="clickPar">
                      <p:stCondLst>
                        <p:cond delay="indefinite"/>
                      </p:stCondLst>
                      <p:childTnLst>
                        <p:par>
                          <p:cTn id="262" fill="hold" nodeType="withGroup">
                            <p:stCondLst>
                              <p:cond delay="0"/>
                            </p:stCondLst>
                            <p:childTnLst>
                              <p:par>
                                <p:cTn id="263" presetID="16" presetClass="entr" presetSubtype="37" fill="hold" nodeType="clickEffect">
                                  <p:stCondLst>
                                    <p:cond delay="0"/>
                                  </p:stCondLst>
                                  <p:childTnLst>
                                    <p:set>
                                      <p:cBhvr>
                                        <p:cTn id="264" dur="1" fill="hold">
                                          <p:stCondLst>
                                            <p:cond delay="0"/>
                                          </p:stCondLst>
                                        </p:cTn>
                                        <p:tgtEl>
                                          <p:spTgt spid="200782"/>
                                        </p:tgtEl>
                                        <p:attrNameLst>
                                          <p:attrName>style.visibility</p:attrName>
                                        </p:attrNameLst>
                                      </p:cBhvr>
                                      <p:to>
                                        <p:strVal val="visible"/>
                                      </p:to>
                                    </p:set>
                                    <p:animEffect transition="in" filter="barn(outVertical)">
                                      <p:cBhvr>
                                        <p:cTn id="265" dur="500"/>
                                        <p:tgtEl>
                                          <p:spTgt spid="200782"/>
                                        </p:tgtEl>
                                      </p:cBhvr>
                                    </p:animEffect>
                                  </p:childTnLst>
                                </p:cTn>
                              </p:par>
                            </p:childTnLst>
                          </p:cTn>
                        </p:par>
                        <p:par>
                          <p:cTn id="266" fill="hold" nodeType="afterGroup">
                            <p:stCondLst>
                              <p:cond delay="500"/>
                            </p:stCondLst>
                            <p:childTnLst>
                              <p:par>
                                <p:cTn id="267" presetID="16" presetClass="entr" presetSubtype="42" fill="hold" nodeType="afterEffect">
                                  <p:stCondLst>
                                    <p:cond delay="0"/>
                                  </p:stCondLst>
                                  <p:childTnLst>
                                    <p:set>
                                      <p:cBhvr>
                                        <p:cTn id="268" dur="1" fill="hold">
                                          <p:stCondLst>
                                            <p:cond delay="0"/>
                                          </p:stCondLst>
                                        </p:cTn>
                                        <p:tgtEl>
                                          <p:spTgt spid="200783"/>
                                        </p:tgtEl>
                                        <p:attrNameLst>
                                          <p:attrName>style.visibility</p:attrName>
                                        </p:attrNameLst>
                                      </p:cBhvr>
                                      <p:to>
                                        <p:strVal val="visible"/>
                                      </p:to>
                                    </p:set>
                                    <p:animEffect transition="in" filter="barn(outHorizontal)">
                                      <p:cBhvr>
                                        <p:cTn id="269" dur="500"/>
                                        <p:tgtEl>
                                          <p:spTgt spid="200783"/>
                                        </p:tgtEl>
                                      </p:cBhvr>
                                    </p:animEffect>
                                  </p:childTnLst>
                                </p:cTn>
                              </p:par>
                            </p:childTnLst>
                          </p:cTn>
                        </p:par>
                        <p:par>
                          <p:cTn id="270" fill="hold" nodeType="afterGroup">
                            <p:stCondLst>
                              <p:cond delay="1000"/>
                            </p:stCondLst>
                            <p:childTnLst>
                              <p:par>
                                <p:cTn id="271" presetID="16" presetClass="entr" presetSubtype="42" fill="hold" nodeType="afterEffect">
                                  <p:stCondLst>
                                    <p:cond delay="0"/>
                                  </p:stCondLst>
                                  <p:childTnLst>
                                    <p:set>
                                      <p:cBhvr>
                                        <p:cTn id="272" dur="1" fill="hold">
                                          <p:stCondLst>
                                            <p:cond delay="0"/>
                                          </p:stCondLst>
                                        </p:cTn>
                                        <p:tgtEl>
                                          <p:spTgt spid="200784"/>
                                        </p:tgtEl>
                                        <p:attrNameLst>
                                          <p:attrName>style.visibility</p:attrName>
                                        </p:attrNameLst>
                                      </p:cBhvr>
                                      <p:to>
                                        <p:strVal val="visible"/>
                                      </p:to>
                                    </p:set>
                                    <p:animEffect transition="in" filter="barn(outHorizontal)">
                                      <p:cBhvr>
                                        <p:cTn id="273" dur="500"/>
                                        <p:tgtEl>
                                          <p:spTgt spid="200784"/>
                                        </p:tgtEl>
                                      </p:cBhvr>
                                    </p:animEffect>
                                  </p:childTnLst>
                                </p:cTn>
                              </p:par>
                            </p:childTnLst>
                          </p:cTn>
                        </p:par>
                        <p:par>
                          <p:cTn id="274" fill="hold" nodeType="afterGroup">
                            <p:stCondLst>
                              <p:cond delay="1500"/>
                            </p:stCondLst>
                            <p:childTnLst>
                              <p:par>
                                <p:cTn id="275" presetID="16" presetClass="entr" presetSubtype="42" fill="hold" nodeType="afterEffect">
                                  <p:stCondLst>
                                    <p:cond delay="0"/>
                                  </p:stCondLst>
                                  <p:childTnLst>
                                    <p:set>
                                      <p:cBhvr>
                                        <p:cTn id="276" dur="1" fill="hold">
                                          <p:stCondLst>
                                            <p:cond delay="0"/>
                                          </p:stCondLst>
                                        </p:cTn>
                                        <p:tgtEl>
                                          <p:spTgt spid="200785"/>
                                        </p:tgtEl>
                                        <p:attrNameLst>
                                          <p:attrName>style.visibility</p:attrName>
                                        </p:attrNameLst>
                                      </p:cBhvr>
                                      <p:to>
                                        <p:strVal val="visible"/>
                                      </p:to>
                                    </p:set>
                                    <p:animEffect transition="in" filter="barn(outHorizontal)">
                                      <p:cBhvr>
                                        <p:cTn id="277" dur="500"/>
                                        <p:tgtEl>
                                          <p:spTgt spid="200785"/>
                                        </p:tgtEl>
                                      </p:cBhvr>
                                    </p:animEffect>
                                  </p:childTnLst>
                                </p:cTn>
                              </p:par>
                            </p:childTnLst>
                          </p:cTn>
                        </p:par>
                        <p:par>
                          <p:cTn id="278" fill="hold" nodeType="afterGroup">
                            <p:stCondLst>
                              <p:cond delay="2000"/>
                            </p:stCondLst>
                            <p:childTnLst>
                              <p:par>
                                <p:cTn id="279" presetID="16" presetClass="entr" presetSubtype="42" fill="hold" nodeType="afterEffect">
                                  <p:stCondLst>
                                    <p:cond delay="0"/>
                                  </p:stCondLst>
                                  <p:childTnLst>
                                    <p:set>
                                      <p:cBhvr>
                                        <p:cTn id="280" dur="1" fill="hold">
                                          <p:stCondLst>
                                            <p:cond delay="0"/>
                                          </p:stCondLst>
                                        </p:cTn>
                                        <p:tgtEl>
                                          <p:spTgt spid="200786"/>
                                        </p:tgtEl>
                                        <p:attrNameLst>
                                          <p:attrName>style.visibility</p:attrName>
                                        </p:attrNameLst>
                                      </p:cBhvr>
                                      <p:to>
                                        <p:strVal val="visible"/>
                                      </p:to>
                                    </p:set>
                                    <p:animEffect transition="in" filter="barn(outHorizontal)">
                                      <p:cBhvr>
                                        <p:cTn id="281" dur="500"/>
                                        <p:tgtEl>
                                          <p:spTgt spid="200786"/>
                                        </p:tgtEl>
                                      </p:cBhvr>
                                    </p:animEffect>
                                  </p:childTnLst>
                                </p:cTn>
                              </p:par>
                            </p:childTnLst>
                          </p:cTn>
                        </p:par>
                      </p:childTnLst>
                    </p:cTn>
                  </p:par>
                  <p:par>
                    <p:cTn id="282" fill="hold" nodeType="clickPar">
                      <p:stCondLst>
                        <p:cond delay="indefinite"/>
                      </p:stCondLst>
                      <p:childTnLst>
                        <p:par>
                          <p:cTn id="283" fill="hold" nodeType="withGroup">
                            <p:stCondLst>
                              <p:cond delay="0"/>
                            </p:stCondLst>
                            <p:childTnLst>
                              <p:par>
                                <p:cTn id="284" presetID="16" presetClass="entr" presetSubtype="42" fill="hold" nodeType="clickEffect">
                                  <p:stCondLst>
                                    <p:cond delay="0"/>
                                  </p:stCondLst>
                                  <p:childTnLst>
                                    <p:set>
                                      <p:cBhvr>
                                        <p:cTn id="285" dur="1" fill="hold">
                                          <p:stCondLst>
                                            <p:cond delay="0"/>
                                          </p:stCondLst>
                                        </p:cTn>
                                        <p:tgtEl>
                                          <p:spTgt spid="200787"/>
                                        </p:tgtEl>
                                        <p:attrNameLst>
                                          <p:attrName>style.visibility</p:attrName>
                                        </p:attrNameLst>
                                      </p:cBhvr>
                                      <p:to>
                                        <p:strVal val="visible"/>
                                      </p:to>
                                    </p:set>
                                    <p:animEffect transition="in" filter="barn(outHorizontal)">
                                      <p:cBhvr>
                                        <p:cTn id="286" dur="500"/>
                                        <p:tgtEl>
                                          <p:spTgt spid="200787"/>
                                        </p:tgtEl>
                                      </p:cBhvr>
                                    </p:animEffect>
                                  </p:childTnLst>
                                </p:cTn>
                              </p:par>
                            </p:childTnLst>
                          </p:cTn>
                        </p:par>
                      </p:childTnLst>
                    </p:cTn>
                  </p:par>
                  <p:par>
                    <p:cTn id="287" fill="hold" nodeType="clickPar">
                      <p:stCondLst>
                        <p:cond delay="indefinite"/>
                      </p:stCondLst>
                      <p:childTnLst>
                        <p:par>
                          <p:cTn id="288" fill="hold" nodeType="withGroup">
                            <p:stCondLst>
                              <p:cond delay="0"/>
                            </p:stCondLst>
                            <p:childTnLst>
                              <p:par>
                                <p:cTn id="289" presetID="16" presetClass="entr" presetSubtype="42" fill="hold" nodeType="clickEffect">
                                  <p:stCondLst>
                                    <p:cond delay="0"/>
                                  </p:stCondLst>
                                  <p:childTnLst>
                                    <p:set>
                                      <p:cBhvr>
                                        <p:cTn id="290" dur="1" fill="hold">
                                          <p:stCondLst>
                                            <p:cond delay="0"/>
                                          </p:stCondLst>
                                        </p:cTn>
                                        <p:tgtEl>
                                          <p:spTgt spid="200735"/>
                                        </p:tgtEl>
                                        <p:attrNameLst>
                                          <p:attrName>style.visibility</p:attrName>
                                        </p:attrNameLst>
                                      </p:cBhvr>
                                      <p:to>
                                        <p:strVal val="visible"/>
                                      </p:to>
                                    </p:set>
                                    <p:animEffect transition="in" filter="barn(outHorizontal)">
                                      <p:cBhvr>
                                        <p:cTn id="291" dur="500"/>
                                        <p:tgtEl>
                                          <p:spTgt spid="200735"/>
                                        </p:tgtEl>
                                      </p:cBhvr>
                                    </p:animEffect>
                                  </p:childTnLst>
                                </p:cTn>
                              </p:par>
                            </p:childTnLst>
                          </p:cTn>
                        </p:par>
                      </p:childTnLst>
                    </p:cTn>
                  </p:par>
                  <p:par>
                    <p:cTn id="292" fill="hold" nodeType="clickPar">
                      <p:stCondLst>
                        <p:cond delay="indefinite"/>
                      </p:stCondLst>
                      <p:childTnLst>
                        <p:par>
                          <p:cTn id="293" fill="hold" nodeType="withGroup">
                            <p:stCondLst>
                              <p:cond delay="0"/>
                            </p:stCondLst>
                            <p:childTnLst>
                              <p:par>
                                <p:cTn id="294" presetID="16" presetClass="entr" presetSubtype="37" fill="hold" nodeType="clickEffect">
                                  <p:stCondLst>
                                    <p:cond delay="0"/>
                                  </p:stCondLst>
                                  <p:childTnLst>
                                    <p:set>
                                      <p:cBhvr>
                                        <p:cTn id="295" dur="1" fill="hold">
                                          <p:stCondLst>
                                            <p:cond delay="0"/>
                                          </p:stCondLst>
                                        </p:cTn>
                                        <p:tgtEl>
                                          <p:spTgt spid="200788"/>
                                        </p:tgtEl>
                                        <p:attrNameLst>
                                          <p:attrName>style.visibility</p:attrName>
                                        </p:attrNameLst>
                                      </p:cBhvr>
                                      <p:to>
                                        <p:strVal val="visible"/>
                                      </p:to>
                                    </p:set>
                                    <p:animEffect transition="in" filter="barn(outVertical)">
                                      <p:cBhvr>
                                        <p:cTn id="296" dur="500"/>
                                        <p:tgtEl>
                                          <p:spTgt spid="200788"/>
                                        </p:tgtEl>
                                      </p:cBhvr>
                                    </p:animEffect>
                                  </p:childTnLst>
                                </p:cTn>
                              </p:par>
                            </p:childTnLst>
                          </p:cTn>
                        </p:par>
                        <p:par>
                          <p:cTn id="297" fill="hold" nodeType="afterGroup">
                            <p:stCondLst>
                              <p:cond delay="500"/>
                            </p:stCondLst>
                            <p:childTnLst>
                              <p:par>
                                <p:cTn id="298" presetID="16" presetClass="entr" presetSubtype="42" fill="hold" nodeType="afterEffect">
                                  <p:stCondLst>
                                    <p:cond delay="0"/>
                                  </p:stCondLst>
                                  <p:childTnLst>
                                    <p:set>
                                      <p:cBhvr>
                                        <p:cTn id="299" dur="1" fill="hold">
                                          <p:stCondLst>
                                            <p:cond delay="0"/>
                                          </p:stCondLst>
                                        </p:cTn>
                                        <p:tgtEl>
                                          <p:spTgt spid="200789"/>
                                        </p:tgtEl>
                                        <p:attrNameLst>
                                          <p:attrName>style.visibility</p:attrName>
                                        </p:attrNameLst>
                                      </p:cBhvr>
                                      <p:to>
                                        <p:strVal val="visible"/>
                                      </p:to>
                                    </p:set>
                                    <p:animEffect transition="in" filter="barn(outHorizontal)">
                                      <p:cBhvr>
                                        <p:cTn id="300" dur="500"/>
                                        <p:tgtEl>
                                          <p:spTgt spid="200789"/>
                                        </p:tgtEl>
                                      </p:cBhvr>
                                    </p:animEffect>
                                  </p:childTnLst>
                                </p:cTn>
                              </p:par>
                            </p:childTnLst>
                          </p:cTn>
                        </p:par>
                        <p:par>
                          <p:cTn id="301" fill="hold" nodeType="afterGroup">
                            <p:stCondLst>
                              <p:cond delay="1000"/>
                            </p:stCondLst>
                            <p:childTnLst>
                              <p:par>
                                <p:cTn id="302" presetID="16" presetClass="entr" presetSubtype="42" fill="hold" nodeType="afterEffect">
                                  <p:stCondLst>
                                    <p:cond delay="0"/>
                                  </p:stCondLst>
                                  <p:childTnLst>
                                    <p:set>
                                      <p:cBhvr>
                                        <p:cTn id="303" dur="1" fill="hold">
                                          <p:stCondLst>
                                            <p:cond delay="0"/>
                                          </p:stCondLst>
                                        </p:cTn>
                                        <p:tgtEl>
                                          <p:spTgt spid="200790"/>
                                        </p:tgtEl>
                                        <p:attrNameLst>
                                          <p:attrName>style.visibility</p:attrName>
                                        </p:attrNameLst>
                                      </p:cBhvr>
                                      <p:to>
                                        <p:strVal val="visible"/>
                                      </p:to>
                                    </p:set>
                                    <p:animEffect transition="in" filter="barn(outHorizontal)">
                                      <p:cBhvr>
                                        <p:cTn id="304" dur="500"/>
                                        <p:tgtEl>
                                          <p:spTgt spid="200790"/>
                                        </p:tgtEl>
                                      </p:cBhvr>
                                    </p:animEffect>
                                  </p:childTnLst>
                                </p:cTn>
                              </p:par>
                            </p:childTnLst>
                          </p:cTn>
                        </p:par>
                        <p:par>
                          <p:cTn id="305" fill="hold" nodeType="afterGroup">
                            <p:stCondLst>
                              <p:cond delay="1500"/>
                            </p:stCondLst>
                            <p:childTnLst>
                              <p:par>
                                <p:cTn id="306" presetID="16" presetClass="entr" presetSubtype="42" fill="hold" nodeType="afterEffect">
                                  <p:stCondLst>
                                    <p:cond delay="0"/>
                                  </p:stCondLst>
                                  <p:childTnLst>
                                    <p:set>
                                      <p:cBhvr>
                                        <p:cTn id="307" dur="1" fill="hold">
                                          <p:stCondLst>
                                            <p:cond delay="0"/>
                                          </p:stCondLst>
                                        </p:cTn>
                                        <p:tgtEl>
                                          <p:spTgt spid="200791"/>
                                        </p:tgtEl>
                                        <p:attrNameLst>
                                          <p:attrName>style.visibility</p:attrName>
                                        </p:attrNameLst>
                                      </p:cBhvr>
                                      <p:to>
                                        <p:strVal val="visible"/>
                                      </p:to>
                                    </p:set>
                                    <p:animEffect transition="in" filter="barn(outHorizontal)">
                                      <p:cBhvr>
                                        <p:cTn id="308" dur="500"/>
                                        <p:tgtEl>
                                          <p:spTgt spid="200791"/>
                                        </p:tgtEl>
                                      </p:cBhvr>
                                    </p:animEffect>
                                  </p:childTnLst>
                                </p:cTn>
                              </p:par>
                            </p:childTnLst>
                          </p:cTn>
                        </p:par>
                        <p:par>
                          <p:cTn id="309" fill="hold" nodeType="afterGroup">
                            <p:stCondLst>
                              <p:cond delay="2000"/>
                            </p:stCondLst>
                            <p:childTnLst>
                              <p:par>
                                <p:cTn id="310" presetID="16" presetClass="entr" presetSubtype="42" fill="hold" nodeType="afterEffect">
                                  <p:stCondLst>
                                    <p:cond delay="0"/>
                                  </p:stCondLst>
                                  <p:childTnLst>
                                    <p:set>
                                      <p:cBhvr>
                                        <p:cTn id="311" dur="1" fill="hold">
                                          <p:stCondLst>
                                            <p:cond delay="0"/>
                                          </p:stCondLst>
                                        </p:cTn>
                                        <p:tgtEl>
                                          <p:spTgt spid="200792"/>
                                        </p:tgtEl>
                                        <p:attrNameLst>
                                          <p:attrName>style.visibility</p:attrName>
                                        </p:attrNameLst>
                                      </p:cBhvr>
                                      <p:to>
                                        <p:strVal val="visible"/>
                                      </p:to>
                                    </p:set>
                                    <p:animEffect transition="in" filter="barn(outHorizontal)">
                                      <p:cBhvr>
                                        <p:cTn id="312" dur="500"/>
                                        <p:tgtEl>
                                          <p:spTgt spid="200792"/>
                                        </p:tgtEl>
                                      </p:cBhvr>
                                    </p:animEffect>
                                  </p:childTnLst>
                                </p:cTn>
                              </p:par>
                            </p:childTnLst>
                          </p:cTn>
                        </p:par>
                      </p:childTnLst>
                    </p:cTn>
                  </p:par>
                  <p:par>
                    <p:cTn id="313" fill="hold" nodeType="clickPar">
                      <p:stCondLst>
                        <p:cond delay="indefinite"/>
                      </p:stCondLst>
                      <p:childTnLst>
                        <p:par>
                          <p:cTn id="314" fill="hold" nodeType="withGroup">
                            <p:stCondLst>
                              <p:cond delay="0"/>
                            </p:stCondLst>
                            <p:childTnLst>
                              <p:par>
                                <p:cTn id="315" presetID="16" presetClass="entr" presetSubtype="42" fill="hold" nodeType="clickEffect">
                                  <p:stCondLst>
                                    <p:cond delay="0"/>
                                  </p:stCondLst>
                                  <p:childTnLst>
                                    <p:set>
                                      <p:cBhvr>
                                        <p:cTn id="316" dur="1" fill="hold">
                                          <p:stCondLst>
                                            <p:cond delay="0"/>
                                          </p:stCondLst>
                                        </p:cTn>
                                        <p:tgtEl>
                                          <p:spTgt spid="200793"/>
                                        </p:tgtEl>
                                        <p:attrNameLst>
                                          <p:attrName>style.visibility</p:attrName>
                                        </p:attrNameLst>
                                      </p:cBhvr>
                                      <p:to>
                                        <p:strVal val="visible"/>
                                      </p:to>
                                    </p:set>
                                    <p:animEffect transition="in" filter="barn(outHorizontal)">
                                      <p:cBhvr>
                                        <p:cTn id="317" dur="500"/>
                                        <p:tgtEl>
                                          <p:spTgt spid="200793"/>
                                        </p:tgtEl>
                                      </p:cBhvr>
                                    </p:animEffect>
                                  </p:childTnLst>
                                </p:cTn>
                              </p:par>
                            </p:childTnLst>
                          </p:cTn>
                        </p:par>
                      </p:childTnLst>
                    </p:cTn>
                  </p:par>
                  <p:par>
                    <p:cTn id="318" fill="hold" nodeType="clickPar">
                      <p:stCondLst>
                        <p:cond delay="indefinite"/>
                      </p:stCondLst>
                      <p:childTnLst>
                        <p:par>
                          <p:cTn id="319" fill="hold" nodeType="withGroup">
                            <p:stCondLst>
                              <p:cond delay="0"/>
                            </p:stCondLst>
                            <p:childTnLst>
                              <p:par>
                                <p:cTn id="320" presetID="16" presetClass="entr" presetSubtype="42" fill="hold" nodeType="clickEffect">
                                  <p:stCondLst>
                                    <p:cond delay="0"/>
                                  </p:stCondLst>
                                  <p:childTnLst>
                                    <p:set>
                                      <p:cBhvr>
                                        <p:cTn id="321" dur="1" fill="hold">
                                          <p:stCondLst>
                                            <p:cond delay="0"/>
                                          </p:stCondLst>
                                        </p:cTn>
                                        <p:tgtEl>
                                          <p:spTgt spid="200736"/>
                                        </p:tgtEl>
                                        <p:attrNameLst>
                                          <p:attrName>style.visibility</p:attrName>
                                        </p:attrNameLst>
                                      </p:cBhvr>
                                      <p:to>
                                        <p:strVal val="visible"/>
                                      </p:to>
                                    </p:set>
                                    <p:animEffect transition="in" filter="barn(outHorizontal)">
                                      <p:cBhvr>
                                        <p:cTn id="322" dur="500"/>
                                        <p:tgtEl>
                                          <p:spTgt spid="200736"/>
                                        </p:tgtEl>
                                      </p:cBhvr>
                                    </p:animEffect>
                                  </p:childTnLst>
                                </p:cTn>
                              </p:par>
                            </p:childTnLst>
                          </p:cTn>
                        </p:par>
                      </p:childTnLst>
                    </p:cTn>
                  </p:par>
                  <p:par>
                    <p:cTn id="323" fill="hold" nodeType="clickPar">
                      <p:stCondLst>
                        <p:cond delay="indefinite"/>
                      </p:stCondLst>
                      <p:childTnLst>
                        <p:par>
                          <p:cTn id="324" fill="hold" nodeType="withGroup">
                            <p:stCondLst>
                              <p:cond delay="0"/>
                            </p:stCondLst>
                            <p:childTnLst>
                              <p:par>
                                <p:cTn id="325" presetID="16" presetClass="entr" presetSubtype="37" fill="hold" nodeType="clickEffect">
                                  <p:stCondLst>
                                    <p:cond delay="0"/>
                                  </p:stCondLst>
                                  <p:childTnLst>
                                    <p:set>
                                      <p:cBhvr>
                                        <p:cTn id="326" dur="1" fill="hold">
                                          <p:stCondLst>
                                            <p:cond delay="0"/>
                                          </p:stCondLst>
                                        </p:cTn>
                                        <p:tgtEl>
                                          <p:spTgt spid="200795"/>
                                        </p:tgtEl>
                                        <p:attrNameLst>
                                          <p:attrName>style.visibility</p:attrName>
                                        </p:attrNameLst>
                                      </p:cBhvr>
                                      <p:to>
                                        <p:strVal val="visible"/>
                                      </p:to>
                                    </p:set>
                                    <p:animEffect transition="in" filter="barn(outVertical)">
                                      <p:cBhvr>
                                        <p:cTn id="327" dur="500"/>
                                        <p:tgtEl>
                                          <p:spTgt spid="200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85" grpId="0"/>
      <p:bldP spid="200733" grpId="0"/>
      <p:bldP spid="200722" grpId="0"/>
      <p:bldP spid="200727" grpId="0"/>
      <p:bldP spid="200728" grpId="0"/>
      <p:bldP spid="200729" grpId="0"/>
      <p:bldP spid="200730" grpId="0"/>
      <p:bldP spid="200731" grpId="0"/>
      <p:bldP spid="200732" grpId="0"/>
      <p:bldP spid="200734" grpId="0"/>
      <p:bldP spid="200735" grpId="0"/>
      <p:bldP spid="200736" grpId="0"/>
      <p:bldP spid="200737" grpId="0"/>
      <p:bldP spid="200739" grpId="0"/>
      <p:bldP spid="200740" grpId="0"/>
      <p:bldP spid="200742" grpId="0"/>
      <p:bldP spid="200743" grpId="0"/>
      <p:bldP spid="200745" grpId="0"/>
      <p:bldP spid="200746" grpId="0"/>
      <p:bldP spid="200748" grpId="0"/>
      <p:bldP spid="200750" grpId="0"/>
      <p:bldP spid="200752" grpId="0"/>
      <p:bldP spid="200753" grpId="0"/>
      <p:bldP spid="200755" grpId="0"/>
      <p:bldP spid="200756" grpId="0"/>
      <p:bldP spid="200757" grpId="0"/>
      <p:bldP spid="200758" grpId="0"/>
      <p:bldP spid="200759" grpId="0"/>
      <p:bldP spid="200761" grpId="0"/>
      <p:bldP spid="200762" grpId="0"/>
      <p:bldP spid="200763" grpId="0"/>
      <p:bldP spid="200764" grpId="0"/>
      <p:bldP spid="200765" grpId="0"/>
      <p:bldP spid="200767" grpId="0"/>
      <p:bldP spid="200768" grpId="0"/>
      <p:bldP spid="200769" grpId="0"/>
      <p:bldP spid="200770" grpId="0"/>
      <p:bldP spid="200773" grpId="0"/>
      <p:bldP spid="200774" grpId="0"/>
      <p:bldP spid="200776" grpId="0"/>
      <p:bldP spid="200777" grpId="0"/>
      <p:bldP spid="200778" grpId="0"/>
      <p:bldP spid="200779" grpId="0"/>
      <p:bldP spid="200780" grpId="0"/>
      <p:bldP spid="200781" grpId="0"/>
      <p:bldP spid="200783" grpId="0"/>
      <p:bldP spid="200784" grpId="0"/>
      <p:bldP spid="200786" grpId="0"/>
      <p:bldP spid="200787" grpId="0"/>
      <p:bldP spid="200789" grpId="0"/>
      <p:bldP spid="200790" grpId="0"/>
      <p:bldP spid="200791" grpId="0"/>
      <p:bldP spid="200792" grpId="0"/>
      <p:bldP spid="200793" grpId="0"/>
      <p:bldP spid="20079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CF524CDA-AE17-FF93-3C6D-EDD6A40AB283}"/>
              </a:ext>
            </a:extLst>
          </p:cNvPr>
          <p:cNvSpPr>
            <a:spLocks noGrp="1" noChangeArrowheads="1"/>
          </p:cNvSpPr>
          <p:nvPr>
            <p:ph type="title"/>
          </p:nvPr>
        </p:nvSpPr>
        <p:spPr/>
        <p:txBody>
          <a:bodyPr/>
          <a:lstStyle/>
          <a:p>
            <a:pPr eaLnBrk="1" hangingPunct="1"/>
            <a:r>
              <a:rPr lang="zh-CN" altLang="en-US">
                <a:solidFill>
                  <a:schemeClr val="tx1"/>
                </a:solidFill>
              </a:rPr>
              <a:t>伙伴系统的二叉树表示</a:t>
            </a:r>
          </a:p>
        </p:txBody>
      </p:sp>
      <p:sp>
        <p:nvSpPr>
          <p:cNvPr id="89090" name="Rectangle 3">
            <a:extLst>
              <a:ext uri="{FF2B5EF4-FFF2-40B4-BE49-F238E27FC236}">
                <a16:creationId xmlns:a16="http://schemas.microsoft.com/office/drawing/2014/main" id="{C78DD2F8-B3BC-C25C-D64E-95C19433CE72}"/>
              </a:ext>
            </a:extLst>
          </p:cNvPr>
          <p:cNvSpPr>
            <a:spLocks noGrp="1" noChangeArrowheads="1"/>
          </p:cNvSpPr>
          <p:nvPr>
            <p:ph idx="1"/>
          </p:nvPr>
        </p:nvSpPr>
        <p:spPr>
          <a:xfrm>
            <a:off x="209550" y="1268413"/>
            <a:ext cx="4075113" cy="4535487"/>
          </a:xfrm>
        </p:spPr>
        <p:txBody>
          <a:bodyPr/>
          <a:lstStyle/>
          <a:p>
            <a:pPr eaLnBrk="1" hangingPunct="1"/>
            <a:r>
              <a:rPr lang="zh-CN" altLang="en-US" sz="2800"/>
              <a:t>可以用二叉树表示内存分配情况。叶结点表示存储器中的当前分区，如果两个伙伴是叶子，则至少有一个被分配。</a:t>
            </a:r>
          </a:p>
          <a:p>
            <a:pPr eaLnBrk="1" hangingPunct="1"/>
            <a:r>
              <a:rPr lang="zh-CN" altLang="en-US" sz="2800"/>
              <a:t>右图表示</a:t>
            </a:r>
            <a:r>
              <a:rPr lang="en-US" altLang="zh-CN" sz="2800"/>
              <a:t>A（200）、B（120）、C（240）、D（100）</a:t>
            </a:r>
            <a:r>
              <a:rPr lang="zh-CN" altLang="en-US" sz="2800"/>
              <a:t>分配之后的情况。</a:t>
            </a:r>
          </a:p>
        </p:txBody>
      </p:sp>
      <p:sp>
        <p:nvSpPr>
          <p:cNvPr id="89091" name="Oval 4" descr="宽上对角线">
            <a:extLst>
              <a:ext uri="{FF2B5EF4-FFF2-40B4-BE49-F238E27FC236}">
                <a16:creationId xmlns:a16="http://schemas.microsoft.com/office/drawing/2014/main" id="{76ACEEEE-E12B-DDD7-23CD-26A4356E305B}"/>
              </a:ext>
            </a:extLst>
          </p:cNvPr>
          <p:cNvSpPr>
            <a:spLocks noChangeArrowheads="1"/>
          </p:cNvSpPr>
          <p:nvPr/>
        </p:nvSpPr>
        <p:spPr bwMode="auto">
          <a:xfrm>
            <a:off x="6934200" y="1611313"/>
            <a:ext cx="431800" cy="431800"/>
          </a:xfrm>
          <a:prstGeom prst="ellipse">
            <a:avLst/>
          </a:prstGeom>
          <a:blipFill dpi="0" rotWithShape="0">
            <a:blip r:embed="rId2"/>
            <a:srcRect/>
            <a:tile tx="0" ty="0" sx="100000" sy="100000" flip="none" algn="tl"/>
          </a:blipFill>
          <a:ln w="22225">
            <a:solidFill>
              <a:schemeClr val="tx1"/>
            </a:solidFill>
            <a:miter lim="800000"/>
            <a:headEnd/>
            <a:tailEnd/>
          </a:ln>
        </p:spPr>
        <p:txBody>
          <a:bodyPr wrap="none" anchor="ctr"/>
          <a:lstStyle/>
          <a:p>
            <a:pPr algn="ctr"/>
            <a:endParaRPr lang="zh-CN" altLang="en-US"/>
          </a:p>
        </p:txBody>
      </p:sp>
      <p:sp>
        <p:nvSpPr>
          <p:cNvPr id="89092" name="Oval 5">
            <a:extLst>
              <a:ext uri="{FF2B5EF4-FFF2-40B4-BE49-F238E27FC236}">
                <a16:creationId xmlns:a16="http://schemas.microsoft.com/office/drawing/2014/main" id="{0D215091-4C7F-E32D-22E5-7674D2372252}"/>
              </a:ext>
            </a:extLst>
          </p:cNvPr>
          <p:cNvSpPr>
            <a:spLocks noChangeArrowheads="1"/>
          </p:cNvSpPr>
          <p:nvPr/>
        </p:nvSpPr>
        <p:spPr bwMode="auto">
          <a:xfrm>
            <a:off x="6045200" y="5040313"/>
            <a:ext cx="431800" cy="431800"/>
          </a:xfrm>
          <a:prstGeom prst="ellipse">
            <a:avLst/>
          </a:prstGeom>
          <a:solidFill>
            <a:schemeClr val="accent1"/>
          </a:solidFill>
          <a:ln w="22225">
            <a:solidFill>
              <a:schemeClr val="tx1"/>
            </a:solidFill>
            <a:miter lim="800000"/>
            <a:headEnd/>
            <a:tailEnd/>
          </a:ln>
        </p:spPr>
        <p:txBody>
          <a:bodyPr wrap="none" anchor="ctr"/>
          <a:lstStyle/>
          <a:p>
            <a:pPr algn="ctr"/>
            <a:endParaRPr lang="zh-CN" altLang="en-US"/>
          </a:p>
        </p:txBody>
      </p:sp>
      <p:sp>
        <p:nvSpPr>
          <p:cNvPr id="89093" name="Oval 6" descr="宽上对角线">
            <a:extLst>
              <a:ext uri="{FF2B5EF4-FFF2-40B4-BE49-F238E27FC236}">
                <a16:creationId xmlns:a16="http://schemas.microsoft.com/office/drawing/2014/main" id="{4E550EA9-4843-1D73-D939-62A0220702C1}"/>
              </a:ext>
            </a:extLst>
          </p:cNvPr>
          <p:cNvSpPr>
            <a:spLocks noChangeArrowheads="1"/>
          </p:cNvSpPr>
          <p:nvPr/>
        </p:nvSpPr>
        <p:spPr bwMode="auto">
          <a:xfrm>
            <a:off x="6096000" y="2754313"/>
            <a:ext cx="431800" cy="431800"/>
          </a:xfrm>
          <a:prstGeom prst="ellipse">
            <a:avLst/>
          </a:prstGeom>
          <a:blipFill dpi="0" rotWithShape="0">
            <a:blip r:embed="rId2"/>
            <a:srcRect/>
            <a:tile tx="0" ty="0" sx="100000" sy="100000" flip="none" algn="tl"/>
          </a:blipFill>
          <a:ln w="22225">
            <a:solidFill>
              <a:schemeClr val="tx1"/>
            </a:solidFill>
            <a:miter lim="800000"/>
            <a:headEnd/>
            <a:tailEnd/>
          </a:ln>
        </p:spPr>
        <p:txBody>
          <a:bodyPr wrap="none" anchor="ctr"/>
          <a:lstStyle/>
          <a:p>
            <a:pPr algn="ctr"/>
            <a:endParaRPr lang="zh-CN" altLang="en-US"/>
          </a:p>
        </p:txBody>
      </p:sp>
      <p:sp>
        <p:nvSpPr>
          <p:cNvPr id="89094" name="Oval 7" descr="宽上对角线">
            <a:extLst>
              <a:ext uri="{FF2B5EF4-FFF2-40B4-BE49-F238E27FC236}">
                <a16:creationId xmlns:a16="http://schemas.microsoft.com/office/drawing/2014/main" id="{E895BF3D-22D9-FFCF-627D-C84752BAC880}"/>
              </a:ext>
            </a:extLst>
          </p:cNvPr>
          <p:cNvSpPr>
            <a:spLocks noChangeArrowheads="1"/>
          </p:cNvSpPr>
          <p:nvPr/>
        </p:nvSpPr>
        <p:spPr bwMode="auto">
          <a:xfrm>
            <a:off x="7772400" y="2754313"/>
            <a:ext cx="431800" cy="431800"/>
          </a:xfrm>
          <a:prstGeom prst="ellipse">
            <a:avLst/>
          </a:prstGeom>
          <a:blipFill dpi="0" rotWithShape="0">
            <a:blip r:embed="rId2"/>
            <a:srcRect/>
            <a:tile tx="0" ty="0" sx="100000" sy="100000" flip="none" algn="tl"/>
          </a:blipFill>
          <a:ln w="22225">
            <a:solidFill>
              <a:schemeClr val="tx1"/>
            </a:solidFill>
            <a:miter lim="800000"/>
            <a:headEnd/>
            <a:tailEnd/>
          </a:ln>
        </p:spPr>
        <p:txBody>
          <a:bodyPr wrap="none" anchor="ctr"/>
          <a:lstStyle/>
          <a:p>
            <a:pPr algn="ctr"/>
            <a:endParaRPr lang="zh-CN" altLang="en-US"/>
          </a:p>
        </p:txBody>
      </p:sp>
      <p:sp>
        <p:nvSpPr>
          <p:cNvPr id="89095" name="Oval 8">
            <a:extLst>
              <a:ext uri="{FF2B5EF4-FFF2-40B4-BE49-F238E27FC236}">
                <a16:creationId xmlns:a16="http://schemas.microsoft.com/office/drawing/2014/main" id="{44D1A25C-4C20-1888-482D-53E8AFF049F7}"/>
              </a:ext>
            </a:extLst>
          </p:cNvPr>
          <p:cNvSpPr>
            <a:spLocks noChangeArrowheads="1"/>
          </p:cNvSpPr>
          <p:nvPr/>
        </p:nvSpPr>
        <p:spPr bwMode="auto">
          <a:xfrm>
            <a:off x="5410200" y="3897313"/>
            <a:ext cx="431800" cy="431800"/>
          </a:xfrm>
          <a:prstGeom prst="ellipse">
            <a:avLst/>
          </a:prstGeom>
          <a:solidFill>
            <a:schemeClr val="accent1"/>
          </a:solidFill>
          <a:ln w="22225">
            <a:solidFill>
              <a:schemeClr val="tx1"/>
            </a:solidFill>
            <a:miter lim="800000"/>
            <a:headEnd/>
            <a:tailEnd/>
          </a:ln>
        </p:spPr>
        <p:txBody>
          <a:bodyPr wrap="none" anchor="ctr"/>
          <a:lstStyle/>
          <a:p>
            <a:pPr algn="ctr"/>
            <a:endParaRPr lang="zh-CN" altLang="en-US"/>
          </a:p>
        </p:txBody>
      </p:sp>
      <p:sp>
        <p:nvSpPr>
          <p:cNvPr id="89096" name="Oval 9">
            <a:extLst>
              <a:ext uri="{FF2B5EF4-FFF2-40B4-BE49-F238E27FC236}">
                <a16:creationId xmlns:a16="http://schemas.microsoft.com/office/drawing/2014/main" id="{C269F165-55C4-D25B-3212-C99F5CF376A1}"/>
              </a:ext>
            </a:extLst>
          </p:cNvPr>
          <p:cNvSpPr>
            <a:spLocks noChangeArrowheads="1"/>
          </p:cNvSpPr>
          <p:nvPr/>
        </p:nvSpPr>
        <p:spPr bwMode="auto">
          <a:xfrm>
            <a:off x="7239000" y="3897313"/>
            <a:ext cx="431800" cy="431800"/>
          </a:xfrm>
          <a:prstGeom prst="ellipse">
            <a:avLst/>
          </a:prstGeom>
          <a:solidFill>
            <a:schemeClr val="accent1"/>
          </a:solidFill>
          <a:ln w="22225">
            <a:solidFill>
              <a:schemeClr val="tx1"/>
            </a:solidFill>
            <a:miter lim="800000"/>
            <a:headEnd/>
            <a:tailEnd/>
          </a:ln>
        </p:spPr>
        <p:txBody>
          <a:bodyPr wrap="none" anchor="ctr"/>
          <a:lstStyle/>
          <a:p>
            <a:pPr algn="ctr"/>
            <a:endParaRPr lang="zh-CN" altLang="en-US"/>
          </a:p>
        </p:txBody>
      </p:sp>
      <p:sp>
        <p:nvSpPr>
          <p:cNvPr id="89097" name="Oval 10">
            <a:extLst>
              <a:ext uri="{FF2B5EF4-FFF2-40B4-BE49-F238E27FC236}">
                <a16:creationId xmlns:a16="http://schemas.microsoft.com/office/drawing/2014/main" id="{C5D355B8-090E-C7E8-FCF2-DA96CA32BEDD}"/>
              </a:ext>
            </a:extLst>
          </p:cNvPr>
          <p:cNvSpPr>
            <a:spLocks noChangeArrowheads="1"/>
          </p:cNvSpPr>
          <p:nvPr/>
        </p:nvSpPr>
        <p:spPr bwMode="auto">
          <a:xfrm>
            <a:off x="7416800" y="5040313"/>
            <a:ext cx="431800" cy="431800"/>
          </a:xfrm>
          <a:prstGeom prst="ellipse">
            <a:avLst/>
          </a:prstGeom>
          <a:solidFill>
            <a:schemeClr val="accent1"/>
          </a:solidFill>
          <a:ln w="22225">
            <a:solidFill>
              <a:schemeClr val="tx1"/>
            </a:solidFill>
            <a:miter lim="800000"/>
            <a:headEnd/>
            <a:tailEnd/>
          </a:ln>
        </p:spPr>
        <p:txBody>
          <a:bodyPr wrap="none" anchor="ctr"/>
          <a:lstStyle/>
          <a:p>
            <a:pPr algn="ctr"/>
            <a:endParaRPr lang="zh-CN" altLang="en-US"/>
          </a:p>
        </p:txBody>
      </p:sp>
      <p:sp>
        <p:nvSpPr>
          <p:cNvPr id="89098" name="Oval 11">
            <a:extLst>
              <a:ext uri="{FF2B5EF4-FFF2-40B4-BE49-F238E27FC236}">
                <a16:creationId xmlns:a16="http://schemas.microsoft.com/office/drawing/2014/main" id="{649E883F-038A-581A-A6AE-EF114D49E990}"/>
              </a:ext>
            </a:extLst>
          </p:cNvPr>
          <p:cNvSpPr>
            <a:spLocks noChangeArrowheads="1"/>
          </p:cNvSpPr>
          <p:nvPr/>
        </p:nvSpPr>
        <p:spPr bwMode="auto">
          <a:xfrm>
            <a:off x="8610600" y="3897313"/>
            <a:ext cx="431800" cy="431800"/>
          </a:xfrm>
          <a:prstGeom prst="ellipse">
            <a:avLst/>
          </a:prstGeom>
          <a:solidFill>
            <a:schemeClr val="bg1"/>
          </a:solidFill>
          <a:ln w="22225">
            <a:solidFill>
              <a:schemeClr val="tx1"/>
            </a:solidFill>
            <a:miter lim="800000"/>
            <a:headEnd/>
            <a:tailEnd/>
          </a:ln>
        </p:spPr>
        <p:txBody>
          <a:bodyPr wrap="none" anchor="ctr"/>
          <a:lstStyle/>
          <a:p>
            <a:pPr algn="ctr"/>
            <a:endParaRPr lang="zh-CN" altLang="en-US"/>
          </a:p>
        </p:txBody>
      </p:sp>
      <p:sp>
        <p:nvSpPr>
          <p:cNvPr id="89099" name="Oval 12" descr="宽上对角线">
            <a:extLst>
              <a:ext uri="{FF2B5EF4-FFF2-40B4-BE49-F238E27FC236}">
                <a16:creationId xmlns:a16="http://schemas.microsoft.com/office/drawing/2014/main" id="{28948012-2493-7D29-6ED3-E842CAE9DF72}"/>
              </a:ext>
            </a:extLst>
          </p:cNvPr>
          <p:cNvSpPr>
            <a:spLocks noChangeArrowheads="1"/>
          </p:cNvSpPr>
          <p:nvPr/>
        </p:nvSpPr>
        <p:spPr bwMode="auto">
          <a:xfrm>
            <a:off x="6705600" y="3897313"/>
            <a:ext cx="431800" cy="431800"/>
          </a:xfrm>
          <a:prstGeom prst="ellipse">
            <a:avLst/>
          </a:prstGeom>
          <a:blipFill dpi="0" rotWithShape="0">
            <a:blip r:embed="rId2"/>
            <a:srcRect/>
            <a:tile tx="0" ty="0" sx="100000" sy="100000" flip="none" algn="tl"/>
          </a:blipFill>
          <a:ln w="22225">
            <a:solidFill>
              <a:schemeClr val="tx1"/>
            </a:solidFill>
            <a:miter lim="800000"/>
            <a:headEnd/>
            <a:tailEnd/>
          </a:ln>
        </p:spPr>
        <p:txBody>
          <a:bodyPr wrap="none" anchor="ctr"/>
          <a:lstStyle/>
          <a:p>
            <a:pPr algn="ctr"/>
            <a:endParaRPr lang="zh-CN" altLang="en-US"/>
          </a:p>
        </p:txBody>
      </p:sp>
      <p:sp>
        <p:nvSpPr>
          <p:cNvPr id="89100" name="Line 13">
            <a:extLst>
              <a:ext uri="{FF2B5EF4-FFF2-40B4-BE49-F238E27FC236}">
                <a16:creationId xmlns:a16="http://schemas.microsoft.com/office/drawing/2014/main" id="{E6E9D3AB-E603-3266-84E5-43EB32D82BC9}"/>
              </a:ext>
            </a:extLst>
          </p:cNvPr>
          <p:cNvSpPr>
            <a:spLocks noChangeShapeType="1"/>
          </p:cNvSpPr>
          <p:nvPr/>
        </p:nvSpPr>
        <p:spPr bwMode="auto">
          <a:xfrm flipH="1">
            <a:off x="6400800" y="1992313"/>
            <a:ext cx="609600" cy="76200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01" name="Line 14">
            <a:extLst>
              <a:ext uri="{FF2B5EF4-FFF2-40B4-BE49-F238E27FC236}">
                <a16:creationId xmlns:a16="http://schemas.microsoft.com/office/drawing/2014/main" id="{0FD8E66D-B997-9066-BD54-C668A6541B73}"/>
              </a:ext>
            </a:extLst>
          </p:cNvPr>
          <p:cNvSpPr>
            <a:spLocks noChangeShapeType="1"/>
          </p:cNvSpPr>
          <p:nvPr/>
        </p:nvSpPr>
        <p:spPr bwMode="auto">
          <a:xfrm>
            <a:off x="7315200" y="1992313"/>
            <a:ext cx="609600" cy="76200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02" name="Line 15">
            <a:extLst>
              <a:ext uri="{FF2B5EF4-FFF2-40B4-BE49-F238E27FC236}">
                <a16:creationId xmlns:a16="http://schemas.microsoft.com/office/drawing/2014/main" id="{FCCB240F-BC00-D026-9366-289BBD225004}"/>
              </a:ext>
            </a:extLst>
          </p:cNvPr>
          <p:cNvSpPr>
            <a:spLocks noChangeShapeType="1"/>
          </p:cNvSpPr>
          <p:nvPr/>
        </p:nvSpPr>
        <p:spPr bwMode="auto">
          <a:xfrm flipH="1">
            <a:off x="5562600" y="3135313"/>
            <a:ext cx="609600" cy="76200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03" name="Line 16">
            <a:extLst>
              <a:ext uri="{FF2B5EF4-FFF2-40B4-BE49-F238E27FC236}">
                <a16:creationId xmlns:a16="http://schemas.microsoft.com/office/drawing/2014/main" id="{1D1FD414-3861-AD83-7FCA-6C3BC670896F}"/>
              </a:ext>
            </a:extLst>
          </p:cNvPr>
          <p:cNvSpPr>
            <a:spLocks noChangeShapeType="1"/>
          </p:cNvSpPr>
          <p:nvPr/>
        </p:nvSpPr>
        <p:spPr bwMode="auto">
          <a:xfrm>
            <a:off x="6477000" y="3135313"/>
            <a:ext cx="533400" cy="76200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04" name="Line 17">
            <a:extLst>
              <a:ext uri="{FF2B5EF4-FFF2-40B4-BE49-F238E27FC236}">
                <a16:creationId xmlns:a16="http://schemas.microsoft.com/office/drawing/2014/main" id="{94F372DA-0F3A-68D3-4E76-9AD523016AAD}"/>
              </a:ext>
            </a:extLst>
          </p:cNvPr>
          <p:cNvSpPr>
            <a:spLocks noChangeShapeType="1"/>
          </p:cNvSpPr>
          <p:nvPr/>
        </p:nvSpPr>
        <p:spPr bwMode="auto">
          <a:xfrm flipH="1">
            <a:off x="7391400" y="3135313"/>
            <a:ext cx="457200" cy="76200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05" name="Line 18">
            <a:extLst>
              <a:ext uri="{FF2B5EF4-FFF2-40B4-BE49-F238E27FC236}">
                <a16:creationId xmlns:a16="http://schemas.microsoft.com/office/drawing/2014/main" id="{C8933C93-B8C4-811F-E9E7-16EDE46582C2}"/>
              </a:ext>
            </a:extLst>
          </p:cNvPr>
          <p:cNvSpPr>
            <a:spLocks noChangeShapeType="1"/>
          </p:cNvSpPr>
          <p:nvPr/>
        </p:nvSpPr>
        <p:spPr bwMode="auto">
          <a:xfrm>
            <a:off x="8153400" y="3135313"/>
            <a:ext cx="609600" cy="76200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06" name="Line 19">
            <a:extLst>
              <a:ext uri="{FF2B5EF4-FFF2-40B4-BE49-F238E27FC236}">
                <a16:creationId xmlns:a16="http://schemas.microsoft.com/office/drawing/2014/main" id="{6B50D51B-223E-1B1E-665B-0EEB3448549B}"/>
              </a:ext>
            </a:extLst>
          </p:cNvPr>
          <p:cNvSpPr>
            <a:spLocks noChangeShapeType="1"/>
          </p:cNvSpPr>
          <p:nvPr/>
        </p:nvSpPr>
        <p:spPr bwMode="auto">
          <a:xfrm flipH="1">
            <a:off x="6172200" y="4278313"/>
            <a:ext cx="609600" cy="76200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07" name="Line 20">
            <a:extLst>
              <a:ext uri="{FF2B5EF4-FFF2-40B4-BE49-F238E27FC236}">
                <a16:creationId xmlns:a16="http://schemas.microsoft.com/office/drawing/2014/main" id="{52E59601-9BDA-977E-C159-13448E282B18}"/>
              </a:ext>
            </a:extLst>
          </p:cNvPr>
          <p:cNvSpPr>
            <a:spLocks noChangeShapeType="1"/>
          </p:cNvSpPr>
          <p:nvPr/>
        </p:nvSpPr>
        <p:spPr bwMode="auto">
          <a:xfrm>
            <a:off x="7086600" y="4278313"/>
            <a:ext cx="609600" cy="76200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08" name="Rectangle 21">
            <a:extLst>
              <a:ext uri="{FF2B5EF4-FFF2-40B4-BE49-F238E27FC236}">
                <a16:creationId xmlns:a16="http://schemas.microsoft.com/office/drawing/2014/main" id="{6509DF62-4F1B-1898-DCB1-38BB3380CCFC}"/>
              </a:ext>
            </a:extLst>
          </p:cNvPr>
          <p:cNvSpPr>
            <a:spLocks noChangeArrowheads="1"/>
          </p:cNvSpPr>
          <p:nvPr/>
        </p:nvSpPr>
        <p:spPr bwMode="auto">
          <a:xfrm>
            <a:off x="5943600" y="3886200"/>
            <a:ext cx="3810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en-US" altLang="zh-CN"/>
              <a:t>A</a:t>
            </a:r>
          </a:p>
        </p:txBody>
      </p:sp>
      <p:sp>
        <p:nvSpPr>
          <p:cNvPr id="89109" name="Rectangle 22">
            <a:extLst>
              <a:ext uri="{FF2B5EF4-FFF2-40B4-BE49-F238E27FC236}">
                <a16:creationId xmlns:a16="http://schemas.microsoft.com/office/drawing/2014/main" id="{A9ED82E1-C2DC-A456-893E-89801B65CFE7}"/>
              </a:ext>
            </a:extLst>
          </p:cNvPr>
          <p:cNvSpPr>
            <a:spLocks noChangeArrowheads="1"/>
          </p:cNvSpPr>
          <p:nvPr/>
        </p:nvSpPr>
        <p:spPr bwMode="auto">
          <a:xfrm>
            <a:off x="5562600" y="5029200"/>
            <a:ext cx="3810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en-US" altLang="zh-CN"/>
              <a:t>B</a:t>
            </a:r>
          </a:p>
        </p:txBody>
      </p:sp>
      <p:sp>
        <p:nvSpPr>
          <p:cNvPr id="89110" name="Rectangle 23">
            <a:extLst>
              <a:ext uri="{FF2B5EF4-FFF2-40B4-BE49-F238E27FC236}">
                <a16:creationId xmlns:a16="http://schemas.microsoft.com/office/drawing/2014/main" id="{E68E307E-AB66-E241-C73D-5DD11BCDC092}"/>
              </a:ext>
            </a:extLst>
          </p:cNvPr>
          <p:cNvSpPr>
            <a:spLocks noChangeArrowheads="1"/>
          </p:cNvSpPr>
          <p:nvPr/>
        </p:nvSpPr>
        <p:spPr bwMode="auto">
          <a:xfrm>
            <a:off x="7010400" y="5105400"/>
            <a:ext cx="3810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en-US" altLang="zh-CN"/>
              <a:t>D</a:t>
            </a:r>
          </a:p>
        </p:txBody>
      </p:sp>
      <p:sp>
        <p:nvSpPr>
          <p:cNvPr id="89111" name="Rectangle 24">
            <a:extLst>
              <a:ext uri="{FF2B5EF4-FFF2-40B4-BE49-F238E27FC236}">
                <a16:creationId xmlns:a16="http://schemas.microsoft.com/office/drawing/2014/main" id="{A61E18A5-2885-3B12-0476-E77BEBD0890C}"/>
              </a:ext>
            </a:extLst>
          </p:cNvPr>
          <p:cNvSpPr>
            <a:spLocks noChangeArrowheads="1"/>
          </p:cNvSpPr>
          <p:nvPr/>
        </p:nvSpPr>
        <p:spPr bwMode="auto">
          <a:xfrm>
            <a:off x="7848600" y="3897313"/>
            <a:ext cx="3810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en-US" altLang="zh-CN"/>
              <a:t>C</a:t>
            </a:r>
          </a:p>
        </p:txBody>
      </p:sp>
      <p:sp>
        <p:nvSpPr>
          <p:cNvPr id="89112" name="Rectangle 25">
            <a:extLst>
              <a:ext uri="{FF2B5EF4-FFF2-40B4-BE49-F238E27FC236}">
                <a16:creationId xmlns:a16="http://schemas.microsoft.com/office/drawing/2014/main" id="{A17FC131-9873-F936-F935-8402AA49D726}"/>
              </a:ext>
            </a:extLst>
          </p:cNvPr>
          <p:cNvSpPr>
            <a:spLocks noChangeArrowheads="1"/>
          </p:cNvSpPr>
          <p:nvPr/>
        </p:nvSpPr>
        <p:spPr bwMode="auto">
          <a:xfrm>
            <a:off x="6400800" y="1600200"/>
            <a:ext cx="3810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en-US" altLang="zh-CN"/>
              <a:t>1M</a:t>
            </a:r>
          </a:p>
        </p:txBody>
      </p:sp>
      <p:sp>
        <p:nvSpPr>
          <p:cNvPr id="89113" name="Rectangle 26">
            <a:extLst>
              <a:ext uri="{FF2B5EF4-FFF2-40B4-BE49-F238E27FC236}">
                <a16:creationId xmlns:a16="http://schemas.microsoft.com/office/drawing/2014/main" id="{2A6E42A3-163A-27ED-CECE-909DBBA391F9}"/>
              </a:ext>
            </a:extLst>
          </p:cNvPr>
          <p:cNvSpPr>
            <a:spLocks noChangeArrowheads="1"/>
          </p:cNvSpPr>
          <p:nvPr/>
        </p:nvSpPr>
        <p:spPr bwMode="auto">
          <a:xfrm>
            <a:off x="5334000" y="2743200"/>
            <a:ext cx="66992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en-US" altLang="zh-CN"/>
              <a:t>512K</a:t>
            </a:r>
          </a:p>
        </p:txBody>
      </p:sp>
      <p:sp>
        <p:nvSpPr>
          <p:cNvPr id="89114" name="Rectangle 27">
            <a:extLst>
              <a:ext uri="{FF2B5EF4-FFF2-40B4-BE49-F238E27FC236}">
                <a16:creationId xmlns:a16="http://schemas.microsoft.com/office/drawing/2014/main" id="{6133D4C4-EE93-7BE9-8259-64CF9679A913}"/>
              </a:ext>
            </a:extLst>
          </p:cNvPr>
          <p:cNvSpPr>
            <a:spLocks noChangeArrowheads="1"/>
          </p:cNvSpPr>
          <p:nvPr/>
        </p:nvSpPr>
        <p:spPr bwMode="auto">
          <a:xfrm>
            <a:off x="4664075" y="3886200"/>
            <a:ext cx="66992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en-US" altLang="zh-CN"/>
              <a:t>256K</a:t>
            </a:r>
          </a:p>
        </p:txBody>
      </p:sp>
      <p:sp>
        <p:nvSpPr>
          <p:cNvPr id="89115" name="Rectangle 28">
            <a:extLst>
              <a:ext uri="{FF2B5EF4-FFF2-40B4-BE49-F238E27FC236}">
                <a16:creationId xmlns:a16="http://schemas.microsoft.com/office/drawing/2014/main" id="{91C83D8B-DC96-CDE6-E9E1-C0DEA671A473}"/>
              </a:ext>
            </a:extLst>
          </p:cNvPr>
          <p:cNvSpPr>
            <a:spLocks noChangeArrowheads="1"/>
          </p:cNvSpPr>
          <p:nvPr/>
        </p:nvSpPr>
        <p:spPr bwMode="auto">
          <a:xfrm>
            <a:off x="4648200" y="5029200"/>
            <a:ext cx="66992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en-US" altLang="zh-CN"/>
              <a:t>128K</a:t>
            </a:r>
          </a:p>
        </p:txBody>
      </p:sp>
    </p:spTree>
  </p:cSld>
  <p:clrMapOvr>
    <a:masterClrMapping/>
  </p:clrMapOvr>
  <p:transition spd="med">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AD09A42F-9BEE-9AB2-EB17-F7AA929826D2}"/>
              </a:ext>
            </a:extLst>
          </p:cNvPr>
          <p:cNvSpPr>
            <a:spLocks noGrp="1" noChangeArrowheads="1"/>
          </p:cNvSpPr>
          <p:nvPr>
            <p:ph type="title"/>
          </p:nvPr>
        </p:nvSpPr>
        <p:spPr>
          <a:xfrm>
            <a:off x="1042988" y="225431"/>
            <a:ext cx="7850187" cy="746125"/>
          </a:xfrm>
        </p:spPr>
        <p:txBody>
          <a:bodyPr/>
          <a:lstStyle/>
          <a:p>
            <a:r>
              <a:rPr lang="zh-CN" altLang="en-US"/>
              <a:t>伙伴系统的不足</a:t>
            </a:r>
          </a:p>
        </p:txBody>
      </p:sp>
      <p:sp>
        <p:nvSpPr>
          <p:cNvPr id="90114" name="Rectangle 3">
            <a:extLst>
              <a:ext uri="{FF2B5EF4-FFF2-40B4-BE49-F238E27FC236}">
                <a16:creationId xmlns:a16="http://schemas.microsoft.com/office/drawing/2014/main" id="{6AC9C9AE-18ED-0EFC-6F58-B59F8EA36588}"/>
              </a:ext>
            </a:extLst>
          </p:cNvPr>
          <p:cNvSpPr>
            <a:spLocks noGrp="1" noChangeArrowheads="1"/>
          </p:cNvSpPr>
          <p:nvPr>
            <p:ph idx="1"/>
          </p:nvPr>
        </p:nvSpPr>
        <p:spPr>
          <a:xfrm>
            <a:off x="935038" y="1233488"/>
            <a:ext cx="7772400" cy="4895850"/>
          </a:xfrm>
        </p:spPr>
        <p:txBody>
          <a:bodyPr/>
          <a:lstStyle/>
          <a:p>
            <a:r>
              <a:rPr lang="zh-CN" altLang="en-US" dirty="0"/>
              <a:t>分配和回收时需要对伙伴进行分拆及合并</a:t>
            </a:r>
          </a:p>
          <a:p>
            <a:r>
              <a:rPr lang="zh-CN" altLang="en-US" dirty="0"/>
              <a:t>存储空间有浪费</a:t>
            </a:r>
          </a:p>
        </p:txBody>
      </p:sp>
    </p:spTree>
  </p:cSld>
  <p:clrMapOvr>
    <a:masterClrMapping/>
  </p:clrMapOvr>
  <p:transition spd="med">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C0B20A34-832A-04F6-AC9D-0379F848F796}"/>
              </a:ext>
            </a:extLst>
          </p:cNvPr>
          <p:cNvSpPr>
            <a:spLocks noGrp="1" noChangeArrowheads="1"/>
          </p:cNvSpPr>
          <p:nvPr>
            <p:ph type="title"/>
          </p:nvPr>
        </p:nvSpPr>
        <p:spPr>
          <a:xfrm>
            <a:off x="1042988" y="225431"/>
            <a:ext cx="7850187" cy="746125"/>
          </a:xfrm>
        </p:spPr>
        <p:txBody>
          <a:bodyPr/>
          <a:lstStyle/>
          <a:p>
            <a:r>
              <a:rPr lang="zh-CN" altLang="en-US" dirty="0"/>
              <a:t>分页  </a:t>
            </a:r>
            <a:r>
              <a:rPr lang="en-US" altLang="zh-CN" dirty="0"/>
              <a:t>Paging</a:t>
            </a:r>
            <a:endParaRPr lang="zh-CN" altLang="en-US" dirty="0"/>
          </a:p>
        </p:txBody>
      </p:sp>
      <p:sp>
        <p:nvSpPr>
          <p:cNvPr id="136195" name="Rectangle 3">
            <a:extLst>
              <a:ext uri="{FF2B5EF4-FFF2-40B4-BE49-F238E27FC236}">
                <a16:creationId xmlns:a16="http://schemas.microsoft.com/office/drawing/2014/main" id="{7224367B-E6E5-20AD-3E54-5D0FCEC75C21}"/>
              </a:ext>
            </a:extLst>
          </p:cNvPr>
          <p:cNvSpPr>
            <a:spLocks noGrp="1" noChangeArrowheads="1"/>
          </p:cNvSpPr>
          <p:nvPr>
            <p:ph idx="1"/>
          </p:nvPr>
        </p:nvSpPr>
        <p:spPr>
          <a:xfrm>
            <a:off x="935038" y="1233488"/>
            <a:ext cx="7772400" cy="4895850"/>
          </a:xfrm>
        </p:spPr>
        <p:txBody>
          <a:bodyPr/>
          <a:lstStyle/>
          <a:p>
            <a:r>
              <a:rPr lang="zh-CN" altLang="en-US" dirty="0"/>
              <a:t>分区管理中存在碎片，而紧凑技术开销太大，若能取消作业对存储区的连续性要求，则能较好地解决碎片问题。分页存储管理就是基于这一思想提出的。</a:t>
            </a:r>
          </a:p>
          <a:p>
            <a:r>
              <a:rPr lang="zh-CN" altLang="en-US" dirty="0"/>
              <a:t>分页通常为绝大多数操作系统采用</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6195">
                                            <p:txEl>
                                              <p:pRg st="0" end="0"/>
                                            </p:txEl>
                                          </p:spTgt>
                                        </p:tgtEl>
                                        <p:attrNameLst>
                                          <p:attrName>style.visibility</p:attrName>
                                        </p:attrNameLst>
                                      </p:cBhvr>
                                      <p:to>
                                        <p:strVal val="visible"/>
                                      </p:to>
                                    </p:set>
                                    <p:animEffect transition="in" filter="checkerboard(across)">
                                      <p:cBhvr>
                                        <p:cTn id="7" dur="500"/>
                                        <p:tgtEl>
                                          <p:spTgt spid="136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36195">
                                            <p:txEl>
                                              <p:pRg st="1" end="1"/>
                                            </p:txEl>
                                          </p:spTgt>
                                        </p:tgtEl>
                                        <p:attrNameLst>
                                          <p:attrName>style.visibility</p:attrName>
                                        </p:attrNameLst>
                                      </p:cBhvr>
                                      <p:to>
                                        <p:strVal val="visible"/>
                                      </p:to>
                                    </p:set>
                                    <p:animEffect transition="in" filter="checkerboard(across)">
                                      <p:cBhvr>
                                        <p:cTn id="12" dur="500"/>
                                        <p:tgtEl>
                                          <p:spTgt spid="1361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build="p"/>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7CA42BDD-CE08-D212-85ED-BDDC67CA9D0D}"/>
              </a:ext>
            </a:extLst>
          </p:cNvPr>
          <p:cNvSpPr>
            <a:spLocks noGrp="1" noChangeArrowheads="1"/>
          </p:cNvSpPr>
          <p:nvPr>
            <p:ph type="title"/>
          </p:nvPr>
        </p:nvSpPr>
        <p:spPr>
          <a:xfrm>
            <a:off x="1042988" y="225431"/>
            <a:ext cx="7850187" cy="746125"/>
          </a:xfrm>
        </p:spPr>
        <p:txBody>
          <a:bodyPr/>
          <a:lstStyle/>
          <a:p>
            <a:r>
              <a:rPr lang="zh-CN" altLang="en-US" dirty="0"/>
              <a:t>基本方法</a:t>
            </a:r>
          </a:p>
        </p:txBody>
      </p:sp>
      <p:sp>
        <p:nvSpPr>
          <p:cNvPr id="137219" name="Rectangle 3">
            <a:extLst>
              <a:ext uri="{FF2B5EF4-FFF2-40B4-BE49-F238E27FC236}">
                <a16:creationId xmlns:a16="http://schemas.microsoft.com/office/drawing/2014/main" id="{DF2F71DD-8A70-C851-A0B9-081AF8F33F44}"/>
              </a:ext>
            </a:extLst>
          </p:cNvPr>
          <p:cNvSpPr>
            <a:spLocks noGrp="1" noChangeArrowheads="1"/>
          </p:cNvSpPr>
          <p:nvPr>
            <p:ph idx="1"/>
          </p:nvPr>
        </p:nvSpPr>
        <p:spPr>
          <a:xfrm>
            <a:off x="935038" y="1233488"/>
            <a:ext cx="7772400" cy="4895850"/>
          </a:xfrm>
        </p:spPr>
        <p:txBody>
          <a:bodyPr/>
          <a:lstStyle/>
          <a:p>
            <a:r>
              <a:rPr lang="zh-CN" altLang="en-US" dirty="0"/>
              <a:t>实现分页的基本方法：将物理内存分为固定大小的块，称为</a:t>
            </a:r>
            <a:r>
              <a:rPr lang="zh-CN" altLang="en-US" b="1" dirty="0">
                <a:solidFill>
                  <a:srgbClr val="FF0000"/>
                </a:solidFill>
              </a:rPr>
              <a:t>帧</a:t>
            </a:r>
            <a:r>
              <a:rPr lang="zh-CN" altLang="en-US" dirty="0"/>
              <a:t>（或称物理块、页框），将逻辑内存也分成同样大小的块，称为</a:t>
            </a:r>
            <a:r>
              <a:rPr lang="zh-CN" altLang="en-US" b="1" dirty="0">
                <a:solidFill>
                  <a:srgbClr val="FF0000"/>
                </a:solidFill>
              </a:rPr>
              <a:t>页</a:t>
            </a:r>
            <a:r>
              <a:rPr lang="zh-CN" altLang="en-US" dirty="0"/>
              <a:t>。</a:t>
            </a:r>
          </a:p>
          <a:p>
            <a:r>
              <a:rPr lang="zh-CN" altLang="en-US" dirty="0"/>
              <a:t>在为进程分配存储空间时，总是以块为单位来分配，可以将进程中的某一页存放到主存的某一空闲块中。</a:t>
            </a:r>
            <a:endParaRPr lang="en-US" altLang="zh-CN" dirty="0"/>
          </a:p>
          <a:p>
            <a:r>
              <a:rPr lang="zh-CN" altLang="en-US" dirty="0"/>
              <a:t>分页系统中有碎片吗？</a:t>
            </a:r>
            <a:endParaRPr lang="en-US" altLang="zh-CN"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checkerboard(across)">
                                      <p:cBhvr>
                                        <p:cTn id="7" dur="500"/>
                                        <p:tgtEl>
                                          <p:spTgt spid="137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checkerboard(across)">
                                      <p:cBhvr>
                                        <p:cTn id="12" dur="500"/>
                                        <p:tgtEl>
                                          <p:spTgt spid="137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37219">
                                            <p:txEl>
                                              <p:pRg st="2" end="2"/>
                                            </p:txEl>
                                          </p:spTgt>
                                        </p:tgtEl>
                                        <p:attrNameLst>
                                          <p:attrName>style.visibility</p:attrName>
                                        </p:attrNameLst>
                                      </p:cBhvr>
                                      <p:to>
                                        <p:strVal val="visible"/>
                                      </p:to>
                                    </p:set>
                                    <p:animEffect transition="in" filter="checkerboard(across)">
                                      <p:cBhvr>
                                        <p:cTn id="17" dur="500"/>
                                        <p:tgtEl>
                                          <p:spTgt spid="137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5D52ABA9-B13F-2346-DA3F-F2A6D0E3D438}"/>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rPr>
              <a:t>分页的逻辑地址结构</a:t>
            </a:r>
          </a:p>
        </p:txBody>
      </p:sp>
      <p:sp>
        <p:nvSpPr>
          <p:cNvPr id="286723" name="Rectangle 3">
            <a:extLst>
              <a:ext uri="{FF2B5EF4-FFF2-40B4-BE49-F238E27FC236}">
                <a16:creationId xmlns:a16="http://schemas.microsoft.com/office/drawing/2014/main" id="{03E14E4D-416B-01A1-9AA4-0A109D516DBB}"/>
              </a:ext>
            </a:extLst>
          </p:cNvPr>
          <p:cNvSpPr>
            <a:spLocks noGrp="1" noChangeArrowheads="1"/>
          </p:cNvSpPr>
          <p:nvPr>
            <p:ph idx="1"/>
          </p:nvPr>
        </p:nvSpPr>
        <p:spPr>
          <a:xfrm>
            <a:off x="539750" y="1268413"/>
            <a:ext cx="8280400" cy="4967287"/>
          </a:xfrm>
        </p:spPr>
        <p:txBody>
          <a:bodyPr>
            <a:normAutofit lnSpcReduction="10000"/>
          </a:bodyPr>
          <a:lstStyle/>
          <a:p>
            <a:pPr algn="just" eaLnBrk="1" hangingPunct="1"/>
            <a:r>
              <a:rPr lang="zh-CN" altLang="en-US">
                <a:latin typeface="Times New Roman" panose="02020603050405020304" pitchFamily="18" charset="0"/>
              </a:rPr>
              <a:t>分页存储管理系统中，逻辑地址由页号</a:t>
            </a:r>
            <a:r>
              <a:rPr lang="en-US" altLang="zh-CN">
                <a:latin typeface="Times New Roman" panose="02020603050405020304" pitchFamily="18" charset="0"/>
              </a:rPr>
              <a:t>(</a:t>
            </a:r>
            <a:r>
              <a:rPr lang="en-US" altLang="zh-CN"/>
              <a:t>Page number)</a:t>
            </a:r>
            <a:r>
              <a:rPr lang="zh-CN" altLang="en-US">
                <a:latin typeface="Times New Roman" panose="02020603050405020304" pitchFamily="18" charset="0"/>
              </a:rPr>
              <a:t>和页内位移</a:t>
            </a:r>
            <a:r>
              <a:rPr lang="en-US" altLang="zh-CN" sz="2800">
                <a:latin typeface="Times New Roman" panose="02020603050405020304" pitchFamily="18" charset="0"/>
              </a:rPr>
              <a:t>(</a:t>
            </a:r>
            <a:r>
              <a:rPr lang="en-US" altLang="zh-CN" sz="2800"/>
              <a:t>Page offset </a:t>
            </a:r>
            <a:r>
              <a:rPr lang="en-US" altLang="zh-CN" sz="2800">
                <a:latin typeface="Times New Roman" panose="02020603050405020304" pitchFamily="18" charset="0"/>
              </a:rPr>
              <a:t>)</a:t>
            </a:r>
            <a:r>
              <a:rPr lang="zh-CN" altLang="en-US">
                <a:latin typeface="Times New Roman" panose="02020603050405020304" pitchFamily="18" charset="0"/>
              </a:rPr>
              <a:t>组成。其结构如下所示：</a:t>
            </a:r>
          </a:p>
          <a:p>
            <a:pPr algn="just" eaLnBrk="1" hangingPunct="1"/>
            <a:endParaRPr lang="zh-CN" altLang="en-US">
              <a:latin typeface="Times New Roman" panose="02020603050405020304" pitchFamily="18" charset="0"/>
            </a:endParaRPr>
          </a:p>
          <a:p>
            <a:pPr algn="just" eaLnBrk="1" hangingPunct="1"/>
            <a:endParaRPr lang="zh-CN" altLang="en-US" sz="2000">
              <a:latin typeface="Times New Roman" panose="02020603050405020304" pitchFamily="18" charset="0"/>
            </a:endParaRPr>
          </a:p>
          <a:p>
            <a:pPr algn="just" eaLnBrk="1" hangingPunct="1"/>
            <a:endParaRPr lang="zh-CN" altLang="en-US">
              <a:latin typeface="Times New Roman" panose="02020603050405020304" pitchFamily="18" charset="0"/>
            </a:endParaRPr>
          </a:p>
          <a:p>
            <a:pPr algn="just" eaLnBrk="1" hangingPunct="1"/>
            <a:r>
              <a:rPr lang="zh-CN" altLang="en-US">
                <a:latin typeface="Times New Roman" panose="02020603050405020304" pitchFamily="18" charset="0"/>
              </a:rPr>
              <a:t>若</a:t>
            </a:r>
            <a:r>
              <a:rPr lang="en-US" altLang="zh-CN">
                <a:latin typeface="Times New Roman" panose="02020603050405020304" pitchFamily="18" charset="0"/>
              </a:rPr>
              <a:t>A</a:t>
            </a:r>
            <a:r>
              <a:rPr lang="zh-CN" altLang="en-US">
                <a:latin typeface="Times New Roman" panose="02020603050405020304" pitchFamily="18" charset="0"/>
              </a:rPr>
              <a:t>为逻辑地址，</a:t>
            </a:r>
            <a:r>
              <a:rPr lang="en-US" altLang="zh-CN">
                <a:latin typeface="Times New Roman" panose="02020603050405020304" pitchFamily="18" charset="0"/>
              </a:rPr>
              <a:t>L</a:t>
            </a:r>
            <a:r>
              <a:rPr lang="zh-CN" altLang="en-US">
                <a:latin typeface="Times New Roman" panose="02020603050405020304" pitchFamily="18" charset="0"/>
              </a:rPr>
              <a:t>为页面大小，则：</a:t>
            </a:r>
          </a:p>
          <a:p>
            <a:pPr algn="just" eaLnBrk="1" hangingPunct="1"/>
            <a:r>
              <a:rPr lang="zh-CN" altLang="en-US">
                <a:latin typeface="Times New Roman" panose="02020603050405020304" pitchFamily="18" charset="0"/>
              </a:rPr>
              <a:t>页号：        </a:t>
            </a:r>
            <a:r>
              <a:rPr lang="en-US" altLang="zh-CN">
                <a:latin typeface="Times New Roman" panose="02020603050405020304" pitchFamily="18" charset="0"/>
              </a:rPr>
              <a:t>P=int(A/L)</a:t>
            </a:r>
          </a:p>
          <a:p>
            <a:pPr algn="just" eaLnBrk="1" hangingPunct="1"/>
            <a:r>
              <a:rPr lang="zh-CN" altLang="en-US">
                <a:latin typeface="Times New Roman" panose="02020603050405020304" pitchFamily="18" charset="0"/>
              </a:rPr>
              <a:t>页内位移：</a:t>
            </a:r>
            <a:r>
              <a:rPr lang="en-US" altLang="zh-CN">
                <a:latin typeface="Times New Roman" panose="02020603050405020304" pitchFamily="18" charset="0"/>
              </a:rPr>
              <a:t>W=A % L</a:t>
            </a:r>
            <a:endParaRPr lang="zh-CN" altLang="en-US">
              <a:latin typeface="Times New Roman" panose="02020603050405020304" pitchFamily="18" charset="0"/>
            </a:endParaRPr>
          </a:p>
        </p:txBody>
      </p:sp>
      <p:grpSp>
        <p:nvGrpSpPr>
          <p:cNvPr id="93187" name="Group 4">
            <a:extLst>
              <a:ext uri="{FF2B5EF4-FFF2-40B4-BE49-F238E27FC236}">
                <a16:creationId xmlns:a16="http://schemas.microsoft.com/office/drawing/2014/main" id="{31ED209A-4B4C-F6FC-AB17-AFA773C843C7}"/>
              </a:ext>
            </a:extLst>
          </p:cNvPr>
          <p:cNvGrpSpPr>
            <a:grpSpLocks/>
          </p:cNvGrpSpPr>
          <p:nvPr/>
        </p:nvGrpSpPr>
        <p:grpSpPr bwMode="auto">
          <a:xfrm>
            <a:off x="1835150" y="2818878"/>
            <a:ext cx="5449888" cy="990600"/>
            <a:chOff x="1200" y="1968"/>
            <a:chExt cx="3433" cy="624"/>
          </a:xfrm>
        </p:grpSpPr>
        <p:sp>
          <p:nvSpPr>
            <p:cNvPr id="93188" name="Rectangle 5">
              <a:extLst>
                <a:ext uri="{FF2B5EF4-FFF2-40B4-BE49-F238E27FC236}">
                  <a16:creationId xmlns:a16="http://schemas.microsoft.com/office/drawing/2014/main" id="{E2A9D83F-6C8A-D0D2-301A-BC039A1F69A7}"/>
                </a:ext>
              </a:extLst>
            </p:cNvPr>
            <p:cNvSpPr>
              <a:spLocks noChangeArrowheads="1"/>
            </p:cNvSpPr>
            <p:nvPr/>
          </p:nvSpPr>
          <p:spPr bwMode="auto">
            <a:xfrm>
              <a:off x="1200" y="1968"/>
              <a:ext cx="343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a:latin typeface="宋体" panose="02010600030101010101" pitchFamily="2" charset="-122"/>
                </a:rPr>
                <a:t>31              12 11             0</a:t>
              </a:r>
            </a:p>
          </p:txBody>
        </p:sp>
        <p:sp>
          <p:nvSpPr>
            <p:cNvPr id="93189" name="Rectangle 6">
              <a:extLst>
                <a:ext uri="{FF2B5EF4-FFF2-40B4-BE49-F238E27FC236}">
                  <a16:creationId xmlns:a16="http://schemas.microsoft.com/office/drawing/2014/main" id="{56872B0A-0F4A-372A-3DFD-A4E4AFA3E0AF}"/>
                </a:ext>
              </a:extLst>
            </p:cNvPr>
            <p:cNvSpPr>
              <a:spLocks noChangeArrowheads="1"/>
            </p:cNvSpPr>
            <p:nvPr/>
          </p:nvSpPr>
          <p:spPr bwMode="auto">
            <a:xfrm>
              <a:off x="1224" y="2264"/>
              <a:ext cx="3318" cy="328"/>
            </a:xfrm>
            <a:prstGeom prst="rect">
              <a:avLst/>
            </a:prstGeom>
            <a:solidFill>
              <a:srgbClr val="FFFFFF"/>
            </a:solidFill>
            <a:ln w="28575">
              <a:solidFill>
                <a:srgbClr val="000000"/>
              </a:solidFill>
              <a:miter lim="800000"/>
              <a:headEnd/>
              <a:tailEnd/>
            </a:ln>
          </p:spPr>
          <p:txBody>
            <a:bodyPr lIns="0" tIns="72000" rIns="0" bIns="0"/>
            <a:lstStyle/>
            <a:p>
              <a:pPr algn="just" eaLnBrk="0" hangingPunct="0"/>
              <a:r>
                <a:rPr lang="zh-CN" altLang="en-US" dirty="0">
                  <a:latin typeface="Times New Roman" panose="02020603050405020304" pitchFamily="18" charset="0"/>
                </a:rPr>
                <a:t>               页 号 </a:t>
              </a:r>
              <a:r>
                <a:rPr lang="en-US" altLang="zh-CN" dirty="0">
                  <a:latin typeface="Times New Roman" panose="02020603050405020304" pitchFamily="18" charset="0"/>
                </a:rPr>
                <a:t>P         </a:t>
              </a:r>
              <a:r>
                <a:rPr lang="zh-CN" altLang="en-US" dirty="0">
                  <a:latin typeface="Times New Roman" panose="02020603050405020304" pitchFamily="18" charset="0"/>
                </a:rPr>
                <a:t>          </a:t>
              </a:r>
              <a:r>
                <a:rPr lang="en-US" altLang="zh-CN" dirty="0">
                  <a:latin typeface="Times New Roman" panose="02020603050405020304" pitchFamily="18" charset="0"/>
                </a:rPr>
                <a:t>            </a:t>
              </a:r>
              <a:r>
                <a:rPr lang="zh-CN" altLang="en-US" dirty="0">
                  <a:latin typeface="Times New Roman" panose="02020603050405020304" pitchFamily="18" charset="0"/>
                </a:rPr>
                <a:t>页 内 位 移</a:t>
              </a:r>
              <a:r>
                <a:rPr lang="en-US" altLang="zh-CN" dirty="0">
                  <a:latin typeface="Times New Roman" panose="02020603050405020304" pitchFamily="18" charset="0"/>
                </a:rPr>
                <a:t>W</a:t>
              </a:r>
            </a:p>
          </p:txBody>
        </p:sp>
        <p:sp>
          <p:nvSpPr>
            <p:cNvPr id="93190" name="Line 7">
              <a:extLst>
                <a:ext uri="{FF2B5EF4-FFF2-40B4-BE49-F238E27FC236}">
                  <a16:creationId xmlns:a16="http://schemas.microsoft.com/office/drawing/2014/main" id="{B49BA23E-FF64-BF96-D719-39FDCA23FB1E}"/>
                </a:ext>
              </a:extLst>
            </p:cNvPr>
            <p:cNvSpPr>
              <a:spLocks noChangeShapeType="1"/>
            </p:cNvSpPr>
            <p:nvPr/>
          </p:nvSpPr>
          <p:spPr bwMode="auto">
            <a:xfrm>
              <a:off x="2942" y="2264"/>
              <a:ext cx="0" cy="32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86723">
                                            <p:txEl>
                                              <p:pRg st="4" end="4"/>
                                            </p:txEl>
                                          </p:spTgt>
                                        </p:tgtEl>
                                        <p:attrNameLst>
                                          <p:attrName>style.visibility</p:attrName>
                                        </p:attrNameLst>
                                      </p:cBhvr>
                                      <p:to>
                                        <p:strVal val="visible"/>
                                      </p:to>
                                    </p:set>
                                    <p:animEffect transition="in" filter="checkerboard(across)">
                                      <p:cBhvr>
                                        <p:cTn id="7" dur="500"/>
                                        <p:tgtEl>
                                          <p:spTgt spid="286723">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86723">
                                            <p:txEl>
                                              <p:pRg st="5" end="5"/>
                                            </p:txEl>
                                          </p:spTgt>
                                        </p:tgtEl>
                                        <p:attrNameLst>
                                          <p:attrName>style.visibility</p:attrName>
                                        </p:attrNameLst>
                                      </p:cBhvr>
                                      <p:to>
                                        <p:strVal val="visible"/>
                                      </p:to>
                                    </p:set>
                                    <p:animEffect transition="in" filter="checkerboard(across)">
                                      <p:cBhvr>
                                        <p:cTn id="12" dur="500"/>
                                        <p:tgtEl>
                                          <p:spTgt spid="286723">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86723">
                                            <p:txEl>
                                              <p:pRg st="6" end="6"/>
                                            </p:txEl>
                                          </p:spTgt>
                                        </p:tgtEl>
                                        <p:attrNameLst>
                                          <p:attrName>style.visibility</p:attrName>
                                        </p:attrNameLst>
                                      </p:cBhvr>
                                      <p:to>
                                        <p:strVal val="visible"/>
                                      </p:to>
                                    </p:set>
                                    <p:animEffect transition="in" filter="checkerboard(across)">
                                      <p:cBhvr>
                                        <p:cTn id="17" dur="500"/>
                                        <p:tgtEl>
                                          <p:spTgt spid="2867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E13F35B2-41A4-8F65-09A5-6CDBD2CF7BFE}"/>
              </a:ext>
            </a:extLst>
          </p:cNvPr>
          <p:cNvSpPr>
            <a:spLocks noGrp="1" noChangeArrowheads="1"/>
          </p:cNvSpPr>
          <p:nvPr>
            <p:ph type="title"/>
          </p:nvPr>
        </p:nvSpPr>
        <p:spPr>
          <a:xfrm>
            <a:off x="1042988" y="225431"/>
            <a:ext cx="7850187" cy="746125"/>
          </a:xfrm>
        </p:spPr>
        <p:txBody>
          <a:bodyPr/>
          <a:lstStyle/>
          <a:p>
            <a:r>
              <a:rPr lang="en-US" altLang="zh-CN"/>
              <a:t> </a:t>
            </a:r>
            <a:r>
              <a:rPr lang="zh-CN" altLang="en-US"/>
              <a:t>页表 </a:t>
            </a:r>
            <a:r>
              <a:rPr lang="en-US" altLang="zh-CN"/>
              <a:t>page table </a:t>
            </a:r>
            <a:endParaRPr lang="zh-CN" altLang="en-US"/>
          </a:p>
        </p:txBody>
      </p:sp>
      <p:sp>
        <p:nvSpPr>
          <p:cNvPr id="140291" name="Rectangle 3">
            <a:extLst>
              <a:ext uri="{FF2B5EF4-FFF2-40B4-BE49-F238E27FC236}">
                <a16:creationId xmlns:a16="http://schemas.microsoft.com/office/drawing/2014/main" id="{2176D33E-A319-D760-0274-F4C4966F5837}"/>
              </a:ext>
            </a:extLst>
          </p:cNvPr>
          <p:cNvSpPr>
            <a:spLocks noGrp="1" noChangeArrowheads="1"/>
          </p:cNvSpPr>
          <p:nvPr>
            <p:ph idx="1"/>
          </p:nvPr>
        </p:nvSpPr>
        <p:spPr>
          <a:xfrm>
            <a:off x="935038" y="1233488"/>
            <a:ext cx="7772400" cy="4895850"/>
          </a:xfrm>
        </p:spPr>
        <p:txBody>
          <a:bodyPr>
            <a:normAutofit lnSpcReduction="10000"/>
          </a:bodyPr>
          <a:lstStyle/>
          <a:p>
            <a:r>
              <a:rPr lang="zh-CN" altLang="en-US" dirty="0"/>
              <a:t>为了在内存中找到进程的每个页面所对应的物理块，系统为每个进程建立一张页面映象表，简称页表。</a:t>
            </a:r>
          </a:p>
          <a:p>
            <a:r>
              <a:rPr lang="zh-CN" altLang="en-US" b="1" dirty="0">
                <a:solidFill>
                  <a:srgbClr val="FF0000"/>
                </a:solidFill>
              </a:rPr>
              <a:t>页表</a:t>
            </a:r>
            <a:r>
              <a:rPr lang="zh-CN" altLang="en-US" dirty="0"/>
              <a:t>：记录页面在内存中对应物理块的数据结构。</a:t>
            </a:r>
          </a:p>
          <a:p>
            <a:r>
              <a:rPr lang="zh-CN" altLang="en-US" dirty="0"/>
              <a:t>注意：</a:t>
            </a:r>
            <a:r>
              <a:rPr lang="en-US" altLang="zh-CN" dirty="0"/>
              <a:t>Page frame</a:t>
            </a:r>
            <a:r>
              <a:rPr lang="zh-CN" altLang="en-US" dirty="0"/>
              <a:t>英文词在目前国内操作系统教材中翻译的有物理块（块）、页框、页架、页帧和帧等，读者应加以注意，它表示的是与一个逻辑页相对应的一个物理块。</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7" dur="500"/>
                                        <p:tgtEl>
                                          <p:spTgt spid="1402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5233" name="Picture 34">
            <a:extLst>
              <a:ext uri="{FF2B5EF4-FFF2-40B4-BE49-F238E27FC236}">
                <a16:creationId xmlns:a16="http://schemas.microsoft.com/office/drawing/2014/main" id="{9435D63E-4832-38E5-D329-72A890EBEF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840" t="800" r="7520" b="999"/>
          <a:stretch>
            <a:fillRect/>
          </a:stretch>
        </p:blipFill>
        <p:spPr bwMode="auto">
          <a:xfrm>
            <a:off x="844550" y="1171575"/>
            <a:ext cx="7615238" cy="5122863"/>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5234" name="Rectangle 2">
            <a:extLst>
              <a:ext uri="{FF2B5EF4-FFF2-40B4-BE49-F238E27FC236}">
                <a16:creationId xmlns:a16="http://schemas.microsoft.com/office/drawing/2014/main" id="{33F0EEB7-51D1-FD2D-4463-73B5A16D8C55}"/>
              </a:ext>
            </a:extLst>
          </p:cNvPr>
          <p:cNvSpPr>
            <a:spLocks noGrp="1" noChangeArrowheads="1"/>
          </p:cNvSpPr>
          <p:nvPr>
            <p:ph type="title"/>
          </p:nvPr>
        </p:nvSpPr>
        <p:spPr/>
        <p:txBody>
          <a:bodyPr/>
          <a:lstStyle/>
          <a:p>
            <a:pPr eaLnBrk="1" hangingPunct="1"/>
            <a:r>
              <a:rPr lang="zh-CN" altLang="en-US"/>
              <a:t> </a:t>
            </a:r>
            <a:r>
              <a:rPr lang="en-US" altLang="zh-CN"/>
              <a:t>Paging Example</a:t>
            </a:r>
            <a:endParaRPr lang="zh-CN" altLang="en-US"/>
          </a:p>
        </p:txBody>
      </p:sp>
      <p:sp>
        <p:nvSpPr>
          <p:cNvPr id="207904" name="Rectangle 32">
            <a:extLst>
              <a:ext uri="{FF2B5EF4-FFF2-40B4-BE49-F238E27FC236}">
                <a16:creationId xmlns:a16="http://schemas.microsoft.com/office/drawing/2014/main" id="{30A4D7BC-93BB-86AF-E0F6-B8A4E5E4E6BA}"/>
              </a:ext>
            </a:extLst>
          </p:cNvPr>
          <p:cNvSpPr>
            <a:spLocks noChangeArrowheads="1"/>
          </p:cNvSpPr>
          <p:nvPr/>
        </p:nvSpPr>
        <p:spPr bwMode="auto">
          <a:xfrm>
            <a:off x="1979613" y="4724400"/>
            <a:ext cx="3817937" cy="647700"/>
          </a:xfrm>
          <a:prstGeom prst="rect">
            <a:avLst/>
          </a:prstGeom>
          <a:solidFill>
            <a:srgbClr val="D0F6FF"/>
          </a:solidFill>
          <a:ln w="28575">
            <a:solidFill>
              <a:srgbClr val="000000"/>
            </a:solidFill>
            <a:miter lim="800000"/>
            <a:headEnd/>
            <a:tailEnd type="none" w="sm" len="med"/>
          </a:ln>
        </p:spPr>
        <p:txBody>
          <a:bodyPr wrap="none" anchor="ctr"/>
          <a:lstStyle/>
          <a:p>
            <a:pPr algn="ctr">
              <a:spcBef>
                <a:spcPct val="20000"/>
              </a:spcBef>
              <a:buClr>
                <a:schemeClr val="folHlink"/>
              </a:buClr>
              <a:buSzPct val="60000"/>
              <a:buFont typeface="Wingdings" pitchFamily="2" charset="2"/>
              <a:buNone/>
            </a:pPr>
            <a:r>
              <a:rPr lang="zh-CN" altLang="en-US" sz="2800"/>
              <a:t>页表的作用是什么？</a:t>
            </a:r>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7904"/>
                                        </p:tgtEl>
                                        <p:attrNameLst>
                                          <p:attrName>style.visibility</p:attrName>
                                        </p:attrNameLst>
                                      </p:cBhvr>
                                      <p:to>
                                        <p:strVal val="visible"/>
                                      </p:to>
                                    </p:set>
                                    <p:animEffect transition="in" filter="checkerboard(across)">
                                      <p:cBhvr>
                                        <p:cTn id="7" dur="500"/>
                                        <p:tgtEl>
                                          <p:spTgt spid="2079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0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C4EF7C80-32E4-AA96-2460-57294AA32013}"/>
              </a:ext>
            </a:extLst>
          </p:cNvPr>
          <p:cNvSpPr>
            <a:spLocks noGrp="1" noChangeArrowheads="1"/>
          </p:cNvSpPr>
          <p:nvPr>
            <p:ph type="title"/>
          </p:nvPr>
        </p:nvSpPr>
        <p:spPr>
          <a:xfrm>
            <a:off x="1042988" y="225431"/>
            <a:ext cx="7850187" cy="746125"/>
          </a:xfrm>
        </p:spPr>
        <p:txBody>
          <a:bodyPr/>
          <a:lstStyle/>
          <a:p>
            <a:r>
              <a:rPr lang="zh-CN" altLang="en-US"/>
              <a:t>页面大小的选择</a:t>
            </a:r>
          </a:p>
        </p:txBody>
      </p:sp>
      <p:sp>
        <p:nvSpPr>
          <p:cNvPr id="307203" name="Rectangle 3">
            <a:extLst>
              <a:ext uri="{FF2B5EF4-FFF2-40B4-BE49-F238E27FC236}">
                <a16:creationId xmlns:a16="http://schemas.microsoft.com/office/drawing/2014/main" id="{78272F84-A4EF-B143-9A93-B4CC1CD7ED05}"/>
              </a:ext>
            </a:extLst>
          </p:cNvPr>
          <p:cNvSpPr>
            <a:spLocks noGrp="1" noChangeArrowheads="1"/>
          </p:cNvSpPr>
          <p:nvPr>
            <p:ph idx="1"/>
          </p:nvPr>
        </p:nvSpPr>
        <p:spPr>
          <a:xfrm>
            <a:off x="935038" y="1233488"/>
            <a:ext cx="7772400" cy="4895850"/>
          </a:xfrm>
        </p:spPr>
        <p:txBody>
          <a:bodyPr>
            <a:normAutofit fontScale="92500"/>
          </a:bodyPr>
          <a:lstStyle/>
          <a:p>
            <a:r>
              <a:rPr lang="zh-CN" altLang="en-US"/>
              <a:t>页面的大小应适中。若页面太大，以至和一般进程大小相差无几，则页面分配退化为：分区分配，同时页内碎片也较大。若页面太小，虽然可减少页内碎片，但会导致页表增长。</a:t>
            </a:r>
          </a:p>
          <a:p>
            <a:r>
              <a:rPr lang="zh-CN" altLang="en-US"/>
              <a:t>因此，页面大小应适中，通常为2的幂，大小范围从512</a:t>
            </a:r>
            <a:r>
              <a:rPr lang="en-US" altLang="zh-CN"/>
              <a:t>B</a:t>
            </a:r>
            <a:r>
              <a:rPr lang="zh-CN" altLang="en-US"/>
              <a:t>到</a:t>
            </a:r>
            <a:r>
              <a:rPr lang="en-US" altLang="zh-CN"/>
              <a:t>16MB</a:t>
            </a:r>
            <a:r>
              <a:rPr lang="zh-CN" altLang="en-US"/>
              <a:t>不等，通常为512</a:t>
            </a:r>
            <a:r>
              <a:rPr lang="en-US" altLang="zh-CN"/>
              <a:t>B</a:t>
            </a:r>
            <a:r>
              <a:rPr lang="zh-CN" altLang="en-US"/>
              <a:t>到</a:t>
            </a:r>
            <a:r>
              <a:rPr lang="en-US" altLang="zh-CN"/>
              <a:t>8KB</a:t>
            </a:r>
            <a:r>
              <a:rPr lang="zh-CN" altLang="en-US"/>
              <a:t>之间。还可以支持多种页大小。</a:t>
            </a:r>
          </a:p>
          <a:p>
            <a:r>
              <a:rPr lang="zh-CN" altLang="en-US"/>
              <a:t>页表一般存放在内存中。也可以在页表中设置存取控制字段，以实现存储保护。</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7203">
                                            <p:txEl>
                                              <p:pRg st="0" end="0"/>
                                            </p:txEl>
                                          </p:spTgt>
                                        </p:tgtEl>
                                        <p:attrNameLst>
                                          <p:attrName>style.visibility</p:attrName>
                                        </p:attrNameLst>
                                      </p:cBhvr>
                                      <p:to>
                                        <p:strVal val="visible"/>
                                      </p:to>
                                    </p:set>
                                    <p:animEffect transition="in" filter="checkerboard(across)">
                                      <p:cBhvr>
                                        <p:cTn id="7" dur="500"/>
                                        <p:tgtEl>
                                          <p:spTgt spid="307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07203">
                                            <p:txEl>
                                              <p:pRg st="1" end="1"/>
                                            </p:txEl>
                                          </p:spTgt>
                                        </p:tgtEl>
                                        <p:attrNameLst>
                                          <p:attrName>style.visibility</p:attrName>
                                        </p:attrNameLst>
                                      </p:cBhvr>
                                      <p:to>
                                        <p:strVal val="visible"/>
                                      </p:to>
                                    </p:set>
                                    <p:animEffect transition="in" filter="checkerboard(across)">
                                      <p:cBhvr>
                                        <p:cTn id="12" dur="500"/>
                                        <p:tgtEl>
                                          <p:spTgt spid="3072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07203">
                                            <p:txEl>
                                              <p:pRg st="2" end="2"/>
                                            </p:txEl>
                                          </p:spTgt>
                                        </p:tgtEl>
                                        <p:attrNameLst>
                                          <p:attrName>style.visibility</p:attrName>
                                        </p:attrNameLst>
                                      </p:cBhvr>
                                      <p:to>
                                        <p:strVal val="visible"/>
                                      </p:to>
                                    </p:set>
                                    <p:animEffect transition="in" filter="checkerboard(across)">
                                      <p:cBhvr>
                                        <p:cTn id="17" dur="500"/>
                                        <p:tgtEl>
                                          <p:spTgt spid="3072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252416BC-4E9A-A289-AC45-0E643E4C193F}"/>
              </a:ext>
            </a:extLst>
          </p:cNvPr>
          <p:cNvSpPr>
            <a:spLocks noGrp="1" noChangeArrowheads="1"/>
          </p:cNvSpPr>
          <p:nvPr>
            <p:ph type="title"/>
          </p:nvPr>
        </p:nvSpPr>
        <p:spPr/>
        <p:txBody>
          <a:bodyPr/>
          <a:lstStyle/>
          <a:p>
            <a:pPr eaLnBrk="1" hangingPunct="1"/>
            <a:r>
              <a:rPr lang="zh-CN" altLang="en-US"/>
              <a:t>存储分块表</a:t>
            </a:r>
          </a:p>
        </p:txBody>
      </p:sp>
      <p:sp>
        <p:nvSpPr>
          <p:cNvPr id="203779" name="Rectangle 3">
            <a:extLst>
              <a:ext uri="{FF2B5EF4-FFF2-40B4-BE49-F238E27FC236}">
                <a16:creationId xmlns:a16="http://schemas.microsoft.com/office/drawing/2014/main" id="{CB4541BB-5326-B173-E9EB-5A03954A1628}"/>
              </a:ext>
            </a:extLst>
          </p:cNvPr>
          <p:cNvSpPr>
            <a:spLocks noGrp="1" noChangeArrowheads="1"/>
          </p:cNvSpPr>
          <p:nvPr>
            <p:ph idx="1"/>
          </p:nvPr>
        </p:nvSpPr>
        <p:spPr>
          <a:xfrm>
            <a:off x="611188" y="1196975"/>
            <a:ext cx="8343900" cy="5029200"/>
          </a:xfrm>
        </p:spPr>
        <p:txBody>
          <a:bodyPr>
            <a:normAutofit lnSpcReduction="10000"/>
          </a:bodyPr>
          <a:lstStyle/>
          <a:p>
            <a:pPr eaLnBrk="1" hangingPunct="1"/>
            <a:r>
              <a:rPr lang="zh-CN" altLang="en-US">
                <a:solidFill>
                  <a:srgbClr val="FF0000"/>
                </a:solidFill>
              </a:rPr>
              <a:t>存储分块表</a:t>
            </a:r>
            <a:r>
              <a:rPr lang="zh-CN" altLang="en-US"/>
              <a:t>用来记录内存中各物理块的使用情况及未分配物理块总数。也称为帧表（</a:t>
            </a:r>
            <a:r>
              <a:rPr lang="en-US" altLang="zh-CN"/>
              <a:t>frame table</a:t>
            </a:r>
            <a:r>
              <a:rPr lang="zh-CN" altLang="en-US"/>
              <a:t>）</a:t>
            </a:r>
          </a:p>
          <a:p>
            <a:pPr eaLnBrk="1" hangingPunct="1"/>
            <a:r>
              <a:rPr lang="zh-CN" altLang="en-US"/>
              <a:t>存储分块表可用下述方式表示：</a:t>
            </a:r>
          </a:p>
          <a:p>
            <a:pPr lvl="1" eaLnBrk="1" hangingPunct="1"/>
            <a:r>
              <a:rPr lang="zh-CN" altLang="en-US"/>
              <a:t>位示图：利用二进制的一位表示一个物理块的状态，1表示已分配，0表示未分配。所有物理块状态位的集合构成位示图。</a:t>
            </a:r>
          </a:p>
          <a:p>
            <a:pPr lvl="1" eaLnBrk="1" hangingPunct="1"/>
            <a:r>
              <a:rPr lang="zh-CN" altLang="en-US"/>
              <a:t>空闲存储块链：将所有的空闲存储块用链表链接起来，利用空闲物理块中的单元存放指向下一个物理块的指针。</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3779">
                                            <p:txEl>
                                              <p:pRg st="2" end="2"/>
                                            </p:txEl>
                                          </p:spTgt>
                                        </p:tgtEl>
                                        <p:attrNameLst>
                                          <p:attrName>style.visibility</p:attrName>
                                        </p:attrNameLst>
                                      </p:cBhvr>
                                      <p:to>
                                        <p:strVal val="visible"/>
                                      </p:to>
                                    </p:set>
                                    <p:animEffect transition="in" filter="checkerboard(across)">
                                      <p:cBhvr>
                                        <p:cTn id="7" dur="500"/>
                                        <p:tgtEl>
                                          <p:spTgt spid="20377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3779">
                                            <p:txEl>
                                              <p:pRg st="3" end="3"/>
                                            </p:txEl>
                                          </p:spTgt>
                                        </p:tgtEl>
                                        <p:attrNameLst>
                                          <p:attrName>style.visibility</p:attrName>
                                        </p:attrNameLst>
                                      </p:cBhvr>
                                      <p:to>
                                        <p:strVal val="visible"/>
                                      </p:to>
                                    </p:set>
                                    <p:animEffect transition="in" filter="checkerboard(across)">
                                      <p:cBhvr>
                                        <p:cTn id="12" dur="500"/>
                                        <p:tgtEl>
                                          <p:spTgt spid="2037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4B655F78-1D9C-02F2-50BB-7FF062F6F4DA}"/>
              </a:ext>
            </a:extLst>
          </p:cNvPr>
          <p:cNvSpPr>
            <a:spLocks noGrp="1" noChangeArrowheads="1"/>
          </p:cNvSpPr>
          <p:nvPr>
            <p:ph type="title"/>
          </p:nvPr>
        </p:nvSpPr>
        <p:spPr/>
        <p:txBody>
          <a:bodyPr/>
          <a:lstStyle/>
          <a:p>
            <a:pPr eaLnBrk="1" hangingPunct="1"/>
            <a:r>
              <a:rPr lang="zh-CN" altLang="en-US"/>
              <a:t>位示图例</a:t>
            </a:r>
          </a:p>
        </p:txBody>
      </p:sp>
      <p:sp>
        <p:nvSpPr>
          <p:cNvPr id="204803" name="Rectangle 3">
            <a:extLst>
              <a:ext uri="{FF2B5EF4-FFF2-40B4-BE49-F238E27FC236}">
                <a16:creationId xmlns:a16="http://schemas.microsoft.com/office/drawing/2014/main" id="{4351AAD0-D4F8-4B93-0E07-3A906353E665}"/>
              </a:ext>
            </a:extLst>
          </p:cNvPr>
          <p:cNvSpPr>
            <a:spLocks noGrp="1" noChangeArrowheads="1"/>
          </p:cNvSpPr>
          <p:nvPr>
            <p:ph idx="1"/>
          </p:nvPr>
        </p:nvSpPr>
        <p:spPr>
          <a:xfrm>
            <a:off x="381000" y="5410200"/>
            <a:ext cx="8610600" cy="1114425"/>
          </a:xfrm>
        </p:spPr>
        <p:txBody>
          <a:bodyPr/>
          <a:lstStyle/>
          <a:p>
            <a:pPr eaLnBrk="1" hangingPunct="1"/>
            <a:r>
              <a:rPr lang="zh-CN" altLang="en-US"/>
              <a:t>位示图占用的存储空间：物理块数/8（字节）</a:t>
            </a:r>
          </a:p>
        </p:txBody>
      </p:sp>
      <p:grpSp>
        <p:nvGrpSpPr>
          <p:cNvPr id="98307" name="Group 8">
            <a:extLst>
              <a:ext uri="{FF2B5EF4-FFF2-40B4-BE49-F238E27FC236}">
                <a16:creationId xmlns:a16="http://schemas.microsoft.com/office/drawing/2014/main" id="{87585A47-EC24-BEF5-383B-EAA5D8954744}"/>
              </a:ext>
            </a:extLst>
          </p:cNvPr>
          <p:cNvGrpSpPr>
            <a:grpSpLocks/>
          </p:cNvGrpSpPr>
          <p:nvPr/>
        </p:nvGrpSpPr>
        <p:grpSpPr bwMode="auto">
          <a:xfrm>
            <a:off x="1323975" y="1524000"/>
            <a:ext cx="6981825" cy="3638550"/>
            <a:chOff x="528" y="1548"/>
            <a:chExt cx="4398" cy="2292"/>
          </a:xfrm>
        </p:grpSpPr>
        <p:sp>
          <p:nvSpPr>
            <p:cNvPr id="98308" name="Rectangle 5">
              <a:extLst>
                <a:ext uri="{FF2B5EF4-FFF2-40B4-BE49-F238E27FC236}">
                  <a16:creationId xmlns:a16="http://schemas.microsoft.com/office/drawing/2014/main" id="{4BCCEC3B-C5BB-F6FA-E6A0-039ACD8A2D15}"/>
                </a:ext>
              </a:extLst>
            </p:cNvPr>
            <p:cNvSpPr>
              <a:spLocks noChangeArrowheads="1"/>
            </p:cNvSpPr>
            <p:nvPr/>
          </p:nvSpPr>
          <p:spPr bwMode="auto">
            <a:xfrm>
              <a:off x="726" y="1814"/>
              <a:ext cx="4200" cy="2026"/>
            </a:xfrm>
            <a:prstGeom prst="rect">
              <a:avLst/>
            </a:prstGeom>
            <a:solidFill>
              <a:srgbClr val="FFFFFF"/>
            </a:solidFill>
            <a:ln w="9525">
              <a:solidFill>
                <a:srgbClr val="000000"/>
              </a:solidFill>
              <a:miter lim="800000"/>
              <a:headEnd/>
              <a:tailEnd type="none" w="sm" len="med"/>
            </a:ln>
          </p:spPr>
          <p:txBody>
            <a:bodyPr lIns="72000" tIns="36000" rIns="72000" bIns="36000"/>
            <a:lstStyle/>
            <a:p>
              <a:pPr algn="just" eaLnBrk="0" hangingPunct="0"/>
              <a:r>
                <a:rPr lang="zh-CN" altLang="en-US" sz="2000">
                  <a:latin typeface="Times New Roman" panose="02020603050405020304" pitchFamily="18" charset="0"/>
                </a:rPr>
                <a:t>  1    1    0    0    1    1    0    1    1    1    0     1     1     1     1     1</a:t>
              </a:r>
            </a:p>
            <a:p>
              <a:pPr algn="just" eaLnBrk="0" hangingPunct="0"/>
              <a:r>
                <a:rPr lang="zh-CN" altLang="en-US" sz="2000">
                  <a:latin typeface="Times New Roman" panose="02020603050405020304" pitchFamily="18" charset="0"/>
                </a:rPr>
                <a:t>  0    0    0    0    1    1    1    1    1    0    0     0     0     0     0     1</a:t>
              </a:r>
            </a:p>
            <a:p>
              <a:pPr algn="just" eaLnBrk="0" hangingPunct="0"/>
              <a:r>
                <a:rPr lang="zh-CN" altLang="en-US" sz="2000">
                  <a:latin typeface="Times New Roman" panose="02020603050405020304" pitchFamily="18" charset="0"/>
                </a:rPr>
                <a:t>  1    1    1    1    1    1    0    1    1    1    1     0     0     0     0     0</a:t>
              </a:r>
            </a:p>
            <a:p>
              <a:pPr algn="just" eaLnBrk="0" hangingPunct="0"/>
              <a:endParaRPr lang="zh-CN" altLang="en-US" sz="2000">
                <a:latin typeface="宋体" panose="02010600030101010101" pitchFamily="2" charset="-122"/>
              </a:endParaRPr>
            </a:p>
            <a:p>
              <a:pPr algn="just" eaLnBrk="0" hangingPunct="0"/>
              <a:r>
                <a:rPr lang="zh-CN" altLang="en-US" sz="900">
                  <a:latin typeface="Times New Roman" panose="02020603050405020304" pitchFamily="18" charset="0"/>
                </a:rPr>
                <a:t>…</a:t>
              </a:r>
            </a:p>
          </p:txBody>
        </p:sp>
        <p:sp>
          <p:nvSpPr>
            <p:cNvPr id="98309" name="Rectangle 6">
              <a:extLst>
                <a:ext uri="{FF2B5EF4-FFF2-40B4-BE49-F238E27FC236}">
                  <a16:creationId xmlns:a16="http://schemas.microsoft.com/office/drawing/2014/main" id="{F0D9EBB3-7716-F2A8-0B8A-BECAEB6F9540}"/>
                </a:ext>
              </a:extLst>
            </p:cNvPr>
            <p:cNvSpPr>
              <a:spLocks noChangeArrowheads="1"/>
            </p:cNvSpPr>
            <p:nvPr/>
          </p:nvSpPr>
          <p:spPr bwMode="auto">
            <a:xfrm>
              <a:off x="846" y="1548"/>
              <a:ext cx="4050"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0    1    2    3    4    5    6    7    8    9   10   11   12   13   14   15</a:t>
              </a:r>
            </a:p>
          </p:txBody>
        </p:sp>
        <p:sp>
          <p:nvSpPr>
            <p:cNvPr id="98310" name="Rectangle 7">
              <a:extLst>
                <a:ext uri="{FF2B5EF4-FFF2-40B4-BE49-F238E27FC236}">
                  <a16:creationId xmlns:a16="http://schemas.microsoft.com/office/drawing/2014/main" id="{84B97E47-3B3D-D52E-81E5-41B9DE592951}"/>
                </a:ext>
              </a:extLst>
            </p:cNvPr>
            <p:cNvSpPr>
              <a:spLocks noChangeArrowheads="1"/>
            </p:cNvSpPr>
            <p:nvPr/>
          </p:nvSpPr>
          <p:spPr bwMode="auto">
            <a:xfrm>
              <a:off x="528" y="1824"/>
              <a:ext cx="154" cy="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 0</a:t>
              </a:r>
            </a:p>
            <a:p>
              <a:pPr algn="just" eaLnBrk="0" hangingPunct="0"/>
              <a:r>
                <a:rPr lang="zh-CN" altLang="en-US" sz="2000">
                  <a:latin typeface="Times New Roman" panose="02020603050405020304" pitchFamily="18" charset="0"/>
                </a:rPr>
                <a:t> 1</a:t>
              </a:r>
            </a:p>
            <a:p>
              <a:pPr algn="just" eaLnBrk="0" hangingPunct="0"/>
              <a:r>
                <a:rPr lang="zh-CN" altLang="en-US" sz="2000">
                  <a:latin typeface="Times New Roman" panose="02020603050405020304" pitchFamily="18" charset="0"/>
                </a:rPr>
                <a:t> 2</a:t>
              </a:r>
            </a:p>
            <a:p>
              <a:pPr algn="just" eaLnBrk="0" hangingPunct="0"/>
              <a:r>
                <a:rPr lang="zh-CN" altLang="en-US" sz="2000">
                  <a:latin typeface="Times New Roman" panose="02020603050405020304" pitchFamily="18" charset="0"/>
                </a:rPr>
                <a:t> 3</a:t>
              </a:r>
            </a:p>
            <a:p>
              <a:pPr algn="just" eaLnBrk="0" hangingPunct="0"/>
              <a:r>
                <a:rPr lang="zh-CN" altLang="en-US" sz="2000">
                  <a:latin typeface="Times New Roman" panose="02020603050405020304" pitchFamily="18" charset="0"/>
                </a:rPr>
                <a:t> 4</a:t>
              </a:r>
            </a:p>
            <a:p>
              <a:pPr algn="just" eaLnBrk="0" hangingPunct="0"/>
              <a:r>
                <a:rPr lang="zh-CN" altLang="en-US" sz="2000">
                  <a:latin typeface="宋体" panose="02010600030101010101" pitchFamily="2" charset="-122"/>
                </a:rPr>
                <a:t>┆</a:t>
              </a:r>
              <a:endParaRPr lang="zh-CN" altLang="en-US" sz="2000">
                <a:latin typeface="Times New Roman" panose="02020603050405020304" pitchFamily="18" charset="0"/>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4803">
                                            <p:txEl>
                                              <p:pRg st="0" end="0"/>
                                            </p:txEl>
                                          </p:spTgt>
                                        </p:tgtEl>
                                        <p:attrNameLst>
                                          <p:attrName>style.visibility</p:attrName>
                                        </p:attrNameLst>
                                      </p:cBhvr>
                                      <p:to>
                                        <p:strVal val="visible"/>
                                      </p:to>
                                    </p:set>
                                    <p:animEffect transition="in" filter="checkerboard(across)">
                                      <p:cBhvr>
                                        <p:cTn id="7" dur="500"/>
                                        <p:tgtEl>
                                          <p:spTgt spid="2048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0A542663-E569-BCC6-B793-8FF64042DAB2}"/>
              </a:ext>
            </a:extLst>
          </p:cNvPr>
          <p:cNvSpPr>
            <a:spLocks noGrp="1" noChangeArrowheads="1"/>
          </p:cNvSpPr>
          <p:nvPr>
            <p:ph type="title"/>
          </p:nvPr>
        </p:nvSpPr>
        <p:spPr/>
        <p:txBody>
          <a:bodyPr/>
          <a:lstStyle/>
          <a:p>
            <a:pPr eaLnBrk="1" hangingPunct="1"/>
            <a:r>
              <a:rPr lang="zh-CN" altLang="en-US" sz="4000"/>
              <a:t>空闲帧  </a:t>
            </a:r>
            <a:r>
              <a:rPr lang="en-US" altLang="zh-CN" sz="4000"/>
              <a:t>Free Frames</a:t>
            </a:r>
            <a:endParaRPr lang="zh-CN" altLang="en-US" sz="4000"/>
          </a:p>
        </p:txBody>
      </p:sp>
      <p:pic>
        <p:nvPicPr>
          <p:cNvPr id="99330" name="Picture 4">
            <a:extLst>
              <a:ext uri="{FF2B5EF4-FFF2-40B4-BE49-F238E27FC236}">
                <a16:creationId xmlns:a16="http://schemas.microsoft.com/office/drawing/2014/main" id="{027609B1-5C1D-0184-C99F-EFBAF7B1AA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24" t="4521" r="2406" b="4019"/>
          <a:stretch>
            <a:fillRect/>
          </a:stretch>
        </p:blipFill>
        <p:spPr bwMode="auto">
          <a:xfrm>
            <a:off x="827088" y="1196975"/>
            <a:ext cx="7848600" cy="4679950"/>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9331" name="Text Box 5">
            <a:extLst>
              <a:ext uri="{FF2B5EF4-FFF2-40B4-BE49-F238E27FC236}">
                <a16:creationId xmlns:a16="http://schemas.microsoft.com/office/drawing/2014/main" id="{FD91D655-B7A6-A7A2-8AB9-DF6E479D4D5A}"/>
              </a:ext>
            </a:extLst>
          </p:cNvPr>
          <p:cNvSpPr txBox="1">
            <a:spLocks noChangeArrowheads="1"/>
          </p:cNvSpPr>
          <p:nvPr/>
        </p:nvSpPr>
        <p:spPr bwMode="auto">
          <a:xfrm>
            <a:off x="1550988" y="6113463"/>
            <a:ext cx="2655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b="1">
                <a:latin typeface="Helvetica" pitchFamily="2" charset="0"/>
              </a:rPr>
              <a:t>Before allocation</a:t>
            </a:r>
            <a:endParaRPr lang="en-US" altLang="zh-CN" sz="1800">
              <a:latin typeface="Helvetica" pitchFamily="2" charset="0"/>
            </a:endParaRPr>
          </a:p>
        </p:txBody>
      </p:sp>
      <p:sp>
        <p:nvSpPr>
          <p:cNvPr id="99332" name="Text Box 6">
            <a:extLst>
              <a:ext uri="{FF2B5EF4-FFF2-40B4-BE49-F238E27FC236}">
                <a16:creationId xmlns:a16="http://schemas.microsoft.com/office/drawing/2014/main" id="{AD2B1CC4-C0EA-009C-2952-278EA9617E3B}"/>
              </a:ext>
            </a:extLst>
          </p:cNvPr>
          <p:cNvSpPr txBox="1">
            <a:spLocks noChangeArrowheads="1"/>
          </p:cNvSpPr>
          <p:nvPr/>
        </p:nvSpPr>
        <p:spPr bwMode="auto">
          <a:xfrm>
            <a:off x="5160963" y="6140450"/>
            <a:ext cx="2401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b="1">
                <a:latin typeface="Helvetica" pitchFamily="2" charset="0"/>
              </a:rPr>
              <a:t>After allocation</a:t>
            </a:r>
            <a:endParaRPr lang="en-US" altLang="zh-CN" sz="1800">
              <a:latin typeface="Helvetica" pitchFamily="2" charset="0"/>
            </a:endParaRPr>
          </a:p>
        </p:txBody>
      </p:sp>
    </p:spTree>
  </p:cSld>
  <p:clrMapOvr>
    <a:masterClrMapping/>
  </p:clrMapOvr>
  <p:transition spd="med">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FF44D367-21F5-F591-D92A-B552A7BAA01C}"/>
              </a:ext>
            </a:extLst>
          </p:cNvPr>
          <p:cNvSpPr>
            <a:spLocks noGrp="1" noChangeArrowheads="1"/>
          </p:cNvSpPr>
          <p:nvPr>
            <p:ph type="title"/>
          </p:nvPr>
        </p:nvSpPr>
        <p:spPr>
          <a:xfrm>
            <a:off x="1042988" y="225431"/>
            <a:ext cx="7850187" cy="746125"/>
          </a:xfrm>
        </p:spPr>
        <p:txBody>
          <a:bodyPr/>
          <a:lstStyle/>
          <a:p>
            <a:r>
              <a:rPr lang="zh-CN" altLang="en-US"/>
              <a:t>存储空间的分配及回收</a:t>
            </a:r>
          </a:p>
        </p:txBody>
      </p:sp>
      <p:sp>
        <p:nvSpPr>
          <p:cNvPr id="206851" name="Rectangle 3">
            <a:extLst>
              <a:ext uri="{FF2B5EF4-FFF2-40B4-BE49-F238E27FC236}">
                <a16:creationId xmlns:a16="http://schemas.microsoft.com/office/drawing/2014/main" id="{F843494E-B4D2-C5B6-674F-9BE231386D5C}"/>
              </a:ext>
            </a:extLst>
          </p:cNvPr>
          <p:cNvSpPr>
            <a:spLocks noGrp="1" noChangeArrowheads="1"/>
          </p:cNvSpPr>
          <p:nvPr>
            <p:ph idx="1"/>
          </p:nvPr>
        </p:nvSpPr>
        <p:spPr>
          <a:xfrm>
            <a:off x="935038" y="1233488"/>
            <a:ext cx="7772400" cy="4895850"/>
          </a:xfrm>
        </p:spPr>
        <p:txBody>
          <a:bodyPr/>
          <a:lstStyle/>
          <a:p>
            <a:r>
              <a:rPr lang="zh-CN" altLang="en-US"/>
              <a:t>页面分配：计算进程所需页面数，然后在请求表中登记进程号、请求页面数等。如存储分块表中有足够的空闲块可供进程使用，则在系统中取得页表始址，并在页表中登记页号及其对应的物理块号。否则无法分配。</a:t>
            </a:r>
          </a:p>
          <a:p>
            <a:r>
              <a:rPr lang="zh-CN" altLang="en-US"/>
              <a:t>页面回收：将存储分块表中相应的物理块改为未分配，或将回收块加入到空闲存储块链中，并释放页表，修改请求表中的页表始址及状态。</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6851">
                                            <p:txEl>
                                              <p:pRg st="0" end="0"/>
                                            </p:txEl>
                                          </p:spTgt>
                                        </p:tgtEl>
                                        <p:attrNameLst>
                                          <p:attrName>style.visibility</p:attrName>
                                        </p:attrNameLst>
                                      </p:cBhvr>
                                      <p:to>
                                        <p:strVal val="visible"/>
                                      </p:to>
                                    </p:set>
                                    <p:animEffect transition="in" filter="checkerboard(across)">
                                      <p:cBhvr>
                                        <p:cTn id="7" dur="500"/>
                                        <p:tgtEl>
                                          <p:spTgt spid="2068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06851">
                                            <p:txEl>
                                              <p:pRg st="1" end="1"/>
                                            </p:txEl>
                                          </p:spTgt>
                                        </p:tgtEl>
                                        <p:attrNameLst>
                                          <p:attrName>style.visibility</p:attrName>
                                        </p:attrNameLst>
                                      </p:cBhvr>
                                      <p:to>
                                        <p:strVal val="visible"/>
                                      </p:to>
                                    </p:set>
                                    <p:animEffect transition="in" filter="checkerboard(across)">
                                      <p:cBhvr>
                                        <p:cTn id="12" dur="500"/>
                                        <p:tgtEl>
                                          <p:spTgt spid="2068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168BF3F1-82C7-7C37-456D-448F46EC5798}"/>
              </a:ext>
            </a:extLst>
          </p:cNvPr>
          <p:cNvSpPr>
            <a:spLocks noGrp="1" noChangeArrowheads="1"/>
          </p:cNvSpPr>
          <p:nvPr>
            <p:ph type="title"/>
          </p:nvPr>
        </p:nvSpPr>
        <p:spPr/>
        <p:txBody>
          <a:bodyPr/>
          <a:lstStyle/>
          <a:p>
            <a:pPr eaLnBrk="1" hangingPunct="1"/>
            <a:r>
              <a:rPr lang="zh-CN" altLang="en-US" dirty="0"/>
              <a:t>地址变换机构</a:t>
            </a:r>
          </a:p>
        </p:txBody>
      </p:sp>
      <p:sp>
        <p:nvSpPr>
          <p:cNvPr id="102402" name="Rectangle 3">
            <a:extLst>
              <a:ext uri="{FF2B5EF4-FFF2-40B4-BE49-F238E27FC236}">
                <a16:creationId xmlns:a16="http://schemas.microsoft.com/office/drawing/2014/main" id="{F367F65F-03DE-2239-94D5-2CDFEECCC5C8}"/>
              </a:ext>
            </a:extLst>
          </p:cNvPr>
          <p:cNvSpPr>
            <a:spLocks noGrp="1" noChangeArrowheads="1"/>
          </p:cNvSpPr>
          <p:nvPr>
            <p:ph idx="1"/>
          </p:nvPr>
        </p:nvSpPr>
        <p:spPr>
          <a:xfrm>
            <a:off x="827088" y="1125538"/>
            <a:ext cx="8077200" cy="4967287"/>
          </a:xfrm>
        </p:spPr>
        <p:txBody>
          <a:bodyPr/>
          <a:lstStyle/>
          <a:p>
            <a:pPr algn="just" eaLnBrk="1" hangingPunct="1"/>
            <a:r>
              <a:rPr lang="zh-CN" altLang="en-US" dirty="0"/>
              <a:t>地址变换机构的任务是实现逻辑地址到物理地址的变换，即将逻辑地址中的页号转换为内存中的物理块号</a:t>
            </a:r>
            <a:endParaRPr lang="en-US" altLang="zh-CN" dirty="0"/>
          </a:p>
          <a:p>
            <a:pPr algn="just" eaLnBrk="1" hangingPunct="1"/>
            <a:r>
              <a:rPr lang="zh-CN" altLang="en-US" dirty="0"/>
              <a:t>页表通常存放在内存中，为了实现方便，系统中设置了一个页表寄存器存放页表在内存的起始地址和页表的长度。</a:t>
            </a:r>
          </a:p>
          <a:p>
            <a:pPr algn="just" eaLnBrk="1" hangingPunct="1"/>
            <a:r>
              <a:rPr lang="zh-CN" altLang="en-US" dirty="0"/>
              <a:t>进程未执行时，页表的起始地址和长度存放在</a:t>
            </a:r>
            <a:r>
              <a:rPr lang="en-US" altLang="zh-CN" dirty="0"/>
              <a:t>PCB</a:t>
            </a:r>
            <a:r>
              <a:rPr lang="zh-CN" altLang="en-US" dirty="0"/>
              <a:t>中。当进程执行时，才将页表始址和长度存入页表寄存器中。</a:t>
            </a:r>
          </a:p>
        </p:txBody>
      </p:sp>
    </p:spTree>
  </p:cSld>
  <p:clrMapOvr>
    <a:masterClrMapping/>
  </p:clrMapOvr>
  <p:transition spd="med">
    <p:zoom/>
  </p:transition>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6FA1126E-EFEA-BD58-EFF7-56A0D8742A8C}"/>
              </a:ext>
            </a:extLst>
          </p:cNvPr>
          <p:cNvSpPr>
            <a:spLocks noGrp="1" noChangeArrowheads="1"/>
          </p:cNvSpPr>
          <p:nvPr>
            <p:ph type="title"/>
          </p:nvPr>
        </p:nvSpPr>
        <p:spPr>
          <a:xfrm>
            <a:off x="1042988" y="225431"/>
            <a:ext cx="7850187" cy="746125"/>
          </a:xfrm>
        </p:spPr>
        <p:txBody>
          <a:bodyPr/>
          <a:lstStyle/>
          <a:p>
            <a:r>
              <a:rPr lang="zh-CN" altLang="en-US"/>
              <a:t>地址变换过程</a:t>
            </a:r>
          </a:p>
        </p:txBody>
      </p:sp>
      <p:sp>
        <p:nvSpPr>
          <p:cNvPr id="144387" name="Rectangle 3">
            <a:extLst>
              <a:ext uri="{FF2B5EF4-FFF2-40B4-BE49-F238E27FC236}">
                <a16:creationId xmlns:a16="http://schemas.microsoft.com/office/drawing/2014/main" id="{A16ABD42-0010-B7BC-A2A4-962CC16147B4}"/>
              </a:ext>
            </a:extLst>
          </p:cNvPr>
          <p:cNvSpPr>
            <a:spLocks noGrp="1" noChangeArrowheads="1"/>
          </p:cNvSpPr>
          <p:nvPr>
            <p:ph idx="1"/>
          </p:nvPr>
        </p:nvSpPr>
        <p:spPr>
          <a:xfrm>
            <a:off x="935038" y="1233488"/>
            <a:ext cx="7772400" cy="4895850"/>
          </a:xfrm>
        </p:spPr>
        <p:txBody>
          <a:bodyPr>
            <a:normAutofit fontScale="92500"/>
          </a:bodyPr>
          <a:lstStyle/>
          <a:p>
            <a:r>
              <a:rPr lang="zh-CN" altLang="en-US"/>
              <a:t>分页地址变换机构自动地将逻辑地址分为页号和页内位移；</a:t>
            </a:r>
          </a:p>
          <a:p>
            <a:r>
              <a:rPr lang="zh-CN" altLang="en-US"/>
              <a:t>将页号与页表长度进行比较，如果页号超过了页表长度，则表示本次所访问的地址已超越进程的地址空间，系统产生地址越界中断；</a:t>
            </a:r>
          </a:p>
          <a:p>
            <a:r>
              <a:rPr lang="zh-CN" altLang="en-US"/>
              <a:t>若未出现越界，则由页表始址和页号计算出相应页表项的位置，从中得到该页的物理块号；</a:t>
            </a:r>
          </a:p>
          <a:p>
            <a:r>
              <a:rPr lang="zh-CN" altLang="en-US"/>
              <a:t>将物理块号与逻辑地址中的页内位移拼接在一起，就形成了访问主存的物理地址。</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Effect transition="in" filter="checkerboard(across)">
                                      <p:cBhvr>
                                        <p:cTn id="7" dur="500"/>
                                        <p:tgtEl>
                                          <p:spTgt spid="144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44387">
                                            <p:txEl>
                                              <p:pRg st="1" end="1"/>
                                            </p:txEl>
                                          </p:spTgt>
                                        </p:tgtEl>
                                        <p:attrNameLst>
                                          <p:attrName>style.visibility</p:attrName>
                                        </p:attrNameLst>
                                      </p:cBhvr>
                                      <p:to>
                                        <p:strVal val="visible"/>
                                      </p:to>
                                    </p:set>
                                    <p:animEffect transition="in" filter="checkerboard(across)">
                                      <p:cBhvr>
                                        <p:cTn id="12" dur="500"/>
                                        <p:tgtEl>
                                          <p:spTgt spid="1443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44387">
                                            <p:txEl>
                                              <p:pRg st="2" end="2"/>
                                            </p:txEl>
                                          </p:spTgt>
                                        </p:tgtEl>
                                        <p:attrNameLst>
                                          <p:attrName>style.visibility</p:attrName>
                                        </p:attrNameLst>
                                      </p:cBhvr>
                                      <p:to>
                                        <p:strVal val="visible"/>
                                      </p:to>
                                    </p:set>
                                    <p:animEffect transition="in" filter="checkerboard(across)">
                                      <p:cBhvr>
                                        <p:cTn id="17" dur="500"/>
                                        <p:tgtEl>
                                          <p:spTgt spid="1443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44387">
                                            <p:txEl>
                                              <p:pRg st="3" end="3"/>
                                            </p:txEl>
                                          </p:spTgt>
                                        </p:tgtEl>
                                        <p:attrNameLst>
                                          <p:attrName>style.visibility</p:attrName>
                                        </p:attrNameLst>
                                      </p:cBhvr>
                                      <p:to>
                                        <p:strVal val="visible"/>
                                      </p:to>
                                    </p:set>
                                    <p:animEffect transition="in" filter="checkerboard(across)">
                                      <p:cBhvr>
                                        <p:cTn id="22" dur="500"/>
                                        <p:tgtEl>
                                          <p:spTgt spid="144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2F07E17E-DFE7-832C-DF5B-6F150AE36334}"/>
              </a:ext>
            </a:extLst>
          </p:cNvPr>
          <p:cNvSpPr>
            <a:spLocks noGrp="1" noChangeArrowheads="1"/>
          </p:cNvSpPr>
          <p:nvPr>
            <p:ph type="title"/>
          </p:nvPr>
        </p:nvSpPr>
        <p:spPr/>
        <p:txBody>
          <a:bodyPr/>
          <a:lstStyle/>
          <a:p>
            <a:pPr eaLnBrk="1" hangingPunct="1"/>
            <a:r>
              <a:rPr lang="zh-CN" altLang="en-US"/>
              <a:t>分页系统的地址变换机构图</a:t>
            </a:r>
          </a:p>
        </p:txBody>
      </p:sp>
      <p:sp>
        <p:nvSpPr>
          <p:cNvPr id="104450" name="Line 5">
            <a:extLst>
              <a:ext uri="{FF2B5EF4-FFF2-40B4-BE49-F238E27FC236}">
                <a16:creationId xmlns:a16="http://schemas.microsoft.com/office/drawing/2014/main" id="{AB2882BB-F9DB-A78C-3876-F644F3204F94}"/>
              </a:ext>
            </a:extLst>
          </p:cNvPr>
          <p:cNvSpPr>
            <a:spLocks noChangeShapeType="1"/>
          </p:cNvSpPr>
          <p:nvPr/>
        </p:nvSpPr>
        <p:spPr bwMode="auto">
          <a:xfrm>
            <a:off x="1725613" y="4329113"/>
            <a:ext cx="2082800"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4451" name="Rectangle 6">
            <a:extLst>
              <a:ext uri="{FF2B5EF4-FFF2-40B4-BE49-F238E27FC236}">
                <a16:creationId xmlns:a16="http://schemas.microsoft.com/office/drawing/2014/main" id="{41E92EC7-D412-85AE-6C31-D82028CFD9F7}"/>
              </a:ext>
            </a:extLst>
          </p:cNvPr>
          <p:cNvSpPr>
            <a:spLocks noChangeArrowheads="1"/>
          </p:cNvSpPr>
          <p:nvPr/>
        </p:nvSpPr>
        <p:spPr bwMode="auto">
          <a:xfrm>
            <a:off x="1433513" y="1673225"/>
            <a:ext cx="14398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页表寄存器</a:t>
            </a:r>
          </a:p>
        </p:txBody>
      </p:sp>
      <p:sp>
        <p:nvSpPr>
          <p:cNvPr id="104452" name="Rectangle 7">
            <a:extLst>
              <a:ext uri="{FF2B5EF4-FFF2-40B4-BE49-F238E27FC236}">
                <a16:creationId xmlns:a16="http://schemas.microsoft.com/office/drawing/2014/main" id="{2E8F54E5-D0D8-83B8-264F-BCB9DE6F050C}"/>
              </a:ext>
            </a:extLst>
          </p:cNvPr>
          <p:cNvSpPr>
            <a:spLocks noChangeArrowheads="1"/>
          </p:cNvSpPr>
          <p:nvPr/>
        </p:nvSpPr>
        <p:spPr bwMode="auto">
          <a:xfrm>
            <a:off x="976313" y="2149475"/>
            <a:ext cx="2309812" cy="487363"/>
          </a:xfrm>
          <a:prstGeom prst="rect">
            <a:avLst/>
          </a:prstGeom>
          <a:solidFill>
            <a:srgbClr val="FFFFFF"/>
          </a:solidFill>
          <a:ln w="28575">
            <a:solidFill>
              <a:srgbClr val="000000"/>
            </a:solidFill>
            <a:miter lim="800000"/>
            <a:headEnd/>
            <a:tailEnd/>
          </a:ln>
        </p:spPr>
        <p:txBody>
          <a:bodyPr lIns="72000" tIns="72000" rIns="0" bIns="0"/>
          <a:lstStyle/>
          <a:p>
            <a:pPr algn="just" eaLnBrk="0" hangingPunct="0"/>
            <a:r>
              <a:rPr lang="zh-CN" altLang="en-US" sz="2000">
                <a:latin typeface="Times New Roman" panose="02020603050405020304" pitchFamily="18" charset="0"/>
              </a:rPr>
              <a:t>页表始址 页表长度</a:t>
            </a:r>
          </a:p>
        </p:txBody>
      </p:sp>
      <p:sp>
        <p:nvSpPr>
          <p:cNvPr id="104453" name="Line 8">
            <a:extLst>
              <a:ext uri="{FF2B5EF4-FFF2-40B4-BE49-F238E27FC236}">
                <a16:creationId xmlns:a16="http://schemas.microsoft.com/office/drawing/2014/main" id="{E474A182-44F0-DAC7-7C61-13CA825F4926}"/>
              </a:ext>
            </a:extLst>
          </p:cNvPr>
          <p:cNvSpPr>
            <a:spLocks noChangeShapeType="1"/>
          </p:cNvSpPr>
          <p:nvPr/>
        </p:nvSpPr>
        <p:spPr bwMode="auto">
          <a:xfrm>
            <a:off x="2119313" y="2149475"/>
            <a:ext cx="0" cy="48736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4" name="Rectangle 9">
            <a:extLst>
              <a:ext uri="{FF2B5EF4-FFF2-40B4-BE49-F238E27FC236}">
                <a16:creationId xmlns:a16="http://schemas.microsoft.com/office/drawing/2014/main" id="{AA7EB0F6-708F-2F05-5A7E-9B99A3B1D819}"/>
              </a:ext>
            </a:extLst>
          </p:cNvPr>
          <p:cNvSpPr>
            <a:spLocks noChangeArrowheads="1"/>
          </p:cNvSpPr>
          <p:nvPr/>
        </p:nvSpPr>
        <p:spPr bwMode="auto">
          <a:xfrm>
            <a:off x="4149725" y="1484313"/>
            <a:ext cx="12287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越界中断</a:t>
            </a:r>
          </a:p>
        </p:txBody>
      </p:sp>
      <p:sp>
        <p:nvSpPr>
          <p:cNvPr id="104455" name="Line 10">
            <a:extLst>
              <a:ext uri="{FF2B5EF4-FFF2-40B4-BE49-F238E27FC236}">
                <a16:creationId xmlns:a16="http://schemas.microsoft.com/office/drawing/2014/main" id="{97DEB9B3-50F8-8981-FCE6-8280D7D02932}"/>
              </a:ext>
            </a:extLst>
          </p:cNvPr>
          <p:cNvSpPr>
            <a:spLocks noChangeShapeType="1"/>
          </p:cNvSpPr>
          <p:nvPr/>
        </p:nvSpPr>
        <p:spPr bwMode="auto">
          <a:xfrm flipV="1">
            <a:off x="4657725" y="1789113"/>
            <a:ext cx="0" cy="341312"/>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4456" name="Oval 11">
            <a:extLst>
              <a:ext uri="{FF2B5EF4-FFF2-40B4-BE49-F238E27FC236}">
                <a16:creationId xmlns:a16="http://schemas.microsoft.com/office/drawing/2014/main" id="{2EC2A3C6-6730-85F1-A366-B258D7A71CA4}"/>
              </a:ext>
            </a:extLst>
          </p:cNvPr>
          <p:cNvSpPr>
            <a:spLocks noChangeArrowheads="1"/>
          </p:cNvSpPr>
          <p:nvPr/>
        </p:nvSpPr>
        <p:spPr bwMode="auto">
          <a:xfrm>
            <a:off x="4391025" y="2166938"/>
            <a:ext cx="541338" cy="511175"/>
          </a:xfrm>
          <a:prstGeom prst="ellipse">
            <a:avLst/>
          </a:prstGeom>
          <a:solidFill>
            <a:srgbClr val="FFFFFF"/>
          </a:solidFill>
          <a:ln w="28575">
            <a:solidFill>
              <a:srgbClr val="000000"/>
            </a:solidFill>
            <a:round/>
            <a:headEnd/>
            <a:tailEnd/>
          </a:ln>
        </p:spPr>
        <p:txBody>
          <a:bodyPr lIns="0" tIns="0" rIns="0" bIns="0"/>
          <a:lstStyle/>
          <a:p>
            <a:pPr algn="ctr" eaLnBrk="0" hangingPunct="0"/>
            <a:r>
              <a:rPr lang="zh-CN" altLang="en-US" sz="2000" b="1">
                <a:latin typeface="Times New Roman" panose="02020603050405020304" pitchFamily="18" charset="0"/>
              </a:rPr>
              <a:t>＜</a:t>
            </a:r>
          </a:p>
        </p:txBody>
      </p:sp>
      <p:sp>
        <p:nvSpPr>
          <p:cNvPr id="104457" name="Line 12">
            <a:extLst>
              <a:ext uri="{FF2B5EF4-FFF2-40B4-BE49-F238E27FC236}">
                <a16:creationId xmlns:a16="http://schemas.microsoft.com/office/drawing/2014/main" id="{0F3A26DA-FE23-43E9-CA5E-BFC5E218A3C3}"/>
              </a:ext>
            </a:extLst>
          </p:cNvPr>
          <p:cNvSpPr>
            <a:spLocks noChangeShapeType="1"/>
          </p:cNvSpPr>
          <p:nvPr/>
        </p:nvSpPr>
        <p:spPr bwMode="auto">
          <a:xfrm>
            <a:off x="1728788" y="2643188"/>
            <a:ext cx="0" cy="373062"/>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4458" name="Oval 13">
            <a:extLst>
              <a:ext uri="{FF2B5EF4-FFF2-40B4-BE49-F238E27FC236}">
                <a16:creationId xmlns:a16="http://schemas.microsoft.com/office/drawing/2014/main" id="{49CBF505-8596-E503-F4DA-66E3D3AE56C4}"/>
              </a:ext>
            </a:extLst>
          </p:cNvPr>
          <p:cNvSpPr>
            <a:spLocks noChangeArrowheads="1"/>
          </p:cNvSpPr>
          <p:nvPr/>
        </p:nvSpPr>
        <p:spPr bwMode="auto">
          <a:xfrm>
            <a:off x="1462088" y="3009900"/>
            <a:ext cx="541337" cy="511175"/>
          </a:xfrm>
          <a:prstGeom prst="ellipse">
            <a:avLst/>
          </a:prstGeom>
          <a:solidFill>
            <a:srgbClr val="FFFFFF"/>
          </a:solidFill>
          <a:ln w="28575">
            <a:solidFill>
              <a:srgbClr val="000000"/>
            </a:solidFill>
            <a:round/>
            <a:headEnd/>
            <a:tailEnd/>
          </a:ln>
        </p:spPr>
        <p:txBody>
          <a:bodyPr lIns="0" tIns="0" rIns="0" bIns="0"/>
          <a:lstStyle/>
          <a:p>
            <a:pPr algn="ctr" eaLnBrk="0" hangingPunct="0"/>
            <a:r>
              <a:rPr lang="zh-CN" altLang="en-US" sz="2000" b="1">
                <a:latin typeface="Times New Roman" panose="02020603050405020304" pitchFamily="18" charset="0"/>
              </a:rPr>
              <a:t>＋</a:t>
            </a:r>
          </a:p>
        </p:txBody>
      </p:sp>
      <p:sp>
        <p:nvSpPr>
          <p:cNvPr id="104459" name="Rectangle 14">
            <a:extLst>
              <a:ext uri="{FF2B5EF4-FFF2-40B4-BE49-F238E27FC236}">
                <a16:creationId xmlns:a16="http://schemas.microsoft.com/office/drawing/2014/main" id="{174445A8-414D-E719-58AC-060F0609023F}"/>
              </a:ext>
            </a:extLst>
          </p:cNvPr>
          <p:cNvSpPr>
            <a:spLocks noChangeArrowheads="1"/>
          </p:cNvSpPr>
          <p:nvPr/>
        </p:nvSpPr>
        <p:spPr bwMode="auto">
          <a:xfrm>
            <a:off x="6451600" y="1606550"/>
            <a:ext cx="10985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逻辑地址</a:t>
            </a:r>
          </a:p>
        </p:txBody>
      </p:sp>
      <p:sp>
        <p:nvSpPr>
          <p:cNvPr id="104460" name="Rectangle 15">
            <a:extLst>
              <a:ext uri="{FF2B5EF4-FFF2-40B4-BE49-F238E27FC236}">
                <a16:creationId xmlns:a16="http://schemas.microsoft.com/office/drawing/2014/main" id="{FED5AF31-CC3D-A747-56C8-FEA564878B00}"/>
              </a:ext>
            </a:extLst>
          </p:cNvPr>
          <p:cNvSpPr>
            <a:spLocks noChangeArrowheads="1"/>
          </p:cNvSpPr>
          <p:nvPr/>
        </p:nvSpPr>
        <p:spPr bwMode="auto">
          <a:xfrm>
            <a:off x="5500688" y="2081213"/>
            <a:ext cx="3248025" cy="515937"/>
          </a:xfrm>
          <a:prstGeom prst="rect">
            <a:avLst/>
          </a:prstGeom>
          <a:solidFill>
            <a:srgbClr val="FFFFFF"/>
          </a:solidFill>
          <a:ln w="28575">
            <a:solidFill>
              <a:srgbClr val="000000"/>
            </a:solidFill>
            <a:miter lim="800000"/>
            <a:headEnd/>
            <a:tailEnd/>
          </a:ln>
        </p:spPr>
        <p:txBody>
          <a:bodyPr lIns="0" tIns="72000" rIns="0" bIns="0"/>
          <a:lstStyle/>
          <a:p>
            <a:pPr algn="just" eaLnBrk="0" hangingPunct="0"/>
            <a:r>
              <a:rPr lang="zh-CN" altLang="en-US" sz="2000">
                <a:latin typeface="Times New Roman" panose="02020603050405020304" pitchFamily="18" charset="0"/>
              </a:rPr>
              <a:t> 页号（2） 页内位移（452）</a:t>
            </a:r>
          </a:p>
        </p:txBody>
      </p:sp>
      <p:sp>
        <p:nvSpPr>
          <p:cNvPr id="104461" name="Line 16">
            <a:extLst>
              <a:ext uri="{FF2B5EF4-FFF2-40B4-BE49-F238E27FC236}">
                <a16:creationId xmlns:a16="http://schemas.microsoft.com/office/drawing/2014/main" id="{5F70B33A-D8F4-9E7B-549B-EB2A0572CA8D}"/>
              </a:ext>
            </a:extLst>
          </p:cNvPr>
          <p:cNvSpPr>
            <a:spLocks noChangeShapeType="1"/>
          </p:cNvSpPr>
          <p:nvPr/>
        </p:nvSpPr>
        <p:spPr bwMode="auto">
          <a:xfrm>
            <a:off x="6691313" y="2081213"/>
            <a:ext cx="0" cy="5016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62" name="Line 17">
            <a:extLst>
              <a:ext uri="{FF2B5EF4-FFF2-40B4-BE49-F238E27FC236}">
                <a16:creationId xmlns:a16="http://schemas.microsoft.com/office/drawing/2014/main" id="{11DDD387-7EBC-B694-1A4F-C79B6B2C7428}"/>
              </a:ext>
            </a:extLst>
          </p:cNvPr>
          <p:cNvSpPr>
            <a:spLocks noChangeShapeType="1"/>
          </p:cNvSpPr>
          <p:nvPr/>
        </p:nvSpPr>
        <p:spPr bwMode="auto">
          <a:xfrm>
            <a:off x="6137275" y="2601913"/>
            <a:ext cx="0" cy="6540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63" name="Line 18">
            <a:extLst>
              <a:ext uri="{FF2B5EF4-FFF2-40B4-BE49-F238E27FC236}">
                <a16:creationId xmlns:a16="http://schemas.microsoft.com/office/drawing/2014/main" id="{58B9E187-8834-9FD1-0232-674DD1B26231}"/>
              </a:ext>
            </a:extLst>
          </p:cNvPr>
          <p:cNvSpPr>
            <a:spLocks noChangeShapeType="1"/>
          </p:cNvSpPr>
          <p:nvPr/>
        </p:nvSpPr>
        <p:spPr bwMode="auto">
          <a:xfrm flipH="1" flipV="1">
            <a:off x="2011363" y="3263900"/>
            <a:ext cx="4148137"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4464" name="Line 19">
            <a:extLst>
              <a:ext uri="{FF2B5EF4-FFF2-40B4-BE49-F238E27FC236}">
                <a16:creationId xmlns:a16="http://schemas.microsoft.com/office/drawing/2014/main" id="{03276960-8F3E-711F-3E80-18C91277383E}"/>
              </a:ext>
            </a:extLst>
          </p:cNvPr>
          <p:cNvSpPr>
            <a:spLocks noChangeShapeType="1"/>
          </p:cNvSpPr>
          <p:nvPr/>
        </p:nvSpPr>
        <p:spPr bwMode="auto">
          <a:xfrm flipH="1" flipV="1">
            <a:off x="4657725" y="2655888"/>
            <a:ext cx="0" cy="59055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4465" name="Rectangle 20">
            <a:extLst>
              <a:ext uri="{FF2B5EF4-FFF2-40B4-BE49-F238E27FC236}">
                <a16:creationId xmlns:a16="http://schemas.microsoft.com/office/drawing/2014/main" id="{4117D21E-FB90-38A0-45FB-44A8A03BC0A2}"/>
              </a:ext>
            </a:extLst>
          </p:cNvPr>
          <p:cNvSpPr>
            <a:spLocks noChangeArrowheads="1"/>
          </p:cNvSpPr>
          <p:nvPr/>
        </p:nvSpPr>
        <p:spPr bwMode="auto">
          <a:xfrm>
            <a:off x="3186113" y="3389313"/>
            <a:ext cx="155098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页号    块号</a:t>
            </a:r>
          </a:p>
        </p:txBody>
      </p:sp>
      <p:sp>
        <p:nvSpPr>
          <p:cNvPr id="104466" name="Rectangle 21">
            <a:extLst>
              <a:ext uri="{FF2B5EF4-FFF2-40B4-BE49-F238E27FC236}">
                <a16:creationId xmlns:a16="http://schemas.microsoft.com/office/drawing/2014/main" id="{EBFD2511-1F15-2E6A-9688-02F395830383}"/>
              </a:ext>
            </a:extLst>
          </p:cNvPr>
          <p:cNvSpPr>
            <a:spLocks noChangeArrowheads="1"/>
          </p:cNvSpPr>
          <p:nvPr/>
        </p:nvSpPr>
        <p:spPr bwMode="auto">
          <a:xfrm>
            <a:off x="3771900" y="3695700"/>
            <a:ext cx="882650" cy="1547813"/>
          </a:xfrm>
          <a:prstGeom prst="rect">
            <a:avLst/>
          </a:prstGeom>
          <a:solidFill>
            <a:srgbClr val="FFFFFF"/>
          </a:solidFill>
          <a:ln w="28575">
            <a:solidFill>
              <a:srgbClr val="000000"/>
            </a:solidFill>
            <a:miter lim="800000"/>
            <a:headEnd/>
            <a:tailEnd/>
          </a:ln>
        </p:spPr>
        <p:txBody>
          <a:bodyPr lIns="0" tIns="0" rIns="0" bIns="0"/>
          <a:lstStyle/>
          <a:p>
            <a:pPr algn="ctr" eaLnBrk="0" hangingPunct="0"/>
            <a:r>
              <a:rPr lang="zh-CN" altLang="en-US" sz="2000">
                <a:latin typeface="Times New Roman" panose="02020603050405020304" pitchFamily="18" charset="0"/>
              </a:rPr>
              <a:t>2</a:t>
            </a:r>
          </a:p>
          <a:p>
            <a:pPr algn="ctr" eaLnBrk="0" hangingPunct="0"/>
            <a:r>
              <a:rPr lang="zh-CN" altLang="en-US" sz="2000">
                <a:latin typeface="Times New Roman" panose="02020603050405020304" pitchFamily="18" charset="0"/>
              </a:rPr>
              <a:t>3</a:t>
            </a:r>
          </a:p>
          <a:p>
            <a:pPr algn="ctr" eaLnBrk="0" hangingPunct="0"/>
            <a:r>
              <a:rPr lang="zh-CN" altLang="en-US" sz="2000">
                <a:latin typeface="Times New Roman" panose="02020603050405020304" pitchFamily="18" charset="0"/>
              </a:rPr>
              <a:t>8</a:t>
            </a:r>
          </a:p>
          <a:p>
            <a:pPr algn="ctr" eaLnBrk="0" hangingPunct="0"/>
            <a:r>
              <a:rPr lang="zh-CN" altLang="en-US" sz="2000">
                <a:latin typeface="Times New Roman" panose="02020603050405020304" pitchFamily="18" charset="0"/>
              </a:rPr>
              <a:t>5</a:t>
            </a:r>
          </a:p>
          <a:p>
            <a:pPr algn="ctr" eaLnBrk="0" hangingPunct="0"/>
            <a:r>
              <a:rPr lang="zh-CN" altLang="en-US" sz="2000">
                <a:latin typeface="Times New Roman" panose="02020603050405020304" pitchFamily="18" charset="0"/>
              </a:rPr>
              <a:t>1</a:t>
            </a:r>
          </a:p>
        </p:txBody>
      </p:sp>
      <p:sp>
        <p:nvSpPr>
          <p:cNvPr id="104467" name="Rectangle 22">
            <a:extLst>
              <a:ext uri="{FF2B5EF4-FFF2-40B4-BE49-F238E27FC236}">
                <a16:creationId xmlns:a16="http://schemas.microsoft.com/office/drawing/2014/main" id="{527D3560-CC24-6C9D-65C4-88DAF89A3470}"/>
              </a:ext>
            </a:extLst>
          </p:cNvPr>
          <p:cNvSpPr>
            <a:spLocks noChangeArrowheads="1"/>
          </p:cNvSpPr>
          <p:nvPr/>
        </p:nvSpPr>
        <p:spPr bwMode="auto">
          <a:xfrm>
            <a:off x="3406775" y="3671888"/>
            <a:ext cx="393700"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0</a:t>
            </a:r>
          </a:p>
          <a:p>
            <a:pPr algn="just" eaLnBrk="0" hangingPunct="0"/>
            <a:r>
              <a:rPr lang="zh-CN" altLang="en-US" sz="2000">
                <a:latin typeface="Times New Roman" panose="02020603050405020304" pitchFamily="18" charset="0"/>
              </a:rPr>
              <a:t>1</a:t>
            </a:r>
          </a:p>
          <a:p>
            <a:pPr algn="just" eaLnBrk="0" hangingPunct="0"/>
            <a:r>
              <a:rPr lang="zh-CN" altLang="en-US" sz="2000">
                <a:latin typeface="Times New Roman" panose="02020603050405020304" pitchFamily="18" charset="0"/>
              </a:rPr>
              <a:t>2</a:t>
            </a:r>
          </a:p>
          <a:p>
            <a:pPr algn="just" eaLnBrk="0" hangingPunct="0"/>
            <a:r>
              <a:rPr lang="zh-CN" altLang="en-US" sz="2000">
                <a:latin typeface="Times New Roman" panose="02020603050405020304" pitchFamily="18" charset="0"/>
              </a:rPr>
              <a:t>3</a:t>
            </a:r>
          </a:p>
          <a:p>
            <a:pPr algn="just" eaLnBrk="0" hangingPunct="0"/>
            <a:r>
              <a:rPr lang="zh-CN" altLang="en-US" sz="2000">
                <a:latin typeface="Times New Roman" panose="02020603050405020304" pitchFamily="18" charset="0"/>
              </a:rPr>
              <a:t>4</a:t>
            </a:r>
          </a:p>
        </p:txBody>
      </p:sp>
      <p:sp>
        <p:nvSpPr>
          <p:cNvPr id="104468" name="Line 23">
            <a:extLst>
              <a:ext uri="{FF2B5EF4-FFF2-40B4-BE49-F238E27FC236}">
                <a16:creationId xmlns:a16="http://schemas.microsoft.com/office/drawing/2014/main" id="{B5A06387-7447-E4B2-CE30-E80B5E8C2DA4}"/>
              </a:ext>
            </a:extLst>
          </p:cNvPr>
          <p:cNvSpPr>
            <a:spLocks noChangeShapeType="1"/>
          </p:cNvSpPr>
          <p:nvPr/>
        </p:nvSpPr>
        <p:spPr bwMode="auto">
          <a:xfrm>
            <a:off x="3795713" y="4633913"/>
            <a:ext cx="8810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69" name="Line 24">
            <a:extLst>
              <a:ext uri="{FF2B5EF4-FFF2-40B4-BE49-F238E27FC236}">
                <a16:creationId xmlns:a16="http://schemas.microsoft.com/office/drawing/2014/main" id="{54EA443F-19AB-AD20-AA9A-2FEBC96D75BB}"/>
              </a:ext>
            </a:extLst>
          </p:cNvPr>
          <p:cNvSpPr>
            <a:spLocks noChangeShapeType="1"/>
          </p:cNvSpPr>
          <p:nvPr/>
        </p:nvSpPr>
        <p:spPr bwMode="auto">
          <a:xfrm>
            <a:off x="3771900" y="4938713"/>
            <a:ext cx="882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70" name="Line 25">
            <a:extLst>
              <a:ext uri="{FF2B5EF4-FFF2-40B4-BE49-F238E27FC236}">
                <a16:creationId xmlns:a16="http://schemas.microsoft.com/office/drawing/2014/main" id="{0F07489A-B8D6-9342-9E52-7873C1DAA146}"/>
              </a:ext>
            </a:extLst>
          </p:cNvPr>
          <p:cNvSpPr>
            <a:spLocks noChangeShapeType="1"/>
          </p:cNvSpPr>
          <p:nvPr/>
        </p:nvSpPr>
        <p:spPr bwMode="auto">
          <a:xfrm>
            <a:off x="3771900" y="4024313"/>
            <a:ext cx="882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71" name="Line 26">
            <a:extLst>
              <a:ext uri="{FF2B5EF4-FFF2-40B4-BE49-F238E27FC236}">
                <a16:creationId xmlns:a16="http://schemas.microsoft.com/office/drawing/2014/main" id="{81E45CCE-8F97-415E-75E6-5AD61974D7C0}"/>
              </a:ext>
            </a:extLst>
          </p:cNvPr>
          <p:cNvSpPr>
            <a:spLocks noChangeShapeType="1"/>
          </p:cNvSpPr>
          <p:nvPr/>
        </p:nvSpPr>
        <p:spPr bwMode="auto">
          <a:xfrm>
            <a:off x="3771900" y="4329113"/>
            <a:ext cx="882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72" name="Line 27">
            <a:extLst>
              <a:ext uri="{FF2B5EF4-FFF2-40B4-BE49-F238E27FC236}">
                <a16:creationId xmlns:a16="http://schemas.microsoft.com/office/drawing/2014/main" id="{BBA05DC0-8FEA-7451-4BB5-BE5A1B801AFB}"/>
              </a:ext>
            </a:extLst>
          </p:cNvPr>
          <p:cNvSpPr>
            <a:spLocks noChangeShapeType="1"/>
          </p:cNvSpPr>
          <p:nvPr/>
        </p:nvSpPr>
        <p:spPr bwMode="auto">
          <a:xfrm>
            <a:off x="1714500" y="3505200"/>
            <a:ext cx="0" cy="8413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73" name="Rectangle 28">
            <a:extLst>
              <a:ext uri="{FF2B5EF4-FFF2-40B4-BE49-F238E27FC236}">
                <a16:creationId xmlns:a16="http://schemas.microsoft.com/office/drawing/2014/main" id="{9B6B09E8-DF90-53B3-7C4B-AD46A8C47C98}"/>
              </a:ext>
            </a:extLst>
          </p:cNvPr>
          <p:cNvSpPr>
            <a:spLocks noChangeArrowheads="1"/>
          </p:cNvSpPr>
          <p:nvPr/>
        </p:nvSpPr>
        <p:spPr bwMode="auto">
          <a:xfrm>
            <a:off x="6154738" y="4279900"/>
            <a:ext cx="1658937" cy="420688"/>
          </a:xfrm>
          <a:prstGeom prst="rect">
            <a:avLst/>
          </a:prstGeom>
          <a:solidFill>
            <a:srgbClr val="FFFFFF"/>
          </a:solidFill>
          <a:ln w="28575">
            <a:solidFill>
              <a:srgbClr val="000000"/>
            </a:solidFill>
            <a:miter lim="800000"/>
            <a:headEnd/>
            <a:tailEnd/>
          </a:ln>
        </p:spPr>
        <p:txBody>
          <a:bodyPr lIns="72000" tIns="72000" rIns="0" bIns="0"/>
          <a:lstStyle/>
          <a:p>
            <a:pPr algn="just" eaLnBrk="0" hangingPunct="0"/>
            <a:r>
              <a:rPr lang="zh-CN" altLang="en-US" sz="2000">
                <a:latin typeface="Times New Roman" panose="02020603050405020304" pitchFamily="18" charset="0"/>
              </a:rPr>
              <a:t>     8        452</a:t>
            </a:r>
          </a:p>
        </p:txBody>
      </p:sp>
      <p:sp>
        <p:nvSpPr>
          <p:cNvPr id="104474" name="Line 29">
            <a:extLst>
              <a:ext uri="{FF2B5EF4-FFF2-40B4-BE49-F238E27FC236}">
                <a16:creationId xmlns:a16="http://schemas.microsoft.com/office/drawing/2014/main" id="{E62E9AE1-28B5-65D0-65C6-0CA6095C0B57}"/>
              </a:ext>
            </a:extLst>
          </p:cNvPr>
          <p:cNvSpPr>
            <a:spLocks noChangeShapeType="1"/>
          </p:cNvSpPr>
          <p:nvPr/>
        </p:nvSpPr>
        <p:spPr bwMode="auto">
          <a:xfrm>
            <a:off x="6915150" y="4279900"/>
            <a:ext cx="0" cy="4206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75" name="Line 30">
            <a:extLst>
              <a:ext uri="{FF2B5EF4-FFF2-40B4-BE49-F238E27FC236}">
                <a16:creationId xmlns:a16="http://schemas.microsoft.com/office/drawing/2014/main" id="{6722E4D8-5596-6466-B68D-1772BBCB26B6}"/>
              </a:ext>
            </a:extLst>
          </p:cNvPr>
          <p:cNvSpPr>
            <a:spLocks noChangeShapeType="1"/>
          </p:cNvSpPr>
          <p:nvPr/>
        </p:nvSpPr>
        <p:spPr bwMode="auto">
          <a:xfrm flipV="1">
            <a:off x="4659313" y="4438650"/>
            <a:ext cx="1498600"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4476" name="Line 31">
            <a:extLst>
              <a:ext uri="{FF2B5EF4-FFF2-40B4-BE49-F238E27FC236}">
                <a16:creationId xmlns:a16="http://schemas.microsoft.com/office/drawing/2014/main" id="{3FACC316-0E32-274F-5926-5BA0F1CECB83}"/>
              </a:ext>
            </a:extLst>
          </p:cNvPr>
          <p:cNvSpPr>
            <a:spLocks noChangeShapeType="1"/>
          </p:cNvSpPr>
          <p:nvPr/>
        </p:nvSpPr>
        <p:spPr bwMode="auto">
          <a:xfrm>
            <a:off x="7339013" y="2601913"/>
            <a:ext cx="0" cy="1704975"/>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4477" name="Rectangle 32">
            <a:extLst>
              <a:ext uri="{FF2B5EF4-FFF2-40B4-BE49-F238E27FC236}">
                <a16:creationId xmlns:a16="http://schemas.microsoft.com/office/drawing/2014/main" id="{27EC666B-6CC8-BAB5-77E3-55DD7C1E3B15}"/>
              </a:ext>
            </a:extLst>
          </p:cNvPr>
          <p:cNvSpPr>
            <a:spLocks noChangeArrowheads="1"/>
          </p:cNvSpPr>
          <p:nvPr/>
        </p:nvSpPr>
        <p:spPr bwMode="auto">
          <a:xfrm>
            <a:off x="6445250" y="4926013"/>
            <a:ext cx="11604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物理地址</a:t>
            </a:r>
          </a:p>
        </p:txBody>
      </p:sp>
      <p:sp>
        <p:nvSpPr>
          <p:cNvPr id="104478" name="Rectangle 33">
            <a:extLst>
              <a:ext uri="{FF2B5EF4-FFF2-40B4-BE49-F238E27FC236}">
                <a16:creationId xmlns:a16="http://schemas.microsoft.com/office/drawing/2014/main" id="{BAD95FD7-6FE3-B2E1-4478-73E49DA53603}"/>
              </a:ext>
            </a:extLst>
          </p:cNvPr>
          <p:cNvSpPr>
            <a:spLocks noChangeArrowheads="1"/>
          </p:cNvSpPr>
          <p:nvPr/>
        </p:nvSpPr>
        <p:spPr bwMode="auto">
          <a:xfrm>
            <a:off x="3997325" y="5287963"/>
            <a:ext cx="5603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页表</a:t>
            </a:r>
          </a:p>
        </p:txBody>
      </p:sp>
      <p:sp>
        <p:nvSpPr>
          <p:cNvPr id="104479" name="Line 34">
            <a:extLst>
              <a:ext uri="{FF2B5EF4-FFF2-40B4-BE49-F238E27FC236}">
                <a16:creationId xmlns:a16="http://schemas.microsoft.com/office/drawing/2014/main" id="{A06BBBCA-46C9-9768-CEB2-45F37E9A7512}"/>
              </a:ext>
            </a:extLst>
          </p:cNvPr>
          <p:cNvSpPr>
            <a:spLocks noChangeShapeType="1"/>
          </p:cNvSpPr>
          <p:nvPr/>
        </p:nvSpPr>
        <p:spPr bwMode="auto">
          <a:xfrm>
            <a:off x="3333750" y="2362200"/>
            <a:ext cx="1082675"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45444" name="AutoShape 36">
            <a:extLst>
              <a:ext uri="{FF2B5EF4-FFF2-40B4-BE49-F238E27FC236}">
                <a16:creationId xmlns:a16="http://schemas.microsoft.com/office/drawing/2014/main" id="{EF5D1E78-2061-D7FF-C93B-FC327CC7BAC0}"/>
              </a:ext>
            </a:extLst>
          </p:cNvPr>
          <p:cNvSpPr>
            <a:spLocks noChangeArrowheads="1"/>
          </p:cNvSpPr>
          <p:nvPr/>
        </p:nvSpPr>
        <p:spPr bwMode="auto">
          <a:xfrm>
            <a:off x="179388" y="5876925"/>
            <a:ext cx="5184775" cy="863600"/>
          </a:xfrm>
          <a:prstGeom prst="wedgeEllipseCallout">
            <a:avLst>
              <a:gd name="adj1" fmla="val 10870"/>
              <a:gd name="adj2" fmla="val -117648"/>
            </a:avLst>
          </a:prstGeom>
          <a:solidFill>
            <a:srgbClr val="D0F6FF"/>
          </a:solidFill>
          <a:ln w="28575">
            <a:solidFill>
              <a:srgbClr val="000000"/>
            </a:solidFill>
            <a:miter lim="800000"/>
            <a:headEnd/>
            <a:tailEnd type="none" w="sm" len="med"/>
          </a:ln>
        </p:spPr>
        <p:txBody>
          <a:bodyPr lIns="0" tIns="0" rIns="0" bIns="0"/>
          <a:lstStyle/>
          <a:p>
            <a:pPr algn="ctr"/>
            <a:r>
              <a:rPr lang="zh-CN" altLang="en-US" sz="2800" b="1" dirty="0">
                <a:solidFill>
                  <a:srgbClr val="0070C0"/>
                </a:solidFill>
              </a:rPr>
              <a:t>注意这里的页号字段？</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5444"/>
                                        </p:tgtEl>
                                        <p:attrNameLst>
                                          <p:attrName>style.visibility</p:attrName>
                                        </p:attrNameLst>
                                      </p:cBhvr>
                                      <p:to>
                                        <p:strVal val="visible"/>
                                      </p:to>
                                    </p:set>
                                    <p:anim calcmode="lin" valueType="num">
                                      <p:cBhvr additive="base">
                                        <p:cTn id="7" dur="500" fill="hold"/>
                                        <p:tgtEl>
                                          <p:spTgt spid="145444"/>
                                        </p:tgtEl>
                                        <p:attrNameLst>
                                          <p:attrName>ppt_x</p:attrName>
                                        </p:attrNameLst>
                                      </p:cBhvr>
                                      <p:tavLst>
                                        <p:tav tm="0">
                                          <p:val>
                                            <p:strVal val="#ppt_x"/>
                                          </p:val>
                                        </p:tav>
                                        <p:tav tm="100000">
                                          <p:val>
                                            <p:strVal val="#ppt_x"/>
                                          </p:val>
                                        </p:tav>
                                      </p:tavLst>
                                    </p:anim>
                                    <p:anim calcmode="lin" valueType="num">
                                      <p:cBhvr additive="base">
                                        <p:cTn id="8" dur="500" fill="hold"/>
                                        <p:tgtEl>
                                          <p:spTgt spid="1454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44"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655FF6A7-BF85-55AC-B66D-009D9F849CCD}"/>
              </a:ext>
            </a:extLst>
          </p:cNvPr>
          <p:cNvSpPr>
            <a:spLocks noGrp="1" noChangeArrowheads="1"/>
          </p:cNvSpPr>
          <p:nvPr>
            <p:ph type="title"/>
          </p:nvPr>
        </p:nvSpPr>
        <p:spPr>
          <a:xfrm>
            <a:off x="1042988" y="225431"/>
            <a:ext cx="7850187" cy="746125"/>
          </a:xfrm>
        </p:spPr>
        <p:txBody>
          <a:bodyPr/>
          <a:lstStyle/>
          <a:p>
            <a:r>
              <a:rPr lang="zh-CN" altLang="en-US" dirty="0"/>
              <a:t>分页地址变换示例</a:t>
            </a:r>
          </a:p>
        </p:txBody>
      </p:sp>
      <p:sp>
        <p:nvSpPr>
          <p:cNvPr id="146435" name="Rectangle 3">
            <a:extLst>
              <a:ext uri="{FF2B5EF4-FFF2-40B4-BE49-F238E27FC236}">
                <a16:creationId xmlns:a16="http://schemas.microsoft.com/office/drawing/2014/main" id="{95532075-6098-99AD-5F2E-F54DC6FBB532}"/>
              </a:ext>
            </a:extLst>
          </p:cNvPr>
          <p:cNvSpPr>
            <a:spLocks noGrp="1" noChangeArrowheads="1"/>
          </p:cNvSpPr>
          <p:nvPr>
            <p:ph idx="1"/>
          </p:nvPr>
        </p:nvSpPr>
        <p:spPr>
          <a:xfrm>
            <a:off x="935038" y="1233488"/>
            <a:ext cx="7772400" cy="4895850"/>
          </a:xfrm>
        </p:spPr>
        <p:txBody>
          <a:bodyPr/>
          <a:lstStyle/>
          <a:p>
            <a:r>
              <a:rPr lang="zh-CN" altLang="en-US"/>
              <a:t>设页面大小为1</a:t>
            </a:r>
            <a:r>
              <a:rPr lang="en-US" altLang="zh-CN"/>
              <a:t>K</a:t>
            </a:r>
            <a:r>
              <a:rPr lang="zh-CN" altLang="en-US"/>
              <a:t>字节，作业的0、1、2页分别存放在第2、3、8块中。则逻辑地址2500的页号及页内地址为：</a:t>
            </a:r>
          </a:p>
          <a:p>
            <a:r>
              <a:rPr lang="zh-CN" altLang="en-US"/>
              <a:t>2500/1024=2（页号）；2500 %1024＝452（页内地址）；</a:t>
            </a:r>
          </a:p>
          <a:p>
            <a:r>
              <a:rPr lang="zh-CN" altLang="en-US"/>
              <a:t>查页表可知第2页对应的物理块号为8；</a:t>
            </a:r>
          </a:p>
          <a:p>
            <a:r>
              <a:rPr lang="zh-CN" altLang="en-US"/>
              <a:t>将块号8与页内地址452拼接得到物理地址为：8×1024＋452＝8644。</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Effect transition="in" filter="checkerboard(across)">
                                      <p:cBhvr>
                                        <p:cTn id="7" dur="500"/>
                                        <p:tgtEl>
                                          <p:spTgt spid="146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46435">
                                            <p:txEl>
                                              <p:pRg st="1" end="1"/>
                                            </p:txEl>
                                          </p:spTgt>
                                        </p:tgtEl>
                                        <p:attrNameLst>
                                          <p:attrName>style.visibility</p:attrName>
                                        </p:attrNameLst>
                                      </p:cBhvr>
                                      <p:to>
                                        <p:strVal val="visible"/>
                                      </p:to>
                                    </p:set>
                                    <p:animEffect transition="in" filter="checkerboard(across)">
                                      <p:cBhvr>
                                        <p:cTn id="12" dur="500"/>
                                        <p:tgtEl>
                                          <p:spTgt spid="146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46435">
                                            <p:txEl>
                                              <p:pRg st="2" end="2"/>
                                            </p:txEl>
                                          </p:spTgt>
                                        </p:tgtEl>
                                        <p:attrNameLst>
                                          <p:attrName>style.visibility</p:attrName>
                                        </p:attrNameLst>
                                      </p:cBhvr>
                                      <p:to>
                                        <p:strVal val="visible"/>
                                      </p:to>
                                    </p:set>
                                    <p:animEffect transition="in" filter="checkerboard(across)">
                                      <p:cBhvr>
                                        <p:cTn id="17" dur="500"/>
                                        <p:tgtEl>
                                          <p:spTgt spid="1464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46435">
                                            <p:txEl>
                                              <p:pRg st="3" end="3"/>
                                            </p:txEl>
                                          </p:spTgt>
                                        </p:tgtEl>
                                        <p:attrNameLst>
                                          <p:attrName>style.visibility</p:attrName>
                                        </p:attrNameLst>
                                      </p:cBhvr>
                                      <p:to>
                                        <p:strVal val="visible"/>
                                      </p:to>
                                    </p:set>
                                    <p:animEffect transition="in" filter="checkerboard(across)">
                                      <p:cBhvr>
                                        <p:cTn id="22" dur="500"/>
                                        <p:tgtEl>
                                          <p:spTgt spid="146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E0185314-9D92-1A1B-41E7-92830960F4A5}"/>
              </a:ext>
            </a:extLst>
          </p:cNvPr>
          <p:cNvSpPr>
            <a:spLocks noGrp="1" noChangeArrowheads="1"/>
          </p:cNvSpPr>
          <p:nvPr>
            <p:ph type="title"/>
          </p:nvPr>
        </p:nvSpPr>
        <p:spPr>
          <a:xfrm>
            <a:off x="1042988" y="225431"/>
            <a:ext cx="7850187" cy="746125"/>
          </a:xfrm>
        </p:spPr>
        <p:txBody>
          <a:bodyPr/>
          <a:lstStyle/>
          <a:p>
            <a:r>
              <a:rPr lang="zh-CN" altLang="en-US" dirty="0"/>
              <a:t>地址变换示例</a:t>
            </a:r>
          </a:p>
        </p:txBody>
      </p:sp>
      <p:sp>
        <p:nvSpPr>
          <p:cNvPr id="147459" name="Rectangle 3">
            <a:extLst>
              <a:ext uri="{FF2B5EF4-FFF2-40B4-BE49-F238E27FC236}">
                <a16:creationId xmlns:a16="http://schemas.microsoft.com/office/drawing/2014/main" id="{782BF943-FA07-6041-5192-3A506348C13B}"/>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a:t>一分页系统中逻辑地址长度为16位，页面大小为1</a:t>
            </a:r>
            <a:r>
              <a:rPr lang="en-US" altLang="zh-CN"/>
              <a:t>KB</a:t>
            </a:r>
            <a:r>
              <a:rPr lang="zh-CN" altLang="en-US"/>
              <a:t>，且第0、1、2、3页依次存放在物理块3、7、11、10中。现有一逻辑地址0</a:t>
            </a:r>
            <a:r>
              <a:rPr lang="en-US" altLang="zh-CN"/>
              <a:t>A6FH，</a:t>
            </a:r>
            <a:r>
              <a:rPr lang="zh-CN" altLang="en-US"/>
              <a:t>其二进制表示如下：</a:t>
            </a:r>
          </a:p>
          <a:p>
            <a:pPr lvl="1"/>
            <a:r>
              <a:rPr lang="zh-CN" altLang="en-US"/>
              <a:t>页号      页内地址</a:t>
            </a:r>
          </a:p>
          <a:p>
            <a:pPr lvl="1"/>
            <a:r>
              <a:rPr lang="zh-CN" altLang="en-US"/>
              <a:t>000010  1001101111 </a:t>
            </a:r>
          </a:p>
          <a:p>
            <a:r>
              <a:rPr lang="zh-CN" altLang="en-US"/>
              <a:t>由此可知逻辑地址0</a:t>
            </a:r>
            <a:r>
              <a:rPr lang="en-US" altLang="zh-CN"/>
              <a:t>A6FH</a:t>
            </a:r>
            <a:r>
              <a:rPr lang="zh-CN" altLang="en-US"/>
              <a:t>的页号为2，该页存放在第11号物理块中，用十六进制表示块号为</a:t>
            </a:r>
            <a:r>
              <a:rPr lang="en-US" altLang="zh-CN"/>
              <a:t>B，</a:t>
            </a:r>
            <a:r>
              <a:rPr lang="zh-CN" altLang="en-US"/>
              <a:t>所以物理地址为：</a:t>
            </a:r>
          </a:p>
          <a:p>
            <a:r>
              <a:rPr lang="zh-CN" altLang="en-US"/>
              <a:t> 1011   1001101111 ，即2</a:t>
            </a:r>
            <a:r>
              <a:rPr lang="en-US" altLang="zh-CN"/>
              <a:t>E6FH。</a:t>
            </a:r>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Effect transition="in" filter="checkerboard(across)">
                                      <p:cBhvr>
                                        <p:cTn id="7" dur="500"/>
                                        <p:tgtEl>
                                          <p:spTgt spid="147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47459">
                                            <p:txEl>
                                              <p:pRg st="1" end="1"/>
                                            </p:txEl>
                                          </p:spTgt>
                                        </p:tgtEl>
                                        <p:attrNameLst>
                                          <p:attrName>style.visibility</p:attrName>
                                        </p:attrNameLst>
                                      </p:cBhvr>
                                      <p:to>
                                        <p:strVal val="visible"/>
                                      </p:to>
                                    </p:set>
                                    <p:animEffect transition="in" filter="checkerboard(across)">
                                      <p:cBhvr>
                                        <p:cTn id="12" dur="500"/>
                                        <p:tgtEl>
                                          <p:spTgt spid="147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47459">
                                            <p:txEl>
                                              <p:pRg st="2" end="2"/>
                                            </p:txEl>
                                          </p:spTgt>
                                        </p:tgtEl>
                                        <p:attrNameLst>
                                          <p:attrName>style.visibility</p:attrName>
                                        </p:attrNameLst>
                                      </p:cBhvr>
                                      <p:to>
                                        <p:strVal val="visible"/>
                                      </p:to>
                                    </p:set>
                                    <p:animEffect transition="in" filter="checkerboard(across)">
                                      <p:cBhvr>
                                        <p:cTn id="17" dur="500"/>
                                        <p:tgtEl>
                                          <p:spTgt spid="1474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47459">
                                            <p:txEl>
                                              <p:pRg st="3" end="3"/>
                                            </p:txEl>
                                          </p:spTgt>
                                        </p:tgtEl>
                                        <p:attrNameLst>
                                          <p:attrName>style.visibility</p:attrName>
                                        </p:attrNameLst>
                                      </p:cBhvr>
                                      <p:to>
                                        <p:strVal val="visible"/>
                                      </p:to>
                                    </p:set>
                                    <p:animEffect transition="in" filter="checkerboard(across)">
                                      <p:cBhvr>
                                        <p:cTn id="22" dur="500"/>
                                        <p:tgtEl>
                                          <p:spTgt spid="1474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47459">
                                            <p:txEl>
                                              <p:pRg st="4" end="4"/>
                                            </p:txEl>
                                          </p:spTgt>
                                        </p:tgtEl>
                                        <p:attrNameLst>
                                          <p:attrName>style.visibility</p:attrName>
                                        </p:attrNameLst>
                                      </p:cBhvr>
                                      <p:to>
                                        <p:strVal val="visible"/>
                                      </p:to>
                                    </p:set>
                                    <p:animEffect transition="in" filter="checkerboard(across)">
                                      <p:cBhvr>
                                        <p:cTn id="27" dur="500"/>
                                        <p:tgtEl>
                                          <p:spTgt spid="147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763CA170-2B56-A011-9E11-E63EA737C0EA}"/>
              </a:ext>
            </a:extLst>
          </p:cNvPr>
          <p:cNvSpPr>
            <a:spLocks noGrp="1" noChangeArrowheads="1"/>
          </p:cNvSpPr>
          <p:nvPr>
            <p:ph type="title"/>
          </p:nvPr>
        </p:nvSpPr>
        <p:spPr>
          <a:xfrm>
            <a:off x="1042988" y="225431"/>
            <a:ext cx="7850187" cy="746125"/>
          </a:xfrm>
        </p:spPr>
        <p:txBody>
          <a:bodyPr/>
          <a:lstStyle/>
          <a:p>
            <a:r>
              <a:rPr lang="zh-CN" altLang="en-US"/>
              <a:t>具有快表的地址变换机构</a:t>
            </a:r>
          </a:p>
        </p:txBody>
      </p:sp>
      <p:sp>
        <p:nvSpPr>
          <p:cNvPr id="288771" name="Rectangle 3">
            <a:extLst>
              <a:ext uri="{FF2B5EF4-FFF2-40B4-BE49-F238E27FC236}">
                <a16:creationId xmlns:a16="http://schemas.microsoft.com/office/drawing/2014/main" id="{0FEBA517-6CFD-E266-3A80-0903B7432D41}"/>
              </a:ext>
            </a:extLst>
          </p:cNvPr>
          <p:cNvSpPr>
            <a:spLocks noGrp="1" noChangeArrowheads="1"/>
          </p:cNvSpPr>
          <p:nvPr>
            <p:ph idx="1"/>
          </p:nvPr>
        </p:nvSpPr>
        <p:spPr>
          <a:xfrm>
            <a:off x="935038" y="1233488"/>
            <a:ext cx="7772400" cy="4895850"/>
          </a:xfrm>
        </p:spPr>
        <p:txBody>
          <a:bodyPr/>
          <a:lstStyle/>
          <a:p>
            <a:r>
              <a:rPr lang="zh-CN" altLang="en-US"/>
              <a:t>为了提高地址变换速度，可在地址变换机构中增设一个具有并行查找能力的高速缓冲存储器，又称联想存储器</a:t>
            </a:r>
            <a:r>
              <a:rPr lang="en-US" altLang="zh-CN"/>
              <a:t>(associative memory)</a:t>
            </a:r>
            <a:r>
              <a:rPr lang="zh-CN" altLang="en-US"/>
              <a:t>或快表，用以存放当前访问的那些页表项。 </a:t>
            </a:r>
          </a:p>
          <a:p>
            <a:r>
              <a:rPr lang="en-US" altLang="zh-CN"/>
              <a:t>TLB</a:t>
            </a:r>
            <a:r>
              <a:rPr lang="zh-CN" altLang="en-US"/>
              <a:t>（</a:t>
            </a:r>
            <a:r>
              <a:rPr lang="en-US" altLang="zh-CN"/>
              <a:t>translation look-aside buffer</a:t>
            </a:r>
            <a:r>
              <a:rPr lang="zh-CN" altLang="en-US"/>
              <a:t>）：转换后备缓冲区，即快表。</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88771">
                                            <p:txEl>
                                              <p:pRg st="0" end="0"/>
                                            </p:txEl>
                                          </p:spTgt>
                                        </p:tgtEl>
                                        <p:attrNameLst>
                                          <p:attrName>style.visibility</p:attrName>
                                        </p:attrNameLst>
                                      </p:cBhvr>
                                      <p:to>
                                        <p:strVal val="visible"/>
                                      </p:to>
                                    </p:set>
                                    <p:animEffect transition="in" filter="checkerboard(across)">
                                      <p:cBhvr>
                                        <p:cTn id="7" dur="500"/>
                                        <p:tgtEl>
                                          <p:spTgt spid="288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88771">
                                            <p:txEl>
                                              <p:pRg st="1" end="1"/>
                                            </p:txEl>
                                          </p:spTgt>
                                        </p:tgtEl>
                                        <p:attrNameLst>
                                          <p:attrName>style.visibility</p:attrName>
                                        </p:attrNameLst>
                                      </p:cBhvr>
                                      <p:to>
                                        <p:strVal val="visible"/>
                                      </p:to>
                                    </p:set>
                                    <p:animEffect transition="in" filter="checkerboard(across)">
                                      <p:cBhvr>
                                        <p:cTn id="12" dur="500"/>
                                        <p:tgtEl>
                                          <p:spTgt spid="2887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1"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47E5E7ED-2E46-69C5-686B-F1D668A8599B}"/>
              </a:ext>
            </a:extLst>
          </p:cNvPr>
          <p:cNvSpPr>
            <a:spLocks noGrp="1" noChangeArrowheads="1"/>
          </p:cNvSpPr>
          <p:nvPr>
            <p:ph type="title"/>
          </p:nvPr>
        </p:nvSpPr>
        <p:spPr>
          <a:xfrm>
            <a:off x="1042988" y="225431"/>
            <a:ext cx="7850187" cy="746125"/>
          </a:xfrm>
        </p:spPr>
        <p:txBody>
          <a:bodyPr/>
          <a:lstStyle/>
          <a:p>
            <a:r>
              <a:rPr lang="zh-CN" altLang="en-US"/>
              <a:t>引入快表后的地址变换过程</a:t>
            </a:r>
          </a:p>
        </p:txBody>
      </p:sp>
      <p:sp>
        <p:nvSpPr>
          <p:cNvPr id="289795" name="Rectangle 3">
            <a:extLst>
              <a:ext uri="{FF2B5EF4-FFF2-40B4-BE49-F238E27FC236}">
                <a16:creationId xmlns:a16="http://schemas.microsoft.com/office/drawing/2014/main" id="{24ED1B5B-308C-25B4-F2B7-CE96C5B28615}"/>
              </a:ext>
            </a:extLst>
          </p:cNvPr>
          <p:cNvSpPr>
            <a:spLocks noGrp="1" noChangeArrowheads="1"/>
          </p:cNvSpPr>
          <p:nvPr>
            <p:ph idx="1"/>
          </p:nvPr>
        </p:nvSpPr>
        <p:spPr>
          <a:xfrm>
            <a:off x="935038" y="1233488"/>
            <a:ext cx="7772400" cy="4895850"/>
          </a:xfrm>
        </p:spPr>
        <p:txBody>
          <a:bodyPr>
            <a:normAutofit lnSpcReduction="10000"/>
          </a:bodyPr>
          <a:lstStyle/>
          <a:p>
            <a:r>
              <a:rPr lang="zh-CN" altLang="en-US"/>
              <a:t>地址变换机构自动将页号与快表中的所有页号进行并行比较，若其中有与此匹配的页号，则取出该页对应的块号，与页内地址拼接形成物理地址。</a:t>
            </a:r>
          </a:p>
          <a:p>
            <a:r>
              <a:rPr lang="zh-CN" altLang="en-US"/>
              <a:t>若页号不在快表中，则再到主存页表中取出物理块号，与页内地址拼接形成物理地址。</a:t>
            </a:r>
          </a:p>
          <a:p>
            <a:r>
              <a:rPr lang="zh-CN" altLang="en-US"/>
              <a:t>同时还应将这次所查到的页表项存入快表中，若快表已满，则必须按某种原则淘汰出一个表项以腾出位置。</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89795">
                                            <p:txEl>
                                              <p:pRg st="0" end="0"/>
                                            </p:txEl>
                                          </p:spTgt>
                                        </p:tgtEl>
                                        <p:attrNameLst>
                                          <p:attrName>style.visibility</p:attrName>
                                        </p:attrNameLst>
                                      </p:cBhvr>
                                      <p:to>
                                        <p:strVal val="visible"/>
                                      </p:to>
                                    </p:set>
                                    <p:animEffect transition="in" filter="checkerboard(across)">
                                      <p:cBhvr>
                                        <p:cTn id="7" dur="500"/>
                                        <p:tgtEl>
                                          <p:spTgt spid="289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89795">
                                            <p:txEl>
                                              <p:pRg st="1" end="1"/>
                                            </p:txEl>
                                          </p:spTgt>
                                        </p:tgtEl>
                                        <p:attrNameLst>
                                          <p:attrName>style.visibility</p:attrName>
                                        </p:attrNameLst>
                                      </p:cBhvr>
                                      <p:to>
                                        <p:strVal val="visible"/>
                                      </p:to>
                                    </p:set>
                                    <p:animEffect transition="in" filter="checkerboard(across)">
                                      <p:cBhvr>
                                        <p:cTn id="12" dur="500"/>
                                        <p:tgtEl>
                                          <p:spTgt spid="289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89795">
                                            <p:txEl>
                                              <p:pRg st="2" end="2"/>
                                            </p:txEl>
                                          </p:spTgt>
                                        </p:tgtEl>
                                        <p:attrNameLst>
                                          <p:attrName>style.visibility</p:attrName>
                                        </p:attrNameLst>
                                      </p:cBhvr>
                                      <p:to>
                                        <p:strVal val="visible"/>
                                      </p:to>
                                    </p:set>
                                    <p:animEffect transition="in" filter="checkerboard(across)">
                                      <p:cBhvr>
                                        <p:cTn id="17" dur="500"/>
                                        <p:tgtEl>
                                          <p:spTgt spid="2897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5" grpId="0" build="p"/>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22DFB8A6-B63D-BD9B-BF35-D12B87CCD2E6}"/>
              </a:ext>
            </a:extLst>
          </p:cNvPr>
          <p:cNvSpPr>
            <a:spLocks noGrp="1" noChangeArrowheads="1"/>
          </p:cNvSpPr>
          <p:nvPr>
            <p:ph type="title"/>
          </p:nvPr>
        </p:nvSpPr>
        <p:spPr/>
        <p:txBody>
          <a:bodyPr/>
          <a:lstStyle/>
          <a:p>
            <a:pPr eaLnBrk="1" hangingPunct="1"/>
            <a:r>
              <a:rPr lang="zh-CN" altLang="en-US"/>
              <a:t>具有联想存储器的地址变换</a:t>
            </a:r>
          </a:p>
        </p:txBody>
      </p:sp>
      <p:grpSp>
        <p:nvGrpSpPr>
          <p:cNvPr id="110594" name="Group 55">
            <a:extLst>
              <a:ext uri="{FF2B5EF4-FFF2-40B4-BE49-F238E27FC236}">
                <a16:creationId xmlns:a16="http://schemas.microsoft.com/office/drawing/2014/main" id="{4A373914-F3F3-CE24-16F7-2C617D17D4BB}"/>
              </a:ext>
            </a:extLst>
          </p:cNvPr>
          <p:cNvGrpSpPr>
            <a:grpSpLocks/>
          </p:cNvGrpSpPr>
          <p:nvPr/>
        </p:nvGrpSpPr>
        <p:grpSpPr bwMode="auto">
          <a:xfrm>
            <a:off x="949325" y="1196975"/>
            <a:ext cx="7585075" cy="4267200"/>
            <a:chOff x="598" y="960"/>
            <a:chExt cx="4778" cy="2688"/>
          </a:xfrm>
        </p:grpSpPr>
        <p:sp>
          <p:nvSpPr>
            <p:cNvPr id="110595" name="Line 5">
              <a:extLst>
                <a:ext uri="{FF2B5EF4-FFF2-40B4-BE49-F238E27FC236}">
                  <a16:creationId xmlns:a16="http://schemas.microsoft.com/office/drawing/2014/main" id="{38401EE1-CAB4-2A30-9795-398E059CD278}"/>
                </a:ext>
              </a:extLst>
            </p:cNvPr>
            <p:cNvSpPr>
              <a:spLocks noChangeShapeType="1"/>
            </p:cNvSpPr>
            <p:nvPr/>
          </p:nvSpPr>
          <p:spPr bwMode="auto">
            <a:xfrm>
              <a:off x="998" y="2916"/>
              <a:ext cx="680"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596" name="Rectangle 6">
              <a:extLst>
                <a:ext uri="{FF2B5EF4-FFF2-40B4-BE49-F238E27FC236}">
                  <a16:creationId xmlns:a16="http://schemas.microsoft.com/office/drawing/2014/main" id="{62FD4505-0F4B-A931-0FE2-3DF7AA83F12C}"/>
                </a:ext>
              </a:extLst>
            </p:cNvPr>
            <p:cNvSpPr>
              <a:spLocks noChangeArrowheads="1"/>
            </p:cNvSpPr>
            <p:nvPr/>
          </p:nvSpPr>
          <p:spPr bwMode="auto">
            <a:xfrm>
              <a:off x="885" y="1056"/>
              <a:ext cx="891"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页表寄存器</a:t>
              </a:r>
            </a:p>
          </p:txBody>
        </p:sp>
        <p:sp>
          <p:nvSpPr>
            <p:cNvPr id="110597" name="Rectangle 7">
              <a:extLst>
                <a:ext uri="{FF2B5EF4-FFF2-40B4-BE49-F238E27FC236}">
                  <a16:creationId xmlns:a16="http://schemas.microsoft.com/office/drawing/2014/main" id="{92556DB0-5EE9-F8C7-CC37-D4755D1C730C}"/>
                </a:ext>
              </a:extLst>
            </p:cNvPr>
            <p:cNvSpPr>
              <a:spLocks noChangeArrowheads="1"/>
            </p:cNvSpPr>
            <p:nvPr/>
          </p:nvSpPr>
          <p:spPr bwMode="auto">
            <a:xfrm>
              <a:off x="598" y="1313"/>
              <a:ext cx="1562" cy="276"/>
            </a:xfrm>
            <a:prstGeom prst="rect">
              <a:avLst/>
            </a:prstGeom>
            <a:solidFill>
              <a:srgbClr val="FFFFFF"/>
            </a:solidFill>
            <a:ln w="28575">
              <a:solidFill>
                <a:srgbClr val="000000"/>
              </a:solidFill>
              <a:miter lim="800000"/>
              <a:headEnd/>
              <a:tailEnd/>
            </a:ln>
          </p:spPr>
          <p:txBody>
            <a:bodyPr lIns="72000" tIns="72000" rIns="0" bIns="0"/>
            <a:lstStyle/>
            <a:p>
              <a:pPr algn="just" eaLnBrk="0" hangingPunct="0"/>
              <a:r>
                <a:rPr lang="zh-CN" altLang="en-US" sz="2000">
                  <a:latin typeface="Times New Roman" panose="02020603050405020304" pitchFamily="18" charset="0"/>
                </a:rPr>
                <a:t> 页表始址   页表长度</a:t>
              </a:r>
            </a:p>
          </p:txBody>
        </p:sp>
        <p:sp>
          <p:nvSpPr>
            <p:cNvPr id="110598" name="Line 8">
              <a:extLst>
                <a:ext uri="{FF2B5EF4-FFF2-40B4-BE49-F238E27FC236}">
                  <a16:creationId xmlns:a16="http://schemas.microsoft.com/office/drawing/2014/main" id="{D1B9310D-DF03-5B75-95FE-746BC61710C0}"/>
                </a:ext>
              </a:extLst>
            </p:cNvPr>
            <p:cNvSpPr>
              <a:spLocks noChangeShapeType="1"/>
            </p:cNvSpPr>
            <p:nvPr/>
          </p:nvSpPr>
          <p:spPr bwMode="auto">
            <a:xfrm>
              <a:off x="1392" y="1313"/>
              <a:ext cx="0" cy="27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599" name="Rectangle 9">
              <a:extLst>
                <a:ext uri="{FF2B5EF4-FFF2-40B4-BE49-F238E27FC236}">
                  <a16:creationId xmlns:a16="http://schemas.microsoft.com/office/drawing/2014/main" id="{F543EA47-CAE8-23C7-8D2F-6122E0A03DC2}"/>
                </a:ext>
              </a:extLst>
            </p:cNvPr>
            <p:cNvSpPr>
              <a:spLocks noChangeArrowheads="1"/>
            </p:cNvSpPr>
            <p:nvPr/>
          </p:nvSpPr>
          <p:spPr bwMode="auto">
            <a:xfrm>
              <a:off x="2790" y="960"/>
              <a:ext cx="7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越界中断</a:t>
              </a:r>
            </a:p>
          </p:txBody>
        </p:sp>
        <p:sp>
          <p:nvSpPr>
            <p:cNvPr id="110600" name="Line 10">
              <a:extLst>
                <a:ext uri="{FF2B5EF4-FFF2-40B4-BE49-F238E27FC236}">
                  <a16:creationId xmlns:a16="http://schemas.microsoft.com/office/drawing/2014/main" id="{EF972697-5768-56BD-4614-446237606640}"/>
                </a:ext>
              </a:extLst>
            </p:cNvPr>
            <p:cNvSpPr>
              <a:spLocks noChangeShapeType="1"/>
            </p:cNvSpPr>
            <p:nvPr/>
          </p:nvSpPr>
          <p:spPr bwMode="auto">
            <a:xfrm flipV="1">
              <a:off x="3120" y="1152"/>
              <a:ext cx="0" cy="222"/>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601" name="Oval 11">
              <a:extLst>
                <a:ext uri="{FF2B5EF4-FFF2-40B4-BE49-F238E27FC236}">
                  <a16:creationId xmlns:a16="http://schemas.microsoft.com/office/drawing/2014/main" id="{301E9EE6-2D3A-B1A9-03B7-A2DCEECC147E}"/>
                </a:ext>
              </a:extLst>
            </p:cNvPr>
            <p:cNvSpPr>
              <a:spLocks noChangeArrowheads="1"/>
            </p:cNvSpPr>
            <p:nvPr/>
          </p:nvSpPr>
          <p:spPr bwMode="auto">
            <a:xfrm>
              <a:off x="2963" y="1397"/>
              <a:ext cx="311" cy="283"/>
            </a:xfrm>
            <a:prstGeom prst="ellipse">
              <a:avLst/>
            </a:prstGeom>
            <a:solidFill>
              <a:srgbClr val="FFFFFF"/>
            </a:solidFill>
            <a:ln w="28575">
              <a:solidFill>
                <a:srgbClr val="000000"/>
              </a:solidFill>
              <a:round/>
              <a:headEnd/>
              <a:tailEnd/>
            </a:ln>
          </p:spPr>
          <p:txBody>
            <a:bodyPr lIns="0" tIns="0" rIns="0" bIns="0"/>
            <a:lstStyle/>
            <a:p>
              <a:pPr algn="ctr" eaLnBrk="0" hangingPunct="0"/>
              <a:r>
                <a:rPr lang="zh-CN" altLang="en-US" sz="2000" b="1">
                  <a:latin typeface="Times New Roman" panose="02020603050405020304" pitchFamily="18" charset="0"/>
                </a:rPr>
                <a:t>＜</a:t>
              </a:r>
            </a:p>
          </p:txBody>
        </p:sp>
        <p:sp>
          <p:nvSpPr>
            <p:cNvPr id="110602" name="Line 12">
              <a:extLst>
                <a:ext uri="{FF2B5EF4-FFF2-40B4-BE49-F238E27FC236}">
                  <a16:creationId xmlns:a16="http://schemas.microsoft.com/office/drawing/2014/main" id="{9D5C18DC-B65C-DB93-1ED8-F52AE706F3D8}"/>
                </a:ext>
              </a:extLst>
            </p:cNvPr>
            <p:cNvSpPr>
              <a:spLocks noChangeShapeType="1"/>
            </p:cNvSpPr>
            <p:nvPr/>
          </p:nvSpPr>
          <p:spPr bwMode="auto">
            <a:xfrm>
              <a:off x="1008" y="1584"/>
              <a:ext cx="0" cy="206"/>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603" name="Oval 13">
              <a:extLst>
                <a:ext uri="{FF2B5EF4-FFF2-40B4-BE49-F238E27FC236}">
                  <a16:creationId xmlns:a16="http://schemas.microsoft.com/office/drawing/2014/main" id="{F0F23438-F0FB-A5D9-DBD3-7D7A14F872BC}"/>
                </a:ext>
              </a:extLst>
            </p:cNvPr>
            <p:cNvSpPr>
              <a:spLocks noChangeArrowheads="1"/>
            </p:cNvSpPr>
            <p:nvPr/>
          </p:nvSpPr>
          <p:spPr bwMode="auto">
            <a:xfrm>
              <a:off x="858" y="1808"/>
              <a:ext cx="311" cy="283"/>
            </a:xfrm>
            <a:prstGeom prst="ellipse">
              <a:avLst/>
            </a:prstGeom>
            <a:solidFill>
              <a:srgbClr val="FFFFFF"/>
            </a:solidFill>
            <a:ln w="28575">
              <a:solidFill>
                <a:srgbClr val="000000"/>
              </a:solidFill>
              <a:round/>
              <a:headEnd/>
              <a:tailEnd/>
            </a:ln>
          </p:spPr>
          <p:txBody>
            <a:bodyPr lIns="0" tIns="0" rIns="0" bIns="0"/>
            <a:lstStyle/>
            <a:p>
              <a:pPr algn="ctr" eaLnBrk="0" hangingPunct="0"/>
              <a:r>
                <a:rPr lang="zh-CN" altLang="en-US" sz="2000" b="1">
                  <a:latin typeface="Times New Roman" panose="02020603050405020304" pitchFamily="18" charset="0"/>
                </a:rPr>
                <a:t>＋</a:t>
              </a:r>
            </a:p>
          </p:txBody>
        </p:sp>
        <p:sp>
          <p:nvSpPr>
            <p:cNvPr id="110604" name="Rectangle 14">
              <a:extLst>
                <a:ext uri="{FF2B5EF4-FFF2-40B4-BE49-F238E27FC236}">
                  <a16:creationId xmlns:a16="http://schemas.microsoft.com/office/drawing/2014/main" id="{D970327A-E178-51BD-160A-8CDCAF034062}"/>
                </a:ext>
              </a:extLst>
            </p:cNvPr>
            <p:cNvSpPr>
              <a:spLocks noChangeArrowheads="1"/>
            </p:cNvSpPr>
            <p:nvPr/>
          </p:nvSpPr>
          <p:spPr bwMode="auto">
            <a:xfrm>
              <a:off x="4146" y="1111"/>
              <a:ext cx="718"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逻辑地址</a:t>
              </a:r>
            </a:p>
          </p:txBody>
        </p:sp>
        <p:sp>
          <p:nvSpPr>
            <p:cNvPr id="110605" name="Rectangle 15">
              <a:extLst>
                <a:ext uri="{FF2B5EF4-FFF2-40B4-BE49-F238E27FC236}">
                  <a16:creationId xmlns:a16="http://schemas.microsoft.com/office/drawing/2014/main" id="{E5ED051C-C123-8B28-7707-AC79592BFA0E}"/>
                </a:ext>
              </a:extLst>
            </p:cNvPr>
            <p:cNvSpPr>
              <a:spLocks noChangeArrowheads="1"/>
            </p:cNvSpPr>
            <p:nvPr/>
          </p:nvSpPr>
          <p:spPr bwMode="auto">
            <a:xfrm>
              <a:off x="3956" y="1378"/>
              <a:ext cx="1420" cy="283"/>
            </a:xfrm>
            <a:prstGeom prst="rect">
              <a:avLst/>
            </a:prstGeom>
            <a:solidFill>
              <a:srgbClr val="FFFFFF"/>
            </a:solidFill>
            <a:ln w="28575">
              <a:solidFill>
                <a:srgbClr val="000000"/>
              </a:solidFill>
              <a:miter lim="800000"/>
              <a:headEnd/>
              <a:tailEnd/>
            </a:ln>
          </p:spPr>
          <p:txBody>
            <a:bodyPr lIns="72000" tIns="72000" rIns="0" bIns="0"/>
            <a:lstStyle/>
            <a:p>
              <a:pPr algn="just" eaLnBrk="0" hangingPunct="0"/>
              <a:r>
                <a:rPr lang="zh-CN" altLang="en-US" sz="2000">
                  <a:latin typeface="Times New Roman" panose="02020603050405020304" pitchFamily="18" charset="0"/>
                </a:rPr>
                <a:t>  页号     页内位移</a:t>
              </a:r>
            </a:p>
          </p:txBody>
        </p:sp>
        <p:sp>
          <p:nvSpPr>
            <p:cNvPr id="110606" name="Line 16">
              <a:extLst>
                <a:ext uri="{FF2B5EF4-FFF2-40B4-BE49-F238E27FC236}">
                  <a16:creationId xmlns:a16="http://schemas.microsoft.com/office/drawing/2014/main" id="{8250024F-06EF-D683-9758-433D7B88641B}"/>
                </a:ext>
              </a:extLst>
            </p:cNvPr>
            <p:cNvSpPr>
              <a:spLocks noChangeShapeType="1"/>
            </p:cNvSpPr>
            <p:nvPr/>
          </p:nvSpPr>
          <p:spPr bwMode="auto">
            <a:xfrm>
              <a:off x="4473" y="1378"/>
              <a:ext cx="1" cy="28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07" name="Line 17">
              <a:extLst>
                <a:ext uri="{FF2B5EF4-FFF2-40B4-BE49-F238E27FC236}">
                  <a16:creationId xmlns:a16="http://schemas.microsoft.com/office/drawing/2014/main" id="{C1AA124B-DF9B-2384-523E-2403BF108182}"/>
                </a:ext>
              </a:extLst>
            </p:cNvPr>
            <p:cNvSpPr>
              <a:spLocks noChangeShapeType="1"/>
            </p:cNvSpPr>
            <p:nvPr/>
          </p:nvSpPr>
          <p:spPr bwMode="auto">
            <a:xfrm>
              <a:off x="4189" y="1661"/>
              <a:ext cx="0" cy="24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08" name="Line 18">
              <a:extLst>
                <a:ext uri="{FF2B5EF4-FFF2-40B4-BE49-F238E27FC236}">
                  <a16:creationId xmlns:a16="http://schemas.microsoft.com/office/drawing/2014/main" id="{A3F119A1-9064-892B-07FD-86D08E1BF265}"/>
                </a:ext>
              </a:extLst>
            </p:cNvPr>
            <p:cNvSpPr>
              <a:spLocks noChangeShapeType="1"/>
            </p:cNvSpPr>
            <p:nvPr/>
          </p:nvSpPr>
          <p:spPr bwMode="auto">
            <a:xfrm flipH="1">
              <a:off x="1171" y="1901"/>
              <a:ext cx="3028"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609" name="Line 19">
              <a:extLst>
                <a:ext uri="{FF2B5EF4-FFF2-40B4-BE49-F238E27FC236}">
                  <a16:creationId xmlns:a16="http://schemas.microsoft.com/office/drawing/2014/main" id="{449C6FA6-6A03-40A5-6353-C79A62E984D2}"/>
                </a:ext>
              </a:extLst>
            </p:cNvPr>
            <p:cNvSpPr>
              <a:spLocks noChangeShapeType="1"/>
            </p:cNvSpPr>
            <p:nvPr/>
          </p:nvSpPr>
          <p:spPr bwMode="auto">
            <a:xfrm flipV="1">
              <a:off x="3120" y="1673"/>
              <a:ext cx="0" cy="247"/>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610" name="Rectangle 20">
              <a:extLst>
                <a:ext uri="{FF2B5EF4-FFF2-40B4-BE49-F238E27FC236}">
                  <a16:creationId xmlns:a16="http://schemas.microsoft.com/office/drawing/2014/main" id="{F4968AD2-0C59-5A1F-47DA-B29C41BBCE2C}"/>
                </a:ext>
              </a:extLst>
            </p:cNvPr>
            <p:cNvSpPr>
              <a:spLocks noChangeArrowheads="1"/>
            </p:cNvSpPr>
            <p:nvPr/>
          </p:nvSpPr>
          <p:spPr bwMode="auto">
            <a:xfrm>
              <a:off x="1311" y="2312"/>
              <a:ext cx="960"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页号  块号</a:t>
              </a:r>
            </a:p>
          </p:txBody>
        </p:sp>
        <p:sp>
          <p:nvSpPr>
            <p:cNvPr id="110611" name="Rectangle 21">
              <a:extLst>
                <a:ext uri="{FF2B5EF4-FFF2-40B4-BE49-F238E27FC236}">
                  <a16:creationId xmlns:a16="http://schemas.microsoft.com/office/drawing/2014/main" id="{C92D0669-09D6-4555-A107-5405E9E4A3BE}"/>
                </a:ext>
              </a:extLst>
            </p:cNvPr>
            <p:cNvSpPr>
              <a:spLocks noChangeArrowheads="1"/>
            </p:cNvSpPr>
            <p:nvPr/>
          </p:nvSpPr>
          <p:spPr bwMode="auto">
            <a:xfrm>
              <a:off x="1685" y="2580"/>
              <a:ext cx="710" cy="813"/>
            </a:xfrm>
            <a:prstGeom prst="rect">
              <a:avLst/>
            </a:prstGeom>
            <a:solidFill>
              <a:srgbClr val="FFFFFF"/>
            </a:solidFill>
            <a:ln w="28575">
              <a:solidFill>
                <a:srgbClr val="000000"/>
              </a:solidFill>
              <a:miter lim="800000"/>
              <a:headEnd/>
              <a:tailEnd/>
            </a:ln>
          </p:spPr>
          <p:txBody>
            <a:bodyPr lIns="0" tIns="0" rIns="0" bIns="0"/>
            <a:lstStyle/>
            <a:p>
              <a:pPr algn="just" eaLnBrk="0" hangingPunct="0"/>
              <a:r>
                <a:rPr lang="zh-CN" altLang="en-US" sz="2000">
                  <a:latin typeface="Times New Roman" panose="02020603050405020304" pitchFamily="18" charset="0"/>
                </a:rPr>
                <a:t> </a:t>
              </a:r>
            </a:p>
          </p:txBody>
        </p:sp>
        <p:sp>
          <p:nvSpPr>
            <p:cNvPr id="110612" name="Rectangle 22">
              <a:extLst>
                <a:ext uri="{FF2B5EF4-FFF2-40B4-BE49-F238E27FC236}">
                  <a16:creationId xmlns:a16="http://schemas.microsoft.com/office/drawing/2014/main" id="{7B2DE054-5842-A535-396C-643CF43989A3}"/>
                </a:ext>
              </a:extLst>
            </p:cNvPr>
            <p:cNvSpPr>
              <a:spLocks noChangeArrowheads="1"/>
            </p:cNvSpPr>
            <p:nvPr/>
          </p:nvSpPr>
          <p:spPr bwMode="auto">
            <a:xfrm>
              <a:off x="1401" y="2542"/>
              <a:ext cx="264" cy="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0</a:t>
              </a:r>
            </a:p>
            <a:p>
              <a:pPr algn="just" eaLnBrk="0" hangingPunct="0"/>
              <a:r>
                <a:rPr lang="zh-CN" altLang="en-US" sz="2000">
                  <a:latin typeface="Times New Roman" panose="02020603050405020304" pitchFamily="18" charset="0"/>
                </a:rPr>
                <a:t>1</a:t>
              </a:r>
            </a:p>
            <a:p>
              <a:pPr algn="just" eaLnBrk="0" hangingPunct="0"/>
              <a:r>
                <a:rPr lang="zh-CN" altLang="en-US" sz="2000">
                  <a:latin typeface="Times New Roman" panose="02020603050405020304" pitchFamily="18" charset="0"/>
                </a:rPr>
                <a:t>2</a:t>
              </a:r>
            </a:p>
            <a:p>
              <a:pPr algn="just" eaLnBrk="0" hangingPunct="0"/>
              <a:r>
                <a:rPr lang="zh-CN" altLang="en-US" sz="2000">
                  <a:latin typeface="Times New Roman" panose="02020603050405020304" pitchFamily="18" charset="0"/>
                </a:rPr>
                <a:t>3</a:t>
              </a:r>
            </a:p>
            <a:p>
              <a:pPr algn="just" eaLnBrk="0" hangingPunct="0"/>
              <a:r>
                <a:rPr lang="zh-CN" altLang="en-US" sz="2000">
                  <a:latin typeface="Times New Roman" panose="02020603050405020304" pitchFamily="18" charset="0"/>
                </a:rPr>
                <a:t>4</a:t>
              </a:r>
            </a:p>
          </p:txBody>
        </p:sp>
        <p:sp>
          <p:nvSpPr>
            <p:cNvPr id="110613" name="Line 23">
              <a:extLst>
                <a:ext uri="{FF2B5EF4-FFF2-40B4-BE49-F238E27FC236}">
                  <a16:creationId xmlns:a16="http://schemas.microsoft.com/office/drawing/2014/main" id="{E382FC36-3106-C3DE-4197-38A3A0CEF063}"/>
                </a:ext>
              </a:extLst>
            </p:cNvPr>
            <p:cNvSpPr>
              <a:spLocks noChangeShapeType="1"/>
            </p:cNvSpPr>
            <p:nvPr/>
          </p:nvSpPr>
          <p:spPr bwMode="auto">
            <a:xfrm>
              <a:off x="1685" y="2742"/>
              <a:ext cx="71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14" name="Line 24">
              <a:extLst>
                <a:ext uri="{FF2B5EF4-FFF2-40B4-BE49-F238E27FC236}">
                  <a16:creationId xmlns:a16="http://schemas.microsoft.com/office/drawing/2014/main" id="{D288DA85-C4E9-8923-C6D2-27F96B60B08F}"/>
                </a:ext>
              </a:extLst>
            </p:cNvPr>
            <p:cNvSpPr>
              <a:spLocks noChangeShapeType="1"/>
            </p:cNvSpPr>
            <p:nvPr/>
          </p:nvSpPr>
          <p:spPr bwMode="auto">
            <a:xfrm>
              <a:off x="1685" y="2905"/>
              <a:ext cx="71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15" name="Line 25">
              <a:extLst>
                <a:ext uri="{FF2B5EF4-FFF2-40B4-BE49-F238E27FC236}">
                  <a16:creationId xmlns:a16="http://schemas.microsoft.com/office/drawing/2014/main" id="{5226246F-D121-2812-E7DD-57F5EBD4308D}"/>
                </a:ext>
              </a:extLst>
            </p:cNvPr>
            <p:cNvSpPr>
              <a:spLocks noChangeShapeType="1"/>
            </p:cNvSpPr>
            <p:nvPr/>
          </p:nvSpPr>
          <p:spPr bwMode="auto">
            <a:xfrm>
              <a:off x="1685" y="3068"/>
              <a:ext cx="71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16" name="Line 26">
              <a:extLst>
                <a:ext uri="{FF2B5EF4-FFF2-40B4-BE49-F238E27FC236}">
                  <a16:creationId xmlns:a16="http://schemas.microsoft.com/office/drawing/2014/main" id="{BA8CFBD4-7C47-CD36-4330-0E3A14A64504}"/>
                </a:ext>
              </a:extLst>
            </p:cNvPr>
            <p:cNvSpPr>
              <a:spLocks noChangeShapeType="1"/>
            </p:cNvSpPr>
            <p:nvPr/>
          </p:nvSpPr>
          <p:spPr bwMode="auto">
            <a:xfrm>
              <a:off x="1685" y="3230"/>
              <a:ext cx="71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17" name="Line 27">
              <a:extLst>
                <a:ext uri="{FF2B5EF4-FFF2-40B4-BE49-F238E27FC236}">
                  <a16:creationId xmlns:a16="http://schemas.microsoft.com/office/drawing/2014/main" id="{4757551D-0DB6-2715-7FE4-3D1DC4983CF0}"/>
                </a:ext>
              </a:extLst>
            </p:cNvPr>
            <p:cNvSpPr>
              <a:spLocks noChangeShapeType="1"/>
            </p:cNvSpPr>
            <p:nvPr/>
          </p:nvSpPr>
          <p:spPr bwMode="auto">
            <a:xfrm>
              <a:off x="998" y="2103"/>
              <a:ext cx="0" cy="8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18" name="Rectangle 28">
              <a:extLst>
                <a:ext uri="{FF2B5EF4-FFF2-40B4-BE49-F238E27FC236}">
                  <a16:creationId xmlns:a16="http://schemas.microsoft.com/office/drawing/2014/main" id="{A4AB12AE-2C2E-6497-D40D-948F8AA969C2}"/>
                </a:ext>
              </a:extLst>
            </p:cNvPr>
            <p:cNvSpPr>
              <a:spLocks noChangeArrowheads="1"/>
            </p:cNvSpPr>
            <p:nvPr/>
          </p:nvSpPr>
          <p:spPr bwMode="auto">
            <a:xfrm>
              <a:off x="4240" y="3105"/>
              <a:ext cx="1103" cy="244"/>
            </a:xfrm>
            <a:prstGeom prst="rect">
              <a:avLst/>
            </a:prstGeom>
            <a:solidFill>
              <a:srgbClr val="FFFFFF"/>
            </a:solidFill>
            <a:ln w="28575">
              <a:solidFill>
                <a:srgbClr val="000000"/>
              </a:solidFill>
              <a:miter lim="800000"/>
              <a:headEnd/>
              <a:tailEnd/>
            </a:ln>
          </p:spPr>
          <p:txBody>
            <a:bodyPr lIns="0" tIns="0" rIns="0" bIns="0"/>
            <a:lstStyle/>
            <a:p>
              <a:pPr algn="just" eaLnBrk="0" hangingPunct="0"/>
              <a:r>
                <a:rPr lang="zh-CN" altLang="en-US" sz="2000">
                  <a:latin typeface="Times New Roman" panose="02020603050405020304" pitchFamily="18" charset="0"/>
                </a:rPr>
                <a:t> </a:t>
              </a:r>
            </a:p>
          </p:txBody>
        </p:sp>
        <p:sp>
          <p:nvSpPr>
            <p:cNvPr id="110619" name="Line 29">
              <a:extLst>
                <a:ext uri="{FF2B5EF4-FFF2-40B4-BE49-F238E27FC236}">
                  <a16:creationId xmlns:a16="http://schemas.microsoft.com/office/drawing/2014/main" id="{17741866-4BBD-7AE7-03FA-6125B57B8A0E}"/>
                </a:ext>
              </a:extLst>
            </p:cNvPr>
            <p:cNvSpPr>
              <a:spLocks noChangeShapeType="1"/>
            </p:cNvSpPr>
            <p:nvPr/>
          </p:nvSpPr>
          <p:spPr bwMode="auto">
            <a:xfrm>
              <a:off x="4757" y="3105"/>
              <a:ext cx="0" cy="2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20" name="Line 30">
              <a:extLst>
                <a:ext uri="{FF2B5EF4-FFF2-40B4-BE49-F238E27FC236}">
                  <a16:creationId xmlns:a16="http://schemas.microsoft.com/office/drawing/2014/main" id="{8BAA1D7A-F0D7-93B9-B584-18E7A8A1CF42}"/>
                </a:ext>
              </a:extLst>
            </p:cNvPr>
            <p:cNvSpPr>
              <a:spLocks noChangeShapeType="1"/>
            </p:cNvSpPr>
            <p:nvPr/>
          </p:nvSpPr>
          <p:spPr bwMode="auto">
            <a:xfrm>
              <a:off x="2689" y="3221"/>
              <a:ext cx="1562"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621" name="Line 31">
              <a:extLst>
                <a:ext uri="{FF2B5EF4-FFF2-40B4-BE49-F238E27FC236}">
                  <a16:creationId xmlns:a16="http://schemas.microsoft.com/office/drawing/2014/main" id="{AE70660F-B92A-5236-64F9-B3C964DD5C27}"/>
                </a:ext>
              </a:extLst>
            </p:cNvPr>
            <p:cNvSpPr>
              <a:spLocks noChangeShapeType="1"/>
            </p:cNvSpPr>
            <p:nvPr/>
          </p:nvSpPr>
          <p:spPr bwMode="auto">
            <a:xfrm>
              <a:off x="4981" y="1661"/>
              <a:ext cx="0" cy="144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622" name="Rectangle 32">
              <a:extLst>
                <a:ext uri="{FF2B5EF4-FFF2-40B4-BE49-F238E27FC236}">
                  <a16:creationId xmlns:a16="http://schemas.microsoft.com/office/drawing/2014/main" id="{C38E4245-870B-3F8C-7808-FE7AF297D8D9}"/>
                </a:ext>
              </a:extLst>
            </p:cNvPr>
            <p:cNvSpPr>
              <a:spLocks noChangeArrowheads="1"/>
            </p:cNvSpPr>
            <p:nvPr/>
          </p:nvSpPr>
          <p:spPr bwMode="auto">
            <a:xfrm>
              <a:off x="4399" y="3381"/>
              <a:ext cx="841"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物理地址</a:t>
              </a:r>
            </a:p>
          </p:txBody>
        </p:sp>
        <p:sp>
          <p:nvSpPr>
            <p:cNvPr id="110623" name="Rectangle 33">
              <a:extLst>
                <a:ext uri="{FF2B5EF4-FFF2-40B4-BE49-F238E27FC236}">
                  <a16:creationId xmlns:a16="http://schemas.microsoft.com/office/drawing/2014/main" id="{57F99820-87CF-D1FE-0DA7-34C22F52987D}"/>
                </a:ext>
              </a:extLst>
            </p:cNvPr>
            <p:cNvSpPr>
              <a:spLocks noChangeArrowheads="1"/>
            </p:cNvSpPr>
            <p:nvPr/>
          </p:nvSpPr>
          <p:spPr bwMode="auto">
            <a:xfrm>
              <a:off x="1887" y="3429"/>
              <a:ext cx="46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页表</a:t>
              </a:r>
            </a:p>
          </p:txBody>
        </p:sp>
        <p:sp>
          <p:nvSpPr>
            <p:cNvPr id="110624" name="Line 34">
              <a:extLst>
                <a:ext uri="{FF2B5EF4-FFF2-40B4-BE49-F238E27FC236}">
                  <a16:creationId xmlns:a16="http://schemas.microsoft.com/office/drawing/2014/main" id="{9FDCB5D0-E4AA-B100-DAFA-188FE5F1245B}"/>
                </a:ext>
              </a:extLst>
            </p:cNvPr>
            <p:cNvSpPr>
              <a:spLocks noChangeShapeType="1"/>
            </p:cNvSpPr>
            <p:nvPr/>
          </p:nvSpPr>
          <p:spPr bwMode="auto">
            <a:xfrm>
              <a:off x="2160" y="1488"/>
              <a:ext cx="787"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625" name="Rectangle 35">
              <a:extLst>
                <a:ext uri="{FF2B5EF4-FFF2-40B4-BE49-F238E27FC236}">
                  <a16:creationId xmlns:a16="http://schemas.microsoft.com/office/drawing/2014/main" id="{C2ACC0FA-CA89-69CA-E29E-6E716F761326}"/>
                </a:ext>
              </a:extLst>
            </p:cNvPr>
            <p:cNvSpPr>
              <a:spLocks noChangeArrowheads="1"/>
            </p:cNvSpPr>
            <p:nvPr/>
          </p:nvSpPr>
          <p:spPr bwMode="auto">
            <a:xfrm>
              <a:off x="3156" y="1943"/>
              <a:ext cx="840"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页号 块号</a:t>
              </a:r>
            </a:p>
          </p:txBody>
        </p:sp>
        <p:sp>
          <p:nvSpPr>
            <p:cNvPr id="110626" name="Rectangle 36">
              <a:extLst>
                <a:ext uri="{FF2B5EF4-FFF2-40B4-BE49-F238E27FC236}">
                  <a16:creationId xmlns:a16="http://schemas.microsoft.com/office/drawing/2014/main" id="{19B26E84-171C-9FA6-0AF2-3671BBBC8305}"/>
                </a:ext>
              </a:extLst>
            </p:cNvPr>
            <p:cNvSpPr>
              <a:spLocks noChangeArrowheads="1"/>
            </p:cNvSpPr>
            <p:nvPr/>
          </p:nvSpPr>
          <p:spPr bwMode="auto">
            <a:xfrm>
              <a:off x="3103" y="2210"/>
              <a:ext cx="993" cy="701"/>
            </a:xfrm>
            <a:prstGeom prst="rect">
              <a:avLst/>
            </a:prstGeom>
            <a:solidFill>
              <a:srgbClr val="FFFFFF"/>
            </a:solidFill>
            <a:ln w="28575">
              <a:solidFill>
                <a:srgbClr val="000000"/>
              </a:solidFill>
              <a:miter lim="800000"/>
              <a:headEnd/>
              <a:tailEnd/>
            </a:ln>
          </p:spPr>
          <p:txBody>
            <a:bodyPr lIns="0" tIns="0" rIns="0" bIns="0"/>
            <a:lstStyle/>
            <a:p>
              <a:pPr algn="ctr"/>
              <a:endParaRPr lang="zh-CN" altLang="en-US"/>
            </a:p>
          </p:txBody>
        </p:sp>
        <p:sp>
          <p:nvSpPr>
            <p:cNvPr id="110627" name="Line 37">
              <a:extLst>
                <a:ext uri="{FF2B5EF4-FFF2-40B4-BE49-F238E27FC236}">
                  <a16:creationId xmlns:a16="http://schemas.microsoft.com/office/drawing/2014/main" id="{56ED6B8D-DF58-71F1-9D91-1C0D24E072C0}"/>
                </a:ext>
              </a:extLst>
            </p:cNvPr>
            <p:cNvSpPr>
              <a:spLocks noChangeShapeType="1"/>
            </p:cNvSpPr>
            <p:nvPr/>
          </p:nvSpPr>
          <p:spPr bwMode="auto">
            <a:xfrm>
              <a:off x="3105" y="2357"/>
              <a:ext cx="9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28" name="Line 38">
              <a:extLst>
                <a:ext uri="{FF2B5EF4-FFF2-40B4-BE49-F238E27FC236}">
                  <a16:creationId xmlns:a16="http://schemas.microsoft.com/office/drawing/2014/main" id="{8FDCA9B3-0E7A-625E-2DBA-4AD5117D893E}"/>
                </a:ext>
              </a:extLst>
            </p:cNvPr>
            <p:cNvSpPr>
              <a:spLocks noChangeShapeType="1"/>
            </p:cNvSpPr>
            <p:nvPr/>
          </p:nvSpPr>
          <p:spPr bwMode="auto">
            <a:xfrm>
              <a:off x="3531" y="2210"/>
              <a:ext cx="0" cy="70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29" name="Line 39">
              <a:extLst>
                <a:ext uri="{FF2B5EF4-FFF2-40B4-BE49-F238E27FC236}">
                  <a16:creationId xmlns:a16="http://schemas.microsoft.com/office/drawing/2014/main" id="{73852129-72E8-3DC8-AD49-23E507E2CA09}"/>
                </a:ext>
              </a:extLst>
            </p:cNvPr>
            <p:cNvSpPr>
              <a:spLocks noChangeShapeType="1"/>
            </p:cNvSpPr>
            <p:nvPr/>
          </p:nvSpPr>
          <p:spPr bwMode="auto">
            <a:xfrm>
              <a:off x="3105" y="2498"/>
              <a:ext cx="9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30" name="Line 40">
              <a:extLst>
                <a:ext uri="{FF2B5EF4-FFF2-40B4-BE49-F238E27FC236}">
                  <a16:creationId xmlns:a16="http://schemas.microsoft.com/office/drawing/2014/main" id="{36C0819D-C0A2-86F8-D67E-BFE2AD959F56}"/>
                </a:ext>
              </a:extLst>
            </p:cNvPr>
            <p:cNvSpPr>
              <a:spLocks noChangeShapeType="1"/>
            </p:cNvSpPr>
            <p:nvPr/>
          </p:nvSpPr>
          <p:spPr bwMode="auto">
            <a:xfrm>
              <a:off x="3105" y="2633"/>
              <a:ext cx="9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31" name="Line 41">
              <a:extLst>
                <a:ext uri="{FF2B5EF4-FFF2-40B4-BE49-F238E27FC236}">
                  <a16:creationId xmlns:a16="http://schemas.microsoft.com/office/drawing/2014/main" id="{3BAB7E1A-F361-D157-8AD0-BACC6E12B561}"/>
                </a:ext>
              </a:extLst>
            </p:cNvPr>
            <p:cNvSpPr>
              <a:spLocks noChangeShapeType="1"/>
            </p:cNvSpPr>
            <p:nvPr/>
          </p:nvSpPr>
          <p:spPr bwMode="auto">
            <a:xfrm>
              <a:off x="3105" y="2772"/>
              <a:ext cx="9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32" name="Rectangle 42">
              <a:extLst>
                <a:ext uri="{FF2B5EF4-FFF2-40B4-BE49-F238E27FC236}">
                  <a16:creationId xmlns:a16="http://schemas.microsoft.com/office/drawing/2014/main" id="{7871C902-0750-7D47-B44A-23E06C35EBE1}"/>
                </a:ext>
              </a:extLst>
            </p:cNvPr>
            <p:cNvSpPr>
              <a:spLocks noChangeArrowheads="1"/>
            </p:cNvSpPr>
            <p:nvPr/>
          </p:nvSpPr>
          <p:spPr bwMode="auto">
            <a:xfrm>
              <a:off x="3319" y="2919"/>
              <a:ext cx="475"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快表</a:t>
              </a:r>
            </a:p>
          </p:txBody>
        </p:sp>
        <p:sp>
          <p:nvSpPr>
            <p:cNvPr id="110633" name="Line 43">
              <a:extLst>
                <a:ext uri="{FF2B5EF4-FFF2-40B4-BE49-F238E27FC236}">
                  <a16:creationId xmlns:a16="http://schemas.microsoft.com/office/drawing/2014/main" id="{D24CC595-1F7C-8F36-6A96-6072174E8F2B}"/>
                </a:ext>
              </a:extLst>
            </p:cNvPr>
            <p:cNvSpPr>
              <a:spLocks noChangeShapeType="1"/>
            </p:cNvSpPr>
            <p:nvPr/>
          </p:nvSpPr>
          <p:spPr bwMode="auto">
            <a:xfrm>
              <a:off x="2679" y="1909"/>
              <a:ext cx="0" cy="95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34" name="Line 44">
              <a:extLst>
                <a:ext uri="{FF2B5EF4-FFF2-40B4-BE49-F238E27FC236}">
                  <a16:creationId xmlns:a16="http://schemas.microsoft.com/office/drawing/2014/main" id="{283430EB-DC1B-F678-4968-E5C92DDC5F13}"/>
                </a:ext>
              </a:extLst>
            </p:cNvPr>
            <p:cNvSpPr>
              <a:spLocks noChangeShapeType="1"/>
            </p:cNvSpPr>
            <p:nvPr/>
          </p:nvSpPr>
          <p:spPr bwMode="auto">
            <a:xfrm>
              <a:off x="2679" y="2292"/>
              <a:ext cx="426"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635" name="Line 45">
              <a:extLst>
                <a:ext uri="{FF2B5EF4-FFF2-40B4-BE49-F238E27FC236}">
                  <a16:creationId xmlns:a16="http://schemas.microsoft.com/office/drawing/2014/main" id="{516E4AA5-294E-42DD-095C-E900C9F9B3EE}"/>
                </a:ext>
              </a:extLst>
            </p:cNvPr>
            <p:cNvSpPr>
              <a:spLocks noChangeShapeType="1"/>
            </p:cNvSpPr>
            <p:nvPr/>
          </p:nvSpPr>
          <p:spPr bwMode="auto">
            <a:xfrm>
              <a:off x="2679" y="2433"/>
              <a:ext cx="426"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636" name="Line 46">
              <a:extLst>
                <a:ext uri="{FF2B5EF4-FFF2-40B4-BE49-F238E27FC236}">
                  <a16:creationId xmlns:a16="http://schemas.microsoft.com/office/drawing/2014/main" id="{EC330A55-1FA2-E459-6302-83426F22E43A}"/>
                </a:ext>
              </a:extLst>
            </p:cNvPr>
            <p:cNvSpPr>
              <a:spLocks noChangeShapeType="1"/>
            </p:cNvSpPr>
            <p:nvPr/>
          </p:nvSpPr>
          <p:spPr bwMode="auto">
            <a:xfrm>
              <a:off x="2679" y="2559"/>
              <a:ext cx="426"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637" name="Line 47">
              <a:extLst>
                <a:ext uri="{FF2B5EF4-FFF2-40B4-BE49-F238E27FC236}">
                  <a16:creationId xmlns:a16="http://schemas.microsoft.com/office/drawing/2014/main" id="{9CFE448E-2E83-DCB6-B1B1-E958209182D4}"/>
                </a:ext>
              </a:extLst>
            </p:cNvPr>
            <p:cNvSpPr>
              <a:spLocks noChangeShapeType="1"/>
            </p:cNvSpPr>
            <p:nvPr/>
          </p:nvSpPr>
          <p:spPr bwMode="auto">
            <a:xfrm>
              <a:off x="2679" y="2706"/>
              <a:ext cx="426"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638" name="Line 48">
              <a:extLst>
                <a:ext uri="{FF2B5EF4-FFF2-40B4-BE49-F238E27FC236}">
                  <a16:creationId xmlns:a16="http://schemas.microsoft.com/office/drawing/2014/main" id="{9772BD79-2DFA-41F9-F75B-EA9AB6F50CC0}"/>
                </a:ext>
              </a:extLst>
            </p:cNvPr>
            <p:cNvSpPr>
              <a:spLocks noChangeShapeType="1"/>
            </p:cNvSpPr>
            <p:nvPr/>
          </p:nvSpPr>
          <p:spPr bwMode="auto">
            <a:xfrm>
              <a:off x="2679" y="2861"/>
              <a:ext cx="426"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639" name="Line 49">
              <a:extLst>
                <a:ext uri="{FF2B5EF4-FFF2-40B4-BE49-F238E27FC236}">
                  <a16:creationId xmlns:a16="http://schemas.microsoft.com/office/drawing/2014/main" id="{997F70B7-6822-9F46-D5BF-24C6E05A39AA}"/>
                </a:ext>
              </a:extLst>
            </p:cNvPr>
            <p:cNvSpPr>
              <a:spLocks noChangeShapeType="1"/>
            </p:cNvSpPr>
            <p:nvPr/>
          </p:nvSpPr>
          <p:spPr bwMode="auto">
            <a:xfrm>
              <a:off x="2395" y="3024"/>
              <a:ext cx="28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40" name="Line 50">
              <a:extLst>
                <a:ext uri="{FF2B5EF4-FFF2-40B4-BE49-F238E27FC236}">
                  <a16:creationId xmlns:a16="http://schemas.microsoft.com/office/drawing/2014/main" id="{E50E9C7B-147F-86A7-C683-53E47B345935}"/>
                </a:ext>
              </a:extLst>
            </p:cNvPr>
            <p:cNvSpPr>
              <a:spLocks noChangeShapeType="1"/>
            </p:cNvSpPr>
            <p:nvPr/>
          </p:nvSpPr>
          <p:spPr bwMode="auto">
            <a:xfrm>
              <a:off x="2679" y="3032"/>
              <a:ext cx="0" cy="19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41" name="Line 51">
              <a:extLst>
                <a:ext uri="{FF2B5EF4-FFF2-40B4-BE49-F238E27FC236}">
                  <a16:creationId xmlns:a16="http://schemas.microsoft.com/office/drawing/2014/main" id="{5185C6E4-F422-7D16-DC18-DEBA20115E56}"/>
                </a:ext>
              </a:extLst>
            </p:cNvPr>
            <p:cNvSpPr>
              <a:spLocks noChangeShapeType="1"/>
            </p:cNvSpPr>
            <p:nvPr/>
          </p:nvSpPr>
          <p:spPr bwMode="auto">
            <a:xfrm>
              <a:off x="4098" y="2698"/>
              <a:ext cx="42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42" name="Line 52">
              <a:extLst>
                <a:ext uri="{FF2B5EF4-FFF2-40B4-BE49-F238E27FC236}">
                  <a16:creationId xmlns:a16="http://schemas.microsoft.com/office/drawing/2014/main" id="{908D6A81-3253-7627-9EF7-7F66D1C6D808}"/>
                </a:ext>
              </a:extLst>
            </p:cNvPr>
            <p:cNvSpPr>
              <a:spLocks noChangeShapeType="1"/>
            </p:cNvSpPr>
            <p:nvPr/>
          </p:nvSpPr>
          <p:spPr bwMode="auto">
            <a:xfrm>
              <a:off x="4524" y="2698"/>
              <a:ext cx="0" cy="407"/>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150584" name="AutoShape 56">
            <a:extLst>
              <a:ext uri="{FF2B5EF4-FFF2-40B4-BE49-F238E27FC236}">
                <a16:creationId xmlns:a16="http://schemas.microsoft.com/office/drawing/2014/main" id="{A1DCFCA3-675A-42B5-B6B6-27590BD312E9}"/>
              </a:ext>
            </a:extLst>
          </p:cNvPr>
          <p:cNvSpPr>
            <a:spLocks noChangeArrowheads="1"/>
          </p:cNvSpPr>
          <p:nvPr/>
        </p:nvSpPr>
        <p:spPr bwMode="auto">
          <a:xfrm>
            <a:off x="2195513" y="5622925"/>
            <a:ext cx="5472112" cy="574675"/>
          </a:xfrm>
          <a:prstGeom prst="wedgeRoundRectCallout">
            <a:avLst>
              <a:gd name="adj1" fmla="val 6718"/>
              <a:gd name="adj2" fmla="val -111880"/>
              <a:gd name="adj3" fmla="val 16667"/>
            </a:avLst>
          </a:prstGeom>
          <a:solidFill>
            <a:srgbClr val="D0F6FF"/>
          </a:solidFill>
          <a:ln w="28575">
            <a:solidFill>
              <a:srgbClr val="000000"/>
            </a:solidFill>
            <a:miter lim="800000"/>
            <a:headEnd/>
            <a:tailEnd type="none" w="sm" len="med"/>
          </a:ln>
        </p:spPr>
        <p:txBody>
          <a:bodyPr/>
          <a:lstStyle/>
          <a:p>
            <a:pPr>
              <a:spcBef>
                <a:spcPct val="20000"/>
              </a:spcBef>
              <a:buClr>
                <a:schemeClr val="folHlink"/>
              </a:buClr>
              <a:buSzPct val="60000"/>
            </a:pPr>
            <a:r>
              <a:rPr lang="zh-CN" altLang="en-US" sz="2800" b="1" dirty="0">
                <a:solidFill>
                  <a:srgbClr val="0070C0"/>
                </a:solidFill>
              </a:rPr>
              <a:t>此处页表与快表有何不同？</a:t>
            </a:r>
          </a:p>
          <a:p>
            <a:pPr algn="ctr"/>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5" presetClass="entr" presetSubtype="0" fill="hold" nodeType="clickEffect">
                                  <p:stCondLst>
                                    <p:cond delay="0"/>
                                  </p:stCondLst>
                                  <p:iterate type="lt">
                                    <p:tmPct val="10000"/>
                                  </p:iterate>
                                  <p:childTnLst>
                                    <p:set>
                                      <p:cBhvr>
                                        <p:cTn id="6" dur="1" fill="hold">
                                          <p:stCondLst>
                                            <p:cond delay="0"/>
                                          </p:stCondLst>
                                        </p:cTn>
                                        <p:tgtEl>
                                          <p:spTgt spid="150584"/>
                                        </p:tgtEl>
                                        <p:attrNameLst>
                                          <p:attrName>style.visibility</p:attrName>
                                        </p:attrNameLst>
                                      </p:cBhvr>
                                      <p:to>
                                        <p:strVal val="visible"/>
                                      </p:to>
                                    </p:set>
                                    <p:animEffect transition="in" filter="fade">
                                      <p:cBhvr>
                                        <p:cTn id="7" dur="1000"/>
                                        <p:tgtEl>
                                          <p:spTgt spid="150584"/>
                                        </p:tgtEl>
                                      </p:cBhvr>
                                    </p:animEffect>
                                    <p:anim calcmode="lin" valueType="num">
                                      <p:cBhvr>
                                        <p:cTn id="8" dur="1000" fill="hold"/>
                                        <p:tgtEl>
                                          <p:spTgt spid="150584"/>
                                        </p:tgtEl>
                                        <p:attrNameLst>
                                          <p:attrName>ppt_w</p:attrName>
                                        </p:attrNameLst>
                                      </p:cBhvr>
                                      <p:tavLst>
                                        <p:tav tm="0" fmla="#ppt_w*sin(2.5*pi*$)">
                                          <p:val>
                                            <p:fltVal val="0"/>
                                          </p:val>
                                        </p:tav>
                                        <p:tav tm="100000">
                                          <p:val>
                                            <p:fltVal val="1"/>
                                          </p:val>
                                        </p:tav>
                                      </p:tavLst>
                                    </p:anim>
                                    <p:anim calcmode="lin" valueType="num">
                                      <p:cBhvr>
                                        <p:cTn id="9" dur="1000" fill="hold"/>
                                        <p:tgtEl>
                                          <p:spTgt spid="15058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8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115A7B26-686D-881A-C6EA-6DAA74F657B4}"/>
              </a:ext>
            </a:extLst>
          </p:cNvPr>
          <p:cNvSpPr>
            <a:spLocks noGrp="1" noChangeArrowheads="1"/>
          </p:cNvSpPr>
          <p:nvPr>
            <p:ph type="title"/>
          </p:nvPr>
        </p:nvSpPr>
        <p:spPr>
          <a:xfrm>
            <a:off x="1042988" y="225431"/>
            <a:ext cx="7850187" cy="746125"/>
          </a:xfrm>
        </p:spPr>
        <p:txBody>
          <a:bodyPr/>
          <a:lstStyle/>
          <a:p>
            <a:r>
              <a:rPr lang="zh-CN" altLang="en-US"/>
              <a:t>联想存储器的大小</a:t>
            </a:r>
          </a:p>
        </p:txBody>
      </p:sp>
      <p:sp>
        <p:nvSpPr>
          <p:cNvPr id="111618" name="Rectangle 3">
            <a:extLst>
              <a:ext uri="{FF2B5EF4-FFF2-40B4-BE49-F238E27FC236}">
                <a16:creationId xmlns:a16="http://schemas.microsoft.com/office/drawing/2014/main" id="{E3795F40-3B54-81C0-B38B-B2831A0FC613}"/>
              </a:ext>
            </a:extLst>
          </p:cNvPr>
          <p:cNvSpPr>
            <a:spLocks noGrp="1" noChangeArrowheads="1"/>
          </p:cNvSpPr>
          <p:nvPr>
            <p:ph idx="1"/>
          </p:nvPr>
        </p:nvSpPr>
        <p:spPr>
          <a:xfrm>
            <a:off x="935038" y="1233488"/>
            <a:ext cx="7772400" cy="4895850"/>
          </a:xfrm>
        </p:spPr>
        <p:txBody>
          <a:bodyPr/>
          <a:lstStyle/>
          <a:p>
            <a:r>
              <a:rPr lang="zh-CN" altLang="en-US"/>
              <a:t>由于成本关系，快表大小一般由</a:t>
            </a:r>
            <a:r>
              <a:rPr lang="en-US" altLang="zh-CN"/>
              <a:t>64—1024</a:t>
            </a:r>
            <a:r>
              <a:rPr lang="zh-CN" altLang="en-US"/>
              <a:t>个表项组成。由于局部性原理，联想存储器的命中率可达80%--90% 。</a:t>
            </a:r>
            <a:endParaRPr lang="en-US" altLang="zh-CN"/>
          </a:p>
        </p:txBody>
      </p:sp>
    </p:spTree>
  </p:cSld>
  <p:clrMapOvr>
    <a:masterClrMapping/>
  </p:clrMapOvr>
  <p:transition spd="med">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99AB3EC4-9B16-F396-2552-245D22521B4F}"/>
              </a:ext>
            </a:extLst>
          </p:cNvPr>
          <p:cNvSpPr>
            <a:spLocks noGrp="1" noChangeArrowheads="1"/>
          </p:cNvSpPr>
          <p:nvPr>
            <p:ph type="title"/>
          </p:nvPr>
        </p:nvSpPr>
        <p:spPr>
          <a:xfrm>
            <a:off x="1042988" y="225431"/>
            <a:ext cx="7850187" cy="746125"/>
          </a:xfrm>
        </p:spPr>
        <p:txBody>
          <a:bodyPr/>
          <a:lstStyle/>
          <a:p>
            <a:r>
              <a:rPr lang="zh-CN" altLang="en-US" dirty="0"/>
              <a:t>有效访问时间</a:t>
            </a:r>
            <a:endParaRPr lang="zh-CN" altLang="en-US" dirty="0">
              <a:sym typeface="Symbol" pitchFamily="2" charset="2"/>
            </a:endParaRPr>
          </a:p>
        </p:txBody>
      </p:sp>
      <p:sp>
        <p:nvSpPr>
          <p:cNvPr id="305155" name="Rectangle 3">
            <a:extLst>
              <a:ext uri="{FF2B5EF4-FFF2-40B4-BE49-F238E27FC236}">
                <a16:creationId xmlns:a16="http://schemas.microsoft.com/office/drawing/2014/main" id="{26AC1E07-300C-F98D-87FA-D9CEEC2543AD}"/>
              </a:ext>
            </a:extLst>
          </p:cNvPr>
          <p:cNvSpPr>
            <a:spLocks noGrp="1" noChangeArrowheads="1"/>
          </p:cNvSpPr>
          <p:nvPr>
            <p:ph idx="1"/>
          </p:nvPr>
        </p:nvSpPr>
        <p:spPr>
          <a:xfrm>
            <a:off x="935038" y="1233488"/>
            <a:ext cx="7772400" cy="4895850"/>
          </a:xfrm>
        </p:spPr>
        <p:txBody>
          <a:bodyPr>
            <a:normAutofit/>
          </a:bodyPr>
          <a:lstStyle/>
          <a:p>
            <a:r>
              <a:rPr lang="zh-CN" altLang="en-US" dirty="0">
                <a:sym typeface="Symbol" pitchFamily="2" charset="2"/>
              </a:rPr>
              <a:t>假设内存一次存取时间是</a:t>
            </a:r>
            <a:r>
              <a:rPr lang="en-US" altLang="zh-CN" dirty="0">
                <a:sym typeface="Symbol" pitchFamily="2" charset="2"/>
              </a:rPr>
              <a:t>m</a:t>
            </a:r>
            <a:r>
              <a:rPr lang="zh-CN" altLang="en-US" dirty="0">
                <a:sym typeface="Symbol" pitchFamily="2" charset="2"/>
              </a:rPr>
              <a:t>，联想寄存器的查找时间是</a:t>
            </a:r>
            <a:r>
              <a:rPr lang="en-US" altLang="zh-CN" dirty="0">
                <a:sym typeface="Symbol" pitchFamily="2" charset="2"/>
              </a:rPr>
              <a:t>n</a:t>
            </a:r>
            <a:r>
              <a:rPr lang="zh-CN" altLang="en-US" dirty="0">
                <a:sym typeface="Symbol" pitchFamily="2" charset="2"/>
              </a:rPr>
              <a:t>，命中率为</a:t>
            </a:r>
            <a:r>
              <a:rPr lang="en-US" altLang="zh-CN" dirty="0">
                <a:sym typeface="Symbol" pitchFamily="2" charset="2"/>
              </a:rPr>
              <a:t>p</a:t>
            </a:r>
          </a:p>
          <a:p>
            <a:r>
              <a:rPr lang="zh-CN" altLang="en-US" dirty="0">
                <a:sym typeface="Symbol" pitchFamily="2" charset="2"/>
              </a:rPr>
              <a:t>有效存取时间 （</a:t>
            </a:r>
            <a:r>
              <a:rPr lang="zh-CN" altLang="en-US" dirty="0"/>
              <a:t>假定忽略快表更新时间）</a:t>
            </a:r>
            <a:endParaRPr lang="en-US" altLang="zh-CN" dirty="0">
              <a:sym typeface="Symbol" pitchFamily="2" charset="2"/>
            </a:endParaRPr>
          </a:p>
          <a:p>
            <a:pPr marL="0" indent="0">
              <a:buNone/>
            </a:pPr>
            <a:r>
              <a:rPr lang="en-US" altLang="zh-CN" dirty="0">
                <a:sym typeface="Symbol" pitchFamily="2" charset="2"/>
              </a:rPr>
              <a:t>    EAT</a:t>
            </a:r>
            <a:r>
              <a:rPr lang="en-US" altLang="zh-CN" dirty="0"/>
              <a:t>=p*(</a:t>
            </a:r>
            <a:r>
              <a:rPr lang="en-US" altLang="zh-CN" dirty="0" err="1"/>
              <a:t>n+m</a:t>
            </a:r>
            <a:r>
              <a:rPr lang="en-US" altLang="zh-CN" dirty="0"/>
              <a:t>)+(1-p)(2m+n)</a:t>
            </a:r>
            <a:endParaRPr lang="zh-CN" altLang="en-US" dirty="0"/>
          </a:p>
          <a:p>
            <a:pPr marL="0" indent="0">
              <a:buNone/>
            </a:pPr>
            <a:r>
              <a:rPr lang="zh-CN" altLang="en-US" dirty="0"/>
              <a:t>    若</a:t>
            </a:r>
            <a:r>
              <a:rPr lang="en-US" altLang="zh-CN" dirty="0"/>
              <a:t>p=0.8</a:t>
            </a:r>
            <a:r>
              <a:rPr lang="zh-CN" altLang="en-US" dirty="0"/>
              <a:t>，</a:t>
            </a:r>
            <a:r>
              <a:rPr lang="en-US" altLang="zh-CN" dirty="0"/>
              <a:t>m=100ns</a:t>
            </a:r>
            <a:r>
              <a:rPr lang="zh-CN" altLang="en-US" dirty="0"/>
              <a:t>，</a:t>
            </a:r>
            <a:r>
              <a:rPr lang="en-US" altLang="zh-CN" dirty="0"/>
              <a:t>n=20ns</a:t>
            </a:r>
          </a:p>
          <a:p>
            <a:pPr marL="0" indent="0">
              <a:buNone/>
            </a:pPr>
            <a:r>
              <a:rPr lang="zh-CN" altLang="en-US" dirty="0"/>
              <a:t>    则</a:t>
            </a:r>
            <a:r>
              <a:rPr lang="en-US" altLang="zh-CN" dirty="0"/>
              <a:t>EAT=0.8*120+0.2*220=140ns</a:t>
            </a:r>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5155">
                                            <p:txEl>
                                              <p:pRg st="0" end="0"/>
                                            </p:txEl>
                                          </p:spTgt>
                                        </p:tgtEl>
                                        <p:attrNameLst>
                                          <p:attrName>style.visibility</p:attrName>
                                        </p:attrNameLst>
                                      </p:cBhvr>
                                      <p:to>
                                        <p:strVal val="visible"/>
                                      </p:to>
                                    </p:set>
                                    <p:animEffect transition="in" filter="checkerboard(across)">
                                      <p:cBhvr>
                                        <p:cTn id="7" dur="500"/>
                                        <p:tgtEl>
                                          <p:spTgt spid="305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05155">
                                            <p:txEl>
                                              <p:pRg st="1" end="1"/>
                                            </p:txEl>
                                          </p:spTgt>
                                        </p:tgtEl>
                                        <p:attrNameLst>
                                          <p:attrName>style.visibility</p:attrName>
                                        </p:attrNameLst>
                                      </p:cBhvr>
                                      <p:to>
                                        <p:strVal val="visible"/>
                                      </p:to>
                                    </p:set>
                                    <p:animEffect transition="in" filter="checkerboard(across)">
                                      <p:cBhvr>
                                        <p:cTn id="12" dur="500"/>
                                        <p:tgtEl>
                                          <p:spTgt spid="3051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05155">
                                            <p:txEl>
                                              <p:pRg st="2" end="2"/>
                                            </p:txEl>
                                          </p:spTgt>
                                        </p:tgtEl>
                                        <p:attrNameLst>
                                          <p:attrName>style.visibility</p:attrName>
                                        </p:attrNameLst>
                                      </p:cBhvr>
                                      <p:to>
                                        <p:strVal val="visible"/>
                                      </p:to>
                                    </p:set>
                                    <p:animEffect transition="in" filter="checkerboard(across)">
                                      <p:cBhvr>
                                        <p:cTn id="17" dur="500"/>
                                        <p:tgtEl>
                                          <p:spTgt spid="3051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05155">
                                            <p:txEl>
                                              <p:pRg st="3" end="3"/>
                                            </p:txEl>
                                          </p:spTgt>
                                        </p:tgtEl>
                                        <p:attrNameLst>
                                          <p:attrName>style.visibility</p:attrName>
                                        </p:attrNameLst>
                                      </p:cBhvr>
                                      <p:to>
                                        <p:strVal val="visible"/>
                                      </p:to>
                                    </p:set>
                                    <p:animEffect transition="in" filter="checkerboard(across)">
                                      <p:cBhvr>
                                        <p:cTn id="22" dur="500"/>
                                        <p:tgtEl>
                                          <p:spTgt spid="3051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05155">
                                            <p:txEl>
                                              <p:pRg st="4" end="4"/>
                                            </p:txEl>
                                          </p:spTgt>
                                        </p:tgtEl>
                                        <p:attrNameLst>
                                          <p:attrName>style.visibility</p:attrName>
                                        </p:attrNameLst>
                                      </p:cBhvr>
                                      <p:to>
                                        <p:strVal val="visible"/>
                                      </p:to>
                                    </p:set>
                                    <p:animEffect transition="in" filter="checkerboard(across)">
                                      <p:cBhvr>
                                        <p:cTn id="27" dur="500"/>
                                        <p:tgtEl>
                                          <p:spTgt spid="3051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5"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B467C759-7A4E-EA96-9F60-6E400345E32E}"/>
              </a:ext>
            </a:extLst>
          </p:cNvPr>
          <p:cNvSpPr>
            <a:spLocks noGrp="1" noChangeArrowheads="1"/>
          </p:cNvSpPr>
          <p:nvPr>
            <p:ph type="title"/>
          </p:nvPr>
        </p:nvSpPr>
        <p:spPr>
          <a:xfrm>
            <a:off x="1042988" y="225431"/>
            <a:ext cx="7850187" cy="746125"/>
          </a:xfrm>
        </p:spPr>
        <p:txBody>
          <a:bodyPr/>
          <a:lstStyle/>
          <a:p>
            <a:r>
              <a:rPr lang="en-US" altLang="zh-CN" dirty="0"/>
              <a:t> </a:t>
            </a:r>
            <a:r>
              <a:rPr lang="zh-CN" altLang="en-US" dirty="0"/>
              <a:t>存储保护</a:t>
            </a:r>
          </a:p>
        </p:txBody>
      </p:sp>
      <p:sp>
        <p:nvSpPr>
          <p:cNvPr id="114690" name="Rectangle 3">
            <a:extLst>
              <a:ext uri="{FF2B5EF4-FFF2-40B4-BE49-F238E27FC236}">
                <a16:creationId xmlns:a16="http://schemas.microsoft.com/office/drawing/2014/main" id="{16304D03-AC92-BED5-826D-E844B9251E4F}"/>
              </a:ext>
            </a:extLst>
          </p:cNvPr>
          <p:cNvSpPr>
            <a:spLocks noGrp="1" noChangeArrowheads="1"/>
          </p:cNvSpPr>
          <p:nvPr>
            <p:ph idx="1"/>
          </p:nvPr>
        </p:nvSpPr>
        <p:spPr>
          <a:xfrm>
            <a:off x="935038" y="1233488"/>
            <a:ext cx="7772400" cy="4895850"/>
          </a:xfrm>
        </p:spPr>
        <p:txBody>
          <a:bodyPr/>
          <a:lstStyle/>
          <a:p>
            <a:r>
              <a:rPr lang="zh-CN" altLang="en-US"/>
              <a:t>分页存储管理采用两种方式保护内存：</a:t>
            </a:r>
          </a:p>
          <a:p>
            <a:pPr lvl="1"/>
            <a:r>
              <a:rPr lang="zh-CN" altLang="en-US"/>
              <a:t>地址越界保护：页表长度与逻辑地址中的页号比较</a:t>
            </a:r>
          </a:p>
          <a:p>
            <a:pPr lvl="1"/>
            <a:r>
              <a:rPr lang="zh-CN" altLang="en-US"/>
              <a:t>存取控制保护：在页表中增加保护位</a:t>
            </a:r>
          </a:p>
          <a:p>
            <a:endParaRPr lang="zh-CN" altLang="en-US"/>
          </a:p>
        </p:txBody>
      </p:sp>
    </p:spTree>
  </p:cSld>
  <p:clrMapOvr>
    <a:masterClrMapping/>
  </p:clrMapOvr>
  <p:transition spd="med">
    <p:zo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A38B724A-6509-4F68-B98C-F791AB044A5F}"/>
              </a:ext>
            </a:extLst>
          </p:cNvPr>
          <p:cNvSpPr>
            <a:spLocks noGrp="1" noChangeArrowheads="1"/>
          </p:cNvSpPr>
          <p:nvPr>
            <p:ph type="title"/>
          </p:nvPr>
        </p:nvSpPr>
        <p:spPr>
          <a:xfrm>
            <a:off x="1042988" y="225431"/>
            <a:ext cx="7850187" cy="746125"/>
          </a:xfrm>
        </p:spPr>
        <p:txBody>
          <a:bodyPr/>
          <a:lstStyle/>
          <a:p>
            <a:r>
              <a:rPr lang="en-US" altLang="zh-CN" sz="3000" dirty="0"/>
              <a:t>Valid (v) or Invalid (</a:t>
            </a:r>
            <a:r>
              <a:rPr lang="en-US" altLang="zh-CN" sz="3000" dirty="0" err="1"/>
              <a:t>i</a:t>
            </a:r>
            <a:r>
              <a:rPr lang="en-US" altLang="zh-CN" sz="3000" dirty="0"/>
              <a:t>) Bit In A Page Table</a:t>
            </a:r>
            <a:endParaRPr lang="zh-CN" altLang="en-US" sz="3000" dirty="0"/>
          </a:p>
        </p:txBody>
      </p:sp>
      <p:sp>
        <p:nvSpPr>
          <p:cNvPr id="3" name="内容占位符 2">
            <a:extLst>
              <a:ext uri="{FF2B5EF4-FFF2-40B4-BE49-F238E27FC236}">
                <a16:creationId xmlns:a16="http://schemas.microsoft.com/office/drawing/2014/main" id="{5F2FDCD2-23E3-9AA9-A502-EE7947558D60}"/>
              </a:ext>
            </a:extLst>
          </p:cNvPr>
          <p:cNvSpPr>
            <a:spLocks noGrp="1"/>
          </p:cNvSpPr>
          <p:nvPr>
            <p:ph idx="1"/>
          </p:nvPr>
        </p:nvSpPr>
        <p:spPr/>
        <p:txBody>
          <a:bodyPr/>
          <a:lstStyle/>
          <a:p>
            <a:endParaRPr lang="zh-CN" altLang="en-US"/>
          </a:p>
        </p:txBody>
      </p:sp>
      <p:pic>
        <p:nvPicPr>
          <p:cNvPr id="115714" name="Picture 4">
            <a:extLst>
              <a:ext uri="{FF2B5EF4-FFF2-40B4-BE49-F238E27FC236}">
                <a16:creationId xmlns:a16="http://schemas.microsoft.com/office/drawing/2014/main" id="{36204C87-8F94-D423-CEF7-9747926451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536" t="1071" r="8238" b="1254"/>
          <a:stretch>
            <a:fillRect/>
          </a:stretch>
        </p:blipFill>
        <p:spPr bwMode="auto">
          <a:xfrm>
            <a:off x="1006475" y="1222375"/>
            <a:ext cx="7188200" cy="503237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a:extLst>
              <a:ext uri="{FF2B5EF4-FFF2-40B4-BE49-F238E27FC236}">
                <a16:creationId xmlns:a16="http://schemas.microsoft.com/office/drawing/2014/main" id="{B9EA1BB1-7D86-2F21-7B8F-A2D5B5082A5A}"/>
              </a:ext>
            </a:extLst>
          </p:cNvPr>
          <p:cNvSpPr>
            <a:spLocks noGrp="1" noChangeArrowheads="1"/>
          </p:cNvSpPr>
          <p:nvPr>
            <p:ph type="title"/>
          </p:nvPr>
        </p:nvSpPr>
        <p:spPr/>
        <p:txBody>
          <a:bodyPr/>
          <a:lstStyle/>
          <a:p>
            <a:pPr eaLnBrk="1" hangingPunct="1"/>
            <a:r>
              <a:rPr lang="zh-CN" altLang="en-US" dirty="0"/>
              <a:t>共享页 </a:t>
            </a:r>
            <a:r>
              <a:rPr lang="en-US" altLang="zh-CN" dirty="0"/>
              <a:t>Shared Pages</a:t>
            </a:r>
            <a:endParaRPr lang="zh-CN" altLang="en-US" dirty="0"/>
          </a:p>
        </p:txBody>
      </p:sp>
      <p:sp>
        <p:nvSpPr>
          <p:cNvPr id="375811" name="Rectangle 3">
            <a:extLst>
              <a:ext uri="{FF2B5EF4-FFF2-40B4-BE49-F238E27FC236}">
                <a16:creationId xmlns:a16="http://schemas.microsoft.com/office/drawing/2014/main" id="{473781FE-64CE-45CC-CC6D-3F2AA1AA4E76}"/>
              </a:ext>
            </a:extLst>
          </p:cNvPr>
          <p:cNvSpPr>
            <a:spLocks noGrp="1" noChangeArrowheads="1"/>
          </p:cNvSpPr>
          <p:nvPr>
            <p:ph idx="1"/>
          </p:nvPr>
        </p:nvSpPr>
        <p:spPr>
          <a:xfrm>
            <a:off x="755650" y="1125538"/>
            <a:ext cx="8148638" cy="4967287"/>
          </a:xfrm>
        </p:spPr>
        <p:txBody>
          <a:bodyPr/>
          <a:lstStyle/>
          <a:p>
            <a:pPr algn="just" eaLnBrk="1" hangingPunct="1"/>
            <a:r>
              <a:rPr lang="zh-CN" altLang="en-US" dirty="0"/>
              <a:t>分页的优点之一是可以共享公共代码</a:t>
            </a:r>
            <a:endParaRPr lang="en-US" altLang="zh-CN" dirty="0"/>
          </a:p>
          <a:p>
            <a:pPr algn="just" eaLnBrk="1" hangingPunct="1"/>
            <a:r>
              <a:rPr lang="zh-CN" altLang="en-US" dirty="0"/>
              <a:t>如果代码是可重入代码，则可以共享</a:t>
            </a:r>
            <a:endParaRPr lang="en-US" altLang="zh-CN" dirty="0"/>
          </a:p>
          <a:p>
            <a:pPr lvl="1" algn="just"/>
            <a:r>
              <a:rPr lang="zh-CN" altLang="en-US" dirty="0"/>
              <a:t>又称为纯代码，是不能自我修改的代码，它在执行期间不会改变</a:t>
            </a:r>
            <a:endParaRPr lang="en-US" altLang="zh-CN" dirty="0"/>
          </a:p>
          <a:p>
            <a:pPr lvl="1" algn="just"/>
            <a:r>
              <a:rPr lang="zh-CN" altLang="en-US" dirty="0"/>
              <a:t>因此两个或更多的进程可以在相同的时间执行相同的代码</a:t>
            </a:r>
          </a:p>
          <a:p>
            <a:pPr eaLnBrk="1" hangingPunct="1"/>
            <a:r>
              <a:rPr lang="zh-CN" altLang="en-US" dirty="0"/>
              <a:t>信息的共享是通过使多个进程页表项指向同一个物理块来实现的</a:t>
            </a:r>
            <a:endParaRPr lang="en-US" altLang="zh-CN" sz="40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75811">
                                            <p:txEl>
                                              <p:pRg st="0" end="0"/>
                                            </p:txEl>
                                          </p:spTgt>
                                        </p:tgtEl>
                                        <p:attrNameLst>
                                          <p:attrName>style.visibility</p:attrName>
                                        </p:attrNameLst>
                                      </p:cBhvr>
                                      <p:to>
                                        <p:strVal val="visible"/>
                                      </p:to>
                                    </p:set>
                                    <p:animEffect transition="in" filter="checkerboard(across)">
                                      <p:cBhvr>
                                        <p:cTn id="7" dur="500"/>
                                        <p:tgtEl>
                                          <p:spTgt spid="3758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75811">
                                            <p:txEl>
                                              <p:pRg st="1" end="1"/>
                                            </p:txEl>
                                          </p:spTgt>
                                        </p:tgtEl>
                                        <p:attrNameLst>
                                          <p:attrName>style.visibility</p:attrName>
                                        </p:attrNameLst>
                                      </p:cBhvr>
                                      <p:to>
                                        <p:strVal val="visible"/>
                                      </p:to>
                                    </p:set>
                                    <p:animEffect transition="in" filter="checkerboard(across)">
                                      <p:cBhvr>
                                        <p:cTn id="12" dur="500"/>
                                        <p:tgtEl>
                                          <p:spTgt spid="3758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75811">
                                            <p:txEl>
                                              <p:pRg st="2" end="2"/>
                                            </p:txEl>
                                          </p:spTgt>
                                        </p:tgtEl>
                                        <p:attrNameLst>
                                          <p:attrName>style.visibility</p:attrName>
                                        </p:attrNameLst>
                                      </p:cBhvr>
                                      <p:to>
                                        <p:strVal val="visible"/>
                                      </p:to>
                                    </p:set>
                                    <p:animEffect transition="in" filter="checkerboard(across)">
                                      <p:cBhvr>
                                        <p:cTn id="17" dur="500"/>
                                        <p:tgtEl>
                                          <p:spTgt spid="3758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75811">
                                            <p:txEl>
                                              <p:pRg st="3" end="3"/>
                                            </p:txEl>
                                          </p:spTgt>
                                        </p:tgtEl>
                                        <p:attrNameLst>
                                          <p:attrName>style.visibility</p:attrName>
                                        </p:attrNameLst>
                                      </p:cBhvr>
                                      <p:to>
                                        <p:strVal val="visible"/>
                                      </p:to>
                                    </p:set>
                                    <p:animEffect transition="in" filter="checkerboard(across)">
                                      <p:cBhvr>
                                        <p:cTn id="22" dur="500"/>
                                        <p:tgtEl>
                                          <p:spTgt spid="3758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75811">
                                            <p:txEl>
                                              <p:pRg st="4" end="4"/>
                                            </p:txEl>
                                          </p:spTgt>
                                        </p:tgtEl>
                                        <p:attrNameLst>
                                          <p:attrName>style.visibility</p:attrName>
                                        </p:attrNameLst>
                                      </p:cBhvr>
                                      <p:to>
                                        <p:strVal val="visible"/>
                                      </p:to>
                                    </p:set>
                                    <p:animEffect transition="in" filter="checkerboard(across)">
                                      <p:cBhvr>
                                        <p:cTn id="27" dur="500"/>
                                        <p:tgtEl>
                                          <p:spTgt spid="3758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a16="http://schemas.microsoft.com/office/drawing/2014/main" id="{FF79E41E-7F6A-2B2A-8889-25999B1423CA}"/>
              </a:ext>
            </a:extLst>
          </p:cNvPr>
          <p:cNvSpPr>
            <a:spLocks noGrp="1" noChangeArrowheads="1"/>
          </p:cNvSpPr>
          <p:nvPr>
            <p:ph type="title"/>
          </p:nvPr>
        </p:nvSpPr>
        <p:spPr>
          <a:xfrm>
            <a:off x="1042988" y="225431"/>
            <a:ext cx="7850187" cy="746125"/>
          </a:xfrm>
        </p:spPr>
        <p:txBody>
          <a:bodyPr/>
          <a:lstStyle/>
          <a:p>
            <a:r>
              <a:rPr lang="zh-CN" altLang="en-US" dirty="0"/>
              <a:t>分页环境中的代码共享</a:t>
            </a:r>
            <a:endParaRPr lang="en-US" altLang="zh-CN" dirty="0"/>
          </a:p>
        </p:txBody>
      </p:sp>
      <p:sp>
        <p:nvSpPr>
          <p:cNvPr id="3" name="内容占位符 2">
            <a:extLst>
              <a:ext uri="{FF2B5EF4-FFF2-40B4-BE49-F238E27FC236}">
                <a16:creationId xmlns:a16="http://schemas.microsoft.com/office/drawing/2014/main" id="{5C0F334C-4466-0C49-7CB6-1964DE579E64}"/>
              </a:ext>
            </a:extLst>
          </p:cNvPr>
          <p:cNvSpPr>
            <a:spLocks noGrp="1"/>
          </p:cNvSpPr>
          <p:nvPr>
            <p:ph idx="1"/>
          </p:nvPr>
        </p:nvSpPr>
        <p:spPr/>
        <p:txBody>
          <a:bodyPr/>
          <a:lstStyle/>
          <a:p>
            <a:endParaRPr lang="zh-CN" altLang="en-US"/>
          </a:p>
        </p:txBody>
      </p:sp>
      <p:pic>
        <p:nvPicPr>
          <p:cNvPr id="117762" name="Picture 51">
            <a:extLst>
              <a:ext uri="{FF2B5EF4-FFF2-40B4-BE49-F238E27FC236}">
                <a16:creationId xmlns:a16="http://schemas.microsoft.com/office/drawing/2014/main" id="{C9E85BB8-29DF-CB51-4AB1-1E3F44DED7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98" t="848" r="1698" b="850"/>
          <a:stretch>
            <a:fillRect/>
          </a:stretch>
        </p:blipFill>
        <p:spPr bwMode="auto">
          <a:xfrm>
            <a:off x="884238" y="1147763"/>
            <a:ext cx="7323137" cy="5233987"/>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5871EDB4-8774-CDD9-9D70-33E00FE2D6BC}"/>
              </a:ext>
            </a:extLst>
          </p:cNvPr>
          <p:cNvSpPr>
            <a:spLocks noGrp="1" noChangeArrowheads="1"/>
          </p:cNvSpPr>
          <p:nvPr>
            <p:ph type="title"/>
          </p:nvPr>
        </p:nvSpPr>
        <p:spPr>
          <a:xfrm>
            <a:off x="1042988" y="225431"/>
            <a:ext cx="7850187" cy="746125"/>
          </a:xfrm>
        </p:spPr>
        <p:txBody>
          <a:bodyPr/>
          <a:lstStyle/>
          <a:p>
            <a:r>
              <a:rPr lang="zh-CN" altLang="en-US" dirty="0"/>
              <a:t>页表结构</a:t>
            </a:r>
          </a:p>
        </p:txBody>
      </p:sp>
      <p:sp>
        <p:nvSpPr>
          <p:cNvPr id="119810" name="Rectangle 3">
            <a:extLst>
              <a:ext uri="{FF2B5EF4-FFF2-40B4-BE49-F238E27FC236}">
                <a16:creationId xmlns:a16="http://schemas.microsoft.com/office/drawing/2014/main" id="{3AAC8727-8044-7ABD-8E93-3A3425DEB62C}"/>
              </a:ext>
            </a:extLst>
          </p:cNvPr>
          <p:cNvSpPr>
            <a:spLocks noGrp="1" noChangeArrowheads="1"/>
          </p:cNvSpPr>
          <p:nvPr>
            <p:ph idx="1"/>
          </p:nvPr>
        </p:nvSpPr>
        <p:spPr>
          <a:xfrm>
            <a:off x="935038" y="1233488"/>
            <a:ext cx="7772400" cy="4895850"/>
          </a:xfrm>
        </p:spPr>
        <p:txBody>
          <a:bodyPr/>
          <a:lstStyle/>
          <a:p>
            <a:r>
              <a:rPr lang="zh-CN" altLang="en-US" dirty="0"/>
              <a:t>组织页表的常用技术</a:t>
            </a:r>
            <a:endParaRPr lang="en-US" altLang="zh-CN" dirty="0"/>
          </a:p>
          <a:p>
            <a:pPr lvl="1"/>
            <a:r>
              <a:rPr lang="zh-CN" altLang="en-US" dirty="0"/>
              <a:t>分级页表  </a:t>
            </a:r>
            <a:r>
              <a:rPr lang="en-US" altLang="zh-CN" dirty="0"/>
              <a:t>Hierarchical Paging	</a:t>
            </a:r>
            <a:endParaRPr lang="zh-CN" altLang="en-US" dirty="0"/>
          </a:p>
          <a:p>
            <a:pPr lvl="1"/>
            <a:r>
              <a:rPr lang="zh-CN" altLang="en-US" dirty="0"/>
              <a:t>哈希页表  </a:t>
            </a:r>
            <a:r>
              <a:rPr lang="en-US" altLang="zh-CN" dirty="0"/>
              <a:t>Hashed Page Tables	</a:t>
            </a:r>
            <a:endParaRPr lang="zh-CN" altLang="en-US" dirty="0"/>
          </a:p>
          <a:p>
            <a:pPr lvl="1"/>
            <a:r>
              <a:rPr lang="zh-CN" altLang="en-US" dirty="0"/>
              <a:t>反向页表  </a:t>
            </a:r>
            <a:r>
              <a:rPr lang="en-US" altLang="zh-CN" dirty="0"/>
              <a:t>Inverted Page Tables</a:t>
            </a:r>
            <a:endParaRPr lang="zh-CN" altLang="en-US" dirty="0"/>
          </a:p>
        </p:txBody>
      </p:sp>
    </p:spTree>
  </p:cSld>
  <p:clrMapOvr>
    <a:masterClrMapping/>
  </p:clrMapOvr>
  <p:transition spd="med">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E7E1BA18-65D5-AB65-9053-7860544D1BDF}"/>
              </a:ext>
            </a:extLst>
          </p:cNvPr>
          <p:cNvSpPr>
            <a:spLocks noGrp="1" noChangeArrowheads="1"/>
          </p:cNvSpPr>
          <p:nvPr>
            <p:ph type="title"/>
          </p:nvPr>
        </p:nvSpPr>
        <p:spPr>
          <a:xfrm>
            <a:off x="1042988" y="225431"/>
            <a:ext cx="7850187" cy="746125"/>
          </a:xfrm>
        </p:spPr>
        <p:txBody>
          <a:bodyPr/>
          <a:lstStyle/>
          <a:p>
            <a:r>
              <a:rPr lang="zh-CN" altLang="en-US" dirty="0"/>
              <a:t>分级页表 </a:t>
            </a:r>
          </a:p>
        </p:txBody>
      </p:sp>
      <p:sp>
        <p:nvSpPr>
          <p:cNvPr id="378883" name="Rectangle 3">
            <a:extLst>
              <a:ext uri="{FF2B5EF4-FFF2-40B4-BE49-F238E27FC236}">
                <a16:creationId xmlns:a16="http://schemas.microsoft.com/office/drawing/2014/main" id="{F8CF6CAC-B1BC-BDEF-5380-92455C65A527}"/>
              </a:ext>
            </a:extLst>
          </p:cNvPr>
          <p:cNvSpPr>
            <a:spLocks noGrp="1" noChangeArrowheads="1"/>
          </p:cNvSpPr>
          <p:nvPr>
            <p:ph idx="1"/>
          </p:nvPr>
        </p:nvSpPr>
        <p:spPr>
          <a:xfrm>
            <a:off x="935038" y="1233488"/>
            <a:ext cx="7772400" cy="4895850"/>
          </a:xfrm>
        </p:spPr>
        <p:txBody>
          <a:bodyPr>
            <a:normAutofit/>
          </a:bodyPr>
          <a:lstStyle/>
          <a:p>
            <a:r>
              <a:rPr lang="zh-CN" altLang="en-US" dirty="0"/>
              <a:t>现代计算机系统都支持非常大的逻辑地址空间</a:t>
            </a:r>
            <a:endParaRPr lang="en-US" altLang="zh-CN" dirty="0"/>
          </a:p>
          <a:p>
            <a:r>
              <a:rPr lang="zh-CN" altLang="en-US" dirty="0"/>
              <a:t>在此情况下页表很大，显然不可能在内存中连续存放页表。</a:t>
            </a:r>
          </a:p>
          <a:p>
            <a:r>
              <a:rPr lang="zh-CN" altLang="en-US" dirty="0"/>
              <a:t>分级页表也称为</a:t>
            </a:r>
            <a:r>
              <a:rPr lang="zh-CN" altLang="en-US" b="1" dirty="0">
                <a:solidFill>
                  <a:srgbClr val="FF0000"/>
                </a:solidFill>
              </a:rPr>
              <a:t>多级页表</a:t>
            </a:r>
            <a:r>
              <a:rPr lang="zh-CN" altLang="en-US" dirty="0"/>
              <a:t>，层次页表。</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78883">
                                            <p:txEl>
                                              <p:pRg st="0" end="0"/>
                                            </p:txEl>
                                          </p:spTgt>
                                        </p:tgtEl>
                                        <p:attrNameLst>
                                          <p:attrName>style.visibility</p:attrName>
                                        </p:attrNameLst>
                                      </p:cBhvr>
                                      <p:to>
                                        <p:strVal val="visible"/>
                                      </p:to>
                                    </p:set>
                                    <p:animEffect transition="in" filter="checkerboard(across)">
                                      <p:cBhvr>
                                        <p:cTn id="7" dur="500"/>
                                        <p:tgtEl>
                                          <p:spTgt spid="3788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78883">
                                            <p:txEl>
                                              <p:pRg st="1" end="1"/>
                                            </p:txEl>
                                          </p:spTgt>
                                        </p:tgtEl>
                                        <p:attrNameLst>
                                          <p:attrName>style.visibility</p:attrName>
                                        </p:attrNameLst>
                                      </p:cBhvr>
                                      <p:to>
                                        <p:strVal val="visible"/>
                                      </p:to>
                                    </p:set>
                                    <p:animEffect transition="in" filter="checkerboard(across)">
                                      <p:cBhvr>
                                        <p:cTn id="12" dur="500"/>
                                        <p:tgtEl>
                                          <p:spTgt spid="3788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78883">
                                            <p:txEl>
                                              <p:pRg st="2" end="2"/>
                                            </p:txEl>
                                          </p:spTgt>
                                        </p:tgtEl>
                                        <p:attrNameLst>
                                          <p:attrName>style.visibility</p:attrName>
                                        </p:attrNameLst>
                                      </p:cBhvr>
                                      <p:to>
                                        <p:strVal val="visible"/>
                                      </p:to>
                                    </p:set>
                                    <p:animEffect transition="in" filter="checkerboard(across)">
                                      <p:cBhvr>
                                        <p:cTn id="17" dur="500"/>
                                        <p:tgtEl>
                                          <p:spTgt spid="3788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47AAB60E-E362-1FF1-673E-118D6359799C}"/>
              </a:ext>
            </a:extLst>
          </p:cNvPr>
          <p:cNvSpPr>
            <a:spLocks noGrp="1" noChangeArrowheads="1"/>
          </p:cNvSpPr>
          <p:nvPr>
            <p:ph type="title"/>
          </p:nvPr>
        </p:nvSpPr>
        <p:spPr>
          <a:xfrm>
            <a:off x="1042988" y="225431"/>
            <a:ext cx="7850187" cy="746125"/>
          </a:xfrm>
        </p:spPr>
        <p:txBody>
          <a:bodyPr/>
          <a:lstStyle/>
          <a:p>
            <a:r>
              <a:rPr lang="zh-CN" altLang="en-US" dirty="0"/>
              <a:t>分级页表</a:t>
            </a:r>
          </a:p>
        </p:txBody>
      </p:sp>
      <p:sp>
        <p:nvSpPr>
          <p:cNvPr id="152579" name="Rectangle 3">
            <a:extLst>
              <a:ext uri="{FF2B5EF4-FFF2-40B4-BE49-F238E27FC236}">
                <a16:creationId xmlns:a16="http://schemas.microsoft.com/office/drawing/2014/main" id="{2321B990-8D9B-EE10-930D-34E4A8EDC0E9}"/>
              </a:ext>
            </a:extLst>
          </p:cNvPr>
          <p:cNvSpPr>
            <a:spLocks noGrp="1" noChangeArrowheads="1"/>
          </p:cNvSpPr>
          <p:nvPr>
            <p:ph idx="1"/>
          </p:nvPr>
        </p:nvSpPr>
        <p:spPr>
          <a:xfrm>
            <a:off x="935038" y="1233488"/>
            <a:ext cx="7772400" cy="4895850"/>
          </a:xfrm>
        </p:spPr>
        <p:txBody>
          <a:bodyPr/>
          <a:lstStyle/>
          <a:p>
            <a:r>
              <a:rPr lang="zh-CN" altLang="en-US" dirty="0"/>
              <a:t>如具有32位逻辑地址空间的系统，页面大小4</a:t>
            </a:r>
            <a:r>
              <a:rPr lang="en-US" altLang="zh-CN" dirty="0"/>
              <a:t>KB，</a:t>
            </a:r>
            <a:r>
              <a:rPr lang="zh-CN" altLang="en-US" dirty="0"/>
              <a:t>则页表可以有1</a:t>
            </a:r>
            <a:r>
              <a:rPr lang="en-US" altLang="zh-CN" dirty="0"/>
              <a:t>M</a:t>
            </a:r>
            <a:r>
              <a:rPr lang="zh-CN" altLang="en-US" dirty="0"/>
              <a:t>项</a:t>
            </a:r>
            <a:r>
              <a:rPr lang="en-US" altLang="zh-CN" dirty="0"/>
              <a:t>，</a:t>
            </a:r>
            <a:r>
              <a:rPr lang="zh-CN" altLang="en-US" dirty="0"/>
              <a:t>若每个页表项占4字节，则页表共需要4</a:t>
            </a:r>
            <a:r>
              <a:rPr lang="en-US" altLang="zh-CN" dirty="0"/>
              <a:t>MB</a:t>
            </a:r>
            <a:r>
              <a:rPr lang="zh-CN" altLang="en-US" dirty="0"/>
              <a:t>内存空间。</a:t>
            </a:r>
          </a:p>
          <a:p>
            <a:r>
              <a:rPr lang="en-US" altLang="zh-CN" dirty="0"/>
              <a:t>   </a:t>
            </a:r>
          </a:p>
          <a:p>
            <a:r>
              <a:rPr lang="zh-CN" altLang="en-US" dirty="0"/>
              <a:t>解决方案：</a:t>
            </a:r>
          </a:p>
          <a:p>
            <a:pPr lvl="1"/>
            <a:r>
              <a:rPr lang="zh-CN" altLang="en-US" dirty="0"/>
              <a:t>用离散方式存储页表</a:t>
            </a:r>
          </a:p>
          <a:p>
            <a:pPr lvl="1"/>
            <a:r>
              <a:rPr lang="zh-CN" altLang="en-US" dirty="0"/>
              <a:t>仅将当前需要的部分页表项放在内存，其余放在磁盘上，需要时调入。</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animEffect transition="in" filter="checkerboard(across)">
                                      <p:cBhvr>
                                        <p:cTn id="7" dur="500"/>
                                        <p:tgtEl>
                                          <p:spTgt spid="152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52579">
                                            <p:txEl>
                                              <p:pRg st="1" end="1"/>
                                            </p:txEl>
                                          </p:spTgt>
                                        </p:tgtEl>
                                        <p:attrNameLst>
                                          <p:attrName>style.visibility</p:attrName>
                                        </p:attrNameLst>
                                      </p:cBhvr>
                                      <p:to>
                                        <p:strVal val="visible"/>
                                      </p:to>
                                    </p:set>
                                    <p:animEffect transition="in" filter="checkerboard(across)">
                                      <p:cBhvr>
                                        <p:cTn id="12" dur="500"/>
                                        <p:tgtEl>
                                          <p:spTgt spid="152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52579">
                                            <p:txEl>
                                              <p:pRg st="2" end="2"/>
                                            </p:txEl>
                                          </p:spTgt>
                                        </p:tgtEl>
                                        <p:attrNameLst>
                                          <p:attrName>style.visibility</p:attrName>
                                        </p:attrNameLst>
                                      </p:cBhvr>
                                      <p:to>
                                        <p:strVal val="visible"/>
                                      </p:to>
                                    </p:set>
                                    <p:animEffect transition="in" filter="checkerboard(across)">
                                      <p:cBhvr>
                                        <p:cTn id="17" dur="500"/>
                                        <p:tgtEl>
                                          <p:spTgt spid="1525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52579">
                                            <p:txEl>
                                              <p:pRg st="3" end="3"/>
                                            </p:txEl>
                                          </p:spTgt>
                                        </p:tgtEl>
                                        <p:attrNameLst>
                                          <p:attrName>style.visibility</p:attrName>
                                        </p:attrNameLst>
                                      </p:cBhvr>
                                      <p:to>
                                        <p:strVal val="visible"/>
                                      </p:to>
                                    </p:set>
                                    <p:animEffect transition="in" filter="checkerboard(across)">
                                      <p:cBhvr>
                                        <p:cTn id="22" dur="500"/>
                                        <p:tgtEl>
                                          <p:spTgt spid="1525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52579">
                                            <p:txEl>
                                              <p:pRg st="4" end="4"/>
                                            </p:txEl>
                                          </p:spTgt>
                                        </p:tgtEl>
                                        <p:attrNameLst>
                                          <p:attrName>style.visibility</p:attrName>
                                        </p:attrNameLst>
                                      </p:cBhvr>
                                      <p:to>
                                        <p:strVal val="visible"/>
                                      </p:to>
                                    </p:set>
                                    <p:animEffect transition="in" filter="checkerboard(across)">
                                      <p:cBhvr>
                                        <p:cTn id="27" dur="500"/>
                                        <p:tgtEl>
                                          <p:spTgt spid="1525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3CA49D16-4E31-3FFE-C161-86E24D893ADF}"/>
              </a:ext>
            </a:extLst>
          </p:cNvPr>
          <p:cNvSpPr>
            <a:spLocks noGrp="1" noChangeArrowheads="1"/>
          </p:cNvSpPr>
          <p:nvPr>
            <p:ph type="title"/>
          </p:nvPr>
        </p:nvSpPr>
        <p:spPr>
          <a:xfrm>
            <a:off x="1042988" y="225431"/>
            <a:ext cx="7850187" cy="746125"/>
          </a:xfrm>
        </p:spPr>
        <p:txBody>
          <a:bodyPr/>
          <a:lstStyle/>
          <a:p>
            <a:r>
              <a:rPr lang="zh-CN" altLang="en-US" dirty="0"/>
              <a:t>两级页表</a:t>
            </a:r>
          </a:p>
        </p:txBody>
      </p:sp>
      <p:sp>
        <p:nvSpPr>
          <p:cNvPr id="122882" name="Rectangle 3">
            <a:extLst>
              <a:ext uri="{FF2B5EF4-FFF2-40B4-BE49-F238E27FC236}">
                <a16:creationId xmlns:a16="http://schemas.microsoft.com/office/drawing/2014/main" id="{B586F296-5D3E-4431-AB67-1768366F48D5}"/>
              </a:ext>
            </a:extLst>
          </p:cNvPr>
          <p:cNvSpPr>
            <a:spLocks noGrp="1" noChangeArrowheads="1"/>
          </p:cNvSpPr>
          <p:nvPr>
            <p:ph idx="1"/>
          </p:nvPr>
        </p:nvSpPr>
        <p:spPr>
          <a:xfrm>
            <a:off x="935038" y="1233488"/>
            <a:ext cx="7772400" cy="4895850"/>
          </a:xfrm>
        </p:spPr>
        <p:txBody>
          <a:bodyPr/>
          <a:lstStyle/>
          <a:p>
            <a:r>
              <a:rPr lang="zh-CN" altLang="en-US" dirty="0"/>
              <a:t>将页表再分页，使每页与内存物理块大小相同，并为它们进行编号0、1、…，同时还为离散存放的页表建立一张页表。</a:t>
            </a:r>
          </a:p>
          <a:p>
            <a:r>
              <a:rPr lang="zh-CN" altLang="en-US" dirty="0"/>
              <a:t>例如：一个32位、</a:t>
            </a:r>
            <a:r>
              <a:rPr lang="en-US" altLang="zh-CN" dirty="0"/>
              <a:t>4KB</a:t>
            </a:r>
            <a:r>
              <a:rPr lang="zh-CN" altLang="en-US" dirty="0"/>
              <a:t>页面大小的逻辑地址可以划分为：</a:t>
            </a:r>
            <a:r>
              <a:rPr lang="en-US" altLang="zh-CN" dirty="0"/>
              <a:t>   </a:t>
            </a:r>
            <a:endParaRPr lang="zh-CN" altLang="en-US" dirty="0"/>
          </a:p>
        </p:txBody>
      </p:sp>
      <p:grpSp>
        <p:nvGrpSpPr>
          <p:cNvPr id="122883" name="Group 16">
            <a:extLst>
              <a:ext uri="{FF2B5EF4-FFF2-40B4-BE49-F238E27FC236}">
                <a16:creationId xmlns:a16="http://schemas.microsoft.com/office/drawing/2014/main" id="{1D831044-342C-ACB8-4DF5-914A5527AD83}"/>
              </a:ext>
            </a:extLst>
          </p:cNvPr>
          <p:cNvGrpSpPr>
            <a:grpSpLocks/>
          </p:cNvGrpSpPr>
          <p:nvPr/>
        </p:nvGrpSpPr>
        <p:grpSpPr bwMode="auto">
          <a:xfrm>
            <a:off x="1476375" y="4511675"/>
            <a:ext cx="6767513" cy="1725613"/>
            <a:chOff x="749" y="681"/>
            <a:chExt cx="4263" cy="1087"/>
          </a:xfrm>
        </p:grpSpPr>
        <p:sp>
          <p:nvSpPr>
            <p:cNvPr id="122884" name="Rectangle 17">
              <a:extLst>
                <a:ext uri="{FF2B5EF4-FFF2-40B4-BE49-F238E27FC236}">
                  <a16:creationId xmlns:a16="http://schemas.microsoft.com/office/drawing/2014/main" id="{678B9EE4-5C8D-56AD-48A8-77BECDC655E4}"/>
                </a:ext>
              </a:extLst>
            </p:cNvPr>
            <p:cNvSpPr>
              <a:spLocks noChangeArrowheads="1"/>
            </p:cNvSpPr>
            <p:nvPr/>
          </p:nvSpPr>
          <p:spPr bwMode="auto">
            <a:xfrm>
              <a:off x="749" y="1036"/>
              <a:ext cx="4263" cy="374"/>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122885" name="Line 18">
              <a:extLst>
                <a:ext uri="{FF2B5EF4-FFF2-40B4-BE49-F238E27FC236}">
                  <a16:creationId xmlns:a16="http://schemas.microsoft.com/office/drawing/2014/main" id="{19506A62-CA64-4555-4A23-0857766678F6}"/>
                </a:ext>
              </a:extLst>
            </p:cNvPr>
            <p:cNvSpPr>
              <a:spLocks noChangeShapeType="1"/>
            </p:cNvSpPr>
            <p:nvPr/>
          </p:nvSpPr>
          <p:spPr bwMode="auto">
            <a:xfrm>
              <a:off x="1900" y="1039"/>
              <a:ext cx="0" cy="3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86" name="Line 19">
              <a:extLst>
                <a:ext uri="{FF2B5EF4-FFF2-40B4-BE49-F238E27FC236}">
                  <a16:creationId xmlns:a16="http://schemas.microsoft.com/office/drawing/2014/main" id="{494C24EB-130D-82E2-9D01-2864D3D255F9}"/>
                </a:ext>
              </a:extLst>
            </p:cNvPr>
            <p:cNvSpPr>
              <a:spLocks noChangeShapeType="1"/>
            </p:cNvSpPr>
            <p:nvPr/>
          </p:nvSpPr>
          <p:spPr bwMode="auto">
            <a:xfrm>
              <a:off x="3016" y="773"/>
              <a:ext cx="0" cy="6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87" name="Text Box 20">
              <a:extLst>
                <a:ext uri="{FF2B5EF4-FFF2-40B4-BE49-F238E27FC236}">
                  <a16:creationId xmlns:a16="http://schemas.microsoft.com/office/drawing/2014/main" id="{2C75D3F2-7E7B-D64F-F1F2-3387D767B22B}"/>
                </a:ext>
              </a:extLst>
            </p:cNvPr>
            <p:cNvSpPr txBox="1">
              <a:spLocks noChangeArrowheads="1"/>
            </p:cNvSpPr>
            <p:nvPr/>
          </p:nvSpPr>
          <p:spPr bwMode="auto">
            <a:xfrm>
              <a:off x="958" y="681"/>
              <a:ext cx="12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a:latin typeface="Helvetica" pitchFamily="2" charset="0"/>
                </a:rPr>
                <a:t>page number</a:t>
              </a:r>
            </a:p>
          </p:txBody>
        </p:sp>
        <p:sp>
          <p:nvSpPr>
            <p:cNvPr id="122888" name="Text Box 21">
              <a:extLst>
                <a:ext uri="{FF2B5EF4-FFF2-40B4-BE49-F238E27FC236}">
                  <a16:creationId xmlns:a16="http://schemas.microsoft.com/office/drawing/2014/main" id="{86C44789-E512-2482-C8BA-EC461AF35634}"/>
                </a:ext>
              </a:extLst>
            </p:cNvPr>
            <p:cNvSpPr txBox="1">
              <a:spLocks noChangeArrowheads="1"/>
            </p:cNvSpPr>
            <p:nvPr/>
          </p:nvSpPr>
          <p:spPr bwMode="auto">
            <a:xfrm>
              <a:off x="3459" y="689"/>
              <a:ext cx="10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a:latin typeface="Helvetica" pitchFamily="2" charset="0"/>
                </a:rPr>
                <a:t>page offset</a:t>
              </a:r>
            </a:p>
          </p:txBody>
        </p:sp>
        <p:sp>
          <p:nvSpPr>
            <p:cNvPr id="122889" name="Text Box 22">
              <a:extLst>
                <a:ext uri="{FF2B5EF4-FFF2-40B4-BE49-F238E27FC236}">
                  <a16:creationId xmlns:a16="http://schemas.microsoft.com/office/drawing/2014/main" id="{F1EBEF8D-F262-9035-7133-683B8FC8A887}"/>
                </a:ext>
              </a:extLst>
            </p:cNvPr>
            <p:cNvSpPr txBox="1">
              <a:spLocks noChangeArrowheads="1"/>
            </p:cNvSpPr>
            <p:nvPr/>
          </p:nvSpPr>
          <p:spPr bwMode="auto">
            <a:xfrm>
              <a:off x="1152" y="1073"/>
              <a:ext cx="2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i="1">
                  <a:latin typeface="Helvetica" pitchFamily="2" charset="0"/>
                </a:rPr>
                <a:t>p</a:t>
              </a:r>
              <a:r>
                <a:rPr lang="en-US" altLang="zh-CN" baseline="-25000">
                  <a:latin typeface="Helvetica" pitchFamily="2" charset="0"/>
                </a:rPr>
                <a:t>1</a:t>
              </a:r>
              <a:endParaRPr lang="en-US" altLang="zh-CN">
                <a:latin typeface="Helvetica" pitchFamily="2" charset="0"/>
              </a:endParaRPr>
            </a:p>
          </p:txBody>
        </p:sp>
        <p:sp>
          <p:nvSpPr>
            <p:cNvPr id="122890" name="Text Box 23">
              <a:extLst>
                <a:ext uri="{FF2B5EF4-FFF2-40B4-BE49-F238E27FC236}">
                  <a16:creationId xmlns:a16="http://schemas.microsoft.com/office/drawing/2014/main" id="{CBF018BB-D32D-553C-FA01-010CB05E32BC}"/>
                </a:ext>
              </a:extLst>
            </p:cNvPr>
            <p:cNvSpPr txBox="1">
              <a:spLocks noChangeArrowheads="1"/>
            </p:cNvSpPr>
            <p:nvPr/>
          </p:nvSpPr>
          <p:spPr bwMode="auto">
            <a:xfrm>
              <a:off x="2251" y="1065"/>
              <a:ext cx="2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i="1">
                  <a:latin typeface="Helvetica" pitchFamily="2" charset="0"/>
                </a:rPr>
                <a:t>p</a:t>
              </a:r>
              <a:r>
                <a:rPr lang="en-US" altLang="zh-CN" baseline="-25000">
                  <a:latin typeface="Helvetica" pitchFamily="2" charset="0"/>
                </a:rPr>
                <a:t>2</a:t>
              </a:r>
              <a:endParaRPr lang="en-US" altLang="zh-CN">
                <a:latin typeface="Helvetica" pitchFamily="2" charset="0"/>
              </a:endParaRPr>
            </a:p>
          </p:txBody>
        </p:sp>
        <p:sp>
          <p:nvSpPr>
            <p:cNvPr id="122891" name="Text Box 24">
              <a:extLst>
                <a:ext uri="{FF2B5EF4-FFF2-40B4-BE49-F238E27FC236}">
                  <a16:creationId xmlns:a16="http://schemas.microsoft.com/office/drawing/2014/main" id="{1B891528-5517-9553-B0BD-ACE150E201CD}"/>
                </a:ext>
              </a:extLst>
            </p:cNvPr>
            <p:cNvSpPr txBox="1">
              <a:spLocks noChangeArrowheads="1"/>
            </p:cNvSpPr>
            <p:nvPr/>
          </p:nvSpPr>
          <p:spPr bwMode="auto">
            <a:xfrm>
              <a:off x="3602" y="1096"/>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i="1">
                  <a:latin typeface="Helvetica" pitchFamily="2" charset="0"/>
                </a:rPr>
                <a:t>d</a:t>
              </a:r>
              <a:endParaRPr lang="en-US" altLang="zh-CN">
                <a:latin typeface="Helvetica" pitchFamily="2" charset="0"/>
              </a:endParaRPr>
            </a:p>
          </p:txBody>
        </p:sp>
        <p:sp>
          <p:nvSpPr>
            <p:cNvPr id="122892" name="Text Box 25">
              <a:extLst>
                <a:ext uri="{FF2B5EF4-FFF2-40B4-BE49-F238E27FC236}">
                  <a16:creationId xmlns:a16="http://schemas.microsoft.com/office/drawing/2014/main" id="{3163627C-575C-1C73-BF05-E94ECF3B247F}"/>
                </a:ext>
              </a:extLst>
            </p:cNvPr>
            <p:cNvSpPr txBox="1">
              <a:spLocks noChangeArrowheads="1"/>
            </p:cNvSpPr>
            <p:nvPr/>
          </p:nvSpPr>
          <p:spPr bwMode="auto">
            <a:xfrm>
              <a:off x="975" y="1480"/>
              <a:ext cx="6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spcBef>
                  <a:spcPct val="50000"/>
                </a:spcBef>
              </a:pPr>
              <a:r>
                <a:rPr lang="zh-CN" altLang="en-US">
                  <a:latin typeface="Helvetica" pitchFamily="2" charset="0"/>
                </a:rPr>
                <a:t>10</a:t>
              </a:r>
            </a:p>
          </p:txBody>
        </p:sp>
        <p:sp>
          <p:nvSpPr>
            <p:cNvPr id="122893" name="Text Box 26">
              <a:extLst>
                <a:ext uri="{FF2B5EF4-FFF2-40B4-BE49-F238E27FC236}">
                  <a16:creationId xmlns:a16="http://schemas.microsoft.com/office/drawing/2014/main" id="{304FEC65-31DC-A147-12C3-75D0B45B3BB5}"/>
                </a:ext>
              </a:extLst>
            </p:cNvPr>
            <p:cNvSpPr txBox="1">
              <a:spLocks noChangeArrowheads="1"/>
            </p:cNvSpPr>
            <p:nvPr/>
          </p:nvSpPr>
          <p:spPr bwMode="auto">
            <a:xfrm>
              <a:off x="2083" y="1480"/>
              <a:ext cx="6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spcBef>
                  <a:spcPct val="50000"/>
                </a:spcBef>
              </a:pPr>
              <a:r>
                <a:rPr lang="zh-CN" altLang="en-US">
                  <a:latin typeface="Helvetica" pitchFamily="2" charset="0"/>
                </a:rPr>
                <a:t>10</a:t>
              </a:r>
            </a:p>
          </p:txBody>
        </p:sp>
        <p:sp>
          <p:nvSpPr>
            <p:cNvPr id="122894" name="Text Box 27">
              <a:extLst>
                <a:ext uri="{FF2B5EF4-FFF2-40B4-BE49-F238E27FC236}">
                  <a16:creationId xmlns:a16="http://schemas.microsoft.com/office/drawing/2014/main" id="{83B48917-9F33-52CB-7A7C-1189A7D92F2F}"/>
                </a:ext>
              </a:extLst>
            </p:cNvPr>
            <p:cNvSpPr txBox="1">
              <a:spLocks noChangeArrowheads="1"/>
            </p:cNvSpPr>
            <p:nvPr/>
          </p:nvSpPr>
          <p:spPr bwMode="auto">
            <a:xfrm>
              <a:off x="3547" y="1480"/>
              <a:ext cx="6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spcBef>
                  <a:spcPct val="50000"/>
                </a:spcBef>
              </a:pPr>
              <a:r>
                <a:rPr lang="zh-CN" altLang="en-US">
                  <a:latin typeface="Helvetica" pitchFamily="2" charset="0"/>
                </a:rPr>
                <a:t>12</a:t>
              </a:r>
            </a:p>
          </p:txBody>
        </p:sp>
      </p:grpSp>
    </p:spTree>
  </p:cSld>
  <p:clrMapOvr>
    <a:masterClrMapping/>
  </p:clrMapOvr>
  <p:transition spd="med">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a:extLst>
              <a:ext uri="{FF2B5EF4-FFF2-40B4-BE49-F238E27FC236}">
                <a16:creationId xmlns:a16="http://schemas.microsoft.com/office/drawing/2014/main" id="{BF348FC3-C550-0E7C-06BD-98175E4CF5BC}"/>
              </a:ext>
            </a:extLst>
          </p:cNvPr>
          <p:cNvSpPr>
            <a:spLocks noGrp="1" noChangeArrowheads="1"/>
          </p:cNvSpPr>
          <p:nvPr>
            <p:ph type="title"/>
          </p:nvPr>
        </p:nvSpPr>
        <p:spPr>
          <a:xfrm>
            <a:off x="1042988" y="225431"/>
            <a:ext cx="7850187" cy="746125"/>
          </a:xfrm>
        </p:spPr>
        <p:txBody>
          <a:bodyPr/>
          <a:lstStyle/>
          <a:p>
            <a:r>
              <a:rPr lang="zh-CN" altLang="en-US" dirty="0"/>
              <a:t>两级页表</a:t>
            </a:r>
          </a:p>
        </p:txBody>
      </p:sp>
      <p:sp>
        <p:nvSpPr>
          <p:cNvPr id="123906" name="Rectangle 3">
            <a:extLst>
              <a:ext uri="{FF2B5EF4-FFF2-40B4-BE49-F238E27FC236}">
                <a16:creationId xmlns:a16="http://schemas.microsoft.com/office/drawing/2014/main" id="{750C1A1F-C365-C5B6-F08F-3DB56C1BDAF4}"/>
              </a:ext>
            </a:extLst>
          </p:cNvPr>
          <p:cNvSpPr>
            <a:spLocks noGrp="1" noChangeArrowheads="1"/>
          </p:cNvSpPr>
          <p:nvPr>
            <p:ph idx="1"/>
          </p:nvPr>
        </p:nvSpPr>
        <p:spPr>
          <a:xfrm>
            <a:off x="935038" y="1233488"/>
            <a:ext cx="7772400" cy="4895850"/>
          </a:xfrm>
        </p:spPr>
        <p:txBody>
          <a:bodyPr/>
          <a:lstStyle/>
          <a:p>
            <a:endParaRPr lang="en-US" altLang="zh-CN" dirty="0"/>
          </a:p>
          <a:p>
            <a:endParaRPr lang="en-US" altLang="zh-CN" dirty="0"/>
          </a:p>
          <a:p>
            <a:endParaRPr lang="en-US" altLang="zh-CN" dirty="0"/>
          </a:p>
          <a:p>
            <a:r>
              <a:rPr lang="en-US" altLang="zh-CN" dirty="0"/>
              <a:t>p1</a:t>
            </a:r>
            <a:r>
              <a:rPr lang="zh-CN" altLang="en-US" dirty="0"/>
              <a:t>是访问外部页表的索引， </a:t>
            </a:r>
            <a:r>
              <a:rPr lang="en-US" altLang="zh-CN" dirty="0"/>
              <a:t>p2</a:t>
            </a:r>
            <a:r>
              <a:rPr lang="zh-CN" altLang="en-US" dirty="0"/>
              <a:t>是外部页表的偏移</a:t>
            </a:r>
          </a:p>
          <a:p>
            <a:r>
              <a:rPr lang="zh-CN" altLang="en-US" dirty="0"/>
              <a:t>也称</a:t>
            </a:r>
            <a:r>
              <a:rPr lang="en-US" altLang="zh-CN" dirty="0"/>
              <a:t>p1</a:t>
            </a:r>
            <a:r>
              <a:rPr lang="zh-CN" altLang="en-US" dirty="0"/>
              <a:t>是一级页号， </a:t>
            </a:r>
            <a:r>
              <a:rPr lang="en-US" altLang="zh-CN" dirty="0"/>
              <a:t>p2</a:t>
            </a:r>
            <a:r>
              <a:rPr lang="zh-CN" altLang="en-US" dirty="0"/>
              <a:t>是二级页号</a:t>
            </a:r>
          </a:p>
        </p:txBody>
      </p:sp>
      <p:grpSp>
        <p:nvGrpSpPr>
          <p:cNvPr id="123907" name="Group 16">
            <a:extLst>
              <a:ext uri="{FF2B5EF4-FFF2-40B4-BE49-F238E27FC236}">
                <a16:creationId xmlns:a16="http://schemas.microsoft.com/office/drawing/2014/main" id="{F3AA8D83-0819-63AA-23DD-FDBD08E7EB25}"/>
              </a:ext>
            </a:extLst>
          </p:cNvPr>
          <p:cNvGrpSpPr>
            <a:grpSpLocks/>
          </p:cNvGrpSpPr>
          <p:nvPr/>
        </p:nvGrpSpPr>
        <p:grpSpPr bwMode="auto">
          <a:xfrm>
            <a:off x="1189038" y="1081088"/>
            <a:ext cx="6767512" cy="1725612"/>
            <a:chOff x="749" y="681"/>
            <a:chExt cx="4263" cy="1087"/>
          </a:xfrm>
        </p:grpSpPr>
        <p:sp>
          <p:nvSpPr>
            <p:cNvPr id="123908" name="Rectangle 5">
              <a:extLst>
                <a:ext uri="{FF2B5EF4-FFF2-40B4-BE49-F238E27FC236}">
                  <a16:creationId xmlns:a16="http://schemas.microsoft.com/office/drawing/2014/main" id="{3DB19FE5-695E-1A29-A00B-D7397F12DFA1}"/>
                </a:ext>
              </a:extLst>
            </p:cNvPr>
            <p:cNvSpPr>
              <a:spLocks noChangeArrowheads="1"/>
            </p:cNvSpPr>
            <p:nvPr/>
          </p:nvSpPr>
          <p:spPr bwMode="auto">
            <a:xfrm>
              <a:off x="749" y="1036"/>
              <a:ext cx="4263" cy="374"/>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123909" name="Line 6">
              <a:extLst>
                <a:ext uri="{FF2B5EF4-FFF2-40B4-BE49-F238E27FC236}">
                  <a16:creationId xmlns:a16="http://schemas.microsoft.com/office/drawing/2014/main" id="{213739CC-83F8-168F-64CE-203AA33A609E}"/>
                </a:ext>
              </a:extLst>
            </p:cNvPr>
            <p:cNvSpPr>
              <a:spLocks noChangeShapeType="1"/>
            </p:cNvSpPr>
            <p:nvPr/>
          </p:nvSpPr>
          <p:spPr bwMode="auto">
            <a:xfrm>
              <a:off x="1900" y="1039"/>
              <a:ext cx="0" cy="3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10" name="Line 7">
              <a:extLst>
                <a:ext uri="{FF2B5EF4-FFF2-40B4-BE49-F238E27FC236}">
                  <a16:creationId xmlns:a16="http://schemas.microsoft.com/office/drawing/2014/main" id="{56E9BDB5-970A-C1DE-6E81-6D8742EE2B56}"/>
                </a:ext>
              </a:extLst>
            </p:cNvPr>
            <p:cNvSpPr>
              <a:spLocks noChangeShapeType="1"/>
            </p:cNvSpPr>
            <p:nvPr/>
          </p:nvSpPr>
          <p:spPr bwMode="auto">
            <a:xfrm>
              <a:off x="3016" y="773"/>
              <a:ext cx="0" cy="6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11" name="Text Box 8">
              <a:extLst>
                <a:ext uri="{FF2B5EF4-FFF2-40B4-BE49-F238E27FC236}">
                  <a16:creationId xmlns:a16="http://schemas.microsoft.com/office/drawing/2014/main" id="{49204673-4022-3360-BE3B-56A0ECBC809B}"/>
                </a:ext>
              </a:extLst>
            </p:cNvPr>
            <p:cNvSpPr txBox="1">
              <a:spLocks noChangeArrowheads="1"/>
            </p:cNvSpPr>
            <p:nvPr/>
          </p:nvSpPr>
          <p:spPr bwMode="auto">
            <a:xfrm>
              <a:off x="958" y="681"/>
              <a:ext cx="12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a:latin typeface="Helvetica" pitchFamily="2" charset="0"/>
                </a:rPr>
                <a:t>page number</a:t>
              </a:r>
            </a:p>
          </p:txBody>
        </p:sp>
        <p:sp>
          <p:nvSpPr>
            <p:cNvPr id="123912" name="Text Box 9">
              <a:extLst>
                <a:ext uri="{FF2B5EF4-FFF2-40B4-BE49-F238E27FC236}">
                  <a16:creationId xmlns:a16="http://schemas.microsoft.com/office/drawing/2014/main" id="{6CC969BE-F02F-EBDB-E750-CD084D37BCF2}"/>
                </a:ext>
              </a:extLst>
            </p:cNvPr>
            <p:cNvSpPr txBox="1">
              <a:spLocks noChangeArrowheads="1"/>
            </p:cNvSpPr>
            <p:nvPr/>
          </p:nvSpPr>
          <p:spPr bwMode="auto">
            <a:xfrm>
              <a:off x="3459" y="689"/>
              <a:ext cx="10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a:latin typeface="Helvetica" pitchFamily="2" charset="0"/>
                </a:rPr>
                <a:t>page offset</a:t>
              </a:r>
            </a:p>
          </p:txBody>
        </p:sp>
        <p:sp>
          <p:nvSpPr>
            <p:cNvPr id="123913" name="Text Box 10">
              <a:extLst>
                <a:ext uri="{FF2B5EF4-FFF2-40B4-BE49-F238E27FC236}">
                  <a16:creationId xmlns:a16="http://schemas.microsoft.com/office/drawing/2014/main" id="{C04581FD-9F09-EE6F-8B70-1F3382353683}"/>
                </a:ext>
              </a:extLst>
            </p:cNvPr>
            <p:cNvSpPr txBox="1">
              <a:spLocks noChangeArrowheads="1"/>
            </p:cNvSpPr>
            <p:nvPr/>
          </p:nvSpPr>
          <p:spPr bwMode="auto">
            <a:xfrm>
              <a:off x="1152" y="1073"/>
              <a:ext cx="2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i="1">
                  <a:latin typeface="Helvetica" pitchFamily="2" charset="0"/>
                </a:rPr>
                <a:t>p</a:t>
              </a:r>
              <a:r>
                <a:rPr lang="en-US" altLang="zh-CN" baseline="-25000">
                  <a:latin typeface="Helvetica" pitchFamily="2" charset="0"/>
                </a:rPr>
                <a:t>1</a:t>
              </a:r>
              <a:endParaRPr lang="en-US" altLang="zh-CN">
                <a:latin typeface="Helvetica" pitchFamily="2" charset="0"/>
              </a:endParaRPr>
            </a:p>
          </p:txBody>
        </p:sp>
        <p:sp>
          <p:nvSpPr>
            <p:cNvPr id="123914" name="Text Box 11">
              <a:extLst>
                <a:ext uri="{FF2B5EF4-FFF2-40B4-BE49-F238E27FC236}">
                  <a16:creationId xmlns:a16="http://schemas.microsoft.com/office/drawing/2014/main" id="{F37DA2CA-4A3C-BBAD-0063-316BC493C93D}"/>
                </a:ext>
              </a:extLst>
            </p:cNvPr>
            <p:cNvSpPr txBox="1">
              <a:spLocks noChangeArrowheads="1"/>
            </p:cNvSpPr>
            <p:nvPr/>
          </p:nvSpPr>
          <p:spPr bwMode="auto">
            <a:xfrm>
              <a:off x="2251" y="1065"/>
              <a:ext cx="2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i="1">
                  <a:latin typeface="Helvetica" pitchFamily="2" charset="0"/>
                </a:rPr>
                <a:t>p</a:t>
              </a:r>
              <a:r>
                <a:rPr lang="en-US" altLang="zh-CN" baseline="-25000">
                  <a:latin typeface="Helvetica" pitchFamily="2" charset="0"/>
                </a:rPr>
                <a:t>2</a:t>
              </a:r>
              <a:endParaRPr lang="en-US" altLang="zh-CN">
                <a:latin typeface="Helvetica" pitchFamily="2" charset="0"/>
              </a:endParaRPr>
            </a:p>
          </p:txBody>
        </p:sp>
        <p:sp>
          <p:nvSpPr>
            <p:cNvPr id="123915" name="Text Box 12">
              <a:extLst>
                <a:ext uri="{FF2B5EF4-FFF2-40B4-BE49-F238E27FC236}">
                  <a16:creationId xmlns:a16="http://schemas.microsoft.com/office/drawing/2014/main" id="{7CC32162-9EBA-DFB1-D172-10B733009565}"/>
                </a:ext>
              </a:extLst>
            </p:cNvPr>
            <p:cNvSpPr txBox="1">
              <a:spLocks noChangeArrowheads="1"/>
            </p:cNvSpPr>
            <p:nvPr/>
          </p:nvSpPr>
          <p:spPr bwMode="auto">
            <a:xfrm>
              <a:off x="3602" y="1096"/>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i="1">
                  <a:latin typeface="Helvetica" pitchFamily="2" charset="0"/>
                </a:rPr>
                <a:t>d</a:t>
              </a:r>
              <a:endParaRPr lang="en-US" altLang="zh-CN">
                <a:latin typeface="Helvetica" pitchFamily="2" charset="0"/>
              </a:endParaRPr>
            </a:p>
          </p:txBody>
        </p:sp>
        <p:sp>
          <p:nvSpPr>
            <p:cNvPr id="123916" name="Text Box 13">
              <a:extLst>
                <a:ext uri="{FF2B5EF4-FFF2-40B4-BE49-F238E27FC236}">
                  <a16:creationId xmlns:a16="http://schemas.microsoft.com/office/drawing/2014/main" id="{9CD364D8-8B95-71E4-2B7F-886D81A81190}"/>
                </a:ext>
              </a:extLst>
            </p:cNvPr>
            <p:cNvSpPr txBox="1">
              <a:spLocks noChangeArrowheads="1"/>
            </p:cNvSpPr>
            <p:nvPr/>
          </p:nvSpPr>
          <p:spPr bwMode="auto">
            <a:xfrm>
              <a:off x="975" y="1480"/>
              <a:ext cx="6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spcBef>
                  <a:spcPct val="50000"/>
                </a:spcBef>
              </a:pPr>
              <a:r>
                <a:rPr lang="zh-CN" altLang="en-US">
                  <a:latin typeface="Helvetica" pitchFamily="2" charset="0"/>
                </a:rPr>
                <a:t>10</a:t>
              </a:r>
            </a:p>
          </p:txBody>
        </p:sp>
        <p:sp>
          <p:nvSpPr>
            <p:cNvPr id="123917" name="Text Box 14">
              <a:extLst>
                <a:ext uri="{FF2B5EF4-FFF2-40B4-BE49-F238E27FC236}">
                  <a16:creationId xmlns:a16="http://schemas.microsoft.com/office/drawing/2014/main" id="{7D035F28-6DDF-362E-CFA2-7CE678290C33}"/>
                </a:ext>
              </a:extLst>
            </p:cNvPr>
            <p:cNvSpPr txBox="1">
              <a:spLocks noChangeArrowheads="1"/>
            </p:cNvSpPr>
            <p:nvPr/>
          </p:nvSpPr>
          <p:spPr bwMode="auto">
            <a:xfrm>
              <a:off x="2083" y="1480"/>
              <a:ext cx="6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spcBef>
                  <a:spcPct val="50000"/>
                </a:spcBef>
              </a:pPr>
              <a:r>
                <a:rPr lang="zh-CN" altLang="en-US">
                  <a:latin typeface="Helvetica" pitchFamily="2" charset="0"/>
                </a:rPr>
                <a:t>10</a:t>
              </a:r>
            </a:p>
          </p:txBody>
        </p:sp>
        <p:sp>
          <p:nvSpPr>
            <p:cNvPr id="123918" name="Text Box 15">
              <a:extLst>
                <a:ext uri="{FF2B5EF4-FFF2-40B4-BE49-F238E27FC236}">
                  <a16:creationId xmlns:a16="http://schemas.microsoft.com/office/drawing/2014/main" id="{C1822B2C-7C18-189C-9E0B-44E758486411}"/>
                </a:ext>
              </a:extLst>
            </p:cNvPr>
            <p:cNvSpPr txBox="1">
              <a:spLocks noChangeArrowheads="1"/>
            </p:cNvSpPr>
            <p:nvPr/>
          </p:nvSpPr>
          <p:spPr bwMode="auto">
            <a:xfrm>
              <a:off x="3547" y="1480"/>
              <a:ext cx="6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spcBef>
                  <a:spcPct val="50000"/>
                </a:spcBef>
              </a:pPr>
              <a:r>
                <a:rPr lang="zh-CN" altLang="en-US">
                  <a:latin typeface="Helvetica" pitchFamily="2" charset="0"/>
                </a:rPr>
                <a:t>12</a:t>
              </a:r>
            </a:p>
          </p:txBody>
        </p:sp>
      </p:grpSp>
    </p:spTree>
  </p:cSld>
  <p:clrMapOvr>
    <a:masterClrMapping/>
  </p:clrMapOvr>
  <p:transition spd="med">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CAA6A573-81D7-57C5-5BB8-1427B2218CD9}"/>
              </a:ext>
            </a:extLst>
          </p:cNvPr>
          <p:cNvSpPr>
            <a:spLocks noGrp="1" noChangeArrowheads="1"/>
          </p:cNvSpPr>
          <p:nvPr>
            <p:ph type="title"/>
          </p:nvPr>
        </p:nvSpPr>
        <p:spPr>
          <a:xfrm>
            <a:off x="1042988" y="225431"/>
            <a:ext cx="7850187" cy="746125"/>
          </a:xfrm>
        </p:spPr>
        <p:txBody>
          <a:bodyPr/>
          <a:lstStyle/>
          <a:p>
            <a:r>
              <a:rPr lang="zh-CN" altLang="en-US" dirty="0"/>
              <a:t>两级页表结构</a:t>
            </a:r>
          </a:p>
        </p:txBody>
      </p:sp>
      <p:sp>
        <p:nvSpPr>
          <p:cNvPr id="3" name="内容占位符 2">
            <a:extLst>
              <a:ext uri="{FF2B5EF4-FFF2-40B4-BE49-F238E27FC236}">
                <a16:creationId xmlns:a16="http://schemas.microsoft.com/office/drawing/2014/main" id="{5F3A2090-1226-009F-ADC0-AADB426AE59D}"/>
              </a:ext>
            </a:extLst>
          </p:cNvPr>
          <p:cNvSpPr>
            <a:spLocks noGrp="1"/>
          </p:cNvSpPr>
          <p:nvPr>
            <p:ph idx="1"/>
          </p:nvPr>
        </p:nvSpPr>
        <p:spPr/>
        <p:txBody>
          <a:bodyPr/>
          <a:lstStyle/>
          <a:p>
            <a:endParaRPr lang="zh-CN" altLang="en-US"/>
          </a:p>
        </p:txBody>
      </p:sp>
      <p:sp>
        <p:nvSpPr>
          <p:cNvPr id="124930" name="Rectangle 6">
            <a:extLst>
              <a:ext uri="{FF2B5EF4-FFF2-40B4-BE49-F238E27FC236}">
                <a16:creationId xmlns:a16="http://schemas.microsoft.com/office/drawing/2014/main" id="{2CD97CB9-4CE8-5641-B1BE-8B1BA395A389}"/>
              </a:ext>
            </a:extLst>
          </p:cNvPr>
          <p:cNvSpPr>
            <a:spLocks noChangeArrowheads="1"/>
          </p:cNvSpPr>
          <p:nvPr/>
        </p:nvSpPr>
        <p:spPr bwMode="auto">
          <a:xfrm>
            <a:off x="6340475" y="5715000"/>
            <a:ext cx="12033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内存空间</a:t>
            </a:r>
          </a:p>
        </p:txBody>
      </p:sp>
      <p:pic>
        <p:nvPicPr>
          <p:cNvPr id="124931" name="Picture 61">
            <a:extLst>
              <a:ext uri="{FF2B5EF4-FFF2-40B4-BE49-F238E27FC236}">
                <a16:creationId xmlns:a16="http://schemas.microsoft.com/office/drawing/2014/main" id="{EB85B4D0-53A3-EE96-BFD6-48310690E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540" t="900" r="12395" b="1082"/>
          <a:stretch>
            <a:fillRect/>
          </a:stretch>
        </p:blipFill>
        <p:spPr bwMode="auto">
          <a:xfrm>
            <a:off x="684213" y="1196975"/>
            <a:ext cx="7632700" cy="522922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54684" name="Rectangle 60">
            <a:extLst>
              <a:ext uri="{FF2B5EF4-FFF2-40B4-BE49-F238E27FC236}">
                <a16:creationId xmlns:a16="http://schemas.microsoft.com/office/drawing/2014/main" id="{EFD40E84-6618-4A43-6F54-833741B44A46}"/>
              </a:ext>
            </a:extLst>
          </p:cNvPr>
          <p:cNvSpPr>
            <a:spLocks noChangeArrowheads="1"/>
          </p:cNvSpPr>
          <p:nvPr/>
        </p:nvSpPr>
        <p:spPr bwMode="auto">
          <a:xfrm>
            <a:off x="179388" y="5084763"/>
            <a:ext cx="8496300" cy="1512887"/>
          </a:xfrm>
          <a:prstGeom prst="rect">
            <a:avLst/>
          </a:prstGeom>
          <a:solidFill>
            <a:srgbClr val="CCFFFF"/>
          </a:solidFill>
          <a:ln w="9525">
            <a:solidFill>
              <a:schemeClr val="tx1"/>
            </a:solidFill>
            <a:miter lim="800000"/>
            <a:headEnd/>
            <a:tailEnd/>
          </a:ln>
        </p:spPr>
        <p:txBody>
          <a:bodyPr wrap="none" anchor="ctr"/>
          <a:lstStyle/>
          <a:p>
            <a:r>
              <a:rPr lang="zh-CN" altLang="en-US" sz="3200" b="1">
                <a:solidFill>
                  <a:srgbClr val="000000"/>
                </a:solidFill>
              </a:rPr>
              <a:t>若页表项大小为</a:t>
            </a:r>
            <a:r>
              <a:rPr lang="en-US" altLang="zh-CN" sz="3200" b="1">
                <a:solidFill>
                  <a:srgbClr val="000000"/>
                </a:solidFill>
              </a:rPr>
              <a:t>4B</a:t>
            </a:r>
            <a:r>
              <a:rPr lang="zh-CN" altLang="en-US" sz="3200" b="1">
                <a:solidFill>
                  <a:srgbClr val="000000"/>
                </a:solidFill>
              </a:rPr>
              <a:t>，物理块大小为</a:t>
            </a:r>
            <a:r>
              <a:rPr lang="en-US" altLang="zh-CN" sz="3200" b="1">
                <a:solidFill>
                  <a:srgbClr val="000000"/>
                </a:solidFill>
              </a:rPr>
              <a:t>4KB</a:t>
            </a:r>
            <a:r>
              <a:rPr lang="zh-CN" altLang="en-US" sz="3200" b="1">
                <a:solidFill>
                  <a:srgbClr val="000000"/>
                </a:solidFill>
              </a:rPr>
              <a:t>，则</a:t>
            </a:r>
          </a:p>
          <a:p>
            <a:r>
              <a:rPr lang="zh-CN" altLang="en-US" sz="3200" b="1">
                <a:solidFill>
                  <a:srgbClr val="000000"/>
                </a:solidFill>
              </a:rPr>
              <a:t>两级页表结构可以存放下多少个页表项？</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54684"/>
                                        </p:tgtEl>
                                        <p:attrNameLst>
                                          <p:attrName>style.visibility</p:attrName>
                                        </p:attrNameLst>
                                      </p:cBhvr>
                                      <p:to>
                                        <p:strVal val="visible"/>
                                      </p:to>
                                    </p:set>
                                    <p:animEffect transition="in" filter="checkerboard(across)">
                                      <p:cBhvr>
                                        <p:cTn id="7" dur="500"/>
                                        <p:tgtEl>
                                          <p:spTgt spid="154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8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FB3E3EB1-385A-5A4D-12A5-884C931C65B7}"/>
              </a:ext>
            </a:extLst>
          </p:cNvPr>
          <p:cNvSpPr>
            <a:spLocks noGrp="1" noChangeArrowheads="1"/>
          </p:cNvSpPr>
          <p:nvPr>
            <p:ph type="title"/>
          </p:nvPr>
        </p:nvSpPr>
        <p:spPr>
          <a:xfrm>
            <a:off x="1042988" y="225431"/>
            <a:ext cx="7850187" cy="746125"/>
          </a:xfrm>
        </p:spPr>
        <p:txBody>
          <a:bodyPr/>
          <a:lstStyle/>
          <a:p>
            <a:r>
              <a:rPr lang="zh-CN" altLang="en-US" sz="3600" dirty="0"/>
              <a:t>两级32位分页结构的地址转换机制</a:t>
            </a:r>
          </a:p>
        </p:txBody>
      </p:sp>
      <p:sp>
        <p:nvSpPr>
          <p:cNvPr id="125954" name="Rectangle 3">
            <a:extLst>
              <a:ext uri="{FF2B5EF4-FFF2-40B4-BE49-F238E27FC236}">
                <a16:creationId xmlns:a16="http://schemas.microsoft.com/office/drawing/2014/main" id="{FB7FE006-009F-6627-7742-44ABB0C8CA2A}"/>
              </a:ext>
            </a:extLst>
          </p:cNvPr>
          <p:cNvSpPr>
            <a:spLocks noGrp="1" noChangeArrowheads="1"/>
          </p:cNvSpPr>
          <p:nvPr>
            <p:ph idx="1"/>
          </p:nvPr>
        </p:nvSpPr>
        <p:spPr>
          <a:xfrm>
            <a:off x="935038" y="1233488"/>
            <a:ext cx="7772400" cy="4895850"/>
          </a:xfrm>
        </p:spPr>
        <p:txBody>
          <a:bodyPr/>
          <a:lstStyle/>
          <a:p>
            <a:r>
              <a:rPr lang="zh-CN" altLang="en-US" dirty="0"/>
              <a:t>利用逻辑地址中的一级页号作为索引访问一级页表，找到第二级页表的起始地址，</a:t>
            </a:r>
          </a:p>
          <a:p>
            <a:r>
              <a:rPr lang="zh-CN" altLang="en-US" dirty="0"/>
              <a:t>再利用第二级页号找到指定页表项，从中取出块号与页内地址拼接形成物理地址。</a:t>
            </a:r>
          </a:p>
        </p:txBody>
      </p:sp>
    </p:spTree>
  </p:cSld>
  <p:clrMapOvr>
    <a:masterClrMapping/>
  </p:clrMapOvr>
  <p:transition spd="med">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D4F1B302-9361-D5C4-75B5-3DE69D463B18}"/>
              </a:ext>
            </a:extLst>
          </p:cNvPr>
          <p:cNvSpPr>
            <a:spLocks noGrp="1" noChangeArrowheads="1"/>
          </p:cNvSpPr>
          <p:nvPr>
            <p:ph type="title"/>
          </p:nvPr>
        </p:nvSpPr>
        <p:spPr/>
        <p:txBody>
          <a:bodyPr/>
          <a:lstStyle/>
          <a:p>
            <a:pPr eaLnBrk="1" hangingPunct="1"/>
            <a:r>
              <a:rPr lang="zh-CN" altLang="en-US" sz="3600" b="1"/>
              <a:t>两级32位分页结构的地址转换机制续</a:t>
            </a:r>
          </a:p>
        </p:txBody>
      </p:sp>
      <p:sp>
        <p:nvSpPr>
          <p:cNvPr id="126978" name="Rectangle 38">
            <a:extLst>
              <a:ext uri="{FF2B5EF4-FFF2-40B4-BE49-F238E27FC236}">
                <a16:creationId xmlns:a16="http://schemas.microsoft.com/office/drawing/2014/main" id="{BCFC5B0B-0693-116A-B782-93BC5B0B0664}"/>
              </a:ext>
            </a:extLst>
          </p:cNvPr>
          <p:cNvSpPr>
            <a:spLocks noChangeArrowheads="1"/>
          </p:cNvSpPr>
          <p:nvPr/>
        </p:nvSpPr>
        <p:spPr bwMode="auto">
          <a:xfrm>
            <a:off x="3843338" y="2632075"/>
            <a:ext cx="874712" cy="1587500"/>
          </a:xfrm>
          <a:prstGeom prst="rect">
            <a:avLst/>
          </a:prstGeom>
          <a:solidFill>
            <a:srgbClr val="FFFFFF"/>
          </a:solidFill>
          <a:ln w="38100">
            <a:solidFill>
              <a:srgbClr val="000000"/>
            </a:solidFill>
            <a:miter lim="800000"/>
            <a:headEnd/>
            <a:tailEnd/>
          </a:ln>
        </p:spPr>
        <p:txBody>
          <a:bodyPr lIns="0" tIns="0" rIns="0" bIns="0"/>
          <a:lstStyle/>
          <a:p>
            <a:pPr algn="ctr" eaLnBrk="0" hangingPunct="0"/>
            <a:endParaRPr lang="zh-CN" altLang="en-US" sz="2000" b="1">
              <a:latin typeface="Times New Roman" panose="02020603050405020304" pitchFamily="18" charset="0"/>
            </a:endParaRPr>
          </a:p>
          <a:p>
            <a:pPr algn="ctr" eaLnBrk="0" hangingPunct="0"/>
            <a:endParaRPr lang="zh-CN" altLang="en-US" sz="2000" b="1">
              <a:latin typeface="Times New Roman" panose="02020603050405020304" pitchFamily="18" charset="0"/>
            </a:endParaRPr>
          </a:p>
          <a:p>
            <a:pPr algn="ctr" eaLnBrk="0" hangingPunct="0"/>
            <a:endParaRPr lang="zh-CN" altLang="en-US" sz="2000" b="1">
              <a:latin typeface="Times New Roman" panose="02020603050405020304" pitchFamily="18" charset="0"/>
            </a:endParaRPr>
          </a:p>
          <a:p>
            <a:pPr algn="ctr" eaLnBrk="0" hangingPunct="0"/>
            <a:endParaRPr lang="zh-CN" altLang="en-US" sz="2000" b="1">
              <a:latin typeface="Times New Roman" panose="02020603050405020304" pitchFamily="18" charset="0"/>
            </a:endParaRPr>
          </a:p>
          <a:p>
            <a:pPr algn="ctr" eaLnBrk="0" hangingPunct="0"/>
            <a:r>
              <a:rPr lang="zh-CN" altLang="en-US" sz="2000" b="1">
                <a:latin typeface="宋体" panose="02010600030101010101" pitchFamily="2" charset="-122"/>
              </a:rPr>
              <a:t>┇</a:t>
            </a:r>
            <a:endParaRPr lang="zh-CN" altLang="en-US" sz="2000" b="1">
              <a:latin typeface="Times New Roman" panose="02020603050405020304" pitchFamily="18" charset="0"/>
            </a:endParaRPr>
          </a:p>
        </p:txBody>
      </p:sp>
      <p:sp>
        <p:nvSpPr>
          <p:cNvPr id="126979" name="Rectangle 39">
            <a:extLst>
              <a:ext uri="{FF2B5EF4-FFF2-40B4-BE49-F238E27FC236}">
                <a16:creationId xmlns:a16="http://schemas.microsoft.com/office/drawing/2014/main" id="{B29C6C9D-ACAF-4575-80EA-B8AB759FC567}"/>
              </a:ext>
            </a:extLst>
          </p:cNvPr>
          <p:cNvSpPr>
            <a:spLocks noChangeArrowheads="1"/>
          </p:cNvSpPr>
          <p:nvPr/>
        </p:nvSpPr>
        <p:spPr bwMode="auto">
          <a:xfrm>
            <a:off x="395288" y="3236913"/>
            <a:ext cx="2171700" cy="414337"/>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0" tIns="36000" rIns="0" bIns="0"/>
          <a:lstStyle/>
          <a:p>
            <a:pPr algn="just" eaLnBrk="0" hangingPunct="0"/>
            <a:r>
              <a:rPr lang="zh-CN" altLang="en-US" sz="2000" b="1">
                <a:latin typeface="Times New Roman" panose="02020603050405020304" pitchFamily="18" charset="0"/>
              </a:rPr>
              <a:t> 第一级页表寄存器</a:t>
            </a:r>
          </a:p>
        </p:txBody>
      </p:sp>
      <p:sp>
        <p:nvSpPr>
          <p:cNvPr id="126980" name="Rectangle 40">
            <a:extLst>
              <a:ext uri="{FF2B5EF4-FFF2-40B4-BE49-F238E27FC236}">
                <a16:creationId xmlns:a16="http://schemas.microsoft.com/office/drawing/2014/main" id="{5E7A3A13-77DE-B997-CB17-1C98D7EF1951}"/>
              </a:ext>
            </a:extLst>
          </p:cNvPr>
          <p:cNvSpPr>
            <a:spLocks noChangeArrowheads="1"/>
          </p:cNvSpPr>
          <p:nvPr/>
        </p:nvSpPr>
        <p:spPr bwMode="auto">
          <a:xfrm>
            <a:off x="1306513" y="1989138"/>
            <a:ext cx="11049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逻辑地址</a:t>
            </a:r>
          </a:p>
        </p:txBody>
      </p:sp>
      <p:sp>
        <p:nvSpPr>
          <p:cNvPr id="126981" name="Line 41">
            <a:extLst>
              <a:ext uri="{FF2B5EF4-FFF2-40B4-BE49-F238E27FC236}">
                <a16:creationId xmlns:a16="http://schemas.microsoft.com/office/drawing/2014/main" id="{3EA48DA7-ACE5-9AA1-0297-D4BC45085794}"/>
              </a:ext>
            </a:extLst>
          </p:cNvPr>
          <p:cNvSpPr>
            <a:spLocks noChangeShapeType="1"/>
          </p:cNvSpPr>
          <p:nvPr/>
        </p:nvSpPr>
        <p:spPr bwMode="auto">
          <a:xfrm>
            <a:off x="3498850" y="3451225"/>
            <a:ext cx="341313" cy="0"/>
          </a:xfrm>
          <a:prstGeom prst="line">
            <a:avLst/>
          </a:prstGeom>
          <a:noFill/>
          <a:ln w="381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6982" name="Oval 42">
            <a:extLst>
              <a:ext uri="{FF2B5EF4-FFF2-40B4-BE49-F238E27FC236}">
                <a16:creationId xmlns:a16="http://schemas.microsoft.com/office/drawing/2014/main" id="{0A6CD589-0D6E-3BDB-260E-361B2CB45606}"/>
              </a:ext>
            </a:extLst>
          </p:cNvPr>
          <p:cNvSpPr>
            <a:spLocks noChangeArrowheads="1"/>
          </p:cNvSpPr>
          <p:nvPr/>
        </p:nvSpPr>
        <p:spPr bwMode="auto">
          <a:xfrm>
            <a:off x="3022600" y="3201988"/>
            <a:ext cx="482600" cy="492125"/>
          </a:xfrm>
          <a:prstGeom prst="ellipse">
            <a:avLst/>
          </a:prstGeom>
          <a:solidFill>
            <a:srgbClr val="FFFFFF"/>
          </a:solidFill>
          <a:ln w="38100">
            <a:solidFill>
              <a:srgbClr val="000000"/>
            </a:solidFill>
            <a:round/>
            <a:headEnd/>
            <a:tailEnd/>
          </a:ln>
        </p:spPr>
        <p:txBody>
          <a:bodyPr lIns="0" tIns="0" rIns="0" bIns="0"/>
          <a:lstStyle/>
          <a:p>
            <a:pPr algn="ctr" eaLnBrk="0" hangingPunct="0"/>
            <a:r>
              <a:rPr lang="zh-CN" altLang="en-US" sz="2000" b="1">
                <a:latin typeface="Times New Roman" panose="02020603050405020304" pitchFamily="18" charset="0"/>
              </a:rPr>
              <a:t>+</a:t>
            </a:r>
          </a:p>
        </p:txBody>
      </p:sp>
      <p:sp>
        <p:nvSpPr>
          <p:cNvPr id="126983" name="Line 43">
            <a:extLst>
              <a:ext uri="{FF2B5EF4-FFF2-40B4-BE49-F238E27FC236}">
                <a16:creationId xmlns:a16="http://schemas.microsoft.com/office/drawing/2014/main" id="{C42BE372-D8BD-C176-0507-0BB142A4EA2B}"/>
              </a:ext>
            </a:extLst>
          </p:cNvPr>
          <p:cNvSpPr>
            <a:spLocks noChangeShapeType="1"/>
          </p:cNvSpPr>
          <p:nvPr/>
        </p:nvSpPr>
        <p:spPr bwMode="auto">
          <a:xfrm flipH="1">
            <a:off x="3260725" y="2414588"/>
            <a:ext cx="0" cy="763587"/>
          </a:xfrm>
          <a:prstGeom prst="line">
            <a:avLst/>
          </a:prstGeom>
          <a:noFill/>
          <a:ln w="381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6984" name="Oval 44">
            <a:extLst>
              <a:ext uri="{FF2B5EF4-FFF2-40B4-BE49-F238E27FC236}">
                <a16:creationId xmlns:a16="http://schemas.microsoft.com/office/drawing/2014/main" id="{D36BF050-8D20-D673-2387-EF096FCF05A6}"/>
              </a:ext>
            </a:extLst>
          </p:cNvPr>
          <p:cNvSpPr>
            <a:spLocks noChangeArrowheads="1"/>
          </p:cNvSpPr>
          <p:nvPr/>
        </p:nvSpPr>
        <p:spPr bwMode="auto">
          <a:xfrm>
            <a:off x="5057775" y="3201988"/>
            <a:ext cx="482600" cy="492125"/>
          </a:xfrm>
          <a:prstGeom prst="ellipse">
            <a:avLst/>
          </a:prstGeom>
          <a:solidFill>
            <a:srgbClr val="FFFFFF"/>
          </a:solidFill>
          <a:ln w="38100">
            <a:solidFill>
              <a:srgbClr val="000000"/>
            </a:solidFill>
            <a:round/>
            <a:headEnd/>
            <a:tailEnd/>
          </a:ln>
        </p:spPr>
        <p:txBody>
          <a:bodyPr lIns="0" tIns="0" rIns="0" bIns="0"/>
          <a:lstStyle/>
          <a:p>
            <a:pPr algn="ctr" eaLnBrk="0" hangingPunct="0"/>
            <a:r>
              <a:rPr lang="zh-CN" altLang="en-US" sz="2000" b="1">
                <a:latin typeface="Times New Roman" panose="02020603050405020304" pitchFamily="18" charset="0"/>
              </a:rPr>
              <a:t>＋</a:t>
            </a:r>
          </a:p>
        </p:txBody>
      </p:sp>
      <p:sp>
        <p:nvSpPr>
          <p:cNvPr id="126985" name="Rectangle 45">
            <a:extLst>
              <a:ext uri="{FF2B5EF4-FFF2-40B4-BE49-F238E27FC236}">
                <a16:creationId xmlns:a16="http://schemas.microsoft.com/office/drawing/2014/main" id="{69C42058-7154-15E1-4539-F3156F192913}"/>
              </a:ext>
            </a:extLst>
          </p:cNvPr>
          <p:cNvSpPr>
            <a:spLocks noChangeArrowheads="1"/>
          </p:cNvSpPr>
          <p:nvPr/>
        </p:nvSpPr>
        <p:spPr bwMode="auto">
          <a:xfrm>
            <a:off x="6013450" y="4398963"/>
            <a:ext cx="12223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二级页表</a:t>
            </a:r>
          </a:p>
        </p:txBody>
      </p:sp>
      <p:sp>
        <p:nvSpPr>
          <p:cNvPr id="126986" name="Line 46">
            <a:extLst>
              <a:ext uri="{FF2B5EF4-FFF2-40B4-BE49-F238E27FC236}">
                <a16:creationId xmlns:a16="http://schemas.microsoft.com/office/drawing/2014/main" id="{89EC10B1-3142-5B2C-CED4-B341C3A4F8D5}"/>
              </a:ext>
            </a:extLst>
          </p:cNvPr>
          <p:cNvSpPr>
            <a:spLocks noChangeShapeType="1"/>
          </p:cNvSpPr>
          <p:nvPr/>
        </p:nvSpPr>
        <p:spPr bwMode="auto">
          <a:xfrm flipH="1" flipV="1">
            <a:off x="5572125" y="3451225"/>
            <a:ext cx="439738" cy="0"/>
          </a:xfrm>
          <a:prstGeom prst="line">
            <a:avLst/>
          </a:prstGeom>
          <a:noFill/>
          <a:ln w="3810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26987" name="Rectangle 47">
            <a:extLst>
              <a:ext uri="{FF2B5EF4-FFF2-40B4-BE49-F238E27FC236}">
                <a16:creationId xmlns:a16="http://schemas.microsoft.com/office/drawing/2014/main" id="{AFB40D61-D20F-DA26-F71E-EF071B84D062}"/>
              </a:ext>
            </a:extLst>
          </p:cNvPr>
          <p:cNvSpPr>
            <a:spLocks noChangeArrowheads="1"/>
          </p:cNvSpPr>
          <p:nvPr/>
        </p:nvSpPr>
        <p:spPr bwMode="auto">
          <a:xfrm>
            <a:off x="3783013" y="4398963"/>
            <a:ext cx="119856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一级页表</a:t>
            </a:r>
          </a:p>
        </p:txBody>
      </p:sp>
      <p:sp>
        <p:nvSpPr>
          <p:cNvPr id="126988" name="Line 48">
            <a:extLst>
              <a:ext uri="{FF2B5EF4-FFF2-40B4-BE49-F238E27FC236}">
                <a16:creationId xmlns:a16="http://schemas.microsoft.com/office/drawing/2014/main" id="{CE3EBE88-124F-0934-61AF-5846CE166BD3}"/>
              </a:ext>
            </a:extLst>
          </p:cNvPr>
          <p:cNvSpPr>
            <a:spLocks noChangeShapeType="1"/>
          </p:cNvSpPr>
          <p:nvPr/>
        </p:nvSpPr>
        <p:spPr bwMode="auto">
          <a:xfrm>
            <a:off x="3871913" y="3579813"/>
            <a:ext cx="87312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9" name="Line 49">
            <a:extLst>
              <a:ext uri="{FF2B5EF4-FFF2-40B4-BE49-F238E27FC236}">
                <a16:creationId xmlns:a16="http://schemas.microsoft.com/office/drawing/2014/main" id="{74BA6E97-E0D9-FAF5-527B-969C155B60CF}"/>
              </a:ext>
            </a:extLst>
          </p:cNvPr>
          <p:cNvSpPr>
            <a:spLocks noChangeShapeType="1"/>
          </p:cNvSpPr>
          <p:nvPr/>
        </p:nvSpPr>
        <p:spPr bwMode="auto">
          <a:xfrm>
            <a:off x="3843338" y="3844925"/>
            <a:ext cx="8747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90" name="Line 50">
            <a:extLst>
              <a:ext uri="{FF2B5EF4-FFF2-40B4-BE49-F238E27FC236}">
                <a16:creationId xmlns:a16="http://schemas.microsoft.com/office/drawing/2014/main" id="{D655D732-CE1A-DE0B-6868-87E1B09267D5}"/>
              </a:ext>
            </a:extLst>
          </p:cNvPr>
          <p:cNvSpPr>
            <a:spLocks noChangeShapeType="1"/>
          </p:cNvSpPr>
          <p:nvPr/>
        </p:nvSpPr>
        <p:spPr bwMode="auto">
          <a:xfrm>
            <a:off x="3843338" y="2930525"/>
            <a:ext cx="8747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91" name="Line 51">
            <a:extLst>
              <a:ext uri="{FF2B5EF4-FFF2-40B4-BE49-F238E27FC236}">
                <a16:creationId xmlns:a16="http://schemas.microsoft.com/office/drawing/2014/main" id="{049ED29B-C900-3778-9C13-3BEBC8AAE299}"/>
              </a:ext>
            </a:extLst>
          </p:cNvPr>
          <p:cNvSpPr>
            <a:spLocks noChangeShapeType="1"/>
          </p:cNvSpPr>
          <p:nvPr/>
        </p:nvSpPr>
        <p:spPr bwMode="auto">
          <a:xfrm>
            <a:off x="3843338" y="3254375"/>
            <a:ext cx="8747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92" name="Rectangle 52">
            <a:extLst>
              <a:ext uri="{FF2B5EF4-FFF2-40B4-BE49-F238E27FC236}">
                <a16:creationId xmlns:a16="http://schemas.microsoft.com/office/drawing/2014/main" id="{DACFBFB1-1C55-93DC-44BB-D7B69DCB3FB9}"/>
              </a:ext>
            </a:extLst>
          </p:cNvPr>
          <p:cNvSpPr>
            <a:spLocks noChangeArrowheads="1"/>
          </p:cNvSpPr>
          <p:nvPr/>
        </p:nvSpPr>
        <p:spPr bwMode="auto">
          <a:xfrm>
            <a:off x="7383463" y="3200400"/>
            <a:ext cx="1220787" cy="454025"/>
          </a:xfrm>
          <a:prstGeom prst="rect">
            <a:avLst/>
          </a:prstGeom>
          <a:solidFill>
            <a:srgbClr val="FFFFFF"/>
          </a:solidFill>
          <a:ln w="38100">
            <a:solidFill>
              <a:srgbClr val="000000"/>
            </a:solidFill>
            <a:miter lim="800000"/>
            <a:headEnd/>
            <a:tailEnd/>
          </a:ln>
        </p:spPr>
        <p:txBody>
          <a:bodyPr lIns="0" tIns="72000" rIns="0" bIns="0"/>
          <a:lstStyle/>
          <a:p>
            <a:pPr algn="just" eaLnBrk="0" hangingPunct="0"/>
            <a:r>
              <a:rPr lang="zh-CN" altLang="en-US" sz="2000" b="1">
                <a:latin typeface="Times New Roman" panose="02020603050405020304" pitchFamily="18" charset="0"/>
              </a:rPr>
              <a:t>    </a:t>
            </a:r>
            <a:r>
              <a:rPr lang="en-US" altLang="zh-CN" sz="2000" b="1">
                <a:latin typeface="Times New Roman" panose="02020603050405020304" pitchFamily="18" charset="0"/>
              </a:rPr>
              <a:t>b        w</a:t>
            </a:r>
          </a:p>
        </p:txBody>
      </p:sp>
      <p:sp>
        <p:nvSpPr>
          <p:cNvPr id="126993" name="Line 53">
            <a:extLst>
              <a:ext uri="{FF2B5EF4-FFF2-40B4-BE49-F238E27FC236}">
                <a16:creationId xmlns:a16="http://schemas.microsoft.com/office/drawing/2014/main" id="{6C7B5396-62DA-9B9D-5F1A-92DB330C2D4B}"/>
              </a:ext>
            </a:extLst>
          </p:cNvPr>
          <p:cNvSpPr>
            <a:spLocks noChangeShapeType="1"/>
          </p:cNvSpPr>
          <p:nvPr/>
        </p:nvSpPr>
        <p:spPr bwMode="auto">
          <a:xfrm>
            <a:off x="8010525" y="3236913"/>
            <a:ext cx="0" cy="4524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94" name="Line 54">
            <a:extLst>
              <a:ext uri="{FF2B5EF4-FFF2-40B4-BE49-F238E27FC236}">
                <a16:creationId xmlns:a16="http://schemas.microsoft.com/office/drawing/2014/main" id="{62F13FD5-1D15-BF14-C7B1-C022F74DFDBC}"/>
              </a:ext>
            </a:extLst>
          </p:cNvPr>
          <p:cNvSpPr>
            <a:spLocks noChangeShapeType="1"/>
          </p:cNvSpPr>
          <p:nvPr/>
        </p:nvSpPr>
        <p:spPr bwMode="auto">
          <a:xfrm flipV="1">
            <a:off x="6853238" y="3451225"/>
            <a:ext cx="504825" cy="0"/>
          </a:xfrm>
          <a:prstGeom prst="line">
            <a:avLst/>
          </a:prstGeom>
          <a:noFill/>
          <a:ln w="381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6995" name="Rectangle 55">
            <a:extLst>
              <a:ext uri="{FF2B5EF4-FFF2-40B4-BE49-F238E27FC236}">
                <a16:creationId xmlns:a16="http://schemas.microsoft.com/office/drawing/2014/main" id="{29C5AA8B-F0CF-4E7D-C197-8FC898FA5235}"/>
              </a:ext>
            </a:extLst>
          </p:cNvPr>
          <p:cNvSpPr>
            <a:spLocks noChangeArrowheads="1"/>
          </p:cNvSpPr>
          <p:nvPr/>
        </p:nvSpPr>
        <p:spPr bwMode="auto">
          <a:xfrm>
            <a:off x="7461250" y="3870325"/>
            <a:ext cx="128746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nchor="ctr"/>
          <a:lstStyle/>
          <a:p>
            <a:pPr algn="just" eaLnBrk="0" hangingPunct="0"/>
            <a:r>
              <a:rPr lang="zh-CN" altLang="en-US" sz="2000" b="1">
                <a:latin typeface="Times New Roman" panose="02020603050405020304" pitchFamily="18" charset="0"/>
              </a:rPr>
              <a:t>物理地址</a:t>
            </a:r>
          </a:p>
        </p:txBody>
      </p:sp>
      <p:sp>
        <p:nvSpPr>
          <p:cNvPr id="126996" name="Line 56">
            <a:extLst>
              <a:ext uri="{FF2B5EF4-FFF2-40B4-BE49-F238E27FC236}">
                <a16:creationId xmlns:a16="http://schemas.microsoft.com/office/drawing/2014/main" id="{D9144859-EB15-FF29-F12B-657A7A153DE4}"/>
              </a:ext>
            </a:extLst>
          </p:cNvPr>
          <p:cNvSpPr>
            <a:spLocks noChangeShapeType="1"/>
          </p:cNvSpPr>
          <p:nvPr/>
        </p:nvSpPr>
        <p:spPr bwMode="auto">
          <a:xfrm flipV="1">
            <a:off x="2627313" y="3451225"/>
            <a:ext cx="360362" cy="0"/>
          </a:xfrm>
          <a:prstGeom prst="line">
            <a:avLst/>
          </a:prstGeom>
          <a:noFill/>
          <a:ln w="381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6997" name="Rectangle 57">
            <a:extLst>
              <a:ext uri="{FF2B5EF4-FFF2-40B4-BE49-F238E27FC236}">
                <a16:creationId xmlns:a16="http://schemas.microsoft.com/office/drawing/2014/main" id="{E0EA91F9-4FB3-E4D0-129E-A95747525A92}"/>
              </a:ext>
            </a:extLst>
          </p:cNvPr>
          <p:cNvSpPr>
            <a:spLocks noChangeArrowheads="1"/>
          </p:cNvSpPr>
          <p:nvPr/>
        </p:nvSpPr>
        <p:spPr bwMode="auto">
          <a:xfrm>
            <a:off x="2660650" y="1319213"/>
            <a:ext cx="42894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宋体" panose="02010600030101010101" pitchFamily="2" charset="-122"/>
              </a:rPr>
              <a:t>一级页号    二级页号    页内地址</a:t>
            </a:r>
          </a:p>
        </p:txBody>
      </p:sp>
      <p:sp>
        <p:nvSpPr>
          <p:cNvPr id="126998" name="Rectangle 58">
            <a:extLst>
              <a:ext uri="{FF2B5EF4-FFF2-40B4-BE49-F238E27FC236}">
                <a16:creationId xmlns:a16="http://schemas.microsoft.com/office/drawing/2014/main" id="{2581E1A3-9A4B-09C6-D314-B143C0FB8260}"/>
              </a:ext>
            </a:extLst>
          </p:cNvPr>
          <p:cNvSpPr>
            <a:spLocks noChangeArrowheads="1"/>
          </p:cNvSpPr>
          <p:nvPr/>
        </p:nvSpPr>
        <p:spPr bwMode="auto">
          <a:xfrm>
            <a:off x="2551113" y="1871663"/>
            <a:ext cx="4084637" cy="539750"/>
          </a:xfrm>
          <a:prstGeom prst="rect">
            <a:avLst/>
          </a:prstGeom>
          <a:solidFill>
            <a:srgbClr val="FFFFFF"/>
          </a:solidFill>
          <a:ln w="38100">
            <a:solidFill>
              <a:srgbClr val="000000"/>
            </a:solidFill>
            <a:miter lim="800000"/>
            <a:headEnd/>
            <a:tailEnd/>
          </a:ln>
        </p:spPr>
        <p:txBody>
          <a:bodyPr lIns="72000" tIns="72000" rIns="0" bIns="0"/>
          <a:lstStyle/>
          <a:p>
            <a:pPr algn="just" eaLnBrk="0" hangingPunct="0"/>
            <a:r>
              <a:rPr lang="zh-CN" altLang="en-US" sz="2000" b="1">
                <a:latin typeface="Times New Roman" panose="02020603050405020304" pitchFamily="18" charset="0"/>
              </a:rPr>
              <a:t>        </a:t>
            </a:r>
            <a:r>
              <a:rPr lang="en-US" altLang="zh-CN" sz="2000" b="1">
                <a:latin typeface="Times New Roman" panose="02020603050405020304" pitchFamily="18" charset="0"/>
              </a:rPr>
              <a:t>p1                    p2                 w</a:t>
            </a:r>
          </a:p>
        </p:txBody>
      </p:sp>
      <p:sp>
        <p:nvSpPr>
          <p:cNvPr id="126999" name="Line 59">
            <a:extLst>
              <a:ext uri="{FF2B5EF4-FFF2-40B4-BE49-F238E27FC236}">
                <a16:creationId xmlns:a16="http://schemas.microsoft.com/office/drawing/2014/main" id="{5F205660-998C-6660-C91D-805E46AED210}"/>
              </a:ext>
            </a:extLst>
          </p:cNvPr>
          <p:cNvSpPr>
            <a:spLocks noChangeShapeType="1"/>
          </p:cNvSpPr>
          <p:nvPr/>
        </p:nvSpPr>
        <p:spPr bwMode="auto">
          <a:xfrm>
            <a:off x="3925888" y="1871663"/>
            <a:ext cx="0" cy="5397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00" name="Line 60">
            <a:extLst>
              <a:ext uri="{FF2B5EF4-FFF2-40B4-BE49-F238E27FC236}">
                <a16:creationId xmlns:a16="http://schemas.microsoft.com/office/drawing/2014/main" id="{A2ABBA85-1AD7-A45C-B9A7-867C985AAEDB}"/>
              </a:ext>
            </a:extLst>
          </p:cNvPr>
          <p:cNvSpPr>
            <a:spLocks noChangeShapeType="1"/>
          </p:cNvSpPr>
          <p:nvPr/>
        </p:nvSpPr>
        <p:spPr bwMode="auto">
          <a:xfrm>
            <a:off x="5500688" y="1871663"/>
            <a:ext cx="1587" cy="5397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01" name="Line 61">
            <a:extLst>
              <a:ext uri="{FF2B5EF4-FFF2-40B4-BE49-F238E27FC236}">
                <a16:creationId xmlns:a16="http://schemas.microsoft.com/office/drawing/2014/main" id="{2E8B6F8E-D3CB-9F10-EF4A-5E13E2C80BAE}"/>
              </a:ext>
            </a:extLst>
          </p:cNvPr>
          <p:cNvSpPr>
            <a:spLocks noChangeShapeType="1"/>
          </p:cNvSpPr>
          <p:nvPr/>
        </p:nvSpPr>
        <p:spPr bwMode="auto">
          <a:xfrm>
            <a:off x="4735513" y="3451225"/>
            <a:ext cx="341312" cy="0"/>
          </a:xfrm>
          <a:prstGeom prst="line">
            <a:avLst/>
          </a:prstGeom>
          <a:noFill/>
          <a:ln w="381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7002" name="Rectangle 62">
            <a:extLst>
              <a:ext uri="{FF2B5EF4-FFF2-40B4-BE49-F238E27FC236}">
                <a16:creationId xmlns:a16="http://schemas.microsoft.com/office/drawing/2014/main" id="{0D4AEEBF-3864-EE2B-E2A8-46BF9E0EAE5E}"/>
              </a:ext>
            </a:extLst>
          </p:cNvPr>
          <p:cNvSpPr>
            <a:spLocks noChangeArrowheads="1"/>
          </p:cNvSpPr>
          <p:nvPr/>
        </p:nvSpPr>
        <p:spPr bwMode="auto">
          <a:xfrm>
            <a:off x="6015038" y="2632075"/>
            <a:ext cx="874712" cy="1587500"/>
          </a:xfrm>
          <a:prstGeom prst="rect">
            <a:avLst/>
          </a:prstGeom>
          <a:solidFill>
            <a:srgbClr val="FFFFFF"/>
          </a:solidFill>
          <a:ln w="38100">
            <a:solidFill>
              <a:srgbClr val="000000"/>
            </a:solidFill>
            <a:miter lim="800000"/>
            <a:headEnd/>
            <a:tailEnd/>
          </a:ln>
        </p:spPr>
        <p:txBody>
          <a:bodyPr lIns="0" tIns="0" rIns="0" bIns="0"/>
          <a:lstStyle/>
          <a:p>
            <a:pPr algn="ctr" eaLnBrk="0" hangingPunct="0"/>
            <a:endParaRPr lang="zh-CN" altLang="en-US" sz="2000" b="1">
              <a:latin typeface="Times New Roman" panose="02020603050405020304" pitchFamily="18" charset="0"/>
            </a:endParaRPr>
          </a:p>
          <a:p>
            <a:pPr algn="ctr" eaLnBrk="0" hangingPunct="0"/>
            <a:endParaRPr lang="en-US" altLang="zh-CN" sz="2000" b="1">
              <a:latin typeface="Times New Roman" panose="02020603050405020304" pitchFamily="18" charset="0"/>
            </a:endParaRPr>
          </a:p>
          <a:p>
            <a:pPr algn="ctr" eaLnBrk="0" hangingPunct="0"/>
            <a:r>
              <a:rPr lang="en-US" altLang="zh-CN" sz="2000" b="1">
                <a:latin typeface="Times New Roman" panose="02020603050405020304" pitchFamily="18" charset="0"/>
              </a:rPr>
              <a:t>b</a:t>
            </a:r>
          </a:p>
          <a:p>
            <a:pPr algn="ctr" eaLnBrk="0" hangingPunct="0"/>
            <a:endParaRPr lang="zh-CN" altLang="en-US" sz="2000" b="1">
              <a:latin typeface="Times New Roman" panose="02020603050405020304" pitchFamily="18" charset="0"/>
            </a:endParaRPr>
          </a:p>
          <a:p>
            <a:pPr algn="ctr" eaLnBrk="0" hangingPunct="0"/>
            <a:r>
              <a:rPr lang="zh-CN" altLang="en-US" sz="2000" b="1">
                <a:latin typeface="宋体" panose="02010600030101010101" pitchFamily="2" charset="-122"/>
              </a:rPr>
              <a:t>┇</a:t>
            </a:r>
            <a:endParaRPr lang="zh-CN" altLang="en-US" sz="2000" b="1">
              <a:latin typeface="Times New Roman" panose="02020603050405020304" pitchFamily="18" charset="0"/>
            </a:endParaRPr>
          </a:p>
        </p:txBody>
      </p:sp>
      <p:sp>
        <p:nvSpPr>
          <p:cNvPr id="127003" name="Line 63">
            <a:extLst>
              <a:ext uri="{FF2B5EF4-FFF2-40B4-BE49-F238E27FC236}">
                <a16:creationId xmlns:a16="http://schemas.microsoft.com/office/drawing/2014/main" id="{91ECA6BA-F7A6-E35F-9E0C-A0EF39B5030E}"/>
              </a:ext>
            </a:extLst>
          </p:cNvPr>
          <p:cNvSpPr>
            <a:spLocks noChangeShapeType="1"/>
          </p:cNvSpPr>
          <p:nvPr/>
        </p:nvSpPr>
        <p:spPr bwMode="auto">
          <a:xfrm>
            <a:off x="6015038" y="3579813"/>
            <a:ext cx="8747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04" name="Line 64">
            <a:extLst>
              <a:ext uri="{FF2B5EF4-FFF2-40B4-BE49-F238E27FC236}">
                <a16:creationId xmlns:a16="http://schemas.microsoft.com/office/drawing/2014/main" id="{52448DD0-7814-3CD6-D1F4-4291F24C0D28}"/>
              </a:ext>
            </a:extLst>
          </p:cNvPr>
          <p:cNvSpPr>
            <a:spLocks noChangeShapeType="1"/>
          </p:cNvSpPr>
          <p:nvPr/>
        </p:nvSpPr>
        <p:spPr bwMode="auto">
          <a:xfrm>
            <a:off x="6015038" y="3844925"/>
            <a:ext cx="8747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05" name="Line 65">
            <a:extLst>
              <a:ext uri="{FF2B5EF4-FFF2-40B4-BE49-F238E27FC236}">
                <a16:creationId xmlns:a16="http://schemas.microsoft.com/office/drawing/2014/main" id="{942BEF14-5640-ACBF-A4F8-9F507316E75F}"/>
              </a:ext>
            </a:extLst>
          </p:cNvPr>
          <p:cNvSpPr>
            <a:spLocks noChangeShapeType="1"/>
          </p:cNvSpPr>
          <p:nvPr/>
        </p:nvSpPr>
        <p:spPr bwMode="auto">
          <a:xfrm>
            <a:off x="6015038" y="2930525"/>
            <a:ext cx="8747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06" name="Line 66">
            <a:extLst>
              <a:ext uri="{FF2B5EF4-FFF2-40B4-BE49-F238E27FC236}">
                <a16:creationId xmlns:a16="http://schemas.microsoft.com/office/drawing/2014/main" id="{F71FCBEE-86C3-8C6B-0099-2606E2268028}"/>
              </a:ext>
            </a:extLst>
          </p:cNvPr>
          <p:cNvSpPr>
            <a:spLocks noChangeShapeType="1"/>
          </p:cNvSpPr>
          <p:nvPr/>
        </p:nvSpPr>
        <p:spPr bwMode="auto">
          <a:xfrm>
            <a:off x="6015038" y="3254375"/>
            <a:ext cx="8747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07" name="Line 67">
            <a:extLst>
              <a:ext uri="{FF2B5EF4-FFF2-40B4-BE49-F238E27FC236}">
                <a16:creationId xmlns:a16="http://schemas.microsoft.com/office/drawing/2014/main" id="{F0DF845F-70AE-2C92-C947-6308BBD9934C}"/>
              </a:ext>
            </a:extLst>
          </p:cNvPr>
          <p:cNvSpPr>
            <a:spLocks noChangeShapeType="1"/>
          </p:cNvSpPr>
          <p:nvPr/>
        </p:nvSpPr>
        <p:spPr bwMode="auto">
          <a:xfrm flipH="1">
            <a:off x="5319713" y="2414588"/>
            <a:ext cx="0" cy="763587"/>
          </a:xfrm>
          <a:prstGeom prst="line">
            <a:avLst/>
          </a:prstGeom>
          <a:noFill/>
          <a:ln w="381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06AFE2B9-736D-3B18-EB8F-1BC9ED176274}"/>
              </a:ext>
            </a:extLst>
          </p:cNvPr>
          <p:cNvSpPr>
            <a:spLocks noGrp="1" noChangeArrowheads="1"/>
          </p:cNvSpPr>
          <p:nvPr>
            <p:ph type="title"/>
          </p:nvPr>
        </p:nvSpPr>
        <p:spPr/>
        <p:txBody>
          <a:bodyPr/>
          <a:lstStyle/>
          <a:p>
            <a:pPr eaLnBrk="1" hangingPunct="1"/>
            <a:r>
              <a:rPr lang="zh-CN" altLang="en-US"/>
              <a:t>多级页表</a:t>
            </a:r>
          </a:p>
        </p:txBody>
      </p:sp>
      <p:sp>
        <p:nvSpPr>
          <p:cNvPr id="156675" name="Rectangle 3">
            <a:extLst>
              <a:ext uri="{FF2B5EF4-FFF2-40B4-BE49-F238E27FC236}">
                <a16:creationId xmlns:a16="http://schemas.microsoft.com/office/drawing/2014/main" id="{77E29848-1DB2-EF73-B093-9A775986E95F}"/>
              </a:ext>
            </a:extLst>
          </p:cNvPr>
          <p:cNvSpPr>
            <a:spLocks noGrp="1" noChangeArrowheads="1"/>
          </p:cNvSpPr>
          <p:nvPr>
            <p:ph idx="1"/>
          </p:nvPr>
        </p:nvSpPr>
        <p:spPr/>
        <p:txBody>
          <a:bodyPr/>
          <a:lstStyle/>
          <a:p>
            <a:pPr algn="just" eaLnBrk="1" hangingPunct="1"/>
            <a:r>
              <a:rPr lang="zh-CN" altLang="en-US" dirty="0"/>
              <a:t>对两级页表进行扩充，便可得到三级、四级或更多级的页表。多级页表的实现方式与两级页表类似。</a:t>
            </a:r>
          </a:p>
          <a:p>
            <a:pPr algn="just" eaLnBrk="1" hangingPunct="1"/>
            <a:r>
              <a:rPr lang="zh-CN" altLang="en-US" dirty="0"/>
              <a:t>对于</a:t>
            </a:r>
            <a:r>
              <a:rPr lang="en-US" altLang="zh-CN" dirty="0"/>
              <a:t>64</a:t>
            </a:r>
            <a:r>
              <a:rPr lang="zh-CN" altLang="en-US" dirty="0"/>
              <a:t>位体系结构，分级页表通常并不合适</a:t>
            </a:r>
          </a:p>
          <a:p>
            <a:pPr algn="just" eaLnBrk="1" hangingPunct="1">
              <a:buFont typeface="Wingdings" pitchFamily="2" charset="2"/>
              <a:buNone/>
            </a:pPr>
            <a:r>
              <a:rPr lang="en-US" altLang="zh-CN" dirty="0"/>
              <a:t>   </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animEffect transition="in" filter="checkerboard(across)">
                                      <p:cBhvr>
                                        <p:cTn id="7" dur="500"/>
                                        <p:tgtEl>
                                          <p:spTgt spid="1566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56675">
                                            <p:txEl>
                                              <p:pRg st="1" end="1"/>
                                            </p:txEl>
                                          </p:spTgt>
                                        </p:tgtEl>
                                        <p:attrNameLst>
                                          <p:attrName>style.visibility</p:attrName>
                                        </p:attrNameLst>
                                      </p:cBhvr>
                                      <p:to>
                                        <p:strVal val="visible"/>
                                      </p:to>
                                    </p:set>
                                    <p:animEffect transition="in" filter="checkerboard(across)">
                                      <p:cBhvr>
                                        <p:cTn id="12" dur="500"/>
                                        <p:tgtEl>
                                          <p:spTgt spid="156675">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156675">
                                            <p:txEl>
                                              <p:pRg st="2" end="2"/>
                                            </p:txEl>
                                          </p:spTgt>
                                        </p:tgtEl>
                                        <p:attrNameLst>
                                          <p:attrName>style.visibility</p:attrName>
                                        </p:attrNameLst>
                                      </p:cBhvr>
                                      <p:to>
                                        <p:strVal val="visible"/>
                                      </p:to>
                                    </p:set>
                                    <p:animEffect transition="in" filter="checkerboard(across)">
                                      <p:cBhvr>
                                        <p:cTn id="15" dur="500"/>
                                        <p:tgtEl>
                                          <p:spTgt spid="1566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a:extLst>
              <a:ext uri="{FF2B5EF4-FFF2-40B4-BE49-F238E27FC236}">
                <a16:creationId xmlns:a16="http://schemas.microsoft.com/office/drawing/2014/main" id="{ACF4D070-9EA9-D591-E403-F557EE5BBF86}"/>
              </a:ext>
            </a:extLst>
          </p:cNvPr>
          <p:cNvSpPr>
            <a:spLocks noGrp="1" noChangeArrowheads="1"/>
          </p:cNvSpPr>
          <p:nvPr>
            <p:ph type="body" sz="half" idx="1"/>
          </p:nvPr>
        </p:nvSpPr>
        <p:spPr>
          <a:xfrm>
            <a:off x="684213" y="1125538"/>
            <a:ext cx="8064500" cy="4175125"/>
          </a:xfrm>
        </p:spPr>
        <p:txBody>
          <a:bodyPr/>
          <a:lstStyle/>
          <a:p>
            <a:pPr eaLnBrk="1" hangingPunct="1">
              <a:lnSpc>
                <a:spcPct val="110000"/>
              </a:lnSpc>
            </a:pPr>
            <a:r>
              <a:rPr lang="zh-CN" altLang="en-US" sz="2800"/>
              <a:t>为满足</a:t>
            </a:r>
            <a:r>
              <a:rPr lang="en-US" altLang="zh-CN" sz="2800"/>
              <a:t>2</a:t>
            </a:r>
            <a:r>
              <a:rPr lang="en-US" altLang="zh-CN" sz="2800" baseline="30000"/>
              <a:t>64</a:t>
            </a:r>
            <a:r>
              <a:rPr lang="zh-CN" altLang="en-US" sz="2800"/>
              <a:t>地址空间的作业运行，采用多级分页存储管理方式，假设页面大小为</a:t>
            </a:r>
            <a:r>
              <a:rPr lang="en-US" altLang="zh-CN" sz="2800"/>
              <a:t>4KB</a:t>
            </a:r>
            <a:r>
              <a:rPr lang="zh-CN" altLang="en-US" sz="2800"/>
              <a:t>，页表中每个页表项需占</a:t>
            </a:r>
            <a:r>
              <a:rPr lang="en-US" altLang="zh-CN" sz="2800"/>
              <a:t>8</a:t>
            </a:r>
            <a:r>
              <a:rPr lang="zh-CN" altLang="en-US" sz="2800"/>
              <a:t>字节，则为了满足系统的分页管理至少应采用多少级页表？</a:t>
            </a:r>
          </a:p>
          <a:p>
            <a:pPr eaLnBrk="1" hangingPunct="1">
              <a:lnSpc>
                <a:spcPct val="110000"/>
              </a:lnSpc>
            </a:pPr>
            <a:r>
              <a:rPr lang="zh-CN" altLang="en-US" sz="2800"/>
              <a:t>解：页面大小</a:t>
            </a:r>
            <a:r>
              <a:rPr lang="en-US" altLang="zh-CN" sz="2800"/>
              <a:t>=4KB=2</a:t>
            </a:r>
            <a:r>
              <a:rPr lang="en-US" altLang="zh-CN" sz="2800" baseline="30000"/>
              <a:t>12</a:t>
            </a:r>
            <a:r>
              <a:rPr lang="en-US" altLang="zh-CN" sz="2800"/>
              <a:t>B</a:t>
            </a:r>
            <a:r>
              <a:rPr lang="zh-CN" altLang="en-US" sz="2800"/>
              <a:t>，每个页表项为</a:t>
            </a:r>
            <a:r>
              <a:rPr lang="en-US" altLang="zh-CN" sz="2800"/>
              <a:t>8</a:t>
            </a:r>
            <a:r>
              <a:rPr lang="zh-CN" altLang="en-US" sz="2800"/>
              <a:t>字节</a:t>
            </a:r>
            <a:r>
              <a:rPr lang="en-US" altLang="zh-CN" sz="2800"/>
              <a:t>=2</a:t>
            </a:r>
            <a:r>
              <a:rPr lang="en-US" altLang="zh-CN" sz="2800" baseline="30000"/>
              <a:t>3</a:t>
            </a:r>
            <a:r>
              <a:rPr lang="en-US" altLang="zh-CN" sz="2800"/>
              <a:t>B</a:t>
            </a:r>
            <a:r>
              <a:rPr lang="zh-CN" altLang="en-US" sz="2800"/>
              <a:t>，</a:t>
            </a:r>
          </a:p>
          <a:p>
            <a:pPr eaLnBrk="1" hangingPunct="1">
              <a:lnSpc>
                <a:spcPct val="110000"/>
              </a:lnSpc>
            </a:pPr>
            <a:r>
              <a:rPr lang="zh-CN" altLang="en-US" sz="2800"/>
              <a:t>所以一个页面中可以存放</a:t>
            </a:r>
            <a:r>
              <a:rPr lang="en-US" altLang="zh-CN" sz="2800"/>
              <a:t>2</a:t>
            </a:r>
            <a:r>
              <a:rPr lang="en-US" altLang="zh-CN" sz="2800" baseline="30000"/>
              <a:t>12</a:t>
            </a:r>
            <a:r>
              <a:rPr lang="en-US" altLang="zh-CN" sz="2800"/>
              <a:t>/2</a:t>
            </a:r>
            <a:r>
              <a:rPr lang="en-US" altLang="zh-CN" sz="2800" baseline="30000"/>
              <a:t>3</a:t>
            </a:r>
            <a:r>
              <a:rPr lang="en-US" altLang="zh-CN" sz="2800"/>
              <a:t>=2</a:t>
            </a:r>
            <a:r>
              <a:rPr lang="en-US" altLang="zh-CN" sz="2800" baseline="30000"/>
              <a:t>9</a:t>
            </a:r>
            <a:r>
              <a:rPr lang="zh-CN" altLang="en-US" sz="2800"/>
              <a:t>个页表项。设有</a:t>
            </a:r>
            <a:r>
              <a:rPr lang="en-US" altLang="zh-CN" sz="2800"/>
              <a:t>n</a:t>
            </a:r>
            <a:r>
              <a:rPr lang="zh-CN" altLang="en-US" sz="2800"/>
              <a:t>层分页，则</a:t>
            </a:r>
            <a:r>
              <a:rPr lang="en-US" altLang="zh-CN" sz="2800"/>
              <a:t>64</a:t>
            </a:r>
            <a:r>
              <a:rPr lang="zh-CN" altLang="en-US" sz="2800"/>
              <a:t>位逻辑地址形式为：</a:t>
            </a:r>
          </a:p>
        </p:txBody>
      </p:sp>
      <p:sp>
        <p:nvSpPr>
          <p:cNvPr id="129026" name="Rectangle 3">
            <a:extLst>
              <a:ext uri="{FF2B5EF4-FFF2-40B4-BE49-F238E27FC236}">
                <a16:creationId xmlns:a16="http://schemas.microsoft.com/office/drawing/2014/main" id="{9551B54A-0C22-173A-42F3-92A3680A44E9}"/>
              </a:ext>
            </a:extLst>
          </p:cNvPr>
          <p:cNvSpPr>
            <a:spLocks noGrp="1" noChangeArrowheads="1"/>
          </p:cNvSpPr>
          <p:nvPr>
            <p:ph type="title"/>
          </p:nvPr>
        </p:nvSpPr>
        <p:spPr>
          <a:xfrm>
            <a:off x="1219200" y="142875"/>
            <a:ext cx="7673975" cy="693738"/>
          </a:xfrm>
        </p:spPr>
        <p:txBody>
          <a:bodyPr/>
          <a:lstStyle/>
          <a:p>
            <a:pPr eaLnBrk="1" hangingPunct="1"/>
            <a:r>
              <a:rPr lang="zh-CN" altLang="en-US" sz="4000" dirty="0"/>
              <a:t>示例</a:t>
            </a:r>
            <a:endParaRPr lang="zh-CN" altLang="en-US" sz="3600" dirty="0"/>
          </a:p>
        </p:txBody>
      </p:sp>
      <p:graphicFrame>
        <p:nvGraphicFramePr>
          <p:cNvPr id="308257" name="Group 33">
            <a:extLst>
              <a:ext uri="{FF2B5EF4-FFF2-40B4-BE49-F238E27FC236}">
                <a16:creationId xmlns:a16="http://schemas.microsoft.com/office/drawing/2014/main" id="{05D51C42-96AB-3BE8-7C6D-A1A6AF1B6960}"/>
              </a:ext>
            </a:extLst>
          </p:cNvPr>
          <p:cNvGraphicFramePr>
            <a:graphicFrameLocks noGrp="1"/>
          </p:cNvGraphicFramePr>
          <p:nvPr>
            <p:ph sz="half" idx="1"/>
          </p:nvPr>
        </p:nvGraphicFramePr>
        <p:xfrm>
          <a:off x="323850" y="5516563"/>
          <a:ext cx="8497888" cy="457200"/>
        </p:xfrm>
        <a:graphic>
          <a:graphicData uri="http://schemas.openxmlformats.org/drawingml/2006/table">
            <a:tbl>
              <a:tblPr/>
              <a:tblGrid>
                <a:gridCol w="1830388">
                  <a:extLst>
                    <a:ext uri="{9D8B030D-6E8A-4147-A177-3AD203B41FA5}">
                      <a16:colId xmlns:a16="http://schemas.microsoft.com/office/drawing/2014/main" val="1851599406"/>
                    </a:ext>
                  </a:extLst>
                </a:gridCol>
                <a:gridCol w="1947862">
                  <a:extLst>
                    <a:ext uri="{9D8B030D-6E8A-4147-A177-3AD203B41FA5}">
                      <a16:colId xmlns:a16="http://schemas.microsoft.com/office/drawing/2014/main" val="1203322792"/>
                    </a:ext>
                  </a:extLst>
                </a:gridCol>
                <a:gridCol w="831850">
                  <a:extLst>
                    <a:ext uri="{9D8B030D-6E8A-4147-A177-3AD203B41FA5}">
                      <a16:colId xmlns:a16="http://schemas.microsoft.com/office/drawing/2014/main" val="2090032079"/>
                    </a:ext>
                  </a:extLst>
                </a:gridCol>
                <a:gridCol w="1944688">
                  <a:extLst>
                    <a:ext uri="{9D8B030D-6E8A-4147-A177-3AD203B41FA5}">
                      <a16:colId xmlns:a16="http://schemas.microsoft.com/office/drawing/2014/main" val="254876992"/>
                    </a:ext>
                  </a:extLst>
                </a:gridCol>
                <a:gridCol w="1943100">
                  <a:extLst>
                    <a:ext uri="{9D8B030D-6E8A-4147-A177-3AD203B41FA5}">
                      <a16:colId xmlns:a16="http://schemas.microsoft.com/office/drawing/2014/main" val="2201414807"/>
                    </a:ext>
                  </a:extLst>
                </a:gridCol>
              </a:tblGrid>
              <a:tr h="457200">
                <a:tc>
                  <a:txBody>
                    <a:bodyPr/>
                    <a:lstStyle>
                      <a:lvl1pPr marL="342900" indent="-342900"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第</a:t>
                      </a: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层页号</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第</a:t>
                      </a: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层页号</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第</a:t>
                      </a: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层页号</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页内偏移量</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866572573"/>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8226">
                                            <p:txEl>
                                              <p:pRg st="1" end="1"/>
                                            </p:txEl>
                                          </p:spTgt>
                                        </p:tgtEl>
                                        <p:attrNameLst>
                                          <p:attrName>style.visibility</p:attrName>
                                        </p:attrNameLst>
                                      </p:cBhvr>
                                      <p:to>
                                        <p:strVal val="visible"/>
                                      </p:to>
                                    </p:set>
                                    <p:animEffect transition="in" filter="checkerboard(across)">
                                      <p:cBhvr>
                                        <p:cTn id="7" dur="500"/>
                                        <p:tgtEl>
                                          <p:spTgt spid="30822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08226">
                                            <p:txEl>
                                              <p:pRg st="2" end="2"/>
                                            </p:txEl>
                                          </p:spTgt>
                                        </p:tgtEl>
                                        <p:attrNameLst>
                                          <p:attrName>style.visibility</p:attrName>
                                        </p:attrNameLst>
                                      </p:cBhvr>
                                      <p:to>
                                        <p:strVal val="visible"/>
                                      </p:to>
                                    </p:set>
                                    <p:animEffect transition="in" filter="checkerboard(across)">
                                      <p:cBhvr>
                                        <p:cTn id="12" dur="500"/>
                                        <p:tgtEl>
                                          <p:spTgt spid="308226">
                                            <p:txEl>
                                              <p:pRg st="2" end="2"/>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308257"/>
                                        </p:tgtEl>
                                        <p:attrNameLst>
                                          <p:attrName>style.visibility</p:attrName>
                                        </p:attrNameLst>
                                      </p:cBhvr>
                                      <p:to>
                                        <p:strVal val="visible"/>
                                      </p:to>
                                    </p:set>
                                    <p:animEffect transition="in" filter="checkerboard(across)">
                                      <p:cBhvr>
                                        <p:cTn id="15" dur="500"/>
                                        <p:tgtEl>
                                          <p:spTgt spid="308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3">
            <a:extLst>
              <a:ext uri="{FF2B5EF4-FFF2-40B4-BE49-F238E27FC236}">
                <a16:creationId xmlns:a16="http://schemas.microsoft.com/office/drawing/2014/main" id="{3B1C415C-C0BE-A3D1-F42F-5BCDA09BA3C9}"/>
              </a:ext>
            </a:extLst>
          </p:cNvPr>
          <p:cNvSpPr>
            <a:spLocks noGrp="1" noChangeArrowheads="1"/>
          </p:cNvSpPr>
          <p:nvPr>
            <p:ph type="title"/>
          </p:nvPr>
        </p:nvSpPr>
        <p:spPr/>
        <p:txBody>
          <a:bodyPr/>
          <a:lstStyle/>
          <a:p>
            <a:r>
              <a:rPr lang="zh-CN" altLang="en-US" dirty="0"/>
              <a:t>示例</a:t>
            </a:r>
          </a:p>
        </p:txBody>
      </p:sp>
      <p:sp>
        <p:nvSpPr>
          <p:cNvPr id="309250" name="Rectangle 2">
            <a:extLst>
              <a:ext uri="{FF2B5EF4-FFF2-40B4-BE49-F238E27FC236}">
                <a16:creationId xmlns:a16="http://schemas.microsoft.com/office/drawing/2014/main" id="{5D24AE39-1591-963C-0087-DF5818D915A1}"/>
              </a:ext>
            </a:extLst>
          </p:cNvPr>
          <p:cNvSpPr>
            <a:spLocks noGrp="1" noChangeArrowheads="1"/>
          </p:cNvSpPr>
          <p:nvPr>
            <p:ph idx="1"/>
          </p:nvPr>
        </p:nvSpPr>
        <p:spPr/>
        <p:txBody>
          <a:bodyPr/>
          <a:lstStyle/>
          <a:p>
            <a:r>
              <a:rPr lang="zh-CN" altLang="en-US" dirty="0"/>
              <a:t>其中，页面大小为</a:t>
            </a:r>
            <a:r>
              <a:rPr lang="en-US" altLang="zh-CN" dirty="0"/>
              <a:t>2</a:t>
            </a:r>
            <a:r>
              <a:rPr lang="en-US" altLang="zh-CN" baseline="30000" dirty="0"/>
              <a:t>12</a:t>
            </a:r>
            <a:r>
              <a:rPr lang="zh-CN" altLang="en-US" dirty="0"/>
              <a:t>字节，所以页内偏移量占</a:t>
            </a:r>
            <a:r>
              <a:rPr lang="en-US" altLang="zh-CN" dirty="0"/>
              <a:t>12</a:t>
            </a:r>
            <a:r>
              <a:rPr lang="zh-CN" altLang="en-US" dirty="0"/>
              <a:t>位。</a:t>
            </a:r>
          </a:p>
          <a:p>
            <a:r>
              <a:rPr lang="zh-CN" altLang="en-US" dirty="0"/>
              <a:t>由于最高层页表占一页，每页可以存放下</a:t>
            </a:r>
            <a:r>
              <a:rPr lang="en-US" altLang="zh-CN" dirty="0"/>
              <a:t>2</a:t>
            </a:r>
            <a:r>
              <a:rPr lang="en-US" altLang="zh-CN" baseline="30000" dirty="0"/>
              <a:t>9</a:t>
            </a:r>
            <a:r>
              <a:rPr lang="zh-CN" altLang="en-US" dirty="0"/>
              <a:t>个表项，因此分页层数：</a:t>
            </a:r>
            <a:r>
              <a:rPr lang="en-US" altLang="zh-CN" dirty="0"/>
              <a:t>52/9=6</a:t>
            </a:r>
            <a:r>
              <a:rPr lang="zh-CN" altLang="en-US" dirty="0"/>
              <a:t>。</a:t>
            </a:r>
          </a:p>
          <a:p>
            <a:r>
              <a:rPr lang="zh-CN" altLang="en-US" dirty="0"/>
              <a:t>所以为了满足系统的分页管理至少应采用</a:t>
            </a:r>
            <a:r>
              <a:rPr lang="en-US" altLang="zh-CN" dirty="0"/>
              <a:t>6</a:t>
            </a:r>
            <a:r>
              <a:rPr lang="zh-CN" altLang="en-US" dirty="0"/>
              <a:t>级页表。</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9250">
                                            <p:txEl>
                                              <p:pRg st="0" end="0"/>
                                            </p:txEl>
                                          </p:spTgt>
                                        </p:tgtEl>
                                        <p:attrNameLst>
                                          <p:attrName>style.visibility</p:attrName>
                                        </p:attrNameLst>
                                      </p:cBhvr>
                                      <p:to>
                                        <p:strVal val="visible"/>
                                      </p:to>
                                    </p:set>
                                    <p:animEffect transition="in" filter="checkerboard(across)">
                                      <p:cBhvr>
                                        <p:cTn id="7" dur="500"/>
                                        <p:tgtEl>
                                          <p:spTgt spid="309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09250">
                                            <p:txEl>
                                              <p:pRg st="1" end="1"/>
                                            </p:txEl>
                                          </p:spTgt>
                                        </p:tgtEl>
                                        <p:attrNameLst>
                                          <p:attrName>style.visibility</p:attrName>
                                        </p:attrNameLst>
                                      </p:cBhvr>
                                      <p:to>
                                        <p:strVal val="visible"/>
                                      </p:to>
                                    </p:set>
                                    <p:animEffect transition="in" filter="checkerboard(across)">
                                      <p:cBhvr>
                                        <p:cTn id="12" dur="500"/>
                                        <p:tgtEl>
                                          <p:spTgt spid="3092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09250">
                                            <p:txEl>
                                              <p:pRg st="2" end="2"/>
                                            </p:txEl>
                                          </p:spTgt>
                                        </p:tgtEl>
                                        <p:attrNameLst>
                                          <p:attrName>style.visibility</p:attrName>
                                        </p:attrNameLst>
                                      </p:cBhvr>
                                      <p:to>
                                        <p:strVal val="visible"/>
                                      </p:to>
                                    </p:set>
                                    <p:animEffect transition="in" filter="checkerboard(across)">
                                      <p:cBhvr>
                                        <p:cTn id="17" dur="500"/>
                                        <p:tgtEl>
                                          <p:spTgt spid="30925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0"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ABE8D752-C7D5-3A9D-91EB-E0E6C794003A}"/>
              </a:ext>
            </a:extLst>
          </p:cNvPr>
          <p:cNvSpPr>
            <a:spLocks noGrp="1" noChangeArrowheads="1"/>
          </p:cNvSpPr>
          <p:nvPr>
            <p:ph type="title"/>
          </p:nvPr>
        </p:nvSpPr>
        <p:spPr>
          <a:xfrm>
            <a:off x="1042988" y="225431"/>
            <a:ext cx="7850187" cy="746125"/>
          </a:xfrm>
        </p:spPr>
        <p:txBody>
          <a:bodyPr/>
          <a:lstStyle/>
          <a:p>
            <a:r>
              <a:rPr lang="zh-CN" altLang="en-US" dirty="0"/>
              <a:t>哈希页表</a:t>
            </a:r>
          </a:p>
        </p:txBody>
      </p:sp>
      <p:sp>
        <p:nvSpPr>
          <p:cNvPr id="384003" name="Rectangle 3">
            <a:extLst>
              <a:ext uri="{FF2B5EF4-FFF2-40B4-BE49-F238E27FC236}">
                <a16:creationId xmlns:a16="http://schemas.microsoft.com/office/drawing/2014/main" id="{EAC76621-29D6-BE98-261A-327907E01FCC}"/>
              </a:ext>
            </a:extLst>
          </p:cNvPr>
          <p:cNvSpPr>
            <a:spLocks noGrp="1" noChangeArrowheads="1"/>
          </p:cNvSpPr>
          <p:nvPr>
            <p:ph idx="1"/>
          </p:nvPr>
        </p:nvSpPr>
        <p:spPr>
          <a:xfrm>
            <a:off x="935038" y="1233488"/>
            <a:ext cx="7772400" cy="4895850"/>
          </a:xfrm>
        </p:spPr>
        <p:txBody>
          <a:bodyPr/>
          <a:lstStyle/>
          <a:p>
            <a:r>
              <a:rPr lang="zh-CN" altLang="en-US" dirty="0"/>
              <a:t>处理超过</a:t>
            </a:r>
            <a:r>
              <a:rPr lang="en-US" altLang="zh-CN" dirty="0"/>
              <a:t>32</a:t>
            </a:r>
            <a:r>
              <a:rPr lang="zh-CN" altLang="en-US" dirty="0"/>
              <a:t>位地址空间的常用方法是使用哈希页表</a:t>
            </a:r>
          </a:p>
          <a:p>
            <a:r>
              <a:rPr lang="zh-CN" altLang="en-US" dirty="0"/>
              <a:t>虚拟页号被散列到一个页表中，页表的每个表项包含散列到相同地址的链指针。</a:t>
            </a:r>
          </a:p>
          <a:p>
            <a:r>
              <a:rPr lang="zh-CN" altLang="en-US" dirty="0"/>
              <a:t>每个元素包含：虚拟页号、帧号、指针</a:t>
            </a:r>
          </a:p>
          <a:p>
            <a:r>
              <a:rPr lang="en-US" altLang="zh-CN"/>
              <a:t>   </a:t>
            </a:r>
            <a:endParaRPr lang="en-US" altLang="zh-CN"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Effect transition="in" filter="checkerboard(across)">
                                      <p:cBhvr>
                                        <p:cTn id="7" dur="500"/>
                                        <p:tgtEl>
                                          <p:spTgt spid="384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4003">
                                            <p:txEl>
                                              <p:pRg st="1" end="1"/>
                                            </p:txEl>
                                          </p:spTgt>
                                        </p:tgtEl>
                                        <p:attrNameLst>
                                          <p:attrName>style.visibility</p:attrName>
                                        </p:attrNameLst>
                                      </p:cBhvr>
                                      <p:to>
                                        <p:strVal val="visible"/>
                                      </p:to>
                                    </p:set>
                                    <p:animEffect transition="in" filter="checkerboard(across)">
                                      <p:cBhvr>
                                        <p:cTn id="12" dur="500"/>
                                        <p:tgtEl>
                                          <p:spTgt spid="3840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4003">
                                            <p:txEl>
                                              <p:pRg st="2" end="2"/>
                                            </p:txEl>
                                          </p:spTgt>
                                        </p:tgtEl>
                                        <p:attrNameLst>
                                          <p:attrName>style.visibility</p:attrName>
                                        </p:attrNameLst>
                                      </p:cBhvr>
                                      <p:to>
                                        <p:strVal val="visible"/>
                                      </p:to>
                                    </p:set>
                                    <p:animEffect transition="in" filter="checkerboard(across)">
                                      <p:cBhvr>
                                        <p:cTn id="17" dur="500"/>
                                        <p:tgtEl>
                                          <p:spTgt spid="3840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84003">
                                            <p:txEl>
                                              <p:pRg st="3" end="3"/>
                                            </p:txEl>
                                          </p:spTgt>
                                        </p:tgtEl>
                                        <p:attrNameLst>
                                          <p:attrName>style.visibility</p:attrName>
                                        </p:attrNameLst>
                                      </p:cBhvr>
                                      <p:to>
                                        <p:strVal val="visible"/>
                                      </p:to>
                                    </p:set>
                                    <p:animEffect transition="in" filter="checkerboard(across)">
                                      <p:cBhvr>
                                        <p:cTn id="22" dur="500"/>
                                        <p:tgtEl>
                                          <p:spTgt spid="3840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71076DF8-6C5D-CA8B-91CC-F63E00BFF6F4}"/>
              </a:ext>
            </a:extLst>
          </p:cNvPr>
          <p:cNvSpPr>
            <a:spLocks noGrp="1" noChangeArrowheads="1"/>
          </p:cNvSpPr>
          <p:nvPr>
            <p:ph type="title"/>
          </p:nvPr>
        </p:nvSpPr>
        <p:spPr>
          <a:xfrm>
            <a:off x="1042988" y="225431"/>
            <a:ext cx="7850187" cy="746125"/>
          </a:xfrm>
        </p:spPr>
        <p:txBody>
          <a:bodyPr/>
          <a:lstStyle/>
          <a:p>
            <a:r>
              <a:rPr lang="zh-CN" altLang="en-US" dirty="0"/>
              <a:t>哈希页表</a:t>
            </a:r>
          </a:p>
        </p:txBody>
      </p:sp>
      <p:sp>
        <p:nvSpPr>
          <p:cNvPr id="386051" name="Rectangle 3">
            <a:extLst>
              <a:ext uri="{FF2B5EF4-FFF2-40B4-BE49-F238E27FC236}">
                <a16:creationId xmlns:a16="http://schemas.microsoft.com/office/drawing/2014/main" id="{A3F93C24-EA15-F215-409F-86B6AF711992}"/>
              </a:ext>
            </a:extLst>
          </p:cNvPr>
          <p:cNvSpPr>
            <a:spLocks noGrp="1" noChangeArrowheads="1"/>
          </p:cNvSpPr>
          <p:nvPr>
            <p:ph idx="1"/>
          </p:nvPr>
        </p:nvSpPr>
        <p:spPr>
          <a:xfrm>
            <a:off x="935038" y="1233488"/>
            <a:ext cx="7772400" cy="4895850"/>
          </a:xfrm>
        </p:spPr>
        <p:txBody>
          <a:bodyPr>
            <a:normAutofit/>
          </a:bodyPr>
          <a:lstStyle/>
          <a:p>
            <a:r>
              <a:rPr lang="zh-CN" altLang="en-US" dirty="0"/>
              <a:t>算法按如下方式工作：用虚拟地址中的页号转换到哈希表中，用虚拟页号与链表中的每个元素的第一个域比较</a:t>
            </a:r>
            <a:endParaRPr lang="en-US" altLang="zh-CN" dirty="0"/>
          </a:p>
          <a:p>
            <a:r>
              <a:rPr lang="zh-CN" altLang="en-US" dirty="0"/>
              <a:t>如果匹配成功，相应的帧号用来形成物理地址，否则对下一节点进行比较以寻找匹配的页号。</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animEffect transition="in" filter="checkerboard(across)">
                                      <p:cBhvr>
                                        <p:cTn id="7" dur="500"/>
                                        <p:tgtEl>
                                          <p:spTgt spid="386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6051">
                                            <p:txEl>
                                              <p:pRg st="1" end="1"/>
                                            </p:txEl>
                                          </p:spTgt>
                                        </p:tgtEl>
                                        <p:attrNameLst>
                                          <p:attrName>style.visibility</p:attrName>
                                        </p:attrNameLst>
                                      </p:cBhvr>
                                      <p:to>
                                        <p:strVal val="visible"/>
                                      </p:to>
                                    </p:set>
                                    <p:animEffect transition="in" filter="checkerboard(across)">
                                      <p:cBhvr>
                                        <p:cTn id="12" dur="500"/>
                                        <p:tgtEl>
                                          <p:spTgt spid="3860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a:extLst>
              <a:ext uri="{FF2B5EF4-FFF2-40B4-BE49-F238E27FC236}">
                <a16:creationId xmlns:a16="http://schemas.microsoft.com/office/drawing/2014/main" id="{57D1E678-12BB-5431-FA1C-4DEE93C1EC42}"/>
              </a:ext>
            </a:extLst>
          </p:cNvPr>
          <p:cNvSpPr>
            <a:spLocks noGrp="1" noChangeArrowheads="1"/>
          </p:cNvSpPr>
          <p:nvPr>
            <p:ph type="title"/>
          </p:nvPr>
        </p:nvSpPr>
        <p:spPr/>
        <p:txBody>
          <a:bodyPr/>
          <a:lstStyle/>
          <a:p>
            <a:pPr eaLnBrk="1" hangingPunct="1"/>
            <a:r>
              <a:rPr lang="en-US" altLang="zh-CN"/>
              <a:t>Hashed Page Table</a:t>
            </a:r>
            <a:endParaRPr lang="zh-CN" altLang="en-US"/>
          </a:p>
        </p:txBody>
      </p:sp>
      <p:pic>
        <p:nvPicPr>
          <p:cNvPr id="133122" name="Picture 4">
            <a:extLst>
              <a:ext uri="{FF2B5EF4-FFF2-40B4-BE49-F238E27FC236}">
                <a16:creationId xmlns:a16="http://schemas.microsoft.com/office/drawing/2014/main" id="{7ECEDA48-5A5B-A787-2ABB-ACED874BAB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28" t="14386" r="943" b="14816"/>
          <a:stretch>
            <a:fillRect/>
          </a:stretch>
        </p:blipFill>
        <p:spPr bwMode="auto">
          <a:xfrm>
            <a:off x="600075" y="1265238"/>
            <a:ext cx="7918450" cy="478472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a:extLst>
              <a:ext uri="{FF2B5EF4-FFF2-40B4-BE49-F238E27FC236}">
                <a16:creationId xmlns:a16="http://schemas.microsoft.com/office/drawing/2014/main" id="{E86F037A-9AC1-D35A-9180-0E5399417ACF}"/>
              </a:ext>
            </a:extLst>
          </p:cNvPr>
          <p:cNvSpPr>
            <a:spLocks noGrp="1" noChangeArrowheads="1"/>
          </p:cNvSpPr>
          <p:nvPr>
            <p:ph type="title"/>
          </p:nvPr>
        </p:nvSpPr>
        <p:spPr/>
        <p:txBody>
          <a:bodyPr/>
          <a:lstStyle/>
          <a:p>
            <a:pPr eaLnBrk="1" hangingPunct="1">
              <a:lnSpc>
                <a:spcPct val="90000"/>
              </a:lnSpc>
            </a:pPr>
            <a:r>
              <a:rPr lang="zh-CN" altLang="en-US" sz="3200" b="1" dirty="0"/>
              <a:t>反向页表</a:t>
            </a:r>
            <a:r>
              <a:rPr lang="en-US" altLang="zh-CN" sz="3200" b="1" dirty="0"/>
              <a:t>Inverted Page Table (IPT)</a:t>
            </a:r>
            <a:endParaRPr lang="zh-CN" altLang="en-US" sz="3200" b="1" dirty="0"/>
          </a:p>
        </p:txBody>
      </p:sp>
      <p:sp>
        <p:nvSpPr>
          <p:cNvPr id="208899" name="Rectangle 3">
            <a:extLst>
              <a:ext uri="{FF2B5EF4-FFF2-40B4-BE49-F238E27FC236}">
                <a16:creationId xmlns:a16="http://schemas.microsoft.com/office/drawing/2014/main" id="{938412A3-9AE4-408A-9D8C-449D929E7B01}"/>
              </a:ext>
            </a:extLst>
          </p:cNvPr>
          <p:cNvSpPr>
            <a:spLocks noGrp="1" noChangeArrowheads="1"/>
          </p:cNvSpPr>
          <p:nvPr>
            <p:ph idx="1"/>
          </p:nvPr>
        </p:nvSpPr>
        <p:spPr>
          <a:xfrm>
            <a:off x="684213" y="1341438"/>
            <a:ext cx="7920037" cy="4464050"/>
          </a:xfrm>
        </p:spPr>
        <p:txBody>
          <a:bodyPr/>
          <a:lstStyle/>
          <a:p>
            <a:pPr eaLnBrk="1" hangingPunct="1"/>
            <a:r>
              <a:rPr lang="zh-CN" altLang="en-US"/>
              <a:t>现代操作系统一般允许大逻辑地址空间，这使得页表太大，为解决页表占用大量存储空间的问题，引入了反向页表。</a:t>
            </a:r>
          </a:p>
          <a:p>
            <a:pPr eaLnBrk="1" hangingPunct="1"/>
            <a:r>
              <a:rPr lang="zh-CN" altLang="en-US">
                <a:solidFill>
                  <a:srgbClr val="FF0000"/>
                </a:solidFill>
              </a:rPr>
              <a:t>反向页表</a:t>
            </a:r>
            <a:r>
              <a:rPr lang="zh-CN" altLang="en-US"/>
              <a:t>为每个物理块设置一个页表项，并将它们按物理块号大小排序，表项内容为页号及其隶属进程的标识号。</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animEffect transition="in" filter="checkerboard(across)">
                                      <p:cBhvr>
                                        <p:cTn id="7" dur="500"/>
                                        <p:tgtEl>
                                          <p:spTgt spid="2088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8899">
                                            <p:txEl>
                                              <p:pRg st="1" end="1"/>
                                            </p:txEl>
                                          </p:spTgt>
                                        </p:tgtEl>
                                        <p:attrNameLst>
                                          <p:attrName>style.visibility</p:attrName>
                                        </p:attrNameLst>
                                      </p:cBhvr>
                                      <p:to>
                                        <p:strVal val="visible"/>
                                      </p:to>
                                    </p:set>
                                    <p:animEffect transition="in" filter="checkerboard(across)">
                                      <p:cBhvr>
                                        <p:cTn id="12" dur="500"/>
                                        <p:tgtEl>
                                          <p:spTgt spid="2088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8A6498B8-CBD4-DAC0-B642-CEFCC5E869FB}"/>
              </a:ext>
            </a:extLst>
          </p:cNvPr>
          <p:cNvSpPr>
            <a:spLocks noGrp="1" noChangeArrowheads="1"/>
          </p:cNvSpPr>
          <p:nvPr>
            <p:ph type="title"/>
          </p:nvPr>
        </p:nvSpPr>
        <p:spPr/>
        <p:txBody>
          <a:bodyPr/>
          <a:lstStyle/>
          <a:p>
            <a:pPr eaLnBrk="1" hangingPunct="1"/>
            <a:r>
              <a:rPr lang="zh-CN" altLang="en-US"/>
              <a:t>反向页表地址变换过程</a:t>
            </a:r>
          </a:p>
        </p:txBody>
      </p:sp>
      <p:sp>
        <p:nvSpPr>
          <p:cNvPr id="209923" name="Rectangle 3">
            <a:extLst>
              <a:ext uri="{FF2B5EF4-FFF2-40B4-BE49-F238E27FC236}">
                <a16:creationId xmlns:a16="http://schemas.microsoft.com/office/drawing/2014/main" id="{61C868D6-5A99-46EB-321C-D6390124C9F2}"/>
              </a:ext>
            </a:extLst>
          </p:cNvPr>
          <p:cNvSpPr>
            <a:spLocks noGrp="1" noChangeArrowheads="1"/>
          </p:cNvSpPr>
          <p:nvPr>
            <p:ph idx="1"/>
          </p:nvPr>
        </p:nvSpPr>
        <p:spPr>
          <a:xfrm>
            <a:off x="611188" y="1268413"/>
            <a:ext cx="8343900" cy="4752975"/>
          </a:xfrm>
        </p:spPr>
        <p:txBody>
          <a:bodyPr/>
          <a:lstStyle/>
          <a:p>
            <a:pPr eaLnBrk="1" hangingPunct="1"/>
            <a:r>
              <a:rPr lang="zh-CN" altLang="en-US"/>
              <a:t>利用进程标识号及页号检索反向页表，若找到相应的页表项，则将其物理块号与页内地址拼接；否则请求调入该进程相应页，在无调页功能的系统中则出错。</a:t>
            </a:r>
          </a:p>
          <a:p>
            <a:pPr eaLnBrk="1" hangingPunct="1"/>
            <a:r>
              <a:rPr lang="zh-CN" altLang="en-US"/>
              <a:t>由于反向页表中没有存放进程中尚未调入页，因此必须为每个进程建立一张传统页表并存放在外存中，当所访问页不在内存时使用这张页表。页表中包含各页在外存的地址。</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Effect transition="in" filter="checkerboard(across)">
                                      <p:cBhvr>
                                        <p:cTn id="7" dur="500"/>
                                        <p:tgtEl>
                                          <p:spTgt spid="2099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9923">
                                            <p:txEl>
                                              <p:pRg st="1" end="1"/>
                                            </p:txEl>
                                          </p:spTgt>
                                        </p:tgtEl>
                                        <p:attrNameLst>
                                          <p:attrName>style.visibility</p:attrName>
                                        </p:attrNameLst>
                                      </p:cBhvr>
                                      <p:to>
                                        <p:strVal val="visible"/>
                                      </p:to>
                                    </p:set>
                                    <p:animEffect transition="in" filter="checkerboard(across)">
                                      <p:cBhvr>
                                        <p:cTn id="12" dur="500"/>
                                        <p:tgtEl>
                                          <p:spTgt spid="2099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a16="http://schemas.microsoft.com/office/drawing/2014/main" id="{02EAF4B0-B98F-26A8-54D3-6F7FD91E3ADF}"/>
              </a:ext>
            </a:extLst>
          </p:cNvPr>
          <p:cNvSpPr>
            <a:spLocks noGrp="1" noChangeArrowheads="1"/>
          </p:cNvSpPr>
          <p:nvPr>
            <p:ph type="title"/>
          </p:nvPr>
        </p:nvSpPr>
        <p:spPr/>
        <p:txBody>
          <a:bodyPr/>
          <a:lstStyle/>
          <a:p>
            <a:pPr eaLnBrk="1" hangingPunct="1"/>
            <a:r>
              <a:rPr lang="zh-CN" altLang="en-US"/>
              <a:t>反向页表的地址变换</a:t>
            </a:r>
          </a:p>
        </p:txBody>
      </p:sp>
      <p:sp>
        <p:nvSpPr>
          <p:cNvPr id="136194" name="Rectangle 6">
            <a:extLst>
              <a:ext uri="{FF2B5EF4-FFF2-40B4-BE49-F238E27FC236}">
                <a16:creationId xmlns:a16="http://schemas.microsoft.com/office/drawing/2014/main" id="{E8A84E33-20FF-5AEA-FF41-FBA1F4D2818C}"/>
              </a:ext>
            </a:extLst>
          </p:cNvPr>
          <p:cNvSpPr>
            <a:spLocks noChangeArrowheads="1"/>
          </p:cNvSpPr>
          <p:nvPr/>
        </p:nvSpPr>
        <p:spPr bwMode="auto">
          <a:xfrm>
            <a:off x="7353300" y="1582738"/>
            <a:ext cx="11049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逻辑地址</a:t>
            </a:r>
          </a:p>
        </p:txBody>
      </p:sp>
      <p:sp>
        <p:nvSpPr>
          <p:cNvPr id="136195" name="Rectangle 11">
            <a:extLst>
              <a:ext uri="{FF2B5EF4-FFF2-40B4-BE49-F238E27FC236}">
                <a16:creationId xmlns:a16="http://schemas.microsoft.com/office/drawing/2014/main" id="{D3897266-78C2-7B49-D654-066148C5F2AF}"/>
              </a:ext>
            </a:extLst>
          </p:cNvPr>
          <p:cNvSpPr>
            <a:spLocks noChangeArrowheads="1"/>
          </p:cNvSpPr>
          <p:nvPr/>
        </p:nvSpPr>
        <p:spPr bwMode="auto">
          <a:xfrm>
            <a:off x="3008313" y="2725738"/>
            <a:ext cx="24384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进程标识号        页号</a:t>
            </a:r>
          </a:p>
        </p:txBody>
      </p:sp>
      <p:sp>
        <p:nvSpPr>
          <p:cNvPr id="136196" name="Rectangle 13">
            <a:extLst>
              <a:ext uri="{FF2B5EF4-FFF2-40B4-BE49-F238E27FC236}">
                <a16:creationId xmlns:a16="http://schemas.microsoft.com/office/drawing/2014/main" id="{056B129A-AE1A-1AB3-77D5-754278663F20}"/>
              </a:ext>
            </a:extLst>
          </p:cNvPr>
          <p:cNvSpPr>
            <a:spLocks noChangeArrowheads="1"/>
          </p:cNvSpPr>
          <p:nvPr/>
        </p:nvSpPr>
        <p:spPr bwMode="auto">
          <a:xfrm>
            <a:off x="3638550" y="5468938"/>
            <a:ext cx="11985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反向页表</a:t>
            </a:r>
          </a:p>
        </p:txBody>
      </p:sp>
      <p:sp>
        <p:nvSpPr>
          <p:cNvPr id="136197" name="Rectangle 18">
            <a:extLst>
              <a:ext uri="{FF2B5EF4-FFF2-40B4-BE49-F238E27FC236}">
                <a16:creationId xmlns:a16="http://schemas.microsoft.com/office/drawing/2014/main" id="{A5E5B297-AFFD-E260-CF5B-C26484A4415E}"/>
              </a:ext>
            </a:extLst>
          </p:cNvPr>
          <p:cNvSpPr>
            <a:spLocks noChangeArrowheads="1"/>
          </p:cNvSpPr>
          <p:nvPr/>
        </p:nvSpPr>
        <p:spPr bwMode="auto">
          <a:xfrm>
            <a:off x="6207125" y="4289425"/>
            <a:ext cx="1220788" cy="454025"/>
          </a:xfrm>
          <a:prstGeom prst="rect">
            <a:avLst/>
          </a:prstGeom>
          <a:solidFill>
            <a:srgbClr val="FFFFFF"/>
          </a:solidFill>
          <a:ln w="25400">
            <a:solidFill>
              <a:srgbClr val="000000"/>
            </a:solidFill>
            <a:miter lim="800000"/>
            <a:headEnd/>
            <a:tailEnd/>
          </a:ln>
        </p:spPr>
        <p:txBody>
          <a:bodyPr lIns="0" tIns="72000" rIns="0" bIns="0"/>
          <a:lstStyle/>
          <a:p>
            <a:pPr algn="just" eaLnBrk="0" hangingPunct="0"/>
            <a:r>
              <a:rPr lang="zh-CN" altLang="en-US" sz="2000">
                <a:latin typeface="Times New Roman" panose="02020603050405020304" pitchFamily="18" charset="0"/>
              </a:rPr>
              <a:t>    </a:t>
            </a:r>
            <a:r>
              <a:rPr lang="en-US" altLang="zh-CN" sz="2000" b="1">
                <a:latin typeface="Times New Roman" panose="02020603050405020304" pitchFamily="18" charset="0"/>
              </a:rPr>
              <a:t>b        w</a:t>
            </a:r>
          </a:p>
        </p:txBody>
      </p:sp>
      <p:sp>
        <p:nvSpPr>
          <p:cNvPr id="136198" name="Line 19">
            <a:extLst>
              <a:ext uri="{FF2B5EF4-FFF2-40B4-BE49-F238E27FC236}">
                <a16:creationId xmlns:a16="http://schemas.microsoft.com/office/drawing/2014/main" id="{97F1C08E-F953-0759-0D75-5DAB2FA83D14}"/>
              </a:ext>
            </a:extLst>
          </p:cNvPr>
          <p:cNvSpPr>
            <a:spLocks noChangeShapeType="1"/>
          </p:cNvSpPr>
          <p:nvPr/>
        </p:nvSpPr>
        <p:spPr bwMode="auto">
          <a:xfrm>
            <a:off x="6834188" y="4325938"/>
            <a:ext cx="0" cy="4524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199" name="Line 20">
            <a:extLst>
              <a:ext uri="{FF2B5EF4-FFF2-40B4-BE49-F238E27FC236}">
                <a16:creationId xmlns:a16="http://schemas.microsoft.com/office/drawing/2014/main" id="{A0020D8B-7EDA-EA86-0BFB-ED69438B630D}"/>
              </a:ext>
            </a:extLst>
          </p:cNvPr>
          <p:cNvSpPr>
            <a:spLocks noChangeShapeType="1"/>
          </p:cNvSpPr>
          <p:nvPr/>
        </p:nvSpPr>
        <p:spPr bwMode="auto">
          <a:xfrm flipV="1">
            <a:off x="5676900" y="4478338"/>
            <a:ext cx="50482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36200" name="Rectangle 21">
            <a:extLst>
              <a:ext uri="{FF2B5EF4-FFF2-40B4-BE49-F238E27FC236}">
                <a16:creationId xmlns:a16="http://schemas.microsoft.com/office/drawing/2014/main" id="{23B01D9B-EB96-95E9-F214-CF834F36F879}"/>
              </a:ext>
            </a:extLst>
          </p:cNvPr>
          <p:cNvSpPr>
            <a:spLocks noChangeArrowheads="1"/>
          </p:cNvSpPr>
          <p:nvPr/>
        </p:nvSpPr>
        <p:spPr bwMode="auto">
          <a:xfrm>
            <a:off x="6284913" y="4959350"/>
            <a:ext cx="1116012"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物理地址</a:t>
            </a:r>
          </a:p>
        </p:txBody>
      </p:sp>
      <p:sp>
        <p:nvSpPr>
          <p:cNvPr id="136201" name="Rectangle 23">
            <a:extLst>
              <a:ext uri="{FF2B5EF4-FFF2-40B4-BE49-F238E27FC236}">
                <a16:creationId xmlns:a16="http://schemas.microsoft.com/office/drawing/2014/main" id="{4C44D2D6-18A2-1183-833F-B932B26F3DCB}"/>
              </a:ext>
            </a:extLst>
          </p:cNvPr>
          <p:cNvSpPr>
            <a:spLocks noChangeArrowheads="1"/>
          </p:cNvSpPr>
          <p:nvPr/>
        </p:nvSpPr>
        <p:spPr bwMode="auto">
          <a:xfrm>
            <a:off x="4664075" y="1125538"/>
            <a:ext cx="22320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宋体" panose="02010600030101010101" pitchFamily="2" charset="-122"/>
              </a:rPr>
              <a:t> </a:t>
            </a:r>
            <a:r>
              <a:rPr lang="zh-CN" altLang="en-US" sz="2000" b="1">
                <a:latin typeface="宋体" panose="02010600030101010101" pitchFamily="2" charset="-122"/>
              </a:rPr>
              <a:t>页号    页内地址</a:t>
            </a:r>
          </a:p>
        </p:txBody>
      </p:sp>
      <p:sp>
        <p:nvSpPr>
          <p:cNvPr id="136202" name="Rectangle 24">
            <a:extLst>
              <a:ext uri="{FF2B5EF4-FFF2-40B4-BE49-F238E27FC236}">
                <a16:creationId xmlns:a16="http://schemas.microsoft.com/office/drawing/2014/main" id="{D37C3A24-3DE1-E4ED-3CB4-DE9B4236A3A9}"/>
              </a:ext>
            </a:extLst>
          </p:cNvPr>
          <p:cNvSpPr>
            <a:spLocks noChangeArrowheads="1"/>
          </p:cNvSpPr>
          <p:nvPr/>
        </p:nvSpPr>
        <p:spPr bwMode="auto">
          <a:xfrm>
            <a:off x="4554538" y="1512888"/>
            <a:ext cx="2624137" cy="539750"/>
          </a:xfrm>
          <a:prstGeom prst="rect">
            <a:avLst/>
          </a:prstGeom>
          <a:solidFill>
            <a:srgbClr val="FFFFFF"/>
          </a:solidFill>
          <a:ln w="25400">
            <a:solidFill>
              <a:srgbClr val="000000"/>
            </a:solidFill>
            <a:miter lim="800000"/>
            <a:headEnd/>
            <a:tailEnd/>
          </a:ln>
        </p:spPr>
        <p:txBody>
          <a:bodyPr lIns="72000" tIns="72000" rIns="0" bIns="0"/>
          <a:lstStyle/>
          <a:p>
            <a:pPr algn="just" eaLnBrk="0" hangingPunct="0"/>
            <a:r>
              <a:rPr lang="en-US" altLang="zh-CN" sz="2000">
                <a:latin typeface="Times New Roman" panose="02020603050405020304" pitchFamily="18" charset="0"/>
              </a:rPr>
              <a:t>          </a:t>
            </a:r>
            <a:r>
              <a:rPr lang="en-US" altLang="zh-CN" sz="2000" b="1">
                <a:latin typeface="Times New Roman" panose="02020603050405020304" pitchFamily="18" charset="0"/>
              </a:rPr>
              <a:t>p                 w</a:t>
            </a:r>
          </a:p>
        </p:txBody>
      </p:sp>
      <p:sp>
        <p:nvSpPr>
          <p:cNvPr id="136203" name="Line 25">
            <a:extLst>
              <a:ext uri="{FF2B5EF4-FFF2-40B4-BE49-F238E27FC236}">
                <a16:creationId xmlns:a16="http://schemas.microsoft.com/office/drawing/2014/main" id="{913E150F-300A-FB1A-8E62-69048DBD93FD}"/>
              </a:ext>
            </a:extLst>
          </p:cNvPr>
          <p:cNvSpPr>
            <a:spLocks noChangeShapeType="1"/>
          </p:cNvSpPr>
          <p:nvPr/>
        </p:nvSpPr>
        <p:spPr bwMode="auto">
          <a:xfrm>
            <a:off x="5929313" y="1512888"/>
            <a:ext cx="0" cy="5397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04" name="Rectangle 28">
            <a:extLst>
              <a:ext uri="{FF2B5EF4-FFF2-40B4-BE49-F238E27FC236}">
                <a16:creationId xmlns:a16="http://schemas.microsoft.com/office/drawing/2014/main" id="{47A7B031-DA59-6E9A-8A7B-4D46AD50B8BF}"/>
              </a:ext>
            </a:extLst>
          </p:cNvPr>
          <p:cNvSpPr>
            <a:spLocks noChangeArrowheads="1"/>
          </p:cNvSpPr>
          <p:nvPr/>
        </p:nvSpPr>
        <p:spPr bwMode="auto">
          <a:xfrm>
            <a:off x="2703513" y="3100388"/>
            <a:ext cx="3009900" cy="2216150"/>
          </a:xfrm>
          <a:prstGeom prst="rect">
            <a:avLst/>
          </a:prstGeom>
          <a:solidFill>
            <a:srgbClr val="FFFFFF"/>
          </a:solidFill>
          <a:ln w="25400">
            <a:solidFill>
              <a:srgbClr val="000000"/>
            </a:solidFill>
            <a:miter lim="800000"/>
            <a:headEnd/>
            <a:tailEnd/>
          </a:ln>
        </p:spPr>
        <p:txBody>
          <a:bodyPr lIns="0" tIns="0" rIns="0" bIns="0"/>
          <a:lstStyle/>
          <a:p>
            <a:pPr algn="ctr" eaLnBrk="0" hangingPunct="0"/>
            <a:endParaRPr lang="zh-CN" altLang="en-US" sz="2000">
              <a:latin typeface="Times New Roman" panose="02020603050405020304" pitchFamily="18" charset="0"/>
            </a:endParaRPr>
          </a:p>
          <a:p>
            <a:pPr algn="ctr" eaLnBrk="0" hangingPunct="0"/>
            <a:endParaRPr lang="zh-CN" altLang="en-US" sz="2000">
              <a:latin typeface="宋体" panose="02010600030101010101" pitchFamily="2" charset="-122"/>
            </a:endParaRPr>
          </a:p>
          <a:p>
            <a:pPr eaLnBrk="0" hangingPunct="0"/>
            <a:r>
              <a:rPr lang="zh-CN" altLang="en-US" sz="2000">
                <a:latin typeface="宋体" panose="02010600030101010101" pitchFamily="2" charset="-122"/>
              </a:rPr>
              <a:t>      </a:t>
            </a:r>
          </a:p>
          <a:p>
            <a:pPr eaLnBrk="0" hangingPunct="0"/>
            <a:r>
              <a:rPr lang="zh-CN" altLang="en-US" sz="2000">
                <a:latin typeface="宋体" panose="02010600030101010101" pitchFamily="2" charset="-122"/>
              </a:rPr>
              <a:t>   ┇</a:t>
            </a:r>
          </a:p>
          <a:p>
            <a:pPr eaLnBrk="0" hangingPunct="0"/>
            <a:r>
              <a:rPr lang="zh-CN" altLang="en-US" sz="2000">
                <a:latin typeface="宋体" panose="02010600030101010101" pitchFamily="2" charset="-122"/>
              </a:rPr>
              <a:t>  </a:t>
            </a:r>
            <a:r>
              <a:rPr lang="en-US" altLang="zh-CN" sz="2000" b="1">
                <a:latin typeface="宋体" panose="02010600030101010101" pitchFamily="2" charset="-122"/>
              </a:rPr>
              <a:t>pid            p</a:t>
            </a:r>
            <a:endParaRPr lang="en-US" altLang="zh-CN" sz="2000" b="1">
              <a:latin typeface="Times New Roman" panose="02020603050405020304" pitchFamily="18" charset="0"/>
            </a:endParaRPr>
          </a:p>
        </p:txBody>
      </p:sp>
      <p:sp>
        <p:nvSpPr>
          <p:cNvPr id="136205" name="Line 29">
            <a:extLst>
              <a:ext uri="{FF2B5EF4-FFF2-40B4-BE49-F238E27FC236}">
                <a16:creationId xmlns:a16="http://schemas.microsoft.com/office/drawing/2014/main" id="{83036C44-DDFF-8F77-7FEF-5D84B728976B}"/>
              </a:ext>
            </a:extLst>
          </p:cNvPr>
          <p:cNvSpPr>
            <a:spLocks noChangeShapeType="1"/>
          </p:cNvSpPr>
          <p:nvPr/>
        </p:nvSpPr>
        <p:spPr bwMode="auto">
          <a:xfrm>
            <a:off x="2703513" y="4002088"/>
            <a:ext cx="300990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06" name="Line 30">
            <a:extLst>
              <a:ext uri="{FF2B5EF4-FFF2-40B4-BE49-F238E27FC236}">
                <a16:creationId xmlns:a16="http://schemas.microsoft.com/office/drawing/2014/main" id="{AA0A91AC-6D34-4399-02B1-94A96C38A4D5}"/>
              </a:ext>
            </a:extLst>
          </p:cNvPr>
          <p:cNvSpPr>
            <a:spLocks noChangeShapeType="1"/>
          </p:cNvSpPr>
          <p:nvPr/>
        </p:nvSpPr>
        <p:spPr bwMode="auto">
          <a:xfrm>
            <a:off x="2703513" y="4325938"/>
            <a:ext cx="300990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07" name="Line 31">
            <a:extLst>
              <a:ext uri="{FF2B5EF4-FFF2-40B4-BE49-F238E27FC236}">
                <a16:creationId xmlns:a16="http://schemas.microsoft.com/office/drawing/2014/main" id="{1847E646-3BFF-E29D-7EF8-F3C10F37E154}"/>
              </a:ext>
            </a:extLst>
          </p:cNvPr>
          <p:cNvSpPr>
            <a:spLocks noChangeShapeType="1"/>
          </p:cNvSpPr>
          <p:nvPr/>
        </p:nvSpPr>
        <p:spPr bwMode="auto">
          <a:xfrm>
            <a:off x="2703513" y="3398838"/>
            <a:ext cx="300990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08" name="Line 32">
            <a:extLst>
              <a:ext uri="{FF2B5EF4-FFF2-40B4-BE49-F238E27FC236}">
                <a16:creationId xmlns:a16="http://schemas.microsoft.com/office/drawing/2014/main" id="{A8AEFC99-F495-F8C5-CA1C-B4FA7EF52213}"/>
              </a:ext>
            </a:extLst>
          </p:cNvPr>
          <p:cNvSpPr>
            <a:spLocks noChangeShapeType="1"/>
          </p:cNvSpPr>
          <p:nvPr/>
        </p:nvSpPr>
        <p:spPr bwMode="auto">
          <a:xfrm>
            <a:off x="2703513" y="3722688"/>
            <a:ext cx="300990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09" name="Rectangle 34">
            <a:extLst>
              <a:ext uri="{FF2B5EF4-FFF2-40B4-BE49-F238E27FC236}">
                <a16:creationId xmlns:a16="http://schemas.microsoft.com/office/drawing/2014/main" id="{A91097F7-C1BE-E5A0-810D-0457D84A0F9F}"/>
              </a:ext>
            </a:extLst>
          </p:cNvPr>
          <p:cNvSpPr>
            <a:spLocks noChangeArrowheads="1"/>
          </p:cNvSpPr>
          <p:nvPr/>
        </p:nvSpPr>
        <p:spPr bwMode="auto">
          <a:xfrm>
            <a:off x="1179513" y="1582738"/>
            <a:ext cx="17145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进程标识号</a:t>
            </a:r>
            <a:r>
              <a:rPr lang="en-US" altLang="zh-CN" sz="2000" b="1">
                <a:latin typeface="Times New Roman" panose="02020603050405020304" pitchFamily="18" charset="0"/>
              </a:rPr>
              <a:t>pid</a:t>
            </a:r>
          </a:p>
        </p:txBody>
      </p:sp>
      <p:sp>
        <p:nvSpPr>
          <p:cNvPr id="136210" name="Line 36">
            <a:extLst>
              <a:ext uri="{FF2B5EF4-FFF2-40B4-BE49-F238E27FC236}">
                <a16:creationId xmlns:a16="http://schemas.microsoft.com/office/drawing/2014/main" id="{D8FEA583-08CE-94D3-68B1-53A1DDA14488}"/>
              </a:ext>
            </a:extLst>
          </p:cNvPr>
          <p:cNvSpPr>
            <a:spLocks noChangeShapeType="1"/>
          </p:cNvSpPr>
          <p:nvPr/>
        </p:nvSpPr>
        <p:spPr bwMode="auto">
          <a:xfrm>
            <a:off x="4227513" y="3087688"/>
            <a:ext cx="0" cy="221615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11" name="Rectangle 37">
            <a:extLst>
              <a:ext uri="{FF2B5EF4-FFF2-40B4-BE49-F238E27FC236}">
                <a16:creationId xmlns:a16="http://schemas.microsoft.com/office/drawing/2014/main" id="{AC4DBE10-DE4C-C998-32DE-DA24586CD7F9}"/>
              </a:ext>
            </a:extLst>
          </p:cNvPr>
          <p:cNvSpPr>
            <a:spLocks noChangeArrowheads="1"/>
          </p:cNvSpPr>
          <p:nvPr/>
        </p:nvSpPr>
        <p:spPr bwMode="auto">
          <a:xfrm>
            <a:off x="2322513" y="3043238"/>
            <a:ext cx="228600"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 </a:t>
            </a:r>
            <a:r>
              <a:rPr lang="zh-CN" altLang="en-US" sz="2000" b="1">
                <a:latin typeface="Times New Roman" panose="02020603050405020304" pitchFamily="18" charset="0"/>
              </a:rPr>
              <a:t>0</a:t>
            </a:r>
          </a:p>
          <a:p>
            <a:pPr algn="just" eaLnBrk="0" hangingPunct="0"/>
            <a:r>
              <a:rPr lang="zh-CN" altLang="en-US" sz="2000" b="1">
                <a:latin typeface="Times New Roman" panose="02020603050405020304" pitchFamily="18" charset="0"/>
              </a:rPr>
              <a:t> 1</a:t>
            </a:r>
          </a:p>
          <a:p>
            <a:pPr algn="just" eaLnBrk="0" hangingPunct="0"/>
            <a:r>
              <a:rPr lang="zh-CN" altLang="en-US" sz="2000" b="1">
                <a:latin typeface="Times New Roman" panose="02020603050405020304" pitchFamily="18" charset="0"/>
              </a:rPr>
              <a:t> 2</a:t>
            </a:r>
          </a:p>
          <a:p>
            <a:pPr algn="just" eaLnBrk="0" hangingPunct="0"/>
            <a:r>
              <a:rPr lang="zh-CN" altLang="en-US" sz="2000" b="1">
                <a:latin typeface="宋体" panose="02010600030101010101" pitchFamily="2" charset="-122"/>
              </a:rPr>
              <a:t>┇</a:t>
            </a:r>
          </a:p>
          <a:p>
            <a:pPr algn="just" eaLnBrk="0" hangingPunct="0"/>
            <a:endParaRPr lang="zh-CN" altLang="en-US" sz="800" b="1">
              <a:latin typeface="宋体" panose="02010600030101010101" pitchFamily="2" charset="-122"/>
            </a:endParaRPr>
          </a:p>
          <a:p>
            <a:pPr algn="just" eaLnBrk="0" hangingPunct="0"/>
            <a:r>
              <a:rPr lang="en-US" altLang="zh-CN" sz="2000" b="1">
                <a:latin typeface="Times New Roman" panose="02020603050405020304" pitchFamily="18" charset="0"/>
              </a:rPr>
              <a:t> b</a:t>
            </a:r>
          </a:p>
          <a:p>
            <a:pPr algn="just" eaLnBrk="0" hangingPunct="0"/>
            <a:r>
              <a:rPr lang="zh-CN" altLang="en-US" sz="2000" b="1">
                <a:latin typeface="宋体" panose="02010600030101010101" pitchFamily="2" charset="-122"/>
              </a:rPr>
              <a:t>┇</a:t>
            </a:r>
          </a:p>
          <a:p>
            <a:pPr algn="just" eaLnBrk="0" hangingPunct="0"/>
            <a:r>
              <a:rPr lang="en-US" altLang="zh-CN" sz="2000" b="1">
                <a:latin typeface="宋体" panose="02010600030101010101" pitchFamily="2" charset="-122"/>
              </a:rPr>
              <a:t>n</a:t>
            </a:r>
          </a:p>
        </p:txBody>
      </p:sp>
      <p:sp>
        <p:nvSpPr>
          <p:cNvPr id="136212" name="Line 38">
            <a:extLst>
              <a:ext uri="{FF2B5EF4-FFF2-40B4-BE49-F238E27FC236}">
                <a16:creationId xmlns:a16="http://schemas.microsoft.com/office/drawing/2014/main" id="{B783AC69-1292-F5F9-7261-17F783729376}"/>
              </a:ext>
            </a:extLst>
          </p:cNvPr>
          <p:cNvSpPr>
            <a:spLocks noChangeShapeType="1"/>
          </p:cNvSpPr>
          <p:nvPr/>
        </p:nvSpPr>
        <p:spPr bwMode="auto">
          <a:xfrm>
            <a:off x="2703513" y="4706938"/>
            <a:ext cx="300990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13" name="Line 39">
            <a:extLst>
              <a:ext uri="{FF2B5EF4-FFF2-40B4-BE49-F238E27FC236}">
                <a16:creationId xmlns:a16="http://schemas.microsoft.com/office/drawing/2014/main" id="{0CBB2A68-ACC0-3DFD-D45A-776D4FF8933B}"/>
              </a:ext>
            </a:extLst>
          </p:cNvPr>
          <p:cNvSpPr>
            <a:spLocks noChangeShapeType="1"/>
          </p:cNvSpPr>
          <p:nvPr/>
        </p:nvSpPr>
        <p:spPr bwMode="auto">
          <a:xfrm>
            <a:off x="7010400" y="2039938"/>
            <a:ext cx="0" cy="2220912"/>
          </a:xfrm>
          <a:prstGeom prst="line">
            <a:avLst/>
          </a:prstGeom>
          <a:noFill/>
          <a:ln w="28575">
            <a:solidFill>
              <a:schemeClr val="tx1"/>
            </a:solidFill>
            <a:miter lim="800000"/>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36214" name="AutoShape 40">
            <a:extLst>
              <a:ext uri="{FF2B5EF4-FFF2-40B4-BE49-F238E27FC236}">
                <a16:creationId xmlns:a16="http://schemas.microsoft.com/office/drawing/2014/main" id="{E9205427-2427-9BB9-3F27-E6CEE2A60C76}"/>
              </a:ext>
            </a:extLst>
          </p:cNvPr>
          <p:cNvSpPr>
            <a:spLocks/>
          </p:cNvSpPr>
          <p:nvPr/>
        </p:nvSpPr>
        <p:spPr bwMode="auto">
          <a:xfrm rot="-5400000">
            <a:off x="3733800" y="668338"/>
            <a:ext cx="304800" cy="3048000"/>
          </a:xfrm>
          <a:prstGeom prst="leftBrace">
            <a:avLst>
              <a:gd name="adj1" fmla="val 83241"/>
              <a:gd name="adj2"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p>
        </p:txBody>
      </p:sp>
      <p:sp>
        <p:nvSpPr>
          <p:cNvPr id="136215" name="Line 41">
            <a:extLst>
              <a:ext uri="{FF2B5EF4-FFF2-40B4-BE49-F238E27FC236}">
                <a16:creationId xmlns:a16="http://schemas.microsoft.com/office/drawing/2014/main" id="{2E6A10D8-993D-C563-D776-C46C59E716F5}"/>
              </a:ext>
            </a:extLst>
          </p:cNvPr>
          <p:cNvSpPr>
            <a:spLocks noChangeShapeType="1"/>
          </p:cNvSpPr>
          <p:nvPr/>
        </p:nvSpPr>
        <p:spPr bwMode="auto">
          <a:xfrm flipH="1">
            <a:off x="1676400" y="2344738"/>
            <a:ext cx="2209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16" name="Line 43">
            <a:extLst>
              <a:ext uri="{FF2B5EF4-FFF2-40B4-BE49-F238E27FC236}">
                <a16:creationId xmlns:a16="http://schemas.microsoft.com/office/drawing/2014/main" id="{F83DE2B0-0656-89E4-4519-C8D73CCB6681}"/>
              </a:ext>
            </a:extLst>
          </p:cNvPr>
          <p:cNvSpPr>
            <a:spLocks noChangeShapeType="1"/>
          </p:cNvSpPr>
          <p:nvPr/>
        </p:nvSpPr>
        <p:spPr bwMode="auto">
          <a:xfrm>
            <a:off x="1676400" y="2333625"/>
            <a:ext cx="0" cy="2220913"/>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17" name="Line 44">
            <a:extLst>
              <a:ext uri="{FF2B5EF4-FFF2-40B4-BE49-F238E27FC236}">
                <a16:creationId xmlns:a16="http://schemas.microsoft.com/office/drawing/2014/main" id="{55D8A51F-8E72-C254-DC96-4FFED070E107}"/>
              </a:ext>
            </a:extLst>
          </p:cNvPr>
          <p:cNvSpPr>
            <a:spLocks noChangeShapeType="1"/>
          </p:cNvSpPr>
          <p:nvPr/>
        </p:nvSpPr>
        <p:spPr bwMode="auto">
          <a:xfrm flipV="1">
            <a:off x="1676400" y="4554538"/>
            <a:ext cx="50482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1E5C5DB3-E637-73A3-DE23-C36CA4B9649F}"/>
              </a:ext>
            </a:extLst>
          </p:cNvPr>
          <p:cNvSpPr>
            <a:spLocks noGrp="1" noChangeArrowheads="1"/>
          </p:cNvSpPr>
          <p:nvPr>
            <p:ph type="title"/>
          </p:nvPr>
        </p:nvSpPr>
        <p:spPr/>
        <p:txBody>
          <a:bodyPr/>
          <a:lstStyle/>
          <a:p>
            <a:pPr eaLnBrk="1" hangingPunct="1"/>
            <a:r>
              <a:rPr lang="zh-CN" altLang="en-US"/>
              <a:t>反向页表的不足</a:t>
            </a:r>
          </a:p>
        </p:txBody>
      </p:sp>
      <p:sp>
        <p:nvSpPr>
          <p:cNvPr id="137218" name="Rectangle 3">
            <a:extLst>
              <a:ext uri="{FF2B5EF4-FFF2-40B4-BE49-F238E27FC236}">
                <a16:creationId xmlns:a16="http://schemas.microsoft.com/office/drawing/2014/main" id="{E8C1D927-0EA6-CD4C-0CE0-1B42CB097B0C}"/>
              </a:ext>
            </a:extLst>
          </p:cNvPr>
          <p:cNvSpPr>
            <a:spLocks noGrp="1" noChangeArrowheads="1"/>
          </p:cNvSpPr>
          <p:nvPr>
            <p:ph idx="1"/>
          </p:nvPr>
        </p:nvSpPr>
        <p:spPr>
          <a:xfrm>
            <a:off x="827088" y="1198563"/>
            <a:ext cx="8077200" cy="4967287"/>
          </a:xfrm>
        </p:spPr>
        <p:txBody>
          <a:bodyPr/>
          <a:lstStyle/>
          <a:p>
            <a:pPr eaLnBrk="1" hangingPunct="1"/>
            <a:r>
              <a:rPr lang="zh-CN" altLang="en-US"/>
              <a:t>反向页表查找慢：因为进程号及页号不能作为索引，查找时必须在整个反向页表中进行。</a:t>
            </a:r>
          </a:p>
          <a:p>
            <a:pPr eaLnBrk="1" hangingPunct="1"/>
            <a:r>
              <a:rPr lang="zh-CN" altLang="en-US"/>
              <a:t>解决办法：</a:t>
            </a:r>
          </a:p>
          <a:p>
            <a:pPr lvl="1" eaLnBrk="1" hangingPunct="1"/>
            <a:r>
              <a:rPr lang="zh-CN" altLang="en-US"/>
              <a:t>将常用页表项存入快表</a:t>
            </a:r>
          </a:p>
          <a:p>
            <a:pPr lvl="1" eaLnBrk="1" hangingPunct="1"/>
            <a:r>
              <a:rPr lang="zh-CN" altLang="en-US"/>
              <a:t>用散列函数存放反向页表</a:t>
            </a:r>
          </a:p>
        </p:txBody>
      </p:sp>
    </p:spTree>
  </p:cSld>
  <p:clrMapOvr>
    <a:masterClrMapping/>
  </p:clrMapOvr>
  <p:transition spd="med">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B6FD3BA4-33E4-1935-3AFB-883AE5A269A3}"/>
              </a:ext>
            </a:extLst>
          </p:cNvPr>
          <p:cNvSpPr>
            <a:spLocks noGrp="1" noChangeArrowheads="1"/>
          </p:cNvSpPr>
          <p:nvPr>
            <p:ph type="title"/>
          </p:nvPr>
        </p:nvSpPr>
        <p:spPr/>
        <p:txBody>
          <a:bodyPr/>
          <a:lstStyle/>
          <a:p>
            <a:pPr eaLnBrk="1" hangingPunct="1"/>
            <a:r>
              <a:rPr lang="zh-CN" altLang="en-US" b="1">
                <a:solidFill>
                  <a:schemeClr val="tx1"/>
                </a:solidFill>
              </a:rPr>
              <a:t>覆盖与交换技术</a:t>
            </a:r>
          </a:p>
        </p:txBody>
      </p:sp>
      <p:sp>
        <p:nvSpPr>
          <p:cNvPr id="140290" name="Rectangle 3">
            <a:extLst>
              <a:ext uri="{FF2B5EF4-FFF2-40B4-BE49-F238E27FC236}">
                <a16:creationId xmlns:a16="http://schemas.microsoft.com/office/drawing/2014/main" id="{487E2DA3-FE85-7BA3-A56B-39FFB53B2EEF}"/>
              </a:ext>
            </a:extLst>
          </p:cNvPr>
          <p:cNvSpPr>
            <a:spLocks noGrp="1" noChangeArrowheads="1"/>
          </p:cNvSpPr>
          <p:nvPr>
            <p:ph idx="1"/>
          </p:nvPr>
        </p:nvSpPr>
        <p:spPr>
          <a:xfrm>
            <a:off x="827088" y="1268413"/>
            <a:ext cx="8128000" cy="4464050"/>
          </a:xfrm>
        </p:spPr>
        <p:txBody>
          <a:bodyPr/>
          <a:lstStyle/>
          <a:p>
            <a:pPr algn="just" eaLnBrk="1" hangingPunct="1"/>
            <a:r>
              <a:rPr lang="zh-CN" altLang="en-US">
                <a:latin typeface="Times New Roman" panose="02020603050405020304" pitchFamily="18" charset="0"/>
              </a:rPr>
              <a:t>覆盖与交换技术是在多道程序环境下用来扩充内存的方法。</a:t>
            </a:r>
          </a:p>
        </p:txBody>
      </p:sp>
    </p:spTree>
  </p:cSld>
  <p:clrMapOvr>
    <a:masterClrMapping/>
  </p:clrMapOvr>
  <p:transition spd="med">
    <p:zo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a:extLst>
              <a:ext uri="{FF2B5EF4-FFF2-40B4-BE49-F238E27FC236}">
                <a16:creationId xmlns:a16="http://schemas.microsoft.com/office/drawing/2014/main" id="{0CA00510-48CD-082C-86A3-5E86E1388F5F}"/>
              </a:ext>
            </a:extLst>
          </p:cNvPr>
          <p:cNvSpPr>
            <a:spLocks noGrp="1" noChangeArrowheads="1"/>
          </p:cNvSpPr>
          <p:nvPr>
            <p:ph type="title"/>
          </p:nvPr>
        </p:nvSpPr>
        <p:spPr/>
        <p:txBody>
          <a:bodyPr/>
          <a:lstStyle/>
          <a:p>
            <a:pPr eaLnBrk="1" hangingPunct="1"/>
            <a:r>
              <a:rPr lang="zh-CN" altLang="en-US">
                <a:solidFill>
                  <a:schemeClr val="tx1"/>
                </a:solidFill>
                <a:latin typeface="Times New Roman" panose="02020603050405020304" pitchFamily="18" charset="0"/>
              </a:rPr>
              <a:t>覆盖技术</a:t>
            </a:r>
          </a:p>
        </p:txBody>
      </p:sp>
      <p:sp>
        <p:nvSpPr>
          <p:cNvPr id="405507" name="Rectangle 3">
            <a:extLst>
              <a:ext uri="{FF2B5EF4-FFF2-40B4-BE49-F238E27FC236}">
                <a16:creationId xmlns:a16="http://schemas.microsoft.com/office/drawing/2014/main" id="{A7022048-AEA0-6512-6CCA-B3250C4995CC}"/>
              </a:ext>
            </a:extLst>
          </p:cNvPr>
          <p:cNvSpPr>
            <a:spLocks noGrp="1" noChangeArrowheads="1"/>
          </p:cNvSpPr>
          <p:nvPr>
            <p:ph idx="1"/>
          </p:nvPr>
        </p:nvSpPr>
        <p:spPr>
          <a:xfrm>
            <a:off x="900113" y="1270000"/>
            <a:ext cx="8004175" cy="4967288"/>
          </a:xfrm>
        </p:spPr>
        <p:txBody>
          <a:bodyPr/>
          <a:lstStyle/>
          <a:p>
            <a:pPr algn="just" eaLnBrk="1" hangingPunct="1"/>
            <a:r>
              <a:rPr lang="zh-CN" altLang="en-US" sz="2800">
                <a:latin typeface="Times New Roman" panose="02020603050405020304" pitchFamily="18" charset="0"/>
              </a:rPr>
              <a:t>所谓</a:t>
            </a:r>
            <a:r>
              <a:rPr lang="zh-CN" altLang="en-US" sz="2800">
                <a:solidFill>
                  <a:srgbClr val="FF0000"/>
                </a:solidFill>
                <a:latin typeface="Times New Roman" panose="02020603050405020304" pitchFamily="18" charset="0"/>
              </a:rPr>
              <a:t>覆盖技术</a:t>
            </a:r>
            <a:r>
              <a:rPr lang="zh-CN" altLang="en-US" sz="2800">
                <a:latin typeface="Times New Roman" panose="02020603050405020304" pitchFamily="18" charset="0"/>
              </a:rPr>
              <a:t>就是把一个大程序划分为一系列覆盖，每个覆盖是一个相对独立的程序单位；</a:t>
            </a:r>
          </a:p>
          <a:p>
            <a:pPr algn="just" eaLnBrk="1" hangingPunct="1"/>
            <a:r>
              <a:rPr lang="zh-CN" altLang="en-US" sz="2800">
                <a:latin typeface="Times New Roman" panose="02020603050405020304" pitchFamily="18" charset="0"/>
              </a:rPr>
              <a:t>把程序执行时不要求同时装入内存的覆盖组成一组，称为</a:t>
            </a:r>
            <a:r>
              <a:rPr lang="zh-CN" altLang="en-US" sz="2800">
                <a:solidFill>
                  <a:srgbClr val="FF0000"/>
                </a:solidFill>
                <a:latin typeface="Times New Roman" panose="02020603050405020304" pitchFamily="18" charset="0"/>
              </a:rPr>
              <a:t>覆盖段</a:t>
            </a:r>
            <a:r>
              <a:rPr lang="zh-CN" altLang="en-US" sz="2800">
                <a:latin typeface="Times New Roman" panose="02020603050405020304" pitchFamily="18" charset="0"/>
              </a:rPr>
              <a:t>；</a:t>
            </a:r>
          </a:p>
          <a:p>
            <a:pPr algn="just" eaLnBrk="1" hangingPunct="1"/>
            <a:r>
              <a:rPr lang="zh-CN" altLang="en-US" sz="2800">
                <a:latin typeface="Times New Roman" panose="02020603050405020304" pitchFamily="18" charset="0"/>
              </a:rPr>
              <a:t>将一个覆盖段分配到同一个存储区中，这个存储区称为</a:t>
            </a:r>
            <a:r>
              <a:rPr lang="zh-CN" altLang="en-US" sz="2800">
                <a:solidFill>
                  <a:srgbClr val="FF0000"/>
                </a:solidFill>
                <a:latin typeface="Times New Roman" panose="02020603050405020304" pitchFamily="18" charset="0"/>
              </a:rPr>
              <a:t>覆盖区</a:t>
            </a:r>
            <a:r>
              <a:rPr lang="zh-CN" altLang="en-US" sz="2800">
                <a:latin typeface="Times New Roman" panose="02020603050405020304" pitchFamily="18" charset="0"/>
              </a:rPr>
              <a:t>。</a:t>
            </a:r>
          </a:p>
          <a:p>
            <a:pPr algn="just" eaLnBrk="1" hangingPunct="1"/>
            <a:r>
              <a:rPr lang="zh-CN" altLang="en-US" sz="2800">
                <a:latin typeface="Times New Roman" panose="02020603050405020304" pitchFamily="18" charset="0"/>
              </a:rPr>
              <a:t>覆盖区的大小由覆盖段中最大的覆盖来确定。</a:t>
            </a:r>
            <a:endParaRPr lang="zh-CN" altLang="en-US" sz="280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5507">
                                            <p:txEl>
                                              <p:pRg st="0" end="0"/>
                                            </p:txEl>
                                          </p:spTgt>
                                        </p:tgtEl>
                                        <p:attrNameLst>
                                          <p:attrName>style.visibility</p:attrName>
                                        </p:attrNameLst>
                                      </p:cBhvr>
                                      <p:to>
                                        <p:strVal val="visible"/>
                                      </p:to>
                                    </p:set>
                                    <p:animEffect transition="in" filter="checkerboard(across)">
                                      <p:cBhvr>
                                        <p:cTn id="7" dur="500"/>
                                        <p:tgtEl>
                                          <p:spTgt spid="405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5507">
                                            <p:txEl>
                                              <p:pRg st="1" end="1"/>
                                            </p:txEl>
                                          </p:spTgt>
                                        </p:tgtEl>
                                        <p:attrNameLst>
                                          <p:attrName>style.visibility</p:attrName>
                                        </p:attrNameLst>
                                      </p:cBhvr>
                                      <p:to>
                                        <p:strVal val="visible"/>
                                      </p:to>
                                    </p:set>
                                    <p:animEffect transition="in" filter="checkerboard(across)">
                                      <p:cBhvr>
                                        <p:cTn id="12" dur="500"/>
                                        <p:tgtEl>
                                          <p:spTgt spid="4055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05507">
                                            <p:txEl>
                                              <p:pRg st="2" end="2"/>
                                            </p:txEl>
                                          </p:spTgt>
                                        </p:tgtEl>
                                        <p:attrNameLst>
                                          <p:attrName>style.visibility</p:attrName>
                                        </p:attrNameLst>
                                      </p:cBhvr>
                                      <p:to>
                                        <p:strVal val="visible"/>
                                      </p:to>
                                    </p:set>
                                    <p:animEffect transition="in" filter="checkerboard(across)">
                                      <p:cBhvr>
                                        <p:cTn id="17" dur="500"/>
                                        <p:tgtEl>
                                          <p:spTgt spid="4055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05507">
                                            <p:txEl>
                                              <p:pRg st="3" end="3"/>
                                            </p:txEl>
                                          </p:spTgt>
                                        </p:tgtEl>
                                        <p:attrNameLst>
                                          <p:attrName>style.visibility</p:attrName>
                                        </p:attrNameLst>
                                      </p:cBhvr>
                                      <p:to>
                                        <p:strVal val="visible"/>
                                      </p:to>
                                    </p:set>
                                    <p:animEffect transition="in" filter="checkerboard(across)">
                                      <p:cBhvr>
                                        <p:cTn id="22" dur="500"/>
                                        <p:tgtEl>
                                          <p:spTgt spid="4055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165E70E7-6E34-4640-5547-D3BD50A7AE7C}"/>
              </a:ext>
            </a:extLst>
          </p:cNvPr>
          <p:cNvSpPr>
            <a:spLocks noGrp="1" noChangeArrowheads="1"/>
          </p:cNvSpPr>
          <p:nvPr>
            <p:ph type="title"/>
          </p:nvPr>
        </p:nvSpPr>
        <p:spPr/>
        <p:txBody>
          <a:bodyPr/>
          <a:lstStyle/>
          <a:p>
            <a:pPr eaLnBrk="1" hangingPunct="1"/>
            <a:r>
              <a:rPr lang="zh-CN" altLang="en-US">
                <a:solidFill>
                  <a:schemeClr val="tx1"/>
                </a:solidFill>
              </a:rPr>
              <a:t>覆盖示例</a:t>
            </a:r>
          </a:p>
        </p:txBody>
      </p:sp>
      <p:sp>
        <p:nvSpPr>
          <p:cNvPr id="142338" name="Rectangle 3">
            <a:extLst>
              <a:ext uri="{FF2B5EF4-FFF2-40B4-BE49-F238E27FC236}">
                <a16:creationId xmlns:a16="http://schemas.microsoft.com/office/drawing/2014/main" id="{2F2F3693-BFCF-7BA8-7F02-6DA63239B6C4}"/>
              </a:ext>
            </a:extLst>
          </p:cNvPr>
          <p:cNvSpPr>
            <a:spLocks noGrp="1" noChangeArrowheads="1"/>
          </p:cNvSpPr>
          <p:nvPr>
            <p:ph idx="1"/>
          </p:nvPr>
        </p:nvSpPr>
        <p:spPr>
          <a:xfrm>
            <a:off x="1131888" y="1125538"/>
            <a:ext cx="7173912" cy="977900"/>
          </a:xfrm>
        </p:spPr>
        <p:txBody>
          <a:bodyPr/>
          <a:lstStyle/>
          <a:p>
            <a:pPr eaLnBrk="1" hangingPunct="1">
              <a:lnSpc>
                <a:spcPct val="90000"/>
              </a:lnSpc>
            </a:pPr>
            <a:r>
              <a:rPr lang="en-US" altLang="zh-CN"/>
              <a:t>B、C</a:t>
            </a:r>
            <a:r>
              <a:rPr lang="zh-CN" altLang="en-US"/>
              <a:t>为一个覆盖段，</a:t>
            </a:r>
            <a:r>
              <a:rPr lang="en-US" altLang="zh-CN"/>
              <a:t>D、E、F</a:t>
            </a:r>
            <a:r>
              <a:rPr lang="zh-CN" altLang="en-US"/>
              <a:t>为另一个覆盖段。</a:t>
            </a:r>
          </a:p>
        </p:txBody>
      </p:sp>
      <p:grpSp>
        <p:nvGrpSpPr>
          <p:cNvPr id="142339" name="Group 4">
            <a:extLst>
              <a:ext uri="{FF2B5EF4-FFF2-40B4-BE49-F238E27FC236}">
                <a16:creationId xmlns:a16="http://schemas.microsoft.com/office/drawing/2014/main" id="{B77B73E4-1792-426B-EFD2-536B096F3AD0}"/>
              </a:ext>
            </a:extLst>
          </p:cNvPr>
          <p:cNvGrpSpPr>
            <a:grpSpLocks/>
          </p:cNvGrpSpPr>
          <p:nvPr/>
        </p:nvGrpSpPr>
        <p:grpSpPr bwMode="auto">
          <a:xfrm>
            <a:off x="1004888" y="2133600"/>
            <a:ext cx="6843712" cy="3100388"/>
            <a:chOff x="633" y="1839"/>
            <a:chExt cx="4311" cy="1953"/>
          </a:xfrm>
        </p:grpSpPr>
        <p:sp>
          <p:nvSpPr>
            <p:cNvPr id="142340" name="Rectangle 5">
              <a:extLst>
                <a:ext uri="{FF2B5EF4-FFF2-40B4-BE49-F238E27FC236}">
                  <a16:creationId xmlns:a16="http://schemas.microsoft.com/office/drawing/2014/main" id="{B492BAEC-2B86-E7EB-BFE0-CE233F09B284}"/>
                </a:ext>
              </a:extLst>
            </p:cNvPr>
            <p:cNvSpPr>
              <a:spLocks noChangeArrowheads="1"/>
            </p:cNvSpPr>
            <p:nvPr/>
          </p:nvSpPr>
          <p:spPr bwMode="auto">
            <a:xfrm>
              <a:off x="1183" y="1860"/>
              <a:ext cx="562" cy="391"/>
            </a:xfrm>
            <a:prstGeom prst="rect">
              <a:avLst/>
            </a:prstGeom>
            <a:solidFill>
              <a:srgbClr val="FFFFFF"/>
            </a:solidFill>
            <a:ln w="25400">
              <a:solidFill>
                <a:srgbClr val="000000"/>
              </a:solidFill>
              <a:miter lim="800000"/>
              <a:headEnd/>
              <a:tailEnd/>
            </a:ln>
          </p:spPr>
          <p:txBody>
            <a:bodyPr lIns="0" tIns="0" rIns="0" bIns="0"/>
            <a:lstStyle/>
            <a:p>
              <a:pPr algn="ctr" eaLnBrk="0" hangingPunct="0"/>
              <a:r>
                <a:rPr lang="en-US" altLang="zh-CN" sz="2000" b="1">
                  <a:latin typeface="Times New Roman" panose="02020603050405020304" pitchFamily="18" charset="0"/>
                </a:rPr>
                <a:t>A</a:t>
              </a:r>
            </a:p>
            <a:p>
              <a:pPr algn="ctr" eaLnBrk="0" hangingPunct="0"/>
              <a:r>
                <a:rPr lang="en-US" altLang="zh-CN" sz="2000" b="1">
                  <a:latin typeface="Times New Roman" panose="02020603050405020304" pitchFamily="18" charset="0"/>
                </a:rPr>
                <a:t>20KB</a:t>
              </a:r>
            </a:p>
          </p:txBody>
        </p:sp>
        <p:sp>
          <p:nvSpPr>
            <p:cNvPr id="142341" name="Line 6">
              <a:extLst>
                <a:ext uri="{FF2B5EF4-FFF2-40B4-BE49-F238E27FC236}">
                  <a16:creationId xmlns:a16="http://schemas.microsoft.com/office/drawing/2014/main" id="{90E4E0EA-08BB-9252-6677-E583608A5BBC}"/>
                </a:ext>
              </a:extLst>
            </p:cNvPr>
            <p:cNvSpPr>
              <a:spLocks noChangeShapeType="1"/>
            </p:cNvSpPr>
            <p:nvPr/>
          </p:nvSpPr>
          <p:spPr bwMode="auto">
            <a:xfrm>
              <a:off x="1458" y="2258"/>
              <a:ext cx="0" cy="29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42" name="Line 7">
              <a:extLst>
                <a:ext uri="{FF2B5EF4-FFF2-40B4-BE49-F238E27FC236}">
                  <a16:creationId xmlns:a16="http://schemas.microsoft.com/office/drawing/2014/main" id="{605740D9-8CA5-1274-86BE-009D30EDFD12}"/>
                </a:ext>
              </a:extLst>
            </p:cNvPr>
            <p:cNvSpPr>
              <a:spLocks noChangeShapeType="1"/>
            </p:cNvSpPr>
            <p:nvPr/>
          </p:nvSpPr>
          <p:spPr bwMode="auto">
            <a:xfrm>
              <a:off x="924" y="2551"/>
              <a:ext cx="115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43" name="Line 8">
              <a:extLst>
                <a:ext uri="{FF2B5EF4-FFF2-40B4-BE49-F238E27FC236}">
                  <a16:creationId xmlns:a16="http://schemas.microsoft.com/office/drawing/2014/main" id="{8D074DDB-0F3E-09F3-9ACD-ACB8795A99F8}"/>
                </a:ext>
              </a:extLst>
            </p:cNvPr>
            <p:cNvSpPr>
              <a:spLocks noChangeShapeType="1"/>
            </p:cNvSpPr>
            <p:nvPr/>
          </p:nvSpPr>
          <p:spPr bwMode="auto">
            <a:xfrm>
              <a:off x="924" y="2551"/>
              <a:ext cx="0" cy="19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44" name="Line 9">
              <a:extLst>
                <a:ext uri="{FF2B5EF4-FFF2-40B4-BE49-F238E27FC236}">
                  <a16:creationId xmlns:a16="http://schemas.microsoft.com/office/drawing/2014/main" id="{05227A8C-5C9C-15DC-0CE3-221DD78D1FFF}"/>
                </a:ext>
              </a:extLst>
            </p:cNvPr>
            <p:cNvSpPr>
              <a:spLocks noChangeShapeType="1"/>
            </p:cNvSpPr>
            <p:nvPr/>
          </p:nvSpPr>
          <p:spPr bwMode="auto">
            <a:xfrm>
              <a:off x="2077" y="2551"/>
              <a:ext cx="0" cy="19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45" name="Rectangle 10">
              <a:extLst>
                <a:ext uri="{FF2B5EF4-FFF2-40B4-BE49-F238E27FC236}">
                  <a16:creationId xmlns:a16="http://schemas.microsoft.com/office/drawing/2014/main" id="{30CB3CEF-DAA7-AA83-B35C-18D799668FD8}"/>
                </a:ext>
              </a:extLst>
            </p:cNvPr>
            <p:cNvSpPr>
              <a:spLocks noChangeArrowheads="1"/>
            </p:cNvSpPr>
            <p:nvPr/>
          </p:nvSpPr>
          <p:spPr bwMode="auto">
            <a:xfrm>
              <a:off x="633" y="2747"/>
              <a:ext cx="561" cy="390"/>
            </a:xfrm>
            <a:prstGeom prst="rect">
              <a:avLst/>
            </a:prstGeom>
            <a:solidFill>
              <a:srgbClr val="FFFFFF"/>
            </a:solidFill>
            <a:ln w="25400">
              <a:solidFill>
                <a:srgbClr val="000000"/>
              </a:solidFill>
              <a:miter lim="800000"/>
              <a:headEnd/>
              <a:tailEnd/>
            </a:ln>
          </p:spPr>
          <p:txBody>
            <a:bodyPr lIns="0" tIns="0" rIns="0" bIns="0"/>
            <a:lstStyle/>
            <a:p>
              <a:pPr algn="ctr" eaLnBrk="0" hangingPunct="0"/>
              <a:r>
                <a:rPr lang="en-US" altLang="zh-CN" sz="2000" b="1">
                  <a:latin typeface="Times New Roman" panose="02020603050405020304" pitchFamily="18" charset="0"/>
                </a:rPr>
                <a:t>B</a:t>
              </a:r>
            </a:p>
            <a:p>
              <a:pPr algn="ctr" eaLnBrk="0" hangingPunct="0"/>
              <a:r>
                <a:rPr lang="en-US" altLang="zh-CN" sz="2000" b="1">
                  <a:latin typeface="Times New Roman" panose="02020603050405020304" pitchFamily="18" charset="0"/>
                </a:rPr>
                <a:t>50KB</a:t>
              </a:r>
            </a:p>
          </p:txBody>
        </p:sp>
        <p:sp>
          <p:nvSpPr>
            <p:cNvPr id="142346" name="Rectangle 11">
              <a:extLst>
                <a:ext uri="{FF2B5EF4-FFF2-40B4-BE49-F238E27FC236}">
                  <a16:creationId xmlns:a16="http://schemas.microsoft.com/office/drawing/2014/main" id="{EF980ED6-B782-1B46-0745-9B5044E83378}"/>
                </a:ext>
              </a:extLst>
            </p:cNvPr>
            <p:cNvSpPr>
              <a:spLocks noChangeArrowheads="1"/>
            </p:cNvSpPr>
            <p:nvPr/>
          </p:nvSpPr>
          <p:spPr bwMode="auto">
            <a:xfrm>
              <a:off x="1783" y="2747"/>
              <a:ext cx="561" cy="390"/>
            </a:xfrm>
            <a:prstGeom prst="rect">
              <a:avLst/>
            </a:prstGeom>
            <a:solidFill>
              <a:srgbClr val="FFFFFF"/>
            </a:solidFill>
            <a:ln w="25400">
              <a:solidFill>
                <a:srgbClr val="000000"/>
              </a:solidFill>
              <a:miter lim="800000"/>
              <a:headEnd/>
              <a:tailEnd/>
            </a:ln>
          </p:spPr>
          <p:txBody>
            <a:bodyPr lIns="0" tIns="0" rIns="0" bIns="0"/>
            <a:lstStyle/>
            <a:p>
              <a:pPr algn="ctr" eaLnBrk="0" hangingPunct="0"/>
              <a:r>
                <a:rPr lang="en-US" altLang="zh-CN" sz="2000" b="1">
                  <a:latin typeface="Times New Roman" panose="02020603050405020304" pitchFamily="18" charset="0"/>
                </a:rPr>
                <a:t>C</a:t>
              </a:r>
            </a:p>
            <a:p>
              <a:pPr algn="ctr" eaLnBrk="0" hangingPunct="0"/>
              <a:r>
                <a:rPr lang="en-US" altLang="zh-CN" sz="2000" b="1">
                  <a:latin typeface="Times New Roman" panose="02020603050405020304" pitchFamily="18" charset="0"/>
                </a:rPr>
                <a:t>30KB</a:t>
              </a:r>
            </a:p>
          </p:txBody>
        </p:sp>
        <p:sp>
          <p:nvSpPr>
            <p:cNvPr id="142347" name="Line 12">
              <a:extLst>
                <a:ext uri="{FF2B5EF4-FFF2-40B4-BE49-F238E27FC236}">
                  <a16:creationId xmlns:a16="http://schemas.microsoft.com/office/drawing/2014/main" id="{B4A3ECCD-102A-AFDB-8F0E-63DE871BB894}"/>
                </a:ext>
              </a:extLst>
            </p:cNvPr>
            <p:cNvSpPr>
              <a:spLocks noChangeShapeType="1"/>
            </p:cNvSpPr>
            <p:nvPr/>
          </p:nvSpPr>
          <p:spPr bwMode="auto">
            <a:xfrm>
              <a:off x="924" y="3141"/>
              <a:ext cx="0" cy="25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48" name="Rectangle 13">
              <a:extLst>
                <a:ext uri="{FF2B5EF4-FFF2-40B4-BE49-F238E27FC236}">
                  <a16:creationId xmlns:a16="http://schemas.microsoft.com/office/drawing/2014/main" id="{3D9F775E-A8F1-7C44-8AA4-516900B26023}"/>
                </a:ext>
              </a:extLst>
            </p:cNvPr>
            <p:cNvSpPr>
              <a:spLocks noChangeArrowheads="1"/>
            </p:cNvSpPr>
            <p:nvPr/>
          </p:nvSpPr>
          <p:spPr bwMode="auto">
            <a:xfrm>
              <a:off x="633" y="3402"/>
              <a:ext cx="561" cy="390"/>
            </a:xfrm>
            <a:prstGeom prst="rect">
              <a:avLst/>
            </a:prstGeom>
            <a:solidFill>
              <a:srgbClr val="FFFFFF"/>
            </a:solidFill>
            <a:ln w="25400">
              <a:solidFill>
                <a:srgbClr val="000000"/>
              </a:solidFill>
              <a:miter lim="800000"/>
              <a:headEnd/>
              <a:tailEnd/>
            </a:ln>
          </p:spPr>
          <p:txBody>
            <a:bodyPr lIns="0" tIns="0" rIns="0" bIns="0"/>
            <a:lstStyle/>
            <a:p>
              <a:pPr algn="ctr" eaLnBrk="0" hangingPunct="0"/>
              <a:r>
                <a:rPr lang="en-US" altLang="zh-CN" sz="2000" b="1">
                  <a:latin typeface="Times New Roman" panose="02020603050405020304" pitchFamily="18" charset="0"/>
                </a:rPr>
                <a:t>F</a:t>
              </a:r>
            </a:p>
            <a:p>
              <a:pPr algn="ctr" eaLnBrk="0" hangingPunct="0"/>
              <a:r>
                <a:rPr lang="en-US" altLang="zh-CN" sz="2000" b="1">
                  <a:latin typeface="Times New Roman" panose="02020603050405020304" pitchFamily="18" charset="0"/>
                </a:rPr>
                <a:t>30KB</a:t>
              </a:r>
            </a:p>
          </p:txBody>
        </p:sp>
        <p:sp>
          <p:nvSpPr>
            <p:cNvPr id="142349" name="Line 14">
              <a:extLst>
                <a:ext uri="{FF2B5EF4-FFF2-40B4-BE49-F238E27FC236}">
                  <a16:creationId xmlns:a16="http://schemas.microsoft.com/office/drawing/2014/main" id="{8690A6CF-2A70-2965-8197-551FD52D93B5}"/>
                </a:ext>
              </a:extLst>
            </p:cNvPr>
            <p:cNvSpPr>
              <a:spLocks noChangeShapeType="1"/>
            </p:cNvSpPr>
            <p:nvPr/>
          </p:nvSpPr>
          <p:spPr bwMode="auto">
            <a:xfrm>
              <a:off x="2085" y="3141"/>
              <a:ext cx="0" cy="25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50" name="Line 15">
              <a:extLst>
                <a:ext uri="{FF2B5EF4-FFF2-40B4-BE49-F238E27FC236}">
                  <a16:creationId xmlns:a16="http://schemas.microsoft.com/office/drawing/2014/main" id="{2FF497FC-414B-0FC4-588D-F822F1E0C0B9}"/>
                </a:ext>
              </a:extLst>
            </p:cNvPr>
            <p:cNvSpPr>
              <a:spLocks noChangeShapeType="1"/>
            </p:cNvSpPr>
            <p:nvPr/>
          </p:nvSpPr>
          <p:spPr bwMode="auto">
            <a:xfrm>
              <a:off x="2085" y="3239"/>
              <a:ext cx="7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51" name="Line 16">
              <a:extLst>
                <a:ext uri="{FF2B5EF4-FFF2-40B4-BE49-F238E27FC236}">
                  <a16:creationId xmlns:a16="http://schemas.microsoft.com/office/drawing/2014/main" id="{950053A3-44A7-9E96-0DD9-43DE5FC72F62}"/>
                </a:ext>
              </a:extLst>
            </p:cNvPr>
            <p:cNvSpPr>
              <a:spLocks noChangeShapeType="1"/>
            </p:cNvSpPr>
            <p:nvPr/>
          </p:nvSpPr>
          <p:spPr bwMode="auto">
            <a:xfrm>
              <a:off x="2809" y="3239"/>
              <a:ext cx="0" cy="17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52" name="Rectangle 17">
              <a:extLst>
                <a:ext uri="{FF2B5EF4-FFF2-40B4-BE49-F238E27FC236}">
                  <a16:creationId xmlns:a16="http://schemas.microsoft.com/office/drawing/2014/main" id="{8DC0D881-01AC-1D01-22A4-F49341EA8236}"/>
                </a:ext>
              </a:extLst>
            </p:cNvPr>
            <p:cNvSpPr>
              <a:spLocks noChangeArrowheads="1"/>
            </p:cNvSpPr>
            <p:nvPr/>
          </p:nvSpPr>
          <p:spPr bwMode="auto">
            <a:xfrm>
              <a:off x="1795" y="3402"/>
              <a:ext cx="561" cy="390"/>
            </a:xfrm>
            <a:prstGeom prst="rect">
              <a:avLst/>
            </a:prstGeom>
            <a:solidFill>
              <a:srgbClr val="FFFFFF"/>
            </a:solidFill>
            <a:ln w="25400">
              <a:solidFill>
                <a:srgbClr val="000000"/>
              </a:solidFill>
              <a:miter lim="800000"/>
              <a:headEnd/>
              <a:tailEnd/>
            </a:ln>
          </p:spPr>
          <p:txBody>
            <a:bodyPr lIns="0" tIns="0" rIns="0" bIns="0"/>
            <a:lstStyle/>
            <a:p>
              <a:pPr algn="ctr" eaLnBrk="0" hangingPunct="0"/>
              <a:r>
                <a:rPr lang="en-US" altLang="zh-CN" sz="2000" b="1">
                  <a:latin typeface="Times New Roman" panose="02020603050405020304" pitchFamily="18" charset="0"/>
                </a:rPr>
                <a:t>D</a:t>
              </a:r>
            </a:p>
            <a:p>
              <a:pPr algn="ctr" eaLnBrk="0" hangingPunct="0"/>
              <a:r>
                <a:rPr lang="en-US" altLang="zh-CN" sz="2000" b="1">
                  <a:latin typeface="Times New Roman" panose="02020603050405020304" pitchFamily="18" charset="0"/>
                </a:rPr>
                <a:t>20KB</a:t>
              </a:r>
            </a:p>
          </p:txBody>
        </p:sp>
        <p:sp>
          <p:nvSpPr>
            <p:cNvPr id="142353" name="Rectangle 18">
              <a:extLst>
                <a:ext uri="{FF2B5EF4-FFF2-40B4-BE49-F238E27FC236}">
                  <a16:creationId xmlns:a16="http://schemas.microsoft.com/office/drawing/2014/main" id="{A2DFF1E0-7114-E8D4-F6F3-5212BB3707AB}"/>
                </a:ext>
              </a:extLst>
            </p:cNvPr>
            <p:cNvSpPr>
              <a:spLocks noChangeArrowheads="1"/>
            </p:cNvSpPr>
            <p:nvPr/>
          </p:nvSpPr>
          <p:spPr bwMode="auto">
            <a:xfrm>
              <a:off x="2528" y="3402"/>
              <a:ext cx="562" cy="390"/>
            </a:xfrm>
            <a:prstGeom prst="rect">
              <a:avLst/>
            </a:prstGeom>
            <a:solidFill>
              <a:srgbClr val="FFFFFF"/>
            </a:solidFill>
            <a:ln w="25400">
              <a:solidFill>
                <a:srgbClr val="000000"/>
              </a:solidFill>
              <a:miter lim="800000"/>
              <a:headEnd/>
              <a:tailEnd/>
            </a:ln>
          </p:spPr>
          <p:txBody>
            <a:bodyPr lIns="0" tIns="0" rIns="0" bIns="0"/>
            <a:lstStyle/>
            <a:p>
              <a:pPr algn="ctr" eaLnBrk="0" hangingPunct="0"/>
              <a:r>
                <a:rPr lang="en-US" altLang="zh-CN" sz="2000" b="1">
                  <a:latin typeface="Times New Roman" panose="02020603050405020304" pitchFamily="18" charset="0"/>
                </a:rPr>
                <a:t>E</a:t>
              </a:r>
            </a:p>
            <a:p>
              <a:pPr algn="ctr" eaLnBrk="0" hangingPunct="0"/>
              <a:r>
                <a:rPr lang="en-US" altLang="zh-CN" sz="2000" b="1">
                  <a:latin typeface="Times New Roman" panose="02020603050405020304" pitchFamily="18" charset="0"/>
                </a:rPr>
                <a:t>40KB</a:t>
              </a:r>
            </a:p>
          </p:txBody>
        </p:sp>
        <p:sp>
          <p:nvSpPr>
            <p:cNvPr id="142354" name="Rectangle 19">
              <a:extLst>
                <a:ext uri="{FF2B5EF4-FFF2-40B4-BE49-F238E27FC236}">
                  <a16:creationId xmlns:a16="http://schemas.microsoft.com/office/drawing/2014/main" id="{6B2F889C-828D-F86D-0110-2B40246F6198}"/>
                </a:ext>
              </a:extLst>
            </p:cNvPr>
            <p:cNvSpPr>
              <a:spLocks noChangeArrowheads="1"/>
            </p:cNvSpPr>
            <p:nvPr/>
          </p:nvSpPr>
          <p:spPr bwMode="auto">
            <a:xfrm>
              <a:off x="3937" y="1874"/>
              <a:ext cx="1007" cy="1882"/>
            </a:xfrm>
            <a:prstGeom prst="rect">
              <a:avLst/>
            </a:prstGeom>
            <a:solidFill>
              <a:srgbClr val="FFFFFF"/>
            </a:solidFill>
            <a:ln w="25400">
              <a:solidFill>
                <a:srgbClr val="000000"/>
              </a:solidFill>
              <a:miter lim="800000"/>
              <a:headEnd/>
              <a:tailEnd/>
            </a:ln>
          </p:spPr>
          <p:txBody>
            <a:bodyPr/>
            <a:lstStyle/>
            <a:p>
              <a:pPr algn="ctr" eaLnBrk="0" hangingPunct="0"/>
              <a:r>
                <a:rPr lang="zh-CN" altLang="en-US" sz="2000" b="1">
                  <a:latin typeface="Times New Roman" panose="02020603050405020304" pitchFamily="18" charset="0"/>
                </a:rPr>
                <a:t>常驻部分20</a:t>
              </a:r>
              <a:r>
                <a:rPr lang="en-US" altLang="zh-CN" sz="2000" b="1">
                  <a:latin typeface="Times New Roman" panose="02020603050405020304" pitchFamily="18" charset="0"/>
                </a:rPr>
                <a:t>KB</a:t>
              </a:r>
            </a:p>
            <a:p>
              <a:pPr algn="ctr" eaLnBrk="0" hangingPunct="0"/>
              <a:endParaRPr lang="en-US" altLang="zh-CN" sz="2000" b="1">
                <a:latin typeface="Times New Roman" panose="02020603050405020304" pitchFamily="18" charset="0"/>
              </a:endParaRPr>
            </a:p>
            <a:p>
              <a:pPr algn="ctr" eaLnBrk="0" hangingPunct="0"/>
              <a:r>
                <a:rPr lang="zh-CN" altLang="en-US" sz="2000" b="1">
                  <a:latin typeface="Times New Roman" panose="02020603050405020304" pitchFamily="18" charset="0"/>
                </a:rPr>
                <a:t>覆盖区0</a:t>
              </a:r>
            </a:p>
            <a:p>
              <a:pPr algn="ctr" eaLnBrk="0" hangingPunct="0"/>
              <a:r>
                <a:rPr lang="zh-CN" altLang="en-US" sz="2000" b="1">
                  <a:latin typeface="Times New Roman" panose="02020603050405020304" pitchFamily="18" charset="0"/>
                </a:rPr>
                <a:t>50</a:t>
              </a:r>
              <a:r>
                <a:rPr lang="en-US" altLang="zh-CN" sz="2000" b="1">
                  <a:latin typeface="Times New Roman" panose="02020603050405020304" pitchFamily="18" charset="0"/>
                </a:rPr>
                <a:t>KB</a:t>
              </a:r>
            </a:p>
            <a:p>
              <a:pPr algn="ctr" eaLnBrk="0" hangingPunct="0"/>
              <a:endParaRPr lang="en-US" altLang="zh-CN" sz="2000" b="1">
                <a:latin typeface="Times New Roman" panose="02020603050405020304" pitchFamily="18" charset="0"/>
              </a:endParaRPr>
            </a:p>
            <a:p>
              <a:pPr algn="ctr" eaLnBrk="0" hangingPunct="0"/>
              <a:r>
                <a:rPr lang="zh-CN" altLang="en-US" sz="2000" b="1">
                  <a:latin typeface="Times New Roman" panose="02020603050405020304" pitchFamily="18" charset="0"/>
                </a:rPr>
                <a:t>覆盖区1</a:t>
              </a:r>
            </a:p>
            <a:p>
              <a:pPr algn="ctr" eaLnBrk="0" hangingPunct="0"/>
              <a:r>
                <a:rPr lang="zh-CN" altLang="en-US" sz="2000" b="1">
                  <a:latin typeface="Times New Roman" panose="02020603050405020304" pitchFamily="18" charset="0"/>
                </a:rPr>
                <a:t>40</a:t>
              </a:r>
              <a:r>
                <a:rPr lang="en-US" altLang="zh-CN" sz="2000" b="1">
                  <a:latin typeface="Times New Roman" panose="02020603050405020304" pitchFamily="18" charset="0"/>
                </a:rPr>
                <a:t>KB</a:t>
              </a:r>
            </a:p>
          </p:txBody>
        </p:sp>
        <p:sp>
          <p:nvSpPr>
            <p:cNvPr id="142355" name="Line 20">
              <a:extLst>
                <a:ext uri="{FF2B5EF4-FFF2-40B4-BE49-F238E27FC236}">
                  <a16:creationId xmlns:a16="http://schemas.microsoft.com/office/drawing/2014/main" id="{D7068F95-F7D8-C373-5E3F-8F181CEC3BB1}"/>
                </a:ext>
              </a:extLst>
            </p:cNvPr>
            <p:cNvSpPr>
              <a:spLocks noChangeShapeType="1"/>
            </p:cNvSpPr>
            <p:nvPr/>
          </p:nvSpPr>
          <p:spPr bwMode="auto">
            <a:xfrm>
              <a:off x="3937" y="2368"/>
              <a:ext cx="100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56" name="Line 21">
              <a:extLst>
                <a:ext uri="{FF2B5EF4-FFF2-40B4-BE49-F238E27FC236}">
                  <a16:creationId xmlns:a16="http://schemas.microsoft.com/office/drawing/2014/main" id="{0D1CCFAC-9989-0D10-D07D-C7DC3AB665CD}"/>
                </a:ext>
              </a:extLst>
            </p:cNvPr>
            <p:cNvSpPr>
              <a:spLocks noChangeShapeType="1"/>
            </p:cNvSpPr>
            <p:nvPr/>
          </p:nvSpPr>
          <p:spPr bwMode="auto">
            <a:xfrm>
              <a:off x="3937" y="2944"/>
              <a:ext cx="100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57" name="Line 22">
              <a:extLst>
                <a:ext uri="{FF2B5EF4-FFF2-40B4-BE49-F238E27FC236}">
                  <a16:creationId xmlns:a16="http://schemas.microsoft.com/office/drawing/2014/main" id="{A099B3CC-DBF4-4BAB-4398-464BFABB0039}"/>
                </a:ext>
              </a:extLst>
            </p:cNvPr>
            <p:cNvSpPr>
              <a:spLocks noChangeShapeType="1"/>
            </p:cNvSpPr>
            <p:nvPr/>
          </p:nvSpPr>
          <p:spPr bwMode="auto">
            <a:xfrm>
              <a:off x="3937" y="3520"/>
              <a:ext cx="100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358" name="Rectangle 23">
              <a:extLst>
                <a:ext uri="{FF2B5EF4-FFF2-40B4-BE49-F238E27FC236}">
                  <a16:creationId xmlns:a16="http://schemas.microsoft.com/office/drawing/2014/main" id="{7B758058-E1B4-D2DE-0A83-4FA67F690805}"/>
                </a:ext>
              </a:extLst>
            </p:cNvPr>
            <p:cNvSpPr>
              <a:spLocks noChangeArrowheads="1"/>
            </p:cNvSpPr>
            <p:nvPr/>
          </p:nvSpPr>
          <p:spPr bwMode="auto">
            <a:xfrm>
              <a:off x="3408" y="1839"/>
              <a:ext cx="480" cy="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0" rIns="18000" bIns="10800"/>
            <a:lstStyle/>
            <a:p>
              <a:pPr algn="just" eaLnBrk="0" hangingPunct="0"/>
              <a:r>
                <a:rPr lang="zh-CN" altLang="en-US" sz="2000" b="1">
                  <a:latin typeface="Times New Roman" panose="02020603050405020304" pitchFamily="18" charset="0"/>
                </a:rPr>
                <a:t>       0</a:t>
              </a:r>
            </a:p>
            <a:p>
              <a:pPr algn="just" eaLnBrk="0" hangingPunct="0"/>
              <a:endParaRPr lang="zh-CN" altLang="en-US" sz="2000" b="1">
                <a:latin typeface="Times New Roman" panose="02020603050405020304" pitchFamily="18" charset="0"/>
              </a:endParaRPr>
            </a:p>
            <a:p>
              <a:pPr algn="just" eaLnBrk="0" hangingPunct="0"/>
              <a:r>
                <a:rPr lang="zh-CN" altLang="en-US" sz="2000" b="1">
                  <a:latin typeface="Times New Roman" panose="02020603050405020304" pitchFamily="18" charset="0"/>
                </a:rPr>
                <a:t>20</a:t>
              </a:r>
              <a:r>
                <a:rPr lang="en-US" altLang="zh-CN" sz="2000" b="1">
                  <a:latin typeface="Times New Roman" panose="02020603050405020304" pitchFamily="18" charset="0"/>
                </a:rPr>
                <a:t>KB</a:t>
              </a:r>
            </a:p>
            <a:p>
              <a:pPr algn="just" eaLnBrk="0" hangingPunct="0"/>
              <a:endParaRPr lang="en-US" altLang="zh-CN" sz="2000" b="1">
                <a:latin typeface="Times New Roman" panose="02020603050405020304" pitchFamily="18" charset="0"/>
              </a:endParaRPr>
            </a:p>
            <a:p>
              <a:pPr algn="just" eaLnBrk="0" hangingPunct="0"/>
              <a:endParaRPr lang="en-US" altLang="zh-CN" sz="2000" b="1">
                <a:latin typeface="Times New Roman" panose="02020603050405020304" pitchFamily="18" charset="0"/>
              </a:endParaRPr>
            </a:p>
            <a:p>
              <a:pPr algn="just" eaLnBrk="0" hangingPunct="0"/>
              <a:r>
                <a:rPr lang="en-US" altLang="zh-CN" sz="2000" b="1">
                  <a:latin typeface="Times New Roman" panose="02020603050405020304" pitchFamily="18" charset="0"/>
                </a:rPr>
                <a:t>70KB</a:t>
              </a:r>
            </a:p>
            <a:p>
              <a:pPr algn="just" eaLnBrk="0" hangingPunct="0"/>
              <a:endParaRPr lang="en-US" altLang="zh-CN" sz="2000" b="1">
                <a:latin typeface="Times New Roman" panose="02020603050405020304" pitchFamily="18" charset="0"/>
              </a:endParaRPr>
            </a:p>
            <a:p>
              <a:pPr algn="just" eaLnBrk="0" hangingPunct="0"/>
              <a:endParaRPr lang="en-US" altLang="zh-CN" sz="2000" b="1">
                <a:latin typeface="Times New Roman" panose="02020603050405020304" pitchFamily="18" charset="0"/>
              </a:endParaRPr>
            </a:p>
            <a:p>
              <a:pPr algn="just" eaLnBrk="0" hangingPunct="0"/>
              <a:r>
                <a:rPr lang="en-US" altLang="zh-CN" sz="2000" b="1">
                  <a:latin typeface="宋体" panose="02010600030101010101" pitchFamily="2" charset="-122"/>
                </a:rPr>
                <a:t>110KB</a:t>
              </a:r>
            </a:p>
          </p:txBody>
        </p:sp>
      </p:grpSp>
      <p:sp>
        <p:nvSpPr>
          <p:cNvPr id="406552" name="Rectangle 24">
            <a:extLst>
              <a:ext uri="{FF2B5EF4-FFF2-40B4-BE49-F238E27FC236}">
                <a16:creationId xmlns:a16="http://schemas.microsoft.com/office/drawing/2014/main" id="{4B27A6C7-5A92-A4D7-006B-73C4A50F2DFA}"/>
              </a:ext>
            </a:extLst>
          </p:cNvPr>
          <p:cNvSpPr>
            <a:spLocks noChangeArrowheads="1"/>
          </p:cNvSpPr>
          <p:nvPr/>
        </p:nvSpPr>
        <p:spPr bwMode="auto">
          <a:xfrm>
            <a:off x="468313" y="5445125"/>
            <a:ext cx="8351837"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20000"/>
              </a:spcBef>
              <a:buClr>
                <a:schemeClr val="folHlink"/>
              </a:buClr>
              <a:buSzPct val="60000"/>
              <a:buFont typeface="Wingdings" pitchFamily="2" charset="2"/>
              <a:buChar char="n"/>
            </a:pPr>
            <a:r>
              <a:rPr lang="zh-CN" altLang="en-US" sz="3200"/>
              <a:t>另一种覆盖方法只需</a:t>
            </a:r>
            <a:r>
              <a:rPr lang="en-US" altLang="zh-CN" sz="3200"/>
              <a:t>100K</a:t>
            </a:r>
            <a:r>
              <a:rPr lang="zh-CN" altLang="en-US" sz="3200"/>
              <a:t>：</a:t>
            </a:r>
            <a:r>
              <a:rPr lang="en-US" altLang="zh-CN" sz="3200"/>
              <a:t>B</a:t>
            </a:r>
            <a:r>
              <a:rPr lang="zh-CN" altLang="en-US" sz="3200"/>
              <a:t>、</a:t>
            </a:r>
            <a:r>
              <a:rPr lang="en-US" altLang="zh-CN" sz="3200"/>
              <a:t>D</a:t>
            </a:r>
            <a:r>
              <a:rPr lang="zh-CN" altLang="en-US" sz="3200"/>
              <a:t>、</a:t>
            </a:r>
            <a:r>
              <a:rPr lang="en-US" altLang="zh-CN" sz="3200"/>
              <a:t>E</a:t>
            </a:r>
            <a:r>
              <a:rPr lang="zh-CN" altLang="en-US" sz="3200"/>
              <a:t>为一个覆盖段；</a:t>
            </a:r>
            <a:r>
              <a:rPr lang="en-US" altLang="zh-CN" sz="3200"/>
              <a:t>F</a:t>
            </a:r>
            <a:r>
              <a:rPr lang="zh-CN" altLang="en-US" sz="3200"/>
              <a:t>、</a:t>
            </a:r>
            <a:r>
              <a:rPr lang="en-US" altLang="zh-CN" sz="3200"/>
              <a:t>C</a:t>
            </a:r>
            <a:r>
              <a:rPr lang="zh-CN" altLang="en-US" sz="3200"/>
              <a:t>为另一个覆盖段</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6552"/>
                                        </p:tgtEl>
                                        <p:attrNameLst>
                                          <p:attrName>style.visibility</p:attrName>
                                        </p:attrNameLst>
                                      </p:cBhvr>
                                      <p:to>
                                        <p:strVal val="visible"/>
                                      </p:to>
                                    </p:set>
                                    <p:animEffect transition="in" filter="checkerboard(across)">
                                      <p:cBhvr>
                                        <p:cTn id="7" dur="500"/>
                                        <p:tgtEl>
                                          <p:spTgt spid="406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5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BC854CBD-B39C-3B5C-0C5E-0D44C28C9FA3}"/>
              </a:ext>
            </a:extLst>
          </p:cNvPr>
          <p:cNvSpPr>
            <a:spLocks noGrp="1" noChangeArrowheads="1"/>
          </p:cNvSpPr>
          <p:nvPr>
            <p:ph type="title"/>
          </p:nvPr>
        </p:nvSpPr>
        <p:spPr>
          <a:xfrm>
            <a:off x="1042988" y="225431"/>
            <a:ext cx="7850187" cy="746125"/>
          </a:xfrm>
        </p:spPr>
        <p:txBody>
          <a:bodyPr/>
          <a:lstStyle/>
          <a:p>
            <a:r>
              <a:rPr lang="zh-CN" altLang="en-US"/>
              <a:t>交换技术</a:t>
            </a:r>
          </a:p>
        </p:txBody>
      </p:sp>
      <p:sp>
        <p:nvSpPr>
          <p:cNvPr id="404483" name="Rectangle 3">
            <a:extLst>
              <a:ext uri="{FF2B5EF4-FFF2-40B4-BE49-F238E27FC236}">
                <a16:creationId xmlns:a16="http://schemas.microsoft.com/office/drawing/2014/main" id="{FE9BC568-6FE3-A7ED-43DD-6B75B2D08545}"/>
              </a:ext>
            </a:extLst>
          </p:cNvPr>
          <p:cNvSpPr>
            <a:spLocks noGrp="1" noChangeArrowheads="1"/>
          </p:cNvSpPr>
          <p:nvPr>
            <p:ph idx="1"/>
          </p:nvPr>
        </p:nvSpPr>
        <p:spPr>
          <a:xfrm>
            <a:off x="935038" y="1233488"/>
            <a:ext cx="7772400" cy="4895850"/>
          </a:xfrm>
        </p:spPr>
        <p:txBody>
          <a:bodyPr/>
          <a:lstStyle/>
          <a:p>
            <a:r>
              <a:rPr lang="zh-CN" altLang="en-US"/>
              <a:t>在多道程序环境下，一方面内存中存在一些阻塞进程占据大量的存储空间；另一方面外存上有许多作业因无空闲内存而不能进入内存运行。为此引入了交换。</a:t>
            </a:r>
            <a:endParaRPr lang="en-US" altLang="zh-CN"/>
          </a:p>
          <a:p>
            <a:r>
              <a:rPr lang="zh-CN" altLang="en-US"/>
              <a:t>交换是指将内存中暂时不用的程序及数据换出到外存中，以腾出足够的内存空间，再将已具备运行条件的进程或进程所需的程序或数据从外存换入内存中。</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4483">
                                            <p:txEl>
                                              <p:pRg st="0" end="0"/>
                                            </p:txEl>
                                          </p:spTgt>
                                        </p:tgtEl>
                                        <p:attrNameLst>
                                          <p:attrName>style.visibility</p:attrName>
                                        </p:attrNameLst>
                                      </p:cBhvr>
                                      <p:to>
                                        <p:strVal val="visible"/>
                                      </p:to>
                                    </p:set>
                                    <p:animEffect transition="in" filter="checkerboard(across)">
                                      <p:cBhvr>
                                        <p:cTn id="7" dur="500"/>
                                        <p:tgtEl>
                                          <p:spTgt spid="404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04483">
                                            <p:txEl>
                                              <p:pRg st="1" end="1"/>
                                            </p:txEl>
                                          </p:spTgt>
                                        </p:tgtEl>
                                        <p:attrNameLst>
                                          <p:attrName>style.visibility</p:attrName>
                                        </p:attrNameLst>
                                      </p:cBhvr>
                                      <p:to>
                                        <p:strVal val="visible"/>
                                      </p:to>
                                    </p:set>
                                    <p:animEffect transition="in" filter="checkerboard(across)">
                                      <p:cBhvr>
                                        <p:cTn id="12" dur="500"/>
                                        <p:tgtEl>
                                          <p:spTgt spid="4044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1FAFE437-C3AF-45CE-CF11-463F7489B30A}"/>
              </a:ext>
            </a:extLst>
          </p:cNvPr>
          <p:cNvSpPr>
            <a:spLocks noGrp="1" noChangeArrowheads="1"/>
          </p:cNvSpPr>
          <p:nvPr>
            <p:ph type="title"/>
          </p:nvPr>
        </p:nvSpPr>
        <p:spPr>
          <a:xfrm>
            <a:off x="1042988" y="225431"/>
            <a:ext cx="7850187" cy="746125"/>
          </a:xfrm>
        </p:spPr>
        <p:txBody>
          <a:bodyPr/>
          <a:lstStyle/>
          <a:p>
            <a:r>
              <a:rPr lang="en-US" altLang="zh-CN" dirty="0"/>
              <a:t> </a:t>
            </a:r>
            <a:r>
              <a:rPr lang="zh-CN" altLang="en-US" dirty="0"/>
              <a:t>交换  </a:t>
            </a:r>
            <a:r>
              <a:rPr lang="en-US" altLang="zh-CN" dirty="0"/>
              <a:t>Swapping</a:t>
            </a:r>
            <a:endParaRPr lang="zh-CN" altLang="en-US" dirty="0"/>
          </a:p>
        </p:txBody>
      </p:sp>
      <p:sp>
        <p:nvSpPr>
          <p:cNvPr id="333827" name="Rectangle 3">
            <a:extLst>
              <a:ext uri="{FF2B5EF4-FFF2-40B4-BE49-F238E27FC236}">
                <a16:creationId xmlns:a16="http://schemas.microsoft.com/office/drawing/2014/main" id="{09DBA1EA-E4FC-92CC-2893-2202528F892E}"/>
              </a:ext>
            </a:extLst>
          </p:cNvPr>
          <p:cNvSpPr>
            <a:spLocks noGrp="1" noChangeArrowheads="1"/>
          </p:cNvSpPr>
          <p:nvPr>
            <p:ph idx="1"/>
          </p:nvPr>
        </p:nvSpPr>
        <p:spPr>
          <a:xfrm>
            <a:off x="935038" y="1233488"/>
            <a:ext cx="7772400" cy="4895850"/>
          </a:xfrm>
        </p:spPr>
        <p:txBody>
          <a:bodyPr/>
          <a:lstStyle/>
          <a:p>
            <a:r>
              <a:rPr lang="zh-CN" altLang="en-US" dirty="0"/>
              <a:t>进程可以暂时从内存中交换到备份存储上，当需要再次执行时再换回内存。</a:t>
            </a:r>
            <a:endParaRPr lang="en-US" altLang="zh-CN" dirty="0"/>
          </a:p>
          <a:p>
            <a:r>
              <a:rPr lang="zh-CN" altLang="en-US" dirty="0"/>
              <a:t>例如，低优先级的进程被换出，这样高优先级的进程可以被装入和执行。这种交换有时称为滚出、滚入。</a:t>
            </a:r>
          </a:p>
          <a:p>
            <a:r>
              <a:rPr lang="en-US" altLang="zh-CN" dirty="0"/>
              <a:t>   </a:t>
            </a:r>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3827">
                                            <p:txEl>
                                              <p:pRg st="0" end="0"/>
                                            </p:txEl>
                                          </p:spTgt>
                                        </p:tgtEl>
                                        <p:attrNameLst>
                                          <p:attrName>style.visibility</p:attrName>
                                        </p:attrNameLst>
                                      </p:cBhvr>
                                      <p:to>
                                        <p:strVal val="visible"/>
                                      </p:to>
                                    </p:set>
                                    <p:animEffect transition="in" filter="checkerboard(across)">
                                      <p:cBhvr>
                                        <p:cTn id="7" dur="500"/>
                                        <p:tgtEl>
                                          <p:spTgt spid="3338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33827">
                                            <p:txEl>
                                              <p:pRg st="1" end="1"/>
                                            </p:txEl>
                                          </p:spTgt>
                                        </p:tgtEl>
                                        <p:attrNameLst>
                                          <p:attrName>style.visibility</p:attrName>
                                        </p:attrNameLst>
                                      </p:cBhvr>
                                      <p:to>
                                        <p:strVal val="visible"/>
                                      </p:to>
                                    </p:set>
                                    <p:animEffect transition="in" filter="checkerboard(across)">
                                      <p:cBhvr>
                                        <p:cTn id="12" dur="500"/>
                                        <p:tgtEl>
                                          <p:spTgt spid="3338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33827">
                                            <p:txEl>
                                              <p:pRg st="2" end="2"/>
                                            </p:txEl>
                                          </p:spTgt>
                                        </p:tgtEl>
                                        <p:attrNameLst>
                                          <p:attrName>style.visibility</p:attrName>
                                        </p:attrNameLst>
                                      </p:cBhvr>
                                      <p:to>
                                        <p:strVal val="visible"/>
                                      </p:to>
                                    </p:set>
                                    <p:animEffect transition="in" filter="checkerboard(across)">
                                      <p:cBhvr>
                                        <p:cTn id="17" dur="500"/>
                                        <p:tgtEl>
                                          <p:spTgt spid="3338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27"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a:extLst>
              <a:ext uri="{FF2B5EF4-FFF2-40B4-BE49-F238E27FC236}">
                <a16:creationId xmlns:a16="http://schemas.microsoft.com/office/drawing/2014/main" id="{9FFF03F5-9878-AE31-B461-9995B727C081}"/>
              </a:ext>
            </a:extLst>
          </p:cNvPr>
          <p:cNvSpPr>
            <a:spLocks noGrp="1" noChangeArrowheads="1"/>
          </p:cNvSpPr>
          <p:nvPr>
            <p:ph type="title"/>
          </p:nvPr>
        </p:nvSpPr>
        <p:spPr>
          <a:xfrm>
            <a:off x="1042988" y="225431"/>
            <a:ext cx="7850187" cy="746125"/>
          </a:xfrm>
        </p:spPr>
        <p:txBody>
          <a:bodyPr/>
          <a:lstStyle/>
          <a:p>
            <a:r>
              <a:rPr lang="zh-CN" altLang="en-US" dirty="0"/>
              <a:t>交换示意图</a:t>
            </a:r>
          </a:p>
        </p:txBody>
      </p:sp>
      <p:sp>
        <p:nvSpPr>
          <p:cNvPr id="3" name="内容占位符 2">
            <a:extLst>
              <a:ext uri="{FF2B5EF4-FFF2-40B4-BE49-F238E27FC236}">
                <a16:creationId xmlns:a16="http://schemas.microsoft.com/office/drawing/2014/main" id="{00234875-0B0F-64B8-7402-E6B0488DEB9D}"/>
              </a:ext>
            </a:extLst>
          </p:cNvPr>
          <p:cNvSpPr>
            <a:spLocks noGrp="1"/>
          </p:cNvSpPr>
          <p:nvPr>
            <p:ph idx="1"/>
          </p:nvPr>
        </p:nvSpPr>
        <p:spPr/>
        <p:txBody>
          <a:bodyPr/>
          <a:lstStyle/>
          <a:p>
            <a:endParaRPr lang="zh-CN" altLang="en-US"/>
          </a:p>
        </p:txBody>
      </p:sp>
      <p:pic>
        <p:nvPicPr>
          <p:cNvPr id="139266" name="Picture 5">
            <a:extLst>
              <a:ext uri="{FF2B5EF4-FFF2-40B4-BE49-F238E27FC236}">
                <a16:creationId xmlns:a16="http://schemas.microsoft.com/office/drawing/2014/main" id="{D01957CC-4412-CCA8-1376-EFA601587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50" t="3653" r="650" b="3856"/>
          <a:stretch>
            <a:fillRect/>
          </a:stretch>
        </p:blipFill>
        <p:spPr bwMode="auto">
          <a:xfrm>
            <a:off x="900113" y="1341438"/>
            <a:ext cx="7620000" cy="5029200"/>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E4C216A4-0769-58F9-9CDB-92F23587F4F2}"/>
              </a:ext>
            </a:extLst>
          </p:cNvPr>
          <p:cNvSpPr>
            <a:spLocks noGrp="1" noChangeArrowheads="1"/>
          </p:cNvSpPr>
          <p:nvPr>
            <p:ph type="title"/>
          </p:nvPr>
        </p:nvSpPr>
        <p:spPr>
          <a:xfrm>
            <a:off x="1042988" y="225431"/>
            <a:ext cx="7850187" cy="746125"/>
          </a:xfrm>
        </p:spPr>
        <p:txBody>
          <a:bodyPr/>
          <a:lstStyle/>
          <a:p>
            <a:r>
              <a:rPr lang="zh-CN" altLang="en-US"/>
              <a:t>交换空间的管理</a:t>
            </a:r>
          </a:p>
        </p:txBody>
      </p:sp>
      <p:sp>
        <p:nvSpPr>
          <p:cNvPr id="344067" name="Rectangle 3">
            <a:extLst>
              <a:ext uri="{FF2B5EF4-FFF2-40B4-BE49-F238E27FC236}">
                <a16:creationId xmlns:a16="http://schemas.microsoft.com/office/drawing/2014/main" id="{B818BAC4-C0FD-4AB9-A8EC-47BF0D459BB1}"/>
              </a:ext>
            </a:extLst>
          </p:cNvPr>
          <p:cNvSpPr>
            <a:spLocks noGrp="1" noChangeArrowheads="1"/>
          </p:cNvSpPr>
          <p:nvPr>
            <p:ph idx="1"/>
          </p:nvPr>
        </p:nvSpPr>
        <p:spPr>
          <a:xfrm>
            <a:off x="935038" y="1233488"/>
            <a:ext cx="7772400" cy="4895850"/>
          </a:xfrm>
        </p:spPr>
        <p:txBody>
          <a:bodyPr/>
          <a:lstStyle/>
          <a:p>
            <a:r>
              <a:rPr lang="zh-CN" altLang="en-US"/>
              <a:t>交换空间设置在外存交换区中，交换空间管理的主要目标是提高进程换入/换出速度。</a:t>
            </a:r>
          </a:p>
          <a:p>
            <a:r>
              <a:rPr lang="zh-CN" altLang="en-US"/>
              <a:t>交换空间采用连续分配方式，使用与动态分区分配类似的数据结构和分配回收算法。</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4067">
                                            <p:txEl>
                                              <p:pRg st="0" end="0"/>
                                            </p:txEl>
                                          </p:spTgt>
                                        </p:tgtEl>
                                        <p:attrNameLst>
                                          <p:attrName>style.visibility</p:attrName>
                                        </p:attrNameLst>
                                      </p:cBhvr>
                                      <p:to>
                                        <p:strVal val="visible"/>
                                      </p:to>
                                    </p:set>
                                    <p:animEffect transition="in" filter="checkerboard(across)">
                                      <p:cBhvr>
                                        <p:cTn id="7" dur="500"/>
                                        <p:tgtEl>
                                          <p:spTgt spid="3440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4067">
                                            <p:txEl>
                                              <p:pRg st="1" end="1"/>
                                            </p:txEl>
                                          </p:spTgt>
                                        </p:tgtEl>
                                        <p:attrNameLst>
                                          <p:attrName>style.visibility</p:attrName>
                                        </p:attrNameLst>
                                      </p:cBhvr>
                                      <p:to>
                                        <p:strVal val="visible"/>
                                      </p:to>
                                    </p:set>
                                    <p:animEffect transition="in" filter="checkerboard(across)">
                                      <p:cBhvr>
                                        <p:cTn id="12" dur="500"/>
                                        <p:tgtEl>
                                          <p:spTgt spid="3440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a:extLst>
              <a:ext uri="{FF2B5EF4-FFF2-40B4-BE49-F238E27FC236}">
                <a16:creationId xmlns:a16="http://schemas.microsoft.com/office/drawing/2014/main" id="{C0EFC770-874B-85AD-9894-8935A610B2C1}"/>
              </a:ext>
            </a:extLst>
          </p:cNvPr>
          <p:cNvSpPr>
            <a:spLocks noGrp="1" noChangeArrowheads="1"/>
          </p:cNvSpPr>
          <p:nvPr>
            <p:ph type="title"/>
          </p:nvPr>
        </p:nvSpPr>
        <p:spPr>
          <a:xfrm>
            <a:off x="1042988" y="225431"/>
            <a:ext cx="7850187" cy="746125"/>
          </a:xfrm>
        </p:spPr>
        <p:txBody>
          <a:bodyPr/>
          <a:lstStyle/>
          <a:p>
            <a:r>
              <a:rPr lang="zh-CN" altLang="en-US"/>
              <a:t>进程的换出与换入</a:t>
            </a:r>
          </a:p>
        </p:txBody>
      </p:sp>
      <p:sp>
        <p:nvSpPr>
          <p:cNvPr id="345091" name="Rectangle 3">
            <a:extLst>
              <a:ext uri="{FF2B5EF4-FFF2-40B4-BE49-F238E27FC236}">
                <a16:creationId xmlns:a16="http://schemas.microsoft.com/office/drawing/2014/main" id="{135FDDBC-B66F-DA4A-1696-762D03944D4F}"/>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进程的换出</a:t>
            </a:r>
            <a:r>
              <a:rPr lang="zh-CN" altLang="en-US" dirty="0"/>
              <a:t>：先选择换出进程（阻塞、优先级低、驻留时间长），再申请对换空间，然后启动磁盘写，若成功则可释放其内存空间并修改数据结构。</a:t>
            </a:r>
          </a:p>
          <a:p>
            <a:r>
              <a:rPr lang="zh-CN" altLang="en-US" b="1" dirty="0">
                <a:solidFill>
                  <a:srgbClr val="FF0000"/>
                </a:solidFill>
              </a:rPr>
              <a:t>进程换入</a:t>
            </a:r>
            <a:r>
              <a:rPr lang="zh-CN" altLang="en-US" dirty="0"/>
              <a:t>：先选择换入进程（就绪、换出时间长），再申请内存空间，然后启动磁盘读。</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5091">
                                            <p:txEl>
                                              <p:pRg st="0" end="0"/>
                                            </p:txEl>
                                          </p:spTgt>
                                        </p:tgtEl>
                                        <p:attrNameLst>
                                          <p:attrName>style.visibility</p:attrName>
                                        </p:attrNameLst>
                                      </p:cBhvr>
                                      <p:to>
                                        <p:strVal val="visible"/>
                                      </p:to>
                                    </p:set>
                                    <p:animEffect transition="in" filter="checkerboard(across)">
                                      <p:cBhvr>
                                        <p:cTn id="7" dur="500"/>
                                        <p:tgtEl>
                                          <p:spTgt spid="3450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5091">
                                            <p:txEl>
                                              <p:pRg st="1" end="1"/>
                                            </p:txEl>
                                          </p:spTgt>
                                        </p:tgtEl>
                                        <p:attrNameLst>
                                          <p:attrName>style.visibility</p:attrName>
                                        </p:attrNameLst>
                                      </p:cBhvr>
                                      <p:to>
                                        <p:strVal val="visible"/>
                                      </p:to>
                                    </p:set>
                                    <p:animEffect transition="in" filter="checkerboard(across)">
                                      <p:cBhvr>
                                        <p:cTn id="12" dur="500"/>
                                        <p:tgtEl>
                                          <p:spTgt spid="3450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AE8AD73C-AF93-72A5-EACE-C69C0A8935F1}"/>
              </a:ext>
            </a:extLst>
          </p:cNvPr>
          <p:cNvSpPr>
            <a:spLocks noGrp="1" noChangeArrowheads="1"/>
          </p:cNvSpPr>
          <p:nvPr>
            <p:ph type="title"/>
          </p:nvPr>
        </p:nvSpPr>
        <p:spPr/>
        <p:txBody>
          <a:bodyPr/>
          <a:lstStyle/>
          <a:p>
            <a:pPr eaLnBrk="1" hangingPunct="1"/>
            <a:r>
              <a:rPr lang="zh-CN" altLang="en-US" sz="4000">
                <a:solidFill>
                  <a:schemeClr val="tx1"/>
                </a:solidFill>
              </a:rPr>
              <a:t>覆盖与交换的比较</a:t>
            </a:r>
          </a:p>
        </p:txBody>
      </p:sp>
      <p:sp>
        <p:nvSpPr>
          <p:cNvPr id="340995" name="Rectangle 3">
            <a:extLst>
              <a:ext uri="{FF2B5EF4-FFF2-40B4-BE49-F238E27FC236}">
                <a16:creationId xmlns:a16="http://schemas.microsoft.com/office/drawing/2014/main" id="{2B0FAF45-8CCF-1C52-B4E5-D33CE71564E2}"/>
              </a:ext>
            </a:extLst>
          </p:cNvPr>
          <p:cNvSpPr>
            <a:spLocks noGrp="1" noChangeArrowheads="1"/>
          </p:cNvSpPr>
          <p:nvPr>
            <p:ph idx="1"/>
          </p:nvPr>
        </p:nvSpPr>
        <p:spPr>
          <a:xfrm>
            <a:off x="900113" y="1270000"/>
            <a:ext cx="8004175" cy="4967288"/>
          </a:xfrm>
        </p:spPr>
        <p:txBody>
          <a:bodyPr/>
          <a:lstStyle/>
          <a:p>
            <a:pPr eaLnBrk="1" hangingPunct="1"/>
            <a:r>
              <a:rPr lang="zh-CN" altLang="en-US"/>
              <a:t>交换技术由操作系统自动完成，不需要用户参与，而覆盖技术需要专业的程序员给出作业各部分之间的覆盖结构，并清楚系统的存储结构；</a:t>
            </a:r>
          </a:p>
          <a:p>
            <a:pPr eaLnBrk="1" hangingPunct="1"/>
            <a:r>
              <a:rPr lang="zh-CN" altLang="en-US"/>
              <a:t>交换技术主要在不同作业之间进行，而覆盖技术主要在同一个作业内进行；</a:t>
            </a:r>
          </a:p>
          <a:p>
            <a:pPr eaLnBrk="1" hangingPunct="1"/>
            <a:r>
              <a:rPr lang="zh-CN" altLang="en-US"/>
              <a:t>覆盖技术主要在早期的操作系统中采用，而交换技术在现代操作系统中仍具有较强的生命力。</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animEffect transition="in" filter="checkerboard(across)">
                                      <p:cBhvr>
                                        <p:cTn id="7" dur="500"/>
                                        <p:tgtEl>
                                          <p:spTgt spid="3409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40995">
                                            <p:txEl>
                                              <p:pRg st="1" end="1"/>
                                            </p:txEl>
                                          </p:spTgt>
                                        </p:tgtEl>
                                        <p:attrNameLst>
                                          <p:attrName>style.visibility</p:attrName>
                                        </p:attrNameLst>
                                      </p:cBhvr>
                                      <p:to>
                                        <p:strVal val="visible"/>
                                      </p:to>
                                    </p:set>
                                    <p:animEffect transition="in" filter="checkerboard(across)">
                                      <p:cBhvr>
                                        <p:cTn id="12" dur="500"/>
                                        <p:tgtEl>
                                          <p:spTgt spid="3409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40995">
                                            <p:txEl>
                                              <p:pRg st="2" end="2"/>
                                            </p:txEl>
                                          </p:spTgt>
                                        </p:tgtEl>
                                        <p:attrNameLst>
                                          <p:attrName>style.visibility</p:attrName>
                                        </p:attrNameLst>
                                      </p:cBhvr>
                                      <p:to>
                                        <p:strVal val="visible"/>
                                      </p:to>
                                    </p:set>
                                    <p:animEffect transition="in" filter="checkerboard(across)">
                                      <p:cBhvr>
                                        <p:cTn id="17" dur="500"/>
                                        <p:tgtEl>
                                          <p:spTgt spid="3409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a:extLst>
              <a:ext uri="{FF2B5EF4-FFF2-40B4-BE49-F238E27FC236}">
                <a16:creationId xmlns:a16="http://schemas.microsoft.com/office/drawing/2014/main" id="{ACBF89A9-5CC6-CD77-1A1A-CAF52EB4011E}"/>
              </a:ext>
            </a:extLst>
          </p:cNvPr>
          <p:cNvSpPr>
            <a:spLocks noGrp="1" noChangeArrowheads="1"/>
          </p:cNvSpPr>
          <p:nvPr>
            <p:ph type="title"/>
          </p:nvPr>
        </p:nvSpPr>
        <p:spPr/>
        <p:txBody>
          <a:bodyPr/>
          <a:lstStyle/>
          <a:p>
            <a:pPr eaLnBrk="1" hangingPunct="1"/>
            <a:r>
              <a:rPr lang="en-US" altLang="zh-CN" sz="4800" dirty="0"/>
              <a:t> </a:t>
            </a:r>
            <a:r>
              <a:rPr lang="zh-CN" altLang="en-US" sz="4800" dirty="0"/>
              <a:t>分段 </a:t>
            </a:r>
            <a:r>
              <a:rPr lang="en-US" altLang="zh-CN" sz="4800" dirty="0"/>
              <a:t>Segmentation</a:t>
            </a:r>
            <a:endParaRPr lang="zh-CN" altLang="en-US" sz="4800" dirty="0"/>
          </a:p>
        </p:txBody>
      </p:sp>
      <p:sp>
        <p:nvSpPr>
          <p:cNvPr id="147458" name="Rectangle 3">
            <a:extLst>
              <a:ext uri="{FF2B5EF4-FFF2-40B4-BE49-F238E27FC236}">
                <a16:creationId xmlns:a16="http://schemas.microsoft.com/office/drawing/2014/main" id="{5BAC1621-6139-CE69-EBF5-50E05AE64250}"/>
              </a:ext>
            </a:extLst>
          </p:cNvPr>
          <p:cNvSpPr>
            <a:spLocks noGrp="1" noChangeArrowheads="1"/>
          </p:cNvSpPr>
          <p:nvPr>
            <p:ph idx="1"/>
          </p:nvPr>
        </p:nvSpPr>
        <p:spPr>
          <a:xfrm>
            <a:off x="685800" y="1268413"/>
            <a:ext cx="8269288" cy="4114800"/>
          </a:xfrm>
        </p:spPr>
        <p:txBody>
          <a:bodyPr/>
          <a:lstStyle/>
          <a:p>
            <a:pPr eaLnBrk="1" hangingPunct="1"/>
            <a:r>
              <a:rPr lang="zh-CN" altLang="en-US"/>
              <a:t>由于分页按物理单位进行，没有考虑程序段的逻辑完整性，给程序段的共享和保护带来不便，另外动态链接及段的动态增长也要求以逻辑上完整的程序段为单位管理。</a:t>
            </a:r>
          </a:p>
        </p:txBody>
      </p:sp>
    </p:spTree>
  </p:cSld>
  <p:clrMapOvr>
    <a:masterClrMapping/>
  </p:clrMapOvr>
  <p:transition spd="med">
    <p:zo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a:extLst>
              <a:ext uri="{FF2B5EF4-FFF2-40B4-BE49-F238E27FC236}">
                <a16:creationId xmlns:a16="http://schemas.microsoft.com/office/drawing/2014/main" id="{F083B50C-D417-7026-337D-957DDC26213F}"/>
              </a:ext>
            </a:extLst>
          </p:cNvPr>
          <p:cNvSpPr>
            <a:spLocks noGrp="1" noChangeArrowheads="1"/>
          </p:cNvSpPr>
          <p:nvPr>
            <p:ph type="title"/>
          </p:nvPr>
        </p:nvSpPr>
        <p:spPr/>
        <p:txBody>
          <a:bodyPr/>
          <a:lstStyle/>
          <a:p>
            <a:pPr eaLnBrk="1" hangingPunct="1"/>
            <a:r>
              <a:rPr lang="en-US" altLang="zh-CN" sz="4000"/>
              <a:t>User</a:t>
            </a:r>
            <a:r>
              <a:rPr lang="en-US" altLang="zh-CN" sz="4000">
                <a:latin typeface="Helvetica" pitchFamily="2" charset="0"/>
              </a:rPr>
              <a:t>’</a:t>
            </a:r>
            <a:r>
              <a:rPr lang="en-US" altLang="zh-CN" sz="4000"/>
              <a:t>s View of a Program</a:t>
            </a:r>
            <a:endParaRPr lang="zh-CN" altLang="en-US" sz="4000"/>
          </a:p>
        </p:txBody>
      </p:sp>
      <p:pic>
        <p:nvPicPr>
          <p:cNvPr id="149506" name="Picture 4">
            <a:extLst>
              <a:ext uri="{FF2B5EF4-FFF2-40B4-BE49-F238E27FC236}">
                <a16:creationId xmlns:a16="http://schemas.microsoft.com/office/drawing/2014/main" id="{EDBC330C-0E16-B7FA-2E14-5872562821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700" t="1469" r="21819" b="1843"/>
          <a:stretch>
            <a:fillRect/>
          </a:stretch>
        </p:blipFill>
        <p:spPr bwMode="auto">
          <a:xfrm>
            <a:off x="1552706" y="1133475"/>
            <a:ext cx="5086350" cy="546417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FECA3A3F-A94F-463A-8C3C-27D7736A7DA8}"/>
              </a:ext>
            </a:extLst>
          </p:cNvPr>
          <p:cNvSpPr txBox="1"/>
          <p:nvPr/>
        </p:nvSpPr>
        <p:spPr>
          <a:xfrm>
            <a:off x="6976998" y="3181611"/>
            <a:ext cx="1879426" cy="1938992"/>
          </a:xfrm>
          <a:prstGeom prst="rect">
            <a:avLst/>
          </a:prstGeom>
          <a:noFill/>
        </p:spPr>
        <p:txBody>
          <a:bodyPr wrap="square" rtlCol="0">
            <a:spAutoFit/>
          </a:bodyPr>
          <a:lstStyle/>
          <a:p>
            <a:r>
              <a:rPr lang="zh-CN" altLang="en-US" sz="2400" dirty="0"/>
              <a:t>一个程序是一些段的集合，一个段是一个逻辑单位</a:t>
            </a:r>
            <a:endParaRPr kumimoji="1" lang="zh-CN" altLang="en-US" sz="2400" dirty="0"/>
          </a:p>
        </p:txBody>
      </p:sp>
    </p:spTree>
  </p:cSld>
  <p:clrMapOvr>
    <a:masterClrMapping/>
  </p:clrMapOvr>
  <p:transition spd="med">
    <p:zo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43A992F6-D372-5090-8E9C-95615037A04E}"/>
              </a:ext>
            </a:extLst>
          </p:cNvPr>
          <p:cNvSpPr>
            <a:spLocks noGrp="1" noChangeArrowheads="1"/>
          </p:cNvSpPr>
          <p:nvPr>
            <p:ph type="title"/>
          </p:nvPr>
        </p:nvSpPr>
        <p:spPr/>
        <p:txBody>
          <a:bodyPr/>
          <a:lstStyle/>
          <a:p>
            <a:pPr eaLnBrk="1" hangingPunct="1"/>
            <a:r>
              <a:rPr lang="zh-CN" altLang="en-US"/>
              <a:t>分段管理的实现思想</a:t>
            </a:r>
          </a:p>
        </p:txBody>
      </p:sp>
      <p:sp>
        <p:nvSpPr>
          <p:cNvPr id="162819" name="Rectangle 3">
            <a:extLst>
              <a:ext uri="{FF2B5EF4-FFF2-40B4-BE49-F238E27FC236}">
                <a16:creationId xmlns:a16="http://schemas.microsoft.com/office/drawing/2014/main" id="{32042059-0F69-4117-EBB5-2FAC0EEEA98B}"/>
              </a:ext>
            </a:extLst>
          </p:cNvPr>
          <p:cNvSpPr>
            <a:spLocks noGrp="1" noChangeArrowheads="1"/>
          </p:cNvSpPr>
          <p:nvPr>
            <p:ph idx="1"/>
          </p:nvPr>
        </p:nvSpPr>
        <p:spPr>
          <a:xfrm>
            <a:off x="762000" y="1268413"/>
            <a:ext cx="8193088" cy="4752975"/>
          </a:xfrm>
        </p:spPr>
        <p:txBody>
          <a:bodyPr/>
          <a:lstStyle/>
          <a:p>
            <a:pPr algn="just" eaLnBrk="1" hangingPunct="1"/>
            <a:r>
              <a:rPr lang="zh-CN" altLang="en-US"/>
              <a:t>在分段存储管理系统中，作业的地址空间由若干个逻辑分段组成，每个分段是一组逻辑意义相对完整的信息集合，每个分段都有自己的名字，每个分段都从0开始编址并采用一段连续的地址空间。</a:t>
            </a:r>
          </a:p>
          <a:p>
            <a:pPr algn="just" eaLnBrk="1" hangingPunct="1"/>
            <a:r>
              <a:rPr lang="zh-CN" altLang="en-US"/>
              <a:t>在进行存储分配时，以段为单位分配内存，每段分配一个连续的内存区，但各段之间不要求连续。</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Effect transition="in" filter="checkerboard(across)">
                                      <p:cBhvr>
                                        <p:cTn id="7" dur="500"/>
                                        <p:tgtEl>
                                          <p:spTgt spid="162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62819">
                                            <p:txEl>
                                              <p:pRg st="1" end="1"/>
                                            </p:txEl>
                                          </p:spTgt>
                                        </p:tgtEl>
                                        <p:attrNameLst>
                                          <p:attrName>style.visibility</p:attrName>
                                        </p:attrNameLst>
                                      </p:cBhvr>
                                      <p:to>
                                        <p:strVal val="visible"/>
                                      </p:to>
                                    </p:set>
                                    <p:animEffect transition="in" filter="checkerboard(across)">
                                      <p:cBhvr>
                                        <p:cTn id="12" dur="500"/>
                                        <p:tgtEl>
                                          <p:spTgt spid="1628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a:extLst>
              <a:ext uri="{FF2B5EF4-FFF2-40B4-BE49-F238E27FC236}">
                <a16:creationId xmlns:a16="http://schemas.microsoft.com/office/drawing/2014/main" id="{2AC6BB85-8D60-86AC-95FE-4D34888490C5}"/>
              </a:ext>
            </a:extLst>
          </p:cNvPr>
          <p:cNvSpPr>
            <a:spLocks noGrp="1" noChangeArrowheads="1"/>
          </p:cNvSpPr>
          <p:nvPr>
            <p:ph type="title"/>
          </p:nvPr>
        </p:nvSpPr>
        <p:spPr/>
        <p:txBody>
          <a:bodyPr/>
          <a:lstStyle/>
          <a:p>
            <a:pPr eaLnBrk="1" hangingPunct="1"/>
            <a:r>
              <a:rPr lang="zh-CN" altLang="en-US"/>
              <a:t>作业的地址空间是二维的</a:t>
            </a:r>
          </a:p>
        </p:txBody>
      </p:sp>
      <p:sp>
        <p:nvSpPr>
          <p:cNvPr id="151554" name="Rectangle 3">
            <a:extLst>
              <a:ext uri="{FF2B5EF4-FFF2-40B4-BE49-F238E27FC236}">
                <a16:creationId xmlns:a16="http://schemas.microsoft.com/office/drawing/2014/main" id="{9F93365D-E245-6F6F-1F92-1D797FFB0210}"/>
              </a:ext>
            </a:extLst>
          </p:cNvPr>
          <p:cNvSpPr>
            <a:spLocks noGrp="1" noChangeArrowheads="1"/>
          </p:cNvSpPr>
          <p:nvPr>
            <p:ph idx="1"/>
          </p:nvPr>
        </p:nvSpPr>
        <p:spPr>
          <a:xfrm>
            <a:off x="914400" y="1196975"/>
            <a:ext cx="8001000" cy="877888"/>
          </a:xfrm>
        </p:spPr>
        <p:txBody>
          <a:bodyPr/>
          <a:lstStyle/>
          <a:p>
            <a:pPr algn="just" eaLnBrk="1" hangingPunct="1">
              <a:lnSpc>
                <a:spcPct val="90000"/>
              </a:lnSpc>
            </a:pPr>
            <a:r>
              <a:rPr lang="zh-CN" altLang="en-US" sz="2800"/>
              <a:t>作业的地址空间分为多段，每段都从0开始编址，故地址是二维的。</a:t>
            </a:r>
          </a:p>
        </p:txBody>
      </p:sp>
      <p:grpSp>
        <p:nvGrpSpPr>
          <p:cNvPr id="151555" name="Group 14">
            <a:extLst>
              <a:ext uri="{FF2B5EF4-FFF2-40B4-BE49-F238E27FC236}">
                <a16:creationId xmlns:a16="http://schemas.microsoft.com/office/drawing/2014/main" id="{1B37A7DD-F904-C940-6109-48D0A17F3233}"/>
              </a:ext>
            </a:extLst>
          </p:cNvPr>
          <p:cNvGrpSpPr>
            <a:grpSpLocks/>
          </p:cNvGrpSpPr>
          <p:nvPr/>
        </p:nvGrpSpPr>
        <p:grpSpPr bwMode="auto">
          <a:xfrm>
            <a:off x="684213" y="2362200"/>
            <a:ext cx="7240587" cy="3648075"/>
            <a:chOff x="431" y="1488"/>
            <a:chExt cx="4561" cy="2298"/>
          </a:xfrm>
        </p:grpSpPr>
        <p:sp>
          <p:nvSpPr>
            <p:cNvPr id="151556" name="Rectangle 5">
              <a:extLst>
                <a:ext uri="{FF2B5EF4-FFF2-40B4-BE49-F238E27FC236}">
                  <a16:creationId xmlns:a16="http://schemas.microsoft.com/office/drawing/2014/main" id="{4A0E1DF0-ED4B-043B-E7B5-50F0FDC3907D}"/>
                </a:ext>
              </a:extLst>
            </p:cNvPr>
            <p:cNvSpPr>
              <a:spLocks noChangeArrowheads="1"/>
            </p:cNvSpPr>
            <p:nvPr/>
          </p:nvSpPr>
          <p:spPr bwMode="auto">
            <a:xfrm>
              <a:off x="948" y="1602"/>
              <a:ext cx="952" cy="1690"/>
            </a:xfrm>
            <a:prstGeom prst="rect">
              <a:avLst/>
            </a:prstGeom>
            <a:solidFill>
              <a:srgbClr val="FFFFFF"/>
            </a:solidFill>
            <a:ln w="28575">
              <a:solidFill>
                <a:srgbClr val="000000"/>
              </a:solidFill>
              <a:miter lim="800000"/>
              <a:headEnd/>
              <a:tailEnd/>
            </a:ln>
          </p:spPr>
          <p:txBody>
            <a:bodyPr/>
            <a:lstStyle/>
            <a:p>
              <a:pPr algn="ctr"/>
              <a:endParaRPr lang="zh-CN" altLang="en-US"/>
            </a:p>
          </p:txBody>
        </p:sp>
        <p:sp>
          <p:nvSpPr>
            <p:cNvPr id="151557" name="Rectangle 6">
              <a:extLst>
                <a:ext uri="{FF2B5EF4-FFF2-40B4-BE49-F238E27FC236}">
                  <a16:creationId xmlns:a16="http://schemas.microsoft.com/office/drawing/2014/main" id="{076A016E-BF47-1471-52C5-D2DC598D53D8}"/>
                </a:ext>
              </a:extLst>
            </p:cNvPr>
            <p:cNvSpPr>
              <a:spLocks noChangeArrowheads="1"/>
            </p:cNvSpPr>
            <p:nvPr/>
          </p:nvSpPr>
          <p:spPr bwMode="auto">
            <a:xfrm>
              <a:off x="431" y="1488"/>
              <a:ext cx="462" cy="1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p>
              <a:pPr algn="just" eaLnBrk="0" hangingPunct="0"/>
              <a:r>
                <a:rPr lang="zh-CN" altLang="en-US">
                  <a:latin typeface="Times New Roman" panose="02020603050405020304" pitchFamily="18" charset="0"/>
                </a:rPr>
                <a:t>  0</a:t>
              </a: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1</a:t>
              </a:r>
              <a:r>
                <a:rPr lang="en-US" altLang="zh-CN">
                  <a:latin typeface="Times New Roman" panose="02020603050405020304" pitchFamily="18" charset="0"/>
                </a:rPr>
                <a:t>K-1</a:t>
              </a:r>
            </a:p>
          </p:txBody>
        </p:sp>
        <p:sp>
          <p:nvSpPr>
            <p:cNvPr id="151558" name="Rectangle 7">
              <a:extLst>
                <a:ext uri="{FF2B5EF4-FFF2-40B4-BE49-F238E27FC236}">
                  <a16:creationId xmlns:a16="http://schemas.microsoft.com/office/drawing/2014/main" id="{5B82C0D3-1E50-79FB-0373-7B8644532622}"/>
                </a:ext>
              </a:extLst>
            </p:cNvPr>
            <p:cNvSpPr>
              <a:spLocks noChangeArrowheads="1"/>
            </p:cNvSpPr>
            <p:nvPr/>
          </p:nvSpPr>
          <p:spPr bwMode="auto">
            <a:xfrm>
              <a:off x="2534" y="1602"/>
              <a:ext cx="950" cy="1213"/>
            </a:xfrm>
            <a:prstGeom prst="rect">
              <a:avLst/>
            </a:prstGeom>
            <a:solidFill>
              <a:srgbClr val="FFFFFF"/>
            </a:solidFill>
            <a:ln w="28575">
              <a:solidFill>
                <a:srgbClr val="000000"/>
              </a:solidFill>
              <a:miter lim="800000"/>
              <a:headEnd/>
              <a:tailEnd/>
            </a:ln>
          </p:spPr>
          <p:txBody>
            <a:bodyPr/>
            <a:lstStyle/>
            <a:p>
              <a:pPr algn="ctr"/>
              <a:endParaRPr lang="zh-CN" altLang="en-US"/>
            </a:p>
          </p:txBody>
        </p:sp>
        <p:sp>
          <p:nvSpPr>
            <p:cNvPr id="151559" name="Rectangle 8">
              <a:extLst>
                <a:ext uri="{FF2B5EF4-FFF2-40B4-BE49-F238E27FC236}">
                  <a16:creationId xmlns:a16="http://schemas.microsoft.com/office/drawing/2014/main" id="{D50F1C2A-DA5A-47D8-4892-4BD8F16E35D2}"/>
                </a:ext>
              </a:extLst>
            </p:cNvPr>
            <p:cNvSpPr>
              <a:spLocks noChangeArrowheads="1"/>
            </p:cNvSpPr>
            <p:nvPr/>
          </p:nvSpPr>
          <p:spPr bwMode="auto">
            <a:xfrm>
              <a:off x="2150" y="1488"/>
              <a:ext cx="349" cy="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p>
              <a:pPr algn="just" eaLnBrk="0" hangingPunct="0"/>
              <a:r>
                <a:rPr lang="zh-CN" altLang="en-US">
                  <a:latin typeface="Times New Roman" panose="02020603050405020304" pitchFamily="18" charset="0"/>
                </a:rPr>
                <a:t>  0</a:t>
              </a: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r>
                <a:rPr lang="en-US" altLang="zh-CN">
                  <a:latin typeface="Times New Roman" panose="02020603050405020304" pitchFamily="18" charset="0"/>
                </a:rPr>
                <a:t>799</a:t>
              </a:r>
            </a:p>
          </p:txBody>
        </p:sp>
        <p:sp>
          <p:nvSpPr>
            <p:cNvPr id="151560" name="Rectangle 9">
              <a:extLst>
                <a:ext uri="{FF2B5EF4-FFF2-40B4-BE49-F238E27FC236}">
                  <a16:creationId xmlns:a16="http://schemas.microsoft.com/office/drawing/2014/main" id="{3A5596CE-55C0-4B28-3A38-0092C5CA5DF2}"/>
                </a:ext>
              </a:extLst>
            </p:cNvPr>
            <p:cNvSpPr>
              <a:spLocks noChangeArrowheads="1"/>
            </p:cNvSpPr>
            <p:nvPr/>
          </p:nvSpPr>
          <p:spPr bwMode="auto">
            <a:xfrm>
              <a:off x="4118" y="1602"/>
              <a:ext cx="793" cy="991"/>
            </a:xfrm>
            <a:prstGeom prst="rect">
              <a:avLst/>
            </a:prstGeom>
            <a:solidFill>
              <a:srgbClr val="FFFFFF"/>
            </a:solidFill>
            <a:ln w="28575">
              <a:solidFill>
                <a:srgbClr val="000000"/>
              </a:solidFill>
              <a:miter lim="800000"/>
              <a:headEnd/>
              <a:tailEnd/>
            </a:ln>
          </p:spPr>
          <p:txBody>
            <a:bodyPr/>
            <a:lstStyle/>
            <a:p>
              <a:pPr algn="ctr"/>
              <a:endParaRPr lang="zh-CN" altLang="en-US"/>
            </a:p>
          </p:txBody>
        </p:sp>
        <p:sp>
          <p:nvSpPr>
            <p:cNvPr id="151561" name="Rectangle 10">
              <a:extLst>
                <a:ext uri="{FF2B5EF4-FFF2-40B4-BE49-F238E27FC236}">
                  <a16:creationId xmlns:a16="http://schemas.microsoft.com/office/drawing/2014/main" id="{DE9CAFD6-CDE4-D235-9A0C-F05E6E3054AD}"/>
                </a:ext>
              </a:extLst>
            </p:cNvPr>
            <p:cNvSpPr>
              <a:spLocks noChangeArrowheads="1"/>
            </p:cNvSpPr>
            <p:nvPr/>
          </p:nvSpPr>
          <p:spPr bwMode="auto">
            <a:xfrm>
              <a:off x="3746" y="1488"/>
              <a:ext cx="326" cy="1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p>
              <a:pPr algn="just" eaLnBrk="0" hangingPunct="0"/>
              <a:r>
                <a:rPr lang="zh-CN" altLang="en-US">
                  <a:latin typeface="Times New Roman" panose="02020603050405020304" pitchFamily="18" charset="0"/>
                </a:rPr>
                <a:t>0</a:t>
              </a: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endParaRPr lang="zh-CN" altLang="en-US">
                <a:latin typeface="Times New Roman" panose="02020603050405020304" pitchFamily="18" charset="0"/>
              </a:endParaRPr>
            </a:p>
            <a:p>
              <a:pPr algn="just" eaLnBrk="0" hangingPunct="0"/>
              <a:r>
                <a:rPr lang="en-US" altLang="zh-CN">
                  <a:latin typeface="Times New Roman" panose="02020603050405020304" pitchFamily="18" charset="0"/>
                </a:rPr>
                <a:t>599</a:t>
              </a:r>
            </a:p>
          </p:txBody>
        </p:sp>
        <p:sp>
          <p:nvSpPr>
            <p:cNvPr id="151562" name="Rectangle 11">
              <a:extLst>
                <a:ext uri="{FF2B5EF4-FFF2-40B4-BE49-F238E27FC236}">
                  <a16:creationId xmlns:a16="http://schemas.microsoft.com/office/drawing/2014/main" id="{16ED71B9-85CC-FF11-D285-262E11253E0B}"/>
                </a:ext>
              </a:extLst>
            </p:cNvPr>
            <p:cNvSpPr>
              <a:spLocks noChangeArrowheads="1"/>
            </p:cNvSpPr>
            <p:nvPr/>
          </p:nvSpPr>
          <p:spPr bwMode="auto">
            <a:xfrm>
              <a:off x="862" y="3323"/>
              <a:ext cx="1143"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pPr algn="just" eaLnBrk="0" hangingPunct="0"/>
              <a:r>
                <a:rPr lang="zh-CN" altLang="en-US">
                  <a:latin typeface="Times New Roman" panose="02020603050405020304" pitchFamily="18" charset="0"/>
                </a:rPr>
                <a:t>分段</a:t>
              </a:r>
              <a:r>
                <a:rPr lang="en-US" altLang="zh-CN">
                  <a:latin typeface="Times New Roman" panose="02020603050405020304" pitchFamily="18" charset="0"/>
                </a:rPr>
                <a:t>MAIN</a:t>
              </a:r>
            </a:p>
            <a:p>
              <a:pPr algn="just" eaLnBrk="0" hangingPunct="0"/>
              <a:r>
                <a:rPr lang="en-US" altLang="zh-CN">
                  <a:latin typeface="Times New Roman" panose="02020603050405020304" pitchFamily="18" charset="0"/>
                </a:rPr>
                <a:t>（</a:t>
              </a:r>
              <a:r>
                <a:rPr lang="zh-CN" altLang="en-US">
                  <a:latin typeface="Times New Roman" panose="02020603050405020304" pitchFamily="18" charset="0"/>
                </a:rPr>
                <a:t>主程序）</a:t>
              </a:r>
            </a:p>
          </p:txBody>
        </p:sp>
        <p:sp>
          <p:nvSpPr>
            <p:cNvPr id="151563" name="Rectangle 12">
              <a:extLst>
                <a:ext uri="{FF2B5EF4-FFF2-40B4-BE49-F238E27FC236}">
                  <a16:creationId xmlns:a16="http://schemas.microsoft.com/office/drawing/2014/main" id="{C2E3BF53-4D7C-CBFF-B79F-A3E30481C263}"/>
                </a:ext>
              </a:extLst>
            </p:cNvPr>
            <p:cNvSpPr>
              <a:spLocks noChangeArrowheads="1"/>
            </p:cNvSpPr>
            <p:nvPr/>
          </p:nvSpPr>
          <p:spPr bwMode="auto">
            <a:xfrm>
              <a:off x="2534" y="2882"/>
              <a:ext cx="1081"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ctr" eaLnBrk="0" hangingPunct="0"/>
              <a:r>
                <a:rPr lang="zh-CN" altLang="en-US">
                  <a:latin typeface="Times New Roman" panose="02020603050405020304" pitchFamily="18" charset="0"/>
                </a:rPr>
                <a:t>分段</a:t>
              </a:r>
              <a:r>
                <a:rPr lang="en-US" altLang="zh-CN">
                  <a:latin typeface="Times New Roman" panose="02020603050405020304" pitchFamily="18" charset="0"/>
                </a:rPr>
                <a:t>X</a:t>
              </a:r>
            </a:p>
            <a:p>
              <a:pPr algn="ctr" eaLnBrk="0" hangingPunct="0"/>
              <a:r>
                <a:rPr lang="en-US" altLang="zh-CN">
                  <a:latin typeface="Times New Roman" panose="02020603050405020304" pitchFamily="18" charset="0"/>
                </a:rPr>
                <a:t>（</a:t>
              </a:r>
              <a:r>
                <a:rPr lang="zh-CN" altLang="en-US">
                  <a:latin typeface="Times New Roman" panose="02020603050405020304" pitchFamily="18" charset="0"/>
                </a:rPr>
                <a:t>子程序）</a:t>
              </a:r>
            </a:p>
          </p:txBody>
        </p:sp>
        <p:sp>
          <p:nvSpPr>
            <p:cNvPr id="151564" name="Rectangle 13">
              <a:extLst>
                <a:ext uri="{FF2B5EF4-FFF2-40B4-BE49-F238E27FC236}">
                  <a16:creationId xmlns:a16="http://schemas.microsoft.com/office/drawing/2014/main" id="{41E452E1-B580-2C2F-23E7-78F37543A06F}"/>
                </a:ext>
              </a:extLst>
            </p:cNvPr>
            <p:cNvSpPr>
              <a:spLocks noChangeArrowheads="1"/>
            </p:cNvSpPr>
            <p:nvPr/>
          </p:nvSpPr>
          <p:spPr bwMode="auto">
            <a:xfrm>
              <a:off x="4142" y="2616"/>
              <a:ext cx="850"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ctr" eaLnBrk="0" hangingPunct="0"/>
              <a:r>
                <a:rPr lang="zh-CN" altLang="en-US">
                  <a:latin typeface="Times New Roman" panose="02020603050405020304" pitchFamily="18" charset="0"/>
                </a:rPr>
                <a:t>分段</a:t>
              </a:r>
              <a:r>
                <a:rPr lang="en-US" altLang="zh-CN">
                  <a:latin typeface="Times New Roman" panose="02020603050405020304" pitchFamily="18" charset="0"/>
                </a:rPr>
                <a:t>A</a:t>
              </a:r>
            </a:p>
            <a:p>
              <a:pPr algn="ctr" eaLnBrk="0" hangingPunct="0"/>
              <a:r>
                <a:rPr lang="en-US" altLang="zh-CN">
                  <a:latin typeface="Times New Roman" panose="02020603050405020304" pitchFamily="18" charset="0"/>
                </a:rPr>
                <a:t>（</a:t>
              </a:r>
              <a:r>
                <a:rPr lang="zh-CN" altLang="en-US">
                  <a:latin typeface="Times New Roman" panose="02020603050405020304" pitchFamily="18" charset="0"/>
                </a:rPr>
                <a:t>数据）</a:t>
              </a:r>
            </a:p>
          </p:txBody>
        </p:sp>
      </p:grpSp>
    </p:spTree>
  </p:cSld>
  <p:clrMapOvr>
    <a:masterClrMapping/>
  </p:clrMapOvr>
  <p:transition spd="med">
    <p:zoom/>
  </p:transition>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C8BC7337-DB9E-ED7C-A12B-E93778DE2619}"/>
              </a:ext>
            </a:extLst>
          </p:cNvPr>
          <p:cNvSpPr>
            <a:spLocks noGrp="1" noChangeArrowheads="1"/>
          </p:cNvSpPr>
          <p:nvPr>
            <p:ph type="title"/>
          </p:nvPr>
        </p:nvSpPr>
        <p:spPr/>
        <p:txBody>
          <a:bodyPr/>
          <a:lstStyle/>
          <a:p>
            <a:pPr eaLnBrk="1" hangingPunct="1"/>
            <a:r>
              <a:rPr lang="zh-CN" altLang="en-US"/>
              <a:t>分段系统的逻辑地址结构</a:t>
            </a:r>
          </a:p>
        </p:txBody>
      </p:sp>
      <p:grpSp>
        <p:nvGrpSpPr>
          <p:cNvPr id="152578" name="Group 4">
            <a:extLst>
              <a:ext uri="{FF2B5EF4-FFF2-40B4-BE49-F238E27FC236}">
                <a16:creationId xmlns:a16="http://schemas.microsoft.com/office/drawing/2014/main" id="{98332A3E-2279-FC25-4EEA-D3ED5668C202}"/>
              </a:ext>
            </a:extLst>
          </p:cNvPr>
          <p:cNvGrpSpPr>
            <a:grpSpLocks/>
          </p:cNvGrpSpPr>
          <p:nvPr/>
        </p:nvGrpSpPr>
        <p:grpSpPr bwMode="auto">
          <a:xfrm>
            <a:off x="1371600" y="1125538"/>
            <a:ext cx="6248400" cy="990600"/>
            <a:chOff x="1056" y="1824"/>
            <a:chExt cx="3936" cy="624"/>
          </a:xfrm>
        </p:grpSpPr>
        <p:sp>
          <p:nvSpPr>
            <p:cNvPr id="152579" name="Rectangle 5">
              <a:extLst>
                <a:ext uri="{FF2B5EF4-FFF2-40B4-BE49-F238E27FC236}">
                  <a16:creationId xmlns:a16="http://schemas.microsoft.com/office/drawing/2014/main" id="{DC5F4408-BB1A-E8E3-62AB-F5669C951E79}"/>
                </a:ext>
              </a:extLst>
            </p:cNvPr>
            <p:cNvSpPr>
              <a:spLocks noChangeArrowheads="1"/>
            </p:cNvSpPr>
            <p:nvPr/>
          </p:nvSpPr>
          <p:spPr bwMode="auto">
            <a:xfrm>
              <a:off x="1081" y="1824"/>
              <a:ext cx="391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a:latin typeface="宋体" panose="02010600030101010101" pitchFamily="2" charset="-122"/>
                </a:rPr>
                <a:t>31              16  15                 0</a:t>
              </a:r>
            </a:p>
          </p:txBody>
        </p:sp>
        <p:sp>
          <p:nvSpPr>
            <p:cNvPr id="152580" name="Rectangle 6">
              <a:extLst>
                <a:ext uri="{FF2B5EF4-FFF2-40B4-BE49-F238E27FC236}">
                  <a16:creationId xmlns:a16="http://schemas.microsoft.com/office/drawing/2014/main" id="{9E40ED85-B6B7-98A4-6710-A8A9A72FD8D8}"/>
                </a:ext>
              </a:extLst>
            </p:cNvPr>
            <p:cNvSpPr>
              <a:spLocks noChangeArrowheads="1"/>
            </p:cNvSpPr>
            <p:nvPr/>
          </p:nvSpPr>
          <p:spPr bwMode="auto">
            <a:xfrm>
              <a:off x="1056" y="2076"/>
              <a:ext cx="3892" cy="370"/>
            </a:xfrm>
            <a:prstGeom prst="rect">
              <a:avLst/>
            </a:prstGeom>
            <a:solidFill>
              <a:srgbClr val="FFFFFF"/>
            </a:solidFill>
            <a:ln w="28575">
              <a:solidFill>
                <a:srgbClr val="000000"/>
              </a:solidFill>
              <a:miter lim="800000"/>
              <a:headEnd/>
              <a:tailEnd/>
            </a:ln>
          </p:spPr>
          <p:txBody>
            <a:bodyPr lIns="0" tIns="108000" rIns="0" bIns="0"/>
            <a:lstStyle/>
            <a:p>
              <a:pPr algn="just" eaLnBrk="0" hangingPunct="0"/>
              <a:r>
                <a:rPr lang="zh-CN" altLang="en-US">
                  <a:latin typeface="Times New Roman" panose="02020603050405020304" pitchFamily="18" charset="0"/>
                </a:rPr>
                <a:t>             段  号  </a:t>
              </a:r>
              <a:r>
                <a:rPr lang="en-US" altLang="zh-CN">
                  <a:latin typeface="Times New Roman" panose="02020603050405020304" pitchFamily="18" charset="0"/>
                </a:rPr>
                <a:t>S                 </a:t>
              </a:r>
              <a:r>
                <a:rPr lang="zh-CN" altLang="en-US">
                  <a:latin typeface="Times New Roman" panose="02020603050405020304" pitchFamily="18" charset="0"/>
                </a:rPr>
                <a:t>段 内 位 移 </a:t>
              </a:r>
              <a:r>
                <a:rPr lang="en-US" altLang="zh-CN">
                  <a:latin typeface="Times New Roman" panose="02020603050405020304" pitchFamily="18" charset="0"/>
                </a:rPr>
                <a:t>W</a:t>
              </a:r>
            </a:p>
          </p:txBody>
        </p:sp>
        <p:sp>
          <p:nvSpPr>
            <p:cNvPr id="152581" name="Line 7">
              <a:extLst>
                <a:ext uri="{FF2B5EF4-FFF2-40B4-BE49-F238E27FC236}">
                  <a16:creationId xmlns:a16="http://schemas.microsoft.com/office/drawing/2014/main" id="{35E0CD46-5C98-CF57-1E06-C69A676D0E45}"/>
                </a:ext>
              </a:extLst>
            </p:cNvPr>
            <p:cNvSpPr>
              <a:spLocks noChangeShapeType="1"/>
            </p:cNvSpPr>
            <p:nvPr/>
          </p:nvSpPr>
          <p:spPr bwMode="auto">
            <a:xfrm>
              <a:off x="2915" y="2078"/>
              <a:ext cx="1" cy="37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4872" name="AutoShape 8">
            <a:extLst>
              <a:ext uri="{FF2B5EF4-FFF2-40B4-BE49-F238E27FC236}">
                <a16:creationId xmlns:a16="http://schemas.microsoft.com/office/drawing/2014/main" id="{529376B0-ABD7-DD27-52B4-55BFA7CC32CD}"/>
              </a:ext>
            </a:extLst>
          </p:cNvPr>
          <p:cNvSpPr>
            <a:spLocks noChangeArrowheads="1"/>
          </p:cNvSpPr>
          <p:nvPr/>
        </p:nvSpPr>
        <p:spPr bwMode="auto">
          <a:xfrm>
            <a:off x="1619250" y="2378075"/>
            <a:ext cx="6192838" cy="1081088"/>
          </a:xfrm>
          <a:prstGeom prst="wedgeRoundRectCallout">
            <a:avLst>
              <a:gd name="adj1" fmla="val -53102"/>
              <a:gd name="adj2" fmla="val -71588"/>
              <a:gd name="adj3" fmla="val 16667"/>
            </a:avLst>
          </a:prstGeom>
          <a:solidFill>
            <a:srgbClr val="D0F6FF"/>
          </a:solidFill>
          <a:ln w="28575">
            <a:solidFill>
              <a:srgbClr val="000000"/>
            </a:solidFill>
            <a:miter lim="800000"/>
            <a:headEnd/>
            <a:tailEnd type="none" w="sm" len="med"/>
          </a:ln>
        </p:spPr>
        <p:txBody>
          <a:bodyPr/>
          <a:lstStyle/>
          <a:p>
            <a:pPr>
              <a:spcBef>
                <a:spcPct val="20000"/>
              </a:spcBef>
              <a:buClr>
                <a:schemeClr val="folHlink"/>
              </a:buClr>
              <a:buSzPct val="60000"/>
              <a:buFont typeface="Wingdings" pitchFamily="2" charset="2"/>
              <a:buChar char="n"/>
            </a:pPr>
            <a:r>
              <a:rPr lang="zh-CN" altLang="en-US" sz="2800" dirty="0"/>
              <a:t>该地址结构最多允许多少分段?每段最大长度为多少?</a:t>
            </a:r>
          </a:p>
        </p:txBody>
      </p:sp>
      <p:sp>
        <p:nvSpPr>
          <p:cNvPr id="164874" name="AutoShape 10">
            <a:extLst>
              <a:ext uri="{FF2B5EF4-FFF2-40B4-BE49-F238E27FC236}">
                <a16:creationId xmlns:a16="http://schemas.microsoft.com/office/drawing/2014/main" id="{7D81BF97-2240-3636-8615-AD835A03565D}"/>
              </a:ext>
            </a:extLst>
          </p:cNvPr>
          <p:cNvSpPr>
            <a:spLocks noChangeArrowheads="1"/>
          </p:cNvSpPr>
          <p:nvPr/>
        </p:nvSpPr>
        <p:spPr bwMode="auto">
          <a:xfrm>
            <a:off x="1258888" y="3789363"/>
            <a:ext cx="7489825" cy="2232025"/>
          </a:xfrm>
          <a:prstGeom prst="wave">
            <a:avLst>
              <a:gd name="adj1" fmla="val 13005"/>
              <a:gd name="adj2" fmla="val 0"/>
            </a:avLst>
          </a:prstGeom>
          <a:solidFill>
            <a:srgbClr val="D0F6FF"/>
          </a:solidFill>
          <a:ln w="28575">
            <a:solidFill>
              <a:srgbClr val="000000"/>
            </a:solidFill>
            <a:round/>
            <a:headEnd/>
            <a:tailEnd type="none" w="sm" len="med"/>
          </a:ln>
        </p:spPr>
        <p:txBody>
          <a:bodyPr wrap="none" lIns="0" tIns="144000" rIns="0" bIns="0" anchor="ctr"/>
          <a:lstStyle/>
          <a:p>
            <a:pPr algn="ctr">
              <a:spcBef>
                <a:spcPct val="20000"/>
              </a:spcBef>
              <a:buClr>
                <a:schemeClr val="folHlink"/>
              </a:buClr>
              <a:buSzPct val="60000"/>
              <a:buFont typeface="Wingdings" pitchFamily="2" charset="2"/>
              <a:buChar char="n"/>
            </a:pPr>
            <a:r>
              <a:rPr lang="zh-CN" altLang="en-US" sz="2800" dirty="0"/>
              <a:t>该地址结构允许作业最多有64</a:t>
            </a:r>
            <a:r>
              <a:rPr lang="en-US" altLang="zh-CN" sz="2800" dirty="0"/>
              <a:t>K</a:t>
            </a:r>
            <a:r>
              <a:rPr lang="zh-CN" altLang="en-US" sz="2800" dirty="0"/>
              <a:t>个段，</a:t>
            </a:r>
          </a:p>
          <a:p>
            <a:pPr algn="ctr">
              <a:spcBef>
                <a:spcPct val="20000"/>
              </a:spcBef>
              <a:buClr>
                <a:schemeClr val="folHlink"/>
              </a:buClr>
              <a:buSzPct val="60000"/>
              <a:buFont typeface="Wingdings" pitchFamily="2" charset="2"/>
              <a:buChar char="n"/>
            </a:pPr>
            <a:r>
              <a:rPr lang="zh-CN" altLang="en-US" sz="2800" dirty="0"/>
              <a:t>每段的最大长度为64</a:t>
            </a:r>
            <a:r>
              <a:rPr lang="en-US" altLang="zh-CN" sz="2800" dirty="0"/>
              <a:t>KB。</a:t>
            </a:r>
          </a:p>
          <a:p>
            <a:pPr algn="ctr"/>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164872"/>
                                        </p:tgtEl>
                                        <p:attrNameLst>
                                          <p:attrName>style.visibility</p:attrName>
                                        </p:attrNameLst>
                                      </p:cBhvr>
                                      <p:to>
                                        <p:strVal val="visible"/>
                                      </p:to>
                                    </p:set>
                                    <p:anim from="(-#ppt_w/2)" to="(#ppt_x)" calcmode="lin" valueType="num">
                                      <p:cBhvr>
                                        <p:cTn id="7" dur="600" fill="hold">
                                          <p:stCondLst>
                                            <p:cond delay="0"/>
                                          </p:stCondLst>
                                        </p:cTn>
                                        <p:tgtEl>
                                          <p:spTgt spid="164872"/>
                                        </p:tgtEl>
                                        <p:attrNameLst>
                                          <p:attrName>ppt_x</p:attrName>
                                        </p:attrNameLst>
                                      </p:cBhvr>
                                    </p:anim>
                                    <p:anim from="0" to="-1.0" calcmode="lin" valueType="num">
                                      <p:cBhvr>
                                        <p:cTn id="8" dur="200" decel="50000" autoRev="1" fill="hold">
                                          <p:stCondLst>
                                            <p:cond delay="600"/>
                                          </p:stCondLst>
                                        </p:cTn>
                                        <p:tgtEl>
                                          <p:spTgt spid="164872"/>
                                        </p:tgtEl>
                                        <p:attrNameLst>
                                          <p:attrName>xshear</p:attrName>
                                        </p:attrNameLst>
                                      </p:cBhvr>
                                    </p:anim>
                                    <p:animScale>
                                      <p:cBhvr>
                                        <p:cTn id="9" dur="200" decel="100000" autoRev="1" fill="hold">
                                          <p:stCondLst>
                                            <p:cond delay="600"/>
                                          </p:stCondLst>
                                        </p:cTn>
                                        <p:tgtEl>
                                          <p:spTgt spid="164872"/>
                                        </p:tgtEl>
                                      </p:cBhvr>
                                      <p:from x="100000" y="100000"/>
                                      <p:to x="80000" y="100000"/>
                                    </p:animScale>
                                    <p:anim by="(#ppt_h/3+#ppt_w*0.1)" calcmode="lin" valueType="num">
                                      <p:cBhvr additive="sum">
                                        <p:cTn id="10" dur="200" decel="100000" autoRev="1" fill="hold">
                                          <p:stCondLst>
                                            <p:cond delay="600"/>
                                          </p:stCondLst>
                                        </p:cTn>
                                        <p:tgtEl>
                                          <p:spTgt spid="164872"/>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164874"/>
                                        </p:tgtEl>
                                        <p:attrNameLst>
                                          <p:attrName>style.visibility</p:attrName>
                                        </p:attrNameLst>
                                      </p:cBhvr>
                                      <p:to>
                                        <p:strVal val="visible"/>
                                      </p:to>
                                    </p:set>
                                    <p:anim calcmode="lin" valueType="num">
                                      <p:cBhvr additive="base">
                                        <p:cTn id="15" dur="1000" fill="hold"/>
                                        <p:tgtEl>
                                          <p:spTgt spid="164874"/>
                                        </p:tgtEl>
                                        <p:attrNameLst>
                                          <p:attrName>ppt_x</p:attrName>
                                        </p:attrNameLst>
                                      </p:cBhvr>
                                      <p:tavLst>
                                        <p:tav tm="0">
                                          <p:val>
                                            <p:strVal val="#ppt_x"/>
                                          </p:val>
                                        </p:tav>
                                        <p:tav tm="100000">
                                          <p:val>
                                            <p:strVal val="#ppt_x"/>
                                          </p:val>
                                        </p:tav>
                                      </p:tavLst>
                                    </p:anim>
                                    <p:anim calcmode="lin" valueType="num">
                                      <p:cBhvr additive="base">
                                        <p:cTn id="16" dur="1000" fill="hold"/>
                                        <p:tgtEl>
                                          <p:spTgt spid="1648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72" grpId="0" animBg="1"/>
      <p:bldP spid="164874"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2">
            <a:extLst>
              <a:ext uri="{FF2B5EF4-FFF2-40B4-BE49-F238E27FC236}">
                <a16:creationId xmlns:a16="http://schemas.microsoft.com/office/drawing/2014/main" id="{7FD7415B-2540-BF35-A568-65C7D223D1B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rPr>
              <a:t>硬件 </a:t>
            </a:r>
            <a:endParaRPr lang="zh-CN" altLang="en-US" dirty="0"/>
          </a:p>
        </p:txBody>
      </p:sp>
      <p:sp>
        <p:nvSpPr>
          <p:cNvPr id="153602" name="Rectangle 3">
            <a:extLst>
              <a:ext uri="{FF2B5EF4-FFF2-40B4-BE49-F238E27FC236}">
                <a16:creationId xmlns:a16="http://schemas.microsoft.com/office/drawing/2014/main" id="{B7C059A1-CC1F-57C5-A0AB-89F9F911EF1C}"/>
              </a:ext>
            </a:extLst>
          </p:cNvPr>
          <p:cNvSpPr>
            <a:spLocks noGrp="1" noChangeArrowheads="1"/>
          </p:cNvSpPr>
          <p:nvPr>
            <p:ph idx="1"/>
          </p:nvPr>
        </p:nvSpPr>
        <p:spPr>
          <a:xfrm>
            <a:off x="609600" y="1268413"/>
            <a:ext cx="8345488" cy="4572000"/>
          </a:xfrm>
        </p:spPr>
        <p:txBody>
          <a:bodyPr/>
          <a:lstStyle/>
          <a:p>
            <a:pPr algn="just" eaLnBrk="1" hangingPunct="1">
              <a:lnSpc>
                <a:spcPct val="90000"/>
              </a:lnSpc>
            </a:pPr>
            <a:r>
              <a:rPr lang="zh-CN" altLang="en-US"/>
              <a:t>为了实现从逻辑地址到物理地址的变换，必须为每个进程建立一个段表，用来记录每段在内存的起始地址及相关信息。其中每个表项描述一个分段的信息，至少包含：</a:t>
            </a:r>
          </a:p>
          <a:p>
            <a:pPr lvl="1" algn="just" eaLnBrk="1" hangingPunct="1">
              <a:lnSpc>
                <a:spcPct val="90000"/>
              </a:lnSpc>
            </a:pPr>
            <a:r>
              <a:rPr lang="zh-CN" altLang="en-US"/>
              <a:t>段号</a:t>
            </a:r>
          </a:p>
          <a:p>
            <a:pPr lvl="1" algn="just" eaLnBrk="1" hangingPunct="1">
              <a:lnSpc>
                <a:spcPct val="90000"/>
              </a:lnSpc>
            </a:pPr>
            <a:r>
              <a:rPr lang="zh-CN" altLang="en-US"/>
              <a:t>段长</a:t>
            </a:r>
          </a:p>
          <a:p>
            <a:pPr lvl="1" algn="just" eaLnBrk="1" hangingPunct="1">
              <a:lnSpc>
                <a:spcPct val="90000"/>
              </a:lnSpc>
            </a:pPr>
            <a:r>
              <a:rPr lang="zh-CN" altLang="en-US"/>
              <a:t>段在内存的起始地址</a:t>
            </a:r>
          </a:p>
          <a:p>
            <a:pPr lvl="1" algn="just" eaLnBrk="1" hangingPunct="1">
              <a:lnSpc>
                <a:spcPct val="90000"/>
              </a:lnSpc>
            </a:pPr>
            <a:r>
              <a:rPr lang="zh-CN" altLang="en-US"/>
              <a:t>其他信息</a:t>
            </a:r>
          </a:p>
          <a:p>
            <a:pPr algn="just" eaLnBrk="1" hangingPunct="1">
              <a:lnSpc>
                <a:spcPct val="90000"/>
              </a:lnSpc>
            </a:pPr>
            <a:r>
              <a:rPr lang="zh-CN" altLang="en-US"/>
              <a:t>段表一般存放在内存。</a:t>
            </a:r>
          </a:p>
        </p:txBody>
      </p:sp>
    </p:spTree>
  </p:cSld>
  <p:clrMapOvr>
    <a:masterClrMapping/>
  </p:clrMapOvr>
  <p:transition spd="med">
    <p:zo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a:extLst>
              <a:ext uri="{FF2B5EF4-FFF2-40B4-BE49-F238E27FC236}">
                <a16:creationId xmlns:a16="http://schemas.microsoft.com/office/drawing/2014/main" id="{89F728D7-39C0-5B68-B4BA-13D2CEBE7C65}"/>
              </a:ext>
            </a:extLst>
          </p:cNvPr>
          <p:cNvSpPr>
            <a:spLocks noGrp="1" noChangeArrowheads="1"/>
          </p:cNvSpPr>
          <p:nvPr>
            <p:ph type="title"/>
          </p:nvPr>
        </p:nvSpPr>
        <p:spPr/>
        <p:txBody>
          <a:bodyPr/>
          <a:lstStyle/>
          <a:p>
            <a:pPr eaLnBrk="1" hangingPunct="1"/>
            <a:r>
              <a:rPr lang="zh-CN" altLang="en-US"/>
              <a:t>段表的作用</a:t>
            </a:r>
          </a:p>
        </p:txBody>
      </p:sp>
      <p:grpSp>
        <p:nvGrpSpPr>
          <p:cNvPr id="154626" name="Group 44">
            <a:extLst>
              <a:ext uri="{FF2B5EF4-FFF2-40B4-BE49-F238E27FC236}">
                <a16:creationId xmlns:a16="http://schemas.microsoft.com/office/drawing/2014/main" id="{F68724AA-7FA9-2411-94CB-4DB8797AE85B}"/>
              </a:ext>
            </a:extLst>
          </p:cNvPr>
          <p:cNvGrpSpPr>
            <a:grpSpLocks/>
          </p:cNvGrpSpPr>
          <p:nvPr/>
        </p:nvGrpSpPr>
        <p:grpSpPr bwMode="auto">
          <a:xfrm>
            <a:off x="1031875" y="1196975"/>
            <a:ext cx="7350125" cy="4419600"/>
            <a:chOff x="650" y="960"/>
            <a:chExt cx="4630" cy="2784"/>
          </a:xfrm>
        </p:grpSpPr>
        <p:sp>
          <p:nvSpPr>
            <p:cNvPr id="154627" name="Rectangle 5">
              <a:extLst>
                <a:ext uri="{FF2B5EF4-FFF2-40B4-BE49-F238E27FC236}">
                  <a16:creationId xmlns:a16="http://schemas.microsoft.com/office/drawing/2014/main" id="{EB493BD7-91FE-A992-4227-C8E9C691E6D8}"/>
                </a:ext>
              </a:extLst>
            </p:cNvPr>
            <p:cNvSpPr>
              <a:spLocks noChangeArrowheads="1"/>
            </p:cNvSpPr>
            <p:nvPr/>
          </p:nvSpPr>
          <p:spPr bwMode="auto">
            <a:xfrm>
              <a:off x="4170" y="3481"/>
              <a:ext cx="72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内存空间</a:t>
              </a:r>
            </a:p>
          </p:txBody>
        </p:sp>
        <p:sp>
          <p:nvSpPr>
            <p:cNvPr id="154628" name="Rectangle 6">
              <a:extLst>
                <a:ext uri="{FF2B5EF4-FFF2-40B4-BE49-F238E27FC236}">
                  <a16:creationId xmlns:a16="http://schemas.microsoft.com/office/drawing/2014/main" id="{2E31035A-CD30-EDE6-89CA-0E47FEE96D40}"/>
                </a:ext>
              </a:extLst>
            </p:cNvPr>
            <p:cNvSpPr>
              <a:spLocks noChangeArrowheads="1"/>
            </p:cNvSpPr>
            <p:nvPr/>
          </p:nvSpPr>
          <p:spPr bwMode="auto">
            <a:xfrm>
              <a:off x="807" y="3399"/>
              <a:ext cx="116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作业的地址空间</a:t>
              </a:r>
            </a:p>
          </p:txBody>
        </p:sp>
        <p:sp>
          <p:nvSpPr>
            <p:cNvPr id="154629" name="Rectangle 7">
              <a:extLst>
                <a:ext uri="{FF2B5EF4-FFF2-40B4-BE49-F238E27FC236}">
                  <a16:creationId xmlns:a16="http://schemas.microsoft.com/office/drawing/2014/main" id="{0EBE7F9C-2671-E29C-8E4E-B70015B351A9}"/>
                </a:ext>
              </a:extLst>
            </p:cNvPr>
            <p:cNvSpPr>
              <a:spLocks noChangeArrowheads="1"/>
            </p:cNvSpPr>
            <p:nvPr/>
          </p:nvSpPr>
          <p:spPr bwMode="auto">
            <a:xfrm>
              <a:off x="2648" y="3048"/>
              <a:ext cx="394"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段表</a:t>
              </a:r>
            </a:p>
          </p:txBody>
        </p:sp>
        <p:sp>
          <p:nvSpPr>
            <p:cNvPr id="154630" name="Rectangle 8" descr="宽上对角线">
              <a:extLst>
                <a:ext uri="{FF2B5EF4-FFF2-40B4-BE49-F238E27FC236}">
                  <a16:creationId xmlns:a16="http://schemas.microsoft.com/office/drawing/2014/main" id="{1C29E20D-50A2-6886-A1B8-9E471D658BFF}"/>
                </a:ext>
              </a:extLst>
            </p:cNvPr>
            <p:cNvSpPr>
              <a:spLocks noChangeArrowheads="1"/>
            </p:cNvSpPr>
            <p:nvPr/>
          </p:nvSpPr>
          <p:spPr bwMode="auto">
            <a:xfrm>
              <a:off x="4039" y="1082"/>
              <a:ext cx="829" cy="403"/>
            </a:xfrm>
            <a:prstGeom prst="rect">
              <a:avLst/>
            </a:prstGeom>
            <a:blipFill dpi="0" rotWithShape="0">
              <a:blip r:embed="rId2"/>
              <a:srcRect/>
              <a:tile tx="0" ty="0" sx="100000" sy="100000" flip="none" algn="tl"/>
            </a:blipFill>
            <a:ln w="25400">
              <a:solidFill>
                <a:srgbClr val="000000"/>
              </a:solidFill>
              <a:miter lim="800000"/>
              <a:headEnd/>
              <a:tailEnd/>
            </a:ln>
          </p:spPr>
          <p:txBody>
            <a:bodyPr lIns="0" tIns="0" rIns="0" bIns="0"/>
            <a:lstStyle/>
            <a:p>
              <a:pPr algn="just" eaLnBrk="0" hangingPunct="0"/>
              <a:endParaRPr lang="zh-CN" altLang="en-US" sz="2000">
                <a:latin typeface="Times New Roman" panose="02020603050405020304" pitchFamily="18" charset="0"/>
              </a:endParaRPr>
            </a:p>
          </p:txBody>
        </p:sp>
        <p:sp>
          <p:nvSpPr>
            <p:cNvPr id="154631" name="Rectangle 9">
              <a:extLst>
                <a:ext uri="{FF2B5EF4-FFF2-40B4-BE49-F238E27FC236}">
                  <a16:creationId xmlns:a16="http://schemas.microsoft.com/office/drawing/2014/main" id="{EC00F861-2E31-BADD-E718-815BC73F5891}"/>
                </a:ext>
              </a:extLst>
            </p:cNvPr>
            <p:cNvSpPr>
              <a:spLocks noChangeArrowheads="1"/>
            </p:cNvSpPr>
            <p:nvPr/>
          </p:nvSpPr>
          <p:spPr bwMode="auto">
            <a:xfrm>
              <a:off x="921" y="1163"/>
              <a:ext cx="833" cy="351"/>
            </a:xfrm>
            <a:prstGeom prst="rect">
              <a:avLst/>
            </a:prstGeom>
            <a:solidFill>
              <a:srgbClr val="FFFFFF"/>
            </a:solidFill>
            <a:ln w="25400">
              <a:solidFill>
                <a:srgbClr val="000000"/>
              </a:solidFill>
              <a:miter lim="800000"/>
              <a:headEnd/>
              <a:tailEnd/>
            </a:ln>
          </p:spPr>
          <p:txBody>
            <a:bodyPr lIns="0" tIns="0" rIns="0" bIns="0"/>
            <a:lstStyle/>
            <a:p>
              <a:pPr algn="just" eaLnBrk="0" hangingPunct="0"/>
              <a:endParaRPr lang="zh-CN" altLang="en-US" sz="2000">
                <a:latin typeface="Times New Roman" panose="02020603050405020304" pitchFamily="18" charset="0"/>
              </a:endParaRPr>
            </a:p>
          </p:txBody>
        </p:sp>
        <p:sp>
          <p:nvSpPr>
            <p:cNvPr id="154632" name="Rectangle 10">
              <a:extLst>
                <a:ext uri="{FF2B5EF4-FFF2-40B4-BE49-F238E27FC236}">
                  <a16:creationId xmlns:a16="http://schemas.microsoft.com/office/drawing/2014/main" id="{3E37BE0B-98D2-EE8D-648E-4D95767F3494}"/>
                </a:ext>
              </a:extLst>
            </p:cNvPr>
            <p:cNvSpPr>
              <a:spLocks noChangeArrowheads="1"/>
            </p:cNvSpPr>
            <p:nvPr/>
          </p:nvSpPr>
          <p:spPr bwMode="auto">
            <a:xfrm>
              <a:off x="2338" y="1689"/>
              <a:ext cx="960" cy="1265"/>
            </a:xfrm>
            <a:prstGeom prst="rect">
              <a:avLst/>
            </a:prstGeom>
            <a:solidFill>
              <a:srgbClr val="FFFFFF"/>
            </a:solidFill>
            <a:ln w="25400">
              <a:solidFill>
                <a:srgbClr val="000000"/>
              </a:solidFill>
              <a:miter lim="800000"/>
              <a:headEnd/>
              <a:tailEnd/>
            </a:ln>
          </p:spPr>
          <p:txBody>
            <a:bodyPr lIns="0" tIns="72000" rIns="0" bIns="36000"/>
            <a:lstStyle/>
            <a:p>
              <a:pPr algn="just" eaLnBrk="0" hangingPunct="0"/>
              <a:r>
                <a:rPr lang="zh-CN" altLang="en-US" sz="2000">
                  <a:latin typeface="Times New Roman" panose="02020603050405020304" pitchFamily="18" charset="0"/>
                </a:rPr>
                <a:t>   30</a:t>
              </a:r>
              <a:r>
                <a:rPr lang="en-US" altLang="zh-CN" sz="2000">
                  <a:latin typeface="Times New Roman" panose="02020603050405020304" pitchFamily="18" charset="0"/>
                </a:rPr>
                <a:t>K    40K</a:t>
              </a:r>
            </a:p>
            <a:p>
              <a:pPr algn="just" eaLnBrk="0" hangingPunct="0"/>
              <a:endParaRPr lang="en-US" altLang="zh-CN" sz="1400">
                <a:latin typeface="Times New Roman" panose="02020603050405020304" pitchFamily="18" charset="0"/>
              </a:endParaRPr>
            </a:p>
            <a:p>
              <a:pPr algn="just" eaLnBrk="0" hangingPunct="0"/>
              <a:r>
                <a:rPr lang="en-US" altLang="zh-CN" sz="2000">
                  <a:latin typeface="Times New Roman" panose="02020603050405020304" pitchFamily="18" charset="0"/>
                </a:rPr>
                <a:t>   20K    80K</a:t>
              </a:r>
            </a:p>
            <a:p>
              <a:pPr algn="just" eaLnBrk="0" hangingPunct="0"/>
              <a:endParaRPr lang="en-US" altLang="zh-CN" sz="1400">
                <a:latin typeface="Times New Roman" panose="02020603050405020304" pitchFamily="18" charset="0"/>
              </a:endParaRPr>
            </a:p>
            <a:p>
              <a:pPr algn="just" eaLnBrk="0" hangingPunct="0"/>
              <a:r>
                <a:rPr lang="en-US" altLang="zh-CN" sz="2000">
                  <a:latin typeface="Times New Roman" panose="02020603050405020304" pitchFamily="18" charset="0"/>
                </a:rPr>
                <a:t>   15K    120K</a:t>
              </a:r>
            </a:p>
            <a:p>
              <a:pPr algn="just" eaLnBrk="0" hangingPunct="0"/>
              <a:endParaRPr lang="en-US" altLang="zh-CN" sz="1400">
                <a:latin typeface="Times New Roman" panose="02020603050405020304" pitchFamily="18" charset="0"/>
              </a:endParaRPr>
            </a:p>
            <a:p>
              <a:pPr algn="just" eaLnBrk="0" hangingPunct="0"/>
              <a:r>
                <a:rPr lang="en-US" altLang="zh-CN" sz="2000">
                  <a:latin typeface="宋体" panose="02010600030101010101" pitchFamily="2" charset="-122"/>
                </a:rPr>
                <a:t> 10K   150K</a:t>
              </a:r>
              <a:endParaRPr lang="en-US" altLang="zh-CN" sz="2000">
                <a:latin typeface="Times New Roman" panose="02020603050405020304" pitchFamily="18" charset="0"/>
              </a:endParaRPr>
            </a:p>
          </p:txBody>
        </p:sp>
        <p:sp>
          <p:nvSpPr>
            <p:cNvPr id="154633" name="Rectangle 11">
              <a:extLst>
                <a:ext uri="{FF2B5EF4-FFF2-40B4-BE49-F238E27FC236}">
                  <a16:creationId xmlns:a16="http://schemas.microsoft.com/office/drawing/2014/main" id="{AA283317-5395-2AB7-322F-EB81693D121B}"/>
                </a:ext>
              </a:extLst>
            </p:cNvPr>
            <p:cNvSpPr>
              <a:spLocks noChangeArrowheads="1"/>
            </p:cNvSpPr>
            <p:nvPr/>
          </p:nvSpPr>
          <p:spPr bwMode="auto">
            <a:xfrm>
              <a:off x="1968" y="1401"/>
              <a:ext cx="1301"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段号   段长   基址</a:t>
              </a:r>
            </a:p>
          </p:txBody>
        </p:sp>
        <p:sp>
          <p:nvSpPr>
            <p:cNvPr id="154634" name="Line 12">
              <a:extLst>
                <a:ext uri="{FF2B5EF4-FFF2-40B4-BE49-F238E27FC236}">
                  <a16:creationId xmlns:a16="http://schemas.microsoft.com/office/drawing/2014/main" id="{F01746BB-704D-1333-0631-B8C67953DEDA}"/>
                </a:ext>
              </a:extLst>
            </p:cNvPr>
            <p:cNvSpPr>
              <a:spLocks noChangeShapeType="1"/>
            </p:cNvSpPr>
            <p:nvPr/>
          </p:nvSpPr>
          <p:spPr bwMode="auto">
            <a:xfrm flipH="1">
              <a:off x="2815" y="1689"/>
              <a:ext cx="1" cy="127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35" name="Line 13">
              <a:extLst>
                <a:ext uri="{FF2B5EF4-FFF2-40B4-BE49-F238E27FC236}">
                  <a16:creationId xmlns:a16="http://schemas.microsoft.com/office/drawing/2014/main" id="{8330AF14-BB06-56AC-41FD-91F7F6814E0B}"/>
                </a:ext>
              </a:extLst>
            </p:cNvPr>
            <p:cNvSpPr>
              <a:spLocks noChangeShapeType="1"/>
            </p:cNvSpPr>
            <p:nvPr/>
          </p:nvSpPr>
          <p:spPr bwMode="auto">
            <a:xfrm>
              <a:off x="2338" y="2626"/>
              <a:ext cx="9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36" name="Line 14">
              <a:extLst>
                <a:ext uri="{FF2B5EF4-FFF2-40B4-BE49-F238E27FC236}">
                  <a16:creationId xmlns:a16="http://schemas.microsoft.com/office/drawing/2014/main" id="{993BCC6F-CFB9-51AC-7FAF-ED32DD86944F}"/>
                </a:ext>
              </a:extLst>
            </p:cNvPr>
            <p:cNvSpPr>
              <a:spLocks noChangeShapeType="1"/>
            </p:cNvSpPr>
            <p:nvPr/>
          </p:nvSpPr>
          <p:spPr bwMode="auto">
            <a:xfrm>
              <a:off x="2338" y="1991"/>
              <a:ext cx="9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37" name="Line 15">
              <a:extLst>
                <a:ext uri="{FF2B5EF4-FFF2-40B4-BE49-F238E27FC236}">
                  <a16:creationId xmlns:a16="http://schemas.microsoft.com/office/drawing/2014/main" id="{3416715D-5D3E-8675-B825-42866E09EC26}"/>
                </a:ext>
              </a:extLst>
            </p:cNvPr>
            <p:cNvSpPr>
              <a:spLocks noChangeShapeType="1"/>
            </p:cNvSpPr>
            <p:nvPr/>
          </p:nvSpPr>
          <p:spPr bwMode="auto">
            <a:xfrm>
              <a:off x="2338" y="2335"/>
              <a:ext cx="9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38" name="Rectangle 16">
              <a:extLst>
                <a:ext uri="{FF2B5EF4-FFF2-40B4-BE49-F238E27FC236}">
                  <a16:creationId xmlns:a16="http://schemas.microsoft.com/office/drawing/2014/main" id="{69A7EBD4-8D28-6D06-3FAB-2BCFEE8A7EAA}"/>
                </a:ext>
              </a:extLst>
            </p:cNvPr>
            <p:cNvSpPr>
              <a:spLocks noChangeArrowheads="1"/>
            </p:cNvSpPr>
            <p:nvPr/>
          </p:nvSpPr>
          <p:spPr bwMode="auto">
            <a:xfrm>
              <a:off x="4920" y="1040"/>
              <a:ext cx="360" cy="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0</a:t>
              </a:r>
            </a:p>
            <a:p>
              <a:pPr algn="just" eaLnBrk="0" hangingPunct="0"/>
              <a:endParaRPr lang="zh-CN" altLang="en-US" sz="2000">
                <a:latin typeface="Times New Roman" panose="02020603050405020304" pitchFamily="18" charset="0"/>
              </a:endParaRPr>
            </a:p>
            <a:p>
              <a:pPr algn="just" eaLnBrk="0" hangingPunct="0"/>
              <a:r>
                <a:rPr lang="zh-CN" altLang="en-US" sz="2000">
                  <a:latin typeface="Times New Roman" panose="02020603050405020304" pitchFamily="18" charset="0"/>
                </a:rPr>
                <a:t>40</a:t>
              </a:r>
              <a:r>
                <a:rPr lang="en-US" altLang="zh-CN" sz="2000">
                  <a:latin typeface="Times New Roman" panose="02020603050405020304" pitchFamily="18" charset="0"/>
                </a:rPr>
                <a:t>K</a:t>
              </a:r>
            </a:p>
            <a:p>
              <a:pPr algn="just" eaLnBrk="0" hangingPunct="0"/>
              <a:endParaRPr lang="en-US" altLang="zh-CN" sz="2000">
                <a:latin typeface="Times New Roman" panose="02020603050405020304" pitchFamily="18" charset="0"/>
              </a:endParaRPr>
            </a:p>
            <a:p>
              <a:pPr algn="just" eaLnBrk="0" hangingPunct="0"/>
              <a:endParaRPr lang="en-US" altLang="zh-CN" sz="2000">
                <a:latin typeface="Times New Roman" panose="02020603050405020304" pitchFamily="18" charset="0"/>
              </a:endParaRPr>
            </a:p>
            <a:p>
              <a:pPr algn="just" eaLnBrk="0" hangingPunct="0"/>
              <a:r>
                <a:rPr lang="en-US" altLang="zh-CN" sz="2000">
                  <a:latin typeface="Times New Roman" panose="02020603050405020304" pitchFamily="18" charset="0"/>
                </a:rPr>
                <a:t>80K</a:t>
              </a:r>
            </a:p>
            <a:p>
              <a:pPr algn="just" eaLnBrk="0" hangingPunct="0"/>
              <a:endParaRPr lang="en-US" altLang="zh-CN" sz="2000">
                <a:latin typeface="Times New Roman" panose="02020603050405020304" pitchFamily="18" charset="0"/>
              </a:endParaRPr>
            </a:p>
            <a:p>
              <a:pPr algn="just" eaLnBrk="0" hangingPunct="0"/>
              <a:endParaRPr lang="en-US" altLang="zh-CN" sz="800">
                <a:latin typeface="Times New Roman" panose="02020603050405020304" pitchFamily="18" charset="0"/>
              </a:endParaRPr>
            </a:p>
            <a:p>
              <a:pPr algn="just" eaLnBrk="0" hangingPunct="0"/>
              <a:r>
                <a:rPr lang="en-US" altLang="zh-CN" sz="2000">
                  <a:latin typeface="Times New Roman" panose="02020603050405020304" pitchFamily="18" charset="0"/>
                </a:rPr>
                <a:t>120K</a:t>
              </a:r>
            </a:p>
            <a:p>
              <a:pPr algn="just" eaLnBrk="0" hangingPunct="0"/>
              <a:endParaRPr lang="en-US" altLang="zh-CN" sz="2000">
                <a:latin typeface="Times New Roman" panose="02020603050405020304" pitchFamily="18" charset="0"/>
              </a:endParaRPr>
            </a:p>
            <a:p>
              <a:pPr algn="just" eaLnBrk="0" hangingPunct="0"/>
              <a:endParaRPr lang="en-US" altLang="zh-CN" sz="800">
                <a:latin typeface="Times New Roman" panose="02020603050405020304" pitchFamily="18" charset="0"/>
              </a:endParaRPr>
            </a:p>
            <a:p>
              <a:pPr algn="just" eaLnBrk="0" hangingPunct="0"/>
              <a:r>
                <a:rPr lang="en-US" altLang="zh-CN" sz="2000">
                  <a:latin typeface="Times New Roman" panose="02020603050405020304" pitchFamily="18" charset="0"/>
                </a:rPr>
                <a:t>150K</a:t>
              </a:r>
            </a:p>
          </p:txBody>
        </p:sp>
        <p:sp>
          <p:nvSpPr>
            <p:cNvPr id="154639" name="Line 17">
              <a:extLst>
                <a:ext uri="{FF2B5EF4-FFF2-40B4-BE49-F238E27FC236}">
                  <a16:creationId xmlns:a16="http://schemas.microsoft.com/office/drawing/2014/main" id="{D8EBE65F-2DAC-2F2E-5511-FEA0D444C433}"/>
                </a:ext>
              </a:extLst>
            </p:cNvPr>
            <p:cNvSpPr>
              <a:spLocks noChangeShapeType="1"/>
            </p:cNvSpPr>
            <p:nvPr/>
          </p:nvSpPr>
          <p:spPr bwMode="auto">
            <a:xfrm flipV="1">
              <a:off x="3311" y="2048"/>
              <a:ext cx="742" cy="2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4640" name="Line 18">
              <a:extLst>
                <a:ext uri="{FF2B5EF4-FFF2-40B4-BE49-F238E27FC236}">
                  <a16:creationId xmlns:a16="http://schemas.microsoft.com/office/drawing/2014/main" id="{E58A7392-0D33-C2E2-8547-8453086AF9D0}"/>
                </a:ext>
              </a:extLst>
            </p:cNvPr>
            <p:cNvSpPr>
              <a:spLocks noChangeShapeType="1"/>
            </p:cNvSpPr>
            <p:nvPr/>
          </p:nvSpPr>
          <p:spPr bwMode="auto">
            <a:xfrm>
              <a:off x="3292" y="2479"/>
              <a:ext cx="748" cy="7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4641" name="Line 19">
              <a:extLst>
                <a:ext uri="{FF2B5EF4-FFF2-40B4-BE49-F238E27FC236}">
                  <a16:creationId xmlns:a16="http://schemas.microsoft.com/office/drawing/2014/main" id="{06444ABC-1AC5-30D3-9A23-DCF8DE1F37DC}"/>
                </a:ext>
              </a:extLst>
            </p:cNvPr>
            <p:cNvSpPr>
              <a:spLocks noChangeShapeType="1"/>
            </p:cNvSpPr>
            <p:nvPr/>
          </p:nvSpPr>
          <p:spPr bwMode="auto">
            <a:xfrm>
              <a:off x="3283" y="2730"/>
              <a:ext cx="782" cy="36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4642" name="Rectangle 20">
              <a:extLst>
                <a:ext uri="{FF2B5EF4-FFF2-40B4-BE49-F238E27FC236}">
                  <a16:creationId xmlns:a16="http://schemas.microsoft.com/office/drawing/2014/main" id="{0FA37CDC-CE6A-E10E-CCA8-54B7274493F7}"/>
                </a:ext>
              </a:extLst>
            </p:cNvPr>
            <p:cNvSpPr>
              <a:spLocks noChangeArrowheads="1"/>
            </p:cNvSpPr>
            <p:nvPr/>
          </p:nvSpPr>
          <p:spPr bwMode="auto">
            <a:xfrm>
              <a:off x="977" y="960"/>
              <a:ext cx="78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a:t>
              </a:r>
              <a:r>
                <a:rPr lang="en-US" altLang="zh-CN" sz="2000">
                  <a:latin typeface="Times New Roman" panose="02020603050405020304" pitchFamily="18" charset="0"/>
                </a:rPr>
                <a:t>MAIN)=0</a:t>
              </a:r>
            </a:p>
          </p:txBody>
        </p:sp>
        <p:sp>
          <p:nvSpPr>
            <p:cNvPr id="154643" name="Rectangle 21">
              <a:extLst>
                <a:ext uri="{FF2B5EF4-FFF2-40B4-BE49-F238E27FC236}">
                  <a16:creationId xmlns:a16="http://schemas.microsoft.com/office/drawing/2014/main" id="{477B2047-CCED-BFA8-13D9-C172DA4691E1}"/>
                </a:ext>
              </a:extLst>
            </p:cNvPr>
            <p:cNvSpPr>
              <a:spLocks noChangeArrowheads="1"/>
            </p:cNvSpPr>
            <p:nvPr/>
          </p:nvSpPr>
          <p:spPr bwMode="auto">
            <a:xfrm>
              <a:off x="650" y="1075"/>
              <a:ext cx="310" cy="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0</a:t>
              </a:r>
            </a:p>
            <a:p>
              <a:pPr algn="just" eaLnBrk="0" hangingPunct="0"/>
              <a:endParaRPr lang="zh-CN" altLang="en-US" sz="1400">
                <a:latin typeface="Times New Roman" panose="02020603050405020304" pitchFamily="18" charset="0"/>
              </a:endParaRPr>
            </a:p>
            <a:p>
              <a:pPr algn="just" eaLnBrk="0" hangingPunct="0"/>
              <a:r>
                <a:rPr lang="zh-CN" altLang="en-US" sz="2000">
                  <a:latin typeface="Times New Roman" panose="02020603050405020304" pitchFamily="18" charset="0"/>
                </a:rPr>
                <a:t>30</a:t>
              </a:r>
              <a:r>
                <a:rPr lang="en-US" altLang="zh-CN" sz="2000">
                  <a:latin typeface="Times New Roman" panose="02020603050405020304" pitchFamily="18" charset="0"/>
                </a:rPr>
                <a:t>K</a:t>
              </a:r>
            </a:p>
          </p:txBody>
        </p:sp>
        <p:sp>
          <p:nvSpPr>
            <p:cNvPr id="154644" name="Rectangle 22">
              <a:extLst>
                <a:ext uri="{FF2B5EF4-FFF2-40B4-BE49-F238E27FC236}">
                  <a16:creationId xmlns:a16="http://schemas.microsoft.com/office/drawing/2014/main" id="{C8346902-EAAB-154D-49B9-FED4C5D961D0}"/>
                </a:ext>
              </a:extLst>
            </p:cNvPr>
            <p:cNvSpPr>
              <a:spLocks noChangeArrowheads="1"/>
            </p:cNvSpPr>
            <p:nvPr/>
          </p:nvSpPr>
          <p:spPr bwMode="auto">
            <a:xfrm>
              <a:off x="912" y="1761"/>
              <a:ext cx="833" cy="350"/>
            </a:xfrm>
            <a:prstGeom prst="rect">
              <a:avLst/>
            </a:prstGeom>
            <a:solidFill>
              <a:srgbClr val="FFFFFF"/>
            </a:solidFill>
            <a:ln w="25400">
              <a:solidFill>
                <a:srgbClr val="000000"/>
              </a:solidFill>
              <a:miter lim="800000"/>
              <a:headEnd/>
              <a:tailEnd/>
            </a:ln>
          </p:spPr>
          <p:txBody>
            <a:bodyPr lIns="0" tIns="0" rIns="0" bIns="0"/>
            <a:lstStyle/>
            <a:p>
              <a:pPr algn="just" eaLnBrk="0" hangingPunct="0"/>
              <a:endParaRPr lang="zh-CN" altLang="en-US" sz="2000">
                <a:latin typeface="Times New Roman" panose="02020603050405020304" pitchFamily="18" charset="0"/>
              </a:endParaRPr>
            </a:p>
          </p:txBody>
        </p:sp>
        <p:sp>
          <p:nvSpPr>
            <p:cNvPr id="154645" name="Rectangle 23">
              <a:extLst>
                <a:ext uri="{FF2B5EF4-FFF2-40B4-BE49-F238E27FC236}">
                  <a16:creationId xmlns:a16="http://schemas.microsoft.com/office/drawing/2014/main" id="{10B87489-02C5-4A03-C9BC-BB7588001E8C}"/>
                </a:ext>
              </a:extLst>
            </p:cNvPr>
            <p:cNvSpPr>
              <a:spLocks noChangeArrowheads="1"/>
            </p:cNvSpPr>
            <p:nvPr/>
          </p:nvSpPr>
          <p:spPr bwMode="auto">
            <a:xfrm>
              <a:off x="1080" y="1582"/>
              <a:ext cx="52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a:t>
              </a:r>
              <a:r>
                <a:rPr lang="en-US" altLang="zh-CN" sz="2000">
                  <a:latin typeface="Times New Roman" panose="02020603050405020304" pitchFamily="18" charset="0"/>
                </a:rPr>
                <a:t>X)=1</a:t>
              </a:r>
            </a:p>
          </p:txBody>
        </p:sp>
        <p:sp>
          <p:nvSpPr>
            <p:cNvPr id="154646" name="Rectangle 24">
              <a:extLst>
                <a:ext uri="{FF2B5EF4-FFF2-40B4-BE49-F238E27FC236}">
                  <a16:creationId xmlns:a16="http://schemas.microsoft.com/office/drawing/2014/main" id="{78BF7217-8E55-0AA8-CED3-E19E8D15D4F9}"/>
                </a:ext>
              </a:extLst>
            </p:cNvPr>
            <p:cNvSpPr>
              <a:spLocks noChangeArrowheads="1"/>
            </p:cNvSpPr>
            <p:nvPr/>
          </p:nvSpPr>
          <p:spPr bwMode="auto">
            <a:xfrm>
              <a:off x="650" y="1680"/>
              <a:ext cx="31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0</a:t>
              </a:r>
            </a:p>
            <a:p>
              <a:pPr algn="just" eaLnBrk="0" hangingPunct="0"/>
              <a:endParaRPr lang="zh-CN" altLang="en-US" sz="1400">
                <a:latin typeface="Times New Roman" panose="02020603050405020304" pitchFamily="18" charset="0"/>
              </a:endParaRPr>
            </a:p>
            <a:p>
              <a:pPr algn="just" eaLnBrk="0" hangingPunct="0"/>
              <a:r>
                <a:rPr lang="zh-CN" altLang="en-US" sz="2000">
                  <a:latin typeface="Times New Roman" panose="02020603050405020304" pitchFamily="18" charset="0"/>
                </a:rPr>
                <a:t>20</a:t>
              </a:r>
              <a:r>
                <a:rPr lang="en-US" altLang="zh-CN" sz="2000">
                  <a:latin typeface="Times New Roman" panose="02020603050405020304" pitchFamily="18" charset="0"/>
                </a:rPr>
                <a:t>K</a:t>
              </a:r>
            </a:p>
          </p:txBody>
        </p:sp>
        <p:sp>
          <p:nvSpPr>
            <p:cNvPr id="154647" name="Rectangle 25">
              <a:extLst>
                <a:ext uri="{FF2B5EF4-FFF2-40B4-BE49-F238E27FC236}">
                  <a16:creationId xmlns:a16="http://schemas.microsoft.com/office/drawing/2014/main" id="{56D29BCA-2DFC-E335-74F0-197E9599F116}"/>
                </a:ext>
              </a:extLst>
            </p:cNvPr>
            <p:cNvSpPr>
              <a:spLocks noChangeArrowheads="1"/>
            </p:cNvSpPr>
            <p:nvPr/>
          </p:nvSpPr>
          <p:spPr bwMode="auto">
            <a:xfrm>
              <a:off x="912" y="2350"/>
              <a:ext cx="833" cy="350"/>
            </a:xfrm>
            <a:prstGeom prst="rect">
              <a:avLst/>
            </a:prstGeom>
            <a:solidFill>
              <a:srgbClr val="FFFFFF"/>
            </a:solidFill>
            <a:ln w="25400">
              <a:solidFill>
                <a:srgbClr val="000000"/>
              </a:solidFill>
              <a:miter lim="800000"/>
              <a:headEnd/>
              <a:tailEnd/>
            </a:ln>
          </p:spPr>
          <p:txBody>
            <a:bodyPr lIns="0" tIns="0" rIns="0" bIns="0"/>
            <a:lstStyle/>
            <a:p>
              <a:pPr algn="just" eaLnBrk="0" hangingPunct="0"/>
              <a:endParaRPr lang="zh-CN" altLang="en-US" sz="2000">
                <a:latin typeface="Times New Roman" panose="02020603050405020304" pitchFamily="18" charset="0"/>
              </a:endParaRPr>
            </a:p>
          </p:txBody>
        </p:sp>
        <p:sp>
          <p:nvSpPr>
            <p:cNvPr id="154648" name="Rectangle 26">
              <a:extLst>
                <a:ext uri="{FF2B5EF4-FFF2-40B4-BE49-F238E27FC236}">
                  <a16:creationId xmlns:a16="http://schemas.microsoft.com/office/drawing/2014/main" id="{DAA0DAA9-12BC-33F4-11C0-15F97E7EBE89}"/>
                </a:ext>
              </a:extLst>
            </p:cNvPr>
            <p:cNvSpPr>
              <a:spLocks noChangeArrowheads="1"/>
            </p:cNvSpPr>
            <p:nvPr/>
          </p:nvSpPr>
          <p:spPr bwMode="auto">
            <a:xfrm>
              <a:off x="1080" y="2171"/>
              <a:ext cx="52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a:t>
              </a:r>
              <a:r>
                <a:rPr lang="en-US" altLang="zh-CN" sz="2000">
                  <a:latin typeface="Times New Roman" panose="02020603050405020304" pitchFamily="18" charset="0"/>
                </a:rPr>
                <a:t>D)=2</a:t>
              </a:r>
            </a:p>
          </p:txBody>
        </p:sp>
        <p:sp>
          <p:nvSpPr>
            <p:cNvPr id="154649" name="Rectangle 27">
              <a:extLst>
                <a:ext uri="{FF2B5EF4-FFF2-40B4-BE49-F238E27FC236}">
                  <a16:creationId xmlns:a16="http://schemas.microsoft.com/office/drawing/2014/main" id="{2AA31F7E-90D5-F705-75FC-E4675C1ECC79}"/>
                </a:ext>
              </a:extLst>
            </p:cNvPr>
            <p:cNvSpPr>
              <a:spLocks noChangeArrowheads="1"/>
            </p:cNvSpPr>
            <p:nvPr/>
          </p:nvSpPr>
          <p:spPr bwMode="auto">
            <a:xfrm>
              <a:off x="650" y="2269"/>
              <a:ext cx="310"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0</a:t>
              </a:r>
            </a:p>
            <a:p>
              <a:pPr algn="just" eaLnBrk="0" hangingPunct="0"/>
              <a:endParaRPr lang="zh-CN" altLang="en-US" sz="1400">
                <a:latin typeface="Times New Roman" panose="02020603050405020304" pitchFamily="18" charset="0"/>
              </a:endParaRPr>
            </a:p>
            <a:p>
              <a:pPr algn="just" eaLnBrk="0" hangingPunct="0"/>
              <a:r>
                <a:rPr lang="zh-CN" altLang="en-US" sz="2000">
                  <a:latin typeface="Times New Roman" panose="02020603050405020304" pitchFamily="18" charset="0"/>
                </a:rPr>
                <a:t>15</a:t>
              </a:r>
              <a:r>
                <a:rPr lang="en-US" altLang="zh-CN" sz="2000">
                  <a:latin typeface="Times New Roman" panose="02020603050405020304" pitchFamily="18" charset="0"/>
                </a:rPr>
                <a:t>K</a:t>
              </a:r>
            </a:p>
          </p:txBody>
        </p:sp>
        <p:sp>
          <p:nvSpPr>
            <p:cNvPr id="154650" name="Rectangle 28">
              <a:extLst>
                <a:ext uri="{FF2B5EF4-FFF2-40B4-BE49-F238E27FC236}">
                  <a16:creationId xmlns:a16="http://schemas.microsoft.com/office/drawing/2014/main" id="{2422FFC8-3572-F6BF-0DAC-4541ECE186C3}"/>
                </a:ext>
              </a:extLst>
            </p:cNvPr>
            <p:cNvSpPr>
              <a:spLocks noChangeArrowheads="1"/>
            </p:cNvSpPr>
            <p:nvPr/>
          </p:nvSpPr>
          <p:spPr bwMode="auto">
            <a:xfrm>
              <a:off x="921" y="2947"/>
              <a:ext cx="833" cy="350"/>
            </a:xfrm>
            <a:prstGeom prst="rect">
              <a:avLst/>
            </a:prstGeom>
            <a:solidFill>
              <a:srgbClr val="FFFFFF"/>
            </a:solidFill>
            <a:ln w="25400">
              <a:solidFill>
                <a:srgbClr val="000000"/>
              </a:solidFill>
              <a:miter lim="800000"/>
              <a:headEnd/>
              <a:tailEnd/>
            </a:ln>
          </p:spPr>
          <p:txBody>
            <a:bodyPr lIns="0" tIns="0" rIns="0" bIns="0"/>
            <a:lstStyle/>
            <a:p>
              <a:pPr algn="just" eaLnBrk="0" hangingPunct="0"/>
              <a:endParaRPr lang="zh-CN" altLang="en-US" sz="2000">
                <a:latin typeface="Times New Roman" panose="02020603050405020304" pitchFamily="18" charset="0"/>
              </a:endParaRPr>
            </a:p>
          </p:txBody>
        </p:sp>
        <p:sp>
          <p:nvSpPr>
            <p:cNvPr id="154651" name="Rectangle 29">
              <a:extLst>
                <a:ext uri="{FF2B5EF4-FFF2-40B4-BE49-F238E27FC236}">
                  <a16:creationId xmlns:a16="http://schemas.microsoft.com/office/drawing/2014/main" id="{C97913C1-8DBE-6E3B-4D9C-D511514FCB21}"/>
                </a:ext>
              </a:extLst>
            </p:cNvPr>
            <p:cNvSpPr>
              <a:spLocks noChangeArrowheads="1"/>
            </p:cNvSpPr>
            <p:nvPr/>
          </p:nvSpPr>
          <p:spPr bwMode="auto">
            <a:xfrm>
              <a:off x="1089" y="2768"/>
              <a:ext cx="52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a:t>
              </a:r>
              <a:r>
                <a:rPr lang="en-US" altLang="zh-CN" sz="2000">
                  <a:latin typeface="Times New Roman" panose="02020603050405020304" pitchFamily="18" charset="0"/>
                </a:rPr>
                <a:t>S)=3</a:t>
              </a:r>
            </a:p>
          </p:txBody>
        </p:sp>
        <p:sp>
          <p:nvSpPr>
            <p:cNvPr id="154652" name="Rectangle 30">
              <a:extLst>
                <a:ext uri="{FF2B5EF4-FFF2-40B4-BE49-F238E27FC236}">
                  <a16:creationId xmlns:a16="http://schemas.microsoft.com/office/drawing/2014/main" id="{2A65181E-7C88-CF65-5EE4-3108DA124F58}"/>
                </a:ext>
              </a:extLst>
            </p:cNvPr>
            <p:cNvSpPr>
              <a:spLocks noChangeArrowheads="1"/>
            </p:cNvSpPr>
            <p:nvPr/>
          </p:nvSpPr>
          <p:spPr bwMode="auto">
            <a:xfrm>
              <a:off x="650" y="2866"/>
              <a:ext cx="310"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0</a:t>
              </a:r>
            </a:p>
            <a:p>
              <a:pPr algn="just" eaLnBrk="0" hangingPunct="0"/>
              <a:endParaRPr lang="zh-CN" altLang="en-US" sz="1400">
                <a:latin typeface="Times New Roman" panose="02020603050405020304" pitchFamily="18" charset="0"/>
              </a:endParaRPr>
            </a:p>
            <a:p>
              <a:pPr algn="just" eaLnBrk="0" hangingPunct="0"/>
              <a:r>
                <a:rPr lang="zh-CN" altLang="en-US" sz="2000">
                  <a:latin typeface="Times New Roman" panose="02020603050405020304" pitchFamily="18" charset="0"/>
                </a:rPr>
                <a:t>20</a:t>
              </a:r>
              <a:r>
                <a:rPr lang="en-US" altLang="zh-CN" sz="2000">
                  <a:latin typeface="Times New Roman" panose="02020603050405020304" pitchFamily="18" charset="0"/>
                </a:rPr>
                <a:t>K</a:t>
              </a:r>
            </a:p>
          </p:txBody>
        </p:sp>
        <p:sp>
          <p:nvSpPr>
            <p:cNvPr id="154653" name="Rectangle 31">
              <a:extLst>
                <a:ext uri="{FF2B5EF4-FFF2-40B4-BE49-F238E27FC236}">
                  <a16:creationId xmlns:a16="http://schemas.microsoft.com/office/drawing/2014/main" id="{7F122756-1A74-E0A2-C4AC-FF11594555E0}"/>
                </a:ext>
              </a:extLst>
            </p:cNvPr>
            <p:cNvSpPr>
              <a:spLocks noChangeArrowheads="1"/>
            </p:cNvSpPr>
            <p:nvPr/>
          </p:nvSpPr>
          <p:spPr bwMode="auto">
            <a:xfrm>
              <a:off x="2126" y="1745"/>
              <a:ext cx="207" cy="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0</a:t>
              </a:r>
            </a:p>
            <a:p>
              <a:pPr algn="just" eaLnBrk="0" hangingPunct="0"/>
              <a:endParaRPr lang="zh-CN" altLang="en-US" sz="2000">
                <a:latin typeface="Times New Roman" panose="02020603050405020304" pitchFamily="18" charset="0"/>
              </a:endParaRPr>
            </a:p>
            <a:p>
              <a:pPr algn="just" eaLnBrk="0" hangingPunct="0"/>
              <a:r>
                <a:rPr lang="zh-CN" altLang="en-US" sz="2000">
                  <a:latin typeface="Times New Roman" panose="02020603050405020304" pitchFamily="18" charset="0"/>
                </a:rPr>
                <a:t>1</a:t>
              </a:r>
            </a:p>
            <a:p>
              <a:pPr algn="just" eaLnBrk="0" hangingPunct="0"/>
              <a:endParaRPr lang="zh-CN" altLang="en-US" sz="2000">
                <a:latin typeface="Times New Roman" panose="02020603050405020304" pitchFamily="18" charset="0"/>
              </a:endParaRPr>
            </a:p>
            <a:p>
              <a:pPr algn="just" eaLnBrk="0" hangingPunct="0"/>
              <a:r>
                <a:rPr lang="zh-CN" altLang="en-US" sz="2000">
                  <a:latin typeface="Times New Roman" panose="02020603050405020304" pitchFamily="18" charset="0"/>
                </a:rPr>
                <a:t>2</a:t>
              </a:r>
            </a:p>
            <a:p>
              <a:pPr algn="just" eaLnBrk="0" hangingPunct="0"/>
              <a:endParaRPr lang="zh-CN" altLang="en-US" sz="2000">
                <a:latin typeface="Times New Roman" panose="02020603050405020304" pitchFamily="18" charset="0"/>
              </a:endParaRPr>
            </a:p>
            <a:p>
              <a:pPr algn="just" eaLnBrk="0" hangingPunct="0"/>
              <a:r>
                <a:rPr lang="zh-CN" altLang="en-US" sz="2000">
                  <a:latin typeface="Times New Roman" panose="02020603050405020304" pitchFamily="18" charset="0"/>
                </a:rPr>
                <a:t>3</a:t>
              </a:r>
            </a:p>
          </p:txBody>
        </p:sp>
        <p:sp>
          <p:nvSpPr>
            <p:cNvPr id="154654" name="Rectangle 32">
              <a:extLst>
                <a:ext uri="{FF2B5EF4-FFF2-40B4-BE49-F238E27FC236}">
                  <a16:creationId xmlns:a16="http://schemas.microsoft.com/office/drawing/2014/main" id="{7BE20CE8-35B0-578F-7BB8-3FF415074F8B}"/>
                </a:ext>
              </a:extLst>
            </p:cNvPr>
            <p:cNvSpPr>
              <a:spLocks noChangeArrowheads="1"/>
            </p:cNvSpPr>
            <p:nvPr/>
          </p:nvSpPr>
          <p:spPr bwMode="auto">
            <a:xfrm>
              <a:off x="4039" y="1483"/>
              <a:ext cx="829" cy="362"/>
            </a:xfrm>
            <a:prstGeom prst="rect">
              <a:avLst/>
            </a:prstGeom>
            <a:solidFill>
              <a:srgbClr val="FFFFFF"/>
            </a:solidFill>
            <a:ln w="25400">
              <a:solidFill>
                <a:srgbClr val="000000"/>
              </a:solidFill>
              <a:miter lim="800000"/>
              <a:headEnd/>
              <a:tailEnd/>
            </a:ln>
          </p:spPr>
          <p:txBody>
            <a:bodyPr lIns="0" tIns="0" rIns="0" bIns="0"/>
            <a:lstStyle/>
            <a:p>
              <a:pPr algn="just" eaLnBrk="0" hangingPunct="0"/>
              <a:r>
                <a:rPr lang="zh-CN" altLang="en-US" sz="2000">
                  <a:latin typeface="Times New Roman" panose="02020603050405020304" pitchFamily="18" charset="0"/>
                </a:rPr>
                <a:t> (</a:t>
              </a:r>
              <a:r>
                <a:rPr lang="en-US" altLang="zh-CN" sz="2000">
                  <a:latin typeface="Times New Roman" panose="02020603050405020304" pitchFamily="18" charset="0"/>
                </a:rPr>
                <a:t>MAIN)=0</a:t>
              </a:r>
            </a:p>
            <a:p>
              <a:pPr algn="just" eaLnBrk="0" hangingPunct="0"/>
              <a:r>
                <a:rPr lang="en-US" altLang="zh-CN" sz="2000">
                  <a:latin typeface="Times New Roman" panose="02020603050405020304" pitchFamily="18" charset="0"/>
                </a:rPr>
                <a:t>      30K</a:t>
              </a:r>
            </a:p>
          </p:txBody>
        </p:sp>
        <p:sp>
          <p:nvSpPr>
            <p:cNvPr id="154655" name="Rectangle 33" descr="宽上对角线">
              <a:extLst>
                <a:ext uri="{FF2B5EF4-FFF2-40B4-BE49-F238E27FC236}">
                  <a16:creationId xmlns:a16="http://schemas.microsoft.com/office/drawing/2014/main" id="{D187B8CE-C15F-4953-66D7-511E56C23ECA}"/>
                </a:ext>
              </a:extLst>
            </p:cNvPr>
            <p:cNvSpPr>
              <a:spLocks noChangeArrowheads="1"/>
            </p:cNvSpPr>
            <p:nvPr/>
          </p:nvSpPr>
          <p:spPr bwMode="auto">
            <a:xfrm>
              <a:off x="4039" y="1843"/>
              <a:ext cx="829" cy="207"/>
            </a:xfrm>
            <a:prstGeom prst="rect">
              <a:avLst/>
            </a:prstGeom>
            <a:blipFill dpi="0" rotWithShape="0">
              <a:blip r:embed="rId2"/>
              <a:srcRect/>
              <a:tile tx="0" ty="0" sx="100000" sy="100000" flip="none" algn="tl"/>
            </a:blipFill>
            <a:ln w="25400">
              <a:solidFill>
                <a:srgbClr val="000000"/>
              </a:solidFill>
              <a:miter lim="800000"/>
              <a:headEnd/>
              <a:tailEnd/>
            </a:ln>
          </p:spPr>
          <p:txBody>
            <a:bodyPr lIns="0" tIns="0" rIns="0" bIns="0"/>
            <a:lstStyle/>
            <a:p>
              <a:pPr algn="just" eaLnBrk="0" hangingPunct="0"/>
              <a:endParaRPr lang="zh-CN" altLang="en-US" sz="2000">
                <a:latin typeface="Times New Roman" panose="02020603050405020304" pitchFamily="18" charset="0"/>
              </a:endParaRPr>
            </a:p>
          </p:txBody>
        </p:sp>
        <p:sp>
          <p:nvSpPr>
            <p:cNvPr id="154656" name="Rectangle 34">
              <a:extLst>
                <a:ext uri="{FF2B5EF4-FFF2-40B4-BE49-F238E27FC236}">
                  <a16:creationId xmlns:a16="http://schemas.microsoft.com/office/drawing/2014/main" id="{B02D6CE7-BF59-F063-D697-9173F36D175E}"/>
                </a:ext>
              </a:extLst>
            </p:cNvPr>
            <p:cNvSpPr>
              <a:spLocks noChangeArrowheads="1"/>
            </p:cNvSpPr>
            <p:nvPr/>
          </p:nvSpPr>
          <p:spPr bwMode="auto">
            <a:xfrm>
              <a:off x="4039" y="2031"/>
              <a:ext cx="829" cy="362"/>
            </a:xfrm>
            <a:prstGeom prst="rect">
              <a:avLst/>
            </a:prstGeom>
            <a:solidFill>
              <a:srgbClr val="FFFFFF"/>
            </a:solidFill>
            <a:ln w="25400">
              <a:solidFill>
                <a:srgbClr val="000000"/>
              </a:solidFill>
              <a:miter lim="800000"/>
              <a:headEnd/>
              <a:tailEnd/>
            </a:ln>
          </p:spPr>
          <p:txBody>
            <a:bodyPr lIns="0" tIns="0" rIns="0" bIns="0"/>
            <a:lstStyle/>
            <a:p>
              <a:pPr algn="just" eaLnBrk="0" hangingPunct="0"/>
              <a:r>
                <a:rPr lang="zh-CN" altLang="en-US" sz="2000">
                  <a:latin typeface="Times New Roman" panose="02020603050405020304" pitchFamily="18" charset="0"/>
                </a:rPr>
                <a:t>      (</a:t>
              </a:r>
              <a:r>
                <a:rPr lang="en-US" altLang="zh-CN" sz="2000">
                  <a:latin typeface="Times New Roman" panose="02020603050405020304" pitchFamily="18" charset="0"/>
                </a:rPr>
                <a:t>X)=1</a:t>
              </a:r>
            </a:p>
            <a:p>
              <a:pPr algn="just" eaLnBrk="0" hangingPunct="0"/>
              <a:r>
                <a:rPr lang="en-US" altLang="zh-CN" sz="2000">
                  <a:latin typeface="Times New Roman" panose="02020603050405020304" pitchFamily="18" charset="0"/>
                </a:rPr>
                <a:t>      20K</a:t>
              </a:r>
            </a:p>
          </p:txBody>
        </p:sp>
        <p:sp>
          <p:nvSpPr>
            <p:cNvPr id="154657" name="Rectangle 35" descr="宽上对角线">
              <a:extLst>
                <a:ext uri="{FF2B5EF4-FFF2-40B4-BE49-F238E27FC236}">
                  <a16:creationId xmlns:a16="http://schemas.microsoft.com/office/drawing/2014/main" id="{BFD8D4CF-7911-B33C-1F91-842F0B04982E}"/>
                </a:ext>
              </a:extLst>
            </p:cNvPr>
            <p:cNvSpPr>
              <a:spLocks noChangeArrowheads="1"/>
            </p:cNvSpPr>
            <p:nvPr/>
          </p:nvSpPr>
          <p:spPr bwMode="auto">
            <a:xfrm>
              <a:off x="4039" y="2391"/>
              <a:ext cx="829" cy="150"/>
            </a:xfrm>
            <a:prstGeom prst="rect">
              <a:avLst/>
            </a:prstGeom>
            <a:blipFill dpi="0" rotWithShape="0">
              <a:blip r:embed="rId2"/>
              <a:srcRect/>
              <a:tile tx="0" ty="0" sx="100000" sy="100000" flip="none" algn="tl"/>
            </a:blipFill>
            <a:ln w="25400">
              <a:solidFill>
                <a:srgbClr val="000000"/>
              </a:solidFill>
              <a:miter lim="800000"/>
              <a:headEnd/>
              <a:tailEnd/>
            </a:ln>
          </p:spPr>
          <p:txBody>
            <a:bodyPr lIns="0" tIns="0" rIns="0" bIns="0"/>
            <a:lstStyle/>
            <a:p>
              <a:pPr algn="just" eaLnBrk="0" hangingPunct="0"/>
              <a:endParaRPr lang="zh-CN" altLang="en-US" sz="2000">
                <a:latin typeface="Times New Roman" panose="02020603050405020304" pitchFamily="18" charset="0"/>
              </a:endParaRPr>
            </a:p>
          </p:txBody>
        </p:sp>
        <p:sp>
          <p:nvSpPr>
            <p:cNvPr id="154658" name="Rectangle 36">
              <a:extLst>
                <a:ext uri="{FF2B5EF4-FFF2-40B4-BE49-F238E27FC236}">
                  <a16:creationId xmlns:a16="http://schemas.microsoft.com/office/drawing/2014/main" id="{25BBD83C-8435-AF62-41C0-EB6F640ADD22}"/>
                </a:ext>
              </a:extLst>
            </p:cNvPr>
            <p:cNvSpPr>
              <a:spLocks noChangeArrowheads="1"/>
            </p:cNvSpPr>
            <p:nvPr/>
          </p:nvSpPr>
          <p:spPr bwMode="auto">
            <a:xfrm>
              <a:off x="4039" y="2538"/>
              <a:ext cx="829" cy="363"/>
            </a:xfrm>
            <a:prstGeom prst="rect">
              <a:avLst/>
            </a:prstGeom>
            <a:solidFill>
              <a:srgbClr val="FFFFFF"/>
            </a:solidFill>
            <a:ln w="25400">
              <a:solidFill>
                <a:srgbClr val="000000"/>
              </a:solidFill>
              <a:miter lim="800000"/>
              <a:headEnd/>
              <a:tailEnd/>
            </a:ln>
          </p:spPr>
          <p:txBody>
            <a:bodyPr lIns="0" tIns="0" rIns="0" bIns="0"/>
            <a:lstStyle/>
            <a:p>
              <a:pPr algn="just" eaLnBrk="0" hangingPunct="0"/>
              <a:r>
                <a:rPr lang="zh-CN" altLang="en-US" sz="2000">
                  <a:latin typeface="Times New Roman" panose="02020603050405020304" pitchFamily="18" charset="0"/>
                </a:rPr>
                <a:t>      (</a:t>
              </a:r>
              <a:r>
                <a:rPr lang="en-US" altLang="zh-CN" sz="2000">
                  <a:latin typeface="Times New Roman" panose="02020603050405020304" pitchFamily="18" charset="0"/>
                </a:rPr>
                <a:t>D)=2</a:t>
              </a:r>
            </a:p>
            <a:p>
              <a:pPr algn="just" eaLnBrk="0" hangingPunct="0"/>
              <a:r>
                <a:rPr lang="en-US" altLang="zh-CN" sz="2000">
                  <a:latin typeface="Times New Roman" panose="02020603050405020304" pitchFamily="18" charset="0"/>
                </a:rPr>
                <a:t>       15K</a:t>
              </a:r>
            </a:p>
          </p:txBody>
        </p:sp>
        <p:sp>
          <p:nvSpPr>
            <p:cNvPr id="154659" name="Rectangle 37" descr="宽上对角线">
              <a:extLst>
                <a:ext uri="{FF2B5EF4-FFF2-40B4-BE49-F238E27FC236}">
                  <a16:creationId xmlns:a16="http://schemas.microsoft.com/office/drawing/2014/main" id="{597790A8-0AA0-3310-6E95-87FCD38D1C59}"/>
                </a:ext>
              </a:extLst>
            </p:cNvPr>
            <p:cNvSpPr>
              <a:spLocks noChangeArrowheads="1"/>
            </p:cNvSpPr>
            <p:nvPr/>
          </p:nvSpPr>
          <p:spPr bwMode="auto">
            <a:xfrm>
              <a:off x="4039" y="2898"/>
              <a:ext cx="829" cy="150"/>
            </a:xfrm>
            <a:prstGeom prst="rect">
              <a:avLst/>
            </a:prstGeom>
            <a:blipFill dpi="0" rotWithShape="0">
              <a:blip r:embed="rId2"/>
              <a:srcRect/>
              <a:tile tx="0" ty="0" sx="100000" sy="100000" flip="none" algn="tl"/>
            </a:blipFill>
            <a:ln w="25400">
              <a:solidFill>
                <a:srgbClr val="000000"/>
              </a:solidFill>
              <a:miter lim="800000"/>
              <a:headEnd/>
              <a:tailEnd/>
            </a:ln>
          </p:spPr>
          <p:txBody>
            <a:bodyPr lIns="0" tIns="0" rIns="0" bIns="0"/>
            <a:lstStyle/>
            <a:p>
              <a:pPr algn="just" eaLnBrk="0" hangingPunct="0"/>
              <a:endParaRPr lang="zh-CN" altLang="en-US" sz="2000">
                <a:latin typeface="Times New Roman" panose="02020603050405020304" pitchFamily="18" charset="0"/>
              </a:endParaRPr>
            </a:p>
          </p:txBody>
        </p:sp>
        <p:sp>
          <p:nvSpPr>
            <p:cNvPr id="154660" name="Rectangle 38">
              <a:extLst>
                <a:ext uri="{FF2B5EF4-FFF2-40B4-BE49-F238E27FC236}">
                  <a16:creationId xmlns:a16="http://schemas.microsoft.com/office/drawing/2014/main" id="{D2D16929-4730-DDC3-874D-72D080E3ABC6}"/>
                </a:ext>
              </a:extLst>
            </p:cNvPr>
            <p:cNvSpPr>
              <a:spLocks noChangeArrowheads="1"/>
            </p:cNvSpPr>
            <p:nvPr/>
          </p:nvSpPr>
          <p:spPr bwMode="auto">
            <a:xfrm>
              <a:off x="4039" y="3045"/>
              <a:ext cx="829" cy="363"/>
            </a:xfrm>
            <a:prstGeom prst="rect">
              <a:avLst/>
            </a:prstGeom>
            <a:solidFill>
              <a:srgbClr val="FFFFFF"/>
            </a:solidFill>
            <a:ln w="25400">
              <a:solidFill>
                <a:srgbClr val="000000"/>
              </a:solidFill>
              <a:miter lim="800000"/>
              <a:headEnd/>
              <a:tailEnd/>
            </a:ln>
          </p:spPr>
          <p:txBody>
            <a:bodyPr lIns="0" tIns="0" rIns="0" bIns="0"/>
            <a:lstStyle/>
            <a:p>
              <a:pPr algn="just" eaLnBrk="0" hangingPunct="0"/>
              <a:r>
                <a:rPr lang="zh-CN" altLang="en-US" sz="2000">
                  <a:latin typeface="Times New Roman" panose="02020603050405020304" pitchFamily="18" charset="0"/>
                </a:rPr>
                <a:t>      (</a:t>
              </a:r>
              <a:r>
                <a:rPr lang="en-US" altLang="zh-CN" sz="2000">
                  <a:latin typeface="Times New Roman" panose="02020603050405020304" pitchFamily="18" charset="0"/>
                </a:rPr>
                <a:t>S)=3</a:t>
              </a:r>
            </a:p>
            <a:p>
              <a:pPr algn="just" eaLnBrk="0" hangingPunct="0"/>
              <a:r>
                <a:rPr lang="en-US" altLang="zh-CN" sz="2000">
                  <a:latin typeface="Times New Roman" panose="02020603050405020304" pitchFamily="18" charset="0"/>
                </a:rPr>
                <a:t>      15K</a:t>
              </a:r>
            </a:p>
          </p:txBody>
        </p:sp>
        <p:sp>
          <p:nvSpPr>
            <p:cNvPr id="154661" name="Line 39">
              <a:extLst>
                <a:ext uri="{FF2B5EF4-FFF2-40B4-BE49-F238E27FC236}">
                  <a16:creationId xmlns:a16="http://schemas.microsoft.com/office/drawing/2014/main" id="{468B22AF-78B1-47B8-469A-B73A99E119DD}"/>
                </a:ext>
              </a:extLst>
            </p:cNvPr>
            <p:cNvSpPr>
              <a:spLocks noChangeShapeType="1"/>
            </p:cNvSpPr>
            <p:nvPr/>
          </p:nvSpPr>
          <p:spPr bwMode="auto">
            <a:xfrm>
              <a:off x="1760" y="1496"/>
              <a:ext cx="555" cy="258"/>
            </a:xfrm>
            <a:prstGeom prst="line">
              <a:avLst/>
            </a:prstGeom>
            <a:noFill/>
            <a:ln w="25400" cap="rnd">
              <a:solidFill>
                <a:srgbClr val="000000"/>
              </a:solidFill>
              <a:prstDash val="sysDot"/>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4662" name="Line 40">
              <a:extLst>
                <a:ext uri="{FF2B5EF4-FFF2-40B4-BE49-F238E27FC236}">
                  <a16:creationId xmlns:a16="http://schemas.microsoft.com/office/drawing/2014/main" id="{825518D5-04FB-481F-9C8E-CA892A5E28D3}"/>
                </a:ext>
              </a:extLst>
            </p:cNvPr>
            <p:cNvSpPr>
              <a:spLocks noChangeShapeType="1"/>
            </p:cNvSpPr>
            <p:nvPr/>
          </p:nvSpPr>
          <p:spPr bwMode="auto">
            <a:xfrm>
              <a:off x="1760" y="1970"/>
              <a:ext cx="573" cy="13"/>
            </a:xfrm>
            <a:prstGeom prst="line">
              <a:avLst/>
            </a:prstGeom>
            <a:noFill/>
            <a:ln w="25400" cap="rnd">
              <a:solidFill>
                <a:srgbClr val="000000"/>
              </a:solidFill>
              <a:prstDash val="sysDot"/>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4663" name="Line 41">
              <a:extLst>
                <a:ext uri="{FF2B5EF4-FFF2-40B4-BE49-F238E27FC236}">
                  <a16:creationId xmlns:a16="http://schemas.microsoft.com/office/drawing/2014/main" id="{188CC2D3-BD57-7ED1-8C79-723520863002}"/>
                </a:ext>
              </a:extLst>
            </p:cNvPr>
            <p:cNvSpPr>
              <a:spLocks noChangeShapeType="1"/>
            </p:cNvSpPr>
            <p:nvPr/>
          </p:nvSpPr>
          <p:spPr bwMode="auto">
            <a:xfrm flipV="1">
              <a:off x="1750" y="2359"/>
              <a:ext cx="583" cy="168"/>
            </a:xfrm>
            <a:prstGeom prst="line">
              <a:avLst/>
            </a:prstGeom>
            <a:noFill/>
            <a:ln w="25400" cap="rnd">
              <a:solidFill>
                <a:srgbClr val="000000"/>
              </a:solidFill>
              <a:prstDash val="sysDot"/>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4664" name="Line 42">
              <a:extLst>
                <a:ext uri="{FF2B5EF4-FFF2-40B4-BE49-F238E27FC236}">
                  <a16:creationId xmlns:a16="http://schemas.microsoft.com/office/drawing/2014/main" id="{6381B321-2D76-8457-6B00-92EB4D531EC9}"/>
                </a:ext>
              </a:extLst>
            </p:cNvPr>
            <p:cNvSpPr>
              <a:spLocks noChangeShapeType="1"/>
            </p:cNvSpPr>
            <p:nvPr/>
          </p:nvSpPr>
          <p:spPr bwMode="auto">
            <a:xfrm flipV="1">
              <a:off x="1760" y="2866"/>
              <a:ext cx="564" cy="274"/>
            </a:xfrm>
            <a:prstGeom prst="line">
              <a:avLst/>
            </a:prstGeom>
            <a:noFill/>
            <a:ln w="25400" cap="rnd">
              <a:solidFill>
                <a:srgbClr val="000000"/>
              </a:solidFill>
              <a:prstDash val="sysDot"/>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4665" name="Line 43">
              <a:extLst>
                <a:ext uri="{FF2B5EF4-FFF2-40B4-BE49-F238E27FC236}">
                  <a16:creationId xmlns:a16="http://schemas.microsoft.com/office/drawing/2014/main" id="{AC78C6BE-48D1-1C89-76DF-22844C145C87}"/>
                </a:ext>
              </a:extLst>
            </p:cNvPr>
            <p:cNvSpPr>
              <a:spLocks noChangeShapeType="1"/>
            </p:cNvSpPr>
            <p:nvPr/>
          </p:nvSpPr>
          <p:spPr bwMode="auto">
            <a:xfrm flipV="1">
              <a:off x="3283" y="1484"/>
              <a:ext cx="760" cy="29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zoom/>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a:extLst>
              <a:ext uri="{FF2B5EF4-FFF2-40B4-BE49-F238E27FC236}">
                <a16:creationId xmlns:a16="http://schemas.microsoft.com/office/drawing/2014/main" id="{0863CA33-6A0E-B45A-2A47-8BAD8490569C}"/>
              </a:ext>
            </a:extLst>
          </p:cNvPr>
          <p:cNvSpPr>
            <a:spLocks noGrp="1" noChangeArrowheads="1"/>
          </p:cNvSpPr>
          <p:nvPr>
            <p:ph type="title"/>
          </p:nvPr>
        </p:nvSpPr>
        <p:spPr/>
        <p:txBody>
          <a:bodyPr/>
          <a:lstStyle/>
          <a:p>
            <a:pPr eaLnBrk="1" hangingPunct="1"/>
            <a:r>
              <a:rPr lang="zh-CN" altLang="en-US"/>
              <a:t>地址变换</a:t>
            </a:r>
          </a:p>
        </p:txBody>
      </p:sp>
      <p:sp>
        <p:nvSpPr>
          <p:cNvPr id="155650" name="Rectangle 3">
            <a:extLst>
              <a:ext uri="{FF2B5EF4-FFF2-40B4-BE49-F238E27FC236}">
                <a16:creationId xmlns:a16="http://schemas.microsoft.com/office/drawing/2014/main" id="{47492B6E-1A82-F29C-93EC-26531081FF2C}"/>
              </a:ext>
            </a:extLst>
          </p:cNvPr>
          <p:cNvSpPr>
            <a:spLocks noGrp="1" noChangeArrowheads="1"/>
          </p:cNvSpPr>
          <p:nvPr>
            <p:ph idx="1"/>
          </p:nvPr>
        </p:nvSpPr>
        <p:spPr>
          <a:xfrm>
            <a:off x="900113" y="1198563"/>
            <a:ext cx="8004175" cy="4967287"/>
          </a:xfrm>
        </p:spPr>
        <p:txBody>
          <a:bodyPr/>
          <a:lstStyle/>
          <a:p>
            <a:pPr algn="just" eaLnBrk="1" hangingPunct="1"/>
            <a:r>
              <a:rPr lang="zh-CN" altLang="en-US"/>
              <a:t>为实现从逻辑地址到物理地址的转换，在系统中设置了段表寄存器，用于存放段表始址和段表长度。</a:t>
            </a:r>
          </a:p>
          <a:p>
            <a:pPr algn="just" eaLnBrk="1" hangingPunct="1"/>
            <a:r>
              <a:rPr lang="zh-CN" altLang="en-US"/>
              <a:t>为了提高内存的访问速度，也可以使用快表。</a:t>
            </a:r>
          </a:p>
        </p:txBody>
      </p:sp>
    </p:spTree>
  </p:cSld>
  <p:clrMapOvr>
    <a:masterClrMapping/>
  </p:clrMapOvr>
  <p:transition spd="med">
    <p:zo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a:extLst>
              <a:ext uri="{FF2B5EF4-FFF2-40B4-BE49-F238E27FC236}">
                <a16:creationId xmlns:a16="http://schemas.microsoft.com/office/drawing/2014/main" id="{2A3BF1B1-802D-7006-F55D-E3CAB5E6C782}"/>
              </a:ext>
            </a:extLst>
          </p:cNvPr>
          <p:cNvSpPr>
            <a:spLocks noGrp="1" noChangeArrowheads="1"/>
          </p:cNvSpPr>
          <p:nvPr>
            <p:ph type="title"/>
          </p:nvPr>
        </p:nvSpPr>
        <p:spPr/>
        <p:txBody>
          <a:bodyPr/>
          <a:lstStyle/>
          <a:p>
            <a:pPr eaLnBrk="1" hangingPunct="1"/>
            <a:r>
              <a:rPr lang="zh-CN" altLang="en-US"/>
              <a:t>地址变换过程</a:t>
            </a:r>
          </a:p>
        </p:txBody>
      </p:sp>
      <p:sp>
        <p:nvSpPr>
          <p:cNvPr id="168963" name="Rectangle 3">
            <a:extLst>
              <a:ext uri="{FF2B5EF4-FFF2-40B4-BE49-F238E27FC236}">
                <a16:creationId xmlns:a16="http://schemas.microsoft.com/office/drawing/2014/main" id="{AB866399-F134-32BB-7517-4C0457DDFAE1}"/>
              </a:ext>
            </a:extLst>
          </p:cNvPr>
          <p:cNvSpPr>
            <a:spLocks noGrp="1" noChangeArrowheads="1"/>
          </p:cNvSpPr>
          <p:nvPr>
            <p:ph idx="1"/>
          </p:nvPr>
        </p:nvSpPr>
        <p:spPr>
          <a:xfrm>
            <a:off x="684213" y="1181100"/>
            <a:ext cx="8231187" cy="4840288"/>
          </a:xfrm>
        </p:spPr>
        <p:txBody>
          <a:bodyPr/>
          <a:lstStyle/>
          <a:p>
            <a:pPr algn="just" eaLnBrk="1" hangingPunct="1">
              <a:lnSpc>
                <a:spcPct val="90000"/>
              </a:lnSpc>
            </a:pPr>
            <a:r>
              <a:rPr lang="zh-CN" altLang="en-US"/>
              <a:t>进行地扯变换时，系统将逻辑地址中的段号</a:t>
            </a:r>
            <a:r>
              <a:rPr lang="en-US" altLang="zh-CN"/>
              <a:t>S</a:t>
            </a:r>
            <a:r>
              <a:rPr lang="zh-CN" altLang="en-US"/>
              <a:t>与段表长度进行比较，若段号超过了段表长度则产生越界中断；</a:t>
            </a:r>
          </a:p>
          <a:p>
            <a:pPr algn="just" eaLnBrk="1" hangingPunct="1">
              <a:lnSpc>
                <a:spcPct val="90000"/>
              </a:lnSpc>
            </a:pPr>
            <a:r>
              <a:rPr lang="zh-CN" altLang="en-US"/>
              <a:t>否则根据段表始址和段号计算出该段对应段表项的位置，从中读出该段在内存的起始地址，</a:t>
            </a:r>
          </a:p>
          <a:p>
            <a:pPr algn="just" eaLnBrk="1" hangingPunct="1">
              <a:lnSpc>
                <a:spcPct val="90000"/>
              </a:lnSpc>
            </a:pPr>
            <a:r>
              <a:rPr lang="zh-CN" altLang="en-US"/>
              <a:t>然后再检查段内地址是否超过该段的段长，若超过则同样发出越界中断信号；</a:t>
            </a:r>
          </a:p>
          <a:p>
            <a:pPr algn="just" eaLnBrk="1" hangingPunct="1">
              <a:lnSpc>
                <a:spcPct val="90000"/>
              </a:lnSpc>
            </a:pPr>
            <a:r>
              <a:rPr lang="zh-CN" altLang="en-US"/>
              <a:t>若未越界，则将该段的起始地址与段内位移相加，从而得到了要访问的物理地址。</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68963">
                                            <p:txEl>
                                              <p:pRg st="0" end="0"/>
                                            </p:txEl>
                                          </p:spTgt>
                                        </p:tgtEl>
                                        <p:attrNameLst>
                                          <p:attrName>style.visibility</p:attrName>
                                        </p:attrNameLst>
                                      </p:cBhvr>
                                      <p:to>
                                        <p:strVal val="visible"/>
                                      </p:to>
                                    </p:set>
                                    <p:animEffect transition="in" filter="checkerboard(across)">
                                      <p:cBhvr>
                                        <p:cTn id="7" dur="500"/>
                                        <p:tgtEl>
                                          <p:spTgt spid="1689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68963">
                                            <p:txEl>
                                              <p:pRg st="1" end="1"/>
                                            </p:txEl>
                                          </p:spTgt>
                                        </p:tgtEl>
                                        <p:attrNameLst>
                                          <p:attrName>style.visibility</p:attrName>
                                        </p:attrNameLst>
                                      </p:cBhvr>
                                      <p:to>
                                        <p:strVal val="visible"/>
                                      </p:to>
                                    </p:set>
                                    <p:animEffect transition="in" filter="checkerboard(across)">
                                      <p:cBhvr>
                                        <p:cTn id="12" dur="500"/>
                                        <p:tgtEl>
                                          <p:spTgt spid="1689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68963">
                                            <p:txEl>
                                              <p:pRg st="2" end="2"/>
                                            </p:txEl>
                                          </p:spTgt>
                                        </p:tgtEl>
                                        <p:attrNameLst>
                                          <p:attrName>style.visibility</p:attrName>
                                        </p:attrNameLst>
                                      </p:cBhvr>
                                      <p:to>
                                        <p:strVal val="visible"/>
                                      </p:to>
                                    </p:set>
                                    <p:animEffect transition="in" filter="checkerboard(across)">
                                      <p:cBhvr>
                                        <p:cTn id="17" dur="500"/>
                                        <p:tgtEl>
                                          <p:spTgt spid="1689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68963">
                                            <p:txEl>
                                              <p:pRg st="3" end="3"/>
                                            </p:txEl>
                                          </p:spTgt>
                                        </p:tgtEl>
                                        <p:attrNameLst>
                                          <p:attrName>style.visibility</p:attrName>
                                        </p:attrNameLst>
                                      </p:cBhvr>
                                      <p:to>
                                        <p:strVal val="visible"/>
                                      </p:to>
                                    </p:set>
                                    <p:animEffect transition="in" filter="checkerboard(across)">
                                      <p:cBhvr>
                                        <p:cTn id="22" dur="500"/>
                                        <p:tgtEl>
                                          <p:spTgt spid="1689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a:extLst>
              <a:ext uri="{FF2B5EF4-FFF2-40B4-BE49-F238E27FC236}">
                <a16:creationId xmlns:a16="http://schemas.microsoft.com/office/drawing/2014/main" id="{F5CDD906-E68B-2FDF-EFF8-9F1BAC94D7C0}"/>
              </a:ext>
            </a:extLst>
          </p:cNvPr>
          <p:cNvSpPr>
            <a:spLocks noGrp="1" noChangeArrowheads="1"/>
          </p:cNvSpPr>
          <p:nvPr>
            <p:ph type="title"/>
          </p:nvPr>
        </p:nvSpPr>
        <p:spPr/>
        <p:txBody>
          <a:bodyPr/>
          <a:lstStyle/>
          <a:p>
            <a:pPr eaLnBrk="1" hangingPunct="1"/>
            <a:r>
              <a:rPr lang="zh-CN" altLang="en-US"/>
              <a:t>地址变换机构图</a:t>
            </a:r>
          </a:p>
        </p:txBody>
      </p:sp>
      <p:sp>
        <p:nvSpPr>
          <p:cNvPr id="157698" name="Line 4">
            <a:extLst>
              <a:ext uri="{FF2B5EF4-FFF2-40B4-BE49-F238E27FC236}">
                <a16:creationId xmlns:a16="http://schemas.microsoft.com/office/drawing/2014/main" id="{20AC01F3-439E-C033-46CC-096879C079E0}"/>
              </a:ext>
            </a:extLst>
          </p:cNvPr>
          <p:cNvSpPr>
            <a:spLocks noChangeShapeType="1"/>
          </p:cNvSpPr>
          <p:nvPr/>
        </p:nvSpPr>
        <p:spPr bwMode="auto">
          <a:xfrm>
            <a:off x="1457325" y="4648200"/>
            <a:ext cx="1712913"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57699" name="Rectangle 5">
            <a:extLst>
              <a:ext uri="{FF2B5EF4-FFF2-40B4-BE49-F238E27FC236}">
                <a16:creationId xmlns:a16="http://schemas.microsoft.com/office/drawing/2014/main" id="{95ED69CF-43EF-845E-62B6-62B5E3477A01}"/>
              </a:ext>
            </a:extLst>
          </p:cNvPr>
          <p:cNvSpPr>
            <a:spLocks noChangeArrowheads="1"/>
          </p:cNvSpPr>
          <p:nvPr/>
        </p:nvSpPr>
        <p:spPr bwMode="auto">
          <a:xfrm>
            <a:off x="1473200" y="1806575"/>
            <a:ext cx="14986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段表寄存器</a:t>
            </a:r>
          </a:p>
        </p:txBody>
      </p:sp>
      <p:sp>
        <p:nvSpPr>
          <p:cNvPr id="157700" name="Rectangle 6">
            <a:extLst>
              <a:ext uri="{FF2B5EF4-FFF2-40B4-BE49-F238E27FC236}">
                <a16:creationId xmlns:a16="http://schemas.microsoft.com/office/drawing/2014/main" id="{FCA5A461-1D35-1DD4-7691-E9EC22339C03}"/>
              </a:ext>
            </a:extLst>
          </p:cNvPr>
          <p:cNvSpPr>
            <a:spLocks noChangeArrowheads="1"/>
          </p:cNvSpPr>
          <p:nvPr/>
        </p:nvSpPr>
        <p:spPr bwMode="auto">
          <a:xfrm>
            <a:off x="1011238" y="2249488"/>
            <a:ext cx="2289175" cy="474662"/>
          </a:xfrm>
          <a:prstGeom prst="rect">
            <a:avLst/>
          </a:prstGeom>
          <a:solidFill>
            <a:srgbClr val="FFFFFF"/>
          </a:solidFill>
          <a:ln w="28575">
            <a:solidFill>
              <a:srgbClr val="000000"/>
            </a:solidFill>
            <a:miter lim="800000"/>
            <a:headEnd/>
            <a:tailEnd/>
          </a:ln>
        </p:spPr>
        <p:txBody>
          <a:bodyPr lIns="0" tIns="72000" rIns="0" bIns="0"/>
          <a:lstStyle/>
          <a:p>
            <a:pPr algn="just" eaLnBrk="0" hangingPunct="0"/>
            <a:r>
              <a:rPr lang="zh-CN" altLang="en-US" sz="2000">
                <a:latin typeface="Times New Roman" panose="02020603050405020304" pitchFamily="18" charset="0"/>
              </a:rPr>
              <a:t> 段表始址  段表长度</a:t>
            </a:r>
          </a:p>
        </p:txBody>
      </p:sp>
      <p:sp>
        <p:nvSpPr>
          <p:cNvPr id="157701" name="Line 7">
            <a:extLst>
              <a:ext uri="{FF2B5EF4-FFF2-40B4-BE49-F238E27FC236}">
                <a16:creationId xmlns:a16="http://schemas.microsoft.com/office/drawing/2014/main" id="{49463804-8DB0-1665-547E-F2321AF5F5E0}"/>
              </a:ext>
            </a:extLst>
          </p:cNvPr>
          <p:cNvSpPr>
            <a:spLocks noChangeShapeType="1"/>
          </p:cNvSpPr>
          <p:nvPr/>
        </p:nvSpPr>
        <p:spPr bwMode="auto">
          <a:xfrm>
            <a:off x="2133600" y="2249488"/>
            <a:ext cx="1588" cy="4746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02" name="Rectangle 8">
            <a:extLst>
              <a:ext uri="{FF2B5EF4-FFF2-40B4-BE49-F238E27FC236}">
                <a16:creationId xmlns:a16="http://schemas.microsoft.com/office/drawing/2014/main" id="{71ACEA19-318F-FAB8-EC91-9708D9F4A672}"/>
              </a:ext>
            </a:extLst>
          </p:cNvPr>
          <p:cNvSpPr>
            <a:spLocks noChangeArrowheads="1"/>
          </p:cNvSpPr>
          <p:nvPr/>
        </p:nvSpPr>
        <p:spPr bwMode="auto">
          <a:xfrm>
            <a:off x="3784600" y="1600200"/>
            <a:ext cx="12446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越界中断</a:t>
            </a:r>
          </a:p>
        </p:txBody>
      </p:sp>
      <p:sp>
        <p:nvSpPr>
          <p:cNvPr id="157703" name="Line 9">
            <a:extLst>
              <a:ext uri="{FF2B5EF4-FFF2-40B4-BE49-F238E27FC236}">
                <a16:creationId xmlns:a16="http://schemas.microsoft.com/office/drawing/2014/main" id="{D39B215B-2BF5-8D9B-C85F-CEF14BADF322}"/>
              </a:ext>
            </a:extLst>
          </p:cNvPr>
          <p:cNvSpPr>
            <a:spLocks noChangeShapeType="1"/>
          </p:cNvSpPr>
          <p:nvPr/>
        </p:nvSpPr>
        <p:spPr bwMode="auto">
          <a:xfrm flipV="1">
            <a:off x="4292600" y="1905000"/>
            <a:ext cx="0" cy="398463"/>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7704" name="Oval 10">
            <a:extLst>
              <a:ext uri="{FF2B5EF4-FFF2-40B4-BE49-F238E27FC236}">
                <a16:creationId xmlns:a16="http://schemas.microsoft.com/office/drawing/2014/main" id="{C92D89DB-ED94-1915-4870-37DA96432B24}"/>
              </a:ext>
            </a:extLst>
          </p:cNvPr>
          <p:cNvSpPr>
            <a:spLocks noChangeArrowheads="1"/>
          </p:cNvSpPr>
          <p:nvPr/>
        </p:nvSpPr>
        <p:spPr bwMode="auto">
          <a:xfrm>
            <a:off x="4038600" y="2286000"/>
            <a:ext cx="503238" cy="503238"/>
          </a:xfrm>
          <a:prstGeom prst="ellipse">
            <a:avLst/>
          </a:prstGeom>
          <a:solidFill>
            <a:srgbClr val="FFFFFF"/>
          </a:solidFill>
          <a:ln w="28575">
            <a:solidFill>
              <a:srgbClr val="000000"/>
            </a:solidFill>
            <a:round/>
            <a:headEnd/>
            <a:tailEnd/>
          </a:ln>
        </p:spPr>
        <p:txBody>
          <a:bodyPr lIns="0" tIns="0" rIns="0" bIns="0"/>
          <a:lstStyle/>
          <a:p>
            <a:pPr algn="ctr" eaLnBrk="0" hangingPunct="0"/>
            <a:r>
              <a:rPr lang="zh-CN" altLang="en-US" sz="2000">
                <a:latin typeface="Times New Roman" panose="02020603050405020304" pitchFamily="18" charset="0"/>
              </a:rPr>
              <a:t>＜</a:t>
            </a:r>
          </a:p>
        </p:txBody>
      </p:sp>
      <p:sp>
        <p:nvSpPr>
          <p:cNvPr id="157705" name="Line 11">
            <a:extLst>
              <a:ext uri="{FF2B5EF4-FFF2-40B4-BE49-F238E27FC236}">
                <a16:creationId xmlns:a16="http://schemas.microsoft.com/office/drawing/2014/main" id="{47E2CCDB-1123-470C-1664-46E4F5C3DAAD}"/>
              </a:ext>
            </a:extLst>
          </p:cNvPr>
          <p:cNvSpPr>
            <a:spLocks noChangeShapeType="1"/>
          </p:cNvSpPr>
          <p:nvPr/>
        </p:nvSpPr>
        <p:spPr bwMode="auto">
          <a:xfrm>
            <a:off x="1447800" y="2708275"/>
            <a:ext cx="0" cy="415925"/>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7706" name="Oval 12">
            <a:extLst>
              <a:ext uri="{FF2B5EF4-FFF2-40B4-BE49-F238E27FC236}">
                <a16:creationId xmlns:a16="http://schemas.microsoft.com/office/drawing/2014/main" id="{8E7DD182-9248-B40D-C869-58DFA0ACEF51}"/>
              </a:ext>
            </a:extLst>
          </p:cNvPr>
          <p:cNvSpPr>
            <a:spLocks noChangeArrowheads="1"/>
          </p:cNvSpPr>
          <p:nvPr/>
        </p:nvSpPr>
        <p:spPr bwMode="auto">
          <a:xfrm>
            <a:off x="1223963" y="3078163"/>
            <a:ext cx="503237" cy="503237"/>
          </a:xfrm>
          <a:prstGeom prst="ellipse">
            <a:avLst/>
          </a:prstGeom>
          <a:solidFill>
            <a:srgbClr val="FFFFFF"/>
          </a:solidFill>
          <a:ln w="28575">
            <a:solidFill>
              <a:srgbClr val="000000"/>
            </a:solidFill>
            <a:round/>
            <a:headEnd/>
            <a:tailEnd/>
          </a:ln>
        </p:spPr>
        <p:txBody>
          <a:bodyPr lIns="0" tIns="0" rIns="0" bIns="0"/>
          <a:lstStyle/>
          <a:p>
            <a:pPr algn="ctr" eaLnBrk="0" hangingPunct="0"/>
            <a:r>
              <a:rPr lang="zh-CN" altLang="en-US" sz="2000">
                <a:latin typeface="Times New Roman" panose="02020603050405020304" pitchFamily="18" charset="0"/>
              </a:rPr>
              <a:t>＋</a:t>
            </a:r>
          </a:p>
        </p:txBody>
      </p:sp>
      <p:sp>
        <p:nvSpPr>
          <p:cNvPr id="157707" name="Rectangle 13">
            <a:extLst>
              <a:ext uri="{FF2B5EF4-FFF2-40B4-BE49-F238E27FC236}">
                <a16:creationId xmlns:a16="http://schemas.microsoft.com/office/drawing/2014/main" id="{60A3B76D-5B5D-8483-2E14-2BC56FD36946}"/>
              </a:ext>
            </a:extLst>
          </p:cNvPr>
          <p:cNvSpPr>
            <a:spLocks noChangeArrowheads="1"/>
          </p:cNvSpPr>
          <p:nvPr/>
        </p:nvSpPr>
        <p:spPr bwMode="auto">
          <a:xfrm>
            <a:off x="6019800" y="1755775"/>
            <a:ext cx="13731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逻辑地址</a:t>
            </a:r>
          </a:p>
        </p:txBody>
      </p:sp>
      <p:sp>
        <p:nvSpPr>
          <p:cNvPr id="157708" name="Rectangle 14">
            <a:extLst>
              <a:ext uri="{FF2B5EF4-FFF2-40B4-BE49-F238E27FC236}">
                <a16:creationId xmlns:a16="http://schemas.microsoft.com/office/drawing/2014/main" id="{E319D256-7A22-F0ED-8D9D-CB1070C072A3}"/>
              </a:ext>
            </a:extLst>
          </p:cNvPr>
          <p:cNvSpPr>
            <a:spLocks noChangeArrowheads="1"/>
          </p:cNvSpPr>
          <p:nvPr/>
        </p:nvSpPr>
        <p:spPr bwMode="auto">
          <a:xfrm>
            <a:off x="5105400" y="2246313"/>
            <a:ext cx="3252788" cy="476250"/>
          </a:xfrm>
          <a:prstGeom prst="rect">
            <a:avLst/>
          </a:prstGeom>
          <a:solidFill>
            <a:srgbClr val="FFFFFF"/>
          </a:solidFill>
          <a:ln w="28575">
            <a:solidFill>
              <a:srgbClr val="000000"/>
            </a:solidFill>
            <a:miter lim="800000"/>
            <a:headEnd/>
            <a:tailEnd/>
          </a:ln>
        </p:spPr>
        <p:txBody>
          <a:bodyPr lIns="0" tIns="72000" rIns="0" bIns="0"/>
          <a:lstStyle/>
          <a:p>
            <a:pPr algn="just" eaLnBrk="0" hangingPunct="0"/>
            <a:r>
              <a:rPr lang="zh-CN" altLang="en-US" sz="2000">
                <a:latin typeface="Times New Roman" panose="02020603050405020304" pitchFamily="18" charset="0"/>
              </a:rPr>
              <a:t>  段号（2）段内位移（100）</a:t>
            </a:r>
          </a:p>
        </p:txBody>
      </p:sp>
      <p:sp>
        <p:nvSpPr>
          <p:cNvPr id="157709" name="Line 15">
            <a:extLst>
              <a:ext uri="{FF2B5EF4-FFF2-40B4-BE49-F238E27FC236}">
                <a16:creationId xmlns:a16="http://schemas.microsoft.com/office/drawing/2014/main" id="{61AC21C8-70D0-A2FD-280A-32C453F63CBC}"/>
              </a:ext>
            </a:extLst>
          </p:cNvPr>
          <p:cNvSpPr>
            <a:spLocks noChangeShapeType="1"/>
          </p:cNvSpPr>
          <p:nvPr/>
        </p:nvSpPr>
        <p:spPr bwMode="auto">
          <a:xfrm>
            <a:off x="6324600" y="2246313"/>
            <a:ext cx="0" cy="4826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10" name="Line 16">
            <a:extLst>
              <a:ext uri="{FF2B5EF4-FFF2-40B4-BE49-F238E27FC236}">
                <a16:creationId xmlns:a16="http://schemas.microsoft.com/office/drawing/2014/main" id="{825FDF78-8857-732E-C996-0DAAAD9E8E08}"/>
              </a:ext>
            </a:extLst>
          </p:cNvPr>
          <p:cNvSpPr>
            <a:spLocks noChangeShapeType="1"/>
          </p:cNvSpPr>
          <p:nvPr/>
        </p:nvSpPr>
        <p:spPr bwMode="auto">
          <a:xfrm>
            <a:off x="5715000" y="2720975"/>
            <a:ext cx="0" cy="6318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11" name="Line 17">
            <a:extLst>
              <a:ext uri="{FF2B5EF4-FFF2-40B4-BE49-F238E27FC236}">
                <a16:creationId xmlns:a16="http://schemas.microsoft.com/office/drawing/2014/main" id="{E2E332E1-ED6F-CA75-F75A-E6DC37361685}"/>
              </a:ext>
            </a:extLst>
          </p:cNvPr>
          <p:cNvSpPr>
            <a:spLocks noChangeShapeType="1"/>
          </p:cNvSpPr>
          <p:nvPr/>
        </p:nvSpPr>
        <p:spPr bwMode="auto">
          <a:xfrm flipH="1" flipV="1">
            <a:off x="1727200" y="3346450"/>
            <a:ext cx="3987800" cy="635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7712" name="Line 18">
            <a:extLst>
              <a:ext uri="{FF2B5EF4-FFF2-40B4-BE49-F238E27FC236}">
                <a16:creationId xmlns:a16="http://schemas.microsoft.com/office/drawing/2014/main" id="{3A146330-804B-B35D-ED8F-0FE5182185A8}"/>
              </a:ext>
            </a:extLst>
          </p:cNvPr>
          <p:cNvSpPr>
            <a:spLocks noChangeShapeType="1"/>
          </p:cNvSpPr>
          <p:nvPr/>
        </p:nvSpPr>
        <p:spPr bwMode="auto">
          <a:xfrm flipV="1">
            <a:off x="4267200" y="2746375"/>
            <a:ext cx="0" cy="606425"/>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7713" name="Rectangle 19">
            <a:extLst>
              <a:ext uri="{FF2B5EF4-FFF2-40B4-BE49-F238E27FC236}">
                <a16:creationId xmlns:a16="http://schemas.microsoft.com/office/drawing/2014/main" id="{71D0CFBC-9C81-887B-DA38-0B06BA3D1F26}"/>
              </a:ext>
            </a:extLst>
          </p:cNvPr>
          <p:cNvSpPr>
            <a:spLocks noChangeArrowheads="1"/>
          </p:cNvSpPr>
          <p:nvPr/>
        </p:nvSpPr>
        <p:spPr bwMode="auto">
          <a:xfrm>
            <a:off x="2633663" y="3446463"/>
            <a:ext cx="1938337"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段号   段长   始址</a:t>
            </a:r>
          </a:p>
        </p:txBody>
      </p:sp>
      <p:sp>
        <p:nvSpPr>
          <p:cNvPr id="157714" name="Rectangle 20">
            <a:extLst>
              <a:ext uri="{FF2B5EF4-FFF2-40B4-BE49-F238E27FC236}">
                <a16:creationId xmlns:a16="http://schemas.microsoft.com/office/drawing/2014/main" id="{509B3E6C-EA04-8367-38FB-AC0DF71D6FDD}"/>
              </a:ext>
            </a:extLst>
          </p:cNvPr>
          <p:cNvSpPr>
            <a:spLocks noChangeArrowheads="1"/>
          </p:cNvSpPr>
          <p:nvPr/>
        </p:nvSpPr>
        <p:spPr bwMode="auto">
          <a:xfrm>
            <a:off x="3182938" y="3790950"/>
            <a:ext cx="1366837" cy="1314450"/>
          </a:xfrm>
          <a:prstGeom prst="rect">
            <a:avLst/>
          </a:prstGeom>
          <a:solidFill>
            <a:srgbClr val="FFFFFF"/>
          </a:solidFill>
          <a:ln w="28575">
            <a:solidFill>
              <a:srgbClr val="000000"/>
            </a:solidFill>
            <a:miter lim="800000"/>
            <a:headEnd/>
            <a:tailEnd/>
          </a:ln>
        </p:spPr>
        <p:txBody>
          <a:bodyPr lIns="18000" tIns="46800" rIns="18000" bIns="10800"/>
          <a:lstStyle/>
          <a:p>
            <a:pPr algn="just" eaLnBrk="0" hangingPunct="0"/>
            <a:r>
              <a:rPr lang="zh-CN" altLang="en-US" sz="2000">
                <a:latin typeface="Times New Roman" panose="02020603050405020304" pitchFamily="18" charset="0"/>
              </a:rPr>
              <a:t>   1</a:t>
            </a:r>
            <a:r>
              <a:rPr lang="en-US" altLang="zh-CN" sz="2000">
                <a:latin typeface="Times New Roman" panose="02020603050405020304" pitchFamily="18" charset="0"/>
              </a:rPr>
              <a:t>K     6K</a:t>
            </a:r>
          </a:p>
          <a:p>
            <a:pPr algn="just" eaLnBrk="0" hangingPunct="0"/>
            <a:endParaRPr lang="en-US" altLang="zh-CN" sz="800">
              <a:latin typeface="Times New Roman" panose="02020603050405020304" pitchFamily="18" charset="0"/>
            </a:endParaRPr>
          </a:p>
          <a:p>
            <a:pPr algn="ctr" eaLnBrk="0" hangingPunct="0"/>
            <a:r>
              <a:rPr lang="en-US" altLang="zh-CN" sz="2000">
                <a:latin typeface="Times New Roman" panose="02020603050405020304" pitchFamily="18" charset="0"/>
              </a:rPr>
              <a:t>800    4K</a:t>
            </a:r>
          </a:p>
          <a:p>
            <a:pPr algn="ctr" eaLnBrk="0" hangingPunct="0"/>
            <a:endParaRPr lang="en-US" altLang="zh-CN" sz="800">
              <a:latin typeface="Times New Roman" panose="02020603050405020304" pitchFamily="18" charset="0"/>
            </a:endParaRPr>
          </a:p>
          <a:p>
            <a:pPr algn="ctr" eaLnBrk="0" hangingPunct="0"/>
            <a:r>
              <a:rPr lang="en-US" altLang="zh-CN" sz="2000">
                <a:latin typeface="Times New Roman" panose="02020603050405020304" pitchFamily="18" charset="0"/>
              </a:rPr>
              <a:t>600    8K</a:t>
            </a:r>
          </a:p>
        </p:txBody>
      </p:sp>
      <p:sp>
        <p:nvSpPr>
          <p:cNvPr id="157715" name="Rectangle 21">
            <a:extLst>
              <a:ext uri="{FF2B5EF4-FFF2-40B4-BE49-F238E27FC236}">
                <a16:creationId xmlns:a16="http://schemas.microsoft.com/office/drawing/2014/main" id="{645C208C-290D-A331-4115-C86407AB1A23}"/>
              </a:ext>
            </a:extLst>
          </p:cNvPr>
          <p:cNvSpPr>
            <a:spLocks noChangeArrowheads="1"/>
          </p:cNvSpPr>
          <p:nvPr/>
        </p:nvSpPr>
        <p:spPr bwMode="auto">
          <a:xfrm>
            <a:off x="2971800" y="3870325"/>
            <a:ext cx="223838"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14400" rIns="0" bIns="0"/>
          <a:lstStyle/>
          <a:p>
            <a:pPr algn="just" eaLnBrk="0" hangingPunct="0"/>
            <a:r>
              <a:rPr lang="zh-CN" altLang="en-US" sz="2000">
                <a:latin typeface="Times New Roman" panose="02020603050405020304" pitchFamily="18" charset="0"/>
              </a:rPr>
              <a:t>0</a:t>
            </a:r>
          </a:p>
          <a:p>
            <a:pPr algn="just" eaLnBrk="0" hangingPunct="0"/>
            <a:endParaRPr lang="zh-CN" altLang="en-US" sz="800">
              <a:latin typeface="Times New Roman" panose="02020603050405020304" pitchFamily="18" charset="0"/>
            </a:endParaRPr>
          </a:p>
          <a:p>
            <a:pPr algn="just" eaLnBrk="0" hangingPunct="0"/>
            <a:r>
              <a:rPr lang="zh-CN" altLang="en-US" sz="2000">
                <a:latin typeface="Times New Roman" panose="02020603050405020304" pitchFamily="18" charset="0"/>
              </a:rPr>
              <a:t>1</a:t>
            </a:r>
          </a:p>
          <a:p>
            <a:pPr algn="just" eaLnBrk="0" hangingPunct="0"/>
            <a:endParaRPr lang="zh-CN" altLang="en-US" sz="800">
              <a:latin typeface="Times New Roman" panose="02020603050405020304" pitchFamily="18" charset="0"/>
            </a:endParaRPr>
          </a:p>
          <a:p>
            <a:pPr algn="just" eaLnBrk="0" hangingPunct="0"/>
            <a:r>
              <a:rPr lang="zh-CN" altLang="en-US" sz="2000">
                <a:latin typeface="Times New Roman" panose="02020603050405020304" pitchFamily="18" charset="0"/>
              </a:rPr>
              <a:t>2</a:t>
            </a:r>
          </a:p>
        </p:txBody>
      </p:sp>
      <p:sp>
        <p:nvSpPr>
          <p:cNvPr id="157716" name="Line 22">
            <a:extLst>
              <a:ext uri="{FF2B5EF4-FFF2-40B4-BE49-F238E27FC236}">
                <a16:creationId xmlns:a16="http://schemas.microsoft.com/office/drawing/2014/main" id="{F9F3875F-802C-59FE-CD60-D08682DED77D}"/>
              </a:ext>
            </a:extLst>
          </p:cNvPr>
          <p:cNvSpPr>
            <a:spLocks noChangeShapeType="1"/>
          </p:cNvSpPr>
          <p:nvPr/>
        </p:nvSpPr>
        <p:spPr bwMode="auto">
          <a:xfrm>
            <a:off x="3182938" y="4191000"/>
            <a:ext cx="13668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17" name="Line 23">
            <a:extLst>
              <a:ext uri="{FF2B5EF4-FFF2-40B4-BE49-F238E27FC236}">
                <a16:creationId xmlns:a16="http://schemas.microsoft.com/office/drawing/2014/main" id="{B596ECBF-B8BA-9A05-C867-9DAFEB27FB9C}"/>
              </a:ext>
            </a:extLst>
          </p:cNvPr>
          <p:cNvSpPr>
            <a:spLocks noChangeShapeType="1"/>
          </p:cNvSpPr>
          <p:nvPr/>
        </p:nvSpPr>
        <p:spPr bwMode="auto">
          <a:xfrm>
            <a:off x="3182938" y="4648200"/>
            <a:ext cx="13668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18" name="Line 24">
            <a:extLst>
              <a:ext uri="{FF2B5EF4-FFF2-40B4-BE49-F238E27FC236}">
                <a16:creationId xmlns:a16="http://schemas.microsoft.com/office/drawing/2014/main" id="{3BC7D954-A22A-DCA7-B1A9-9DBC89E6E4B2}"/>
              </a:ext>
            </a:extLst>
          </p:cNvPr>
          <p:cNvSpPr>
            <a:spLocks noChangeShapeType="1"/>
          </p:cNvSpPr>
          <p:nvPr/>
        </p:nvSpPr>
        <p:spPr bwMode="auto">
          <a:xfrm>
            <a:off x="1447800" y="3581400"/>
            <a:ext cx="0" cy="1066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19" name="Line 25">
            <a:extLst>
              <a:ext uri="{FF2B5EF4-FFF2-40B4-BE49-F238E27FC236}">
                <a16:creationId xmlns:a16="http://schemas.microsoft.com/office/drawing/2014/main" id="{CC06A5E6-1664-80BC-A204-9DD2FD3A321E}"/>
              </a:ext>
            </a:extLst>
          </p:cNvPr>
          <p:cNvSpPr>
            <a:spLocks noChangeShapeType="1"/>
          </p:cNvSpPr>
          <p:nvPr/>
        </p:nvSpPr>
        <p:spPr bwMode="auto">
          <a:xfrm>
            <a:off x="4546600" y="4648200"/>
            <a:ext cx="1765300"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7720" name="Line 26">
            <a:extLst>
              <a:ext uri="{FF2B5EF4-FFF2-40B4-BE49-F238E27FC236}">
                <a16:creationId xmlns:a16="http://schemas.microsoft.com/office/drawing/2014/main" id="{09B009A7-6B67-C7BC-80DD-65E4BF6AF712}"/>
              </a:ext>
            </a:extLst>
          </p:cNvPr>
          <p:cNvSpPr>
            <a:spLocks noChangeShapeType="1"/>
          </p:cNvSpPr>
          <p:nvPr/>
        </p:nvSpPr>
        <p:spPr bwMode="auto">
          <a:xfrm flipH="1">
            <a:off x="6553200" y="2735263"/>
            <a:ext cx="0" cy="1687512"/>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7721" name="Rectangle 27">
            <a:extLst>
              <a:ext uri="{FF2B5EF4-FFF2-40B4-BE49-F238E27FC236}">
                <a16:creationId xmlns:a16="http://schemas.microsoft.com/office/drawing/2014/main" id="{05C934C9-4DA5-653B-1C73-C429895437D0}"/>
              </a:ext>
            </a:extLst>
          </p:cNvPr>
          <p:cNvSpPr>
            <a:spLocks noChangeArrowheads="1"/>
          </p:cNvSpPr>
          <p:nvPr/>
        </p:nvSpPr>
        <p:spPr bwMode="auto">
          <a:xfrm>
            <a:off x="7261225" y="5046663"/>
            <a:ext cx="11207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物理地址</a:t>
            </a:r>
          </a:p>
        </p:txBody>
      </p:sp>
      <p:sp>
        <p:nvSpPr>
          <p:cNvPr id="157722" name="Rectangle 28">
            <a:extLst>
              <a:ext uri="{FF2B5EF4-FFF2-40B4-BE49-F238E27FC236}">
                <a16:creationId xmlns:a16="http://schemas.microsoft.com/office/drawing/2014/main" id="{B2C21E18-6C77-C74F-397B-DADEC09EFEA4}"/>
              </a:ext>
            </a:extLst>
          </p:cNvPr>
          <p:cNvSpPr>
            <a:spLocks noChangeArrowheads="1"/>
          </p:cNvSpPr>
          <p:nvPr/>
        </p:nvSpPr>
        <p:spPr bwMode="auto">
          <a:xfrm>
            <a:off x="3649663" y="5318125"/>
            <a:ext cx="617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段表</a:t>
            </a:r>
          </a:p>
        </p:txBody>
      </p:sp>
      <p:sp>
        <p:nvSpPr>
          <p:cNvPr id="157723" name="Line 29">
            <a:extLst>
              <a:ext uri="{FF2B5EF4-FFF2-40B4-BE49-F238E27FC236}">
                <a16:creationId xmlns:a16="http://schemas.microsoft.com/office/drawing/2014/main" id="{F87E55C9-1F58-648E-FA22-19FCF40A4761}"/>
              </a:ext>
            </a:extLst>
          </p:cNvPr>
          <p:cNvSpPr>
            <a:spLocks noChangeShapeType="1"/>
          </p:cNvSpPr>
          <p:nvPr/>
        </p:nvSpPr>
        <p:spPr bwMode="auto">
          <a:xfrm>
            <a:off x="3276600" y="2514600"/>
            <a:ext cx="749300"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7724" name="Line 30">
            <a:extLst>
              <a:ext uri="{FF2B5EF4-FFF2-40B4-BE49-F238E27FC236}">
                <a16:creationId xmlns:a16="http://schemas.microsoft.com/office/drawing/2014/main" id="{516DB151-6814-2E18-D159-35DC8E9F3B5A}"/>
              </a:ext>
            </a:extLst>
          </p:cNvPr>
          <p:cNvSpPr>
            <a:spLocks noChangeShapeType="1"/>
          </p:cNvSpPr>
          <p:nvPr/>
        </p:nvSpPr>
        <p:spPr bwMode="auto">
          <a:xfrm>
            <a:off x="3884613" y="3790950"/>
            <a:ext cx="1587" cy="13573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25" name="Oval 31">
            <a:extLst>
              <a:ext uri="{FF2B5EF4-FFF2-40B4-BE49-F238E27FC236}">
                <a16:creationId xmlns:a16="http://schemas.microsoft.com/office/drawing/2014/main" id="{E5D73D57-8341-A03D-8807-8CD3AE3734ED}"/>
              </a:ext>
            </a:extLst>
          </p:cNvPr>
          <p:cNvSpPr>
            <a:spLocks noChangeArrowheads="1"/>
          </p:cNvSpPr>
          <p:nvPr/>
        </p:nvSpPr>
        <p:spPr bwMode="auto">
          <a:xfrm>
            <a:off x="6307138" y="4449763"/>
            <a:ext cx="503237" cy="503237"/>
          </a:xfrm>
          <a:prstGeom prst="ellipse">
            <a:avLst/>
          </a:prstGeom>
          <a:solidFill>
            <a:srgbClr val="FFFFFF"/>
          </a:solidFill>
          <a:ln w="28575">
            <a:solidFill>
              <a:srgbClr val="000000"/>
            </a:solidFill>
            <a:round/>
            <a:headEnd/>
            <a:tailEnd/>
          </a:ln>
        </p:spPr>
        <p:txBody>
          <a:bodyPr lIns="0" tIns="0" rIns="0" bIns="0"/>
          <a:lstStyle/>
          <a:p>
            <a:pPr algn="ctr" eaLnBrk="0" hangingPunct="0"/>
            <a:r>
              <a:rPr lang="zh-CN" altLang="en-US" sz="2000">
                <a:latin typeface="Times New Roman" panose="02020603050405020304" pitchFamily="18" charset="0"/>
              </a:rPr>
              <a:t>＋</a:t>
            </a:r>
          </a:p>
        </p:txBody>
      </p:sp>
      <p:sp>
        <p:nvSpPr>
          <p:cNvPr id="157726" name="Rectangle 32">
            <a:extLst>
              <a:ext uri="{FF2B5EF4-FFF2-40B4-BE49-F238E27FC236}">
                <a16:creationId xmlns:a16="http://schemas.microsoft.com/office/drawing/2014/main" id="{B47FCDEA-4064-BA9A-A83F-45A033AF1EDF}"/>
              </a:ext>
            </a:extLst>
          </p:cNvPr>
          <p:cNvSpPr>
            <a:spLocks noChangeArrowheads="1"/>
          </p:cNvSpPr>
          <p:nvPr/>
        </p:nvSpPr>
        <p:spPr bwMode="auto">
          <a:xfrm>
            <a:off x="7315200" y="4527550"/>
            <a:ext cx="890588" cy="420688"/>
          </a:xfrm>
          <a:prstGeom prst="rect">
            <a:avLst/>
          </a:prstGeom>
          <a:solidFill>
            <a:srgbClr val="FFFFFF"/>
          </a:solidFill>
          <a:ln w="28575">
            <a:solidFill>
              <a:srgbClr val="000000"/>
            </a:solidFill>
            <a:miter lim="800000"/>
            <a:headEnd/>
            <a:tailEnd/>
          </a:ln>
        </p:spPr>
        <p:txBody>
          <a:bodyPr/>
          <a:lstStyle/>
          <a:p>
            <a:pPr algn="just" eaLnBrk="0" hangingPunct="0"/>
            <a:r>
              <a:rPr lang="zh-CN" altLang="en-US" sz="2000">
                <a:latin typeface="Times New Roman" panose="02020603050405020304" pitchFamily="18" charset="0"/>
              </a:rPr>
              <a:t>8292</a:t>
            </a:r>
          </a:p>
        </p:txBody>
      </p:sp>
      <p:sp>
        <p:nvSpPr>
          <p:cNvPr id="157727" name="Line 33">
            <a:extLst>
              <a:ext uri="{FF2B5EF4-FFF2-40B4-BE49-F238E27FC236}">
                <a16:creationId xmlns:a16="http://schemas.microsoft.com/office/drawing/2014/main" id="{3E8EC49F-FBE3-FB4D-53A0-2D221B6E3499}"/>
              </a:ext>
            </a:extLst>
          </p:cNvPr>
          <p:cNvSpPr>
            <a:spLocks noChangeShapeType="1"/>
          </p:cNvSpPr>
          <p:nvPr/>
        </p:nvSpPr>
        <p:spPr bwMode="auto">
          <a:xfrm>
            <a:off x="6827838" y="4724400"/>
            <a:ext cx="487362"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04440815-521F-C44E-839E-464B539545A6}"/>
              </a:ext>
            </a:extLst>
          </p:cNvPr>
          <p:cNvSpPr>
            <a:spLocks noGrp="1" noChangeArrowheads="1"/>
          </p:cNvSpPr>
          <p:nvPr>
            <p:ph type="title"/>
          </p:nvPr>
        </p:nvSpPr>
        <p:spPr>
          <a:xfrm>
            <a:off x="1042988" y="225431"/>
            <a:ext cx="7850187" cy="746125"/>
          </a:xfrm>
        </p:spPr>
        <p:txBody>
          <a:bodyPr/>
          <a:lstStyle/>
          <a:p>
            <a:r>
              <a:rPr lang="zh-CN" altLang="en-US"/>
              <a:t>分段地址变换例</a:t>
            </a:r>
          </a:p>
        </p:txBody>
      </p:sp>
      <p:sp>
        <p:nvSpPr>
          <p:cNvPr id="171011" name="Rectangle 3">
            <a:extLst>
              <a:ext uri="{FF2B5EF4-FFF2-40B4-BE49-F238E27FC236}">
                <a16:creationId xmlns:a16="http://schemas.microsoft.com/office/drawing/2014/main" id="{D2522B34-F8FF-6A82-1FC0-D25C1851E4E1}"/>
              </a:ext>
            </a:extLst>
          </p:cNvPr>
          <p:cNvSpPr>
            <a:spLocks noGrp="1" noChangeArrowheads="1"/>
          </p:cNvSpPr>
          <p:nvPr>
            <p:ph idx="1"/>
          </p:nvPr>
        </p:nvSpPr>
        <p:spPr>
          <a:xfrm>
            <a:off x="935038" y="1233488"/>
            <a:ext cx="7772400" cy="4895850"/>
          </a:xfrm>
        </p:spPr>
        <p:txBody>
          <a:bodyPr/>
          <a:lstStyle/>
          <a:p>
            <a:r>
              <a:rPr lang="zh-CN" altLang="en-US"/>
              <a:t>设作业分为3段，0、1、2段长度分别为1</a:t>
            </a:r>
            <a:r>
              <a:rPr lang="en-US" altLang="zh-CN"/>
              <a:t>K、800、600，</a:t>
            </a:r>
            <a:r>
              <a:rPr lang="zh-CN" altLang="en-US"/>
              <a:t>分别存放在内存6</a:t>
            </a:r>
            <a:r>
              <a:rPr lang="en-US" altLang="zh-CN"/>
              <a:t>K、4K、8K</a:t>
            </a:r>
            <a:r>
              <a:rPr lang="zh-CN" altLang="en-US"/>
              <a:t>开始的内存区域。</a:t>
            </a:r>
          </a:p>
          <a:p>
            <a:r>
              <a:rPr lang="zh-CN" altLang="en-US"/>
              <a:t>逻辑地址（2，100）的段号为2，段内位移为100。</a:t>
            </a:r>
          </a:p>
          <a:p>
            <a:r>
              <a:rPr lang="zh-CN" altLang="en-US"/>
              <a:t>查段表可知第2段在内存的起始地址8</a:t>
            </a:r>
            <a:r>
              <a:rPr lang="en-US" altLang="zh-CN"/>
              <a:t>K。</a:t>
            </a:r>
          </a:p>
          <a:p>
            <a:r>
              <a:rPr lang="zh-CN" altLang="en-US"/>
              <a:t>将起始地址与段内位移相加，8</a:t>
            </a:r>
            <a:r>
              <a:rPr lang="en-US" altLang="zh-CN"/>
              <a:t>K＋100＝8292，</a:t>
            </a:r>
            <a:r>
              <a:rPr lang="zh-CN" altLang="en-US"/>
              <a:t>物理地址为8292。</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animEffect transition="in" filter="checkerboard(across)">
                                      <p:cBhvr>
                                        <p:cTn id="7" dur="500"/>
                                        <p:tgtEl>
                                          <p:spTgt spid="171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71011">
                                            <p:txEl>
                                              <p:pRg st="1" end="1"/>
                                            </p:txEl>
                                          </p:spTgt>
                                        </p:tgtEl>
                                        <p:attrNameLst>
                                          <p:attrName>style.visibility</p:attrName>
                                        </p:attrNameLst>
                                      </p:cBhvr>
                                      <p:to>
                                        <p:strVal val="visible"/>
                                      </p:to>
                                    </p:set>
                                    <p:animEffect transition="in" filter="checkerboard(across)">
                                      <p:cBhvr>
                                        <p:cTn id="12" dur="500"/>
                                        <p:tgtEl>
                                          <p:spTgt spid="171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71011">
                                            <p:txEl>
                                              <p:pRg st="2" end="2"/>
                                            </p:txEl>
                                          </p:spTgt>
                                        </p:tgtEl>
                                        <p:attrNameLst>
                                          <p:attrName>style.visibility</p:attrName>
                                        </p:attrNameLst>
                                      </p:cBhvr>
                                      <p:to>
                                        <p:strVal val="visible"/>
                                      </p:to>
                                    </p:set>
                                    <p:animEffect transition="in" filter="checkerboard(across)">
                                      <p:cBhvr>
                                        <p:cTn id="17" dur="500"/>
                                        <p:tgtEl>
                                          <p:spTgt spid="1710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71011">
                                            <p:txEl>
                                              <p:pRg st="3" end="3"/>
                                            </p:txEl>
                                          </p:spTgt>
                                        </p:tgtEl>
                                        <p:attrNameLst>
                                          <p:attrName>style.visibility</p:attrName>
                                        </p:attrNameLst>
                                      </p:cBhvr>
                                      <p:to>
                                        <p:strVal val="visible"/>
                                      </p:to>
                                    </p:set>
                                    <p:animEffect transition="in" filter="checkerboard(across)">
                                      <p:cBhvr>
                                        <p:cTn id="22" dur="500"/>
                                        <p:tgtEl>
                                          <p:spTgt spid="1710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a:extLst>
              <a:ext uri="{FF2B5EF4-FFF2-40B4-BE49-F238E27FC236}">
                <a16:creationId xmlns:a16="http://schemas.microsoft.com/office/drawing/2014/main" id="{83F4D306-06FB-1BB5-8F34-AC6FDE2DAD9D}"/>
              </a:ext>
            </a:extLst>
          </p:cNvPr>
          <p:cNvSpPr>
            <a:spLocks noGrp="1" noChangeArrowheads="1"/>
          </p:cNvSpPr>
          <p:nvPr>
            <p:ph type="title"/>
          </p:nvPr>
        </p:nvSpPr>
        <p:spPr>
          <a:xfrm>
            <a:off x="1042988" y="225431"/>
            <a:ext cx="7850187" cy="746125"/>
          </a:xfrm>
        </p:spPr>
        <p:txBody>
          <a:bodyPr/>
          <a:lstStyle/>
          <a:p>
            <a:r>
              <a:rPr lang="zh-CN" altLang="en-US"/>
              <a:t>分段与分页的主要区别</a:t>
            </a:r>
          </a:p>
        </p:txBody>
      </p:sp>
      <p:sp>
        <p:nvSpPr>
          <p:cNvPr id="172035" name="Rectangle 3">
            <a:extLst>
              <a:ext uri="{FF2B5EF4-FFF2-40B4-BE49-F238E27FC236}">
                <a16:creationId xmlns:a16="http://schemas.microsoft.com/office/drawing/2014/main" id="{D8031278-2E71-4218-0E7F-665DCEB91EC1}"/>
              </a:ext>
            </a:extLst>
          </p:cNvPr>
          <p:cNvSpPr>
            <a:spLocks noGrp="1" noChangeArrowheads="1"/>
          </p:cNvSpPr>
          <p:nvPr>
            <p:ph idx="1"/>
          </p:nvPr>
        </p:nvSpPr>
        <p:spPr>
          <a:xfrm>
            <a:off x="935038" y="1233488"/>
            <a:ext cx="7772400" cy="4895850"/>
          </a:xfrm>
        </p:spPr>
        <p:txBody>
          <a:bodyPr>
            <a:normAutofit fontScale="92500" lnSpcReduction="20000"/>
          </a:bodyPr>
          <a:lstStyle/>
          <a:p>
            <a:pPr>
              <a:lnSpc>
                <a:spcPct val="120000"/>
              </a:lnSpc>
            </a:pPr>
            <a:r>
              <a:rPr lang="zh-CN" altLang="en-US" dirty="0"/>
              <a:t>分页管理与分段管理有许多相似之处，但两者在概念上也有很多区别，主要表现在：</a:t>
            </a:r>
          </a:p>
          <a:p>
            <a:pPr lvl="1">
              <a:lnSpc>
                <a:spcPct val="120000"/>
              </a:lnSpc>
            </a:pPr>
            <a:r>
              <a:rPr lang="zh-CN" altLang="en-US" dirty="0"/>
              <a:t>页是信息的物理单位，是为了减少内存碎片及提高内存利用率，是系统管理的需要。段是信息的逻辑单位，它含有一组意义相对完整的信息，分段的目的是为了更好地满足用户的需要。</a:t>
            </a:r>
          </a:p>
          <a:p>
            <a:pPr lvl="1">
              <a:lnSpc>
                <a:spcPct val="120000"/>
              </a:lnSpc>
            </a:pPr>
            <a:r>
              <a:rPr lang="zh-CN" altLang="en-US" dirty="0"/>
              <a:t>页的大小固定且由系统决定，由硬件把逻辑地址划分为页号和页内地址两部分。段的长度不固定且由用户所编写的程序决定，通常由编译系统在对源程序进行编译时根据信息的性质来划分。</a:t>
            </a:r>
          </a:p>
          <a:p>
            <a:pPr lvl="1">
              <a:lnSpc>
                <a:spcPct val="120000"/>
              </a:lnSpc>
            </a:pPr>
            <a:r>
              <a:rPr lang="zh-CN" altLang="en-US" dirty="0"/>
              <a:t>分页系统中作业的地址空间是一维的，分段系统中作业的地址空间是二维的。</a:t>
            </a:r>
          </a:p>
        </p:txBody>
      </p:sp>
    </p:spTree>
  </p:cSld>
  <p:clrMapOvr>
    <a:masterClrMapping/>
  </p:clrMapOvr>
  <p:transition spd="med">
    <p:zoom/>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FAAF3ECA-9E88-45B4-C6B1-09F835A2985D}"/>
              </a:ext>
            </a:extLst>
          </p:cNvPr>
          <p:cNvSpPr>
            <a:spLocks noGrp="1" noChangeArrowheads="1"/>
          </p:cNvSpPr>
          <p:nvPr>
            <p:ph type="title"/>
          </p:nvPr>
        </p:nvSpPr>
        <p:spPr/>
        <p:txBody>
          <a:bodyPr/>
          <a:lstStyle/>
          <a:p>
            <a:pPr eaLnBrk="1" hangingPunct="1"/>
            <a:r>
              <a:rPr lang="zh-CN" altLang="en-US"/>
              <a:t>分段保护</a:t>
            </a:r>
          </a:p>
        </p:txBody>
      </p:sp>
      <p:sp>
        <p:nvSpPr>
          <p:cNvPr id="160770" name="Rectangle 3">
            <a:extLst>
              <a:ext uri="{FF2B5EF4-FFF2-40B4-BE49-F238E27FC236}">
                <a16:creationId xmlns:a16="http://schemas.microsoft.com/office/drawing/2014/main" id="{B7C9E49E-59FF-9B49-86E5-52FCB9C26D9A}"/>
              </a:ext>
            </a:extLst>
          </p:cNvPr>
          <p:cNvSpPr>
            <a:spLocks noGrp="1" noChangeArrowheads="1"/>
          </p:cNvSpPr>
          <p:nvPr>
            <p:ph idx="1"/>
          </p:nvPr>
        </p:nvSpPr>
        <p:spPr>
          <a:xfrm>
            <a:off x="755650" y="1270000"/>
            <a:ext cx="8148638" cy="4967288"/>
          </a:xfrm>
        </p:spPr>
        <p:txBody>
          <a:bodyPr/>
          <a:lstStyle/>
          <a:p>
            <a:pPr eaLnBrk="1" hangingPunct="1"/>
            <a:r>
              <a:rPr lang="zh-CN" altLang="en-US"/>
              <a:t>分段保护方法有：</a:t>
            </a:r>
          </a:p>
          <a:p>
            <a:pPr lvl="1" eaLnBrk="1" hangingPunct="1"/>
            <a:r>
              <a:rPr lang="zh-CN" altLang="en-US"/>
              <a:t>地址越界保护：段号与段表长度的比较，段内位移与段长的比较</a:t>
            </a:r>
          </a:p>
          <a:p>
            <a:pPr lvl="1" eaLnBrk="1" hangingPunct="1"/>
            <a:r>
              <a:rPr lang="zh-CN" altLang="en-US"/>
              <a:t>存取控制保护：设置存取权限，访问段时判断访问类型与存取权限是否相符</a:t>
            </a:r>
          </a:p>
        </p:txBody>
      </p:sp>
      <p:sp>
        <p:nvSpPr>
          <p:cNvPr id="220164" name="AutoShape 4">
            <a:extLst>
              <a:ext uri="{FF2B5EF4-FFF2-40B4-BE49-F238E27FC236}">
                <a16:creationId xmlns:a16="http://schemas.microsoft.com/office/drawing/2014/main" id="{E9DA42BF-447B-F45E-D90E-49BC653B4AD2}"/>
              </a:ext>
            </a:extLst>
          </p:cNvPr>
          <p:cNvSpPr>
            <a:spLocks noChangeArrowheads="1"/>
          </p:cNvSpPr>
          <p:nvPr/>
        </p:nvSpPr>
        <p:spPr bwMode="auto">
          <a:xfrm>
            <a:off x="1547813" y="4508500"/>
            <a:ext cx="6119812" cy="1296988"/>
          </a:xfrm>
          <a:prstGeom prst="cloudCallout">
            <a:avLst>
              <a:gd name="adj1" fmla="val -43750"/>
              <a:gd name="adj2" fmla="val 70000"/>
            </a:avLst>
          </a:prstGeom>
          <a:solidFill>
            <a:srgbClr val="D0F6FF"/>
          </a:solidFill>
          <a:ln w="28575">
            <a:solidFill>
              <a:srgbClr val="000000"/>
            </a:solidFill>
            <a:round/>
            <a:headEnd/>
            <a:tailEnd type="none" w="sm" len="med"/>
          </a:ln>
        </p:spPr>
        <p:txBody>
          <a:bodyPr/>
          <a:lstStyle/>
          <a:p>
            <a:pPr algn="ctr"/>
            <a:r>
              <a:rPr lang="zh-CN" altLang="en-US"/>
              <a:t>分段系统的内存管理采用什么方法？</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220164"/>
                                        </p:tgtEl>
                                        <p:attrNameLst>
                                          <p:attrName>style.visibility</p:attrName>
                                        </p:attrNameLst>
                                      </p:cBhvr>
                                      <p:to>
                                        <p:strVal val="visible"/>
                                      </p:to>
                                    </p:set>
                                    <p:anim calcmode="lin" valueType="num">
                                      <p:cBhvr>
                                        <p:cTn id="7" dur="1000" fill="hold"/>
                                        <p:tgtEl>
                                          <p:spTgt spid="220164"/>
                                        </p:tgtEl>
                                        <p:attrNameLst>
                                          <p:attrName>ppt_w</p:attrName>
                                        </p:attrNameLst>
                                      </p:cBhvr>
                                      <p:tavLst>
                                        <p:tav tm="0">
                                          <p:val>
                                            <p:fltVal val="0"/>
                                          </p:val>
                                        </p:tav>
                                        <p:tav tm="100000">
                                          <p:val>
                                            <p:strVal val="#ppt_w"/>
                                          </p:val>
                                        </p:tav>
                                      </p:tavLst>
                                    </p:anim>
                                    <p:anim calcmode="lin" valueType="num">
                                      <p:cBhvr>
                                        <p:cTn id="8" dur="1000" fill="hold"/>
                                        <p:tgtEl>
                                          <p:spTgt spid="220164"/>
                                        </p:tgtEl>
                                        <p:attrNameLst>
                                          <p:attrName>ppt_h</p:attrName>
                                        </p:attrNameLst>
                                      </p:cBhvr>
                                      <p:tavLst>
                                        <p:tav tm="0">
                                          <p:val>
                                            <p:fltVal val="0"/>
                                          </p:val>
                                        </p:tav>
                                        <p:tav tm="100000">
                                          <p:val>
                                            <p:strVal val="#ppt_h"/>
                                          </p:val>
                                        </p:tav>
                                      </p:tavLst>
                                    </p:anim>
                                    <p:anim calcmode="lin" valueType="num">
                                      <p:cBhvr>
                                        <p:cTn id="9" dur="1000" fill="hold"/>
                                        <p:tgtEl>
                                          <p:spTgt spid="220164"/>
                                        </p:tgtEl>
                                        <p:attrNameLst>
                                          <p:attrName>style.rotation</p:attrName>
                                        </p:attrNameLst>
                                      </p:cBhvr>
                                      <p:tavLst>
                                        <p:tav tm="0">
                                          <p:val>
                                            <p:fltVal val="90"/>
                                          </p:val>
                                        </p:tav>
                                        <p:tav tm="100000">
                                          <p:val>
                                            <p:fltVal val="0"/>
                                          </p:val>
                                        </p:tav>
                                      </p:tavLst>
                                    </p:anim>
                                    <p:animEffect transition="in" filter="fade">
                                      <p:cBhvr>
                                        <p:cTn id="10" dur="1000"/>
                                        <p:tgtEl>
                                          <p:spTgt spid="220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4"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2">
            <a:extLst>
              <a:ext uri="{FF2B5EF4-FFF2-40B4-BE49-F238E27FC236}">
                <a16:creationId xmlns:a16="http://schemas.microsoft.com/office/drawing/2014/main" id="{DA897F3A-56C3-9249-C26A-9F8F3B7E3369}"/>
              </a:ext>
            </a:extLst>
          </p:cNvPr>
          <p:cNvSpPr>
            <a:spLocks noGrp="1" noChangeArrowheads="1"/>
          </p:cNvSpPr>
          <p:nvPr>
            <p:ph type="title"/>
          </p:nvPr>
        </p:nvSpPr>
        <p:spPr/>
        <p:txBody>
          <a:bodyPr/>
          <a:lstStyle/>
          <a:p>
            <a:pPr eaLnBrk="1" hangingPunct="1"/>
            <a:r>
              <a:rPr lang="zh-CN" altLang="en-US"/>
              <a:t>分段系统中的信息共享</a:t>
            </a:r>
          </a:p>
        </p:txBody>
      </p:sp>
      <p:sp>
        <p:nvSpPr>
          <p:cNvPr id="161794" name="Rectangle 3">
            <a:extLst>
              <a:ext uri="{FF2B5EF4-FFF2-40B4-BE49-F238E27FC236}">
                <a16:creationId xmlns:a16="http://schemas.microsoft.com/office/drawing/2014/main" id="{38F3790A-876A-F67C-914F-751C4CE442D7}"/>
              </a:ext>
            </a:extLst>
          </p:cNvPr>
          <p:cNvSpPr>
            <a:spLocks noGrp="1" noChangeArrowheads="1"/>
          </p:cNvSpPr>
          <p:nvPr>
            <p:ph idx="1"/>
          </p:nvPr>
        </p:nvSpPr>
        <p:spPr>
          <a:xfrm>
            <a:off x="827088" y="1270000"/>
            <a:ext cx="8005762" cy="4967288"/>
          </a:xfrm>
        </p:spPr>
        <p:txBody>
          <a:bodyPr/>
          <a:lstStyle/>
          <a:p>
            <a:pPr eaLnBrk="1" hangingPunct="1"/>
            <a:r>
              <a:rPr lang="zh-CN" altLang="en-US"/>
              <a:t>在分段存储管理系统中，信息的共享是通过使多个进程的段表项指向同一内存区域实现的。 </a:t>
            </a:r>
          </a:p>
        </p:txBody>
      </p:sp>
    </p:spTree>
  </p:cSld>
  <p:clrMapOvr>
    <a:masterClrMapping/>
  </p:clrMapOvr>
  <p:transition spd="med">
    <p:zoom/>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a:extLst>
              <a:ext uri="{FF2B5EF4-FFF2-40B4-BE49-F238E27FC236}">
                <a16:creationId xmlns:a16="http://schemas.microsoft.com/office/drawing/2014/main" id="{DAE3C24C-C8CD-60BB-5E97-62F00E85D1B7}"/>
              </a:ext>
            </a:extLst>
          </p:cNvPr>
          <p:cNvSpPr>
            <a:spLocks noGrp="1" noChangeArrowheads="1"/>
          </p:cNvSpPr>
          <p:nvPr>
            <p:ph type="title"/>
          </p:nvPr>
        </p:nvSpPr>
        <p:spPr/>
        <p:txBody>
          <a:bodyPr/>
          <a:lstStyle/>
          <a:p>
            <a:pPr eaLnBrk="1" hangingPunct="1"/>
            <a:r>
              <a:rPr lang="zh-CN" altLang="en-US"/>
              <a:t>分段系统中共享信息示意图</a:t>
            </a:r>
          </a:p>
        </p:txBody>
      </p:sp>
      <p:sp>
        <p:nvSpPr>
          <p:cNvPr id="162818" name="Rectangle 3">
            <a:extLst>
              <a:ext uri="{FF2B5EF4-FFF2-40B4-BE49-F238E27FC236}">
                <a16:creationId xmlns:a16="http://schemas.microsoft.com/office/drawing/2014/main" id="{0A89B5CF-72FC-2C85-9DEC-D12B4B2FA981}"/>
              </a:ext>
            </a:extLst>
          </p:cNvPr>
          <p:cNvSpPr>
            <a:spLocks noChangeArrowheads="1"/>
          </p:cNvSpPr>
          <p:nvPr/>
        </p:nvSpPr>
        <p:spPr bwMode="auto">
          <a:xfrm>
            <a:off x="1636713" y="1752600"/>
            <a:ext cx="7921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a:latin typeface="Times New Roman" panose="02020603050405020304" pitchFamily="18" charset="0"/>
              </a:rPr>
              <a:t>进程1</a:t>
            </a:r>
          </a:p>
        </p:txBody>
      </p:sp>
      <p:sp>
        <p:nvSpPr>
          <p:cNvPr id="162819" name="Rectangle 4">
            <a:extLst>
              <a:ext uri="{FF2B5EF4-FFF2-40B4-BE49-F238E27FC236}">
                <a16:creationId xmlns:a16="http://schemas.microsoft.com/office/drawing/2014/main" id="{7150F7DF-88AF-547D-372F-FB983856E612}"/>
              </a:ext>
            </a:extLst>
          </p:cNvPr>
          <p:cNvSpPr>
            <a:spLocks noChangeArrowheads="1"/>
          </p:cNvSpPr>
          <p:nvPr/>
        </p:nvSpPr>
        <p:spPr bwMode="auto">
          <a:xfrm>
            <a:off x="3505200" y="1752600"/>
            <a:ext cx="793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a:latin typeface="Times New Roman" panose="02020603050405020304" pitchFamily="18" charset="0"/>
              </a:rPr>
              <a:t>段表</a:t>
            </a:r>
          </a:p>
        </p:txBody>
      </p:sp>
      <p:sp>
        <p:nvSpPr>
          <p:cNvPr id="162820" name="Rectangle 5">
            <a:extLst>
              <a:ext uri="{FF2B5EF4-FFF2-40B4-BE49-F238E27FC236}">
                <a16:creationId xmlns:a16="http://schemas.microsoft.com/office/drawing/2014/main" id="{88CFEA3A-7A41-18F2-9ABF-BC3AB686A0F1}"/>
              </a:ext>
            </a:extLst>
          </p:cNvPr>
          <p:cNvSpPr>
            <a:spLocks noChangeArrowheads="1"/>
          </p:cNvSpPr>
          <p:nvPr/>
        </p:nvSpPr>
        <p:spPr bwMode="auto">
          <a:xfrm>
            <a:off x="3116263" y="4297363"/>
            <a:ext cx="1443037" cy="1436687"/>
          </a:xfrm>
          <a:prstGeom prst="rect">
            <a:avLst/>
          </a:prstGeom>
          <a:solidFill>
            <a:srgbClr val="FFFFFF"/>
          </a:solidFill>
          <a:ln w="25400">
            <a:solidFill>
              <a:srgbClr val="000000"/>
            </a:solidFill>
            <a:miter lim="800000"/>
            <a:headEnd/>
            <a:tailEnd/>
          </a:ln>
        </p:spPr>
        <p:txBody>
          <a:bodyPr lIns="0" tIns="108000" rIns="0" bIns="36000"/>
          <a:lstStyle/>
          <a:p>
            <a:pPr algn="just" eaLnBrk="0" hangingPunct="0"/>
            <a:r>
              <a:rPr lang="zh-CN" altLang="en-US">
                <a:latin typeface="Times New Roman" panose="02020603050405020304" pitchFamily="18" charset="0"/>
              </a:rPr>
              <a:t>    段</a:t>
            </a:r>
            <a:r>
              <a:rPr lang="zh-CN" altLang="en-US" dirty="0">
                <a:latin typeface="Times New Roman" panose="02020603050405020304" pitchFamily="18" charset="0"/>
              </a:rPr>
              <a:t>长 基址</a:t>
            </a:r>
          </a:p>
          <a:p>
            <a:pPr algn="just" eaLnBrk="0" hangingPunct="0"/>
            <a:endParaRPr lang="zh-CN" altLang="en-US" sz="800" dirty="0">
              <a:latin typeface="Times New Roman" panose="02020603050405020304" pitchFamily="18" charset="0"/>
            </a:endParaRPr>
          </a:p>
          <a:p>
            <a:pPr algn="just" eaLnBrk="0" hangingPunct="0"/>
            <a:r>
              <a:rPr lang="zh-CN" altLang="en-US" dirty="0">
                <a:latin typeface="Times New Roman" panose="02020603050405020304" pitchFamily="18" charset="0"/>
              </a:rPr>
              <a:t>     160     80</a:t>
            </a:r>
            <a:endParaRPr lang="en-US" altLang="zh-CN" dirty="0">
              <a:latin typeface="Times New Roman" panose="02020603050405020304" pitchFamily="18" charset="0"/>
            </a:endParaRPr>
          </a:p>
          <a:p>
            <a:pPr algn="just" eaLnBrk="0" hangingPunct="0"/>
            <a:endParaRPr lang="zh-CN" altLang="en-US" dirty="0">
              <a:latin typeface="Times New Roman" panose="02020603050405020304" pitchFamily="18" charset="0"/>
            </a:endParaRPr>
          </a:p>
          <a:p>
            <a:pPr algn="just" eaLnBrk="0" hangingPunct="0"/>
            <a:r>
              <a:rPr lang="zh-CN" altLang="en-US" dirty="0">
                <a:latin typeface="Times New Roman" panose="02020603050405020304" pitchFamily="18" charset="0"/>
              </a:rPr>
              <a:t>       40    380</a:t>
            </a:r>
          </a:p>
        </p:txBody>
      </p:sp>
      <p:sp>
        <p:nvSpPr>
          <p:cNvPr id="162821" name="Rectangle 6">
            <a:extLst>
              <a:ext uri="{FF2B5EF4-FFF2-40B4-BE49-F238E27FC236}">
                <a16:creationId xmlns:a16="http://schemas.microsoft.com/office/drawing/2014/main" id="{2C9DFED4-D38D-9DAA-301E-CF670520F3B9}"/>
              </a:ext>
            </a:extLst>
          </p:cNvPr>
          <p:cNvSpPr>
            <a:spLocks noChangeArrowheads="1"/>
          </p:cNvSpPr>
          <p:nvPr/>
        </p:nvSpPr>
        <p:spPr bwMode="auto">
          <a:xfrm>
            <a:off x="1495425" y="4330700"/>
            <a:ext cx="1128713" cy="1220788"/>
          </a:xfrm>
          <a:prstGeom prst="rect">
            <a:avLst/>
          </a:prstGeom>
          <a:solidFill>
            <a:srgbClr val="FFFFFF"/>
          </a:solidFill>
          <a:ln w="25400">
            <a:solidFill>
              <a:srgbClr val="000000"/>
            </a:solidFill>
            <a:miter lim="800000"/>
            <a:headEnd/>
            <a:tailEnd/>
          </a:ln>
        </p:spPr>
        <p:txBody>
          <a:bodyPr lIns="0" tIns="36000" rIns="0" bIns="36000"/>
          <a:lstStyle/>
          <a:p>
            <a:pPr algn="just" eaLnBrk="0" hangingPunct="0"/>
            <a:r>
              <a:rPr lang="en-US" altLang="zh-CN">
                <a:latin typeface="Times New Roman" panose="02020603050405020304" pitchFamily="18" charset="0"/>
              </a:rPr>
              <a:t>    ed</a:t>
            </a:r>
          </a:p>
          <a:p>
            <a:pPr algn="just" eaLnBrk="0" hangingPunct="0"/>
            <a:endParaRPr lang="en-US" altLang="zh-CN">
              <a:latin typeface="Times New Roman" panose="02020603050405020304" pitchFamily="18" charset="0"/>
            </a:endParaRPr>
          </a:p>
          <a:p>
            <a:pPr algn="just" eaLnBrk="0" hangingPunct="0"/>
            <a:r>
              <a:rPr lang="en-US" altLang="zh-CN">
                <a:latin typeface="Times New Roman" panose="02020603050405020304" pitchFamily="18" charset="0"/>
              </a:rPr>
              <a:t>   data2</a:t>
            </a:r>
          </a:p>
        </p:txBody>
      </p:sp>
      <p:sp>
        <p:nvSpPr>
          <p:cNvPr id="162822" name="Rectangle 7">
            <a:extLst>
              <a:ext uri="{FF2B5EF4-FFF2-40B4-BE49-F238E27FC236}">
                <a16:creationId xmlns:a16="http://schemas.microsoft.com/office/drawing/2014/main" id="{3393F8C0-A055-4A4D-F35B-4ABD84E566E3}"/>
              </a:ext>
            </a:extLst>
          </p:cNvPr>
          <p:cNvSpPr>
            <a:spLocks noChangeArrowheads="1"/>
          </p:cNvSpPr>
          <p:nvPr/>
        </p:nvSpPr>
        <p:spPr bwMode="auto">
          <a:xfrm>
            <a:off x="7231063" y="2574925"/>
            <a:ext cx="465137"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a:latin typeface="Times New Roman" panose="02020603050405020304" pitchFamily="18" charset="0"/>
              </a:rPr>
              <a:t>80</a:t>
            </a:r>
          </a:p>
          <a:p>
            <a:pPr algn="just" eaLnBrk="0" hangingPunct="0"/>
            <a:endParaRPr lang="zh-CN" altLang="en-US" sz="800">
              <a:latin typeface="Times New Roman" panose="02020603050405020304" pitchFamily="18" charset="0"/>
            </a:endParaRPr>
          </a:p>
          <a:p>
            <a:pPr algn="just" eaLnBrk="0" hangingPunct="0"/>
            <a:r>
              <a:rPr lang="zh-CN" altLang="en-US">
                <a:latin typeface="Times New Roman" panose="02020603050405020304" pitchFamily="18" charset="0"/>
              </a:rPr>
              <a:t>240</a:t>
            </a:r>
          </a:p>
          <a:p>
            <a:pPr algn="just" eaLnBrk="0" hangingPunct="0"/>
            <a:endParaRPr lang="zh-CN" altLang="en-US" sz="800">
              <a:latin typeface="Times New Roman" panose="02020603050405020304" pitchFamily="18" charset="0"/>
            </a:endParaRPr>
          </a:p>
          <a:p>
            <a:pPr algn="just" eaLnBrk="0" hangingPunct="0"/>
            <a:r>
              <a:rPr lang="zh-CN" altLang="en-US">
                <a:latin typeface="Times New Roman" panose="02020603050405020304" pitchFamily="18" charset="0"/>
              </a:rPr>
              <a:t>280</a:t>
            </a:r>
          </a:p>
          <a:p>
            <a:pPr algn="just" eaLnBrk="0" hangingPunct="0"/>
            <a:endParaRPr lang="zh-CN" altLang="en-US" sz="1400">
              <a:latin typeface="Times New Roman" panose="02020603050405020304" pitchFamily="18" charset="0"/>
            </a:endParaRPr>
          </a:p>
          <a:p>
            <a:pPr algn="just" eaLnBrk="0" hangingPunct="0"/>
            <a:r>
              <a:rPr lang="zh-CN" altLang="en-US">
                <a:latin typeface="Times New Roman" panose="02020603050405020304" pitchFamily="18" charset="0"/>
              </a:rPr>
              <a:t>380</a:t>
            </a:r>
          </a:p>
          <a:p>
            <a:pPr algn="just" eaLnBrk="0" hangingPunct="0"/>
            <a:r>
              <a:rPr lang="zh-CN" altLang="en-US">
                <a:latin typeface="Times New Roman" panose="02020603050405020304" pitchFamily="18" charset="0"/>
              </a:rPr>
              <a:t>420</a:t>
            </a:r>
          </a:p>
        </p:txBody>
      </p:sp>
      <p:sp>
        <p:nvSpPr>
          <p:cNvPr id="162823" name="Line 8">
            <a:extLst>
              <a:ext uri="{FF2B5EF4-FFF2-40B4-BE49-F238E27FC236}">
                <a16:creationId xmlns:a16="http://schemas.microsoft.com/office/drawing/2014/main" id="{080C5B5F-9DE6-C775-586A-0B31C9340776}"/>
              </a:ext>
            </a:extLst>
          </p:cNvPr>
          <p:cNvSpPr>
            <a:spLocks noChangeShapeType="1"/>
          </p:cNvSpPr>
          <p:nvPr/>
        </p:nvSpPr>
        <p:spPr bwMode="auto">
          <a:xfrm flipV="1">
            <a:off x="4519613" y="2797175"/>
            <a:ext cx="1028700" cy="24447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2824" name="Rectangle 9">
            <a:extLst>
              <a:ext uri="{FF2B5EF4-FFF2-40B4-BE49-F238E27FC236}">
                <a16:creationId xmlns:a16="http://schemas.microsoft.com/office/drawing/2014/main" id="{7818EC73-531B-2582-0D4C-7C6CB643E59C}"/>
              </a:ext>
            </a:extLst>
          </p:cNvPr>
          <p:cNvSpPr>
            <a:spLocks noChangeArrowheads="1"/>
          </p:cNvSpPr>
          <p:nvPr/>
        </p:nvSpPr>
        <p:spPr bwMode="auto">
          <a:xfrm>
            <a:off x="1447800" y="2243138"/>
            <a:ext cx="1130300" cy="1222375"/>
          </a:xfrm>
          <a:prstGeom prst="rect">
            <a:avLst/>
          </a:prstGeom>
          <a:solidFill>
            <a:srgbClr val="FFFFFF"/>
          </a:solidFill>
          <a:ln w="25400">
            <a:solidFill>
              <a:srgbClr val="000000"/>
            </a:solidFill>
            <a:miter lim="800000"/>
            <a:headEnd/>
            <a:tailEnd/>
          </a:ln>
        </p:spPr>
        <p:txBody>
          <a:bodyPr lIns="0" tIns="72000" rIns="0" bIns="72000"/>
          <a:lstStyle/>
          <a:p>
            <a:pPr algn="just" eaLnBrk="0" hangingPunct="0"/>
            <a:r>
              <a:rPr lang="en-US" altLang="zh-CN">
                <a:latin typeface="Times New Roman" panose="02020603050405020304" pitchFamily="18" charset="0"/>
              </a:rPr>
              <a:t>    ed</a:t>
            </a:r>
          </a:p>
          <a:p>
            <a:pPr algn="just" eaLnBrk="0" hangingPunct="0"/>
            <a:endParaRPr lang="en-US" altLang="zh-CN">
              <a:latin typeface="Times New Roman" panose="02020603050405020304" pitchFamily="18" charset="0"/>
            </a:endParaRPr>
          </a:p>
          <a:p>
            <a:pPr algn="just" eaLnBrk="0" hangingPunct="0"/>
            <a:r>
              <a:rPr lang="en-US" altLang="zh-CN">
                <a:latin typeface="Times New Roman" panose="02020603050405020304" pitchFamily="18" charset="0"/>
              </a:rPr>
              <a:t>   data1</a:t>
            </a:r>
          </a:p>
        </p:txBody>
      </p:sp>
      <p:sp>
        <p:nvSpPr>
          <p:cNvPr id="162825" name="Line 10">
            <a:extLst>
              <a:ext uri="{FF2B5EF4-FFF2-40B4-BE49-F238E27FC236}">
                <a16:creationId xmlns:a16="http://schemas.microsoft.com/office/drawing/2014/main" id="{FA2FBB08-D95F-03B9-A80F-3705A4191253}"/>
              </a:ext>
            </a:extLst>
          </p:cNvPr>
          <p:cNvSpPr>
            <a:spLocks noChangeShapeType="1"/>
          </p:cNvSpPr>
          <p:nvPr/>
        </p:nvSpPr>
        <p:spPr bwMode="auto">
          <a:xfrm>
            <a:off x="1447800" y="2830513"/>
            <a:ext cx="113030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26" name="Rectangle 11">
            <a:extLst>
              <a:ext uri="{FF2B5EF4-FFF2-40B4-BE49-F238E27FC236}">
                <a16:creationId xmlns:a16="http://schemas.microsoft.com/office/drawing/2014/main" id="{6E7FD5D4-8E85-70C6-4D5E-B176D6DDAEA1}"/>
              </a:ext>
            </a:extLst>
          </p:cNvPr>
          <p:cNvSpPr>
            <a:spLocks noChangeArrowheads="1"/>
          </p:cNvSpPr>
          <p:nvPr/>
        </p:nvSpPr>
        <p:spPr bwMode="auto">
          <a:xfrm>
            <a:off x="3068638" y="2209800"/>
            <a:ext cx="1444625" cy="1439863"/>
          </a:xfrm>
          <a:prstGeom prst="rect">
            <a:avLst/>
          </a:prstGeom>
          <a:solidFill>
            <a:srgbClr val="FFFFFF"/>
          </a:solidFill>
          <a:ln w="25400">
            <a:solidFill>
              <a:srgbClr val="000000"/>
            </a:solidFill>
            <a:miter lim="800000"/>
            <a:headEnd/>
            <a:tailEnd/>
          </a:ln>
        </p:spPr>
        <p:txBody>
          <a:bodyPr lIns="0" tIns="108000" rIns="0" bIns="36000"/>
          <a:lstStyle/>
          <a:p>
            <a:pPr algn="just" eaLnBrk="0" hangingPunct="0"/>
            <a:r>
              <a:rPr lang="zh-CN" altLang="en-US" dirty="0">
                <a:latin typeface="Times New Roman" panose="02020603050405020304" pitchFamily="18" charset="0"/>
              </a:rPr>
              <a:t>     段长 基址</a:t>
            </a:r>
          </a:p>
          <a:p>
            <a:pPr algn="just" eaLnBrk="0" hangingPunct="0"/>
            <a:endParaRPr lang="zh-CN" altLang="en-US" sz="800" dirty="0">
              <a:latin typeface="Times New Roman" panose="02020603050405020304" pitchFamily="18" charset="0"/>
            </a:endParaRPr>
          </a:p>
          <a:p>
            <a:pPr algn="just" eaLnBrk="0" hangingPunct="0"/>
            <a:r>
              <a:rPr lang="zh-CN" altLang="en-US" dirty="0">
                <a:latin typeface="Times New Roman" panose="02020603050405020304" pitchFamily="18" charset="0"/>
              </a:rPr>
              <a:t>     160    80</a:t>
            </a:r>
          </a:p>
          <a:p>
            <a:pPr algn="just" eaLnBrk="0" hangingPunct="0"/>
            <a:r>
              <a:rPr lang="zh-CN" altLang="en-US" dirty="0">
                <a:latin typeface="Times New Roman" panose="02020603050405020304" pitchFamily="18" charset="0"/>
              </a:rPr>
              <a:t>   </a:t>
            </a:r>
            <a:endParaRPr lang="en-US" altLang="zh-CN" dirty="0">
              <a:latin typeface="Times New Roman" panose="02020603050405020304" pitchFamily="18" charset="0"/>
            </a:endParaRPr>
          </a:p>
          <a:p>
            <a:pPr algn="just" eaLnBrk="0" hangingPunct="0"/>
            <a:r>
              <a:rPr lang="zh-CN" altLang="en-US" dirty="0">
                <a:latin typeface="Times New Roman" panose="02020603050405020304" pitchFamily="18" charset="0"/>
              </a:rPr>
              <a:t>       40   240</a:t>
            </a:r>
          </a:p>
        </p:txBody>
      </p:sp>
      <p:sp>
        <p:nvSpPr>
          <p:cNvPr id="162827" name="Line 12">
            <a:extLst>
              <a:ext uri="{FF2B5EF4-FFF2-40B4-BE49-F238E27FC236}">
                <a16:creationId xmlns:a16="http://schemas.microsoft.com/office/drawing/2014/main" id="{5EEC83A5-30A8-CAA0-674D-1F5218A1324F}"/>
              </a:ext>
            </a:extLst>
          </p:cNvPr>
          <p:cNvSpPr>
            <a:spLocks noChangeShapeType="1"/>
          </p:cNvSpPr>
          <p:nvPr/>
        </p:nvSpPr>
        <p:spPr bwMode="auto">
          <a:xfrm>
            <a:off x="3068638" y="2743200"/>
            <a:ext cx="1444625"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28" name="Line 13">
            <a:extLst>
              <a:ext uri="{FF2B5EF4-FFF2-40B4-BE49-F238E27FC236}">
                <a16:creationId xmlns:a16="http://schemas.microsoft.com/office/drawing/2014/main" id="{D4FF4E3F-E533-D872-333D-960AB8396996}"/>
              </a:ext>
            </a:extLst>
          </p:cNvPr>
          <p:cNvSpPr>
            <a:spLocks noChangeShapeType="1"/>
          </p:cNvSpPr>
          <p:nvPr/>
        </p:nvSpPr>
        <p:spPr bwMode="auto">
          <a:xfrm>
            <a:off x="3052763" y="3200400"/>
            <a:ext cx="14446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29" name="Rectangle 14">
            <a:extLst>
              <a:ext uri="{FF2B5EF4-FFF2-40B4-BE49-F238E27FC236}">
                <a16:creationId xmlns:a16="http://schemas.microsoft.com/office/drawing/2014/main" id="{9A55B600-BCC9-0273-4026-31F70733A4AC}"/>
              </a:ext>
            </a:extLst>
          </p:cNvPr>
          <p:cNvSpPr>
            <a:spLocks noChangeArrowheads="1"/>
          </p:cNvSpPr>
          <p:nvPr/>
        </p:nvSpPr>
        <p:spPr bwMode="auto">
          <a:xfrm>
            <a:off x="5507038" y="2309813"/>
            <a:ext cx="1633537" cy="2905125"/>
          </a:xfrm>
          <a:prstGeom prst="rect">
            <a:avLst/>
          </a:prstGeom>
          <a:solidFill>
            <a:srgbClr val="FFFFFF"/>
          </a:solidFill>
          <a:ln w="25400">
            <a:solidFill>
              <a:srgbClr val="000000"/>
            </a:solidFill>
            <a:miter lim="800000"/>
            <a:headEnd/>
            <a:tailEnd/>
          </a:ln>
        </p:spPr>
        <p:txBody>
          <a:bodyPr lIns="0" tIns="72000" rIns="0" bIns="72000"/>
          <a:lstStyle/>
          <a:p>
            <a:pPr algn="just" eaLnBrk="0" hangingPunct="0"/>
            <a:r>
              <a:rPr lang="zh-CN" altLang="en-US" dirty="0">
                <a:latin typeface="宋体" panose="02010600030101010101" pitchFamily="2" charset="-122"/>
              </a:rPr>
              <a:t>   ┇</a:t>
            </a:r>
          </a:p>
          <a:p>
            <a:pPr algn="just" eaLnBrk="0" hangingPunct="0"/>
            <a:endParaRPr lang="zh-CN" altLang="en-US" sz="800" dirty="0">
              <a:latin typeface="宋体" panose="02010600030101010101" pitchFamily="2" charset="-122"/>
            </a:endParaRPr>
          </a:p>
          <a:p>
            <a:pPr algn="just" eaLnBrk="0" hangingPunct="0">
              <a:spcBef>
                <a:spcPts val="600"/>
              </a:spcBef>
            </a:pPr>
            <a:r>
              <a:rPr lang="en-US" altLang="zh-CN" dirty="0">
                <a:latin typeface="Times New Roman" panose="02020603050405020304" pitchFamily="18" charset="0"/>
              </a:rPr>
              <a:t>      ed</a:t>
            </a:r>
          </a:p>
          <a:p>
            <a:pPr algn="just" eaLnBrk="0" hangingPunct="0"/>
            <a:endParaRPr lang="en-US" altLang="zh-CN" sz="800" dirty="0">
              <a:latin typeface="Times New Roman" panose="02020603050405020304" pitchFamily="18" charset="0"/>
            </a:endParaRPr>
          </a:p>
          <a:p>
            <a:pPr algn="just" eaLnBrk="0" hangingPunct="0"/>
            <a:r>
              <a:rPr lang="en-US" altLang="zh-CN" dirty="0">
                <a:latin typeface="Times New Roman" panose="02020603050405020304" pitchFamily="18" charset="0"/>
              </a:rPr>
              <a:t>     data1</a:t>
            </a:r>
          </a:p>
          <a:p>
            <a:pPr algn="just" eaLnBrk="0" hangingPunct="0"/>
            <a:endParaRPr lang="en-US" altLang="zh-CN" sz="800" dirty="0">
              <a:latin typeface="宋体" panose="02010600030101010101" pitchFamily="2" charset="-122"/>
            </a:endParaRPr>
          </a:p>
          <a:p>
            <a:pPr algn="just" eaLnBrk="0" hangingPunct="0"/>
            <a:r>
              <a:rPr lang="en-US" altLang="zh-CN" dirty="0">
                <a:latin typeface="宋体" panose="02010600030101010101" pitchFamily="2" charset="-122"/>
              </a:rPr>
              <a:t>    ┇</a:t>
            </a:r>
            <a:endParaRPr lang="en-US" altLang="zh-CN" dirty="0">
              <a:latin typeface="Times New Roman" panose="02020603050405020304" pitchFamily="18" charset="0"/>
            </a:endParaRPr>
          </a:p>
          <a:p>
            <a:pPr algn="just" eaLnBrk="0" hangingPunct="0"/>
            <a:r>
              <a:rPr lang="en-US" altLang="zh-CN" dirty="0">
                <a:latin typeface="Times New Roman" panose="02020603050405020304" pitchFamily="18" charset="0"/>
              </a:rPr>
              <a:t>    </a:t>
            </a:r>
            <a:r>
              <a:rPr lang="zh-CN" altLang="en-US" dirty="0">
                <a:latin typeface="Times New Roman" panose="02020603050405020304" pitchFamily="18" charset="0"/>
              </a:rPr>
              <a:t> </a:t>
            </a:r>
            <a:r>
              <a:rPr lang="en-US" altLang="zh-CN" dirty="0">
                <a:latin typeface="Times New Roman" panose="02020603050405020304" pitchFamily="18" charset="0"/>
              </a:rPr>
              <a:t>data2</a:t>
            </a:r>
          </a:p>
          <a:p>
            <a:pPr algn="just" eaLnBrk="0" hangingPunct="0"/>
            <a:endParaRPr lang="en-US" altLang="zh-CN" sz="800" dirty="0">
              <a:latin typeface="Times New Roman" panose="02020603050405020304" pitchFamily="18" charset="0"/>
            </a:endParaRPr>
          </a:p>
          <a:p>
            <a:pPr algn="just" eaLnBrk="0" hangingPunct="0"/>
            <a:r>
              <a:rPr lang="en-US" altLang="zh-CN" dirty="0">
                <a:latin typeface="宋体" panose="02010600030101010101" pitchFamily="2" charset="-122"/>
              </a:rPr>
              <a:t>    ┇</a:t>
            </a:r>
            <a:endParaRPr lang="en-US" altLang="zh-CN" dirty="0">
              <a:latin typeface="Times New Roman" panose="02020603050405020304" pitchFamily="18" charset="0"/>
            </a:endParaRPr>
          </a:p>
        </p:txBody>
      </p:sp>
      <p:sp>
        <p:nvSpPr>
          <p:cNvPr id="162830" name="Rectangle 15">
            <a:extLst>
              <a:ext uri="{FF2B5EF4-FFF2-40B4-BE49-F238E27FC236}">
                <a16:creationId xmlns:a16="http://schemas.microsoft.com/office/drawing/2014/main" id="{7A216F79-996E-EE05-B5A4-C50AD305BA0C}"/>
              </a:ext>
            </a:extLst>
          </p:cNvPr>
          <p:cNvSpPr>
            <a:spLocks noChangeArrowheads="1"/>
          </p:cNvSpPr>
          <p:nvPr/>
        </p:nvSpPr>
        <p:spPr bwMode="auto">
          <a:xfrm>
            <a:off x="5988050" y="1903413"/>
            <a:ext cx="793750"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a:latin typeface="Times New Roman" panose="02020603050405020304" pitchFamily="18" charset="0"/>
              </a:rPr>
              <a:t>主存</a:t>
            </a:r>
          </a:p>
        </p:txBody>
      </p:sp>
      <p:sp>
        <p:nvSpPr>
          <p:cNvPr id="162831" name="Line 16">
            <a:extLst>
              <a:ext uri="{FF2B5EF4-FFF2-40B4-BE49-F238E27FC236}">
                <a16:creationId xmlns:a16="http://schemas.microsoft.com/office/drawing/2014/main" id="{C2685E0F-7CEE-8557-4761-A944E296021A}"/>
              </a:ext>
            </a:extLst>
          </p:cNvPr>
          <p:cNvSpPr>
            <a:spLocks noChangeShapeType="1"/>
          </p:cNvSpPr>
          <p:nvPr/>
        </p:nvSpPr>
        <p:spPr bwMode="auto">
          <a:xfrm>
            <a:off x="5507038" y="3808413"/>
            <a:ext cx="1633537"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32" name="Line 17">
            <a:extLst>
              <a:ext uri="{FF2B5EF4-FFF2-40B4-BE49-F238E27FC236}">
                <a16:creationId xmlns:a16="http://schemas.microsoft.com/office/drawing/2014/main" id="{16F21EFD-FF8B-090C-8DB2-E89CA1E1BEAE}"/>
              </a:ext>
            </a:extLst>
          </p:cNvPr>
          <p:cNvSpPr>
            <a:spLocks noChangeShapeType="1"/>
          </p:cNvSpPr>
          <p:nvPr/>
        </p:nvSpPr>
        <p:spPr bwMode="auto">
          <a:xfrm>
            <a:off x="5486400" y="2819400"/>
            <a:ext cx="16557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33" name="Line 18">
            <a:extLst>
              <a:ext uri="{FF2B5EF4-FFF2-40B4-BE49-F238E27FC236}">
                <a16:creationId xmlns:a16="http://schemas.microsoft.com/office/drawing/2014/main" id="{E9222A96-78FC-ADE5-4AAF-BA8B9F3E92D0}"/>
              </a:ext>
            </a:extLst>
          </p:cNvPr>
          <p:cNvSpPr>
            <a:spLocks noChangeShapeType="1"/>
          </p:cNvSpPr>
          <p:nvPr/>
        </p:nvSpPr>
        <p:spPr bwMode="auto">
          <a:xfrm>
            <a:off x="5529263" y="3276600"/>
            <a:ext cx="16335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34" name="Line 19">
            <a:extLst>
              <a:ext uri="{FF2B5EF4-FFF2-40B4-BE49-F238E27FC236}">
                <a16:creationId xmlns:a16="http://schemas.microsoft.com/office/drawing/2014/main" id="{1A0893B0-CD82-1419-879F-5D2A761ED142}"/>
              </a:ext>
            </a:extLst>
          </p:cNvPr>
          <p:cNvSpPr>
            <a:spLocks noChangeShapeType="1"/>
          </p:cNvSpPr>
          <p:nvPr/>
        </p:nvSpPr>
        <p:spPr bwMode="auto">
          <a:xfrm>
            <a:off x="5529263" y="4265613"/>
            <a:ext cx="1633537"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35" name="Line 20">
            <a:extLst>
              <a:ext uri="{FF2B5EF4-FFF2-40B4-BE49-F238E27FC236}">
                <a16:creationId xmlns:a16="http://schemas.microsoft.com/office/drawing/2014/main" id="{E12EE199-0790-D335-C2D7-DF5E1E7BFDC1}"/>
              </a:ext>
            </a:extLst>
          </p:cNvPr>
          <p:cNvSpPr>
            <a:spLocks noChangeShapeType="1"/>
          </p:cNvSpPr>
          <p:nvPr/>
        </p:nvSpPr>
        <p:spPr bwMode="auto">
          <a:xfrm>
            <a:off x="5507038" y="4646613"/>
            <a:ext cx="1633537"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36" name="Line 21">
            <a:extLst>
              <a:ext uri="{FF2B5EF4-FFF2-40B4-BE49-F238E27FC236}">
                <a16:creationId xmlns:a16="http://schemas.microsoft.com/office/drawing/2014/main" id="{AF77D097-1444-BB69-578C-23FE59A45AE5}"/>
              </a:ext>
            </a:extLst>
          </p:cNvPr>
          <p:cNvSpPr>
            <a:spLocks noChangeShapeType="1"/>
          </p:cNvSpPr>
          <p:nvPr/>
        </p:nvSpPr>
        <p:spPr bwMode="auto">
          <a:xfrm flipH="1">
            <a:off x="3806825" y="2209800"/>
            <a:ext cx="0" cy="14319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37" name="Line 22">
            <a:extLst>
              <a:ext uri="{FF2B5EF4-FFF2-40B4-BE49-F238E27FC236}">
                <a16:creationId xmlns:a16="http://schemas.microsoft.com/office/drawing/2014/main" id="{9D6C9440-4013-D369-11BB-CAF10F19CC7E}"/>
              </a:ext>
            </a:extLst>
          </p:cNvPr>
          <p:cNvSpPr>
            <a:spLocks noChangeShapeType="1"/>
          </p:cNvSpPr>
          <p:nvPr/>
        </p:nvSpPr>
        <p:spPr bwMode="auto">
          <a:xfrm flipV="1">
            <a:off x="4535488" y="3308350"/>
            <a:ext cx="950912" cy="19685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2838" name="Line 23">
            <a:extLst>
              <a:ext uri="{FF2B5EF4-FFF2-40B4-BE49-F238E27FC236}">
                <a16:creationId xmlns:a16="http://schemas.microsoft.com/office/drawing/2014/main" id="{A622B938-1E11-A634-3799-8194B661F1BE}"/>
              </a:ext>
            </a:extLst>
          </p:cNvPr>
          <p:cNvSpPr>
            <a:spLocks noChangeShapeType="1"/>
          </p:cNvSpPr>
          <p:nvPr/>
        </p:nvSpPr>
        <p:spPr bwMode="auto">
          <a:xfrm flipV="1">
            <a:off x="4556125" y="4216400"/>
            <a:ext cx="930275" cy="131921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2839" name="Line 24">
            <a:extLst>
              <a:ext uri="{FF2B5EF4-FFF2-40B4-BE49-F238E27FC236}">
                <a16:creationId xmlns:a16="http://schemas.microsoft.com/office/drawing/2014/main" id="{3148778B-F507-EC84-31E5-2D7B7BFD0709}"/>
              </a:ext>
            </a:extLst>
          </p:cNvPr>
          <p:cNvSpPr>
            <a:spLocks noChangeShapeType="1"/>
          </p:cNvSpPr>
          <p:nvPr/>
        </p:nvSpPr>
        <p:spPr bwMode="auto">
          <a:xfrm flipV="1">
            <a:off x="4572000" y="2843213"/>
            <a:ext cx="950913" cy="226218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2840" name="Rectangle 25">
            <a:extLst>
              <a:ext uri="{FF2B5EF4-FFF2-40B4-BE49-F238E27FC236}">
                <a16:creationId xmlns:a16="http://schemas.microsoft.com/office/drawing/2014/main" id="{1FC0238C-9F9C-C6A5-EAFA-564ADBB758BA}"/>
              </a:ext>
            </a:extLst>
          </p:cNvPr>
          <p:cNvSpPr>
            <a:spLocks noChangeArrowheads="1"/>
          </p:cNvSpPr>
          <p:nvPr/>
        </p:nvSpPr>
        <p:spPr bwMode="auto">
          <a:xfrm>
            <a:off x="1668463" y="3898900"/>
            <a:ext cx="79216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a:latin typeface="Times New Roman" panose="02020603050405020304" pitchFamily="18" charset="0"/>
              </a:rPr>
              <a:t>进程2</a:t>
            </a:r>
          </a:p>
        </p:txBody>
      </p:sp>
      <p:sp>
        <p:nvSpPr>
          <p:cNvPr id="162841" name="Line 26">
            <a:extLst>
              <a:ext uri="{FF2B5EF4-FFF2-40B4-BE49-F238E27FC236}">
                <a16:creationId xmlns:a16="http://schemas.microsoft.com/office/drawing/2014/main" id="{5803CDBC-27DC-A01D-C559-C80DE3203701}"/>
              </a:ext>
            </a:extLst>
          </p:cNvPr>
          <p:cNvSpPr>
            <a:spLocks noChangeShapeType="1"/>
          </p:cNvSpPr>
          <p:nvPr/>
        </p:nvSpPr>
        <p:spPr bwMode="auto">
          <a:xfrm>
            <a:off x="1495425" y="4918075"/>
            <a:ext cx="1128713"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42" name="Rectangle 27">
            <a:extLst>
              <a:ext uri="{FF2B5EF4-FFF2-40B4-BE49-F238E27FC236}">
                <a16:creationId xmlns:a16="http://schemas.microsoft.com/office/drawing/2014/main" id="{5B069865-95FB-F652-275B-E99367DCC2F7}"/>
              </a:ext>
            </a:extLst>
          </p:cNvPr>
          <p:cNvSpPr>
            <a:spLocks noChangeArrowheads="1"/>
          </p:cNvSpPr>
          <p:nvPr/>
        </p:nvSpPr>
        <p:spPr bwMode="auto">
          <a:xfrm>
            <a:off x="3475038" y="3881438"/>
            <a:ext cx="792162"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a:latin typeface="Times New Roman" panose="02020603050405020304" pitchFamily="18" charset="0"/>
              </a:rPr>
              <a:t>段表</a:t>
            </a:r>
          </a:p>
        </p:txBody>
      </p:sp>
      <p:sp>
        <p:nvSpPr>
          <p:cNvPr id="162843" name="Line 28">
            <a:extLst>
              <a:ext uri="{FF2B5EF4-FFF2-40B4-BE49-F238E27FC236}">
                <a16:creationId xmlns:a16="http://schemas.microsoft.com/office/drawing/2014/main" id="{72B54651-0D99-42C1-1C00-5A2252BD6337}"/>
              </a:ext>
            </a:extLst>
          </p:cNvPr>
          <p:cNvSpPr>
            <a:spLocks noChangeShapeType="1"/>
          </p:cNvSpPr>
          <p:nvPr/>
        </p:nvSpPr>
        <p:spPr bwMode="auto">
          <a:xfrm>
            <a:off x="3116263" y="4800600"/>
            <a:ext cx="14430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44" name="Line 29">
            <a:extLst>
              <a:ext uri="{FF2B5EF4-FFF2-40B4-BE49-F238E27FC236}">
                <a16:creationId xmlns:a16="http://schemas.microsoft.com/office/drawing/2014/main" id="{70404F13-1CDB-F168-F2D5-0CEA0627B0B0}"/>
              </a:ext>
            </a:extLst>
          </p:cNvPr>
          <p:cNvSpPr>
            <a:spLocks noChangeShapeType="1"/>
          </p:cNvSpPr>
          <p:nvPr/>
        </p:nvSpPr>
        <p:spPr bwMode="auto">
          <a:xfrm flipH="1">
            <a:off x="3835400" y="4322763"/>
            <a:ext cx="3175" cy="14319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45" name="Line 30">
            <a:extLst>
              <a:ext uri="{FF2B5EF4-FFF2-40B4-BE49-F238E27FC236}">
                <a16:creationId xmlns:a16="http://schemas.microsoft.com/office/drawing/2014/main" id="{85B81BBD-B7EA-6291-5D38-1647087FB943}"/>
              </a:ext>
            </a:extLst>
          </p:cNvPr>
          <p:cNvSpPr>
            <a:spLocks noChangeShapeType="1"/>
          </p:cNvSpPr>
          <p:nvPr/>
        </p:nvSpPr>
        <p:spPr bwMode="auto">
          <a:xfrm>
            <a:off x="3100388" y="5257800"/>
            <a:ext cx="1443037"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a:extLst>
              <a:ext uri="{FF2B5EF4-FFF2-40B4-BE49-F238E27FC236}">
                <a16:creationId xmlns:a16="http://schemas.microsoft.com/office/drawing/2014/main" id="{01F873DD-5C58-01D4-EF7D-0B16A6FD18C0}"/>
              </a:ext>
            </a:extLst>
          </p:cNvPr>
          <p:cNvSpPr>
            <a:spLocks noGrp="1" noChangeArrowheads="1"/>
          </p:cNvSpPr>
          <p:nvPr>
            <p:ph type="title"/>
          </p:nvPr>
        </p:nvSpPr>
        <p:spPr/>
        <p:txBody>
          <a:bodyPr/>
          <a:lstStyle/>
          <a:p>
            <a:pPr eaLnBrk="1" hangingPunct="1"/>
            <a:r>
              <a:rPr lang="zh-CN" altLang="en-US" b="1"/>
              <a:t>段页式存储管理</a:t>
            </a:r>
            <a:endParaRPr lang="zh-CN" altLang="en-US"/>
          </a:p>
        </p:txBody>
      </p:sp>
      <p:sp>
        <p:nvSpPr>
          <p:cNvPr id="163842" name="Rectangle 3">
            <a:extLst>
              <a:ext uri="{FF2B5EF4-FFF2-40B4-BE49-F238E27FC236}">
                <a16:creationId xmlns:a16="http://schemas.microsoft.com/office/drawing/2014/main" id="{6D5D4D91-6124-9645-4897-7BEDF8DE9396}"/>
              </a:ext>
            </a:extLst>
          </p:cNvPr>
          <p:cNvSpPr>
            <a:spLocks noGrp="1" noChangeArrowheads="1"/>
          </p:cNvSpPr>
          <p:nvPr>
            <p:ph idx="1"/>
          </p:nvPr>
        </p:nvSpPr>
        <p:spPr>
          <a:xfrm>
            <a:off x="827088" y="1270000"/>
            <a:ext cx="8077200" cy="4967288"/>
          </a:xfrm>
        </p:spPr>
        <p:txBody>
          <a:bodyPr/>
          <a:lstStyle/>
          <a:p>
            <a:pPr eaLnBrk="1" hangingPunct="1"/>
            <a:r>
              <a:rPr lang="zh-CN" altLang="en-US"/>
              <a:t>分页系统能有效地提高内存利用率，而分段系统能很好地反映用户要求。如果将这两种存储管理方式结合起来，就形成了段页式存储管理系统。 </a:t>
            </a:r>
          </a:p>
        </p:txBody>
      </p:sp>
    </p:spTree>
  </p:cSld>
  <p:clrMapOvr>
    <a:masterClrMapping/>
  </p:clrMapOvr>
  <p:transition spd="med">
    <p:zoom/>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a:extLst>
              <a:ext uri="{FF2B5EF4-FFF2-40B4-BE49-F238E27FC236}">
                <a16:creationId xmlns:a16="http://schemas.microsoft.com/office/drawing/2014/main" id="{EDAF46E4-39A5-EAB6-D09B-8BBD4209D484}"/>
              </a:ext>
            </a:extLst>
          </p:cNvPr>
          <p:cNvSpPr>
            <a:spLocks noGrp="1" noChangeArrowheads="1"/>
          </p:cNvSpPr>
          <p:nvPr>
            <p:ph type="title"/>
          </p:nvPr>
        </p:nvSpPr>
        <p:spPr/>
        <p:txBody>
          <a:bodyPr/>
          <a:lstStyle/>
          <a:p>
            <a:pPr eaLnBrk="1" hangingPunct="1"/>
            <a:r>
              <a:rPr lang="zh-CN" altLang="en-US"/>
              <a:t>段页式存储管理的基本思想</a:t>
            </a:r>
          </a:p>
        </p:txBody>
      </p:sp>
      <p:sp>
        <p:nvSpPr>
          <p:cNvPr id="164866" name="Rectangle 3">
            <a:extLst>
              <a:ext uri="{FF2B5EF4-FFF2-40B4-BE49-F238E27FC236}">
                <a16:creationId xmlns:a16="http://schemas.microsoft.com/office/drawing/2014/main" id="{B5FBCDAE-7069-63D6-F870-6E57DEA28893}"/>
              </a:ext>
            </a:extLst>
          </p:cNvPr>
          <p:cNvSpPr>
            <a:spLocks noGrp="1" noChangeArrowheads="1"/>
          </p:cNvSpPr>
          <p:nvPr>
            <p:ph idx="1"/>
          </p:nvPr>
        </p:nvSpPr>
        <p:spPr>
          <a:xfrm>
            <a:off x="827088" y="1270000"/>
            <a:ext cx="8077200" cy="4967288"/>
          </a:xfrm>
        </p:spPr>
        <p:txBody>
          <a:bodyPr/>
          <a:lstStyle/>
          <a:p>
            <a:pPr algn="just" eaLnBrk="1" hangingPunct="1"/>
            <a:r>
              <a:rPr lang="zh-CN" altLang="en-US"/>
              <a:t>在段页式存储管理系统中，作业的地址空间首先被分成若干个逻辑分段，然后再将每一段分成若干个大小固定的页面。</a:t>
            </a:r>
          </a:p>
          <a:p>
            <a:pPr algn="just" eaLnBrk="1" hangingPunct="1"/>
            <a:r>
              <a:rPr lang="zh-CN" altLang="en-US"/>
              <a:t>将主存空间分成若干个和页面大小相同的物理块，对主存的分配以物理块为单位。</a:t>
            </a:r>
          </a:p>
        </p:txBody>
      </p:sp>
    </p:spTree>
  </p:cSld>
  <p:clrMapOvr>
    <a:masterClrMapping/>
  </p:clrMapOvr>
  <p:transition spd="med">
    <p:zoom/>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26">
            <a:extLst>
              <a:ext uri="{FF2B5EF4-FFF2-40B4-BE49-F238E27FC236}">
                <a16:creationId xmlns:a16="http://schemas.microsoft.com/office/drawing/2014/main" id="{177D3A52-A508-F716-2612-C91C9D608489}"/>
              </a:ext>
            </a:extLst>
          </p:cNvPr>
          <p:cNvSpPr>
            <a:spLocks noChangeArrowheads="1"/>
          </p:cNvSpPr>
          <p:nvPr/>
        </p:nvSpPr>
        <p:spPr bwMode="auto">
          <a:xfrm>
            <a:off x="5715000" y="2154238"/>
            <a:ext cx="830263"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p>
            <a:pPr algn="just" eaLnBrk="0" hangingPunct="0"/>
            <a:r>
              <a:rPr lang="zh-CN" altLang="en-US">
                <a:latin typeface="Times New Roman" panose="02020603050405020304" pitchFamily="18" charset="0"/>
              </a:rPr>
              <a:t>   0</a:t>
            </a:r>
            <a:r>
              <a:rPr lang="en-US" altLang="zh-CN">
                <a:latin typeface="Times New Roman" panose="02020603050405020304" pitchFamily="18" charset="0"/>
              </a:rPr>
              <a:t>K</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   2</a:t>
            </a:r>
            <a:r>
              <a:rPr lang="en-US" altLang="zh-CN">
                <a:latin typeface="Times New Roman" panose="02020603050405020304" pitchFamily="18" charset="0"/>
              </a:rPr>
              <a:t>K</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   4</a:t>
            </a:r>
            <a:r>
              <a:rPr lang="en-US" altLang="zh-CN">
                <a:latin typeface="Times New Roman" panose="02020603050405020304" pitchFamily="18" charset="0"/>
              </a:rPr>
              <a:t>K</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   6</a:t>
            </a:r>
            <a:r>
              <a:rPr lang="en-US" altLang="zh-CN">
                <a:latin typeface="Times New Roman" panose="02020603050405020304" pitchFamily="18" charset="0"/>
              </a:rPr>
              <a:t>K</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   8</a:t>
            </a:r>
            <a:r>
              <a:rPr lang="en-US" altLang="zh-CN">
                <a:latin typeface="Times New Roman" panose="02020603050405020304" pitchFamily="18" charset="0"/>
              </a:rPr>
              <a:t>K</a:t>
            </a:r>
          </a:p>
          <a:p>
            <a:pPr algn="just" eaLnBrk="0" hangingPunct="0"/>
            <a:r>
              <a:rPr lang="en-US" altLang="zh-CN">
                <a:latin typeface="Times New Roman" panose="02020603050405020304" pitchFamily="18" charset="0"/>
              </a:rPr>
              <a:t>   9K</a:t>
            </a:r>
          </a:p>
          <a:p>
            <a:pPr algn="just" eaLnBrk="0" hangingPunct="0"/>
            <a:r>
              <a:rPr lang="en-US" altLang="zh-CN">
                <a:latin typeface="Times New Roman" panose="02020603050405020304" pitchFamily="18" charset="0"/>
              </a:rPr>
              <a:t>10K-1</a:t>
            </a:r>
          </a:p>
        </p:txBody>
      </p:sp>
      <p:sp>
        <p:nvSpPr>
          <p:cNvPr id="165890" name="Rectangle 5">
            <a:extLst>
              <a:ext uri="{FF2B5EF4-FFF2-40B4-BE49-F238E27FC236}">
                <a16:creationId xmlns:a16="http://schemas.microsoft.com/office/drawing/2014/main" id="{94C13E88-49DD-7A89-9FF9-9C108AD6F724}"/>
              </a:ext>
            </a:extLst>
          </p:cNvPr>
          <p:cNvSpPr>
            <a:spLocks noChangeArrowheads="1"/>
          </p:cNvSpPr>
          <p:nvPr/>
        </p:nvSpPr>
        <p:spPr bwMode="auto">
          <a:xfrm>
            <a:off x="1200150" y="2276475"/>
            <a:ext cx="1474788" cy="3019425"/>
          </a:xfrm>
          <a:prstGeom prst="rect">
            <a:avLst/>
          </a:prstGeom>
          <a:solidFill>
            <a:srgbClr val="FFFFFF"/>
          </a:solidFill>
          <a:ln w="28575">
            <a:solidFill>
              <a:srgbClr val="000000"/>
            </a:solidFill>
            <a:miter lim="800000"/>
            <a:headEnd/>
            <a:tailEnd/>
          </a:ln>
        </p:spPr>
        <p:txBody>
          <a:bodyPr/>
          <a:lstStyle/>
          <a:p>
            <a:pPr algn="ctr"/>
            <a:endParaRPr lang="zh-CN" altLang="en-US"/>
          </a:p>
        </p:txBody>
      </p:sp>
      <p:sp>
        <p:nvSpPr>
          <p:cNvPr id="165891" name="Rectangle 6">
            <a:extLst>
              <a:ext uri="{FF2B5EF4-FFF2-40B4-BE49-F238E27FC236}">
                <a16:creationId xmlns:a16="http://schemas.microsoft.com/office/drawing/2014/main" id="{ED9E2A26-EA90-A698-C29D-E294DAE99983}"/>
              </a:ext>
            </a:extLst>
          </p:cNvPr>
          <p:cNvSpPr>
            <a:spLocks noChangeArrowheads="1"/>
          </p:cNvSpPr>
          <p:nvPr/>
        </p:nvSpPr>
        <p:spPr bwMode="auto">
          <a:xfrm>
            <a:off x="457200" y="2078038"/>
            <a:ext cx="685800"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p>
            <a:pPr algn="just" eaLnBrk="0" hangingPunct="0"/>
            <a:r>
              <a:rPr lang="zh-CN" altLang="en-US">
                <a:latin typeface="Times New Roman" panose="02020603050405020304" pitchFamily="18" charset="0"/>
              </a:rPr>
              <a:t>   0</a:t>
            </a:r>
            <a:r>
              <a:rPr lang="en-US" altLang="zh-CN">
                <a:latin typeface="Times New Roman" panose="02020603050405020304" pitchFamily="18" charset="0"/>
              </a:rPr>
              <a:t>K</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   2</a:t>
            </a:r>
            <a:r>
              <a:rPr lang="en-US" altLang="zh-CN">
                <a:latin typeface="Times New Roman" panose="02020603050405020304" pitchFamily="18" charset="0"/>
              </a:rPr>
              <a:t>K</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   4</a:t>
            </a:r>
            <a:r>
              <a:rPr lang="en-US" altLang="zh-CN">
                <a:latin typeface="Times New Roman" panose="02020603050405020304" pitchFamily="18" charset="0"/>
              </a:rPr>
              <a:t>K</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   6</a:t>
            </a:r>
            <a:r>
              <a:rPr lang="en-US" altLang="zh-CN">
                <a:latin typeface="Times New Roman" panose="02020603050405020304" pitchFamily="18" charset="0"/>
              </a:rPr>
              <a:t>K</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8</a:t>
            </a:r>
            <a:r>
              <a:rPr lang="en-US" altLang="zh-CN">
                <a:latin typeface="Times New Roman" panose="02020603050405020304" pitchFamily="18" charset="0"/>
              </a:rPr>
              <a:t>K-1</a:t>
            </a:r>
          </a:p>
        </p:txBody>
      </p:sp>
      <p:sp>
        <p:nvSpPr>
          <p:cNvPr id="165892" name="Rectangle 11">
            <a:extLst>
              <a:ext uri="{FF2B5EF4-FFF2-40B4-BE49-F238E27FC236}">
                <a16:creationId xmlns:a16="http://schemas.microsoft.com/office/drawing/2014/main" id="{BD0FAD26-A030-1CC3-5868-EB9EE6FE19F0}"/>
              </a:ext>
            </a:extLst>
          </p:cNvPr>
          <p:cNvSpPr>
            <a:spLocks noChangeArrowheads="1"/>
          </p:cNvSpPr>
          <p:nvPr/>
        </p:nvSpPr>
        <p:spPr bwMode="auto">
          <a:xfrm>
            <a:off x="1066800" y="1773238"/>
            <a:ext cx="1976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pPr algn="just" eaLnBrk="0" hangingPunct="0"/>
            <a:r>
              <a:rPr lang="zh-CN" altLang="en-US">
                <a:latin typeface="Times New Roman" panose="02020603050405020304" pitchFamily="18" charset="0"/>
              </a:rPr>
              <a:t>第1段</a:t>
            </a:r>
            <a:r>
              <a:rPr lang="en-US" altLang="zh-CN">
                <a:latin typeface="Times New Roman" panose="02020603050405020304" pitchFamily="18" charset="0"/>
              </a:rPr>
              <a:t>（8K</a:t>
            </a:r>
            <a:r>
              <a:rPr lang="zh-CN" altLang="en-US">
                <a:latin typeface="Times New Roman" panose="02020603050405020304" pitchFamily="18" charset="0"/>
              </a:rPr>
              <a:t>）</a:t>
            </a:r>
          </a:p>
        </p:txBody>
      </p:sp>
      <p:sp>
        <p:nvSpPr>
          <p:cNvPr id="165893" name="Rectangle 17">
            <a:extLst>
              <a:ext uri="{FF2B5EF4-FFF2-40B4-BE49-F238E27FC236}">
                <a16:creationId xmlns:a16="http://schemas.microsoft.com/office/drawing/2014/main" id="{9D6B3AAA-00BE-2CC6-1778-EFCF5F302479}"/>
              </a:ext>
            </a:extLst>
          </p:cNvPr>
          <p:cNvSpPr>
            <a:spLocks noChangeArrowheads="1"/>
          </p:cNvSpPr>
          <p:nvPr/>
        </p:nvSpPr>
        <p:spPr bwMode="auto">
          <a:xfrm>
            <a:off x="3890963" y="1773238"/>
            <a:ext cx="1976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pPr algn="just" eaLnBrk="0" hangingPunct="0"/>
            <a:r>
              <a:rPr lang="zh-CN" altLang="en-US">
                <a:latin typeface="Times New Roman" panose="02020603050405020304" pitchFamily="18" charset="0"/>
              </a:rPr>
              <a:t>第2段</a:t>
            </a:r>
            <a:r>
              <a:rPr lang="en-US" altLang="zh-CN">
                <a:latin typeface="Times New Roman" panose="02020603050405020304" pitchFamily="18" charset="0"/>
              </a:rPr>
              <a:t>（5K</a:t>
            </a:r>
            <a:r>
              <a:rPr lang="zh-CN" altLang="en-US">
                <a:latin typeface="Times New Roman" panose="02020603050405020304" pitchFamily="18" charset="0"/>
              </a:rPr>
              <a:t>）</a:t>
            </a:r>
          </a:p>
        </p:txBody>
      </p:sp>
      <p:sp>
        <p:nvSpPr>
          <p:cNvPr id="165894" name="Rectangle 18">
            <a:extLst>
              <a:ext uri="{FF2B5EF4-FFF2-40B4-BE49-F238E27FC236}">
                <a16:creationId xmlns:a16="http://schemas.microsoft.com/office/drawing/2014/main" id="{23F00D4B-B7FC-824C-378D-F8AF8C71CD61}"/>
              </a:ext>
            </a:extLst>
          </p:cNvPr>
          <p:cNvSpPr>
            <a:spLocks noChangeArrowheads="1"/>
          </p:cNvSpPr>
          <p:nvPr/>
        </p:nvSpPr>
        <p:spPr bwMode="auto">
          <a:xfrm>
            <a:off x="6481763" y="1773238"/>
            <a:ext cx="1976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pPr algn="just" eaLnBrk="0" hangingPunct="0"/>
            <a:r>
              <a:rPr lang="zh-CN" altLang="en-US">
                <a:latin typeface="Times New Roman" panose="02020603050405020304" pitchFamily="18" charset="0"/>
              </a:rPr>
              <a:t>第3段</a:t>
            </a:r>
            <a:r>
              <a:rPr lang="en-US" altLang="zh-CN">
                <a:latin typeface="Times New Roman" panose="02020603050405020304" pitchFamily="18" charset="0"/>
              </a:rPr>
              <a:t>（9K</a:t>
            </a:r>
            <a:r>
              <a:rPr lang="zh-CN" altLang="en-US">
                <a:latin typeface="Times New Roman" panose="02020603050405020304" pitchFamily="18" charset="0"/>
              </a:rPr>
              <a:t>）</a:t>
            </a:r>
          </a:p>
        </p:txBody>
      </p:sp>
      <p:sp>
        <p:nvSpPr>
          <p:cNvPr id="165895" name="Rectangle 19">
            <a:extLst>
              <a:ext uri="{FF2B5EF4-FFF2-40B4-BE49-F238E27FC236}">
                <a16:creationId xmlns:a16="http://schemas.microsoft.com/office/drawing/2014/main" id="{6101F673-DB90-4DB6-4186-F2FEEC824127}"/>
              </a:ext>
            </a:extLst>
          </p:cNvPr>
          <p:cNvSpPr>
            <a:spLocks noChangeArrowheads="1"/>
          </p:cNvSpPr>
          <p:nvPr/>
        </p:nvSpPr>
        <p:spPr bwMode="auto">
          <a:xfrm>
            <a:off x="4087813" y="2259013"/>
            <a:ext cx="1474787" cy="1962150"/>
          </a:xfrm>
          <a:prstGeom prst="rect">
            <a:avLst/>
          </a:prstGeom>
          <a:solidFill>
            <a:srgbClr val="FFFFFF"/>
          </a:solidFill>
          <a:ln w="28575">
            <a:solidFill>
              <a:srgbClr val="000000"/>
            </a:solidFill>
            <a:miter lim="800000"/>
            <a:headEnd/>
            <a:tailEnd/>
          </a:ln>
        </p:spPr>
        <p:txBody>
          <a:bodyPr/>
          <a:lstStyle/>
          <a:p>
            <a:pPr algn="ctr"/>
            <a:endParaRPr lang="zh-CN" altLang="en-US"/>
          </a:p>
        </p:txBody>
      </p:sp>
      <p:sp>
        <p:nvSpPr>
          <p:cNvPr id="165896" name="Rectangle 20">
            <a:extLst>
              <a:ext uri="{FF2B5EF4-FFF2-40B4-BE49-F238E27FC236}">
                <a16:creationId xmlns:a16="http://schemas.microsoft.com/office/drawing/2014/main" id="{37588EED-AC7F-9694-37D2-29450FD64217}"/>
              </a:ext>
            </a:extLst>
          </p:cNvPr>
          <p:cNvSpPr>
            <a:spLocks noChangeArrowheads="1"/>
          </p:cNvSpPr>
          <p:nvPr/>
        </p:nvSpPr>
        <p:spPr bwMode="auto">
          <a:xfrm>
            <a:off x="3352800" y="2154238"/>
            <a:ext cx="6858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p>
            <a:pPr algn="just" eaLnBrk="0" hangingPunct="0"/>
            <a:r>
              <a:rPr lang="zh-CN" altLang="en-US">
                <a:latin typeface="Times New Roman" panose="02020603050405020304" pitchFamily="18" charset="0"/>
              </a:rPr>
              <a:t>   0</a:t>
            </a:r>
            <a:r>
              <a:rPr lang="en-US" altLang="zh-CN">
                <a:latin typeface="Times New Roman" panose="02020603050405020304" pitchFamily="18" charset="0"/>
              </a:rPr>
              <a:t>K</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   2</a:t>
            </a:r>
            <a:r>
              <a:rPr lang="en-US" altLang="zh-CN">
                <a:latin typeface="Times New Roman" panose="02020603050405020304" pitchFamily="18" charset="0"/>
              </a:rPr>
              <a:t>K</a:t>
            </a:r>
          </a:p>
          <a:p>
            <a:pPr algn="just" eaLnBrk="0" hangingPunct="0"/>
            <a:endParaRPr lang="zh-CN" altLang="en-US">
              <a:latin typeface="Times New Roman" panose="02020603050405020304" pitchFamily="18" charset="0"/>
            </a:endParaRPr>
          </a:p>
          <a:p>
            <a:pPr algn="just" eaLnBrk="0" hangingPunct="0"/>
            <a:r>
              <a:rPr lang="zh-CN" altLang="en-US">
                <a:latin typeface="Times New Roman" panose="02020603050405020304" pitchFamily="18" charset="0"/>
              </a:rPr>
              <a:t>   4</a:t>
            </a:r>
            <a:r>
              <a:rPr lang="en-US" altLang="zh-CN">
                <a:latin typeface="Times New Roman" panose="02020603050405020304" pitchFamily="18" charset="0"/>
              </a:rPr>
              <a:t>K</a:t>
            </a:r>
          </a:p>
          <a:p>
            <a:pPr algn="just" eaLnBrk="0" hangingPunct="0"/>
            <a:r>
              <a:rPr lang="zh-CN" altLang="en-US">
                <a:latin typeface="Times New Roman" panose="02020603050405020304" pitchFamily="18" charset="0"/>
              </a:rPr>
              <a:t>   5</a:t>
            </a:r>
            <a:r>
              <a:rPr lang="en-US" altLang="zh-CN">
                <a:latin typeface="Times New Roman" panose="02020603050405020304" pitchFamily="18" charset="0"/>
              </a:rPr>
              <a:t>K</a:t>
            </a:r>
          </a:p>
          <a:p>
            <a:pPr algn="just" eaLnBrk="0" hangingPunct="0"/>
            <a:r>
              <a:rPr lang="en-US" altLang="zh-CN">
                <a:latin typeface="Times New Roman" panose="02020603050405020304" pitchFamily="18" charset="0"/>
              </a:rPr>
              <a:t>6K-1</a:t>
            </a:r>
          </a:p>
        </p:txBody>
      </p:sp>
      <p:sp>
        <p:nvSpPr>
          <p:cNvPr id="165897" name="Rectangle 25">
            <a:extLst>
              <a:ext uri="{FF2B5EF4-FFF2-40B4-BE49-F238E27FC236}">
                <a16:creationId xmlns:a16="http://schemas.microsoft.com/office/drawing/2014/main" id="{EC6E0E6E-D473-A3A5-1C22-5F76F882B040}"/>
              </a:ext>
            </a:extLst>
          </p:cNvPr>
          <p:cNvSpPr>
            <a:spLocks noChangeArrowheads="1"/>
          </p:cNvSpPr>
          <p:nvPr/>
        </p:nvSpPr>
        <p:spPr bwMode="auto">
          <a:xfrm>
            <a:off x="6602413" y="2259013"/>
            <a:ext cx="1474787" cy="3402012"/>
          </a:xfrm>
          <a:prstGeom prst="rect">
            <a:avLst/>
          </a:prstGeom>
          <a:solidFill>
            <a:srgbClr val="FFFFFF"/>
          </a:solidFill>
          <a:ln w="28575">
            <a:solidFill>
              <a:srgbClr val="000000"/>
            </a:solidFill>
            <a:miter lim="800000"/>
            <a:headEnd/>
            <a:tailEnd/>
          </a:ln>
        </p:spPr>
        <p:txBody>
          <a:bodyPr/>
          <a:lstStyle/>
          <a:p>
            <a:pPr algn="ctr"/>
            <a:endParaRPr lang="zh-CN" altLang="en-US"/>
          </a:p>
        </p:txBody>
      </p:sp>
      <p:sp>
        <p:nvSpPr>
          <p:cNvPr id="165898" name="Rectangle 2">
            <a:extLst>
              <a:ext uri="{FF2B5EF4-FFF2-40B4-BE49-F238E27FC236}">
                <a16:creationId xmlns:a16="http://schemas.microsoft.com/office/drawing/2014/main" id="{DC7097A2-34F5-6432-549F-B3AC415179A8}"/>
              </a:ext>
            </a:extLst>
          </p:cNvPr>
          <p:cNvSpPr>
            <a:spLocks noGrp="1" noChangeArrowheads="1"/>
          </p:cNvSpPr>
          <p:nvPr>
            <p:ph type="title"/>
          </p:nvPr>
        </p:nvSpPr>
        <p:spPr/>
        <p:txBody>
          <a:bodyPr/>
          <a:lstStyle/>
          <a:p>
            <a:pPr eaLnBrk="1" hangingPunct="1"/>
            <a:r>
              <a:rPr lang="zh-CN" altLang="en-US"/>
              <a:t>作业的分段及分页示意图</a:t>
            </a:r>
          </a:p>
        </p:txBody>
      </p:sp>
      <p:sp>
        <p:nvSpPr>
          <p:cNvPr id="165899" name="Rectangle 3">
            <a:extLst>
              <a:ext uri="{FF2B5EF4-FFF2-40B4-BE49-F238E27FC236}">
                <a16:creationId xmlns:a16="http://schemas.microsoft.com/office/drawing/2014/main" id="{C9058825-AB1A-1CD2-4629-DBDB1A843F6D}"/>
              </a:ext>
            </a:extLst>
          </p:cNvPr>
          <p:cNvSpPr>
            <a:spLocks noGrp="1" noChangeArrowheads="1"/>
          </p:cNvSpPr>
          <p:nvPr>
            <p:ph idx="1"/>
          </p:nvPr>
        </p:nvSpPr>
        <p:spPr>
          <a:xfrm>
            <a:off x="1143000" y="1123950"/>
            <a:ext cx="7772400" cy="649288"/>
          </a:xfrm>
        </p:spPr>
        <p:txBody>
          <a:bodyPr/>
          <a:lstStyle/>
          <a:p>
            <a:pPr eaLnBrk="1" hangingPunct="1"/>
            <a:r>
              <a:rPr lang="zh-CN" altLang="en-US"/>
              <a:t>设作业包含分为三段，页面大小为2</a:t>
            </a:r>
            <a:r>
              <a:rPr lang="en-US" altLang="zh-CN"/>
              <a:t>K</a:t>
            </a:r>
            <a:r>
              <a:rPr lang="zh-CN" altLang="en-US"/>
              <a:t>。</a:t>
            </a:r>
          </a:p>
        </p:txBody>
      </p:sp>
      <p:sp>
        <p:nvSpPr>
          <p:cNvPr id="165900" name="Line 14">
            <a:extLst>
              <a:ext uri="{FF2B5EF4-FFF2-40B4-BE49-F238E27FC236}">
                <a16:creationId xmlns:a16="http://schemas.microsoft.com/office/drawing/2014/main" id="{53C4CAC9-C599-0820-B444-4192E45ECFD9}"/>
              </a:ext>
            </a:extLst>
          </p:cNvPr>
          <p:cNvSpPr>
            <a:spLocks noChangeShapeType="1"/>
          </p:cNvSpPr>
          <p:nvPr/>
        </p:nvSpPr>
        <p:spPr bwMode="auto">
          <a:xfrm>
            <a:off x="1184275" y="2992438"/>
            <a:ext cx="14827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01" name="Line 15">
            <a:extLst>
              <a:ext uri="{FF2B5EF4-FFF2-40B4-BE49-F238E27FC236}">
                <a16:creationId xmlns:a16="http://schemas.microsoft.com/office/drawing/2014/main" id="{952CC5D9-E711-B670-DE0B-F8845EC4CE59}"/>
              </a:ext>
            </a:extLst>
          </p:cNvPr>
          <p:cNvSpPr>
            <a:spLocks noChangeShapeType="1"/>
          </p:cNvSpPr>
          <p:nvPr/>
        </p:nvSpPr>
        <p:spPr bwMode="auto">
          <a:xfrm>
            <a:off x="1184275" y="3754438"/>
            <a:ext cx="14827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02" name="Line 16">
            <a:extLst>
              <a:ext uri="{FF2B5EF4-FFF2-40B4-BE49-F238E27FC236}">
                <a16:creationId xmlns:a16="http://schemas.microsoft.com/office/drawing/2014/main" id="{FDE03B76-494B-B83C-3153-EF24C357A962}"/>
              </a:ext>
            </a:extLst>
          </p:cNvPr>
          <p:cNvSpPr>
            <a:spLocks noChangeShapeType="1"/>
          </p:cNvSpPr>
          <p:nvPr/>
        </p:nvSpPr>
        <p:spPr bwMode="auto">
          <a:xfrm>
            <a:off x="1184275" y="4516438"/>
            <a:ext cx="14827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03" name="Line 21">
            <a:extLst>
              <a:ext uri="{FF2B5EF4-FFF2-40B4-BE49-F238E27FC236}">
                <a16:creationId xmlns:a16="http://schemas.microsoft.com/office/drawing/2014/main" id="{47BB55DC-12ED-CDD6-A967-1431E64680FA}"/>
              </a:ext>
            </a:extLst>
          </p:cNvPr>
          <p:cNvSpPr>
            <a:spLocks noChangeShapeType="1"/>
          </p:cNvSpPr>
          <p:nvPr/>
        </p:nvSpPr>
        <p:spPr bwMode="auto">
          <a:xfrm>
            <a:off x="4071938" y="2992438"/>
            <a:ext cx="14827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04" name="Line 22">
            <a:extLst>
              <a:ext uri="{FF2B5EF4-FFF2-40B4-BE49-F238E27FC236}">
                <a16:creationId xmlns:a16="http://schemas.microsoft.com/office/drawing/2014/main" id="{4B580938-24C2-2794-1B99-405DC3532E20}"/>
              </a:ext>
            </a:extLst>
          </p:cNvPr>
          <p:cNvSpPr>
            <a:spLocks noChangeShapeType="1"/>
          </p:cNvSpPr>
          <p:nvPr/>
        </p:nvSpPr>
        <p:spPr bwMode="auto">
          <a:xfrm>
            <a:off x="4071938" y="3754438"/>
            <a:ext cx="14827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05" name="Rectangle 24" descr="深色上对角线">
            <a:extLst>
              <a:ext uri="{FF2B5EF4-FFF2-40B4-BE49-F238E27FC236}">
                <a16:creationId xmlns:a16="http://schemas.microsoft.com/office/drawing/2014/main" id="{60B6EBD0-9A1D-6ED1-E015-D0AB18979169}"/>
              </a:ext>
            </a:extLst>
          </p:cNvPr>
          <p:cNvSpPr>
            <a:spLocks noChangeArrowheads="1"/>
          </p:cNvSpPr>
          <p:nvPr/>
        </p:nvSpPr>
        <p:spPr bwMode="auto">
          <a:xfrm>
            <a:off x="4087813" y="4221163"/>
            <a:ext cx="1474787" cy="420687"/>
          </a:xfrm>
          <a:prstGeom prst="rect">
            <a:avLst/>
          </a:prstGeom>
          <a:blipFill dpi="0" rotWithShape="0">
            <a:blip r:embed="rId2"/>
            <a:srcRect/>
            <a:tile tx="0" ty="0" sx="100000" sy="100000" flip="none" algn="tl"/>
          </a:blipFill>
          <a:ln w="28575">
            <a:solidFill>
              <a:schemeClr val="tx1"/>
            </a:solidFill>
            <a:miter lim="800000"/>
            <a:headEnd/>
            <a:tailEnd/>
          </a:ln>
        </p:spPr>
        <p:txBody>
          <a:bodyPr wrap="none" anchor="ctr"/>
          <a:lstStyle/>
          <a:p>
            <a:pPr algn="ctr"/>
            <a:endParaRPr lang="zh-CN" altLang="en-US"/>
          </a:p>
        </p:txBody>
      </p:sp>
      <p:sp>
        <p:nvSpPr>
          <p:cNvPr id="165906" name="Line 27">
            <a:extLst>
              <a:ext uri="{FF2B5EF4-FFF2-40B4-BE49-F238E27FC236}">
                <a16:creationId xmlns:a16="http://schemas.microsoft.com/office/drawing/2014/main" id="{D89B5CDA-2A49-64C7-692F-3221348A5D5D}"/>
              </a:ext>
            </a:extLst>
          </p:cNvPr>
          <p:cNvSpPr>
            <a:spLocks noChangeShapeType="1"/>
          </p:cNvSpPr>
          <p:nvPr/>
        </p:nvSpPr>
        <p:spPr bwMode="auto">
          <a:xfrm>
            <a:off x="6586538" y="2992438"/>
            <a:ext cx="14827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07" name="Line 28">
            <a:extLst>
              <a:ext uri="{FF2B5EF4-FFF2-40B4-BE49-F238E27FC236}">
                <a16:creationId xmlns:a16="http://schemas.microsoft.com/office/drawing/2014/main" id="{1A1A8AD4-6A8D-25BA-9D0B-0348EA938A34}"/>
              </a:ext>
            </a:extLst>
          </p:cNvPr>
          <p:cNvSpPr>
            <a:spLocks noChangeShapeType="1"/>
          </p:cNvSpPr>
          <p:nvPr/>
        </p:nvSpPr>
        <p:spPr bwMode="auto">
          <a:xfrm>
            <a:off x="6586538" y="3754438"/>
            <a:ext cx="14827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08" name="Line 29">
            <a:extLst>
              <a:ext uri="{FF2B5EF4-FFF2-40B4-BE49-F238E27FC236}">
                <a16:creationId xmlns:a16="http://schemas.microsoft.com/office/drawing/2014/main" id="{B3E56ABB-50B1-6333-C175-CD33B68F1D21}"/>
              </a:ext>
            </a:extLst>
          </p:cNvPr>
          <p:cNvSpPr>
            <a:spLocks noChangeShapeType="1"/>
          </p:cNvSpPr>
          <p:nvPr/>
        </p:nvSpPr>
        <p:spPr bwMode="auto">
          <a:xfrm>
            <a:off x="6586538" y="4516438"/>
            <a:ext cx="14827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09" name="Line 30">
            <a:extLst>
              <a:ext uri="{FF2B5EF4-FFF2-40B4-BE49-F238E27FC236}">
                <a16:creationId xmlns:a16="http://schemas.microsoft.com/office/drawing/2014/main" id="{73BA4532-688F-AA28-B202-CD57880C7F15}"/>
              </a:ext>
            </a:extLst>
          </p:cNvPr>
          <p:cNvSpPr>
            <a:spLocks noChangeShapeType="1"/>
          </p:cNvSpPr>
          <p:nvPr/>
        </p:nvSpPr>
        <p:spPr bwMode="auto">
          <a:xfrm>
            <a:off x="6594475" y="5278438"/>
            <a:ext cx="148272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10" name="Rectangle 31" descr="宽下对角线">
            <a:extLst>
              <a:ext uri="{FF2B5EF4-FFF2-40B4-BE49-F238E27FC236}">
                <a16:creationId xmlns:a16="http://schemas.microsoft.com/office/drawing/2014/main" id="{4D40DF81-0A8F-6837-9FCC-AC23466806A9}"/>
              </a:ext>
            </a:extLst>
          </p:cNvPr>
          <p:cNvSpPr>
            <a:spLocks noChangeArrowheads="1"/>
          </p:cNvSpPr>
          <p:nvPr/>
        </p:nvSpPr>
        <p:spPr bwMode="auto">
          <a:xfrm>
            <a:off x="6602413" y="5659438"/>
            <a:ext cx="1474787" cy="420687"/>
          </a:xfrm>
          <a:prstGeom prst="rect">
            <a:avLst/>
          </a:prstGeom>
          <a:blipFill dpi="0" rotWithShape="0">
            <a:blip r:embed="rId3"/>
            <a:srcRect/>
            <a:tile tx="0" ty="0" sx="100000" sy="100000" flip="none" algn="tl"/>
          </a:blipFill>
          <a:ln w="28575">
            <a:solidFill>
              <a:schemeClr val="tx1"/>
            </a:solidFill>
            <a:miter lim="800000"/>
            <a:headEnd/>
            <a:tailEnd/>
          </a:ln>
        </p:spPr>
        <p:txBody>
          <a:bodyPr wrap="none" anchor="ctr"/>
          <a:lstStyle/>
          <a:p>
            <a:pPr algn="ctr"/>
            <a:endParaRPr lang="zh-CN" altLang="en-US"/>
          </a:p>
        </p:txBody>
      </p:sp>
    </p:spTree>
  </p:cSld>
  <p:clrMapOvr>
    <a:masterClrMapping/>
  </p:clrMapOvr>
  <p:transition spd="med">
    <p:zoom/>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a:extLst>
              <a:ext uri="{FF2B5EF4-FFF2-40B4-BE49-F238E27FC236}">
                <a16:creationId xmlns:a16="http://schemas.microsoft.com/office/drawing/2014/main" id="{1DF21D08-17E8-FB13-047A-036DF68E12BA}"/>
              </a:ext>
            </a:extLst>
          </p:cNvPr>
          <p:cNvSpPr>
            <a:spLocks noGrp="1" noChangeArrowheads="1"/>
          </p:cNvSpPr>
          <p:nvPr>
            <p:ph type="title"/>
          </p:nvPr>
        </p:nvSpPr>
        <p:spPr/>
        <p:txBody>
          <a:bodyPr/>
          <a:lstStyle/>
          <a:p>
            <a:pPr eaLnBrk="1" hangingPunct="1"/>
            <a:r>
              <a:rPr lang="zh-CN" altLang="en-US"/>
              <a:t>作业的逻辑地址结构</a:t>
            </a:r>
          </a:p>
        </p:txBody>
      </p:sp>
      <p:sp>
        <p:nvSpPr>
          <p:cNvPr id="166914" name="Rectangle 3">
            <a:extLst>
              <a:ext uri="{FF2B5EF4-FFF2-40B4-BE49-F238E27FC236}">
                <a16:creationId xmlns:a16="http://schemas.microsoft.com/office/drawing/2014/main" id="{56EB25EB-D2A5-A848-E088-5F71615C639D}"/>
              </a:ext>
            </a:extLst>
          </p:cNvPr>
          <p:cNvSpPr>
            <a:spLocks noGrp="1" noChangeArrowheads="1"/>
          </p:cNvSpPr>
          <p:nvPr>
            <p:ph idx="1"/>
          </p:nvPr>
        </p:nvSpPr>
        <p:spPr>
          <a:xfrm>
            <a:off x="685800" y="1268413"/>
            <a:ext cx="8153400" cy="4419600"/>
          </a:xfrm>
        </p:spPr>
        <p:txBody>
          <a:bodyPr>
            <a:normAutofit lnSpcReduction="10000"/>
          </a:bodyPr>
          <a:lstStyle/>
          <a:p>
            <a:pPr algn="just" eaLnBrk="1" hangingPunct="1"/>
            <a:r>
              <a:rPr lang="zh-CN" altLang="en-US"/>
              <a:t>作业的逻辑地址结构:</a:t>
            </a:r>
          </a:p>
          <a:p>
            <a:pPr algn="just" eaLnBrk="1" hangingPunct="1"/>
            <a:endParaRPr lang="zh-CN" altLang="en-US"/>
          </a:p>
          <a:p>
            <a:pPr algn="just" eaLnBrk="1" hangingPunct="1"/>
            <a:endParaRPr lang="zh-CN" altLang="en-US"/>
          </a:p>
          <a:p>
            <a:pPr algn="just" eaLnBrk="1" hangingPunct="1"/>
            <a:r>
              <a:rPr lang="zh-CN" altLang="en-US"/>
              <a:t>为了实现地址变换，系统中需要设立段表及页表。</a:t>
            </a:r>
          </a:p>
          <a:p>
            <a:pPr algn="just" eaLnBrk="1" hangingPunct="1"/>
            <a:r>
              <a:rPr lang="zh-CN" altLang="en-US"/>
              <a:t>此外，为了便于实现地址变换，还需配置一个段表寄存器，其中存放作业的段表起始地址和段表长度。</a:t>
            </a:r>
          </a:p>
        </p:txBody>
      </p:sp>
      <p:grpSp>
        <p:nvGrpSpPr>
          <p:cNvPr id="166915" name="Group 4">
            <a:extLst>
              <a:ext uri="{FF2B5EF4-FFF2-40B4-BE49-F238E27FC236}">
                <a16:creationId xmlns:a16="http://schemas.microsoft.com/office/drawing/2014/main" id="{D8B0259E-6E3D-887A-1A15-058984B610D8}"/>
              </a:ext>
            </a:extLst>
          </p:cNvPr>
          <p:cNvGrpSpPr>
            <a:grpSpLocks/>
          </p:cNvGrpSpPr>
          <p:nvPr/>
        </p:nvGrpSpPr>
        <p:grpSpPr bwMode="auto">
          <a:xfrm>
            <a:off x="1219200" y="2133600"/>
            <a:ext cx="6400800" cy="609600"/>
            <a:chOff x="2172" y="3252"/>
            <a:chExt cx="4812" cy="573"/>
          </a:xfrm>
        </p:grpSpPr>
        <p:sp>
          <p:nvSpPr>
            <p:cNvPr id="166916" name="Rectangle 5">
              <a:extLst>
                <a:ext uri="{FF2B5EF4-FFF2-40B4-BE49-F238E27FC236}">
                  <a16:creationId xmlns:a16="http://schemas.microsoft.com/office/drawing/2014/main" id="{147DD0F4-E91C-31BE-3098-F78B41BC2AF5}"/>
                </a:ext>
              </a:extLst>
            </p:cNvPr>
            <p:cNvSpPr>
              <a:spLocks noChangeArrowheads="1"/>
            </p:cNvSpPr>
            <p:nvPr/>
          </p:nvSpPr>
          <p:spPr bwMode="auto">
            <a:xfrm>
              <a:off x="2172" y="3252"/>
              <a:ext cx="4812" cy="573"/>
            </a:xfrm>
            <a:prstGeom prst="rect">
              <a:avLst/>
            </a:prstGeom>
            <a:solidFill>
              <a:srgbClr val="FFFFFF"/>
            </a:solidFill>
            <a:ln w="15875">
              <a:solidFill>
                <a:srgbClr val="000000"/>
              </a:solidFill>
              <a:miter lim="800000"/>
              <a:headEnd/>
              <a:tailEnd/>
            </a:ln>
          </p:spPr>
          <p:txBody>
            <a:bodyPr lIns="18000" tIns="108000" rIns="18000" bIns="0"/>
            <a:lstStyle/>
            <a:p>
              <a:pPr algn="just" eaLnBrk="0" hangingPunct="0"/>
              <a:r>
                <a:rPr lang="zh-CN" altLang="en-US" dirty="0">
                  <a:latin typeface="Times New Roman" panose="02020603050405020304" pitchFamily="18" charset="0"/>
                </a:rPr>
                <a:t>      段号</a:t>
              </a:r>
              <a:r>
                <a:rPr lang="en-US" altLang="zh-CN" dirty="0">
                  <a:latin typeface="Times New Roman" panose="02020603050405020304" pitchFamily="18" charset="0"/>
                </a:rPr>
                <a:t>S       </a:t>
              </a:r>
              <a:r>
                <a:rPr lang="zh-CN" altLang="en-US" dirty="0">
                  <a:latin typeface="Times New Roman" panose="02020603050405020304" pitchFamily="18" charset="0"/>
                </a:rPr>
                <a:t>                 </a:t>
              </a:r>
              <a:r>
                <a:rPr lang="en-US" altLang="zh-CN" dirty="0">
                  <a:latin typeface="Times New Roman" panose="02020603050405020304" pitchFamily="18" charset="0"/>
                </a:rPr>
                <a:t>      </a:t>
              </a:r>
              <a:r>
                <a:rPr lang="zh-CN" altLang="en-US" dirty="0">
                  <a:latin typeface="Times New Roman" panose="02020603050405020304" pitchFamily="18" charset="0"/>
                </a:rPr>
                <a:t>段内页号</a:t>
              </a:r>
              <a:r>
                <a:rPr lang="en-US" altLang="zh-CN" dirty="0">
                  <a:latin typeface="Times New Roman" panose="02020603050405020304" pitchFamily="18" charset="0"/>
                </a:rPr>
                <a:t>P            </a:t>
              </a:r>
              <a:r>
                <a:rPr lang="zh-CN" altLang="en-US" dirty="0">
                  <a:latin typeface="Times New Roman" panose="02020603050405020304" pitchFamily="18" charset="0"/>
                </a:rPr>
                <a:t>页内位移</a:t>
              </a:r>
              <a:r>
                <a:rPr lang="en-US" altLang="zh-CN" dirty="0">
                  <a:latin typeface="Times New Roman" panose="02020603050405020304" pitchFamily="18" charset="0"/>
                </a:rPr>
                <a:t>D</a:t>
              </a:r>
            </a:p>
          </p:txBody>
        </p:sp>
        <p:sp>
          <p:nvSpPr>
            <p:cNvPr id="166917" name="Line 6">
              <a:extLst>
                <a:ext uri="{FF2B5EF4-FFF2-40B4-BE49-F238E27FC236}">
                  <a16:creationId xmlns:a16="http://schemas.microsoft.com/office/drawing/2014/main" id="{BF3E2AD7-7375-92A9-8428-7D72E887695F}"/>
                </a:ext>
              </a:extLst>
            </p:cNvPr>
            <p:cNvSpPr>
              <a:spLocks noChangeShapeType="1"/>
            </p:cNvSpPr>
            <p:nvPr/>
          </p:nvSpPr>
          <p:spPr bwMode="auto">
            <a:xfrm>
              <a:off x="3457" y="3252"/>
              <a:ext cx="1" cy="57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6918" name="Line 7">
              <a:extLst>
                <a:ext uri="{FF2B5EF4-FFF2-40B4-BE49-F238E27FC236}">
                  <a16:creationId xmlns:a16="http://schemas.microsoft.com/office/drawing/2014/main" id="{4AA6A9B4-BDEB-EA86-1E9B-059572E23056}"/>
                </a:ext>
              </a:extLst>
            </p:cNvPr>
            <p:cNvSpPr>
              <a:spLocks noChangeShapeType="1"/>
            </p:cNvSpPr>
            <p:nvPr/>
          </p:nvSpPr>
          <p:spPr bwMode="auto">
            <a:xfrm>
              <a:off x="5211" y="3252"/>
              <a:ext cx="1" cy="57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zoom/>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a:extLst>
              <a:ext uri="{FF2B5EF4-FFF2-40B4-BE49-F238E27FC236}">
                <a16:creationId xmlns:a16="http://schemas.microsoft.com/office/drawing/2014/main" id="{0FA34DC9-F22D-373F-A26C-01D55D32E9EF}"/>
              </a:ext>
            </a:extLst>
          </p:cNvPr>
          <p:cNvSpPr>
            <a:spLocks noGrp="1" noChangeArrowheads="1"/>
          </p:cNvSpPr>
          <p:nvPr>
            <p:ph type="title"/>
          </p:nvPr>
        </p:nvSpPr>
        <p:spPr/>
        <p:txBody>
          <a:bodyPr/>
          <a:lstStyle/>
          <a:p>
            <a:pPr eaLnBrk="1" hangingPunct="1"/>
            <a:r>
              <a:rPr lang="zh-CN" altLang="en-US"/>
              <a:t>段表、页表及段表寄存器</a:t>
            </a:r>
          </a:p>
        </p:txBody>
      </p:sp>
      <p:sp>
        <p:nvSpPr>
          <p:cNvPr id="167938" name="Rectangle 4">
            <a:extLst>
              <a:ext uri="{FF2B5EF4-FFF2-40B4-BE49-F238E27FC236}">
                <a16:creationId xmlns:a16="http://schemas.microsoft.com/office/drawing/2014/main" id="{6DE1953F-BC6F-8B38-B489-FE7855E3688D}"/>
              </a:ext>
            </a:extLst>
          </p:cNvPr>
          <p:cNvSpPr>
            <a:spLocks noChangeArrowheads="1"/>
          </p:cNvSpPr>
          <p:nvPr/>
        </p:nvSpPr>
        <p:spPr bwMode="auto">
          <a:xfrm>
            <a:off x="1436688" y="1239838"/>
            <a:ext cx="15351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段表寄存器</a:t>
            </a:r>
          </a:p>
        </p:txBody>
      </p:sp>
      <p:sp>
        <p:nvSpPr>
          <p:cNvPr id="167939" name="Rectangle 5">
            <a:extLst>
              <a:ext uri="{FF2B5EF4-FFF2-40B4-BE49-F238E27FC236}">
                <a16:creationId xmlns:a16="http://schemas.microsoft.com/office/drawing/2014/main" id="{03785E71-BAC6-E906-AD8D-0CF5B9661FA1}"/>
              </a:ext>
            </a:extLst>
          </p:cNvPr>
          <p:cNvSpPr>
            <a:spLocks noChangeArrowheads="1"/>
          </p:cNvSpPr>
          <p:nvPr/>
        </p:nvSpPr>
        <p:spPr bwMode="auto">
          <a:xfrm>
            <a:off x="935038" y="2468563"/>
            <a:ext cx="2898775"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段号   页表大小  页表始址</a:t>
            </a:r>
          </a:p>
        </p:txBody>
      </p:sp>
      <p:sp>
        <p:nvSpPr>
          <p:cNvPr id="167940" name="Rectangle 6">
            <a:extLst>
              <a:ext uri="{FF2B5EF4-FFF2-40B4-BE49-F238E27FC236}">
                <a16:creationId xmlns:a16="http://schemas.microsoft.com/office/drawing/2014/main" id="{BC87A49A-8D8C-BDEA-BC6F-8C81D5DF199E}"/>
              </a:ext>
            </a:extLst>
          </p:cNvPr>
          <p:cNvSpPr>
            <a:spLocks noChangeArrowheads="1"/>
          </p:cNvSpPr>
          <p:nvPr/>
        </p:nvSpPr>
        <p:spPr bwMode="auto">
          <a:xfrm>
            <a:off x="838200" y="1603375"/>
            <a:ext cx="2532063" cy="598488"/>
          </a:xfrm>
          <a:prstGeom prst="rect">
            <a:avLst/>
          </a:prstGeom>
          <a:solidFill>
            <a:srgbClr val="FFFFFF"/>
          </a:solidFill>
          <a:ln w="38100">
            <a:solidFill>
              <a:srgbClr val="000000"/>
            </a:solidFill>
            <a:miter lim="800000"/>
            <a:headEnd/>
            <a:tailEnd/>
          </a:ln>
        </p:spPr>
        <p:txBody>
          <a:bodyPr lIns="0" tIns="108000" rIns="0" bIns="0"/>
          <a:lstStyle/>
          <a:p>
            <a:pPr algn="just" eaLnBrk="0" hangingPunct="0"/>
            <a:r>
              <a:rPr lang="zh-CN" altLang="en-US" sz="2000" b="1">
                <a:latin typeface="Times New Roman" panose="02020603050405020304" pitchFamily="18" charset="0"/>
              </a:rPr>
              <a:t>  段表大小   段表始址</a:t>
            </a:r>
          </a:p>
        </p:txBody>
      </p:sp>
      <p:sp>
        <p:nvSpPr>
          <p:cNvPr id="167941" name="Line 7">
            <a:extLst>
              <a:ext uri="{FF2B5EF4-FFF2-40B4-BE49-F238E27FC236}">
                <a16:creationId xmlns:a16="http://schemas.microsoft.com/office/drawing/2014/main" id="{A20471C6-EF98-DD9A-BD82-755F01251A48}"/>
              </a:ext>
            </a:extLst>
          </p:cNvPr>
          <p:cNvSpPr>
            <a:spLocks noChangeShapeType="1"/>
          </p:cNvSpPr>
          <p:nvPr/>
        </p:nvSpPr>
        <p:spPr bwMode="auto">
          <a:xfrm>
            <a:off x="2057400" y="1620838"/>
            <a:ext cx="0" cy="60007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42" name="Rectangle 8">
            <a:extLst>
              <a:ext uri="{FF2B5EF4-FFF2-40B4-BE49-F238E27FC236}">
                <a16:creationId xmlns:a16="http://schemas.microsoft.com/office/drawing/2014/main" id="{6F7BAFFC-6AE2-F158-8E9B-86CDE71B6175}"/>
              </a:ext>
            </a:extLst>
          </p:cNvPr>
          <p:cNvSpPr>
            <a:spLocks noChangeArrowheads="1"/>
          </p:cNvSpPr>
          <p:nvPr/>
        </p:nvSpPr>
        <p:spPr bwMode="auto">
          <a:xfrm>
            <a:off x="6688138" y="1743075"/>
            <a:ext cx="1685925" cy="2676525"/>
          </a:xfrm>
          <a:prstGeom prst="rect">
            <a:avLst/>
          </a:prstGeom>
          <a:solidFill>
            <a:srgbClr val="FFFFFF"/>
          </a:solidFill>
          <a:ln w="38100">
            <a:solidFill>
              <a:srgbClr val="000000"/>
            </a:solidFill>
            <a:miter lim="800000"/>
            <a:headEnd/>
            <a:tailEnd/>
          </a:ln>
        </p:spPr>
        <p:txBody>
          <a:bodyPr lIns="0" tIns="36000" rIns="0" bIns="36000"/>
          <a:lstStyle/>
          <a:p>
            <a:pPr algn="just" eaLnBrk="0" hangingPunct="0"/>
            <a:endParaRPr lang="zh-CN" altLang="en-US" sz="2000" b="1">
              <a:latin typeface="Times New Roman" panose="02020603050405020304" pitchFamily="18" charset="0"/>
            </a:endParaRPr>
          </a:p>
        </p:txBody>
      </p:sp>
      <p:sp>
        <p:nvSpPr>
          <p:cNvPr id="167943" name="Rectangle 9">
            <a:extLst>
              <a:ext uri="{FF2B5EF4-FFF2-40B4-BE49-F238E27FC236}">
                <a16:creationId xmlns:a16="http://schemas.microsoft.com/office/drawing/2014/main" id="{5EC191AE-8E8F-3769-9288-8D571D3323C4}"/>
              </a:ext>
            </a:extLst>
          </p:cNvPr>
          <p:cNvSpPr>
            <a:spLocks noChangeArrowheads="1"/>
          </p:cNvSpPr>
          <p:nvPr/>
        </p:nvSpPr>
        <p:spPr bwMode="auto">
          <a:xfrm>
            <a:off x="7215188" y="1268413"/>
            <a:ext cx="6699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主存</a:t>
            </a:r>
          </a:p>
        </p:txBody>
      </p:sp>
      <p:sp>
        <p:nvSpPr>
          <p:cNvPr id="167944" name="Line 10">
            <a:extLst>
              <a:ext uri="{FF2B5EF4-FFF2-40B4-BE49-F238E27FC236}">
                <a16:creationId xmlns:a16="http://schemas.microsoft.com/office/drawing/2014/main" id="{20077B6F-2517-D67C-70CE-5D86A9E491DA}"/>
              </a:ext>
            </a:extLst>
          </p:cNvPr>
          <p:cNvSpPr>
            <a:spLocks noChangeShapeType="1"/>
          </p:cNvSpPr>
          <p:nvPr/>
        </p:nvSpPr>
        <p:spPr bwMode="auto">
          <a:xfrm>
            <a:off x="6688138" y="2863850"/>
            <a:ext cx="168592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45" name="Line 11">
            <a:extLst>
              <a:ext uri="{FF2B5EF4-FFF2-40B4-BE49-F238E27FC236}">
                <a16:creationId xmlns:a16="http://schemas.microsoft.com/office/drawing/2014/main" id="{34AE7641-9F02-142B-1281-8EB3E3B85545}"/>
              </a:ext>
            </a:extLst>
          </p:cNvPr>
          <p:cNvSpPr>
            <a:spLocks noChangeShapeType="1"/>
          </p:cNvSpPr>
          <p:nvPr/>
        </p:nvSpPr>
        <p:spPr bwMode="auto">
          <a:xfrm>
            <a:off x="6672263" y="2114550"/>
            <a:ext cx="170973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46" name="Line 12">
            <a:extLst>
              <a:ext uri="{FF2B5EF4-FFF2-40B4-BE49-F238E27FC236}">
                <a16:creationId xmlns:a16="http://schemas.microsoft.com/office/drawing/2014/main" id="{8252F2B4-8096-ADD3-CF1F-A164F6185FBF}"/>
              </a:ext>
            </a:extLst>
          </p:cNvPr>
          <p:cNvSpPr>
            <a:spLocks noChangeShapeType="1"/>
          </p:cNvSpPr>
          <p:nvPr/>
        </p:nvSpPr>
        <p:spPr bwMode="auto">
          <a:xfrm>
            <a:off x="6688138" y="2486025"/>
            <a:ext cx="168592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47" name="Line 13">
            <a:extLst>
              <a:ext uri="{FF2B5EF4-FFF2-40B4-BE49-F238E27FC236}">
                <a16:creationId xmlns:a16="http://schemas.microsoft.com/office/drawing/2014/main" id="{43FE7D86-EAE4-C628-6627-4310243179BA}"/>
              </a:ext>
            </a:extLst>
          </p:cNvPr>
          <p:cNvSpPr>
            <a:spLocks noChangeShapeType="1"/>
          </p:cNvSpPr>
          <p:nvPr/>
        </p:nvSpPr>
        <p:spPr bwMode="auto">
          <a:xfrm>
            <a:off x="6672263" y="3643313"/>
            <a:ext cx="1685925" cy="158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48" name="Line 14">
            <a:extLst>
              <a:ext uri="{FF2B5EF4-FFF2-40B4-BE49-F238E27FC236}">
                <a16:creationId xmlns:a16="http://schemas.microsoft.com/office/drawing/2014/main" id="{1A74F72B-ECEC-1AFE-0448-ADC9686D4AB0}"/>
              </a:ext>
            </a:extLst>
          </p:cNvPr>
          <p:cNvSpPr>
            <a:spLocks noChangeShapeType="1"/>
          </p:cNvSpPr>
          <p:nvPr/>
        </p:nvSpPr>
        <p:spPr bwMode="auto">
          <a:xfrm>
            <a:off x="6688138" y="3236913"/>
            <a:ext cx="1685925" cy="158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49" name="Line 15">
            <a:extLst>
              <a:ext uri="{FF2B5EF4-FFF2-40B4-BE49-F238E27FC236}">
                <a16:creationId xmlns:a16="http://schemas.microsoft.com/office/drawing/2014/main" id="{CAD11E85-2393-98B9-09DB-00C41DB9326A}"/>
              </a:ext>
            </a:extLst>
          </p:cNvPr>
          <p:cNvSpPr>
            <a:spLocks noChangeShapeType="1"/>
          </p:cNvSpPr>
          <p:nvPr/>
        </p:nvSpPr>
        <p:spPr bwMode="auto">
          <a:xfrm flipV="1">
            <a:off x="3749675" y="1700213"/>
            <a:ext cx="506413" cy="1431925"/>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7950" name="Line 16">
            <a:extLst>
              <a:ext uri="{FF2B5EF4-FFF2-40B4-BE49-F238E27FC236}">
                <a16:creationId xmlns:a16="http://schemas.microsoft.com/office/drawing/2014/main" id="{CD4140E5-94E7-C084-8C68-4681889793A9}"/>
              </a:ext>
            </a:extLst>
          </p:cNvPr>
          <p:cNvSpPr>
            <a:spLocks noChangeShapeType="1"/>
          </p:cNvSpPr>
          <p:nvPr/>
        </p:nvSpPr>
        <p:spPr bwMode="auto">
          <a:xfrm>
            <a:off x="5391150" y="1876425"/>
            <a:ext cx="1301750" cy="382588"/>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7951" name="Rectangle 17">
            <a:extLst>
              <a:ext uri="{FF2B5EF4-FFF2-40B4-BE49-F238E27FC236}">
                <a16:creationId xmlns:a16="http://schemas.microsoft.com/office/drawing/2014/main" id="{CF41A528-5490-2186-8B6F-E747EDB3AFB2}"/>
              </a:ext>
            </a:extLst>
          </p:cNvPr>
          <p:cNvSpPr>
            <a:spLocks noChangeArrowheads="1"/>
          </p:cNvSpPr>
          <p:nvPr/>
        </p:nvSpPr>
        <p:spPr bwMode="auto">
          <a:xfrm>
            <a:off x="942975" y="2863850"/>
            <a:ext cx="2849563" cy="1728788"/>
          </a:xfrm>
          <a:prstGeom prst="rect">
            <a:avLst/>
          </a:prstGeom>
          <a:solidFill>
            <a:srgbClr val="FFFFFF"/>
          </a:solidFill>
          <a:ln w="38100">
            <a:solidFill>
              <a:srgbClr val="000000"/>
            </a:solidFill>
            <a:miter lim="800000"/>
            <a:headEnd/>
            <a:tailEnd/>
          </a:ln>
        </p:spPr>
        <p:txBody>
          <a:bodyPr lIns="18000" tIns="36000" rIns="18000" bIns="10800"/>
          <a:lstStyle/>
          <a:p>
            <a:pPr algn="just" eaLnBrk="0" hangingPunct="0"/>
            <a:r>
              <a:rPr lang="zh-CN" altLang="en-US" sz="2000" b="1">
                <a:latin typeface="Times New Roman" panose="02020603050405020304" pitchFamily="18" charset="0"/>
              </a:rPr>
              <a:t>   0   </a:t>
            </a:r>
          </a:p>
          <a:p>
            <a:pPr algn="just" eaLnBrk="0" hangingPunct="0"/>
            <a:endParaRPr lang="zh-CN" altLang="en-US" sz="800" b="1">
              <a:latin typeface="Times New Roman" panose="02020603050405020304" pitchFamily="18" charset="0"/>
            </a:endParaRPr>
          </a:p>
          <a:p>
            <a:pPr algn="just" eaLnBrk="0" hangingPunct="0"/>
            <a:r>
              <a:rPr lang="zh-CN" altLang="en-US" sz="2000" b="1">
                <a:latin typeface="Times New Roman" panose="02020603050405020304" pitchFamily="18" charset="0"/>
              </a:rPr>
              <a:t>   1</a:t>
            </a:r>
          </a:p>
          <a:p>
            <a:pPr algn="just" eaLnBrk="0" hangingPunct="0"/>
            <a:endParaRPr lang="zh-CN" altLang="en-US" sz="800" b="1">
              <a:latin typeface="Times New Roman" panose="02020603050405020304" pitchFamily="18" charset="0"/>
            </a:endParaRPr>
          </a:p>
          <a:p>
            <a:pPr algn="just" eaLnBrk="0" hangingPunct="0"/>
            <a:r>
              <a:rPr lang="zh-CN" altLang="en-US" sz="2000" b="1">
                <a:latin typeface="Times New Roman" panose="02020603050405020304" pitchFamily="18" charset="0"/>
              </a:rPr>
              <a:t>   2</a:t>
            </a:r>
          </a:p>
          <a:p>
            <a:pPr algn="just" eaLnBrk="0" hangingPunct="0"/>
            <a:endParaRPr lang="zh-CN" altLang="en-US" sz="800" b="1">
              <a:latin typeface="Times New Roman" panose="02020603050405020304" pitchFamily="18" charset="0"/>
            </a:endParaRPr>
          </a:p>
          <a:p>
            <a:pPr algn="just" eaLnBrk="0" hangingPunct="0"/>
            <a:r>
              <a:rPr lang="zh-CN" altLang="en-US" sz="2000" b="1">
                <a:latin typeface="Times New Roman" panose="02020603050405020304" pitchFamily="18" charset="0"/>
              </a:rPr>
              <a:t>  </a:t>
            </a:r>
            <a:r>
              <a:rPr lang="zh-CN" altLang="en-US" sz="2000" b="1">
                <a:latin typeface="宋体" panose="02010600030101010101" pitchFamily="2" charset="-122"/>
              </a:rPr>
              <a:t>┇</a:t>
            </a:r>
            <a:endParaRPr lang="zh-CN" altLang="en-US" sz="2000" b="1">
              <a:latin typeface="Times New Roman" panose="02020603050405020304" pitchFamily="18" charset="0"/>
            </a:endParaRPr>
          </a:p>
        </p:txBody>
      </p:sp>
      <p:sp>
        <p:nvSpPr>
          <p:cNvPr id="167952" name="Line 18">
            <a:extLst>
              <a:ext uri="{FF2B5EF4-FFF2-40B4-BE49-F238E27FC236}">
                <a16:creationId xmlns:a16="http://schemas.microsoft.com/office/drawing/2014/main" id="{39C086A0-4D79-70E0-A7C3-3BC6D0C2B264}"/>
              </a:ext>
            </a:extLst>
          </p:cNvPr>
          <p:cNvSpPr>
            <a:spLocks noChangeShapeType="1"/>
          </p:cNvSpPr>
          <p:nvPr/>
        </p:nvSpPr>
        <p:spPr bwMode="auto">
          <a:xfrm>
            <a:off x="942975" y="3254375"/>
            <a:ext cx="284956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53" name="Line 19">
            <a:extLst>
              <a:ext uri="{FF2B5EF4-FFF2-40B4-BE49-F238E27FC236}">
                <a16:creationId xmlns:a16="http://schemas.microsoft.com/office/drawing/2014/main" id="{9B1449B1-CFB3-1F2F-A58B-60CE433CA0AA}"/>
              </a:ext>
            </a:extLst>
          </p:cNvPr>
          <p:cNvSpPr>
            <a:spLocks noChangeShapeType="1"/>
          </p:cNvSpPr>
          <p:nvPr/>
        </p:nvSpPr>
        <p:spPr bwMode="auto">
          <a:xfrm>
            <a:off x="942975" y="3676650"/>
            <a:ext cx="2849563"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54" name="Rectangle 20">
            <a:extLst>
              <a:ext uri="{FF2B5EF4-FFF2-40B4-BE49-F238E27FC236}">
                <a16:creationId xmlns:a16="http://schemas.microsoft.com/office/drawing/2014/main" id="{D4898E7A-7432-5129-90B9-B0C5640A32FD}"/>
              </a:ext>
            </a:extLst>
          </p:cNvPr>
          <p:cNvSpPr>
            <a:spLocks noChangeArrowheads="1"/>
          </p:cNvSpPr>
          <p:nvPr/>
        </p:nvSpPr>
        <p:spPr bwMode="auto">
          <a:xfrm>
            <a:off x="2036763" y="4668838"/>
            <a:ext cx="7032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段表</a:t>
            </a:r>
          </a:p>
        </p:txBody>
      </p:sp>
      <p:sp>
        <p:nvSpPr>
          <p:cNvPr id="167955" name="Line 21">
            <a:extLst>
              <a:ext uri="{FF2B5EF4-FFF2-40B4-BE49-F238E27FC236}">
                <a16:creationId xmlns:a16="http://schemas.microsoft.com/office/drawing/2014/main" id="{1E6E4336-6D89-6C89-DC45-D8EF5A09F176}"/>
              </a:ext>
            </a:extLst>
          </p:cNvPr>
          <p:cNvSpPr>
            <a:spLocks noChangeShapeType="1"/>
          </p:cNvSpPr>
          <p:nvPr/>
        </p:nvSpPr>
        <p:spPr bwMode="auto">
          <a:xfrm>
            <a:off x="2635250" y="2863850"/>
            <a:ext cx="1588" cy="17287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56" name="Line 22">
            <a:extLst>
              <a:ext uri="{FF2B5EF4-FFF2-40B4-BE49-F238E27FC236}">
                <a16:creationId xmlns:a16="http://schemas.microsoft.com/office/drawing/2014/main" id="{A98BF737-6F63-0EAD-D802-51835B142247}"/>
              </a:ext>
            </a:extLst>
          </p:cNvPr>
          <p:cNvSpPr>
            <a:spLocks noChangeShapeType="1"/>
          </p:cNvSpPr>
          <p:nvPr/>
        </p:nvSpPr>
        <p:spPr bwMode="auto">
          <a:xfrm>
            <a:off x="1674813" y="2863850"/>
            <a:ext cx="1587" cy="17287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57" name="Line 23">
            <a:extLst>
              <a:ext uri="{FF2B5EF4-FFF2-40B4-BE49-F238E27FC236}">
                <a16:creationId xmlns:a16="http://schemas.microsoft.com/office/drawing/2014/main" id="{8DADE4B5-B601-9449-F6E5-EF8AAABF826F}"/>
              </a:ext>
            </a:extLst>
          </p:cNvPr>
          <p:cNvSpPr>
            <a:spLocks noChangeShapeType="1"/>
          </p:cNvSpPr>
          <p:nvPr/>
        </p:nvSpPr>
        <p:spPr bwMode="auto">
          <a:xfrm>
            <a:off x="942975" y="4059238"/>
            <a:ext cx="284956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58" name="Rectangle 24">
            <a:extLst>
              <a:ext uri="{FF2B5EF4-FFF2-40B4-BE49-F238E27FC236}">
                <a16:creationId xmlns:a16="http://schemas.microsoft.com/office/drawing/2014/main" id="{034A919D-369C-61B7-F5D0-914893C6B999}"/>
              </a:ext>
            </a:extLst>
          </p:cNvPr>
          <p:cNvSpPr>
            <a:spLocks noChangeArrowheads="1"/>
          </p:cNvSpPr>
          <p:nvPr/>
        </p:nvSpPr>
        <p:spPr bwMode="auto">
          <a:xfrm>
            <a:off x="4419600" y="1323975"/>
            <a:ext cx="1190625"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页号 块号</a:t>
            </a:r>
          </a:p>
        </p:txBody>
      </p:sp>
      <p:sp>
        <p:nvSpPr>
          <p:cNvPr id="167959" name="Rectangle 25">
            <a:extLst>
              <a:ext uri="{FF2B5EF4-FFF2-40B4-BE49-F238E27FC236}">
                <a16:creationId xmlns:a16="http://schemas.microsoft.com/office/drawing/2014/main" id="{99B9A763-4444-705F-9427-7CAD7E1FB19C}"/>
              </a:ext>
            </a:extLst>
          </p:cNvPr>
          <p:cNvSpPr>
            <a:spLocks noChangeArrowheads="1"/>
          </p:cNvSpPr>
          <p:nvPr/>
        </p:nvSpPr>
        <p:spPr bwMode="auto">
          <a:xfrm>
            <a:off x="4257675" y="1700213"/>
            <a:ext cx="1241425" cy="1485900"/>
          </a:xfrm>
          <a:prstGeom prst="rect">
            <a:avLst/>
          </a:prstGeom>
          <a:solidFill>
            <a:srgbClr val="FFFFFF"/>
          </a:solidFill>
          <a:ln w="38100">
            <a:solidFill>
              <a:srgbClr val="000000"/>
            </a:solidFill>
            <a:miter lim="800000"/>
            <a:headEnd/>
            <a:tailEnd/>
          </a:ln>
        </p:spPr>
        <p:txBody>
          <a:bodyPr lIns="18000" tIns="10800" rIns="18000" bIns="10800"/>
          <a:lstStyle/>
          <a:p>
            <a:pPr algn="just" eaLnBrk="0" hangingPunct="0"/>
            <a:r>
              <a:rPr lang="zh-CN" altLang="en-US" sz="2000" b="1">
                <a:latin typeface="Times New Roman" panose="02020603050405020304" pitchFamily="18" charset="0"/>
              </a:rPr>
              <a:t>   0    </a:t>
            </a:r>
          </a:p>
          <a:p>
            <a:pPr algn="just" eaLnBrk="0" hangingPunct="0"/>
            <a:r>
              <a:rPr lang="zh-CN" altLang="en-US" sz="2000" b="1">
                <a:latin typeface="Times New Roman" panose="02020603050405020304" pitchFamily="18" charset="0"/>
              </a:rPr>
              <a:t>   1</a:t>
            </a:r>
          </a:p>
          <a:p>
            <a:pPr algn="just" eaLnBrk="0" hangingPunct="0"/>
            <a:r>
              <a:rPr lang="zh-CN" altLang="en-US" sz="2000" b="1">
                <a:latin typeface="Times New Roman" panose="02020603050405020304" pitchFamily="18" charset="0"/>
              </a:rPr>
              <a:t>   2</a:t>
            </a:r>
          </a:p>
          <a:p>
            <a:pPr algn="just" eaLnBrk="0" hangingPunct="0"/>
            <a:r>
              <a:rPr lang="zh-CN" altLang="en-US" sz="2000" b="1">
                <a:latin typeface="Times New Roman" panose="02020603050405020304" pitchFamily="18" charset="0"/>
              </a:rPr>
              <a:t>  </a:t>
            </a:r>
            <a:r>
              <a:rPr lang="zh-CN" altLang="en-US" sz="2000" b="1">
                <a:latin typeface="宋体" panose="02010600030101010101" pitchFamily="2" charset="-122"/>
              </a:rPr>
              <a:t>┇</a:t>
            </a:r>
            <a:endParaRPr lang="zh-CN" altLang="en-US" sz="2000" b="1">
              <a:latin typeface="Times New Roman" panose="02020603050405020304" pitchFamily="18" charset="0"/>
            </a:endParaRPr>
          </a:p>
        </p:txBody>
      </p:sp>
      <p:sp>
        <p:nvSpPr>
          <p:cNvPr id="167960" name="Line 26">
            <a:extLst>
              <a:ext uri="{FF2B5EF4-FFF2-40B4-BE49-F238E27FC236}">
                <a16:creationId xmlns:a16="http://schemas.microsoft.com/office/drawing/2014/main" id="{09EEC0B1-C275-6CCC-593A-A166B9CD40D0}"/>
              </a:ext>
            </a:extLst>
          </p:cNvPr>
          <p:cNvSpPr>
            <a:spLocks noChangeShapeType="1"/>
          </p:cNvSpPr>
          <p:nvPr/>
        </p:nvSpPr>
        <p:spPr bwMode="auto">
          <a:xfrm>
            <a:off x="4257675" y="2001838"/>
            <a:ext cx="1241425" cy="158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61" name="Line 27">
            <a:extLst>
              <a:ext uri="{FF2B5EF4-FFF2-40B4-BE49-F238E27FC236}">
                <a16:creationId xmlns:a16="http://schemas.microsoft.com/office/drawing/2014/main" id="{DC5366D2-C206-635C-99B9-256FA9FC7CD0}"/>
              </a:ext>
            </a:extLst>
          </p:cNvPr>
          <p:cNvSpPr>
            <a:spLocks noChangeShapeType="1"/>
          </p:cNvSpPr>
          <p:nvPr/>
        </p:nvSpPr>
        <p:spPr bwMode="auto">
          <a:xfrm>
            <a:off x="4257675" y="2306638"/>
            <a:ext cx="124142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62" name="Line 28">
            <a:extLst>
              <a:ext uri="{FF2B5EF4-FFF2-40B4-BE49-F238E27FC236}">
                <a16:creationId xmlns:a16="http://schemas.microsoft.com/office/drawing/2014/main" id="{BD794FE9-1B25-7136-BA93-C0755091ED8A}"/>
              </a:ext>
            </a:extLst>
          </p:cNvPr>
          <p:cNvSpPr>
            <a:spLocks noChangeShapeType="1"/>
          </p:cNvSpPr>
          <p:nvPr/>
        </p:nvSpPr>
        <p:spPr bwMode="auto">
          <a:xfrm>
            <a:off x="4926013" y="1700213"/>
            <a:ext cx="1587" cy="14859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63" name="Line 29">
            <a:extLst>
              <a:ext uri="{FF2B5EF4-FFF2-40B4-BE49-F238E27FC236}">
                <a16:creationId xmlns:a16="http://schemas.microsoft.com/office/drawing/2014/main" id="{D76C8694-46CC-F531-8923-66CD157DE355}"/>
              </a:ext>
            </a:extLst>
          </p:cNvPr>
          <p:cNvSpPr>
            <a:spLocks noChangeShapeType="1"/>
          </p:cNvSpPr>
          <p:nvPr/>
        </p:nvSpPr>
        <p:spPr bwMode="auto">
          <a:xfrm>
            <a:off x="4257675" y="2611438"/>
            <a:ext cx="1241425" cy="158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64" name="Rectangle 30">
            <a:extLst>
              <a:ext uri="{FF2B5EF4-FFF2-40B4-BE49-F238E27FC236}">
                <a16:creationId xmlns:a16="http://schemas.microsoft.com/office/drawing/2014/main" id="{F1D51D2D-A06B-A2C8-5E1D-D01BF6FD60D3}"/>
              </a:ext>
            </a:extLst>
          </p:cNvPr>
          <p:cNvSpPr>
            <a:spLocks noChangeArrowheads="1"/>
          </p:cNvSpPr>
          <p:nvPr/>
        </p:nvSpPr>
        <p:spPr bwMode="auto">
          <a:xfrm>
            <a:off x="4443413" y="3321050"/>
            <a:ext cx="1119187"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页号 块号</a:t>
            </a:r>
          </a:p>
        </p:txBody>
      </p:sp>
      <p:sp>
        <p:nvSpPr>
          <p:cNvPr id="167965" name="Rectangle 31">
            <a:extLst>
              <a:ext uri="{FF2B5EF4-FFF2-40B4-BE49-F238E27FC236}">
                <a16:creationId xmlns:a16="http://schemas.microsoft.com/office/drawing/2014/main" id="{EF03E044-CEB7-BA5D-3795-B6704142F81C}"/>
              </a:ext>
            </a:extLst>
          </p:cNvPr>
          <p:cNvSpPr>
            <a:spLocks noChangeArrowheads="1"/>
          </p:cNvSpPr>
          <p:nvPr/>
        </p:nvSpPr>
        <p:spPr bwMode="auto">
          <a:xfrm>
            <a:off x="4305300" y="3716338"/>
            <a:ext cx="1241425" cy="1485900"/>
          </a:xfrm>
          <a:prstGeom prst="rect">
            <a:avLst/>
          </a:prstGeom>
          <a:solidFill>
            <a:srgbClr val="FFFFFF"/>
          </a:solidFill>
          <a:ln w="38100">
            <a:solidFill>
              <a:srgbClr val="000000"/>
            </a:solidFill>
            <a:miter lim="800000"/>
            <a:headEnd/>
            <a:tailEnd/>
          </a:ln>
        </p:spPr>
        <p:txBody>
          <a:bodyPr lIns="18000" tIns="10800" rIns="18000" bIns="10800"/>
          <a:lstStyle/>
          <a:p>
            <a:pPr algn="just" eaLnBrk="0" hangingPunct="0"/>
            <a:r>
              <a:rPr lang="zh-CN" altLang="en-US" sz="2000" b="1">
                <a:latin typeface="Times New Roman" panose="02020603050405020304" pitchFamily="18" charset="0"/>
              </a:rPr>
              <a:t>   0    </a:t>
            </a:r>
          </a:p>
          <a:p>
            <a:pPr algn="just" eaLnBrk="0" hangingPunct="0"/>
            <a:r>
              <a:rPr lang="zh-CN" altLang="en-US" sz="2000" b="1">
                <a:latin typeface="Times New Roman" panose="02020603050405020304" pitchFamily="18" charset="0"/>
              </a:rPr>
              <a:t>   1</a:t>
            </a:r>
          </a:p>
          <a:p>
            <a:pPr algn="just" eaLnBrk="0" hangingPunct="0"/>
            <a:r>
              <a:rPr lang="zh-CN" altLang="en-US" sz="2000" b="1">
                <a:latin typeface="Times New Roman" panose="02020603050405020304" pitchFamily="18" charset="0"/>
              </a:rPr>
              <a:t>   2</a:t>
            </a:r>
          </a:p>
          <a:p>
            <a:pPr algn="just" eaLnBrk="0" hangingPunct="0"/>
            <a:r>
              <a:rPr lang="zh-CN" altLang="en-US" sz="2000" b="1">
                <a:latin typeface="Times New Roman" panose="02020603050405020304" pitchFamily="18" charset="0"/>
              </a:rPr>
              <a:t>  </a:t>
            </a:r>
            <a:r>
              <a:rPr lang="zh-CN" altLang="en-US" sz="2000" b="1">
                <a:latin typeface="宋体" panose="02010600030101010101" pitchFamily="2" charset="-122"/>
              </a:rPr>
              <a:t>┇</a:t>
            </a:r>
            <a:endParaRPr lang="zh-CN" altLang="en-US" sz="2000" b="1">
              <a:latin typeface="Times New Roman" panose="02020603050405020304" pitchFamily="18" charset="0"/>
            </a:endParaRPr>
          </a:p>
        </p:txBody>
      </p:sp>
      <p:sp>
        <p:nvSpPr>
          <p:cNvPr id="167966" name="Line 32">
            <a:extLst>
              <a:ext uri="{FF2B5EF4-FFF2-40B4-BE49-F238E27FC236}">
                <a16:creationId xmlns:a16="http://schemas.microsoft.com/office/drawing/2014/main" id="{21E7174B-C69E-0F06-0F9D-6E0878420934}"/>
              </a:ext>
            </a:extLst>
          </p:cNvPr>
          <p:cNvSpPr>
            <a:spLocks noChangeShapeType="1"/>
          </p:cNvSpPr>
          <p:nvPr/>
        </p:nvSpPr>
        <p:spPr bwMode="auto">
          <a:xfrm>
            <a:off x="4305300" y="4057650"/>
            <a:ext cx="124142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67" name="Line 33">
            <a:extLst>
              <a:ext uri="{FF2B5EF4-FFF2-40B4-BE49-F238E27FC236}">
                <a16:creationId xmlns:a16="http://schemas.microsoft.com/office/drawing/2014/main" id="{B3AE1395-68CD-095E-FBC9-E00567D42204}"/>
              </a:ext>
            </a:extLst>
          </p:cNvPr>
          <p:cNvSpPr>
            <a:spLocks noChangeShapeType="1"/>
          </p:cNvSpPr>
          <p:nvPr/>
        </p:nvSpPr>
        <p:spPr bwMode="auto">
          <a:xfrm>
            <a:off x="4305300" y="4362450"/>
            <a:ext cx="124142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68" name="Line 34">
            <a:extLst>
              <a:ext uri="{FF2B5EF4-FFF2-40B4-BE49-F238E27FC236}">
                <a16:creationId xmlns:a16="http://schemas.microsoft.com/office/drawing/2014/main" id="{BEC441D4-E1D6-BB9B-D155-5C4C063E2A76}"/>
              </a:ext>
            </a:extLst>
          </p:cNvPr>
          <p:cNvSpPr>
            <a:spLocks noChangeShapeType="1"/>
          </p:cNvSpPr>
          <p:nvPr/>
        </p:nvSpPr>
        <p:spPr bwMode="auto">
          <a:xfrm>
            <a:off x="4975225" y="3716338"/>
            <a:ext cx="1588" cy="14859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69" name="Line 35">
            <a:extLst>
              <a:ext uri="{FF2B5EF4-FFF2-40B4-BE49-F238E27FC236}">
                <a16:creationId xmlns:a16="http://schemas.microsoft.com/office/drawing/2014/main" id="{C4ED26A3-A6FD-D563-26EE-D47748864EBC}"/>
              </a:ext>
            </a:extLst>
          </p:cNvPr>
          <p:cNvSpPr>
            <a:spLocks noChangeShapeType="1"/>
          </p:cNvSpPr>
          <p:nvPr/>
        </p:nvSpPr>
        <p:spPr bwMode="auto">
          <a:xfrm>
            <a:off x="4305300" y="4651375"/>
            <a:ext cx="124142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70" name="Line 36">
            <a:extLst>
              <a:ext uri="{FF2B5EF4-FFF2-40B4-BE49-F238E27FC236}">
                <a16:creationId xmlns:a16="http://schemas.microsoft.com/office/drawing/2014/main" id="{0E931D71-C3C8-8FAA-D4A8-6E3BFBBD1BD6}"/>
              </a:ext>
            </a:extLst>
          </p:cNvPr>
          <p:cNvSpPr>
            <a:spLocks noChangeShapeType="1"/>
          </p:cNvSpPr>
          <p:nvPr/>
        </p:nvSpPr>
        <p:spPr bwMode="auto">
          <a:xfrm flipV="1">
            <a:off x="5521325" y="3281363"/>
            <a:ext cx="1155700" cy="625475"/>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7971" name="Line 37">
            <a:extLst>
              <a:ext uri="{FF2B5EF4-FFF2-40B4-BE49-F238E27FC236}">
                <a16:creationId xmlns:a16="http://schemas.microsoft.com/office/drawing/2014/main" id="{28A17697-76D2-C155-47CC-6D58F52D4244}"/>
              </a:ext>
            </a:extLst>
          </p:cNvPr>
          <p:cNvSpPr>
            <a:spLocks noChangeShapeType="1"/>
          </p:cNvSpPr>
          <p:nvPr/>
        </p:nvSpPr>
        <p:spPr bwMode="auto">
          <a:xfrm>
            <a:off x="3771900" y="3497263"/>
            <a:ext cx="571500" cy="257175"/>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7972" name="Rectangle 38">
            <a:extLst>
              <a:ext uri="{FF2B5EF4-FFF2-40B4-BE49-F238E27FC236}">
                <a16:creationId xmlns:a16="http://schemas.microsoft.com/office/drawing/2014/main" id="{7DDB65A1-699E-A8D6-050C-E37FAA6F953D}"/>
              </a:ext>
            </a:extLst>
          </p:cNvPr>
          <p:cNvSpPr>
            <a:spLocks noChangeArrowheads="1"/>
          </p:cNvSpPr>
          <p:nvPr/>
        </p:nvSpPr>
        <p:spPr bwMode="auto">
          <a:xfrm>
            <a:off x="4648200" y="5278438"/>
            <a:ext cx="7032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页表</a:t>
            </a:r>
          </a:p>
        </p:txBody>
      </p:sp>
    </p:spTree>
  </p:cSld>
  <p:clrMapOvr>
    <a:masterClrMapping/>
  </p:clrMapOvr>
  <p:transition spd="med">
    <p:zoom/>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a:extLst>
              <a:ext uri="{FF2B5EF4-FFF2-40B4-BE49-F238E27FC236}">
                <a16:creationId xmlns:a16="http://schemas.microsoft.com/office/drawing/2014/main" id="{BCF9750C-6D0A-13EC-B02B-ED2132422E02}"/>
              </a:ext>
            </a:extLst>
          </p:cNvPr>
          <p:cNvSpPr>
            <a:spLocks noGrp="1" noChangeArrowheads="1"/>
          </p:cNvSpPr>
          <p:nvPr>
            <p:ph type="title"/>
          </p:nvPr>
        </p:nvSpPr>
        <p:spPr/>
        <p:txBody>
          <a:bodyPr/>
          <a:lstStyle/>
          <a:p>
            <a:pPr eaLnBrk="1" hangingPunct="1"/>
            <a:r>
              <a:rPr lang="zh-CN" altLang="en-US"/>
              <a:t>地址变换过程</a:t>
            </a:r>
          </a:p>
        </p:txBody>
      </p:sp>
      <p:sp>
        <p:nvSpPr>
          <p:cNvPr id="218115" name="Rectangle 3">
            <a:extLst>
              <a:ext uri="{FF2B5EF4-FFF2-40B4-BE49-F238E27FC236}">
                <a16:creationId xmlns:a16="http://schemas.microsoft.com/office/drawing/2014/main" id="{D0F95446-4D3F-E28C-C45C-F004F6A1149F}"/>
              </a:ext>
            </a:extLst>
          </p:cNvPr>
          <p:cNvSpPr>
            <a:spLocks noGrp="1" noChangeArrowheads="1"/>
          </p:cNvSpPr>
          <p:nvPr>
            <p:ph idx="1"/>
          </p:nvPr>
        </p:nvSpPr>
        <p:spPr>
          <a:xfrm>
            <a:off x="611188" y="1268413"/>
            <a:ext cx="8343900" cy="4535487"/>
          </a:xfrm>
        </p:spPr>
        <p:txBody>
          <a:bodyPr/>
          <a:lstStyle/>
          <a:p>
            <a:pPr eaLnBrk="1" hangingPunct="1"/>
            <a:r>
              <a:rPr lang="zh-CN" altLang="en-US"/>
              <a:t>在进行地址变换时，首先将段号</a:t>
            </a:r>
            <a:r>
              <a:rPr lang="en-US" altLang="zh-CN"/>
              <a:t>S</a:t>
            </a:r>
            <a:r>
              <a:rPr lang="zh-CN" altLang="en-US"/>
              <a:t>与段表寄存器中的段表长度进行比较，若小于段表长度则表示未越界，</a:t>
            </a:r>
          </a:p>
          <a:p>
            <a:pPr eaLnBrk="1" hangingPunct="1"/>
            <a:r>
              <a:rPr lang="zh-CN" altLang="en-US"/>
              <a:t>利用段表始址和段号求出该段对应段表项的位置，从中得到该段的页表始址，</a:t>
            </a:r>
          </a:p>
          <a:p>
            <a:pPr eaLnBrk="1" hangingPunct="1"/>
            <a:r>
              <a:rPr lang="zh-CN" altLang="en-US"/>
              <a:t>再利用逻辑地址中的段内页号</a:t>
            </a:r>
            <a:r>
              <a:rPr lang="en-US" altLang="zh-CN"/>
              <a:t>P</a:t>
            </a:r>
            <a:r>
              <a:rPr lang="zh-CN" altLang="en-US"/>
              <a:t>获得对应页表项的位置，从中读出该页所在的物理块号，再与页内地址拼接成物理地址。</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18115">
                                            <p:txEl>
                                              <p:pRg st="0" end="0"/>
                                            </p:txEl>
                                          </p:spTgt>
                                        </p:tgtEl>
                                        <p:attrNameLst>
                                          <p:attrName>style.visibility</p:attrName>
                                        </p:attrNameLst>
                                      </p:cBhvr>
                                      <p:to>
                                        <p:strVal val="visible"/>
                                      </p:to>
                                    </p:set>
                                    <p:animEffect transition="in" filter="checkerboard(across)">
                                      <p:cBhvr>
                                        <p:cTn id="7" dur="500"/>
                                        <p:tgtEl>
                                          <p:spTgt spid="2181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18115">
                                            <p:txEl>
                                              <p:pRg st="1" end="1"/>
                                            </p:txEl>
                                          </p:spTgt>
                                        </p:tgtEl>
                                        <p:attrNameLst>
                                          <p:attrName>style.visibility</p:attrName>
                                        </p:attrNameLst>
                                      </p:cBhvr>
                                      <p:to>
                                        <p:strVal val="visible"/>
                                      </p:to>
                                    </p:set>
                                    <p:animEffect transition="in" filter="checkerboard(across)">
                                      <p:cBhvr>
                                        <p:cTn id="12" dur="500"/>
                                        <p:tgtEl>
                                          <p:spTgt spid="2181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18115">
                                            <p:txEl>
                                              <p:pRg st="2" end="2"/>
                                            </p:txEl>
                                          </p:spTgt>
                                        </p:tgtEl>
                                        <p:attrNameLst>
                                          <p:attrName>style.visibility</p:attrName>
                                        </p:attrNameLst>
                                      </p:cBhvr>
                                      <p:to>
                                        <p:strVal val="visible"/>
                                      </p:to>
                                    </p:set>
                                    <p:animEffect transition="in" filter="checkerboard(across)">
                                      <p:cBhvr>
                                        <p:cTn id="17" dur="500"/>
                                        <p:tgtEl>
                                          <p:spTgt spid="2181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2">
            <a:extLst>
              <a:ext uri="{FF2B5EF4-FFF2-40B4-BE49-F238E27FC236}">
                <a16:creationId xmlns:a16="http://schemas.microsoft.com/office/drawing/2014/main" id="{1106992C-41F2-5257-BE80-4B207F2DF38F}"/>
              </a:ext>
            </a:extLst>
          </p:cNvPr>
          <p:cNvSpPr>
            <a:spLocks noGrp="1" noChangeArrowheads="1"/>
          </p:cNvSpPr>
          <p:nvPr>
            <p:ph type="title"/>
          </p:nvPr>
        </p:nvSpPr>
        <p:spPr/>
        <p:txBody>
          <a:bodyPr/>
          <a:lstStyle/>
          <a:p>
            <a:pPr eaLnBrk="1" hangingPunct="1"/>
            <a:r>
              <a:rPr lang="zh-CN" altLang="en-US"/>
              <a:t>段页式系统中的地址变换机构</a:t>
            </a:r>
          </a:p>
        </p:txBody>
      </p:sp>
      <p:sp>
        <p:nvSpPr>
          <p:cNvPr id="169986" name="Rectangle 4">
            <a:extLst>
              <a:ext uri="{FF2B5EF4-FFF2-40B4-BE49-F238E27FC236}">
                <a16:creationId xmlns:a16="http://schemas.microsoft.com/office/drawing/2014/main" id="{03F49BAF-0825-37A0-F8B9-41BB18CD2C83}"/>
              </a:ext>
            </a:extLst>
          </p:cNvPr>
          <p:cNvSpPr>
            <a:spLocks noChangeArrowheads="1"/>
          </p:cNvSpPr>
          <p:nvPr/>
        </p:nvSpPr>
        <p:spPr bwMode="auto">
          <a:xfrm>
            <a:off x="4572000" y="3429000"/>
            <a:ext cx="285750" cy="130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0</a:t>
            </a:r>
          </a:p>
          <a:p>
            <a:pPr algn="just" eaLnBrk="0" hangingPunct="0"/>
            <a:r>
              <a:rPr lang="zh-CN" altLang="en-US" sz="2000" b="1">
                <a:latin typeface="Times New Roman" panose="02020603050405020304" pitchFamily="18" charset="0"/>
              </a:rPr>
              <a:t>1</a:t>
            </a:r>
          </a:p>
          <a:p>
            <a:pPr algn="just" eaLnBrk="0" hangingPunct="0"/>
            <a:r>
              <a:rPr lang="zh-CN" altLang="en-US" sz="2000" b="1">
                <a:latin typeface="Times New Roman" panose="02020603050405020304" pitchFamily="18" charset="0"/>
              </a:rPr>
              <a:t>2</a:t>
            </a:r>
          </a:p>
          <a:p>
            <a:pPr algn="just" eaLnBrk="0" hangingPunct="0"/>
            <a:r>
              <a:rPr lang="zh-CN" altLang="en-US" sz="2000" b="1">
                <a:latin typeface="Times New Roman" panose="02020603050405020304" pitchFamily="18" charset="0"/>
              </a:rPr>
              <a:t>3</a:t>
            </a:r>
          </a:p>
        </p:txBody>
      </p:sp>
      <p:sp>
        <p:nvSpPr>
          <p:cNvPr id="169987" name="Line 5">
            <a:extLst>
              <a:ext uri="{FF2B5EF4-FFF2-40B4-BE49-F238E27FC236}">
                <a16:creationId xmlns:a16="http://schemas.microsoft.com/office/drawing/2014/main" id="{3E434B77-628A-C8BE-AC46-FB14B7B7B0A0}"/>
              </a:ext>
            </a:extLst>
          </p:cNvPr>
          <p:cNvSpPr>
            <a:spLocks noChangeShapeType="1"/>
          </p:cNvSpPr>
          <p:nvPr/>
        </p:nvSpPr>
        <p:spPr bwMode="auto">
          <a:xfrm flipV="1">
            <a:off x="1765300" y="4406900"/>
            <a:ext cx="660400" cy="0"/>
          </a:xfrm>
          <a:prstGeom prst="line">
            <a:avLst/>
          </a:prstGeom>
          <a:noFill/>
          <a:ln w="381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9988" name="Rectangle 6">
            <a:extLst>
              <a:ext uri="{FF2B5EF4-FFF2-40B4-BE49-F238E27FC236}">
                <a16:creationId xmlns:a16="http://schemas.microsoft.com/office/drawing/2014/main" id="{141DFE28-CE57-AA57-49C0-8CF64037CDCE}"/>
              </a:ext>
            </a:extLst>
          </p:cNvPr>
          <p:cNvSpPr>
            <a:spLocks noChangeArrowheads="1"/>
          </p:cNvSpPr>
          <p:nvPr/>
        </p:nvSpPr>
        <p:spPr bwMode="auto">
          <a:xfrm>
            <a:off x="1619250" y="1430338"/>
            <a:ext cx="142716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段表寄存器</a:t>
            </a:r>
          </a:p>
        </p:txBody>
      </p:sp>
      <p:sp>
        <p:nvSpPr>
          <p:cNvPr id="169989" name="Rectangle 7">
            <a:extLst>
              <a:ext uri="{FF2B5EF4-FFF2-40B4-BE49-F238E27FC236}">
                <a16:creationId xmlns:a16="http://schemas.microsoft.com/office/drawing/2014/main" id="{970013EF-54F9-C040-94D9-F4F8637CBC29}"/>
              </a:ext>
            </a:extLst>
          </p:cNvPr>
          <p:cNvSpPr>
            <a:spLocks noChangeArrowheads="1"/>
          </p:cNvSpPr>
          <p:nvPr/>
        </p:nvSpPr>
        <p:spPr bwMode="auto">
          <a:xfrm>
            <a:off x="1042988" y="1773238"/>
            <a:ext cx="2319337" cy="492125"/>
          </a:xfrm>
          <a:prstGeom prst="rect">
            <a:avLst/>
          </a:prstGeom>
          <a:solidFill>
            <a:srgbClr val="FFFFFF"/>
          </a:solidFill>
          <a:ln w="38100">
            <a:solidFill>
              <a:srgbClr val="000000"/>
            </a:solidFill>
            <a:miter lim="800000"/>
            <a:headEnd/>
            <a:tailEnd/>
          </a:ln>
        </p:spPr>
        <p:txBody>
          <a:bodyPr lIns="36000" tIns="72000" rIns="0" bIns="0"/>
          <a:lstStyle/>
          <a:p>
            <a:pPr algn="just" eaLnBrk="0" hangingPunct="0"/>
            <a:r>
              <a:rPr lang="zh-CN" altLang="en-US" sz="2000" b="1">
                <a:latin typeface="Times New Roman" panose="02020603050405020304" pitchFamily="18" charset="0"/>
              </a:rPr>
              <a:t>段表始址 段表长度</a:t>
            </a:r>
          </a:p>
        </p:txBody>
      </p:sp>
      <p:sp>
        <p:nvSpPr>
          <p:cNvPr id="169990" name="Line 8">
            <a:extLst>
              <a:ext uri="{FF2B5EF4-FFF2-40B4-BE49-F238E27FC236}">
                <a16:creationId xmlns:a16="http://schemas.microsoft.com/office/drawing/2014/main" id="{25754301-5989-C96C-2EA3-7C72AD5815E8}"/>
              </a:ext>
            </a:extLst>
          </p:cNvPr>
          <p:cNvSpPr>
            <a:spLocks noChangeShapeType="1"/>
          </p:cNvSpPr>
          <p:nvPr/>
        </p:nvSpPr>
        <p:spPr bwMode="auto">
          <a:xfrm>
            <a:off x="2195513" y="1773238"/>
            <a:ext cx="0" cy="4953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991" name="Rectangle 9">
            <a:extLst>
              <a:ext uri="{FF2B5EF4-FFF2-40B4-BE49-F238E27FC236}">
                <a16:creationId xmlns:a16="http://schemas.microsoft.com/office/drawing/2014/main" id="{961EF3B7-FE4B-90C7-2C90-E95385FE2F6A}"/>
              </a:ext>
            </a:extLst>
          </p:cNvPr>
          <p:cNvSpPr>
            <a:spLocks noChangeArrowheads="1"/>
          </p:cNvSpPr>
          <p:nvPr/>
        </p:nvSpPr>
        <p:spPr bwMode="auto">
          <a:xfrm>
            <a:off x="4319588" y="1220788"/>
            <a:ext cx="1042987"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越界中断</a:t>
            </a:r>
          </a:p>
        </p:txBody>
      </p:sp>
      <p:sp>
        <p:nvSpPr>
          <p:cNvPr id="169992" name="Line 10">
            <a:extLst>
              <a:ext uri="{FF2B5EF4-FFF2-40B4-BE49-F238E27FC236}">
                <a16:creationId xmlns:a16="http://schemas.microsoft.com/office/drawing/2014/main" id="{160CC8BC-79C8-D8E9-F790-BCB6424B0611}"/>
              </a:ext>
            </a:extLst>
          </p:cNvPr>
          <p:cNvSpPr>
            <a:spLocks noChangeShapeType="1"/>
          </p:cNvSpPr>
          <p:nvPr/>
        </p:nvSpPr>
        <p:spPr bwMode="auto">
          <a:xfrm flipV="1">
            <a:off x="4787900" y="1503363"/>
            <a:ext cx="0" cy="314325"/>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9993" name="Oval 11">
            <a:extLst>
              <a:ext uri="{FF2B5EF4-FFF2-40B4-BE49-F238E27FC236}">
                <a16:creationId xmlns:a16="http://schemas.microsoft.com/office/drawing/2014/main" id="{9774E84C-21E5-BDF3-4CFB-24F33F30FCF9}"/>
              </a:ext>
            </a:extLst>
          </p:cNvPr>
          <p:cNvSpPr>
            <a:spLocks noChangeArrowheads="1"/>
          </p:cNvSpPr>
          <p:nvPr/>
        </p:nvSpPr>
        <p:spPr bwMode="auto">
          <a:xfrm>
            <a:off x="4554538" y="1806575"/>
            <a:ext cx="431800" cy="423863"/>
          </a:xfrm>
          <a:prstGeom prst="ellipse">
            <a:avLst/>
          </a:prstGeom>
          <a:solidFill>
            <a:srgbClr val="FFFFFF"/>
          </a:solidFill>
          <a:ln w="38100">
            <a:solidFill>
              <a:srgbClr val="000000"/>
            </a:solidFill>
            <a:round/>
            <a:headEnd/>
            <a:tailEnd/>
          </a:ln>
        </p:spPr>
        <p:txBody>
          <a:bodyPr lIns="0" tIns="0" rIns="0" bIns="0"/>
          <a:lstStyle/>
          <a:p>
            <a:pPr algn="ctr" eaLnBrk="0" hangingPunct="0"/>
            <a:r>
              <a:rPr lang="zh-CN" altLang="en-US" sz="2000" b="1">
                <a:latin typeface="Times New Roman" panose="02020603050405020304" pitchFamily="18" charset="0"/>
              </a:rPr>
              <a:t>＜</a:t>
            </a:r>
          </a:p>
        </p:txBody>
      </p:sp>
      <p:sp>
        <p:nvSpPr>
          <p:cNvPr id="169994" name="Line 12">
            <a:extLst>
              <a:ext uri="{FF2B5EF4-FFF2-40B4-BE49-F238E27FC236}">
                <a16:creationId xmlns:a16="http://schemas.microsoft.com/office/drawing/2014/main" id="{B3861D6C-035D-65A6-8BD1-854D656F564B}"/>
              </a:ext>
            </a:extLst>
          </p:cNvPr>
          <p:cNvSpPr>
            <a:spLocks noChangeShapeType="1"/>
          </p:cNvSpPr>
          <p:nvPr/>
        </p:nvSpPr>
        <p:spPr bwMode="auto">
          <a:xfrm>
            <a:off x="1765300" y="2239963"/>
            <a:ext cx="0" cy="292100"/>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9995" name="Oval 13">
            <a:extLst>
              <a:ext uri="{FF2B5EF4-FFF2-40B4-BE49-F238E27FC236}">
                <a16:creationId xmlns:a16="http://schemas.microsoft.com/office/drawing/2014/main" id="{652EFA40-94A9-F1CF-205A-A90A84FAF4F4}"/>
              </a:ext>
            </a:extLst>
          </p:cNvPr>
          <p:cNvSpPr>
            <a:spLocks noChangeArrowheads="1"/>
          </p:cNvSpPr>
          <p:nvPr/>
        </p:nvSpPr>
        <p:spPr bwMode="auto">
          <a:xfrm>
            <a:off x="1562100" y="2514600"/>
            <a:ext cx="433388" cy="422275"/>
          </a:xfrm>
          <a:prstGeom prst="ellipse">
            <a:avLst/>
          </a:prstGeom>
          <a:solidFill>
            <a:srgbClr val="FFFFFF"/>
          </a:solidFill>
          <a:ln w="38100">
            <a:solidFill>
              <a:srgbClr val="000000"/>
            </a:solidFill>
            <a:round/>
            <a:headEnd/>
            <a:tailEnd/>
          </a:ln>
        </p:spPr>
        <p:txBody>
          <a:bodyPr lIns="0" tIns="0" rIns="0" bIns="0"/>
          <a:lstStyle/>
          <a:p>
            <a:pPr algn="ctr" eaLnBrk="0" hangingPunct="0"/>
            <a:r>
              <a:rPr lang="zh-CN" altLang="en-US" sz="2000" b="1">
                <a:latin typeface="Times New Roman" panose="02020603050405020304" pitchFamily="18" charset="0"/>
              </a:rPr>
              <a:t>＋</a:t>
            </a:r>
          </a:p>
        </p:txBody>
      </p:sp>
      <p:sp>
        <p:nvSpPr>
          <p:cNvPr id="169996" name="Rectangle 14">
            <a:extLst>
              <a:ext uri="{FF2B5EF4-FFF2-40B4-BE49-F238E27FC236}">
                <a16:creationId xmlns:a16="http://schemas.microsoft.com/office/drawing/2014/main" id="{05832A8F-DB22-8959-7D38-A658C46D30F2}"/>
              </a:ext>
            </a:extLst>
          </p:cNvPr>
          <p:cNvSpPr>
            <a:spLocks noChangeArrowheads="1"/>
          </p:cNvSpPr>
          <p:nvPr/>
        </p:nvSpPr>
        <p:spPr bwMode="auto">
          <a:xfrm>
            <a:off x="6246813" y="1341438"/>
            <a:ext cx="13493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逻辑地址</a:t>
            </a:r>
          </a:p>
        </p:txBody>
      </p:sp>
      <p:sp>
        <p:nvSpPr>
          <p:cNvPr id="169997" name="Rectangle 15">
            <a:extLst>
              <a:ext uri="{FF2B5EF4-FFF2-40B4-BE49-F238E27FC236}">
                <a16:creationId xmlns:a16="http://schemas.microsoft.com/office/drawing/2014/main" id="{5441D798-1317-8065-D225-2B8000EE1282}"/>
              </a:ext>
            </a:extLst>
          </p:cNvPr>
          <p:cNvSpPr>
            <a:spLocks noChangeArrowheads="1"/>
          </p:cNvSpPr>
          <p:nvPr/>
        </p:nvSpPr>
        <p:spPr bwMode="auto">
          <a:xfrm>
            <a:off x="5473700" y="1771650"/>
            <a:ext cx="2843213" cy="508000"/>
          </a:xfrm>
          <a:prstGeom prst="rect">
            <a:avLst/>
          </a:prstGeom>
          <a:solidFill>
            <a:srgbClr val="FFFFFF"/>
          </a:solidFill>
          <a:ln w="38100">
            <a:solidFill>
              <a:srgbClr val="000000"/>
            </a:solidFill>
            <a:miter lim="800000"/>
            <a:headEnd/>
            <a:tailEnd/>
          </a:ln>
        </p:spPr>
        <p:txBody>
          <a:bodyPr lIns="36000" tIns="72000" rIns="0" bIns="0"/>
          <a:lstStyle/>
          <a:p>
            <a:pPr algn="just" eaLnBrk="0" hangingPunct="0"/>
            <a:r>
              <a:rPr lang="zh-CN" altLang="en-US" sz="2000" b="1">
                <a:latin typeface="Times New Roman" panose="02020603050405020304" pitchFamily="18" charset="0"/>
              </a:rPr>
              <a:t> 段号</a:t>
            </a:r>
            <a:r>
              <a:rPr lang="en-US" altLang="zh-CN" sz="2000" b="1">
                <a:latin typeface="Times New Roman" panose="02020603050405020304" pitchFamily="18" charset="0"/>
              </a:rPr>
              <a:t>S  </a:t>
            </a:r>
            <a:r>
              <a:rPr lang="zh-CN" altLang="en-US" sz="2000" b="1">
                <a:latin typeface="Times New Roman" panose="02020603050405020304" pitchFamily="18" charset="0"/>
              </a:rPr>
              <a:t>页号</a:t>
            </a:r>
            <a:r>
              <a:rPr lang="en-US" altLang="zh-CN" sz="2000" b="1">
                <a:latin typeface="Times New Roman" panose="02020603050405020304" pitchFamily="18" charset="0"/>
              </a:rPr>
              <a:t>P   </a:t>
            </a:r>
            <a:r>
              <a:rPr lang="zh-CN" altLang="en-US" sz="2000" b="1">
                <a:latin typeface="Times New Roman" panose="02020603050405020304" pitchFamily="18" charset="0"/>
              </a:rPr>
              <a:t>页内位移</a:t>
            </a:r>
          </a:p>
        </p:txBody>
      </p:sp>
      <p:sp>
        <p:nvSpPr>
          <p:cNvPr id="169998" name="Line 16">
            <a:extLst>
              <a:ext uri="{FF2B5EF4-FFF2-40B4-BE49-F238E27FC236}">
                <a16:creationId xmlns:a16="http://schemas.microsoft.com/office/drawing/2014/main" id="{AD3F4D08-C5E8-2876-5610-E843361A57E9}"/>
              </a:ext>
            </a:extLst>
          </p:cNvPr>
          <p:cNvSpPr>
            <a:spLocks noChangeShapeType="1"/>
          </p:cNvSpPr>
          <p:nvPr/>
        </p:nvSpPr>
        <p:spPr bwMode="auto">
          <a:xfrm>
            <a:off x="6299200" y="1771650"/>
            <a:ext cx="1588" cy="5080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999" name="Line 17">
            <a:extLst>
              <a:ext uri="{FF2B5EF4-FFF2-40B4-BE49-F238E27FC236}">
                <a16:creationId xmlns:a16="http://schemas.microsoft.com/office/drawing/2014/main" id="{41CB74ED-8272-0EF2-E135-1D11E4905FD1}"/>
              </a:ext>
            </a:extLst>
          </p:cNvPr>
          <p:cNvSpPr>
            <a:spLocks noChangeShapeType="1"/>
          </p:cNvSpPr>
          <p:nvPr/>
        </p:nvSpPr>
        <p:spPr bwMode="auto">
          <a:xfrm>
            <a:off x="5862638" y="2262188"/>
            <a:ext cx="0" cy="43338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00" name="Line 18">
            <a:extLst>
              <a:ext uri="{FF2B5EF4-FFF2-40B4-BE49-F238E27FC236}">
                <a16:creationId xmlns:a16="http://schemas.microsoft.com/office/drawing/2014/main" id="{CFC71EA5-84B1-B0B3-54CD-D689582475EB}"/>
              </a:ext>
            </a:extLst>
          </p:cNvPr>
          <p:cNvSpPr>
            <a:spLocks noChangeShapeType="1"/>
          </p:cNvSpPr>
          <p:nvPr/>
        </p:nvSpPr>
        <p:spPr bwMode="auto">
          <a:xfrm flipH="1">
            <a:off x="2074863" y="2689225"/>
            <a:ext cx="3790950" cy="0"/>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0001" name="Line 19">
            <a:extLst>
              <a:ext uri="{FF2B5EF4-FFF2-40B4-BE49-F238E27FC236}">
                <a16:creationId xmlns:a16="http://schemas.microsoft.com/office/drawing/2014/main" id="{B961F4C2-87F7-64D4-C189-B06E97C63E2D}"/>
              </a:ext>
            </a:extLst>
          </p:cNvPr>
          <p:cNvSpPr>
            <a:spLocks noChangeShapeType="1"/>
          </p:cNvSpPr>
          <p:nvPr/>
        </p:nvSpPr>
        <p:spPr bwMode="auto">
          <a:xfrm flipV="1">
            <a:off x="4772025" y="2192338"/>
            <a:ext cx="0" cy="481012"/>
          </a:xfrm>
          <a:prstGeom prst="line">
            <a:avLst/>
          </a:prstGeom>
          <a:noFill/>
          <a:ln w="381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0002" name="Rectangle 20">
            <a:extLst>
              <a:ext uri="{FF2B5EF4-FFF2-40B4-BE49-F238E27FC236}">
                <a16:creationId xmlns:a16="http://schemas.microsoft.com/office/drawing/2014/main" id="{790E5526-1C08-C4C5-B140-3C54B1A969B0}"/>
              </a:ext>
            </a:extLst>
          </p:cNvPr>
          <p:cNvSpPr>
            <a:spLocks noChangeArrowheads="1"/>
          </p:cNvSpPr>
          <p:nvPr/>
        </p:nvSpPr>
        <p:spPr bwMode="auto">
          <a:xfrm>
            <a:off x="2646363" y="3163888"/>
            <a:ext cx="481012"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段表</a:t>
            </a:r>
          </a:p>
        </p:txBody>
      </p:sp>
      <p:sp>
        <p:nvSpPr>
          <p:cNvPr id="170003" name="Rectangle 21">
            <a:extLst>
              <a:ext uri="{FF2B5EF4-FFF2-40B4-BE49-F238E27FC236}">
                <a16:creationId xmlns:a16="http://schemas.microsoft.com/office/drawing/2014/main" id="{7F40789C-DA83-45A5-25E6-C52544071843}"/>
              </a:ext>
            </a:extLst>
          </p:cNvPr>
          <p:cNvSpPr>
            <a:spLocks noChangeArrowheads="1"/>
          </p:cNvSpPr>
          <p:nvPr/>
        </p:nvSpPr>
        <p:spPr bwMode="auto">
          <a:xfrm>
            <a:off x="2441575" y="3532188"/>
            <a:ext cx="989013" cy="1452562"/>
          </a:xfrm>
          <a:prstGeom prst="rect">
            <a:avLst/>
          </a:prstGeom>
          <a:solidFill>
            <a:srgbClr val="FFFFFF"/>
          </a:solidFill>
          <a:ln w="38100">
            <a:solidFill>
              <a:srgbClr val="000000"/>
            </a:solidFill>
            <a:miter lim="800000"/>
            <a:headEnd/>
            <a:tailEnd/>
          </a:ln>
        </p:spPr>
        <p:txBody>
          <a:bodyPr lIns="0" tIns="0" rIns="0" bIns="0"/>
          <a:lstStyle/>
          <a:p>
            <a:pPr algn="just" eaLnBrk="0" hangingPunct="0"/>
            <a:r>
              <a:rPr lang="zh-CN" altLang="en-US" sz="2000" b="1">
                <a:latin typeface="Times New Roman" panose="02020603050405020304" pitchFamily="18" charset="0"/>
              </a:rPr>
              <a:t> </a:t>
            </a:r>
          </a:p>
        </p:txBody>
      </p:sp>
      <p:sp>
        <p:nvSpPr>
          <p:cNvPr id="170004" name="Rectangle 22">
            <a:extLst>
              <a:ext uri="{FF2B5EF4-FFF2-40B4-BE49-F238E27FC236}">
                <a16:creationId xmlns:a16="http://schemas.microsoft.com/office/drawing/2014/main" id="{8F426C2E-7A06-CBF5-8DDC-6F6196A33AFE}"/>
              </a:ext>
            </a:extLst>
          </p:cNvPr>
          <p:cNvSpPr>
            <a:spLocks noChangeArrowheads="1"/>
          </p:cNvSpPr>
          <p:nvPr/>
        </p:nvSpPr>
        <p:spPr bwMode="auto">
          <a:xfrm>
            <a:off x="2195513" y="3500438"/>
            <a:ext cx="242887" cy="124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0</a:t>
            </a:r>
          </a:p>
          <a:p>
            <a:pPr algn="just" eaLnBrk="0" hangingPunct="0"/>
            <a:r>
              <a:rPr lang="zh-CN" altLang="en-US" sz="2000" b="1">
                <a:latin typeface="Times New Roman" panose="02020603050405020304" pitchFamily="18" charset="0"/>
              </a:rPr>
              <a:t>1</a:t>
            </a:r>
          </a:p>
          <a:p>
            <a:pPr algn="just" eaLnBrk="0" hangingPunct="0"/>
            <a:r>
              <a:rPr lang="zh-CN" altLang="en-US" sz="2000" b="1">
                <a:latin typeface="Times New Roman" panose="02020603050405020304" pitchFamily="18" charset="0"/>
              </a:rPr>
              <a:t>2</a:t>
            </a:r>
          </a:p>
          <a:p>
            <a:pPr algn="just" eaLnBrk="0" hangingPunct="0"/>
            <a:r>
              <a:rPr lang="zh-CN" altLang="en-US" sz="2000" b="1">
                <a:latin typeface="Times New Roman" panose="02020603050405020304" pitchFamily="18" charset="0"/>
              </a:rPr>
              <a:t>3</a:t>
            </a:r>
          </a:p>
        </p:txBody>
      </p:sp>
      <p:sp>
        <p:nvSpPr>
          <p:cNvPr id="170005" name="Line 23">
            <a:extLst>
              <a:ext uri="{FF2B5EF4-FFF2-40B4-BE49-F238E27FC236}">
                <a16:creationId xmlns:a16="http://schemas.microsoft.com/office/drawing/2014/main" id="{2A3C231E-9761-E1DB-E5AF-851912BC1904}"/>
              </a:ext>
            </a:extLst>
          </p:cNvPr>
          <p:cNvSpPr>
            <a:spLocks noChangeShapeType="1"/>
          </p:cNvSpPr>
          <p:nvPr/>
        </p:nvSpPr>
        <p:spPr bwMode="auto">
          <a:xfrm>
            <a:off x="2441575" y="3865563"/>
            <a:ext cx="9890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06" name="Line 24">
            <a:extLst>
              <a:ext uri="{FF2B5EF4-FFF2-40B4-BE49-F238E27FC236}">
                <a16:creationId xmlns:a16="http://schemas.microsoft.com/office/drawing/2014/main" id="{161F3232-197F-6E33-7ACD-6A9C77242695}"/>
              </a:ext>
            </a:extLst>
          </p:cNvPr>
          <p:cNvSpPr>
            <a:spLocks noChangeShapeType="1"/>
          </p:cNvSpPr>
          <p:nvPr/>
        </p:nvSpPr>
        <p:spPr bwMode="auto">
          <a:xfrm>
            <a:off x="2441575" y="4144963"/>
            <a:ext cx="9890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07" name="Line 25">
            <a:extLst>
              <a:ext uri="{FF2B5EF4-FFF2-40B4-BE49-F238E27FC236}">
                <a16:creationId xmlns:a16="http://schemas.microsoft.com/office/drawing/2014/main" id="{05026F4B-CCBA-E02C-B024-4528DC899045}"/>
              </a:ext>
            </a:extLst>
          </p:cNvPr>
          <p:cNvSpPr>
            <a:spLocks noChangeShapeType="1"/>
          </p:cNvSpPr>
          <p:nvPr/>
        </p:nvSpPr>
        <p:spPr bwMode="auto">
          <a:xfrm>
            <a:off x="2441575" y="4425950"/>
            <a:ext cx="9890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08" name="Line 26">
            <a:extLst>
              <a:ext uri="{FF2B5EF4-FFF2-40B4-BE49-F238E27FC236}">
                <a16:creationId xmlns:a16="http://schemas.microsoft.com/office/drawing/2014/main" id="{AB384E32-5363-5CA8-5DCA-CB50C9993880}"/>
              </a:ext>
            </a:extLst>
          </p:cNvPr>
          <p:cNvSpPr>
            <a:spLocks noChangeShapeType="1"/>
          </p:cNvSpPr>
          <p:nvPr/>
        </p:nvSpPr>
        <p:spPr bwMode="auto">
          <a:xfrm>
            <a:off x="2441575" y="4705350"/>
            <a:ext cx="9890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09" name="Line 27">
            <a:extLst>
              <a:ext uri="{FF2B5EF4-FFF2-40B4-BE49-F238E27FC236}">
                <a16:creationId xmlns:a16="http://schemas.microsoft.com/office/drawing/2014/main" id="{4BD20BFB-8A38-3DE6-6665-0C4495BD5AD1}"/>
              </a:ext>
            </a:extLst>
          </p:cNvPr>
          <p:cNvSpPr>
            <a:spLocks noChangeShapeType="1"/>
          </p:cNvSpPr>
          <p:nvPr/>
        </p:nvSpPr>
        <p:spPr bwMode="auto">
          <a:xfrm>
            <a:off x="1763713" y="2951163"/>
            <a:ext cx="0" cy="143986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10" name="Rectangle 28">
            <a:extLst>
              <a:ext uri="{FF2B5EF4-FFF2-40B4-BE49-F238E27FC236}">
                <a16:creationId xmlns:a16="http://schemas.microsoft.com/office/drawing/2014/main" id="{8ED01AF9-FDCD-42D5-98E4-BEE7ADDA7D05}"/>
              </a:ext>
            </a:extLst>
          </p:cNvPr>
          <p:cNvSpPr>
            <a:spLocks noChangeArrowheads="1"/>
          </p:cNvSpPr>
          <p:nvPr/>
        </p:nvSpPr>
        <p:spPr bwMode="auto">
          <a:xfrm>
            <a:off x="6397625" y="4435475"/>
            <a:ext cx="1792288" cy="434975"/>
          </a:xfrm>
          <a:prstGeom prst="rect">
            <a:avLst/>
          </a:prstGeom>
          <a:solidFill>
            <a:srgbClr val="FFFFFF"/>
          </a:solidFill>
          <a:ln w="38100">
            <a:solidFill>
              <a:srgbClr val="000000"/>
            </a:solidFill>
            <a:miter lim="800000"/>
            <a:headEnd/>
            <a:tailEnd/>
          </a:ln>
        </p:spPr>
        <p:txBody>
          <a:bodyPr lIns="0" tIns="36000" rIns="0" bIns="0"/>
          <a:lstStyle/>
          <a:p>
            <a:pPr algn="just" eaLnBrk="0" hangingPunct="0"/>
            <a:r>
              <a:rPr lang="zh-CN" altLang="en-US" sz="2000" b="1">
                <a:latin typeface="Times New Roman" panose="02020603050405020304" pitchFamily="18" charset="0"/>
              </a:rPr>
              <a:t> 块号  块内地址</a:t>
            </a:r>
          </a:p>
        </p:txBody>
      </p:sp>
      <p:sp>
        <p:nvSpPr>
          <p:cNvPr id="170011" name="Line 29">
            <a:extLst>
              <a:ext uri="{FF2B5EF4-FFF2-40B4-BE49-F238E27FC236}">
                <a16:creationId xmlns:a16="http://schemas.microsoft.com/office/drawing/2014/main" id="{6E376098-B0E1-9E68-9DD0-694186CBDCF6}"/>
              </a:ext>
            </a:extLst>
          </p:cNvPr>
          <p:cNvSpPr>
            <a:spLocks noChangeShapeType="1"/>
          </p:cNvSpPr>
          <p:nvPr/>
        </p:nvSpPr>
        <p:spPr bwMode="auto">
          <a:xfrm>
            <a:off x="7010400" y="4435475"/>
            <a:ext cx="0" cy="43497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12" name="Line 30">
            <a:extLst>
              <a:ext uri="{FF2B5EF4-FFF2-40B4-BE49-F238E27FC236}">
                <a16:creationId xmlns:a16="http://schemas.microsoft.com/office/drawing/2014/main" id="{8DBC7147-E5D8-495C-FA7C-A252779E2A51}"/>
              </a:ext>
            </a:extLst>
          </p:cNvPr>
          <p:cNvSpPr>
            <a:spLocks noChangeShapeType="1"/>
          </p:cNvSpPr>
          <p:nvPr/>
        </p:nvSpPr>
        <p:spPr bwMode="auto">
          <a:xfrm>
            <a:off x="7413625" y="2276475"/>
            <a:ext cx="0" cy="2160588"/>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0013" name="Rectangle 31">
            <a:extLst>
              <a:ext uri="{FF2B5EF4-FFF2-40B4-BE49-F238E27FC236}">
                <a16:creationId xmlns:a16="http://schemas.microsoft.com/office/drawing/2014/main" id="{0E25D7B2-9CB3-757D-C591-011486C49EF5}"/>
              </a:ext>
            </a:extLst>
          </p:cNvPr>
          <p:cNvSpPr>
            <a:spLocks noChangeArrowheads="1"/>
          </p:cNvSpPr>
          <p:nvPr/>
        </p:nvSpPr>
        <p:spPr bwMode="auto">
          <a:xfrm>
            <a:off x="6751638" y="5003800"/>
            <a:ext cx="1173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物理地址</a:t>
            </a:r>
          </a:p>
        </p:txBody>
      </p:sp>
      <p:sp>
        <p:nvSpPr>
          <p:cNvPr id="170014" name="Rectangle 32">
            <a:extLst>
              <a:ext uri="{FF2B5EF4-FFF2-40B4-BE49-F238E27FC236}">
                <a16:creationId xmlns:a16="http://schemas.microsoft.com/office/drawing/2014/main" id="{E867DA25-FB1E-EA35-FCF6-A39B2FB81B5A}"/>
              </a:ext>
            </a:extLst>
          </p:cNvPr>
          <p:cNvSpPr>
            <a:spLocks noChangeArrowheads="1"/>
          </p:cNvSpPr>
          <p:nvPr/>
        </p:nvSpPr>
        <p:spPr bwMode="auto">
          <a:xfrm>
            <a:off x="1403350" y="5410200"/>
            <a:ext cx="12382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页表长度</a:t>
            </a:r>
          </a:p>
        </p:txBody>
      </p:sp>
      <p:sp>
        <p:nvSpPr>
          <p:cNvPr id="170015" name="Line 33">
            <a:extLst>
              <a:ext uri="{FF2B5EF4-FFF2-40B4-BE49-F238E27FC236}">
                <a16:creationId xmlns:a16="http://schemas.microsoft.com/office/drawing/2014/main" id="{ABF71BF7-0BB4-9B81-88A5-CC2389557C08}"/>
              </a:ext>
            </a:extLst>
          </p:cNvPr>
          <p:cNvSpPr>
            <a:spLocks noChangeShapeType="1"/>
          </p:cNvSpPr>
          <p:nvPr/>
        </p:nvSpPr>
        <p:spPr bwMode="auto">
          <a:xfrm>
            <a:off x="3386138" y="2043113"/>
            <a:ext cx="1158875" cy="0"/>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0016" name="Rectangle 34">
            <a:extLst>
              <a:ext uri="{FF2B5EF4-FFF2-40B4-BE49-F238E27FC236}">
                <a16:creationId xmlns:a16="http://schemas.microsoft.com/office/drawing/2014/main" id="{56E57231-AA2A-E3D7-B485-9A2625DBE201}"/>
              </a:ext>
            </a:extLst>
          </p:cNvPr>
          <p:cNvSpPr>
            <a:spLocks noChangeArrowheads="1"/>
          </p:cNvSpPr>
          <p:nvPr/>
        </p:nvSpPr>
        <p:spPr bwMode="auto">
          <a:xfrm>
            <a:off x="5024438" y="3068638"/>
            <a:ext cx="70008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页表</a:t>
            </a:r>
          </a:p>
        </p:txBody>
      </p:sp>
      <p:sp>
        <p:nvSpPr>
          <p:cNvPr id="170017" name="Rectangle 35">
            <a:extLst>
              <a:ext uri="{FF2B5EF4-FFF2-40B4-BE49-F238E27FC236}">
                <a16:creationId xmlns:a16="http://schemas.microsoft.com/office/drawing/2014/main" id="{05C1053A-364D-9AFA-EE51-C14417158D2A}"/>
              </a:ext>
            </a:extLst>
          </p:cNvPr>
          <p:cNvSpPr>
            <a:spLocks noChangeArrowheads="1"/>
          </p:cNvSpPr>
          <p:nvPr/>
        </p:nvSpPr>
        <p:spPr bwMode="auto">
          <a:xfrm>
            <a:off x="4851400" y="3516313"/>
            <a:ext cx="996950" cy="1501775"/>
          </a:xfrm>
          <a:prstGeom prst="rect">
            <a:avLst/>
          </a:prstGeom>
          <a:solidFill>
            <a:srgbClr val="FFFFFF"/>
          </a:solidFill>
          <a:ln w="38100">
            <a:solidFill>
              <a:srgbClr val="000000"/>
            </a:solidFill>
            <a:miter lim="800000"/>
            <a:headEnd/>
            <a:tailEnd/>
          </a:ln>
        </p:spPr>
        <p:txBody>
          <a:bodyPr lIns="0" tIns="0" rIns="0" bIns="0"/>
          <a:lstStyle/>
          <a:p>
            <a:pPr algn="just" eaLnBrk="0" hangingPunct="0"/>
            <a:endParaRPr lang="zh-CN" altLang="en-US" sz="2000" b="1">
              <a:latin typeface="Times New Roman" panose="02020603050405020304" pitchFamily="18" charset="0"/>
            </a:endParaRPr>
          </a:p>
        </p:txBody>
      </p:sp>
      <p:sp>
        <p:nvSpPr>
          <p:cNvPr id="170018" name="Line 36">
            <a:extLst>
              <a:ext uri="{FF2B5EF4-FFF2-40B4-BE49-F238E27FC236}">
                <a16:creationId xmlns:a16="http://schemas.microsoft.com/office/drawing/2014/main" id="{EC6FF6E9-9201-C659-7807-4E367C831AFC}"/>
              </a:ext>
            </a:extLst>
          </p:cNvPr>
          <p:cNvSpPr>
            <a:spLocks noChangeShapeType="1"/>
          </p:cNvSpPr>
          <p:nvPr/>
        </p:nvSpPr>
        <p:spPr bwMode="auto">
          <a:xfrm>
            <a:off x="4854575" y="3822700"/>
            <a:ext cx="996950"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19" name="Line 37">
            <a:extLst>
              <a:ext uri="{FF2B5EF4-FFF2-40B4-BE49-F238E27FC236}">
                <a16:creationId xmlns:a16="http://schemas.microsoft.com/office/drawing/2014/main" id="{98356460-24BE-C915-7BC0-AA8083FC36C0}"/>
              </a:ext>
            </a:extLst>
          </p:cNvPr>
          <p:cNvSpPr>
            <a:spLocks noChangeShapeType="1"/>
          </p:cNvSpPr>
          <p:nvPr/>
        </p:nvSpPr>
        <p:spPr bwMode="auto">
          <a:xfrm>
            <a:off x="4854575" y="4065588"/>
            <a:ext cx="99695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20" name="Line 38">
            <a:extLst>
              <a:ext uri="{FF2B5EF4-FFF2-40B4-BE49-F238E27FC236}">
                <a16:creationId xmlns:a16="http://schemas.microsoft.com/office/drawing/2014/main" id="{F88222F2-70C2-5E17-994C-142BA995E5A4}"/>
              </a:ext>
            </a:extLst>
          </p:cNvPr>
          <p:cNvSpPr>
            <a:spLocks noChangeShapeType="1"/>
          </p:cNvSpPr>
          <p:nvPr/>
        </p:nvSpPr>
        <p:spPr bwMode="auto">
          <a:xfrm>
            <a:off x="4854575" y="4295775"/>
            <a:ext cx="996950"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21" name="Line 39">
            <a:extLst>
              <a:ext uri="{FF2B5EF4-FFF2-40B4-BE49-F238E27FC236}">
                <a16:creationId xmlns:a16="http://schemas.microsoft.com/office/drawing/2014/main" id="{5C86A9B4-D740-25C4-D877-A55C96E13583}"/>
              </a:ext>
            </a:extLst>
          </p:cNvPr>
          <p:cNvSpPr>
            <a:spLocks noChangeShapeType="1"/>
          </p:cNvSpPr>
          <p:nvPr/>
        </p:nvSpPr>
        <p:spPr bwMode="auto">
          <a:xfrm>
            <a:off x="4854575" y="4535488"/>
            <a:ext cx="996950" cy="317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22" name="Line 40">
            <a:extLst>
              <a:ext uri="{FF2B5EF4-FFF2-40B4-BE49-F238E27FC236}">
                <a16:creationId xmlns:a16="http://schemas.microsoft.com/office/drawing/2014/main" id="{D4EE583A-17AD-F22A-5CC2-785087BD9D3C}"/>
              </a:ext>
            </a:extLst>
          </p:cNvPr>
          <p:cNvSpPr>
            <a:spLocks noChangeShapeType="1"/>
          </p:cNvSpPr>
          <p:nvPr/>
        </p:nvSpPr>
        <p:spPr bwMode="auto">
          <a:xfrm>
            <a:off x="4035425" y="2833688"/>
            <a:ext cx="0" cy="1482725"/>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0023" name="Line 41">
            <a:extLst>
              <a:ext uri="{FF2B5EF4-FFF2-40B4-BE49-F238E27FC236}">
                <a16:creationId xmlns:a16="http://schemas.microsoft.com/office/drawing/2014/main" id="{1F9DD1CC-EAE6-2580-CDE7-03790A28A5EA}"/>
              </a:ext>
            </a:extLst>
          </p:cNvPr>
          <p:cNvSpPr>
            <a:spLocks noChangeShapeType="1"/>
          </p:cNvSpPr>
          <p:nvPr/>
        </p:nvSpPr>
        <p:spPr bwMode="auto">
          <a:xfrm>
            <a:off x="3432175" y="4530725"/>
            <a:ext cx="392113" cy="0"/>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0024" name="Line 43">
            <a:extLst>
              <a:ext uri="{FF2B5EF4-FFF2-40B4-BE49-F238E27FC236}">
                <a16:creationId xmlns:a16="http://schemas.microsoft.com/office/drawing/2014/main" id="{37D64B48-387F-FACB-DFFE-E3EE838161F4}"/>
              </a:ext>
            </a:extLst>
          </p:cNvPr>
          <p:cNvSpPr>
            <a:spLocks noChangeShapeType="1"/>
          </p:cNvSpPr>
          <p:nvPr/>
        </p:nvSpPr>
        <p:spPr bwMode="auto">
          <a:xfrm flipV="1">
            <a:off x="3995738" y="2852738"/>
            <a:ext cx="257968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25" name="Line 44">
            <a:extLst>
              <a:ext uri="{FF2B5EF4-FFF2-40B4-BE49-F238E27FC236}">
                <a16:creationId xmlns:a16="http://schemas.microsoft.com/office/drawing/2014/main" id="{9241659B-E9A0-1AA4-ADE4-3B7D4CB2B5AA}"/>
              </a:ext>
            </a:extLst>
          </p:cNvPr>
          <p:cNvSpPr>
            <a:spLocks noChangeShapeType="1"/>
          </p:cNvSpPr>
          <p:nvPr/>
        </p:nvSpPr>
        <p:spPr bwMode="auto">
          <a:xfrm>
            <a:off x="5848350" y="4638675"/>
            <a:ext cx="520700" cy="0"/>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0026" name="Line 45">
            <a:extLst>
              <a:ext uri="{FF2B5EF4-FFF2-40B4-BE49-F238E27FC236}">
                <a16:creationId xmlns:a16="http://schemas.microsoft.com/office/drawing/2014/main" id="{0157BDC0-3FB2-5CA4-A1FD-461C76E055EA}"/>
              </a:ext>
            </a:extLst>
          </p:cNvPr>
          <p:cNvSpPr>
            <a:spLocks noChangeShapeType="1"/>
          </p:cNvSpPr>
          <p:nvPr/>
        </p:nvSpPr>
        <p:spPr bwMode="auto">
          <a:xfrm>
            <a:off x="7091363" y="1758950"/>
            <a:ext cx="1587" cy="50482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27" name="Line 46">
            <a:extLst>
              <a:ext uri="{FF2B5EF4-FFF2-40B4-BE49-F238E27FC236}">
                <a16:creationId xmlns:a16="http://schemas.microsoft.com/office/drawing/2014/main" id="{9966F543-22A5-9A81-322F-FF6DB7DFAF54}"/>
              </a:ext>
            </a:extLst>
          </p:cNvPr>
          <p:cNvSpPr>
            <a:spLocks noChangeShapeType="1"/>
          </p:cNvSpPr>
          <p:nvPr/>
        </p:nvSpPr>
        <p:spPr bwMode="auto">
          <a:xfrm>
            <a:off x="2765425" y="4411663"/>
            <a:ext cx="0" cy="29686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28" name="Line 47">
            <a:extLst>
              <a:ext uri="{FF2B5EF4-FFF2-40B4-BE49-F238E27FC236}">
                <a16:creationId xmlns:a16="http://schemas.microsoft.com/office/drawing/2014/main" id="{12A13D48-D21F-C7F1-72D0-85EB45A7D9A5}"/>
              </a:ext>
            </a:extLst>
          </p:cNvPr>
          <p:cNvSpPr>
            <a:spLocks noChangeShapeType="1"/>
          </p:cNvSpPr>
          <p:nvPr/>
        </p:nvSpPr>
        <p:spPr bwMode="auto">
          <a:xfrm>
            <a:off x="3043238" y="4437063"/>
            <a:ext cx="0" cy="29686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29" name="Line 48">
            <a:extLst>
              <a:ext uri="{FF2B5EF4-FFF2-40B4-BE49-F238E27FC236}">
                <a16:creationId xmlns:a16="http://schemas.microsoft.com/office/drawing/2014/main" id="{EE44D99A-A63E-70E0-E89E-B17AEF48F9A0}"/>
              </a:ext>
            </a:extLst>
          </p:cNvPr>
          <p:cNvSpPr>
            <a:spLocks noChangeShapeType="1"/>
          </p:cNvSpPr>
          <p:nvPr/>
        </p:nvSpPr>
        <p:spPr bwMode="auto">
          <a:xfrm flipH="1">
            <a:off x="2136775" y="4595813"/>
            <a:ext cx="717550" cy="7683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30" name="Rectangle 49">
            <a:extLst>
              <a:ext uri="{FF2B5EF4-FFF2-40B4-BE49-F238E27FC236}">
                <a16:creationId xmlns:a16="http://schemas.microsoft.com/office/drawing/2014/main" id="{5780D617-7EAC-E4A7-55F9-8E82036B201B}"/>
              </a:ext>
            </a:extLst>
          </p:cNvPr>
          <p:cNvSpPr>
            <a:spLocks noChangeArrowheads="1"/>
          </p:cNvSpPr>
          <p:nvPr/>
        </p:nvSpPr>
        <p:spPr bwMode="auto">
          <a:xfrm>
            <a:off x="2909888" y="5405438"/>
            <a:ext cx="1374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页表始址</a:t>
            </a:r>
          </a:p>
        </p:txBody>
      </p:sp>
      <p:sp>
        <p:nvSpPr>
          <p:cNvPr id="170031" name="Line 50">
            <a:extLst>
              <a:ext uri="{FF2B5EF4-FFF2-40B4-BE49-F238E27FC236}">
                <a16:creationId xmlns:a16="http://schemas.microsoft.com/office/drawing/2014/main" id="{4951C7BD-4B5B-3351-CCAF-B1A25CA457F4}"/>
              </a:ext>
            </a:extLst>
          </p:cNvPr>
          <p:cNvSpPr>
            <a:spLocks noChangeShapeType="1"/>
          </p:cNvSpPr>
          <p:nvPr/>
        </p:nvSpPr>
        <p:spPr bwMode="auto">
          <a:xfrm>
            <a:off x="3222625" y="4554538"/>
            <a:ext cx="142875" cy="79692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32" name="Oval 51">
            <a:extLst>
              <a:ext uri="{FF2B5EF4-FFF2-40B4-BE49-F238E27FC236}">
                <a16:creationId xmlns:a16="http://schemas.microsoft.com/office/drawing/2014/main" id="{6E0B7DDB-912E-EB69-7F59-E8F8B1612CE0}"/>
              </a:ext>
            </a:extLst>
          </p:cNvPr>
          <p:cNvSpPr>
            <a:spLocks noChangeArrowheads="1"/>
          </p:cNvSpPr>
          <p:nvPr/>
        </p:nvSpPr>
        <p:spPr bwMode="auto">
          <a:xfrm>
            <a:off x="3829050" y="4314825"/>
            <a:ext cx="433388" cy="423863"/>
          </a:xfrm>
          <a:prstGeom prst="ellipse">
            <a:avLst/>
          </a:prstGeom>
          <a:solidFill>
            <a:srgbClr val="FFFFFF"/>
          </a:solidFill>
          <a:ln w="38100">
            <a:solidFill>
              <a:srgbClr val="000000"/>
            </a:solidFill>
            <a:round/>
            <a:headEnd/>
            <a:tailEnd/>
          </a:ln>
        </p:spPr>
        <p:txBody>
          <a:bodyPr lIns="0" tIns="0" rIns="0" bIns="0"/>
          <a:lstStyle/>
          <a:p>
            <a:pPr algn="ctr" eaLnBrk="0" hangingPunct="0"/>
            <a:r>
              <a:rPr lang="zh-CN" altLang="en-US" sz="2000" b="1">
                <a:latin typeface="Times New Roman" panose="02020603050405020304" pitchFamily="18" charset="0"/>
              </a:rPr>
              <a:t>＋</a:t>
            </a:r>
          </a:p>
        </p:txBody>
      </p:sp>
      <p:sp>
        <p:nvSpPr>
          <p:cNvPr id="170033" name="Line 52">
            <a:extLst>
              <a:ext uri="{FF2B5EF4-FFF2-40B4-BE49-F238E27FC236}">
                <a16:creationId xmlns:a16="http://schemas.microsoft.com/office/drawing/2014/main" id="{AD341D12-C644-B5FC-4C8E-D6E08A28C7F6}"/>
              </a:ext>
            </a:extLst>
          </p:cNvPr>
          <p:cNvSpPr>
            <a:spLocks noChangeShapeType="1"/>
          </p:cNvSpPr>
          <p:nvPr/>
        </p:nvSpPr>
        <p:spPr bwMode="auto">
          <a:xfrm>
            <a:off x="6588125" y="2276475"/>
            <a:ext cx="0" cy="57626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34" name="Line 53">
            <a:extLst>
              <a:ext uri="{FF2B5EF4-FFF2-40B4-BE49-F238E27FC236}">
                <a16:creationId xmlns:a16="http://schemas.microsoft.com/office/drawing/2014/main" id="{77A22A5C-3419-AA56-5D87-A75D26094F30}"/>
              </a:ext>
            </a:extLst>
          </p:cNvPr>
          <p:cNvSpPr>
            <a:spLocks noChangeShapeType="1"/>
          </p:cNvSpPr>
          <p:nvPr/>
        </p:nvSpPr>
        <p:spPr bwMode="auto">
          <a:xfrm>
            <a:off x="4840288" y="4764088"/>
            <a:ext cx="99695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035" name="Line 42">
            <a:extLst>
              <a:ext uri="{FF2B5EF4-FFF2-40B4-BE49-F238E27FC236}">
                <a16:creationId xmlns:a16="http://schemas.microsoft.com/office/drawing/2014/main" id="{77C9CADE-5D3D-C772-E7B1-3CD45D1FAF9D}"/>
              </a:ext>
            </a:extLst>
          </p:cNvPr>
          <p:cNvSpPr>
            <a:spLocks noChangeShapeType="1"/>
          </p:cNvSpPr>
          <p:nvPr/>
        </p:nvSpPr>
        <p:spPr bwMode="auto">
          <a:xfrm>
            <a:off x="4268788" y="4527550"/>
            <a:ext cx="550862" cy="0"/>
          </a:xfrm>
          <a:prstGeom prst="line">
            <a:avLst/>
          </a:prstGeom>
          <a:noFill/>
          <a:ln w="381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a:extLst>
              <a:ext uri="{FF2B5EF4-FFF2-40B4-BE49-F238E27FC236}">
                <a16:creationId xmlns:a16="http://schemas.microsoft.com/office/drawing/2014/main" id="{BAD301DB-539A-29FF-F4EC-86FB81F0F4B0}"/>
              </a:ext>
            </a:extLst>
          </p:cNvPr>
          <p:cNvSpPr>
            <a:spLocks noGrp="1" noChangeArrowheads="1"/>
          </p:cNvSpPr>
          <p:nvPr>
            <p:ph type="title"/>
          </p:nvPr>
        </p:nvSpPr>
        <p:spPr/>
        <p:txBody>
          <a:bodyPr/>
          <a:lstStyle/>
          <a:p>
            <a:pPr eaLnBrk="1" hangingPunct="1"/>
            <a:r>
              <a:rPr lang="zh-CN" altLang="en-US"/>
              <a:t>使用快表提高内存访问速度</a:t>
            </a:r>
          </a:p>
        </p:txBody>
      </p:sp>
      <p:sp>
        <p:nvSpPr>
          <p:cNvPr id="171010" name="Rectangle 3">
            <a:extLst>
              <a:ext uri="{FF2B5EF4-FFF2-40B4-BE49-F238E27FC236}">
                <a16:creationId xmlns:a16="http://schemas.microsoft.com/office/drawing/2014/main" id="{31751982-5B26-CD4D-0A6F-85DD3C1EDBB3}"/>
              </a:ext>
            </a:extLst>
          </p:cNvPr>
          <p:cNvSpPr>
            <a:spLocks noGrp="1" noChangeArrowheads="1"/>
          </p:cNvSpPr>
          <p:nvPr>
            <p:ph idx="1"/>
          </p:nvPr>
        </p:nvSpPr>
        <p:spPr/>
        <p:txBody>
          <a:bodyPr/>
          <a:lstStyle/>
          <a:p>
            <a:pPr algn="just" eaLnBrk="1" hangingPunct="1"/>
            <a:r>
              <a:rPr lang="zh-CN" altLang="en-US"/>
              <a:t>在段页式系统中，要想存取访问信息，需要三次访问内存：</a:t>
            </a:r>
          </a:p>
          <a:p>
            <a:pPr lvl="1" algn="just" eaLnBrk="1" hangingPunct="1"/>
            <a:r>
              <a:rPr lang="zh-CN" altLang="en-US"/>
              <a:t>第一次访问段表</a:t>
            </a:r>
          </a:p>
          <a:p>
            <a:pPr lvl="1" algn="just" eaLnBrk="1" hangingPunct="1"/>
            <a:r>
              <a:rPr lang="zh-CN" altLang="en-US"/>
              <a:t>第二次访问页表</a:t>
            </a:r>
          </a:p>
          <a:p>
            <a:pPr lvl="1" algn="just" eaLnBrk="1" hangingPunct="1"/>
            <a:r>
              <a:rPr lang="zh-CN" altLang="en-US"/>
              <a:t>第三次访问信息</a:t>
            </a:r>
          </a:p>
          <a:p>
            <a:pPr algn="just" eaLnBrk="1" hangingPunct="1"/>
            <a:r>
              <a:rPr lang="zh-CN" altLang="en-US"/>
              <a:t>为了提高访问主存的速度，应考虑使用联想寄存器。 </a:t>
            </a:r>
          </a:p>
        </p:txBody>
      </p:sp>
    </p:spTree>
  </p:cSld>
  <p:clrMapOvr>
    <a:masterClrMapping/>
  </p:clrMapOvr>
  <p:transition spd="med">
    <p:zoom/>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475EBD87-BB16-933A-27E1-25E42E845112}"/>
              </a:ext>
            </a:extLst>
          </p:cNvPr>
          <p:cNvSpPr>
            <a:spLocks noGrp="1" noChangeArrowheads="1"/>
          </p:cNvSpPr>
          <p:nvPr>
            <p:ph type="title"/>
          </p:nvPr>
        </p:nvSpPr>
        <p:spPr>
          <a:xfrm>
            <a:off x="1042988" y="225431"/>
            <a:ext cx="7850187" cy="746125"/>
          </a:xfrm>
        </p:spPr>
        <p:txBody>
          <a:bodyPr/>
          <a:lstStyle/>
          <a:p>
            <a:r>
              <a:rPr lang="zh-CN" altLang="en-US" dirty="0"/>
              <a:t>虚拟内存技术</a:t>
            </a:r>
            <a:endParaRPr lang="en-US" altLang="zh-CN" dirty="0"/>
          </a:p>
        </p:txBody>
      </p:sp>
      <p:sp>
        <p:nvSpPr>
          <p:cNvPr id="119811" name="Rectangle 3">
            <a:extLst>
              <a:ext uri="{FF2B5EF4-FFF2-40B4-BE49-F238E27FC236}">
                <a16:creationId xmlns:a16="http://schemas.microsoft.com/office/drawing/2014/main" id="{47465EEF-548F-5981-2C61-EAD3539B5DFC}"/>
              </a:ext>
            </a:extLst>
          </p:cNvPr>
          <p:cNvSpPr>
            <a:spLocks noGrp="1" noChangeArrowheads="1"/>
          </p:cNvSpPr>
          <p:nvPr>
            <p:ph idx="1"/>
          </p:nvPr>
        </p:nvSpPr>
        <p:spPr>
          <a:xfrm>
            <a:off x="935038" y="1233488"/>
            <a:ext cx="7772400" cy="4895850"/>
          </a:xfrm>
        </p:spPr>
        <p:txBody>
          <a:bodyPr>
            <a:normAutofit/>
          </a:bodyPr>
          <a:lstStyle/>
          <a:p>
            <a:r>
              <a:rPr lang="zh-CN" altLang="en-US" dirty="0"/>
              <a:t>常规存储器管理方式要求作业运行前全部装入内存，作业装入内存后一直驻留内存直至运行结束。 </a:t>
            </a:r>
          </a:p>
          <a:p>
            <a:r>
              <a:rPr lang="zh-CN" altLang="en-US" dirty="0"/>
              <a:t>这种存储管理方式限制了大作业的运行。而物理扩充内存会增加成本，故应从逻辑上扩充内存。</a:t>
            </a:r>
          </a:p>
          <a:p>
            <a:r>
              <a:rPr lang="zh-CN" altLang="en-US" dirty="0"/>
              <a:t>虚拟内存技术允许执行进程不必完全在内存中。</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animEffect transition="in" filter="checkerboard(across)">
                                      <p:cBhvr>
                                        <p:cTn id="7" dur="500"/>
                                        <p:tgtEl>
                                          <p:spTgt spid="1198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9811">
                                            <p:txEl>
                                              <p:pRg st="1" end="1"/>
                                            </p:txEl>
                                          </p:spTgt>
                                        </p:tgtEl>
                                        <p:attrNameLst>
                                          <p:attrName>style.visibility</p:attrName>
                                        </p:attrNameLst>
                                      </p:cBhvr>
                                      <p:to>
                                        <p:strVal val="visible"/>
                                      </p:to>
                                    </p:set>
                                    <p:animEffect transition="in" filter="checkerboard(across)">
                                      <p:cBhvr>
                                        <p:cTn id="12" dur="500"/>
                                        <p:tgtEl>
                                          <p:spTgt spid="1198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19811">
                                            <p:txEl>
                                              <p:pRg st="2" end="2"/>
                                            </p:txEl>
                                          </p:spTgt>
                                        </p:tgtEl>
                                        <p:attrNameLst>
                                          <p:attrName>style.visibility</p:attrName>
                                        </p:attrNameLst>
                                      </p:cBhvr>
                                      <p:to>
                                        <p:strVal val="visible"/>
                                      </p:to>
                                    </p:set>
                                    <p:animEffect transition="in" filter="checkerboard(across)">
                                      <p:cBhvr>
                                        <p:cTn id="17" dur="500"/>
                                        <p:tgtEl>
                                          <p:spTgt spid="1198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12B11CE9-9D33-4D30-5345-A9CF466240B8}"/>
              </a:ext>
            </a:extLst>
          </p:cNvPr>
          <p:cNvSpPr>
            <a:spLocks noGrp="1" noChangeArrowheads="1"/>
          </p:cNvSpPr>
          <p:nvPr>
            <p:ph type="title"/>
          </p:nvPr>
        </p:nvSpPr>
        <p:spPr>
          <a:xfrm>
            <a:off x="1042988" y="225431"/>
            <a:ext cx="7850187" cy="746125"/>
          </a:xfrm>
        </p:spPr>
        <p:txBody>
          <a:bodyPr/>
          <a:lstStyle/>
          <a:p>
            <a:r>
              <a:rPr lang="zh-CN" altLang="en-US" dirty="0"/>
              <a:t>背景</a:t>
            </a:r>
          </a:p>
        </p:txBody>
      </p:sp>
      <p:sp>
        <p:nvSpPr>
          <p:cNvPr id="332803" name="Rectangle 3">
            <a:extLst>
              <a:ext uri="{FF2B5EF4-FFF2-40B4-BE49-F238E27FC236}">
                <a16:creationId xmlns:a16="http://schemas.microsoft.com/office/drawing/2014/main" id="{66E88EFC-7F9C-8B6A-4D54-B473FA2B932C}"/>
              </a:ext>
            </a:extLst>
          </p:cNvPr>
          <p:cNvSpPr>
            <a:spLocks noGrp="1" noChangeArrowheads="1"/>
          </p:cNvSpPr>
          <p:nvPr>
            <p:ph idx="1"/>
          </p:nvPr>
        </p:nvSpPr>
        <p:spPr>
          <a:xfrm>
            <a:off x="935038" y="1233487"/>
            <a:ext cx="7772400" cy="5399087"/>
          </a:xfrm>
        </p:spPr>
        <p:txBody>
          <a:bodyPr>
            <a:normAutofit fontScale="85000" lnSpcReduction="20000"/>
          </a:bodyPr>
          <a:lstStyle/>
          <a:p>
            <a:r>
              <a:rPr lang="zh-CN" altLang="en-US" b="1" dirty="0">
                <a:solidFill>
                  <a:srgbClr val="FF0000"/>
                </a:solidFill>
              </a:rPr>
              <a:t>虚拟内存</a:t>
            </a:r>
            <a:r>
              <a:rPr lang="zh-CN" altLang="en-US" dirty="0"/>
              <a:t>：将用户逻辑内存与物理内存分开</a:t>
            </a:r>
            <a:endParaRPr lang="en-US" altLang="zh-CN" dirty="0"/>
          </a:p>
          <a:p>
            <a:pPr lvl="1"/>
            <a:r>
              <a:rPr lang="zh-CN" altLang="en-US" dirty="0"/>
              <a:t>只有部分运行的程序需要在内存中</a:t>
            </a:r>
            <a:endParaRPr lang="en-US" altLang="zh-CN" dirty="0"/>
          </a:p>
          <a:p>
            <a:pPr lvl="1"/>
            <a:r>
              <a:rPr lang="zh-CN" altLang="en-US" dirty="0"/>
              <a:t>逻辑地址空间能够比物理地址空间大</a:t>
            </a:r>
            <a:r>
              <a:rPr lang="en-US" altLang="zh-CN" dirty="0"/>
              <a:t> </a:t>
            </a:r>
          </a:p>
          <a:p>
            <a:pPr lvl="1"/>
            <a:r>
              <a:rPr lang="zh-CN" altLang="en-US" dirty="0"/>
              <a:t>允许若干个进程共享地址空间</a:t>
            </a:r>
          </a:p>
          <a:p>
            <a:pPr lvl="1"/>
            <a:r>
              <a:rPr lang="zh-CN" altLang="en-US" dirty="0"/>
              <a:t>允许更多有效进程创建</a:t>
            </a:r>
            <a:endParaRPr lang="en-US" altLang="zh-CN" dirty="0"/>
          </a:p>
          <a:p>
            <a:r>
              <a:rPr lang="zh-CN" altLang="en-US" dirty="0"/>
              <a:t>虚拟存储器的理论基础是程序执行时的局部性原理</a:t>
            </a:r>
          </a:p>
          <a:p>
            <a:r>
              <a:rPr lang="zh-CN" altLang="en-US" b="1" dirty="0">
                <a:solidFill>
                  <a:srgbClr val="FF0000"/>
                </a:solidFill>
              </a:rPr>
              <a:t>局部性原理</a:t>
            </a:r>
            <a:r>
              <a:rPr lang="zh-CN" altLang="en-US" dirty="0"/>
              <a:t>是指程序在执行过程中一个较短时间内，程序所执行的指令地址和操作数地址分别局限于一定区域内。</a:t>
            </a:r>
          </a:p>
          <a:p>
            <a:r>
              <a:rPr lang="zh-CN" altLang="en-US" dirty="0"/>
              <a:t>例如：</a:t>
            </a:r>
          </a:p>
          <a:p>
            <a:pPr lvl="1"/>
            <a:r>
              <a:rPr lang="zh-CN" altLang="en-US" dirty="0"/>
              <a:t>除转移和过程调用外，程序主要是顺序执行。</a:t>
            </a:r>
          </a:p>
          <a:p>
            <a:pPr lvl="1"/>
            <a:r>
              <a:rPr lang="zh-CN" altLang="en-US" dirty="0"/>
              <a:t>过程调用使程序从一部分区域转至另一部分区域</a:t>
            </a:r>
          </a:p>
          <a:p>
            <a:pPr lvl="1"/>
            <a:r>
              <a:rPr lang="zh-CN" altLang="en-US" dirty="0"/>
              <a:t>循环结构</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2803">
                                            <p:txEl>
                                              <p:pRg st="0" end="0"/>
                                            </p:txEl>
                                          </p:spTgt>
                                        </p:tgtEl>
                                        <p:attrNameLst>
                                          <p:attrName>style.visibility</p:attrName>
                                        </p:attrNameLst>
                                      </p:cBhvr>
                                      <p:to>
                                        <p:strVal val="visible"/>
                                      </p:to>
                                    </p:set>
                                    <p:animEffect transition="in" filter="checkerboard(across)">
                                      <p:cBhvr>
                                        <p:cTn id="7" dur="500"/>
                                        <p:tgtEl>
                                          <p:spTgt spid="3328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32803">
                                            <p:txEl>
                                              <p:pRg st="1" end="1"/>
                                            </p:txEl>
                                          </p:spTgt>
                                        </p:tgtEl>
                                        <p:attrNameLst>
                                          <p:attrName>style.visibility</p:attrName>
                                        </p:attrNameLst>
                                      </p:cBhvr>
                                      <p:to>
                                        <p:strVal val="visible"/>
                                      </p:to>
                                    </p:set>
                                    <p:animEffect transition="in" filter="checkerboard(across)">
                                      <p:cBhvr>
                                        <p:cTn id="12" dur="500"/>
                                        <p:tgtEl>
                                          <p:spTgt spid="3328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32803">
                                            <p:txEl>
                                              <p:pRg st="2" end="2"/>
                                            </p:txEl>
                                          </p:spTgt>
                                        </p:tgtEl>
                                        <p:attrNameLst>
                                          <p:attrName>style.visibility</p:attrName>
                                        </p:attrNameLst>
                                      </p:cBhvr>
                                      <p:to>
                                        <p:strVal val="visible"/>
                                      </p:to>
                                    </p:set>
                                    <p:animEffect transition="in" filter="checkerboard(across)">
                                      <p:cBhvr>
                                        <p:cTn id="17" dur="500"/>
                                        <p:tgtEl>
                                          <p:spTgt spid="3328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32803">
                                            <p:txEl>
                                              <p:pRg st="3" end="3"/>
                                            </p:txEl>
                                          </p:spTgt>
                                        </p:tgtEl>
                                        <p:attrNameLst>
                                          <p:attrName>style.visibility</p:attrName>
                                        </p:attrNameLst>
                                      </p:cBhvr>
                                      <p:to>
                                        <p:strVal val="visible"/>
                                      </p:to>
                                    </p:set>
                                    <p:animEffect transition="in" filter="checkerboard(across)">
                                      <p:cBhvr>
                                        <p:cTn id="22" dur="500"/>
                                        <p:tgtEl>
                                          <p:spTgt spid="3328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32803">
                                            <p:txEl>
                                              <p:pRg st="4" end="4"/>
                                            </p:txEl>
                                          </p:spTgt>
                                        </p:tgtEl>
                                        <p:attrNameLst>
                                          <p:attrName>style.visibility</p:attrName>
                                        </p:attrNameLst>
                                      </p:cBhvr>
                                      <p:to>
                                        <p:strVal val="visible"/>
                                      </p:to>
                                    </p:set>
                                    <p:animEffect transition="in" filter="checkerboard(across)">
                                      <p:cBhvr>
                                        <p:cTn id="27" dur="500"/>
                                        <p:tgtEl>
                                          <p:spTgt spid="3328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32803">
                                            <p:txEl>
                                              <p:pRg st="5" end="5"/>
                                            </p:txEl>
                                          </p:spTgt>
                                        </p:tgtEl>
                                        <p:attrNameLst>
                                          <p:attrName>style.visibility</p:attrName>
                                        </p:attrNameLst>
                                      </p:cBhvr>
                                      <p:to>
                                        <p:strVal val="visible"/>
                                      </p:to>
                                    </p:set>
                                    <p:animEffect transition="in" filter="checkerboard(across)">
                                      <p:cBhvr>
                                        <p:cTn id="32" dur="500"/>
                                        <p:tgtEl>
                                          <p:spTgt spid="3328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32803">
                                            <p:txEl>
                                              <p:pRg st="6" end="6"/>
                                            </p:txEl>
                                          </p:spTgt>
                                        </p:tgtEl>
                                        <p:attrNameLst>
                                          <p:attrName>style.visibility</p:attrName>
                                        </p:attrNameLst>
                                      </p:cBhvr>
                                      <p:to>
                                        <p:strVal val="visible"/>
                                      </p:to>
                                    </p:set>
                                    <p:animEffect transition="in" filter="checkerboard(across)">
                                      <p:cBhvr>
                                        <p:cTn id="37" dur="500"/>
                                        <p:tgtEl>
                                          <p:spTgt spid="33280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32803">
                                            <p:txEl>
                                              <p:pRg st="7" end="7"/>
                                            </p:txEl>
                                          </p:spTgt>
                                        </p:tgtEl>
                                        <p:attrNameLst>
                                          <p:attrName>style.visibility</p:attrName>
                                        </p:attrNameLst>
                                      </p:cBhvr>
                                      <p:to>
                                        <p:strVal val="visible"/>
                                      </p:to>
                                    </p:set>
                                    <p:animEffect transition="in" filter="checkerboard(across)">
                                      <p:cBhvr>
                                        <p:cTn id="42" dur="500"/>
                                        <p:tgtEl>
                                          <p:spTgt spid="33280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332803">
                                            <p:txEl>
                                              <p:pRg st="8" end="8"/>
                                            </p:txEl>
                                          </p:spTgt>
                                        </p:tgtEl>
                                        <p:attrNameLst>
                                          <p:attrName>style.visibility</p:attrName>
                                        </p:attrNameLst>
                                      </p:cBhvr>
                                      <p:to>
                                        <p:strVal val="visible"/>
                                      </p:to>
                                    </p:set>
                                    <p:animEffect transition="in" filter="checkerboard(across)">
                                      <p:cBhvr>
                                        <p:cTn id="47" dur="500"/>
                                        <p:tgtEl>
                                          <p:spTgt spid="33280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332803">
                                            <p:txEl>
                                              <p:pRg st="9" end="9"/>
                                            </p:txEl>
                                          </p:spTgt>
                                        </p:tgtEl>
                                        <p:attrNameLst>
                                          <p:attrName>style.visibility</p:attrName>
                                        </p:attrNameLst>
                                      </p:cBhvr>
                                      <p:to>
                                        <p:strVal val="visible"/>
                                      </p:to>
                                    </p:set>
                                    <p:animEffect transition="in" filter="checkerboard(across)">
                                      <p:cBhvr>
                                        <p:cTn id="52" dur="500"/>
                                        <p:tgtEl>
                                          <p:spTgt spid="33280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nodeType="clickEffect">
                                  <p:stCondLst>
                                    <p:cond delay="0"/>
                                  </p:stCondLst>
                                  <p:childTnLst>
                                    <p:set>
                                      <p:cBhvr>
                                        <p:cTn id="56" dur="1" fill="hold">
                                          <p:stCondLst>
                                            <p:cond delay="0"/>
                                          </p:stCondLst>
                                        </p:cTn>
                                        <p:tgtEl>
                                          <p:spTgt spid="332803">
                                            <p:txEl>
                                              <p:pRg st="10" end="10"/>
                                            </p:txEl>
                                          </p:spTgt>
                                        </p:tgtEl>
                                        <p:attrNameLst>
                                          <p:attrName>style.visibility</p:attrName>
                                        </p:attrNameLst>
                                      </p:cBhvr>
                                      <p:to>
                                        <p:strVal val="visible"/>
                                      </p:to>
                                    </p:set>
                                    <p:animEffect transition="in" filter="checkerboard(across)">
                                      <p:cBhvr>
                                        <p:cTn id="57" dur="500"/>
                                        <p:tgtEl>
                                          <p:spTgt spid="33280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3" grpId="0" build="p"/>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0B3E0483-DE81-CC54-7544-17A4840B3A61}"/>
              </a:ext>
            </a:extLst>
          </p:cNvPr>
          <p:cNvSpPr>
            <a:spLocks noGrp="1" noChangeArrowheads="1"/>
          </p:cNvSpPr>
          <p:nvPr>
            <p:ph type="title"/>
          </p:nvPr>
        </p:nvSpPr>
        <p:spPr/>
        <p:txBody>
          <a:bodyPr/>
          <a:lstStyle/>
          <a:p>
            <a:pPr eaLnBrk="1" hangingPunct="1"/>
            <a:r>
              <a:rPr lang="zh-CN" altLang="en-US"/>
              <a:t>局部性的体现</a:t>
            </a:r>
          </a:p>
        </p:txBody>
      </p:sp>
      <p:sp>
        <p:nvSpPr>
          <p:cNvPr id="334851" name="Rectangle 3">
            <a:extLst>
              <a:ext uri="{FF2B5EF4-FFF2-40B4-BE49-F238E27FC236}">
                <a16:creationId xmlns:a16="http://schemas.microsoft.com/office/drawing/2014/main" id="{F2B54A7A-9700-8DFF-ADF7-28548FC62EC6}"/>
              </a:ext>
            </a:extLst>
          </p:cNvPr>
          <p:cNvSpPr>
            <a:spLocks noGrp="1" noChangeArrowheads="1"/>
          </p:cNvSpPr>
          <p:nvPr>
            <p:ph idx="1"/>
          </p:nvPr>
        </p:nvSpPr>
        <p:spPr>
          <a:xfrm>
            <a:off x="684213" y="1268413"/>
            <a:ext cx="8270875" cy="4114800"/>
          </a:xfrm>
        </p:spPr>
        <p:txBody>
          <a:bodyPr/>
          <a:lstStyle/>
          <a:p>
            <a:pPr algn="just" eaLnBrk="1" hangingPunct="1"/>
            <a:r>
              <a:rPr lang="zh-CN" altLang="en-US"/>
              <a:t>局部性体现为：</a:t>
            </a:r>
          </a:p>
          <a:p>
            <a:pPr lvl="1" algn="just" eaLnBrk="1" hangingPunct="1"/>
            <a:r>
              <a:rPr lang="zh-CN" altLang="en-US">
                <a:solidFill>
                  <a:srgbClr val="FF0000"/>
                </a:solidFill>
              </a:rPr>
              <a:t>时间局部性</a:t>
            </a:r>
            <a:r>
              <a:rPr lang="zh-CN" altLang="en-US"/>
              <a:t>：一条指令的一次执行和下次执行，一个数据的一次访问和下次访问，都集中在一个较短时间内。</a:t>
            </a:r>
          </a:p>
          <a:p>
            <a:pPr lvl="1" algn="just" eaLnBrk="1" hangingPunct="1"/>
            <a:r>
              <a:rPr lang="zh-CN" altLang="en-US">
                <a:solidFill>
                  <a:srgbClr val="FF0000"/>
                </a:solidFill>
              </a:rPr>
              <a:t>空间局部性</a:t>
            </a:r>
            <a:r>
              <a:rPr lang="zh-CN" altLang="en-US"/>
              <a:t>：当前执行的指令和将要执行的指令，当前访问的数据和将要访问的数据，都集中在一个较小范围内。</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4851">
                                            <p:txEl>
                                              <p:pRg st="1" end="1"/>
                                            </p:txEl>
                                          </p:spTgt>
                                        </p:tgtEl>
                                        <p:attrNameLst>
                                          <p:attrName>style.visibility</p:attrName>
                                        </p:attrNameLst>
                                      </p:cBhvr>
                                      <p:to>
                                        <p:strVal val="visible"/>
                                      </p:to>
                                    </p:set>
                                    <p:animEffect transition="in" filter="checkerboard(across)">
                                      <p:cBhvr>
                                        <p:cTn id="7" dur="500"/>
                                        <p:tgtEl>
                                          <p:spTgt spid="33485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34851">
                                            <p:txEl>
                                              <p:pRg st="2" end="2"/>
                                            </p:txEl>
                                          </p:spTgt>
                                        </p:tgtEl>
                                        <p:attrNameLst>
                                          <p:attrName>style.visibility</p:attrName>
                                        </p:attrNameLst>
                                      </p:cBhvr>
                                      <p:to>
                                        <p:strVal val="visible"/>
                                      </p:to>
                                    </p:set>
                                    <p:animEffect transition="in" filter="checkerboard(across)">
                                      <p:cBhvr>
                                        <p:cTn id="12" dur="500"/>
                                        <p:tgtEl>
                                          <p:spTgt spid="3348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4F39B1DA-5FAA-B748-2B55-88690B340586}"/>
              </a:ext>
            </a:extLst>
          </p:cNvPr>
          <p:cNvSpPr>
            <a:spLocks noGrp="1" noChangeArrowheads="1"/>
          </p:cNvSpPr>
          <p:nvPr>
            <p:ph type="title"/>
          </p:nvPr>
        </p:nvSpPr>
        <p:spPr>
          <a:xfrm>
            <a:off x="1042988" y="225431"/>
            <a:ext cx="7850187" cy="746125"/>
          </a:xfrm>
        </p:spPr>
        <p:txBody>
          <a:bodyPr/>
          <a:lstStyle/>
          <a:p>
            <a:r>
              <a:rPr lang="zh-CN" altLang="en-US" dirty="0"/>
              <a:t>虚拟存储器的基本原理</a:t>
            </a:r>
          </a:p>
        </p:txBody>
      </p:sp>
      <p:sp>
        <p:nvSpPr>
          <p:cNvPr id="333827" name="Rectangle 3">
            <a:extLst>
              <a:ext uri="{FF2B5EF4-FFF2-40B4-BE49-F238E27FC236}">
                <a16:creationId xmlns:a16="http://schemas.microsoft.com/office/drawing/2014/main" id="{7C0C8171-A02A-0CC7-3C82-A58DC2DC31D9}"/>
              </a:ext>
            </a:extLst>
          </p:cNvPr>
          <p:cNvSpPr>
            <a:spLocks noGrp="1" noChangeArrowheads="1"/>
          </p:cNvSpPr>
          <p:nvPr>
            <p:ph idx="1"/>
          </p:nvPr>
        </p:nvSpPr>
        <p:spPr>
          <a:xfrm>
            <a:off x="935038" y="1233488"/>
            <a:ext cx="7772400" cy="4895850"/>
          </a:xfrm>
        </p:spPr>
        <p:txBody>
          <a:bodyPr>
            <a:normAutofit fontScale="92500" lnSpcReduction="20000"/>
          </a:bodyPr>
          <a:lstStyle/>
          <a:p>
            <a:r>
              <a:rPr lang="zh-CN" altLang="en-US" dirty="0"/>
              <a:t>在程序运行之前，将程序的一部分放入内存后就启动程序执行。</a:t>
            </a:r>
          </a:p>
          <a:p>
            <a:r>
              <a:rPr lang="zh-CN" altLang="en-US" dirty="0"/>
              <a:t>在程序执行过程中，当所访问的信息不在内存时，由操作系统将所需要的部分调入内存，然后继续执行程序。</a:t>
            </a:r>
          </a:p>
          <a:p>
            <a:r>
              <a:rPr lang="zh-CN" altLang="en-US" dirty="0"/>
              <a:t>另一方面，操作系统将内存中暂时不使用的内容换出到外存上，从而腾出空间存放将要调入内存的信息。</a:t>
            </a:r>
          </a:p>
          <a:p>
            <a:r>
              <a:rPr lang="zh-CN" altLang="en-US" dirty="0"/>
              <a:t>从效果上看，这样的计算机系统好像为用户提供了一个存储容量比实际内存大得多的存储器，将这个存储器称为虚拟存储器。</a:t>
            </a:r>
          </a:p>
        </p:txBody>
      </p:sp>
    </p:spTree>
  </p:cSld>
  <p:clrMapOvr>
    <a:masterClrMapping/>
  </p:clrMapOvr>
  <p:transition spd="med">
    <p:zoom/>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6C511569-CDDF-C041-D436-AD0529B5FB57}"/>
              </a:ext>
            </a:extLst>
          </p:cNvPr>
          <p:cNvSpPr>
            <a:spLocks noGrp="1" noChangeArrowheads="1"/>
          </p:cNvSpPr>
          <p:nvPr>
            <p:ph type="title"/>
          </p:nvPr>
        </p:nvSpPr>
        <p:spPr>
          <a:xfrm>
            <a:off x="1042988" y="225431"/>
            <a:ext cx="7850187" cy="746125"/>
          </a:xfrm>
        </p:spPr>
        <p:txBody>
          <a:bodyPr/>
          <a:lstStyle/>
          <a:p>
            <a:r>
              <a:rPr lang="zh-CN" altLang="en-US"/>
              <a:t>虚拟存储器</a:t>
            </a:r>
          </a:p>
        </p:txBody>
      </p:sp>
      <p:sp>
        <p:nvSpPr>
          <p:cNvPr id="278531" name="Rectangle 3">
            <a:extLst>
              <a:ext uri="{FF2B5EF4-FFF2-40B4-BE49-F238E27FC236}">
                <a16:creationId xmlns:a16="http://schemas.microsoft.com/office/drawing/2014/main" id="{0244463A-962F-4028-5D0F-98F5A989FECE}"/>
              </a:ext>
            </a:extLst>
          </p:cNvPr>
          <p:cNvSpPr>
            <a:spLocks noGrp="1" noChangeArrowheads="1"/>
          </p:cNvSpPr>
          <p:nvPr>
            <p:ph idx="1"/>
          </p:nvPr>
        </p:nvSpPr>
        <p:spPr>
          <a:xfrm>
            <a:off x="935038" y="1233488"/>
            <a:ext cx="7772400" cy="4895850"/>
          </a:xfrm>
        </p:spPr>
        <p:txBody>
          <a:bodyPr/>
          <a:lstStyle/>
          <a:p>
            <a:r>
              <a:rPr lang="zh-CN" altLang="en-US"/>
              <a:t>虚拟存储器是指具有请求调入和置换功能，能从逻辑上对内存容量加以扩充的一种存储器系统。</a:t>
            </a:r>
          </a:p>
          <a:p>
            <a:r>
              <a:rPr lang="zh-CN" altLang="en-US"/>
              <a:t>虚拟存储器是一种以时间换空间的技术。</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78531">
                                            <p:txEl>
                                              <p:pRg st="0" end="0"/>
                                            </p:txEl>
                                          </p:spTgt>
                                        </p:tgtEl>
                                        <p:attrNameLst>
                                          <p:attrName>style.visibility</p:attrName>
                                        </p:attrNameLst>
                                      </p:cBhvr>
                                      <p:to>
                                        <p:strVal val="visible"/>
                                      </p:to>
                                    </p:set>
                                    <p:animEffect transition="in" filter="checkerboard(across)">
                                      <p:cBhvr>
                                        <p:cTn id="7" dur="500"/>
                                        <p:tgtEl>
                                          <p:spTgt spid="278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78531">
                                            <p:txEl>
                                              <p:pRg st="1" end="1"/>
                                            </p:txEl>
                                          </p:spTgt>
                                        </p:tgtEl>
                                        <p:attrNameLst>
                                          <p:attrName>style.visibility</p:attrName>
                                        </p:attrNameLst>
                                      </p:cBhvr>
                                      <p:to>
                                        <p:strVal val="visible"/>
                                      </p:to>
                                    </p:set>
                                    <p:animEffect transition="in" filter="checkerboard(across)">
                                      <p:cBhvr>
                                        <p:cTn id="12" dur="500"/>
                                        <p:tgtEl>
                                          <p:spTgt spid="2785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1"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12961EBB-94F7-1F31-FF9B-80C250F1066C}"/>
              </a:ext>
            </a:extLst>
          </p:cNvPr>
          <p:cNvSpPr>
            <a:spLocks noGrp="1" noChangeArrowheads="1"/>
          </p:cNvSpPr>
          <p:nvPr>
            <p:ph type="title"/>
          </p:nvPr>
        </p:nvSpPr>
        <p:spPr>
          <a:xfrm>
            <a:off x="1042988" y="225431"/>
            <a:ext cx="7850187" cy="746125"/>
          </a:xfrm>
        </p:spPr>
        <p:txBody>
          <a:bodyPr/>
          <a:lstStyle/>
          <a:p>
            <a:r>
              <a:rPr lang="zh-CN" altLang="en-US"/>
              <a:t>虚拟存储器的特征</a:t>
            </a:r>
          </a:p>
        </p:txBody>
      </p:sp>
      <p:sp>
        <p:nvSpPr>
          <p:cNvPr id="13314" name="Rectangle 3">
            <a:extLst>
              <a:ext uri="{FF2B5EF4-FFF2-40B4-BE49-F238E27FC236}">
                <a16:creationId xmlns:a16="http://schemas.microsoft.com/office/drawing/2014/main" id="{AAB225AB-ED4B-C4A5-15EC-AFFDDD10FD29}"/>
              </a:ext>
            </a:extLst>
          </p:cNvPr>
          <p:cNvSpPr>
            <a:spLocks noGrp="1" noChangeArrowheads="1"/>
          </p:cNvSpPr>
          <p:nvPr>
            <p:ph idx="1"/>
          </p:nvPr>
        </p:nvSpPr>
        <p:spPr>
          <a:xfrm>
            <a:off x="935038" y="1233488"/>
            <a:ext cx="7772400" cy="4895850"/>
          </a:xfrm>
        </p:spPr>
        <p:txBody>
          <a:bodyPr/>
          <a:lstStyle/>
          <a:p>
            <a:r>
              <a:rPr lang="zh-CN" altLang="en-US" dirty="0">
                <a:solidFill>
                  <a:srgbClr val="FF0000"/>
                </a:solidFill>
              </a:rPr>
              <a:t>离散性：</a:t>
            </a:r>
            <a:r>
              <a:rPr lang="zh-CN" altLang="en-US" dirty="0"/>
              <a:t>不连续内存分配</a:t>
            </a:r>
          </a:p>
          <a:p>
            <a:r>
              <a:rPr lang="zh-CN" altLang="en-US" dirty="0">
                <a:solidFill>
                  <a:srgbClr val="FF0000"/>
                </a:solidFill>
              </a:rPr>
              <a:t>多次性：</a:t>
            </a:r>
            <a:r>
              <a:rPr lang="zh-CN" altLang="en-US" dirty="0"/>
              <a:t>一个作业分多次装入内存</a:t>
            </a:r>
          </a:p>
          <a:p>
            <a:r>
              <a:rPr lang="zh-CN" altLang="en-US" dirty="0">
                <a:solidFill>
                  <a:srgbClr val="FF0000"/>
                </a:solidFill>
              </a:rPr>
              <a:t>对换性：</a:t>
            </a:r>
            <a:r>
              <a:rPr lang="zh-CN" altLang="en-US" dirty="0"/>
              <a:t>允许运行中换进换出</a:t>
            </a:r>
          </a:p>
          <a:p>
            <a:r>
              <a:rPr lang="zh-CN" altLang="en-US" dirty="0">
                <a:solidFill>
                  <a:srgbClr val="FF0000"/>
                </a:solidFill>
              </a:rPr>
              <a:t>虚拟性：</a:t>
            </a:r>
            <a:r>
              <a:rPr lang="zh-CN" altLang="en-US" dirty="0"/>
              <a:t>逻辑上扩充内存</a:t>
            </a:r>
          </a:p>
        </p:txBody>
      </p:sp>
    </p:spTree>
  </p:cSld>
  <p:clrMapOvr>
    <a:masterClrMapping/>
  </p:clrMapOvr>
  <p:transition spd="med">
    <p:zoom/>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0B607F65-3AE2-A87F-6926-F707CF2C7729}"/>
              </a:ext>
            </a:extLst>
          </p:cNvPr>
          <p:cNvSpPr>
            <a:spLocks noGrp="1" noChangeArrowheads="1"/>
          </p:cNvSpPr>
          <p:nvPr>
            <p:ph type="title"/>
          </p:nvPr>
        </p:nvSpPr>
        <p:spPr>
          <a:xfrm>
            <a:off x="1042988" y="225431"/>
            <a:ext cx="7850187" cy="746125"/>
          </a:xfrm>
        </p:spPr>
        <p:txBody>
          <a:bodyPr/>
          <a:lstStyle/>
          <a:p>
            <a:r>
              <a:rPr lang="zh-CN" altLang="en-US"/>
              <a:t>虚拟存储器的本质</a:t>
            </a:r>
          </a:p>
        </p:txBody>
      </p:sp>
      <p:sp>
        <p:nvSpPr>
          <p:cNvPr id="207875" name="Rectangle 3">
            <a:extLst>
              <a:ext uri="{FF2B5EF4-FFF2-40B4-BE49-F238E27FC236}">
                <a16:creationId xmlns:a16="http://schemas.microsoft.com/office/drawing/2014/main" id="{AA310551-718A-84C6-F7A5-E39317444DBC}"/>
              </a:ext>
            </a:extLst>
          </p:cNvPr>
          <p:cNvSpPr>
            <a:spLocks noGrp="1" noChangeArrowheads="1"/>
          </p:cNvSpPr>
          <p:nvPr>
            <p:ph idx="1"/>
          </p:nvPr>
        </p:nvSpPr>
        <p:spPr>
          <a:xfrm>
            <a:off x="935038" y="1233488"/>
            <a:ext cx="7772400" cy="4895850"/>
          </a:xfrm>
        </p:spPr>
        <p:txBody>
          <a:bodyPr/>
          <a:lstStyle/>
          <a:p>
            <a:r>
              <a:rPr lang="zh-CN" altLang="en-US"/>
              <a:t>虚拟存储器的本质是将程序的访问地址和内存的可用地址分离，为用户提供一个大于实际主存的虚拟存储器。</a:t>
            </a:r>
          </a:p>
          <a:p>
            <a:r>
              <a:rPr lang="zh-CN" altLang="en-US"/>
              <a:t>虚拟存储器的容量受限于：</a:t>
            </a:r>
          </a:p>
          <a:p>
            <a:pPr lvl="1"/>
            <a:r>
              <a:rPr lang="zh-CN" altLang="en-US"/>
              <a:t>地址结构</a:t>
            </a:r>
          </a:p>
          <a:p>
            <a:pPr lvl="1"/>
            <a:r>
              <a:rPr lang="zh-CN" altLang="en-US"/>
              <a:t>外存容量</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7875">
                                            <p:txEl>
                                              <p:pRg st="0" end="0"/>
                                            </p:txEl>
                                          </p:spTgt>
                                        </p:tgtEl>
                                        <p:attrNameLst>
                                          <p:attrName>style.visibility</p:attrName>
                                        </p:attrNameLst>
                                      </p:cBhvr>
                                      <p:to>
                                        <p:strVal val="visible"/>
                                      </p:to>
                                    </p:set>
                                    <p:animEffect transition="in" filter="checkerboard(across)">
                                      <p:cBhvr>
                                        <p:cTn id="7" dur="500"/>
                                        <p:tgtEl>
                                          <p:spTgt spid="2078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07875">
                                            <p:txEl>
                                              <p:pRg st="1" end="1"/>
                                            </p:txEl>
                                          </p:spTgt>
                                        </p:tgtEl>
                                        <p:attrNameLst>
                                          <p:attrName>style.visibility</p:attrName>
                                        </p:attrNameLst>
                                      </p:cBhvr>
                                      <p:to>
                                        <p:strVal val="visible"/>
                                      </p:to>
                                    </p:set>
                                    <p:animEffect transition="in" filter="checkerboard(across)">
                                      <p:cBhvr>
                                        <p:cTn id="12" dur="500"/>
                                        <p:tgtEl>
                                          <p:spTgt spid="2078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07875">
                                            <p:txEl>
                                              <p:pRg st="2" end="2"/>
                                            </p:txEl>
                                          </p:spTgt>
                                        </p:tgtEl>
                                        <p:attrNameLst>
                                          <p:attrName>style.visibility</p:attrName>
                                        </p:attrNameLst>
                                      </p:cBhvr>
                                      <p:to>
                                        <p:strVal val="visible"/>
                                      </p:to>
                                    </p:set>
                                    <p:animEffect transition="in" filter="checkerboard(across)">
                                      <p:cBhvr>
                                        <p:cTn id="17" dur="500"/>
                                        <p:tgtEl>
                                          <p:spTgt spid="2078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07875">
                                            <p:txEl>
                                              <p:pRg st="3" end="3"/>
                                            </p:txEl>
                                          </p:spTgt>
                                        </p:tgtEl>
                                        <p:attrNameLst>
                                          <p:attrName>style.visibility</p:attrName>
                                        </p:attrNameLst>
                                      </p:cBhvr>
                                      <p:to>
                                        <p:strVal val="visible"/>
                                      </p:to>
                                    </p:set>
                                    <p:animEffect transition="in" filter="checkerboard(across)">
                                      <p:cBhvr>
                                        <p:cTn id="22" dur="500"/>
                                        <p:tgtEl>
                                          <p:spTgt spid="2078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FE89E4ED-56E8-6731-352C-DABBBE34AE9E}"/>
              </a:ext>
            </a:extLst>
          </p:cNvPr>
          <p:cNvSpPr>
            <a:spLocks noGrp="1" noChangeArrowheads="1"/>
          </p:cNvSpPr>
          <p:nvPr>
            <p:ph type="title"/>
          </p:nvPr>
        </p:nvSpPr>
        <p:spPr>
          <a:xfrm>
            <a:off x="1042988" y="225431"/>
            <a:ext cx="7850187" cy="746125"/>
          </a:xfrm>
        </p:spPr>
        <p:txBody>
          <a:bodyPr/>
          <a:lstStyle/>
          <a:p>
            <a:r>
              <a:rPr lang="zh-CN" altLang="en-US"/>
              <a:t>实现虚拟存储技术的物质基础</a:t>
            </a:r>
          </a:p>
        </p:txBody>
      </p:sp>
      <p:sp>
        <p:nvSpPr>
          <p:cNvPr id="123907" name="Rectangle 3">
            <a:extLst>
              <a:ext uri="{FF2B5EF4-FFF2-40B4-BE49-F238E27FC236}">
                <a16:creationId xmlns:a16="http://schemas.microsoft.com/office/drawing/2014/main" id="{7004AAEE-52EB-9337-2B2F-8D4598E3B90F}"/>
              </a:ext>
            </a:extLst>
          </p:cNvPr>
          <p:cNvSpPr>
            <a:spLocks noGrp="1" noChangeArrowheads="1"/>
          </p:cNvSpPr>
          <p:nvPr>
            <p:ph idx="1"/>
          </p:nvPr>
        </p:nvSpPr>
        <p:spPr>
          <a:xfrm>
            <a:off x="935038" y="1233488"/>
            <a:ext cx="7772400" cy="4895850"/>
          </a:xfrm>
        </p:spPr>
        <p:txBody>
          <a:bodyPr/>
          <a:lstStyle/>
          <a:p>
            <a:r>
              <a:rPr lang="zh-CN" altLang="en-US"/>
              <a:t>相当数量的外存：足以存放多个用户的程序。</a:t>
            </a:r>
          </a:p>
          <a:p>
            <a:r>
              <a:rPr lang="zh-CN" altLang="en-US"/>
              <a:t>一定容量的内存：在处理机上运行的程序必须有一部分信息存放在内存中。</a:t>
            </a:r>
          </a:p>
          <a:p>
            <a:r>
              <a:rPr lang="zh-CN" altLang="en-US"/>
              <a:t>地址变换机构：动态实现逻辑地址到物理地址的变换。</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3907">
                                            <p:txEl>
                                              <p:pRg st="0" end="0"/>
                                            </p:txEl>
                                          </p:spTgt>
                                        </p:tgtEl>
                                        <p:attrNameLst>
                                          <p:attrName>style.visibility</p:attrName>
                                        </p:attrNameLst>
                                      </p:cBhvr>
                                      <p:to>
                                        <p:strVal val="visible"/>
                                      </p:to>
                                    </p:set>
                                    <p:animEffect transition="in" filter="checkerboard(across)">
                                      <p:cBhvr>
                                        <p:cTn id="7" dur="500"/>
                                        <p:tgtEl>
                                          <p:spTgt spid="1239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3907">
                                            <p:txEl>
                                              <p:pRg st="1" end="1"/>
                                            </p:txEl>
                                          </p:spTgt>
                                        </p:tgtEl>
                                        <p:attrNameLst>
                                          <p:attrName>style.visibility</p:attrName>
                                        </p:attrNameLst>
                                      </p:cBhvr>
                                      <p:to>
                                        <p:strVal val="visible"/>
                                      </p:to>
                                    </p:set>
                                    <p:animEffect transition="in" filter="checkerboard(across)">
                                      <p:cBhvr>
                                        <p:cTn id="12" dur="500"/>
                                        <p:tgtEl>
                                          <p:spTgt spid="1239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23907">
                                            <p:txEl>
                                              <p:pRg st="2" end="2"/>
                                            </p:txEl>
                                          </p:spTgt>
                                        </p:tgtEl>
                                        <p:attrNameLst>
                                          <p:attrName>style.visibility</p:attrName>
                                        </p:attrNameLst>
                                      </p:cBhvr>
                                      <p:to>
                                        <p:strVal val="visible"/>
                                      </p:to>
                                    </p:set>
                                    <p:animEffect transition="in" filter="checkerboard(across)">
                                      <p:cBhvr>
                                        <p:cTn id="17" dur="500"/>
                                        <p:tgtEl>
                                          <p:spTgt spid="1239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9D39E8DF-79BD-6C96-8C23-65A95AC2DB6F}"/>
              </a:ext>
            </a:extLst>
          </p:cNvPr>
          <p:cNvSpPr>
            <a:spLocks noGrp="1" noChangeArrowheads="1"/>
          </p:cNvSpPr>
          <p:nvPr>
            <p:ph type="title"/>
          </p:nvPr>
        </p:nvSpPr>
        <p:spPr>
          <a:xfrm>
            <a:off x="1042988" y="225431"/>
            <a:ext cx="7850187" cy="746125"/>
          </a:xfrm>
        </p:spPr>
        <p:txBody>
          <a:bodyPr/>
          <a:lstStyle/>
          <a:p>
            <a:r>
              <a:rPr lang="zh-CN" altLang="en-US" dirty="0"/>
              <a:t>虚拟存储器的实现</a:t>
            </a:r>
          </a:p>
        </p:txBody>
      </p:sp>
      <p:sp>
        <p:nvSpPr>
          <p:cNvPr id="16386" name="Rectangle 3">
            <a:extLst>
              <a:ext uri="{FF2B5EF4-FFF2-40B4-BE49-F238E27FC236}">
                <a16:creationId xmlns:a16="http://schemas.microsoft.com/office/drawing/2014/main" id="{E819D4D3-0E10-1C4C-1D35-999E516CAE8B}"/>
              </a:ext>
            </a:extLst>
          </p:cNvPr>
          <p:cNvSpPr>
            <a:spLocks noGrp="1" noChangeArrowheads="1"/>
          </p:cNvSpPr>
          <p:nvPr>
            <p:ph idx="1"/>
          </p:nvPr>
        </p:nvSpPr>
        <p:spPr>
          <a:xfrm>
            <a:off x="935038" y="1233488"/>
            <a:ext cx="7772400" cy="4895850"/>
          </a:xfrm>
        </p:spPr>
        <p:txBody>
          <a:bodyPr/>
          <a:lstStyle/>
          <a:p>
            <a:r>
              <a:rPr lang="zh-CN" altLang="en-US" dirty="0"/>
              <a:t>虚拟内存通过以下方式实现：</a:t>
            </a:r>
            <a:endParaRPr lang="en-US" altLang="zh-CN" dirty="0"/>
          </a:p>
          <a:p>
            <a:pPr lvl="1"/>
            <a:r>
              <a:rPr lang="zh-CN" altLang="en-US" dirty="0"/>
              <a:t>请求分页存储管理  </a:t>
            </a:r>
            <a:r>
              <a:rPr lang="en-US" altLang="zh-CN" dirty="0"/>
              <a:t>Demand paging </a:t>
            </a:r>
          </a:p>
          <a:p>
            <a:pPr lvl="2"/>
            <a:r>
              <a:rPr lang="zh-CN" altLang="en-US" dirty="0"/>
              <a:t>按需调页：只有在需要的时候才调入一个页</a:t>
            </a:r>
          </a:p>
          <a:p>
            <a:pPr lvl="1"/>
            <a:r>
              <a:rPr lang="zh-CN" altLang="en-US" dirty="0"/>
              <a:t>请求分段存储管理  </a:t>
            </a:r>
            <a:r>
              <a:rPr lang="en-US" altLang="zh-CN" dirty="0"/>
              <a:t>Demand segmentation</a:t>
            </a:r>
            <a:endParaRPr lang="zh-CN" altLang="en-US" dirty="0"/>
          </a:p>
          <a:p>
            <a:pPr lvl="1"/>
            <a:r>
              <a:rPr lang="zh-CN" altLang="en-US" dirty="0"/>
              <a:t>请求调页的段页式存储管理</a:t>
            </a:r>
            <a:endParaRPr lang="en-US" altLang="zh-CN" dirty="0"/>
          </a:p>
          <a:p>
            <a:pPr lvl="1"/>
            <a:endParaRPr lang="zh-CN" altLang="en-US" dirty="0"/>
          </a:p>
        </p:txBody>
      </p:sp>
    </p:spTree>
  </p:cSld>
  <p:clrMapOvr>
    <a:masterClrMapping/>
  </p:clrMapOvr>
  <p:transition spd="med">
    <p:zoom/>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8AD4FA02-5CB3-548D-0CC5-C429C4CD3453}"/>
              </a:ext>
            </a:extLst>
          </p:cNvPr>
          <p:cNvSpPr>
            <a:spLocks noGrp="1" noChangeArrowheads="1"/>
          </p:cNvSpPr>
          <p:nvPr>
            <p:ph type="title"/>
          </p:nvPr>
        </p:nvSpPr>
        <p:spPr>
          <a:xfrm>
            <a:off x="1042988" y="225431"/>
            <a:ext cx="7850187" cy="746125"/>
          </a:xfrm>
        </p:spPr>
        <p:txBody>
          <a:bodyPr/>
          <a:lstStyle/>
          <a:p>
            <a:r>
              <a:rPr lang="zh-CN" altLang="en-US" sz="4000" dirty="0"/>
              <a:t>分页内存到连续磁盘空间的传送</a:t>
            </a:r>
          </a:p>
        </p:txBody>
      </p:sp>
      <p:sp>
        <p:nvSpPr>
          <p:cNvPr id="3" name="内容占位符 2">
            <a:extLst>
              <a:ext uri="{FF2B5EF4-FFF2-40B4-BE49-F238E27FC236}">
                <a16:creationId xmlns:a16="http://schemas.microsoft.com/office/drawing/2014/main" id="{F9902E67-81AD-B4E3-4339-E910114B9077}"/>
              </a:ext>
            </a:extLst>
          </p:cNvPr>
          <p:cNvSpPr>
            <a:spLocks noGrp="1"/>
          </p:cNvSpPr>
          <p:nvPr>
            <p:ph idx="1"/>
          </p:nvPr>
        </p:nvSpPr>
        <p:spPr/>
        <p:txBody>
          <a:bodyPr/>
          <a:lstStyle/>
          <a:p>
            <a:endParaRPr lang="zh-CN" altLang="en-US"/>
          </a:p>
        </p:txBody>
      </p:sp>
      <p:pic>
        <p:nvPicPr>
          <p:cNvPr id="18434" name="Picture 4">
            <a:extLst>
              <a:ext uri="{FF2B5EF4-FFF2-40B4-BE49-F238E27FC236}">
                <a16:creationId xmlns:a16="http://schemas.microsoft.com/office/drawing/2014/main" id="{96FBCBC9-0491-F77F-7721-FB5662EB35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544" t="1648" r="10072" b="1259"/>
          <a:stretch>
            <a:fillRect/>
          </a:stretch>
        </p:blipFill>
        <p:spPr bwMode="auto">
          <a:xfrm>
            <a:off x="1003300" y="1141413"/>
            <a:ext cx="7404100" cy="531177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E71C250-1778-7DC5-2214-1A772141A613}"/>
              </a:ext>
            </a:extLst>
          </p:cNvPr>
          <p:cNvSpPr>
            <a:spLocks noGrp="1" noChangeArrowheads="1"/>
          </p:cNvSpPr>
          <p:nvPr>
            <p:ph type="title"/>
          </p:nvPr>
        </p:nvSpPr>
        <p:spPr/>
        <p:txBody>
          <a:bodyPr/>
          <a:lstStyle/>
          <a:p>
            <a:pPr eaLnBrk="1" hangingPunct="1"/>
            <a:r>
              <a:rPr lang="zh-CN" altLang="en-US"/>
              <a:t>请求分页存储管理实现思想</a:t>
            </a:r>
            <a:endParaRPr lang="en-US" altLang="zh-CN"/>
          </a:p>
        </p:txBody>
      </p:sp>
      <p:sp>
        <p:nvSpPr>
          <p:cNvPr id="125955" name="Rectangle 3">
            <a:extLst>
              <a:ext uri="{FF2B5EF4-FFF2-40B4-BE49-F238E27FC236}">
                <a16:creationId xmlns:a16="http://schemas.microsoft.com/office/drawing/2014/main" id="{087CAEF4-97C5-6765-7C69-AA666D6BEF46}"/>
              </a:ext>
            </a:extLst>
          </p:cNvPr>
          <p:cNvSpPr>
            <a:spLocks noGrp="1" noChangeArrowheads="1"/>
          </p:cNvSpPr>
          <p:nvPr>
            <p:ph idx="1"/>
          </p:nvPr>
        </p:nvSpPr>
        <p:spPr>
          <a:xfrm>
            <a:off x="755650" y="1268413"/>
            <a:ext cx="8235950" cy="5105400"/>
          </a:xfrm>
        </p:spPr>
        <p:txBody>
          <a:bodyPr/>
          <a:lstStyle/>
          <a:p>
            <a:pPr algn="just" eaLnBrk="1" hangingPunct="1"/>
            <a:r>
              <a:rPr lang="zh-CN" altLang="en-US"/>
              <a:t>请求分页存储管理方法是在分页存储管理的基础上增加了请求调页和页面置换功能。</a:t>
            </a:r>
          </a:p>
          <a:p>
            <a:pPr algn="just" eaLnBrk="1" hangingPunct="1"/>
            <a:r>
              <a:rPr lang="zh-CN" altLang="en-US">
                <a:solidFill>
                  <a:srgbClr val="FF0000"/>
                </a:solidFill>
              </a:rPr>
              <a:t>实现思想</a:t>
            </a:r>
            <a:r>
              <a:rPr lang="zh-CN" altLang="en-US"/>
              <a:t>：在作业运行之前只装入当前需要的一部分页面便启动作业运行。在作业运行过程中，若发现所要访问的页面不在内存，便由硬件产生缺页中断，请求</a:t>
            </a:r>
            <a:r>
              <a:rPr lang="en-US" altLang="zh-CN"/>
              <a:t>OS</a:t>
            </a:r>
            <a:r>
              <a:rPr lang="zh-CN" altLang="en-US"/>
              <a:t>将缺页调入内存。若内存无空闲存储空间，则根据某种置换算法淘汰已在内存的某个页面，以腾出内存空间装入缺页。</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Effect transition="in" filter="checkerboard(across)">
                                      <p:cBhvr>
                                        <p:cTn id="7" dur="500"/>
                                        <p:tgtEl>
                                          <p:spTgt spid="1259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25955">
                                            <p:txEl>
                                              <p:pRg st="1" end="1"/>
                                            </p:txEl>
                                          </p:spTgt>
                                        </p:tgtEl>
                                        <p:attrNameLst>
                                          <p:attrName>style.visibility</p:attrName>
                                        </p:attrNameLst>
                                      </p:cBhvr>
                                      <p:to>
                                        <p:strVal val="visible"/>
                                      </p:to>
                                    </p:set>
                                    <p:animEffect transition="in" filter="checkerboard(across)">
                                      <p:cBhvr>
                                        <p:cTn id="12" dur="500"/>
                                        <p:tgtEl>
                                          <p:spTgt spid="1259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C2078F73-8935-5DF4-F4CC-C2318A6FD835}"/>
              </a:ext>
            </a:extLst>
          </p:cNvPr>
          <p:cNvSpPr>
            <a:spLocks noGrp="1" noChangeArrowheads="1"/>
          </p:cNvSpPr>
          <p:nvPr>
            <p:ph type="title"/>
          </p:nvPr>
        </p:nvSpPr>
        <p:spPr/>
        <p:txBody>
          <a:bodyPr/>
          <a:lstStyle/>
          <a:p>
            <a:pPr eaLnBrk="1" hangingPunct="1"/>
            <a:r>
              <a:rPr lang="zh-CN" altLang="en-US" b="1"/>
              <a:t>请求分页系统中的支持机构</a:t>
            </a:r>
          </a:p>
        </p:txBody>
      </p:sp>
      <p:sp>
        <p:nvSpPr>
          <p:cNvPr id="20482" name="Rectangle 3">
            <a:extLst>
              <a:ext uri="{FF2B5EF4-FFF2-40B4-BE49-F238E27FC236}">
                <a16:creationId xmlns:a16="http://schemas.microsoft.com/office/drawing/2014/main" id="{2571A718-AC84-EEEA-ECEE-57112EE50727}"/>
              </a:ext>
            </a:extLst>
          </p:cNvPr>
          <p:cNvSpPr>
            <a:spLocks noGrp="1" noChangeArrowheads="1"/>
          </p:cNvSpPr>
          <p:nvPr>
            <p:ph idx="1"/>
          </p:nvPr>
        </p:nvSpPr>
        <p:spPr/>
        <p:txBody>
          <a:bodyPr/>
          <a:lstStyle/>
          <a:p>
            <a:pPr algn="just" eaLnBrk="1" hangingPunct="1"/>
            <a:r>
              <a:rPr lang="zh-CN" altLang="en-US"/>
              <a:t>请求分页中的支持机构有：</a:t>
            </a:r>
          </a:p>
          <a:p>
            <a:pPr lvl="1" algn="just" eaLnBrk="1" hangingPunct="1"/>
            <a:r>
              <a:rPr lang="zh-CN" altLang="en-US"/>
              <a:t>页表</a:t>
            </a:r>
          </a:p>
          <a:p>
            <a:pPr lvl="1" algn="just" eaLnBrk="1" hangingPunct="1"/>
            <a:r>
              <a:rPr lang="zh-CN" altLang="en-US"/>
              <a:t>缺页中断机构</a:t>
            </a:r>
          </a:p>
          <a:p>
            <a:pPr lvl="1" algn="just" eaLnBrk="1" hangingPunct="1"/>
            <a:r>
              <a:rPr lang="zh-CN" altLang="en-US"/>
              <a:t>地址变换机构</a:t>
            </a:r>
          </a:p>
          <a:p>
            <a:pPr lvl="1" algn="just" eaLnBrk="1" hangingPunct="1"/>
            <a:r>
              <a:rPr lang="zh-CN" altLang="en-US"/>
              <a:t>请求调页和页面置换软件</a:t>
            </a:r>
          </a:p>
        </p:txBody>
      </p:sp>
    </p:spTree>
  </p:cSld>
  <p:clrMapOvr>
    <a:masterClrMapping/>
  </p:clrMapOvr>
  <p:transition spd="med">
    <p:zoom/>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3FCB5686-0E98-F3F6-C4EC-829B0913083C}"/>
              </a:ext>
            </a:extLst>
          </p:cNvPr>
          <p:cNvSpPr>
            <a:spLocks noGrp="1" noChangeArrowheads="1"/>
          </p:cNvSpPr>
          <p:nvPr>
            <p:ph type="title"/>
          </p:nvPr>
        </p:nvSpPr>
        <p:spPr/>
        <p:txBody>
          <a:bodyPr/>
          <a:lstStyle/>
          <a:p>
            <a:pPr eaLnBrk="1" hangingPunct="1"/>
            <a:r>
              <a:rPr lang="zh-CN" altLang="en-US"/>
              <a:t>页表</a:t>
            </a:r>
          </a:p>
        </p:txBody>
      </p:sp>
      <p:sp>
        <p:nvSpPr>
          <p:cNvPr id="21506" name="Rectangle 3">
            <a:extLst>
              <a:ext uri="{FF2B5EF4-FFF2-40B4-BE49-F238E27FC236}">
                <a16:creationId xmlns:a16="http://schemas.microsoft.com/office/drawing/2014/main" id="{5CA582F3-01CC-D9C1-7342-A53FF5864FB4}"/>
              </a:ext>
            </a:extLst>
          </p:cNvPr>
          <p:cNvSpPr>
            <a:spLocks noGrp="1" noChangeArrowheads="1"/>
          </p:cNvSpPr>
          <p:nvPr>
            <p:ph idx="1"/>
          </p:nvPr>
        </p:nvSpPr>
        <p:spPr>
          <a:xfrm>
            <a:off x="719138" y="1268413"/>
            <a:ext cx="8235950" cy="4114800"/>
          </a:xfrm>
        </p:spPr>
        <p:txBody>
          <a:bodyPr/>
          <a:lstStyle/>
          <a:p>
            <a:pPr algn="just" eaLnBrk="1" hangingPunct="1"/>
            <a:r>
              <a:rPr lang="zh-CN" altLang="en-US"/>
              <a:t>请求分页系统中使用的主要数据结构仍然是页表。</a:t>
            </a:r>
          </a:p>
          <a:p>
            <a:pPr algn="just" eaLnBrk="1" hangingPunct="1"/>
            <a:r>
              <a:rPr lang="zh-CN" altLang="en-US"/>
              <a:t>但由于每次只将作业的一部分调入内存，还有一部分内容存放在磁盘上，故需要在页表中增加若干项。</a:t>
            </a:r>
          </a:p>
          <a:p>
            <a:pPr algn="just" eaLnBrk="1" hangingPunct="1"/>
            <a:r>
              <a:rPr lang="zh-CN" altLang="en-US"/>
              <a:t>扩充后的</a:t>
            </a:r>
            <a:r>
              <a:rPr lang="zh-CN" altLang="en-US">
                <a:latin typeface="Times New Roman" panose="02020603050405020304" pitchFamily="18" charset="0"/>
              </a:rPr>
              <a:t>页表项如下所示：</a:t>
            </a:r>
            <a:r>
              <a:rPr lang="zh-CN" altLang="en-US"/>
              <a:t> </a:t>
            </a:r>
          </a:p>
        </p:txBody>
      </p:sp>
    </p:spTree>
  </p:cSld>
  <p:clrMapOvr>
    <a:masterClrMapping/>
  </p:clrMapOvr>
  <p:transition spd="med">
    <p:zoom/>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A3B17880-578A-8A6E-1F5C-D7DC75D08E1B}"/>
              </a:ext>
            </a:extLst>
          </p:cNvPr>
          <p:cNvSpPr>
            <a:spLocks noGrp="1" noChangeArrowheads="1"/>
          </p:cNvSpPr>
          <p:nvPr>
            <p:ph type="title"/>
          </p:nvPr>
        </p:nvSpPr>
        <p:spPr/>
        <p:txBody>
          <a:bodyPr/>
          <a:lstStyle/>
          <a:p>
            <a:pPr eaLnBrk="1" hangingPunct="1"/>
            <a:r>
              <a:rPr lang="zh-CN" altLang="en-US"/>
              <a:t>扩充后的页表项</a:t>
            </a:r>
          </a:p>
        </p:txBody>
      </p:sp>
      <p:sp>
        <p:nvSpPr>
          <p:cNvPr id="131075" name="Rectangle 3">
            <a:extLst>
              <a:ext uri="{FF2B5EF4-FFF2-40B4-BE49-F238E27FC236}">
                <a16:creationId xmlns:a16="http://schemas.microsoft.com/office/drawing/2014/main" id="{9EDB4E0A-0FBA-2384-B98E-99A413478332}"/>
              </a:ext>
            </a:extLst>
          </p:cNvPr>
          <p:cNvSpPr>
            <a:spLocks noGrp="1" noChangeArrowheads="1"/>
          </p:cNvSpPr>
          <p:nvPr>
            <p:ph idx="1"/>
          </p:nvPr>
        </p:nvSpPr>
        <p:spPr>
          <a:xfrm>
            <a:off x="611188" y="2276475"/>
            <a:ext cx="8304212" cy="4248150"/>
          </a:xfrm>
        </p:spPr>
        <p:txBody>
          <a:bodyPr/>
          <a:lstStyle/>
          <a:p>
            <a:pPr algn="just" eaLnBrk="1" hangingPunct="1"/>
            <a:r>
              <a:rPr lang="zh-CN" altLang="en-US">
                <a:solidFill>
                  <a:srgbClr val="FF0000"/>
                </a:solidFill>
              </a:rPr>
              <a:t>页号和物理块号</a:t>
            </a:r>
            <a:r>
              <a:rPr lang="zh-CN" altLang="en-US"/>
              <a:t>：其定义同分页存储管理。</a:t>
            </a:r>
          </a:p>
          <a:p>
            <a:pPr algn="just" eaLnBrk="1" hangingPunct="1"/>
            <a:r>
              <a:rPr lang="zh-CN" altLang="en-US">
                <a:solidFill>
                  <a:srgbClr val="FF0000"/>
                </a:solidFill>
              </a:rPr>
              <a:t>状态位</a:t>
            </a:r>
            <a:r>
              <a:rPr lang="zh-CN" altLang="en-US"/>
              <a:t>：用于表示该页是否在主存中。</a:t>
            </a:r>
          </a:p>
          <a:p>
            <a:pPr algn="just" eaLnBrk="1" hangingPunct="1"/>
            <a:r>
              <a:rPr lang="zh-CN" altLang="en-US">
                <a:solidFill>
                  <a:srgbClr val="FF0000"/>
                </a:solidFill>
              </a:rPr>
              <a:t>访问字段</a:t>
            </a:r>
            <a:r>
              <a:rPr lang="zh-CN" altLang="en-US"/>
              <a:t>：用于记录本页在一段时间内被访问的次数，或最近已有多长时间未被访问。</a:t>
            </a:r>
          </a:p>
          <a:p>
            <a:pPr algn="just" eaLnBrk="1" hangingPunct="1"/>
            <a:r>
              <a:rPr lang="zh-CN" altLang="en-US">
                <a:solidFill>
                  <a:srgbClr val="FF0000"/>
                </a:solidFill>
              </a:rPr>
              <a:t>修改位</a:t>
            </a:r>
            <a:r>
              <a:rPr lang="zh-CN" altLang="en-US"/>
              <a:t>：用于表示该页调入内存后是否被修改过。</a:t>
            </a:r>
          </a:p>
          <a:p>
            <a:pPr algn="just" eaLnBrk="1" hangingPunct="1"/>
            <a:r>
              <a:rPr lang="zh-CN" altLang="en-US">
                <a:solidFill>
                  <a:srgbClr val="FF0000"/>
                </a:solidFill>
              </a:rPr>
              <a:t>外存地址</a:t>
            </a:r>
            <a:r>
              <a:rPr lang="zh-CN" altLang="en-US"/>
              <a:t>：用于指出该页在外存上的地址。</a:t>
            </a:r>
          </a:p>
        </p:txBody>
      </p:sp>
      <p:graphicFrame>
        <p:nvGraphicFramePr>
          <p:cNvPr id="131208" name="Group 136">
            <a:extLst>
              <a:ext uri="{FF2B5EF4-FFF2-40B4-BE49-F238E27FC236}">
                <a16:creationId xmlns:a16="http://schemas.microsoft.com/office/drawing/2014/main" id="{7A2CE4A3-16D5-1E88-3691-5AAF5B542221}"/>
              </a:ext>
            </a:extLst>
          </p:cNvPr>
          <p:cNvGraphicFramePr>
            <a:graphicFrameLocks noGrp="1"/>
          </p:cNvGraphicFramePr>
          <p:nvPr/>
        </p:nvGraphicFramePr>
        <p:xfrm>
          <a:off x="755650" y="1385888"/>
          <a:ext cx="7848600" cy="603250"/>
        </p:xfrm>
        <a:graphic>
          <a:graphicData uri="http://schemas.openxmlformats.org/drawingml/2006/table">
            <a:tbl>
              <a:tblPr/>
              <a:tblGrid>
                <a:gridCol w="1143000">
                  <a:extLst>
                    <a:ext uri="{9D8B030D-6E8A-4147-A177-3AD203B41FA5}">
                      <a16:colId xmlns:a16="http://schemas.microsoft.com/office/drawing/2014/main" val="3689405545"/>
                    </a:ext>
                  </a:extLst>
                </a:gridCol>
                <a:gridCol w="1447800">
                  <a:extLst>
                    <a:ext uri="{9D8B030D-6E8A-4147-A177-3AD203B41FA5}">
                      <a16:colId xmlns:a16="http://schemas.microsoft.com/office/drawing/2014/main" val="2680301863"/>
                    </a:ext>
                  </a:extLst>
                </a:gridCol>
                <a:gridCol w="1219200">
                  <a:extLst>
                    <a:ext uri="{9D8B030D-6E8A-4147-A177-3AD203B41FA5}">
                      <a16:colId xmlns:a16="http://schemas.microsoft.com/office/drawing/2014/main" val="1906277392"/>
                    </a:ext>
                  </a:extLst>
                </a:gridCol>
                <a:gridCol w="1371600">
                  <a:extLst>
                    <a:ext uri="{9D8B030D-6E8A-4147-A177-3AD203B41FA5}">
                      <a16:colId xmlns:a16="http://schemas.microsoft.com/office/drawing/2014/main" val="2761091336"/>
                    </a:ext>
                  </a:extLst>
                </a:gridCol>
                <a:gridCol w="1371600">
                  <a:extLst>
                    <a:ext uri="{9D8B030D-6E8A-4147-A177-3AD203B41FA5}">
                      <a16:colId xmlns:a16="http://schemas.microsoft.com/office/drawing/2014/main" val="2379271340"/>
                    </a:ext>
                  </a:extLst>
                </a:gridCol>
                <a:gridCol w="1295400">
                  <a:extLst>
                    <a:ext uri="{9D8B030D-6E8A-4147-A177-3AD203B41FA5}">
                      <a16:colId xmlns:a16="http://schemas.microsoft.com/office/drawing/2014/main" val="3131782143"/>
                    </a:ext>
                  </a:extLst>
                </a:gridCol>
              </a:tblGrid>
              <a:tr h="603250">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页号</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物理块号</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存在位</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访问字段</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修改位</a:t>
                      </a:r>
                      <a:endPar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外存地址</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923101727"/>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Effect transition="in" filter="checkerboard(across)">
                                      <p:cBhvr>
                                        <p:cTn id="7" dur="500"/>
                                        <p:tgtEl>
                                          <p:spTgt spid="131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31075">
                                            <p:txEl>
                                              <p:pRg st="1" end="1"/>
                                            </p:txEl>
                                          </p:spTgt>
                                        </p:tgtEl>
                                        <p:attrNameLst>
                                          <p:attrName>style.visibility</p:attrName>
                                        </p:attrNameLst>
                                      </p:cBhvr>
                                      <p:to>
                                        <p:strVal val="visible"/>
                                      </p:to>
                                    </p:set>
                                    <p:animEffect transition="in" filter="checkerboard(across)">
                                      <p:cBhvr>
                                        <p:cTn id="12" dur="500"/>
                                        <p:tgtEl>
                                          <p:spTgt spid="1310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31075">
                                            <p:txEl>
                                              <p:pRg st="2" end="2"/>
                                            </p:txEl>
                                          </p:spTgt>
                                        </p:tgtEl>
                                        <p:attrNameLst>
                                          <p:attrName>style.visibility</p:attrName>
                                        </p:attrNameLst>
                                      </p:cBhvr>
                                      <p:to>
                                        <p:strVal val="visible"/>
                                      </p:to>
                                    </p:set>
                                    <p:animEffect transition="in" filter="checkerboard(across)">
                                      <p:cBhvr>
                                        <p:cTn id="17" dur="500"/>
                                        <p:tgtEl>
                                          <p:spTgt spid="1310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31075">
                                            <p:txEl>
                                              <p:pRg st="3" end="3"/>
                                            </p:txEl>
                                          </p:spTgt>
                                        </p:tgtEl>
                                        <p:attrNameLst>
                                          <p:attrName>style.visibility</p:attrName>
                                        </p:attrNameLst>
                                      </p:cBhvr>
                                      <p:to>
                                        <p:strVal val="visible"/>
                                      </p:to>
                                    </p:set>
                                    <p:animEffect transition="in" filter="checkerboard(across)">
                                      <p:cBhvr>
                                        <p:cTn id="22" dur="500"/>
                                        <p:tgtEl>
                                          <p:spTgt spid="1310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131075">
                                            <p:txEl>
                                              <p:pRg st="4" end="4"/>
                                            </p:txEl>
                                          </p:spTgt>
                                        </p:tgtEl>
                                        <p:attrNameLst>
                                          <p:attrName>style.visibility</p:attrName>
                                        </p:attrNameLst>
                                      </p:cBhvr>
                                      <p:to>
                                        <p:strVal val="visible"/>
                                      </p:to>
                                    </p:set>
                                    <p:animEffect transition="in" filter="checkerboard(across)">
                                      <p:cBhvr>
                                        <p:cTn id="27" dur="500"/>
                                        <p:tgtEl>
                                          <p:spTgt spid="1310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39B66C05-ACDB-DBAC-D95C-491E1801F4A7}"/>
              </a:ext>
            </a:extLst>
          </p:cNvPr>
          <p:cNvSpPr>
            <a:spLocks noGrp="1" noChangeArrowheads="1"/>
          </p:cNvSpPr>
          <p:nvPr>
            <p:ph type="title"/>
          </p:nvPr>
        </p:nvSpPr>
        <p:spPr>
          <a:xfrm>
            <a:off x="1042988" y="225431"/>
            <a:ext cx="7850187" cy="746125"/>
          </a:xfrm>
        </p:spPr>
        <p:txBody>
          <a:bodyPr/>
          <a:lstStyle/>
          <a:p>
            <a:r>
              <a:rPr lang="zh-CN" altLang="en-US"/>
              <a:t>有效</a:t>
            </a:r>
            <a:r>
              <a:rPr lang="en-US" altLang="zh-CN"/>
              <a:t>-</a:t>
            </a:r>
            <a:r>
              <a:rPr lang="zh-CN" altLang="en-US"/>
              <a:t>无效位 </a:t>
            </a:r>
            <a:r>
              <a:rPr lang="en-US" altLang="zh-CN"/>
              <a:t>Valid-Invalid Bit</a:t>
            </a:r>
            <a:endParaRPr lang="zh-CN" altLang="en-US"/>
          </a:p>
        </p:txBody>
      </p:sp>
      <p:sp>
        <p:nvSpPr>
          <p:cNvPr id="353283" name="Rectangle 3">
            <a:extLst>
              <a:ext uri="{FF2B5EF4-FFF2-40B4-BE49-F238E27FC236}">
                <a16:creationId xmlns:a16="http://schemas.microsoft.com/office/drawing/2014/main" id="{E4FD7350-F796-5823-2D30-2C9180C1A0E3}"/>
              </a:ext>
            </a:extLst>
          </p:cNvPr>
          <p:cNvSpPr>
            <a:spLocks noGrp="1" noChangeArrowheads="1"/>
          </p:cNvSpPr>
          <p:nvPr>
            <p:ph idx="1"/>
          </p:nvPr>
        </p:nvSpPr>
        <p:spPr>
          <a:xfrm>
            <a:off x="935038" y="1233488"/>
            <a:ext cx="7772400" cy="4895850"/>
          </a:xfrm>
        </p:spPr>
        <p:txBody>
          <a:bodyPr/>
          <a:lstStyle/>
          <a:p>
            <a:r>
              <a:rPr lang="zh-CN" altLang="en-US" dirty="0"/>
              <a:t>可以使用有效</a:t>
            </a:r>
            <a:r>
              <a:rPr lang="en-US" altLang="zh-CN" dirty="0"/>
              <a:t>-</a:t>
            </a:r>
            <a:r>
              <a:rPr lang="zh-CN" altLang="en-US" dirty="0"/>
              <a:t>无效位来区分哪些页是在内存，哪些页在磁盘上</a:t>
            </a:r>
            <a:endParaRPr lang="en-US" altLang="zh-CN" dirty="0"/>
          </a:p>
          <a:p>
            <a:r>
              <a:rPr lang="zh-CN" altLang="en-US" dirty="0">
                <a:sym typeface="Symbol" pitchFamily="2" charset="2"/>
              </a:rPr>
              <a:t>每个页表项关联一个有效- 无效位</a:t>
            </a:r>
            <a:endParaRPr lang="en-US" altLang="zh-CN" dirty="0">
              <a:sym typeface="Symbol" pitchFamily="2" charset="2"/>
            </a:endParaRPr>
          </a:p>
          <a:p>
            <a:pPr lvl="1"/>
            <a:r>
              <a:rPr lang="zh-CN" altLang="en-US" dirty="0">
                <a:sym typeface="Symbol" pitchFamily="2" charset="2"/>
              </a:rPr>
              <a:t>有效表示页面在内存且合法</a:t>
            </a:r>
            <a:endParaRPr lang="en-US" altLang="zh-CN" dirty="0">
              <a:sym typeface="Symbol" pitchFamily="2" charset="2"/>
            </a:endParaRPr>
          </a:p>
          <a:p>
            <a:pPr lvl="1"/>
            <a:r>
              <a:rPr lang="zh-CN" altLang="en-US" dirty="0">
                <a:sym typeface="Symbol" pitchFamily="2" charset="2"/>
              </a:rPr>
              <a:t>无效表示页面不合法或在外存</a:t>
            </a:r>
            <a:endParaRPr lang="en-US" altLang="zh-CN" dirty="0">
              <a:sym typeface="Symbol" pitchFamily="2" charset="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53283">
                                            <p:txEl>
                                              <p:pRg st="0" end="0"/>
                                            </p:txEl>
                                          </p:spTgt>
                                        </p:tgtEl>
                                        <p:attrNameLst>
                                          <p:attrName>style.visibility</p:attrName>
                                        </p:attrNameLst>
                                      </p:cBhvr>
                                      <p:to>
                                        <p:strVal val="visible"/>
                                      </p:to>
                                    </p:set>
                                    <p:animEffect transition="in" filter="checkerboard(across)">
                                      <p:cBhvr>
                                        <p:cTn id="7" dur="500"/>
                                        <p:tgtEl>
                                          <p:spTgt spid="3532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53283">
                                            <p:txEl>
                                              <p:pRg st="1" end="1"/>
                                            </p:txEl>
                                          </p:spTgt>
                                        </p:tgtEl>
                                        <p:attrNameLst>
                                          <p:attrName>style.visibility</p:attrName>
                                        </p:attrNameLst>
                                      </p:cBhvr>
                                      <p:to>
                                        <p:strVal val="visible"/>
                                      </p:to>
                                    </p:set>
                                    <p:animEffect transition="in" filter="checkerboard(across)">
                                      <p:cBhvr>
                                        <p:cTn id="12" dur="500"/>
                                        <p:tgtEl>
                                          <p:spTgt spid="3532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53283">
                                            <p:txEl>
                                              <p:pRg st="2" end="2"/>
                                            </p:txEl>
                                          </p:spTgt>
                                        </p:tgtEl>
                                        <p:attrNameLst>
                                          <p:attrName>style.visibility</p:attrName>
                                        </p:attrNameLst>
                                      </p:cBhvr>
                                      <p:to>
                                        <p:strVal val="visible"/>
                                      </p:to>
                                    </p:set>
                                    <p:animEffect transition="in" filter="checkerboard(across)">
                                      <p:cBhvr>
                                        <p:cTn id="17" dur="500"/>
                                        <p:tgtEl>
                                          <p:spTgt spid="3532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53283">
                                            <p:txEl>
                                              <p:pRg st="3" end="3"/>
                                            </p:txEl>
                                          </p:spTgt>
                                        </p:tgtEl>
                                        <p:attrNameLst>
                                          <p:attrName>style.visibility</p:attrName>
                                        </p:attrNameLst>
                                      </p:cBhvr>
                                      <p:to>
                                        <p:strVal val="visible"/>
                                      </p:to>
                                    </p:set>
                                    <p:animEffect transition="in" filter="checkerboard(across)">
                                      <p:cBhvr>
                                        <p:cTn id="22" dur="500"/>
                                        <p:tgtEl>
                                          <p:spTgt spid="3532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3" grpId="0" build="p"/>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F5144241-AE5C-965F-4834-DE88761D7D2F}"/>
              </a:ext>
            </a:extLst>
          </p:cNvPr>
          <p:cNvSpPr>
            <a:spLocks noGrp="1" noChangeArrowheads="1"/>
          </p:cNvSpPr>
          <p:nvPr>
            <p:ph type="title"/>
          </p:nvPr>
        </p:nvSpPr>
        <p:spPr>
          <a:xfrm>
            <a:off x="1042988" y="225431"/>
            <a:ext cx="7850187" cy="746125"/>
          </a:xfrm>
        </p:spPr>
        <p:txBody>
          <a:bodyPr/>
          <a:lstStyle/>
          <a:p>
            <a:r>
              <a:rPr lang="zh-CN" altLang="en-US" dirty="0"/>
              <a:t>某些页不在内存时的页表</a:t>
            </a:r>
          </a:p>
        </p:txBody>
      </p:sp>
      <p:sp>
        <p:nvSpPr>
          <p:cNvPr id="3" name="内容占位符 2">
            <a:extLst>
              <a:ext uri="{FF2B5EF4-FFF2-40B4-BE49-F238E27FC236}">
                <a16:creationId xmlns:a16="http://schemas.microsoft.com/office/drawing/2014/main" id="{517865F0-2D5E-6054-661B-B9477E8080F1}"/>
              </a:ext>
            </a:extLst>
          </p:cNvPr>
          <p:cNvSpPr>
            <a:spLocks noGrp="1"/>
          </p:cNvSpPr>
          <p:nvPr>
            <p:ph idx="1"/>
          </p:nvPr>
        </p:nvSpPr>
        <p:spPr/>
        <p:txBody>
          <a:bodyPr/>
          <a:lstStyle/>
          <a:p>
            <a:endParaRPr lang="zh-CN" altLang="en-US"/>
          </a:p>
        </p:txBody>
      </p:sp>
      <p:pic>
        <p:nvPicPr>
          <p:cNvPr id="24578" name="Picture 4">
            <a:extLst>
              <a:ext uri="{FF2B5EF4-FFF2-40B4-BE49-F238E27FC236}">
                <a16:creationId xmlns:a16="http://schemas.microsoft.com/office/drawing/2014/main" id="{C5E6DEB7-F2D9-B9D5-D834-222A4B296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104" t="1563" r="9592" b="911"/>
          <a:stretch>
            <a:fillRect/>
          </a:stretch>
        </p:blipFill>
        <p:spPr bwMode="auto">
          <a:xfrm>
            <a:off x="971550" y="1296988"/>
            <a:ext cx="7302500" cy="5119687"/>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3469B6A0-8DF7-893E-43C6-C092FFCCE34E}"/>
              </a:ext>
            </a:extLst>
          </p:cNvPr>
          <p:cNvSpPr>
            <a:spLocks noGrp="1" noChangeArrowheads="1"/>
          </p:cNvSpPr>
          <p:nvPr>
            <p:ph type="title"/>
          </p:nvPr>
        </p:nvSpPr>
        <p:spPr>
          <a:xfrm>
            <a:off x="1042988" y="225431"/>
            <a:ext cx="7850187" cy="746125"/>
          </a:xfrm>
        </p:spPr>
        <p:txBody>
          <a:bodyPr/>
          <a:lstStyle/>
          <a:p>
            <a:r>
              <a:rPr lang="zh-CN" altLang="en-US"/>
              <a:t>页错误 </a:t>
            </a:r>
            <a:r>
              <a:rPr lang="en-US" altLang="zh-CN"/>
              <a:t>Page Fault</a:t>
            </a:r>
            <a:endParaRPr lang="zh-CN" altLang="en-US"/>
          </a:p>
        </p:txBody>
      </p:sp>
      <p:sp>
        <p:nvSpPr>
          <p:cNvPr id="356355" name="Rectangle 3">
            <a:extLst>
              <a:ext uri="{FF2B5EF4-FFF2-40B4-BE49-F238E27FC236}">
                <a16:creationId xmlns:a16="http://schemas.microsoft.com/office/drawing/2014/main" id="{6084C4CD-BE55-C4E8-2F57-F032BEDA7DCC}"/>
              </a:ext>
            </a:extLst>
          </p:cNvPr>
          <p:cNvSpPr>
            <a:spLocks noGrp="1" noChangeArrowheads="1"/>
          </p:cNvSpPr>
          <p:nvPr>
            <p:ph idx="1"/>
          </p:nvPr>
        </p:nvSpPr>
        <p:spPr>
          <a:xfrm>
            <a:off x="935038" y="1233488"/>
            <a:ext cx="7772400" cy="4895850"/>
          </a:xfrm>
        </p:spPr>
        <p:txBody>
          <a:bodyPr/>
          <a:lstStyle/>
          <a:p>
            <a:r>
              <a:rPr lang="zh-CN" altLang="en-US" dirty="0"/>
              <a:t>当访问无效页时，会产生页错误陷阱</a:t>
            </a:r>
            <a:r>
              <a:rPr lang="en-US" altLang="zh-CN" dirty="0"/>
              <a:t>.</a:t>
            </a:r>
          </a:p>
          <a:p>
            <a:r>
              <a:rPr lang="zh-CN" altLang="en-US" dirty="0"/>
              <a:t>分页硬件在通过页表转换地址时，将发现已设置了无效位，会陷入操作系统。</a:t>
            </a:r>
          </a:p>
          <a:p>
            <a:r>
              <a:rPr lang="zh-CN" altLang="en-US" dirty="0"/>
              <a:t>即当所访问的页不在内存时，便产生缺页中断，请求</a:t>
            </a:r>
            <a:r>
              <a:rPr lang="en-US" altLang="zh-CN" dirty="0"/>
              <a:t>OS</a:t>
            </a:r>
            <a:r>
              <a:rPr lang="zh-CN" altLang="en-US" dirty="0"/>
              <a:t>将缺页调入内存。</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56355">
                                            <p:txEl>
                                              <p:pRg st="0" end="0"/>
                                            </p:txEl>
                                          </p:spTgt>
                                        </p:tgtEl>
                                        <p:attrNameLst>
                                          <p:attrName>style.visibility</p:attrName>
                                        </p:attrNameLst>
                                      </p:cBhvr>
                                      <p:to>
                                        <p:strVal val="visible"/>
                                      </p:to>
                                    </p:set>
                                    <p:animEffect transition="in" filter="checkerboard(across)">
                                      <p:cBhvr>
                                        <p:cTn id="7" dur="500"/>
                                        <p:tgtEl>
                                          <p:spTgt spid="3563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56355">
                                            <p:txEl>
                                              <p:pRg st="1" end="1"/>
                                            </p:txEl>
                                          </p:spTgt>
                                        </p:tgtEl>
                                        <p:attrNameLst>
                                          <p:attrName>style.visibility</p:attrName>
                                        </p:attrNameLst>
                                      </p:cBhvr>
                                      <p:to>
                                        <p:strVal val="visible"/>
                                      </p:to>
                                    </p:set>
                                    <p:animEffect transition="in" filter="checkerboard(across)">
                                      <p:cBhvr>
                                        <p:cTn id="12" dur="500"/>
                                        <p:tgtEl>
                                          <p:spTgt spid="3563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56355">
                                            <p:txEl>
                                              <p:pRg st="2" end="2"/>
                                            </p:txEl>
                                          </p:spTgt>
                                        </p:tgtEl>
                                        <p:attrNameLst>
                                          <p:attrName>style.visibility</p:attrName>
                                        </p:attrNameLst>
                                      </p:cBhvr>
                                      <p:to>
                                        <p:strVal val="visible"/>
                                      </p:to>
                                    </p:set>
                                    <p:animEffect transition="in" filter="checkerboard(across)">
                                      <p:cBhvr>
                                        <p:cTn id="17" dur="500"/>
                                        <p:tgtEl>
                                          <p:spTgt spid="3563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5" grpId="0" build="p"/>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39C0A5E1-F7AB-198D-780A-30B507A99CE4}"/>
              </a:ext>
            </a:extLst>
          </p:cNvPr>
          <p:cNvSpPr>
            <a:spLocks noGrp="1" noChangeArrowheads="1"/>
          </p:cNvSpPr>
          <p:nvPr>
            <p:ph type="title"/>
          </p:nvPr>
        </p:nvSpPr>
        <p:spPr>
          <a:xfrm>
            <a:off x="1042988" y="225431"/>
            <a:ext cx="7850187" cy="746125"/>
          </a:xfrm>
        </p:spPr>
        <p:txBody>
          <a:bodyPr/>
          <a:lstStyle/>
          <a:p>
            <a:r>
              <a:rPr lang="zh-CN" altLang="en-US" dirty="0"/>
              <a:t>页错误处理步骤</a:t>
            </a:r>
            <a:endParaRPr lang="en-US" altLang="zh-CN" dirty="0"/>
          </a:p>
        </p:txBody>
      </p:sp>
      <p:sp>
        <p:nvSpPr>
          <p:cNvPr id="357379" name="Rectangle 3">
            <a:extLst>
              <a:ext uri="{FF2B5EF4-FFF2-40B4-BE49-F238E27FC236}">
                <a16:creationId xmlns:a16="http://schemas.microsoft.com/office/drawing/2014/main" id="{84D5DDCF-2615-1C24-AD7B-B7106CC38748}"/>
              </a:ext>
            </a:extLst>
          </p:cNvPr>
          <p:cNvSpPr>
            <a:spLocks noGrp="1" noChangeArrowheads="1"/>
          </p:cNvSpPr>
          <p:nvPr>
            <p:ph idx="1"/>
          </p:nvPr>
        </p:nvSpPr>
        <p:spPr>
          <a:xfrm>
            <a:off x="935038" y="1233488"/>
            <a:ext cx="7772400" cy="4895850"/>
          </a:xfrm>
        </p:spPr>
        <p:txBody>
          <a:bodyPr>
            <a:normAutofit/>
          </a:bodyPr>
          <a:lstStyle/>
          <a:p>
            <a:r>
              <a:rPr lang="zh-CN" altLang="en-US" dirty="0"/>
              <a:t>检查页表以确定引用是否合法</a:t>
            </a:r>
            <a:endParaRPr lang="en-US" altLang="zh-CN" dirty="0"/>
          </a:p>
          <a:p>
            <a:r>
              <a:rPr lang="zh-CN" altLang="en-US" dirty="0"/>
              <a:t>引用非法则终止，有效但不在内存则调入</a:t>
            </a:r>
            <a:endParaRPr lang="en-US" altLang="zh-CN" dirty="0">
              <a:sym typeface="Symbol" pitchFamily="2" charset="2"/>
            </a:endParaRPr>
          </a:p>
          <a:p>
            <a:r>
              <a:rPr lang="zh-CN" altLang="en-US" dirty="0">
                <a:sym typeface="Symbol" pitchFamily="2" charset="2"/>
              </a:rPr>
              <a:t>找到一个空闲帧    </a:t>
            </a:r>
            <a:endParaRPr lang="en-US" altLang="zh-CN" dirty="0">
              <a:sym typeface="Symbol" pitchFamily="2" charset="2"/>
            </a:endParaRPr>
          </a:p>
          <a:p>
            <a:r>
              <a:rPr lang="zh-CN" altLang="en-US" dirty="0">
                <a:sym typeface="Symbol" pitchFamily="2" charset="2"/>
              </a:rPr>
              <a:t>把页换入页框</a:t>
            </a:r>
          </a:p>
          <a:p>
            <a:r>
              <a:rPr lang="zh-CN" altLang="en-US" dirty="0">
                <a:sym typeface="Symbol" pitchFamily="2" charset="2"/>
              </a:rPr>
              <a:t>修改页表，使其有效. </a:t>
            </a:r>
            <a:endParaRPr lang="en-US" altLang="zh-CN" dirty="0">
              <a:sym typeface="Symbol" pitchFamily="2" charset="2"/>
            </a:endParaRPr>
          </a:p>
          <a:p>
            <a:r>
              <a:rPr lang="zh-CN" altLang="en-US" dirty="0">
                <a:sym typeface="Symbol" pitchFamily="2" charset="2"/>
              </a:rPr>
              <a:t>重启指令</a:t>
            </a:r>
            <a:endParaRPr lang="en-US" altLang="zh-CN" dirty="0">
              <a:sym typeface="Symbol" pitchFamily="2" charset="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57379">
                                            <p:txEl>
                                              <p:pRg st="0" end="0"/>
                                            </p:txEl>
                                          </p:spTgt>
                                        </p:tgtEl>
                                        <p:attrNameLst>
                                          <p:attrName>style.visibility</p:attrName>
                                        </p:attrNameLst>
                                      </p:cBhvr>
                                      <p:to>
                                        <p:strVal val="visible"/>
                                      </p:to>
                                    </p:set>
                                    <p:animEffect transition="in" filter="checkerboard(across)">
                                      <p:cBhvr>
                                        <p:cTn id="7" dur="500"/>
                                        <p:tgtEl>
                                          <p:spTgt spid="3573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57379">
                                            <p:txEl>
                                              <p:pRg st="1" end="1"/>
                                            </p:txEl>
                                          </p:spTgt>
                                        </p:tgtEl>
                                        <p:attrNameLst>
                                          <p:attrName>style.visibility</p:attrName>
                                        </p:attrNameLst>
                                      </p:cBhvr>
                                      <p:to>
                                        <p:strVal val="visible"/>
                                      </p:to>
                                    </p:set>
                                    <p:animEffect transition="in" filter="checkerboard(across)">
                                      <p:cBhvr>
                                        <p:cTn id="12" dur="500"/>
                                        <p:tgtEl>
                                          <p:spTgt spid="3573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57379">
                                            <p:txEl>
                                              <p:pRg st="2" end="2"/>
                                            </p:txEl>
                                          </p:spTgt>
                                        </p:tgtEl>
                                        <p:attrNameLst>
                                          <p:attrName>style.visibility</p:attrName>
                                        </p:attrNameLst>
                                      </p:cBhvr>
                                      <p:to>
                                        <p:strVal val="visible"/>
                                      </p:to>
                                    </p:set>
                                    <p:animEffect transition="in" filter="checkerboard(across)">
                                      <p:cBhvr>
                                        <p:cTn id="17" dur="500"/>
                                        <p:tgtEl>
                                          <p:spTgt spid="3573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57379">
                                            <p:txEl>
                                              <p:pRg st="3" end="3"/>
                                            </p:txEl>
                                          </p:spTgt>
                                        </p:tgtEl>
                                        <p:attrNameLst>
                                          <p:attrName>style.visibility</p:attrName>
                                        </p:attrNameLst>
                                      </p:cBhvr>
                                      <p:to>
                                        <p:strVal val="visible"/>
                                      </p:to>
                                    </p:set>
                                    <p:animEffect transition="in" filter="checkerboard(across)">
                                      <p:cBhvr>
                                        <p:cTn id="22" dur="500"/>
                                        <p:tgtEl>
                                          <p:spTgt spid="3573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57379">
                                            <p:txEl>
                                              <p:pRg st="4" end="4"/>
                                            </p:txEl>
                                          </p:spTgt>
                                        </p:tgtEl>
                                        <p:attrNameLst>
                                          <p:attrName>style.visibility</p:attrName>
                                        </p:attrNameLst>
                                      </p:cBhvr>
                                      <p:to>
                                        <p:strVal val="visible"/>
                                      </p:to>
                                    </p:set>
                                    <p:animEffect transition="in" filter="checkerboard(across)">
                                      <p:cBhvr>
                                        <p:cTn id="27" dur="500"/>
                                        <p:tgtEl>
                                          <p:spTgt spid="3573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57379">
                                            <p:txEl>
                                              <p:pRg st="5" end="5"/>
                                            </p:txEl>
                                          </p:spTgt>
                                        </p:tgtEl>
                                        <p:attrNameLst>
                                          <p:attrName>style.visibility</p:attrName>
                                        </p:attrNameLst>
                                      </p:cBhvr>
                                      <p:to>
                                        <p:strVal val="visible"/>
                                      </p:to>
                                    </p:set>
                                    <p:animEffect transition="in" filter="checkerboard(across)">
                                      <p:cBhvr>
                                        <p:cTn id="32" dur="500"/>
                                        <p:tgtEl>
                                          <p:spTgt spid="3573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79"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B7D4CDA0-591D-2842-799D-E1D362596BB3}"/>
              </a:ext>
            </a:extLst>
          </p:cNvPr>
          <p:cNvSpPr>
            <a:spLocks noGrp="1" noChangeArrowheads="1"/>
          </p:cNvSpPr>
          <p:nvPr>
            <p:ph type="title"/>
          </p:nvPr>
        </p:nvSpPr>
        <p:spPr/>
        <p:txBody>
          <a:bodyPr/>
          <a:lstStyle/>
          <a:p>
            <a:pPr eaLnBrk="1" hangingPunct="1"/>
            <a:r>
              <a:rPr lang="zh-CN" altLang="en-US" dirty="0"/>
              <a:t>页错误处理步骤</a:t>
            </a:r>
          </a:p>
        </p:txBody>
      </p:sp>
      <p:pic>
        <p:nvPicPr>
          <p:cNvPr id="27650" name="Picture 4">
            <a:extLst>
              <a:ext uri="{FF2B5EF4-FFF2-40B4-BE49-F238E27FC236}">
                <a16:creationId xmlns:a16="http://schemas.microsoft.com/office/drawing/2014/main" id="{1307E763-5DC3-8F2F-D085-4C07DBB7F6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911" t="1289" r="5911" b="995"/>
          <a:stretch>
            <a:fillRect/>
          </a:stretch>
        </p:blipFill>
        <p:spPr bwMode="auto">
          <a:xfrm>
            <a:off x="792163" y="1173163"/>
            <a:ext cx="7635875" cy="5351462"/>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1E8075EC-E51C-28D3-4A21-73FA1A80D71F}"/>
              </a:ext>
            </a:extLst>
          </p:cNvPr>
          <p:cNvSpPr>
            <a:spLocks noGrp="1" noChangeArrowheads="1"/>
          </p:cNvSpPr>
          <p:nvPr>
            <p:ph type="title"/>
          </p:nvPr>
        </p:nvSpPr>
        <p:spPr/>
        <p:txBody>
          <a:bodyPr/>
          <a:lstStyle/>
          <a:p>
            <a:pPr eaLnBrk="1" hangingPunct="1"/>
            <a:r>
              <a:rPr lang="zh-CN" altLang="en-US" b="1"/>
              <a:t>缺页中断</a:t>
            </a:r>
          </a:p>
        </p:txBody>
      </p:sp>
      <p:sp>
        <p:nvSpPr>
          <p:cNvPr id="132099" name="Rectangle 3">
            <a:extLst>
              <a:ext uri="{FF2B5EF4-FFF2-40B4-BE49-F238E27FC236}">
                <a16:creationId xmlns:a16="http://schemas.microsoft.com/office/drawing/2014/main" id="{CA6DF1BB-B256-16FE-AE09-D04D08A855F5}"/>
              </a:ext>
            </a:extLst>
          </p:cNvPr>
          <p:cNvSpPr>
            <a:spLocks noGrp="1" noChangeArrowheads="1"/>
          </p:cNvSpPr>
          <p:nvPr>
            <p:ph idx="1"/>
          </p:nvPr>
        </p:nvSpPr>
        <p:spPr>
          <a:xfrm>
            <a:off x="755650" y="1341438"/>
            <a:ext cx="8137525" cy="4895850"/>
          </a:xfrm>
        </p:spPr>
        <p:txBody>
          <a:bodyPr/>
          <a:lstStyle/>
          <a:p>
            <a:pPr algn="just" eaLnBrk="1" hangingPunct="1"/>
            <a:r>
              <a:rPr lang="zh-CN" altLang="en-US">
                <a:latin typeface="Times New Roman" panose="02020603050405020304" pitchFamily="18" charset="0"/>
              </a:rPr>
              <a:t>缺页中断处理程序根据该页在外存的地址把它调入内存。</a:t>
            </a:r>
          </a:p>
          <a:p>
            <a:pPr algn="just" eaLnBrk="1" hangingPunct="1"/>
            <a:r>
              <a:rPr lang="zh-CN" altLang="en-US">
                <a:latin typeface="Times New Roman" panose="02020603050405020304" pitchFamily="18" charset="0"/>
              </a:rPr>
              <a:t>在调页过程中，若内存有空闲空间，则缺页中断处理程序只需把缺页装入并修改页表中的相应项；</a:t>
            </a:r>
          </a:p>
          <a:p>
            <a:pPr algn="just" eaLnBrk="1" hangingPunct="1"/>
            <a:r>
              <a:rPr lang="zh-CN" altLang="en-US">
                <a:latin typeface="Times New Roman" panose="02020603050405020304" pitchFamily="18" charset="0"/>
              </a:rPr>
              <a:t>若内存中无空闲物理块，则需要先淘汰内存中的某些页，若淘汰页曾被修改过，则还要将其写回外存。</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2099">
                                            <p:txEl>
                                              <p:pRg st="0" end="0"/>
                                            </p:txEl>
                                          </p:spTgt>
                                        </p:tgtEl>
                                        <p:attrNameLst>
                                          <p:attrName>style.visibility</p:attrName>
                                        </p:attrNameLst>
                                      </p:cBhvr>
                                      <p:to>
                                        <p:strVal val="visible"/>
                                      </p:to>
                                    </p:set>
                                    <p:animEffect transition="in" filter="checkerboard(across)">
                                      <p:cBhvr>
                                        <p:cTn id="7" dur="500"/>
                                        <p:tgtEl>
                                          <p:spTgt spid="132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32099">
                                            <p:txEl>
                                              <p:pRg st="1" end="1"/>
                                            </p:txEl>
                                          </p:spTgt>
                                        </p:tgtEl>
                                        <p:attrNameLst>
                                          <p:attrName>style.visibility</p:attrName>
                                        </p:attrNameLst>
                                      </p:cBhvr>
                                      <p:to>
                                        <p:strVal val="visible"/>
                                      </p:to>
                                    </p:set>
                                    <p:animEffect transition="in" filter="checkerboard(across)">
                                      <p:cBhvr>
                                        <p:cTn id="12" dur="500"/>
                                        <p:tgtEl>
                                          <p:spTgt spid="132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32099">
                                            <p:txEl>
                                              <p:pRg st="2" end="2"/>
                                            </p:txEl>
                                          </p:spTgt>
                                        </p:tgtEl>
                                        <p:attrNameLst>
                                          <p:attrName>style.visibility</p:attrName>
                                        </p:attrNameLst>
                                      </p:cBhvr>
                                      <p:to>
                                        <p:strVal val="visible"/>
                                      </p:to>
                                    </p:set>
                                    <p:animEffect transition="in" filter="checkerboard(across)">
                                      <p:cBhvr>
                                        <p:cTn id="17" dur="500"/>
                                        <p:tgtEl>
                                          <p:spTgt spid="1320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9" grpId="0" build="p"/>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CC423CD3-5B5F-9CCB-0219-DD2930C85F76}"/>
              </a:ext>
            </a:extLst>
          </p:cNvPr>
          <p:cNvSpPr>
            <a:spLocks noGrp="1" noChangeArrowheads="1"/>
          </p:cNvSpPr>
          <p:nvPr>
            <p:ph type="title"/>
          </p:nvPr>
        </p:nvSpPr>
        <p:spPr/>
        <p:txBody>
          <a:bodyPr/>
          <a:lstStyle/>
          <a:p>
            <a:pPr eaLnBrk="1" hangingPunct="1"/>
            <a:r>
              <a:rPr lang="zh-CN" altLang="en-US" b="1"/>
              <a:t>缺页中断与一般中断的区别</a:t>
            </a:r>
          </a:p>
        </p:txBody>
      </p:sp>
      <p:sp>
        <p:nvSpPr>
          <p:cNvPr id="29698" name="Rectangle 3">
            <a:extLst>
              <a:ext uri="{FF2B5EF4-FFF2-40B4-BE49-F238E27FC236}">
                <a16:creationId xmlns:a16="http://schemas.microsoft.com/office/drawing/2014/main" id="{5625DF54-F065-9554-E524-52AB61CB5E60}"/>
              </a:ext>
            </a:extLst>
          </p:cNvPr>
          <p:cNvSpPr>
            <a:spLocks noGrp="1" noChangeArrowheads="1"/>
          </p:cNvSpPr>
          <p:nvPr>
            <p:ph idx="1"/>
          </p:nvPr>
        </p:nvSpPr>
        <p:spPr>
          <a:xfrm>
            <a:off x="323850" y="1341438"/>
            <a:ext cx="6335713" cy="4459287"/>
          </a:xfrm>
        </p:spPr>
        <p:txBody>
          <a:bodyPr/>
          <a:lstStyle/>
          <a:p>
            <a:pPr algn="just" eaLnBrk="1" hangingPunct="1"/>
            <a:r>
              <a:rPr lang="zh-CN" altLang="en-US"/>
              <a:t>缺页中断与一般中断的区别主要有：</a:t>
            </a:r>
          </a:p>
          <a:p>
            <a:pPr lvl="1" algn="just" eaLnBrk="1" hangingPunct="1"/>
            <a:r>
              <a:rPr lang="zh-CN" altLang="en-US"/>
              <a:t>在指令的执行期间产生和处理缺页中断。</a:t>
            </a:r>
          </a:p>
          <a:p>
            <a:pPr lvl="1" algn="just" eaLnBrk="1" hangingPunct="1"/>
            <a:r>
              <a:rPr lang="zh-CN" altLang="en-US"/>
              <a:t>一条指令可以产生多个缺页中断。如：执行一条复制指令</a:t>
            </a:r>
            <a:r>
              <a:rPr lang="en-US" altLang="zh-CN"/>
              <a:t>copy A to B</a:t>
            </a:r>
          </a:p>
          <a:p>
            <a:pPr lvl="1" algn="just" eaLnBrk="1" hangingPunct="1"/>
            <a:r>
              <a:rPr lang="zh-CN" altLang="en-US"/>
              <a:t>缺页中断返回时执行产生中断的指令，一般中断返回时执行下条指令</a:t>
            </a:r>
          </a:p>
        </p:txBody>
      </p:sp>
      <p:sp>
        <p:nvSpPr>
          <p:cNvPr id="29699" name="Rectangle 4">
            <a:extLst>
              <a:ext uri="{FF2B5EF4-FFF2-40B4-BE49-F238E27FC236}">
                <a16:creationId xmlns:a16="http://schemas.microsoft.com/office/drawing/2014/main" id="{F509AB00-0F67-34EA-F184-B10C1841F558}"/>
              </a:ext>
            </a:extLst>
          </p:cNvPr>
          <p:cNvSpPr>
            <a:spLocks noChangeArrowheads="1"/>
          </p:cNvSpPr>
          <p:nvPr/>
        </p:nvSpPr>
        <p:spPr bwMode="auto">
          <a:xfrm>
            <a:off x="7202488" y="1916113"/>
            <a:ext cx="1704975" cy="2884487"/>
          </a:xfrm>
          <a:prstGeom prst="rect">
            <a:avLst/>
          </a:prstGeom>
          <a:solidFill>
            <a:srgbClr val="FFFFFF"/>
          </a:solidFill>
          <a:ln w="25400">
            <a:solidFill>
              <a:srgbClr val="000000"/>
            </a:solidFill>
            <a:miter lim="800000"/>
            <a:headEnd/>
            <a:tailEnd/>
          </a:ln>
        </p:spPr>
        <p:txBody>
          <a:bodyPr lIns="0" tIns="144000" rIns="0" bIns="36000"/>
          <a:lstStyle/>
          <a:p>
            <a:pPr algn="just" eaLnBrk="0" hangingPunct="0">
              <a:spcBef>
                <a:spcPct val="0"/>
              </a:spcBef>
              <a:buClrTx/>
              <a:buSzTx/>
              <a:buFontTx/>
              <a:buNone/>
            </a:pPr>
            <a:r>
              <a:rPr lang="en-US" altLang="zh-CN" sz="2000">
                <a:latin typeface="Times New Roman" panose="02020603050405020304" pitchFamily="18" charset="0"/>
              </a:rPr>
              <a:t>  B:</a:t>
            </a:r>
          </a:p>
          <a:p>
            <a:pPr algn="just" eaLnBrk="0" hangingPunct="0">
              <a:spcBef>
                <a:spcPct val="0"/>
              </a:spcBef>
              <a:buClrTx/>
              <a:buSzTx/>
              <a:buFontTx/>
              <a:buNone/>
            </a:pPr>
            <a:endParaRPr lang="en-US" altLang="zh-CN" sz="2000">
              <a:latin typeface="Times New Roman" panose="02020603050405020304" pitchFamily="18" charset="0"/>
            </a:endParaRPr>
          </a:p>
          <a:p>
            <a:pPr algn="just" eaLnBrk="0" hangingPunct="0">
              <a:spcBef>
                <a:spcPct val="0"/>
              </a:spcBef>
              <a:buClrTx/>
              <a:buSzTx/>
              <a:buFontTx/>
              <a:buNone/>
            </a:pPr>
            <a:endParaRPr lang="en-US" altLang="zh-CN" sz="2000">
              <a:latin typeface="Times New Roman" panose="02020603050405020304" pitchFamily="18" charset="0"/>
            </a:endParaRPr>
          </a:p>
          <a:p>
            <a:pPr algn="just" eaLnBrk="0" hangingPunct="0">
              <a:spcBef>
                <a:spcPct val="0"/>
              </a:spcBef>
              <a:buClrTx/>
              <a:buSzTx/>
              <a:buFontTx/>
              <a:buNone/>
            </a:pPr>
            <a:r>
              <a:rPr lang="en-US" altLang="zh-CN" sz="2000">
                <a:latin typeface="Times New Roman" panose="02020603050405020304" pitchFamily="18" charset="0"/>
              </a:rPr>
              <a:t> A:</a:t>
            </a:r>
          </a:p>
          <a:p>
            <a:pPr algn="just" eaLnBrk="0" hangingPunct="0">
              <a:spcBef>
                <a:spcPct val="0"/>
              </a:spcBef>
              <a:buClrTx/>
              <a:buSzTx/>
              <a:buFontTx/>
              <a:buNone/>
            </a:pPr>
            <a:endParaRPr lang="en-US" altLang="zh-CN" sz="2000">
              <a:latin typeface="Times New Roman" panose="02020603050405020304" pitchFamily="18" charset="0"/>
            </a:endParaRPr>
          </a:p>
          <a:p>
            <a:pPr algn="just" eaLnBrk="0" hangingPunct="0">
              <a:spcBef>
                <a:spcPct val="0"/>
              </a:spcBef>
              <a:buClrTx/>
              <a:buSzTx/>
              <a:buFontTx/>
              <a:buNone/>
            </a:pPr>
            <a:endParaRPr lang="en-US" altLang="zh-CN" sz="1000">
              <a:latin typeface="Times New Roman" panose="02020603050405020304" pitchFamily="18" charset="0"/>
            </a:endParaRPr>
          </a:p>
          <a:p>
            <a:pPr algn="just" eaLnBrk="0" hangingPunct="0">
              <a:spcBef>
                <a:spcPct val="0"/>
              </a:spcBef>
              <a:buClrTx/>
              <a:buSzTx/>
              <a:buFontTx/>
              <a:buNone/>
            </a:pPr>
            <a:r>
              <a:rPr lang="en-US" altLang="zh-CN" sz="2000">
                <a:latin typeface="Times New Roman" panose="02020603050405020304" pitchFamily="18" charset="0"/>
              </a:rPr>
              <a:t>        Copy A</a:t>
            </a:r>
          </a:p>
          <a:p>
            <a:pPr algn="just" eaLnBrk="0" hangingPunct="0">
              <a:spcBef>
                <a:spcPct val="0"/>
              </a:spcBef>
              <a:buClrTx/>
              <a:buSzTx/>
              <a:buFontTx/>
              <a:buNone/>
            </a:pPr>
            <a:endParaRPr lang="en-US" altLang="zh-CN" sz="800">
              <a:latin typeface="Times New Roman" panose="02020603050405020304" pitchFamily="18" charset="0"/>
            </a:endParaRPr>
          </a:p>
          <a:p>
            <a:pPr algn="just" eaLnBrk="0" hangingPunct="0">
              <a:spcBef>
                <a:spcPct val="0"/>
              </a:spcBef>
              <a:buClrTx/>
              <a:buSzTx/>
              <a:buFontTx/>
              <a:buNone/>
            </a:pPr>
            <a:r>
              <a:rPr lang="en-US" altLang="zh-CN" sz="2000">
                <a:latin typeface="Times New Roman" panose="02020603050405020304" pitchFamily="18" charset="0"/>
              </a:rPr>
              <a:t>          To B</a:t>
            </a:r>
          </a:p>
        </p:txBody>
      </p:sp>
      <p:sp>
        <p:nvSpPr>
          <p:cNvPr id="29700" name="Rectangle 5">
            <a:extLst>
              <a:ext uri="{FF2B5EF4-FFF2-40B4-BE49-F238E27FC236}">
                <a16:creationId xmlns:a16="http://schemas.microsoft.com/office/drawing/2014/main" id="{4A9C7C28-E7BF-9D39-D435-42A57E83F74C}"/>
              </a:ext>
            </a:extLst>
          </p:cNvPr>
          <p:cNvSpPr>
            <a:spLocks noChangeArrowheads="1"/>
          </p:cNvSpPr>
          <p:nvPr/>
        </p:nvSpPr>
        <p:spPr bwMode="auto">
          <a:xfrm>
            <a:off x="7288213" y="1524000"/>
            <a:ext cx="71278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a:latin typeface="Times New Roman" panose="02020603050405020304" pitchFamily="18" charset="0"/>
              </a:rPr>
              <a:t>页面</a:t>
            </a:r>
          </a:p>
        </p:txBody>
      </p:sp>
      <p:sp>
        <p:nvSpPr>
          <p:cNvPr id="29701" name="Line 6">
            <a:extLst>
              <a:ext uri="{FF2B5EF4-FFF2-40B4-BE49-F238E27FC236}">
                <a16:creationId xmlns:a16="http://schemas.microsoft.com/office/drawing/2014/main" id="{02CF0967-385D-C4AB-7974-D361439FA59E}"/>
              </a:ext>
            </a:extLst>
          </p:cNvPr>
          <p:cNvSpPr>
            <a:spLocks noChangeShapeType="1"/>
          </p:cNvSpPr>
          <p:nvPr/>
        </p:nvSpPr>
        <p:spPr bwMode="auto">
          <a:xfrm>
            <a:off x="7202488" y="3295650"/>
            <a:ext cx="1704975"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2" name="Line 7">
            <a:extLst>
              <a:ext uri="{FF2B5EF4-FFF2-40B4-BE49-F238E27FC236}">
                <a16:creationId xmlns:a16="http://schemas.microsoft.com/office/drawing/2014/main" id="{4A8130F8-FB48-6688-97DA-6164719D420F}"/>
              </a:ext>
            </a:extLst>
          </p:cNvPr>
          <p:cNvSpPr>
            <a:spLocks noChangeShapeType="1"/>
          </p:cNvSpPr>
          <p:nvPr/>
        </p:nvSpPr>
        <p:spPr bwMode="auto">
          <a:xfrm>
            <a:off x="7186613" y="2390775"/>
            <a:ext cx="17287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3" name="Line 8">
            <a:extLst>
              <a:ext uri="{FF2B5EF4-FFF2-40B4-BE49-F238E27FC236}">
                <a16:creationId xmlns:a16="http://schemas.microsoft.com/office/drawing/2014/main" id="{D4264232-9865-7A6C-2258-6746A3DDC455}"/>
              </a:ext>
            </a:extLst>
          </p:cNvPr>
          <p:cNvSpPr>
            <a:spLocks noChangeShapeType="1"/>
          </p:cNvSpPr>
          <p:nvPr/>
        </p:nvSpPr>
        <p:spPr bwMode="auto">
          <a:xfrm>
            <a:off x="7202488" y="2865438"/>
            <a:ext cx="1704975"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4" name="Line 9">
            <a:extLst>
              <a:ext uri="{FF2B5EF4-FFF2-40B4-BE49-F238E27FC236}">
                <a16:creationId xmlns:a16="http://schemas.microsoft.com/office/drawing/2014/main" id="{7B2F8078-A917-0FA7-A358-19CF87A56249}"/>
              </a:ext>
            </a:extLst>
          </p:cNvPr>
          <p:cNvSpPr>
            <a:spLocks noChangeShapeType="1"/>
          </p:cNvSpPr>
          <p:nvPr/>
        </p:nvSpPr>
        <p:spPr bwMode="auto">
          <a:xfrm>
            <a:off x="7186613" y="4106863"/>
            <a:ext cx="1704975"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5" name="Line 10">
            <a:extLst>
              <a:ext uri="{FF2B5EF4-FFF2-40B4-BE49-F238E27FC236}">
                <a16:creationId xmlns:a16="http://schemas.microsoft.com/office/drawing/2014/main" id="{842B26DC-832B-4B7C-FAB7-EE0F2E103EA3}"/>
              </a:ext>
            </a:extLst>
          </p:cNvPr>
          <p:cNvSpPr>
            <a:spLocks noChangeShapeType="1"/>
          </p:cNvSpPr>
          <p:nvPr/>
        </p:nvSpPr>
        <p:spPr bwMode="auto">
          <a:xfrm>
            <a:off x="7202488" y="3656013"/>
            <a:ext cx="1704975"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6" name="Rectangle 11">
            <a:extLst>
              <a:ext uri="{FF2B5EF4-FFF2-40B4-BE49-F238E27FC236}">
                <a16:creationId xmlns:a16="http://schemas.microsoft.com/office/drawing/2014/main" id="{70076D30-A90F-C282-196E-BF50FC67F6C0}"/>
              </a:ext>
            </a:extLst>
          </p:cNvPr>
          <p:cNvSpPr>
            <a:spLocks noChangeArrowheads="1"/>
          </p:cNvSpPr>
          <p:nvPr/>
        </p:nvSpPr>
        <p:spPr bwMode="auto">
          <a:xfrm>
            <a:off x="6986588" y="2089150"/>
            <a:ext cx="252412"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a:latin typeface="Times New Roman" panose="02020603050405020304" pitchFamily="18" charset="0"/>
              </a:rPr>
              <a:t>6</a:t>
            </a:r>
          </a:p>
          <a:p>
            <a:pPr algn="just" eaLnBrk="0" hangingPunct="0">
              <a:spcBef>
                <a:spcPct val="0"/>
              </a:spcBef>
              <a:buClrTx/>
              <a:buSzTx/>
              <a:buFontTx/>
              <a:buNone/>
            </a:pPr>
            <a:endParaRPr lang="zh-CN" altLang="en-US" sz="800">
              <a:latin typeface="Times New Roman" panose="02020603050405020304" pitchFamily="18" charset="0"/>
            </a:endParaRPr>
          </a:p>
          <a:p>
            <a:pPr algn="just" eaLnBrk="0" hangingPunct="0">
              <a:spcBef>
                <a:spcPct val="0"/>
              </a:spcBef>
              <a:buClrTx/>
              <a:buSzTx/>
              <a:buFontTx/>
              <a:buNone/>
            </a:pPr>
            <a:r>
              <a:rPr lang="zh-CN" altLang="en-US" sz="2000">
                <a:latin typeface="Times New Roman" panose="02020603050405020304" pitchFamily="18" charset="0"/>
              </a:rPr>
              <a:t>5</a:t>
            </a:r>
          </a:p>
          <a:p>
            <a:pPr algn="just" eaLnBrk="0" hangingPunct="0">
              <a:spcBef>
                <a:spcPct val="0"/>
              </a:spcBef>
              <a:buClrTx/>
              <a:buSzTx/>
              <a:buFontTx/>
              <a:buNone/>
            </a:pPr>
            <a:endParaRPr lang="zh-CN" altLang="en-US" sz="800">
              <a:latin typeface="Times New Roman" panose="02020603050405020304" pitchFamily="18" charset="0"/>
            </a:endParaRPr>
          </a:p>
          <a:p>
            <a:pPr algn="just" eaLnBrk="0" hangingPunct="0">
              <a:spcBef>
                <a:spcPct val="0"/>
              </a:spcBef>
              <a:buClrTx/>
              <a:buSzTx/>
              <a:buFontTx/>
              <a:buNone/>
            </a:pPr>
            <a:r>
              <a:rPr lang="zh-CN" altLang="en-US" sz="2000">
                <a:latin typeface="Times New Roman" panose="02020603050405020304" pitchFamily="18" charset="0"/>
              </a:rPr>
              <a:t>4</a:t>
            </a:r>
          </a:p>
          <a:p>
            <a:pPr algn="just" eaLnBrk="0" hangingPunct="0">
              <a:spcBef>
                <a:spcPct val="0"/>
              </a:spcBef>
              <a:buClrTx/>
              <a:buSzTx/>
              <a:buFontTx/>
              <a:buNone/>
            </a:pPr>
            <a:endParaRPr lang="zh-CN" altLang="en-US" sz="800">
              <a:latin typeface="Times New Roman" panose="02020603050405020304" pitchFamily="18" charset="0"/>
            </a:endParaRPr>
          </a:p>
          <a:p>
            <a:pPr algn="just" eaLnBrk="0" hangingPunct="0">
              <a:spcBef>
                <a:spcPct val="0"/>
              </a:spcBef>
              <a:buClrTx/>
              <a:buSzTx/>
              <a:buFontTx/>
              <a:buNone/>
            </a:pPr>
            <a:r>
              <a:rPr lang="zh-CN" altLang="en-US" sz="2000">
                <a:latin typeface="Times New Roman" panose="02020603050405020304" pitchFamily="18" charset="0"/>
              </a:rPr>
              <a:t>3</a:t>
            </a:r>
          </a:p>
          <a:p>
            <a:pPr algn="just" eaLnBrk="0" hangingPunct="0">
              <a:spcBef>
                <a:spcPct val="0"/>
              </a:spcBef>
              <a:buClrTx/>
              <a:buSzTx/>
              <a:buFontTx/>
              <a:buNone/>
            </a:pPr>
            <a:endParaRPr lang="zh-CN" altLang="en-US" sz="800">
              <a:latin typeface="Times New Roman" panose="02020603050405020304" pitchFamily="18" charset="0"/>
            </a:endParaRPr>
          </a:p>
          <a:p>
            <a:pPr algn="just" eaLnBrk="0" hangingPunct="0">
              <a:spcBef>
                <a:spcPct val="0"/>
              </a:spcBef>
              <a:buClrTx/>
              <a:buSzTx/>
              <a:buFontTx/>
              <a:buNone/>
            </a:pPr>
            <a:r>
              <a:rPr lang="zh-CN" altLang="en-US" sz="2000">
                <a:latin typeface="Times New Roman" panose="02020603050405020304" pitchFamily="18" charset="0"/>
              </a:rPr>
              <a:t>2</a:t>
            </a:r>
          </a:p>
          <a:p>
            <a:pPr algn="just" eaLnBrk="0" hangingPunct="0">
              <a:spcBef>
                <a:spcPct val="0"/>
              </a:spcBef>
              <a:buClrTx/>
              <a:buSzTx/>
              <a:buFontTx/>
              <a:buNone/>
            </a:pPr>
            <a:endParaRPr lang="zh-CN" altLang="en-US" sz="800">
              <a:latin typeface="Times New Roman" panose="02020603050405020304" pitchFamily="18" charset="0"/>
            </a:endParaRPr>
          </a:p>
          <a:p>
            <a:pPr algn="just" eaLnBrk="0" hangingPunct="0">
              <a:spcBef>
                <a:spcPct val="0"/>
              </a:spcBef>
              <a:buClrTx/>
              <a:buSzTx/>
              <a:buFontTx/>
              <a:buNone/>
            </a:pPr>
            <a:r>
              <a:rPr lang="zh-CN" altLang="en-US" sz="2000">
                <a:latin typeface="Times New Roman" panose="02020603050405020304" pitchFamily="18" charset="0"/>
              </a:rPr>
              <a:t>1</a:t>
            </a:r>
          </a:p>
        </p:txBody>
      </p:sp>
      <p:sp>
        <p:nvSpPr>
          <p:cNvPr id="29707" name="Rectangle 12">
            <a:extLst>
              <a:ext uri="{FF2B5EF4-FFF2-40B4-BE49-F238E27FC236}">
                <a16:creationId xmlns:a16="http://schemas.microsoft.com/office/drawing/2014/main" id="{CC199766-8D2F-3561-A20C-D033E1D8F5F4}"/>
              </a:ext>
            </a:extLst>
          </p:cNvPr>
          <p:cNvSpPr>
            <a:spLocks noChangeArrowheads="1"/>
          </p:cNvSpPr>
          <p:nvPr/>
        </p:nvSpPr>
        <p:spPr bwMode="auto">
          <a:xfrm>
            <a:off x="7573963" y="3059113"/>
            <a:ext cx="968375" cy="495300"/>
          </a:xfrm>
          <a:prstGeom prst="rect">
            <a:avLst/>
          </a:prstGeom>
          <a:noFill/>
          <a:ln w="25400">
            <a:solidFill>
              <a:srgbClr val="000000"/>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9708" name="Rectangle 13">
            <a:extLst>
              <a:ext uri="{FF2B5EF4-FFF2-40B4-BE49-F238E27FC236}">
                <a16:creationId xmlns:a16="http://schemas.microsoft.com/office/drawing/2014/main" id="{B2139692-6F79-3AA6-212B-079994D9C1F3}"/>
              </a:ext>
            </a:extLst>
          </p:cNvPr>
          <p:cNvSpPr>
            <a:spLocks noChangeArrowheads="1"/>
          </p:cNvSpPr>
          <p:nvPr/>
        </p:nvSpPr>
        <p:spPr bwMode="auto">
          <a:xfrm>
            <a:off x="7491413" y="3733800"/>
            <a:ext cx="1166812" cy="890588"/>
          </a:xfrm>
          <a:prstGeom prst="rect">
            <a:avLst/>
          </a:prstGeom>
          <a:noFill/>
          <a:ln w="25400">
            <a:solidFill>
              <a:srgbClr val="000000"/>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9709" name="Rectangle 14">
            <a:extLst>
              <a:ext uri="{FF2B5EF4-FFF2-40B4-BE49-F238E27FC236}">
                <a16:creationId xmlns:a16="http://schemas.microsoft.com/office/drawing/2014/main" id="{C304ADCB-77C7-1F3A-3D3A-54C9AFBBCA9C}"/>
              </a:ext>
            </a:extLst>
          </p:cNvPr>
          <p:cNvSpPr>
            <a:spLocks noChangeArrowheads="1"/>
          </p:cNvSpPr>
          <p:nvPr/>
        </p:nvSpPr>
        <p:spPr bwMode="auto">
          <a:xfrm>
            <a:off x="7589838" y="2166938"/>
            <a:ext cx="969962" cy="495300"/>
          </a:xfrm>
          <a:prstGeom prst="rect">
            <a:avLst/>
          </a:prstGeom>
          <a:noFill/>
          <a:ln w="25400">
            <a:solidFill>
              <a:srgbClr val="000000"/>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Tree>
  </p:cSld>
  <p:clrMapOvr>
    <a:masterClrMapping/>
  </p:clrMapOvr>
  <p:transition spd="med">
    <p:zoom/>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94354D42-93E4-D6E2-7046-45ADEF7F66B5}"/>
              </a:ext>
            </a:extLst>
          </p:cNvPr>
          <p:cNvSpPr>
            <a:spLocks noGrp="1" noChangeArrowheads="1"/>
          </p:cNvSpPr>
          <p:nvPr>
            <p:ph type="title"/>
          </p:nvPr>
        </p:nvSpPr>
        <p:spPr/>
        <p:txBody>
          <a:bodyPr/>
          <a:lstStyle/>
          <a:p>
            <a:pPr eaLnBrk="1" hangingPunct="1"/>
            <a:r>
              <a:rPr lang="zh-CN" altLang="en-US"/>
              <a:t>地址变换</a:t>
            </a:r>
          </a:p>
        </p:txBody>
      </p:sp>
      <p:sp>
        <p:nvSpPr>
          <p:cNvPr id="30722" name="Rectangle 3">
            <a:extLst>
              <a:ext uri="{FF2B5EF4-FFF2-40B4-BE49-F238E27FC236}">
                <a16:creationId xmlns:a16="http://schemas.microsoft.com/office/drawing/2014/main" id="{E1492C47-3BF8-DC2F-474B-5CF7ED86B323}"/>
              </a:ext>
            </a:extLst>
          </p:cNvPr>
          <p:cNvSpPr>
            <a:spLocks noGrp="1" noChangeArrowheads="1"/>
          </p:cNvSpPr>
          <p:nvPr>
            <p:ph idx="1"/>
          </p:nvPr>
        </p:nvSpPr>
        <p:spPr>
          <a:xfrm>
            <a:off x="827088" y="1268413"/>
            <a:ext cx="8077200" cy="4752975"/>
          </a:xfrm>
        </p:spPr>
        <p:txBody>
          <a:bodyPr/>
          <a:lstStyle/>
          <a:p>
            <a:pPr eaLnBrk="1" hangingPunct="1"/>
            <a:r>
              <a:rPr lang="zh-CN" altLang="en-US"/>
              <a:t>请求分页存储管理系统的地址变换过程类似于分页存储管理，但当被访问页不在内存时应进行缺页中断处理。</a:t>
            </a:r>
          </a:p>
        </p:txBody>
      </p:sp>
    </p:spTree>
  </p:cSld>
  <p:clrMapOvr>
    <a:masterClrMapping/>
  </p:clrMapOvr>
  <p:transition spd="med">
    <p:zoom/>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F2317CB8-D44F-1CB1-FDFF-C8017F03B78F}"/>
              </a:ext>
            </a:extLst>
          </p:cNvPr>
          <p:cNvSpPr>
            <a:spLocks noGrp="1" noChangeArrowheads="1"/>
          </p:cNvSpPr>
          <p:nvPr>
            <p:ph type="title"/>
          </p:nvPr>
        </p:nvSpPr>
        <p:spPr/>
        <p:txBody>
          <a:bodyPr/>
          <a:lstStyle/>
          <a:p>
            <a:pPr eaLnBrk="1" hangingPunct="1"/>
            <a:r>
              <a:rPr lang="zh-CN" altLang="en-US"/>
              <a:t>地址变换流程</a:t>
            </a:r>
          </a:p>
        </p:txBody>
      </p:sp>
      <p:sp>
        <p:nvSpPr>
          <p:cNvPr id="31746" name="Rectangle 5">
            <a:extLst>
              <a:ext uri="{FF2B5EF4-FFF2-40B4-BE49-F238E27FC236}">
                <a16:creationId xmlns:a16="http://schemas.microsoft.com/office/drawing/2014/main" id="{17871205-9B1D-6D0D-6BBD-E42887E78EB6}"/>
              </a:ext>
            </a:extLst>
          </p:cNvPr>
          <p:cNvSpPr>
            <a:spLocks noChangeArrowheads="1"/>
          </p:cNvSpPr>
          <p:nvPr/>
        </p:nvSpPr>
        <p:spPr bwMode="auto">
          <a:xfrm>
            <a:off x="1447800" y="1600200"/>
            <a:ext cx="23161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程序请求访问一页</a:t>
            </a:r>
          </a:p>
        </p:txBody>
      </p:sp>
      <p:sp>
        <p:nvSpPr>
          <p:cNvPr id="31747" name="Rectangle 6">
            <a:extLst>
              <a:ext uri="{FF2B5EF4-FFF2-40B4-BE49-F238E27FC236}">
                <a16:creationId xmlns:a16="http://schemas.microsoft.com/office/drawing/2014/main" id="{9EACD792-402D-F9CB-7D03-EC61972D7F62}"/>
              </a:ext>
            </a:extLst>
          </p:cNvPr>
          <p:cNvSpPr>
            <a:spLocks noChangeArrowheads="1"/>
          </p:cNvSpPr>
          <p:nvPr/>
        </p:nvSpPr>
        <p:spPr bwMode="auto">
          <a:xfrm>
            <a:off x="1470025" y="2332038"/>
            <a:ext cx="25685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页号＞页表长度？</a:t>
            </a:r>
          </a:p>
        </p:txBody>
      </p:sp>
      <p:sp>
        <p:nvSpPr>
          <p:cNvPr id="31748" name="Line 7">
            <a:extLst>
              <a:ext uri="{FF2B5EF4-FFF2-40B4-BE49-F238E27FC236}">
                <a16:creationId xmlns:a16="http://schemas.microsoft.com/office/drawing/2014/main" id="{C6BC6759-C453-DE0A-915C-CC724CF769B9}"/>
              </a:ext>
            </a:extLst>
          </p:cNvPr>
          <p:cNvSpPr>
            <a:spLocks noChangeShapeType="1"/>
          </p:cNvSpPr>
          <p:nvPr/>
        </p:nvSpPr>
        <p:spPr bwMode="auto">
          <a:xfrm>
            <a:off x="2411413" y="2012950"/>
            <a:ext cx="0" cy="32861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49" name="Line 8">
            <a:extLst>
              <a:ext uri="{FF2B5EF4-FFF2-40B4-BE49-F238E27FC236}">
                <a16:creationId xmlns:a16="http://schemas.microsoft.com/office/drawing/2014/main" id="{2D61BA37-172B-DB90-A5C6-4CB75AE857B4}"/>
              </a:ext>
            </a:extLst>
          </p:cNvPr>
          <p:cNvSpPr>
            <a:spLocks noChangeShapeType="1"/>
          </p:cNvSpPr>
          <p:nvPr/>
        </p:nvSpPr>
        <p:spPr bwMode="auto">
          <a:xfrm>
            <a:off x="3581400" y="2514600"/>
            <a:ext cx="690563"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50" name="Rectangle 9">
            <a:extLst>
              <a:ext uri="{FF2B5EF4-FFF2-40B4-BE49-F238E27FC236}">
                <a16:creationId xmlns:a16="http://schemas.microsoft.com/office/drawing/2014/main" id="{10036FBF-954D-F369-31E7-3D672F3C882F}"/>
              </a:ext>
            </a:extLst>
          </p:cNvPr>
          <p:cNvSpPr>
            <a:spLocks noChangeArrowheads="1"/>
          </p:cNvSpPr>
          <p:nvPr/>
        </p:nvSpPr>
        <p:spPr bwMode="auto">
          <a:xfrm>
            <a:off x="4114800" y="4700588"/>
            <a:ext cx="13716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页在内存？</a:t>
            </a:r>
          </a:p>
        </p:txBody>
      </p:sp>
      <p:sp>
        <p:nvSpPr>
          <p:cNvPr id="31751" name="Rectangle 10">
            <a:extLst>
              <a:ext uri="{FF2B5EF4-FFF2-40B4-BE49-F238E27FC236}">
                <a16:creationId xmlns:a16="http://schemas.microsoft.com/office/drawing/2014/main" id="{28E746F0-E713-D2C4-26F8-4F1E23D00F4D}"/>
              </a:ext>
            </a:extLst>
          </p:cNvPr>
          <p:cNvSpPr>
            <a:spLocks noChangeArrowheads="1"/>
          </p:cNvSpPr>
          <p:nvPr/>
        </p:nvSpPr>
        <p:spPr bwMode="auto">
          <a:xfrm>
            <a:off x="3843338" y="2109788"/>
            <a:ext cx="3794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Y</a:t>
            </a:r>
          </a:p>
        </p:txBody>
      </p:sp>
      <p:sp>
        <p:nvSpPr>
          <p:cNvPr id="31752" name="Rectangle 11">
            <a:extLst>
              <a:ext uri="{FF2B5EF4-FFF2-40B4-BE49-F238E27FC236}">
                <a16:creationId xmlns:a16="http://schemas.microsoft.com/office/drawing/2014/main" id="{A596E658-9693-1706-27D6-68D15822BD20}"/>
              </a:ext>
            </a:extLst>
          </p:cNvPr>
          <p:cNvSpPr>
            <a:spLocks noChangeArrowheads="1"/>
          </p:cNvSpPr>
          <p:nvPr/>
        </p:nvSpPr>
        <p:spPr bwMode="auto">
          <a:xfrm>
            <a:off x="1906588" y="2735263"/>
            <a:ext cx="379412"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b="1">
                <a:latin typeface="Times New Roman" panose="02020603050405020304" pitchFamily="18" charset="0"/>
              </a:rPr>
              <a:t>N</a:t>
            </a:r>
          </a:p>
        </p:txBody>
      </p:sp>
      <p:sp>
        <p:nvSpPr>
          <p:cNvPr id="31753" name="Line 12">
            <a:extLst>
              <a:ext uri="{FF2B5EF4-FFF2-40B4-BE49-F238E27FC236}">
                <a16:creationId xmlns:a16="http://schemas.microsoft.com/office/drawing/2014/main" id="{A387B9D2-6014-24B0-439D-655D12ED4B68}"/>
              </a:ext>
            </a:extLst>
          </p:cNvPr>
          <p:cNvSpPr>
            <a:spLocks noChangeShapeType="1"/>
          </p:cNvSpPr>
          <p:nvPr/>
        </p:nvSpPr>
        <p:spPr bwMode="auto">
          <a:xfrm>
            <a:off x="2378075" y="2657475"/>
            <a:ext cx="0" cy="38735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54" name="Rectangle 13">
            <a:extLst>
              <a:ext uri="{FF2B5EF4-FFF2-40B4-BE49-F238E27FC236}">
                <a16:creationId xmlns:a16="http://schemas.microsoft.com/office/drawing/2014/main" id="{9F956785-8ADC-35E3-07B7-444EA723744F}"/>
              </a:ext>
            </a:extLst>
          </p:cNvPr>
          <p:cNvSpPr>
            <a:spLocks noChangeArrowheads="1"/>
          </p:cNvSpPr>
          <p:nvPr/>
        </p:nvSpPr>
        <p:spPr bwMode="auto">
          <a:xfrm>
            <a:off x="1612900" y="3121025"/>
            <a:ext cx="17399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b="1">
                <a:latin typeface="Times New Roman" panose="02020603050405020304" pitchFamily="18" charset="0"/>
              </a:rPr>
              <a:t>CPU</a:t>
            </a:r>
            <a:r>
              <a:rPr lang="zh-CN" altLang="en-US" sz="2000" b="1">
                <a:latin typeface="Times New Roman" panose="02020603050405020304" pitchFamily="18" charset="0"/>
              </a:rPr>
              <a:t>检索快表</a:t>
            </a:r>
          </a:p>
        </p:txBody>
      </p:sp>
      <p:sp>
        <p:nvSpPr>
          <p:cNvPr id="31755" name="Rectangle 14">
            <a:extLst>
              <a:ext uri="{FF2B5EF4-FFF2-40B4-BE49-F238E27FC236}">
                <a16:creationId xmlns:a16="http://schemas.microsoft.com/office/drawing/2014/main" id="{174F6C6A-E4D1-E546-226C-8BC142C205D1}"/>
              </a:ext>
            </a:extLst>
          </p:cNvPr>
          <p:cNvSpPr>
            <a:spLocks noChangeArrowheads="1"/>
          </p:cNvSpPr>
          <p:nvPr/>
        </p:nvSpPr>
        <p:spPr bwMode="auto">
          <a:xfrm>
            <a:off x="3963988" y="3665538"/>
            <a:ext cx="37941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b="1">
                <a:latin typeface="Times New Roman" panose="02020603050405020304" pitchFamily="18" charset="0"/>
              </a:rPr>
              <a:t>Y</a:t>
            </a:r>
          </a:p>
        </p:txBody>
      </p:sp>
      <p:sp>
        <p:nvSpPr>
          <p:cNvPr id="31756" name="Line 15">
            <a:extLst>
              <a:ext uri="{FF2B5EF4-FFF2-40B4-BE49-F238E27FC236}">
                <a16:creationId xmlns:a16="http://schemas.microsoft.com/office/drawing/2014/main" id="{4E1BC5E4-AAE1-B526-2FD0-9BA8C6845507}"/>
              </a:ext>
            </a:extLst>
          </p:cNvPr>
          <p:cNvSpPr>
            <a:spLocks noChangeShapeType="1"/>
          </p:cNvSpPr>
          <p:nvPr/>
        </p:nvSpPr>
        <p:spPr bwMode="auto">
          <a:xfrm flipH="1">
            <a:off x="4572000" y="5070475"/>
            <a:ext cx="0" cy="339725"/>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57" name="Rectangle 16">
            <a:extLst>
              <a:ext uri="{FF2B5EF4-FFF2-40B4-BE49-F238E27FC236}">
                <a16:creationId xmlns:a16="http://schemas.microsoft.com/office/drawing/2014/main" id="{959FE1CB-2F45-3D28-1C47-7182DD49C863}"/>
              </a:ext>
            </a:extLst>
          </p:cNvPr>
          <p:cNvSpPr>
            <a:spLocks noChangeArrowheads="1"/>
          </p:cNvSpPr>
          <p:nvPr/>
        </p:nvSpPr>
        <p:spPr bwMode="auto">
          <a:xfrm>
            <a:off x="6310313" y="4154488"/>
            <a:ext cx="1081087"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修改快表</a:t>
            </a:r>
          </a:p>
        </p:txBody>
      </p:sp>
      <p:sp>
        <p:nvSpPr>
          <p:cNvPr id="31758" name="Line 17">
            <a:extLst>
              <a:ext uri="{FF2B5EF4-FFF2-40B4-BE49-F238E27FC236}">
                <a16:creationId xmlns:a16="http://schemas.microsoft.com/office/drawing/2014/main" id="{B3CDA934-0795-856C-2EEC-0F3E2ADC4BF8}"/>
              </a:ext>
            </a:extLst>
          </p:cNvPr>
          <p:cNvSpPr>
            <a:spLocks noChangeShapeType="1"/>
          </p:cNvSpPr>
          <p:nvPr/>
        </p:nvSpPr>
        <p:spPr bwMode="auto">
          <a:xfrm>
            <a:off x="3048000" y="4876800"/>
            <a:ext cx="903288"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59" name="Rectangle 18">
            <a:extLst>
              <a:ext uri="{FF2B5EF4-FFF2-40B4-BE49-F238E27FC236}">
                <a16:creationId xmlns:a16="http://schemas.microsoft.com/office/drawing/2014/main" id="{DC41B2AF-DC9B-E3B9-CBCF-72CE7209C91C}"/>
              </a:ext>
            </a:extLst>
          </p:cNvPr>
          <p:cNvSpPr>
            <a:spLocks noChangeArrowheads="1"/>
          </p:cNvSpPr>
          <p:nvPr/>
        </p:nvSpPr>
        <p:spPr bwMode="auto">
          <a:xfrm>
            <a:off x="1550988" y="3886200"/>
            <a:ext cx="21066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页表项在快表中？</a:t>
            </a:r>
          </a:p>
        </p:txBody>
      </p:sp>
      <p:sp>
        <p:nvSpPr>
          <p:cNvPr id="31760" name="Line 19">
            <a:extLst>
              <a:ext uri="{FF2B5EF4-FFF2-40B4-BE49-F238E27FC236}">
                <a16:creationId xmlns:a16="http://schemas.microsoft.com/office/drawing/2014/main" id="{F74D4FD2-799F-47CD-28A1-95655F137E58}"/>
              </a:ext>
            </a:extLst>
          </p:cNvPr>
          <p:cNvSpPr>
            <a:spLocks noChangeShapeType="1"/>
          </p:cNvSpPr>
          <p:nvPr/>
        </p:nvSpPr>
        <p:spPr bwMode="auto">
          <a:xfrm>
            <a:off x="2378075" y="3470275"/>
            <a:ext cx="0" cy="388938"/>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61" name="Rectangle 20">
            <a:extLst>
              <a:ext uri="{FF2B5EF4-FFF2-40B4-BE49-F238E27FC236}">
                <a16:creationId xmlns:a16="http://schemas.microsoft.com/office/drawing/2014/main" id="{8BB0231D-5468-9F81-2480-1978244D6A6E}"/>
              </a:ext>
            </a:extLst>
          </p:cNvPr>
          <p:cNvSpPr>
            <a:spLocks noChangeArrowheads="1"/>
          </p:cNvSpPr>
          <p:nvPr/>
        </p:nvSpPr>
        <p:spPr bwMode="auto">
          <a:xfrm>
            <a:off x="3854450" y="5465763"/>
            <a:ext cx="1631950"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产生缺页中断</a:t>
            </a:r>
          </a:p>
        </p:txBody>
      </p:sp>
      <p:sp>
        <p:nvSpPr>
          <p:cNvPr id="31762" name="Rectangle 21">
            <a:extLst>
              <a:ext uri="{FF2B5EF4-FFF2-40B4-BE49-F238E27FC236}">
                <a16:creationId xmlns:a16="http://schemas.microsoft.com/office/drawing/2014/main" id="{AF3DB3C4-FA8D-BDC6-1397-249094C4586F}"/>
              </a:ext>
            </a:extLst>
          </p:cNvPr>
          <p:cNvSpPr>
            <a:spLocks noChangeArrowheads="1"/>
          </p:cNvSpPr>
          <p:nvPr/>
        </p:nvSpPr>
        <p:spPr bwMode="auto">
          <a:xfrm>
            <a:off x="2590800" y="4335463"/>
            <a:ext cx="379413"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N</a:t>
            </a:r>
          </a:p>
        </p:txBody>
      </p:sp>
      <p:sp>
        <p:nvSpPr>
          <p:cNvPr id="31763" name="Line 22">
            <a:extLst>
              <a:ext uri="{FF2B5EF4-FFF2-40B4-BE49-F238E27FC236}">
                <a16:creationId xmlns:a16="http://schemas.microsoft.com/office/drawing/2014/main" id="{CB861D4C-A14D-9FD8-2F34-F8E0CD8DBAC5}"/>
              </a:ext>
            </a:extLst>
          </p:cNvPr>
          <p:cNvSpPr>
            <a:spLocks noChangeShapeType="1"/>
          </p:cNvSpPr>
          <p:nvPr/>
        </p:nvSpPr>
        <p:spPr bwMode="auto">
          <a:xfrm>
            <a:off x="2360613" y="4271963"/>
            <a:ext cx="0" cy="388937"/>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64" name="Rectangle 23">
            <a:extLst>
              <a:ext uri="{FF2B5EF4-FFF2-40B4-BE49-F238E27FC236}">
                <a16:creationId xmlns:a16="http://schemas.microsoft.com/office/drawing/2014/main" id="{BB31F808-8DEA-271A-27E0-567176A1FE6F}"/>
              </a:ext>
            </a:extLst>
          </p:cNvPr>
          <p:cNvSpPr>
            <a:spLocks noChangeArrowheads="1"/>
          </p:cNvSpPr>
          <p:nvPr/>
        </p:nvSpPr>
        <p:spPr bwMode="auto">
          <a:xfrm>
            <a:off x="1822450" y="4724400"/>
            <a:ext cx="1301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访问页表</a:t>
            </a:r>
          </a:p>
        </p:txBody>
      </p:sp>
      <p:sp>
        <p:nvSpPr>
          <p:cNvPr id="31765" name="Rectangle 24">
            <a:extLst>
              <a:ext uri="{FF2B5EF4-FFF2-40B4-BE49-F238E27FC236}">
                <a16:creationId xmlns:a16="http://schemas.microsoft.com/office/drawing/2014/main" id="{B7333F0D-3D1A-1C78-01B9-E523EA1295C7}"/>
              </a:ext>
            </a:extLst>
          </p:cNvPr>
          <p:cNvSpPr>
            <a:spLocks noChangeArrowheads="1"/>
          </p:cNvSpPr>
          <p:nvPr/>
        </p:nvSpPr>
        <p:spPr bwMode="auto">
          <a:xfrm>
            <a:off x="4419600" y="2362200"/>
            <a:ext cx="139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越界中断</a:t>
            </a:r>
          </a:p>
        </p:txBody>
      </p:sp>
      <p:sp>
        <p:nvSpPr>
          <p:cNvPr id="31766" name="Line 25">
            <a:extLst>
              <a:ext uri="{FF2B5EF4-FFF2-40B4-BE49-F238E27FC236}">
                <a16:creationId xmlns:a16="http://schemas.microsoft.com/office/drawing/2014/main" id="{1CC4E32D-77BC-AAEF-35EF-BB6F614D9CDD}"/>
              </a:ext>
            </a:extLst>
          </p:cNvPr>
          <p:cNvSpPr>
            <a:spLocks noChangeShapeType="1"/>
          </p:cNvSpPr>
          <p:nvPr/>
        </p:nvSpPr>
        <p:spPr bwMode="auto">
          <a:xfrm flipH="1">
            <a:off x="3554413" y="4038600"/>
            <a:ext cx="3379787" cy="0"/>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1767" name="Rectangle 26">
            <a:extLst>
              <a:ext uri="{FF2B5EF4-FFF2-40B4-BE49-F238E27FC236}">
                <a16:creationId xmlns:a16="http://schemas.microsoft.com/office/drawing/2014/main" id="{272BA0DB-AEBC-11B1-7F1B-6C638DDC4D34}"/>
              </a:ext>
            </a:extLst>
          </p:cNvPr>
          <p:cNvSpPr>
            <a:spLocks noChangeArrowheads="1"/>
          </p:cNvSpPr>
          <p:nvPr/>
        </p:nvSpPr>
        <p:spPr bwMode="auto">
          <a:xfrm>
            <a:off x="4724400" y="5097463"/>
            <a:ext cx="304800"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N</a:t>
            </a:r>
          </a:p>
        </p:txBody>
      </p:sp>
      <p:sp>
        <p:nvSpPr>
          <p:cNvPr id="31768" name="Rectangle 27">
            <a:extLst>
              <a:ext uri="{FF2B5EF4-FFF2-40B4-BE49-F238E27FC236}">
                <a16:creationId xmlns:a16="http://schemas.microsoft.com/office/drawing/2014/main" id="{548FF0FA-5C50-95DA-0272-A96BE09E5E2C}"/>
              </a:ext>
            </a:extLst>
          </p:cNvPr>
          <p:cNvSpPr>
            <a:spLocks noChangeArrowheads="1"/>
          </p:cNvSpPr>
          <p:nvPr/>
        </p:nvSpPr>
        <p:spPr bwMode="auto">
          <a:xfrm>
            <a:off x="5913438" y="4454525"/>
            <a:ext cx="37941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Y</a:t>
            </a:r>
          </a:p>
        </p:txBody>
      </p:sp>
      <p:sp>
        <p:nvSpPr>
          <p:cNvPr id="31769" name="Line 28">
            <a:extLst>
              <a:ext uri="{FF2B5EF4-FFF2-40B4-BE49-F238E27FC236}">
                <a16:creationId xmlns:a16="http://schemas.microsoft.com/office/drawing/2014/main" id="{F35CFC54-4150-8A77-FCD6-FF841B50D87A}"/>
              </a:ext>
            </a:extLst>
          </p:cNvPr>
          <p:cNvSpPr>
            <a:spLocks noChangeShapeType="1"/>
          </p:cNvSpPr>
          <p:nvPr/>
        </p:nvSpPr>
        <p:spPr bwMode="auto">
          <a:xfrm flipH="1">
            <a:off x="5375275" y="4857750"/>
            <a:ext cx="1482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0" name="Line 29">
            <a:extLst>
              <a:ext uri="{FF2B5EF4-FFF2-40B4-BE49-F238E27FC236}">
                <a16:creationId xmlns:a16="http://schemas.microsoft.com/office/drawing/2014/main" id="{855CA517-52B5-925B-298C-ADF411430306}"/>
              </a:ext>
            </a:extLst>
          </p:cNvPr>
          <p:cNvSpPr>
            <a:spLocks noChangeShapeType="1"/>
          </p:cNvSpPr>
          <p:nvPr/>
        </p:nvSpPr>
        <p:spPr bwMode="auto">
          <a:xfrm>
            <a:off x="6858000" y="4478338"/>
            <a:ext cx="0" cy="388937"/>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1771" name="Line 30">
            <a:extLst>
              <a:ext uri="{FF2B5EF4-FFF2-40B4-BE49-F238E27FC236}">
                <a16:creationId xmlns:a16="http://schemas.microsoft.com/office/drawing/2014/main" id="{C7301486-60E4-5C82-6D41-A9E802920D76}"/>
              </a:ext>
            </a:extLst>
          </p:cNvPr>
          <p:cNvSpPr>
            <a:spLocks noChangeShapeType="1"/>
          </p:cNvSpPr>
          <p:nvPr/>
        </p:nvSpPr>
        <p:spPr bwMode="auto">
          <a:xfrm>
            <a:off x="6934200" y="3762375"/>
            <a:ext cx="0" cy="388938"/>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1772" name="Rectangle 31">
            <a:extLst>
              <a:ext uri="{FF2B5EF4-FFF2-40B4-BE49-F238E27FC236}">
                <a16:creationId xmlns:a16="http://schemas.microsoft.com/office/drawing/2014/main" id="{896FB263-FD7B-2851-DA3F-B0EB16A8ED5D}"/>
              </a:ext>
            </a:extLst>
          </p:cNvPr>
          <p:cNvSpPr>
            <a:spLocks noChangeArrowheads="1"/>
          </p:cNvSpPr>
          <p:nvPr/>
        </p:nvSpPr>
        <p:spPr bwMode="auto">
          <a:xfrm>
            <a:off x="5943600" y="3429000"/>
            <a:ext cx="2514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修改访问位和修改位</a:t>
            </a:r>
          </a:p>
        </p:txBody>
      </p:sp>
      <p:sp>
        <p:nvSpPr>
          <p:cNvPr id="31773" name="Rectangle 32">
            <a:extLst>
              <a:ext uri="{FF2B5EF4-FFF2-40B4-BE49-F238E27FC236}">
                <a16:creationId xmlns:a16="http://schemas.microsoft.com/office/drawing/2014/main" id="{B8CEB9BA-0DFC-0F3C-3FCD-BB9170A3FF62}"/>
              </a:ext>
            </a:extLst>
          </p:cNvPr>
          <p:cNvSpPr>
            <a:spLocks noChangeArrowheads="1"/>
          </p:cNvSpPr>
          <p:nvPr/>
        </p:nvSpPr>
        <p:spPr bwMode="auto">
          <a:xfrm>
            <a:off x="6096000" y="2671763"/>
            <a:ext cx="1751013"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形成物理地址</a:t>
            </a:r>
          </a:p>
        </p:txBody>
      </p:sp>
      <p:sp>
        <p:nvSpPr>
          <p:cNvPr id="31774" name="Line 33">
            <a:extLst>
              <a:ext uri="{FF2B5EF4-FFF2-40B4-BE49-F238E27FC236}">
                <a16:creationId xmlns:a16="http://schemas.microsoft.com/office/drawing/2014/main" id="{62427335-4F5B-456D-966D-CCCE433B33A9}"/>
              </a:ext>
            </a:extLst>
          </p:cNvPr>
          <p:cNvSpPr>
            <a:spLocks noChangeShapeType="1"/>
          </p:cNvSpPr>
          <p:nvPr/>
        </p:nvSpPr>
        <p:spPr bwMode="auto">
          <a:xfrm>
            <a:off x="6969125" y="3008313"/>
            <a:ext cx="0" cy="388937"/>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1775" name="Line 34">
            <a:extLst>
              <a:ext uri="{FF2B5EF4-FFF2-40B4-BE49-F238E27FC236}">
                <a16:creationId xmlns:a16="http://schemas.microsoft.com/office/drawing/2014/main" id="{59AA26F3-156E-865F-2815-4B6E28575047}"/>
              </a:ext>
            </a:extLst>
          </p:cNvPr>
          <p:cNvSpPr>
            <a:spLocks noChangeShapeType="1"/>
          </p:cNvSpPr>
          <p:nvPr/>
        </p:nvSpPr>
        <p:spPr bwMode="auto">
          <a:xfrm>
            <a:off x="2566988" y="2817813"/>
            <a:ext cx="758825" cy="0"/>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1776" name="Rectangle 35">
            <a:extLst>
              <a:ext uri="{FF2B5EF4-FFF2-40B4-BE49-F238E27FC236}">
                <a16:creationId xmlns:a16="http://schemas.microsoft.com/office/drawing/2014/main" id="{894A2C13-6659-88CA-BE86-C6F6AAD6F0E7}"/>
              </a:ext>
            </a:extLst>
          </p:cNvPr>
          <p:cNvSpPr>
            <a:spLocks noChangeArrowheads="1"/>
          </p:cNvSpPr>
          <p:nvPr/>
        </p:nvSpPr>
        <p:spPr bwMode="auto">
          <a:xfrm>
            <a:off x="3497263" y="2667000"/>
            <a:ext cx="465137" cy="354013"/>
          </a:xfrm>
          <a:prstGeom prst="rect">
            <a:avLst/>
          </a:prstGeom>
          <a:noFill/>
          <a:ln w="28575">
            <a:solidFill>
              <a:srgbClr val="9900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just" eaLnBrk="0" hangingPunct="0">
              <a:spcBef>
                <a:spcPct val="0"/>
              </a:spcBef>
              <a:buClrTx/>
              <a:buSzTx/>
              <a:buFontTx/>
              <a:buNone/>
            </a:pPr>
            <a:r>
              <a:rPr lang="en-US" altLang="zh-CN" sz="2000" b="1">
                <a:latin typeface="Times New Roman" panose="02020603050405020304" pitchFamily="18" charset="0"/>
              </a:rPr>
              <a:t>  </a:t>
            </a:r>
            <a:r>
              <a:rPr lang="en-US" altLang="zh-CN" sz="2000" b="1">
                <a:solidFill>
                  <a:srgbClr val="9900CC"/>
                </a:solidFill>
                <a:latin typeface="Times New Roman" panose="02020603050405020304" pitchFamily="18" charset="0"/>
              </a:rPr>
              <a:t>A</a:t>
            </a:r>
          </a:p>
        </p:txBody>
      </p:sp>
    </p:spTree>
  </p:cSld>
  <p:clrMapOvr>
    <a:masterClrMapping/>
  </p:clrMapOvr>
  <p:transition spd="med">
    <p:zoom/>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FF053A2E-D06F-FE36-73DD-AF301414304B}"/>
              </a:ext>
            </a:extLst>
          </p:cNvPr>
          <p:cNvSpPr>
            <a:spLocks noGrp="1" noChangeArrowheads="1"/>
          </p:cNvSpPr>
          <p:nvPr>
            <p:ph type="title"/>
          </p:nvPr>
        </p:nvSpPr>
        <p:spPr/>
        <p:txBody>
          <a:bodyPr/>
          <a:lstStyle/>
          <a:p>
            <a:pPr eaLnBrk="1" hangingPunct="1"/>
            <a:r>
              <a:rPr lang="zh-CN" altLang="en-US"/>
              <a:t>缺页处理流程</a:t>
            </a:r>
          </a:p>
        </p:txBody>
      </p:sp>
      <p:sp>
        <p:nvSpPr>
          <p:cNvPr id="32770" name="Rectangle 5">
            <a:extLst>
              <a:ext uri="{FF2B5EF4-FFF2-40B4-BE49-F238E27FC236}">
                <a16:creationId xmlns:a16="http://schemas.microsoft.com/office/drawing/2014/main" id="{AA4EB73D-CCA0-5475-ED1D-F560E8293646}"/>
              </a:ext>
            </a:extLst>
          </p:cNvPr>
          <p:cNvSpPr>
            <a:spLocks noChangeArrowheads="1"/>
          </p:cNvSpPr>
          <p:nvPr/>
        </p:nvSpPr>
        <p:spPr bwMode="auto">
          <a:xfrm>
            <a:off x="1517650" y="1676400"/>
            <a:ext cx="1682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缺页中断处理</a:t>
            </a:r>
          </a:p>
        </p:txBody>
      </p:sp>
      <p:sp>
        <p:nvSpPr>
          <p:cNvPr id="32771" name="Rectangle 6">
            <a:extLst>
              <a:ext uri="{FF2B5EF4-FFF2-40B4-BE49-F238E27FC236}">
                <a16:creationId xmlns:a16="http://schemas.microsoft.com/office/drawing/2014/main" id="{E1A86549-6B0E-608B-C237-ECC3653F7013}"/>
              </a:ext>
            </a:extLst>
          </p:cNvPr>
          <p:cNvSpPr>
            <a:spLocks noChangeArrowheads="1"/>
          </p:cNvSpPr>
          <p:nvPr/>
        </p:nvSpPr>
        <p:spPr bwMode="auto">
          <a:xfrm>
            <a:off x="1549400" y="2471738"/>
            <a:ext cx="180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保留</a:t>
            </a:r>
            <a:r>
              <a:rPr lang="en-US" altLang="zh-CN" sz="2000" b="1">
                <a:latin typeface="Times New Roman" panose="02020603050405020304" pitchFamily="18" charset="0"/>
              </a:rPr>
              <a:t>CPU</a:t>
            </a:r>
            <a:r>
              <a:rPr lang="zh-CN" altLang="en-US" sz="2000" b="1">
                <a:latin typeface="Times New Roman" panose="02020603050405020304" pitchFamily="18" charset="0"/>
              </a:rPr>
              <a:t>现场</a:t>
            </a:r>
          </a:p>
        </p:txBody>
      </p:sp>
      <p:sp>
        <p:nvSpPr>
          <p:cNvPr id="32772" name="Line 7">
            <a:extLst>
              <a:ext uri="{FF2B5EF4-FFF2-40B4-BE49-F238E27FC236}">
                <a16:creationId xmlns:a16="http://schemas.microsoft.com/office/drawing/2014/main" id="{24C23A71-94B7-E259-0ABC-20F9E74B04A5}"/>
              </a:ext>
            </a:extLst>
          </p:cNvPr>
          <p:cNvSpPr>
            <a:spLocks noChangeShapeType="1"/>
          </p:cNvSpPr>
          <p:nvPr/>
        </p:nvSpPr>
        <p:spPr bwMode="auto">
          <a:xfrm>
            <a:off x="2298700" y="2079625"/>
            <a:ext cx="0" cy="382588"/>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2773" name="Rectangle 8">
            <a:extLst>
              <a:ext uri="{FF2B5EF4-FFF2-40B4-BE49-F238E27FC236}">
                <a16:creationId xmlns:a16="http://schemas.microsoft.com/office/drawing/2014/main" id="{77A40E1E-7061-025C-B363-3CEA05E4BACC}"/>
              </a:ext>
            </a:extLst>
          </p:cNvPr>
          <p:cNvSpPr>
            <a:spLocks noChangeArrowheads="1"/>
          </p:cNvSpPr>
          <p:nvPr/>
        </p:nvSpPr>
        <p:spPr bwMode="auto">
          <a:xfrm>
            <a:off x="3816350" y="5254625"/>
            <a:ext cx="195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该页被修改否？</a:t>
            </a:r>
          </a:p>
        </p:txBody>
      </p:sp>
      <p:sp>
        <p:nvSpPr>
          <p:cNvPr id="32774" name="Line 9">
            <a:extLst>
              <a:ext uri="{FF2B5EF4-FFF2-40B4-BE49-F238E27FC236}">
                <a16:creationId xmlns:a16="http://schemas.microsoft.com/office/drawing/2014/main" id="{3DEFC325-6E0F-1F41-BA7F-884064E8EE3C}"/>
              </a:ext>
            </a:extLst>
          </p:cNvPr>
          <p:cNvSpPr>
            <a:spLocks noChangeShapeType="1"/>
          </p:cNvSpPr>
          <p:nvPr/>
        </p:nvSpPr>
        <p:spPr bwMode="auto">
          <a:xfrm>
            <a:off x="2268538" y="2828925"/>
            <a:ext cx="0" cy="452438"/>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2775" name="Rectangle 10">
            <a:extLst>
              <a:ext uri="{FF2B5EF4-FFF2-40B4-BE49-F238E27FC236}">
                <a16:creationId xmlns:a16="http://schemas.microsoft.com/office/drawing/2014/main" id="{E23E0B55-ED14-2622-4EFA-569EBF1797FE}"/>
              </a:ext>
            </a:extLst>
          </p:cNvPr>
          <p:cNvSpPr>
            <a:spLocks noChangeArrowheads="1"/>
          </p:cNvSpPr>
          <p:nvPr/>
        </p:nvSpPr>
        <p:spPr bwMode="auto">
          <a:xfrm>
            <a:off x="1219200" y="3357563"/>
            <a:ext cx="2209800"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从外存中找到缺页</a:t>
            </a:r>
          </a:p>
        </p:txBody>
      </p:sp>
      <p:sp>
        <p:nvSpPr>
          <p:cNvPr id="32776" name="Rectangle 11">
            <a:extLst>
              <a:ext uri="{FF2B5EF4-FFF2-40B4-BE49-F238E27FC236}">
                <a16:creationId xmlns:a16="http://schemas.microsoft.com/office/drawing/2014/main" id="{1DE5080B-076F-27F0-592B-E879CACA2E30}"/>
              </a:ext>
            </a:extLst>
          </p:cNvPr>
          <p:cNvSpPr>
            <a:spLocks noChangeArrowheads="1"/>
          </p:cNvSpPr>
          <p:nvPr/>
        </p:nvSpPr>
        <p:spPr bwMode="auto">
          <a:xfrm>
            <a:off x="3505200" y="4071938"/>
            <a:ext cx="32702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b="1">
                <a:latin typeface="Times New Roman" panose="02020603050405020304" pitchFamily="18" charset="0"/>
              </a:rPr>
              <a:t>N</a:t>
            </a:r>
          </a:p>
        </p:txBody>
      </p:sp>
      <p:sp>
        <p:nvSpPr>
          <p:cNvPr id="32777" name="Line 12">
            <a:extLst>
              <a:ext uri="{FF2B5EF4-FFF2-40B4-BE49-F238E27FC236}">
                <a16:creationId xmlns:a16="http://schemas.microsoft.com/office/drawing/2014/main" id="{46922080-3086-64C2-C417-7853E992AC04}"/>
              </a:ext>
            </a:extLst>
          </p:cNvPr>
          <p:cNvSpPr>
            <a:spLocks noChangeShapeType="1"/>
          </p:cNvSpPr>
          <p:nvPr/>
        </p:nvSpPr>
        <p:spPr bwMode="auto">
          <a:xfrm flipV="1">
            <a:off x="4495800" y="4419600"/>
            <a:ext cx="0" cy="76200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2778" name="Rectangle 13">
            <a:extLst>
              <a:ext uri="{FF2B5EF4-FFF2-40B4-BE49-F238E27FC236}">
                <a16:creationId xmlns:a16="http://schemas.microsoft.com/office/drawing/2014/main" id="{9A51CCF3-B1DF-5B12-007A-E0A3834398FA}"/>
              </a:ext>
            </a:extLst>
          </p:cNvPr>
          <p:cNvSpPr>
            <a:spLocks noChangeArrowheads="1"/>
          </p:cNvSpPr>
          <p:nvPr/>
        </p:nvSpPr>
        <p:spPr bwMode="auto">
          <a:xfrm>
            <a:off x="5397500" y="4633913"/>
            <a:ext cx="199390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将该页写回外存</a:t>
            </a:r>
          </a:p>
        </p:txBody>
      </p:sp>
      <p:sp>
        <p:nvSpPr>
          <p:cNvPr id="32779" name="Line 14">
            <a:extLst>
              <a:ext uri="{FF2B5EF4-FFF2-40B4-BE49-F238E27FC236}">
                <a16:creationId xmlns:a16="http://schemas.microsoft.com/office/drawing/2014/main" id="{79C40D1C-7DBA-FB6F-182D-DFC3EF8E1F52}"/>
              </a:ext>
            </a:extLst>
          </p:cNvPr>
          <p:cNvSpPr>
            <a:spLocks noChangeShapeType="1"/>
          </p:cNvSpPr>
          <p:nvPr/>
        </p:nvSpPr>
        <p:spPr bwMode="auto">
          <a:xfrm>
            <a:off x="3082925" y="5373688"/>
            <a:ext cx="650875" cy="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2780" name="Rectangle 15">
            <a:extLst>
              <a:ext uri="{FF2B5EF4-FFF2-40B4-BE49-F238E27FC236}">
                <a16:creationId xmlns:a16="http://schemas.microsoft.com/office/drawing/2014/main" id="{24CDD91C-3A17-AD48-8588-926F908916F3}"/>
              </a:ext>
            </a:extLst>
          </p:cNvPr>
          <p:cNvSpPr>
            <a:spLocks noChangeArrowheads="1"/>
          </p:cNvSpPr>
          <p:nvPr/>
        </p:nvSpPr>
        <p:spPr bwMode="auto">
          <a:xfrm>
            <a:off x="1752600" y="4246563"/>
            <a:ext cx="1357313"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内存满否？</a:t>
            </a:r>
          </a:p>
        </p:txBody>
      </p:sp>
      <p:sp>
        <p:nvSpPr>
          <p:cNvPr id="32781" name="Line 16">
            <a:extLst>
              <a:ext uri="{FF2B5EF4-FFF2-40B4-BE49-F238E27FC236}">
                <a16:creationId xmlns:a16="http://schemas.microsoft.com/office/drawing/2014/main" id="{78DEE66B-1347-D2ED-8936-4EC34AA16F12}"/>
              </a:ext>
            </a:extLst>
          </p:cNvPr>
          <p:cNvSpPr>
            <a:spLocks noChangeShapeType="1"/>
          </p:cNvSpPr>
          <p:nvPr/>
        </p:nvSpPr>
        <p:spPr bwMode="auto">
          <a:xfrm>
            <a:off x="2268538" y="3775075"/>
            <a:ext cx="0" cy="45085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2782" name="Rectangle 17">
            <a:extLst>
              <a:ext uri="{FF2B5EF4-FFF2-40B4-BE49-F238E27FC236}">
                <a16:creationId xmlns:a16="http://schemas.microsoft.com/office/drawing/2014/main" id="{AAB937C4-7666-781F-93D1-ADF3BA1D0499}"/>
              </a:ext>
            </a:extLst>
          </p:cNvPr>
          <p:cNvSpPr>
            <a:spLocks noChangeArrowheads="1"/>
          </p:cNvSpPr>
          <p:nvPr/>
        </p:nvSpPr>
        <p:spPr bwMode="auto">
          <a:xfrm>
            <a:off x="2362200" y="4652963"/>
            <a:ext cx="325438"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b="1">
                <a:latin typeface="Times New Roman" panose="02020603050405020304" pitchFamily="18" charset="0"/>
              </a:rPr>
              <a:t>Y</a:t>
            </a:r>
          </a:p>
        </p:txBody>
      </p:sp>
      <p:sp>
        <p:nvSpPr>
          <p:cNvPr id="32783" name="Line 18">
            <a:extLst>
              <a:ext uri="{FF2B5EF4-FFF2-40B4-BE49-F238E27FC236}">
                <a16:creationId xmlns:a16="http://schemas.microsoft.com/office/drawing/2014/main" id="{8C5A1757-B310-D8B1-C2D0-953D059B4405}"/>
              </a:ext>
            </a:extLst>
          </p:cNvPr>
          <p:cNvSpPr>
            <a:spLocks noChangeShapeType="1"/>
          </p:cNvSpPr>
          <p:nvPr/>
        </p:nvSpPr>
        <p:spPr bwMode="auto">
          <a:xfrm>
            <a:off x="2254250" y="4706938"/>
            <a:ext cx="0" cy="45243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2784" name="Rectangle 19">
            <a:extLst>
              <a:ext uri="{FF2B5EF4-FFF2-40B4-BE49-F238E27FC236}">
                <a16:creationId xmlns:a16="http://schemas.microsoft.com/office/drawing/2014/main" id="{2627CEF4-EBE1-53FE-5351-E218D2AA97C5}"/>
              </a:ext>
            </a:extLst>
          </p:cNvPr>
          <p:cNvSpPr>
            <a:spLocks noChangeArrowheads="1"/>
          </p:cNvSpPr>
          <p:nvPr/>
        </p:nvSpPr>
        <p:spPr bwMode="auto">
          <a:xfrm>
            <a:off x="1439863" y="5238750"/>
            <a:ext cx="16383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选择一页换出</a:t>
            </a:r>
          </a:p>
        </p:txBody>
      </p:sp>
      <p:sp>
        <p:nvSpPr>
          <p:cNvPr id="32785" name="Line 20">
            <a:extLst>
              <a:ext uri="{FF2B5EF4-FFF2-40B4-BE49-F238E27FC236}">
                <a16:creationId xmlns:a16="http://schemas.microsoft.com/office/drawing/2014/main" id="{6FC47C77-CAEF-E588-F936-0BBEE1A289D3}"/>
              </a:ext>
            </a:extLst>
          </p:cNvPr>
          <p:cNvSpPr>
            <a:spLocks noChangeShapeType="1"/>
          </p:cNvSpPr>
          <p:nvPr/>
        </p:nvSpPr>
        <p:spPr bwMode="auto">
          <a:xfrm flipH="1">
            <a:off x="3048000" y="4419600"/>
            <a:ext cx="2962275" cy="12700"/>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2786" name="Rectangle 21">
            <a:extLst>
              <a:ext uri="{FF2B5EF4-FFF2-40B4-BE49-F238E27FC236}">
                <a16:creationId xmlns:a16="http://schemas.microsoft.com/office/drawing/2014/main" id="{0D8D58CF-69EA-467A-F70A-3ACC06059AF8}"/>
              </a:ext>
            </a:extLst>
          </p:cNvPr>
          <p:cNvSpPr>
            <a:spLocks noChangeArrowheads="1"/>
          </p:cNvSpPr>
          <p:nvPr/>
        </p:nvSpPr>
        <p:spPr bwMode="auto">
          <a:xfrm>
            <a:off x="4168775" y="4749800"/>
            <a:ext cx="32702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b="1">
                <a:latin typeface="Times New Roman" panose="02020603050405020304" pitchFamily="18" charset="0"/>
              </a:rPr>
              <a:t>N</a:t>
            </a:r>
          </a:p>
        </p:txBody>
      </p:sp>
      <p:sp>
        <p:nvSpPr>
          <p:cNvPr id="32787" name="Rectangle 22">
            <a:extLst>
              <a:ext uri="{FF2B5EF4-FFF2-40B4-BE49-F238E27FC236}">
                <a16:creationId xmlns:a16="http://schemas.microsoft.com/office/drawing/2014/main" id="{46AB4CD5-C914-E562-D3CA-69BFA95F2A22}"/>
              </a:ext>
            </a:extLst>
          </p:cNvPr>
          <p:cNvSpPr>
            <a:spLocks noChangeArrowheads="1"/>
          </p:cNvSpPr>
          <p:nvPr/>
        </p:nvSpPr>
        <p:spPr bwMode="auto">
          <a:xfrm>
            <a:off x="5738813" y="4986338"/>
            <a:ext cx="325437"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b="1">
                <a:latin typeface="Times New Roman" panose="02020603050405020304" pitchFamily="18" charset="0"/>
              </a:rPr>
              <a:t>Y</a:t>
            </a:r>
          </a:p>
        </p:txBody>
      </p:sp>
      <p:sp>
        <p:nvSpPr>
          <p:cNvPr id="32788" name="Line 23">
            <a:extLst>
              <a:ext uri="{FF2B5EF4-FFF2-40B4-BE49-F238E27FC236}">
                <a16:creationId xmlns:a16="http://schemas.microsoft.com/office/drawing/2014/main" id="{4FC938EE-59FA-F82B-1D68-C6F429FACE5D}"/>
              </a:ext>
            </a:extLst>
          </p:cNvPr>
          <p:cNvSpPr>
            <a:spLocks noChangeShapeType="1"/>
          </p:cNvSpPr>
          <p:nvPr/>
        </p:nvSpPr>
        <p:spPr bwMode="auto">
          <a:xfrm flipH="1">
            <a:off x="5638800" y="5387975"/>
            <a:ext cx="4302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9" name="Line 24">
            <a:extLst>
              <a:ext uri="{FF2B5EF4-FFF2-40B4-BE49-F238E27FC236}">
                <a16:creationId xmlns:a16="http://schemas.microsoft.com/office/drawing/2014/main" id="{56B411C2-4B1A-14E4-ACC5-2975568E34B2}"/>
              </a:ext>
            </a:extLst>
          </p:cNvPr>
          <p:cNvSpPr>
            <a:spLocks noChangeShapeType="1"/>
          </p:cNvSpPr>
          <p:nvPr/>
        </p:nvSpPr>
        <p:spPr bwMode="auto">
          <a:xfrm>
            <a:off x="6086475" y="4946650"/>
            <a:ext cx="0" cy="452438"/>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2790" name="Line 25">
            <a:extLst>
              <a:ext uri="{FF2B5EF4-FFF2-40B4-BE49-F238E27FC236}">
                <a16:creationId xmlns:a16="http://schemas.microsoft.com/office/drawing/2014/main" id="{8350C335-DDBB-4930-8BE3-8156010E199B}"/>
              </a:ext>
            </a:extLst>
          </p:cNvPr>
          <p:cNvSpPr>
            <a:spLocks noChangeShapeType="1"/>
          </p:cNvSpPr>
          <p:nvPr/>
        </p:nvSpPr>
        <p:spPr bwMode="auto">
          <a:xfrm>
            <a:off x="6100763" y="4113213"/>
            <a:ext cx="0" cy="452437"/>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2791" name="Rectangle 26">
            <a:extLst>
              <a:ext uri="{FF2B5EF4-FFF2-40B4-BE49-F238E27FC236}">
                <a16:creationId xmlns:a16="http://schemas.microsoft.com/office/drawing/2014/main" id="{8F61A5CD-9200-F748-27D3-64E5C9030A7E}"/>
              </a:ext>
            </a:extLst>
          </p:cNvPr>
          <p:cNvSpPr>
            <a:spLocks noChangeArrowheads="1"/>
          </p:cNvSpPr>
          <p:nvPr/>
        </p:nvSpPr>
        <p:spPr bwMode="auto">
          <a:xfrm>
            <a:off x="5043488" y="3719513"/>
            <a:ext cx="2424112"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从外存读缺页入内存</a:t>
            </a:r>
          </a:p>
        </p:txBody>
      </p:sp>
      <p:sp>
        <p:nvSpPr>
          <p:cNvPr id="32792" name="Rectangle 27">
            <a:extLst>
              <a:ext uri="{FF2B5EF4-FFF2-40B4-BE49-F238E27FC236}">
                <a16:creationId xmlns:a16="http://schemas.microsoft.com/office/drawing/2014/main" id="{3B4B8063-99BB-3F99-82A3-5DEAC48A90A9}"/>
              </a:ext>
            </a:extLst>
          </p:cNvPr>
          <p:cNvSpPr>
            <a:spLocks noChangeArrowheads="1"/>
          </p:cNvSpPr>
          <p:nvPr/>
        </p:nvSpPr>
        <p:spPr bwMode="auto">
          <a:xfrm>
            <a:off x="5562600" y="2809875"/>
            <a:ext cx="1062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修改页表</a:t>
            </a:r>
          </a:p>
        </p:txBody>
      </p:sp>
      <p:sp>
        <p:nvSpPr>
          <p:cNvPr id="32793" name="Line 28">
            <a:extLst>
              <a:ext uri="{FF2B5EF4-FFF2-40B4-BE49-F238E27FC236}">
                <a16:creationId xmlns:a16="http://schemas.microsoft.com/office/drawing/2014/main" id="{D528F280-473A-2AD4-31FF-ED15EE9D1DD7}"/>
              </a:ext>
            </a:extLst>
          </p:cNvPr>
          <p:cNvSpPr>
            <a:spLocks noChangeShapeType="1"/>
          </p:cNvSpPr>
          <p:nvPr/>
        </p:nvSpPr>
        <p:spPr bwMode="auto">
          <a:xfrm>
            <a:off x="6096000" y="3124200"/>
            <a:ext cx="0" cy="450850"/>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2794" name="Rectangle 29">
            <a:extLst>
              <a:ext uri="{FF2B5EF4-FFF2-40B4-BE49-F238E27FC236}">
                <a16:creationId xmlns:a16="http://schemas.microsoft.com/office/drawing/2014/main" id="{830749A7-3EE0-B3AD-38C9-FBEDA60429AE}"/>
              </a:ext>
            </a:extLst>
          </p:cNvPr>
          <p:cNvSpPr>
            <a:spLocks noChangeArrowheads="1"/>
          </p:cNvSpPr>
          <p:nvPr/>
        </p:nvSpPr>
        <p:spPr bwMode="auto">
          <a:xfrm>
            <a:off x="5867400" y="1828800"/>
            <a:ext cx="449263" cy="436563"/>
          </a:xfrm>
          <a:prstGeom prst="rect">
            <a:avLst/>
          </a:prstGeom>
          <a:noFill/>
          <a:ln w="25400">
            <a:solidFill>
              <a:srgbClr val="9900CC"/>
            </a:solidFill>
            <a:miter lim="800000"/>
            <a:headEnd/>
            <a:tailEnd/>
          </a:ln>
          <a:extLst>
            <a:ext uri="{909E8E84-426E-40DD-AFC4-6F175D3DCCD1}">
              <a14:hiddenFill xmlns:a14="http://schemas.microsoft.com/office/drawing/2010/main">
                <a:solidFill>
                  <a:srgbClr val="FFFFFF"/>
                </a:solidFill>
              </a14:hiddenFill>
            </a:ext>
          </a:extLst>
        </p:spPr>
        <p:txBody>
          <a:bodyPr lIns="0" tIns="36000" rIns="0" bIns="0"/>
          <a:lstStyle/>
          <a:p>
            <a:pPr algn="just" eaLnBrk="0" hangingPunct="0">
              <a:spcBef>
                <a:spcPct val="0"/>
              </a:spcBef>
              <a:buClrTx/>
              <a:buSzTx/>
              <a:buFontTx/>
              <a:buNone/>
            </a:pPr>
            <a:r>
              <a:rPr lang="en-US" altLang="zh-CN" sz="2000">
                <a:solidFill>
                  <a:srgbClr val="9900CC"/>
                </a:solidFill>
                <a:latin typeface="Times New Roman" panose="02020603050405020304" pitchFamily="18" charset="0"/>
              </a:rPr>
              <a:t>  A</a:t>
            </a:r>
          </a:p>
        </p:txBody>
      </p:sp>
      <p:sp>
        <p:nvSpPr>
          <p:cNvPr id="32795" name="Line 30">
            <a:extLst>
              <a:ext uri="{FF2B5EF4-FFF2-40B4-BE49-F238E27FC236}">
                <a16:creationId xmlns:a16="http://schemas.microsoft.com/office/drawing/2014/main" id="{9542B256-80CC-4A3F-BF77-D5B054A87C4C}"/>
              </a:ext>
            </a:extLst>
          </p:cNvPr>
          <p:cNvSpPr>
            <a:spLocks noChangeShapeType="1"/>
          </p:cNvSpPr>
          <p:nvPr/>
        </p:nvSpPr>
        <p:spPr bwMode="auto">
          <a:xfrm>
            <a:off x="6096000" y="2286000"/>
            <a:ext cx="0" cy="452438"/>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3" name="Object 2">
            <a:extLst>
              <a:ext uri="{FF2B5EF4-FFF2-40B4-BE49-F238E27FC236}">
                <a16:creationId xmlns:a16="http://schemas.microsoft.com/office/drawing/2014/main" id="{571C7E35-B489-3DBE-EF5D-36E3691D3873}"/>
              </a:ext>
            </a:extLst>
          </p:cNvPr>
          <p:cNvGraphicFramePr>
            <a:graphicFrameLocks/>
          </p:cNvGraphicFramePr>
          <p:nvPr/>
        </p:nvGraphicFramePr>
        <p:xfrm>
          <a:off x="323850" y="836613"/>
          <a:ext cx="8748713" cy="6048375"/>
        </p:xfrm>
        <a:graphic>
          <a:graphicData uri="http://schemas.openxmlformats.org/presentationml/2006/ole">
            <mc:AlternateContent xmlns:mc="http://schemas.openxmlformats.org/markup-compatibility/2006">
              <mc:Choice xmlns:v="urn:schemas-microsoft-com:vml" Requires="v">
                <p:oleObj r:id="rId2" imgW="4267200" imgH="3695700" progId="Word.Picture.8">
                  <p:embed/>
                </p:oleObj>
              </mc:Choice>
              <mc:Fallback>
                <p:oleObj r:id="rId2" imgW="4267200" imgH="3695700" progId="Word.Picture.8">
                  <p:embed/>
                  <p:pic>
                    <p:nvPicPr>
                      <p:cNvPr id="33793" name="Object 2">
                        <a:extLst>
                          <a:ext uri="{FF2B5EF4-FFF2-40B4-BE49-F238E27FC236}">
                            <a16:creationId xmlns:a16="http://schemas.microsoft.com/office/drawing/2014/main" id="{571C7E35-B489-3DBE-EF5D-36E3691D387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836613"/>
                        <a:ext cx="8748713"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794" name="Rectangle 3">
            <a:extLst>
              <a:ext uri="{FF2B5EF4-FFF2-40B4-BE49-F238E27FC236}">
                <a16:creationId xmlns:a16="http://schemas.microsoft.com/office/drawing/2014/main" id="{1F29F4C8-3295-F0E0-21CA-D7484252118D}"/>
              </a:ext>
            </a:extLst>
          </p:cNvPr>
          <p:cNvSpPr>
            <a:spLocks noGrp="1" noChangeArrowheads="1"/>
          </p:cNvSpPr>
          <p:nvPr>
            <p:ph type="title"/>
          </p:nvPr>
        </p:nvSpPr>
        <p:spPr>
          <a:xfrm>
            <a:off x="922338" y="188913"/>
            <a:ext cx="7970837" cy="693737"/>
          </a:xfrm>
        </p:spPr>
        <p:txBody>
          <a:bodyPr/>
          <a:lstStyle/>
          <a:p>
            <a:pPr eaLnBrk="1" hangingPunct="1"/>
            <a:r>
              <a:rPr lang="zh-CN" altLang="en-US" sz="4000" b="1"/>
              <a:t>请求页式系统的内存访问流程</a:t>
            </a:r>
          </a:p>
        </p:txBody>
      </p:sp>
      <p:sp>
        <p:nvSpPr>
          <p:cNvPr id="33795" name="Rectangle 4">
            <a:extLst>
              <a:ext uri="{FF2B5EF4-FFF2-40B4-BE49-F238E27FC236}">
                <a16:creationId xmlns:a16="http://schemas.microsoft.com/office/drawing/2014/main" id="{09513D5F-9EBD-B0D2-E10C-5B5B595578FB}"/>
              </a:ext>
            </a:extLst>
          </p:cNvPr>
          <p:cNvSpPr>
            <a:spLocks noChangeArrowheads="1"/>
          </p:cNvSpPr>
          <p:nvPr/>
        </p:nvSpPr>
        <p:spPr bwMode="auto">
          <a:xfrm>
            <a:off x="0" y="1855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Tree>
  </p:cSld>
  <p:clrMapOvr>
    <a:masterClrMapping/>
  </p:clrMapOvr>
  <p:transition spd="med">
    <p:zoom/>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0975FFCC-FC49-8F30-583C-99F8645F862F}"/>
              </a:ext>
            </a:extLst>
          </p:cNvPr>
          <p:cNvSpPr>
            <a:spLocks noGrp="1" noChangeArrowheads="1"/>
          </p:cNvSpPr>
          <p:nvPr>
            <p:ph type="title"/>
          </p:nvPr>
        </p:nvSpPr>
        <p:spPr>
          <a:xfrm>
            <a:off x="922338" y="188913"/>
            <a:ext cx="7970837" cy="693737"/>
          </a:xfrm>
        </p:spPr>
        <p:txBody>
          <a:bodyPr/>
          <a:lstStyle/>
          <a:p>
            <a:pPr eaLnBrk="1" hangingPunct="1"/>
            <a:r>
              <a:rPr lang="zh-CN" altLang="en-US" sz="4000" b="1">
                <a:solidFill>
                  <a:srgbClr val="000000"/>
                </a:solidFill>
              </a:rPr>
              <a:t>访内存操作的三种情况</a:t>
            </a:r>
            <a:endParaRPr lang="zh-CN" altLang="en-US" sz="3600"/>
          </a:p>
        </p:txBody>
      </p:sp>
      <p:sp>
        <p:nvSpPr>
          <p:cNvPr id="340995" name="Rectangle 3">
            <a:extLst>
              <a:ext uri="{FF2B5EF4-FFF2-40B4-BE49-F238E27FC236}">
                <a16:creationId xmlns:a16="http://schemas.microsoft.com/office/drawing/2014/main" id="{B6F32973-CB69-13F4-9C31-BA0947F5F09F}"/>
              </a:ext>
            </a:extLst>
          </p:cNvPr>
          <p:cNvSpPr>
            <a:spLocks noGrp="1" noChangeArrowheads="1"/>
          </p:cNvSpPr>
          <p:nvPr>
            <p:ph idx="1"/>
          </p:nvPr>
        </p:nvSpPr>
        <p:spPr>
          <a:xfrm>
            <a:off x="576263" y="1196975"/>
            <a:ext cx="8388350" cy="5219700"/>
          </a:xfrm>
        </p:spPr>
        <p:txBody>
          <a:bodyPr/>
          <a:lstStyle/>
          <a:p>
            <a:pPr eaLnBrk="1" hangingPunct="1">
              <a:lnSpc>
                <a:spcPct val="90000"/>
              </a:lnSpc>
            </a:pPr>
            <a:r>
              <a:rPr lang="zh-CN" altLang="en-US">
                <a:solidFill>
                  <a:srgbClr val="000000"/>
                </a:solidFill>
              </a:rPr>
              <a:t>页在主存中且页表项在快表中：</a:t>
            </a:r>
          </a:p>
          <a:p>
            <a:pPr lvl="1" eaLnBrk="1" hangingPunct="1">
              <a:lnSpc>
                <a:spcPct val="90000"/>
              </a:lnSpc>
              <a:buFont typeface="Wingdings" pitchFamily="2" charset="2"/>
              <a:buNone/>
            </a:pPr>
            <a:r>
              <a:rPr lang="zh-CN" altLang="en-US">
                <a:solidFill>
                  <a:srgbClr val="000000"/>
                </a:solidFill>
              </a:rPr>
              <a:t>访问时间</a:t>
            </a:r>
            <a:r>
              <a:rPr lang="en-US" altLang="zh-CN">
                <a:solidFill>
                  <a:srgbClr val="000000"/>
                </a:solidFill>
              </a:rPr>
              <a:t>=</a:t>
            </a:r>
            <a:r>
              <a:rPr lang="zh-CN" altLang="en-US">
                <a:solidFill>
                  <a:srgbClr val="000000"/>
                </a:solidFill>
              </a:rPr>
              <a:t>查快表时间</a:t>
            </a:r>
            <a:r>
              <a:rPr lang="en-US" altLang="zh-CN">
                <a:solidFill>
                  <a:srgbClr val="000000"/>
                </a:solidFill>
              </a:rPr>
              <a:t>+</a:t>
            </a:r>
            <a:r>
              <a:rPr lang="zh-CN" altLang="en-US">
                <a:solidFill>
                  <a:srgbClr val="000000"/>
                </a:solidFill>
              </a:rPr>
              <a:t>访问内存时间</a:t>
            </a:r>
            <a:r>
              <a:rPr lang="en-US" altLang="zh-CN">
                <a:solidFill>
                  <a:srgbClr val="000000"/>
                </a:solidFill>
              </a:rPr>
              <a:t>=</a:t>
            </a:r>
            <a:r>
              <a:rPr lang="en-US" altLang="zh-CN">
                <a:solidFill>
                  <a:srgbClr val="000000"/>
                </a:solidFill>
                <a:sym typeface="Symbol" pitchFamily="2" charset="2"/>
              </a:rPr>
              <a:t></a:t>
            </a:r>
            <a:r>
              <a:rPr lang="en-US" altLang="zh-CN">
                <a:solidFill>
                  <a:srgbClr val="000000"/>
                </a:solidFill>
              </a:rPr>
              <a:t>+t</a:t>
            </a:r>
            <a:r>
              <a:rPr lang="zh-CN" altLang="en-US">
                <a:solidFill>
                  <a:srgbClr val="000000"/>
                </a:solidFill>
                <a:sym typeface="Symbol" pitchFamily="2" charset="2"/>
              </a:rPr>
              <a:t>。</a:t>
            </a:r>
          </a:p>
          <a:p>
            <a:pPr eaLnBrk="1" hangingPunct="1">
              <a:lnSpc>
                <a:spcPct val="90000"/>
              </a:lnSpc>
            </a:pPr>
            <a:r>
              <a:rPr lang="zh-CN" altLang="en-US">
                <a:solidFill>
                  <a:srgbClr val="000000"/>
                </a:solidFill>
                <a:sym typeface="Symbol" pitchFamily="2" charset="2"/>
              </a:rPr>
              <a:t> 页在主存中且页表项不在快表中：</a:t>
            </a:r>
          </a:p>
          <a:p>
            <a:pPr lvl="1" eaLnBrk="1" hangingPunct="1">
              <a:lnSpc>
                <a:spcPct val="90000"/>
              </a:lnSpc>
              <a:buFont typeface="Wingdings" pitchFamily="2" charset="2"/>
              <a:buNone/>
            </a:pPr>
            <a:r>
              <a:rPr lang="zh-CN" altLang="en-US">
                <a:solidFill>
                  <a:srgbClr val="000000"/>
                </a:solidFill>
                <a:sym typeface="Symbol" pitchFamily="2" charset="2"/>
              </a:rPr>
              <a:t>访问时间</a:t>
            </a:r>
            <a:r>
              <a:rPr lang="en-US" altLang="zh-CN">
                <a:solidFill>
                  <a:srgbClr val="000000"/>
                </a:solidFill>
                <a:sym typeface="Symbol" pitchFamily="2" charset="2"/>
              </a:rPr>
              <a:t>=</a:t>
            </a:r>
            <a:r>
              <a:rPr lang="zh-CN" altLang="en-US">
                <a:solidFill>
                  <a:srgbClr val="000000"/>
                </a:solidFill>
                <a:sym typeface="Symbol" pitchFamily="2" charset="2"/>
              </a:rPr>
              <a:t>查快表时间</a:t>
            </a:r>
            <a:r>
              <a:rPr lang="en-US" altLang="zh-CN">
                <a:solidFill>
                  <a:srgbClr val="000000"/>
                </a:solidFill>
                <a:sym typeface="Symbol" pitchFamily="2" charset="2"/>
              </a:rPr>
              <a:t>+</a:t>
            </a:r>
            <a:r>
              <a:rPr lang="zh-CN" altLang="en-US">
                <a:solidFill>
                  <a:srgbClr val="000000"/>
                </a:solidFill>
                <a:sym typeface="Symbol" pitchFamily="2" charset="2"/>
              </a:rPr>
              <a:t>查页表时间</a:t>
            </a:r>
            <a:r>
              <a:rPr lang="en-US" altLang="zh-CN">
                <a:solidFill>
                  <a:srgbClr val="000000"/>
                </a:solidFill>
                <a:sym typeface="Symbol" pitchFamily="2" charset="2"/>
              </a:rPr>
              <a:t>+</a:t>
            </a:r>
            <a:r>
              <a:rPr lang="zh-CN" altLang="en-US">
                <a:solidFill>
                  <a:srgbClr val="000000"/>
                </a:solidFill>
                <a:sym typeface="Symbol" pitchFamily="2" charset="2"/>
              </a:rPr>
              <a:t>修改快表时间</a:t>
            </a:r>
            <a:r>
              <a:rPr lang="en-US" altLang="zh-CN">
                <a:solidFill>
                  <a:srgbClr val="000000"/>
                </a:solidFill>
                <a:sym typeface="Symbol" pitchFamily="2" charset="2"/>
              </a:rPr>
              <a:t>+</a:t>
            </a:r>
            <a:r>
              <a:rPr lang="zh-CN" altLang="en-US">
                <a:solidFill>
                  <a:srgbClr val="000000"/>
                </a:solidFill>
                <a:sym typeface="Symbol" pitchFamily="2" charset="2"/>
              </a:rPr>
              <a:t>访问内存时间</a:t>
            </a:r>
            <a:r>
              <a:rPr lang="en-US" altLang="zh-CN">
                <a:solidFill>
                  <a:srgbClr val="000000"/>
                </a:solidFill>
                <a:sym typeface="Symbol" pitchFamily="2" charset="2"/>
              </a:rPr>
              <a:t>=</a:t>
            </a:r>
            <a:r>
              <a:rPr lang="en-US" altLang="zh-CN">
                <a:solidFill>
                  <a:srgbClr val="000000"/>
                </a:solidFill>
              </a:rPr>
              <a:t>+t+</a:t>
            </a:r>
            <a:r>
              <a:rPr lang="en-US" altLang="zh-CN">
                <a:solidFill>
                  <a:srgbClr val="000000"/>
                </a:solidFill>
                <a:sym typeface="Symbol" pitchFamily="2" charset="2"/>
              </a:rPr>
              <a:t></a:t>
            </a:r>
            <a:r>
              <a:rPr lang="en-US" altLang="zh-CN">
                <a:solidFill>
                  <a:srgbClr val="000000"/>
                </a:solidFill>
              </a:rPr>
              <a:t>+t=2(</a:t>
            </a:r>
            <a:r>
              <a:rPr lang="en-US" altLang="zh-CN">
                <a:solidFill>
                  <a:srgbClr val="000000"/>
                </a:solidFill>
                <a:sym typeface="Symbol" pitchFamily="2" charset="2"/>
              </a:rPr>
              <a:t></a:t>
            </a:r>
            <a:r>
              <a:rPr lang="en-US" altLang="zh-CN">
                <a:solidFill>
                  <a:srgbClr val="000000"/>
                </a:solidFill>
              </a:rPr>
              <a:t>+t)</a:t>
            </a:r>
            <a:endParaRPr lang="en-US" altLang="zh-CN">
              <a:solidFill>
                <a:srgbClr val="000000"/>
              </a:solidFill>
              <a:sym typeface="Symbol" pitchFamily="2" charset="2"/>
            </a:endParaRPr>
          </a:p>
          <a:p>
            <a:pPr eaLnBrk="1" hangingPunct="1">
              <a:lnSpc>
                <a:spcPct val="90000"/>
              </a:lnSpc>
            </a:pPr>
            <a:r>
              <a:rPr lang="zh-CN" altLang="en-US">
                <a:solidFill>
                  <a:srgbClr val="000000"/>
                </a:solidFill>
                <a:sym typeface="Symbol" pitchFamily="2" charset="2"/>
              </a:rPr>
              <a:t>页不在主存中，设处理缺页中断的时间为</a:t>
            </a:r>
            <a:r>
              <a:rPr lang="en-US" altLang="zh-CN">
                <a:solidFill>
                  <a:srgbClr val="000000"/>
                </a:solidFill>
                <a:sym typeface="Symbol" pitchFamily="2" charset="2"/>
              </a:rPr>
              <a:t>t1</a:t>
            </a:r>
            <a:r>
              <a:rPr lang="zh-CN" altLang="en-US"/>
              <a:t>（包含读入缺页、页表更新、快表更新时间）</a:t>
            </a:r>
            <a:r>
              <a:rPr lang="zh-CN" altLang="en-US">
                <a:solidFill>
                  <a:srgbClr val="000000"/>
                </a:solidFill>
                <a:sym typeface="Symbol" pitchFamily="2" charset="2"/>
              </a:rPr>
              <a:t>：</a:t>
            </a:r>
          </a:p>
          <a:p>
            <a:pPr lvl="1" eaLnBrk="1" hangingPunct="1">
              <a:lnSpc>
                <a:spcPct val="90000"/>
              </a:lnSpc>
              <a:buFont typeface="Wingdings" pitchFamily="2" charset="2"/>
              <a:buNone/>
            </a:pPr>
            <a:r>
              <a:rPr lang="zh-CN" altLang="en-US">
                <a:solidFill>
                  <a:srgbClr val="000000"/>
                </a:solidFill>
                <a:sym typeface="Symbol" pitchFamily="2" charset="2"/>
              </a:rPr>
              <a:t>访问时间</a:t>
            </a:r>
            <a:r>
              <a:rPr lang="en-US" altLang="zh-CN">
                <a:solidFill>
                  <a:srgbClr val="000000"/>
                </a:solidFill>
                <a:sym typeface="Symbol" pitchFamily="2" charset="2"/>
              </a:rPr>
              <a:t>=</a:t>
            </a:r>
            <a:r>
              <a:rPr lang="zh-CN" altLang="en-US">
                <a:solidFill>
                  <a:srgbClr val="000000"/>
                </a:solidFill>
                <a:sym typeface="Symbol" pitchFamily="2" charset="2"/>
              </a:rPr>
              <a:t>查快表时间</a:t>
            </a:r>
            <a:r>
              <a:rPr lang="en-US" altLang="zh-CN">
                <a:solidFill>
                  <a:srgbClr val="000000"/>
                </a:solidFill>
                <a:sym typeface="Symbol" pitchFamily="2" charset="2"/>
              </a:rPr>
              <a:t>+</a:t>
            </a:r>
            <a:r>
              <a:rPr lang="zh-CN" altLang="en-US">
                <a:solidFill>
                  <a:srgbClr val="000000"/>
                </a:solidFill>
                <a:sym typeface="Symbol" pitchFamily="2" charset="2"/>
              </a:rPr>
              <a:t>查页表时间</a:t>
            </a:r>
            <a:r>
              <a:rPr lang="en-US" altLang="zh-CN">
                <a:solidFill>
                  <a:srgbClr val="000000"/>
                </a:solidFill>
                <a:sym typeface="Symbol" pitchFamily="2" charset="2"/>
              </a:rPr>
              <a:t>+</a:t>
            </a:r>
            <a:r>
              <a:rPr lang="zh-CN" altLang="en-US">
                <a:solidFill>
                  <a:srgbClr val="000000"/>
                </a:solidFill>
                <a:sym typeface="Symbol" pitchFamily="2" charset="2"/>
              </a:rPr>
              <a:t>处理缺页中断时间</a:t>
            </a:r>
            <a:r>
              <a:rPr lang="en-US" altLang="zh-CN">
                <a:solidFill>
                  <a:srgbClr val="000000"/>
                </a:solidFill>
                <a:sym typeface="Symbol" pitchFamily="2" charset="2"/>
              </a:rPr>
              <a:t>t1+</a:t>
            </a:r>
            <a:r>
              <a:rPr lang="zh-CN" altLang="en-US">
                <a:solidFill>
                  <a:srgbClr val="000000"/>
                </a:solidFill>
                <a:sym typeface="Symbol" pitchFamily="2" charset="2"/>
              </a:rPr>
              <a:t>查快表时间</a:t>
            </a:r>
            <a:r>
              <a:rPr lang="en-US" altLang="zh-CN">
                <a:solidFill>
                  <a:srgbClr val="000000"/>
                </a:solidFill>
                <a:sym typeface="Symbol" pitchFamily="2" charset="2"/>
              </a:rPr>
              <a:t>+</a:t>
            </a:r>
            <a:r>
              <a:rPr lang="zh-CN" altLang="en-US">
                <a:solidFill>
                  <a:srgbClr val="000000"/>
                </a:solidFill>
                <a:sym typeface="Symbol" pitchFamily="2" charset="2"/>
              </a:rPr>
              <a:t>访问内存时间</a:t>
            </a:r>
            <a:r>
              <a:rPr lang="en-US" altLang="zh-CN">
                <a:solidFill>
                  <a:srgbClr val="000000"/>
                </a:solidFill>
                <a:sym typeface="Symbol" pitchFamily="2" charset="2"/>
              </a:rPr>
              <a:t>=</a:t>
            </a:r>
            <a:r>
              <a:rPr lang="en-US" altLang="zh-CN">
                <a:solidFill>
                  <a:srgbClr val="000000"/>
                </a:solidFill>
              </a:rPr>
              <a:t>+t+t1+</a:t>
            </a:r>
            <a:r>
              <a:rPr lang="en-US" altLang="zh-CN">
                <a:solidFill>
                  <a:srgbClr val="000000"/>
                </a:solidFill>
                <a:sym typeface="Symbol" pitchFamily="2" charset="2"/>
              </a:rPr>
              <a:t></a:t>
            </a:r>
            <a:r>
              <a:rPr lang="en-US" altLang="zh-CN">
                <a:solidFill>
                  <a:srgbClr val="000000"/>
                </a:solidFill>
              </a:rPr>
              <a:t>+t=t1+2(</a:t>
            </a:r>
            <a:r>
              <a:rPr lang="en-US" altLang="zh-CN">
                <a:solidFill>
                  <a:srgbClr val="000000"/>
                </a:solidFill>
                <a:sym typeface="Symbol" pitchFamily="2" charset="2"/>
              </a:rPr>
              <a:t></a:t>
            </a:r>
            <a:r>
              <a:rPr lang="en-US" altLang="zh-CN">
                <a:solidFill>
                  <a:srgbClr val="000000"/>
                </a:solidFill>
              </a:rPr>
              <a:t>+t)</a:t>
            </a:r>
            <a:endParaRPr lang="zh-CN" altLang="en-US">
              <a:solidFill>
                <a:srgbClr val="0000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animEffect transition="in" filter="checkerboard(across)">
                                      <p:cBhvr>
                                        <p:cTn id="7" dur="500"/>
                                        <p:tgtEl>
                                          <p:spTgt spid="340995">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40995">
                                            <p:txEl>
                                              <p:pRg st="1" end="1"/>
                                            </p:txEl>
                                          </p:spTgt>
                                        </p:tgtEl>
                                        <p:attrNameLst>
                                          <p:attrName>style.visibility</p:attrName>
                                        </p:attrNameLst>
                                      </p:cBhvr>
                                      <p:to>
                                        <p:strVal val="visible"/>
                                      </p:to>
                                    </p:set>
                                    <p:animEffect transition="in" filter="checkerboard(across)">
                                      <p:cBhvr>
                                        <p:cTn id="10" dur="500"/>
                                        <p:tgtEl>
                                          <p:spTgt spid="34099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nodeType="clickEffect">
                                  <p:stCondLst>
                                    <p:cond delay="0"/>
                                  </p:stCondLst>
                                  <p:childTnLst>
                                    <p:set>
                                      <p:cBhvr>
                                        <p:cTn id="14" dur="1" fill="hold">
                                          <p:stCondLst>
                                            <p:cond delay="0"/>
                                          </p:stCondLst>
                                        </p:cTn>
                                        <p:tgtEl>
                                          <p:spTgt spid="340995">
                                            <p:txEl>
                                              <p:pRg st="2" end="2"/>
                                            </p:txEl>
                                          </p:spTgt>
                                        </p:tgtEl>
                                        <p:attrNameLst>
                                          <p:attrName>style.visibility</p:attrName>
                                        </p:attrNameLst>
                                      </p:cBhvr>
                                      <p:to>
                                        <p:strVal val="visible"/>
                                      </p:to>
                                    </p:set>
                                    <p:animEffect transition="in" filter="checkerboard(across)">
                                      <p:cBhvr>
                                        <p:cTn id="15" dur="500"/>
                                        <p:tgtEl>
                                          <p:spTgt spid="340995">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340995">
                                            <p:txEl>
                                              <p:pRg st="3" end="3"/>
                                            </p:txEl>
                                          </p:spTgt>
                                        </p:tgtEl>
                                        <p:attrNameLst>
                                          <p:attrName>style.visibility</p:attrName>
                                        </p:attrNameLst>
                                      </p:cBhvr>
                                      <p:to>
                                        <p:strVal val="visible"/>
                                      </p:to>
                                    </p:set>
                                    <p:animEffect transition="in" filter="checkerboard(across)">
                                      <p:cBhvr>
                                        <p:cTn id="18" dur="500"/>
                                        <p:tgtEl>
                                          <p:spTgt spid="340995">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340995">
                                            <p:txEl>
                                              <p:pRg st="4" end="4"/>
                                            </p:txEl>
                                          </p:spTgt>
                                        </p:tgtEl>
                                        <p:attrNameLst>
                                          <p:attrName>style.visibility</p:attrName>
                                        </p:attrNameLst>
                                      </p:cBhvr>
                                      <p:to>
                                        <p:strVal val="visible"/>
                                      </p:to>
                                    </p:set>
                                    <p:animEffect transition="in" filter="checkerboard(across)">
                                      <p:cBhvr>
                                        <p:cTn id="23" dur="500"/>
                                        <p:tgtEl>
                                          <p:spTgt spid="340995">
                                            <p:txEl>
                                              <p:pRg st="4" end="4"/>
                                            </p:txEl>
                                          </p:spTgt>
                                        </p:tgtEl>
                                      </p:cBhvr>
                                    </p:animEffect>
                                  </p:childTnLst>
                                </p:cTn>
                              </p:par>
                              <p:par>
                                <p:cTn id="24" presetID="5" presetClass="entr" presetSubtype="10" fill="hold" nodeType="withEffect">
                                  <p:stCondLst>
                                    <p:cond delay="0"/>
                                  </p:stCondLst>
                                  <p:childTnLst>
                                    <p:set>
                                      <p:cBhvr>
                                        <p:cTn id="25" dur="1" fill="hold">
                                          <p:stCondLst>
                                            <p:cond delay="0"/>
                                          </p:stCondLst>
                                        </p:cTn>
                                        <p:tgtEl>
                                          <p:spTgt spid="340995">
                                            <p:txEl>
                                              <p:pRg st="5" end="5"/>
                                            </p:txEl>
                                          </p:spTgt>
                                        </p:tgtEl>
                                        <p:attrNameLst>
                                          <p:attrName>style.visibility</p:attrName>
                                        </p:attrNameLst>
                                      </p:cBhvr>
                                      <p:to>
                                        <p:strVal val="visible"/>
                                      </p:to>
                                    </p:set>
                                    <p:animEffect transition="in" filter="checkerboard(across)">
                                      <p:cBhvr>
                                        <p:cTn id="26" dur="500"/>
                                        <p:tgtEl>
                                          <p:spTgt spid="3409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EC28AFFB-D344-0EAF-15C9-88725BDA52A5}"/>
              </a:ext>
            </a:extLst>
          </p:cNvPr>
          <p:cNvSpPr>
            <a:spLocks noGrp="1" noChangeArrowheads="1"/>
          </p:cNvSpPr>
          <p:nvPr>
            <p:ph type="title"/>
          </p:nvPr>
        </p:nvSpPr>
        <p:spPr>
          <a:xfrm>
            <a:off x="922338" y="188913"/>
            <a:ext cx="7970837" cy="693737"/>
          </a:xfrm>
        </p:spPr>
        <p:txBody>
          <a:bodyPr/>
          <a:lstStyle/>
          <a:p>
            <a:pPr eaLnBrk="1" hangingPunct="1"/>
            <a:r>
              <a:rPr lang="zh-CN" altLang="en-US" sz="4000"/>
              <a:t>有效访问时间</a:t>
            </a:r>
            <a:endParaRPr lang="zh-CN" altLang="en-US" sz="3600"/>
          </a:p>
        </p:txBody>
      </p:sp>
      <p:sp>
        <p:nvSpPr>
          <p:cNvPr id="35842" name="Rectangle 3">
            <a:extLst>
              <a:ext uri="{FF2B5EF4-FFF2-40B4-BE49-F238E27FC236}">
                <a16:creationId xmlns:a16="http://schemas.microsoft.com/office/drawing/2014/main" id="{2A33D8CE-72FC-A9DF-70E9-B8F6995A0550}"/>
              </a:ext>
            </a:extLst>
          </p:cNvPr>
          <p:cNvSpPr>
            <a:spLocks noGrp="1" noChangeArrowheads="1"/>
          </p:cNvSpPr>
          <p:nvPr>
            <p:ph idx="1"/>
          </p:nvPr>
        </p:nvSpPr>
        <p:spPr>
          <a:xfrm>
            <a:off x="827088" y="1196975"/>
            <a:ext cx="8137525" cy="4679950"/>
          </a:xfrm>
        </p:spPr>
        <p:txBody>
          <a:bodyPr/>
          <a:lstStyle/>
          <a:p>
            <a:pPr eaLnBrk="1" hangingPunct="1"/>
            <a:r>
              <a:rPr lang="zh-CN" altLang="en-US" dirty="0"/>
              <a:t>内存的读写周期为</a:t>
            </a:r>
            <a:r>
              <a:rPr lang="en-US" altLang="zh-CN" dirty="0"/>
              <a:t>t，</a:t>
            </a:r>
            <a:r>
              <a:rPr lang="zh-CN" altLang="en-US" dirty="0"/>
              <a:t>缺页中断服务时间为</a:t>
            </a:r>
            <a:r>
              <a:rPr lang="en-US" altLang="zh-CN" dirty="0"/>
              <a:t>t1</a:t>
            </a:r>
            <a:r>
              <a:rPr lang="zh-CN" altLang="en-US" dirty="0"/>
              <a:t>（包含读入缺页、页表更新、快表更新时间）， 快表的命中率为</a:t>
            </a:r>
            <a:r>
              <a:rPr lang="en-US" altLang="en-US" dirty="0"/>
              <a:t>α</a:t>
            </a:r>
            <a:r>
              <a:rPr lang="en-US" altLang="zh-CN" dirty="0"/>
              <a:t>，</a:t>
            </a:r>
            <a:r>
              <a:rPr lang="zh-CN" altLang="en-US" dirty="0"/>
              <a:t>缺页中断率为</a:t>
            </a:r>
            <a:r>
              <a:rPr lang="en-US" altLang="zh-CN" dirty="0"/>
              <a:t>f，</a:t>
            </a:r>
            <a:r>
              <a:rPr lang="zh-CN" altLang="en-US" dirty="0"/>
              <a:t>快表访问时间为</a:t>
            </a:r>
            <a:r>
              <a:rPr lang="en-US" altLang="en-US" dirty="0" err="1"/>
              <a:t>ε</a:t>
            </a:r>
            <a:r>
              <a:rPr lang="en-US" altLang="zh-CN" dirty="0"/>
              <a:t>，</a:t>
            </a:r>
            <a:r>
              <a:rPr lang="zh-CN" altLang="en-US" dirty="0"/>
              <a:t>则有效存取时间可表示为：</a:t>
            </a:r>
          </a:p>
          <a:p>
            <a:pPr lvl="1" eaLnBrk="1" hangingPunct="1"/>
            <a:r>
              <a:rPr lang="en-US" altLang="zh-CN" dirty="0"/>
              <a:t>EAT= </a:t>
            </a:r>
            <a:r>
              <a:rPr lang="en-US" altLang="en-US" dirty="0"/>
              <a:t>α</a:t>
            </a:r>
            <a:r>
              <a:rPr lang="en-US" altLang="zh-CN" dirty="0"/>
              <a:t> *(</a:t>
            </a:r>
            <a:r>
              <a:rPr lang="en-US" altLang="en-US" dirty="0" err="1"/>
              <a:t>ε</a:t>
            </a:r>
            <a:r>
              <a:rPr lang="en-US" altLang="zh-CN" dirty="0"/>
              <a:t> +t )+(1- </a:t>
            </a:r>
            <a:r>
              <a:rPr lang="en-US" altLang="en-US" dirty="0"/>
              <a:t>α</a:t>
            </a:r>
            <a:r>
              <a:rPr lang="en-US" altLang="zh-CN" dirty="0"/>
              <a:t> )*                                [(1-f) *2 (</a:t>
            </a:r>
            <a:r>
              <a:rPr lang="en-US" altLang="en-US" dirty="0" err="1"/>
              <a:t>ε</a:t>
            </a:r>
            <a:r>
              <a:rPr lang="en-US" altLang="zh-CN" dirty="0"/>
              <a:t> +t ) +f*(t1+ 2 (</a:t>
            </a:r>
            <a:r>
              <a:rPr lang="en-US" altLang="en-US" dirty="0" err="1"/>
              <a:t>ε</a:t>
            </a:r>
            <a:r>
              <a:rPr lang="en-US" altLang="zh-CN" dirty="0" err="1"/>
              <a:t>+t</a:t>
            </a:r>
            <a:r>
              <a:rPr lang="en-US" altLang="zh-CN" dirty="0"/>
              <a:t> ) )]</a:t>
            </a:r>
          </a:p>
        </p:txBody>
      </p:sp>
    </p:spTree>
  </p:cSld>
  <p:clrMapOvr>
    <a:masterClrMapping/>
  </p:clrMapOvr>
  <p:transition spd="med">
    <p:zoom/>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9978333F-D35B-B291-92A8-E231A1EA6240}"/>
              </a:ext>
            </a:extLst>
          </p:cNvPr>
          <p:cNvSpPr>
            <a:spLocks noGrp="1" noChangeArrowheads="1"/>
          </p:cNvSpPr>
          <p:nvPr>
            <p:ph type="title"/>
          </p:nvPr>
        </p:nvSpPr>
        <p:spPr>
          <a:xfrm>
            <a:off x="1042988" y="225431"/>
            <a:ext cx="7850187" cy="746125"/>
          </a:xfrm>
        </p:spPr>
        <p:txBody>
          <a:bodyPr/>
          <a:lstStyle/>
          <a:p>
            <a:r>
              <a:rPr lang="zh-CN" altLang="en-US" dirty="0"/>
              <a:t>缺页中断处理时间</a:t>
            </a:r>
            <a:endParaRPr lang="en-US" altLang="zh-CN" dirty="0"/>
          </a:p>
        </p:txBody>
      </p:sp>
      <p:sp>
        <p:nvSpPr>
          <p:cNvPr id="343043" name="Rectangle 3">
            <a:extLst>
              <a:ext uri="{FF2B5EF4-FFF2-40B4-BE49-F238E27FC236}">
                <a16:creationId xmlns:a16="http://schemas.microsoft.com/office/drawing/2014/main" id="{975DD461-93C1-BCDB-B157-4292B512E7F9}"/>
              </a:ext>
            </a:extLst>
          </p:cNvPr>
          <p:cNvSpPr>
            <a:spLocks noGrp="1" noChangeArrowheads="1"/>
          </p:cNvSpPr>
          <p:nvPr>
            <p:ph idx="1"/>
          </p:nvPr>
        </p:nvSpPr>
        <p:spPr>
          <a:xfrm>
            <a:off x="935038" y="1233488"/>
            <a:ext cx="7772400" cy="4895850"/>
          </a:xfrm>
        </p:spPr>
        <p:txBody>
          <a:bodyPr>
            <a:normAutofit/>
          </a:bodyPr>
          <a:lstStyle/>
          <a:p>
            <a:r>
              <a:rPr lang="zh-CN" altLang="en-US" dirty="0"/>
              <a:t>缺页中断处理时间由三部分组成：</a:t>
            </a:r>
          </a:p>
          <a:p>
            <a:pPr lvl="1"/>
            <a:r>
              <a:rPr lang="zh-CN" altLang="en-US" dirty="0"/>
              <a:t>缺页中断服务时间  </a:t>
            </a:r>
          </a:p>
          <a:p>
            <a:pPr lvl="1"/>
            <a:r>
              <a:rPr lang="zh-CN" altLang="en-US" dirty="0"/>
              <a:t>页面传送时间：包括读缺页和写置换页的时间</a:t>
            </a:r>
            <a:endParaRPr lang="en-US" altLang="zh-CN" dirty="0"/>
          </a:p>
          <a:p>
            <a:pPr lvl="1"/>
            <a:r>
              <a:rPr lang="zh-CN" altLang="en-US" dirty="0"/>
              <a:t>重新启动进程时间</a:t>
            </a:r>
            <a:endParaRPr lang="en-US" altLang="zh-CN" dirty="0"/>
          </a:p>
          <a:p>
            <a:r>
              <a:rPr lang="zh-CN" altLang="en-US" dirty="0"/>
              <a:t>由于缺页中断服务时间及重新启动进程时间较短，所以主要考虑页面传送时间。</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3043">
                                            <p:txEl>
                                              <p:pRg st="0" end="0"/>
                                            </p:txEl>
                                          </p:spTgt>
                                        </p:tgtEl>
                                        <p:attrNameLst>
                                          <p:attrName>style.visibility</p:attrName>
                                        </p:attrNameLst>
                                      </p:cBhvr>
                                      <p:to>
                                        <p:strVal val="visible"/>
                                      </p:to>
                                    </p:set>
                                    <p:animEffect transition="in" filter="checkerboard(across)">
                                      <p:cBhvr>
                                        <p:cTn id="7" dur="500"/>
                                        <p:tgtEl>
                                          <p:spTgt spid="3430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3043">
                                            <p:txEl>
                                              <p:pRg st="1" end="1"/>
                                            </p:txEl>
                                          </p:spTgt>
                                        </p:tgtEl>
                                        <p:attrNameLst>
                                          <p:attrName>style.visibility</p:attrName>
                                        </p:attrNameLst>
                                      </p:cBhvr>
                                      <p:to>
                                        <p:strVal val="visible"/>
                                      </p:to>
                                    </p:set>
                                    <p:animEffect transition="in" filter="checkerboard(across)">
                                      <p:cBhvr>
                                        <p:cTn id="12" dur="500"/>
                                        <p:tgtEl>
                                          <p:spTgt spid="3430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43043">
                                            <p:txEl>
                                              <p:pRg st="2" end="2"/>
                                            </p:txEl>
                                          </p:spTgt>
                                        </p:tgtEl>
                                        <p:attrNameLst>
                                          <p:attrName>style.visibility</p:attrName>
                                        </p:attrNameLst>
                                      </p:cBhvr>
                                      <p:to>
                                        <p:strVal val="visible"/>
                                      </p:to>
                                    </p:set>
                                    <p:animEffect transition="in" filter="checkerboard(across)">
                                      <p:cBhvr>
                                        <p:cTn id="17" dur="500"/>
                                        <p:tgtEl>
                                          <p:spTgt spid="3430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43043">
                                            <p:txEl>
                                              <p:pRg st="3" end="3"/>
                                            </p:txEl>
                                          </p:spTgt>
                                        </p:tgtEl>
                                        <p:attrNameLst>
                                          <p:attrName>style.visibility</p:attrName>
                                        </p:attrNameLst>
                                      </p:cBhvr>
                                      <p:to>
                                        <p:strVal val="visible"/>
                                      </p:to>
                                    </p:set>
                                    <p:animEffect transition="in" filter="checkerboard(across)">
                                      <p:cBhvr>
                                        <p:cTn id="22" dur="500"/>
                                        <p:tgtEl>
                                          <p:spTgt spid="3430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43043">
                                            <p:txEl>
                                              <p:pRg st="4" end="4"/>
                                            </p:txEl>
                                          </p:spTgt>
                                        </p:tgtEl>
                                        <p:attrNameLst>
                                          <p:attrName>style.visibility</p:attrName>
                                        </p:attrNameLst>
                                      </p:cBhvr>
                                      <p:to>
                                        <p:strVal val="visible"/>
                                      </p:to>
                                    </p:set>
                                    <p:animEffect transition="in" filter="checkerboard(across)">
                                      <p:cBhvr>
                                        <p:cTn id="27" dur="500"/>
                                        <p:tgtEl>
                                          <p:spTgt spid="3430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43" grpId="0" build="p"/>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F994D4F4-1122-BF90-ED25-11C0065B5954}"/>
              </a:ext>
            </a:extLst>
          </p:cNvPr>
          <p:cNvSpPr>
            <a:spLocks noGrp="1" noChangeArrowheads="1"/>
          </p:cNvSpPr>
          <p:nvPr>
            <p:ph type="title"/>
          </p:nvPr>
        </p:nvSpPr>
        <p:spPr>
          <a:xfrm>
            <a:off x="1042988" y="225431"/>
            <a:ext cx="7850187" cy="746125"/>
          </a:xfrm>
        </p:spPr>
        <p:txBody>
          <a:bodyPr/>
          <a:lstStyle/>
          <a:p>
            <a:r>
              <a:rPr lang="zh-CN" altLang="en-US" dirty="0"/>
              <a:t>写时拷贝</a:t>
            </a:r>
            <a:endParaRPr lang="en-US" altLang="zh-CN" dirty="0"/>
          </a:p>
        </p:txBody>
      </p:sp>
      <p:sp>
        <p:nvSpPr>
          <p:cNvPr id="338947" name="Rectangle 3">
            <a:extLst>
              <a:ext uri="{FF2B5EF4-FFF2-40B4-BE49-F238E27FC236}">
                <a16:creationId xmlns:a16="http://schemas.microsoft.com/office/drawing/2014/main" id="{6CC28E8C-3FB9-3D1C-FCCF-C15108AD7150}"/>
              </a:ext>
            </a:extLst>
          </p:cNvPr>
          <p:cNvSpPr>
            <a:spLocks noGrp="1" noChangeArrowheads="1"/>
          </p:cNvSpPr>
          <p:nvPr>
            <p:ph idx="1"/>
          </p:nvPr>
        </p:nvSpPr>
        <p:spPr>
          <a:xfrm>
            <a:off x="935038" y="1233488"/>
            <a:ext cx="7772400" cy="4895850"/>
          </a:xfrm>
        </p:spPr>
        <p:txBody>
          <a:bodyPr>
            <a:normAutofit/>
          </a:bodyPr>
          <a:lstStyle/>
          <a:p>
            <a:r>
              <a:rPr lang="zh-CN" altLang="en-US" dirty="0"/>
              <a:t>写时拷贝允许父子进程在内存中共享页面</a:t>
            </a:r>
            <a:endParaRPr lang="en-US" altLang="zh-CN" dirty="0"/>
          </a:p>
          <a:p>
            <a:r>
              <a:rPr lang="zh-CN" altLang="en-US" dirty="0"/>
              <a:t>如果任一进程需要对页面进行写，那么就创建一个共享页的副本</a:t>
            </a:r>
          </a:p>
          <a:p>
            <a:r>
              <a:rPr lang="zh-CN" altLang="en-US" dirty="0"/>
              <a:t>只有可能修改的页才需要标记为写时拷贝</a:t>
            </a:r>
            <a:r>
              <a:rPr lang="en-US" altLang="zh-CN" dirty="0"/>
              <a:t>   </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animEffect transition="in" filter="checkerboard(across)">
                                      <p:cBhvr>
                                        <p:cTn id="7" dur="500"/>
                                        <p:tgtEl>
                                          <p:spTgt spid="3389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38947">
                                            <p:txEl>
                                              <p:pRg st="1" end="1"/>
                                            </p:txEl>
                                          </p:spTgt>
                                        </p:tgtEl>
                                        <p:attrNameLst>
                                          <p:attrName>style.visibility</p:attrName>
                                        </p:attrNameLst>
                                      </p:cBhvr>
                                      <p:to>
                                        <p:strVal val="visible"/>
                                      </p:to>
                                    </p:set>
                                    <p:animEffect transition="in" filter="checkerboard(across)">
                                      <p:cBhvr>
                                        <p:cTn id="12" dur="500"/>
                                        <p:tgtEl>
                                          <p:spTgt spid="3389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38947">
                                            <p:txEl>
                                              <p:pRg st="2" end="2"/>
                                            </p:txEl>
                                          </p:spTgt>
                                        </p:tgtEl>
                                        <p:attrNameLst>
                                          <p:attrName>style.visibility</p:attrName>
                                        </p:attrNameLst>
                                      </p:cBhvr>
                                      <p:to>
                                        <p:strVal val="visible"/>
                                      </p:to>
                                    </p:set>
                                    <p:animEffect transition="in" filter="checkerboard(across)">
                                      <p:cBhvr>
                                        <p:cTn id="17" dur="500"/>
                                        <p:tgtEl>
                                          <p:spTgt spid="3389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build="p"/>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1CADB9D5-2733-5005-CEF4-D0E4655995A4}"/>
              </a:ext>
            </a:extLst>
          </p:cNvPr>
          <p:cNvSpPr>
            <a:spLocks noGrp="1" noChangeArrowheads="1"/>
          </p:cNvSpPr>
          <p:nvPr>
            <p:ph type="title"/>
          </p:nvPr>
        </p:nvSpPr>
        <p:spPr/>
        <p:txBody>
          <a:bodyPr/>
          <a:lstStyle/>
          <a:p>
            <a:pPr eaLnBrk="1" hangingPunct="1"/>
            <a:r>
              <a:rPr lang="zh-CN" altLang="en-US"/>
              <a:t>进程</a:t>
            </a:r>
            <a:r>
              <a:rPr lang="en-US" altLang="zh-CN"/>
              <a:t>1</a:t>
            </a:r>
            <a:r>
              <a:rPr lang="zh-CN" altLang="en-US"/>
              <a:t>修改页面</a:t>
            </a:r>
            <a:r>
              <a:rPr lang="en-US" altLang="zh-CN"/>
              <a:t>C</a:t>
            </a:r>
            <a:r>
              <a:rPr lang="zh-CN" altLang="en-US"/>
              <a:t>前后</a:t>
            </a:r>
          </a:p>
        </p:txBody>
      </p:sp>
      <p:pic>
        <p:nvPicPr>
          <p:cNvPr id="38914" name="Picture 4" descr="9">
            <a:extLst>
              <a:ext uri="{FF2B5EF4-FFF2-40B4-BE49-F238E27FC236}">
                <a16:creationId xmlns:a16="http://schemas.microsoft.com/office/drawing/2014/main" id="{EF70AD69-1731-C88A-B438-9D26480428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182688"/>
            <a:ext cx="8329612" cy="255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5" name="Picture 4" descr="9">
            <a:extLst>
              <a:ext uri="{FF2B5EF4-FFF2-40B4-BE49-F238E27FC236}">
                <a16:creationId xmlns:a16="http://schemas.microsoft.com/office/drawing/2014/main" id="{947F9591-BC52-4329-0B8E-B3D8C3B27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3990975"/>
            <a:ext cx="8137525" cy="257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6AF2E507-645B-3AC9-E8EE-69AB27486E5C}"/>
              </a:ext>
            </a:extLst>
          </p:cNvPr>
          <p:cNvSpPr>
            <a:spLocks noGrp="1" noChangeArrowheads="1"/>
          </p:cNvSpPr>
          <p:nvPr>
            <p:ph type="title"/>
          </p:nvPr>
        </p:nvSpPr>
        <p:spPr>
          <a:xfrm>
            <a:off x="1042988" y="225431"/>
            <a:ext cx="7850187" cy="746125"/>
          </a:xfrm>
        </p:spPr>
        <p:txBody>
          <a:bodyPr/>
          <a:lstStyle/>
          <a:p>
            <a:r>
              <a:rPr lang="zh-CN" altLang="en-US" dirty="0"/>
              <a:t>页面置换 </a:t>
            </a:r>
          </a:p>
        </p:txBody>
      </p:sp>
      <p:sp>
        <p:nvSpPr>
          <p:cNvPr id="39938" name="Rectangle 3">
            <a:extLst>
              <a:ext uri="{FF2B5EF4-FFF2-40B4-BE49-F238E27FC236}">
                <a16:creationId xmlns:a16="http://schemas.microsoft.com/office/drawing/2014/main" id="{5A824F14-C4C6-63B2-821B-2560F9FB46D2}"/>
              </a:ext>
            </a:extLst>
          </p:cNvPr>
          <p:cNvSpPr>
            <a:spLocks noGrp="1" noChangeArrowheads="1"/>
          </p:cNvSpPr>
          <p:nvPr>
            <p:ph idx="1"/>
          </p:nvPr>
        </p:nvSpPr>
        <p:spPr>
          <a:xfrm>
            <a:off x="935038" y="1233488"/>
            <a:ext cx="7772400" cy="4895850"/>
          </a:xfrm>
        </p:spPr>
        <p:txBody>
          <a:bodyPr/>
          <a:lstStyle/>
          <a:p>
            <a:r>
              <a:rPr lang="zh-CN" altLang="en-US" dirty="0"/>
              <a:t>页面置换算法又称为页面淘汰算法，是用来选择换出页面的算法。</a:t>
            </a:r>
            <a:endParaRPr lang="en-US" altLang="zh-CN" dirty="0"/>
          </a:p>
          <a:p>
            <a:r>
              <a:rPr lang="zh-CN" altLang="en-US" dirty="0"/>
              <a:t>为了实现按需调页，要解决两个问题：</a:t>
            </a:r>
            <a:endParaRPr lang="en-US" altLang="zh-CN" dirty="0"/>
          </a:p>
          <a:p>
            <a:pPr lvl="1"/>
            <a:r>
              <a:rPr lang="zh-CN" altLang="en-US" dirty="0"/>
              <a:t>帧分配算法：决定为每个进程分配多少帧</a:t>
            </a:r>
            <a:endParaRPr lang="en-US" altLang="zh-CN" dirty="0"/>
          </a:p>
          <a:p>
            <a:pPr lvl="1"/>
            <a:r>
              <a:rPr lang="zh-CN" altLang="en-US" dirty="0"/>
              <a:t>页置换算法：选择要置换的页</a:t>
            </a:r>
          </a:p>
          <a:p>
            <a:endParaRPr lang="zh-CN" altLang="en-US" dirty="0"/>
          </a:p>
          <a:p>
            <a:endParaRPr lang="zh-CN" altLang="en-US" dirty="0"/>
          </a:p>
        </p:txBody>
      </p:sp>
    </p:spTree>
  </p:cSld>
  <p:clrMapOvr>
    <a:masterClrMapping/>
  </p:clrMapOvr>
  <p:transition spd="med">
    <p:zoom/>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813BBE61-9384-22B3-1274-F9663BB4ACD6}"/>
              </a:ext>
            </a:extLst>
          </p:cNvPr>
          <p:cNvSpPr>
            <a:spLocks noGrp="1" noChangeArrowheads="1"/>
          </p:cNvSpPr>
          <p:nvPr>
            <p:ph type="title"/>
          </p:nvPr>
        </p:nvSpPr>
        <p:spPr>
          <a:xfrm>
            <a:off x="1042988" y="225431"/>
            <a:ext cx="7850187" cy="746125"/>
          </a:xfrm>
        </p:spPr>
        <p:txBody>
          <a:bodyPr/>
          <a:lstStyle/>
          <a:p>
            <a:r>
              <a:rPr lang="zh-CN" altLang="en-US" dirty="0"/>
              <a:t>页错误与帧数量图</a:t>
            </a:r>
          </a:p>
        </p:txBody>
      </p:sp>
      <p:sp>
        <p:nvSpPr>
          <p:cNvPr id="5" name="内容占位符 4">
            <a:extLst>
              <a:ext uri="{FF2B5EF4-FFF2-40B4-BE49-F238E27FC236}">
                <a16:creationId xmlns:a16="http://schemas.microsoft.com/office/drawing/2014/main" id="{DF019033-ED2F-399D-3959-C6D96CE89170}"/>
              </a:ext>
            </a:extLst>
          </p:cNvPr>
          <p:cNvSpPr>
            <a:spLocks noGrp="1"/>
          </p:cNvSpPr>
          <p:nvPr>
            <p:ph idx="1"/>
          </p:nvPr>
        </p:nvSpPr>
        <p:spPr/>
        <p:txBody>
          <a:bodyPr/>
          <a:lstStyle/>
          <a:p>
            <a:endParaRPr lang="zh-CN" altLang="en-US"/>
          </a:p>
        </p:txBody>
      </p:sp>
      <p:pic>
        <p:nvPicPr>
          <p:cNvPr id="41986" name="Picture 4">
            <a:extLst>
              <a:ext uri="{FF2B5EF4-FFF2-40B4-BE49-F238E27FC236}">
                <a16:creationId xmlns:a16="http://schemas.microsoft.com/office/drawing/2014/main" id="{32FC7B61-5523-CBE4-2A3E-1A3E078695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44" t="12727" r="1289" b="12070"/>
          <a:stretch>
            <a:fillRect/>
          </a:stretch>
        </p:blipFill>
        <p:spPr bwMode="auto">
          <a:xfrm>
            <a:off x="488950" y="1395413"/>
            <a:ext cx="8186738" cy="473392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45602484-CF2B-7DF4-04B2-0298D025D2C8}"/>
              </a:ext>
            </a:extLst>
          </p:cNvPr>
          <p:cNvSpPr>
            <a:spLocks noGrp="1" noChangeArrowheads="1"/>
          </p:cNvSpPr>
          <p:nvPr>
            <p:ph type="title"/>
          </p:nvPr>
        </p:nvSpPr>
        <p:spPr>
          <a:xfrm>
            <a:off x="1042988" y="225431"/>
            <a:ext cx="7850187" cy="746125"/>
          </a:xfrm>
        </p:spPr>
        <p:txBody>
          <a:bodyPr/>
          <a:lstStyle/>
          <a:p>
            <a:r>
              <a:rPr lang="zh-CN" altLang="en-US" dirty="0"/>
              <a:t>先进先出置换算法</a:t>
            </a:r>
            <a:r>
              <a:rPr lang="en-US" altLang="zh-CN" dirty="0"/>
              <a:t>(FIFO) </a:t>
            </a:r>
            <a:endParaRPr lang="zh-CN" altLang="en-US" dirty="0"/>
          </a:p>
        </p:txBody>
      </p:sp>
      <p:sp>
        <p:nvSpPr>
          <p:cNvPr id="361475" name="Rectangle 3">
            <a:extLst>
              <a:ext uri="{FF2B5EF4-FFF2-40B4-BE49-F238E27FC236}">
                <a16:creationId xmlns:a16="http://schemas.microsoft.com/office/drawing/2014/main" id="{ED87637F-4AEA-552C-B97C-6EF325EC4B91}"/>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先进先出算法</a:t>
            </a:r>
            <a:r>
              <a:rPr lang="zh-CN" altLang="en-US" dirty="0"/>
              <a:t>：选择调入主存时间最长的页面予以淘汰。</a:t>
            </a:r>
          </a:p>
          <a:p>
            <a:r>
              <a:rPr lang="zh-CN" altLang="en-US" dirty="0"/>
              <a:t>特点：该算法实现比较简单，对按线性顺序访问的程序比较合适，但可能产生异常现象。很少使用纯粹的</a:t>
            </a:r>
            <a:r>
              <a:rPr lang="en-US" altLang="zh-CN" dirty="0"/>
              <a:t>FIFO</a:t>
            </a:r>
            <a:r>
              <a:rPr lang="zh-CN" altLang="en-US" dirty="0"/>
              <a:t>。</a:t>
            </a:r>
          </a:p>
          <a:p>
            <a:r>
              <a:rPr lang="en-US" altLang="zh-CN" dirty="0" err="1"/>
              <a:t>Belady</a:t>
            </a:r>
            <a:r>
              <a:rPr lang="zh-CN" altLang="en-US" dirty="0"/>
              <a:t>异常：在某些情况下，分配给进程的页面数增多，缺页次数反而增加。</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1475">
                                            <p:txEl>
                                              <p:pRg st="0" end="0"/>
                                            </p:txEl>
                                          </p:spTgt>
                                        </p:tgtEl>
                                        <p:attrNameLst>
                                          <p:attrName>style.visibility</p:attrName>
                                        </p:attrNameLst>
                                      </p:cBhvr>
                                      <p:to>
                                        <p:strVal val="visible"/>
                                      </p:to>
                                    </p:set>
                                    <p:animEffect transition="in" filter="checkerboard(across)">
                                      <p:cBhvr>
                                        <p:cTn id="7" dur="500"/>
                                        <p:tgtEl>
                                          <p:spTgt spid="3614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1475">
                                            <p:txEl>
                                              <p:pRg st="1" end="1"/>
                                            </p:txEl>
                                          </p:spTgt>
                                        </p:tgtEl>
                                        <p:attrNameLst>
                                          <p:attrName>style.visibility</p:attrName>
                                        </p:attrNameLst>
                                      </p:cBhvr>
                                      <p:to>
                                        <p:strVal val="visible"/>
                                      </p:to>
                                    </p:set>
                                    <p:animEffect transition="in" filter="checkerboard(across)">
                                      <p:cBhvr>
                                        <p:cTn id="12" dur="500"/>
                                        <p:tgtEl>
                                          <p:spTgt spid="3614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61475">
                                            <p:txEl>
                                              <p:pRg st="2" end="2"/>
                                            </p:txEl>
                                          </p:spTgt>
                                        </p:tgtEl>
                                        <p:attrNameLst>
                                          <p:attrName>style.visibility</p:attrName>
                                        </p:attrNameLst>
                                      </p:cBhvr>
                                      <p:to>
                                        <p:strVal val="visible"/>
                                      </p:to>
                                    </p:set>
                                    <p:animEffect transition="in" filter="checkerboard(across)">
                                      <p:cBhvr>
                                        <p:cTn id="17" dur="500"/>
                                        <p:tgtEl>
                                          <p:spTgt spid="3614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5" grpId="0"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9C270EA2-036A-E0A3-8F6E-C934F1BD58C5}"/>
              </a:ext>
            </a:extLst>
          </p:cNvPr>
          <p:cNvSpPr>
            <a:spLocks noGrp="1" noChangeArrowheads="1"/>
          </p:cNvSpPr>
          <p:nvPr>
            <p:ph type="title"/>
          </p:nvPr>
        </p:nvSpPr>
        <p:spPr/>
        <p:txBody>
          <a:bodyPr/>
          <a:lstStyle/>
          <a:p>
            <a:pPr eaLnBrk="1" hangingPunct="1"/>
            <a:r>
              <a:rPr lang="zh-CN" altLang="en-US" dirty="0"/>
              <a:t>示例</a:t>
            </a:r>
          </a:p>
        </p:txBody>
      </p:sp>
      <p:sp>
        <p:nvSpPr>
          <p:cNvPr id="44034" name="Rectangle 3">
            <a:extLst>
              <a:ext uri="{FF2B5EF4-FFF2-40B4-BE49-F238E27FC236}">
                <a16:creationId xmlns:a16="http://schemas.microsoft.com/office/drawing/2014/main" id="{BC9CBB3F-DBAA-5A64-373A-71E7498F81B9}"/>
              </a:ext>
            </a:extLst>
          </p:cNvPr>
          <p:cNvSpPr>
            <a:spLocks noGrp="1" noChangeArrowheads="1"/>
          </p:cNvSpPr>
          <p:nvPr>
            <p:ph idx="1"/>
          </p:nvPr>
        </p:nvSpPr>
        <p:spPr>
          <a:xfrm>
            <a:off x="647700" y="1341438"/>
            <a:ext cx="8267700" cy="4267200"/>
          </a:xfrm>
        </p:spPr>
        <p:txBody>
          <a:bodyPr/>
          <a:lstStyle/>
          <a:p>
            <a:pPr algn="just" eaLnBrk="1" hangingPunct="1"/>
            <a:r>
              <a:rPr lang="zh-CN" altLang="en-US" dirty="0"/>
              <a:t>引用串 ：</a:t>
            </a:r>
          </a:p>
          <a:p>
            <a:pPr algn="just" eaLnBrk="1" hangingPunct="1">
              <a:buFont typeface="Wingdings" pitchFamily="2" charset="2"/>
              <a:buNone/>
            </a:pPr>
            <a:r>
              <a:rPr lang="en-US" altLang="zh-CN" dirty="0"/>
              <a:t>   1, 2, 3, 4, 1, 2, 5, 1, 2, 3, 4, 5</a:t>
            </a:r>
            <a:endParaRPr lang="zh-CN" altLang="en-US" dirty="0"/>
          </a:p>
          <a:p>
            <a:pPr algn="just" eaLnBrk="1" hangingPunct="1"/>
            <a:r>
              <a:rPr lang="en-US" altLang="zh-CN" dirty="0"/>
              <a:t>3</a:t>
            </a:r>
            <a:r>
              <a:rPr lang="zh-CN" altLang="en-US" dirty="0"/>
              <a:t>个帧开始为空</a:t>
            </a:r>
            <a:endParaRPr lang="en-US" altLang="zh-CN" dirty="0"/>
          </a:p>
          <a:p>
            <a:pPr algn="just" eaLnBrk="1" hangingPunct="1"/>
            <a:r>
              <a:rPr lang="zh-CN" altLang="en-US" dirty="0">
                <a:latin typeface="Times New Roman" panose="02020603050405020304" pitchFamily="18" charset="0"/>
              </a:rPr>
              <a:t>采用先进先出置换算法时的页面置换情况如下所示：</a:t>
            </a:r>
          </a:p>
        </p:txBody>
      </p:sp>
    </p:spTree>
  </p:cSld>
  <p:clrMapOvr>
    <a:masterClrMapping/>
  </p:clrMapOvr>
  <p:transition spd="med">
    <p:zoom/>
  </p:transition>
</p:sld>
</file>

<file path=ppt/slides/slide1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971C4F50-CF2D-1B96-5303-ABB514FBA163}"/>
              </a:ext>
            </a:extLst>
          </p:cNvPr>
          <p:cNvSpPr>
            <a:spLocks noGrp="1" noChangeArrowheads="1"/>
          </p:cNvSpPr>
          <p:nvPr>
            <p:ph type="title"/>
          </p:nvPr>
        </p:nvSpPr>
        <p:spPr>
          <a:xfrm>
            <a:off x="1042988" y="225431"/>
            <a:ext cx="7850187" cy="746125"/>
          </a:xfrm>
        </p:spPr>
        <p:txBody>
          <a:bodyPr/>
          <a:lstStyle/>
          <a:p>
            <a:r>
              <a:rPr lang="zh-CN" altLang="en-US" sz="4000" dirty="0"/>
              <a:t>采用先进先出算法的页面置换情况</a:t>
            </a:r>
          </a:p>
        </p:txBody>
      </p:sp>
      <p:sp>
        <p:nvSpPr>
          <p:cNvPr id="363523" name="Rectangle 3">
            <a:extLst>
              <a:ext uri="{FF2B5EF4-FFF2-40B4-BE49-F238E27FC236}">
                <a16:creationId xmlns:a16="http://schemas.microsoft.com/office/drawing/2014/main" id="{0F0DB76A-487D-10ED-EC8C-FEE4ED1F2858}"/>
              </a:ext>
            </a:extLst>
          </p:cNvPr>
          <p:cNvSpPr>
            <a:spLocks noGrp="1" noChangeArrowheads="1"/>
          </p:cNvSpPr>
          <p:nvPr>
            <p:ph idx="1"/>
          </p:nvPr>
        </p:nvSpPr>
        <p:spPr>
          <a:xfrm>
            <a:off x="935038" y="4606924"/>
            <a:ext cx="7772400" cy="1522413"/>
          </a:xfrm>
        </p:spPr>
        <p:txBody>
          <a:bodyPr/>
          <a:lstStyle/>
          <a:p>
            <a:r>
              <a:rPr lang="zh-CN" altLang="en-US"/>
              <a:t>从上表中可以看出，共发生了9次缺页中断。其缺页率为9/12＝75% 。</a:t>
            </a:r>
          </a:p>
        </p:txBody>
      </p:sp>
      <p:sp>
        <p:nvSpPr>
          <p:cNvPr id="45059" name="Rectangle 4">
            <a:extLst>
              <a:ext uri="{FF2B5EF4-FFF2-40B4-BE49-F238E27FC236}">
                <a16:creationId xmlns:a16="http://schemas.microsoft.com/office/drawing/2014/main" id="{EE24B3E1-416D-7E93-DD62-90B0AC7E1F99}"/>
              </a:ext>
            </a:extLst>
          </p:cNvPr>
          <p:cNvSpPr>
            <a:spLocks noChangeArrowheads="1"/>
          </p:cNvSpPr>
          <p:nvPr/>
        </p:nvSpPr>
        <p:spPr bwMode="auto">
          <a:xfrm>
            <a:off x="7773988" y="3881438"/>
            <a:ext cx="6143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000"/>
          </a:p>
        </p:txBody>
      </p:sp>
      <p:sp>
        <p:nvSpPr>
          <p:cNvPr id="45060" name="Rectangle 5">
            <a:extLst>
              <a:ext uri="{FF2B5EF4-FFF2-40B4-BE49-F238E27FC236}">
                <a16:creationId xmlns:a16="http://schemas.microsoft.com/office/drawing/2014/main" id="{701E65F6-1067-CBF4-8513-A1823EB57C74}"/>
              </a:ext>
            </a:extLst>
          </p:cNvPr>
          <p:cNvSpPr>
            <a:spLocks noChangeArrowheads="1"/>
          </p:cNvSpPr>
          <p:nvPr/>
        </p:nvSpPr>
        <p:spPr bwMode="auto">
          <a:xfrm>
            <a:off x="7773988" y="3363913"/>
            <a:ext cx="6143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5061" name="Rectangle 6">
            <a:extLst>
              <a:ext uri="{FF2B5EF4-FFF2-40B4-BE49-F238E27FC236}">
                <a16:creationId xmlns:a16="http://schemas.microsoft.com/office/drawing/2014/main" id="{21089DDD-F11A-A5CC-64DC-3CC8DDD9407B}"/>
              </a:ext>
            </a:extLst>
          </p:cNvPr>
          <p:cNvSpPr>
            <a:spLocks noChangeArrowheads="1"/>
          </p:cNvSpPr>
          <p:nvPr/>
        </p:nvSpPr>
        <p:spPr bwMode="auto">
          <a:xfrm>
            <a:off x="7773988" y="2830513"/>
            <a:ext cx="6143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5062" name="Rectangle 7">
            <a:extLst>
              <a:ext uri="{FF2B5EF4-FFF2-40B4-BE49-F238E27FC236}">
                <a16:creationId xmlns:a16="http://schemas.microsoft.com/office/drawing/2014/main" id="{A3474AAD-8A9D-D436-8DBF-76DCBA106135}"/>
              </a:ext>
            </a:extLst>
          </p:cNvPr>
          <p:cNvSpPr>
            <a:spLocks noChangeArrowheads="1"/>
          </p:cNvSpPr>
          <p:nvPr/>
        </p:nvSpPr>
        <p:spPr bwMode="auto">
          <a:xfrm>
            <a:off x="7773988" y="2251075"/>
            <a:ext cx="6143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5063" name="Rectangle 8">
            <a:extLst>
              <a:ext uri="{FF2B5EF4-FFF2-40B4-BE49-F238E27FC236}">
                <a16:creationId xmlns:a16="http://schemas.microsoft.com/office/drawing/2014/main" id="{086F90E3-9613-18E0-EE5C-62069A61C5AD}"/>
              </a:ext>
            </a:extLst>
          </p:cNvPr>
          <p:cNvSpPr>
            <a:spLocks noChangeArrowheads="1"/>
          </p:cNvSpPr>
          <p:nvPr/>
        </p:nvSpPr>
        <p:spPr bwMode="auto">
          <a:xfrm>
            <a:off x="7773988" y="1412875"/>
            <a:ext cx="6143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363529" name="Rectangle 9">
            <a:extLst>
              <a:ext uri="{FF2B5EF4-FFF2-40B4-BE49-F238E27FC236}">
                <a16:creationId xmlns:a16="http://schemas.microsoft.com/office/drawing/2014/main" id="{228A2C55-FA40-19B7-194F-53AC70C50FCE}"/>
              </a:ext>
            </a:extLst>
          </p:cNvPr>
          <p:cNvSpPr>
            <a:spLocks noChangeArrowheads="1"/>
          </p:cNvSpPr>
          <p:nvPr/>
        </p:nvSpPr>
        <p:spPr bwMode="auto">
          <a:xfrm>
            <a:off x="7243763" y="3881438"/>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3530" name="Rectangle 10">
            <a:extLst>
              <a:ext uri="{FF2B5EF4-FFF2-40B4-BE49-F238E27FC236}">
                <a16:creationId xmlns:a16="http://schemas.microsoft.com/office/drawing/2014/main" id="{1EEEDFCE-EBD7-03C3-D2AD-93DA0689AA65}"/>
              </a:ext>
            </a:extLst>
          </p:cNvPr>
          <p:cNvSpPr>
            <a:spLocks noChangeArrowheads="1"/>
          </p:cNvSpPr>
          <p:nvPr/>
        </p:nvSpPr>
        <p:spPr bwMode="auto">
          <a:xfrm>
            <a:off x="7243763" y="3363913"/>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363531" name="Rectangle 11">
            <a:extLst>
              <a:ext uri="{FF2B5EF4-FFF2-40B4-BE49-F238E27FC236}">
                <a16:creationId xmlns:a16="http://schemas.microsoft.com/office/drawing/2014/main" id="{2673FFA4-FFD5-047A-DD84-57E52A6DC81B}"/>
              </a:ext>
            </a:extLst>
          </p:cNvPr>
          <p:cNvSpPr>
            <a:spLocks noChangeArrowheads="1"/>
          </p:cNvSpPr>
          <p:nvPr/>
        </p:nvSpPr>
        <p:spPr bwMode="auto">
          <a:xfrm>
            <a:off x="7243763" y="2830513"/>
            <a:ext cx="5302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3532" name="Rectangle 12">
            <a:extLst>
              <a:ext uri="{FF2B5EF4-FFF2-40B4-BE49-F238E27FC236}">
                <a16:creationId xmlns:a16="http://schemas.microsoft.com/office/drawing/2014/main" id="{9197E736-D3B2-C3DA-1BCA-DB329F6552EF}"/>
              </a:ext>
            </a:extLst>
          </p:cNvPr>
          <p:cNvSpPr>
            <a:spLocks noChangeArrowheads="1"/>
          </p:cNvSpPr>
          <p:nvPr/>
        </p:nvSpPr>
        <p:spPr bwMode="auto">
          <a:xfrm>
            <a:off x="7243763" y="2251075"/>
            <a:ext cx="530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45068" name="Rectangle 13">
            <a:extLst>
              <a:ext uri="{FF2B5EF4-FFF2-40B4-BE49-F238E27FC236}">
                <a16:creationId xmlns:a16="http://schemas.microsoft.com/office/drawing/2014/main" id="{0D765926-EFF7-3229-92BC-A8F64EACBF27}"/>
              </a:ext>
            </a:extLst>
          </p:cNvPr>
          <p:cNvSpPr>
            <a:spLocks noChangeArrowheads="1"/>
          </p:cNvSpPr>
          <p:nvPr/>
        </p:nvSpPr>
        <p:spPr bwMode="auto">
          <a:xfrm>
            <a:off x="7243763" y="1412875"/>
            <a:ext cx="5302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363534" name="Rectangle 14">
            <a:extLst>
              <a:ext uri="{FF2B5EF4-FFF2-40B4-BE49-F238E27FC236}">
                <a16:creationId xmlns:a16="http://schemas.microsoft.com/office/drawing/2014/main" id="{23E96CAD-C712-CC4A-C416-C60BF41BEAAB}"/>
              </a:ext>
            </a:extLst>
          </p:cNvPr>
          <p:cNvSpPr>
            <a:spLocks noChangeArrowheads="1"/>
          </p:cNvSpPr>
          <p:nvPr/>
        </p:nvSpPr>
        <p:spPr bwMode="auto">
          <a:xfrm>
            <a:off x="6707188"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3535" name="Rectangle 15">
            <a:extLst>
              <a:ext uri="{FF2B5EF4-FFF2-40B4-BE49-F238E27FC236}">
                <a16:creationId xmlns:a16="http://schemas.microsoft.com/office/drawing/2014/main" id="{C08875CA-16E4-DA8E-3959-A7620086E35E}"/>
              </a:ext>
            </a:extLst>
          </p:cNvPr>
          <p:cNvSpPr>
            <a:spLocks noChangeArrowheads="1"/>
          </p:cNvSpPr>
          <p:nvPr/>
        </p:nvSpPr>
        <p:spPr bwMode="auto">
          <a:xfrm>
            <a:off x="6707188"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3536" name="Rectangle 16">
            <a:extLst>
              <a:ext uri="{FF2B5EF4-FFF2-40B4-BE49-F238E27FC236}">
                <a16:creationId xmlns:a16="http://schemas.microsoft.com/office/drawing/2014/main" id="{211A47FC-BC24-5D67-2A03-E366BCD531F3}"/>
              </a:ext>
            </a:extLst>
          </p:cNvPr>
          <p:cNvSpPr>
            <a:spLocks noChangeArrowheads="1"/>
          </p:cNvSpPr>
          <p:nvPr/>
        </p:nvSpPr>
        <p:spPr bwMode="auto">
          <a:xfrm>
            <a:off x="6707188"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3537" name="Rectangle 17">
            <a:extLst>
              <a:ext uri="{FF2B5EF4-FFF2-40B4-BE49-F238E27FC236}">
                <a16:creationId xmlns:a16="http://schemas.microsoft.com/office/drawing/2014/main" id="{63442717-1912-C561-6F62-FEE30AB8AF29}"/>
              </a:ext>
            </a:extLst>
          </p:cNvPr>
          <p:cNvSpPr>
            <a:spLocks noChangeArrowheads="1"/>
          </p:cNvSpPr>
          <p:nvPr/>
        </p:nvSpPr>
        <p:spPr bwMode="auto">
          <a:xfrm>
            <a:off x="6707188"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45073" name="Rectangle 18">
            <a:extLst>
              <a:ext uri="{FF2B5EF4-FFF2-40B4-BE49-F238E27FC236}">
                <a16:creationId xmlns:a16="http://schemas.microsoft.com/office/drawing/2014/main" id="{5A1E17CB-D3BF-3BFD-E4B3-7C7CEBEC727F}"/>
              </a:ext>
            </a:extLst>
          </p:cNvPr>
          <p:cNvSpPr>
            <a:spLocks noChangeArrowheads="1"/>
          </p:cNvSpPr>
          <p:nvPr/>
        </p:nvSpPr>
        <p:spPr bwMode="auto">
          <a:xfrm>
            <a:off x="6707188"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45074" name="Rectangle 19">
            <a:extLst>
              <a:ext uri="{FF2B5EF4-FFF2-40B4-BE49-F238E27FC236}">
                <a16:creationId xmlns:a16="http://schemas.microsoft.com/office/drawing/2014/main" id="{E4D32B8F-B227-4042-DEEB-9D526DC80FFD}"/>
              </a:ext>
            </a:extLst>
          </p:cNvPr>
          <p:cNvSpPr>
            <a:spLocks noChangeArrowheads="1"/>
          </p:cNvSpPr>
          <p:nvPr/>
        </p:nvSpPr>
        <p:spPr bwMode="auto">
          <a:xfrm>
            <a:off x="6170613"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45075" name="Rectangle 20">
            <a:extLst>
              <a:ext uri="{FF2B5EF4-FFF2-40B4-BE49-F238E27FC236}">
                <a16:creationId xmlns:a16="http://schemas.microsoft.com/office/drawing/2014/main" id="{7FCE8765-CBA4-AADF-7966-262D6518A4E3}"/>
              </a:ext>
            </a:extLst>
          </p:cNvPr>
          <p:cNvSpPr>
            <a:spLocks noChangeArrowheads="1"/>
          </p:cNvSpPr>
          <p:nvPr/>
        </p:nvSpPr>
        <p:spPr bwMode="auto">
          <a:xfrm>
            <a:off x="6170613"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5076" name="Rectangle 21">
            <a:extLst>
              <a:ext uri="{FF2B5EF4-FFF2-40B4-BE49-F238E27FC236}">
                <a16:creationId xmlns:a16="http://schemas.microsoft.com/office/drawing/2014/main" id="{76FD8DEB-B67E-96DD-D5A4-013D98A99A07}"/>
              </a:ext>
            </a:extLst>
          </p:cNvPr>
          <p:cNvSpPr>
            <a:spLocks noChangeArrowheads="1"/>
          </p:cNvSpPr>
          <p:nvPr/>
        </p:nvSpPr>
        <p:spPr bwMode="auto">
          <a:xfrm>
            <a:off x="6170613"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5077" name="Rectangle 22">
            <a:extLst>
              <a:ext uri="{FF2B5EF4-FFF2-40B4-BE49-F238E27FC236}">
                <a16:creationId xmlns:a16="http://schemas.microsoft.com/office/drawing/2014/main" id="{A34A5A97-733A-EE5A-5D84-DF7375C4B6D8}"/>
              </a:ext>
            </a:extLst>
          </p:cNvPr>
          <p:cNvSpPr>
            <a:spLocks noChangeArrowheads="1"/>
          </p:cNvSpPr>
          <p:nvPr/>
        </p:nvSpPr>
        <p:spPr bwMode="auto">
          <a:xfrm>
            <a:off x="6170613"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5078" name="Rectangle 23">
            <a:extLst>
              <a:ext uri="{FF2B5EF4-FFF2-40B4-BE49-F238E27FC236}">
                <a16:creationId xmlns:a16="http://schemas.microsoft.com/office/drawing/2014/main" id="{84AD174B-5BAD-5020-B66D-1B21595A3290}"/>
              </a:ext>
            </a:extLst>
          </p:cNvPr>
          <p:cNvSpPr>
            <a:spLocks noChangeArrowheads="1"/>
          </p:cNvSpPr>
          <p:nvPr/>
        </p:nvSpPr>
        <p:spPr bwMode="auto">
          <a:xfrm>
            <a:off x="6170613"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45079" name="Rectangle 24">
            <a:extLst>
              <a:ext uri="{FF2B5EF4-FFF2-40B4-BE49-F238E27FC236}">
                <a16:creationId xmlns:a16="http://schemas.microsoft.com/office/drawing/2014/main" id="{F5F0E9B7-0FD5-FC32-54A0-0BBBF0A589B9}"/>
              </a:ext>
            </a:extLst>
          </p:cNvPr>
          <p:cNvSpPr>
            <a:spLocks noChangeArrowheads="1"/>
          </p:cNvSpPr>
          <p:nvPr/>
        </p:nvSpPr>
        <p:spPr bwMode="auto">
          <a:xfrm>
            <a:off x="5632450" y="3881438"/>
            <a:ext cx="5381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45080" name="Rectangle 25">
            <a:extLst>
              <a:ext uri="{FF2B5EF4-FFF2-40B4-BE49-F238E27FC236}">
                <a16:creationId xmlns:a16="http://schemas.microsoft.com/office/drawing/2014/main" id="{C741E0A9-E35A-21AA-4929-176C6B5A6466}"/>
              </a:ext>
            </a:extLst>
          </p:cNvPr>
          <p:cNvSpPr>
            <a:spLocks noChangeArrowheads="1"/>
          </p:cNvSpPr>
          <p:nvPr/>
        </p:nvSpPr>
        <p:spPr bwMode="auto">
          <a:xfrm>
            <a:off x="5632450" y="3363913"/>
            <a:ext cx="5381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5081" name="Rectangle 26">
            <a:extLst>
              <a:ext uri="{FF2B5EF4-FFF2-40B4-BE49-F238E27FC236}">
                <a16:creationId xmlns:a16="http://schemas.microsoft.com/office/drawing/2014/main" id="{D7C90203-C81B-4F97-06F8-6B1AD9CF3FE2}"/>
              </a:ext>
            </a:extLst>
          </p:cNvPr>
          <p:cNvSpPr>
            <a:spLocks noChangeArrowheads="1"/>
          </p:cNvSpPr>
          <p:nvPr/>
        </p:nvSpPr>
        <p:spPr bwMode="auto">
          <a:xfrm>
            <a:off x="5632450" y="2830513"/>
            <a:ext cx="5381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5082" name="Rectangle 27">
            <a:extLst>
              <a:ext uri="{FF2B5EF4-FFF2-40B4-BE49-F238E27FC236}">
                <a16:creationId xmlns:a16="http://schemas.microsoft.com/office/drawing/2014/main" id="{EA2BC6CD-D0EA-8B85-3E98-B3E172C4286C}"/>
              </a:ext>
            </a:extLst>
          </p:cNvPr>
          <p:cNvSpPr>
            <a:spLocks noChangeArrowheads="1"/>
          </p:cNvSpPr>
          <p:nvPr/>
        </p:nvSpPr>
        <p:spPr bwMode="auto">
          <a:xfrm>
            <a:off x="5632450" y="2251075"/>
            <a:ext cx="5381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5083" name="Rectangle 28">
            <a:extLst>
              <a:ext uri="{FF2B5EF4-FFF2-40B4-BE49-F238E27FC236}">
                <a16:creationId xmlns:a16="http://schemas.microsoft.com/office/drawing/2014/main" id="{E970824E-A3D6-F8BC-3BB7-6194736A86E9}"/>
              </a:ext>
            </a:extLst>
          </p:cNvPr>
          <p:cNvSpPr>
            <a:spLocks noChangeArrowheads="1"/>
          </p:cNvSpPr>
          <p:nvPr/>
        </p:nvSpPr>
        <p:spPr bwMode="auto">
          <a:xfrm>
            <a:off x="5632450" y="1412875"/>
            <a:ext cx="53816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3549" name="Rectangle 29">
            <a:extLst>
              <a:ext uri="{FF2B5EF4-FFF2-40B4-BE49-F238E27FC236}">
                <a16:creationId xmlns:a16="http://schemas.microsoft.com/office/drawing/2014/main" id="{1FE8A99F-8CC4-084B-3C5C-D0274A5BEA57}"/>
              </a:ext>
            </a:extLst>
          </p:cNvPr>
          <p:cNvSpPr>
            <a:spLocks noChangeArrowheads="1"/>
          </p:cNvSpPr>
          <p:nvPr/>
        </p:nvSpPr>
        <p:spPr bwMode="auto">
          <a:xfrm>
            <a:off x="5095875"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3550" name="Rectangle 30">
            <a:extLst>
              <a:ext uri="{FF2B5EF4-FFF2-40B4-BE49-F238E27FC236}">
                <a16:creationId xmlns:a16="http://schemas.microsoft.com/office/drawing/2014/main" id="{DA99C401-2510-3095-EA68-2343AD3C6794}"/>
              </a:ext>
            </a:extLst>
          </p:cNvPr>
          <p:cNvSpPr>
            <a:spLocks noChangeArrowheads="1"/>
          </p:cNvSpPr>
          <p:nvPr/>
        </p:nvSpPr>
        <p:spPr bwMode="auto">
          <a:xfrm>
            <a:off x="5095875"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3551" name="Rectangle 31">
            <a:extLst>
              <a:ext uri="{FF2B5EF4-FFF2-40B4-BE49-F238E27FC236}">
                <a16:creationId xmlns:a16="http://schemas.microsoft.com/office/drawing/2014/main" id="{B520FFCA-23FF-976E-84A7-01D4E97F3126}"/>
              </a:ext>
            </a:extLst>
          </p:cNvPr>
          <p:cNvSpPr>
            <a:spLocks noChangeArrowheads="1"/>
          </p:cNvSpPr>
          <p:nvPr/>
        </p:nvSpPr>
        <p:spPr bwMode="auto">
          <a:xfrm>
            <a:off x="5095875"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3552" name="Rectangle 32">
            <a:extLst>
              <a:ext uri="{FF2B5EF4-FFF2-40B4-BE49-F238E27FC236}">
                <a16:creationId xmlns:a16="http://schemas.microsoft.com/office/drawing/2014/main" id="{E4D7613E-3A53-1E0B-E625-C6C133036AFC}"/>
              </a:ext>
            </a:extLst>
          </p:cNvPr>
          <p:cNvSpPr>
            <a:spLocks noChangeArrowheads="1"/>
          </p:cNvSpPr>
          <p:nvPr/>
        </p:nvSpPr>
        <p:spPr bwMode="auto">
          <a:xfrm>
            <a:off x="5095875"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45088" name="Rectangle 33">
            <a:extLst>
              <a:ext uri="{FF2B5EF4-FFF2-40B4-BE49-F238E27FC236}">
                <a16:creationId xmlns:a16="http://schemas.microsoft.com/office/drawing/2014/main" id="{16F4CA88-398E-5803-A9F2-0183E56D37C5}"/>
              </a:ext>
            </a:extLst>
          </p:cNvPr>
          <p:cNvSpPr>
            <a:spLocks noChangeArrowheads="1"/>
          </p:cNvSpPr>
          <p:nvPr/>
        </p:nvSpPr>
        <p:spPr bwMode="auto">
          <a:xfrm>
            <a:off x="5095875"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363554" name="Rectangle 34">
            <a:extLst>
              <a:ext uri="{FF2B5EF4-FFF2-40B4-BE49-F238E27FC236}">
                <a16:creationId xmlns:a16="http://schemas.microsoft.com/office/drawing/2014/main" id="{EDF65CFC-CB0A-CE01-97FB-6A337EB790DC}"/>
              </a:ext>
            </a:extLst>
          </p:cNvPr>
          <p:cNvSpPr>
            <a:spLocks noChangeArrowheads="1"/>
          </p:cNvSpPr>
          <p:nvPr/>
        </p:nvSpPr>
        <p:spPr bwMode="auto">
          <a:xfrm>
            <a:off x="4559300"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3555" name="Rectangle 35">
            <a:extLst>
              <a:ext uri="{FF2B5EF4-FFF2-40B4-BE49-F238E27FC236}">
                <a16:creationId xmlns:a16="http://schemas.microsoft.com/office/drawing/2014/main" id="{0E57FAD3-3D37-2F73-62F8-CDF5509FCD11}"/>
              </a:ext>
            </a:extLst>
          </p:cNvPr>
          <p:cNvSpPr>
            <a:spLocks noChangeArrowheads="1"/>
          </p:cNvSpPr>
          <p:nvPr/>
        </p:nvSpPr>
        <p:spPr bwMode="auto">
          <a:xfrm>
            <a:off x="4559300"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3556" name="Rectangle 36">
            <a:extLst>
              <a:ext uri="{FF2B5EF4-FFF2-40B4-BE49-F238E27FC236}">
                <a16:creationId xmlns:a16="http://schemas.microsoft.com/office/drawing/2014/main" id="{6BF0B109-AB43-0300-4831-33D6C75A0AED}"/>
              </a:ext>
            </a:extLst>
          </p:cNvPr>
          <p:cNvSpPr>
            <a:spLocks noChangeArrowheads="1"/>
          </p:cNvSpPr>
          <p:nvPr/>
        </p:nvSpPr>
        <p:spPr bwMode="auto">
          <a:xfrm>
            <a:off x="4559300"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3557" name="Rectangle 37">
            <a:extLst>
              <a:ext uri="{FF2B5EF4-FFF2-40B4-BE49-F238E27FC236}">
                <a16:creationId xmlns:a16="http://schemas.microsoft.com/office/drawing/2014/main" id="{9BBEA6C4-84E8-23AA-7E2F-7AE43BC9640D}"/>
              </a:ext>
            </a:extLst>
          </p:cNvPr>
          <p:cNvSpPr>
            <a:spLocks noChangeArrowheads="1"/>
          </p:cNvSpPr>
          <p:nvPr/>
        </p:nvSpPr>
        <p:spPr bwMode="auto">
          <a:xfrm>
            <a:off x="4559300"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45093" name="Rectangle 38">
            <a:extLst>
              <a:ext uri="{FF2B5EF4-FFF2-40B4-BE49-F238E27FC236}">
                <a16:creationId xmlns:a16="http://schemas.microsoft.com/office/drawing/2014/main" id="{5D45E0F8-B981-54F7-3A5A-9F12A7F988BB}"/>
              </a:ext>
            </a:extLst>
          </p:cNvPr>
          <p:cNvSpPr>
            <a:spLocks noChangeArrowheads="1"/>
          </p:cNvSpPr>
          <p:nvPr/>
        </p:nvSpPr>
        <p:spPr bwMode="auto">
          <a:xfrm>
            <a:off x="4559300"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3559" name="Rectangle 39">
            <a:extLst>
              <a:ext uri="{FF2B5EF4-FFF2-40B4-BE49-F238E27FC236}">
                <a16:creationId xmlns:a16="http://schemas.microsoft.com/office/drawing/2014/main" id="{14C194CE-2FCE-A2B8-47C7-F4B05ABC45DD}"/>
              </a:ext>
            </a:extLst>
          </p:cNvPr>
          <p:cNvSpPr>
            <a:spLocks noChangeArrowheads="1"/>
          </p:cNvSpPr>
          <p:nvPr/>
        </p:nvSpPr>
        <p:spPr bwMode="auto">
          <a:xfrm>
            <a:off x="4022725"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3560" name="Rectangle 40">
            <a:extLst>
              <a:ext uri="{FF2B5EF4-FFF2-40B4-BE49-F238E27FC236}">
                <a16:creationId xmlns:a16="http://schemas.microsoft.com/office/drawing/2014/main" id="{CAA626D8-26E3-4955-9F34-5C2CF5DD94DE}"/>
              </a:ext>
            </a:extLst>
          </p:cNvPr>
          <p:cNvSpPr>
            <a:spLocks noChangeArrowheads="1"/>
          </p:cNvSpPr>
          <p:nvPr/>
        </p:nvSpPr>
        <p:spPr bwMode="auto">
          <a:xfrm>
            <a:off x="4022725"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3561" name="Rectangle 41">
            <a:extLst>
              <a:ext uri="{FF2B5EF4-FFF2-40B4-BE49-F238E27FC236}">
                <a16:creationId xmlns:a16="http://schemas.microsoft.com/office/drawing/2014/main" id="{04C08EFB-A917-59D2-2EDD-41733759BFB9}"/>
              </a:ext>
            </a:extLst>
          </p:cNvPr>
          <p:cNvSpPr>
            <a:spLocks noChangeArrowheads="1"/>
          </p:cNvSpPr>
          <p:nvPr/>
        </p:nvSpPr>
        <p:spPr bwMode="auto">
          <a:xfrm>
            <a:off x="4022725"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3562" name="Rectangle 42">
            <a:extLst>
              <a:ext uri="{FF2B5EF4-FFF2-40B4-BE49-F238E27FC236}">
                <a16:creationId xmlns:a16="http://schemas.microsoft.com/office/drawing/2014/main" id="{36BE9720-5DAB-A223-F5C8-82A97F86A0E5}"/>
              </a:ext>
            </a:extLst>
          </p:cNvPr>
          <p:cNvSpPr>
            <a:spLocks noChangeArrowheads="1"/>
          </p:cNvSpPr>
          <p:nvPr/>
        </p:nvSpPr>
        <p:spPr bwMode="auto">
          <a:xfrm>
            <a:off x="4022725"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45098" name="Rectangle 43">
            <a:extLst>
              <a:ext uri="{FF2B5EF4-FFF2-40B4-BE49-F238E27FC236}">
                <a16:creationId xmlns:a16="http://schemas.microsoft.com/office/drawing/2014/main" id="{936A983B-C989-5990-9F30-01DC31745876}"/>
              </a:ext>
            </a:extLst>
          </p:cNvPr>
          <p:cNvSpPr>
            <a:spLocks noChangeArrowheads="1"/>
          </p:cNvSpPr>
          <p:nvPr/>
        </p:nvSpPr>
        <p:spPr bwMode="auto">
          <a:xfrm>
            <a:off x="4022725"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3564" name="Rectangle 44">
            <a:extLst>
              <a:ext uri="{FF2B5EF4-FFF2-40B4-BE49-F238E27FC236}">
                <a16:creationId xmlns:a16="http://schemas.microsoft.com/office/drawing/2014/main" id="{3CC0A414-E22F-2681-CFA0-36990333FD07}"/>
              </a:ext>
            </a:extLst>
          </p:cNvPr>
          <p:cNvSpPr>
            <a:spLocks noChangeArrowheads="1"/>
          </p:cNvSpPr>
          <p:nvPr/>
        </p:nvSpPr>
        <p:spPr bwMode="auto">
          <a:xfrm>
            <a:off x="3486150"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3565" name="Rectangle 45">
            <a:extLst>
              <a:ext uri="{FF2B5EF4-FFF2-40B4-BE49-F238E27FC236}">
                <a16:creationId xmlns:a16="http://schemas.microsoft.com/office/drawing/2014/main" id="{9ABA09A9-6F48-6B97-E5EC-4C5D98B760D9}"/>
              </a:ext>
            </a:extLst>
          </p:cNvPr>
          <p:cNvSpPr>
            <a:spLocks noChangeArrowheads="1"/>
          </p:cNvSpPr>
          <p:nvPr/>
        </p:nvSpPr>
        <p:spPr bwMode="auto">
          <a:xfrm>
            <a:off x="3486150"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3566" name="Rectangle 46">
            <a:extLst>
              <a:ext uri="{FF2B5EF4-FFF2-40B4-BE49-F238E27FC236}">
                <a16:creationId xmlns:a16="http://schemas.microsoft.com/office/drawing/2014/main" id="{79DC2D6D-0285-B877-1F47-6271F2241265}"/>
              </a:ext>
            </a:extLst>
          </p:cNvPr>
          <p:cNvSpPr>
            <a:spLocks noChangeArrowheads="1"/>
          </p:cNvSpPr>
          <p:nvPr/>
        </p:nvSpPr>
        <p:spPr bwMode="auto">
          <a:xfrm>
            <a:off x="3486150"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3567" name="Rectangle 47">
            <a:extLst>
              <a:ext uri="{FF2B5EF4-FFF2-40B4-BE49-F238E27FC236}">
                <a16:creationId xmlns:a16="http://schemas.microsoft.com/office/drawing/2014/main" id="{AC853F63-806F-E101-5782-A01FFD6FC5A9}"/>
              </a:ext>
            </a:extLst>
          </p:cNvPr>
          <p:cNvSpPr>
            <a:spLocks noChangeArrowheads="1"/>
          </p:cNvSpPr>
          <p:nvPr/>
        </p:nvSpPr>
        <p:spPr bwMode="auto">
          <a:xfrm>
            <a:off x="3486150"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45103" name="Rectangle 48">
            <a:extLst>
              <a:ext uri="{FF2B5EF4-FFF2-40B4-BE49-F238E27FC236}">
                <a16:creationId xmlns:a16="http://schemas.microsoft.com/office/drawing/2014/main" id="{4B42D1DE-AB33-A933-D1B0-5E3955A11BB3}"/>
              </a:ext>
            </a:extLst>
          </p:cNvPr>
          <p:cNvSpPr>
            <a:spLocks noChangeArrowheads="1"/>
          </p:cNvSpPr>
          <p:nvPr/>
        </p:nvSpPr>
        <p:spPr bwMode="auto">
          <a:xfrm>
            <a:off x="3486150"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363569" name="Rectangle 49">
            <a:extLst>
              <a:ext uri="{FF2B5EF4-FFF2-40B4-BE49-F238E27FC236}">
                <a16:creationId xmlns:a16="http://schemas.microsoft.com/office/drawing/2014/main" id="{4906FF71-C18A-155A-2D11-3E0CF3577DF1}"/>
              </a:ext>
            </a:extLst>
          </p:cNvPr>
          <p:cNvSpPr>
            <a:spLocks noChangeArrowheads="1"/>
          </p:cNvSpPr>
          <p:nvPr/>
        </p:nvSpPr>
        <p:spPr bwMode="auto">
          <a:xfrm>
            <a:off x="2949575"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3570" name="Rectangle 50">
            <a:extLst>
              <a:ext uri="{FF2B5EF4-FFF2-40B4-BE49-F238E27FC236}">
                <a16:creationId xmlns:a16="http://schemas.microsoft.com/office/drawing/2014/main" id="{E76DC47D-9ADF-DA63-329C-4593E27336E2}"/>
              </a:ext>
            </a:extLst>
          </p:cNvPr>
          <p:cNvSpPr>
            <a:spLocks noChangeArrowheads="1"/>
          </p:cNvSpPr>
          <p:nvPr/>
        </p:nvSpPr>
        <p:spPr bwMode="auto">
          <a:xfrm>
            <a:off x="2949575"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3571" name="Rectangle 51">
            <a:extLst>
              <a:ext uri="{FF2B5EF4-FFF2-40B4-BE49-F238E27FC236}">
                <a16:creationId xmlns:a16="http://schemas.microsoft.com/office/drawing/2014/main" id="{A28BDAAE-BCB1-9DE4-3C1B-D7FB77C937E0}"/>
              </a:ext>
            </a:extLst>
          </p:cNvPr>
          <p:cNvSpPr>
            <a:spLocks noChangeArrowheads="1"/>
          </p:cNvSpPr>
          <p:nvPr/>
        </p:nvSpPr>
        <p:spPr bwMode="auto">
          <a:xfrm>
            <a:off x="2949575"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3572" name="Rectangle 52">
            <a:extLst>
              <a:ext uri="{FF2B5EF4-FFF2-40B4-BE49-F238E27FC236}">
                <a16:creationId xmlns:a16="http://schemas.microsoft.com/office/drawing/2014/main" id="{CB7FF31C-037A-CDC5-E628-C627035AFC7E}"/>
              </a:ext>
            </a:extLst>
          </p:cNvPr>
          <p:cNvSpPr>
            <a:spLocks noChangeArrowheads="1"/>
          </p:cNvSpPr>
          <p:nvPr/>
        </p:nvSpPr>
        <p:spPr bwMode="auto">
          <a:xfrm>
            <a:off x="2949575"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45108" name="Rectangle 53">
            <a:extLst>
              <a:ext uri="{FF2B5EF4-FFF2-40B4-BE49-F238E27FC236}">
                <a16:creationId xmlns:a16="http://schemas.microsoft.com/office/drawing/2014/main" id="{33D16903-DFEE-03A5-05E5-68B8FA1E53C6}"/>
              </a:ext>
            </a:extLst>
          </p:cNvPr>
          <p:cNvSpPr>
            <a:spLocks noChangeArrowheads="1"/>
          </p:cNvSpPr>
          <p:nvPr/>
        </p:nvSpPr>
        <p:spPr bwMode="auto">
          <a:xfrm>
            <a:off x="2949575"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3574" name="Rectangle 54">
            <a:extLst>
              <a:ext uri="{FF2B5EF4-FFF2-40B4-BE49-F238E27FC236}">
                <a16:creationId xmlns:a16="http://schemas.microsoft.com/office/drawing/2014/main" id="{601FC960-FFBC-0F9A-22DC-652F87A88C45}"/>
              </a:ext>
            </a:extLst>
          </p:cNvPr>
          <p:cNvSpPr>
            <a:spLocks noChangeArrowheads="1"/>
          </p:cNvSpPr>
          <p:nvPr/>
        </p:nvSpPr>
        <p:spPr bwMode="auto">
          <a:xfrm>
            <a:off x="2413000"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45110" name="Rectangle 55">
            <a:extLst>
              <a:ext uri="{FF2B5EF4-FFF2-40B4-BE49-F238E27FC236}">
                <a16:creationId xmlns:a16="http://schemas.microsoft.com/office/drawing/2014/main" id="{336853DE-DDF6-336D-015B-7E02973F73E7}"/>
              </a:ext>
            </a:extLst>
          </p:cNvPr>
          <p:cNvSpPr>
            <a:spLocks noChangeArrowheads="1"/>
          </p:cNvSpPr>
          <p:nvPr/>
        </p:nvSpPr>
        <p:spPr bwMode="auto">
          <a:xfrm>
            <a:off x="2413000"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363576" name="Rectangle 56">
            <a:extLst>
              <a:ext uri="{FF2B5EF4-FFF2-40B4-BE49-F238E27FC236}">
                <a16:creationId xmlns:a16="http://schemas.microsoft.com/office/drawing/2014/main" id="{B7DDE813-02B8-DCA7-65C9-0D3EF054A631}"/>
              </a:ext>
            </a:extLst>
          </p:cNvPr>
          <p:cNvSpPr>
            <a:spLocks noChangeArrowheads="1"/>
          </p:cNvSpPr>
          <p:nvPr/>
        </p:nvSpPr>
        <p:spPr bwMode="auto">
          <a:xfrm>
            <a:off x="2413000"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3577" name="Rectangle 57">
            <a:extLst>
              <a:ext uri="{FF2B5EF4-FFF2-40B4-BE49-F238E27FC236}">
                <a16:creationId xmlns:a16="http://schemas.microsoft.com/office/drawing/2014/main" id="{2FC6C601-5E05-B88A-139B-0554C7A119AF}"/>
              </a:ext>
            </a:extLst>
          </p:cNvPr>
          <p:cNvSpPr>
            <a:spLocks noChangeArrowheads="1"/>
          </p:cNvSpPr>
          <p:nvPr/>
        </p:nvSpPr>
        <p:spPr bwMode="auto">
          <a:xfrm>
            <a:off x="2413000"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45113" name="Rectangle 58">
            <a:extLst>
              <a:ext uri="{FF2B5EF4-FFF2-40B4-BE49-F238E27FC236}">
                <a16:creationId xmlns:a16="http://schemas.microsoft.com/office/drawing/2014/main" id="{9250D9C5-C6C6-9F9D-5BE9-A14BCE3816D3}"/>
              </a:ext>
            </a:extLst>
          </p:cNvPr>
          <p:cNvSpPr>
            <a:spLocks noChangeArrowheads="1"/>
          </p:cNvSpPr>
          <p:nvPr/>
        </p:nvSpPr>
        <p:spPr bwMode="auto">
          <a:xfrm>
            <a:off x="2413000"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3579" name="Rectangle 59">
            <a:extLst>
              <a:ext uri="{FF2B5EF4-FFF2-40B4-BE49-F238E27FC236}">
                <a16:creationId xmlns:a16="http://schemas.microsoft.com/office/drawing/2014/main" id="{559D76D6-AB71-C712-8DDF-78F1931845B8}"/>
              </a:ext>
            </a:extLst>
          </p:cNvPr>
          <p:cNvSpPr>
            <a:spLocks noChangeArrowheads="1"/>
          </p:cNvSpPr>
          <p:nvPr/>
        </p:nvSpPr>
        <p:spPr bwMode="auto">
          <a:xfrm>
            <a:off x="1770063" y="3881438"/>
            <a:ext cx="64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45115" name="Rectangle 60">
            <a:extLst>
              <a:ext uri="{FF2B5EF4-FFF2-40B4-BE49-F238E27FC236}">
                <a16:creationId xmlns:a16="http://schemas.microsoft.com/office/drawing/2014/main" id="{6F48AFC9-B0B4-68BB-2725-C3ED1D45AC7F}"/>
              </a:ext>
            </a:extLst>
          </p:cNvPr>
          <p:cNvSpPr>
            <a:spLocks noChangeArrowheads="1"/>
          </p:cNvSpPr>
          <p:nvPr/>
        </p:nvSpPr>
        <p:spPr bwMode="auto">
          <a:xfrm>
            <a:off x="1770063" y="3363913"/>
            <a:ext cx="64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5116" name="Rectangle 61">
            <a:extLst>
              <a:ext uri="{FF2B5EF4-FFF2-40B4-BE49-F238E27FC236}">
                <a16:creationId xmlns:a16="http://schemas.microsoft.com/office/drawing/2014/main" id="{61EBBBF3-41EA-D052-6774-B9E4F2B87553}"/>
              </a:ext>
            </a:extLst>
          </p:cNvPr>
          <p:cNvSpPr>
            <a:spLocks noChangeArrowheads="1"/>
          </p:cNvSpPr>
          <p:nvPr/>
        </p:nvSpPr>
        <p:spPr bwMode="auto">
          <a:xfrm>
            <a:off x="1770063" y="2830513"/>
            <a:ext cx="6429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363582" name="Rectangle 62">
            <a:extLst>
              <a:ext uri="{FF2B5EF4-FFF2-40B4-BE49-F238E27FC236}">
                <a16:creationId xmlns:a16="http://schemas.microsoft.com/office/drawing/2014/main" id="{34DAA2B8-88F0-D7C7-DB20-81020301D0B7}"/>
              </a:ext>
            </a:extLst>
          </p:cNvPr>
          <p:cNvSpPr>
            <a:spLocks noChangeArrowheads="1"/>
          </p:cNvSpPr>
          <p:nvPr/>
        </p:nvSpPr>
        <p:spPr bwMode="auto">
          <a:xfrm>
            <a:off x="1770063" y="2251075"/>
            <a:ext cx="6429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45118" name="Rectangle 63">
            <a:extLst>
              <a:ext uri="{FF2B5EF4-FFF2-40B4-BE49-F238E27FC236}">
                <a16:creationId xmlns:a16="http://schemas.microsoft.com/office/drawing/2014/main" id="{3EC78608-70C5-022E-C516-8D2A39777E45}"/>
              </a:ext>
            </a:extLst>
          </p:cNvPr>
          <p:cNvSpPr>
            <a:spLocks noChangeArrowheads="1"/>
          </p:cNvSpPr>
          <p:nvPr/>
        </p:nvSpPr>
        <p:spPr bwMode="auto">
          <a:xfrm>
            <a:off x="1770063" y="1412875"/>
            <a:ext cx="64293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45119" name="Rectangle 64">
            <a:extLst>
              <a:ext uri="{FF2B5EF4-FFF2-40B4-BE49-F238E27FC236}">
                <a16:creationId xmlns:a16="http://schemas.microsoft.com/office/drawing/2014/main" id="{99FEC58E-C4D0-C5A8-D6D4-5C3B59AA8E72}"/>
              </a:ext>
            </a:extLst>
          </p:cNvPr>
          <p:cNvSpPr>
            <a:spLocks noChangeArrowheads="1"/>
          </p:cNvSpPr>
          <p:nvPr/>
        </p:nvSpPr>
        <p:spPr bwMode="auto">
          <a:xfrm>
            <a:off x="768350" y="3881438"/>
            <a:ext cx="10017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5120" name="Rectangle 65">
            <a:extLst>
              <a:ext uri="{FF2B5EF4-FFF2-40B4-BE49-F238E27FC236}">
                <a16:creationId xmlns:a16="http://schemas.microsoft.com/office/drawing/2014/main" id="{4C88D982-1AD6-4F1B-06BC-404475727FFC}"/>
              </a:ext>
            </a:extLst>
          </p:cNvPr>
          <p:cNvSpPr>
            <a:spLocks noChangeArrowheads="1"/>
          </p:cNvSpPr>
          <p:nvPr/>
        </p:nvSpPr>
        <p:spPr bwMode="auto">
          <a:xfrm>
            <a:off x="768350" y="3363913"/>
            <a:ext cx="10017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块3</a:t>
            </a:r>
          </a:p>
        </p:txBody>
      </p:sp>
      <p:sp>
        <p:nvSpPr>
          <p:cNvPr id="45121" name="Rectangle 66">
            <a:extLst>
              <a:ext uri="{FF2B5EF4-FFF2-40B4-BE49-F238E27FC236}">
                <a16:creationId xmlns:a16="http://schemas.microsoft.com/office/drawing/2014/main" id="{DE469078-6AC3-8ABD-83DD-D7383AE6466A}"/>
              </a:ext>
            </a:extLst>
          </p:cNvPr>
          <p:cNvSpPr>
            <a:spLocks noChangeArrowheads="1"/>
          </p:cNvSpPr>
          <p:nvPr/>
        </p:nvSpPr>
        <p:spPr bwMode="auto">
          <a:xfrm>
            <a:off x="768350" y="2830513"/>
            <a:ext cx="10017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块2</a:t>
            </a:r>
          </a:p>
        </p:txBody>
      </p:sp>
      <p:sp>
        <p:nvSpPr>
          <p:cNvPr id="45122" name="Rectangle 67">
            <a:extLst>
              <a:ext uri="{FF2B5EF4-FFF2-40B4-BE49-F238E27FC236}">
                <a16:creationId xmlns:a16="http://schemas.microsoft.com/office/drawing/2014/main" id="{EF91C38C-E41E-5ECD-040A-903DD6296916}"/>
              </a:ext>
            </a:extLst>
          </p:cNvPr>
          <p:cNvSpPr>
            <a:spLocks noChangeArrowheads="1"/>
          </p:cNvSpPr>
          <p:nvPr/>
        </p:nvSpPr>
        <p:spPr bwMode="auto">
          <a:xfrm>
            <a:off x="768350" y="2251075"/>
            <a:ext cx="10017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块1</a:t>
            </a:r>
          </a:p>
        </p:txBody>
      </p:sp>
      <p:sp>
        <p:nvSpPr>
          <p:cNvPr id="45123" name="Rectangle 68">
            <a:extLst>
              <a:ext uri="{FF2B5EF4-FFF2-40B4-BE49-F238E27FC236}">
                <a16:creationId xmlns:a16="http://schemas.microsoft.com/office/drawing/2014/main" id="{9C782045-7189-2EC3-164C-BBFFFDC3604B}"/>
              </a:ext>
            </a:extLst>
          </p:cNvPr>
          <p:cNvSpPr>
            <a:spLocks noChangeArrowheads="1"/>
          </p:cNvSpPr>
          <p:nvPr/>
        </p:nvSpPr>
        <p:spPr bwMode="auto">
          <a:xfrm>
            <a:off x="768350" y="1412875"/>
            <a:ext cx="100171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走向</a:t>
            </a:r>
          </a:p>
        </p:txBody>
      </p:sp>
      <p:sp>
        <p:nvSpPr>
          <p:cNvPr id="45124" name="Line 69">
            <a:extLst>
              <a:ext uri="{FF2B5EF4-FFF2-40B4-BE49-F238E27FC236}">
                <a16:creationId xmlns:a16="http://schemas.microsoft.com/office/drawing/2014/main" id="{EC16EADF-304B-D18E-D80D-6D4C204F9D3E}"/>
              </a:ext>
            </a:extLst>
          </p:cNvPr>
          <p:cNvSpPr>
            <a:spLocks noChangeShapeType="1"/>
          </p:cNvSpPr>
          <p:nvPr/>
        </p:nvSpPr>
        <p:spPr bwMode="auto">
          <a:xfrm>
            <a:off x="768350" y="1412875"/>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25" name="Line 70">
            <a:extLst>
              <a:ext uri="{FF2B5EF4-FFF2-40B4-BE49-F238E27FC236}">
                <a16:creationId xmlns:a16="http://schemas.microsoft.com/office/drawing/2014/main" id="{0FF5DD18-102A-CED7-2939-5E3B7474E7A7}"/>
              </a:ext>
            </a:extLst>
          </p:cNvPr>
          <p:cNvSpPr>
            <a:spLocks noChangeShapeType="1"/>
          </p:cNvSpPr>
          <p:nvPr/>
        </p:nvSpPr>
        <p:spPr bwMode="auto">
          <a:xfrm>
            <a:off x="768350" y="4398963"/>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26" name="Line 71">
            <a:extLst>
              <a:ext uri="{FF2B5EF4-FFF2-40B4-BE49-F238E27FC236}">
                <a16:creationId xmlns:a16="http://schemas.microsoft.com/office/drawing/2014/main" id="{BAA203A3-78CD-B8A4-8604-B5DDC24702C6}"/>
              </a:ext>
            </a:extLst>
          </p:cNvPr>
          <p:cNvSpPr>
            <a:spLocks noChangeShapeType="1"/>
          </p:cNvSpPr>
          <p:nvPr/>
        </p:nvSpPr>
        <p:spPr bwMode="auto">
          <a:xfrm>
            <a:off x="768350" y="1412875"/>
            <a:ext cx="0" cy="2986088"/>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27" name="Line 72">
            <a:extLst>
              <a:ext uri="{FF2B5EF4-FFF2-40B4-BE49-F238E27FC236}">
                <a16:creationId xmlns:a16="http://schemas.microsoft.com/office/drawing/2014/main" id="{EBBB4E0C-F23D-9FD7-A91F-F094EFE784BA}"/>
              </a:ext>
            </a:extLst>
          </p:cNvPr>
          <p:cNvSpPr>
            <a:spLocks noChangeShapeType="1"/>
          </p:cNvSpPr>
          <p:nvPr/>
        </p:nvSpPr>
        <p:spPr bwMode="auto">
          <a:xfrm>
            <a:off x="8388350" y="1412875"/>
            <a:ext cx="0" cy="2986088"/>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28" name="Line 73">
            <a:extLst>
              <a:ext uri="{FF2B5EF4-FFF2-40B4-BE49-F238E27FC236}">
                <a16:creationId xmlns:a16="http://schemas.microsoft.com/office/drawing/2014/main" id="{2B525CF7-AD20-F64F-B322-85D34627B86F}"/>
              </a:ext>
            </a:extLst>
          </p:cNvPr>
          <p:cNvSpPr>
            <a:spLocks noChangeShapeType="1"/>
          </p:cNvSpPr>
          <p:nvPr/>
        </p:nvSpPr>
        <p:spPr bwMode="auto">
          <a:xfrm>
            <a:off x="768350" y="2251075"/>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29" name="Line 74">
            <a:extLst>
              <a:ext uri="{FF2B5EF4-FFF2-40B4-BE49-F238E27FC236}">
                <a16:creationId xmlns:a16="http://schemas.microsoft.com/office/drawing/2014/main" id="{8F8F0063-EFCA-E8B0-8747-162B1CC946F2}"/>
              </a:ext>
            </a:extLst>
          </p:cNvPr>
          <p:cNvSpPr>
            <a:spLocks noChangeShapeType="1"/>
          </p:cNvSpPr>
          <p:nvPr/>
        </p:nvSpPr>
        <p:spPr bwMode="auto">
          <a:xfrm>
            <a:off x="768350" y="2830513"/>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30" name="Line 75">
            <a:extLst>
              <a:ext uri="{FF2B5EF4-FFF2-40B4-BE49-F238E27FC236}">
                <a16:creationId xmlns:a16="http://schemas.microsoft.com/office/drawing/2014/main" id="{F04DC9BA-21CF-F9F1-AEEE-DF77156E17E2}"/>
              </a:ext>
            </a:extLst>
          </p:cNvPr>
          <p:cNvSpPr>
            <a:spLocks noChangeShapeType="1"/>
          </p:cNvSpPr>
          <p:nvPr/>
        </p:nvSpPr>
        <p:spPr bwMode="auto">
          <a:xfrm>
            <a:off x="768350" y="3363913"/>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31" name="Line 76">
            <a:extLst>
              <a:ext uri="{FF2B5EF4-FFF2-40B4-BE49-F238E27FC236}">
                <a16:creationId xmlns:a16="http://schemas.microsoft.com/office/drawing/2014/main" id="{BDCAD4D6-BB58-0A53-3072-4C1AF434C658}"/>
              </a:ext>
            </a:extLst>
          </p:cNvPr>
          <p:cNvSpPr>
            <a:spLocks noChangeShapeType="1"/>
          </p:cNvSpPr>
          <p:nvPr/>
        </p:nvSpPr>
        <p:spPr bwMode="auto">
          <a:xfrm>
            <a:off x="768350" y="3881438"/>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32" name="Line 77">
            <a:extLst>
              <a:ext uri="{FF2B5EF4-FFF2-40B4-BE49-F238E27FC236}">
                <a16:creationId xmlns:a16="http://schemas.microsoft.com/office/drawing/2014/main" id="{F061C0E0-D54F-CEB8-1051-B8806883FD5D}"/>
              </a:ext>
            </a:extLst>
          </p:cNvPr>
          <p:cNvSpPr>
            <a:spLocks noChangeShapeType="1"/>
          </p:cNvSpPr>
          <p:nvPr/>
        </p:nvSpPr>
        <p:spPr bwMode="auto">
          <a:xfrm>
            <a:off x="1770063"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33" name="Line 78">
            <a:extLst>
              <a:ext uri="{FF2B5EF4-FFF2-40B4-BE49-F238E27FC236}">
                <a16:creationId xmlns:a16="http://schemas.microsoft.com/office/drawing/2014/main" id="{A8AC0F05-3619-5F97-45FF-D7EAB84DA7F3}"/>
              </a:ext>
            </a:extLst>
          </p:cNvPr>
          <p:cNvSpPr>
            <a:spLocks noChangeShapeType="1"/>
          </p:cNvSpPr>
          <p:nvPr/>
        </p:nvSpPr>
        <p:spPr bwMode="auto">
          <a:xfrm>
            <a:off x="2413000"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34" name="Line 79">
            <a:extLst>
              <a:ext uri="{FF2B5EF4-FFF2-40B4-BE49-F238E27FC236}">
                <a16:creationId xmlns:a16="http://schemas.microsoft.com/office/drawing/2014/main" id="{8E091CEE-DD36-2E75-0891-F4A305FB18D4}"/>
              </a:ext>
            </a:extLst>
          </p:cNvPr>
          <p:cNvSpPr>
            <a:spLocks noChangeShapeType="1"/>
          </p:cNvSpPr>
          <p:nvPr/>
        </p:nvSpPr>
        <p:spPr bwMode="auto">
          <a:xfrm>
            <a:off x="2949575"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35" name="Line 80">
            <a:extLst>
              <a:ext uri="{FF2B5EF4-FFF2-40B4-BE49-F238E27FC236}">
                <a16:creationId xmlns:a16="http://schemas.microsoft.com/office/drawing/2014/main" id="{C15E4FFD-4C6B-073D-A46B-DFD87BC238F6}"/>
              </a:ext>
            </a:extLst>
          </p:cNvPr>
          <p:cNvSpPr>
            <a:spLocks noChangeShapeType="1"/>
          </p:cNvSpPr>
          <p:nvPr/>
        </p:nvSpPr>
        <p:spPr bwMode="auto">
          <a:xfrm>
            <a:off x="3486150"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36" name="Line 81">
            <a:extLst>
              <a:ext uri="{FF2B5EF4-FFF2-40B4-BE49-F238E27FC236}">
                <a16:creationId xmlns:a16="http://schemas.microsoft.com/office/drawing/2014/main" id="{7C2E88B6-4C7B-7A70-B1D9-20B36DDABA83}"/>
              </a:ext>
            </a:extLst>
          </p:cNvPr>
          <p:cNvSpPr>
            <a:spLocks noChangeShapeType="1"/>
          </p:cNvSpPr>
          <p:nvPr/>
        </p:nvSpPr>
        <p:spPr bwMode="auto">
          <a:xfrm>
            <a:off x="4022725"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37" name="Line 82">
            <a:extLst>
              <a:ext uri="{FF2B5EF4-FFF2-40B4-BE49-F238E27FC236}">
                <a16:creationId xmlns:a16="http://schemas.microsoft.com/office/drawing/2014/main" id="{C92EEF42-0AB5-D24B-616A-E448EB35A15B}"/>
              </a:ext>
            </a:extLst>
          </p:cNvPr>
          <p:cNvSpPr>
            <a:spLocks noChangeShapeType="1"/>
          </p:cNvSpPr>
          <p:nvPr/>
        </p:nvSpPr>
        <p:spPr bwMode="auto">
          <a:xfrm>
            <a:off x="4559300"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38" name="Line 83">
            <a:extLst>
              <a:ext uri="{FF2B5EF4-FFF2-40B4-BE49-F238E27FC236}">
                <a16:creationId xmlns:a16="http://schemas.microsoft.com/office/drawing/2014/main" id="{7BE5E31D-255E-B8EC-F2AE-E5F3EEB80BD0}"/>
              </a:ext>
            </a:extLst>
          </p:cNvPr>
          <p:cNvSpPr>
            <a:spLocks noChangeShapeType="1"/>
          </p:cNvSpPr>
          <p:nvPr/>
        </p:nvSpPr>
        <p:spPr bwMode="auto">
          <a:xfrm>
            <a:off x="5095875"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39" name="Line 84">
            <a:extLst>
              <a:ext uri="{FF2B5EF4-FFF2-40B4-BE49-F238E27FC236}">
                <a16:creationId xmlns:a16="http://schemas.microsoft.com/office/drawing/2014/main" id="{84D7C20A-8C40-3D38-E4F6-1B9561BD9C2B}"/>
              </a:ext>
            </a:extLst>
          </p:cNvPr>
          <p:cNvSpPr>
            <a:spLocks noChangeShapeType="1"/>
          </p:cNvSpPr>
          <p:nvPr/>
        </p:nvSpPr>
        <p:spPr bwMode="auto">
          <a:xfrm>
            <a:off x="5632450"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40" name="Line 85">
            <a:extLst>
              <a:ext uri="{FF2B5EF4-FFF2-40B4-BE49-F238E27FC236}">
                <a16:creationId xmlns:a16="http://schemas.microsoft.com/office/drawing/2014/main" id="{110184CF-25F4-61D3-E951-50D75F3C0446}"/>
              </a:ext>
            </a:extLst>
          </p:cNvPr>
          <p:cNvSpPr>
            <a:spLocks noChangeShapeType="1"/>
          </p:cNvSpPr>
          <p:nvPr/>
        </p:nvSpPr>
        <p:spPr bwMode="auto">
          <a:xfrm>
            <a:off x="6170613"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41" name="Line 86">
            <a:extLst>
              <a:ext uri="{FF2B5EF4-FFF2-40B4-BE49-F238E27FC236}">
                <a16:creationId xmlns:a16="http://schemas.microsoft.com/office/drawing/2014/main" id="{BD14E4D1-F781-CDFE-EC4C-258FE4C2C8F2}"/>
              </a:ext>
            </a:extLst>
          </p:cNvPr>
          <p:cNvSpPr>
            <a:spLocks noChangeShapeType="1"/>
          </p:cNvSpPr>
          <p:nvPr/>
        </p:nvSpPr>
        <p:spPr bwMode="auto">
          <a:xfrm>
            <a:off x="6707188"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42" name="Line 87">
            <a:extLst>
              <a:ext uri="{FF2B5EF4-FFF2-40B4-BE49-F238E27FC236}">
                <a16:creationId xmlns:a16="http://schemas.microsoft.com/office/drawing/2014/main" id="{A24DD69D-FE92-14FF-28E9-06A01923F18A}"/>
              </a:ext>
            </a:extLst>
          </p:cNvPr>
          <p:cNvSpPr>
            <a:spLocks noChangeShapeType="1"/>
          </p:cNvSpPr>
          <p:nvPr/>
        </p:nvSpPr>
        <p:spPr bwMode="auto">
          <a:xfrm>
            <a:off x="7243763"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43" name="Line 88">
            <a:extLst>
              <a:ext uri="{FF2B5EF4-FFF2-40B4-BE49-F238E27FC236}">
                <a16:creationId xmlns:a16="http://schemas.microsoft.com/office/drawing/2014/main" id="{AA7EBC3E-6BF7-9859-30D9-F16D86881B0E}"/>
              </a:ext>
            </a:extLst>
          </p:cNvPr>
          <p:cNvSpPr>
            <a:spLocks noChangeShapeType="1"/>
          </p:cNvSpPr>
          <p:nvPr/>
        </p:nvSpPr>
        <p:spPr bwMode="auto">
          <a:xfrm>
            <a:off x="7773988"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363582"/>
                                        </p:tgtEl>
                                        <p:attrNameLst>
                                          <p:attrName>style.visibility</p:attrName>
                                        </p:attrNameLst>
                                      </p:cBhvr>
                                      <p:to>
                                        <p:strVal val="visible"/>
                                      </p:to>
                                    </p:set>
                                    <p:animEffect transition="in" filter="barn(outHorizontal)">
                                      <p:cBhvr>
                                        <p:cTn id="7" dur="500"/>
                                        <p:tgtEl>
                                          <p:spTgt spid="3635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363579"/>
                                        </p:tgtEl>
                                        <p:attrNameLst>
                                          <p:attrName>style.visibility</p:attrName>
                                        </p:attrNameLst>
                                      </p:cBhvr>
                                      <p:to>
                                        <p:strVal val="visible"/>
                                      </p:to>
                                    </p:set>
                                    <p:animEffect transition="in" filter="barn(outHorizontal)">
                                      <p:cBhvr>
                                        <p:cTn id="12" dur="500"/>
                                        <p:tgtEl>
                                          <p:spTgt spid="3635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363577"/>
                                        </p:tgtEl>
                                        <p:attrNameLst>
                                          <p:attrName>style.visibility</p:attrName>
                                        </p:attrNameLst>
                                      </p:cBhvr>
                                      <p:to>
                                        <p:strVal val="visible"/>
                                      </p:to>
                                    </p:set>
                                    <p:animEffect transition="in" filter="barn(outHorizontal)">
                                      <p:cBhvr>
                                        <p:cTn id="17" dur="500"/>
                                        <p:tgtEl>
                                          <p:spTgt spid="3635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363576"/>
                                        </p:tgtEl>
                                        <p:attrNameLst>
                                          <p:attrName>style.visibility</p:attrName>
                                        </p:attrNameLst>
                                      </p:cBhvr>
                                      <p:to>
                                        <p:strVal val="visible"/>
                                      </p:to>
                                    </p:set>
                                    <p:animEffect transition="in" filter="barn(outHorizontal)">
                                      <p:cBhvr>
                                        <p:cTn id="22" dur="500"/>
                                        <p:tgtEl>
                                          <p:spTgt spid="3635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363574"/>
                                        </p:tgtEl>
                                        <p:attrNameLst>
                                          <p:attrName>style.visibility</p:attrName>
                                        </p:attrNameLst>
                                      </p:cBhvr>
                                      <p:to>
                                        <p:strVal val="visible"/>
                                      </p:to>
                                    </p:set>
                                    <p:animEffect transition="in" filter="barn(outHorizontal)">
                                      <p:cBhvr>
                                        <p:cTn id="27" dur="500"/>
                                        <p:tgtEl>
                                          <p:spTgt spid="36357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363572"/>
                                        </p:tgtEl>
                                        <p:attrNameLst>
                                          <p:attrName>style.visibility</p:attrName>
                                        </p:attrNameLst>
                                      </p:cBhvr>
                                      <p:to>
                                        <p:strVal val="visible"/>
                                      </p:to>
                                    </p:set>
                                    <p:animEffect transition="in" filter="barn(outHorizontal)">
                                      <p:cBhvr>
                                        <p:cTn id="32" dur="500"/>
                                        <p:tgtEl>
                                          <p:spTgt spid="36357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363571"/>
                                        </p:tgtEl>
                                        <p:attrNameLst>
                                          <p:attrName>style.visibility</p:attrName>
                                        </p:attrNameLst>
                                      </p:cBhvr>
                                      <p:to>
                                        <p:strVal val="visible"/>
                                      </p:to>
                                    </p:set>
                                    <p:animEffect transition="in" filter="barn(outHorizontal)">
                                      <p:cBhvr>
                                        <p:cTn id="37" dur="500"/>
                                        <p:tgtEl>
                                          <p:spTgt spid="36357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363570"/>
                                        </p:tgtEl>
                                        <p:attrNameLst>
                                          <p:attrName>style.visibility</p:attrName>
                                        </p:attrNameLst>
                                      </p:cBhvr>
                                      <p:to>
                                        <p:strVal val="visible"/>
                                      </p:to>
                                    </p:set>
                                    <p:animEffect transition="in" filter="barn(outHorizontal)">
                                      <p:cBhvr>
                                        <p:cTn id="42" dur="500"/>
                                        <p:tgtEl>
                                          <p:spTgt spid="36357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363569"/>
                                        </p:tgtEl>
                                        <p:attrNameLst>
                                          <p:attrName>style.visibility</p:attrName>
                                        </p:attrNameLst>
                                      </p:cBhvr>
                                      <p:to>
                                        <p:strVal val="visible"/>
                                      </p:to>
                                    </p:set>
                                    <p:animEffect transition="in" filter="barn(outHorizontal)">
                                      <p:cBhvr>
                                        <p:cTn id="47" dur="500"/>
                                        <p:tgtEl>
                                          <p:spTgt spid="36356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363567"/>
                                        </p:tgtEl>
                                        <p:attrNameLst>
                                          <p:attrName>style.visibility</p:attrName>
                                        </p:attrNameLst>
                                      </p:cBhvr>
                                      <p:to>
                                        <p:strVal val="visible"/>
                                      </p:to>
                                    </p:set>
                                    <p:animEffect transition="in" filter="barn(outHorizontal)">
                                      <p:cBhvr>
                                        <p:cTn id="52" dur="500"/>
                                        <p:tgtEl>
                                          <p:spTgt spid="36356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363566"/>
                                        </p:tgtEl>
                                        <p:attrNameLst>
                                          <p:attrName>style.visibility</p:attrName>
                                        </p:attrNameLst>
                                      </p:cBhvr>
                                      <p:to>
                                        <p:strVal val="visible"/>
                                      </p:to>
                                    </p:set>
                                    <p:animEffect transition="in" filter="barn(outHorizontal)">
                                      <p:cBhvr>
                                        <p:cTn id="57" dur="500"/>
                                        <p:tgtEl>
                                          <p:spTgt spid="36356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363565"/>
                                        </p:tgtEl>
                                        <p:attrNameLst>
                                          <p:attrName>style.visibility</p:attrName>
                                        </p:attrNameLst>
                                      </p:cBhvr>
                                      <p:to>
                                        <p:strVal val="visible"/>
                                      </p:to>
                                    </p:set>
                                    <p:animEffect transition="in" filter="barn(outHorizontal)">
                                      <p:cBhvr>
                                        <p:cTn id="62" dur="500"/>
                                        <p:tgtEl>
                                          <p:spTgt spid="36356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363564"/>
                                        </p:tgtEl>
                                        <p:attrNameLst>
                                          <p:attrName>style.visibility</p:attrName>
                                        </p:attrNameLst>
                                      </p:cBhvr>
                                      <p:to>
                                        <p:strVal val="visible"/>
                                      </p:to>
                                    </p:set>
                                    <p:animEffect transition="in" filter="barn(outHorizontal)">
                                      <p:cBhvr>
                                        <p:cTn id="67" dur="500"/>
                                        <p:tgtEl>
                                          <p:spTgt spid="36356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363562"/>
                                        </p:tgtEl>
                                        <p:attrNameLst>
                                          <p:attrName>style.visibility</p:attrName>
                                        </p:attrNameLst>
                                      </p:cBhvr>
                                      <p:to>
                                        <p:strVal val="visible"/>
                                      </p:to>
                                    </p:set>
                                    <p:animEffect transition="in" filter="barn(outHorizontal)">
                                      <p:cBhvr>
                                        <p:cTn id="72" dur="500"/>
                                        <p:tgtEl>
                                          <p:spTgt spid="36356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363561"/>
                                        </p:tgtEl>
                                        <p:attrNameLst>
                                          <p:attrName>style.visibility</p:attrName>
                                        </p:attrNameLst>
                                      </p:cBhvr>
                                      <p:to>
                                        <p:strVal val="visible"/>
                                      </p:to>
                                    </p:set>
                                    <p:animEffect transition="in" filter="barn(outHorizontal)">
                                      <p:cBhvr>
                                        <p:cTn id="77" dur="500"/>
                                        <p:tgtEl>
                                          <p:spTgt spid="36356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363560"/>
                                        </p:tgtEl>
                                        <p:attrNameLst>
                                          <p:attrName>style.visibility</p:attrName>
                                        </p:attrNameLst>
                                      </p:cBhvr>
                                      <p:to>
                                        <p:strVal val="visible"/>
                                      </p:to>
                                    </p:set>
                                    <p:animEffect transition="in" filter="barn(outHorizontal)">
                                      <p:cBhvr>
                                        <p:cTn id="82" dur="500"/>
                                        <p:tgtEl>
                                          <p:spTgt spid="36356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363559"/>
                                        </p:tgtEl>
                                        <p:attrNameLst>
                                          <p:attrName>style.visibility</p:attrName>
                                        </p:attrNameLst>
                                      </p:cBhvr>
                                      <p:to>
                                        <p:strVal val="visible"/>
                                      </p:to>
                                    </p:set>
                                    <p:animEffect transition="in" filter="barn(outHorizontal)">
                                      <p:cBhvr>
                                        <p:cTn id="87" dur="500"/>
                                        <p:tgtEl>
                                          <p:spTgt spid="363559"/>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363557"/>
                                        </p:tgtEl>
                                        <p:attrNameLst>
                                          <p:attrName>style.visibility</p:attrName>
                                        </p:attrNameLst>
                                      </p:cBhvr>
                                      <p:to>
                                        <p:strVal val="visible"/>
                                      </p:to>
                                    </p:set>
                                    <p:animEffect transition="in" filter="barn(outHorizontal)">
                                      <p:cBhvr>
                                        <p:cTn id="92" dur="500"/>
                                        <p:tgtEl>
                                          <p:spTgt spid="363557"/>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363556"/>
                                        </p:tgtEl>
                                        <p:attrNameLst>
                                          <p:attrName>style.visibility</p:attrName>
                                        </p:attrNameLst>
                                      </p:cBhvr>
                                      <p:to>
                                        <p:strVal val="visible"/>
                                      </p:to>
                                    </p:set>
                                    <p:animEffect transition="in" filter="barn(outHorizontal)">
                                      <p:cBhvr>
                                        <p:cTn id="97" dur="500"/>
                                        <p:tgtEl>
                                          <p:spTgt spid="363556"/>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6" presetClass="entr" presetSubtype="42" fill="hold" nodeType="clickEffect">
                                  <p:stCondLst>
                                    <p:cond delay="0"/>
                                  </p:stCondLst>
                                  <p:childTnLst>
                                    <p:set>
                                      <p:cBhvr>
                                        <p:cTn id="101" dur="1" fill="hold">
                                          <p:stCondLst>
                                            <p:cond delay="0"/>
                                          </p:stCondLst>
                                        </p:cTn>
                                        <p:tgtEl>
                                          <p:spTgt spid="363555"/>
                                        </p:tgtEl>
                                        <p:attrNameLst>
                                          <p:attrName>style.visibility</p:attrName>
                                        </p:attrNameLst>
                                      </p:cBhvr>
                                      <p:to>
                                        <p:strVal val="visible"/>
                                      </p:to>
                                    </p:set>
                                    <p:animEffect transition="in" filter="barn(outHorizontal)">
                                      <p:cBhvr>
                                        <p:cTn id="102" dur="500"/>
                                        <p:tgtEl>
                                          <p:spTgt spid="36355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6" presetClass="entr" presetSubtype="42" fill="hold" nodeType="clickEffect">
                                  <p:stCondLst>
                                    <p:cond delay="0"/>
                                  </p:stCondLst>
                                  <p:childTnLst>
                                    <p:set>
                                      <p:cBhvr>
                                        <p:cTn id="106" dur="1" fill="hold">
                                          <p:stCondLst>
                                            <p:cond delay="0"/>
                                          </p:stCondLst>
                                        </p:cTn>
                                        <p:tgtEl>
                                          <p:spTgt spid="363554"/>
                                        </p:tgtEl>
                                        <p:attrNameLst>
                                          <p:attrName>style.visibility</p:attrName>
                                        </p:attrNameLst>
                                      </p:cBhvr>
                                      <p:to>
                                        <p:strVal val="visible"/>
                                      </p:to>
                                    </p:set>
                                    <p:animEffect transition="in" filter="barn(outHorizontal)">
                                      <p:cBhvr>
                                        <p:cTn id="107" dur="500"/>
                                        <p:tgtEl>
                                          <p:spTgt spid="36355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6" presetClass="entr" presetSubtype="42" fill="hold" nodeType="clickEffect">
                                  <p:stCondLst>
                                    <p:cond delay="0"/>
                                  </p:stCondLst>
                                  <p:childTnLst>
                                    <p:set>
                                      <p:cBhvr>
                                        <p:cTn id="111" dur="1" fill="hold">
                                          <p:stCondLst>
                                            <p:cond delay="0"/>
                                          </p:stCondLst>
                                        </p:cTn>
                                        <p:tgtEl>
                                          <p:spTgt spid="363552"/>
                                        </p:tgtEl>
                                        <p:attrNameLst>
                                          <p:attrName>style.visibility</p:attrName>
                                        </p:attrNameLst>
                                      </p:cBhvr>
                                      <p:to>
                                        <p:strVal val="visible"/>
                                      </p:to>
                                    </p:set>
                                    <p:animEffect transition="in" filter="barn(outHorizontal)">
                                      <p:cBhvr>
                                        <p:cTn id="112" dur="500"/>
                                        <p:tgtEl>
                                          <p:spTgt spid="363552"/>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6" presetClass="entr" presetSubtype="42" fill="hold" nodeType="clickEffect">
                                  <p:stCondLst>
                                    <p:cond delay="0"/>
                                  </p:stCondLst>
                                  <p:childTnLst>
                                    <p:set>
                                      <p:cBhvr>
                                        <p:cTn id="116" dur="1" fill="hold">
                                          <p:stCondLst>
                                            <p:cond delay="0"/>
                                          </p:stCondLst>
                                        </p:cTn>
                                        <p:tgtEl>
                                          <p:spTgt spid="363551"/>
                                        </p:tgtEl>
                                        <p:attrNameLst>
                                          <p:attrName>style.visibility</p:attrName>
                                        </p:attrNameLst>
                                      </p:cBhvr>
                                      <p:to>
                                        <p:strVal val="visible"/>
                                      </p:to>
                                    </p:set>
                                    <p:animEffect transition="in" filter="barn(outHorizontal)">
                                      <p:cBhvr>
                                        <p:cTn id="117" dur="500"/>
                                        <p:tgtEl>
                                          <p:spTgt spid="363551"/>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6" presetClass="entr" presetSubtype="42" fill="hold" nodeType="clickEffect">
                                  <p:stCondLst>
                                    <p:cond delay="0"/>
                                  </p:stCondLst>
                                  <p:childTnLst>
                                    <p:set>
                                      <p:cBhvr>
                                        <p:cTn id="121" dur="1" fill="hold">
                                          <p:stCondLst>
                                            <p:cond delay="0"/>
                                          </p:stCondLst>
                                        </p:cTn>
                                        <p:tgtEl>
                                          <p:spTgt spid="363550"/>
                                        </p:tgtEl>
                                        <p:attrNameLst>
                                          <p:attrName>style.visibility</p:attrName>
                                        </p:attrNameLst>
                                      </p:cBhvr>
                                      <p:to>
                                        <p:strVal val="visible"/>
                                      </p:to>
                                    </p:set>
                                    <p:animEffect transition="in" filter="barn(outHorizontal)">
                                      <p:cBhvr>
                                        <p:cTn id="122" dur="500"/>
                                        <p:tgtEl>
                                          <p:spTgt spid="363550"/>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6" presetClass="entr" presetSubtype="42" fill="hold" nodeType="clickEffect">
                                  <p:stCondLst>
                                    <p:cond delay="0"/>
                                  </p:stCondLst>
                                  <p:childTnLst>
                                    <p:set>
                                      <p:cBhvr>
                                        <p:cTn id="126" dur="1" fill="hold">
                                          <p:stCondLst>
                                            <p:cond delay="0"/>
                                          </p:stCondLst>
                                        </p:cTn>
                                        <p:tgtEl>
                                          <p:spTgt spid="363549"/>
                                        </p:tgtEl>
                                        <p:attrNameLst>
                                          <p:attrName>style.visibility</p:attrName>
                                        </p:attrNameLst>
                                      </p:cBhvr>
                                      <p:to>
                                        <p:strVal val="visible"/>
                                      </p:to>
                                    </p:set>
                                    <p:animEffect transition="in" filter="barn(outHorizontal)">
                                      <p:cBhvr>
                                        <p:cTn id="127" dur="500"/>
                                        <p:tgtEl>
                                          <p:spTgt spid="363549"/>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6" presetClass="entr" presetSubtype="42" fill="hold" nodeType="clickEffect">
                                  <p:stCondLst>
                                    <p:cond delay="0"/>
                                  </p:stCondLst>
                                  <p:childTnLst>
                                    <p:set>
                                      <p:cBhvr>
                                        <p:cTn id="131" dur="1" fill="hold">
                                          <p:stCondLst>
                                            <p:cond delay="0"/>
                                          </p:stCondLst>
                                        </p:cTn>
                                        <p:tgtEl>
                                          <p:spTgt spid="363537"/>
                                        </p:tgtEl>
                                        <p:attrNameLst>
                                          <p:attrName>style.visibility</p:attrName>
                                        </p:attrNameLst>
                                      </p:cBhvr>
                                      <p:to>
                                        <p:strVal val="visible"/>
                                      </p:to>
                                    </p:set>
                                    <p:animEffect transition="in" filter="barn(outHorizontal)">
                                      <p:cBhvr>
                                        <p:cTn id="132" dur="500"/>
                                        <p:tgtEl>
                                          <p:spTgt spid="363537"/>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6" presetClass="entr" presetSubtype="42" fill="hold" nodeType="clickEffect">
                                  <p:stCondLst>
                                    <p:cond delay="0"/>
                                  </p:stCondLst>
                                  <p:childTnLst>
                                    <p:set>
                                      <p:cBhvr>
                                        <p:cTn id="136" dur="1" fill="hold">
                                          <p:stCondLst>
                                            <p:cond delay="0"/>
                                          </p:stCondLst>
                                        </p:cTn>
                                        <p:tgtEl>
                                          <p:spTgt spid="363536"/>
                                        </p:tgtEl>
                                        <p:attrNameLst>
                                          <p:attrName>style.visibility</p:attrName>
                                        </p:attrNameLst>
                                      </p:cBhvr>
                                      <p:to>
                                        <p:strVal val="visible"/>
                                      </p:to>
                                    </p:set>
                                    <p:animEffect transition="in" filter="barn(outHorizontal)">
                                      <p:cBhvr>
                                        <p:cTn id="137" dur="500"/>
                                        <p:tgtEl>
                                          <p:spTgt spid="363536"/>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6" presetClass="entr" presetSubtype="42" fill="hold" nodeType="clickEffect">
                                  <p:stCondLst>
                                    <p:cond delay="0"/>
                                  </p:stCondLst>
                                  <p:childTnLst>
                                    <p:set>
                                      <p:cBhvr>
                                        <p:cTn id="141" dur="1" fill="hold">
                                          <p:stCondLst>
                                            <p:cond delay="0"/>
                                          </p:stCondLst>
                                        </p:cTn>
                                        <p:tgtEl>
                                          <p:spTgt spid="363535"/>
                                        </p:tgtEl>
                                        <p:attrNameLst>
                                          <p:attrName>style.visibility</p:attrName>
                                        </p:attrNameLst>
                                      </p:cBhvr>
                                      <p:to>
                                        <p:strVal val="visible"/>
                                      </p:to>
                                    </p:set>
                                    <p:animEffect transition="in" filter="barn(outHorizontal)">
                                      <p:cBhvr>
                                        <p:cTn id="142" dur="500"/>
                                        <p:tgtEl>
                                          <p:spTgt spid="363535"/>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6" presetClass="entr" presetSubtype="42" fill="hold" nodeType="clickEffect">
                                  <p:stCondLst>
                                    <p:cond delay="0"/>
                                  </p:stCondLst>
                                  <p:childTnLst>
                                    <p:set>
                                      <p:cBhvr>
                                        <p:cTn id="146" dur="1" fill="hold">
                                          <p:stCondLst>
                                            <p:cond delay="0"/>
                                          </p:stCondLst>
                                        </p:cTn>
                                        <p:tgtEl>
                                          <p:spTgt spid="363534"/>
                                        </p:tgtEl>
                                        <p:attrNameLst>
                                          <p:attrName>style.visibility</p:attrName>
                                        </p:attrNameLst>
                                      </p:cBhvr>
                                      <p:to>
                                        <p:strVal val="visible"/>
                                      </p:to>
                                    </p:set>
                                    <p:animEffect transition="in" filter="barn(outHorizontal)">
                                      <p:cBhvr>
                                        <p:cTn id="147" dur="500"/>
                                        <p:tgtEl>
                                          <p:spTgt spid="363534"/>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6" presetClass="entr" presetSubtype="42" fill="hold" nodeType="clickEffect">
                                  <p:stCondLst>
                                    <p:cond delay="0"/>
                                  </p:stCondLst>
                                  <p:childTnLst>
                                    <p:set>
                                      <p:cBhvr>
                                        <p:cTn id="151" dur="1" fill="hold">
                                          <p:stCondLst>
                                            <p:cond delay="0"/>
                                          </p:stCondLst>
                                        </p:cTn>
                                        <p:tgtEl>
                                          <p:spTgt spid="363532"/>
                                        </p:tgtEl>
                                        <p:attrNameLst>
                                          <p:attrName>style.visibility</p:attrName>
                                        </p:attrNameLst>
                                      </p:cBhvr>
                                      <p:to>
                                        <p:strVal val="visible"/>
                                      </p:to>
                                    </p:set>
                                    <p:animEffect transition="in" filter="barn(outHorizontal)">
                                      <p:cBhvr>
                                        <p:cTn id="152" dur="500"/>
                                        <p:tgtEl>
                                          <p:spTgt spid="363532"/>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6" presetClass="entr" presetSubtype="42" fill="hold" nodeType="clickEffect">
                                  <p:stCondLst>
                                    <p:cond delay="0"/>
                                  </p:stCondLst>
                                  <p:childTnLst>
                                    <p:set>
                                      <p:cBhvr>
                                        <p:cTn id="156" dur="1" fill="hold">
                                          <p:stCondLst>
                                            <p:cond delay="0"/>
                                          </p:stCondLst>
                                        </p:cTn>
                                        <p:tgtEl>
                                          <p:spTgt spid="363531"/>
                                        </p:tgtEl>
                                        <p:attrNameLst>
                                          <p:attrName>style.visibility</p:attrName>
                                        </p:attrNameLst>
                                      </p:cBhvr>
                                      <p:to>
                                        <p:strVal val="visible"/>
                                      </p:to>
                                    </p:set>
                                    <p:animEffect transition="in" filter="barn(outHorizontal)">
                                      <p:cBhvr>
                                        <p:cTn id="157" dur="500"/>
                                        <p:tgtEl>
                                          <p:spTgt spid="363531"/>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6" presetClass="entr" presetSubtype="42" fill="hold" nodeType="clickEffect">
                                  <p:stCondLst>
                                    <p:cond delay="0"/>
                                  </p:stCondLst>
                                  <p:childTnLst>
                                    <p:set>
                                      <p:cBhvr>
                                        <p:cTn id="161" dur="1" fill="hold">
                                          <p:stCondLst>
                                            <p:cond delay="0"/>
                                          </p:stCondLst>
                                        </p:cTn>
                                        <p:tgtEl>
                                          <p:spTgt spid="363530"/>
                                        </p:tgtEl>
                                        <p:attrNameLst>
                                          <p:attrName>style.visibility</p:attrName>
                                        </p:attrNameLst>
                                      </p:cBhvr>
                                      <p:to>
                                        <p:strVal val="visible"/>
                                      </p:to>
                                    </p:set>
                                    <p:animEffect transition="in" filter="barn(outHorizontal)">
                                      <p:cBhvr>
                                        <p:cTn id="162" dur="500"/>
                                        <p:tgtEl>
                                          <p:spTgt spid="363530"/>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6" presetClass="entr" presetSubtype="42" fill="hold" nodeType="clickEffect">
                                  <p:stCondLst>
                                    <p:cond delay="0"/>
                                  </p:stCondLst>
                                  <p:childTnLst>
                                    <p:set>
                                      <p:cBhvr>
                                        <p:cTn id="166" dur="1" fill="hold">
                                          <p:stCondLst>
                                            <p:cond delay="0"/>
                                          </p:stCondLst>
                                        </p:cTn>
                                        <p:tgtEl>
                                          <p:spTgt spid="363529"/>
                                        </p:tgtEl>
                                        <p:attrNameLst>
                                          <p:attrName>style.visibility</p:attrName>
                                        </p:attrNameLst>
                                      </p:cBhvr>
                                      <p:to>
                                        <p:strVal val="visible"/>
                                      </p:to>
                                    </p:set>
                                    <p:animEffect transition="in" filter="barn(outHorizontal)">
                                      <p:cBhvr>
                                        <p:cTn id="167" dur="500"/>
                                        <p:tgtEl>
                                          <p:spTgt spid="363529"/>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6" presetClass="entr" presetSubtype="42" fill="hold" nodeType="clickEffect">
                                  <p:stCondLst>
                                    <p:cond delay="0"/>
                                  </p:stCondLst>
                                  <p:childTnLst>
                                    <p:set>
                                      <p:cBhvr>
                                        <p:cTn id="171" dur="1" fill="hold">
                                          <p:stCondLst>
                                            <p:cond delay="0"/>
                                          </p:stCondLst>
                                        </p:cTn>
                                        <p:tgtEl>
                                          <p:spTgt spid="363523">
                                            <p:txEl>
                                              <p:pRg st="0" end="0"/>
                                            </p:txEl>
                                          </p:spTgt>
                                        </p:tgtEl>
                                        <p:attrNameLst>
                                          <p:attrName>style.visibility</p:attrName>
                                        </p:attrNameLst>
                                      </p:cBhvr>
                                      <p:to>
                                        <p:strVal val="visible"/>
                                      </p:to>
                                    </p:set>
                                    <p:animEffect transition="in" filter="barn(outHorizontal)">
                                      <p:cBhvr>
                                        <p:cTn id="172" dur="500"/>
                                        <p:tgtEl>
                                          <p:spTgt spid="3635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p:bldP spid="363529" grpId="0"/>
      <p:bldP spid="363530" grpId="0"/>
      <p:bldP spid="363531" grpId="0"/>
      <p:bldP spid="363532" grpId="0"/>
      <p:bldP spid="363534" grpId="0"/>
      <p:bldP spid="363535" grpId="0"/>
      <p:bldP spid="363536" grpId="0"/>
      <p:bldP spid="363537" grpId="0"/>
      <p:bldP spid="363549" grpId="0"/>
      <p:bldP spid="363550" grpId="0"/>
      <p:bldP spid="363551" grpId="0"/>
      <p:bldP spid="363552" grpId="0"/>
      <p:bldP spid="363554" grpId="0"/>
      <p:bldP spid="363555" grpId="0"/>
      <p:bldP spid="363556" grpId="0"/>
      <p:bldP spid="363557" grpId="0"/>
      <p:bldP spid="363559" grpId="0"/>
      <p:bldP spid="363560" grpId="0"/>
      <p:bldP spid="363561" grpId="0"/>
      <p:bldP spid="363562" grpId="0"/>
      <p:bldP spid="363564" grpId="0"/>
      <p:bldP spid="363565" grpId="0"/>
      <p:bldP spid="363566" grpId="0"/>
      <p:bldP spid="363567" grpId="0"/>
      <p:bldP spid="363569" grpId="0"/>
      <p:bldP spid="363570" grpId="0"/>
      <p:bldP spid="363571" grpId="0"/>
      <p:bldP spid="363572" grpId="0"/>
      <p:bldP spid="363574" grpId="0"/>
      <p:bldP spid="363576" grpId="0"/>
      <p:bldP spid="363577" grpId="0"/>
      <p:bldP spid="363579" grpId="0"/>
      <p:bldP spid="363582" grpId="0"/>
    </p:bldLst>
  </p:timing>
</p:sld>
</file>

<file path=ppt/slides/slide1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C45514D2-DC03-1636-C087-B5339F129CE2}"/>
              </a:ext>
            </a:extLst>
          </p:cNvPr>
          <p:cNvSpPr>
            <a:spLocks noGrp="1" noChangeArrowheads="1"/>
          </p:cNvSpPr>
          <p:nvPr>
            <p:ph type="title"/>
          </p:nvPr>
        </p:nvSpPr>
        <p:spPr>
          <a:xfrm>
            <a:off x="1042988" y="225431"/>
            <a:ext cx="7850187" cy="746125"/>
          </a:xfrm>
        </p:spPr>
        <p:txBody>
          <a:bodyPr/>
          <a:lstStyle/>
          <a:p>
            <a:r>
              <a:rPr lang="zh-CN" altLang="en-US"/>
              <a:t>为进程分配4个物理块</a:t>
            </a:r>
          </a:p>
        </p:txBody>
      </p:sp>
      <p:sp>
        <p:nvSpPr>
          <p:cNvPr id="364547" name="Rectangle 3">
            <a:extLst>
              <a:ext uri="{FF2B5EF4-FFF2-40B4-BE49-F238E27FC236}">
                <a16:creationId xmlns:a16="http://schemas.microsoft.com/office/drawing/2014/main" id="{A276DBC5-6B12-E664-0959-E2BAAAF17BE6}"/>
              </a:ext>
            </a:extLst>
          </p:cNvPr>
          <p:cNvSpPr>
            <a:spLocks noGrp="1" noChangeArrowheads="1"/>
          </p:cNvSpPr>
          <p:nvPr>
            <p:ph idx="1"/>
          </p:nvPr>
        </p:nvSpPr>
        <p:spPr>
          <a:xfrm>
            <a:off x="935038" y="5098092"/>
            <a:ext cx="7772400" cy="1031245"/>
          </a:xfrm>
        </p:spPr>
        <p:txBody>
          <a:bodyPr>
            <a:normAutofit lnSpcReduction="10000"/>
          </a:bodyPr>
          <a:lstStyle/>
          <a:p>
            <a:r>
              <a:rPr lang="zh-CN" altLang="en-US" dirty="0"/>
              <a:t>从上表中可以看出，共发生了10次缺页中断。其缺页率为10/12＝83.3% 。</a:t>
            </a:r>
          </a:p>
        </p:txBody>
      </p:sp>
      <p:sp>
        <p:nvSpPr>
          <p:cNvPr id="364548" name="Rectangle 4">
            <a:extLst>
              <a:ext uri="{FF2B5EF4-FFF2-40B4-BE49-F238E27FC236}">
                <a16:creationId xmlns:a16="http://schemas.microsoft.com/office/drawing/2014/main" id="{5B28E6D1-CE01-A003-8443-E7F343BE20E7}"/>
              </a:ext>
            </a:extLst>
          </p:cNvPr>
          <p:cNvSpPr>
            <a:spLocks noChangeArrowheads="1"/>
          </p:cNvSpPr>
          <p:nvPr/>
        </p:nvSpPr>
        <p:spPr bwMode="auto">
          <a:xfrm>
            <a:off x="7737475" y="3881438"/>
            <a:ext cx="6143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4549" name="Rectangle 5">
            <a:extLst>
              <a:ext uri="{FF2B5EF4-FFF2-40B4-BE49-F238E27FC236}">
                <a16:creationId xmlns:a16="http://schemas.microsoft.com/office/drawing/2014/main" id="{90F2594E-2729-31D7-3CEE-B70CCD8FC3D4}"/>
              </a:ext>
            </a:extLst>
          </p:cNvPr>
          <p:cNvSpPr>
            <a:spLocks noChangeArrowheads="1"/>
          </p:cNvSpPr>
          <p:nvPr/>
        </p:nvSpPr>
        <p:spPr bwMode="auto">
          <a:xfrm>
            <a:off x="7207250" y="3881438"/>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4550" name="Rectangle 6">
            <a:extLst>
              <a:ext uri="{FF2B5EF4-FFF2-40B4-BE49-F238E27FC236}">
                <a16:creationId xmlns:a16="http://schemas.microsoft.com/office/drawing/2014/main" id="{68D3B718-B63A-ADBB-8FE4-150501C9D44F}"/>
              </a:ext>
            </a:extLst>
          </p:cNvPr>
          <p:cNvSpPr>
            <a:spLocks noChangeArrowheads="1"/>
          </p:cNvSpPr>
          <p:nvPr/>
        </p:nvSpPr>
        <p:spPr bwMode="auto">
          <a:xfrm>
            <a:off x="6670675"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4551" name="Rectangle 7">
            <a:extLst>
              <a:ext uri="{FF2B5EF4-FFF2-40B4-BE49-F238E27FC236}">
                <a16:creationId xmlns:a16="http://schemas.microsoft.com/office/drawing/2014/main" id="{BFB0AA77-9424-B59D-A6BF-AD8FF5B6F974}"/>
              </a:ext>
            </a:extLst>
          </p:cNvPr>
          <p:cNvSpPr>
            <a:spLocks noChangeArrowheads="1"/>
          </p:cNvSpPr>
          <p:nvPr/>
        </p:nvSpPr>
        <p:spPr bwMode="auto">
          <a:xfrm>
            <a:off x="6134100"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364552" name="Rectangle 8">
            <a:extLst>
              <a:ext uri="{FF2B5EF4-FFF2-40B4-BE49-F238E27FC236}">
                <a16:creationId xmlns:a16="http://schemas.microsoft.com/office/drawing/2014/main" id="{4908D2FF-65FE-CDEB-7B58-B9BD5970D79A}"/>
              </a:ext>
            </a:extLst>
          </p:cNvPr>
          <p:cNvSpPr>
            <a:spLocks noChangeArrowheads="1"/>
          </p:cNvSpPr>
          <p:nvPr/>
        </p:nvSpPr>
        <p:spPr bwMode="auto">
          <a:xfrm>
            <a:off x="5595938" y="3881438"/>
            <a:ext cx="5381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364553" name="Rectangle 9">
            <a:extLst>
              <a:ext uri="{FF2B5EF4-FFF2-40B4-BE49-F238E27FC236}">
                <a16:creationId xmlns:a16="http://schemas.microsoft.com/office/drawing/2014/main" id="{9BBFD816-DD54-ED26-E27D-88F1CBE8ED74}"/>
              </a:ext>
            </a:extLst>
          </p:cNvPr>
          <p:cNvSpPr>
            <a:spLocks noChangeArrowheads="1"/>
          </p:cNvSpPr>
          <p:nvPr/>
        </p:nvSpPr>
        <p:spPr bwMode="auto">
          <a:xfrm>
            <a:off x="5059363"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46089" name="Rectangle 10">
            <a:extLst>
              <a:ext uri="{FF2B5EF4-FFF2-40B4-BE49-F238E27FC236}">
                <a16:creationId xmlns:a16="http://schemas.microsoft.com/office/drawing/2014/main" id="{25DE7A79-0128-BCAB-175F-5AF84ACF788F}"/>
              </a:ext>
            </a:extLst>
          </p:cNvPr>
          <p:cNvSpPr>
            <a:spLocks noChangeArrowheads="1"/>
          </p:cNvSpPr>
          <p:nvPr/>
        </p:nvSpPr>
        <p:spPr bwMode="auto">
          <a:xfrm>
            <a:off x="4522788"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6090" name="Rectangle 11">
            <a:extLst>
              <a:ext uri="{FF2B5EF4-FFF2-40B4-BE49-F238E27FC236}">
                <a16:creationId xmlns:a16="http://schemas.microsoft.com/office/drawing/2014/main" id="{6890460B-7189-B248-F630-6415F8AEBE8A}"/>
              </a:ext>
            </a:extLst>
          </p:cNvPr>
          <p:cNvSpPr>
            <a:spLocks noChangeArrowheads="1"/>
          </p:cNvSpPr>
          <p:nvPr/>
        </p:nvSpPr>
        <p:spPr bwMode="auto">
          <a:xfrm>
            <a:off x="3986213"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364556" name="Rectangle 12">
            <a:extLst>
              <a:ext uri="{FF2B5EF4-FFF2-40B4-BE49-F238E27FC236}">
                <a16:creationId xmlns:a16="http://schemas.microsoft.com/office/drawing/2014/main" id="{2312699B-0D6F-39D7-C887-9800B2647A4E}"/>
              </a:ext>
            </a:extLst>
          </p:cNvPr>
          <p:cNvSpPr>
            <a:spLocks noChangeArrowheads="1"/>
          </p:cNvSpPr>
          <p:nvPr/>
        </p:nvSpPr>
        <p:spPr bwMode="auto">
          <a:xfrm>
            <a:off x="3449638"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46092" name="Rectangle 13">
            <a:extLst>
              <a:ext uri="{FF2B5EF4-FFF2-40B4-BE49-F238E27FC236}">
                <a16:creationId xmlns:a16="http://schemas.microsoft.com/office/drawing/2014/main" id="{686DC1A3-4DF7-D5AD-A077-5562A19C017E}"/>
              </a:ext>
            </a:extLst>
          </p:cNvPr>
          <p:cNvSpPr>
            <a:spLocks noChangeArrowheads="1"/>
          </p:cNvSpPr>
          <p:nvPr/>
        </p:nvSpPr>
        <p:spPr bwMode="auto">
          <a:xfrm>
            <a:off x="2913063"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6093" name="Rectangle 14">
            <a:extLst>
              <a:ext uri="{FF2B5EF4-FFF2-40B4-BE49-F238E27FC236}">
                <a16:creationId xmlns:a16="http://schemas.microsoft.com/office/drawing/2014/main" id="{EE77FCEE-67EE-9A1D-2D48-766025D9E7DE}"/>
              </a:ext>
            </a:extLst>
          </p:cNvPr>
          <p:cNvSpPr>
            <a:spLocks noChangeArrowheads="1"/>
          </p:cNvSpPr>
          <p:nvPr/>
        </p:nvSpPr>
        <p:spPr bwMode="auto">
          <a:xfrm>
            <a:off x="2376488"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6094" name="Rectangle 15">
            <a:extLst>
              <a:ext uri="{FF2B5EF4-FFF2-40B4-BE49-F238E27FC236}">
                <a16:creationId xmlns:a16="http://schemas.microsoft.com/office/drawing/2014/main" id="{4D8377A0-9844-A14C-8F3A-9E10D4A79DAC}"/>
              </a:ext>
            </a:extLst>
          </p:cNvPr>
          <p:cNvSpPr>
            <a:spLocks noChangeArrowheads="1"/>
          </p:cNvSpPr>
          <p:nvPr/>
        </p:nvSpPr>
        <p:spPr bwMode="auto">
          <a:xfrm>
            <a:off x="1733550" y="3881438"/>
            <a:ext cx="6429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6095" name="Rectangle 16">
            <a:extLst>
              <a:ext uri="{FF2B5EF4-FFF2-40B4-BE49-F238E27FC236}">
                <a16:creationId xmlns:a16="http://schemas.microsoft.com/office/drawing/2014/main" id="{2862C8AA-5A33-C642-95C1-C153A94F89AE}"/>
              </a:ext>
            </a:extLst>
          </p:cNvPr>
          <p:cNvSpPr>
            <a:spLocks noChangeArrowheads="1"/>
          </p:cNvSpPr>
          <p:nvPr/>
        </p:nvSpPr>
        <p:spPr bwMode="auto">
          <a:xfrm>
            <a:off x="731838" y="3881438"/>
            <a:ext cx="10017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块4</a:t>
            </a:r>
          </a:p>
        </p:txBody>
      </p:sp>
      <p:sp>
        <p:nvSpPr>
          <p:cNvPr id="364561" name="Rectangle 17">
            <a:extLst>
              <a:ext uri="{FF2B5EF4-FFF2-40B4-BE49-F238E27FC236}">
                <a16:creationId xmlns:a16="http://schemas.microsoft.com/office/drawing/2014/main" id="{1B96D370-617B-903D-ED19-4E677255ECC1}"/>
              </a:ext>
            </a:extLst>
          </p:cNvPr>
          <p:cNvSpPr>
            <a:spLocks noChangeArrowheads="1"/>
          </p:cNvSpPr>
          <p:nvPr/>
        </p:nvSpPr>
        <p:spPr bwMode="auto">
          <a:xfrm>
            <a:off x="7737475" y="4398963"/>
            <a:ext cx="6143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4562" name="Rectangle 18">
            <a:extLst>
              <a:ext uri="{FF2B5EF4-FFF2-40B4-BE49-F238E27FC236}">
                <a16:creationId xmlns:a16="http://schemas.microsoft.com/office/drawing/2014/main" id="{4DA41BB3-03B0-F169-61E6-2E4A8207477D}"/>
              </a:ext>
            </a:extLst>
          </p:cNvPr>
          <p:cNvSpPr>
            <a:spLocks noChangeArrowheads="1"/>
          </p:cNvSpPr>
          <p:nvPr/>
        </p:nvSpPr>
        <p:spPr bwMode="auto">
          <a:xfrm>
            <a:off x="7737475" y="3363913"/>
            <a:ext cx="6143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4563" name="Rectangle 19">
            <a:extLst>
              <a:ext uri="{FF2B5EF4-FFF2-40B4-BE49-F238E27FC236}">
                <a16:creationId xmlns:a16="http://schemas.microsoft.com/office/drawing/2014/main" id="{9A1A5CA8-C2B4-7BA4-AFBC-5FA1B56EEECF}"/>
              </a:ext>
            </a:extLst>
          </p:cNvPr>
          <p:cNvSpPr>
            <a:spLocks noChangeArrowheads="1"/>
          </p:cNvSpPr>
          <p:nvPr/>
        </p:nvSpPr>
        <p:spPr bwMode="auto">
          <a:xfrm>
            <a:off x="7737475" y="2830513"/>
            <a:ext cx="6143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364564" name="Rectangle 20">
            <a:extLst>
              <a:ext uri="{FF2B5EF4-FFF2-40B4-BE49-F238E27FC236}">
                <a16:creationId xmlns:a16="http://schemas.microsoft.com/office/drawing/2014/main" id="{3CB800F9-85EF-46FA-BEB2-07223A869AF2}"/>
              </a:ext>
            </a:extLst>
          </p:cNvPr>
          <p:cNvSpPr>
            <a:spLocks noChangeArrowheads="1"/>
          </p:cNvSpPr>
          <p:nvPr/>
        </p:nvSpPr>
        <p:spPr bwMode="auto">
          <a:xfrm>
            <a:off x="7737475" y="2251075"/>
            <a:ext cx="6143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46100" name="Rectangle 21">
            <a:extLst>
              <a:ext uri="{FF2B5EF4-FFF2-40B4-BE49-F238E27FC236}">
                <a16:creationId xmlns:a16="http://schemas.microsoft.com/office/drawing/2014/main" id="{B9DF70E5-0326-007F-F86B-9C73CA38A3BA}"/>
              </a:ext>
            </a:extLst>
          </p:cNvPr>
          <p:cNvSpPr>
            <a:spLocks noChangeArrowheads="1"/>
          </p:cNvSpPr>
          <p:nvPr/>
        </p:nvSpPr>
        <p:spPr bwMode="auto">
          <a:xfrm>
            <a:off x="7737475" y="1412875"/>
            <a:ext cx="61436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364566" name="Rectangle 22">
            <a:extLst>
              <a:ext uri="{FF2B5EF4-FFF2-40B4-BE49-F238E27FC236}">
                <a16:creationId xmlns:a16="http://schemas.microsoft.com/office/drawing/2014/main" id="{C32C6112-B2DF-167D-5DCB-0A461E7040E5}"/>
              </a:ext>
            </a:extLst>
          </p:cNvPr>
          <p:cNvSpPr>
            <a:spLocks noChangeArrowheads="1"/>
          </p:cNvSpPr>
          <p:nvPr/>
        </p:nvSpPr>
        <p:spPr bwMode="auto">
          <a:xfrm>
            <a:off x="7207250" y="4398963"/>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4567" name="Rectangle 23">
            <a:extLst>
              <a:ext uri="{FF2B5EF4-FFF2-40B4-BE49-F238E27FC236}">
                <a16:creationId xmlns:a16="http://schemas.microsoft.com/office/drawing/2014/main" id="{D45682E6-2A43-951C-791D-01785E392428}"/>
              </a:ext>
            </a:extLst>
          </p:cNvPr>
          <p:cNvSpPr>
            <a:spLocks noChangeArrowheads="1"/>
          </p:cNvSpPr>
          <p:nvPr/>
        </p:nvSpPr>
        <p:spPr bwMode="auto">
          <a:xfrm>
            <a:off x="7207250" y="3363913"/>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4568" name="Rectangle 24">
            <a:extLst>
              <a:ext uri="{FF2B5EF4-FFF2-40B4-BE49-F238E27FC236}">
                <a16:creationId xmlns:a16="http://schemas.microsoft.com/office/drawing/2014/main" id="{935F13E9-709C-B8F7-9E6C-7B61ACF1929D}"/>
              </a:ext>
            </a:extLst>
          </p:cNvPr>
          <p:cNvSpPr>
            <a:spLocks noChangeArrowheads="1"/>
          </p:cNvSpPr>
          <p:nvPr/>
        </p:nvSpPr>
        <p:spPr bwMode="auto">
          <a:xfrm>
            <a:off x="7207250" y="2830513"/>
            <a:ext cx="5302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4569" name="Rectangle 25">
            <a:extLst>
              <a:ext uri="{FF2B5EF4-FFF2-40B4-BE49-F238E27FC236}">
                <a16:creationId xmlns:a16="http://schemas.microsoft.com/office/drawing/2014/main" id="{8AC21B7F-D10C-A081-E2DA-322A9C667DAD}"/>
              </a:ext>
            </a:extLst>
          </p:cNvPr>
          <p:cNvSpPr>
            <a:spLocks noChangeArrowheads="1"/>
          </p:cNvSpPr>
          <p:nvPr/>
        </p:nvSpPr>
        <p:spPr bwMode="auto">
          <a:xfrm>
            <a:off x="7207250" y="2251075"/>
            <a:ext cx="530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46105" name="Rectangle 26">
            <a:extLst>
              <a:ext uri="{FF2B5EF4-FFF2-40B4-BE49-F238E27FC236}">
                <a16:creationId xmlns:a16="http://schemas.microsoft.com/office/drawing/2014/main" id="{F0DA27DA-37DC-9A8C-5C27-02702965F0F3}"/>
              </a:ext>
            </a:extLst>
          </p:cNvPr>
          <p:cNvSpPr>
            <a:spLocks noChangeArrowheads="1"/>
          </p:cNvSpPr>
          <p:nvPr/>
        </p:nvSpPr>
        <p:spPr bwMode="auto">
          <a:xfrm>
            <a:off x="7207250" y="1412875"/>
            <a:ext cx="5302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364571" name="Rectangle 27">
            <a:extLst>
              <a:ext uri="{FF2B5EF4-FFF2-40B4-BE49-F238E27FC236}">
                <a16:creationId xmlns:a16="http://schemas.microsoft.com/office/drawing/2014/main" id="{677C4D10-3A84-40E5-9453-7FA0C84955A1}"/>
              </a:ext>
            </a:extLst>
          </p:cNvPr>
          <p:cNvSpPr>
            <a:spLocks noChangeArrowheads="1"/>
          </p:cNvSpPr>
          <p:nvPr/>
        </p:nvSpPr>
        <p:spPr bwMode="auto">
          <a:xfrm>
            <a:off x="6670675" y="43989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4572" name="Rectangle 28">
            <a:extLst>
              <a:ext uri="{FF2B5EF4-FFF2-40B4-BE49-F238E27FC236}">
                <a16:creationId xmlns:a16="http://schemas.microsoft.com/office/drawing/2014/main" id="{189E1E19-8A4F-E526-FAC2-E19A2E2D9A64}"/>
              </a:ext>
            </a:extLst>
          </p:cNvPr>
          <p:cNvSpPr>
            <a:spLocks noChangeArrowheads="1"/>
          </p:cNvSpPr>
          <p:nvPr/>
        </p:nvSpPr>
        <p:spPr bwMode="auto">
          <a:xfrm>
            <a:off x="6670675"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4573" name="Rectangle 29">
            <a:extLst>
              <a:ext uri="{FF2B5EF4-FFF2-40B4-BE49-F238E27FC236}">
                <a16:creationId xmlns:a16="http://schemas.microsoft.com/office/drawing/2014/main" id="{CF66AE4A-1EE7-C871-3370-99F4809AA413}"/>
              </a:ext>
            </a:extLst>
          </p:cNvPr>
          <p:cNvSpPr>
            <a:spLocks noChangeArrowheads="1"/>
          </p:cNvSpPr>
          <p:nvPr/>
        </p:nvSpPr>
        <p:spPr bwMode="auto">
          <a:xfrm>
            <a:off x="6670675"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4574" name="Rectangle 30">
            <a:extLst>
              <a:ext uri="{FF2B5EF4-FFF2-40B4-BE49-F238E27FC236}">
                <a16:creationId xmlns:a16="http://schemas.microsoft.com/office/drawing/2014/main" id="{000D5352-D867-DD91-A23F-5FB0B410E251}"/>
              </a:ext>
            </a:extLst>
          </p:cNvPr>
          <p:cNvSpPr>
            <a:spLocks noChangeArrowheads="1"/>
          </p:cNvSpPr>
          <p:nvPr/>
        </p:nvSpPr>
        <p:spPr bwMode="auto">
          <a:xfrm>
            <a:off x="6670675"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46110" name="Rectangle 31">
            <a:extLst>
              <a:ext uri="{FF2B5EF4-FFF2-40B4-BE49-F238E27FC236}">
                <a16:creationId xmlns:a16="http://schemas.microsoft.com/office/drawing/2014/main" id="{25960E39-EA1A-5D74-CE5F-95B48ED00CFA}"/>
              </a:ext>
            </a:extLst>
          </p:cNvPr>
          <p:cNvSpPr>
            <a:spLocks noChangeArrowheads="1"/>
          </p:cNvSpPr>
          <p:nvPr/>
        </p:nvSpPr>
        <p:spPr bwMode="auto">
          <a:xfrm>
            <a:off x="6670675"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4576" name="Rectangle 32">
            <a:extLst>
              <a:ext uri="{FF2B5EF4-FFF2-40B4-BE49-F238E27FC236}">
                <a16:creationId xmlns:a16="http://schemas.microsoft.com/office/drawing/2014/main" id="{53BA6665-F1BD-ECF4-900C-93FB57C60ED4}"/>
              </a:ext>
            </a:extLst>
          </p:cNvPr>
          <p:cNvSpPr>
            <a:spLocks noChangeArrowheads="1"/>
          </p:cNvSpPr>
          <p:nvPr/>
        </p:nvSpPr>
        <p:spPr bwMode="auto">
          <a:xfrm>
            <a:off x="6134100" y="43989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4577" name="Rectangle 33">
            <a:extLst>
              <a:ext uri="{FF2B5EF4-FFF2-40B4-BE49-F238E27FC236}">
                <a16:creationId xmlns:a16="http://schemas.microsoft.com/office/drawing/2014/main" id="{C449291E-9127-862A-3645-6674925B35EF}"/>
              </a:ext>
            </a:extLst>
          </p:cNvPr>
          <p:cNvSpPr>
            <a:spLocks noChangeArrowheads="1"/>
          </p:cNvSpPr>
          <p:nvPr/>
        </p:nvSpPr>
        <p:spPr bwMode="auto">
          <a:xfrm>
            <a:off x="6134100"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4578" name="Rectangle 34">
            <a:extLst>
              <a:ext uri="{FF2B5EF4-FFF2-40B4-BE49-F238E27FC236}">
                <a16:creationId xmlns:a16="http://schemas.microsoft.com/office/drawing/2014/main" id="{18C2CF1D-02FF-761F-ABF0-FBF8E4A68FC2}"/>
              </a:ext>
            </a:extLst>
          </p:cNvPr>
          <p:cNvSpPr>
            <a:spLocks noChangeArrowheads="1"/>
          </p:cNvSpPr>
          <p:nvPr/>
        </p:nvSpPr>
        <p:spPr bwMode="auto">
          <a:xfrm>
            <a:off x="6134100"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4579" name="Rectangle 35">
            <a:extLst>
              <a:ext uri="{FF2B5EF4-FFF2-40B4-BE49-F238E27FC236}">
                <a16:creationId xmlns:a16="http://schemas.microsoft.com/office/drawing/2014/main" id="{A14FA69C-1C6C-9B61-0466-5BC6B45748F6}"/>
              </a:ext>
            </a:extLst>
          </p:cNvPr>
          <p:cNvSpPr>
            <a:spLocks noChangeArrowheads="1"/>
          </p:cNvSpPr>
          <p:nvPr/>
        </p:nvSpPr>
        <p:spPr bwMode="auto">
          <a:xfrm>
            <a:off x="6134100"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46115" name="Rectangle 36">
            <a:extLst>
              <a:ext uri="{FF2B5EF4-FFF2-40B4-BE49-F238E27FC236}">
                <a16:creationId xmlns:a16="http://schemas.microsoft.com/office/drawing/2014/main" id="{56F70183-85FD-3170-709E-24AC1376AA32}"/>
              </a:ext>
            </a:extLst>
          </p:cNvPr>
          <p:cNvSpPr>
            <a:spLocks noChangeArrowheads="1"/>
          </p:cNvSpPr>
          <p:nvPr/>
        </p:nvSpPr>
        <p:spPr bwMode="auto">
          <a:xfrm>
            <a:off x="6134100"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4581" name="Rectangle 37">
            <a:extLst>
              <a:ext uri="{FF2B5EF4-FFF2-40B4-BE49-F238E27FC236}">
                <a16:creationId xmlns:a16="http://schemas.microsoft.com/office/drawing/2014/main" id="{DE35419B-7E07-81E6-6284-C323B914C60B}"/>
              </a:ext>
            </a:extLst>
          </p:cNvPr>
          <p:cNvSpPr>
            <a:spLocks noChangeArrowheads="1"/>
          </p:cNvSpPr>
          <p:nvPr/>
        </p:nvSpPr>
        <p:spPr bwMode="auto">
          <a:xfrm>
            <a:off x="5595938" y="4398963"/>
            <a:ext cx="5381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4582" name="Rectangle 38">
            <a:extLst>
              <a:ext uri="{FF2B5EF4-FFF2-40B4-BE49-F238E27FC236}">
                <a16:creationId xmlns:a16="http://schemas.microsoft.com/office/drawing/2014/main" id="{C914C079-8622-D028-41C6-A257ABD76B36}"/>
              </a:ext>
            </a:extLst>
          </p:cNvPr>
          <p:cNvSpPr>
            <a:spLocks noChangeArrowheads="1"/>
          </p:cNvSpPr>
          <p:nvPr/>
        </p:nvSpPr>
        <p:spPr bwMode="auto">
          <a:xfrm>
            <a:off x="5595938" y="3363913"/>
            <a:ext cx="5381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4583" name="Rectangle 39">
            <a:extLst>
              <a:ext uri="{FF2B5EF4-FFF2-40B4-BE49-F238E27FC236}">
                <a16:creationId xmlns:a16="http://schemas.microsoft.com/office/drawing/2014/main" id="{EEE5C0E5-F0BD-CA5B-FA73-808BADC60E14}"/>
              </a:ext>
            </a:extLst>
          </p:cNvPr>
          <p:cNvSpPr>
            <a:spLocks noChangeArrowheads="1"/>
          </p:cNvSpPr>
          <p:nvPr/>
        </p:nvSpPr>
        <p:spPr bwMode="auto">
          <a:xfrm>
            <a:off x="5595938" y="2830513"/>
            <a:ext cx="5381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4584" name="Rectangle 40">
            <a:extLst>
              <a:ext uri="{FF2B5EF4-FFF2-40B4-BE49-F238E27FC236}">
                <a16:creationId xmlns:a16="http://schemas.microsoft.com/office/drawing/2014/main" id="{22687A34-6391-01E1-0BA6-4A4D3EBFB38C}"/>
              </a:ext>
            </a:extLst>
          </p:cNvPr>
          <p:cNvSpPr>
            <a:spLocks noChangeArrowheads="1"/>
          </p:cNvSpPr>
          <p:nvPr/>
        </p:nvSpPr>
        <p:spPr bwMode="auto">
          <a:xfrm>
            <a:off x="5595938" y="2251075"/>
            <a:ext cx="5381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46120" name="Rectangle 41">
            <a:extLst>
              <a:ext uri="{FF2B5EF4-FFF2-40B4-BE49-F238E27FC236}">
                <a16:creationId xmlns:a16="http://schemas.microsoft.com/office/drawing/2014/main" id="{4FF0C0DB-2959-4A6F-5C02-35221407D7E9}"/>
              </a:ext>
            </a:extLst>
          </p:cNvPr>
          <p:cNvSpPr>
            <a:spLocks noChangeArrowheads="1"/>
          </p:cNvSpPr>
          <p:nvPr/>
        </p:nvSpPr>
        <p:spPr bwMode="auto">
          <a:xfrm>
            <a:off x="5595938" y="1412875"/>
            <a:ext cx="5381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4586" name="Rectangle 42">
            <a:extLst>
              <a:ext uri="{FF2B5EF4-FFF2-40B4-BE49-F238E27FC236}">
                <a16:creationId xmlns:a16="http://schemas.microsoft.com/office/drawing/2014/main" id="{9C45FF3A-3ACE-5A23-C421-01D9C367DA4A}"/>
              </a:ext>
            </a:extLst>
          </p:cNvPr>
          <p:cNvSpPr>
            <a:spLocks noChangeArrowheads="1"/>
          </p:cNvSpPr>
          <p:nvPr/>
        </p:nvSpPr>
        <p:spPr bwMode="auto">
          <a:xfrm>
            <a:off x="5059363" y="43989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4587" name="Rectangle 43">
            <a:extLst>
              <a:ext uri="{FF2B5EF4-FFF2-40B4-BE49-F238E27FC236}">
                <a16:creationId xmlns:a16="http://schemas.microsoft.com/office/drawing/2014/main" id="{96E42E2E-5F81-936A-BA0B-C1A59E2F8BB6}"/>
              </a:ext>
            </a:extLst>
          </p:cNvPr>
          <p:cNvSpPr>
            <a:spLocks noChangeArrowheads="1"/>
          </p:cNvSpPr>
          <p:nvPr/>
        </p:nvSpPr>
        <p:spPr bwMode="auto">
          <a:xfrm>
            <a:off x="5059363"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4588" name="Rectangle 44">
            <a:extLst>
              <a:ext uri="{FF2B5EF4-FFF2-40B4-BE49-F238E27FC236}">
                <a16:creationId xmlns:a16="http://schemas.microsoft.com/office/drawing/2014/main" id="{3B4B236A-4CC9-2D79-B612-D45D36DFE6CD}"/>
              </a:ext>
            </a:extLst>
          </p:cNvPr>
          <p:cNvSpPr>
            <a:spLocks noChangeArrowheads="1"/>
          </p:cNvSpPr>
          <p:nvPr/>
        </p:nvSpPr>
        <p:spPr bwMode="auto">
          <a:xfrm>
            <a:off x="5059363"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4589" name="Rectangle 45">
            <a:extLst>
              <a:ext uri="{FF2B5EF4-FFF2-40B4-BE49-F238E27FC236}">
                <a16:creationId xmlns:a16="http://schemas.microsoft.com/office/drawing/2014/main" id="{9CEB0C3B-CB12-4791-E8B3-D65B67DDE9C4}"/>
              </a:ext>
            </a:extLst>
          </p:cNvPr>
          <p:cNvSpPr>
            <a:spLocks noChangeArrowheads="1"/>
          </p:cNvSpPr>
          <p:nvPr/>
        </p:nvSpPr>
        <p:spPr bwMode="auto">
          <a:xfrm>
            <a:off x="5059363"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46125" name="Rectangle 46">
            <a:extLst>
              <a:ext uri="{FF2B5EF4-FFF2-40B4-BE49-F238E27FC236}">
                <a16:creationId xmlns:a16="http://schemas.microsoft.com/office/drawing/2014/main" id="{D2C8417F-31D7-11F0-7F8C-9BDD59C43CA7}"/>
              </a:ext>
            </a:extLst>
          </p:cNvPr>
          <p:cNvSpPr>
            <a:spLocks noChangeArrowheads="1"/>
          </p:cNvSpPr>
          <p:nvPr/>
        </p:nvSpPr>
        <p:spPr bwMode="auto">
          <a:xfrm>
            <a:off x="5059363"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46126" name="Rectangle 47">
            <a:extLst>
              <a:ext uri="{FF2B5EF4-FFF2-40B4-BE49-F238E27FC236}">
                <a16:creationId xmlns:a16="http://schemas.microsoft.com/office/drawing/2014/main" id="{1C2F3A65-7C52-5A2A-F192-E533C77D32B6}"/>
              </a:ext>
            </a:extLst>
          </p:cNvPr>
          <p:cNvSpPr>
            <a:spLocks noChangeArrowheads="1"/>
          </p:cNvSpPr>
          <p:nvPr/>
        </p:nvSpPr>
        <p:spPr bwMode="auto">
          <a:xfrm>
            <a:off x="4522788" y="43989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46127" name="Rectangle 48">
            <a:extLst>
              <a:ext uri="{FF2B5EF4-FFF2-40B4-BE49-F238E27FC236}">
                <a16:creationId xmlns:a16="http://schemas.microsoft.com/office/drawing/2014/main" id="{2FDAEBA1-F597-F252-91B0-3D27AEB56C5E}"/>
              </a:ext>
            </a:extLst>
          </p:cNvPr>
          <p:cNvSpPr>
            <a:spLocks noChangeArrowheads="1"/>
          </p:cNvSpPr>
          <p:nvPr/>
        </p:nvSpPr>
        <p:spPr bwMode="auto">
          <a:xfrm>
            <a:off x="4522788"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6128" name="Rectangle 49">
            <a:extLst>
              <a:ext uri="{FF2B5EF4-FFF2-40B4-BE49-F238E27FC236}">
                <a16:creationId xmlns:a16="http://schemas.microsoft.com/office/drawing/2014/main" id="{26C74D03-D290-56F5-73FB-2FBDCFB1454C}"/>
              </a:ext>
            </a:extLst>
          </p:cNvPr>
          <p:cNvSpPr>
            <a:spLocks noChangeArrowheads="1"/>
          </p:cNvSpPr>
          <p:nvPr/>
        </p:nvSpPr>
        <p:spPr bwMode="auto">
          <a:xfrm>
            <a:off x="4522788"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6129" name="Rectangle 50">
            <a:extLst>
              <a:ext uri="{FF2B5EF4-FFF2-40B4-BE49-F238E27FC236}">
                <a16:creationId xmlns:a16="http://schemas.microsoft.com/office/drawing/2014/main" id="{2C9865C7-800B-FFF9-E23F-EC8D330B5B5A}"/>
              </a:ext>
            </a:extLst>
          </p:cNvPr>
          <p:cNvSpPr>
            <a:spLocks noChangeArrowheads="1"/>
          </p:cNvSpPr>
          <p:nvPr/>
        </p:nvSpPr>
        <p:spPr bwMode="auto">
          <a:xfrm>
            <a:off x="4522788"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6130" name="Rectangle 51">
            <a:extLst>
              <a:ext uri="{FF2B5EF4-FFF2-40B4-BE49-F238E27FC236}">
                <a16:creationId xmlns:a16="http://schemas.microsoft.com/office/drawing/2014/main" id="{339B4D93-DA11-121C-3B5F-1851BBCCE076}"/>
              </a:ext>
            </a:extLst>
          </p:cNvPr>
          <p:cNvSpPr>
            <a:spLocks noChangeArrowheads="1"/>
          </p:cNvSpPr>
          <p:nvPr/>
        </p:nvSpPr>
        <p:spPr bwMode="auto">
          <a:xfrm>
            <a:off x="4522788"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46131" name="Rectangle 52">
            <a:extLst>
              <a:ext uri="{FF2B5EF4-FFF2-40B4-BE49-F238E27FC236}">
                <a16:creationId xmlns:a16="http://schemas.microsoft.com/office/drawing/2014/main" id="{261403DA-2884-B85B-25A6-48F16B621CF9}"/>
              </a:ext>
            </a:extLst>
          </p:cNvPr>
          <p:cNvSpPr>
            <a:spLocks noChangeArrowheads="1"/>
          </p:cNvSpPr>
          <p:nvPr/>
        </p:nvSpPr>
        <p:spPr bwMode="auto">
          <a:xfrm>
            <a:off x="3986213" y="43989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46132" name="Rectangle 53">
            <a:extLst>
              <a:ext uri="{FF2B5EF4-FFF2-40B4-BE49-F238E27FC236}">
                <a16:creationId xmlns:a16="http://schemas.microsoft.com/office/drawing/2014/main" id="{5183AE95-FA85-061D-272D-CB6B614B8986}"/>
              </a:ext>
            </a:extLst>
          </p:cNvPr>
          <p:cNvSpPr>
            <a:spLocks noChangeArrowheads="1"/>
          </p:cNvSpPr>
          <p:nvPr/>
        </p:nvSpPr>
        <p:spPr bwMode="auto">
          <a:xfrm>
            <a:off x="3986213"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6133" name="Rectangle 54">
            <a:extLst>
              <a:ext uri="{FF2B5EF4-FFF2-40B4-BE49-F238E27FC236}">
                <a16:creationId xmlns:a16="http://schemas.microsoft.com/office/drawing/2014/main" id="{9CC0BA63-0BCB-7BFC-02FF-BBF925ABFBFC}"/>
              </a:ext>
            </a:extLst>
          </p:cNvPr>
          <p:cNvSpPr>
            <a:spLocks noChangeArrowheads="1"/>
          </p:cNvSpPr>
          <p:nvPr/>
        </p:nvSpPr>
        <p:spPr bwMode="auto">
          <a:xfrm>
            <a:off x="3986213"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6134" name="Rectangle 55">
            <a:extLst>
              <a:ext uri="{FF2B5EF4-FFF2-40B4-BE49-F238E27FC236}">
                <a16:creationId xmlns:a16="http://schemas.microsoft.com/office/drawing/2014/main" id="{1E242746-C715-73F2-3887-61BB5334024B}"/>
              </a:ext>
            </a:extLst>
          </p:cNvPr>
          <p:cNvSpPr>
            <a:spLocks noChangeArrowheads="1"/>
          </p:cNvSpPr>
          <p:nvPr/>
        </p:nvSpPr>
        <p:spPr bwMode="auto">
          <a:xfrm>
            <a:off x="3986213"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6135" name="Rectangle 56">
            <a:extLst>
              <a:ext uri="{FF2B5EF4-FFF2-40B4-BE49-F238E27FC236}">
                <a16:creationId xmlns:a16="http://schemas.microsoft.com/office/drawing/2014/main" id="{A7C947F0-7215-F761-DAF2-2E07345D643C}"/>
              </a:ext>
            </a:extLst>
          </p:cNvPr>
          <p:cNvSpPr>
            <a:spLocks noChangeArrowheads="1"/>
          </p:cNvSpPr>
          <p:nvPr/>
        </p:nvSpPr>
        <p:spPr bwMode="auto">
          <a:xfrm>
            <a:off x="3986213"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4601" name="Rectangle 57">
            <a:extLst>
              <a:ext uri="{FF2B5EF4-FFF2-40B4-BE49-F238E27FC236}">
                <a16:creationId xmlns:a16="http://schemas.microsoft.com/office/drawing/2014/main" id="{FB9413EB-F4F6-76D7-1F55-7B0CC968834B}"/>
              </a:ext>
            </a:extLst>
          </p:cNvPr>
          <p:cNvSpPr>
            <a:spLocks noChangeArrowheads="1"/>
          </p:cNvSpPr>
          <p:nvPr/>
        </p:nvSpPr>
        <p:spPr bwMode="auto">
          <a:xfrm>
            <a:off x="3449638" y="43989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4602" name="Rectangle 58">
            <a:extLst>
              <a:ext uri="{FF2B5EF4-FFF2-40B4-BE49-F238E27FC236}">
                <a16:creationId xmlns:a16="http://schemas.microsoft.com/office/drawing/2014/main" id="{9C5A2E36-2156-A57E-3C49-71058AFCA2B1}"/>
              </a:ext>
            </a:extLst>
          </p:cNvPr>
          <p:cNvSpPr>
            <a:spLocks noChangeArrowheads="1"/>
          </p:cNvSpPr>
          <p:nvPr/>
        </p:nvSpPr>
        <p:spPr bwMode="auto">
          <a:xfrm>
            <a:off x="3449638"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4603" name="Rectangle 59">
            <a:extLst>
              <a:ext uri="{FF2B5EF4-FFF2-40B4-BE49-F238E27FC236}">
                <a16:creationId xmlns:a16="http://schemas.microsoft.com/office/drawing/2014/main" id="{AAFBE1CA-2AAB-8E97-69C5-05E2ADD02E16}"/>
              </a:ext>
            </a:extLst>
          </p:cNvPr>
          <p:cNvSpPr>
            <a:spLocks noChangeArrowheads="1"/>
          </p:cNvSpPr>
          <p:nvPr/>
        </p:nvSpPr>
        <p:spPr bwMode="auto">
          <a:xfrm>
            <a:off x="3449638"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4604" name="Rectangle 60">
            <a:extLst>
              <a:ext uri="{FF2B5EF4-FFF2-40B4-BE49-F238E27FC236}">
                <a16:creationId xmlns:a16="http://schemas.microsoft.com/office/drawing/2014/main" id="{72EDB242-D5CA-0A91-35CA-CC6B96E5EA42}"/>
              </a:ext>
            </a:extLst>
          </p:cNvPr>
          <p:cNvSpPr>
            <a:spLocks noChangeArrowheads="1"/>
          </p:cNvSpPr>
          <p:nvPr/>
        </p:nvSpPr>
        <p:spPr bwMode="auto">
          <a:xfrm>
            <a:off x="3449638"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46140" name="Rectangle 61">
            <a:extLst>
              <a:ext uri="{FF2B5EF4-FFF2-40B4-BE49-F238E27FC236}">
                <a16:creationId xmlns:a16="http://schemas.microsoft.com/office/drawing/2014/main" id="{F33C42A1-D823-2921-2C35-D0F95F6C7346}"/>
              </a:ext>
            </a:extLst>
          </p:cNvPr>
          <p:cNvSpPr>
            <a:spLocks noChangeArrowheads="1"/>
          </p:cNvSpPr>
          <p:nvPr/>
        </p:nvSpPr>
        <p:spPr bwMode="auto">
          <a:xfrm>
            <a:off x="3449638"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364606" name="Rectangle 62">
            <a:extLst>
              <a:ext uri="{FF2B5EF4-FFF2-40B4-BE49-F238E27FC236}">
                <a16:creationId xmlns:a16="http://schemas.microsoft.com/office/drawing/2014/main" id="{FE5059F2-737E-890B-EB06-FE2B5F17EB16}"/>
              </a:ext>
            </a:extLst>
          </p:cNvPr>
          <p:cNvSpPr>
            <a:spLocks noChangeArrowheads="1"/>
          </p:cNvSpPr>
          <p:nvPr/>
        </p:nvSpPr>
        <p:spPr bwMode="auto">
          <a:xfrm>
            <a:off x="2913063" y="43989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4607" name="Rectangle 63">
            <a:extLst>
              <a:ext uri="{FF2B5EF4-FFF2-40B4-BE49-F238E27FC236}">
                <a16:creationId xmlns:a16="http://schemas.microsoft.com/office/drawing/2014/main" id="{5384F214-A318-6CD2-EB4E-7E28CC9885A0}"/>
              </a:ext>
            </a:extLst>
          </p:cNvPr>
          <p:cNvSpPr>
            <a:spLocks noChangeArrowheads="1"/>
          </p:cNvSpPr>
          <p:nvPr/>
        </p:nvSpPr>
        <p:spPr bwMode="auto">
          <a:xfrm>
            <a:off x="2913063"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4608" name="Rectangle 64">
            <a:extLst>
              <a:ext uri="{FF2B5EF4-FFF2-40B4-BE49-F238E27FC236}">
                <a16:creationId xmlns:a16="http://schemas.microsoft.com/office/drawing/2014/main" id="{DB6167B6-D481-1E41-3BD3-9B50A9AF6670}"/>
              </a:ext>
            </a:extLst>
          </p:cNvPr>
          <p:cNvSpPr>
            <a:spLocks noChangeArrowheads="1"/>
          </p:cNvSpPr>
          <p:nvPr/>
        </p:nvSpPr>
        <p:spPr bwMode="auto">
          <a:xfrm>
            <a:off x="2913063"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4609" name="Rectangle 65">
            <a:extLst>
              <a:ext uri="{FF2B5EF4-FFF2-40B4-BE49-F238E27FC236}">
                <a16:creationId xmlns:a16="http://schemas.microsoft.com/office/drawing/2014/main" id="{58C062FC-EE23-D398-08A6-DE8C73DF242E}"/>
              </a:ext>
            </a:extLst>
          </p:cNvPr>
          <p:cNvSpPr>
            <a:spLocks noChangeArrowheads="1"/>
          </p:cNvSpPr>
          <p:nvPr/>
        </p:nvSpPr>
        <p:spPr bwMode="auto">
          <a:xfrm>
            <a:off x="2913063"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46145" name="Rectangle 66">
            <a:extLst>
              <a:ext uri="{FF2B5EF4-FFF2-40B4-BE49-F238E27FC236}">
                <a16:creationId xmlns:a16="http://schemas.microsoft.com/office/drawing/2014/main" id="{B28E315A-3389-8602-50FB-2204B535F360}"/>
              </a:ext>
            </a:extLst>
          </p:cNvPr>
          <p:cNvSpPr>
            <a:spLocks noChangeArrowheads="1"/>
          </p:cNvSpPr>
          <p:nvPr/>
        </p:nvSpPr>
        <p:spPr bwMode="auto">
          <a:xfrm>
            <a:off x="2913063"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4611" name="Rectangle 67">
            <a:extLst>
              <a:ext uri="{FF2B5EF4-FFF2-40B4-BE49-F238E27FC236}">
                <a16:creationId xmlns:a16="http://schemas.microsoft.com/office/drawing/2014/main" id="{988FC281-DFBB-4671-3A0E-58C4BBB29760}"/>
              </a:ext>
            </a:extLst>
          </p:cNvPr>
          <p:cNvSpPr>
            <a:spLocks noChangeArrowheads="1"/>
          </p:cNvSpPr>
          <p:nvPr/>
        </p:nvSpPr>
        <p:spPr bwMode="auto">
          <a:xfrm>
            <a:off x="2376488" y="43989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46147" name="Rectangle 68">
            <a:extLst>
              <a:ext uri="{FF2B5EF4-FFF2-40B4-BE49-F238E27FC236}">
                <a16:creationId xmlns:a16="http://schemas.microsoft.com/office/drawing/2014/main" id="{AC7B29D9-5110-999F-754A-15BB003D7CBF}"/>
              </a:ext>
            </a:extLst>
          </p:cNvPr>
          <p:cNvSpPr>
            <a:spLocks noChangeArrowheads="1"/>
          </p:cNvSpPr>
          <p:nvPr/>
        </p:nvSpPr>
        <p:spPr bwMode="auto">
          <a:xfrm>
            <a:off x="2376488"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364613" name="Rectangle 69">
            <a:extLst>
              <a:ext uri="{FF2B5EF4-FFF2-40B4-BE49-F238E27FC236}">
                <a16:creationId xmlns:a16="http://schemas.microsoft.com/office/drawing/2014/main" id="{88BEE368-1827-77EC-0E8B-7846AEB5B4B9}"/>
              </a:ext>
            </a:extLst>
          </p:cNvPr>
          <p:cNvSpPr>
            <a:spLocks noChangeArrowheads="1"/>
          </p:cNvSpPr>
          <p:nvPr/>
        </p:nvSpPr>
        <p:spPr bwMode="auto">
          <a:xfrm>
            <a:off x="2376488"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4614" name="Rectangle 70">
            <a:extLst>
              <a:ext uri="{FF2B5EF4-FFF2-40B4-BE49-F238E27FC236}">
                <a16:creationId xmlns:a16="http://schemas.microsoft.com/office/drawing/2014/main" id="{3E2340AA-C588-8EBD-3DC5-C4802CCAAA02}"/>
              </a:ext>
            </a:extLst>
          </p:cNvPr>
          <p:cNvSpPr>
            <a:spLocks noChangeArrowheads="1"/>
          </p:cNvSpPr>
          <p:nvPr/>
        </p:nvSpPr>
        <p:spPr bwMode="auto">
          <a:xfrm>
            <a:off x="2376488"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46150" name="Rectangle 71">
            <a:extLst>
              <a:ext uri="{FF2B5EF4-FFF2-40B4-BE49-F238E27FC236}">
                <a16:creationId xmlns:a16="http://schemas.microsoft.com/office/drawing/2014/main" id="{A7563414-021E-AB2E-1759-836D1C561F66}"/>
              </a:ext>
            </a:extLst>
          </p:cNvPr>
          <p:cNvSpPr>
            <a:spLocks noChangeArrowheads="1"/>
          </p:cNvSpPr>
          <p:nvPr/>
        </p:nvSpPr>
        <p:spPr bwMode="auto">
          <a:xfrm>
            <a:off x="2376488"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4616" name="Rectangle 72">
            <a:extLst>
              <a:ext uri="{FF2B5EF4-FFF2-40B4-BE49-F238E27FC236}">
                <a16:creationId xmlns:a16="http://schemas.microsoft.com/office/drawing/2014/main" id="{F1107BA6-04AB-4883-78A5-5F977A7879BC}"/>
              </a:ext>
            </a:extLst>
          </p:cNvPr>
          <p:cNvSpPr>
            <a:spLocks noChangeArrowheads="1"/>
          </p:cNvSpPr>
          <p:nvPr/>
        </p:nvSpPr>
        <p:spPr bwMode="auto">
          <a:xfrm>
            <a:off x="1733550" y="4398963"/>
            <a:ext cx="6429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46152" name="Rectangle 73">
            <a:extLst>
              <a:ext uri="{FF2B5EF4-FFF2-40B4-BE49-F238E27FC236}">
                <a16:creationId xmlns:a16="http://schemas.microsoft.com/office/drawing/2014/main" id="{70A4B092-063E-DA32-F212-CA2459A55370}"/>
              </a:ext>
            </a:extLst>
          </p:cNvPr>
          <p:cNvSpPr>
            <a:spLocks noChangeArrowheads="1"/>
          </p:cNvSpPr>
          <p:nvPr/>
        </p:nvSpPr>
        <p:spPr bwMode="auto">
          <a:xfrm>
            <a:off x="1733550" y="3363913"/>
            <a:ext cx="6429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6153" name="Rectangle 74">
            <a:extLst>
              <a:ext uri="{FF2B5EF4-FFF2-40B4-BE49-F238E27FC236}">
                <a16:creationId xmlns:a16="http://schemas.microsoft.com/office/drawing/2014/main" id="{DDBAF74A-E4C9-8FAA-3D08-4FF23A7286E2}"/>
              </a:ext>
            </a:extLst>
          </p:cNvPr>
          <p:cNvSpPr>
            <a:spLocks noChangeArrowheads="1"/>
          </p:cNvSpPr>
          <p:nvPr/>
        </p:nvSpPr>
        <p:spPr bwMode="auto">
          <a:xfrm>
            <a:off x="1733550" y="2830513"/>
            <a:ext cx="6429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364619" name="Rectangle 75">
            <a:extLst>
              <a:ext uri="{FF2B5EF4-FFF2-40B4-BE49-F238E27FC236}">
                <a16:creationId xmlns:a16="http://schemas.microsoft.com/office/drawing/2014/main" id="{B341AD07-FF80-64E7-0BF6-777C34993CB4}"/>
              </a:ext>
            </a:extLst>
          </p:cNvPr>
          <p:cNvSpPr>
            <a:spLocks noChangeArrowheads="1"/>
          </p:cNvSpPr>
          <p:nvPr/>
        </p:nvSpPr>
        <p:spPr bwMode="auto">
          <a:xfrm>
            <a:off x="1733550" y="2251075"/>
            <a:ext cx="6429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46155" name="Rectangle 76">
            <a:extLst>
              <a:ext uri="{FF2B5EF4-FFF2-40B4-BE49-F238E27FC236}">
                <a16:creationId xmlns:a16="http://schemas.microsoft.com/office/drawing/2014/main" id="{E8C4A082-8F1E-A2C0-143B-865F412725C1}"/>
              </a:ext>
            </a:extLst>
          </p:cNvPr>
          <p:cNvSpPr>
            <a:spLocks noChangeArrowheads="1"/>
          </p:cNvSpPr>
          <p:nvPr/>
        </p:nvSpPr>
        <p:spPr bwMode="auto">
          <a:xfrm>
            <a:off x="1733550" y="1412875"/>
            <a:ext cx="6429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46156" name="Rectangle 77">
            <a:extLst>
              <a:ext uri="{FF2B5EF4-FFF2-40B4-BE49-F238E27FC236}">
                <a16:creationId xmlns:a16="http://schemas.microsoft.com/office/drawing/2014/main" id="{8FBEE23E-506D-A626-E02D-6A552D87099C}"/>
              </a:ext>
            </a:extLst>
          </p:cNvPr>
          <p:cNvSpPr>
            <a:spLocks noChangeArrowheads="1"/>
          </p:cNvSpPr>
          <p:nvPr/>
        </p:nvSpPr>
        <p:spPr bwMode="auto">
          <a:xfrm>
            <a:off x="731838" y="4398963"/>
            <a:ext cx="10017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6157" name="Rectangle 78">
            <a:extLst>
              <a:ext uri="{FF2B5EF4-FFF2-40B4-BE49-F238E27FC236}">
                <a16:creationId xmlns:a16="http://schemas.microsoft.com/office/drawing/2014/main" id="{73BCC057-DDF5-53D5-5DC6-10D96F2D15B4}"/>
              </a:ext>
            </a:extLst>
          </p:cNvPr>
          <p:cNvSpPr>
            <a:spLocks noChangeArrowheads="1"/>
          </p:cNvSpPr>
          <p:nvPr/>
        </p:nvSpPr>
        <p:spPr bwMode="auto">
          <a:xfrm>
            <a:off x="731838" y="3363913"/>
            <a:ext cx="10017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块3</a:t>
            </a:r>
          </a:p>
        </p:txBody>
      </p:sp>
      <p:sp>
        <p:nvSpPr>
          <p:cNvPr id="46158" name="Rectangle 79">
            <a:extLst>
              <a:ext uri="{FF2B5EF4-FFF2-40B4-BE49-F238E27FC236}">
                <a16:creationId xmlns:a16="http://schemas.microsoft.com/office/drawing/2014/main" id="{6C4647F5-6974-DE26-8649-B4D86A726DDA}"/>
              </a:ext>
            </a:extLst>
          </p:cNvPr>
          <p:cNvSpPr>
            <a:spLocks noChangeArrowheads="1"/>
          </p:cNvSpPr>
          <p:nvPr/>
        </p:nvSpPr>
        <p:spPr bwMode="auto">
          <a:xfrm>
            <a:off x="731838" y="2830513"/>
            <a:ext cx="10017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块2</a:t>
            </a:r>
          </a:p>
        </p:txBody>
      </p:sp>
      <p:sp>
        <p:nvSpPr>
          <p:cNvPr id="46159" name="Rectangle 80">
            <a:extLst>
              <a:ext uri="{FF2B5EF4-FFF2-40B4-BE49-F238E27FC236}">
                <a16:creationId xmlns:a16="http://schemas.microsoft.com/office/drawing/2014/main" id="{777B6991-4C7F-3961-CB6E-6CFA5EDDEEDA}"/>
              </a:ext>
            </a:extLst>
          </p:cNvPr>
          <p:cNvSpPr>
            <a:spLocks noChangeArrowheads="1"/>
          </p:cNvSpPr>
          <p:nvPr/>
        </p:nvSpPr>
        <p:spPr bwMode="auto">
          <a:xfrm>
            <a:off x="731838" y="2251075"/>
            <a:ext cx="10017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块1</a:t>
            </a:r>
          </a:p>
        </p:txBody>
      </p:sp>
      <p:sp>
        <p:nvSpPr>
          <p:cNvPr id="46160" name="Rectangle 81">
            <a:extLst>
              <a:ext uri="{FF2B5EF4-FFF2-40B4-BE49-F238E27FC236}">
                <a16:creationId xmlns:a16="http://schemas.microsoft.com/office/drawing/2014/main" id="{B1E2BC5D-C798-A095-B3D7-3E1544DFC215}"/>
              </a:ext>
            </a:extLst>
          </p:cNvPr>
          <p:cNvSpPr>
            <a:spLocks noChangeArrowheads="1"/>
          </p:cNvSpPr>
          <p:nvPr/>
        </p:nvSpPr>
        <p:spPr bwMode="auto">
          <a:xfrm>
            <a:off x="731838" y="1412875"/>
            <a:ext cx="100171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走向</a:t>
            </a:r>
          </a:p>
        </p:txBody>
      </p:sp>
      <p:sp>
        <p:nvSpPr>
          <p:cNvPr id="46161" name="Line 82">
            <a:extLst>
              <a:ext uri="{FF2B5EF4-FFF2-40B4-BE49-F238E27FC236}">
                <a16:creationId xmlns:a16="http://schemas.microsoft.com/office/drawing/2014/main" id="{6614E56F-7BEC-15C2-30D6-8789ED3CB354}"/>
              </a:ext>
            </a:extLst>
          </p:cNvPr>
          <p:cNvSpPr>
            <a:spLocks noChangeShapeType="1"/>
          </p:cNvSpPr>
          <p:nvPr/>
        </p:nvSpPr>
        <p:spPr bwMode="auto">
          <a:xfrm>
            <a:off x="731838" y="1412875"/>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2" name="Line 83">
            <a:extLst>
              <a:ext uri="{FF2B5EF4-FFF2-40B4-BE49-F238E27FC236}">
                <a16:creationId xmlns:a16="http://schemas.microsoft.com/office/drawing/2014/main" id="{48DDC86D-001D-8E64-1786-1D39602D83C2}"/>
              </a:ext>
            </a:extLst>
          </p:cNvPr>
          <p:cNvSpPr>
            <a:spLocks noChangeShapeType="1"/>
          </p:cNvSpPr>
          <p:nvPr/>
        </p:nvSpPr>
        <p:spPr bwMode="auto">
          <a:xfrm>
            <a:off x="731838" y="4916488"/>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3" name="Line 84">
            <a:extLst>
              <a:ext uri="{FF2B5EF4-FFF2-40B4-BE49-F238E27FC236}">
                <a16:creationId xmlns:a16="http://schemas.microsoft.com/office/drawing/2014/main" id="{B3AEB80F-9DDA-3CE6-9613-E39C4888E7DB}"/>
              </a:ext>
            </a:extLst>
          </p:cNvPr>
          <p:cNvSpPr>
            <a:spLocks noChangeShapeType="1"/>
          </p:cNvSpPr>
          <p:nvPr/>
        </p:nvSpPr>
        <p:spPr bwMode="auto">
          <a:xfrm>
            <a:off x="731838" y="1412875"/>
            <a:ext cx="0" cy="3503613"/>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4" name="Line 85">
            <a:extLst>
              <a:ext uri="{FF2B5EF4-FFF2-40B4-BE49-F238E27FC236}">
                <a16:creationId xmlns:a16="http://schemas.microsoft.com/office/drawing/2014/main" id="{F49A43E3-EB62-A57F-9C3E-733FF2311CCC}"/>
              </a:ext>
            </a:extLst>
          </p:cNvPr>
          <p:cNvSpPr>
            <a:spLocks noChangeShapeType="1"/>
          </p:cNvSpPr>
          <p:nvPr/>
        </p:nvSpPr>
        <p:spPr bwMode="auto">
          <a:xfrm>
            <a:off x="8351838" y="1412875"/>
            <a:ext cx="0" cy="3503613"/>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5" name="Line 86">
            <a:extLst>
              <a:ext uri="{FF2B5EF4-FFF2-40B4-BE49-F238E27FC236}">
                <a16:creationId xmlns:a16="http://schemas.microsoft.com/office/drawing/2014/main" id="{4BC18817-E542-F577-0412-5B00653F9DC1}"/>
              </a:ext>
            </a:extLst>
          </p:cNvPr>
          <p:cNvSpPr>
            <a:spLocks noChangeShapeType="1"/>
          </p:cNvSpPr>
          <p:nvPr/>
        </p:nvSpPr>
        <p:spPr bwMode="auto">
          <a:xfrm>
            <a:off x="731838" y="2251075"/>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6" name="Line 87">
            <a:extLst>
              <a:ext uri="{FF2B5EF4-FFF2-40B4-BE49-F238E27FC236}">
                <a16:creationId xmlns:a16="http://schemas.microsoft.com/office/drawing/2014/main" id="{3AC88660-8D1B-5306-0273-2F6C1A438531}"/>
              </a:ext>
            </a:extLst>
          </p:cNvPr>
          <p:cNvSpPr>
            <a:spLocks noChangeShapeType="1"/>
          </p:cNvSpPr>
          <p:nvPr/>
        </p:nvSpPr>
        <p:spPr bwMode="auto">
          <a:xfrm>
            <a:off x="731838" y="2830513"/>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7" name="Line 88">
            <a:extLst>
              <a:ext uri="{FF2B5EF4-FFF2-40B4-BE49-F238E27FC236}">
                <a16:creationId xmlns:a16="http://schemas.microsoft.com/office/drawing/2014/main" id="{F735B783-6B0E-D761-7FAF-DA7A5989AD31}"/>
              </a:ext>
            </a:extLst>
          </p:cNvPr>
          <p:cNvSpPr>
            <a:spLocks noChangeShapeType="1"/>
          </p:cNvSpPr>
          <p:nvPr/>
        </p:nvSpPr>
        <p:spPr bwMode="auto">
          <a:xfrm>
            <a:off x="731838" y="3363913"/>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8" name="Line 89">
            <a:extLst>
              <a:ext uri="{FF2B5EF4-FFF2-40B4-BE49-F238E27FC236}">
                <a16:creationId xmlns:a16="http://schemas.microsoft.com/office/drawing/2014/main" id="{0DBACE26-C79E-EA51-99D9-EFACD88954A3}"/>
              </a:ext>
            </a:extLst>
          </p:cNvPr>
          <p:cNvSpPr>
            <a:spLocks noChangeShapeType="1"/>
          </p:cNvSpPr>
          <p:nvPr/>
        </p:nvSpPr>
        <p:spPr bwMode="auto">
          <a:xfrm>
            <a:off x="731838" y="4398963"/>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9" name="Line 90">
            <a:extLst>
              <a:ext uri="{FF2B5EF4-FFF2-40B4-BE49-F238E27FC236}">
                <a16:creationId xmlns:a16="http://schemas.microsoft.com/office/drawing/2014/main" id="{0C257748-A328-BEF4-D03A-1E3303932AA8}"/>
              </a:ext>
            </a:extLst>
          </p:cNvPr>
          <p:cNvSpPr>
            <a:spLocks noChangeShapeType="1"/>
          </p:cNvSpPr>
          <p:nvPr/>
        </p:nvSpPr>
        <p:spPr bwMode="auto">
          <a:xfrm>
            <a:off x="1733550" y="1412875"/>
            <a:ext cx="0" cy="35036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0" name="Line 91">
            <a:extLst>
              <a:ext uri="{FF2B5EF4-FFF2-40B4-BE49-F238E27FC236}">
                <a16:creationId xmlns:a16="http://schemas.microsoft.com/office/drawing/2014/main" id="{DE3B86CB-416D-8163-ECE6-D55BFA23E3E1}"/>
              </a:ext>
            </a:extLst>
          </p:cNvPr>
          <p:cNvSpPr>
            <a:spLocks noChangeShapeType="1"/>
          </p:cNvSpPr>
          <p:nvPr/>
        </p:nvSpPr>
        <p:spPr bwMode="auto">
          <a:xfrm>
            <a:off x="2376488" y="1412875"/>
            <a:ext cx="0" cy="35036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1" name="Line 92">
            <a:extLst>
              <a:ext uri="{FF2B5EF4-FFF2-40B4-BE49-F238E27FC236}">
                <a16:creationId xmlns:a16="http://schemas.microsoft.com/office/drawing/2014/main" id="{7682BF5A-FEB8-FDE5-E530-ABE31E9F8D6F}"/>
              </a:ext>
            </a:extLst>
          </p:cNvPr>
          <p:cNvSpPr>
            <a:spLocks noChangeShapeType="1"/>
          </p:cNvSpPr>
          <p:nvPr/>
        </p:nvSpPr>
        <p:spPr bwMode="auto">
          <a:xfrm>
            <a:off x="2913063" y="1412875"/>
            <a:ext cx="0" cy="35036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2" name="Line 93">
            <a:extLst>
              <a:ext uri="{FF2B5EF4-FFF2-40B4-BE49-F238E27FC236}">
                <a16:creationId xmlns:a16="http://schemas.microsoft.com/office/drawing/2014/main" id="{2EE2FC1F-0059-7886-AA10-7C10F5FF362C}"/>
              </a:ext>
            </a:extLst>
          </p:cNvPr>
          <p:cNvSpPr>
            <a:spLocks noChangeShapeType="1"/>
          </p:cNvSpPr>
          <p:nvPr/>
        </p:nvSpPr>
        <p:spPr bwMode="auto">
          <a:xfrm>
            <a:off x="3449638" y="1412875"/>
            <a:ext cx="0" cy="35036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3" name="Line 94">
            <a:extLst>
              <a:ext uri="{FF2B5EF4-FFF2-40B4-BE49-F238E27FC236}">
                <a16:creationId xmlns:a16="http://schemas.microsoft.com/office/drawing/2014/main" id="{2CC22660-5D00-7C08-6976-BA3595D1EDDB}"/>
              </a:ext>
            </a:extLst>
          </p:cNvPr>
          <p:cNvSpPr>
            <a:spLocks noChangeShapeType="1"/>
          </p:cNvSpPr>
          <p:nvPr/>
        </p:nvSpPr>
        <p:spPr bwMode="auto">
          <a:xfrm>
            <a:off x="3986213" y="1412875"/>
            <a:ext cx="0" cy="35036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4" name="Line 95">
            <a:extLst>
              <a:ext uri="{FF2B5EF4-FFF2-40B4-BE49-F238E27FC236}">
                <a16:creationId xmlns:a16="http://schemas.microsoft.com/office/drawing/2014/main" id="{15EA158C-3079-2C72-8D7C-7E319E5A281A}"/>
              </a:ext>
            </a:extLst>
          </p:cNvPr>
          <p:cNvSpPr>
            <a:spLocks noChangeShapeType="1"/>
          </p:cNvSpPr>
          <p:nvPr/>
        </p:nvSpPr>
        <p:spPr bwMode="auto">
          <a:xfrm>
            <a:off x="4522788" y="1412875"/>
            <a:ext cx="0" cy="35036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5" name="Line 96">
            <a:extLst>
              <a:ext uri="{FF2B5EF4-FFF2-40B4-BE49-F238E27FC236}">
                <a16:creationId xmlns:a16="http://schemas.microsoft.com/office/drawing/2014/main" id="{9AFB408E-24F6-FEA5-7184-2DD20A0D744A}"/>
              </a:ext>
            </a:extLst>
          </p:cNvPr>
          <p:cNvSpPr>
            <a:spLocks noChangeShapeType="1"/>
          </p:cNvSpPr>
          <p:nvPr/>
        </p:nvSpPr>
        <p:spPr bwMode="auto">
          <a:xfrm>
            <a:off x="5059363" y="1412875"/>
            <a:ext cx="0" cy="35036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6" name="Line 97">
            <a:extLst>
              <a:ext uri="{FF2B5EF4-FFF2-40B4-BE49-F238E27FC236}">
                <a16:creationId xmlns:a16="http://schemas.microsoft.com/office/drawing/2014/main" id="{5F258886-D032-EDD6-E99A-F70ADCFFBC37}"/>
              </a:ext>
            </a:extLst>
          </p:cNvPr>
          <p:cNvSpPr>
            <a:spLocks noChangeShapeType="1"/>
          </p:cNvSpPr>
          <p:nvPr/>
        </p:nvSpPr>
        <p:spPr bwMode="auto">
          <a:xfrm>
            <a:off x="5595938" y="1412875"/>
            <a:ext cx="0" cy="35036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7" name="Line 98">
            <a:extLst>
              <a:ext uri="{FF2B5EF4-FFF2-40B4-BE49-F238E27FC236}">
                <a16:creationId xmlns:a16="http://schemas.microsoft.com/office/drawing/2014/main" id="{35458EBA-1481-4DDC-EAD6-E09AD9351C7D}"/>
              </a:ext>
            </a:extLst>
          </p:cNvPr>
          <p:cNvSpPr>
            <a:spLocks noChangeShapeType="1"/>
          </p:cNvSpPr>
          <p:nvPr/>
        </p:nvSpPr>
        <p:spPr bwMode="auto">
          <a:xfrm>
            <a:off x="6134100" y="1412875"/>
            <a:ext cx="0" cy="35036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8" name="Line 99">
            <a:extLst>
              <a:ext uri="{FF2B5EF4-FFF2-40B4-BE49-F238E27FC236}">
                <a16:creationId xmlns:a16="http://schemas.microsoft.com/office/drawing/2014/main" id="{31384D8A-A913-1DEE-DFC7-096541A21C66}"/>
              </a:ext>
            </a:extLst>
          </p:cNvPr>
          <p:cNvSpPr>
            <a:spLocks noChangeShapeType="1"/>
          </p:cNvSpPr>
          <p:nvPr/>
        </p:nvSpPr>
        <p:spPr bwMode="auto">
          <a:xfrm>
            <a:off x="6670675" y="1412875"/>
            <a:ext cx="0" cy="35036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9" name="Line 100">
            <a:extLst>
              <a:ext uri="{FF2B5EF4-FFF2-40B4-BE49-F238E27FC236}">
                <a16:creationId xmlns:a16="http://schemas.microsoft.com/office/drawing/2014/main" id="{D176A19E-ABD8-E963-2812-BA91C1BC8139}"/>
              </a:ext>
            </a:extLst>
          </p:cNvPr>
          <p:cNvSpPr>
            <a:spLocks noChangeShapeType="1"/>
          </p:cNvSpPr>
          <p:nvPr/>
        </p:nvSpPr>
        <p:spPr bwMode="auto">
          <a:xfrm>
            <a:off x="7207250" y="1412875"/>
            <a:ext cx="0" cy="35036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80" name="Line 101">
            <a:extLst>
              <a:ext uri="{FF2B5EF4-FFF2-40B4-BE49-F238E27FC236}">
                <a16:creationId xmlns:a16="http://schemas.microsoft.com/office/drawing/2014/main" id="{0B9B30B7-9F1F-C142-C8C5-3FF2AE8D13D6}"/>
              </a:ext>
            </a:extLst>
          </p:cNvPr>
          <p:cNvSpPr>
            <a:spLocks noChangeShapeType="1"/>
          </p:cNvSpPr>
          <p:nvPr/>
        </p:nvSpPr>
        <p:spPr bwMode="auto">
          <a:xfrm>
            <a:off x="7737475" y="1412875"/>
            <a:ext cx="0" cy="3503613"/>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81" name="Line 102">
            <a:extLst>
              <a:ext uri="{FF2B5EF4-FFF2-40B4-BE49-F238E27FC236}">
                <a16:creationId xmlns:a16="http://schemas.microsoft.com/office/drawing/2014/main" id="{E9793244-D2A4-88E2-7810-ACFCFB65FD3A}"/>
              </a:ext>
            </a:extLst>
          </p:cNvPr>
          <p:cNvSpPr>
            <a:spLocks noChangeShapeType="1"/>
          </p:cNvSpPr>
          <p:nvPr/>
        </p:nvSpPr>
        <p:spPr bwMode="auto">
          <a:xfrm>
            <a:off x="731838" y="3881438"/>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364619"/>
                                        </p:tgtEl>
                                        <p:attrNameLst>
                                          <p:attrName>style.visibility</p:attrName>
                                        </p:attrNameLst>
                                      </p:cBhvr>
                                      <p:to>
                                        <p:strVal val="visible"/>
                                      </p:to>
                                    </p:set>
                                    <p:animEffect transition="in" filter="barn(outHorizontal)">
                                      <p:cBhvr>
                                        <p:cTn id="7" dur="500"/>
                                        <p:tgtEl>
                                          <p:spTgt spid="3646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364616"/>
                                        </p:tgtEl>
                                        <p:attrNameLst>
                                          <p:attrName>style.visibility</p:attrName>
                                        </p:attrNameLst>
                                      </p:cBhvr>
                                      <p:to>
                                        <p:strVal val="visible"/>
                                      </p:to>
                                    </p:set>
                                    <p:animEffect transition="in" filter="barn(outHorizontal)">
                                      <p:cBhvr>
                                        <p:cTn id="12" dur="500"/>
                                        <p:tgtEl>
                                          <p:spTgt spid="3646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364614"/>
                                        </p:tgtEl>
                                        <p:attrNameLst>
                                          <p:attrName>style.visibility</p:attrName>
                                        </p:attrNameLst>
                                      </p:cBhvr>
                                      <p:to>
                                        <p:strVal val="visible"/>
                                      </p:to>
                                    </p:set>
                                    <p:animEffect transition="in" filter="barn(outHorizontal)">
                                      <p:cBhvr>
                                        <p:cTn id="17" dur="500"/>
                                        <p:tgtEl>
                                          <p:spTgt spid="3646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364613"/>
                                        </p:tgtEl>
                                        <p:attrNameLst>
                                          <p:attrName>style.visibility</p:attrName>
                                        </p:attrNameLst>
                                      </p:cBhvr>
                                      <p:to>
                                        <p:strVal val="visible"/>
                                      </p:to>
                                    </p:set>
                                    <p:animEffect transition="in" filter="barn(outHorizontal)">
                                      <p:cBhvr>
                                        <p:cTn id="22" dur="500"/>
                                        <p:tgtEl>
                                          <p:spTgt spid="3646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364611"/>
                                        </p:tgtEl>
                                        <p:attrNameLst>
                                          <p:attrName>style.visibility</p:attrName>
                                        </p:attrNameLst>
                                      </p:cBhvr>
                                      <p:to>
                                        <p:strVal val="visible"/>
                                      </p:to>
                                    </p:set>
                                    <p:animEffect transition="in" filter="barn(outHorizontal)">
                                      <p:cBhvr>
                                        <p:cTn id="27" dur="500"/>
                                        <p:tgtEl>
                                          <p:spTgt spid="3646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364609"/>
                                        </p:tgtEl>
                                        <p:attrNameLst>
                                          <p:attrName>style.visibility</p:attrName>
                                        </p:attrNameLst>
                                      </p:cBhvr>
                                      <p:to>
                                        <p:strVal val="visible"/>
                                      </p:to>
                                    </p:set>
                                    <p:animEffect transition="in" filter="barn(outHorizontal)">
                                      <p:cBhvr>
                                        <p:cTn id="32" dur="500"/>
                                        <p:tgtEl>
                                          <p:spTgt spid="36460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364608"/>
                                        </p:tgtEl>
                                        <p:attrNameLst>
                                          <p:attrName>style.visibility</p:attrName>
                                        </p:attrNameLst>
                                      </p:cBhvr>
                                      <p:to>
                                        <p:strVal val="visible"/>
                                      </p:to>
                                    </p:set>
                                    <p:animEffect transition="in" filter="barn(outHorizontal)">
                                      <p:cBhvr>
                                        <p:cTn id="37" dur="500"/>
                                        <p:tgtEl>
                                          <p:spTgt spid="36460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364607"/>
                                        </p:tgtEl>
                                        <p:attrNameLst>
                                          <p:attrName>style.visibility</p:attrName>
                                        </p:attrNameLst>
                                      </p:cBhvr>
                                      <p:to>
                                        <p:strVal val="visible"/>
                                      </p:to>
                                    </p:set>
                                    <p:animEffect transition="in" filter="barn(outHorizontal)">
                                      <p:cBhvr>
                                        <p:cTn id="42" dur="500"/>
                                        <p:tgtEl>
                                          <p:spTgt spid="36460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364606"/>
                                        </p:tgtEl>
                                        <p:attrNameLst>
                                          <p:attrName>style.visibility</p:attrName>
                                        </p:attrNameLst>
                                      </p:cBhvr>
                                      <p:to>
                                        <p:strVal val="visible"/>
                                      </p:to>
                                    </p:set>
                                    <p:animEffect transition="in" filter="barn(outHorizontal)">
                                      <p:cBhvr>
                                        <p:cTn id="47" dur="500"/>
                                        <p:tgtEl>
                                          <p:spTgt spid="36460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364604"/>
                                        </p:tgtEl>
                                        <p:attrNameLst>
                                          <p:attrName>style.visibility</p:attrName>
                                        </p:attrNameLst>
                                      </p:cBhvr>
                                      <p:to>
                                        <p:strVal val="visible"/>
                                      </p:to>
                                    </p:set>
                                    <p:animEffect transition="in" filter="barn(outHorizontal)">
                                      <p:cBhvr>
                                        <p:cTn id="52" dur="500"/>
                                        <p:tgtEl>
                                          <p:spTgt spid="36460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364603"/>
                                        </p:tgtEl>
                                        <p:attrNameLst>
                                          <p:attrName>style.visibility</p:attrName>
                                        </p:attrNameLst>
                                      </p:cBhvr>
                                      <p:to>
                                        <p:strVal val="visible"/>
                                      </p:to>
                                    </p:set>
                                    <p:animEffect transition="in" filter="barn(outHorizontal)">
                                      <p:cBhvr>
                                        <p:cTn id="57" dur="500"/>
                                        <p:tgtEl>
                                          <p:spTgt spid="36460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364602"/>
                                        </p:tgtEl>
                                        <p:attrNameLst>
                                          <p:attrName>style.visibility</p:attrName>
                                        </p:attrNameLst>
                                      </p:cBhvr>
                                      <p:to>
                                        <p:strVal val="visible"/>
                                      </p:to>
                                    </p:set>
                                    <p:animEffect transition="in" filter="barn(outHorizontal)">
                                      <p:cBhvr>
                                        <p:cTn id="62" dur="500"/>
                                        <p:tgtEl>
                                          <p:spTgt spid="36460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364556"/>
                                        </p:tgtEl>
                                        <p:attrNameLst>
                                          <p:attrName>style.visibility</p:attrName>
                                        </p:attrNameLst>
                                      </p:cBhvr>
                                      <p:to>
                                        <p:strVal val="visible"/>
                                      </p:to>
                                    </p:set>
                                    <p:animEffect transition="in" filter="barn(outHorizontal)">
                                      <p:cBhvr>
                                        <p:cTn id="67" dur="500"/>
                                        <p:tgtEl>
                                          <p:spTgt spid="36455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364601"/>
                                        </p:tgtEl>
                                        <p:attrNameLst>
                                          <p:attrName>style.visibility</p:attrName>
                                        </p:attrNameLst>
                                      </p:cBhvr>
                                      <p:to>
                                        <p:strVal val="visible"/>
                                      </p:to>
                                    </p:set>
                                    <p:animEffect transition="in" filter="barn(outHorizontal)">
                                      <p:cBhvr>
                                        <p:cTn id="72" dur="500"/>
                                        <p:tgtEl>
                                          <p:spTgt spid="36460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364589"/>
                                        </p:tgtEl>
                                        <p:attrNameLst>
                                          <p:attrName>style.visibility</p:attrName>
                                        </p:attrNameLst>
                                      </p:cBhvr>
                                      <p:to>
                                        <p:strVal val="visible"/>
                                      </p:to>
                                    </p:set>
                                    <p:animEffect transition="in" filter="barn(outHorizontal)">
                                      <p:cBhvr>
                                        <p:cTn id="77" dur="500"/>
                                        <p:tgtEl>
                                          <p:spTgt spid="36458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364588"/>
                                        </p:tgtEl>
                                        <p:attrNameLst>
                                          <p:attrName>style.visibility</p:attrName>
                                        </p:attrNameLst>
                                      </p:cBhvr>
                                      <p:to>
                                        <p:strVal val="visible"/>
                                      </p:to>
                                    </p:set>
                                    <p:animEffect transition="in" filter="barn(outHorizontal)">
                                      <p:cBhvr>
                                        <p:cTn id="82" dur="500"/>
                                        <p:tgtEl>
                                          <p:spTgt spid="364588"/>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364587"/>
                                        </p:tgtEl>
                                        <p:attrNameLst>
                                          <p:attrName>style.visibility</p:attrName>
                                        </p:attrNameLst>
                                      </p:cBhvr>
                                      <p:to>
                                        <p:strVal val="visible"/>
                                      </p:to>
                                    </p:set>
                                    <p:animEffect transition="in" filter="barn(outHorizontal)">
                                      <p:cBhvr>
                                        <p:cTn id="87" dur="500"/>
                                        <p:tgtEl>
                                          <p:spTgt spid="36458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364553"/>
                                        </p:tgtEl>
                                        <p:attrNameLst>
                                          <p:attrName>style.visibility</p:attrName>
                                        </p:attrNameLst>
                                      </p:cBhvr>
                                      <p:to>
                                        <p:strVal val="visible"/>
                                      </p:to>
                                    </p:set>
                                    <p:animEffect transition="in" filter="barn(outHorizontal)">
                                      <p:cBhvr>
                                        <p:cTn id="92" dur="500"/>
                                        <p:tgtEl>
                                          <p:spTgt spid="364553"/>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364586"/>
                                        </p:tgtEl>
                                        <p:attrNameLst>
                                          <p:attrName>style.visibility</p:attrName>
                                        </p:attrNameLst>
                                      </p:cBhvr>
                                      <p:to>
                                        <p:strVal val="visible"/>
                                      </p:to>
                                    </p:set>
                                    <p:animEffect transition="in" filter="barn(outHorizontal)">
                                      <p:cBhvr>
                                        <p:cTn id="97" dur="500"/>
                                        <p:tgtEl>
                                          <p:spTgt spid="364586"/>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6" presetClass="entr" presetSubtype="42" fill="hold" nodeType="clickEffect">
                                  <p:stCondLst>
                                    <p:cond delay="0"/>
                                  </p:stCondLst>
                                  <p:childTnLst>
                                    <p:set>
                                      <p:cBhvr>
                                        <p:cTn id="101" dur="1" fill="hold">
                                          <p:stCondLst>
                                            <p:cond delay="0"/>
                                          </p:stCondLst>
                                        </p:cTn>
                                        <p:tgtEl>
                                          <p:spTgt spid="364584"/>
                                        </p:tgtEl>
                                        <p:attrNameLst>
                                          <p:attrName>style.visibility</p:attrName>
                                        </p:attrNameLst>
                                      </p:cBhvr>
                                      <p:to>
                                        <p:strVal val="visible"/>
                                      </p:to>
                                    </p:set>
                                    <p:animEffect transition="in" filter="barn(outHorizontal)">
                                      <p:cBhvr>
                                        <p:cTn id="102" dur="500"/>
                                        <p:tgtEl>
                                          <p:spTgt spid="364584"/>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6" presetClass="entr" presetSubtype="42" fill="hold" nodeType="clickEffect">
                                  <p:stCondLst>
                                    <p:cond delay="0"/>
                                  </p:stCondLst>
                                  <p:childTnLst>
                                    <p:set>
                                      <p:cBhvr>
                                        <p:cTn id="106" dur="1" fill="hold">
                                          <p:stCondLst>
                                            <p:cond delay="0"/>
                                          </p:stCondLst>
                                        </p:cTn>
                                        <p:tgtEl>
                                          <p:spTgt spid="364583"/>
                                        </p:tgtEl>
                                        <p:attrNameLst>
                                          <p:attrName>style.visibility</p:attrName>
                                        </p:attrNameLst>
                                      </p:cBhvr>
                                      <p:to>
                                        <p:strVal val="visible"/>
                                      </p:to>
                                    </p:set>
                                    <p:animEffect transition="in" filter="barn(outHorizontal)">
                                      <p:cBhvr>
                                        <p:cTn id="107" dur="500"/>
                                        <p:tgtEl>
                                          <p:spTgt spid="364583"/>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6" presetClass="entr" presetSubtype="42" fill="hold" nodeType="clickEffect">
                                  <p:stCondLst>
                                    <p:cond delay="0"/>
                                  </p:stCondLst>
                                  <p:childTnLst>
                                    <p:set>
                                      <p:cBhvr>
                                        <p:cTn id="111" dur="1" fill="hold">
                                          <p:stCondLst>
                                            <p:cond delay="0"/>
                                          </p:stCondLst>
                                        </p:cTn>
                                        <p:tgtEl>
                                          <p:spTgt spid="364582"/>
                                        </p:tgtEl>
                                        <p:attrNameLst>
                                          <p:attrName>style.visibility</p:attrName>
                                        </p:attrNameLst>
                                      </p:cBhvr>
                                      <p:to>
                                        <p:strVal val="visible"/>
                                      </p:to>
                                    </p:set>
                                    <p:animEffect transition="in" filter="barn(outHorizontal)">
                                      <p:cBhvr>
                                        <p:cTn id="112" dur="500"/>
                                        <p:tgtEl>
                                          <p:spTgt spid="364582"/>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6" presetClass="entr" presetSubtype="42" fill="hold" nodeType="clickEffect">
                                  <p:stCondLst>
                                    <p:cond delay="0"/>
                                  </p:stCondLst>
                                  <p:childTnLst>
                                    <p:set>
                                      <p:cBhvr>
                                        <p:cTn id="116" dur="1" fill="hold">
                                          <p:stCondLst>
                                            <p:cond delay="0"/>
                                          </p:stCondLst>
                                        </p:cTn>
                                        <p:tgtEl>
                                          <p:spTgt spid="364552"/>
                                        </p:tgtEl>
                                        <p:attrNameLst>
                                          <p:attrName>style.visibility</p:attrName>
                                        </p:attrNameLst>
                                      </p:cBhvr>
                                      <p:to>
                                        <p:strVal val="visible"/>
                                      </p:to>
                                    </p:set>
                                    <p:animEffect transition="in" filter="barn(outHorizontal)">
                                      <p:cBhvr>
                                        <p:cTn id="117" dur="500"/>
                                        <p:tgtEl>
                                          <p:spTgt spid="364552"/>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6" presetClass="entr" presetSubtype="42" fill="hold" nodeType="clickEffect">
                                  <p:stCondLst>
                                    <p:cond delay="0"/>
                                  </p:stCondLst>
                                  <p:childTnLst>
                                    <p:set>
                                      <p:cBhvr>
                                        <p:cTn id="121" dur="1" fill="hold">
                                          <p:stCondLst>
                                            <p:cond delay="0"/>
                                          </p:stCondLst>
                                        </p:cTn>
                                        <p:tgtEl>
                                          <p:spTgt spid="364581"/>
                                        </p:tgtEl>
                                        <p:attrNameLst>
                                          <p:attrName>style.visibility</p:attrName>
                                        </p:attrNameLst>
                                      </p:cBhvr>
                                      <p:to>
                                        <p:strVal val="visible"/>
                                      </p:to>
                                    </p:set>
                                    <p:animEffect transition="in" filter="barn(outHorizontal)">
                                      <p:cBhvr>
                                        <p:cTn id="122" dur="500"/>
                                        <p:tgtEl>
                                          <p:spTgt spid="364581"/>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6" presetClass="entr" presetSubtype="42" fill="hold" nodeType="clickEffect">
                                  <p:stCondLst>
                                    <p:cond delay="0"/>
                                  </p:stCondLst>
                                  <p:childTnLst>
                                    <p:set>
                                      <p:cBhvr>
                                        <p:cTn id="126" dur="1" fill="hold">
                                          <p:stCondLst>
                                            <p:cond delay="0"/>
                                          </p:stCondLst>
                                        </p:cTn>
                                        <p:tgtEl>
                                          <p:spTgt spid="364579"/>
                                        </p:tgtEl>
                                        <p:attrNameLst>
                                          <p:attrName>style.visibility</p:attrName>
                                        </p:attrNameLst>
                                      </p:cBhvr>
                                      <p:to>
                                        <p:strVal val="visible"/>
                                      </p:to>
                                    </p:set>
                                    <p:animEffect transition="in" filter="barn(outHorizontal)">
                                      <p:cBhvr>
                                        <p:cTn id="127" dur="500"/>
                                        <p:tgtEl>
                                          <p:spTgt spid="364579"/>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6" presetClass="entr" presetSubtype="42" fill="hold" nodeType="clickEffect">
                                  <p:stCondLst>
                                    <p:cond delay="0"/>
                                  </p:stCondLst>
                                  <p:childTnLst>
                                    <p:set>
                                      <p:cBhvr>
                                        <p:cTn id="131" dur="1" fill="hold">
                                          <p:stCondLst>
                                            <p:cond delay="0"/>
                                          </p:stCondLst>
                                        </p:cTn>
                                        <p:tgtEl>
                                          <p:spTgt spid="364578"/>
                                        </p:tgtEl>
                                        <p:attrNameLst>
                                          <p:attrName>style.visibility</p:attrName>
                                        </p:attrNameLst>
                                      </p:cBhvr>
                                      <p:to>
                                        <p:strVal val="visible"/>
                                      </p:to>
                                    </p:set>
                                    <p:animEffect transition="in" filter="barn(outHorizontal)">
                                      <p:cBhvr>
                                        <p:cTn id="132" dur="500"/>
                                        <p:tgtEl>
                                          <p:spTgt spid="364578"/>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6" presetClass="entr" presetSubtype="42" fill="hold" nodeType="clickEffect">
                                  <p:stCondLst>
                                    <p:cond delay="0"/>
                                  </p:stCondLst>
                                  <p:childTnLst>
                                    <p:set>
                                      <p:cBhvr>
                                        <p:cTn id="136" dur="1" fill="hold">
                                          <p:stCondLst>
                                            <p:cond delay="0"/>
                                          </p:stCondLst>
                                        </p:cTn>
                                        <p:tgtEl>
                                          <p:spTgt spid="364577"/>
                                        </p:tgtEl>
                                        <p:attrNameLst>
                                          <p:attrName>style.visibility</p:attrName>
                                        </p:attrNameLst>
                                      </p:cBhvr>
                                      <p:to>
                                        <p:strVal val="visible"/>
                                      </p:to>
                                    </p:set>
                                    <p:animEffect transition="in" filter="barn(outHorizontal)">
                                      <p:cBhvr>
                                        <p:cTn id="137" dur="500"/>
                                        <p:tgtEl>
                                          <p:spTgt spid="364577"/>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6" presetClass="entr" presetSubtype="42" fill="hold" nodeType="clickEffect">
                                  <p:stCondLst>
                                    <p:cond delay="0"/>
                                  </p:stCondLst>
                                  <p:childTnLst>
                                    <p:set>
                                      <p:cBhvr>
                                        <p:cTn id="141" dur="1" fill="hold">
                                          <p:stCondLst>
                                            <p:cond delay="0"/>
                                          </p:stCondLst>
                                        </p:cTn>
                                        <p:tgtEl>
                                          <p:spTgt spid="364551"/>
                                        </p:tgtEl>
                                        <p:attrNameLst>
                                          <p:attrName>style.visibility</p:attrName>
                                        </p:attrNameLst>
                                      </p:cBhvr>
                                      <p:to>
                                        <p:strVal val="visible"/>
                                      </p:to>
                                    </p:set>
                                    <p:animEffect transition="in" filter="barn(outHorizontal)">
                                      <p:cBhvr>
                                        <p:cTn id="142" dur="500"/>
                                        <p:tgtEl>
                                          <p:spTgt spid="364551"/>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6" presetClass="entr" presetSubtype="42" fill="hold" nodeType="clickEffect">
                                  <p:stCondLst>
                                    <p:cond delay="0"/>
                                  </p:stCondLst>
                                  <p:childTnLst>
                                    <p:set>
                                      <p:cBhvr>
                                        <p:cTn id="146" dur="1" fill="hold">
                                          <p:stCondLst>
                                            <p:cond delay="0"/>
                                          </p:stCondLst>
                                        </p:cTn>
                                        <p:tgtEl>
                                          <p:spTgt spid="364576"/>
                                        </p:tgtEl>
                                        <p:attrNameLst>
                                          <p:attrName>style.visibility</p:attrName>
                                        </p:attrNameLst>
                                      </p:cBhvr>
                                      <p:to>
                                        <p:strVal val="visible"/>
                                      </p:to>
                                    </p:set>
                                    <p:animEffect transition="in" filter="barn(outHorizontal)">
                                      <p:cBhvr>
                                        <p:cTn id="147" dur="500"/>
                                        <p:tgtEl>
                                          <p:spTgt spid="364576"/>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6" presetClass="entr" presetSubtype="42" fill="hold" nodeType="clickEffect">
                                  <p:stCondLst>
                                    <p:cond delay="0"/>
                                  </p:stCondLst>
                                  <p:childTnLst>
                                    <p:set>
                                      <p:cBhvr>
                                        <p:cTn id="151" dur="1" fill="hold">
                                          <p:stCondLst>
                                            <p:cond delay="0"/>
                                          </p:stCondLst>
                                        </p:cTn>
                                        <p:tgtEl>
                                          <p:spTgt spid="364574"/>
                                        </p:tgtEl>
                                        <p:attrNameLst>
                                          <p:attrName>style.visibility</p:attrName>
                                        </p:attrNameLst>
                                      </p:cBhvr>
                                      <p:to>
                                        <p:strVal val="visible"/>
                                      </p:to>
                                    </p:set>
                                    <p:animEffect transition="in" filter="barn(outHorizontal)">
                                      <p:cBhvr>
                                        <p:cTn id="152" dur="500"/>
                                        <p:tgtEl>
                                          <p:spTgt spid="364574"/>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6" presetClass="entr" presetSubtype="42" fill="hold" nodeType="clickEffect">
                                  <p:stCondLst>
                                    <p:cond delay="0"/>
                                  </p:stCondLst>
                                  <p:childTnLst>
                                    <p:set>
                                      <p:cBhvr>
                                        <p:cTn id="156" dur="1" fill="hold">
                                          <p:stCondLst>
                                            <p:cond delay="0"/>
                                          </p:stCondLst>
                                        </p:cTn>
                                        <p:tgtEl>
                                          <p:spTgt spid="364573"/>
                                        </p:tgtEl>
                                        <p:attrNameLst>
                                          <p:attrName>style.visibility</p:attrName>
                                        </p:attrNameLst>
                                      </p:cBhvr>
                                      <p:to>
                                        <p:strVal val="visible"/>
                                      </p:to>
                                    </p:set>
                                    <p:animEffect transition="in" filter="barn(outHorizontal)">
                                      <p:cBhvr>
                                        <p:cTn id="157" dur="500"/>
                                        <p:tgtEl>
                                          <p:spTgt spid="364573"/>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6" presetClass="entr" presetSubtype="42" fill="hold" nodeType="clickEffect">
                                  <p:stCondLst>
                                    <p:cond delay="0"/>
                                  </p:stCondLst>
                                  <p:childTnLst>
                                    <p:set>
                                      <p:cBhvr>
                                        <p:cTn id="161" dur="1" fill="hold">
                                          <p:stCondLst>
                                            <p:cond delay="0"/>
                                          </p:stCondLst>
                                        </p:cTn>
                                        <p:tgtEl>
                                          <p:spTgt spid="364572"/>
                                        </p:tgtEl>
                                        <p:attrNameLst>
                                          <p:attrName>style.visibility</p:attrName>
                                        </p:attrNameLst>
                                      </p:cBhvr>
                                      <p:to>
                                        <p:strVal val="visible"/>
                                      </p:to>
                                    </p:set>
                                    <p:animEffect transition="in" filter="barn(outHorizontal)">
                                      <p:cBhvr>
                                        <p:cTn id="162" dur="500"/>
                                        <p:tgtEl>
                                          <p:spTgt spid="364572"/>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6" presetClass="entr" presetSubtype="42" fill="hold" nodeType="clickEffect">
                                  <p:stCondLst>
                                    <p:cond delay="0"/>
                                  </p:stCondLst>
                                  <p:childTnLst>
                                    <p:set>
                                      <p:cBhvr>
                                        <p:cTn id="166" dur="1" fill="hold">
                                          <p:stCondLst>
                                            <p:cond delay="0"/>
                                          </p:stCondLst>
                                        </p:cTn>
                                        <p:tgtEl>
                                          <p:spTgt spid="364550"/>
                                        </p:tgtEl>
                                        <p:attrNameLst>
                                          <p:attrName>style.visibility</p:attrName>
                                        </p:attrNameLst>
                                      </p:cBhvr>
                                      <p:to>
                                        <p:strVal val="visible"/>
                                      </p:to>
                                    </p:set>
                                    <p:animEffect transition="in" filter="barn(outHorizontal)">
                                      <p:cBhvr>
                                        <p:cTn id="167" dur="500"/>
                                        <p:tgtEl>
                                          <p:spTgt spid="364550"/>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6" presetClass="entr" presetSubtype="42" fill="hold" nodeType="clickEffect">
                                  <p:stCondLst>
                                    <p:cond delay="0"/>
                                  </p:stCondLst>
                                  <p:childTnLst>
                                    <p:set>
                                      <p:cBhvr>
                                        <p:cTn id="171" dur="1" fill="hold">
                                          <p:stCondLst>
                                            <p:cond delay="0"/>
                                          </p:stCondLst>
                                        </p:cTn>
                                        <p:tgtEl>
                                          <p:spTgt spid="364571"/>
                                        </p:tgtEl>
                                        <p:attrNameLst>
                                          <p:attrName>style.visibility</p:attrName>
                                        </p:attrNameLst>
                                      </p:cBhvr>
                                      <p:to>
                                        <p:strVal val="visible"/>
                                      </p:to>
                                    </p:set>
                                    <p:animEffect transition="in" filter="barn(outHorizontal)">
                                      <p:cBhvr>
                                        <p:cTn id="172" dur="500"/>
                                        <p:tgtEl>
                                          <p:spTgt spid="364571"/>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6" presetClass="entr" presetSubtype="42" fill="hold" nodeType="clickEffect">
                                  <p:stCondLst>
                                    <p:cond delay="0"/>
                                  </p:stCondLst>
                                  <p:childTnLst>
                                    <p:set>
                                      <p:cBhvr>
                                        <p:cTn id="176" dur="1" fill="hold">
                                          <p:stCondLst>
                                            <p:cond delay="0"/>
                                          </p:stCondLst>
                                        </p:cTn>
                                        <p:tgtEl>
                                          <p:spTgt spid="364569"/>
                                        </p:tgtEl>
                                        <p:attrNameLst>
                                          <p:attrName>style.visibility</p:attrName>
                                        </p:attrNameLst>
                                      </p:cBhvr>
                                      <p:to>
                                        <p:strVal val="visible"/>
                                      </p:to>
                                    </p:set>
                                    <p:animEffect transition="in" filter="barn(outHorizontal)">
                                      <p:cBhvr>
                                        <p:cTn id="177" dur="500"/>
                                        <p:tgtEl>
                                          <p:spTgt spid="364569"/>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16" presetClass="entr" presetSubtype="42" fill="hold" nodeType="clickEffect">
                                  <p:stCondLst>
                                    <p:cond delay="0"/>
                                  </p:stCondLst>
                                  <p:childTnLst>
                                    <p:set>
                                      <p:cBhvr>
                                        <p:cTn id="181" dur="1" fill="hold">
                                          <p:stCondLst>
                                            <p:cond delay="0"/>
                                          </p:stCondLst>
                                        </p:cTn>
                                        <p:tgtEl>
                                          <p:spTgt spid="364568"/>
                                        </p:tgtEl>
                                        <p:attrNameLst>
                                          <p:attrName>style.visibility</p:attrName>
                                        </p:attrNameLst>
                                      </p:cBhvr>
                                      <p:to>
                                        <p:strVal val="visible"/>
                                      </p:to>
                                    </p:set>
                                    <p:animEffect transition="in" filter="barn(outHorizontal)">
                                      <p:cBhvr>
                                        <p:cTn id="182" dur="500"/>
                                        <p:tgtEl>
                                          <p:spTgt spid="364568"/>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16" presetClass="entr" presetSubtype="42" fill="hold" nodeType="clickEffect">
                                  <p:stCondLst>
                                    <p:cond delay="0"/>
                                  </p:stCondLst>
                                  <p:childTnLst>
                                    <p:set>
                                      <p:cBhvr>
                                        <p:cTn id="186" dur="1" fill="hold">
                                          <p:stCondLst>
                                            <p:cond delay="0"/>
                                          </p:stCondLst>
                                        </p:cTn>
                                        <p:tgtEl>
                                          <p:spTgt spid="364567"/>
                                        </p:tgtEl>
                                        <p:attrNameLst>
                                          <p:attrName>style.visibility</p:attrName>
                                        </p:attrNameLst>
                                      </p:cBhvr>
                                      <p:to>
                                        <p:strVal val="visible"/>
                                      </p:to>
                                    </p:set>
                                    <p:animEffect transition="in" filter="barn(outHorizontal)">
                                      <p:cBhvr>
                                        <p:cTn id="187" dur="500"/>
                                        <p:tgtEl>
                                          <p:spTgt spid="364567"/>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16" presetClass="entr" presetSubtype="42" fill="hold" nodeType="clickEffect">
                                  <p:stCondLst>
                                    <p:cond delay="0"/>
                                  </p:stCondLst>
                                  <p:childTnLst>
                                    <p:set>
                                      <p:cBhvr>
                                        <p:cTn id="191" dur="1" fill="hold">
                                          <p:stCondLst>
                                            <p:cond delay="0"/>
                                          </p:stCondLst>
                                        </p:cTn>
                                        <p:tgtEl>
                                          <p:spTgt spid="364549"/>
                                        </p:tgtEl>
                                        <p:attrNameLst>
                                          <p:attrName>style.visibility</p:attrName>
                                        </p:attrNameLst>
                                      </p:cBhvr>
                                      <p:to>
                                        <p:strVal val="visible"/>
                                      </p:to>
                                    </p:set>
                                    <p:animEffect transition="in" filter="barn(outHorizontal)">
                                      <p:cBhvr>
                                        <p:cTn id="192" dur="500"/>
                                        <p:tgtEl>
                                          <p:spTgt spid="364549"/>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16" presetClass="entr" presetSubtype="42" fill="hold" nodeType="clickEffect">
                                  <p:stCondLst>
                                    <p:cond delay="0"/>
                                  </p:stCondLst>
                                  <p:childTnLst>
                                    <p:set>
                                      <p:cBhvr>
                                        <p:cTn id="196" dur="1" fill="hold">
                                          <p:stCondLst>
                                            <p:cond delay="0"/>
                                          </p:stCondLst>
                                        </p:cTn>
                                        <p:tgtEl>
                                          <p:spTgt spid="364566"/>
                                        </p:tgtEl>
                                        <p:attrNameLst>
                                          <p:attrName>style.visibility</p:attrName>
                                        </p:attrNameLst>
                                      </p:cBhvr>
                                      <p:to>
                                        <p:strVal val="visible"/>
                                      </p:to>
                                    </p:set>
                                    <p:animEffect transition="in" filter="barn(outHorizontal)">
                                      <p:cBhvr>
                                        <p:cTn id="197" dur="500"/>
                                        <p:tgtEl>
                                          <p:spTgt spid="364566"/>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16" presetClass="entr" presetSubtype="42" fill="hold" nodeType="clickEffect">
                                  <p:stCondLst>
                                    <p:cond delay="0"/>
                                  </p:stCondLst>
                                  <p:childTnLst>
                                    <p:set>
                                      <p:cBhvr>
                                        <p:cTn id="201" dur="1" fill="hold">
                                          <p:stCondLst>
                                            <p:cond delay="0"/>
                                          </p:stCondLst>
                                        </p:cTn>
                                        <p:tgtEl>
                                          <p:spTgt spid="364564"/>
                                        </p:tgtEl>
                                        <p:attrNameLst>
                                          <p:attrName>style.visibility</p:attrName>
                                        </p:attrNameLst>
                                      </p:cBhvr>
                                      <p:to>
                                        <p:strVal val="visible"/>
                                      </p:to>
                                    </p:set>
                                    <p:animEffect transition="in" filter="barn(outHorizontal)">
                                      <p:cBhvr>
                                        <p:cTn id="202" dur="500"/>
                                        <p:tgtEl>
                                          <p:spTgt spid="364564"/>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16" presetClass="entr" presetSubtype="42" fill="hold" nodeType="clickEffect">
                                  <p:stCondLst>
                                    <p:cond delay="0"/>
                                  </p:stCondLst>
                                  <p:childTnLst>
                                    <p:set>
                                      <p:cBhvr>
                                        <p:cTn id="206" dur="1" fill="hold">
                                          <p:stCondLst>
                                            <p:cond delay="0"/>
                                          </p:stCondLst>
                                        </p:cTn>
                                        <p:tgtEl>
                                          <p:spTgt spid="364563"/>
                                        </p:tgtEl>
                                        <p:attrNameLst>
                                          <p:attrName>style.visibility</p:attrName>
                                        </p:attrNameLst>
                                      </p:cBhvr>
                                      <p:to>
                                        <p:strVal val="visible"/>
                                      </p:to>
                                    </p:set>
                                    <p:animEffect transition="in" filter="barn(outHorizontal)">
                                      <p:cBhvr>
                                        <p:cTn id="207" dur="500"/>
                                        <p:tgtEl>
                                          <p:spTgt spid="364563"/>
                                        </p:tgtEl>
                                      </p:cBhvr>
                                    </p:animEffect>
                                  </p:childTnLst>
                                </p:cTn>
                              </p:par>
                            </p:childTnLst>
                          </p:cTn>
                        </p:par>
                      </p:childTnLst>
                    </p:cTn>
                  </p:par>
                  <p:par>
                    <p:cTn id="208" fill="hold" nodeType="clickPar">
                      <p:stCondLst>
                        <p:cond delay="indefinite"/>
                      </p:stCondLst>
                      <p:childTnLst>
                        <p:par>
                          <p:cTn id="209" fill="hold" nodeType="withGroup">
                            <p:stCondLst>
                              <p:cond delay="0"/>
                            </p:stCondLst>
                            <p:childTnLst>
                              <p:par>
                                <p:cTn id="210" presetID="16" presetClass="entr" presetSubtype="42" fill="hold" nodeType="clickEffect">
                                  <p:stCondLst>
                                    <p:cond delay="0"/>
                                  </p:stCondLst>
                                  <p:childTnLst>
                                    <p:set>
                                      <p:cBhvr>
                                        <p:cTn id="211" dur="1" fill="hold">
                                          <p:stCondLst>
                                            <p:cond delay="0"/>
                                          </p:stCondLst>
                                        </p:cTn>
                                        <p:tgtEl>
                                          <p:spTgt spid="364562"/>
                                        </p:tgtEl>
                                        <p:attrNameLst>
                                          <p:attrName>style.visibility</p:attrName>
                                        </p:attrNameLst>
                                      </p:cBhvr>
                                      <p:to>
                                        <p:strVal val="visible"/>
                                      </p:to>
                                    </p:set>
                                    <p:animEffect transition="in" filter="barn(outHorizontal)">
                                      <p:cBhvr>
                                        <p:cTn id="212" dur="500"/>
                                        <p:tgtEl>
                                          <p:spTgt spid="364562"/>
                                        </p:tgtEl>
                                      </p:cBhvr>
                                    </p:animEffect>
                                  </p:childTnLst>
                                </p:cTn>
                              </p:par>
                            </p:childTnLst>
                          </p:cTn>
                        </p:par>
                      </p:childTnLst>
                    </p:cTn>
                  </p:par>
                  <p:par>
                    <p:cTn id="213" fill="hold" nodeType="clickPar">
                      <p:stCondLst>
                        <p:cond delay="indefinite"/>
                      </p:stCondLst>
                      <p:childTnLst>
                        <p:par>
                          <p:cTn id="214" fill="hold" nodeType="withGroup">
                            <p:stCondLst>
                              <p:cond delay="0"/>
                            </p:stCondLst>
                            <p:childTnLst>
                              <p:par>
                                <p:cTn id="215" presetID="16" presetClass="entr" presetSubtype="42" fill="hold" nodeType="clickEffect">
                                  <p:stCondLst>
                                    <p:cond delay="0"/>
                                  </p:stCondLst>
                                  <p:childTnLst>
                                    <p:set>
                                      <p:cBhvr>
                                        <p:cTn id="216" dur="1" fill="hold">
                                          <p:stCondLst>
                                            <p:cond delay="0"/>
                                          </p:stCondLst>
                                        </p:cTn>
                                        <p:tgtEl>
                                          <p:spTgt spid="364548"/>
                                        </p:tgtEl>
                                        <p:attrNameLst>
                                          <p:attrName>style.visibility</p:attrName>
                                        </p:attrNameLst>
                                      </p:cBhvr>
                                      <p:to>
                                        <p:strVal val="visible"/>
                                      </p:to>
                                    </p:set>
                                    <p:animEffect transition="in" filter="barn(outHorizontal)">
                                      <p:cBhvr>
                                        <p:cTn id="217" dur="500"/>
                                        <p:tgtEl>
                                          <p:spTgt spid="364548"/>
                                        </p:tgtEl>
                                      </p:cBhvr>
                                    </p:animEffec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16" presetClass="entr" presetSubtype="42" fill="hold" nodeType="clickEffect">
                                  <p:stCondLst>
                                    <p:cond delay="0"/>
                                  </p:stCondLst>
                                  <p:childTnLst>
                                    <p:set>
                                      <p:cBhvr>
                                        <p:cTn id="221" dur="1" fill="hold">
                                          <p:stCondLst>
                                            <p:cond delay="0"/>
                                          </p:stCondLst>
                                        </p:cTn>
                                        <p:tgtEl>
                                          <p:spTgt spid="364561"/>
                                        </p:tgtEl>
                                        <p:attrNameLst>
                                          <p:attrName>style.visibility</p:attrName>
                                        </p:attrNameLst>
                                      </p:cBhvr>
                                      <p:to>
                                        <p:strVal val="visible"/>
                                      </p:to>
                                    </p:set>
                                    <p:animEffect transition="in" filter="barn(outHorizontal)">
                                      <p:cBhvr>
                                        <p:cTn id="222" dur="500"/>
                                        <p:tgtEl>
                                          <p:spTgt spid="364561"/>
                                        </p:tgtEl>
                                      </p:cBhvr>
                                    </p:animEffec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16" presetClass="entr" presetSubtype="42" fill="hold" nodeType="clickEffect">
                                  <p:stCondLst>
                                    <p:cond delay="0"/>
                                  </p:stCondLst>
                                  <p:childTnLst>
                                    <p:set>
                                      <p:cBhvr>
                                        <p:cTn id="226" dur="1" fill="hold">
                                          <p:stCondLst>
                                            <p:cond delay="0"/>
                                          </p:stCondLst>
                                        </p:cTn>
                                        <p:tgtEl>
                                          <p:spTgt spid="364547">
                                            <p:txEl>
                                              <p:pRg st="0" end="0"/>
                                            </p:txEl>
                                          </p:spTgt>
                                        </p:tgtEl>
                                        <p:attrNameLst>
                                          <p:attrName>style.visibility</p:attrName>
                                        </p:attrNameLst>
                                      </p:cBhvr>
                                      <p:to>
                                        <p:strVal val="visible"/>
                                      </p:to>
                                    </p:set>
                                    <p:animEffect transition="in" filter="barn(outHorizontal)">
                                      <p:cBhvr>
                                        <p:cTn id="227" dur="500"/>
                                        <p:tgtEl>
                                          <p:spTgt spid="3645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7" grpId="0" build="p"/>
      <p:bldP spid="364548" grpId="0"/>
      <p:bldP spid="364549" grpId="0"/>
      <p:bldP spid="364550" grpId="0"/>
      <p:bldP spid="364551" grpId="0"/>
      <p:bldP spid="364552" grpId="0"/>
      <p:bldP spid="364553" grpId="0"/>
      <p:bldP spid="364556" grpId="0"/>
      <p:bldP spid="364561" grpId="0"/>
      <p:bldP spid="364562" grpId="0"/>
      <p:bldP spid="364563" grpId="0"/>
      <p:bldP spid="364564" grpId="0"/>
      <p:bldP spid="364566" grpId="0"/>
      <p:bldP spid="364567" grpId="0"/>
      <p:bldP spid="364568" grpId="0"/>
      <p:bldP spid="364569" grpId="0"/>
      <p:bldP spid="364571" grpId="0"/>
      <p:bldP spid="364572" grpId="0"/>
      <p:bldP spid="364573" grpId="0"/>
      <p:bldP spid="364574" grpId="0"/>
      <p:bldP spid="364576" grpId="0"/>
      <p:bldP spid="364577" grpId="0"/>
      <p:bldP spid="364578" grpId="0"/>
      <p:bldP spid="364579" grpId="0"/>
      <p:bldP spid="364581" grpId="0"/>
      <p:bldP spid="364582" grpId="0"/>
      <p:bldP spid="364583" grpId="0"/>
      <p:bldP spid="364584" grpId="0"/>
      <p:bldP spid="364586" grpId="0"/>
      <p:bldP spid="364587" grpId="0"/>
      <p:bldP spid="364588" grpId="0"/>
      <p:bldP spid="364589" grpId="0"/>
      <p:bldP spid="364601" grpId="0"/>
      <p:bldP spid="364602" grpId="0"/>
      <p:bldP spid="364603" grpId="0"/>
      <p:bldP spid="364604" grpId="0"/>
      <p:bldP spid="364606" grpId="0"/>
      <p:bldP spid="364607" grpId="0"/>
      <p:bldP spid="364608" grpId="0"/>
      <p:bldP spid="364609" grpId="0"/>
      <p:bldP spid="364611" grpId="0"/>
      <p:bldP spid="364613" grpId="0"/>
      <p:bldP spid="364614" grpId="0"/>
      <p:bldP spid="364616" grpId="0"/>
      <p:bldP spid="364619"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E87C2A71-7376-DF60-CC87-7B779DFBF14B}"/>
              </a:ext>
            </a:extLst>
          </p:cNvPr>
          <p:cNvSpPr>
            <a:spLocks noGrp="1" noChangeArrowheads="1"/>
          </p:cNvSpPr>
          <p:nvPr>
            <p:ph type="title"/>
          </p:nvPr>
        </p:nvSpPr>
        <p:spPr>
          <a:xfrm>
            <a:off x="1042988" y="225431"/>
            <a:ext cx="7850187" cy="746125"/>
          </a:xfrm>
        </p:spPr>
        <p:txBody>
          <a:bodyPr/>
          <a:lstStyle/>
          <a:p>
            <a:r>
              <a:rPr lang="zh-CN" altLang="en-US"/>
              <a:t>无异常现象的页面序列</a:t>
            </a:r>
          </a:p>
        </p:txBody>
      </p:sp>
      <p:sp>
        <p:nvSpPr>
          <p:cNvPr id="47106" name="Rectangle 3">
            <a:extLst>
              <a:ext uri="{FF2B5EF4-FFF2-40B4-BE49-F238E27FC236}">
                <a16:creationId xmlns:a16="http://schemas.microsoft.com/office/drawing/2014/main" id="{5B91EDC2-D8BB-0286-CA58-40ABFE3A0FFE}"/>
              </a:ext>
            </a:extLst>
          </p:cNvPr>
          <p:cNvSpPr>
            <a:spLocks noGrp="1" noChangeArrowheads="1"/>
          </p:cNvSpPr>
          <p:nvPr>
            <p:ph idx="1"/>
          </p:nvPr>
        </p:nvSpPr>
        <p:spPr>
          <a:xfrm>
            <a:off x="935038" y="1233488"/>
            <a:ext cx="7772400" cy="4895850"/>
          </a:xfrm>
        </p:spPr>
        <p:txBody>
          <a:bodyPr/>
          <a:lstStyle/>
          <a:p>
            <a:r>
              <a:rPr lang="zh-CN" altLang="en-US"/>
              <a:t>假定系统为某进程分配了3个物理块，页面访问序列为：7、0、1、2、0、3、0、4、2、3、0、3，开始时3个物理块均为空闲，采用先进先出置换算法时的页面置换情况如下所示：</a:t>
            </a:r>
          </a:p>
        </p:txBody>
      </p:sp>
    </p:spTree>
  </p:cSld>
  <p:clrMapOvr>
    <a:masterClrMapping/>
  </p:clrMapOvr>
  <p:transition spd="med">
    <p:zoom/>
  </p:transition>
</p:sld>
</file>

<file path=ppt/slides/slide1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D2AD94A3-B7C2-0D74-1184-C175073FA54C}"/>
              </a:ext>
            </a:extLst>
          </p:cNvPr>
          <p:cNvSpPr>
            <a:spLocks noGrp="1" noChangeArrowheads="1"/>
          </p:cNvSpPr>
          <p:nvPr>
            <p:ph type="title"/>
          </p:nvPr>
        </p:nvSpPr>
        <p:spPr>
          <a:xfrm>
            <a:off x="1042988" y="225431"/>
            <a:ext cx="7850187" cy="746125"/>
          </a:xfrm>
        </p:spPr>
        <p:txBody>
          <a:bodyPr/>
          <a:lstStyle/>
          <a:p>
            <a:r>
              <a:rPr lang="zh-CN" altLang="en-US"/>
              <a:t>页面置换情况</a:t>
            </a:r>
          </a:p>
        </p:txBody>
      </p:sp>
      <p:sp>
        <p:nvSpPr>
          <p:cNvPr id="366595" name="Rectangle 3">
            <a:extLst>
              <a:ext uri="{FF2B5EF4-FFF2-40B4-BE49-F238E27FC236}">
                <a16:creationId xmlns:a16="http://schemas.microsoft.com/office/drawing/2014/main" id="{CA258BFB-7A75-30CD-52DF-DC594A2C9077}"/>
              </a:ext>
            </a:extLst>
          </p:cNvPr>
          <p:cNvSpPr>
            <a:spLocks noGrp="1" noChangeArrowheads="1"/>
          </p:cNvSpPr>
          <p:nvPr>
            <p:ph idx="1"/>
          </p:nvPr>
        </p:nvSpPr>
        <p:spPr>
          <a:xfrm>
            <a:off x="935038" y="4697260"/>
            <a:ext cx="7772400" cy="1432077"/>
          </a:xfrm>
        </p:spPr>
        <p:txBody>
          <a:bodyPr>
            <a:normAutofit/>
          </a:bodyPr>
          <a:lstStyle/>
          <a:p>
            <a:r>
              <a:rPr lang="zh-CN" altLang="en-US"/>
              <a:t>从上表中可以看出，共发生了10次缺页中断。其缺页率为10/12＝83.3% 。</a:t>
            </a:r>
          </a:p>
        </p:txBody>
      </p:sp>
      <p:sp>
        <p:nvSpPr>
          <p:cNvPr id="48131" name="Rectangle 4">
            <a:extLst>
              <a:ext uri="{FF2B5EF4-FFF2-40B4-BE49-F238E27FC236}">
                <a16:creationId xmlns:a16="http://schemas.microsoft.com/office/drawing/2014/main" id="{B80306EF-AD42-1D70-E8E1-5C3CBA4BA373}"/>
              </a:ext>
            </a:extLst>
          </p:cNvPr>
          <p:cNvSpPr>
            <a:spLocks noChangeArrowheads="1"/>
          </p:cNvSpPr>
          <p:nvPr/>
        </p:nvSpPr>
        <p:spPr bwMode="auto">
          <a:xfrm>
            <a:off x="7666038" y="3881438"/>
            <a:ext cx="6143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000"/>
          </a:p>
        </p:txBody>
      </p:sp>
      <p:sp>
        <p:nvSpPr>
          <p:cNvPr id="48132" name="Rectangle 5">
            <a:extLst>
              <a:ext uri="{FF2B5EF4-FFF2-40B4-BE49-F238E27FC236}">
                <a16:creationId xmlns:a16="http://schemas.microsoft.com/office/drawing/2014/main" id="{4E22CF4C-A733-D25F-1D64-1058AE2D9F28}"/>
              </a:ext>
            </a:extLst>
          </p:cNvPr>
          <p:cNvSpPr>
            <a:spLocks noChangeArrowheads="1"/>
          </p:cNvSpPr>
          <p:nvPr/>
        </p:nvSpPr>
        <p:spPr bwMode="auto">
          <a:xfrm>
            <a:off x="7666038" y="3363913"/>
            <a:ext cx="6143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8133" name="Rectangle 6">
            <a:extLst>
              <a:ext uri="{FF2B5EF4-FFF2-40B4-BE49-F238E27FC236}">
                <a16:creationId xmlns:a16="http://schemas.microsoft.com/office/drawing/2014/main" id="{05CEBBF5-683E-548C-BE75-D20DAF67D1D4}"/>
              </a:ext>
            </a:extLst>
          </p:cNvPr>
          <p:cNvSpPr>
            <a:spLocks noChangeArrowheads="1"/>
          </p:cNvSpPr>
          <p:nvPr/>
        </p:nvSpPr>
        <p:spPr bwMode="auto">
          <a:xfrm>
            <a:off x="7666038" y="2830513"/>
            <a:ext cx="6143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8134" name="Rectangle 7">
            <a:extLst>
              <a:ext uri="{FF2B5EF4-FFF2-40B4-BE49-F238E27FC236}">
                <a16:creationId xmlns:a16="http://schemas.microsoft.com/office/drawing/2014/main" id="{AF8DE8C8-8AC3-A935-6B4D-9E98CA67EE36}"/>
              </a:ext>
            </a:extLst>
          </p:cNvPr>
          <p:cNvSpPr>
            <a:spLocks noChangeArrowheads="1"/>
          </p:cNvSpPr>
          <p:nvPr/>
        </p:nvSpPr>
        <p:spPr bwMode="auto">
          <a:xfrm>
            <a:off x="7666038" y="2251075"/>
            <a:ext cx="6143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8135" name="Rectangle 8">
            <a:extLst>
              <a:ext uri="{FF2B5EF4-FFF2-40B4-BE49-F238E27FC236}">
                <a16:creationId xmlns:a16="http://schemas.microsoft.com/office/drawing/2014/main" id="{C8D97D79-46DA-D13E-D1C4-7CB8D8EE4CEE}"/>
              </a:ext>
            </a:extLst>
          </p:cNvPr>
          <p:cNvSpPr>
            <a:spLocks noChangeArrowheads="1"/>
          </p:cNvSpPr>
          <p:nvPr/>
        </p:nvSpPr>
        <p:spPr bwMode="auto">
          <a:xfrm>
            <a:off x="7666038" y="1412875"/>
            <a:ext cx="6143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6601" name="Rectangle 9">
            <a:extLst>
              <a:ext uri="{FF2B5EF4-FFF2-40B4-BE49-F238E27FC236}">
                <a16:creationId xmlns:a16="http://schemas.microsoft.com/office/drawing/2014/main" id="{A0A9F7A3-2E58-A0D2-5E76-D8A03C920954}"/>
              </a:ext>
            </a:extLst>
          </p:cNvPr>
          <p:cNvSpPr>
            <a:spLocks noChangeArrowheads="1"/>
          </p:cNvSpPr>
          <p:nvPr/>
        </p:nvSpPr>
        <p:spPr bwMode="auto">
          <a:xfrm>
            <a:off x="7135813" y="3881438"/>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6602" name="Rectangle 10">
            <a:extLst>
              <a:ext uri="{FF2B5EF4-FFF2-40B4-BE49-F238E27FC236}">
                <a16:creationId xmlns:a16="http://schemas.microsoft.com/office/drawing/2014/main" id="{8904B69C-D908-9F8B-9AA0-63C2011D9B40}"/>
              </a:ext>
            </a:extLst>
          </p:cNvPr>
          <p:cNvSpPr>
            <a:spLocks noChangeArrowheads="1"/>
          </p:cNvSpPr>
          <p:nvPr/>
        </p:nvSpPr>
        <p:spPr bwMode="auto">
          <a:xfrm>
            <a:off x="7135813" y="3363913"/>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6603" name="Rectangle 11">
            <a:extLst>
              <a:ext uri="{FF2B5EF4-FFF2-40B4-BE49-F238E27FC236}">
                <a16:creationId xmlns:a16="http://schemas.microsoft.com/office/drawing/2014/main" id="{0715D371-4A97-4E00-7281-AC0F5BEDBA06}"/>
              </a:ext>
            </a:extLst>
          </p:cNvPr>
          <p:cNvSpPr>
            <a:spLocks noChangeArrowheads="1"/>
          </p:cNvSpPr>
          <p:nvPr/>
        </p:nvSpPr>
        <p:spPr bwMode="auto">
          <a:xfrm>
            <a:off x="7135813" y="2830513"/>
            <a:ext cx="5302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6604" name="Rectangle 12">
            <a:extLst>
              <a:ext uri="{FF2B5EF4-FFF2-40B4-BE49-F238E27FC236}">
                <a16:creationId xmlns:a16="http://schemas.microsoft.com/office/drawing/2014/main" id="{5A9220E9-660B-657A-05F9-3B98F948DBE4}"/>
              </a:ext>
            </a:extLst>
          </p:cNvPr>
          <p:cNvSpPr>
            <a:spLocks noChangeArrowheads="1"/>
          </p:cNvSpPr>
          <p:nvPr/>
        </p:nvSpPr>
        <p:spPr bwMode="auto">
          <a:xfrm>
            <a:off x="7135813" y="2251075"/>
            <a:ext cx="530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48140" name="Rectangle 13">
            <a:extLst>
              <a:ext uri="{FF2B5EF4-FFF2-40B4-BE49-F238E27FC236}">
                <a16:creationId xmlns:a16="http://schemas.microsoft.com/office/drawing/2014/main" id="{9ED65853-C53C-F1BF-DF62-B877E7D96CBB}"/>
              </a:ext>
            </a:extLst>
          </p:cNvPr>
          <p:cNvSpPr>
            <a:spLocks noChangeArrowheads="1"/>
          </p:cNvSpPr>
          <p:nvPr/>
        </p:nvSpPr>
        <p:spPr bwMode="auto">
          <a:xfrm>
            <a:off x="7135813" y="1412875"/>
            <a:ext cx="5302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6606" name="Rectangle 14">
            <a:extLst>
              <a:ext uri="{FF2B5EF4-FFF2-40B4-BE49-F238E27FC236}">
                <a16:creationId xmlns:a16="http://schemas.microsoft.com/office/drawing/2014/main" id="{2D0EDFB2-7194-CC8B-054E-7EAD26A301D6}"/>
              </a:ext>
            </a:extLst>
          </p:cNvPr>
          <p:cNvSpPr>
            <a:spLocks noChangeArrowheads="1"/>
          </p:cNvSpPr>
          <p:nvPr/>
        </p:nvSpPr>
        <p:spPr bwMode="auto">
          <a:xfrm>
            <a:off x="6599238"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6607" name="Rectangle 15">
            <a:extLst>
              <a:ext uri="{FF2B5EF4-FFF2-40B4-BE49-F238E27FC236}">
                <a16:creationId xmlns:a16="http://schemas.microsoft.com/office/drawing/2014/main" id="{70C60B50-EDFC-C12E-5F7D-A6EBA4A7E3AE}"/>
              </a:ext>
            </a:extLst>
          </p:cNvPr>
          <p:cNvSpPr>
            <a:spLocks noChangeArrowheads="1"/>
          </p:cNvSpPr>
          <p:nvPr/>
        </p:nvSpPr>
        <p:spPr bwMode="auto">
          <a:xfrm>
            <a:off x="6599238"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6608" name="Rectangle 16">
            <a:extLst>
              <a:ext uri="{FF2B5EF4-FFF2-40B4-BE49-F238E27FC236}">
                <a16:creationId xmlns:a16="http://schemas.microsoft.com/office/drawing/2014/main" id="{DE1215B1-D083-1074-F390-596CC9A38F20}"/>
              </a:ext>
            </a:extLst>
          </p:cNvPr>
          <p:cNvSpPr>
            <a:spLocks noChangeArrowheads="1"/>
          </p:cNvSpPr>
          <p:nvPr/>
        </p:nvSpPr>
        <p:spPr bwMode="auto">
          <a:xfrm>
            <a:off x="6599238"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6609" name="Rectangle 17">
            <a:extLst>
              <a:ext uri="{FF2B5EF4-FFF2-40B4-BE49-F238E27FC236}">
                <a16:creationId xmlns:a16="http://schemas.microsoft.com/office/drawing/2014/main" id="{7992A7C5-6567-F6D7-2998-9FBF59C50CEB}"/>
              </a:ext>
            </a:extLst>
          </p:cNvPr>
          <p:cNvSpPr>
            <a:spLocks noChangeArrowheads="1"/>
          </p:cNvSpPr>
          <p:nvPr/>
        </p:nvSpPr>
        <p:spPr bwMode="auto">
          <a:xfrm>
            <a:off x="6599238"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48145" name="Rectangle 18">
            <a:extLst>
              <a:ext uri="{FF2B5EF4-FFF2-40B4-BE49-F238E27FC236}">
                <a16:creationId xmlns:a16="http://schemas.microsoft.com/office/drawing/2014/main" id="{0D64BFBF-2AA1-EDE5-A7C3-84C9A962F1CA}"/>
              </a:ext>
            </a:extLst>
          </p:cNvPr>
          <p:cNvSpPr>
            <a:spLocks noChangeArrowheads="1"/>
          </p:cNvSpPr>
          <p:nvPr/>
        </p:nvSpPr>
        <p:spPr bwMode="auto">
          <a:xfrm>
            <a:off x="6599238"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6611" name="Rectangle 19">
            <a:extLst>
              <a:ext uri="{FF2B5EF4-FFF2-40B4-BE49-F238E27FC236}">
                <a16:creationId xmlns:a16="http://schemas.microsoft.com/office/drawing/2014/main" id="{930BC8C0-B06D-C0F4-852B-63406411FBC2}"/>
              </a:ext>
            </a:extLst>
          </p:cNvPr>
          <p:cNvSpPr>
            <a:spLocks noChangeArrowheads="1"/>
          </p:cNvSpPr>
          <p:nvPr/>
        </p:nvSpPr>
        <p:spPr bwMode="auto">
          <a:xfrm>
            <a:off x="6062663"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6612" name="Rectangle 20">
            <a:extLst>
              <a:ext uri="{FF2B5EF4-FFF2-40B4-BE49-F238E27FC236}">
                <a16:creationId xmlns:a16="http://schemas.microsoft.com/office/drawing/2014/main" id="{35567ECE-E4ED-09C7-8226-F33294C6526A}"/>
              </a:ext>
            </a:extLst>
          </p:cNvPr>
          <p:cNvSpPr>
            <a:spLocks noChangeArrowheads="1"/>
          </p:cNvSpPr>
          <p:nvPr/>
        </p:nvSpPr>
        <p:spPr bwMode="auto">
          <a:xfrm>
            <a:off x="6062663"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6613" name="Rectangle 21">
            <a:extLst>
              <a:ext uri="{FF2B5EF4-FFF2-40B4-BE49-F238E27FC236}">
                <a16:creationId xmlns:a16="http://schemas.microsoft.com/office/drawing/2014/main" id="{23E0FEBA-62BE-A4D0-1745-F420DF9A5B88}"/>
              </a:ext>
            </a:extLst>
          </p:cNvPr>
          <p:cNvSpPr>
            <a:spLocks noChangeArrowheads="1"/>
          </p:cNvSpPr>
          <p:nvPr/>
        </p:nvSpPr>
        <p:spPr bwMode="auto">
          <a:xfrm>
            <a:off x="6062663"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6614" name="Rectangle 22">
            <a:extLst>
              <a:ext uri="{FF2B5EF4-FFF2-40B4-BE49-F238E27FC236}">
                <a16:creationId xmlns:a16="http://schemas.microsoft.com/office/drawing/2014/main" id="{CAE4113E-8E5F-1FD5-F8A7-C82D5370087A}"/>
              </a:ext>
            </a:extLst>
          </p:cNvPr>
          <p:cNvSpPr>
            <a:spLocks noChangeArrowheads="1"/>
          </p:cNvSpPr>
          <p:nvPr/>
        </p:nvSpPr>
        <p:spPr bwMode="auto">
          <a:xfrm>
            <a:off x="6062663"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48150" name="Rectangle 23">
            <a:extLst>
              <a:ext uri="{FF2B5EF4-FFF2-40B4-BE49-F238E27FC236}">
                <a16:creationId xmlns:a16="http://schemas.microsoft.com/office/drawing/2014/main" id="{C50D403C-087B-157A-6270-BA5E9A11CA48}"/>
              </a:ext>
            </a:extLst>
          </p:cNvPr>
          <p:cNvSpPr>
            <a:spLocks noChangeArrowheads="1"/>
          </p:cNvSpPr>
          <p:nvPr/>
        </p:nvSpPr>
        <p:spPr bwMode="auto">
          <a:xfrm>
            <a:off x="6062663"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6616" name="Rectangle 24">
            <a:extLst>
              <a:ext uri="{FF2B5EF4-FFF2-40B4-BE49-F238E27FC236}">
                <a16:creationId xmlns:a16="http://schemas.microsoft.com/office/drawing/2014/main" id="{B3DB2663-3E18-22CB-69B4-0C185BDA29FB}"/>
              </a:ext>
            </a:extLst>
          </p:cNvPr>
          <p:cNvSpPr>
            <a:spLocks noChangeArrowheads="1"/>
          </p:cNvSpPr>
          <p:nvPr/>
        </p:nvSpPr>
        <p:spPr bwMode="auto">
          <a:xfrm>
            <a:off x="5524500" y="3881438"/>
            <a:ext cx="5381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6617" name="Rectangle 25">
            <a:extLst>
              <a:ext uri="{FF2B5EF4-FFF2-40B4-BE49-F238E27FC236}">
                <a16:creationId xmlns:a16="http://schemas.microsoft.com/office/drawing/2014/main" id="{8A9B5812-77ED-A5DD-49CE-A248DA0ED234}"/>
              </a:ext>
            </a:extLst>
          </p:cNvPr>
          <p:cNvSpPr>
            <a:spLocks noChangeArrowheads="1"/>
          </p:cNvSpPr>
          <p:nvPr/>
        </p:nvSpPr>
        <p:spPr bwMode="auto">
          <a:xfrm>
            <a:off x="5524500" y="3363913"/>
            <a:ext cx="5381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6618" name="Rectangle 26">
            <a:extLst>
              <a:ext uri="{FF2B5EF4-FFF2-40B4-BE49-F238E27FC236}">
                <a16:creationId xmlns:a16="http://schemas.microsoft.com/office/drawing/2014/main" id="{29B2E4DD-421E-7D0A-9667-F45367F223A0}"/>
              </a:ext>
            </a:extLst>
          </p:cNvPr>
          <p:cNvSpPr>
            <a:spLocks noChangeArrowheads="1"/>
          </p:cNvSpPr>
          <p:nvPr/>
        </p:nvSpPr>
        <p:spPr bwMode="auto">
          <a:xfrm>
            <a:off x="5524500" y="2830513"/>
            <a:ext cx="5381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6619" name="Rectangle 27">
            <a:extLst>
              <a:ext uri="{FF2B5EF4-FFF2-40B4-BE49-F238E27FC236}">
                <a16:creationId xmlns:a16="http://schemas.microsoft.com/office/drawing/2014/main" id="{4E945D8E-F2FA-9EE2-4CB0-3C05C2738F72}"/>
              </a:ext>
            </a:extLst>
          </p:cNvPr>
          <p:cNvSpPr>
            <a:spLocks noChangeArrowheads="1"/>
          </p:cNvSpPr>
          <p:nvPr/>
        </p:nvSpPr>
        <p:spPr bwMode="auto">
          <a:xfrm>
            <a:off x="5524500" y="2251075"/>
            <a:ext cx="5381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48155" name="Rectangle 28">
            <a:extLst>
              <a:ext uri="{FF2B5EF4-FFF2-40B4-BE49-F238E27FC236}">
                <a16:creationId xmlns:a16="http://schemas.microsoft.com/office/drawing/2014/main" id="{9F63DACC-9ABE-EED4-A983-8B16F497A460}"/>
              </a:ext>
            </a:extLst>
          </p:cNvPr>
          <p:cNvSpPr>
            <a:spLocks noChangeArrowheads="1"/>
          </p:cNvSpPr>
          <p:nvPr/>
        </p:nvSpPr>
        <p:spPr bwMode="auto">
          <a:xfrm>
            <a:off x="5524500" y="1412875"/>
            <a:ext cx="53816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366621" name="Rectangle 29">
            <a:extLst>
              <a:ext uri="{FF2B5EF4-FFF2-40B4-BE49-F238E27FC236}">
                <a16:creationId xmlns:a16="http://schemas.microsoft.com/office/drawing/2014/main" id="{A60E480F-DD7F-F9D7-788D-20F8040ABDA2}"/>
              </a:ext>
            </a:extLst>
          </p:cNvPr>
          <p:cNvSpPr>
            <a:spLocks noChangeArrowheads="1"/>
          </p:cNvSpPr>
          <p:nvPr/>
        </p:nvSpPr>
        <p:spPr bwMode="auto">
          <a:xfrm>
            <a:off x="4987925"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6622" name="Rectangle 30">
            <a:extLst>
              <a:ext uri="{FF2B5EF4-FFF2-40B4-BE49-F238E27FC236}">
                <a16:creationId xmlns:a16="http://schemas.microsoft.com/office/drawing/2014/main" id="{21488DC6-3ADD-238C-4D53-E17047CEAA53}"/>
              </a:ext>
            </a:extLst>
          </p:cNvPr>
          <p:cNvSpPr>
            <a:spLocks noChangeArrowheads="1"/>
          </p:cNvSpPr>
          <p:nvPr/>
        </p:nvSpPr>
        <p:spPr bwMode="auto">
          <a:xfrm>
            <a:off x="4987925"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6623" name="Rectangle 31">
            <a:extLst>
              <a:ext uri="{FF2B5EF4-FFF2-40B4-BE49-F238E27FC236}">
                <a16:creationId xmlns:a16="http://schemas.microsoft.com/office/drawing/2014/main" id="{CF074F38-153C-72E6-F491-9688B2C5D213}"/>
              </a:ext>
            </a:extLst>
          </p:cNvPr>
          <p:cNvSpPr>
            <a:spLocks noChangeArrowheads="1"/>
          </p:cNvSpPr>
          <p:nvPr/>
        </p:nvSpPr>
        <p:spPr bwMode="auto">
          <a:xfrm>
            <a:off x="4987925"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6624" name="Rectangle 32">
            <a:extLst>
              <a:ext uri="{FF2B5EF4-FFF2-40B4-BE49-F238E27FC236}">
                <a16:creationId xmlns:a16="http://schemas.microsoft.com/office/drawing/2014/main" id="{55F62E4D-1D56-1EE2-1E4A-577780B58CEC}"/>
              </a:ext>
            </a:extLst>
          </p:cNvPr>
          <p:cNvSpPr>
            <a:spLocks noChangeArrowheads="1"/>
          </p:cNvSpPr>
          <p:nvPr/>
        </p:nvSpPr>
        <p:spPr bwMode="auto">
          <a:xfrm>
            <a:off x="4987925"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48160" name="Rectangle 33">
            <a:extLst>
              <a:ext uri="{FF2B5EF4-FFF2-40B4-BE49-F238E27FC236}">
                <a16:creationId xmlns:a16="http://schemas.microsoft.com/office/drawing/2014/main" id="{873B36E9-4BEC-E231-D1C6-C6E57F29A79F}"/>
              </a:ext>
            </a:extLst>
          </p:cNvPr>
          <p:cNvSpPr>
            <a:spLocks noChangeArrowheads="1"/>
          </p:cNvSpPr>
          <p:nvPr/>
        </p:nvSpPr>
        <p:spPr bwMode="auto">
          <a:xfrm>
            <a:off x="4987925"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6626" name="Rectangle 34">
            <a:extLst>
              <a:ext uri="{FF2B5EF4-FFF2-40B4-BE49-F238E27FC236}">
                <a16:creationId xmlns:a16="http://schemas.microsoft.com/office/drawing/2014/main" id="{BB71A53A-A758-90A8-F68E-9878D20BF236}"/>
              </a:ext>
            </a:extLst>
          </p:cNvPr>
          <p:cNvSpPr>
            <a:spLocks noChangeArrowheads="1"/>
          </p:cNvSpPr>
          <p:nvPr/>
        </p:nvSpPr>
        <p:spPr bwMode="auto">
          <a:xfrm>
            <a:off x="4451350"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6627" name="Rectangle 35">
            <a:extLst>
              <a:ext uri="{FF2B5EF4-FFF2-40B4-BE49-F238E27FC236}">
                <a16:creationId xmlns:a16="http://schemas.microsoft.com/office/drawing/2014/main" id="{1D8C80B4-E550-AFCB-2849-258D8F87AB9C}"/>
              </a:ext>
            </a:extLst>
          </p:cNvPr>
          <p:cNvSpPr>
            <a:spLocks noChangeArrowheads="1"/>
          </p:cNvSpPr>
          <p:nvPr/>
        </p:nvSpPr>
        <p:spPr bwMode="auto">
          <a:xfrm>
            <a:off x="4451350"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6628" name="Rectangle 36">
            <a:extLst>
              <a:ext uri="{FF2B5EF4-FFF2-40B4-BE49-F238E27FC236}">
                <a16:creationId xmlns:a16="http://schemas.microsoft.com/office/drawing/2014/main" id="{023BE129-FCCD-DE49-59D7-F3612238AF9E}"/>
              </a:ext>
            </a:extLst>
          </p:cNvPr>
          <p:cNvSpPr>
            <a:spLocks noChangeArrowheads="1"/>
          </p:cNvSpPr>
          <p:nvPr/>
        </p:nvSpPr>
        <p:spPr bwMode="auto">
          <a:xfrm>
            <a:off x="4451350"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6629" name="Rectangle 37">
            <a:extLst>
              <a:ext uri="{FF2B5EF4-FFF2-40B4-BE49-F238E27FC236}">
                <a16:creationId xmlns:a16="http://schemas.microsoft.com/office/drawing/2014/main" id="{9D25782D-527B-910A-95F0-6B41F9AA6A78}"/>
              </a:ext>
            </a:extLst>
          </p:cNvPr>
          <p:cNvSpPr>
            <a:spLocks noChangeArrowheads="1"/>
          </p:cNvSpPr>
          <p:nvPr/>
        </p:nvSpPr>
        <p:spPr bwMode="auto">
          <a:xfrm>
            <a:off x="4451350"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48165" name="Rectangle 38">
            <a:extLst>
              <a:ext uri="{FF2B5EF4-FFF2-40B4-BE49-F238E27FC236}">
                <a16:creationId xmlns:a16="http://schemas.microsoft.com/office/drawing/2014/main" id="{DCB87F23-90B7-5120-0785-A46232CAB325}"/>
              </a:ext>
            </a:extLst>
          </p:cNvPr>
          <p:cNvSpPr>
            <a:spLocks noChangeArrowheads="1"/>
          </p:cNvSpPr>
          <p:nvPr/>
        </p:nvSpPr>
        <p:spPr bwMode="auto">
          <a:xfrm>
            <a:off x="4451350"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48166" name="Rectangle 39">
            <a:extLst>
              <a:ext uri="{FF2B5EF4-FFF2-40B4-BE49-F238E27FC236}">
                <a16:creationId xmlns:a16="http://schemas.microsoft.com/office/drawing/2014/main" id="{AF44A440-BD94-73C5-4F5C-8EC39DFBCCA5}"/>
              </a:ext>
            </a:extLst>
          </p:cNvPr>
          <p:cNvSpPr>
            <a:spLocks noChangeArrowheads="1"/>
          </p:cNvSpPr>
          <p:nvPr/>
        </p:nvSpPr>
        <p:spPr bwMode="auto">
          <a:xfrm>
            <a:off x="3914775"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48167" name="Rectangle 40">
            <a:extLst>
              <a:ext uri="{FF2B5EF4-FFF2-40B4-BE49-F238E27FC236}">
                <a16:creationId xmlns:a16="http://schemas.microsoft.com/office/drawing/2014/main" id="{BD441DB3-80A2-8C15-9F50-1EA2774960A9}"/>
              </a:ext>
            </a:extLst>
          </p:cNvPr>
          <p:cNvSpPr>
            <a:spLocks noChangeArrowheads="1"/>
          </p:cNvSpPr>
          <p:nvPr/>
        </p:nvSpPr>
        <p:spPr bwMode="auto">
          <a:xfrm>
            <a:off x="3914775"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8168" name="Rectangle 41">
            <a:extLst>
              <a:ext uri="{FF2B5EF4-FFF2-40B4-BE49-F238E27FC236}">
                <a16:creationId xmlns:a16="http://schemas.microsoft.com/office/drawing/2014/main" id="{A4A4B433-F3C6-3621-5E73-CDDAA228E95B}"/>
              </a:ext>
            </a:extLst>
          </p:cNvPr>
          <p:cNvSpPr>
            <a:spLocks noChangeArrowheads="1"/>
          </p:cNvSpPr>
          <p:nvPr/>
        </p:nvSpPr>
        <p:spPr bwMode="auto">
          <a:xfrm>
            <a:off x="3914775"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8169" name="Rectangle 42">
            <a:extLst>
              <a:ext uri="{FF2B5EF4-FFF2-40B4-BE49-F238E27FC236}">
                <a16:creationId xmlns:a16="http://schemas.microsoft.com/office/drawing/2014/main" id="{8AF60C49-2E97-AA5B-CF50-26711E86DE4E}"/>
              </a:ext>
            </a:extLst>
          </p:cNvPr>
          <p:cNvSpPr>
            <a:spLocks noChangeArrowheads="1"/>
          </p:cNvSpPr>
          <p:nvPr/>
        </p:nvSpPr>
        <p:spPr bwMode="auto">
          <a:xfrm>
            <a:off x="3914775"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8170" name="Rectangle 43">
            <a:extLst>
              <a:ext uri="{FF2B5EF4-FFF2-40B4-BE49-F238E27FC236}">
                <a16:creationId xmlns:a16="http://schemas.microsoft.com/office/drawing/2014/main" id="{9930EC3D-6DEA-8447-E88B-7C54AF162BE5}"/>
              </a:ext>
            </a:extLst>
          </p:cNvPr>
          <p:cNvSpPr>
            <a:spLocks noChangeArrowheads="1"/>
          </p:cNvSpPr>
          <p:nvPr/>
        </p:nvSpPr>
        <p:spPr bwMode="auto">
          <a:xfrm>
            <a:off x="3914775"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6636" name="Rectangle 44">
            <a:extLst>
              <a:ext uri="{FF2B5EF4-FFF2-40B4-BE49-F238E27FC236}">
                <a16:creationId xmlns:a16="http://schemas.microsoft.com/office/drawing/2014/main" id="{E709B863-77BA-66D3-479B-C79544AEBB33}"/>
              </a:ext>
            </a:extLst>
          </p:cNvPr>
          <p:cNvSpPr>
            <a:spLocks noChangeArrowheads="1"/>
          </p:cNvSpPr>
          <p:nvPr/>
        </p:nvSpPr>
        <p:spPr bwMode="auto">
          <a:xfrm>
            <a:off x="3378200"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6637" name="Rectangle 45">
            <a:extLst>
              <a:ext uri="{FF2B5EF4-FFF2-40B4-BE49-F238E27FC236}">
                <a16:creationId xmlns:a16="http://schemas.microsoft.com/office/drawing/2014/main" id="{19088E54-7477-8DE0-0E78-93BE6B1BB49B}"/>
              </a:ext>
            </a:extLst>
          </p:cNvPr>
          <p:cNvSpPr>
            <a:spLocks noChangeArrowheads="1"/>
          </p:cNvSpPr>
          <p:nvPr/>
        </p:nvSpPr>
        <p:spPr bwMode="auto">
          <a:xfrm>
            <a:off x="3378200"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6638" name="Rectangle 46">
            <a:extLst>
              <a:ext uri="{FF2B5EF4-FFF2-40B4-BE49-F238E27FC236}">
                <a16:creationId xmlns:a16="http://schemas.microsoft.com/office/drawing/2014/main" id="{208BF6F0-91EB-762F-23E4-FF39184AE8AF}"/>
              </a:ext>
            </a:extLst>
          </p:cNvPr>
          <p:cNvSpPr>
            <a:spLocks noChangeArrowheads="1"/>
          </p:cNvSpPr>
          <p:nvPr/>
        </p:nvSpPr>
        <p:spPr bwMode="auto">
          <a:xfrm>
            <a:off x="3378200"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6639" name="Rectangle 47">
            <a:extLst>
              <a:ext uri="{FF2B5EF4-FFF2-40B4-BE49-F238E27FC236}">
                <a16:creationId xmlns:a16="http://schemas.microsoft.com/office/drawing/2014/main" id="{DFB11354-285A-99FE-0310-D0F9B732FE17}"/>
              </a:ext>
            </a:extLst>
          </p:cNvPr>
          <p:cNvSpPr>
            <a:spLocks noChangeArrowheads="1"/>
          </p:cNvSpPr>
          <p:nvPr/>
        </p:nvSpPr>
        <p:spPr bwMode="auto">
          <a:xfrm>
            <a:off x="3378200"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48175" name="Rectangle 48">
            <a:extLst>
              <a:ext uri="{FF2B5EF4-FFF2-40B4-BE49-F238E27FC236}">
                <a16:creationId xmlns:a16="http://schemas.microsoft.com/office/drawing/2014/main" id="{6C0418E9-7CB3-9674-C0CF-559B69148889}"/>
              </a:ext>
            </a:extLst>
          </p:cNvPr>
          <p:cNvSpPr>
            <a:spLocks noChangeArrowheads="1"/>
          </p:cNvSpPr>
          <p:nvPr/>
        </p:nvSpPr>
        <p:spPr bwMode="auto">
          <a:xfrm>
            <a:off x="3378200"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6641" name="Rectangle 49">
            <a:extLst>
              <a:ext uri="{FF2B5EF4-FFF2-40B4-BE49-F238E27FC236}">
                <a16:creationId xmlns:a16="http://schemas.microsoft.com/office/drawing/2014/main" id="{4EA9A4D2-48ED-B4D7-6120-18AFFF21ADD2}"/>
              </a:ext>
            </a:extLst>
          </p:cNvPr>
          <p:cNvSpPr>
            <a:spLocks noChangeArrowheads="1"/>
          </p:cNvSpPr>
          <p:nvPr/>
        </p:nvSpPr>
        <p:spPr bwMode="auto">
          <a:xfrm>
            <a:off x="2841625"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6642" name="Rectangle 50">
            <a:extLst>
              <a:ext uri="{FF2B5EF4-FFF2-40B4-BE49-F238E27FC236}">
                <a16:creationId xmlns:a16="http://schemas.microsoft.com/office/drawing/2014/main" id="{330E7490-9F3E-2265-2D20-6692BCBB8B03}"/>
              </a:ext>
            </a:extLst>
          </p:cNvPr>
          <p:cNvSpPr>
            <a:spLocks noChangeArrowheads="1"/>
          </p:cNvSpPr>
          <p:nvPr/>
        </p:nvSpPr>
        <p:spPr bwMode="auto">
          <a:xfrm>
            <a:off x="2841625"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6643" name="Rectangle 51">
            <a:extLst>
              <a:ext uri="{FF2B5EF4-FFF2-40B4-BE49-F238E27FC236}">
                <a16:creationId xmlns:a16="http://schemas.microsoft.com/office/drawing/2014/main" id="{D5C0141A-F5A0-54BA-CECA-19AB4BE2C9ED}"/>
              </a:ext>
            </a:extLst>
          </p:cNvPr>
          <p:cNvSpPr>
            <a:spLocks noChangeArrowheads="1"/>
          </p:cNvSpPr>
          <p:nvPr/>
        </p:nvSpPr>
        <p:spPr bwMode="auto">
          <a:xfrm>
            <a:off x="2841625"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6644" name="Rectangle 52">
            <a:extLst>
              <a:ext uri="{FF2B5EF4-FFF2-40B4-BE49-F238E27FC236}">
                <a16:creationId xmlns:a16="http://schemas.microsoft.com/office/drawing/2014/main" id="{01134A63-5BFB-7D33-AABE-863C4C220D88}"/>
              </a:ext>
            </a:extLst>
          </p:cNvPr>
          <p:cNvSpPr>
            <a:spLocks noChangeArrowheads="1"/>
          </p:cNvSpPr>
          <p:nvPr/>
        </p:nvSpPr>
        <p:spPr bwMode="auto">
          <a:xfrm>
            <a:off x="2841625"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7</a:t>
            </a:r>
          </a:p>
        </p:txBody>
      </p:sp>
      <p:sp>
        <p:nvSpPr>
          <p:cNvPr id="48180" name="Rectangle 53">
            <a:extLst>
              <a:ext uri="{FF2B5EF4-FFF2-40B4-BE49-F238E27FC236}">
                <a16:creationId xmlns:a16="http://schemas.microsoft.com/office/drawing/2014/main" id="{FFED8083-AE06-3BD3-244D-F505AB65387D}"/>
              </a:ext>
            </a:extLst>
          </p:cNvPr>
          <p:cNvSpPr>
            <a:spLocks noChangeArrowheads="1"/>
          </p:cNvSpPr>
          <p:nvPr/>
        </p:nvSpPr>
        <p:spPr bwMode="auto">
          <a:xfrm>
            <a:off x="2841625"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6646" name="Rectangle 54">
            <a:extLst>
              <a:ext uri="{FF2B5EF4-FFF2-40B4-BE49-F238E27FC236}">
                <a16:creationId xmlns:a16="http://schemas.microsoft.com/office/drawing/2014/main" id="{60E7B7DB-5279-8000-1F00-D2577E317BA6}"/>
              </a:ext>
            </a:extLst>
          </p:cNvPr>
          <p:cNvSpPr>
            <a:spLocks noChangeArrowheads="1"/>
          </p:cNvSpPr>
          <p:nvPr/>
        </p:nvSpPr>
        <p:spPr bwMode="auto">
          <a:xfrm>
            <a:off x="2305050" y="38814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48182" name="Rectangle 55">
            <a:extLst>
              <a:ext uri="{FF2B5EF4-FFF2-40B4-BE49-F238E27FC236}">
                <a16:creationId xmlns:a16="http://schemas.microsoft.com/office/drawing/2014/main" id="{A547ADB7-8EDA-0302-7563-911E686E0ED2}"/>
              </a:ext>
            </a:extLst>
          </p:cNvPr>
          <p:cNvSpPr>
            <a:spLocks noChangeArrowheads="1"/>
          </p:cNvSpPr>
          <p:nvPr/>
        </p:nvSpPr>
        <p:spPr bwMode="auto">
          <a:xfrm>
            <a:off x="2305050" y="336391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366648" name="Rectangle 56">
            <a:extLst>
              <a:ext uri="{FF2B5EF4-FFF2-40B4-BE49-F238E27FC236}">
                <a16:creationId xmlns:a16="http://schemas.microsoft.com/office/drawing/2014/main" id="{26C68E0C-40C2-8459-B826-1176E1D0D566}"/>
              </a:ext>
            </a:extLst>
          </p:cNvPr>
          <p:cNvSpPr>
            <a:spLocks noChangeArrowheads="1"/>
          </p:cNvSpPr>
          <p:nvPr/>
        </p:nvSpPr>
        <p:spPr bwMode="auto">
          <a:xfrm>
            <a:off x="2305050" y="2830513"/>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6649" name="Rectangle 57">
            <a:extLst>
              <a:ext uri="{FF2B5EF4-FFF2-40B4-BE49-F238E27FC236}">
                <a16:creationId xmlns:a16="http://schemas.microsoft.com/office/drawing/2014/main" id="{C320103E-47CF-65E6-1EEE-62D8ED7B8700}"/>
              </a:ext>
            </a:extLst>
          </p:cNvPr>
          <p:cNvSpPr>
            <a:spLocks noChangeArrowheads="1"/>
          </p:cNvSpPr>
          <p:nvPr/>
        </p:nvSpPr>
        <p:spPr bwMode="auto">
          <a:xfrm>
            <a:off x="2305050" y="2251075"/>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7</a:t>
            </a:r>
          </a:p>
        </p:txBody>
      </p:sp>
      <p:sp>
        <p:nvSpPr>
          <p:cNvPr id="48185" name="Rectangle 58">
            <a:extLst>
              <a:ext uri="{FF2B5EF4-FFF2-40B4-BE49-F238E27FC236}">
                <a16:creationId xmlns:a16="http://schemas.microsoft.com/office/drawing/2014/main" id="{D964F277-A890-EDF0-1642-9161D5F59FB5}"/>
              </a:ext>
            </a:extLst>
          </p:cNvPr>
          <p:cNvSpPr>
            <a:spLocks noChangeArrowheads="1"/>
          </p:cNvSpPr>
          <p:nvPr/>
        </p:nvSpPr>
        <p:spPr bwMode="auto">
          <a:xfrm>
            <a:off x="2305050"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6651" name="Rectangle 59">
            <a:extLst>
              <a:ext uri="{FF2B5EF4-FFF2-40B4-BE49-F238E27FC236}">
                <a16:creationId xmlns:a16="http://schemas.microsoft.com/office/drawing/2014/main" id="{A2993CAD-5D78-FC59-56B2-CDEC2C18AB05}"/>
              </a:ext>
            </a:extLst>
          </p:cNvPr>
          <p:cNvSpPr>
            <a:spLocks noChangeArrowheads="1"/>
          </p:cNvSpPr>
          <p:nvPr/>
        </p:nvSpPr>
        <p:spPr bwMode="auto">
          <a:xfrm>
            <a:off x="1662113" y="3881438"/>
            <a:ext cx="64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48187" name="Rectangle 60">
            <a:extLst>
              <a:ext uri="{FF2B5EF4-FFF2-40B4-BE49-F238E27FC236}">
                <a16:creationId xmlns:a16="http://schemas.microsoft.com/office/drawing/2014/main" id="{A41D8DD0-7180-EF92-768C-DA6F63E48902}"/>
              </a:ext>
            </a:extLst>
          </p:cNvPr>
          <p:cNvSpPr>
            <a:spLocks noChangeArrowheads="1"/>
          </p:cNvSpPr>
          <p:nvPr/>
        </p:nvSpPr>
        <p:spPr bwMode="auto">
          <a:xfrm>
            <a:off x="1662113" y="3363913"/>
            <a:ext cx="64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8188" name="Rectangle 61">
            <a:extLst>
              <a:ext uri="{FF2B5EF4-FFF2-40B4-BE49-F238E27FC236}">
                <a16:creationId xmlns:a16="http://schemas.microsoft.com/office/drawing/2014/main" id="{1A80AC73-87A7-357B-050E-9854D062A62D}"/>
              </a:ext>
            </a:extLst>
          </p:cNvPr>
          <p:cNvSpPr>
            <a:spLocks noChangeArrowheads="1"/>
          </p:cNvSpPr>
          <p:nvPr/>
        </p:nvSpPr>
        <p:spPr bwMode="auto">
          <a:xfrm>
            <a:off x="1662113" y="2830513"/>
            <a:ext cx="6429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366654" name="Rectangle 62">
            <a:extLst>
              <a:ext uri="{FF2B5EF4-FFF2-40B4-BE49-F238E27FC236}">
                <a16:creationId xmlns:a16="http://schemas.microsoft.com/office/drawing/2014/main" id="{1466D357-950C-3553-A924-A5FF0C70DD67}"/>
              </a:ext>
            </a:extLst>
          </p:cNvPr>
          <p:cNvSpPr>
            <a:spLocks noChangeArrowheads="1"/>
          </p:cNvSpPr>
          <p:nvPr/>
        </p:nvSpPr>
        <p:spPr bwMode="auto">
          <a:xfrm>
            <a:off x="1662113" y="2251075"/>
            <a:ext cx="6429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7</a:t>
            </a:r>
          </a:p>
        </p:txBody>
      </p:sp>
      <p:sp>
        <p:nvSpPr>
          <p:cNvPr id="48190" name="Rectangle 63">
            <a:extLst>
              <a:ext uri="{FF2B5EF4-FFF2-40B4-BE49-F238E27FC236}">
                <a16:creationId xmlns:a16="http://schemas.microsoft.com/office/drawing/2014/main" id="{A813DCBE-D999-61CD-A123-7CCCE5C51632}"/>
              </a:ext>
            </a:extLst>
          </p:cNvPr>
          <p:cNvSpPr>
            <a:spLocks noChangeArrowheads="1"/>
          </p:cNvSpPr>
          <p:nvPr/>
        </p:nvSpPr>
        <p:spPr bwMode="auto">
          <a:xfrm>
            <a:off x="1662113" y="1412875"/>
            <a:ext cx="64293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7</a:t>
            </a:r>
          </a:p>
        </p:txBody>
      </p:sp>
      <p:sp>
        <p:nvSpPr>
          <p:cNvPr id="48191" name="Rectangle 64">
            <a:extLst>
              <a:ext uri="{FF2B5EF4-FFF2-40B4-BE49-F238E27FC236}">
                <a16:creationId xmlns:a16="http://schemas.microsoft.com/office/drawing/2014/main" id="{E13C33E5-731E-BF87-BF5B-F9D37215C5B1}"/>
              </a:ext>
            </a:extLst>
          </p:cNvPr>
          <p:cNvSpPr>
            <a:spLocks noChangeArrowheads="1"/>
          </p:cNvSpPr>
          <p:nvPr/>
        </p:nvSpPr>
        <p:spPr bwMode="auto">
          <a:xfrm>
            <a:off x="660400" y="3881438"/>
            <a:ext cx="10017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92" name="Rectangle 65">
            <a:extLst>
              <a:ext uri="{FF2B5EF4-FFF2-40B4-BE49-F238E27FC236}">
                <a16:creationId xmlns:a16="http://schemas.microsoft.com/office/drawing/2014/main" id="{601D1C8B-6C13-5CBE-B5CE-A1451B744B53}"/>
              </a:ext>
            </a:extLst>
          </p:cNvPr>
          <p:cNvSpPr>
            <a:spLocks noChangeArrowheads="1"/>
          </p:cNvSpPr>
          <p:nvPr/>
        </p:nvSpPr>
        <p:spPr bwMode="auto">
          <a:xfrm>
            <a:off x="660400" y="3363913"/>
            <a:ext cx="10017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块3</a:t>
            </a:r>
          </a:p>
        </p:txBody>
      </p:sp>
      <p:sp>
        <p:nvSpPr>
          <p:cNvPr id="48193" name="Rectangle 66">
            <a:extLst>
              <a:ext uri="{FF2B5EF4-FFF2-40B4-BE49-F238E27FC236}">
                <a16:creationId xmlns:a16="http://schemas.microsoft.com/office/drawing/2014/main" id="{7CA52F8B-D2DB-2964-965F-6DA740FF8A99}"/>
              </a:ext>
            </a:extLst>
          </p:cNvPr>
          <p:cNvSpPr>
            <a:spLocks noChangeArrowheads="1"/>
          </p:cNvSpPr>
          <p:nvPr/>
        </p:nvSpPr>
        <p:spPr bwMode="auto">
          <a:xfrm>
            <a:off x="660400" y="2830513"/>
            <a:ext cx="10017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块2</a:t>
            </a:r>
          </a:p>
        </p:txBody>
      </p:sp>
      <p:sp>
        <p:nvSpPr>
          <p:cNvPr id="48194" name="Rectangle 67">
            <a:extLst>
              <a:ext uri="{FF2B5EF4-FFF2-40B4-BE49-F238E27FC236}">
                <a16:creationId xmlns:a16="http://schemas.microsoft.com/office/drawing/2014/main" id="{C4C6F165-4279-F101-D00E-7FAB676C2DF5}"/>
              </a:ext>
            </a:extLst>
          </p:cNvPr>
          <p:cNvSpPr>
            <a:spLocks noChangeArrowheads="1"/>
          </p:cNvSpPr>
          <p:nvPr/>
        </p:nvSpPr>
        <p:spPr bwMode="auto">
          <a:xfrm>
            <a:off x="660400" y="2251075"/>
            <a:ext cx="10017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块1</a:t>
            </a:r>
          </a:p>
        </p:txBody>
      </p:sp>
      <p:sp>
        <p:nvSpPr>
          <p:cNvPr id="48195" name="Rectangle 68">
            <a:extLst>
              <a:ext uri="{FF2B5EF4-FFF2-40B4-BE49-F238E27FC236}">
                <a16:creationId xmlns:a16="http://schemas.microsoft.com/office/drawing/2014/main" id="{DD55E80A-DDC7-4710-F21E-98F34D3D8DE1}"/>
              </a:ext>
            </a:extLst>
          </p:cNvPr>
          <p:cNvSpPr>
            <a:spLocks noChangeArrowheads="1"/>
          </p:cNvSpPr>
          <p:nvPr/>
        </p:nvSpPr>
        <p:spPr bwMode="auto">
          <a:xfrm>
            <a:off x="660400" y="1412875"/>
            <a:ext cx="100171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走向</a:t>
            </a:r>
          </a:p>
        </p:txBody>
      </p:sp>
      <p:sp>
        <p:nvSpPr>
          <p:cNvPr id="48196" name="Line 69">
            <a:extLst>
              <a:ext uri="{FF2B5EF4-FFF2-40B4-BE49-F238E27FC236}">
                <a16:creationId xmlns:a16="http://schemas.microsoft.com/office/drawing/2014/main" id="{81C2275D-876E-7F78-C473-7138B91E188B}"/>
              </a:ext>
            </a:extLst>
          </p:cNvPr>
          <p:cNvSpPr>
            <a:spLocks noChangeShapeType="1"/>
          </p:cNvSpPr>
          <p:nvPr/>
        </p:nvSpPr>
        <p:spPr bwMode="auto">
          <a:xfrm>
            <a:off x="660400" y="1412875"/>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97" name="Line 70">
            <a:extLst>
              <a:ext uri="{FF2B5EF4-FFF2-40B4-BE49-F238E27FC236}">
                <a16:creationId xmlns:a16="http://schemas.microsoft.com/office/drawing/2014/main" id="{6E2D428F-417E-04AB-1FB0-F136847AC2EC}"/>
              </a:ext>
            </a:extLst>
          </p:cNvPr>
          <p:cNvSpPr>
            <a:spLocks noChangeShapeType="1"/>
          </p:cNvSpPr>
          <p:nvPr/>
        </p:nvSpPr>
        <p:spPr bwMode="auto">
          <a:xfrm>
            <a:off x="660400" y="4398963"/>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98" name="Line 71">
            <a:extLst>
              <a:ext uri="{FF2B5EF4-FFF2-40B4-BE49-F238E27FC236}">
                <a16:creationId xmlns:a16="http://schemas.microsoft.com/office/drawing/2014/main" id="{9BBF55D2-EC40-47CA-7216-940534ED8A11}"/>
              </a:ext>
            </a:extLst>
          </p:cNvPr>
          <p:cNvSpPr>
            <a:spLocks noChangeShapeType="1"/>
          </p:cNvSpPr>
          <p:nvPr/>
        </p:nvSpPr>
        <p:spPr bwMode="auto">
          <a:xfrm>
            <a:off x="660400" y="1412875"/>
            <a:ext cx="0" cy="2986088"/>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99" name="Line 72">
            <a:extLst>
              <a:ext uri="{FF2B5EF4-FFF2-40B4-BE49-F238E27FC236}">
                <a16:creationId xmlns:a16="http://schemas.microsoft.com/office/drawing/2014/main" id="{54F30064-E93D-0BF5-0A04-8FE77CA30FFE}"/>
              </a:ext>
            </a:extLst>
          </p:cNvPr>
          <p:cNvSpPr>
            <a:spLocks noChangeShapeType="1"/>
          </p:cNvSpPr>
          <p:nvPr/>
        </p:nvSpPr>
        <p:spPr bwMode="auto">
          <a:xfrm>
            <a:off x="8280400" y="1412875"/>
            <a:ext cx="0" cy="2986088"/>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0" name="Line 73">
            <a:extLst>
              <a:ext uri="{FF2B5EF4-FFF2-40B4-BE49-F238E27FC236}">
                <a16:creationId xmlns:a16="http://schemas.microsoft.com/office/drawing/2014/main" id="{E29F1817-362B-1B99-4D85-CBFC8AF57C35}"/>
              </a:ext>
            </a:extLst>
          </p:cNvPr>
          <p:cNvSpPr>
            <a:spLocks noChangeShapeType="1"/>
          </p:cNvSpPr>
          <p:nvPr/>
        </p:nvSpPr>
        <p:spPr bwMode="auto">
          <a:xfrm>
            <a:off x="660400" y="2251075"/>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1" name="Line 74">
            <a:extLst>
              <a:ext uri="{FF2B5EF4-FFF2-40B4-BE49-F238E27FC236}">
                <a16:creationId xmlns:a16="http://schemas.microsoft.com/office/drawing/2014/main" id="{E55B9CE2-006B-1E89-1E9E-0557C699DEA3}"/>
              </a:ext>
            </a:extLst>
          </p:cNvPr>
          <p:cNvSpPr>
            <a:spLocks noChangeShapeType="1"/>
          </p:cNvSpPr>
          <p:nvPr/>
        </p:nvSpPr>
        <p:spPr bwMode="auto">
          <a:xfrm>
            <a:off x="660400" y="2830513"/>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2" name="Line 75">
            <a:extLst>
              <a:ext uri="{FF2B5EF4-FFF2-40B4-BE49-F238E27FC236}">
                <a16:creationId xmlns:a16="http://schemas.microsoft.com/office/drawing/2014/main" id="{95DBDF3B-60CE-FBB3-4C09-49FF7E94AE4A}"/>
              </a:ext>
            </a:extLst>
          </p:cNvPr>
          <p:cNvSpPr>
            <a:spLocks noChangeShapeType="1"/>
          </p:cNvSpPr>
          <p:nvPr/>
        </p:nvSpPr>
        <p:spPr bwMode="auto">
          <a:xfrm>
            <a:off x="660400" y="3363913"/>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3" name="Line 76">
            <a:extLst>
              <a:ext uri="{FF2B5EF4-FFF2-40B4-BE49-F238E27FC236}">
                <a16:creationId xmlns:a16="http://schemas.microsoft.com/office/drawing/2014/main" id="{6FA109A7-3EC2-5A6F-AC2F-56957FEE9CE6}"/>
              </a:ext>
            </a:extLst>
          </p:cNvPr>
          <p:cNvSpPr>
            <a:spLocks noChangeShapeType="1"/>
          </p:cNvSpPr>
          <p:nvPr/>
        </p:nvSpPr>
        <p:spPr bwMode="auto">
          <a:xfrm>
            <a:off x="660400" y="3881438"/>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4" name="Line 77">
            <a:extLst>
              <a:ext uri="{FF2B5EF4-FFF2-40B4-BE49-F238E27FC236}">
                <a16:creationId xmlns:a16="http://schemas.microsoft.com/office/drawing/2014/main" id="{0865442F-4516-0C87-F079-0D8FC754F10C}"/>
              </a:ext>
            </a:extLst>
          </p:cNvPr>
          <p:cNvSpPr>
            <a:spLocks noChangeShapeType="1"/>
          </p:cNvSpPr>
          <p:nvPr/>
        </p:nvSpPr>
        <p:spPr bwMode="auto">
          <a:xfrm>
            <a:off x="1662113"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5" name="Line 78">
            <a:extLst>
              <a:ext uri="{FF2B5EF4-FFF2-40B4-BE49-F238E27FC236}">
                <a16:creationId xmlns:a16="http://schemas.microsoft.com/office/drawing/2014/main" id="{55AFF4A9-6E23-38DF-0730-3EC82F8E950B}"/>
              </a:ext>
            </a:extLst>
          </p:cNvPr>
          <p:cNvSpPr>
            <a:spLocks noChangeShapeType="1"/>
          </p:cNvSpPr>
          <p:nvPr/>
        </p:nvSpPr>
        <p:spPr bwMode="auto">
          <a:xfrm>
            <a:off x="2305050"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6" name="Line 79">
            <a:extLst>
              <a:ext uri="{FF2B5EF4-FFF2-40B4-BE49-F238E27FC236}">
                <a16:creationId xmlns:a16="http://schemas.microsoft.com/office/drawing/2014/main" id="{85BC99F9-1B41-9903-8012-D1E71BD2261E}"/>
              </a:ext>
            </a:extLst>
          </p:cNvPr>
          <p:cNvSpPr>
            <a:spLocks noChangeShapeType="1"/>
          </p:cNvSpPr>
          <p:nvPr/>
        </p:nvSpPr>
        <p:spPr bwMode="auto">
          <a:xfrm>
            <a:off x="2841625"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7" name="Line 80">
            <a:extLst>
              <a:ext uri="{FF2B5EF4-FFF2-40B4-BE49-F238E27FC236}">
                <a16:creationId xmlns:a16="http://schemas.microsoft.com/office/drawing/2014/main" id="{DCAAF1FE-2D16-C796-08A1-415FB88CCDF3}"/>
              </a:ext>
            </a:extLst>
          </p:cNvPr>
          <p:cNvSpPr>
            <a:spLocks noChangeShapeType="1"/>
          </p:cNvSpPr>
          <p:nvPr/>
        </p:nvSpPr>
        <p:spPr bwMode="auto">
          <a:xfrm>
            <a:off x="3378200"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8" name="Line 81">
            <a:extLst>
              <a:ext uri="{FF2B5EF4-FFF2-40B4-BE49-F238E27FC236}">
                <a16:creationId xmlns:a16="http://schemas.microsoft.com/office/drawing/2014/main" id="{1A7AC327-4249-4883-42E9-E54C13C921D6}"/>
              </a:ext>
            </a:extLst>
          </p:cNvPr>
          <p:cNvSpPr>
            <a:spLocks noChangeShapeType="1"/>
          </p:cNvSpPr>
          <p:nvPr/>
        </p:nvSpPr>
        <p:spPr bwMode="auto">
          <a:xfrm>
            <a:off x="3914775"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9" name="Line 82">
            <a:extLst>
              <a:ext uri="{FF2B5EF4-FFF2-40B4-BE49-F238E27FC236}">
                <a16:creationId xmlns:a16="http://schemas.microsoft.com/office/drawing/2014/main" id="{8B309635-ABFC-40D6-5B9E-49956268210A}"/>
              </a:ext>
            </a:extLst>
          </p:cNvPr>
          <p:cNvSpPr>
            <a:spLocks noChangeShapeType="1"/>
          </p:cNvSpPr>
          <p:nvPr/>
        </p:nvSpPr>
        <p:spPr bwMode="auto">
          <a:xfrm>
            <a:off x="4451350"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10" name="Line 83">
            <a:extLst>
              <a:ext uri="{FF2B5EF4-FFF2-40B4-BE49-F238E27FC236}">
                <a16:creationId xmlns:a16="http://schemas.microsoft.com/office/drawing/2014/main" id="{D83F764F-D4AC-19A0-054E-2DCD2F02886E}"/>
              </a:ext>
            </a:extLst>
          </p:cNvPr>
          <p:cNvSpPr>
            <a:spLocks noChangeShapeType="1"/>
          </p:cNvSpPr>
          <p:nvPr/>
        </p:nvSpPr>
        <p:spPr bwMode="auto">
          <a:xfrm>
            <a:off x="4987925"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11" name="Line 84">
            <a:extLst>
              <a:ext uri="{FF2B5EF4-FFF2-40B4-BE49-F238E27FC236}">
                <a16:creationId xmlns:a16="http://schemas.microsoft.com/office/drawing/2014/main" id="{82B08C8C-A570-A02E-7948-8E29E7E238C6}"/>
              </a:ext>
            </a:extLst>
          </p:cNvPr>
          <p:cNvSpPr>
            <a:spLocks noChangeShapeType="1"/>
          </p:cNvSpPr>
          <p:nvPr/>
        </p:nvSpPr>
        <p:spPr bwMode="auto">
          <a:xfrm>
            <a:off x="5524500"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12" name="Line 85">
            <a:extLst>
              <a:ext uri="{FF2B5EF4-FFF2-40B4-BE49-F238E27FC236}">
                <a16:creationId xmlns:a16="http://schemas.microsoft.com/office/drawing/2014/main" id="{E0AB3A59-F30F-850B-7D80-01B33FB5F7B3}"/>
              </a:ext>
            </a:extLst>
          </p:cNvPr>
          <p:cNvSpPr>
            <a:spLocks noChangeShapeType="1"/>
          </p:cNvSpPr>
          <p:nvPr/>
        </p:nvSpPr>
        <p:spPr bwMode="auto">
          <a:xfrm>
            <a:off x="6062663"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13" name="Line 86">
            <a:extLst>
              <a:ext uri="{FF2B5EF4-FFF2-40B4-BE49-F238E27FC236}">
                <a16:creationId xmlns:a16="http://schemas.microsoft.com/office/drawing/2014/main" id="{A052B436-A3B3-BCAF-DA3C-F714E156B59C}"/>
              </a:ext>
            </a:extLst>
          </p:cNvPr>
          <p:cNvSpPr>
            <a:spLocks noChangeShapeType="1"/>
          </p:cNvSpPr>
          <p:nvPr/>
        </p:nvSpPr>
        <p:spPr bwMode="auto">
          <a:xfrm>
            <a:off x="6599238"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14" name="Line 87">
            <a:extLst>
              <a:ext uri="{FF2B5EF4-FFF2-40B4-BE49-F238E27FC236}">
                <a16:creationId xmlns:a16="http://schemas.microsoft.com/office/drawing/2014/main" id="{04600540-2FDD-0D05-A86B-C960182806CB}"/>
              </a:ext>
            </a:extLst>
          </p:cNvPr>
          <p:cNvSpPr>
            <a:spLocks noChangeShapeType="1"/>
          </p:cNvSpPr>
          <p:nvPr/>
        </p:nvSpPr>
        <p:spPr bwMode="auto">
          <a:xfrm>
            <a:off x="7135813"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15" name="Line 88">
            <a:extLst>
              <a:ext uri="{FF2B5EF4-FFF2-40B4-BE49-F238E27FC236}">
                <a16:creationId xmlns:a16="http://schemas.microsoft.com/office/drawing/2014/main" id="{A0C15847-7774-82C6-0BBE-9157BBB2B76E}"/>
              </a:ext>
            </a:extLst>
          </p:cNvPr>
          <p:cNvSpPr>
            <a:spLocks noChangeShapeType="1"/>
          </p:cNvSpPr>
          <p:nvPr/>
        </p:nvSpPr>
        <p:spPr bwMode="auto">
          <a:xfrm>
            <a:off x="7666038"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366654"/>
                                        </p:tgtEl>
                                        <p:attrNameLst>
                                          <p:attrName>style.visibility</p:attrName>
                                        </p:attrNameLst>
                                      </p:cBhvr>
                                      <p:to>
                                        <p:strVal val="visible"/>
                                      </p:to>
                                    </p:set>
                                    <p:animEffect transition="in" filter="barn(outHorizontal)">
                                      <p:cBhvr>
                                        <p:cTn id="7" dur="500"/>
                                        <p:tgtEl>
                                          <p:spTgt spid="3666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366651"/>
                                        </p:tgtEl>
                                        <p:attrNameLst>
                                          <p:attrName>style.visibility</p:attrName>
                                        </p:attrNameLst>
                                      </p:cBhvr>
                                      <p:to>
                                        <p:strVal val="visible"/>
                                      </p:to>
                                    </p:set>
                                    <p:animEffect transition="in" filter="barn(outHorizontal)">
                                      <p:cBhvr>
                                        <p:cTn id="12" dur="500"/>
                                        <p:tgtEl>
                                          <p:spTgt spid="3666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366649"/>
                                        </p:tgtEl>
                                        <p:attrNameLst>
                                          <p:attrName>style.visibility</p:attrName>
                                        </p:attrNameLst>
                                      </p:cBhvr>
                                      <p:to>
                                        <p:strVal val="visible"/>
                                      </p:to>
                                    </p:set>
                                    <p:animEffect transition="in" filter="barn(outHorizontal)">
                                      <p:cBhvr>
                                        <p:cTn id="17" dur="500"/>
                                        <p:tgtEl>
                                          <p:spTgt spid="3666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366648"/>
                                        </p:tgtEl>
                                        <p:attrNameLst>
                                          <p:attrName>style.visibility</p:attrName>
                                        </p:attrNameLst>
                                      </p:cBhvr>
                                      <p:to>
                                        <p:strVal val="visible"/>
                                      </p:to>
                                    </p:set>
                                    <p:animEffect transition="in" filter="barn(outHorizontal)">
                                      <p:cBhvr>
                                        <p:cTn id="22" dur="500"/>
                                        <p:tgtEl>
                                          <p:spTgt spid="36664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366646"/>
                                        </p:tgtEl>
                                        <p:attrNameLst>
                                          <p:attrName>style.visibility</p:attrName>
                                        </p:attrNameLst>
                                      </p:cBhvr>
                                      <p:to>
                                        <p:strVal val="visible"/>
                                      </p:to>
                                    </p:set>
                                    <p:animEffect transition="in" filter="barn(outHorizontal)">
                                      <p:cBhvr>
                                        <p:cTn id="27" dur="500"/>
                                        <p:tgtEl>
                                          <p:spTgt spid="3666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366644"/>
                                        </p:tgtEl>
                                        <p:attrNameLst>
                                          <p:attrName>style.visibility</p:attrName>
                                        </p:attrNameLst>
                                      </p:cBhvr>
                                      <p:to>
                                        <p:strVal val="visible"/>
                                      </p:to>
                                    </p:set>
                                    <p:animEffect transition="in" filter="barn(outHorizontal)">
                                      <p:cBhvr>
                                        <p:cTn id="32" dur="500"/>
                                        <p:tgtEl>
                                          <p:spTgt spid="36664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366643"/>
                                        </p:tgtEl>
                                        <p:attrNameLst>
                                          <p:attrName>style.visibility</p:attrName>
                                        </p:attrNameLst>
                                      </p:cBhvr>
                                      <p:to>
                                        <p:strVal val="visible"/>
                                      </p:to>
                                    </p:set>
                                    <p:animEffect transition="in" filter="barn(outHorizontal)">
                                      <p:cBhvr>
                                        <p:cTn id="37" dur="500"/>
                                        <p:tgtEl>
                                          <p:spTgt spid="36664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366642"/>
                                        </p:tgtEl>
                                        <p:attrNameLst>
                                          <p:attrName>style.visibility</p:attrName>
                                        </p:attrNameLst>
                                      </p:cBhvr>
                                      <p:to>
                                        <p:strVal val="visible"/>
                                      </p:to>
                                    </p:set>
                                    <p:animEffect transition="in" filter="barn(outHorizontal)">
                                      <p:cBhvr>
                                        <p:cTn id="42" dur="500"/>
                                        <p:tgtEl>
                                          <p:spTgt spid="36664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366641"/>
                                        </p:tgtEl>
                                        <p:attrNameLst>
                                          <p:attrName>style.visibility</p:attrName>
                                        </p:attrNameLst>
                                      </p:cBhvr>
                                      <p:to>
                                        <p:strVal val="visible"/>
                                      </p:to>
                                    </p:set>
                                    <p:animEffect transition="in" filter="barn(outHorizontal)">
                                      <p:cBhvr>
                                        <p:cTn id="47" dur="500"/>
                                        <p:tgtEl>
                                          <p:spTgt spid="36664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366639"/>
                                        </p:tgtEl>
                                        <p:attrNameLst>
                                          <p:attrName>style.visibility</p:attrName>
                                        </p:attrNameLst>
                                      </p:cBhvr>
                                      <p:to>
                                        <p:strVal val="visible"/>
                                      </p:to>
                                    </p:set>
                                    <p:animEffect transition="in" filter="barn(outHorizontal)">
                                      <p:cBhvr>
                                        <p:cTn id="52" dur="500"/>
                                        <p:tgtEl>
                                          <p:spTgt spid="36663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366638"/>
                                        </p:tgtEl>
                                        <p:attrNameLst>
                                          <p:attrName>style.visibility</p:attrName>
                                        </p:attrNameLst>
                                      </p:cBhvr>
                                      <p:to>
                                        <p:strVal val="visible"/>
                                      </p:to>
                                    </p:set>
                                    <p:animEffect transition="in" filter="barn(outHorizontal)">
                                      <p:cBhvr>
                                        <p:cTn id="57" dur="500"/>
                                        <p:tgtEl>
                                          <p:spTgt spid="36663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366637"/>
                                        </p:tgtEl>
                                        <p:attrNameLst>
                                          <p:attrName>style.visibility</p:attrName>
                                        </p:attrNameLst>
                                      </p:cBhvr>
                                      <p:to>
                                        <p:strVal val="visible"/>
                                      </p:to>
                                    </p:set>
                                    <p:animEffect transition="in" filter="barn(outHorizontal)">
                                      <p:cBhvr>
                                        <p:cTn id="62" dur="500"/>
                                        <p:tgtEl>
                                          <p:spTgt spid="36663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366636"/>
                                        </p:tgtEl>
                                        <p:attrNameLst>
                                          <p:attrName>style.visibility</p:attrName>
                                        </p:attrNameLst>
                                      </p:cBhvr>
                                      <p:to>
                                        <p:strVal val="visible"/>
                                      </p:to>
                                    </p:set>
                                    <p:animEffect transition="in" filter="barn(outHorizontal)">
                                      <p:cBhvr>
                                        <p:cTn id="67" dur="500"/>
                                        <p:tgtEl>
                                          <p:spTgt spid="36663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366629"/>
                                        </p:tgtEl>
                                        <p:attrNameLst>
                                          <p:attrName>style.visibility</p:attrName>
                                        </p:attrNameLst>
                                      </p:cBhvr>
                                      <p:to>
                                        <p:strVal val="visible"/>
                                      </p:to>
                                    </p:set>
                                    <p:animEffect transition="in" filter="barn(outHorizontal)">
                                      <p:cBhvr>
                                        <p:cTn id="72" dur="500"/>
                                        <p:tgtEl>
                                          <p:spTgt spid="36662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366628"/>
                                        </p:tgtEl>
                                        <p:attrNameLst>
                                          <p:attrName>style.visibility</p:attrName>
                                        </p:attrNameLst>
                                      </p:cBhvr>
                                      <p:to>
                                        <p:strVal val="visible"/>
                                      </p:to>
                                    </p:set>
                                    <p:animEffect transition="in" filter="barn(outHorizontal)">
                                      <p:cBhvr>
                                        <p:cTn id="77" dur="500"/>
                                        <p:tgtEl>
                                          <p:spTgt spid="36662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366627"/>
                                        </p:tgtEl>
                                        <p:attrNameLst>
                                          <p:attrName>style.visibility</p:attrName>
                                        </p:attrNameLst>
                                      </p:cBhvr>
                                      <p:to>
                                        <p:strVal val="visible"/>
                                      </p:to>
                                    </p:set>
                                    <p:animEffect transition="in" filter="barn(outHorizontal)">
                                      <p:cBhvr>
                                        <p:cTn id="82" dur="500"/>
                                        <p:tgtEl>
                                          <p:spTgt spid="36662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366626"/>
                                        </p:tgtEl>
                                        <p:attrNameLst>
                                          <p:attrName>style.visibility</p:attrName>
                                        </p:attrNameLst>
                                      </p:cBhvr>
                                      <p:to>
                                        <p:strVal val="visible"/>
                                      </p:to>
                                    </p:set>
                                    <p:animEffect transition="in" filter="barn(outHorizontal)">
                                      <p:cBhvr>
                                        <p:cTn id="87" dur="500"/>
                                        <p:tgtEl>
                                          <p:spTgt spid="36662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366624"/>
                                        </p:tgtEl>
                                        <p:attrNameLst>
                                          <p:attrName>style.visibility</p:attrName>
                                        </p:attrNameLst>
                                      </p:cBhvr>
                                      <p:to>
                                        <p:strVal val="visible"/>
                                      </p:to>
                                    </p:set>
                                    <p:animEffect transition="in" filter="barn(outHorizontal)">
                                      <p:cBhvr>
                                        <p:cTn id="92" dur="500"/>
                                        <p:tgtEl>
                                          <p:spTgt spid="36662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366623"/>
                                        </p:tgtEl>
                                        <p:attrNameLst>
                                          <p:attrName>style.visibility</p:attrName>
                                        </p:attrNameLst>
                                      </p:cBhvr>
                                      <p:to>
                                        <p:strVal val="visible"/>
                                      </p:to>
                                    </p:set>
                                    <p:animEffect transition="in" filter="barn(outHorizontal)">
                                      <p:cBhvr>
                                        <p:cTn id="97" dur="500"/>
                                        <p:tgtEl>
                                          <p:spTgt spid="366623"/>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6" presetClass="entr" presetSubtype="42" fill="hold" nodeType="clickEffect">
                                  <p:stCondLst>
                                    <p:cond delay="0"/>
                                  </p:stCondLst>
                                  <p:childTnLst>
                                    <p:set>
                                      <p:cBhvr>
                                        <p:cTn id="101" dur="1" fill="hold">
                                          <p:stCondLst>
                                            <p:cond delay="0"/>
                                          </p:stCondLst>
                                        </p:cTn>
                                        <p:tgtEl>
                                          <p:spTgt spid="366622"/>
                                        </p:tgtEl>
                                        <p:attrNameLst>
                                          <p:attrName>style.visibility</p:attrName>
                                        </p:attrNameLst>
                                      </p:cBhvr>
                                      <p:to>
                                        <p:strVal val="visible"/>
                                      </p:to>
                                    </p:set>
                                    <p:animEffect transition="in" filter="barn(outHorizontal)">
                                      <p:cBhvr>
                                        <p:cTn id="102" dur="500"/>
                                        <p:tgtEl>
                                          <p:spTgt spid="366622"/>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6" presetClass="entr" presetSubtype="42" fill="hold" nodeType="clickEffect">
                                  <p:stCondLst>
                                    <p:cond delay="0"/>
                                  </p:stCondLst>
                                  <p:childTnLst>
                                    <p:set>
                                      <p:cBhvr>
                                        <p:cTn id="106" dur="1" fill="hold">
                                          <p:stCondLst>
                                            <p:cond delay="0"/>
                                          </p:stCondLst>
                                        </p:cTn>
                                        <p:tgtEl>
                                          <p:spTgt spid="366621"/>
                                        </p:tgtEl>
                                        <p:attrNameLst>
                                          <p:attrName>style.visibility</p:attrName>
                                        </p:attrNameLst>
                                      </p:cBhvr>
                                      <p:to>
                                        <p:strVal val="visible"/>
                                      </p:to>
                                    </p:set>
                                    <p:animEffect transition="in" filter="barn(outHorizontal)">
                                      <p:cBhvr>
                                        <p:cTn id="107" dur="500"/>
                                        <p:tgtEl>
                                          <p:spTgt spid="366621"/>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6" presetClass="entr" presetSubtype="42" fill="hold" nodeType="clickEffect">
                                  <p:stCondLst>
                                    <p:cond delay="0"/>
                                  </p:stCondLst>
                                  <p:childTnLst>
                                    <p:set>
                                      <p:cBhvr>
                                        <p:cTn id="111" dur="1" fill="hold">
                                          <p:stCondLst>
                                            <p:cond delay="0"/>
                                          </p:stCondLst>
                                        </p:cTn>
                                        <p:tgtEl>
                                          <p:spTgt spid="366619"/>
                                        </p:tgtEl>
                                        <p:attrNameLst>
                                          <p:attrName>style.visibility</p:attrName>
                                        </p:attrNameLst>
                                      </p:cBhvr>
                                      <p:to>
                                        <p:strVal val="visible"/>
                                      </p:to>
                                    </p:set>
                                    <p:animEffect transition="in" filter="barn(outHorizontal)">
                                      <p:cBhvr>
                                        <p:cTn id="112" dur="500"/>
                                        <p:tgtEl>
                                          <p:spTgt spid="366619"/>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6" presetClass="entr" presetSubtype="42" fill="hold" nodeType="clickEffect">
                                  <p:stCondLst>
                                    <p:cond delay="0"/>
                                  </p:stCondLst>
                                  <p:childTnLst>
                                    <p:set>
                                      <p:cBhvr>
                                        <p:cTn id="116" dur="1" fill="hold">
                                          <p:stCondLst>
                                            <p:cond delay="0"/>
                                          </p:stCondLst>
                                        </p:cTn>
                                        <p:tgtEl>
                                          <p:spTgt spid="366618"/>
                                        </p:tgtEl>
                                        <p:attrNameLst>
                                          <p:attrName>style.visibility</p:attrName>
                                        </p:attrNameLst>
                                      </p:cBhvr>
                                      <p:to>
                                        <p:strVal val="visible"/>
                                      </p:to>
                                    </p:set>
                                    <p:animEffect transition="in" filter="barn(outHorizontal)">
                                      <p:cBhvr>
                                        <p:cTn id="117" dur="500"/>
                                        <p:tgtEl>
                                          <p:spTgt spid="36661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6" presetClass="entr" presetSubtype="42" fill="hold" nodeType="clickEffect">
                                  <p:stCondLst>
                                    <p:cond delay="0"/>
                                  </p:stCondLst>
                                  <p:childTnLst>
                                    <p:set>
                                      <p:cBhvr>
                                        <p:cTn id="121" dur="1" fill="hold">
                                          <p:stCondLst>
                                            <p:cond delay="0"/>
                                          </p:stCondLst>
                                        </p:cTn>
                                        <p:tgtEl>
                                          <p:spTgt spid="366617"/>
                                        </p:tgtEl>
                                        <p:attrNameLst>
                                          <p:attrName>style.visibility</p:attrName>
                                        </p:attrNameLst>
                                      </p:cBhvr>
                                      <p:to>
                                        <p:strVal val="visible"/>
                                      </p:to>
                                    </p:set>
                                    <p:animEffect transition="in" filter="barn(outHorizontal)">
                                      <p:cBhvr>
                                        <p:cTn id="122" dur="500"/>
                                        <p:tgtEl>
                                          <p:spTgt spid="366617"/>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6" presetClass="entr" presetSubtype="42" fill="hold" nodeType="clickEffect">
                                  <p:stCondLst>
                                    <p:cond delay="0"/>
                                  </p:stCondLst>
                                  <p:childTnLst>
                                    <p:set>
                                      <p:cBhvr>
                                        <p:cTn id="126" dur="1" fill="hold">
                                          <p:stCondLst>
                                            <p:cond delay="0"/>
                                          </p:stCondLst>
                                        </p:cTn>
                                        <p:tgtEl>
                                          <p:spTgt spid="366616"/>
                                        </p:tgtEl>
                                        <p:attrNameLst>
                                          <p:attrName>style.visibility</p:attrName>
                                        </p:attrNameLst>
                                      </p:cBhvr>
                                      <p:to>
                                        <p:strVal val="visible"/>
                                      </p:to>
                                    </p:set>
                                    <p:animEffect transition="in" filter="barn(outHorizontal)">
                                      <p:cBhvr>
                                        <p:cTn id="127" dur="500"/>
                                        <p:tgtEl>
                                          <p:spTgt spid="366616"/>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6" presetClass="entr" presetSubtype="42" fill="hold" nodeType="clickEffect">
                                  <p:stCondLst>
                                    <p:cond delay="0"/>
                                  </p:stCondLst>
                                  <p:childTnLst>
                                    <p:set>
                                      <p:cBhvr>
                                        <p:cTn id="131" dur="1" fill="hold">
                                          <p:stCondLst>
                                            <p:cond delay="0"/>
                                          </p:stCondLst>
                                        </p:cTn>
                                        <p:tgtEl>
                                          <p:spTgt spid="366614"/>
                                        </p:tgtEl>
                                        <p:attrNameLst>
                                          <p:attrName>style.visibility</p:attrName>
                                        </p:attrNameLst>
                                      </p:cBhvr>
                                      <p:to>
                                        <p:strVal val="visible"/>
                                      </p:to>
                                    </p:set>
                                    <p:animEffect transition="in" filter="barn(outHorizontal)">
                                      <p:cBhvr>
                                        <p:cTn id="132" dur="500"/>
                                        <p:tgtEl>
                                          <p:spTgt spid="366614"/>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6" presetClass="entr" presetSubtype="42" fill="hold" nodeType="clickEffect">
                                  <p:stCondLst>
                                    <p:cond delay="0"/>
                                  </p:stCondLst>
                                  <p:childTnLst>
                                    <p:set>
                                      <p:cBhvr>
                                        <p:cTn id="136" dur="1" fill="hold">
                                          <p:stCondLst>
                                            <p:cond delay="0"/>
                                          </p:stCondLst>
                                        </p:cTn>
                                        <p:tgtEl>
                                          <p:spTgt spid="366613"/>
                                        </p:tgtEl>
                                        <p:attrNameLst>
                                          <p:attrName>style.visibility</p:attrName>
                                        </p:attrNameLst>
                                      </p:cBhvr>
                                      <p:to>
                                        <p:strVal val="visible"/>
                                      </p:to>
                                    </p:set>
                                    <p:animEffect transition="in" filter="barn(outHorizontal)">
                                      <p:cBhvr>
                                        <p:cTn id="137" dur="500"/>
                                        <p:tgtEl>
                                          <p:spTgt spid="366613"/>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6" presetClass="entr" presetSubtype="42" fill="hold" nodeType="clickEffect">
                                  <p:stCondLst>
                                    <p:cond delay="0"/>
                                  </p:stCondLst>
                                  <p:childTnLst>
                                    <p:set>
                                      <p:cBhvr>
                                        <p:cTn id="141" dur="1" fill="hold">
                                          <p:stCondLst>
                                            <p:cond delay="0"/>
                                          </p:stCondLst>
                                        </p:cTn>
                                        <p:tgtEl>
                                          <p:spTgt spid="366612"/>
                                        </p:tgtEl>
                                        <p:attrNameLst>
                                          <p:attrName>style.visibility</p:attrName>
                                        </p:attrNameLst>
                                      </p:cBhvr>
                                      <p:to>
                                        <p:strVal val="visible"/>
                                      </p:to>
                                    </p:set>
                                    <p:animEffect transition="in" filter="barn(outHorizontal)">
                                      <p:cBhvr>
                                        <p:cTn id="142" dur="500"/>
                                        <p:tgtEl>
                                          <p:spTgt spid="366612"/>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6" presetClass="entr" presetSubtype="42" fill="hold" nodeType="clickEffect">
                                  <p:stCondLst>
                                    <p:cond delay="0"/>
                                  </p:stCondLst>
                                  <p:childTnLst>
                                    <p:set>
                                      <p:cBhvr>
                                        <p:cTn id="146" dur="1" fill="hold">
                                          <p:stCondLst>
                                            <p:cond delay="0"/>
                                          </p:stCondLst>
                                        </p:cTn>
                                        <p:tgtEl>
                                          <p:spTgt spid="366611"/>
                                        </p:tgtEl>
                                        <p:attrNameLst>
                                          <p:attrName>style.visibility</p:attrName>
                                        </p:attrNameLst>
                                      </p:cBhvr>
                                      <p:to>
                                        <p:strVal val="visible"/>
                                      </p:to>
                                    </p:set>
                                    <p:animEffect transition="in" filter="barn(outHorizontal)">
                                      <p:cBhvr>
                                        <p:cTn id="147" dur="500"/>
                                        <p:tgtEl>
                                          <p:spTgt spid="366611"/>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6" presetClass="entr" presetSubtype="42" fill="hold" nodeType="clickEffect">
                                  <p:stCondLst>
                                    <p:cond delay="0"/>
                                  </p:stCondLst>
                                  <p:childTnLst>
                                    <p:set>
                                      <p:cBhvr>
                                        <p:cTn id="151" dur="1" fill="hold">
                                          <p:stCondLst>
                                            <p:cond delay="0"/>
                                          </p:stCondLst>
                                        </p:cTn>
                                        <p:tgtEl>
                                          <p:spTgt spid="366609"/>
                                        </p:tgtEl>
                                        <p:attrNameLst>
                                          <p:attrName>style.visibility</p:attrName>
                                        </p:attrNameLst>
                                      </p:cBhvr>
                                      <p:to>
                                        <p:strVal val="visible"/>
                                      </p:to>
                                    </p:set>
                                    <p:animEffect transition="in" filter="barn(outHorizontal)">
                                      <p:cBhvr>
                                        <p:cTn id="152" dur="500"/>
                                        <p:tgtEl>
                                          <p:spTgt spid="366609"/>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6" presetClass="entr" presetSubtype="42" fill="hold" nodeType="clickEffect">
                                  <p:stCondLst>
                                    <p:cond delay="0"/>
                                  </p:stCondLst>
                                  <p:childTnLst>
                                    <p:set>
                                      <p:cBhvr>
                                        <p:cTn id="156" dur="1" fill="hold">
                                          <p:stCondLst>
                                            <p:cond delay="0"/>
                                          </p:stCondLst>
                                        </p:cTn>
                                        <p:tgtEl>
                                          <p:spTgt spid="366608"/>
                                        </p:tgtEl>
                                        <p:attrNameLst>
                                          <p:attrName>style.visibility</p:attrName>
                                        </p:attrNameLst>
                                      </p:cBhvr>
                                      <p:to>
                                        <p:strVal val="visible"/>
                                      </p:to>
                                    </p:set>
                                    <p:animEffect transition="in" filter="barn(outHorizontal)">
                                      <p:cBhvr>
                                        <p:cTn id="157" dur="500"/>
                                        <p:tgtEl>
                                          <p:spTgt spid="366608"/>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6" presetClass="entr" presetSubtype="42" fill="hold" nodeType="clickEffect">
                                  <p:stCondLst>
                                    <p:cond delay="0"/>
                                  </p:stCondLst>
                                  <p:childTnLst>
                                    <p:set>
                                      <p:cBhvr>
                                        <p:cTn id="161" dur="1" fill="hold">
                                          <p:stCondLst>
                                            <p:cond delay="0"/>
                                          </p:stCondLst>
                                        </p:cTn>
                                        <p:tgtEl>
                                          <p:spTgt spid="366607"/>
                                        </p:tgtEl>
                                        <p:attrNameLst>
                                          <p:attrName>style.visibility</p:attrName>
                                        </p:attrNameLst>
                                      </p:cBhvr>
                                      <p:to>
                                        <p:strVal val="visible"/>
                                      </p:to>
                                    </p:set>
                                    <p:animEffect transition="in" filter="barn(outHorizontal)">
                                      <p:cBhvr>
                                        <p:cTn id="162" dur="500"/>
                                        <p:tgtEl>
                                          <p:spTgt spid="366607"/>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6" presetClass="entr" presetSubtype="42" fill="hold" nodeType="clickEffect">
                                  <p:stCondLst>
                                    <p:cond delay="0"/>
                                  </p:stCondLst>
                                  <p:childTnLst>
                                    <p:set>
                                      <p:cBhvr>
                                        <p:cTn id="166" dur="1" fill="hold">
                                          <p:stCondLst>
                                            <p:cond delay="0"/>
                                          </p:stCondLst>
                                        </p:cTn>
                                        <p:tgtEl>
                                          <p:spTgt spid="366606"/>
                                        </p:tgtEl>
                                        <p:attrNameLst>
                                          <p:attrName>style.visibility</p:attrName>
                                        </p:attrNameLst>
                                      </p:cBhvr>
                                      <p:to>
                                        <p:strVal val="visible"/>
                                      </p:to>
                                    </p:set>
                                    <p:animEffect transition="in" filter="barn(outHorizontal)">
                                      <p:cBhvr>
                                        <p:cTn id="167" dur="500"/>
                                        <p:tgtEl>
                                          <p:spTgt spid="366606"/>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6" presetClass="entr" presetSubtype="42" fill="hold" nodeType="clickEffect">
                                  <p:stCondLst>
                                    <p:cond delay="0"/>
                                  </p:stCondLst>
                                  <p:childTnLst>
                                    <p:set>
                                      <p:cBhvr>
                                        <p:cTn id="171" dur="1" fill="hold">
                                          <p:stCondLst>
                                            <p:cond delay="0"/>
                                          </p:stCondLst>
                                        </p:cTn>
                                        <p:tgtEl>
                                          <p:spTgt spid="366604"/>
                                        </p:tgtEl>
                                        <p:attrNameLst>
                                          <p:attrName>style.visibility</p:attrName>
                                        </p:attrNameLst>
                                      </p:cBhvr>
                                      <p:to>
                                        <p:strVal val="visible"/>
                                      </p:to>
                                    </p:set>
                                    <p:animEffect transition="in" filter="barn(outHorizontal)">
                                      <p:cBhvr>
                                        <p:cTn id="172" dur="500"/>
                                        <p:tgtEl>
                                          <p:spTgt spid="366604"/>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6" presetClass="entr" presetSubtype="42" fill="hold" nodeType="clickEffect">
                                  <p:stCondLst>
                                    <p:cond delay="0"/>
                                  </p:stCondLst>
                                  <p:childTnLst>
                                    <p:set>
                                      <p:cBhvr>
                                        <p:cTn id="176" dur="1" fill="hold">
                                          <p:stCondLst>
                                            <p:cond delay="0"/>
                                          </p:stCondLst>
                                        </p:cTn>
                                        <p:tgtEl>
                                          <p:spTgt spid="366603"/>
                                        </p:tgtEl>
                                        <p:attrNameLst>
                                          <p:attrName>style.visibility</p:attrName>
                                        </p:attrNameLst>
                                      </p:cBhvr>
                                      <p:to>
                                        <p:strVal val="visible"/>
                                      </p:to>
                                    </p:set>
                                    <p:animEffect transition="in" filter="barn(outHorizontal)">
                                      <p:cBhvr>
                                        <p:cTn id="177" dur="500"/>
                                        <p:tgtEl>
                                          <p:spTgt spid="366603"/>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16" presetClass="entr" presetSubtype="42" fill="hold" nodeType="clickEffect">
                                  <p:stCondLst>
                                    <p:cond delay="0"/>
                                  </p:stCondLst>
                                  <p:childTnLst>
                                    <p:set>
                                      <p:cBhvr>
                                        <p:cTn id="181" dur="1" fill="hold">
                                          <p:stCondLst>
                                            <p:cond delay="0"/>
                                          </p:stCondLst>
                                        </p:cTn>
                                        <p:tgtEl>
                                          <p:spTgt spid="366602"/>
                                        </p:tgtEl>
                                        <p:attrNameLst>
                                          <p:attrName>style.visibility</p:attrName>
                                        </p:attrNameLst>
                                      </p:cBhvr>
                                      <p:to>
                                        <p:strVal val="visible"/>
                                      </p:to>
                                    </p:set>
                                    <p:animEffect transition="in" filter="barn(outHorizontal)">
                                      <p:cBhvr>
                                        <p:cTn id="182" dur="500"/>
                                        <p:tgtEl>
                                          <p:spTgt spid="366602"/>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16" presetClass="entr" presetSubtype="42" fill="hold" nodeType="clickEffect">
                                  <p:stCondLst>
                                    <p:cond delay="0"/>
                                  </p:stCondLst>
                                  <p:childTnLst>
                                    <p:set>
                                      <p:cBhvr>
                                        <p:cTn id="186" dur="1" fill="hold">
                                          <p:stCondLst>
                                            <p:cond delay="0"/>
                                          </p:stCondLst>
                                        </p:cTn>
                                        <p:tgtEl>
                                          <p:spTgt spid="366601"/>
                                        </p:tgtEl>
                                        <p:attrNameLst>
                                          <p:attrName>style.visibility</p:attrName>
                                        </p:attrNameLst>
                                      </p:cBhvr>
                                      <p:to>
                                        <p:strVal val="visible"/>
                                      </p:to>
                                    </p:set>
                                    <p:animEffect transition="in" filter="barn(outHorizontal)">
                                      <p:cBhvr>
                                        <p:cTn id="187" dur="500"/>
                                        <p:tgtEl>
                                          <p:spTgt spid="366601"/>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16" presetClass="entr" presetSubtype="42" fill="hold" nodeType="clickEffect">
                                  <p:stCondLst>
                                    <p:cond delay="0"/>
                                  </p:stCondLst>
                                  <p:childTnLst>
                                    <p:set>
                                      <p:cBhvr>
                                        <p:cTn id="191" dur="1" fill="hold">
                                          <p:stCondLst>
                                            <p:cond delay="0"/>
                                          </p:stCondLst>
                                        </p:cTn>
                                        <p:tgtEl>
                                          <p:spTgt spid="366595">
                                            <p:txEl>
                                              <p:pRg st="0" end="0"/>
                                            </p:txEl>
                                          </p:spTgt>
                                        </p:tgtEl>
                                        <p:attrNameLst>
                                          <p:attrName>style.visibility</p:attrName>
                                        </p:attrNameLst>
                                      </p:cBhvr>
                                      <p:to>
                                        <p:strVal val="visible"/>
                                      </p:to>
                                    </p:set>
                                    <p:animEffect transition="in" filter="barn(outHorizontal)">
                                      <p:cBhvr>
                                        <p:cTn id="192" dur="500"/>
                                        <p:tgtEl>
                                          <p:spTgt spid="3665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5" grpId="0" build="p"/>
      <p:bldP spid="366601" grpId="0"/>
      <p:bldP spid="366602" grpId="0"/>
      <p:bldP spid="366603" grpId="0"/>
      <p:bldP spid="366604" grpId="0"/>
      <p:bldP spid="366606" grpId="0"/>
      <p:bldP spid="366607" grpId="0"/>
      <p:bldP spid="366608" grpId="0"/>
      <p:bldP spid="366609" grpId="0"/>
      <p:bldP spid="366611" grpId="0"/>
      <p:bldP spid="366612" grpId="0"/>
      <p:bldP spid="366613" grpId="0"/>
      <p:bldP spid="366614" grpId="0"/>
      <p:bldP spid="366616" grpId="0"/>
      <p:bldP spid="366617" grpId="0"/>
      <p:bldP spid="366618" grpId="0"/>
      <p:bldP spid="366619" grpId="0"/>
      <p:bldP spid="366621" grpId="0"/>
      <p:bldP spid="366622" grpId="0"/>
      <p:bldP spid="366623" grpId="0"/>
      <p:bldP spid="366624" grpId="0"/>
      <p:bldP spid="366626" grpId="0"/>
      <p:bldP spid="366627" grpId="0"/>
      <p:bldP spid="366628" grpId="0"/>
      <p:bldP spid="366629" grpId="0"/>
      <p:bldP spid="366636" grpId="0"/>
      <p:bldP spid="366637" grpId="0"/>
      <p:bldP spid="366638" grpId="0"/>
      <p:bldP spid="366639" grpId="0"/>
      <p:bldP spid="366641" grpId="0"/>
      <p:bldP spid="366642" grpId="0"/>
      <p:bldP spid="366643" grpId="0"/>
      <p:bldP spid="366644" grpId="0"/>
      <p:bldP spid="366646" grpId="0"/>
      <p:bldP spid="366648" grpId="0"/>
      <p:bldP spid="366649" grpId="0"/>
      <p:bldP spid="366651" grpId="0"/>
      <p:bldP spid="366654" grpId="0"/>
    </p:bldLst>
  </p:timing>
</p:sld>
</file>

<file path=ppt/slides/slide1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99A58672-0718-3AC3-370B-A202B96C3A5C}"/>
              </a:ext>
            </a:extLst>
          </p:cNvPr>
          <p:cNvSpPr>
            <a:spLocks noGrp="1" noChangeArrowheads="1"/>
          </p:cNvSpPr>
          <p:nvPr>
            <p:ph type="title"/>
          </p:nvPr>
        </p:nvSpPr>
        <p:spPr>
          <a:xfrm>
            <a:off x="1042988" y="225431"/>
            <a:ext cx="7850187" cy="746125"/>
          </a:xfrm>
        </p:spPr>
        <p:txBody>
          <a:bodyPr/>
          <a:lstStyle/>
          <a:p>
            <a:r>
              <a:rPr lang="zh-CN" altLang="en-US"/>
              <a:t>为进程分配4个物理块</a:t>
            </a:r>
          </a:p>
        </p:txBody>
      </p:sp>
      <p:sp>
        <p:nvSpPr>
          <p:cNvPr id="367619" name="Rectangle 3">
            <a:extLst>
              <a:ext uri="{FF2B5EF4-FFF2-40B4-BE49-F238E27FC236}">
                <a16:creationId xmlns:a16="http://schemas.microsoft.com/office/drawing/2014/main" id="{E6E6BF75-2E0C-4436-41FD-0B2BCF4A6F83}"/>
              </a:ext>
            </a:extLst>
          </p:cNvPr>
          <p:cNvSpPr>
            <a:spLocks noGrp="1" noChangeArrowheads="1"/>
          </p:cNvSpPr>
          <p:nvPr>
            <p:ph idx="1"/>
          </p:nvPr>
        </p:nvSpPr>
        <p:spPr>
          <a:xfrm>
            <a:off x="935038" y="5035462"/>
            <a:ext cx="7772400" cy="1093875"/>
          </a:xfrm>
        </p:spPr>
        <p:txBody>
          <a:bodyPr>
            <a:normAutofit/>
          </a:bodyPr>
          <a:lstStyle/>
          <a:p>
            <a:r>
              <a:rPr lang="zh-CN" altLang="en-US"/>
              <a:t>从上表中可以看出，共发生了7次缺页中断。其缺页率为7/12＝58.3% 。</a:t>
            </a:r>
          </a:p>
        </p:txBody>
      </p:sp>
      <p:sp>
        <p:nvSpPr>
          <p:cNvPr id="49155" name="Rectangle 4">
            <a:extLst>
              <a:ext uri="{FF2B5EF4-FFF2-40B4-BE49-F238E27FC236}">
                <a16:creationId xmlns:a16="http://schemas.microsoft.com/office/drawing/2014/main" id="{F3F91202-67B4-1660-554A-CB122D1A35FE}"/>
              </a:ext>
            </a:extLst>
          </p:cNvPr>
          <p:cNvSpPr>
            <a:spLocks noChangeArrowheads="1"/>
          </p:cNvSpPr>
          <p:nvPr/>
        </p:nvSpPr>
        <p:spPr bwMode="auto">
          <a:xfrm>
            <a:off x="7869238" y="3810000"/>
            <a:ext cx="6143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367621" name="Rectangle 5">
            <a:extLst>
              <a:ext uri="{FF2B5EF4-FFF2-40B4-BE49-F238E27FC236}">
                <a16:creationId xmlns:a16="http://schemas.microsoft.com/office/drawing/2014/main" id="{ECF1D5C2-D29A-D1A9-26C8-01A75A52C248}"/>
              </a:ext>
            </a:extLst>
          </p:cNvPr>
          <p:cNvSpPr>
            <a:spLocks noChangeArrowheads="1"/>
          </p:cNvSpPr>
          <p:nvPr/>
        </p:nvSpPr>
        <p:spPr bwMode="auto">
          <a:xfrm>
            <a:off x="7339013" y="3810000"/>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49157" name="Rectangle 6">
            <a:extLst>
              <a:ext uri="{FF2B5EF4-FFF2-40B4-BE49-F238E27FC236}">
                <a16:creationId xmlns:a16="http://schemas.microsoft.com/office/drawing/2014/main" id="{9099A5B3-40D4-7965-367A-787A12383EE5}"/>
              </a:ext>
            </a:extLst>
          </p:cNvPr>
          <p:cNvSpPr>
            <a:spLocks noChangeArrowheads="1"/>
          </p:cNvSpPr>
          <p:nvPr/>
        </p:nvSpPr>
        <p:spPr bwMode="auto">
          <a:xfrm>
            <a:off x="6802438" y="38100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58" name="Rectangle 7">
            <a:extLst>
              <a:ext uri="{FF2B5EF4-FFF2-40B4-BE49-F238E27FC236}">
                <a16:creationId xmlns:a16="http://schemas.microsoft.com/office/drawing/2014/main" id="{1A7237B0-B125-4E6C-493E-D92DE0E4F3C9}"/>
              </a:ext>
            </a:extLst>
          </p:cNvPr>
          <p:cNvSpPr>
            <a:spLocks noChangeArrowheads="1"/>
          </p:cNvSpPr>
          <p:nvPr/>
        </p:nvSpPr>
        <p:spPr bwMode="auto">
          <a:xfrm>
            <a:off x="6265863" y="38100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367624" name="Rectangle 8">
            <a:extLst>
              <a:ext uri="{FF2B5EF4-FFF2-40B4-BE49-F238E27FC236}">
                <a16:creationId xmlns:a16="http://schemas.microsoft.com/office/drawing/2014/main" id="{B7DE020B-4D22-86C6-5AD4-EF285A71266B}"/>
              </a:ext>
            </a:extLst>
          </p:cNvPr>
          <p:cNvSpPr>
            <a:spLocks noChangeArrowheads="1"/>
          </p:cNvSpPr>
          <p:nvPr/>
        </p:nvSpPr>
        <p:spPr bwMode="auto">
          <a:xfrm>
            <a:off x="5727700" y="3810000"/>
            <a:ext cx="5381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49160" name="Rectangle 9">
            <a:extLst>
              <a:ext uri="{FF2B5EF4-FFF2-40B4-BE49-F238E27FC236}">
                <a16:creationId xmlns:a16="http://schemas.microsoft.com/office/drawing/2014/main" id="{F66F4A2D-D323-6139-929F-B0CEEBF5ACE1}"/>
              </a:ext>
            </a:extLst>
          </p:cNvPr>
          <p:cNvSpPr>
            <a:spLocks noChangeArrowheads="1"/>
          </p:cNvSpPr>
          <p:nvPr/>
        </p:nvSpPr>
        <p:spPr bwMode="auto">
          <a:xfrm>
            <a:off x="5191125" y="38100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367626" name="Rectangle 10">
            <a:extLst>
              <a:ext uri="{FF2B5EF4-FFF2-40B4-BE49-F238E27FC236}">
                <a16:creationId xmlns:a16="http://schemas.microsoft.com/office/drawing/2014/main" id="{ADCD4407-58AF-8415-49EF-245BE728362D}"/>
              </a:ext>
            </a:extLst>
          </p:cNvPr>
          <p:cNvSpPr>
            <a:spLocks noChangeArrowheads="1"/>
          </p:cNvSpPr>
          <p:nvPr/>
        </p:nvSpPr>
        <p:spPr bwMode="auto">
          <a:xfrm>
            <a:off x="4654550" y="38100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49162" name="Rectangle 11">
            <a:extLst>
              <a:ext uri="{FF2B5EF4-FFF2-40B4-BE49-F238E27FC236}">
                <a16:creationId xmlns:a16="http://schemas.microsoft.com/office/drawing/2014/main" id="{AB28ED97-14D0-1AE2-D8F2-C598558453A3}"/>
              </a:ext>
            </a:extLst>
          </p:cNvPr>
          <p:cNvSpPr>
            <a:spLocks noChangeArrowheads="1"/>
          </p:cNvSpPr>
          <p:nvPr/>
        </p:nvSpPr>
        <p:spPr bwMode="auto">
          <a:xfrm>
            <a:off x="4117975" y="38100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367628" name="Rectangle 12">
            <a:extLst>
              <a:ext uri="{FF2B5EF4-FFF2-40B4-BE49-F238E27FC236}">
                <a16:creationId xmlns:a16="http://schemas.microsoft.com/office/drawing/2014/main" id="{84F5823C-7734-DA41-D783-7CBFD8CD0BF4}"/>
              </a:ext>
            </a:extLst>
          </p:cNvPr>
          <p:cNvSpPr>
            <a:spLocks noChangeArrowheads="1"/>
          </p:cNvSpPr>
          <p:nvPr/>
        </p:nvSpPr>
        <p:spPr bwMode="auto">
          <a:xfrm>
            <a:off x="3581400" y="38100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49164" name="Rectangle 13">
            <a:extLst>
              <a:ext uri="{FF2B5EF4-FFF2-40B4-BE49-F238E27FC236}">
                <a16:creationId xmlns:a16="http://schemas.microsoft.com/office/drawing/2014/main" id="{2B1146AD-F345-0A90-4D44-42279578A3B3}"/>
              </a:ext>
            </a:extLst>
          </p:cNvPr>
          <p:cNvSpPr>
            <a:spLocks noChangeArrowheads="1"/>
          </p:cNvSpPr>
          <p:nvPr/>
        </p:nvSpPr>
        <p:spPr bwMode="auto">
          <a:xfrm>
            <a:off x="3044825" y="38100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9165" name="Rectangle 14">
            <a:extLst>
              <a:ext uri="{FF2B5EF4-FFF2-40B4-BE49-F238E27FC236}">
                <a16:creationId xmlns:a16="http://schemas.microsoft.com/office/drawing/2014/main" id="{2264BA53-6BD6-F285-8953-42B6F9F30643}"/>
              </a:ext>
            </a:extLst>
          </p:cNvPr>
          <p:cNvSpPr>
            <a:spLocks noChangeArrowheads="1"/>
          </p:cNvSpPr>
          <p:nvPr/>
        </p:nvSpPr>
        <p:spPr bwMode="auto">
          <a:xfrm>
            <a:off x="2508250" y="38100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9166" name="Rectangle 15">
            <a:extLst>
              <a:ext uri="{FF2B5EF4-FFF2-40B4-BE49-F238E27FC236}">
                <a16:creationId xmlns:a16="http://schemas.microsoft.com/office/drawing/2014/main" id="{6136E820-B7E1-6005-5BD5-38B551F6A035}"/>
              </a:ext>
            </a:extLst>
          </p:cNvPr>
          <p:cNvSpPr>
            <a:spLocks noChangeArrowheads="1"/>
          </p:cNvSpPr>
          <p:nvPr/>
        </p:nvSpPr>
        <p:spPr bwMode="auto">
          <a:xfrm>
            <a:off x="1865313" y="3810000"/>
            <a:ext cx="64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9167" name="Rectangle 16">
            <a:extLst>
              <a:ext uri="{FF2B5EF4-FFF2-40B4-BE49-F238E27FC236}">
                <a16:creationId xmlns:a16="http://schemas.microsoft.com/office/drawing/2014/main" id="{26720E9A-7843-3B23-B601-BBB93CCDD424}"/>
              </a:ext>
            </a:extLst>
          </p:cNvPr>
          <p:cNvSpPr>
            <a:spLocks noChangeArrowheads="1"/>
          </p:cNvSpPr>
          <p:nvPr/>
        </p:nvSpPr>
        <p:spPr bwMode="auto">
          <a:xfrm>
            <a:off x="863600" y="3810000"/>
            <a:ext cx="10017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块4</a:t>
            </a:r>
          </a:p>
        </p:txBody>
      </p:sp>
      <p:sp>
        <p:nvSpPr>
          <p:cNvPr id="49168" name="Rectangle 17">
            <a:extLst>
              <a:ext uri="{FF2B5EF4-FFF2-40B4-BE49-F238E27FC236}">
                <a16:creationId xmlns:a16="http://schemas.microsoft.com/office/drawing/2014/main" id="{B3374CB4-0B05-B318-78A5-6541A3121E42}"/>
              </a:ext>
            </a:extLst>
          </p:cNvPr>
          <p:cNvSpPr>
            <a:spLocks noChangeArrowheads="1"/>
          </p:cNvSpPr>
          <p:nvPr/>
        </p:nvSpPr>
        <p:spPr bwMode="auto">
          <a:xfrm>
            <a:off x="7869238" y="4327525"/>
            <a:ext cx="6143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49169" name="Rectangle 18">
            <a:extLst>
              <a:ext uri="{FF2B5EF4-FFF2-40B4-BE49-F238E27FC236}">
                <a16:creationId xmlns:a16="http://schemas.microsoft.com/office/drawing/2014/main" id="{45623EBA-D9F9-25D1-0A51-B4E60ADDF9C0}"/>
              </a:ext>
            </a:extLst>
          </p:cNvPr>
          <p:cNvSpPr>
            <a:spLocks noChangeArrowheads="1"/>
          </p:cNvSpPr>
          <p:nvPr/>
        </p:nvSpPr>
        <p:spPr bwMode="auto">
          <a:xfrm>
            <a:off x="7869238" y="3292475"/>
            <a:ext cx="6143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70" name="Rectangle 19">
            <a:extLst>
              <a:ext uri="{FF2B5EF4-FFF2-40B4-BE49-F238E27FC236}">
                <a16:creationId xmlns:a16="http://schemas.microsoft.com/office/drawing/2014/main" id="{BE6105EE-0AF5-1348-47F0-0118411D68C4}"/>
              </a:ext>
            </a:extLst>
          </p:cNvPr>
          <p:cNvSpPr>
            <a:spLocks noChangeArrowheads="1"/>
          </p:cNvSpPr>
          <p:nvPr/>
        </p:nvSpPr>
        <p:spPr bwMode="auto">
          <a:xfrm>
            <a:off x="7869238" y="2759075"/>
            <a:ext cx="6143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71" name="Rectangle 20">
            <a:extLst>
              <a:ext uri="{FF2B5EF4-FFF2-40B4-BE49-F238E27FC236}">
                <a16:creationId xmlns:a16="http://schemas.microsoft.com/office/drawing/2014/main" id="{6E7DF162-6ABE-B4F3-8CDB-4C84B1CBF5FA}"/>
              </a:ext>
            </a:extLst>
          </p:cNvPr>
          <p:cNvSpPr>
            <a:spLocks noChangeArrowheads="1"/>
          </p:cNvSpPr>
          <p:nvPr/>
        </p:nvSpPr>
        <p:spPr bwMode="auto">
          <a:xfrm>
            <a:off x="7869238" y="2179638"/>
            <a:ext cx="6143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72" name="Rectangle 21">
            <a:extLst>
              <a:ext uri="{FF2B5EF4-FFF2-40B4-BE49-F238E27FC236}">
                <a16:creationId xmlns:a16="http://schemas.microsoft.com/office/drawing/2014/main" id="{2F1662BA-1445-E575-DB43-94B398E97C90}"/>
              </a:ext>
            </a:extLst>
          </p:cNvPr>
          <p:cNvSpPr>
            <a:spLocks noChangeArrowheads="1"/>
          </p:cNvSpPr>
          <p:nvPr/>
        </p:nvSpPr>
        <p:spPr bwMode="auto">
          <a:xfrm>
            <a:off x="7869238" y="1341438"/>
            <a:ext cx="6143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67638" name="Rectangle 22">
            <a:extLst>
              <a:ext uri="{FF2B5EF4-FFF2-40B4-BE49-F238E27FC236}">
                <a16:creationId xmlns:a16="http://schemas.microsoft.com/office/drawing/2014/main" id="{B2FBD4C2-33E1-E870-A11E-7D54D84E3F62}"/>
              </a:ext>
            </a:extLst>
          </p:cNvPr>
          <p:cNvSpPr>
            <a:spLocks noChangeArrowheads="1"/>
          </p:cNvSpPr>
          <p:nvPr/>
        </p:nvSpPr>
        <p:spPr bwMode="auto">
          <a:xfrm>
            <a:off x="7339013" y="4327525"/>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7639" name="Rectangle 23">
            <a:extLst>
              <a:ext uri="{FF2B5EF4-FFF2-40B4-BE49-F238E27FC236}">
                <a16:creationId xmlns:a16="http://schemas.microsoft.com/office/drawing/2014/main" id="{67E13F43-F202-5AE8-DF71-B7AB9B54AFB4}"/>
              </a:ext>
            </a:extLst>
          </p:cNvPr>
          <p:cNvSpPr>
            <a:spLocks noChangeArrowheads="1"/>
          </p:cNvSpPr>
          <p:nvPr/>
        </p:nvSpPr>
        <p:spPr bwMode="auto">
          <a:xfrm>
            <a:off x="7339013" y="3292475"/>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7640" name="Rectangle 24">
            <a:extLst>
              <a:ext uri="{FF2B5EF4-FFF2-40B4-BE49-F238E27FC236}">
                <a16:creationId xmlns:a16="http://schemas.microsoft.com/office/drawing/2014/main" id="{037ADE7A-5488-4AA1-53FD-4DFAC54655E3}"/>
              </a:ext>
            </a:extLst>
          </p:cNvPr>
          <p:cNvSpPr>
            <a:spLocks noChangeArrowheads="1"/>
          </p:cNvSpPr>
          <p:nvPr/>
        </p:nvSpPr>
        <p:spPr bwMode="auto">
          <a:xfrm>
            <a:off x="7339013" y="2759075"/>
            <a:ext cx="5302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367641" name="Rectangle 25">
            <a:extLst>
              <a:ext uri="{FF2B5EF4-FFF2-40B4-BE49-F238E27FC236}">
                <a16:creationId xmlns:a16="http://schemas.microsoft.com/office/drawing/2014/main" id="{A6717C0A-BB41-7A15-0149-E67FBD0A9167}"/>
              </a:ext>
            </a:extLst>
          </p:cNvPr>
          <p:cNvSpPr>
            <a:spLocks noChangeArrowheads="1"/>
          </p:cNvSpPr>
          <p:nvPr/>
        </p:nvSpPr>
        <p:spPr bwMode="auto">
          <a:xfrm>
            <a:off x="7339013" y="2179638"/>
            <a:ext cx="5302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49177" name="Rectangle 26">
            <a:extLst>
              <a:ext uri="{FF2B5EF4-FFF2-40B4-BE49-F238E27FC236}">
                <a16:creationId xmlns:a16="http://schemas.microsoft.com/office/drawing/2014/main" id="{2B12B4B6-F6CD-3159-E690-DD5A7B37C659}"/>
              </a:ext>
            </a:extLst>
          </p:cNvPr>
          <p:cNvSpPr>
            <a:spLocks noChangeArrowheads="1"/>
          </p:cNvSpPr>
          <p:nvPr/>
        </p:nvSpPr>
        <p:spPr bwMode="auto">
          <a:xfrm>
            <a:off x="7339013" y="1341438"/>
            <a:ext cx="5302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49178" name="Rectangle 27">
            <a:extLst>
              <a:ext uri="{FF2B5EF4-FFF2-40B4-BE49-F238E27FC236}">
                <a16:creationId xmlns:a16="http://schemas.microsoft.com/office/drawing/2014/main" id="{6DC768F2-8C95-9E4C-1A4E-1D6E7D33C6F0}"/>
              </a:ext>
            </a:extLst>
          </p:cNvPr>
          <p:cNvSpPr>
            <a:spLocks noChangeArrowheads="1"/>
          </p:cNvSpPr>
          <p:nvPr/>
        </p:nvSpPr>
        <p:spPr bwMode="auto">
          <a:xfrm>
            <a:off x="6802438" y="43275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49179" name="Rectangle 28">
            <a:extLst>
              <a:ext uri="{FF2B5EF4-FFF2-40B4-BE49-F238E27FC236}">
                <a16:creationId xmlns:a16="http://schemas.microsoft.com/office/drawing/2014/main" id="{563528C6-E384-1954-0BB0-EE78AB455152}"/>
              </a:ext>
            </a:extLst>
          </p:cNvPr>
          <p:cNvSpPr>
            <a:spLocks noChangeArrowheads="1"/>
          </p:cNvSpPr>
          <p:nvPr/>
        </p:nvSpPr>
        <p:spPr bwMode="auto">
          <a:xfrm>
            <a:off x="6802438" y="32924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80" name="Rectangle 29">
            <a:extLst>
              <a:ext uri="{FF2B5EF4-FFF2-40B4-BE49-F238E27FC236}">
                <a16:creationId xmlns:a16="http://schemas.microsoft.com/office/drawing/2014/main" id="{DCB50D23-79EF-F6F3-99BC-1A405A759576}"/>
              </a:ext>
            </a:extLst>
          </p:cNvPr>
          <p:cNvSpPr>
            <a:spLocks noChangeArrowheads="1"/>
          </p:cNvSpPr>
          <p:nvPr/>
        </p:nvSpPr>
        <p:spPr bwMode="auto">
          <a:xfrm>
            <a:off x="6802438" y="2759075"/>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81" name="Rectangle 30">
            <a:extLst>
              <a:ext uri="{FF2B5EF4-FFF2-40B4-BE49-F238E27FC236}">
                <a16:creationId xmlns:a16="http://schemas.microsoft.com/office/drawing/2014/main" id="{441AA7A9-5F02-E791-FEDE-14E69156CC2A}"/>
              </a:ext>
            </a:extLst>
          </p:cNvPr>
          <p:cNvSpPr>
            <a:spLocks noChangeArrowheads="1"/>
          </p:cNvSpPr>
          <p:nvPr/>
        </p:nvSpPr>
        <p:spPr bwMode="auto">
          <a:xfrm>
            <a:off x="6802438" y="2179638"/>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82" name="Rectangle 31">
            <a:extLst>
              <a:ext uri="{FF2B5EF4-FFF2-40B4-BE49-F238E27FC236}">
                <a16:creationId xmlns:a16="http://schemas.microsoft.com/office/drawing/2014/main" id="{745DA3D0-D1A7-FC1D-092D-2B874ED47FCC}"/>
              </a:ext>
            </a:extLst>
          </p:cNvPr>
          <p:cNvSpPr>
            <a:spLocks noChangeArrowheads="1"/>
          </p:cNvSpPr>
          <p:nvPr/>
        </p:nvSpPr>
        <p:spPr bwMode="auto">
          <a:xfrm>
            <a:off x="6802438" y="1341438"/>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49183" name="Rectangle 32">
            <a:extLst>
              <a:ext uri="{FF2B5EF4-FFF2-40B4-BE49-F238E27FC236}">
                <a16:creationId xmlns:a16="http://schemas.microsoft.com/office/drawing/2014/main" id="{F3F2B6D9-4302-8B4A-D780-5420B52E3FB7}"/>
              </a:ext>
            </a:extLst>
          </p:cNvPr>
          <p:cNvSpPr>
            <a:spLocks noChangeArrowheads="1"/>
          </p:cNvSpPr>
          <p:nvPr/>
        </p:nvSpPr>
        <p:spPr bwMode="auto">
          <a:xfrm>
            <a:off x="6265863" y="43275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49184" name="Rectangle 33">
            <a:extLst>
              <a:ext uri="{FF2B5EF4-FFF2-40B4-BE49-F238E27FC236}">
                <a16:creationId xmlns:a16="http://schemas.microsoft.com/office/drawing/2014/main" id="{A5D15EBC-A372-C50F-7217-5A4FF2B02315}"/>
              </a:ext>
            </a:extLst>
          </p:cNvPr>
          <p:cNvSpPr>
            <a:spLocks noChangeArrowheads="1"/>
          </p:cNvSpPr>
          <p:nvPr/>
        </p:nvSpPr>
        <p:spPr bwMode="auto">
          <a:xfrm>
            <a:off x="6265863" y="32924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85" name="Rectangle 34">
            <a:extLst>
              <a:ext uri="{FF2B5EF4-FFF2-40B4-BE49-F238E27FC236}">
                <a16:creationId xmlns:a16="http://schemas.microsoft.com/office/drawing/2014/main" id="{4911D2F4-6A21-EA05-B18A-88DD6A5057E9}"/>
              </a:ext>
            </a:extLst>
          </p:cNvPr>
          <p:cNvSpPr>
            <a:spLocks noChangeArrowheads="1"/>
          </p:cNvSpPr>
          <p:nvPr/>
        </p:nvSpPr>
        <p:spPr bwMode="auto">
          <a:xfrm>
            <a:off x="6265863" y="2759075"/>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86" name="Rectangle 35">
            <a:extLst>
              <a:ext uri="{FF2B5EF4-FFF2-40B4-BE49-F238E27FC236}">
                <a16:creationId xmlns:a16="http://schemas.microsoft.com/office/drawing/2014/main" id="{D94E585A-C1FA-A1EA-8EF4-4CFD48F24280}"/>
              </a:ext>
            </a:extLst>
          </p:cNvPr>
          <p:cNvSpPr>
            <a:spLocks noChangeArrowheads="1"/>
          </p:cNvSpPr>
          <p:nvPr/>
        </p:nvSpPr>
        <p:spPr bwMode="auto">
          <a:xfrm>
            <a:off x="6265863" y="2179638"/>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87" name="Rectangle 36">
            <a:extLst>
              <a:ext uri="{FF2B5EF4-FFF2-40B4-BE49-F238E27FC236}">
                <a16:creationId xmlns:a16="http://schemas.microsoft.com/office/drawing/2014/main" id="{6090D4F9-BCFB-B444-A7E0-4110F7448743}"/>
              </a:ext>
            </a:extLst>
          </p:cNvPr>
          <p:cNvSpPr>
            <a:spLocks noChangeArrowheads="1"/>
          </p:cNvSpPr>
          <p:nvPr/>
        </p:nvSpPr>
        <p:spPr bwMode="auto">
          <a:xfrm>
            <a:off x="6265863" y="1341438"/>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7653" name="Rectangle 37">
            <a:extLst>
              <a:ext uri="{FF2B5EF4-FFF2-40B4-BE49-F238E27FC236}">
                <a16:creationId xmlns:a16="http://schemas.microsoft.com/office/drawing/2014/main" id="{3C6667EA-75B1-6240-8D78-D9257A40C943}"/>
              </a:ext>
            </a:extLst>
          </p:cNvPr>
          <p:cNvSpPr>
            <a:spLocks noChangeArrowheads="1"/>
          </p:cNvSpPr>
          <p:nvPr/>
        </p:nvSpPr>
        <p:spPr bwMode="auto">
          <a:xfrm>
            <a:off x="5727700" y="4327525"/>
            <a:ext cx="5381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7654" name="Rectangle 38">
            <a:extLst>
              <a:ext uri="{FF2B5EF4-FFF2-40B4-BE49-F238E27FC236}">
                <a16:creationId xmlns:a16="http://schemas.microsoft.com/office/drawing/2014/main" id="{81127B69-1F01-9927-0D34-B3D4423E16F8}"/>
              </a:ext>
            </a:extLst>
          </p:cNvPr>
          <p:cNvSpPr>
            <a:spLocks noChangeArrowheads="1"/>
          </p:cNvSpPr>
          <p:nvPr/>
        </p:nvSpPr>
        <p:spPr bwMode="auto">
          <a:xfrm>
            <a:off x="5727700" y="3292475"/>
            <a:ext cx="5381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7655" name="Rectangle 39">
            <a:extLst>
              <a:ext uri="{FF2B5EF4-FFF2-40B4-BE49-F238E27FC236}">
                <a16:creationId xmlns:a16="http://schemas.microsoft.com/office/drawing/2014/main" id="{C211557E-2BDB-8FC0-D9D5-14C27725FF9B}"/>
              </a:ext>
            </a:extLst>
          </p:cNvPr>
          <p:cNvSpPr>
            <a:spLocks noChangeArrowheads="1"/>
          </p:cNvSpPr>
          <p:nvPr/>
        </p:nvSpPr>
        <p:spPr bwMode="auto">
          <a:xfrm>
            <a:off x="5727700" y="2759075"/>
            <a:ext cx="5381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367656" name="Rectangle 40">
            <a:extLst>
              <a:ext uri="{FF2B5EF4-FFF2-40B4-BE49-F238E27FC236}">
                <a16:creationId xmlns:a16="http://schemas.microsoft.com/office/drawing/2014/main" id="{C6A19C06-6154-05F6-208C-F36955920349}"/>
              </a:ext>
            </a:extLst>
          </p:cNvPr>
          <p:cNvSpPr>
            <a:spLocks noChangeArrowheads="1"/>
          </p:cNvSpPr>
          <p:nvPr/>
        </p:nvSpPr>
        <p:spPr bwMode="auto">
          <a:xfrm>
            <a:off x="5727700" y="2179638"/>
            <a:ext cx="538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49192" name="Rectangle 41">
            <a:extLst>
              <a:ext uri="{FF2B5EF4-FFF2-40B4-BE49-F238E27FC236}">
                <a16:creationId xmlns:a16="http://schemas.microsoft.com/office/drawing/2014/main" id="{5761F359-939F-3311-351D-A545D77BE53C}"/>
              </a:ext>
            </a:extLst>
          </p:cNvPr>
          <p:cNvSpPr>
            <a:spLocks noChangeArrowheads="1"/>
          </p:cNvSpPr>
          <p:nvPr/>
        </p:nvSpPr>
        <p:spPr bwMode="auto">
          <a:xfrm>
            <a:off x="5727700" y="1341438"/>
            <a:ext cx="53816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49193" name="Rectangle 42">
            <a:extLst>
              <a:ext uri="{FF2B5EF4-FFF2-40B4-BE49-F238E27FC236}">
                <a16:creationId xmlns:a16="http://schemas.microsoft.com/office/drawing/2014/main" id="{795154FC-3E28-A86C-0A2B-A36B853B5FD3}"/>
              </a:ext>
            </a:extLst>
          </p:cNvPr>
          <p:cNvSpPr>
            <a:spLocks noChangeArrowheads="1"/>
          </p:cNvSpPr>
          <p:nvPr/>
        </p:nvSpPr>
        <p:spPr bwMode="auto">
          <a:xfrm>
            <a:off x="5191125" y="43275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49194" name="Rectangle 43">
            <a:extLst>
              <a:ext uri="{FF2B5EF4-FFF2-40B4-BE49-F238E27FC236}">
                <a16:creationId xmlns:a16="http://schemas.microsoft.com/office/drawing/2014/main" id="{6C9748AB-2674-C92C-EC9E-4E8972A7F7B3}"/>
              </a:ext>
            </a:extLst>
          </p:cNvPr>
          <p:cNvSpPr>
            <a:spLocks noChangeArrowheads="1"/>
          </p:cNvSpPr>
          <p:nvPr/>
        </p:nvSpPr>
        <p:spPr bwMode="auto">
          <a:xfrm>
            <a:off x="5191125" y="32924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95" name="Rectangle 44">
            <a:extLst>
              <a:ext uri="{FF2B5EF4-FFF2-40B4-BE49-F238E27FC236}">
                <a16:creationId xmlns:a16="http://schemas.microsoft.com/office/drawing/2014/main" id="{C8E3D18B-F86B-C025-30C9-0CB7FA710995}"/>
              </a:ext>
            </a:extLst>
          </p:cNvPr>
          <p:cNvSpPr>
            <a:spLocks noChangeArrowheads="1"/>
          </p:cNvSpPr>
          <p:nvPr/>
        </p:nvSpPr>
        <p:spPr bwMode="auto">
          <a:xfrm>
            <a:off x="5191125" y="2759075"/>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96" name="Rectangle 45">
            <a:extLst>
              <a:ext uri="{FF2B5EF4-FFF2-40B4-BE49-F238E27FC236}">
                <a16:creationId xmlns:a16="http://schemas.microsoft.com/office/drawing/2014/main" id="{A5F7057D-DCB8-CB27-754B-90F1B12F3F4E}"/>
              </a:ext>
            </a:extLst>
          </p:cNvPr>
          <p:cNvSpPr>
            <a:spLocks noChangeArrowheads="1"/>
          </p:cNvSpPr>
          <p:nvPr/>
        </p:nvSpPr>
        <p:spPr bwMode="auto">
          <a:xfrm>
            <a:off x="5191125" y="2179638"/>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197" name="Rectangle 46">
            <a:extLst>
              <a:ext uri="{FF2B5EF4-FFF2-40B4-BE49-F238E27FC236}">
                <a16:creationId xmlns:a16="http://schemas.microsoft.com/office/drawing/2014/main" id="{7C4AF002-85B8-4194-B8DE-0C304BE0C728}"/>
              </a:ext>
            </a:extLst>
          </p:cNvPr>
          <p:cNvSpPr>
            <a:spLocks noChangeArrowheads="1"/>
          </p:cNvSpPr>
          <p:nvPr/>
        </p:nvSpPr>
        <p:spPr bwMode="auto">
          <a:xfrm>
            <a:off x="5191125" y="1341438"/>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7663" name="Rectangle 47">
            <a:extLst>
              <a:ext uri="{FF2B5EF4-FFF2-40B4-BE49-F238E27FC236}">
                <a16:creationId xmlns:a16="http://schemas.microsoft.com/office/drawing/2014/main" id="{DE243AA4-9B70-3503-4152-A396E3B0787F}"/>
              </a:ext>
            </a:extLst>
          </p:cNvPr>
          <p:cNvSpPr>
            <a:spLocks noChangeArrowheads="1"/>
          </p:cNvSpPr>
          <p:nvPr/>
        </p:nvSpPr>
        <p:spPr bwMode="auto">
          <a:xfrm>
            <a:off x="4654550" y="43275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7664" name="Rectangle 48">
            <a:extLst>
              <a:ext uri="{FF2B5EF4-FFF2-40B4-BE49-F238E27FC236}">
                <a16:creationId xmlns:a16="http://schemas.microsoft.com/office/drawing/2014/main" id="{B2C4F9D0-789B-97A4-8543-857956B6C38F}"/>
              </a:ext>
            </a:extLst>
          </p:cNvPr>
          <p:cNvSpPr>
            <a:spLocks noChangeArrowheads="1"/>
          </p:cNvSpPr>
          <p:nvPr/>
        </p:nvSpPr>
        <p:spPr bwMode="auto">
          <a:xfrm>
            <a:off x="4654550" y="32924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7665" name="Rectangle 49">
            <a:extLst>
              <a:ext uri="{FF2B5EF4-FFF2-40B4-BE49-F238E27FC236}">
                <a16:creationId xmlns:a16="http://schemas.microsoft.com/office/drawing/2014/main" id="{DCE61991-7F5A-D64D-E8B7-25A1AEC00810}"/>
              </a:ext>
            </a:extLst>
          </p:cNvPr>
          <p:cNvSpPr>
            <a:spLocks noChangeArrowheads="1"/>
          </p:cNvSpPr>
          <p:nvPr/>
        </p:nvSpPr>
        <p:spPr bwMode="auto">
          <a:xfrm>
            <a:off x="4654550" y="2759075"/>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7666" name="Rectangle 50">
            <a:extLst>
              <a:ext uri="{FF2B5EF4-FFF2-40B4-BE49-F238E27FC236}">
                <a16:creationId xmlns:a16="http://schemas.microsoft.com/office/drawing/2014/main" id="{F5A64FDE-D4C2-FF34-AE47-796ACF876CD1}"/>
              </a:ext>
            </a:extLst>
          </p:cNvPr>
          <p:cNvSpPr>
            <a:spLocks noChangeArrowheads="1"/>
          </p:cNvSpPr>
          <p:nvPr/>
        </p:nvSpPr>
        <p:spPr bwMode="auto">
          <a:xfrm>
            <a:off x="4654550" y="2179638"/>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49202" name="Rectangle 51">
            <a:extLst>
              <a:ext uri="{FF2B5EF4-FFF2-40B4-BE49-F238E27FC236}">
                <a16:creationId xmlns:a16="http://schemas.microsoft.com/office/drawing/2014/main" id="{65D88370-2048-8543-1FF1-C5E7C07FCFFA}"/>
              </a:ext>
            </a:extLst>
          </p:cNvPr>
          <p:cNvSpPr>
            <a:spLocks noChangeArrowheads="1"/>
          </p:cNvSpPr>
          <p:nvPr/>
        </p:nvSpPr>
        <p:spPr bwMode="auto">
          <a:xfrm>
            <a:off x="4654550" y="1341438"/>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49203" name="Rectangle 52">
            <a:extLst>
              <a:ext uri="{FF2B5EF4-FFF2-40B4-BE49-F238E27FC236}">
                <a16:creationId xmlns:a16="http://schemas.microsoft.com/office/drawing/2014/main" id="{3AB34B12-0203-D305-BADB-53842B165E09}"/>
              </a:ext>
            </a:extLst>
          </p:cNvPr>
          <p:cNvSpPr>
            <a:spLocks noChangeArrowheads="1"/>
          </p:cNvSpPr>
          <p:nvPr/>
        </p:nvSpPr>
        <p:spPr bwMode="auto">
          <a:xfrm>
            <a:off x="4117975" y="43275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49204" name="Rectangle 53">
            <a:extLst>
              <a:ext uri="{FF2B5EF4-FFF2-40B4-BE49-F238E27FC236}">
                <a16:creationId xmlns:a16="http://schemas.microsoft.com/office/drawing/2014/main" id="{E9293424-EF54-6A04-8CB6-882F7E2F17C1}"/>
              </a:ext>
            </a:extLst>
          </p:cNvPr>
          <p:cNvSpPr>
            <a:spLocks noChangeArrowheads="1"/>
          </p:cNvSpPr>
          <p:nvPr/>
        </p:nvSpPr>
        <p:spPr bwMode="auto">
          <a:xfrm>
            <a:off x="4117975" y="32924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9205" name="Rectangle 54">
            <a:extLst>
              <a:ext uri="{FF2B5EF4-FFF2-40B4-BE49-F238E27FC236}">
                <a16:creationId xmlns:a16="http://schemas.microsoft.com/office/drawing/2014/main" id="{25D77BA0-123F-DDD3-3C9B-566CF30F38A2}"/>
              </a:ext>
            </a:extLst>
          </p:cNvPr>
          <p:cNvSpPr>
            <a:spLocks noChangeArrowheads="1"/>
          </p:cNvSpPr>
          <p:nvPr/>
        </p:nvSpPr>
        <p:spPr bwMode="auto">
          <a:xfrm>
            <a:off x="4117975" y="2759075"/>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9206" name="Rectangle 55">
            <a:extLst>
              <a:ext uri="{FF2B5EF4-FFF2-40B4-BE49-F238E27FC236}">
                <a16:creationId xmlns:a16="http://schemas.microsoft.com/office/drawing/2014/main" id="{0E672C9E-17B1-7130-445A-81B5276D04D7}"/>
              </a:ext>
            </a:extLst>
          </p:cNvPr>
          <p:cNvSpPr>
            <a:spLocks noChangeArrowheads="1"/>
          </p:cNvSpPr>
          <p:nvPr/>
        </p:nvSpPr>
        <p:spPr bwMode="auto">
          <a:xfrm>
            <a:off x="4117975" y="2179638"/>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49207" name="Rectangle 56">
            <a:extLst>
              <a:ext uri="{FF2B5EF4-FFF2-40B4-BE49-F238E27FC236}">
                <a16:creationId xmlns:a16="http://schemas.microsoft.com/office/drawing/2014/main" id="{0864F602-B333-157B-3BD9-84BC6FE72C57}"/>
              </a:ext>
            </a:extLst>
          </p:cNvPr>
          <p:cNvSpPr>
            <a:spLocks noChangeArrowheads="1"/>
          </p:cNvSpPr>
          <p:nvPr/>
        </p:nvSpPr>
        <p:spPr bwMode="auto">
          <a:xfrm>
            <a:off x="4117975" y="1341438"/>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7673" name="Rectangle 57">
            <a:extLst>
              <a:ext uri="{FF2B5EF4-FFF2-40B4-BE49-F238E27FC236}">
                <a16:creationId xmlns:a16="http://schemas.microsoft.com/office/drawing/2014/main" id="{44C907C9-A55B-883E-43DC-CED46CF780BA}"/>
              </a:ext>
            </a:extLst>
          </p:cNvPr>
          <p:cNvSpPr>
            <a:spLocks noChangeArrowheads="1"/>
          </p:cNvSpPr>
          <p:nvPr/>
        </p:nvSpPr>
        <p:spPr bwMode="auto">
          <a:xfrm>
            <a:off x="3581400" y="43275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7674" name="Rectangle 58">
            <a:extLst>
              <a:ext uri="{FF2B5EF4-FFF2-40B4-BE49-F238E27FC236}">
                <a16:creationId xmlns:a16="http://schemas.microsoft.com/office/drawing/2014/main" id="{EC052196-C42F-1C53-9C07-E92B1DF73C45}"/>
              </a:ext>
            </a:extLst>
          </p:cNvPr>
          <p:cNvSpPr>
            <a:spLocks noChangeArrowheads="1"/>
          </p:cNvSpPr>
          <p:nvPr/>
        </p:nvSpPr>
        <p:spPr bwMode="auto">
          <a:xfrm>
            <a:off x="3581400" y="32924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7675" name="Rectangle 59">
            <a:extLst>
              <a:ext uri="{FF2B5EF4-FFF2-40B4-BE49-F238E27FC236}">
                <a16:creationId xmlns:a16="http://schemas.microsoft.com/office/drawing/2014/main" id="{1EDD1795-0450-8E7B-C147-258ED4956D56}"/>
              </a:ext>
            </a:extLst>
          </p:cNvPr>
          <p:cNvSpPr>
            <a:spLocks noChangeArrowheads="1"/>
          </p:cNvSpPr>
          <p:nvPr/>
        </p:nvSpPr>
        <p:spPr bwMode="auto">
          <a:xfrm>
            <a:off x="3581400" y="2759075"/>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7676" name="Rectangle 60">
            <a:extLst>
              <a:ext uri="{FF2B5EF4-FFF2-40B4-BE49-F238E27FC236}">
                <a16:creationId xmlns:a16="http://schemas.microsoft.com/office/drawing/2014/main" id="{99C5CF83-5005-BEC3-590D-FD5B11252689}"/>
              </a:ext>
            </a:extLst>
          </p:cNvPr>
          <p:cNvSpPr>
            <a:spLocks noChangeArrowheads="1"/>
          </p:cNvSpPr>
          <p:nvPr/>
        </p:nvSpPr>
        <p:spPr bwMode="auto">
          <a:xfrm>
            <a:off x="3581400" y="2179638"/>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7</a:t>
            </a:r>
          </a:p>
        </p:txBody>
      </p:sp>
      <p:sp>
        <p:nvSpPr>
          <p:cNvPr id="49212" name="Rectangle 61">
            <a:extLst>
              <a:ext uri="{FF2B5EF4-FFF2-40B4-BE49-F238E27FC236}">
                <a16:creationId xmlns:a16="http://schemas.microsoft.com/office/drawing/2014/main" id="{B66E3112-7099-D593-4BA0-89B34667C96F}"/>
              </a:ext>
            </a:extLst>
          </p:cNvPr>
          <p:cNvSpPr>
            <a:spLocks noChangeArrowheads="1"/>
          </p:cNvSpPr>
          <p:nvPr/>
        </p:nvSpPr>
        <p:spPr bwMode="auto">
          <a:xfrm>
            <a:off x="3581400" y="1341438"/>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67678" name="Rectangle 62">
            <a:extLst>
              <a:ext uri="{FF2B5EF4-FFF2-40B4-BE49-F238E27FC236}">
                <a16:creationId xmlns:a16="http://schemas.microsoft.com/office/drawing/2014/main" id="{42FF0D56-5E0F-5DB2-6694-E6571F177A8D}"/>
              </a:ext>
            </a:extLst>
          </p:cNvPr>
          <p:cNvSpPr>
            <a:spLocks noChangeArrowheads="1"/>
          </p:cNvSpPr>
          <p:nvPr/>
        </p:nvSpPr>
        <p:spPr bwMode="auto">
          <a:xfrm>
            <a:off x="3044825" y="43275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367679" name="Rectangle 63">
            <a:extLst>
              <a:ext uri="{FF2B5EF4-FFF2-40B4-BE49-F238E27FC236}">
                <a16:creationId xmlns:a16="http://schemas.microsoft.com/office/drawing/2014/main" id="{854FB156-D440-A51E-CCB6-D6DF8122C0DF}"/>
              </a:ext>
            </a:extLst>
          </p:cNvPr>
          <p:cNvSpPr>
            <a:spLocks noChangeArrowheads="1"/>
          </p:cNvSpPr>
          <p:nvPr/>
        </p:nvSpPr>
        <p:spPr bwMode="auto">
          <a:xfrm>
            <a:off x="3044825" y="32924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7680" name="Rectangle 64">
            <a:extLst>
              <a:ext uri="{FF2B5EF4-FFF2-40B4-BE49-F238E27FC236}">
                <a16:creationId xmlns:a16="http://schemas.microsoft.com/office/drawing/2014/main" id="{14E6DC6B-6192-26AD-43EE-FD77C387E89E}"/>
              </a:ext>
            </a:extLst>
          </p:cNvPr>
          <p:cNvSpPr>
            <a:spLocks noChangeArrowheads="1"/>
          </p:cNvSpPr>
          <p:nvPr/>
        </p:nvSpPr>
        <p:spPr bwMode="auto">
          <a:xfrm>
            <a:off x="3044825" y="2759075"/>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7681" name="Rectangle 65">
            <a:extLst>
              <a:ext uri="{FF2B5EF4-FFF2-40B4-BE49-F238E27FC236}">
                <a16:creationId xmlns:a16="http://schemas.microsoft.com/office/drawing/2014/main" id="{F75EE766-36FE-6AB0-FE5D-CAE645783686}"/>
              </a:ext>
            </a:extLst>
          </p:cNvPr>
          <p:cNvSpPr>
            <a:spLocks noChangeArrowheads="1"/>
          </p:cNvSpPr>
          <p:nvPr/>
        </p:nvSpPr>
        <p:spPr bwMode="auto">
          <a:xfrm>
            <a:off x="3044825" y="2179638"/>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7</a:t>
            </a:r>
          </a:p>
        </p:txBody>
      </p:sp>
      <p:sp>
        <p:nvSpPr>
          <p:cNvPr id="49217" name="Rectangle 66">
            <a:extLst>
              <a:ext uri="{FF2B5EF4-FFF2-40B4-BE49-F238E27FC236}">
                <a16:creationId xmlns:a16="http://schemas.microsoft.com/office/drawing/2014/main" id="{B1B5E933-9C58-123D-2A7E-FA09F7019FDA}"/>
              </a:ext>
            </a:extLst>
          </p:cNvPr>
          <p:cNvSpPr>
            <a:spLocks noChangeArrowheads="1"/>
          </p:cNvSpPr>
          <p:nvPr/>
        </p:nvSpPr>
        <p:spPr bwMode="auto">
          <a:xfrm>
            <a:off x="3044825" y="1341438"/>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67683" name="Rectangle 67">
            <a:extLst>
              <a:ext uri="{FF2B5EF4-FFF2-40B4-BE49-F238E27FC236}">
                <a16:creationId xmlns:a16="http://schemas.microsoft.com/office/drawing/2014/main" id="{D43D7FD4-5E6F-5B86-DAA6-76F358E83E9C}"/>
              </a:ext>
            </a:extLst>
          </p:cNvPr>
          <p:cNvSpPr>
            <a:spLocks noChangeArrowheads="1"/>
          </p:cNvSpPr>
          <p:nvPr/>
        </p:nvSpPr>
        <p:spPr bwMode="auto">
          <a:xfrm>
            <a:off x="2508250" y="43275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49219" name="Rectangle 68">
            <a:extLst>
              <a:ext uri="{FF2B5EF4-FFF2-40B4-BE49-F238E27FC236}">
                <a16:creationId xmlns:a16="http://schemas.microsoft.com/office/drawing/2014/main" id="{8BA4961F-51C4-A4A0-6781-53671AED8F3A}"/>
              </a:ext>
            </a:extLst>
          </p:cNvPr>
          <p:cNvSpPr>
            <a:spLocks noChangeArrowheads="1"/>
          </p:cNvSpPr>
          <p:nvPr/>
        </p:nvSpPr>
        <p:spPr bwMode="auto">
          <a:xfrm>
            <a:off x="2508250" y="32924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367685" name="Rectangle 69">
            <a:extLst>
              <a:ext uri="{FF2B5EF4-FFF2-40B4-BE49-F238E27FC236}">
                <a16:creationId xmlns:a16="http://schemas.microsoft.com/office/drawing/2014/main" id="{DB9F3BE7-91FB-F5AD-4CA0-ACE2CF4B8826}"/>
              </a:ext>
            </a:extLst>
          </p:cNvPr>
          <p:cNvSpPr>
            <a:spLocks noChangeArrowheads="1"/>
          </p:cNvSpPr>
          <p:nvPr/>
        </p:nvSpPr>
        <p:spPr bwMode="auto">
          <a:xfrm>
            <a:off x="2508250" y="2759075"/>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7686" name="Rectangle 70">
            <a:extLst>
              <a:ext uri="{FF2B5EF4-FFF2-40B4-BE49-F238E27FC236}">
                <a16:creationId xmlns:a16="http://schemas.microsoft.com/office/drawing/2014/main" id="{5657C9D3-7F59-C341-7577-EA7BD085019F}"/>
              </a:ext>
            </a:extLst>
          </p:cNvPr>
          <p:cNvSpPr>
            <a:spLocks noChangeArrowheads="1"/>
          </p:cNvSpPr>
          <p:nvPr/>
        </p:nvSpPr>
        <p:spPr bwMode="auto">
          <a:xfrm>
            <a:off x="2508250" y="2179638"/>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7</a:t>
            </a:r>
          </a:p>
        </p:txBody>
      </p:sp>
      <p:sp>
        <p:nvSpPr>
          <p:cNvPr id="49222" name="Rectangle 71">
            <a:extLst>
              <a:ext uri="{FF2B5EF4-FFF2-40B4-BE49-F238E27FC236}">
                <a16:creationId xmlns:a16="http://schemas.microsoft.com/office/drawing/2014/main" id="{725666A9-2285-EF31-3A7C-AE54AF61D434}"/>
              </a:ext>
            </a:extLst>
          </p:cNvPr>
          <p:cNvSpPr>
            <a:spLocks noChangeArrowheads="1"/>
          </p:cNvSpPr>
          <p:nvPr/>
        </p:nvSpPr>
        <p:spPr bwMode="auto">
          <a:xfrm>
            <a:off x="2508250" y="1341438"/>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67688" name="Rectangle 72">
            <a:extLst>
              <a:ext uri="{FF2B5EF4-FFF2-40B4-BE49-F238E27FC236}">
                <a16:creationId xmlns:a16="http://schemas.microsoft.com/office/drawing/2014/main" id="{149573DF-E60C-8DC7-9EE9-87799539DE6E}"/>
              </a:ext>
            </a:extLst>
          </p:cNvPr>
          <p:cNvSpPr>
            <a:spLocks noChangeArrowheads="1"/>
          </p:cNvSpPr>
          <p:nvPr/>
        </p:nvSpPr>
        <p:spPr bwMode="auto">
          <a:xfrm>
            <a:off x="1865313" y="4327525"/>
            <a:ext cx="64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49224" name="Rectangle 73">
            <a:extLst>
              <a:ext uri="{FF2B5EF4-FFF2-40B4-BE49-F238E27FC236}">
                <a16:creationId xmlns:a16="http://schemas.microsoft.com/office/drawing/2014/main" id="{B1E50AE6-E043-C98E-D9DE-F8F093905BC2}"/>
              </a:ext>
            </a:extLst>
          </p:cNvPr>
          <p:cNvSpPr>
            <a:spLocks noChangeArrowheads="1"/>
          </p:cNvSpPr>
          <p:nvPr/>
        </p:nvSpPr>
        <p:spPr bwMode="auto">
          <a:xfrm>
            <a:off x="1865313" y="3292475"/>
            <a:ext cx="64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49225" name="Rectangle 74">
            <a:extLst>
              <a:ext uri="{FF2B5EF4-FFF2-40B4-BE49-F238E27FC236}">
                <a16:creationId xmlns:a16="http://schemas.microsoft.com/office/drawing/2014/main" id="{B18D6C24-9D81-57A4-4EE7-FD822F7B1C2E}"/>
              </a:ext>
            </a:extLst>
          </p:cNvPr>
          <p:cNvSpPr>
            <a:spLocks noChangeArrowheads="1"/>
          </p:cNvSpPr>
          <p:nvPr/>
        </p:nvSpPr>
        <p:spPr bwMode="auto">
          <a:xfrm>
            <a:off x="1865313" y="2759075"/>
            <a:ext cx="6429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367691" name="Rectangle 75">
            <a:extLst>
              <a:ext uri="{FF2B5EF4-FFF2-40B4-BE49-F238E27FC236}">
                <a16:creationId xmlns:a16="http://schemas.microsoft.com/office/drawing/2014/main" id="{132A2DE6-D535-D3D9-DE1B-B08B3006C544}"/>
              </a:ext>
            </a:extLst>
          </p:cNvPr>
          <p:cNvSpPr>
            <a:spLocks noChangeArrowheads="1"/>
          </p:cNvSpPr>
          <p:nvPr/>
        </p:nvSpPr>
        <p:spPr bwMode="auto">
          <a:xfrm>
            <a:off x="1865313" y="2179638"/>
            <a:ext cx="6429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7</a:t>
            </a:r>
          </a:p>
        </p:txBody>
      </p:sp>
      <p:sp>
        <p:nvSpPr>
          <p:cNvPr id="49227" name="Rectangle 76">
            <a:extLst>
              <a:ext uri="{FF2B5EF4-FFF2-40B4-BE49-F238E27FC236}">
                <a16:creationId xmlns:a16="http://schemas.microsoft.com/office/drawing/2014/main" id="{D8FB6268-DEA3-A44C-B41A-FAC68A9BBDEA}"/>
              </a:ext>
            </a:extLst>
          </p:cNvPr>
          <p:cNvSpPr>
            <a:spLocks noChangeArrowheads="1"/>
          </p:cNvSpPr>
          <p:nvPr/>
        </p:nvSpPr>
        <p:spPr bwMode="auto">
          <a:xfrm>
            <a:off x="1865313" y="1341438"/>
            <a:ext cx="64293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7</a:t>
            </a:r>
          </a:p>
        </p:txBody>
      </p:sp>
      <p:sp>
        <p:nvSpPr>
          <p:cNvPr id="49228" name="Rectangle 77">
            <a:extLst>
              <a:ext uri="{FF2B5EF4-FFF2-40B4-BE49-F238E27FC236}">
                <a16:creationId xmlns:a16="http://schemas.microsoft.com/office/drawing/2014/main" id="{583087C8-5D22-041D-C0DA-F3200BD9564C}"/>
              </a:ext>
            </a:extLst>
          </p:cNvPr>
          <p:cNvSpPr>
            <a:spLocks noChangeArrowheads="1"/>
          </p:cNvSpPr>
          <p:nvPr/>
        </p:nvSpPr>
        <p:spPr bwMode="auto">
          <a:xfrm>
            <a:off x="863600" y="4327525"/>
            <a:ext cx="10017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229" name="Rectangle 78">
            <a:extLst>
              <a:ext uri="{FF2B5EF4-FFF2-40B4-BE49-F238E27FC236}">
                <a16:creationId xmlns:a16="http://schemas.microsoft.com/office/drawing/2014/main" id="{79D87C87-E439-0D94-A6FF-5C97854041E0}"/>
              </a:ext>
            </a:extLst>
          </p:cNvPr>
          <p:cNvSpPr>
            <a:spLocks noChangeArrowheads="1"/>
          </p:cNvSpPr>
          <p:nvPr/>
        </p:nvSpPr>
        <p:spPr bwMode="auto">
          <a:xfrm>
            <a:off x="863600" y="3292475"/>
            <a:ext cx="10017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块3</a:t>
            </a:r>
          </a:p>
        </p:txBody>
      </p:sp>
      <p:sp>
        <p:nvSpPr>
          <p:cNvPr id="49230" name="Rectangle 79">
            <a:extLst>
              <a:ext uri="{FF2B5EF4-FFF2-40B4-BE49-F238E27FC236}">
                <a16:creationId xmlns:a16="http://schemas.microsoft.com/office/drawing/2014/main" id="{A773BED3-2F5D-7D8C-21E7-127B9ECC0E59}"/>
              </a:ext>
            </a:extLst>
          </p:cNvPr>
          <p:cNvSpPr>
            <a:spLocks noChangeArrowheads="1"/>
          </p:cNvSpPr>
          <p:nvPr/>
        </p:nvSpPr>
        <p:spPr bwMode="auto">
          <a:xfrm>
            <a:off x="863600" y="2759075"/>
            <a:ext cx="10017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块2</a:t>
            </a:r>
          </a:p>
        </p:txBody>
      </p:sp>
      <p:sp>
        <p:nvSpPr>
          <p:cNvPr id="49231" name="Rectangle 80">
            <a:extLst>
              <a:ext uri="{FF2B5EF4-FFF2-40B4-BE49-F238E27FC236}">
                <a16:creationId xmlns:a16="http://schemas.microsoft.com/office/drawing/2014/main" id="{BFD1B1F1-E072-3489-F70F-F188060FF2EB}"/>
              </a:ext>
            </a:extLst>
          </p:cNvPr>
          <p:cNvSpPr>
            <a:spLocks noChangeArrowheads="1"/>
          </p:cNvSpPr>
          <p:nvPr/>
        </p:nvSpPr>
        <p:spPr bwMode="auto">
          <a:xfrm>
            <a:off x="863600" y="2179638"/>
            <a:ext cx="10017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块1</a:t>
            </a:r>
          </a:p>
        </p:txBody>
      </p:sp>
      <p:sp>
        <p:nvSpPr>
          <p:cNvPr id="49232" name="Rectangle 81">
            <a:extLst>
              <a:ext uri="{FF2B5EF4-FFF2-40B4-BE49-F238E27FC236}">
                <a16:creationId xmlns:a16="http://schemas.microsoft.com/office/drawing/2014/main" id="{0FD38105-7BA8-689D-4133-06D123C26F6F}"/>
              </a:ext>
            </a:extLst>
          </p:cNvPr>
          <p:cNvSpPr>
            <a:spLocks noChangeArrowheads="1"/>
          </p:cNvSpPr>
          <p:nvPr/>
        </p:nvSpPr>
        <p:spPr bwMode="auto">
          <a:xfrm>
            <a:off x="863600" y="1341438"/>
            <a:ext cx="100171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走向</a:t>
            </a:r>
          </a:p>
        </p:txBody>
      </p:sp>
      <p:sp>
        <p:nvSpPr>
          <p:cNvPr id="49233" name="Line 82">
            <a:extLst>
              <a:ext uri="{FF2B5EF4-FFF2-40B4-BE49-F238E27FC236}">
                <a16:creationId xmlns:a16="http://schemas.microsoft.com/office/drawing/2014/main" id="{01D6792C-B8A8-7B66-0A7F-0A906EAADDD0}"/>
              </a:ext>
            </a:extLst>
          </p:cNvPr>
          <p:cNvSpPr>
            <a:spLocks noChangeShapeType="1"/>
          </p:cNvSpPr>
          <p:nvPr/>
        </p:nvSpPr>
        <p:spPr bwMode="auto">
          <a:xfrm>
            <a:off x="863600" y="1341438"/>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4" name="Line 83">
            <a:extLst>
              <a:ext uri="{FF2B5EF4-FFF2-40B4-BE49-F238E27FC236}">
                <a16:creationId xmlns:a16="http://schemas.microsoft.com/office/drawing/2014/main" id="{1B6E1C70-FF54-59F7-0DEF-BE3204654C62}"/>
              </a:ext>
            </a:extLst>
          </p:cNvPr>
          <p:cNvSpPr>
            <a:spLocks noChangeShapeType="1"/>
          </p:cNvSpPr>
          <p:nvPr/>
        </p:nvSpPr>
        <p:spPr bwMode="auto">
          <a:xfrm>
            <a:off x="863600" y="4845050"/>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5" name="Line 84">
            <a:extLst>
              <a:ext uri="{FF2B5EF4-FFF2-40B4-BE49-F238E27FC236}">
                <a16:creationId xmlns:a16="http://schemas.microsoft.com/office/drawing/2014/main" id="{88522842-BBA7-1BA6-72B1-43FB4BF3F9D8}"/>
              </a:ext>
            </a:extLst>
          </p:cNvPr>
          <p:cNvSpPr>
            <a:spLocks noChangeShapeType="1"/>
          </p:cNvSpPr>
          <p:nvPr/>
        </p:nvSpPr>
        <p:spPr bwMode="auto">
          <a:xfrm>
            <a:off x="863600" y="1341438"/>
            <a:ext cx="0" cy="3503612"/>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6" name="Line 85">
            <a:extLst>
              <a:ext uri="{FF2B5EF4-FFF2-40B4-BE49-F238E27FC236}">
                <a16:creationId xmlns:a16="http://schemas.microsoft.com/office/drawing/2014/main" id="{ABCE74D8-3606-6DAD-0AAF-1FCF9DDC0094}"/>
              </a:ext>
            </a:extLst>
          </p:cNvPr>
          <p:cNvSpPr>
            <a:spLocks noChangeShapeType="1"/>
          </p:cNvSpPr>
          <p:nvPr/>
        </p:nvSpPr>
        <p:spPr bwMode="auto">
          <a:xfrm>
            <a:off x="8483600" y="1341438"/>
            <a:ext cx="0" cy="3503612"/>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7" name="Line 86">
            <a:extLst>
              <a:ext uri="{FF2B5EF4-FFF2-40B4-BE49-F238E27FC236}">
                <a16:creationId xmlns:a16="http://schemas.microsoft.com/office/drawing/2014/main" id="{946975A5-A8AC-C24D-9612-786C97F52F69}"/>
              </a:ext>
            </a:extLst>
          </p:cNvPr>
          <p:cNvSpPr>
            <a:spLocks noChangeShapeType="1"/>
          </p:cNvSpPr>
          <p:nvPr/>
        </p:nvSpPr>
        <p:spPr bwMode="auto">
          <a:xfrm>
            <a:off x="863600" y="2179638"/>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8" name="Line 87">
            <a:extLst>
              <a:ext uri="{FF2B5EF4-FFF2-40B4-BE49-F238E27FC236}">
                <a16:creationId xmlns:a16="http://schemas.microsoft.com/office/drawing/2014/main" id="{C2DB22D2-4944-43EC-23C0-2EDBD2BB559F}"/>
              </a:ext>
            </a:extLst>
          </p:cNvPr>
          <p:cNvSpPr>
            <a:spLocks noChangeShapeType="1"/>
          </p:cNvSpPr>
          <p:nvPr/>
        </p:nvSpPr>
        <p:spPr bwMode="auto">
          <a:xfrm>
            <a:off x="863600" y="2759075"/>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9" name="Line 88">
            <a:extLst>
              <a:ext uri="{FF2B5EF4-FFF2-40B4-BE49-F238E27FC236}">
                <a16:creationId xmlns:a16="http://schemas.microsoft.com/office/drawing/2014/main" id="{CAF03828-9684-3FF8-C471-644C275CA877}"/>
              </a:ext>
            </a:extLst>
          </p:cNvPr>
          <p:cNvSpPr>
            <a:spLocks noChangeShapeType="1"/>
          </p:cNvSpPr>
          <p:nvPr/>
        </p:nvSpPr>
        <p:spPr bwMode="auto">
          <a:xfrm>
            <a:off x="863600" y="3292475"/>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0" name="Line 89">
            <a:extLst>
              <a:ext uri="{FF2B5EF4-FFF2-40B4-BE49-F238E27FC236}">
                <a16:creationId xmlns:a16="http://schemas.microsoft.com/office/drawing/2014/main" id="{BED93805-EE3E-9674-4FE3-6C3A2006F0C5}"/>
              </a:ext>
            </a:extLst>
          </p:cNvPr>
          <p:cNvSpPr>
            <a:spLocks noChangeShapeType="1"/>
          </p:cNvSpPr>
          <p:nvPr/>
        </p:nvSpPr>
        <p:spPr bwMode="auto">
          <a:xfrm>
            <a:off x="863600" y="4327525"/>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1" name="Line 90">
            <a:extLst>
              <a:ext uri="{FF2B5EF4-FFF2-40B4-BE49-F238E27FC236}">
                <a16:creationId xmlns:a16="http://schemas.microsoft.com/office/drawing/2014/main" id="{62F37B40-DB3D-F6B3-DB86-B842AD437D1E}"/>
              </a:ext>
            </a:extLst>
          </p:cNvPr>
          <p:cNvSpPr>
            <a:spLocks noChangeShapeType="1"/>
          </p:cNvSpPr>
          <p:nvPr/>
        </p:nvSpPr>
        <p:spPr bwMode="auto">
          <a:xfrm>
            <a:off x="1865313" y="1341438"/>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2" name="Line 91">
            <a:extLst>
              <a:ext uri="{FF2B5EF4-FFF2-40B4-BE49-F238E27FC236}">
                <a16:creationId xmlns:a16="http://schemas.microsoft.com/office/drawing/2014/main" id="{A99087DE-702F-DBE1-FE05-47165FB65191}"/>
              </a:ext>
            </a:extLst>
          </p:cNvPr>
          <p:cNvSpPr>
            <a:spLocks noChangeShapeType="1"/>
          </p:cNvSpPr>
          <p:nvPr/>
        </p:nvSpPr>
        <p:spPr bwMode="auto">
          <a:xfrm>
            <a:off x="2508250" y="1341438"/>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3" name="Line 92">
            <a:extLst>
              <a:ext uri="{FF2B5EF4-FFF2-40B4-BE49-F238E27FC236}">
                <a16:creationId xmlns:a16="http://schemas.microsoft.com/office/drawing/2014/main" id="{DF82E7E9-E792-3F18-5DBC-D46C3AFB1405}"/>
              </a:ext>
            </a:extLst>
          </p:cNvPr>
          <p:cNvSpPr>
            <a:spLocks noChangeShapeType="1"/>
          </p:cNvSpPr>
          <p:nvPr/>
        </p:nvSpPr>
        <p:spPr bwMode="auto">
          <a:xfrm>
            <a:off x="3044825" y="1341438"/>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4" name="Line 93">
            <a:extLst>
              <a:ext uri="{FF2B5EF4-FFF2-40B4-BE49-F238E27FC236}">
                <a16:creationId xmlns:a16="http://schemas.microsoft.com/office/drawing/2014/main" id="{2B28A6D4-0955-0D39-6177-4CAB8D235BA5}"/>
              </a:ext>
            </a:extLst>
          </p:cNvPr>
          <p:cNvSpPr>
            <a:spLocks noChangeShapeType="1"/>
          </p:cNvSpPr>
          <p:nvPr/>
        </p:nvSpPr>
        <p:spPr bwMode="auto">
          <a:xfrm>
            <a:off x="3581400" y="1341438"/>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5" name="Line 94">
            <a:extLst>
              <a:ext uri="{FF2B5EF4-FFF2-40B4-BE49-F238E27FC236}">
                <a16:creationId xmlns:a16="http://schemas.microsoft.com/office/drawing/2014/main" id="{FDF3D2D4-43E6-F0BF-7E9B-8AC5AA9A0FB8}"/>
              </a:ext>
            </a:extLst>
          </p:cNvPr>
          <p:cNvSpPr>
            <a:spLocks noChangeShapeType="1"/>
          </p:cNvSpPr>
          <p:nvPr/>
        </p:nvSpPr>
        <p:spPr bwMode="auto">
          <a:xfrm>
            <a:off x="4117975" y="1341438"/>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6" name="Line 95">
            <a:extLst>
              <a:ext uri="{FF2B5EF4-FFF2-40B4-BE49-F238E27FC236}">
                <a16:creationId xmlns:a16="http://schemas.microsoft.com/office/drawing/2014/main" id="{3FB91A13-D7A3-699A-6212-DEF425D1AD67}"/>
              </a:ext>
            </a:extLst>
          </p:cNvPr>
          <p:cNvSpPr>
            <a:spLocks noChangeShapeType="1"/>
          </p:cNvSpPr>
          <p:nvPr/>
        </p:nvSpPr>
        <p:spPr bwMode="auto">
          <a:xfrm>
            <a:off x="4654550" y="1341438"/>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7" name="Line 96">
            <a:extLst>
              <a:ext uri="{FF2B5EF4-FFF2-40B4-BE49-F238E27FC236}">
                <a16:creationId xmlns:a16="http://schemas.microsoft.com/office/drawing/2014/main" id="{D776BC9E-0E8E-8133-E2D6-C87D347EDD0D}"/>
              </a:ext>
            </a:extLst>
          </p:cNvPr>
          <p:cNvSpPr>
            <a:spLocks noChangeShapeType="1"/>
          </p:cNvSpPr>
          <p:nvPr/>
        </p:nvSpPr>
        <p:spPr bwMode="auto">
          <a:xfrm>
            <a:off x="5191125" y="1341438"/>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8" name="Line 97">
            <a:extLst>
              <a:ext uri="{FF2B5EF4-FFF2-40B4-BE49-F238E27FC236}">
                <a16:creationId xmlns:a16="http://schemas.microsoft.com/office/drawing/2014/main" id="{BFE38D03-070C-BB01-B0A2-E759C919FC6C}"/>
              </a:ext>
            </a:extLst>
          </p:cNvPr>
          <p:cNvSpPr>
            <a:spLocks noChangeShapeType="1"/>
          </p:cNvSpPr>
          <p:nvPr/>
        </p:nvSpPr>
        <p:spPr bwMode="auto">
          <a:xfrm>
            <a:off x="5727700" y="1341438"/>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9" name="Line 98">
            <a:extLst>
              <a:ext uri="{FF2B5EF4-FFF2-40B4-BE49-F238E27FC236}">
                <a16:creationId xmlns:a16="http://schemas.microsoft.com/office/drawing/2014/main" id="{841D6762-B35C-CC27-F0EE-F15D76DD0FB1}"/>
              </a:ext>
            </a:extLst>
          </p:cNvPr>
          <p:cNvSpPr>
            <a:spLocks noChangeShapeType="1"/>
          </p:cNvSpPr>
          <p:nvPr/>
        </p:nvSpPr>
        <p:spPr bwMode="auto">
          <a:xfrm>
            <a:off x="6265863" y="1341438"/>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0" name="Line 99">
            <a:extLst>
              <a:ext uri="{FF2B5EF4-FFF2-40B4-BE49-F238E27FC236}">
                <a16:creationId xmlns:a16="http://schemas.microsoft.com/office/drawing/2014/main" id="{C8D80738-3434-4FD5-CCAE-F04524DDBAE3}"/>
              </a:ext>
            </a:extLst>
          </p:cNvPr>
          <p:cNvSpPr>
            <a:spLocks noChangeShapeType="1"/>
          </p:cNvSpPr>
          <p:nvPr/>
        </p:nvSpPr>
        <p:spPr bwMode="auto">
          <a:xfrm>
            <a:off x="6802438" y="1341438"/>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1" name="Line 100">
            <a:extLst>
              <a:ext uri="{FF2B5EF4-FFF2-40B4-BE49-F238E27FC236}">
                <a16:creationId xmlns:a16="http://schemas.microsoft.com/office/drawing/2014/main" id="{9E6BC1FB-6D8D-62FD-47C3-A1A9182FBB47}"/>
              </a:ext>
            </a:extLst>
          </p:cNvPr>
          <p:cNvSpPr>
            <a:spLocks noChangeShapeType="1"/>
          </p:cNvSpPr>
          <p:nvPr/>
        </p:nvSpPr>
        <p:spPr bwMode="auto">
          <a:xfrm>
            <a:off x="7339013" y="1341438"/>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2" name="Line 101">
            <a:extLst>
              <a:ext uri="{FF2B5EF4-FFF2-40B4-BE49-F238E27FC236}">
                <a16:creationId xmlns:a16="http://schemas.microsoft.com/office/drawing/2014/main" id="{965BFE7D-DCEE-E54A-88B0-3FD8266818D5}"/>
              </a:ext>
            </a:extLst>
          </p:cNvPr>
          <p:cNvSpPr>
            <a:spLocks noChangeShapeType="1"/>
          </p:cNvSpPr>
          <p:nvPr/>
        </p:nvSpPr>
        <p:spPr bwMode="auto">
          <a:xfrm>
            <a:off x="7869238" y="1341438"/>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3" name="Line 102">
            <a:extLst>
              <a:ext uri="{FF2B5EF4-FFF2-40B4-BE49-F238E27FC236}">
                <a16:creationId xmlns:a16="http://schemas.microsoft.com/office/drawing/2014/main" id="{5CE71C59-6031-FCFE-0967-55CC7C16017A}"/>
              </a:ext>
            </a:extLst>
          </p:cNvPr>
          <p:cNvSpPr>
            <a:spLocks noChangeShapeType="1"/>
          </p:cNvSpPr>
          <p:nvPr/>
        </p:nvSpPr>
        <p:spPr bwMode="auto">
          <a:xfrm>
            <a:off x="863600" y="3810000"/>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367691"/>
                                        </p:tgtEl>
                                        <p:attrNameLst>
                                          <p:attrName>style.visibility</p:attrName>
                                        </p:attrNameLst>
                                      </p:cBhvr>
                                      <p:to>
                                        <p:strVal val="visible"/>
                                      </p:to>
                                    </p:set>
                                    <p:animEffect transition="in" filter="barn(outHorizontal)">
                                      <p:cBhvr>
                                        <p:cTn id="7" dur="500"/>
                                        <p:tgtEl>
                                          <p:spTgt spid="3676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367688"/>
                                        </p:tgtEl>
                                        <p:attrNameLst>
                                          <p:attrName>style.visibility</p:attrName>
                                        </p:attrNameLst>
                                      </p:cBhvr>
                                      <p:to>
                                        <p:strVal val="visible"/>
                                      </p:to>
                                    </p:set>
                                    <p:animEffect transition="in" filter="barn(outHorizontal)">
                                      <p:cBhvr>
                                        <p:cTn id="12" dur="500"/>
                                        <p:tgtEl>
                                          <p:spTgt spid="3676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367686"/>
                                        </p:tgtEl>
                                        <p:attrNameLst>
                                          <p:attrName>style.visibility</p:attrName>
                                        </p:attrNameLst>
                                      </p:cBhvr>
                                      <p:to>
                                        <p:strVal val="visible"/>
                                      </p:to>
                                    </p:set>
                                    <p:animEffect transition="in" filter="barn(outHorizontal)">
                                      <p:cBhvr>
                                        <p:cTn id="17" dur="500"/>
                                        <p:tgtEl>
                                          <p:spTgt spid="3676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367685"/>
                                        </p:tgtEl>
                                        <p:attrNameLst>
                                          <p:attrName>style.visibility</p:attrName>
                                        </p:attrNameLst>
                                      </p:cBhvr>
                                      <p:to>
                                        <p:strVal val="visible"/>
                                      </p:to>
                                    </p:set>
                                    <p:animEffect transition="in" filter="barn(outHorizontal)">
                                      <p:cBhvr>
                                        <p:cTn id="22" dur="500"/>
                                        <p:tgtEl>
                                          <p:spTgt spid="3676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367683"/>
                                        </p:tgtEl>
                                        <p:attrNameLst>
                                          <p:attrName>style.visibility</p:attrName>
                                        </p:attrNameLst>
                                      </p:cBhvr>
                                      <p:to>
                                        <p:strVal val="visible"/>
                                      </p:to>
                                    </p:set>
                                    <p:animEffect transition="in" filter="barn(outHorizontal)">
                                      <p:cBhvr>
                                        <p:cTn id="27" dur="500"/>
                                        <p:tgtEl>
                                          <p:spTgt spid="36768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367681"/>
                                        </p:tgtEl>
                                        <p:attrNameLst>
                                          <p:attrName>style.visibility</p:attrName>
                                        </p:attrNameLst>
                                      </p:cBhvr>
                                      <p:to>
                                        <p:strVal val="visible"/>
                                      </p:to>
                                    </p:set>
                                    <p:animEffect transition="in" filter="barn(outHorizontal)">
                                      <p:cBhvr>
                                        <p:cTn id="32" dur="500"/>
                                        <p:tgtEl>
                                          <p:spTgt spid="36768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367680"/>
                                        </p:tgtEl>
                                        <p:attrNameLst>
                                          <p:attrName>style.visibility</p:attrName>
                                        </p:attrNameLst>
                                      </p:cBhvr>
                                      <p:to>
                                        <p:strVal val="visible"/>
                                      </p:to>
                                    </p:set>
                                    <p:animEffect transition="in" filter="barn(outHorizontal)">
                                      <p:cBhvr>
                                        <p:cTn id="37" dur="500"/>
                                        <p:tgtEl>
                                          <p:spTgt spid="36768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367679"/>
                                        </p:tgtEl>
                                        <p:attrNameLst>
                                          <p:attrName>style.visibility</p:attrName>
                                        </p:attrNameLst>
                                      </p:cBhvr>
                                      <p:to>
                                        <p:strVal val="visible"/>
                                      </p:to>
                                    </p:set>
                                    <p:animEffect transition="in" filter="barn(outHorizontal)">
                                      <p:cBhvr>
                                        <p:cTn id="42" dur="500"/>
                                        <p:tgtEl>
                                          <p:spTgt spid="36767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367678"/>
                                        </p:tgtEl>
                                        <p:attrNameLst>
                                          <p:attrName>style.visibility</p:attrName>
                                        </p:attrNameLst>
                                      </p:cBhvr>
                                      <p:to>
                                        <p:strVal val="visible"/>
                                      </p:to>
                                    </p:set>
                                    <p:animEffect transition="in" filter="barn(outHorizontal)">
                                      <p:cBhvr>
                                        <p:cTn id="47" dur="500"/>
                                        <p:tgtEl>
                                          <p:spTgt spid="36767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367676"/>
                                        </p:tgtEl>
                                        <p:attrNameLst>
                                          <p:attrName>style.visibility</p:attrName>
                                        </p:attrNameLst>
                                      </p:cBhvr>
                                      <p:to>
                                        <p:strVal val="visible"/>
                                      </p:to>
                                    </p:set>
                                    <p:animEffect transition="in" filter="barn(outHorizontal)">
                                      <p:cBhvr>
                                        <p:cTn id="52" dur="500"/>
                                        <p:tgtEl>
                                          <p:spTgt spid="36767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367675"/>
                                        </p:tgtEl>
                                        <p:attrNameLst>
                                          <p:attrName>style.visibility</p:attrName>
                                        </p:attrNameLst>
                                      </p:cBhvr>
                                      <p:to>
                                        <p:strVal val="visible"/>
                                      </p:to>
                                    </p:set>
                                    <p:animEffect transition="in" filter="barn(outHorizontal)">
                                      <p:cBhvr>
                                        <p:cTn id="57" dur="500"/>
                                        <p:tgtEl>
                                          <p:spTgt spid="36767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367674"/>
                                        </p:tgtEl>
                                        <p:attrNameLst>
                                          <p:attrName>style.visibility</p:attrName>
                                        </p:attrNameLst>
                                      </p:cBhvr>
                                      <p:to>
                                        <p:strVal val="visible"/>
                                      </p:to>
                                    </p:set>
                                    <p:animEffect transition="in" filter="barn(outHorizontal)">
                                      <p:cBhvr>
                                        <p:cTn id="62" dur="500"/>
                                        <p:tgtEl>
                                          <p:spTgt spid="36767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367628"/>
                                        </p:tgtEl>
                                        <p:attrNameLst>
                                          <p:attrName>style.visibility</p:attrName>
                                        </p:attrNameLst>
                                      </p:cBhvr>
                                      <p:to>
                                        <p:strVal val="visible"/>
                                      </p:to>
                                    </p:set>
                                    <p:animEffect transition="in" filter="barn(outHorizontal)">
                                      <p:cBhvr>
                                        <p:cTn id="67" dur="500"/>
                                        <p:tgtEl>
                                          <p:spTgt spid="36762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367673"/>
                                        </p:tgtEl>
                                        <p:attrNameLst>
                                          <p:attrName>style.visibility</p:attrName>
                                        </p:attrNameLst>
                                      </p:cBhvr>
                                      <p:to>
                                        <p:strVal val="visible"/>
                                      </p:to>
                                    </p:set>
                                    <p:animEffect transition="in" filter="barn(outHorizontal)">
                                      <p:cBhvr>
                                        <p:cTn id="72" dur="500"/>
                                        <p:tgtEl>
                                          <p:spTgt spid="36767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367666"/>
                                        </p:tgtEl>
                                        <p:attrNameLst>
                                          <p:attrName>style.visibility</p:attrName>
                                        </p:attrNameLst>
                                      </p:cBhvr>
                                      <p:to>
                                        <p:strVal val="visible"/>
                                      </p:to>
                                    </p:set>
                                    <p:animEffect transition="in" filter="barn(outHorizontal)">
                                      <p:cBhvr>
                                        <p:cTn id="77" dur="500"/>
                                        <p:tgtEl>
                                          <p:spTgt spid="36766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367665"/>
                                        </p:tgtEl>
                                        <p:attrNameLst>
                                          <p:attrName>style.visibility</p:attrName>
                                        </p:attrNameLst>
                                      </p:cBhvr>
                                      <p:to>
                                        <p:strVal val="visible"/>
                                      </p:to>
                                    </p:set>
                                    <p:animEffect transition="in" filter="barn(outHorizontal)">
                                      <p:cBhvr>
                                        <p:cTn id="82" dur="500"/>
                                        <p:tgtEl>
                                          <p:spTgt spid="36766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367664"/>
                                        </p:tgtEl>
                                        <p:attrNameLst>
                                          <p:attrName>style.visibility</p:attrName>
                                        </p:attrNameLst>
                                      </p:cBhvr>
                                      <p:to>
                                        <p:strVal val="visible"/>
                                      </p:to>
                                    </p:set>
                                    <p:animEffect transition="in" filter="barn(outHorizontal)">
                                      <p:cBhvr>
                                        <p:cTn id="87" dur="500"/>
                                        <p:tgtEl>
                                          <p:spTgt spid="36766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367626"/>
                                        </p:tgtEl>
                                        <p:attrNameLst>
                                          <p:attrName>style.visibility</p:attrName>
                                        </p:attrNameLst>
                                      </p:cBhvr>
                                      <p:to>
                                        <p:strVal val="visible"/>
                                      </p:to>
                                    </p:set>
                                    <p:animEffect transition="in" filter="barn(outHorizontal)">
                                      <p:cBhvr>
                                        <p:cTn id="92" dur="500"/>
                                        <p:tgtEl>
                                          <p:spTgt spid="36762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367663"/>
                                        </p:tgtEl>
                                        <p:attrNameLst>
                                          <p:attrName>style.visibility</p:attrName>
                                        </p:attrNameLst>
                                      </p:cBhvr>
                                      <p:to>
                                        <p:strVal val="visible"/>
                                      </p:to>
                                    </p:set>
                                    <p:animEffect transition="in" filter="barn(outHorizontal)">
                                      <p:cBhvr>
                                        <p:cTn id="97" dur="500"/>
                                        <p:tgtEl>
                                          <p:spTgt spid="367663"/>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6" presetClass="entr" presetSubtype="42" fill="hold" nodeType="clickEffect">
                                  <p:stCondLst>
                                    <p:cond delay="0"/>
                                  </p:stCondLst>
                                  <p:childTnLst>
                                    <p:set>
                                      <p:cBhvr>
                                        <p:cTn id="101" dur="1" fill="hold">
                                          <p:stCondLst>
                                            <p:cond delay="0"/>
                                          </p:stCondLst>
                                        </p:cTn>
                                        <p:tgtEl>
                                          <p:spTgt spid="367656"/>
                                        </p:tgtEl>
                                        <p:attrNameLst>
                                          <p:attrName>style.visibility</p:attrName>
                                        </p:attrNameLst>
                                      </p:cBhvr>
                                      <p:to>
                                        <p:strVal val="visible"/>
                                      </p:to>
                                    </p:set>
                                    <p:animEffect transition="in" filter="barn(outHorizontal)">
                                      <p:cBhvr>
                                        <p:cTn id="102" dur="500"/>
                                        <p:tgtEl>
                                          <p:spTgt spid="367656"/>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6" presetClass="entr" presetSubtype="42" fill="hold" nodeType="clickEffect">
                                  <p:stCondLst>
                                    <p:cond delay="0"/>
                                  </p:stCondLst>
                                  <p:childTnLst>
                                    <p:set>
                                      <p:cBhvr>
                                        <p:cTn id="106" dur="1" fill="hold">
                                          <p:stCondLst>
                                            <p:cond delay="0"/>
                                          </p:stCondLst>
                                        </p:cTn>
                                        <p:tgtEl>
                                          <p:spTgt spid="367655"/>
                                        </p:tgtEl>
                                        <p:attrNameLst>
                                          <p:attrName>style.visibility</p:attrName>
                                        </p:attrNameLst>
                                      </p:cBhvr>
                                      <p:to>
                                        <p:strVal val="visible"/>
                                      </p:to>
                                    </p:set>
                                    <p:animEffect transition="in" filter="barn(outHorizontal)">
                                      <p:cBhvr>
                                        <p:cTn id="107" dur="500"/>
                                        <p:tgtEl>
                                          <p:spTgt spid="367655"/>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6" presetClass="entr" presetSubtype="42" fill="hold" nodeType="clickEffect">
                                  <p:stCondLst>
                                    <p:cond delay="0"/>
                                  </p:stCondLst>
                                  <p:childTnLst>
                                    <p:set>
                                      <p:cBhvr>
                                        <p:cTn id="111" dur="1" fill="hold">
                                          <p:stCondLst>
                                            <p:cond delay="0"/>
                                          </p:stCondLst>
                                        </p:cTn>
                                        <p:tgtEl>
                                          <p:spTgt spid="367654"/>
                                        </p:tgtEl>
                                        <p:attrNameLst>
                                          <p:attrName>style.visibility</p:attrName>
                                        </p:attrNameLst>
                                      </p:cBhvr>
                                      <p:to>
                                        <p:strVal val="visible"/>
                                      </p:to>
                                    </p:set>
                                    <p:animEffect transition="in" filter="barn(outHorizontal)">
                                      <p:cBhvr>
                                        <p:cTn id="112" dur="500"/>
                                        <p:tgtEl>
                                          <p:spTgt spid="367654"/>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6" presetClass="entr" presetSubtype="42" fill="hold" nodeType="clickEffect">
                                  <p:stCondLst>
                                    <p:cond delay="0"/>
                                  </p:stCondLst>
                                  <p:childTnLst>
                                    <p:set>
                                      <p:cBhvr>
                                        <p:cTn id="116" dur="1" fill="hold">
                                          <p:stCondLst>
                                            <p:cond delay="0"/>
                                          </p:stCondLst>
                                        </p:cTn>
                                        <p:tgtEl>
                                          <p:spTgt spid="367624"/>
                                        </p:tgtEl>
                                        <p:attrNameLst>
                                          <p:attrName>style.visibility</p:attrName>
                                        </p:attrNameLst>
                                      </p:cBhvr>
                                      <p:to>
                                        <p:strVal val="visible"/>
                                      </p:to>
                                    </p:set>
                                    <p:animEffect transition="in" filter="barn(outHorizontal)">
                                      <p:cBhvr>
                                        <p:cTn id="117" dur="500"/>
                                        <p:tgtEl>
                                          <p:spTgt spid="367624"/>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6" presetClass="entr" presetSubtype="42" fill="hold" nodeType="clickEffect">
                                  <p:stCondLst>
                                    <p:cond delay="0"/>
                                  </p:stCondLst>
                                  <p:childTnLst>
                                    <p:set>
                                      <p:cBhvr>
                                        <p:cTn id="121" dur="1" fill="hold">
                                          <p:stCondLst>
                                            <p:cond delay="0"/>
                                          </p:stCondLst>
                                        </p:cTn>
                                        <p:tgtEl>
                                          <p:spTgt spid="367653"/>
                                        </p:tgtEl>
                                        <p:attrNameLst>
                                          <p:attrName>style.visibility</p:attrName>
                                        </p:attrNameLst>
                                      </p:cBhvr>
                                      <p:to>
                                        <p:strVal val="visible"/>
                                      </p:to>
                                    </p:set>
                                    <p:animEffect transition="in" filter="barn(outHorizontal)">
                                      <p:cBhvr>
                                        <p:cTn id="122" dur="500"/>
                                        <p:tgtEl>
                                          <p:spTgt spid="367653"/>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6" presetClass="entr" presetSubtype="42" fill="hold" nodeType="clickEffect">
                                  <p:stCondLst>
                                    <p:cond delay="0"/>
                                  </p:stCondLst>
                                  <p:childTnLst>
                                    <p:set>
                                      <p:cBhvr>
                                        <p:cTn id="126" dur="1" fill="hold">
                                          <p:stCondLst>
                                            <p:cond delay="0"/>
                                          </p:stCondLst>
                                        </p:cTn>
                                        <p:tgtEl>
                                          <p:spTgt spid="367641"/>
                                        </p:tgtEl>
                                        <p:attrNameLst>
                                          <p:attrName>style.visibility</p:attrName>
                                        </p:attrNameLst>
                                      </p:cBhvr>
                                      <p:to>
                                        <p:strVal val="visible"/>
                                      </p:to>
                                    </p:set>
                                    <p:animEffect transition="in" filter="barn(outHorizontal)">
                                      <p:cBhvr>
                                        <p:cTn id="127" dur="500"/>
                                        <p:tgtEl>
                                          <p:spTgt spid="367641"/>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6" presetClass="entr" presetSubtype="42" fill="hold" nodeType="clickEffect">
                                  <p:stCondLst>
                                    <p:cond delay="0"/>
                                  </p:stCondLst>
                                  <p:childTnLst>
                                    <p:set>
                                      <p:cBhvr>
                                        <p:cTn id="131" dur="1" fill="hold">
                                          <p:stCondLst>
                                            <p:cond delay="0"/>
                                          </p:stCondLst>
                                        </p:cTn>
                                        <p:tgtEl>
                                          <p:spTgt spid="367640"/>
                                        </p:tgtEl>
                                        <p:attrNameLst>
                                          <p:attrName>style.visibility</p:attrName>
                                        </p:attrNameLst>
                                      </p:cBhvr>
                                      <p:to>
                                        <p:strVal val="visible"/>
                                      </p:to>
                                    </p:set>
                                    <p:animEffect transition="in" filter="barn(outHorizontal)">
                                      <p:cBhvr>
                                        <p:cTn id="132" dur="500"/>
                                        <p:tgtEl>
                                          <p:spTgt spid="367640"/>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6" presetClass="entr" presetSubtype="42" fill="hold" nodeType="clickEffect">
                                  <p:stCondLst>
                                    <p:cond delay="0"/>
                                  </p:stCondLst>
                                  <p:childTnLst>
                                    <p:set>
                                      <p:cBhvr>
                                        <p:cTn id="136" dur="1" fill="hold">
                                          <p:stCondLst>
                                            <p:cond delay="0"/>
                                          </p:stCondLst>
                                        </p:cTn>
                                        <p:tgtEl>
                                          <p:spTgt spid="367639"/>
                                        </p:tgtEl>
                                        <p:attrNameLst>
                                          <p:attrName>style.visibility</p:attrName>
                                        </p:attrNameLst>
                                      </p:cBhvr>
                                      <p:to>
                                        <p:strVal val="visible"/>
                                      </p:to>
                                    </p:set>
                                    <p:animEffect transition="in" filter="barn(outHorizontal)">
                                      <p:cBhvr>
                                        <p:cTn id="137" dur="500"/>
                                        <p:tgtEl>
                                          <p:spTgt spid="367639"/>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6" presetClass="entr" presetSubtype="42" fill="hold" nodeType="clickEffect">
                                  <p:stCondLst>
                                    <p:cond delay="0"/>
                                  </p:stCondLst>
                                  <p:childTnLst>
                                    <p:set>
                                      <p:cBhvr>
                                        <p:cTn id="141" dur="1" fill="hold">
                                          <p:stCondLst>
                                            <p:cond delay="0"/>
                                          </p:stCondLst>
                                        </p:cTn>
                                        <p:tgtEl>
                                          <p:spTgt spid="367621"/>
                                        </p:tgtEl>
                                        <p:attrNameLst>
                                          <p:attrName>style.visibility</p:attrName>
                                        </p:attrNameLst>
                                      </p:cBhvr>
                                      <p:to>
                                        <p:strVal val="visible"/>
                                      </p:to>
                                    </p:set>
                                    <p:animEffect transition="in" filter="barn(outHorizontal)">
                                      <p:cBhvr>
                                        <p:cTn id="142" dur="500"/>
                                        <p:tgtEl>
                                          <p:spTgt spid="367621"/>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6" presetClass="entr" presetSubtype="42" fill="hold" nodeType="clickEffect">
                                  <p:stCondLst>
                                    <p:cond delay="0"/>
                                  </p:stCondLst>
                                  <p:childTnLst>
                                    <p:set>
                                      <p:cBhvr>
                                        <p:cTn id="146" dur="1" fill="hold">
                                          <p:stCondLst>
                                            <p:cond delay="0"/>
                                          </p:stCondLst>
                                        </p:cTn>
                                        <p:tgtEl>
                                          <p:spTgt spid="367638"/>
                                        </p:tgtEl>
                                        <p:attrNameLst>
                                          <p:attrName>style.visibility</p:attrName>
                                        </p:attrNameLst>
                                      </p:cBhvr>
                                      <p:to>
                                        <p:strVal val="visible"/>
                                      </p:to>
                                    </p:set>
                                    <p:animEffect transition="in" filter="barn(outHorizontal)">
                                      <p:cBhvr>
                                        <p:cTn id="147" dur="500"/>
                                        <p:tgtEl>
                                          <p:spTgt spid="367638"/>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6" presetClass="entr" presetSubtype="42" fill="hold" nodeType="clickEffect">
                                  <p:stCondLst>
                                    <p:cond delay="0"/>
                                  </p:stCondLst>
                                  <p:childTnLst>
                                    <p:set>
                                      <p:cBhvr>
                                        <p:cTn id="151" dur="1" fill="hold">
                                          <p:stCondLst>
                                            <p:cond delay="0"/>
                                          </p:stCondLst>
                                        </p:cTn>
                                        <p:tgtEl>
                                          <p:spTgt spid="367619">
                                            <p:txEl>
                                              <p:pRg st="0" end="0"/>
                                            </p:txEl>
                                          </p:spTgt>
                                        </p:tgtEl>
                                        <p:attrNameLst>
                                          <p:attrName>style.visibility</p:attrName>
                                        </p:attrNameLst>
                                      </p:cBhvr>
                                      <p:to>
                                        <p:strVal val="visible"/>
                                      </p:to>
                                    </p:set>
                                    <p:animEffect transition="in" filter="barn(outHorizontal)">
                                      <p:cBhvr>
                                        <p:cTn id="152" dur="500"/>
                                        <p:tgtEl>
                                          <p:spTgt spid="3676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build="p"/>
      <p:bldP spid="367621" grpId="0"/>
      <p:bldP spid="367624" grpId="0"/>
      <p:bldP spid="367626" grpId="0"/>
      <p:bldP spid="367628" grpId="0"/>
      <p:bldP spid="367638" grpId="0"/>
      <p:bldP spid="367639" grpId="0"/>
      <p:bldP spid="367640" grpId="0"/>
      <p:bldP spid="367641" grpId="0"/>
      <p:bldP spid="367653" grpId="0"/>
      <p:bldP spid="367654" grpId="0"/>
      <p:bldP spid="367655" grpId="0"/>
      <p:bldP spid="367656" grpId="0"/>
      <p:bldP spid="367663" grpId="0"/>
      <p:bldP spid="367664" grpId="0"/>
      <p:bldP spid="367665" grpId="0"/>
      <p:bldP spid="367666" grpId="0"/>
      <p:bldP spid="367673" grpId="0"/>
      <p:bldP spid="367674" grpId="0"/>
      <p:bldP spid="367675" grpId="0"/>
      <p:bldP spid="367676" grpId="0"/>
      <p:bldP spid="367678" grpId="0"/>
      <p:bldP spid="367679" grpId="0"/>
      <p:bldP spid="367680" grpId="0"/>
      <p:bldP spid="367681" grpId="0"/>
      <p:bldP spid="367683" grpId="0"/>
      <p:bldP spid="367685" grpId="0"/>
      <p:bldP spid="367686" grpId="0"/>
      <p:bldP spid="367688" grpId="0"/>
      <p:bldP spid="367691"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34464F27-ADDB-58BE-8675-AC59240CC2AC}"/>
              </a:ext>
            </a:extLst>
          </p:cNvPr>
          <p:cNvSpPr>
            <a:spLocks noGrp="1" noChangeArrowheads="1"/>
          </p:cNvSpPr>
          <p:nvPr>
            <p:ph type="title"/>
          </p:nvPr>
        </p:nvSpPr>
        <p:spPr>
          <a:xfrm>
            <a:off x="1042988" y="225431"/>
            <a:ext cx="7850187" cy="746125"/>
          </a:xfrm>
        </p:spPr>
        <p:txBody>
          <a:bodyPr/>
          <a:lstStyle/>
          <a:p>
            <a:r>
              <a:rPr lang="zh-CN" altLang="en-US" dirty="0"/>
              <a:t>最佳置换算法（</a:t>
            </a:r>
            <a:r>
              <a:rPr lang="en-US" altLang="zh-CN" dirty="0"/>
              <a:t>OPT）</a:t>
            </a:r>
            <a:r>
              <a:rPr lang="zh-CN" altLang="en-US" dirty="0"/>
              <a:t> </a:t>
            </a:r>
          </a:p>
        </p:txBody>
      </p:sp>
      <p:sp>
        <p:nvSpPr>
          <p:cNvPr id="147459" name="Rectangle 3">
            <a:extLst>
              <a:ext uri="{FF2B5EF4-FFF2-40B4-BE49-F238E27FC236}">
                <a16:creationId xmlns:a16="http://schemas.microsoft.com/office/drawing/2014/main" id="{885F5EE3-74A9-53DA-4742-7BEB1684EC6D}"/>
              </a:ext>
            </a:extLst>
          </p:cNvPr>
          <p:cNvSpPr>
            <a:spLocks noGrp="1" noChangeArrowheads="1"/>
          </p:cNvSpPr>
          <p:nvPr>
            <p:ph idx="1"/>
          </p:nvPr>
        </p:nvSpPr>
        <p:spPr>
          <a:xfrm>
            <a:off x="935038" y="1233488"/>
            <a:ext cx="7772400" cy="4895850"/>
          </a:xfrm>
        </p:spPr>
        <p:txBody>
          <a:bodyPr/>
          <a:lstStyle/>
          <a:p>
            <a:r>
              <a:rPr lang="zh-CN" altLang="en-US" dirty="0">
                <a:solidFill>
                  <a:srgbClr val="FF0000"/>
                </a:solidFill>
              </a:rPr>
              <a:t>最佳算法</a:t>
            </a:r>
            <a:r>
              <a:rPr lang="zh-CN" altLang="en-US" dirty="0"/>
              <a:t>：也称最优置换算法。从内存中选择最长时间不会使用的页面予以淘汰。</a:t>
            </a:r>
          </a:p>
          <a:p>
            <a:r>
              <a:rPr lang="zh-CN" altLang="en-US" dirty="0"/>
              <a:t>特点：因页面访问的未来顺序很难精确预测，该算法具有理论意义，可以用来评价其他算法的优劣。</a:t>
            </a:r>
          </a:p>
          <a:p>
            <a:r>
              <a:rPr lang="zh-CN" altLang="en-US" dirty="0"/>
              <a:t>如与最佳相比最坏不差</a:t>
            </a:r>
            <a:r>
              <a:rPr lang="en-US" altLang="zh-CN" dirty="0"/>
              <a:t>12.3%</a:t>
            </a:r>
            <a:r>
              <a:rPr lang="zh-CN" altLang="en-US" dirty="0"/>
              <a:t>，平均不差</a:t>
            </a:r>
            <a:r>
              <a:rPr lang="en-US" altLang="zh-CN" dirty="0"/>
              <a:t>4.7%</a:t>
            </a:r>
            <a:r>
              <a:rPr lang="zh-CN" altLang="en-US" dirty="0"/>
              <a:t>，就是可用算法。</a:t>
            </a:r>
          </a:p>
        </p:txBody>
      </p:sp>
    </p:spTree>
  </p:cSld>
  <p:clrMapOvr>
    <a:masterClrMapping/>
  </p:clrMapOvr>
  <p:transition spd="med">
    <p:zoom/>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7CC4DFF0-3A98-467D-A898-76E7E925C9E5}"/>
              </a:ext>
            </a:extLst>
          </p:cNvPr>
          <p:cNvSpPr>
            <a:spLocks noGrp="1" noChangeArrowheads="1"/>
          </p:cNvSpPr>
          <p:nvPr>
            <p:ph type="title"/>
          </p:nvPr>
        </p:nvSpPr>
        <p:spPr/>
        <p:txBody>
          <a:bodyPr/>
          <a:lstStyle/>
          <a:p>
            <a:pPr eaLnBrk="1" hangingPunct="1"/>
            <a:r>
              <a:rPr lang="zh-CN" altLang="en-US"/>
              <a:t>最佳置换算法例</a:t>
            </a:r>
          </a:p>
        </p:txBody>
      </p:sp>
      <p:sp>
        <p:nvSpPr>
          <p:cNvPr id="51202" name="Rectangle 3">
            <a:extLst>
              <a:ext uri="{FF2B5EF4-FFF2-40B4-BE49-F238E27FC236}">
                <a16:creationId xmlns:a16="http://schemas.microsoft.com/office/drawing/2014/main" id="{74430B2C-39E3-BFF0-426F-1B4170FF1076}"/>
              </a:ext>
            </a:extLst>
          </p:cNvPr>
          <p:cNvSpPr>
            <a:spLocks noGrp="1" noChangeArrowheads="1"/>
          </p:cNvSpPr>
          <p:nvPr>
            <p:ph idx="1"/>
          </p:nvPr>
        </p:nvSpPr>
        <p:spPr>
          <a:xfrm>
            <a:off x="755650" y="1268413"/>
            <a:ext cx="8199438" cy="4114800"/>
          </a:xfrm>
        </p:spPr>
        <p:txBody>
          <a:bodyPr/>
          <a:lstStyle/>
          <a:p>
            <a:pPr algn="just" eaLnBrk="1" hangingPunct="1"/>
            <a:r>
              <a:rPr lang="zh-CN" altLang="en-US">
                <a:latin typeface="Times New Roman" panose="02020603050405020304" pitchFamily="18" charset="0"/>
              </a:rPr>
              <a:t>假定系统为某进程分配了</a:t>
            </a:r>
            <a:r>
              <a:rPr lang="zh-CN" altLang="en-US"/>
              <a:t>3</a:t>
            </a:r>
            <a:r>
              <a:rPr lang="zh-CN" altLang="en-US">
                <a:latin typeface="Times New Roman" panose="02020603050405020304" pitchFamily="18" charset="0"/>
              </a:rPr>
              <a:t>个物理块，页面访问序列为：1、2、3、4、1、2、5、1、2、3、4、5，开始时</a:t>
            </a:r>
            <a:r>
              <a:rPr lang="zh-CN" altLang="en-US"/>
              <a:t>3</a:t>
            </a:r>
            <a:r>
              <a:rPr lang="zh-CN" altLang="en-US">
                <a:latin typeface="Times New Roman" panose="02020603050405020304" pitchFamily="18" charset="0"/>
              </a:rPr>
              <a:t>个物理块均为空闲，采用最佳置换算法时的页面置换情况如下所示：</a:t>
            </a:r>
            <a:endParaRPr lang="zh-CN" altLang="en-US"/>
          </a:p>
        </p:txBody>
      </p:sp>
    </p:spTree>
  </p:cSld>
  <p:clrMapOvr>
    <a:masterClrMapping/>
  </p:clrMapOvr>
  <p:transition spd="med">
    <p:zoom/>
  </p:transition>
</p:sld>
</file>

<file path=ppt/slides/slide1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1B97B86E-9D14-EFE6-78B2-9E71C54CDC65}"/>
              </a:ext>
            </a:extLst>
          </p:cNvPr>
          <p:cNvSpPr>
            <a:spLocks noGrp="1" noChangeArrowheads="1"/>
          </p:cNvSpPr>
          <p:nvPr>
            <p:ph type="title"/>
          </p:nvPr>
        </p:nvSpPr>
        <p:spPr/>
        <p:txBody>
          <a:bodyPr/>
          <a:lstStyle/>
          <a:p>
            <a:pPr eaLnBrk="1" hangingPunct="1"/>
            <a:r>
              <a:rPr lang="zh-CN" altLang="en-US" sz="3600">
                <a:latin typeface="Times New Roman" panose="02020603050405020304" pitchFamily="18" charset="0"/>
              </a:rPr>
              <a:t>采用最佳置换算法的页面置换情况</a:t>
            </a:r>
          </a:p>
        </p:txBody>
      </p:sp>
      <p:sp>
        <p:nvSpPr>
          <p:cNvPr id="149507" name="Rectangle 3">
            <a:extLst>
              <a:ext uri="{FF2B5EF4-FFF2-40B4-BE49-F238E27FC236}">
                <a16:creationId xmlns:a16="http://schemas.microsoft.com/office/drawing/2014/main" id="{BDCF74E1-E83F-8D22-79A2-A9DAC41F3B6D}"/>
              </a:ext>
            </a:extLst>
          </p:cNvPr>
          <p:cNvSpPr>
            <a:spLocks noGrp="1" noChangeArrowheads="1"/>
          </p:cNvSpPr>
          <p:nvPr>
            <p:ph idx="1"/>
          </p:nvPr>
        </p:nvSpPr>
        <p:spPr>
          <a:xfrm>
            <a:off x="503238" y="4724400"/>
            <a:ext cx="8335962" cy="990600"/>
          </a:xfrm>
        </p:spPr>
        <p:txBody>
          <a:bodyPr/>
          <a:lstStyle/>
          <a:p>
            <a:pPr algn="just" eaLnBrk="1" hangingPunct="1">
              <a:lnSpc>
                <a:spcPct val="90000"/>
              </a:lnSpc>
            </a:pPr>
            <a:r>
              <a:rPr lang="zh-CN" altLang="en-US"/>
              <a:t>从上表中可以看出，共发生了7次缺页，其缺页率为7/12＝58.3% 。</a:t>
            </a:r>
          </a:p>
        </p:txBody>
      </p:sp>
      <p:sp>
        <p:nvSpPr>
          <p:cNvPr id="52227" name="Rectangle 593">
            <a:extLst>
              <a:ext uri="{FF2B5EF4-FFF2-40B4-BE49-F238E27FC236}">
                <a16:creationId xmlns:a16="http://schemas.microsoft.com/office/drawing/2014/main" id="{194731AD-1FA5-8AEF-5F0E-F89B692FA8D4}"/>
              </a:ext>
            </a:extLst>
          </p:cNvPr>
          <p:cNvSpPr>
            <a:spLocks noChangeArrowheads="1"/>
          </p:cNvSpPr>
          <p:nvPr/>
        </p:nvSpPr>
        <p:spPr bwMode="auto">
          <a:xfrm>
            <a:off x="7702550" y="3844925"/>
            <a:ext cx="6143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000"/>
          </a:p>
        </p:txBody>
      </p:sp>
      <p:sp>
        <p:nvSpPr>
          <p:cNvPr id="52228" name="Rectangle 594">
            <a:extLst>
              <a:ext uri="{FF2B5EF4-FFF2-40B4-BE49-F238E27FC236}">
                <a16:creationId xmlns:a16="http://schemas.microsoft.com/office/drawing/2014/main" id="{5C88A83F-26B9-88CC-97BD-B41D73B2BDAE}"/>
              </a:ext>
            </a:extLst>
          </p:cNvPr>
          <p:cNvSpPr>
            <a:spLocks noChangeArrowheads="1"/>
          </p:cNvSpPr>
          <p:nvPr/>
        </p:nvSpPr>
        <p:spPr bwMode="auto">
          <a:xfrm>
            <a:off x="7702550" y="3327400"/>
            <a:ext cx="6143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2229" name="Rectangle 595">
            <a:extLst>
              <a:ext uri="{FF2B5EF4-FFF2-40B4-BE49-F238E27FC236}">
                <a16:creationId xmlns:a16="http://schemas.microsoft.com/office/drawing/2014/main" id="{0CCEFCEB-1025-10F4-5C33-9586804B5539}"/>
              </a:ext>
            </a:extLst>
          </p:cNvPr>
          <p:cNvSpPr>
            <a:spLocks noChangeArrowheads="1"/>
          </p:cNvSpPr>
          <p:nvPr/>
        </p:nvSpPr>
        <p:spPr bwMode="auto">
          <a:xfrm>
            <a:off x="7702550" y="2794000"/>
            <a:ext cx="6143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2230" name="Rectangle 596">
            <a:extLst>
              <a:ext uri="{FF2B5EF4-FFF2-40B4-BE49-F238E27FC236}">
                <a16:creationId xmlns:a16="http://schemas.microsoft.com/office/drawing/2014/main" id="{E9F6B1B5-F86F-22F4-7A64-74EE04D98AE1}"/>
              </a:ext>
            </a:extLst>
          </p:cNvPr>
          <p:cNvSpPr>
            <a:spLocks noChangeArrowheads="1"/>
          </p:cNvSpPr>
          <p:nvPr/>
        </p:nvSpPr>
        <p:spPr bwMode="auto">
          <a:xfrm>
            <a:off x="7702550" y="2214563"/>
            <a:ext cx="614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2231" name="Rectangle 597">
            <a:extLst>
              <a:ext uri="{FF2B5EF4-FFF2-40B4-BE49-F238E27FC236}">
                <a16:creationId xmlns:a16="http://schemas.microsoft.com/office/drawing/2014/main" id="{EB2D660F-18C9-FED6-3FC8-211E7F6C51EF}"/>
              </a:ext>
            </a:extLst>
          </p:cNvPr>
          <p:cNvSpPr>
            <a:spLocks noChangeArrowheads="1"/>
          </p:cNvSpPr>
          <p:nvPr/>
        </p:nvSpPr>
        <p:spPr bwMode="auto">
          <a:xfrm>
            <a:off x="7702550" y="1376363"/>
            <a:ext cx="61436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150102" name="Rectangle 598">
            <a:extLst>
              <a:ext uri="{FF2B5EF4-FFF2-40B4-BE49-F238E27FC236}">
                <a16:creationId xmlns:a16="http://schemas.microsoft.com/office/drawing/2014/main" id="{EE64990C-5464-587E-9D90-E8D04727E398}"/>
              </a:ext>
            </a:extLst>
          </p:cNvPr>
          <p:cNvSpPr>
            <a:spLocks noChangeArrowheads="1"/>
          </p:cNvSpPr>
          <p:nvPr/>
        </p:nvSpPr>
        <p:spPr bwMode="auto">
          <a:xfrm>
            <a:off x="7172325" y="3844925"/>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0103" name="Rectangle 599">
            <a:extLst>
              <a:ext uri="{FF2B5EF4-FFF2-40B4-BE49-F238E27FC236}">
                <a16:creationId xmlns:a16="http://schemas.microsoft.com/office/drawing/2014/main" id="{83C00E5C-2BC3-0818-DDA9-A6EB024A3A11}"/>
              </a:ext>
            </a:extLst>
          </p:cNvPr>
          <p:cNvSpPr>
            <a:spLocks noChangeArrowheads="1"/>
          </p:cNvSpPr>
          <p:nvPr/>
        </p:nvSpPr>
        <p:spPr bwMode="auto">
          <a:xfrm>
            <a:off x="7172325" y="3327400"/>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150104" name="Rectangle 600">
            <a:extLst>
              <a:ext uri="{FF2B5EF4-FFF2-40B4-BE49-F238E27FC236}">
                <a16:creationId xmlns:a16="http://schemas.microsoft.com/office/drawing/2014/main" id="{EF15BD06-632B-A0DD-A143-C9FB3F678D82}"/>
              </a:ext>
            </a:extLst>
          </p:cNvPr>
          <p:cNvSpPr>
            <a:spLocks noChangeArrowheads="1"/>
          </p:cNvSpPr>
          <p:nvPr/>
        </p:nvSpPr>
        <p:spPr bwMode="auto">
          <a:xfrm>
            <a:off x="7172325" y="2794000"/>
            <a:ext cx="5302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150105" name="Rectangle 601">
            <a:extLst>
              <a:ext uri="{FF2B5EF4-FFF2-40B4-BE49-F238E27FC236}">
                <a16:creationId xmlns:a16="http://schemas.microsoft.com/office/drawing/2014/main" id="{D88B7AC9-246E-6BA4-5483-7D447DD71E43}"/>
              </a:ext>
            </a:extLst>
          </p:cNvPr>
          <p:cNvSpPr>
            <a:spLocks noChangeArrowheads="1"/>
          </p:cNvSpPr>
          <p:nvPr/>
        </p:nvSpPr>
        <p:spPr bwMode="auto">
          <a:xfrm>
            <a:off x="7172325" y="2214563"/>
            <a:ext cx="5302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52236" name="Rectangle 602">
            <a:extLst>
              <a:ext uri="{FF2B5EF4-FFF2-40B4-BE49-F238E27FC236}">
                <a16:creationId xmlns:a16="http://schemas.microsoft.com/office/drawing/2014/main" id="{381EEF56-B8B5-0BCB-D8E5-6BEA92E4284E}"/>
              </a:ext>
            </a:extLst>
          </p:cNvPr>
          <p:cNvSpPr>
            <a:spLocks noChangeArrowheads="1"/>
          </p:cNvSpPr>
          <p:nvPr/>
        </p:nvSpPr>
        <p:spPr bwMode="auto">
          <a:xfrm>
            <a:off x="7172325" y="1376363"/>
            <a:ext cx="5302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150107" name="Rectangle 603">
            <a:extLst>
              <a:ext uri="{FF2B5EF4-FFF2-40B4-BE49-F238E27FC236}">
                <a16:creationId xmlns:a16="http://schemas.microsoft.com/office/drawing/2014/main" id="{0C1C0ABC-8CAF-96AD-1EFE-6672199204DA}"/>
              </a:ext>
            </a:extLst>
          </p:cNvPr>
          <p:cNvSpPr>
            <a:spLocks noChangeArrowheads="1"/>
          </p:cNvSpPr>
          <p:nvPr/>
        </p:nvSpPr>
        <p:spPr bwMode="auto">
          <a:xfrm>
            <a:off x="6635750" y="38449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0108" name="Rectangle 604">
            <a:extLst>
              <a:ext uri="{FF2B5EF4-FFF2-40B4-BE49-F238E27FC236}">
                <a16:creationId xmlns:a16="http://schemas.microsoft.com/office/drawing/2014/main" id="{303371EB-1F7F-E13F-4FEE-B1795310ACD1}"/>
              </a:ext>
            </a:extLst>
          </p:cNvPr>
          <p:cNvSpPr>
            <a:spLocks noChangeArrowheads="1"/>
          </p:cNvSpPr>
          <p:nvPr/>
        </p:nvSpPr>
        <p:spPr bwMode="auto">
          <a:xfrm>
            <a:off x="6635750" y="3327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150109" name="Rectangle 605">
            <a:extLst>
              <a:ext uri="{FF2B5EF4-FFF2-40B4-BE49-F238E27FC236}">
                <a16:creationId xmlns:a16="http://schemas.microsoft.com/office/drawing/2014/main" id="{78F70C52-1469-0D3F-22A9-F901F3FE581D}"/>
              </a:ext>
            </a:extLst>
          </p:cNvPr>
          <p:cNvSpPr>
            <a:spLocks noChangeArrowheads="1"/>
          </p:cNvSpPr>
          <p:nvPr/>
        </p:nvSpPr>
        <p:spPr bwMode="auto">
          <a:xfrm>
            <a:off x="6635750" y="279400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0110" name="Rectangle 606">
            <a:extLst>
              <a:ext uri="{FF2B5EF4-FFF2-40B4-BE49-F238E27FC236}">
                <a16:creationId xmlns:a16="http://schemas.microsoft.com/office/drawing/2014/main" id="{32ED402E-639E-4605-B2D0-D9F8F355AE5F}"/>
              </a:ext>
            </a:extLst>
          </p:cNvPr>
          <p:cNvSpPr>
            <a:spLocks noChangeArrowheads="1"/>
          </p:cNvSpPr>
          <p:nvPr/>
        </p:nvSpPr>
        <p:spPr bwMode="auto">
          <a:xfrm>
            <a:off x="6635750" y="221456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52241" name="Rectangle 607">
            <a:extLst>
              <a:ext uri="{FF2B5EF4-FFF2-40B4-BE49-F238E27FC236}">
                <a16:creationId xmlns:a16="http://schemas.microsoft.com/office/drawing/2014/main" id="{5067199D-CADA-326F-94B8-EC245B62C040}"/>
              </a:ext>
            </a:extLst>
          </p:cNvPr>
          <p:cNvSpPr>
            <a:spLocks noChangeArrowheads="1"/>
          </p:cNvSpPr>
          <p:nvPr/>
        </p:nvSpPr>
        <p:spPr bwMode="auto">
          <a:xfrm>
            <a:off x="6635750" y="137636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52242" name="Rectangle 608">
            <a:extLst>
              <a:ext uri="{FF2B5EF4-FFF2-40B4-BE49-F238E27FC236}">
                <a16:creationId xmlns:a16="http://schemas.microsoft.com/office/drawing/2014/main" id="{C1B2F2B0-32D9-E317-7FEB-E91D5FA45954}"/>
              </a:ext>
            </a:extLst>
          </p:cNvPr>
          <p:cNvSpPr>
            <a:spLocks noChangeArrowheads="1"/>
          </p:cNvSpPr>
          <p:nvPr/>
        </p:nvSpPr>
        <p:spPr bwMode="auto">
          <a:xfrm>
            <a:off x="6099175" y="38449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52243" name="Rectangle 609">
            <a:extLst>
              <a:ext uri="{FF2B5EF4-FFF2-40B4-BE49-F238E27FC236}">
                <a16:creationId xmlns:a16="http://schemas.microsoft.com/office/drawing/2014/main" id="{D8E4CECB-C599-F1E5-8842-3FA0E94C5134}"/>
              </a:ext>
            </a:extLst>
          </p:cNvPr>
          <p:cNvSpPr>
            <a:spLocks noChangeArrowheads="1"/>
          </p:cNvSpPr>
          <p:nvPr/>
        </p:nvSpPr>
        <p:spPr bwMode="auto">
          <a:xfrm>
            <a:off x="6099175" y="3327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2244" name="Rectangle 610">
            <a:extLst>
              <a:ext uri="{FF2B5EF4-FFF2-40B4-BE49-F238E27FC236}">
                <a16:creationId xmlns:a16="http://schemas.microsoft.com/office/drawing/2014/main" id="{55E8C3E2-12F8-CC33-A4D1-3EE53879DB29}"/>
              </a:ext>
            </a:extLst>
          </p:cNvPr>
          <p:cNvSpPr>
            <a:spLocks noChangeArrowheads="1"/>
          </p:cNvSpPr>
          <p:nvPr/>
        </p:nvSpPr>
        <p:spPr bwMode="auto">
          <a:xfrm>
            <a:off x="6099175" y="279400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2245" name="Rectangle 611">
            <a:extLst>
              <a:ext uri="{FF2B5EF4-FFF2-40B4-BE49-F238E27FC236}">
                <a16:creationId xmlns:a16="http://schemas.microsoft.com/office/drawing/2014/main" id="{2D9F1B90-3AAF-00A1-4494-B4E01BD939E2}"/>
              </a:ext>
            </a:extLst>
          </p:cNvPr>
          <p:cNvSpPr>
            <a:spLocks noChangeArrowheads="1"/>
          </p:cNvSpPr>
          <p:nvPr/>
        </p:nvSpPr>
        <p:spPr bwMode="auto">
          <a:xfrm>
            <a:off x="6099175" y="221456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2246" name="Rectangle 612">
            <a:extLst>
              <a:ext uri="{FF2B5EF4-FFF2-40B4-BE49-F238E27FC236}">
                <a16:creationId xmlns:a16="http://schemas.microsoft.com/office/drawing/2014/main" id="{5D217EA3-3EB7-8689-9149-B85D01617DAE}"/>
              </a:ext>
            </a:extLst>
          </p:cNvPr>
          <p:cNvSpPr>
            <a:spLocks noChangeArrowheads="1"/>
          </p:cNvSpPr>
          <p:nvPr/>
        </p:nvSpPr>
        <p:spPr bwMode="auto">
          <a:xfrm>
            <a:off x="6099175" y="137636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52247" name="Rectangle 613">
            <a:extLst>
              <a:ext uri="{FF2B5EF4-FFF2-40B4-BE49-F238E27FC236}">
                <a16:creationId xmlns:a16="http://schemas.microsoft.com/office/drawing/2014/main" id="{06AA2CCB-E52C-76CB-7F5D-830F0D792F98}"/>
              </a:ext>
            </a:extLst>
          </p:cNvPr>
          <p:cNvSpPr>
            <a:spLocks noChangeArrowheads="1"/>
          </p:cNvSpPr>
          <p:nvPr/>
        </p:nvSpPr>
        <p:spPr bwMode="auto">
          <a:xfrm>
            <a:off x="5561013" y="3844925"/>
            <a:ext cx="5381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52248" name="Rectangle 614">
            <a:extLst>
              <a:ext uri="{FF2B5EF4-FFF2-40B4-BE49-F238E27FC236}">
                <a16:creationId xmlns:a16="http://schemas.microsoft.com/office/drawing/2014/main" id="{EAB8289C-27BE-1947-D352-DB29FF7085B7}"/>
              </a:ext>
            </a:extLst>
          </p:cNvPr>
          <p:cNvSpPr>
            <a:spLocks noChangeArrowheads="1"/>
          </p:cNvSpPr>
          <p:nvPr/>
        </p:nvSpPr>
        <p:spPr bwMode="auto">
          <a:xfrm>
            <a:off x="5561013" y="3327400"/>
            <a:ext cx="5381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2249" name="Rectangle 615">
            <a:extLst>
              <a:ext uri="{FF2B5EF4-FFF2-40B4-BE49-F238E27FC236}">
                <a16:creationId xmlns:a16="http://schemas.microsoft.com/office/drawing/2014/main" id="{BD942153-BC8E-C052-8D14-0AFBA847236E}"/>
              </a:ext>
            </a:extLst>
          </p:cNvPr>
          <p:cNvSpPr>
            <a:spLocks noChangeArrowheads="1"/>
          </p:cNvSpPr>
          <p:nvPr/>
        </p:nvSpPr>
        <p:spPr bwMode="auto">
          <a:xfrm>
            <a:off x="5561013" y="2794000"/>
            <a:ext cx="5381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2250" name="Rectangle 616">
            <a:extLst>
              <a:ext uri="{FF2B5EF4-FFF2-40B4-BE49-F238E27FC236}">
                <a16:creationId xmlns:a16="http://schemas.microsoft.com/office/drawing/2014/main" id="{1791C57F-186F-4D0A-E260-2BA91ACDA934}"/>
              </a:ext>
            </a:extLst>
          </p:cNvPr>
          <p:cNvSpPr>
            <a:spLocks noChangeArrowheads="1"/>
          </p:cNvSpPr>
          <p:nvPr/>
        </p:nvSpPr>
        <p:spPr bwMode="auto">
          <a:xfrm>
            <a:off x="5561013" y="2214563"/>
            <a:ext cx="5381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2251" name="Rectangle 617">
            <a:extLst>
              <a:ext uri="{FF2B5EF4-FFF2-40B4-BE49-F238E27FC236}">
                <a16:creationId xmlns:a16="http://schemas.microsoft.com/office/drawing/2014/main" id="{79048245-B643-E983-A00C-3A3DF7D57F6D}"/>
              </a:ext>
            </a:extLst>
          </p:cNvPr>
          <p:cNvSpPr>
            <a:spLocks noChangeArrowheads="1"/>
          </p:cNvSpPr>
          <p:nvPr/>
        </p:nvSpPr>
        <p:spPr bwMode="auto">
          <a:xfrm>
            <a:off x="5561013" y="1376363"/>
            <a:ext cx="5381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150122" name="Rectangle 618">
            <a:extLst>
              <a:ext uri="{FF2B5EF4-FFF2-40B4-BE49-F238E27FC236}">
                <a16:creationId xmlns:a16="http://schemas.microsoft.com/office/drawing/2014/main" id="{5E0016C8-406F-4088-6D54-3735CCE933A1}"/>
              </a:ext>
            </a:extLst>
          </p:cNvPr>
          <p:cNvSpPr>
            <a:spLocks noChangeArrowheads="1"/>
          </p:cNvSpPr>
          <p:nvPr/>
        </p:nvSpPr>
        <p:spPr bwMode="auto">
          <a:xfrm>
            <a:off x="5024438" y="38449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0123" name="Rectangle 619">
            <a:extLst>
              <a:ext uri="{FF2B5EF4-FFF2-40B4-BE49-F238E27FC236}">
                <a16:creationId xmlns:a16="http://schemas.microsoft.com/office/drawing/2014/main" id="{8C89B938-F5DF-88A5-3489-A0995401E072}"/>
              </a:ext>
            </a:extLst>
          </p:cNvPr>
          <p:cNvSpPr>
            <a:spLocks noChangeArrowheads="1"/>
          </p:cNvSpPr>
          <p:nvPr/>
        </p:nvSpPr>
        <p:spPr bwMode="auto">
          <a:xfrm>
            <a:off x="5024438" y="3327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150124" name="Rectangle 620">
            <a:extLst>
              <a:ext uri="{FF2B5EF4-FFF2-40B4-BE49-F238E27FC236}">
                <a16:creationId xmlns:a16="http://schemas.microsoft.com/office/drawing/2014/main" id="{44C8B448-D220-6269-D24F-86253D8DD4EC}"/>
              </a:ext>
            </a:extLst>
          </p:cNvPr>
          <p:cNvSpPr>
            <a:spLocks noChangeArrowheads="1"/>
          </p:cNvSpPr>
          <p:nvPr/>
        </p:nvSpPr>
        <p:spPr bwMode="auto">
          <a:xfrm>
            <a:off x="5024438" y="279400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0125" name="Rectangle 621">
            <a:extLst>
              <a:ext uri="{FF2B5EF4-FFF2-40B4-BE49-F238E27FC236}">
                <a16:creationId xmlns:a16="http://schemas.microsoft.com/office/drawing/2014/main" id="{527A63A6-7C14-6FBB-8CC8-133683D57128}"/>
              </a:ext>
            </a:extLst>
          </p:cNvPr>
          <p:cNvSpPr>
            <a:spLocks noChangeArrowheads="1"/>
          </p:cNvSpPr>
          <p:nvPr/>
        </p:nvSpPr>
        <p:spPr bwMode="auto">
          <a:xfrm>
            <a:off x="5024438" y="221456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2256" name="Rectangle 622">
            <a:extLst>
              <a:ext uri="{FF2B5EF4-FFF2-40B4-BE49-F238E27FC236}">
                <a16:creationId xmlns:a16="http://schemas.microsoft.com/office/drawing/2014/main" id="{CBCE7C28-E0E9-9196-2E53-E0BDE837D9C9}"/>
              </a:ext>
            </a:extLst>
          </p:cNvPr>
          <p:cNvSpPr>
            <a:spLocks noChangeArrowheads="1"/>
          </p:cNvSpPr>
          <p:nvPr/>
        </p:nvSpPr>
        <p:spPr bwMode="auto">
          <a:xfrm>
            <a:off x="5024438" y="137636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52257" name="Rectangle 623">
            <a:extLst>
              <a:ext uri="{FF2B5EF4-FFF2-40B4-BE49-F238E27FC236}">
                <a16:creationId xmlns:a16="http://schemas.microsoft.com/office/drawing/2014/main" id="{D48AC5DF-C1AB-1AC0-912C-B2E1F3505E44}"/>
              </a:ext>
            </a:extLst>
          </p:cNvPr>
          <p:cNvSpPr>
            <a:spLocks noChangeArrowheads="1"/>
          </p:cNvSpPr>
          <p:nvPr/>
        </p:nvSpPr>
        <p:spPr bwMode="auto">
          <a:xfrm>
            <a:off x="4487863" y="38449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52258" name="Rectangle 624">
            <a:extLst>
              <a:ext uri="{FF2B5EF4-FFF2-40B4-BE49-F238E27FC236}">
                <a16:creationId xmlns:a16="http://schemas.microsoft.com/office/drawing/2014/main" id="{FBBD5454-CCBC-128E-76C9-4682D0584E27}"/>
              </a:ext>
            </a:extLst>
          </p:cNvPr>
          <p:cNvSpPr>
            <a:spLocks noChangeArrowheads="1"/>
          </p:cNvSpPr>
          <p:nvPr/>
        </p:nvSpPr>
        <p:spPr bwMode="auto">
          <a:xfrm>
            <a:off x="4487863" y="3327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2259" name="Rectangle 625">
            <a:extLst>
              <a:ext uri="{FF2B5EF4-FFF2-40B4-BE49-F238E27FC236}">
                <a16:creationId xmlns:a16="http://schemas.microsoft.com/office/drawing/2014/main" id="{0CB30132-3D5A-665B-845C-ADE782E70619}"/>
              </a:ext>
            </a:extLst>
          </p:cNvPr>
          <p:cNvSpPr>
            <a:spLocks noChangeArrowheads="1"/>
          </p:cNvSpPr>
          <p:nvPr/>
        </p:nvSpPr>
        <p:spPr bwMode="auto">
          <a:xfrm>
            <a:off x="4487863" y="279400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2260" name="Rectangle 626">
            <a:extLst>
              <a:ext uri="{FF2B5EF4-FFF2-40B4-BE49-F238E27FC236}">
                <a16:creationId xmlns:a16="http://schemas.microsoft.com/office/drawing/2014/main" id="{CD948456-0ABA-B6F9-1093-2E1FB13DFBD9}"/>
              </a:ext>
            </a:extLst>
          </p:cNvPr>
          <p:cNvSpPr>
            <a:spLocks noChangeArrowheads="1"/>
          </p:cNvSpPr>
          <p:nvPr/>
        </p:nvSpPr>
        <p:spPr bwMode="auto">
          <a:xfrm>
            <a:off x="4487863" y="221456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2261" name="Rectangle 627">
            <a:extLst>
              <a:ext uri="{FF2B5EF4-FFF2-40B4-BE49-F238E27FC236}">
                <a16:creationId xmlns:a16="http://schemas.microsoft.com/office/drawing/2014/main" id="{F737EE12-AABA-13E5-6B33-F366D88D996A}"/>
              </a:ext>
            </a:extLst>
          </p:cNvPr>
          <p:cNvSpPr>
            <a:spLocks noChangeArrowheads="1"/>
          </p:cNvSpPr>
          <p:nvPr/>
        </p:nvSpPr>
        <p:spPr bwMode="auto">
          <a:xfrm>
            <a:off x="4487863" y="137636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52262" name="Rectangle 628">
            <a:extLst>
              <a:ext uri="{FF2B5EF4-FFF2-40B4-BE49-F238E27FC236}">
                <a16:creationId xmlns:a16="http://schemas.microsoft.com/office/drawing/2014/main" id="{8B97F779-5B2A-80EF-B07F-91D568960BCB}"/>
              </a:ext>
            </a:extLst>
          </p:cNvPr>
          <p:cNvSpPr>
            <a:spLocks noChangeArrowheads="1"/>
          </p:cNvSpPr>
          <p:nvPr/>
        </p:nvSpPr>
        <p:spPr bwMode="auto">
          <a:xfrm>
            <a:off x="3951288" y="38449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52263" name="Rectangle 629">
            <a:extLst>
              <a:ext uri="{FF2B5EF4-FFF2-40B4-BE49-F238E27FC236}">
                <a16:creationId xmlns:a16="http://schemas.microsoft.com/office/drawing/2014/main" id="{2A130BD3-88CC-7972-831D-4C94E9D09A20}"/>
              </a:ext>
            </a:extLst>
          </p:cNvPr>
          <p:cNvSpPr>
            <a:spLocks noChangeArrowheads="1"/>
          </p:cNvSpPr>
          <p:nvPr/>
        </p:nvSpPr>
        <p:spPr bwMode="auto">
          <a:xfrm>
            <a:off x="3951288" y="3327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2264" name="Rectangle 630">
            <a:extLst>
              <a:ext uri="{FF2B5EF4-FFF2-40B4-BE49-F238E27FC236}">
                <a16:creationId xmlns:a16="http://schemas.microsoft.com/office/drawing/2014/main" id="{CB87B10C-E81B-BE01-9511-9B092626874D}"/>
              </a:ext>
            </a:extLst>
          </p:cNvPr>
          <p:cNvSpPr>
            <a:spLocks noChangeArrowheads="1"/>
          </p:cNvSpPr>
          <p:nvPr/>
        </p:nvSpPr>
        <p:spPr bwMode="auto">
          <a:xfrm>
            <a:off x="3951288" y="279400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2265" name="Rectangle 631">
            <a:extLst>
              <a:ext uri="{FF2B5EF4-FFF2-40B4-BE49-F238E27FC236}">
                <a16:creationId xmlns:a16="http://schemas.microsoft.com/office/drawing/2014/main" id="{0CFD3ED7-687B-0A13-B3AD-E43E1942B9F3}"/>
              </a:ext>
            </a:extLst>
          </p:cNvPr>
          <p:cNvSpPr>
            <a:spLocks noChangeArrowheads="1"/>
          </p:cNvSpPr>
          <p:nvPr/>
        </p:nvSpPr>
        <p:spPr bwMode="auto">
          <a:xfrm>
            <a:off x="3951288" y="221456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2266" name="Rectangle 632">
            <a:extLst>
              <a:ext uri="{FF2B5EF4-FFF2-40B4-BE49-F238E27FC236}">
                <a16:creationId xmlns:a16="http://schemas.microsoft.com/office/drawing/2014/main" id="{73726792-1689-2188-4821-A0B1DF547E3B}"/>
              </a:ext>
            </a:extLst>
          </p:cNvPr>
          <p:cNvSpPr>
            <a:spLocks noChangeArrowheads="1"/>
          </p:cNvSpPr>
          <p:nvPr/>
        </p:nvSpPr>
        <p:spPr bwMode="auto">
          <a:xfrm>
            <a:off x="3951288" y="137636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150137" name="Rectangle 633">
            <a:extLst>
              <a:ext uri="{FF2B5EF4-FFF2-40B4-BE49-F238E27FC236}">
                <a16:creationId xmlns:a16="http://schemas.microsoft.com/office/drawing/2014/main" id="{F1ACE042-5B73-2ADA-9304-DAE58B4707D0}"/>
              </a:ext>
            </a:extLst>
          </p:cNvPr>
          <p:cNvSpPr>
            <a:spLocks noChangeArrowheads="1"/>
          </p:cNvSpPr>
          <p:nvPr/>
        </p:nvSpPr>
        <p:spPr bwMode="auto">
          <a:xfrm>
            <a:off x="3414713" y="38449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0138" name="Rectangle 634">
            <a:extLst>
              <a:ext uri="{FF2B5EF4-FFF2-40B4-BE49-F238E27FC236}">
                <a16:creationId xmlns:a16="http://schemas.microsoft.com/office/drawing/2014/main" id="{68EE792E-1DBF-C504-377B-82B0452899EB}"/>
              </a:ext>
            </a:extLst>
          </p:cNvPr>
          <p:cNvSpPr>
            <a:spLocks noChangeArrowheads="1"/>
          </p:cNvSpPr>
          <p:nvPr/>
        </p:nvSpPr>
        <p:spPr bwMode="auto">
          <a:xfrm>
            <a:off x="3414713" y="3327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150139" name="Rectangle 635">
            <a:extLst>
              <a:ext uri="{FF2B5EF4-FFF2-40B4-BE49-F238E27FC236}">
                <a16:creationId xmlns:a16="http://schemas.microsoft.com/office/drawing/2014/main" id="{366D517C-A290-C853-61DB-DF24DEEFA6DB}"/>
              </a:ext>
            </a:extLst>
          </p:cNvPr>
          <p:cNvSpPr>
            <a:spLocks noChangeArrowheads="1"/>
          </p:cNvSpPr>
          <p:nvPr/>
        </p:nvSpPr>
        <p:spPr bwMode="auto">
          <a:xfrm>
            <a:off x="3414713" y="279400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0140" name="Rectangle 636">
            <a:extLst>
              <a:ext uri="{FF2B5EF4-FFF2-40B4-BE49-F238E27FC236}">
                <a16:creationId xmlns:a16="http://schemas.microsoft.com/office/drawing/2014/main" id="{CB536448-D2B0-D7FD-AB24-081A90567049}"/>
              </a:ext>
            </a:extLst>
          </p:cNvPr>
          <p:cNvSpPr>
            <a:spLocks noChangeArrowheads="1"/>
          </p:cNvSpPr>
          <p:nvPr/>
        </p:nvSpPr>
        <p:spPr bwMode="auto">
          <a:xfrm>
            <a:off x="3414713" y="221456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2271" name="Rectangle 637">
            <a:extLst>
              <a:ext uri="{FF2B5EF4-FFF2-40B4-BE49-F238E27FC236}">
                <a16:creationId xmlns:a16="http://schemas.microsoft.com/office/drawing/2014/main" id="{61218E18-CCBA-096B-105F-4D63A7FD622D}"/>
              </a:ext>
            </a:extLst>
          </p:cNvPr>
          <p:cNvSpPr>
            <a:spLocks noChangeArrowheads="1"/>
          </p:cNvSpPr>
          <p:nvPr/>
        </p:nvSpPr>
        <p:spPr bwMode="auto">
          <a:xfrm>
            <a:off x="3414713" y="137636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150142" name="Rectangle 638">
            <a:extLst>
              <a:ext uri="{FF2B5EF4-FFF2-40B4-BE49-F238E27FC236}">
                <a16:creationId xmlns:a16="http://schemas.microsoft.com/office/drawing/2014/main" id="{559DC702-75AF-D746-768A-136113241DB2}"/>
              </a:ext>
            </a:extLst>
          </p:cNvPr>
          <p:cNvSpPr>
            <a:spLocks noChangeArrowheads="1"/>
          </p:cNvSpPr>
          <p:nvPr/>
        </p:nvSpPr>
        <p:spPr bwMode="auto">
          <a:xfrm>
            <a:off x="2878138" y="38449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0143" name="Rectangle 639">
            <a:extLst>
              <a:ext uri="{FF2B5EF4-FFF2-40B4-BE49-F238E27FC236}">
                <a16:creationId xmlns:a16="http://schemas.microsoft.com/office/drawing/2014/main" id="{C2AB5833-AEF0-7BDF-407F-A70A303FA304}"/>
              </a:ext>
            </a:extLst>
          </p:cNvPr>
          <p:cNvSpPr>
            <a:spLocks noChangeArrowheads="1"/>
          </p:cNvSpPr>
          <p:nvPr/>
        </p:nvSpPr>
        <p:spPr bwMode="auto">
          <a:xfrm>
            <a:off x="2878138" y="3327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150144" name="Rectangle 640">
            <a:extLst>
              <a:ext uri="{FF2B5EF4-FFF2-40B4-BE49-F238E27FC236}">
                <a16:creationId xmlns:a16="http://schemas.microsoft.com/office/drawing/2014/main" id="{83341945-1F9D-EB42-F796-4A39B4B77F56}"/>
              </a:ext>
            </a:extLst>
          </p:cNvPr>
          <p:cNvSpPr>
            <a:spLocks noChangeArrowheads="1"/>
          </p:cNvSpPr>
          <p:nvPr/>
        </p:nvSpPr>
        <p:spPr bwMode="auto">
          <a:xfrm>
            <a:off x="2878138" y="279400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0145" name="Rectangle 641">
            <a:extLst>
              <a:ext uri="{FF2B5EF4-FFF2-40B4-BE49-F238E27FC236}">
                <a16:creationId xmlns:a16="http://schemas.microsoft.com/office/drawing/2014/main" id="{37E179C7-64F3-1D27-7FE1-1427F79A9DF5}"/>
              </a:ext>
            </a:extLst>
          </p:cNvPr>
          <p:cNvSpPr>
            <a:spLocks noChangeArrowheads="1"/>
          </p:cNvSpPr>
          <p:nvPr/>
        </p:nvSpPr>
        <p:spPr bwMode="auto">
          <a:xfrm>
            <a:off x="2878138" y="221456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2276" name="Rectangle 642">
            <a:extLst>
              <a:ext uri="{FF2B5EF4-FFF2-40B4-BE49-F238E27FC236}">
                <a16:creationId xmlns:a16="http://schemas.microsoft.com/office/drawing/2014/main" id="{00EC8ED0-3B07-8BAF-5CBE-6F4F19F9804C}"/>
              </a:ext>
            </a:extLst>
          </p:cNvPr>
          <p:cNvSpPr>
            <a:spLocks noChangeArrowheads="1"/>
          </p:cNvSpPr>
          <p:nvPr/>
        </p:nvSpPr>
        <p:spPr bwMode="auto">
          <a:xfrm>
            <a:off x="2878138" y="137636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150147" name="Rectangle 643">
            <a:extLst>
              <a:ext uri="{FF2B5EF4-FFF2-40B4-BE49-F238E27FC236}">
                <a16:creationId xmlns:a16="http://schemas.microsoft.com/office/drawing/2014/main" id="{BD13808D-77EA-8607-C8D7-3BD8E486C234}"/>
              </a:ext>
            </a:extLst>
          </p:cNvPr>
          <p:cNvSpPr>
            <a:spLocks noChangeArrowheads="1"/>
          </p:cNvSpPr>
          <p:nvPr/>
        </p:nvSpPr>
        <p:spPr bwMode="auto">
          <a:xfrm>
            <a:off x="2341563" y="384492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52278" name="Rectangle 644">
            <a:extLst>
              <a:ext uri="{FF2B5EF4-FFF2-40B4-BE49-F238E27FC236}">
                <a16:creationId xmlns:a16="http://schemas.microsoft.com/office/drawing/2014/main" id="{72A780F7-92D8-F2F1-887F-38E13AF394EA}"/>
              </a:ext>
            </a:extLst>
          </p:cNvPr>
          <p:cNvSpPr>
            <a:spLocks noChangeArrowheads="1"/>
          </p:cNvSpPr>
          <p:nvPr/>
        </p:nvSpPr>
        <p:spPr bwMode="auto">
          <a:xfrm>
            <a:off x="2341563" y="3327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150149" name="Rectangle 645">
            <a:extLst>
              <a:ext uri="{FF2B5EF4-FFF2-40B4-BE49-F238E27FC236}">
                <a16:creationId xmlns:a16="http://schemas.microsoft.com/office/drawing/2014/main" id="{F5804C4A-08EF-007F-A6DE-EF5CF64F17E7}"/>
              </a:ext>
            </a:extLst>
          </p:cNvPr>
          <p:cNvSpPr>
            <a:spLocks noChangeArrowheads="1"/>
          </p:cNvSpPr>
          <p:nvPr/>
        </p:nvSpPr>
        <p:spPr bwMode="auto">
          <a:xfrm>
            <a:off x="2341563" y="279400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0150" name="Rectangle 646">
            <a:extLst>
              <a:ext uri="{FF2B5EF4-FFF2-40B4-BE49-F238E27FC236}">
                <a16:creationId xmlns:a16="http://schemas.microsoft.com/office/drawing/2014/main" id="{81FAD8FB-3A8A-5580-AE02-6929586A5494}"/>
              </a:ext>
            </a:extLst>
          </p:cNvPr>
          <p:cNvSpPr>
            <a:spLocks noChangeArrowheads="1"/>
          </p:cNvSpPr>
          <p:nvPr/>
        </p:nvSpPr>
        <p:spPr bwMode="auto">
          <a:xfrm>
            <a:off x="2341563" y="221456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2281" name="Rectangle 647">
            <a:extLst>
              <a:ext uri="{FF2B5EF4-FFF2-40B4-BE49-F238E27FC236}">
                <a16:creationId xmlns:a16="http://schemas.microsoft.com/office/drawing/2014/main" id="{B16B7046-746C-4C9C-A5CC-41A9030AE09A}"/>
              </a:ext>
            </a:extLst>
          </p:cNvPr>
          <p:cNvSpPr>
            <a:spLocks noChangeArrowheads="1"/>
          </p:cNvSpPr>
          <p:nvPr/>
        </p:nvSpPr>
        <p:spPr bwMode="auto">
          <a:xfrm>
            <a:off x="2341563" y="137636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0152" name="Rectangle 648">
            <a:extLst>
              <a:ext uri="{FF2B5EF4-FFF2-40B4-BE49-F238E27FC236}">
                <a16:creationId xmlns:a16="http://schemas.microsoft.com/office/drawing/2014/main" id="{D75864C0-FA96-5B1D-5E79-546B764BA468}"/>
              </a:ext>
            </a:extLst>
          </p:cNvPr>
          <p:cNvSpPr>
            <a:spLocks noChangeArrowheads="1"/>
          </p:cNvSpPr>
          <p:nvPr/>
        </p:nvSpPr>
        <p:spPr bwMode="auto">
          <a:xfrm>
            <a:off x="1698625" y="3844925"/>
            <a:ext cx="6429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52283" name="Rectangle 649">
            <a:extLst>
              <a:ext uri="{FF2B5EF4-FFF2-40B4-BE49-F238E27FC236}">
                <a16:creationId xmlns:a16="http://schemas.microsoft.com/office/drawing/2014/main" id="{73C8741F-B48D-0825-2608-4D08EE5E28E8}"/>
              </a:ext>
            </a:extLst>
          </p:cNvPr>
          <p:cNvSpPr>
            <a:spLocks noChangeArrowheads="1"/>
          </p:cNvSpPr>
          <p:nvPr/>
        </p:nvSpPr>
        <p:spPr bwMode="auto">
          <a:xfrm>
            <a:off x="1698625" y="3327400"/>
            <a:ext cx="6429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2284" name="Rectangle 650">
            <a:extLst>
              <a:ext uri="{FF2B5EF4-FFF2-40B4-BE49-F238E27FC236}">
                <a16:creationId xmlns:a16="http://schemas.microsoft.com/office/drawing/2014/main" id="{F836122F-5F39-E6BE-D8AB-4B1FA50375B8}"/>
              </a:ext>
            </a:extLst>
          </p:cNvPr>
          <p:cNvSpPr>
            <a:spLocks noChangeArrowheads="1"/>
          </p:cNvSpPr>
          <p:nvPr/>
        </p:nvSpPr>
        <p:spPr bwMode="auto">
          <a:xfrm>
            <a:off x="1698625" y="2794000"/>
            <a:ext cx="6429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150155" name="Rectangle 651">
            <a:extLst>
              <a:ext uri="{FF2B5EF4-FFF2-40B4-BE49-F238E27FC236}">
                <a16:creationId xmlns:a16="http://schemas.microsoft.com/office/drawing/2014/main" id="{7338ADEA-ED8E-2DE6-5DFA-078CE0659AB7}"/>
              </a:ext>
            </a:extLst>
          </p:cNvPr>
          <p:cNvSpPr>
            <a:spLocks noChangeArrowheads="1"/>
          </p:cNvSpPr>
          <p:nvPr/>
        </p:nvSpPr>
        <p:spPr bwMode="auto">
          <a:xfrm>
            <a:off x="1698625" y="2214563"/>
            <a:ext cx="6429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2286" name="Rectangle 652">
            <a:extLst>
              <a:ext uri="{FF2B5EF4-FFF2-40B4-BE49-F238E27FC236}">
                <a16:creationId xmlns:a16="http://schemas.microsoft.com/office/drawing/2014/main" id="{D5C29671-45A3-2700-FA98-E0F305E9A5A0}"/>
              </a:ext>
            </a:extLst>
          </p:cNvPr>
          <p:cNvSpPr>
            <a:spLocks noChangeArrowheads="1"/>
          </p:cNvSpPr>
          <p:nvPr/>
        </p:nvSpPr>
        <p:spPr bwMode="auto">
          <a:xfrm>
            <a:off x="1698625" y="1376363"/>
            <a:ext cx="6429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2287" name="Rectangle 653">
            <a:extLst>
              <a:ext uri="{FF2B5EF4-FFF2-40B4-BE49-F238E27FC236}">
                <a16:creationId xmlns:a16="http://schemas.microsoft.com/office/drawing/2014/main" id="{0BA8ED68-1C4E-431C-15C6-AE86A3BB6F74}"/>
              </a:ext>
            </a:extLst>
          </p:cNvPr>
          <p:cNvSpPr>
            <a:spLocks noChangeArrowheads="1"/>
          </p:cNvSpPr>
          <p:nvPr/>
        </p:nvSpPr>
        <p:spPr bwMode="auto">
          <a:xfrm>
            <a:off x="696913" y="3844925"/>
            <a:ext cx="10017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2288" name="Rectangle 654">
            <a:extLst>
              <a:ext uri="{FF2B5EF4-FFF2-40B4-BE49-F238E27FC236}">
                <a16:creationId xmlns:a16="http://schemas.microsoft.com/office/drawing/2014/main" id="{BED5A9EF-BEF8-705D-B397-096675420683}"/>
              </a:ext>
            </a:extLst>
          </p:cNvPr>
          <p:cNvSpPr>
            <a:spLocks noChangeArrowheads="1"/>
          </p:cNvSpPr>
          <p:nvPr/>
        </p:nvSpPr>
        <p:spPr bwMode="auto">
          <a:xfrm>
            <a:off x="696913" y="3327400"/>
            <a:ext cx="10017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块3</a:t>
            </a:r>
          </a:p>
        </p:txBody>
      </p:sp>
      <p:sp>
        <p:nvSpPr>
          <p:cNvPr id="52289" name="Rectangle 655">
            <a:extLst>
              <a:ext uri="{FF2B5EF4-FFF2-40B4-BE49-F238E27FC236}">
                <a16:creationId xmlns:a16="http://schemas.microsoft.com/office/drawing/2014/main" id="{AD10D727-C6E4-98E2-B4A3-1DC2F42CCA79}"/>
              </a:ext>
            </a:extLst>
          </p:cNvPr>
          <p:cNvSpPr>
            <a:spLocks noChangeArrowheads="1"/>
          </p:cNvSpPr>
          <p:nvPr/>
        </p:nvSpPr>
        <p:spPr bwMode="auto">
          <a:xfrm>
            <a:off x="696913" y="2794000"/>
            <a:ext cx="10017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块2</a:t>
            </a:r>
          </a:p>
        </p:txBody>
      </p:sp>
      <p:sp>
        <p:nvSpPr>
          <p:cNvPr id="52290" name="Rectangle 656">
            <a:extLst>
              <a:ext uri="{FF2B5EF4-FFF2-40B4-BE49-F238E27FC236}">
                <a16:creationId xmlns:a16="http://schemas.microsoft.com/office/drawing/2014/main" id="{4FA928B0-10AC-A23E-B17A-8F2C962246A8}"/>
              </a:ext>
            </a:extLst>
          </p:cNvPr>
          <p:cNvSpPr>
            <a:spLocks noChangeArrowheads="1"/>
          </p:cNvSpPr>
          <p:nvPr/>
        </p:nvSpPr>
        <p:spPr bwMode="auto">
          <a:xfrm>
            <a:off x="696913" y="2214563"/>
            <a:ext cx="10017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块1</a:t>
            </a:r>
          </a:p>
        </p:txBody>
      </p:sp>
      <p:sp>
        <p:nvSpPr>
          <p:cNvPr id="52291" name="Rectangle 657">
            <a:extLst>
              <a:ext uri="{FF2B5EF4-FFF2-40B4-BE49-F238E27FC236}">
                <a16:creationId xmlns:a16="http://schemas.microsoft.com/office/drawing/2014/main" id="{F4C20357-E722-F191-8A79-49CA09AFF1C8}"/>
              </a:ext>
            </a:extLst>
          </p:cNvPr>
          <p:cNvSpPr>
            <a:spLocks noChangeArrowheads="1"/>
          </p:cNvSpPr>
          <p:nvPr/>
        </p:nvSpPr>
        <p:spPr bwMode="auto">
          <a:xfrm>
            <a:off x="696913" y="1376363"/>
            <a:ext cx="100171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走向</a:t>
            </a:r>
          </a:p>
        </p:txBody>
      </p:sp>
      <p:sp>
        <p:nvSpPr>
          <p:cNvPr id="52292" name="Line 658">
            <a:extLst>
              <a:ext uri="{FF2B5EF4-FFF2-40B4-BE49-F238E27FC236}">
                <a16:creationId xmlns:a16="http://schemas.microsoft.com/office/drawing/2014/main" id="{11F8356F-4918-DBA2-FB2B-244C42AD5E0A}"/>
              </a:ext>
            </a:extLst>
          </p:cNvPr>
          <p:cNvSpPr>
            <a:spLocks noChangeShapeType="1"/>
          </p:cNvSpPr>
          <p:nvPr/>
        </p:nvSpPr>
        <p:spPr bwMode="auto">
          <a:xfrm>
            <a:off x="696913" y="1376363"/>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93" name="Line 659">
            <a:extLst>
              <a:ext uri="{FF2B5EF4-FFF2-40B4-BE49-F238E27FC236}">
                <a16:creationId xmlns:a16="http://schemas.microsoft.com/office/drawing/2014/main" id="{BE3AAE7B-366E-4F91-F306-B8773BA7FE63}"/>
              </a:ext>
            </a:extLst>
          </p:cNvPr>
          <p:cNvSpPr>
            <a:spLocks noChangeShapeType="1"/>
          </p:cNvSpPr>
          <p:nvPr/>
        </p:nvSpPr>
        <p:spPr bwMode="auto">
          <a:xfrm>
            <a:off x="696913" y="4362450"/>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94" name="Line 660">
            <a:extLst>
              <a:ext uri="{FF2B5EF4-FFF2-40B4-BE49-F238E27FC236}">
                <a16:creationId xmlns:a16="http://schemas.microsoft.com/office/drawing/2014/main" id="{42766E64-DEF6-4614-3000-2CCF95ED38F8}"/>
              </a:ext>
            </a:extLst>
          </p:cNvPr>
          <p:cNvSpPr>
            <a:spLocks noChangeShapeType="1"/>
          </p:cNvSpPr>
          <p:nvPr/>
        </p:nvSpPr>
        <p:spPr bwMode="auto">
          <a:xfrm>
            <a:off x="696913" y="1376363"/>
            <a:ext cx="0" cy="2986087"/>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95" name="Line 661">
            <a:extLst>
              <a:ext uri="{FF2B5EF4-FFF2-40B4-BE49-F238E27FC236}">
                <a16:creationId xmlns:a16="http://schemas.microsoft.com/office/drawing/2014/main" id="{707444C7-AB29-5CD0-ADBD-59F699232E85}"/>
              </a:ext>
            </a:extLst>
          </p:cNvPr>
          <p:cNvSpPr>
            <a:spLocks noChangeShapeType="1"/>
          </p:cNvSpPr>
          <p:nvPr/>
        </p:nvSpPr>
        <p:spPr bwMode="auto">
          <a:xfrm>
            <a:off x="8316913" y="1376363"/>
            <a:ext cx="0" cy="2986087"/>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96" name="Line 662">
            <a:extLst>
              <a:ext uri="{FF2B5EF4-FFF2-40B4-BE49-F238E27FC236}">
                <a16:creationId xmlns:a16="http://schemas.microsoft.com/office/drawing/2014/main" id="{E1DCFE18-19EB-CCA9-E21A-2C79EC44032A}"/>
              </a:ext>
            </a:extLst>
          </p:cNvPr>
          <p:cNvSpPr>
            <a:spLocks noChangeShapeType="1"/>
          </p:cNvSpPr>
          <p:nvPr/>
        </p:nvSpPr>
        <p:spPr bwMode="auto">
          <a:xfrm>
            <a:off x="696913" y="2214563"/>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97" name="Line 663">
            <a:extLst>
              <a:ext uri="{FF2B5EF4-FFF2-40B4-BE49-F238E27FC236}">
                <a16:creationId xmlns:a16="http://schemas.microsoft.com/office/drawing/2014/main" id="{9B266033-7FF8-0645-6C1F-7DF2761A2407}"/>
              </a:ext>
            </a:extLst>
          </p:cNvPr>
          <p:cNvSpPr>
            <a:spLocks noChangeShapeType="1"/>
          </p:cNvSpPr>
          <p:nvPr/>
        </p:nvSpPr>
        <p:spPr bwMode="auto">
          <a:xfrm>
            <a:off x="696913" y="2794000"/>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98" name="Line 664">
            <a:extLst>
              <a:ext uri="{FF2B5EF4-FFF2-40B4-BE49-F238E27FC236}">
                <a16:creationId xmlns:a16="http://schemas.microsoft.com/office/drawing/2014/main" id="{8F3F28EE-4C49-86A3-F739-6575D61E4B1C}"/>
              </a:ext>
            </a:extLst>
          </p:cNvPr>
          <p:cNvSpPr>
            <a:spLocks noChangeShapeType="1"/>
          </p:cNvSpPr>
          <p:nvPr/>
        </p:nvSpPr>
        <p:spPr bwMode="auto">
          <a:xfrm>
            <a:off x="696913" y="3327400"/>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99" name="Line 665">
            <a:extLst>
              <a:ext uri="{FF2B5EF4-FFF2-40B4-BE49-F238E27FC236}">
                <a16:creationId xmlns:a16="http://schemas.microsoft.com/office/drawing/2014/main" id="{B46138B7-5030-5DC7-62D8-58B764DDC77B}"/>
              </a:ext>
            </a:extLst>
          </p:cNvPr>
          <p:cNvSpPr>
            <a:spLocks noChangeShapeType="1"/>
          </p:cNvSpPr>
          <p:nvPr/>
        </p:nvSpPr>
        <p:spPr bwMode="auto">
          <a:xfrm>
            <a:off x="696913" y="3844925"/>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00" name="Line 666">
            <a:extLst>
              <a:ext uri="{FF2B5EF4-FFF2-40B4-BE49-F238E27FC236}">
                <a16:creationId xmlns:a16="http://schemas.microsoft.com/office/drawing/2014/main" id="{467B8A13-5C2E-CFDB-D23A-8CA5F0C46029}"/>
              </a:ext>
            </a:extLst>
          </p:cNvPr>
          <p:cNvSpPr>
            <a:spLocks noChangeShapeType="1"/>
          </p:cNvSpPr>
          <p:nvPr/>
        </p:nvSpPr>
        <p:spPr bwMode="auto">
          <a:xfrm>
            <a:off x="1698625" y="1376363"/>
            <a:ext cx="0" cy="29860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01" name="Line 667">
            <a:extLst>
              <a:ext uri="{FF2B5EF4-FFF2-40B4-BE49-F238E27FC236}">
                <a16:creationId xmlns:a16="http://schemas.microsoft.com/office/drawing/2014/main" id="{4ED74823-88C6-C9E8-BA70-98CCAFBFE31D}"/>
              </a:ext>
            </a:extLst>
          </p:cNvPr>
          <p:cNvSpPr>
            <a:spLocks noChangeShapeType="1"/>
          </p:cNvSpPr>
          <p:nvPr/>
        </p:nvSpPr>
        <p:spPr bwMode="auto">
          <a:xfrm>
            <a:off x="2341563" y="1376363"/>
            <a:ext cx="0" cy="29860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02" name="Line 668">
            <a:extLst>
              <a:ext uri="{FF2B5EF4-FFF2-40B4-BE49-F238E27FC236}">
                <a16:creationId xmlns:a16="http://schemas.microsoft.com/office/drawing/2014/main" id="{3BAF0D3F-F7A2-A6B5-062D-DC5B14F8D689}"/>
              </a:ext>
            </a:extLst>
          </p:cNvPr>
          <p:cNvSpPr>
            <a:spLocks noChangeShapeType="1"/>
          </p:cNvSpPr>
          <p:nvPr/>
        </p:nvSpPr>
        <p:spPr bwMode="auto">
          <a:xfrm>
            <a:off x="2878138" y="1376363"/>
            <a:ext cx="0" cy="29860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03" name="Line 669">
            <a:extLst>
              <a:ext uri="{FF2B5EF4-FFF2-40B4-BE49-F238E27FC236}">
                <a16:creationId xmlns:a16="http://schemas.microsoft.com/office/drawing/2014/main" id="{EE4D3BB1-6815-1077-6514-E3852247BC6F}"/>
              </a:ext>
            </a:extLst>
          </p:cNvPr>
          <p:cNvSpPr>
            <a:spLocks noChangeShapeType="1"/>
          </p:cNvSpPr>
          <p:nvPr/>
        </p:nvSpPr>
        <p:spPr bwMode="auto">
          <a:xfrm>
            <a:off x="3414713" y="1376363"/>
            <a:ext cx="0" cy="29860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04" name="Line 670">
            <a:extLst>
              <a:ext uri="{FF2B5EF4-FFF2-40B4-BE49-F238E27FC236}">
                <a16:creationId xmlns:a16="http://schemas.microsoft.com/office/drawing/2014/main" id="{0F1603C9-544E-5DB0-B791-72BC0F133AF3}"/>
              </a:ext>
            </a:extLst>
          </p:cNvPr>
          <p:cNvSpPr>
            <a:spLocks noChangeShapeType="1"/>
          </p:cNvSpPr>
          <p:nvPr/>
        </p:nvSpPr>
        <p:spPr bwMode="auto">
          <a:xfrm>
            <a:off x="3951288" y="1376363"/>
            <a:ext cx="0" cy="29860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05" name="Line 671">
            <a:extLst>
              <a:ext uri="{FF2B5EF4-FFF2-40B4-BE49-F238E27FC236}">
                <a16:creationId xmlns:a16="http://schemas.microsoft.com/office/drawing/2014/main" id="{C390E6FE-6F34-4ABC-D139-CFEBF9A8FEDA}"/>
              </a:ext>
            </a:extLst>
          </p:cNvPr>
          <p:cNvSpPr>
            <a:spLocks noChangeShapeType="1"/>
          </p:cNvSpPr>
          <p:nvPr/>
        </p:nvSpPr>
        <p:spPr bwMode="auto">
          <a:xfrm>
            <a:off x="4487863" y="1376363"/>
            <a:ext cx="0" cy="29860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06" name="Line 672">
            <a:extLst>
              <a:ext uri="{FF2B5EF4-FFF2-40B4-BE49-F238E27FC236}">
                <a16:creationId xmlns:a16="http://schemas.microsoft.com/office/drawing/2014/main" id="{371722A7-46B8-83C4-11E9-D7F73BF98D10}"/>
              </a:ext>
            </a:extLst>
          </p:cNvPr>
          <p:cNvSpPr>
            <a:spLocks noChangeShapeType="1"/>
          </p:cNvSpPr>
          <p:nvPr/>
        </p:nvSpPr>
        <p:spPr bwMode="auto">
          <a:xfrm>
            <a:off x="5024438" y="1376363"/>
            <a:ext cx="0" cy="29860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07" name="Line 673">
            <a:extLst>
              <a:ext uri="{FF2B5EF4-FFF2-40B4-BE49-F238E27FC236}">
                <a16:creationId xmlns:a16="http://schemas.microsoft.com/office/drawing/2014/main" id="{A9472685-E503-AF10-EC0D-33B8C522E9DE}"/>
              </a:ext>
            </a:extLst>
          </p:cNvPr>
          <p:cNvSpPr>
            <a:spLocks noChangeShapeType="1"/>
          </p:cNvSpPr>
          <p:nvPr/>
        </p:nvSpPr>
        <p:spPr bwMode="auto">
          <a:xfrm>
            <a:off x="5561013" y="1376363"/>
            <a:ext cx="0" cy="29860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08" name="Line 674">
            <a:extLst>
              <a:ext uri="{FF2B5EF4-FFF2-40B4-BE49-F238E27FC236}">
                <a16:creationId xmlns:a16="http://schemas.microsoft.com/office/drawing/2014/main" id="{4D100F5E-64B8-2471-936A-316B00AF5157}"/>
              </a:ext>
            </a:extLst>
          </p:cNvPr>
          <p:cNvSpPr>
            <a:spLocks noChangeShapeType="1"/>
          </p:cNvSpPr>
          <p:nvPr/>
        </p:nvSpPr>
        <p:spPr bwMode="auto">
          <a:xfrm>
            <a:off x="6099175" y="1376363"/>
            <a:ext cx="0" cy="29860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09" name="Line 675">
            <a:extLst>
              <a:ext uri="{FF2B5EF4-FFF2-40B4-BE49-F238E27FC236}">
                <a16:creationId xmlns:a16="http://schemas.microsoft.com/office/drawing/2014/main" id="{6AF31980-2BF8-BB1B-D885-4700472A5763}"/>
              </a:ext>
            </a:extLst>
          </p:cNvPr>
          <p:cNvSpPr>
            <a:spLocks noChangeShapeType="1"/>
          </p:cNvSpPr>
          <p:nvPr/>
        </p:nvSpPr>
        <p:spPr bwMode="auto">
          <a:xfrm>
            <a:off x="6635750" y="1376363"/>
            <a:ext cx="0" cy="29860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10" name="Line 676">
            <a:extLst>
              <a:ext uri="{FF2B5EF4-FFF2-40B4-BE49-F238E27FC236}">
                <a16:creationId xmlns:a16="http://schemas.microsoft.com/office/drawing/2014/main" id="{BB7C990D-4146-AC33-C15F-93709E03ADB8}"/>
              </a:ext>
            </a:extLst>
          </p:cNvPr>
          <p:cNvSpPr>
            <a:spLocks noChangeShapeType="1"/>
          </p:cNvSpPr>
          <p:nvPr/>
        </p:nvSpPr>
        <p:spPr bwMode="auto">
          <a:xfrm>
            <a:off x="7172325" y="1376363"/>
            <a:ext cx="0" cy="29860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11" name="Line 677">
            <a:extLst>
              <a:ext uri="{FF2B5EF4-FFF2-40B4-BE49-F238E27FC236}">
                <a16:creationId xmlns:a16="http://schemas.microsoft.com/office/drawing/2014/main" id="{28A35101-61C3-802B-C54E-0CD273DB3BFC}"/>
              </a:ext>
            </a:extLst>
          </p:cNvPr>
          <p:cNvSpPr>
            <a:spLocks noChangeShapeType="1"/>
          </p:cNvSpPr>
          <p:nvPr/>
        </p:nvSpPr>
        <p:spPr bwMode="auto">
          <a:xfrm>
            <a:off x="7702550" y="1376363"/>
            <a:ext cx="0" cy="298608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150155"/>
                                        </p:tgtEl>
                                        <p:attrNameLst>
                                          <p:attrName>style.visibility</p:attrName>
                                        </p:attrNameLst>
                                      </p:cBhvr>
                                      <p:to>
                                        <p:strVal val="visible"/>
                                      </p:to>
                                    </p:set>
                                    <p:animEffect transition="in" filter="barn(outHorizontal)">
                                      <p:cBhvr>
                                        <p:cTn id="7" dur="500"/>
                                        <p:tgtEl>
                                          <p:spTgt spid="1501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150152"/>
                                        </p:tgtEl>
                                        <p:attrNameLst>
                                          <p:attrName>style.visibility</p:attrName>
                                        </p:attrNameLst>
                                      </p:cBhvr>
                                      <p:to>
                                        <p:strVal val="visible"/>
                                      </p:to>
                                    </p:set>
                                    <p:animEffect transition="in" filter="barn(outHorizontal)">
                                      <p:cBhvr>
                                        <p:cTn id="12" dur="500"/>
                                        <p:tgtEl>
                                          <p:spTgt spid="1501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150150"/>
                                        </p:tgtEl>
                                        <p:attrNameLst>
                                          <p:attrName>style.visibility</p:attrName>
                                        </p:attrNameLst>
                                      </p:cBhvr>
                                      <p:to>
                                        <p:strVal val="visible"/>
                                      </p:to>
                                    </p:set>
                                    <p:animEffect transition="in" filter="barn(outHorizontal)">
                                      <p:cBhvr>
                                        <p:cTn id="17" dur="500"/>
                                        <p:tgtEl>
                                          <p:spTgt spid="1501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150149"/>
                                        </p:tgtEl>
                                        <p:attrNameLst>
                                          <p:attrName>style.visibility</p:attrName>
                                        </p:attrNameLst>
                                      </p:cBhvr>
                                      <p:to>
                                        <p:strVal val="visible"/>
                                      </p:to>
                                    </p:set>
                                    <p:animEffect transition="in" filter="barn(outHorizontal)">
                                      <p:cBhvr>
                                        <p:cTn id="22" dur="500"/>
                                        <p:tgtEl>
                                          <p:spTgt spid="1501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150147"/>
                                        </p:tgtEl>
                                        <p:attrNameLst>
                                          <p:attrName>style.visibility</p:attrName>
                                        </p:attrNameLst>
                                      </p:cBhvr>
                                      <p:to>
                                        <p:strVal val="visible"/>
                                      </p:to>
                                    </p:set>
                                    <p:animEffect transition="in" filter="barn(outHorizontal)">
                                      <p:cBhvr>
                                        <p:cTn id="27" dur="500"/>
                                        <p:tgtEl>
                                          <p:spTgt spid="1501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150145"/>
                                        </p:tgtEl>
                                        <p:attrNameLst>
                                          <p:attrName>style.visibility</p:attrName>
                                        </p:attrNameLst>
                                      </p:cBhvr>
                                      <p:to>
                                        <p:strVal val="visible"/>
                                      </p:to>
                                    </p:set>
                                    <p:animEffect transition="in" filter="barn(outHorizontal)">
                                      <p:cBhvr>
                                        <p:cTn id="32" dur="500"/>
                                        <p:tgtEl>
                                          <p:spTgt spid="1501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150144"/>
                                        </p:tgtEl>
                                        <p:attrNameLst>
                                          <p:attrName>style.visibility</p:attrName>
                                        </p:attrNameLst>
                                      </p:cBhvr>
                                      <p:to>
                                        <p:strVal val="visible"/>
                                      </p:to>
                                    </p:set>
                                    <p:animEffect transition="in" filter="barn(outHorizontal)">
                                      <p:cBhvr>
                                        <p:cTn id="37" dur="500"/>
                                        <p:tgtEl>
                                          <p:spTgt spid="1501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150143"/>
                                        </p:tgtEl>
                                        <p:attrNameLst>
                                          <p:attrName>style.visibility</p:attrName>
                                        </p:attrNameLst>
                                      </p:cBhvr>
                                      <p:to>
                                        <p:strVal val="visible"/>
                                      </p:to>
                                    </p:set>
                                    <p:animEffect transition="in" filter="barn(outHorizontal)">
                                      <p:cBhvr>
                                        <p:cTn id="42" dur="500"/>
                                        <p:tgtEl>
                                          <p:spTgt spid="15014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150142"/>
                                        </p:tgtEl>
                                        <p:attrNameLst>
                                          <p:attrName>style.visibility</p:attrName>
                                        </p:attrNameLst>
                                      </p:cBhvr>
                                      <p:to>
                                        <p:strVal val="visible"/>
                                      </p:to>
                                    </p:set>
                                    <p:animEffect transition="in" filter="barn(outHorizontal)">
                                      <p:cBhvr>
                                        <p:cTn id="47" dur="500"/>
                                        <p:tgtEl>
                                          <p:spTgt spid="15014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150140"/>
                                        </p:tgtEl>
                                        <p:attrNameLst>
                                          <p:attrName>style.visibility</p:attrName>
                                        </p:attrNameLst>
                                      </p:cBhvr>
                                      <p:to>
                                        <p:strVal val="visible"/>
                                      </p:to>
                                    </p:set>
                                    <p:animEffect transition="in" filter="barn(outHorizontal)">
                                      <p:cBhvr>
                                        <p:cTn id="52" dur="500"/>
                                        <p:tgtEl>
                                          <p:spTgt spid="15014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150139"/>
                                        </p:tgtEl>
                                        <p:attrNameLst>
                                          <p:attrName>style.visibility</p:attrName>
                                        </p:attrNameLst>
                                      </p:cBhvr>
                                      <p:to>
                                        <p:strVal val="visible"/>
                                      </p:to>
                                    </p:set>
                                    <p:animEffect transition="in" filter="barn(outHorizontal)">
                                      <p:cBhvr>
                                        <p:cTn id="57" dur="500"/>
                                        <p:tgtEl>
                                          <p:spTgt spid="15013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150138"/>
                                        </p:tgtEl>
                                        <p:attrNameLst>
                                          <p:attrName>style.visibility</p:attrName>
                                        </p:attrNameLst>
                                      </p:cBhvr>
                                      <p:to>
                                        <p:strVal val="visible"/>
                                      </p:to>
                                    </p:set>
                                    <p:animEffect transition="in" filter="barn(outHorizontal)">
                                      <p:cBhvr>
                                        <p:cTn id="62" dur="500"/>
                                        <p:tgtEl>
                                          <p:spTgt spid="15013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150137"/>
                                        </p:tgtEl>
                                        <p:attrNameLst>
                                          <p:attrName>style.visibility</p:attrName>
                                        </p:attrNameLst>
                                      </p:cBhvr>
                                      <p:to>
                                        <p:strVal val="visible"/>
                                      </p:to>
                                    </p:set>
                                    <p:animEffect transition="in" filter="barn(outHorizontal)">
                                      <p:cBhvr>
                                        <p:cTn id="67" dur="500"/>
                                        <p:tgtEl>
                                          <p:spTgt spid="15013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150125"/>
                                        </p:tgtEl>
                                        <p:attrNameLst>
                                          <p:attrName>style.visibility</p:attrName>
                                        </p:attrNameLst>
                                      </p:cBhvr>
                                      <p:to>
                                        <p:strVal val="visible"/>
                                      </p:to>
                                    </p:set>
                                    <p:animEffect transition="in" filter="barn(outHorizontal)">
                                      <p:cBhvr>
                                        <p:cTn id="72" dur="500"/>
                                        <p:tgtEl>
                                          <p:spTgt spid="15012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150124"/>
                                        </p:tgtEl>
                                        <p:attrNameLst>
                                          <p:attrName>style.visibility</p:attrName>
                                        </p:attrNameLst>
                                      </p:cBhvr>
                                      <p:to>
                                        <p:strVal val="visible"/>
                                      </p:to>
                                    </p:set>
                                    <p:animEffect transition="in" filter="barn(outHorizontal)">
                                      <p:cBhvr>
                                        <p:cTn id="77" dur="500"/>
                                        <p:tgtEl>
                                          <p:spTgt spid="15012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150123"/>
                                        </p:tgtEl>
                                        <p:attrNameLst>
                                          <p:attrName>style.visibility</p:attrName>
                                        </p:attrNameLst>
                                      </p:cBhvr>
                                      <p:to>
                                        <p:strVal val="visible"/>
                                      </p:to>
                                    </p:set>
                                    <p:animEffect transition="in" filter="barn(outHorizontal)">
                                      <p:cBhvr>
                                        <p:cTn id="82" dur="500"/>
                                        <p:tgtEl>
                                          <p:spTgt spid="15012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150122"/>
                                        </p:tgtEl>
                                        <p:attrNameLst>
                                          <p:attrName>style.visibility</p:attrName>
                                        </p:attrNameLst>
                                      </p:cBhvr>
                                      <p:to>
                                        <p:strVal val="visible"/>
                                      </p:to>
                                    </p:set>
                                    <p:animEffect transition="in" filter="barn(outHorizontal)">
                                      <p:cBhvr>
                                        <p:cTn id="87" dur="500"/>
                                        <p:tgtEl>
                                          <p:spTgt spid="150122"/>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150110"/>
                                        </p:tgtEl>
                                        <p:attrNameLst>
                                          <p:attrName>style.visibility</p:attrName>
                                        </p:attrNameLst>
                                      </p:cBhvr>
                                      <p:to>
                                        <p:strVal val="visible"/>
                                      </p:to>
                                    </p:set>
                                    <p:animEffect transition="in" filter="barn(outHorizontal)">
                                      <p:cBhvr>
                                        <p:cTn id="92" dur="500"/>
                                        <p:tgtEl>
                                          <p:spTgt spid="150110"/>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150109"/>
                                        </p:tgtEl>
                                        <p:attrNameLst>
                                          <p:attrName>style.visibility</p:attrName>
                                        </p:attrNameLst>
                                      </p:cBhvr>
                                      <p:to>
                                        <p:strVal val="visible"/>
                                      </p:to>
                                    </p:set>
                                    <p:animEffect transition="in" filter="barn(outHorizontal)">
                                      <p:cBhvr>
                                        <p:cTn id="97" dur="500"/>
                                        <p:tgtEl>
                                          <p:spTgt spid="150109"/>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6" presetClass="entr" presetSubtype="42" fill="hold" nodeType="clickEffect">
                                  <p:stCondLst>
                                    <p:cond delay="0"/>
                                  </p:stCondLst>
                                  <p:childTnLst>
                                    <p:set>
                                      <p:cBhvr>
                                        <p:cTn id="101" dur="1" fill="hold">
                                          <p:stCondLst>
                                            <p:cond delay="0"/>
                                          </p:stCondLst>
                                        </p:cTn>
                                        <p:tgtEl>
                                          <p:spTgt spid="150108"/>
                                        </p:tgtEl>
                                        <p:attrNameLst>
                                          <p:attrName>style.visibility</p:attrName>
                                        </p:attrNameLst>
                                      </p:cBhvr>
                                      <p:to>
                                        <p:strVal val="visible"/>
                                      </p:to>
                                    </p:set>
                                    <p:animEffect transition="in" filter="barn(outHorizontal)">
                                      <p:cBhvr>
                                        <p:cTn id="102" dur="500"/>
                                        <p:tgtEl>
                                          <p:spTgt spid="150108"/>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6" presetClass="entr" presetSubtype="42" fill="hold" nodeType="clickEffect">
                                  <p:stCondLst>
                                    <p:cond delay="0"/>
                                  </p:stCondLst>
                                  <p:childTnLst>
                                    <p:set>
                                      <p:cBhvr>
                                        <p:cTn id="106" dur="1" fill="hold">
                                          <p:stCondLst>
                                            <p:cond delay="0"/>
                                          </p:stCondLst>
                                        </p:cTn>
                                        <p:tgtEl>
                                          <p:spTgt spid="150107"/>
                                        </p:tgtEl>
                                        <p:attrNameLst>
                                          <p:attrName>style.visibility</p:attrName>
                                        </p:attrNameLst>
                                      </p:cBhvr>
                                      <p:to>
                                        <p:strVal val="visible"/>
                                      </p:to>
                                    </p:set>
                                    <p:animEffect transition="in" filter="barn(outHorizontal)">
                                      <p:cBhvr>
                                        <p:cTn id="107" dur="500"/>
                                        <p:tgtEl>
                                          <p:spTgt spid="150107"/>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6" presetClass="entr" presetSubtype="42" fill="hold" nodeType="clickEffect">
                                  <p:stCondLst>
                                    <p:cond delay="0"/>
                                  </p:stCondLst>
                                  <p:childTnLst>
                                    <p:set>
                                      <p:cBhvr>
                                        <p:cTn id="111" dur="1" fill="hold">
                                          <p:stCondLst>
                                            <p:cond delay="0"/>
                                          </p:stCondLst>
                                        </p:cTn>
                                        <p:tgtEl>
                                          <p:spTgt spid="150105"/>
                                        </p:tgtEl>
                                        <p:attrNameLst>
                                          <p:attrName>style.visibility</p:attrName>
                                        </p:attrNameLst>
                                      </p:cBhvr>
                                      <p:to>
                                        <p:strVal val="visible"/>
                                      </p:to>
                                    </p:set>
                                    <p:animEffect transition="in" filter="barn(outHorizontal)">
                                      <p:cBhvr>
                                        <p:cTn id="112" dur="500"/>
                                        <p:tgtEl>
                                          <p:spTgt spid="150105"/>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6" presetClass="entr" presetSubtype="42" fill="hold" nodeType="clickEffect">
                                  <p:stCondLst>
                                    <p:cond delay="0"/>
                                  </p:stCondLst>
                                  <p:childTnLst>
                                    <p:set>
                                      <p:cBhvr>
                                        <p:cTn id="116" dur="1" fill="hold">
                                          <p:stCondLst>
                                            <p:cond delay="0"/>
                                          </p:stCondLst>
                                        </p:cTn>
                                        <p:tgtEl>
                                          <p:spTgt spid="150104"/>
                                        </p:tgtEl>
                                        <p:attrNameLst>
                                          <p:attrName>style.visibility</p:attrName>
                                        </p:attrNameLst>
                                      </p:cBhvr>
                                      <p:to>
                                        <p:strVal val="visible"/>
                                      </p:to>
                                    </p:set>
                                    <p:animEffect transition="in" filter="barn(outHorizontal)">
                                      <p:cBhvr>
                                        <p:cTn id="117" dur="500"/>
                                        <p:tgtEl>
                                          <p:spTgt spid="150104"/>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6" presetClass="entr" presetSubtype="42" fill="hold" nodeType="clickEffect">
                                  <p:stCondLst>
                                    <p:cond delay="0"/>
                                  </p:stCondLst>
                                  <p:childTnLst>
                                    <p:set>
                                      <p:cBhvr>
                                        <p:cTn id="121" dur="1" fill="hold">
                                          <p:stCondLst>
                                            <p:cond delay="0"/>
                                          </p:stCondLst>
                                        </p:cTn>
                                        <p:tgtEl>
                                          <p:spTgt spid="150103"/>
                                        </p:tgtEl>
                                        <p:attrNameLst>
                                          <p:attrName>style.visibility</p:attrName>
                                        </p:attrNameLst>
                                      </p:cBhvr>
                                      <p:to>
                                        <p:strVal val="visible"/>
                                      </p:to>
                                    </p:set>
                                    <p:animEffect transition="in" filter="barn(outHorizontal)">
                                      <p:cBhvr>
                                        <p:cTn id="122" dur="500"/>
                                        <p:tgtEl>
                                          <p:spTgt spid="150103"/>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6" presetClass="entr" presetSubtype="42" fill="hold" nodeType="clickEffect">
                                  <p:stCondLst>
                                    <p:cond delay="0"/>
                                  </p:stCondLst>
                                  <p:childTnLst>
                                    <p:set>
                                      <p:cBhvr>
                                        <p:cTn id="126" dur="1" fill="hold">
                                          <p:stCondLst>
                                            <p:cond delay="0"/>
                                          </p:stCondLst>
                                        </p:cTn>
                                        <p:tgtEl>
                                          <p:spTgt spid="150102"/>
                                        </p:tgtEl>
                                        <p:attrNameLst>
                                          <p:attrName>style.visibility</p:attrName>
                                        </p:attrNameLst>
                                      </p:cBhvr>
                                      <p:to>
                                        <p:strVal val="visible"/>
                                      </p:to>
                                    </p:set>
                                    <p:animEffect transition="in" filter="barn(outHorizontal)">
                                      <p:cBhvr>
                                        <p:cTn id="127" dur="500"/>
                                        <p:tgtEl>
                                          <p:spTgt spid="150102"/>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6" presetClass="entr" presetSubtype="42" fill="hold" nodeType="clickEffect">
                                  <p:stCondLst>
                                    <p:cond delay="0"/>
                                  </p:stCondLst>
                                  <p:childTnLst>
                                    <p:set>
                                      <p:cBhvr>
                                        <p:cTn id="131" dur="1" fill="hold">
                                          <p:stCondLst>
                                            <p:cond delay="0"/>
                                          </p:stCondLst>
                                        </p:cTn>
                                        <p:tgtEl>
                                          <p:spTgt spid="149507">
                                            <p:txEl>
                                              <p:pRg st="0" end="0"/>
                                            </p:txEl>
                                          </p:spTgt>
                                        </p:tgtEl>
                                        <p:attrNameLst>
                                          <p:attrName>style.visibility</p:attrName>
                                        </p:attrNameLst>
                                      </p:cBhvr>
                                      <p:to>
                                        <p:strVal val="visible"/>
                                      </p:to>
                                    </p:set>
                                    <p:animEffect transition="in" filter="barn(outHorizontal)">
                                      <p:cBhvr>
                                        <p:cTn id="132" dur="500"/>
                                        <p:tgtEl>
                                          <p:spTgt spid="1495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p:bldP spid="150102" grpId="0"/>
      <p:bldP spid="150103" grpId="0"/>
      <p:bldP spid="150104" grpId="0"/>
      <p:bldP spid="150105" grpId="0"/>
      <p:bldP spid="150107" grpId="0"/>
      <p:bldP spid="150108" grpId="0"/>
      <p:bldP spid="150109" grpId="0"/>
      <p:bldP spid="150110" grpId="0"/>
      <p:bldP spid="150122" grpId="0"/>
      <p:bldP spid="150123" grpId="0"/>
      <p:bldP spid="150124" grpId="0"/>
      <p:bldP spid="150125" grpId="0"/>
      <p:bldP spid="150137" grpId="0"/>
      <p:bldP spid="150138" grpId="0"/>
      <p:bldP spid="150139" grpId="0"/>
      <p:bldP spid="150140" grpId="0"/>
      <p:bldP spid="150142" grpId="0"/>
      <p:bldP spid="150143" grpId="0"/>
      <p:bldP spid="150144" grpId="0"/>
      <p:bldP spid="150145" grpId="0"/>
      <p:bldP spid="150147" grpId="0"/>
      <p:bldP spid="150149" grpId="0"/>
      <p:bldP spid="150150" grpId="0"/>
      <p:bldP spid="150152" grpId="0"/>
      <p:bldP spid="150155"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3FC4D808-5E81-54F5-51CD-36593C3E97DA}"/>
              </a:ext>
            </a:extLst>
          </p:cNvPr>
          <p:cNvSpPr>
            <a:spLocks noGrp="1" noChangeArrowheads="1"/>
          </p:cNvSpPr>
          <p:nvPr>
            <p:ph type="title"/>
          </p:nvPr>
        </p:nvSpPr>
        <p:spPr>
          <a:xfrm>
            <a:off x="1042988" y="225431"/>
            <a:ext cx="7850187" cy="746125"/>
          </a:xfrm>
        </p:spPr>
        <p:txBody>
          <a:bodyPr/>
          <a:lstStyle/>
          <a:p>
            <a:r>
              <a:rPr lang="zh-CN" altLang="en-US" sz="4000" dirty="0"/>
              <a:t>最近最久未使用置换算法(</a:t>
            </a:r>
            <a:r>
              <a:rPr lang="en-US" altLang="zh-CN" sz="4000" dirty="0"/>
              <a:t>LRU)</a:t>
            </a:r>
            <a:endParaRPr lang="zh-CN" altLang="en-US" sz="4000" dirty="0"/>
          </a:p>
        </p:txBody>
      </p:sp>
      <p:sp>
        <p:nvSpPr>
          <p:cNvPr id="155651" name="Rectangle 3">
            <a:extLst>
              <a:ext uri="{FF2B5EF4-FFF2-40B4-BE49-F238E27FC236}">
                <a16:creationId xmlns:a16="http://schemas.microsoft.com/office/drawing/2014/main" id="{994F3279-596D-B96D-973B-B103D264E379}"/>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最近最久未使用算法</a:t>
            </a:r>
            <a:r>
              <a:rPr lang="zh-CN" altLang="en-US" dirty="0"/>
              <a:t>：选择最近一段时间内最长时间没有被访问过的页面予以淘汰。</a:t>
            </a:r>
          </a:p>
          <a:p>
            <a:r>
              <a:rPr lang="zh-CN" altLang="en-US" dirty="0"/>
              <a:t>为此，应赋予每个页面一个访问字段，用于记录页面自上次访问以来所经历的时间。</a:t>
            </a:r>
          </a:p>
          <a:p>
            <a:r>
              <a:rPr lang="en-US" altLang="zh-CN" dirty="0"/>
              <a:t>LRU</a:t>
            </a:r>
            <a:r>
              <a:rPr lang="zh-CN" altLang="en-US" dirty="0"/>
              <a:t>是</a:t>
            </a:r>
            <a:r>
              <a:rPr lang="en-US" altLang="zh-CN" dirty="0"/>
              <a:t>Least Recently Used</a:t>
            </a:r>
            <a:r>
              <a:rPr lang="zh-CN" altLang="en-US" dirty="0"/>
              <a:t>，也称为最近最少使用</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animEffect transition="in" filter="checkerboard(across)">
                                      <p:cBhvr>
                                        <p:cTn id="7" dur="500"/>
                                        <p:tgtEl>
                                          <p:spTgt spid="155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55651">
                                            <p:txEl>
                                              <p:pRg st="1" end="1"/>
                                            </p:txEl>
                                          </p:spTgt>
                                        </p:tgtEl>
                                        <p:attrNameLst>
                                          <p:attrName>style.visibility</p:attrName>
                                        </p:attrNameLst>
                                      </p:cBhvr>
                                      <p:to>
                                        <p:strVal val="visible"/>
                                      </p:to>
                                    </p:set>
                                    <p:animEffect transition="in" filter="checkerboard(across)">
                                      <p:cBhvr>
                                        <p:cTn id="12" dur="500"/>
                                        <p:tgtEl>
                                          <p:spTgt spid="155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55651">
                                            <p:txEl>
                                              <p:pRg st="2" end="2"/>
                                            </p:txEl>
                                          </p:spTgt>
                                        </p:tgtEl>
                                        <p:attrNameLst>
                                          <p:attrName>style.visibility</p:attrName>
                                        </p:attrNameLst>
                                      </p:cBhvr>
                                      <p:to>
                                        <p:strVal val="visible"/>
                                      </p:to>
                                    </p:set>
                                    <p:animEffect transition="in" filter="checkerboard(across)">
                                      <p:cBhvr>
                                        <p:cTn id="17" dur="500"/>
                                        <p:tgtEl>
                                          <p:spTgt spid="1556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229244D-94C9-173D-4283-EA167B3EECF3}"/>
              </a:ext>
            </a:extLst>
          </p:cNvPr>
          <p:cNvSpPr>
            <a:spLocks noGrp="1" noChangeArrowheads="1"/>
          </p:cNvSpPr>
          <p:nvPr>
            <p:ph type="title"/>
          </p:nvPr>
        </p:nvSpPr>
        <p:spPr>
          <a:xfrm>
            <a:off x="1042988" y="225431"/>
            <a:ext cx="7850187" cy="746125"/>
          </a:xfrm>
        </p:spPr>
        <p:txBody>
          <a:bodyPr/>
          <a:lstStyle/>
          <a:p>
            <a:r>
              <a:rPr lang="en-US" altLang="zh-CN" dirty="0"/>
              <a:t>LRU</a:t>
            </a:r>
            <a:r>
              <a:rPr lang="zh-CN" altLang="en-US" dirty="0"/>
              <a:t>算法示例</a:t>
            </a:r>
          </a:p>
        </p:txBody>
      </p:sp>
      <p:sp>
        <p:nvSpPr>
          <p:cNvPr id="54274" name="Rectangle 3">
            <a:extLst>
              <a:ext uri="{FF2B5EF4-FFF2-40B4-BE49-F238E27FC236}">
                <a16:creationId xmlns:a16="http://schemas.microsoft.com/office/drawing/2014/main" id="{991B610F-2F8C-08DA-671F-248F2053AB5B}"/>
              </a:ext>
            </a:extLst>
          </p:cNvPr>
          <p:cNvSpPr>
            <a:spLocks noGrp="1" noChangeArrowheads="1"/>
          </p:cNvSpPr>
          <p:nvPr>
            <p:ph idx="1"/>
          </p:nvPr>
        </p:nvSpPr>
        <p:spPr>
          <a:xfrm>
            <a:off x="935038" y="1233488"/>
            <a:ext cx="7772400" cy="4895850"/>
          </a:xfrm>
        </p:spPr>
        <p:txBody>
          <a:bodyPr/>
          <a:lstStyle/>
          <a:p>
            <a:r>
              <a:rPr lang="zh-CN" altLang="en-US"/>
              <a:t>假定系统为某进程分配了3个物理块，页面访问序列为：1、2、3、4、1、2、5、1、2、3、4、5，开始时3个物理块均为空闲，采用</a:t>
            </a:r>
            <a:r>
              <a:rPr lang="en-US" altLang="zh-CN"/>
              <a:t>LRU</a:t>
            </a:r>
            <a:r>
              <a:rPr lang="zh-CN" altLang="en-US"/>
              <a:t>置换算法时的页面置换情况如下所示：</a:t>
            </a:r>
          </a:p>
        </p:txBody>
      </p:sp>
    </p:spTree>
  </p:cSld>
  <p:clrMapOvr>
    <a:masterClrMapping/>
  </p:clrMapOvr>
  <p:transition spd="med">
    <p:zoom/>
  </p:transition>
</p:sld>
</file>

<file path=ppt/slides/slide1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D71179E-4623-10FA-25AB-5B1B1ABC1779}"/>
              </a:ext>
            </a:extLst>
          </p:cNvPr>
          <p:cNvSpPr>
            <a:spLocks noGrp="1" noChangeArrowheads="1"/>
          </p:cNvSpPr>
          <p:nvPr>
            <p:ph type="title"/>
          </p:nvPr>
        </p:nvSpPr>
        <p:spPr>
          <a:xfrm>
            <a:off x="1042988" y="225431"/>
            <a:ext cx="7850187" cy="746125"/>
          </a:xfrm>
        </p:spPr>
        <p:txBody>
          <a:bodyPr/>
          <a:lstStyle/>
          <a:p>
            <a:r>
              <a:rPr lang="zh-CN" altLang="en-US"/>
              <a:t>采用</a:t>
            </a:r>
            <a:r>
              <a:rPr lang="en-US" altLang="zh-CN"/>
              <a:t>LRU</a:t>
            </a:r>
            <a:r>
              <a:rPr lang="zh-CN" altLang="en-US"/>
              <a:t>算法的页面置换情况</a:t>
            </a:r>
          </a:p>
        </p:txBody>
      </p:sp>
      <p:sp>
        <p:nvSpPr>
          <p:cNvPr id="156675" name="Rectangle 3">
            <a:extLst>
              <a:ext uri="{FF2B5EF4-FFF2-40B4-BE49-F238E27FC236}">
                <a16:creationId xmlns:a16="http://schemas.microsoft.com/office/drawing/2014/main" id="{6F099BDF-9795-500A-E156-58D1A7B81B66}"/>
              </a:ext>
            </a:extLst>
          </p:cNvPr>
          <p:cNvSpPr>
            <a:spLocks noGrp="1" noChangeArrowheads="1"/>
          </p:cNvSpPr>
          <p:nvPr>
            <p:ph idx="1"/>
          </p:nvPr>
        </p:nvSpPr>
        <p:spPr>
          <a:xfrm>
            <a:off x="935038" y="4697260"/>
            <a:ext cx="7772400" cy="1432078"/>
          </a:xfrm>
        </p:spPr>
        <p:txBody>
          <a:bodyPr/>
          <a:lstStyle/>
          <a:p>
            <a:r>
              <a:rPr lang="zh-CN" altLang="en-US" dirty="0"/>
              <a:t>从上表中可以看出，共发生了10次缺页，其缺页率为10/12＝83.3% 。</a:t>
            </a:r>
          </a:p>
        </p:txBody>
      </p:sp>
      <p:sp>
        <p:nvSpPr>
          <p:cNvPr id="156816" name="Rectangle 144">
            <a:extLst>
              <a:ext uri="{FF2B5EF4-FFF2-40B4-BE49-F238E27FC236}">
                <a16:creationId xmlns:a16="http://schemas.microsoft.com/office/drawing/2014/main" id="{763C8B8C-5B0F-8F18-6109-7FDC7281775B}"/>
              </a:ext>
            </a:extLst>
          </p:cNvPr>
          <p:cNvSpPr>
            <a:spLocks noChangeArrowheads="1"/>
          </p:cNvSpPr>
          <p:nvPr/>
        </p:nvSpPr>
        <p:spPr bwMode="auto">
          <a:xfrm>
            <a:off x="7767638" y="4068763"/>
            <a:ext cx="6143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6817" name="Rectangle 145">
            <a:extLst>
              <a:ext uri="{FF2B5EF4-FFF2-40B4-BE49-F238E27FC236}">
                <a16:creationId xmlns:a16="http://schemas.microsoft.com/office/drawing/2014/main" id="{2B5F9044-20C8-9E7D-30E8-5339A2AF147E}"/>
              </a:ext>
            </a:extLst>
          </p:cNvPr>
          <p:cNvSpPr>
            <a:spLocks noChangeArrowheads="1"/>
          </p:cNvSpPr>
          <p:nvPr/>
        </p:nvSpPr>
        <p:spPr bwMode="auto">
          <a:xfrm>
            <a:off x="7767638" y="3551238"/>
            <a:ext cx="6143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156818" name="Rectangle 146">
            <a:extLst>
              <a:ext uri="{FF2B5EF4-FFF2-40B4-BE49-F238E27FC236}">
                <a16:creationId xmlns:a16="http://schemas.microsoft.com/office/drawing/2014/main" id="{9538D88B-F75D-3144-DD9F-C56AAFB38D62}"/>
              </a:ext>
            </a:extLst>
          </p:cNvPr>
          <p:cNvSpPr>
            <a:spLocks noChangeArrowheads="1"/>
          </p:cNvSpPr>
          <p:nvPr/>
        </p:nvSpPr>
        <p:spPr bwMode="auto">
          <a:xfrm>
            <a:off x="7767638" y="3017838"/>
            <a:ext cx="6143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156819" name="Rectangle 147">
            <a:extLst>
              <a:ext uri="{FF2B5EF4-FFF2-40B4-BE49-F238E27FC236}">
                <a16:creationId xmlns:a16="http://schemas.microsoft.com/office/drawing/2014/main" id="{697470FA-EE10-7731-2168-5877DFCCD793}"/>
              </a:ext>
            </a:extLst>
          </p:cNvPr>
          <p:cNvSpPr>
            <a:spLocks noChangeArrowheads="1"/>
          </p:cNvSpPr>
          <p:nvPr/>
        </p:nvSpPr>
        <p:spPr bwMode="auto">
          <a:xfrm>
            <a:off x="7767638" y="2438400"/>
            <a:ext cx="6143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55303" name="Rectangle 148">
            <a:extLst>
              <a:ext uri="{FF2B5EF4-FFF2-40B4-BE49-F238E27FC236}">
                <a16:creationId xmlns:a16="http://schemas.microsoft.com/office/drawing/2014/main" id="{EAAB42FE-0FA9-B28E-6083-7DFE29BC8F6B}"/>
              </a:ext>
            </a:extLst>
          </p:cNvPr>
          <p:cNvSpPr>
            <a:spLocks noChangeArrowheads="1"/>
          </p:cNvSpPr>
          <p:nvPr/>
        </p:nvSpPr>
        <p:spPr bwMode="auto">
          <a:xfrm>
            <a:off x="7767638" y="1600200"/>
            <a:ext cx="6143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156821" name="Rectangle 149">
            <a:extLst>
              <a:ext uri="{FF2B5EF4-FFF2-40B4-BE49-F238E27FC236}">
                <a16:creationId xmlns:a16="http://schemas.microsoft.com/office/drawing/2014/main" id="{67E60B7B-448D-A731-802C-4D892FD2B43F}"/>
              </a:ext>
            </a:extLst>
          </p:cNvPr>
          <p:cNvSpPr>
            <a:spLocks noChangeArrowheads="1"/>
          </p:cNvSpPr>
          <p:nvPr/>
        </p:nvSpPr>
        <p:spPr bwMode="auto">
          <a:xfrm>
            <a:off x="7237413" y="4068763"/>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6822" name="Rectangle 150">
            <a:extLst>
              <a:ext uri="{FF2B5EF4-FFF2-40B4-BE49-F238E27FC236}">
                <a16:creationId xmlns:a16="http://schemas.microsoft.com/office/drawing/2014/main" id="{0B192346-2A87-84F8-C207-EA0E5449F0C0}"/>
              </a:ext>
            </a:extLst>
          </p:cNvPr>
          <p:cNvSpPr>
            <a:spLocks noChangeArrowheads="1"/>
          </p:cNvSpPr>
          <p:nvPr/>
        </p:nvSpPr>
        <p:spPr bwMode="auto">
          <a:xfrm>
            <a:off x="7237413" y="3551238"/>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6823" name="Rectangle 151">
            <a:extLst>
              <a:ext uri="{FF2B5EF4-FFF2-40B4-BE49-F238E27FC236}">
                <a16:creationId xmlns:a16="http://schemas.microsoft.com/office/drawing/2014/main" id="{0FF9B51A-AEF6-1D1A-0787-3C242CAB05BD}"/>
              </a:ext>
            </a:extLst>
          </p:cNvPr>
          <p:cNvSpPr>
            <a:spLocks noChangeArrowheads="1"/>
          </p:cNvSpPr>
          <p:nvPr/>
        </p:nvSpPr>
        <p:spPr bwMode="auto">
          <a:xfrm>
            <a:off x="7237413" y="3017838"/>
            <a:ext cx="5302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156824" name="Rectangle 152">
            <a:extLst>
              <a:ext uri="{FF2B5EF4-FFF2-40B4-BE49-F238E27FC236}">
                <a16:creationId xmlns:a16="http://schemas.microsoft.com/office/drawing/2014/main" id="{B6F55AFC-017F-DD0B-BC74-7C68874AFB39}"/>
              </a:ext>
            </a:extLst>
          </p:cNvPr>
          <p:cNvSpPr>
            <a:spLocks noChangeArrowheads="1"/>
          </p:cNvSpPr>
          <p:nvPr/>
        </p:nvSpPr>
        <p:spPr bwMode="auto">
          <a:xfrm>
            <a:off x="7237413" y="2438400"/>
            <a:ext cx="530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55308" name="Rectangle 153">
            <a:extLst>
              <a:ext uri="{FF2B5EF4-FFF2-40B4-BE49-F238E27FC236}">
                <a16:creationId xmlns:a16="http://schemas.microsoft.com/office/drawing/2014/main" id="{EB02F339-0597-93A0-AD73-0D52789A38AA}"/>
              </a:ext>
            </a:extLst>
          </p:cNvPr>
          <p:cNvSpPr>
            <a:spLocks noChangeArrowheads="1"/>
          </p:cNvSpPr>
          <p:nvPr/>
        </p:nvSpPr>
        <p:spPr bwMode="auto">
          <a:xfrm>
            <a:off x="7237413" y="1600200"/>
            <a:ext cx="5302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156826" name="Rectangle 154">
            <a:extLst>
              <a:ext uri="{FF2B5EF4-FFF2-40B4-BE49-F238E27FC236}">
                <a16:creationId xmlns:a16="http://schemas.microsoft.com/office/drawing/2014/main" id="{A47531AE-04AE-2070-8A68-896B31ECB0E0}"/>
              </a:ext>
            </a:extLst>
          </p:cNvPr>
          <p:cNvSpPr>
            <a:spLocks noChangeArrowheads="1"/>
          </p:cNvSpPr>
          <p:nvPr/>
        </p:nvSpPr>
        <p:spPr bwMode="auto">
          <a:xfrm>
            <a:off x="6700838" y="40687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6827" name="Rectangle 155">
            <a:extLst>
              <a:ext uri="{FF2B5EF4-FFF2-40B4-BE49-F238E27FC236}">
                <a16:creationId xmlns:a16="http://schemas.microsoft.com/office/drawing/2014/main" id="{7F8E9541-5CA4-C8B3-1882-1C49F6914FE5}"/>
              </a:ext>
            </a:extLst>
          </p:cNvPr>
          <p:cNvSpPr>
            <a:spLocks noChangeArrowheads="1"/>
          </p:cNvSpPr>
          <p:nvPr/>
        </p:nvSpPr>
        <p:spPr bwMode="auto">
          <a:xfrm>
            <a:off x="6700838" y="35512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6828" name="Rectangle 156">
            <a:extLst>
              <a:ext uri="{FF2B5EF4-FFF2-40B4-BE49-F238E27FC236}">
                <a16:creationId xmlns:a16="http://schemas.microsoft.com/office/drawing/2014/main" id="{09DE7615-F38D-1480-56CF-E15184DE94CA}"/>
              </a:ext>
            </a:extLst>
          </p:cNvPr>
          <p:cNvSpPr>
            <a:spLocks noChangeArrowheads="1"/>
          </p:cNvSpPr>
          <p:nvPr/>
        </p:nvSpPr>
        <p:spPr bwMode="auto">
          <a:xfrm>
            <a:off x="6700838" y="3017838"/>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156829" name="Rectangle 157">
            <a:extLst>
              <a:ext uri="{FF2B5EF4-FFF2-40B4-BE49-F238E27FC236}">
                <a16:creationId xmlns:a16="http://schemas.microsoft.com/office/drawing/2014/main" id="{D56465F6-96EC-D14C-63AB-CC9B971D3F69}"/>
              </a:ext>
            </a:extLst>
          </p:cNvPr>
          <p:cNvSpPr>
            <a:spLocks noChangeArrowheads="1"/>
          </p:cNvSpPr>
          <p:nvPr/>
        </p:nvSpPr>
        <p:spPr bwMode="auto">
          <a:xfrm>
            <a:off x="6700838" y="2438400"/>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55313" name="Rectangle 158">
            <a:extLst>
              <a:ext uri="{FF2B5EF4-FFF2-40B4-BE49-F238E27FC236}">
                <a16:creationId xmlns:a16="http://schemas.microsoft.com/office/drawing/2014/main" id="{6BCC73D0-3399-C6F8-6597-E392DE650E94}"/>
              </a:ext>
            </a:extLst>
          </p:cNvPr>
          <p:cNvSpPr>
            <a:spLocks noChangeArrowheads="1"/>
          </p:cNvSpPr>
          <p:nvPr/>
        </p:nvSpPr>
        <p:spPr bwMode="auto">
          <a:xfrm>
            <a:off x="6700838" y="1600200"/>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55314" name="Rectangle 159">
            <a:extLst>
              <a:ext uri="{FF2B5EF4-FFF2-40B4-BE49-F238E27FC236}">
                <a16:creationId xmlns:a16="http://schemas.microsoft.com/office/drawing/2014/main" id="{97C72573-8988-01B3-4845-5418EFD4441C}"/>
              </a:ext>
            </a:extLst>
          </p:cNvPr>
          <p:cNvSpPr>
            <a:spLocks noChangeArrowheads="1"/>
          </p:cNvSpPr>
          <p:nvPr/>
        </p:nvSpPr>
        <p:spPr bwMode="auto">
          <a:xfrm>
            <a:off x="6164263" y="40687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55315" name="Rectangle 160">
            <a:extLst>
              <a:ext uri="{FF2B5EF4-FFF2-40B4-BE49-F238E27FC236}">
                <a16:creationId xmlns:a16="http://schemas.microsoft.com/office/drawing/2014/main" id="{BDE000F1-C1D2-5898-4C93-8D9809A30B94}"/>
              </a:ext>
            </a:extLst>
          </p:cNvPr>
          <p:cNvSpPr>
            <a:spLocks noChangeArrowheads="1"/>
          </p:cNvSpPr>
          <p:nvPr/>
        </p:nvSpPr>
        <p:spPr bwMode="auto">
          <a:xfrm>
            <a:off x="6164263" y="35512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5316" name="Rectangle 161">
            <a:extLst>
              <a:ext uri="{FF2B5EF4-FFF2-40B4-BE49-F238E27FC236}">
                <a16:creationId xmlns:a16="http://schemas.microsoft.com/office/drawing/2014/main" id="{9B78F360-9B59-A77B-70BE-FEDC14316342}"/>
              </a:ext>
            </a:extLst>
          </p:cNvPr>
          <p:cNvSpPr>
            <a:spLocks noChangeArrowheads="1"/>
          </p:cNvSpPr>
          <p:nvPr/>
        </p:nvSpPr>
        <p:spPr bwMode="auto">
          <a:xfrm>
            <a:off x="6164263" y="3017838"/>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5317" name="Rectangle 162">
            <a:extLst>
              <a:ext uri="{FF2B5EF4-FFF2-40B4-BE49-F238E27FC236}">
                <a16:creationId xmlns:a16="http://schemas.microsoft.com/office/drawing/2014/main" id="{9274E62A-0E7A-1762-4A10-82CB593A4DD5}"/>
              </a:ext>
            </a:extLst>
          </p:cNvPr>
          <p:cNvSpPr>
            <a:spLocks noChangeArrowheads="1"/>
          </p:cNvSpPr>
          <p:nvPr/>
        </p:nvSpPr>
        <p:spPr bwMode="auto">
          <a:xfrm>
            <a:off x="6164263" y="2438400"/>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5318" name="Rectangle 163">
            <a:extLst>
              <a:ext uri="{FF2B5EF4-FFF2-40B4-BE49-F238E27FC236}">
                <a16:creationId xmlns:a16="http://schemas.microsoft.com/office/drawing/2014/main" id="{CB6FF86A-5875-AD12-8FB7-936528287A8E}"/>
              </a:ext>
            </a:extLst>
          </p:cNvPr>
          <p:cNvSpPr>
            <a:spLocks noChangeArrowheads="1"/>
          </p:cNvSpPr>
          <p:nvPr/>
        </p:nvSpPr>
        <p:spPr bwMode="auto">
          <a:xfrm>
            <a:off x="6164263" y="1600200"/>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55319" name="Rectangle 164">
            <a:extLst>
              <a:ext uri="{FF2B5EF4-FFF2-40B4-BE49-F238E27FC236}">
                <a16:creationId xmlns:a16="http://schemas.microsoft.com/office/drawing/2014/main" id="{2B83EBB8-3088-7C89-A392-54A71F5B35D3}"/>
              </a:ext>
            </a:extLst>
          </p:cNvPr>
          <p:cNvSpPr>
            <a:spLocks noChangeArrowheads="1"/>
          </p:cNvSpPr>
          <p:nvPr/>
        </p:nvSpPr>
        <p:spPr bwMode="auto">
          <a:xfrm>
            <a:off x="5626100" y="4068763"/>
            <a:ext cx="5381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55320" name="Rectangle 165">
            <a:extLst>
              <a:ext uri="{FF2B5EF4-FFF2-40B4-BE49-F238E27FC236}">
                <a16:creationId xmlns:a16="http://schemas.microsoft.com/office/drawing/2014/main" id="{DCBF3626-48CD-C7D7-5D60-4DADB4A5E8B6}"/>
              </a:ext>
            </a:extLst>
          </p:cNvPr>
          <p:cNvSpPr>
            <a:spLocks noChangeArrowheads="1"/>
          </p:cNvSpPr>
          <p:nvPr/>
        </p:nvSpPr>
        <p:spPr bwMode="auto">
          <a:xfrm>
            <a:off x="5626100" y="3551238"/>
            <a:ext cx="5381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5321" name="Rectangle 166">
            <a:extLst>
              <a:ext uri="{FF2B5EF4-FFF2-40B4-BE49-F238E27FC236}">
                <a16:creationId xmlns:a16="http://schemas.microsoft.com/office/drawing/2014/main" id="{67FC3792-28FA-15B4-744D-6A8446CC1D50}"/>
              </a:ext>
            </a:extLst>
          </p:cNvPr>
          <p:cNvSpPr>
            <a:spLocks noChangeArrowheads="1"/>
          </p:cNvSpPr>
          <p:nvPr/>
        </p:nvSpPr>
        <p:spPr bwMode="auto">
          <a:xfrm>
            <a:off x="5626100" y="3017838"/>
            <a:ext cx="5381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5322" name="Rectangle 167">
            <a:extLst>
              <a:ext uri="{FF2B5EF4-FFF2-40B4-BE49-F238E27FC236}">
                <a16:creationId xmlns:a16="http://schemas.microsoft.com/office/drawing/2014/main" id="{4801C147-D287-5E54-33BB-FC55FF0F3E40}"/>
              </a:ext>
            </a:extLst>
          </p:cNvPr>
          <p:cNvSpPr>
            <a:spLocks noChangeArrowheads="1"/>
          </p:cNvSpPr>
          <p:nvPr/>
        </p:nvSpPr>
        <p:spPr bwMode="auto">
          <a:xfrm>
            <a:off x="5626100" y="2438400"/>
            <a:ext cx="5381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5323" name="Rectangle 168">
            <a:extLst>
              <a:ext uri="{FF2B5EF4-FFF2-40B4-BE49-F238E27FC236}">
                <a16:creationId xmlns:a16="http://schemas.microsoft.com/office/drawing/2014/main" id="{E63AC9DB-789B-EA57-2B05-3F802F6A1363}"/>
              </a:ext>
            </a:extLst>
          </p:cNvPr>
          <p:cNvSpPr>
            <a:spLocks noChangeArrowheads="1"/>
          </p:cNvSpPr>
          <p:nvPr/>
        </p:nvSpPr>
        <p:spPr bwMode="auto">
          <a:xfrm>
            <a:off x="5626100" y="1600200"/>
            <a:ext cx="53816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156841" name="Rectangle 169">
            <a:extLst>
              <a:ext uri="{FF2B5EF4-FFF2-40B4-BE49-F238E27FC236}">
                <a16:creationId xmlns:a16="http://schemas.microsoft.com/office/drawing/2014/main" id="{F3AB8343-306C-2A33-4D45-EE352BF0DEE6}"/>
              </a:ext>
            </a:extLst>
          </p:cNvPr>
          <p:cNvSpPr>
            <a:spLocks noChangeArrowheads="1"/>
          </p:cNvSpPr>
          <p:nvPr/>
        </p:nvSpPr>
        <p:spPr bwMode="auto">
          <a:xfrm>
            <a:off x="5089525" y="40687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6842" name="Rectangle 170">
            <a:extLst>
              <a:ext uri="{FF2B5EF4-FFF2-40B4-BE49-F238E27FC236}">
                <a16:creationId xmlns:a16="http://schemas.microsoft.com/office/drawing/2014/main" id="{1B362428-3E5D-CA00-4215-E6267F39386C}"/>
              </a:ext>
            </a:extLst>
          </p:cNvPr>
          <p:cNvSpPr>
            <a:spLocks noChangeArrowheads="1"/>
          </p:cNvSpPr>
          <p:nvPr/>
        </p:nvSpPr>
        <p:spPr bwMode="auto">
          <a:xfrm>
            <a:off x="5089525" y="35512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6843" name="Rectangle 171">
            <a:extLst>
              <a:ext uri="{FF2B5EF4-FFF2-40B4-BE49-F238E27FC236}">
                <a16:creationId xmlns:a16="http://schemas.microsoft.com/office/drawing/2014/main" id="{D5940BBF-E2C5-E7F8-44E5-8E004FA8F256}"/>
              </a:ext>
            </a:extLst>
          </p:cNvPr>
          <p:cNvSpPr>
            <a:spLocks noChangeArrowheads="1"/>
          </p:cNvSpPr>
          <p:nvPr/>
        </p:nvSpPr>
        <p:spPr bwMode="auto">
          <a:xfrm>
            <a:off x="5089525" y="3017838"/>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156844" name="Rectangle 172">
            <a:extLst>
              <a:ext uri="{FF2B5EF4-FFF2-40B4-BE49-F238E27FC236}">
                <a16:creationId xmlns:a16="http://schemas.microsoft.com/office/drawing/2014/main" id="{049C66C0-3A42-5FD5-D885-2C32A5937504}"/>
              </a:ext>
            </a:extLst>
          </p:cNvPr>
          <p:cNvSpPr>
            <a:spLocks noChangeArrowheads="1"/>
          </p:cNvSpPr>
          <p:nvPr/>
        </p:nvSpPr>
        <p:spPr bwMode="auto">
          <a:xfrm>
            <a:off x="5089525" y="2438400"/>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55328" name="Rectangle 173">
            <a:extLst>
              <a:ext uri="{FF2B5EF4-FFF2-40B4-BE49-F238E27FC236}">
                <a16:creationId xmlns:a16="http://schemas.microsoft.com/office/drawing/2014/main" id="{BF524DE5-79DB-3279-BF21-FA01B41138F2}"/>
              </a:ext>
            </a:extLst>
          </p:cNvPr>
          <p:cNvSpPr>
            <a:spLocks noChangeArrowheads="1"/>
          </p:cNvSpPr>
          <p:nvPr/>
        </p:nvSpPr>
        <p:spPr bwMode="auto">
          <a:xfrm>
            <a:off x="5089525" y="1600200"/>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156846" name="Rectangle 174">
            <a:extLst>
              <a:ext uri="{FF2B5EF4-FFF2-40B4-BE49-F238E27FC236}">
                <a16:creationId xmlns:a16="http://schemas.microsoft.com/office/drawing/2014/main" id="{EF5B349E-5FD8-0045-EA7F-3293FBF07B52}"/>
              </a:ext>
            </a:extLst>
          </p:cNvPr>
          <p:cNvSpPr>
            <a:spLocks noChangeArrowheads="1"/>
          </p:cNvSpPr>
          <p:nvPr/>
        </p:nvSpPr>
        <p:spPr bwMode="auto">
          <a:xfrm>
            <a:off x="4552950" y="40687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6847" name="Rectangle 175">
            <a:extLst>
              <a:ext uri="{FF2B5EF4-FFF2-40B4-BE49-F238E27FC236}">
                <a16:creationId xmlns:a16="http://schemas.microsoft.com/office/drawing/2014/main" id="{6BD7CA13-5A94-0D2B-5F98-57242A6556C7}"/>
              </a:ext>
            </a:extLst>
          </p:cNvPr>
          <p:cNvSpPr>
            <a:spLocks noChangeArrowheads="1"/>
          </p:cNvSpPr>
          <p:nvPr/>
        </p:nvSpPr>
        <p:spPr bwMode="auto">
          <a:xfrm>
            <a:off x="4552950" y="35512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6848" name="Rectangle 176">
            <a:extLst>
              <a:ext uri="{FF2B5EF4-FFF2-40B4-BE49-F238E27FC236}">
                <a16:creationId xmlns:a16="http://schemas.microsoft.com/office/drawing/2014/main" id="{DC338640-DA85-49D7-722E-D43ADF59BBB9}"/>
              </a:ext>
            </a:extLst>
          </p:cNvPr>
          <p:cNvSpPr>
            <a:spLocks noChangeArrowheads="1"/>
          </p:cNvSpPr>
          <p:nvPr/>
        </p:nvSpPr>
        <p:spPr bwMode="auto">
          <a:xfrm>
            <a:off x="4552950" y="3017838"/>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156849" name="Rectangle 177">
            <a:extLst>
              <a:ext uri="{FF2B5EF4-FFF2-40B4-BE49-F238E27FC236}">
                <a16:creationId xmlns:a16="http://schemas.microsoft.com/office/drawing/2014/main" id="{02D677CB-3A56-1086-FFA8-03B4E6C81655}"/>
              </a:ext>
            </a:extLst>
          </p:cNvPr>
          <p:cNvSpPr>
            <a:spLocks noChangeArrowheads="1"/>
          </p:cNvSpPr>
          <p:nvPr/>
        </p:nvSpPr>
        <p:spPr bwMode="auto">
          <a:xfrm>
            <a:off x="4552950" y="2438400"/>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55333" name="Rectangle 178">
            <a:extLst>
              <a:ext uri="{FF2B5EF4-FFF2-40B4-BE49-F238E27FC236}">
                <a16:creationId xmlns:a16="http://schemas.microsoft.com/office/drawing/2014/main" id="{799D6C2A-56C6-A669-5553-5273D77B975D}"/>
              </a:ext>
            </a:extLst>
          </p:cNvPr>
          <p:cNvSpPr>
            <a:spLocks noChangeArrowheads="1"/>
          </p:cNvSpPr>
          <p:nvPr/>
        </p:nvSpPr>
        <p:spPr bwMode="auto">
          <a:xfrm>
            <a:off x="4552950" y="1600200"/>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6851" name="Rectangle 179">
            <a:extLst>
              <a:ext uri="{FF2B5EF4-FFF2-40B4-BE49-F238E27FC236}">
                <a16:creationId xmlns:a16="http://schemas.microsoft.com/office/drawing/2014/main" id="{FC8D062B-1B6A-25DD-50B7-95B7C3F636E5}"/>
              </a:ext>
            </a:extLst>
          </p:cNvPr>
          <p:cNvSpPr>
            <a:spLocks noChangeArrowheads="1"/>
          </p:cNvSpPr>
          <p:nvPr/>
        </p:nvSpPr>
        <p:spPr bwMode="auto">
          <a:xfrm>
            <a:off x="4016375" y="40687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6852" name="Rectangle 180">
            <a:extLst>
              <a:ext uri="{FF2B5EF4-FFF2-40B4-BE49-F238E27FC236}">
                <a16:creationId xmlns:a16="http://schemas.microsoft.com/office/drawing/2014/main" id="{3DD4CEC0-BE7A-21E9-12CA-5BFF3ED81634}"/>
              </a:ext>
            </a:extLst>
          </p:cNvPr>
          <p:cNvSpPr>
            <a:spLocks noChangeArrowheads="1"/>
          </p:cNvSpPr>
          <p:nvPr/>
        </p:nvSpPr>
        <p:spPr bwMode="auto">
          <a:xfrm>
            <a:off x="4016375" y="35512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156853" name="Rectangle 181">
            <a:extLst>
              <a:ext uri="{FF2B5EF4-FFF2-40B4-BE49-F238E27FC236}">
                <a16:creationId xmlns:a16="http://schemas.microsoft.com/office/drawing/2014/main" id="{6E76A658-B331-E68B-1259-1FF6D4A90D9B}"/>
              </a:ext>
            </a:extLst>
          </p:cNvPr>
          <p:cNvSpPr>
            <a:spLocks noChangeArrowheads="1"/>
          </p:cNvSpPr>
          <p:nvPr/>
        </p:nvSpPr>
        <p:spPr bwMode="auto">
          <a:xfrm>
            <a:off x="4016375" y="3017838"/>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156854" name="Rectangle 182">
            <a:extLst>
              <a:ext uri="{FF2B5EF4-FFF2-40B4-BE49-F238E27FC236}">
                <a16:creationId xmlns:a16="http://schemas.microsoft.com/office/drawing/2014/main" id="{E4F4934A-2B6E-C256-D0FC-4CE8EEABB06C}"/>
              </a:ext>
            </a:extLst>
          </p:cNvPr>
          <p:cNvSpPr>
            <a:spLocks noChangeArrowheads="1"/>
          </p:cNvSpPr>
          <p:nvPr/>
        </p:nvSpPr>
        <p:spPr bwMode="auto">
          <a:xfrm>
            <a:off x="4016375" y="2438400"/>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55338" name="Rectangle 183">
            <a:extLst>
              <a:ext uri="{FF2B5EF4-FFF2-40B4-BE49-F238E27FC236}">
                <a16:creationId xmlns:a16="http://schemas.microsoft.com/office/drawing/2014/main" id="{1090862D-A04F-B4D3-84C1-6E4E81E67DDC}"/>
              </a:ext>
            </a:extLst>
          </p:cNvPr>
          <p:cNvSpPr>
            <a:spLocks noChangeArrowheads="1"/>
          </p:cNvSpPr>
          <p:nvPr/>
        </p:nvSpPr>
        <p:spPr bwMode="auto">
          <a:xfrm>
            <a:off x="4016375" y="1600200"/>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156856" name="Rectangle 184">
            <a:extLst>
              <a:ext uri="{FF2B5EF4-FFF2-40B4-BE49-F238E27FC236}">
                <a16:creationId xmlns:a16="http://schemas.microsoft.com/office/drawing/2014/main" id="{FA5240F7-A750-FA9A-D496-6A9236044F83}"/>
              </a:ext>
            </a:extLst>
          </p:cNvPr>
          <p:cNvSpPr>
            <a:spLocks noChangeArrowheads="1"/>
          </p:cNvSpPr>
          <p:nvPr/>
        </p:nvSpPr>
        <p:spPr bwMode="auto">
          <a:xfrm>
            <a:off x="3479800" y="40687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6857" name="Rectangle 185">
            <a:extLst>
              <a:ext uri="{FF2B5EF4-FFF2-40B4-BE49-F238E27FC236}">
                <a16:creationId xmlns:a16="http://schemas.microsoft.com/office/drawing/2014/main" id="{2E1C2079-65C1-E870-1163-9788435B5361}"/>
              </a:ext>
            </a:extLst>
          </p:cNvPr>
          <p:cNvSpPr>
            <a:spLocks noChangeArrowheads="1"/>
          </p:cNvSpPr>
          <p:nvPr/>
        </p:nvSpPr>
        <p:spPr bwMode="auto">
          <a:xfrm>
            <a:off x="3479800" y="35512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156858" name="Rectangle 186">
            <a:extLst>
              <a:ext uri="{FF2B5EF4-FFF2-40B4-BE49-F238E27FC236}">
                <a16:creationId xmlns:a16="http://schemas.microsoft.com/office/drawing/2014/main" id="{32552CFB-FAE0-7AAC-4BBC-EE7E3B7D43E0}"/>
              </a:ext>
            </a:extLst>
          </p:cNvPr>
          <p:cNvSpPr>
            <a:spLocks noChangeArrowheads="1"/>
          </p:cNvSpPr>
          <p:nvPr/>
        </p:nvSpPr>
        <p:spPr bwMode="auto">
          <a:xfrm>
            <a:off x="3479800" y="3017838"/>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6859" name="Rectangle 187">
            <a:extLst>
              <a:ext uri="{FF2B5EF4-FFF2-40B4-BE49-F238E27FC236}">
                <a16:creationId xmlns:a16="http://schemas.microsoft.com/office/drawing/2014/main" id="{D86AC008-889D-9AA1-90D2-46C9B48417EF}"/>
              </a:ext>
            </a:extLst>
          </p:cNvPr>
          <p:cNvSpPr>
            <a:spLocks noChangeArrowheads="1"/>
          </p:cNvSpPr>
          <p:nvPr/>
        </p:nvSpPr>
        <p:spPr bwMode="auto">
          <a:xfrm>
            <a:off x="3479800" y="2438400"/>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55343" name="Rectangle 188">
            <a:extLst>
              <a:ext uri="{FF2B5EF4-FFF2-40B4-BE49-F238E27FC236}">
                <a16:creationId xmlns:a16="http://schemas.microsoft.com/office/drawing/2014/main" id="{CE3BDF80-D1B5-FA46-22E1-E57FF23B1760}"/>
              </a:ext>
            </a:extLst>
          </p:cNvPr>
          <p:cNvSpPr>
            <a:spLocks noChangeArrowheads="1"/>
          </p:cNvSpPr>
          <p:nvPr/>
        </p:nvSpPr>
        <p:spPr bwMode="auto">
          <a:xfrm>
            <a:off x="3479800" y="1600200"/>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156861" name="Rectangle 189">
            <a:extLst>
              <a:ext uri="{FF2B5EF4-FFF2-40B4-BE49-F238E27FC236}">
                <a16:creationId xmlns:a16="http://schemas.microsoft.com/office/drawing/2014/main" id="{EEFF9377-415A-639E-A98D-86BE286DF155}"/>
              </a:ext>
            </a:extLst>
          </p:cNvPr>
          <p:cNvSpPr>
            <a:spLocks noChangeArrowheads="1"/>
          </p:cNvSpPr>
          <p:nvPr/>
        </p:nvSpPr>
        <p:spPr bwMode="auto">
          <a:xfrm>
            <a:off x="2943225" y="40687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156862" name="Rectangle 190">
            <a:extLst>
              <a:ext uri="{FF2B5EF4-FFF2-40B4-BE49-F238E27FC236}">
                <a16:creationId xmlns:a16="http://schemas.microsoft.com/office/drawing/2014/main" id="{0E262E68-2DE9-0C7B-FC0B-EC4F07E6001D}"/>
              </a:ext>
            </a:extLst>
          </p:cNvPr>
          <p:cNvSpPr>
            <a:spLocks noChangeArrowheads="1"/>
          </p:cNvSpPr>
          <p:nvPr/>
        </p:nvSpPr>
        <p:spPr bwMode="auto">
          <a:xfrm>
            <a:off x="2943225" y="35512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156863" name="Rectangle 191">
            <a:extLst>
              <a:ext uri="{FF2B5EF4-FFF2-40B4-BE49-F238E27FC236}">
                <a16:creationId xmlns:a16="http://schemas.microsoft.com/office/drawing/2014/main" id="{C5B9224E-5674-0E5F-6A06-DF8342EB754F}"/>
              </a:ext>
            </a:extLst>
          </p:cNvPr>
          <p:cNvSpPr>
            <a:spLocks noChangeArrowheads="1"/>
          </p:cNvSpPr>
          <p:nvPr/>
        </p:nvSpPr>
        <p:spPr bwMode="auto">
          <a:xfrm>
            <a:off x="2943225" y="3017838"/>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6864" name="Rectangle 192">
            <a:extLst>
              <a:ext uri="{FF2B5EF4-FFF2-40B4-BE49-F238E27FC236}">
                <a16:creationId xmlns:a16="http://schemas.microsoft.com/office/drawing/2014/main" id="{AE6189FE-A5E5-6CC2-EB75-FBA51B66FB16}"/>
              </a:ext>
            </a:extLst>
          </p:cNvPr>
          <p:cNvSpPr>
            <a:spLocks noChangeArrowheads="1"/>
          </p:cNvSpPr>
          <p:nvPr/>
        </p:nvSpPr>
        <p:spPr bwMode="auto">
          <a:xfrm>
            <a:off x="2943225" y="2438400"/>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5348" name="Rectangle 193">
            <a:extLst>
              <a:ext uri="{FF2B5EF4-FFF2-40B4-BE49-F238E27FC236}">
                <a16:creationId xmlns:a16="http://schemas.microsoft.com/office/drawing/2014/main" id="{060B439C-13DE-8D19-5BC0-C660EAF0DF5F}"/>
              </a:ext>
            </a:extLst>
          </p:cNvPr>
          <p:cNvSpPr>
            <a:spLocks noChangeArrowheads="1"/>
          </p:cNvSpPr>
          <p:nvPr/>
        </p:nvSpPr>
        <p:spPr bwMode="auto">
          <a:xfrm>
            <a:off x="2943225" y="1600200"/>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156866" name="Rectangle 194">
            <a:extLst>
              <a:ext uri="{FF2B5EF4-FFF2-40B4-BE49-F238E27FC236}">
                <a16:creationId xmlns:a16="http://schemas.microsoft.com/office/drawing/2014/main" id="{592AB93A-7597-7E37-FAB0-A593E7BC5EA8}"/>
              </a:ext>
            </a:extLst>
          </p:cNvPr>
          <p:cNvSpPr>
            <a:spLocks noChangeArrowheads="1"/>
          </p:cNvSpPr>
          <p:nvPr/>
        </p:nvSpPr>
        <p:spPr bwMode="auto">
          <a:xfrm>
            <a:off x="2406650" y="4068763"/>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55350" name="Rectangle 195">
            <a:extLst>
              <a:ext uri="{FF2B5EF4-FFF2-40B4-BE49-F238E27FC236}">
                <a16:creationId xmlns:a16="http://schemas.microsoft.com/office/drawing/2014/main" id="{A2AC235D-B580-13F5-24FD-E9FF86367D06}"/>
              </a:ext>
            </a:extLst>
          </p:cNvPr>
          <p:cNvSpPr>
            <a:spLocks noChangeArrowheads="1"/>
          </p:cNvSpPr>
          <p:nvPr/>
        </p:nvSpPr>
        <p:spPr bwMode="auto">
          <a:xfrm>
            <a:off x="2406650" y="3551238"/>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156868" name="Rectangle 196">
            <a:extLst>
              <a:ext uri="{FF2B5EF4-FFF2-40B4-BE49-F238E27FC236}">
                <a16:creationId xmlns:a16="http://schemas.microsoft.com/office/drawing/2014/main" id="{C5C32E50-853D-EE4F-8373-735F9528C7D7}"/>
              </a:ext>
            </a:extLst>
          </p:cNvPr>
          <p:cNvSpPr>
            <a:spLocks noChangeArrowheads="1"/>
          </p:cNvSpPr>
          <p:nvPr/>
        </p:nvSpPr>
        <p:spPr bwMode="auto">
          <a:xfrm>
            <a:off x="2406650" y="3017838"/>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6869" name="Rectangle 197">
            <a:extLst>
              <a:ext uri="{FF2B5EF4-FFF2-40B4-BE49-F238E27FC236}">
                <a16:creationId xmlns:a16="http://schemas.microsoft.com/office/drawing/2014/main" id="{4C33A4AA-2AC1-0F14-2584-A8414751D0AC}"/>
              </a:ext>
            </a:extLst>
          </p:cNvPr>
          <p:cNvSpPr>
            <a:spLocks noChangeArrowheads="1"/>
          </p:cNvSpPr>
          <p:nvPr/>
        </p:nvSpPr>
        <p:spPr bwMode="auto">
          <a:xfrm>
            <a:off x="2406650" y="2438400"/>
            <a:ext cx="536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5353" name="Rectangle 198">
            <a:extLst>
              <a:ext uri="{FF2B5EF4-FFF2-40B4-BE49-F238E27FC236}">
                <a16:creationId xmlns:a16="http://schemas.microsoft.com/office/drawing/2014/main" id="{73412A63-8459-0EB1-4CDE-118C6289ADA8}"/>
              </a:ext>
            </a:extLst>
          </p:cNvPr>
          <p:cNvSpPr>
            <a:spLocks noChangeArrowheads="1"/>
          </p:cNvSpPr>
          <p:nvPr/>
        </p:nvSpPr>
        <p:spPr bwMode="auto">
          <a:xfrm>
            <a:off x="2406650" y="1600200"/>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156871" name="Rectangle 199">
            <a:extLst>
              <a:ext uri="{FF2B5EF4-FFF2-40B4-BE49-F238E27FC236}">
                <a16:creationId xmlns:a16="http://schemas.microsoft.com/office/drawing/2014/main" id="{636A18EF-D71E-4109-C8A5-D152C835C09D}"/>
              </a:ext>
            </a:extLst>
          </p:cNvPr>
          <p:cNvSpPr>
            <a:spLocks noChangeArrowheads="1"/>
          </p:cNvSpPr>
          <p:nvPr/>
        </p:nvSpPr>
        <p:spPr bwMode="auto">
          <a:xfrm>
            <a:off x="1763713" y="4068763"/>
            <a:ext cx="64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55355" name="Rectangle 200">
            <a:extLst>
              <a:ext uri="{FF2B5EF4-FFF2-40B4-BE49-F238E27FC236}">
                <a16:creationId xmlns:a16="http://schemas.microsoft.com/office/drawing/2014/main" id="{70E93493-12D4-F339-28D5-E8E69212A5CE}"/>
              </a:ext>
            </a:extLst>
          </p:cNvPr>
          <p:cNvSpPr>
            <a:spLocks noChangeArrowheads="1"/>
          </p:cNvSpPr>
          <p:nvPr/>
        </p:nvSpPr>
        <p:spPr bwMode="auto">
          <a:xfrm>
            <a:off x="1763713" y="3551238"/>
            <a:ext cx="64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5356" name="Rectangle 201">
            <a:extLst>
              <a:ext uri="{FF2B5EF4-FFF2-40B4-BE49-F238E27FC236}">
                <a16:creationId xmlns:a16="http://schemas.microsoft.com/office/drawing/2014/main" id="{B61A26F6-B584-6E2D-507A-93D64068E599}"/>
              </a:ext>
            </a:extLst>
          </p:cNvPr>
          <p:cNvSpPr>
            <a:spLocks noChangeArrowheads="1"/>
          </p:cNvSpPr>
          <p:nvPr/>
        </p:nvSpPr>
        <p:spPr bwMode="auto">
          <a:xfrm>
            <a:off x="1763713" y="3017838"/>
            <a:ext cx="6429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156874" name="Rectangle 202">
            <a:extLst>
              <a:ext uri="{FF2B5EF4-FFF2-40B4-BE49-F238E27FC236}">
                <a16:creationId xmlns:a16="http://schemas.microsoft.com/office/drawing/2014/main" id="{AE9DF873-6F11-88BA-A2AC-CCE2D0C8A54D}"/>
              </a:ext>
            </a:extLst>
          </p:cNvPr>
          <p:cNvSpPr>
            <a:spLocks noChangeArrowheads="1"/>
          </p:cNvSpPr>
          <p:nvPr/>
        </p:nvSpPr>
        <p:spPr bwMode="auto">
          <a:xfrm>
            <a:off x="1763713" y="2438400"/>
            <a:ext cx="6429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5358" name="Rectangle 203">
            <a:extLst>
              <a:ext uri="{FF2B5EF4-FFF2-40B4-BE49-F238E27FC236}">
                <a16:creationId xmlns:a16="http://schemas.microsoft.com/office/drawing/2014/main" id="{CFDC555D-9A53-2751-E601-DECFD0162796}"/>
              </a:ext>
            </a:extLst>
          </p:cNvPr>
          <p:cNvSpPr>
            <a:spLocks noChangeArrowheads="1"/>
          </p:cNvSpPr>
          <p:nvPr/>
        </p:nvSpPr>
        <p:spPr bwMode="auto">
          <a:xfrm>
            <a:off x="1763713" y="1600200"/>
            <a:ext cx="64293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5359" name="Rectangle 204">
            <a:extLst>
              <a:ext uri="{FF2B5EF4-FFF2-40B4-BE49-F238E27FC236}">
                <a16:creationId xmlns:a16="http://schemas.microsoft.com/office/drawing/2014/main" id="{2DF38B86-5300-05D4-E581-5D8982A99CCE}"/>
              </a:ext>
            </a:extLst>
          </p:cNvPr>
          <p:cNvSpPr>
            <a:spLocks noChangeArrowheads="1"/>
          </p:cNvSpPr>
          <p:nvPr/>
        </p:nvSpPr>
        <p:spPr bwMode="auto">
          <a:xfrm>
            <a:off x="762000" y="4068763"/>
            <a:ext cx="10017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5360" name="Rectangle 205">
            <a:extLst>
              <a:ext uri="{FF2B5EF4-FFF2-40B4-BE49-F238E27FC236}">
                <a16:creationId xmlns:a16="http://schemas.microsoft.com/office/drawing/2014/main" id="{40F03FA4-3C4B-A06B-8D27-A6221CFC8814}"/>
              </a:ext>
            </a:extLst>
          </p:cNvPr>
          <p:cNvSpPr>
            <a:spLocks noChangeArrowheads="1"/>
          </p:cNvSpPr>
          <p:nvPr/>
        </p:nvSpPr>
        <p:spPr bwMode="auto">
          <a:xfrm>
            <a:off x="762000" y="3551238"/>
            <a:ext cx="10017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块3</a:t>
            </a:r>
          </a:p>
        </p:txBody>
      </p:sp>
      <p:sp>
        <p:nvSpPr>
          <p:cNvPr id="55361" name="Rectangle 206">
            <a:extLst>
              <a:ext uri="{FF2B5EF4-FFF2-40B4-BE49-F238E27FC236}">
                <a16:creationId xmlns:a16="http://schemas.microsoft.com/office/drawing/2014/main" id="{0ED4593B-7A3C-D558-DDEF-AE03520172C1}"/>
              </a:ext>
            </a:extLst>
          </p:cNvPr>
          <p:cNvSpPr>
            <a:spLocks noChangeArrowheads="1"/>
          </p:cNvSpPr>
          <p:nvPr/>
        </p:nvSpPr>
        <p:spPr bwMode="auto">
          <a:xfrm>
            <a:off x="762000" y="3017838"/>
            <a:ext cx="10017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块2</a:t>
            </a:r>
          </a:p>
        </p:txBody>
      </p:sp>
      <p:sp>
        <p:nvSpPr>
          <p:cNvPr id="55362" name="Rectangle 207">
            <a:extLst>
              <a:ext uri="{FF2B5EF4-FFF2-40B4-BE49-F238E27FC236}">
                <a16:creationId xmlns:a16="http://schemas.microsoft.com/office/drawing/2014/main" id="{8A963993-B854-FD0F-908F-D9C140351496}"/>
              </a:ext>
            </a:extLst>
          </p:cNvPr>
          <p:cNvSpPr>
            <a:spLocks noChangeArrowheads="1"/>
          </p:cNvSpPr>
          <p:nvPr/>
        </p:nvSpPr>
        <p:spPr bwMode="auto">
          <a:xfrm>
            <a:off x="762000" y="2438400"/>
            <a:ext cx="10017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块1</a:t>
            </a:r>
          </a:p>
        </p:txBody>
      </p:sp>
      <p:sp>
        <p:nvSpPr>
          <p:cNvPr id="55363" name="Rectangle 208">
            <a:extLst>
              <a:ext uri="{FF2B5EF4-FFF2-40B4-BE49-F238E27FC236}">
                <a16:creationId xmlns:a16="http://schemas.microsoft.com/office/drawing/2014/main" id="{52459CC1-6BA7-92B1-A6ED-E9BB17591A4A}"/>
              </a:ext>
            </a:extLst>
          </p:cNvPr>
          <p:cNvSpPr>
            <a:spLocks noChangeArrowheads="1"/>
          </p:cNvSpPr>
          <p:nvPr/>
        </p:nvSpPr>
        <p:spPr bwMode="auto">
          <a:xfrm>
            <a:off x="762000" y="1600200"/>
            <a:ext cx="100171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走向</a:t>
            </a:r>
          </a:p>
        </p:txBody>
      </p:sp>
      <p:sp>
        <p:nvSpPr>
          <p:cNvPr id="55364" name="Line 209">
            <a:extLst>
              <a:ext uri="{FF2B5EF4-FFF2-40B4-BE49-F238E27FC236}">
                <a16:creationId xmlns:a16="http://schemas.microsoft.com/office/drawing/2014/main" id="{2961849A-A450-2CEE-3250-5A777C77EC4F}"/>
              </a:ext>
            </a:extLst>
          </p:cNvPr>
          <p:cNvSpPr>
            <a:spLocks noChangeShapeType="1"/>
          </p:cNvSpPr>
          <p:nvPr/>
        </p:nvSpPr>
        <p:spPr bwMode="auto">
          <a:xfrm>
            <a:off x="762000" y="1600200"/>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5" name="Line 210">
            <a:extLst>
              <a:ext uri="{FF2B5EF4-FFF2-40B4-BE49-F238E27FC236}">
                <a16:creationId xmlns:a16="http://schemas.microsoft.com/office/drawing/2014/main" id="{52218235-B848-3A35-76FC-386FA7EEA18F}"/>
              </a:ext>
            </a:extLst>
          </p:cNvPr>
          <p:cNvSpPr>
            <a:spLocks noChangeShapeType="1"/>
          </p:cNvSpPr>
          <p:nvPr/>
        </p:nvSpPr>
        <p:spPr bwMode="auto">
          <a:xfrm>
            <a:off x="762000" y="4586288"/>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6" name="Line 211">
            <a:extLst>
              <a:ext uri="{FF2B5EF4-FFF2-40B4-BE49-F238E27FC236}">
                <a16:creationId xmlns:a16="http://schemas.microsoft.com/office/drawing/2014/main" id="{7A6AE7EF-7B7F-03C5-A2D1-844305A5EC8F}"/>
              </a:ext>
            </a:extLst>
          </p:cNvPr>
          <p:cNvSpPr>
            <a:spLocks noChangeShapeType="1"/>
          </p:cNvSpPr>
          <p:nvPr/>
        </p:nvSpPr>
        <p:spPr bwMode="auto">
          <a:xfrm>
            <a:off x="762000" y="1600200"/>
            <a:ext cx="0" cy="2986088"/>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7" name="Line 212">
            <a:extLst>
              <a:ext uri="{FF2B5EF4-FFF2-40B4-BE49-F238E27FC236}">
                <a16:creationId xmlns:a16="http://schemas.microsoft.com/office/drawing/2014/main" id="{8315F532-8EB0-6CAA-3DAA-3FE79D6A457C}"/>
              </a:ext>
            </a:extLst>
          </p:cNvPr>
          <p:cNvSpPr>
            <a:spLocks noChangeShapeType="1"/>
          </p:cNvSpPr>
          <p:nvPr/>
        </p:nvSpPr>
        <p:spPr bwMode="auto">
          <a:xfrm>
            <a:off x="8382000" y="1600200"/>
            <a:ext cx="0" cy="2986088"/>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8" name="Line 213">
            <a:extLst>
              <a:ext uri="{FF2B5EF4-FFF2-40B4-BE49-F238E27FC236}">
                <a16:creationId xmlns:a16="http://schemas.microsoft.com/office/drawing/2014/main" id="{3A6D13E1-593B-6C3D-D679-827246B9C1B3}"/>
              </a:ext>
            </a:extLst>
          </p:cNvPr>
          <p:cNvSpPr>
            <a:spLocks noChangeShapeType="1"/>
          </p:cNvSpPr>
          <p:nvPr/>
        </p:nvSpPr>
        <p:spPr bwMode="auto">
          <a:xfrm>
            <a:off x="762000" y="2438400"/>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9" name="Line 214">
            <a:extLst>
              <a:ext uri="{FF2B5EF4-FFF2-40B4-BE49-F238E27FC236}">
                <a16:creationId xmlns:a16="http://schemas.microsoft.com/office/drawing/2014/main" id="{8BC46373-DB2A-70BD-E2C8-735C3771EA34}"/>
              </a:ext>
            </a:extLst>
          </p:cNvPr>
          <p:cNvSpPr>
            <a:spLocks noChangeShapeType="1"/>
          </p:cNvSpPr>
          <p:nvPr/>
        </p:nvSpPr>
        <p:spPr bwMode="auto">
          <a:xfrm>
            <a:off x="762000" y="3017838"/>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0" name="Line 215">
            <a:extLst>
              <a:ext uri="{FF2B5EF4-FFF2-40B4-BE49-F238E27FC236}">
                <a16:creationId xmlns:a16="http://schemas.microsoft.com/office/drawing/2014/main" id="{DC8A3D69-22A3-5525-A521-ADEEF1D81DFE}"/>
              </a:ext>
            </a:extLst>
          </p:cNvPr>
          <p:cNvSpPr>
            <a:spLocks noChangeShapeType="1"/>
          </p:cNvSpPr>
          <p:nvPr/>
        </p:nvSpPr>
        <p:spPr bwMode="auto">
          <a:xfrm>
            <a:off x="762000" y="3551238"/>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1" name="Line 216">
            <a:extLst>
              <a:ext uri="{FF2B5EF4-FFF2-40B4-BE49-F238E27FC236}">
                <a16:creationId xmlns:a16="http://schemas.microsoft.com/office/drawing/2014/main" id="{74747E53-9F67-2AE2-8D70-352952DFA2C0}"/>
              </a:ext>
            </a:extLst>
          </p:cNvPr>
          <p:cNvSpPr>
            <a:spLocks noChangeShapeType="1"/>
          </p:cNvSpPr>
          <p:nvPr/>
        </p:nvSpPr>
        <p:spPr bwMode="auto">
          <a:xfrm>
            <a:off x="762000" y="4068763"/>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2" name="Line 217">
            <a:extLst>
              <a:ext uri="{FF2B5EF4-FFF2-40B4-BE49-F238E27FC236}">
                <a16:creationId xmlns:a16="http://schemas.microsoft.com/office/drawing/2014/main" id="{4E081C4F-01C1-3776-28DF-27A97CD92A23}"/>
              </a:ext>
            </a:extLst>
          </p:cNvPr>
          <p:cNvSpPr>
            <a:spLocks noChangeShapeType="1"/>
          </p:cNvSpPr>
          <p:nvPr/>
        </p:nvSpPr>
        <p:spPr bwMode="auto">
          <a:xfrm>
            <a:off x="1763713" y="160020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3" name="Line 218">
            <a:extLst>
              <a:ext uri="{FF2B5EF4-FFF2-40B4-BE49-F238E27FC236}">
                <a16:creationId xmlns:a16="http://schemas.microsoft.com/office/drawing/2014/main" id="{3C9E79AD-207B-B481-3062-9323651AFBBB}"/>
              </a:ext>
            </a:extLst>
          </p:cNvPr>
          <p:cNvSpPr>
            <a:spLocks noChangeShapeType="1"/>
          </p:cNvSpPr>
          <p:nvPr/>
        </p:nvSpPr>
        <p:spPr bwMode="auto">
          <a:xfrm>
            <a:off x="2406650" y="160020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4" name="Line 219">
            <a:extLst>
              <a:ext uri="{FF2B5EF4-FFF2-40B4-BE49-F238E27FC236}">
                <a16:creationId xmlns:a16="http://schemas.microsoft.com/office/drawing/2014/main" id="{34321C58-211C-EAA0-9FA3-5840B11D349A}"/>
              </a:ext>
            </a:extLst>
          </p:cNvPr>
          <p:cNvSpPr>
            <a:spLocks noChangeShapeType="1"/>
          </p:cNvSpPr>
          <p:nvPr/>
        </p:nvSpPr>
        <p:spPr bwMode="auto">
          <a:xfrm>
            <a:off x="2943225" y="160020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5" name="Line 220">
            <a:extLst>
              <a:ext uri="{FF2B5EF4-FFF2-40B4-BE49-F238E27FC236}">
                <a16:creationId xmlns:a16="http://schemas.microsoft.com/office/drawing/2014/main" id="{562495DC-408A-F3E3-3B82-4F12B8DF7821}"/>
              </a:ext>
            </a:extLst>
          </p:cNvPr>
          <p:cNvSpPr>
            <a:spLocks noChangeShapeType="1"/>
          </p:cNvSpPr>
          <p:nvPr/>
        </p:nvSpPr>
        <p:spPr bwMode="auto">
          <a:xfrm>
            <a:off x="3479800" y="160020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6" name="Line 221">
            <a:extLst>
              <a:ext uri="{FF2B5EF4-FFF2-40B4-BE49-F238E27FC236}">
                <a16:creationId xmlns:a16="http://schemas.microsoft.com/office/drawing/2014/main" id="{9CA5BFEC-1DD8-2EA4-6FEE-6C60670FC8C6}"/>
              </a:ext>
            </a:extLst>
          </p:cNvPr>
          <p:cNvSpPr>
            <a:spLocks noChangeShapeType="1"/>
          </p:cNvSpPr>
          <p:nvPr/>
        </p:nvSpPr>
        <p:spPr bwMode="auto">
          <a:xfrm>
            <a:off x="4016375" y="160020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7" name="Line 222">
            <a:extLst>
              <a:ext uri="{FF2B5EF4-FFF2-40B4-BE49-F238E27FC236}">
                <a16:creationId xmlns:a16="http://schemas.microsoft.com/office/drawing/2014/main" id="{BACD6520-4D52-3547-4685-355754D3DC62}"/>
              </a:ext>
            </a:extLst>
          </p:cNvPr>
          <p:cNvSpPr>
            <a:spLocks noChangeShapeType="1"/>
          </p:cNvSpPr>
          <p:nvPr/>
        </p:nvSpPr>
        <p:spPr bwMode="auto">
          <a:xfrm>
            <a:off x="4552950" y="160020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8" name="Line 223">
            <a:extLst>
              <a:ext uri="{FF2B5EF4-FFF2-40B4-BE49-F238E27FC236}">
                <a16:creationId xmlns:a16="http://schemas.microsoft.com/office/drawing/2014/main" id="{C6BC9060-02A8-B67F-3FA9-08174D48E835}"/>
              </a:ext>
            </a:extLst>
          </p:cNvPr>
          <p:cNvSpPr>
            <a:spLocks noChangeShapeType="1"/>
          </p:cNvSpPr>
          <p:nvPr/>
        </p:nvSpPr>
        <p:spPr bwMode="auto">
          <a:xfrm>
            <a:off x="5089525" y="160020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9" name="Line 224">
            <a:extLst>
              <a:ext uri="{FF2B5EF4-FFF2-40B4-BE49-F238E27FC236}">
                <a16:creationId xmlns:a16="http://schemas.microsoft.com/office/drawing/2014/main" id="{5243BF95-27B8-F037-C61E-ABDAF3237A6D}"/>
              </a:ext>
            </a:extLst>
          </p:cNvPr>
          <p:cNvSpPr>
            <a:spLocks noChangeShapeType="1"/>
          </p:cNvSpPr>
          <p:nvPr/>
        </p:nvSpPr>
        <p:spPr bwMode="auto">
          <a:xfrm>
            <a:off x="5626100" y="160020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0" name="Line 225">
            <a:extLst>
              <a:ext uri="{FF2B5EF4-FFF2-40B4-BE49-F238E27FC236}">
                <a16:creationId xmlns:a16="http://schemas.microsoft.com/office/drawing/2014/main" id="{3BCA42A3-863A-10CB-DD5B-3554D5642230}"/>
              </a:ext>
            </a:extLst>
          </p:cNvPr>
          <p:cNvSpPr>
            <a:spLocks noChangeShapeType="1"/>
          </p:cNvSpPr>
          <p:nvPr/>
        </p:nvSpPr>
        <p:spPr bwMode="auto">
          <a:xfrm>
            <a:off x="6164263" y="160020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1" name="Line 226">
            <a:extLst>
              <a:ext uri="{FF2B5EF4-FFF2-40B4-BE49-F238E27FC236}">
                <a16:creationId xmlns:a16="http://schemas.microsoft.com/office/drawing/2014/main" id="{E4D4B588-54BE-6405-904B-5502E4A652FD}"/>
              </a:ext>
            </a:extLst>
          </p:cNvPr>
          <p:cNvSpPr>
            <a:spLocks noChangeShapeType="1"/>
          </p:cNvSpPr>
          <p:nvPr/>
        </p:nvSpPr>
        <p:spPr bwMode="auto">
          <a:xfrm>
            <a:off x="6700838" y="160020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2" name="Line 227">
            <a:extLst>
              <a:ext uri="{FF2B5EF4-FFF2-40B4-BE49-F238E27FC236}">
                <a16:creationId xmlns:a16="http://schemas.microsoft.com/office/drawing/2014/main" id="{B899BF28-2113-E743-62C0-1B2969E8F3BA}"/>
              </a:ext>
            </a:extLst>
          </p:cNvPr>
          <p:cNvSpPr>
            <a:spLocks noChangeShapeType="1"/>
          </p:cNvSpPr>
          <p:nvPr/>
        </p:nvSpPr>
        <p:spPr bwMode="auto">
          <a:xfrm>
            <a:off x="7237413" y="160020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3" name="Line 228">
            <a:extLst>
              <a:ext uri="{FF2B5EF4-FFF2-40B4-BE49-F238E27FC236}">
                <a16:creationId xmlns:a16="http://schemas.microsoft.com/office/drawing/2014/main" id="{C0D7A144-939A-6FF1-D147-E97F87A8673F}"/>
              </a:ext>
            </a:extLst>
          </p:cNvPr>
          <p:cNvSpPr>
            <a:spLocks noChangeShapeType="1"/>
          </p:cNvSpPr>
          <p:nvPr/>
        </p:nvSpPr>
        <p:spPr bwMode="auto">
          <a:xfrm>
            <a:off x="7767638" y="160020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156874"/>
                                        </p:tgtEl>
                                        <p:attrNameLst>
                                          <p:attrName>style.visibility</p:attrName>
                                        </p:attrNameLst>
                                      </p:cBhvr>
                                      <p:to>
                                        <p:strVal val="visible"/>
                                      </p:to>
                                    </p:set>
                                    <p:animEffect transition="in" filter="barn(outHorizontal)">
                                      <p:cBhvr>
                                        <p:cTn id="7" dur="500"/>
                                        <p:tgtEl>
                                          <p:spTgt spid="156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156871"/>
                                        </p:tgtEl>
                                        <p:attrNameLst>
                                          <p:attrName>style.visibility</p:attrName>
                                        </p:attrNameLst>
                                      </p:cBhvr>
                                      <p:to>
                                        <p:strVal val="visible"/>
                                      </p:to>
                                    </p:set>
                                    <p:animEffect transition="in" filter="barn(outHorizontal)">
                                      <p:cBhvr>
                                        <p:cTn id="12" dur="500"/>
                                        <p:tgtEl>
                                          <p:spTgt spid="1568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156869"/>
                                        </p:tgtEl>
                                        <p:attrNameLst>
                                          <p:attrName>style.visibility</p:attrName>
                                        </p:attrNameLst>
                                      </p:cBhvr>
                                      <p:to>
                                        <p:strVal val="visible"/>
                                      </p:to>
                                    </p:set>
                                    <p:animEffect transition="in" filter="barn(outHorizontal)">
                                      <p:cBhvr>
                                        <p:cTn id="17" dur="500"/>
                                        <p:tgtEl>
                                          <p:spTgt spid="1568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156868"/>
                                        </p:tgtEl>
                                        <p:attrNameLst>
                                          <p:attrName>style.visibility</p:attrName>
                                        </p:attrNameLst>
                                      </p:cBhvr>
                                      <p:to>
                                        <p:strVal val="visible"/>
                                      </p:to>
                                    </p:set>
                                    <p:animEffect transition="in" filter="barn(outHorizontal)">
                                      <p:cBhvr>
                                        <p:cTn id="22" dur="500"/>
                                        <p:tgtEl>
                                          <p:spTgt spid="1568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156866"/>
                                        </p:tgtEl>
                                        <p:attrNameLst>
                                          <p:attrName>style.visibility</p:attrName>
                                        </p:attrNameLst>
                                      </p:cBhvr>
                                      <p:to>
                                        <p:strVal val="visible"/>
                                      </p:to>
                                    </p:set>
                                    <p:animEffect transition="in" filter="barn(outHorizontal)">
                                      <p:cBhvr>
                                        <p:cTn id="27" dur="500"/>
                                        <p:tgtEl>
                                          <p:spTgt spid="15686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156864"/>
                                        </p:tgtEl>
                                        <p:attrNameLst>
                                          <p:attrName>style.visibility</p:attrName>
                                        </p:attrNameLst>
                                      </p:cBhvr>
                                      <p:to>
                                        <p:strVal val="visible"/>
                                      </p:to>
                                    </p:set>
                                    <p:animEffect transition="in" filter="barn(outHorizontal)">
                                      <p:cBhvr>
                                        <p:cTn id="32" dur="500"/>
                                        <p:tgtEl>
                                          <p:spTgt spid="15686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156863"/>
                                        </p:tgtEl>
                                        <p:attrNameLst>
                                          <p:attrName>style.visibility</p:attrName>
                                        </p:attrNameLst>
                                      </p:cBhvr>
                                      <p:to>
                                        <p:strVal val="visible"/>
                                      </p:to>
                                    </p:set>
                                    <p:animEffect transition="in" filter="barn(outHorizontal)">
                                      <p:cBhvr>
                                        <p:cTn id="37" dur="500"/>
                                        <p:tgtEl>
                                          <p:spTgt spid="15686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156862"/>
                                        </p:tgtEl>
                                        <p:attrNameLst>
                                          <p:attrName>style.visibility</p:attrName>
                                        </p:attrNameLst>
                                      </p:cBhvr>
                                      <p:to>
                                        <p:strVal val="visible"/>
                                      </p:to>
                                    </p:set>
                                    <p:animEffect transition="in" filter="barn(outHorizontal)">
                                      <p:cBhvr>
                                        <p:cTn id="42" dur="500"/>
                                        <p:tgtEl>
                                          <p:spTgt spid="15686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156861"/>
                                        </p:tgtEl>
                                        <p:attrNameLst>
                                          <p:attrName>style.visibility</p:attrName>
                                        </p:attrNameLst>
                                      </p:cBhvr>
                                      <p:to>
                                        <p:strVal val="visible"/>
                                      </p:to>
                                    </p:set>
                                    <p:animEffect transition="in" filter="barn(outHorizontal)">
                                      <p:cBhvr>
                                        <p:cTn id="47" dur="500"/>
                                        <p:tgtEl>
                                          <p:spTgt spid="15686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156859"/>
                                        </p:tgtEl>
                                        <p:attrNameLst>
                                          <p:attrName>style.visibility</p:attrName>
                                        </p:attrNameLst>
                                      </p:cBhvr>
                                      <p:to>
                                        <p:strVal val="visible"/>
                                      </p:to>
                                    </p:set>
                                    <p:animEffect transition="in" filter="barn(outHorizontal)">
                                      <p:cBhvr>
                                        <p:cTn id="52" dur="500"/>
                                        <p:tgtEl>
                                          <p:spTgt spid="15685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156858"/>
                                        </p:tgtEl>
                                        <p:attrNameLst>
                                          <p:attrName>style.visibility</p:attrName>
                                        </p:attrNameLst>
                                      </p:cBhvr>
                                      <p:to>
                                        <p:strVal val="visible"/>
                                      </p:to>
                                    </p:set>
                                    <p:animEffect transition="in" filter="barn(outHorizontal)">
                                      <p:cBhvr>
                                        <p:cTn id="57" dur="500"/>
                                        <p:tgtEl>
                                          <p:spTgt spid="15685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156857"/>
                                        </p:tgtEl>
                                        <p:attrNameLst>
                                          <p:attrName>style.visibility</p:attrName>
                                        </p:attrNameLst>
                                      </p:cBhvr>
                                      <p:to>
                                        <p:strVal val="visible"/>
                                      </p:to>
                                    </p:set>
                                    <p:animEffect transition="in" filter="barn(outHorizontal)">
                                      <p:cBhvr>
                                        <p:cTn id="62" dur="500"/>
                                        <p:tgtEl>
                                          <p:spTgt spid="15685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156856"/>
                                        </p:tgtEl>
                                        <p:attrNameLst>
                                          <p:attrName>style.visibility</p:attrName>
                                        </p:attrNameLst>
                                      </p:cBhvr>
                                      <p:to>
                                        <p:strVal val="visible"/>
                                      </p:to>
                                    </p:set>
                                    <p:animEffect transition="in" filter="barn(outHorizontal)">
                                      <p:cBhvr>
                                        <p:cTn id="67" dur="500"/>
                                        <p:tgtEl>
                                          <p:spTgt spid="15685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156854"/>
                                        </p:tgtEl>
                                        <p:attrNameLst>
                                          <p:attrName>style.visibility</p:attrName>
                                        </p:attrNameLst>
                                      </p:cBhvr>
                                      <p:to>
                                        <p:strVal val="visible"/>
                                      </p:to>
                                    </p:set>
                                    <p:animEffect transition="in" filter="barn(outHorizontal)">
                                      <p:cBhvr>
                                        <p:cTn id="72" dur="500"/>
                                        <p:tgtEl>
                                          <p:spTgt spid="15685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156853"/>
                                        </p:tgtEl>
                                        <p:attrNameLst>
                                          <p:attrName>style.visibility</p:attrName>
                                        </p:attrNameLst>
                                      </p:cBhvr>
                                      <p:to>
                                        <p:strVal val="visible"/>
                                      </p:to>
                                    </p:set>
                                    <p:animEffect transition="in" filter="barn(outHorizontal)">
                                      <p:cBhvr>
                                        <p:cTn id="77" dur="500"/>
                                        <p:tgtEl>
                                          <p:spTgt spid="15685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156852"/>
                                        </p:tgtEl>
                                        <p:attrNameLst>
                                          <p:attrName>style.visibility</p:attrName>
                                        </p:attrNameLst>
                                      </p:cBhvr>
                                      <p:to>
                                        <p:strVal val="visible"/>
                                      </p:to>
                                    </p:set>
                                    <p:animEffect transition="in" filter="barn(outHorizontal)">
                                      <p:cBhvr>
                                        <p:cTn id="82" dur="500"/>
                                        <p:tgtEl>
                                          <p:spTgt spid="15685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156851"/>
                                        </p:tgtEl>
                                        <p:attrNameLst>
                                          <p:attrName>style.visibility</p:attrName>
                                        </p:attrNameLst>
                                      </p:cBhvr>
                                      <p:to>
                                        <p:strVal val="visible"/>
                                      </p:to>
                                    </p:set>
                                    <p:animEffect transition="in" filter="barn(outHorizontal)">
                                      <p:cBhvr>
                                        <p:cTn id="87" dur="500"/>
                                        <p:tgtEl>
                                          <p:spTgt spid="15685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156849"/>
                                        </p:tgtEl>
                                        <p:attrNameLst>
                                          <p:attrName>style.visibility</p:attrName>
                                        </p:attrNameLst>
                                      </p:cBhvr>
                                      <p:to>
                                        <p:strVal val="visible"/>
                                      </p:to>
                                    </p:set>
                                    <p:animEffect transition="in" filter="barn(outHorizontal)">
                                      <p:cBhvr>
                                        <p:cTn id="92" dur="500"/>
                                        <p:tgtEl>
                                          <p:spTgt spid="15684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156848"/>
                                        </p:tgtEl>
                                        <p:attrNameLst>
                                          <p:attrName>style.visibility</p:attrName>
                                        </p:attrNameLst>
                                      </p:cBhvr>
                                      <p:to>
                                        <p:strVal val="visible"/>
                                      </p:to>
                                    </p:set>
                                    <p:animEffect transition="in" filter="barn(outHorizontal)">
                                      <p:cBhvr>
                                        <p:cTn id="97" dur="500"/>
                                        <p:tgtEl>
                                          <p:spTgt spid="156848"/>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6" presetClass="entr" presetSubtype="42" fill="hold" nodeType="clickEffect">
                                  <p:stCondLst>
                                    <p:cond delay="0"/>
                                  </p:stCondLst>
                                  <p:childTnLst>
                                    <p:set>
                                      <p:cBhvr>
                                        <p:cTn id="101" dur="1" fill="hold">
                                          <p:stCondLst>
                                            <p:cond delay="0"/>
                                          </p:stCondLst>
                                        </p:cTn>
                                        <p:tgtEl>
                                          <p:spTgt spid="156847"/>
                                        </p:tgtEl>
                                        <p:attrNameLst>
                                          <p:attrName>style.visibility</p:attrName>
                                        </p:attrNameLst>
                                      </p:cBhvr>
                                      <p:to>
                                        <p:strVal val="visible"/>
                                      </p:to>
                                    </p:set>
                                    <p:animEffect transition="in" filter="barn(outHorizontal)">
                                      <p:cBhvr>
                                        <p:cTn id="102" dur="500"/>
                                        <p:tgtEl>
                                          <p:spTgt spid="156847"/>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6" presetClass="entr" presetSubtype="42" fill="hold" nodeType="clickEffect">
                                  <p:stCondLst>
                                    <p:cond delay="0"/>
                                  </p:stCondLst>
                                  <p:childTnLst>
                                    <p:set>
                                      <p:cBhvr>
                                        <p:cTn id="106" dur="1" fill="hold">
                                          <p:stCondLst>
                                            <p:cond delay="0"/>
                                          </p:stCondLst>
                                        </p:cTn>
                                        <p:tgtEl>
                                          <p:spTgt spid="156846"/>
                                        </p:tgtEl>
                                        <p:attrNameLst>
                                          <p:attrName>style.visibility</p:attrName>
                                        </p:attrNameLst>
                                      </p:cBhvr>
                                      <p:to>
                                        <p:strVal val="visible"/>
                                      </p:to>
                                    </p:set>
                                    <p:animEffect transition="in" filter="barn(outHorizontal)">
                                      <p:cBhvr>
                                        <p:cTn id="107" dur="500"/>
                                        <p:tgtEl>
                                          <p:spTgt spid="156846"/>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6" presetClass="entr" presetSubtype="42" fill="hold" nodeType="clickEffect">
                                  <p:stCondLst>
                                    <p:cond delay="0"/>
                                  </p:stCondLst>
                                  <p:childTnLst>
                                    <p:set>
                                      <p:cBhvr>
                                        <p:cTn id="111" dur="1" fill="hold">
                                          <p:stCondLst>
                                            <p:cond delay="0"/>
                                          </p:stCondLst>
                                        </p:cTn>
                                        <p:tgtEl>
                                          <p:spTgt spid="156844"/>
                                        </p:tgtEl>
                                        <p:attrNameLst>
                                          <p:attrName>style.visibility</p:attrName>
                                        </p:attrNameLst>
                                      </p:cBhvr>
                                      <p:to>
                                        <p:strVal val="visible"/>
                                      </p:to>
                                    </p:set>
                                    <p:animEffect transition="in" filter="barn(outHorizontal)">
                                      <p:cBhvr>
                                        <p:cTn id="112" dur="500"/>
                                        <p:tgtEl>
                                          <p:spTgt spid="156844"/>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6" presetClass="entr" presetSubtype="42" fill="hold" nodeType="clickEffect">
                                  <p:stCondLst>
                                    <p:cond delay="0"/>
                                  </p:stCondLst>
                                  <p:childTnLst>
                                    <p:set>
                                      <p:cBhvr>
                                        <p:cTn id="116" dur="1" fill="hold">
                                          <p:stCondLst>
                                            <p:cond delay="0"/>
                                          </p:stCondLst>
                                        </p:cTn>
                                        <p:tgtEl>
                                          <p:spTgt spid="156843"/>
                                        </p:tgtEl>
                                        <p:attrNameLst>
                                          <p:attrName>style.visibility</p:attrName>
                                        </p:attrNameLst>
                                      </p:cBhvr>
                                      <p:to>
                                        <p:strVal val="visible"/>
                                      </p:to>
                                    </p:set>
                                    <p:animEffect transition="in" filter="barn(outHorizontal)">
                                      <p:cBhvr>
                                        <p:cTn id="117" dur="500"/>
                                        <p:tgtEl>
                                          <p:spTgt spid="156843"/>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6" presetClass="entr" presetSubtype="42" fill="hold" nodeType="clickEffect">
                                  <p:stCondLst>
                                    <p:cond delay="0"/>
                                  </p:stCondLst>
                                  <p:childTnLst>
                                    <p:set>
                                      <p:cBhvr>
                                        <p:cTn id="121" dur="1" fill="hold">
                                          <p:stCondLst>
                                            <p:cond delay="0"/>
                                          </p:stCondLst>
                                        </p:cTn>
                                        <p:tgtEl>
                                          <p:spTgt spid="156842"/>
                                        </p:tgtEl>
                                        <p:attrNameLst>
                                          <p:attrName>style.visibility</p:attrName>
                                        </p:attrNameLst>
                                      </p:cBhvr>
                                      <p:to>
                                        <p:strVal val="visible"/>
                                      </p:to>
                                    </p:set>
                                    <p:animEffect transition="in" filter="barn(outHorizontal)">
                                      <p:cBhvr>
                                        <p:cTn id="122" dur="500"/>
                                        <p:tgtEl>
                                          <p:spTgt spid="156842"/>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6" presetClass="entr" presetSubtype="42" fill="hold" nodeType="clickEffect">
                                  <p:stCondLst>
                                    <p:cond delay="0"/>
                                  </p:stCondLst>
                                  <p:childTnLst>
                                    <p:set>
                                      <p:cBhvr>
                                        <p:cTn id="126" dur="1" fill="hold">
                                          <p:stCondLst>
                                            <p:cond delay="0"/>
                                          </p:stCondLst>
                                        </p:cTn>
                                        <p:tgtEl>
                                          <p:spTgt spid="156841"/>
                                        </p:tgtEl>
                                        <p:attrNameLst>
                                          <p:attrName>style.visibility</p:attrName>
                                        </p:attrNameLst>
                                      </p:cBhvr>
                                      <p:to>
                                        <p:strVal val="visible"/>
                                      </p:to>
                                    </p:set>
                                    <p:animEffect transition="in" filter="barn(outHorizontal)">
                                      <p:cBhvr>
                                        <p:cTn id="127" dur="500"/>
                                        <p:tgtEl>
                                          <p:spTgt spid="156841"/>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6" presetClass="entr" presetSubtype="42" fill="hold" nodeType="clickEffect">
                                  <p:stCondLst>
                                    <p:cond delay="0"/>
                                  </p:stCondLst>
                                  <p:childTnLst>
                                    <p:set>
                                      <p:cBhvr>
                                        <p:cTn id="131" dur="1" fill="hold">
                                          <p:stCondLst>
                                            <p:cond delay="0"/>
                                          </p:stCondLst>
                                        </p:cTn>
                                        <p:tgtEl>
                                          <p:spTgt spid="156829"/>
                                        </p:tgtEl>
                                        <p:attrNameLst>
                                          <p:attrName>style.visibility</p:attrName>
                                        </p:attrNameLst>
                                      </p:cBhvr>
                                      <p:to>
                                        <p:strVal val="visible"/>
                                      </p:to>
                                    </p:set>
                                    <p:animEffect transition="in" filter="barn(outHorizontal)">
                                      <p:cBhvr>
                                        <p:cTn id="132" dur="500"/>
                                        <p:tgtEl>
                                          <p:spTgt spid="156829"/>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6" presetClass="entr" presetSubtype="42" fill="hold" nodeType="clickEffect">
                                  <p:stCondLst>
                                    <p:cond delay="0"/>
                                  </p:stCondLst>
                                  <p:childTnLst>
                                    <p:set>
                                      <p:cBhvr>
                                        <p:cTn id="136" dur="1" fill="hold">
                                          <p:stCondLst>
                                            <p:cond delay="0"/>
                                          </p:stCondLst>
                                        </p:cTn>
                                        <p:tgtEl>
                                          <p:spTgt spid="156828"/>
                                        </p:tgtEl>
                                        <p:attrNameLst>
                                          <p:attrName>style.visibility</p:attrName>
                                        </p:attrNameLst>
                                      </p:cBhvr>
                                      <p:to>
                                        <p:strVal val="visible"/>
                                      </p:to>
                                    </p:set>
                                    <p:animEffect transition="in" filter="barn(outHorizontal)">
                                      <p:cBhvr>
                                        <p:cTn id="137" dur="500"/>
                                        <p:tgtEl>
                                          <p:spTgt spid="156828"/>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6" presetClass="entr" presetSubtype="42" fill="hold" nodeType="clickEffect">
                                  <p:stCondLst>
                                    <p:cond delay="0"/>
                                  </p:stCondLst>
                                  <p:childTnLst>
                                    <p:set>
                                      <p:cBhvr>
                                        <p:cTn id="141" dur="1" fill="hold">
                                          <p:stCondLst>
                                            <p:cond delay="0"/>
                                          </p:stCondLst>
                                        </p:cTn>
                                        <p:tgtEl>
                                          <p:spTgt spid="156827"/>
                                        </p:tgtEl>
                                        <p:attrNameLst>
                                          <p:attrName>style.visibility</p:attrName>
                                        </p:attrNameLst>
                                      </p:cBhvr>
                                      <p:to>
                                        <p:strVal val="visible"/>
                                      </p:to>
                                    </p:set>
                                    <p:animEffect transition="in" filter="barn(outHorizontal)">
                                      <p:cBhvr>
                                        <p:cTn id="142" dur="500"/>
                                        <p:tgtEl>
                                          <p:spTgt spid="156827"/>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6" presetClass="entr" presetSubtype="42" fill="hold" nodeType="clickEffect">
                                  <p:stCondLst>
                                    <p:cond delay="0"/>
                                  </p:stCondLst>
                                  <p:childTnLst>
                                    <p:set>
                                      <p:cBhvr>
                                        <p:cTn id="146" dur="1" fill="hold">
                                          <p:stCondLst>
                                            <p:cond delay="0"/>
                                          </p:stCondLst>
                                        </p:cTn>
                                        <p:tgtEl>
                                          <p:spTgt spid="156826"/>
                                        </p:tgtEl>
                                        <p:attrNameLst>
                                          <p:attrName>style.visibility</p:attrName>
                                        </p:attrNameLst>
                                      </p:cBhvr>
                                      <p:to>
                                        <p:strVal val="visible"/>
                                      </p:to>
                                    </p:set>
                                    <p:animEffect transition="in" filter="barn(outHorizontal)">
                                      <p:cBhvr>
                                        <p:cTn id="147" dur="500"/>
                                        <p:tgtEl>
                                          <p:spTgt spid="156826"/>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6" presetClass="entr" presetSubtype="42" fill="hold" nodeType="clickEffect">
                                  <p:stCondLst>
                                    <p:cond delay="0"/>
                                  </p:stCondLst>
                                  <p:childTnLst>
                                    <p:set>
                                      <p:cBhvr>
                                        <p:cTn id="151" dur="1" fill="hold">
                                          <p:stCondLst>
                                            <p:cond delay="0"/>
                                          </p:stCondLst>
                                        </p:cTn>
                                        <p:tgtEl>
                                          <p:spTgt spid="156824"/>
                                        </p:tgtEl>
                                        <p:attrNameLst>
                                          <p:attrName>style.visibility</p:attrName>
                                        </p:attrNameLst>
                                      </p:cBhvr>
                                      <p:to>
                                        <p:strVal val="visible"/>
                                      </p:to>
                                    </p:set>
                                    <p:animEffect transition="in" filter="barn(outHorizontal)">
                                      <p:cBhvr>
                                        <p:cTn id="152" dur="500"/>
                                        <p:tgtEl>
                                          <p:spTgt spid="156824"/>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6" presetClass="entr" presetSubtype="42" fill="hold" nodeType="clickEffect">
                                  <p:stCondLst>
                                    <p:cond delay="0"/>
                                  </p:stCondLst>
                                  <p:childTnLst>
                                    <p:set>
                                      <p:cBhvr>
                                        <p:cTn id="156" dur="1" fill="hold">
                                          <p:stCondLst>
                                            <p:cond delay="0"/>
                                          </p:stCondLst>
                                        </p:cTn>
                                        <p:tgtEl>
                                          <p:spTgt spid="156823"/>
                                        </p:tgtEl>
                                        <p:attrNameLst>
                                          <p:attrName>style.visibility</p:attrName>
                                        </p:attrNameLst>
                                      </p:cBhvr>
                                      <p:to>
                                        <p:strVal val="visible"/>
                                      </p:to>
                                    </p:set>
                                    <p:animEffect transition="in" filter="barn(outHorizontal)">
                                      <p:cBhvr>
                                        <p:cTn id="157" dur="500"/>
                                        <p:tgtEl>
                                          <p:spTgt spid="156823"/>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6" presetClass="entr" presetSubtype="42" fill="hold" nodeType="clickEffect">
                                  <p:stCondLst>
                                    <p:cond delay="0"/>
                                  </p:stCondLst>
                                  <p:childTnLst>
                                    <p:set>
                                      <p:cBhvr>
                                        <p:cTn id="161" dur="1" fill="hold">
                                          <p:stCondLst>
                                            <p:cond delay="0"/>
                                          </p:stCondLst>
                                        </p:cTn>
                                        <p:tgtEl>
                                          <p:spTgt spid="156822"/>
                                        </p:tgtEl>
                                        <p:attrNameLst>
                                          <p:attrName>style.visibility</p:attrName>
                                        </p:attrNameLst>
                                      </p:cBhvr>
                                      <p:to>
                                        <p:strVal val="visible"/>
                                      </p:to>
                                    </p:set>
                                    <p:animEffect transition="in" filter="barn(outHorizontal)">
                                      <p:cBhvr>
                                        <p:cTn id="162" dur="500"/>
                                        <p:tgtEl>
                                          <p:spTgt spid="156822"/>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6" presetClass="entr" presetSubtype="42" fill="hold" nodeType="clickEffect">
                                  <p:stCondLst>
                                    <p:cond delay="0"/>
                                  </p:stCondLst>
                                  <p:childTnLst>
                                    <p:set>
                                      <p:cBhvr>
                                        <p:cTn id="166" dur="1" fill="hold">
                                          <p:stCondLst>
                                            <p:cond delay="0"/>
                                          </p:stCondLst>
                                        </p:cTn>
                                        <p:tgtEl>
                                          <p:spTgt spid="156821"/>
                                        </p:tgtEl>
                                        <p:attrNameLst>
                                          <p:attrName>style.visibility</p:attrName>
                                        </p:attrNameLst>
                                      </p:cBhvr>
                                      <p:to>
                                        <p:strVal val="visible"/>
                                      </p:to>
                                    </p:set>
                                    <p:animEffect transition="in" filter="barn(outHorizontal)">
                                      <p:cBhvr>
                                        <p:cTn id="167" dur="500"/>
                                        <p:tgtEl>
                                          <p:spTgt spid="156821"/>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6" presetClass="entr" presetSubtype="42" fill="hold" nodeType="clickEffect">
                                  <p:stCondLst>
                                    <p:cond delay="0"/>
                                  </p:stCondLst>
                                  <p:childTnLst>
                                    <p:set>
                                      <p:cBhvr>
                                        <p:cTn id="171" dur="1" fill="hold">
                                          <p:stCondLst>
                                            <p:cond delay="0"/>
                                          </p:stCondLst>
                                        </p:cTn>
                                        <p:tgtEl>
                                          <p:spTgt spid="156819"/>
                                        </p:tgtEl>
                                        <p:attrNameLst>
                                          <p:attrName>style.visibility</p:attrName>
                                        </p:attrNameLst>
                                      </p:cBhvr>
                                      <p:to>
                                        <p:strVal val="visible"/>
                                      </p:to>
                                    </p:set>
                                    <p:animEffect transition="in" filter="barn(outHorizontal)">
                                      <p:cBhvr>
                                        <p:cTn id="172" dur="500"/>
                                        <p:tgtEl>
                                          <p:spTgt spid="156819"/>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6" presetClass="entr" presetSubtype="42" fill="hold" nodeType="clickEffect">
                                  <p:stCondLst>
                                    <p:cond delay="0"/>
                                  </p:stCondLst>
                                  <p:childTnLst>
                                    <p:set>
                                      <p:cBhvr>
                                        <p:cTn id="176" dur="1" fill="hold">
                                          <p:stCondLst>
                                            <p:cond delay="0"/>
                                          </p:stCondLst>
                                        </p:cTn>
                                        <p:tgtEl>
                                          <p:spTgt spid="156818"/>
                                        </p:tgtEl>
                                        <p:attrNameLst>
                                          <p:attrName>style.visibility</p:attrName>
                                        </p:attrNameLst>
                                      </p:cBhvr>
                                      <p:to>
                                        <p:strVal val="visible"/>
                                      </p:to>
                                    </p:set>
                                    <p:animEffect transition="in" filter="barn(outHorizontal)">
                                      <p:cBhvr>
                                        <p:cTn id="177" dur="500"/>
                                        <p:tgtEl>
                                          <p:spTgt spid="156818"/>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16" presetClass="entr" presetSubtype="42" fill="hold" nodeType="clickEffect">
                                  <p:stCondLst>
                                    <p:cond delay="0"/>
                                  </p:stCondLst>
                                  <p:childTnLst>
                                    <p:set>
                                      <p:cBhvr>
                                        <p:cTn id="181" dur="1" fill="hold">
                                          <p:stCondLst>
                                            <p:cond delay="0"/>
                                          </p:stCondLst>
                                        </p:cTn>
                                        <p:tgtEl>
                                          <p:spTgt spid="156817"/>
                                        </p:tgtEl>
                                        <p:attrNameLst>
                                          <p:attrName>style.visibility</p:attrName>
                                        </p:attrNameLst>
                                      </p:cBhvr>
                                      <p:to>
                                        <p:strVal val="visible"/>
                                      </p:to>
                                    </p:set>
                                    <p:animEffect transition="in" filter="barn(outHorizontal)">
                                      <p:cBhvr>
                                        <p:cTn id="182" dur="500"/>
                                        <p:tgtEl>
                                          <p:spTgt spid="156817"/>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16" presetClass="entr" presetSubtype="42" fill="hold" nodeType="clickEffect">
                                  <p:stCondLst>
                                    <p:cond delay="0"/>
                                  </p:stCondLst>
                                  <p:childTnLst>
                                    <p:set>
                                      <p:cBhvr>
                                        <p:cTn id="186" dur="1" fill="hold">
                                          <p:stCondLst>
                                            <p:cond delay="0"/>
                                          </p:stCondLst>
                                        </p:cTn>
                                        <p:tgtEl>
                                          <p:spTgt spid="156816"/>
                                        </p:tgtEl>
                                        <p:attrNameLst>
                                          <p:attrName>style.visibility</p:attrName>
                                        </p:attrNameLst>
                                      </p:cBhvr>
                                      <p:to>
                                        <p:strVal val="visible"/>
                                      </p:to>
                                    </p:set>
                                    <p:animEffect transition="in" filter="barn(outHorizontal)">
                                      <p:cBhvr>
                                        <p:cTn id="187" dur="500"/>
                                        <p:tgtEl>
                                          <p:spTgt spid="156816"/>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16" presetClass="entr" presetSubtype="42" fill="hold" nodeType="clickEffect">
                                  <p:stCondLst>
                                    <p:cond delay="0"/>
                                  </p:stCondLst>
                                  <p:childTnLst>
                                    <p:set>
                                      <p:cBhvr>
                                        <p:cTn id="191" dur="1" fill="hold">
                                          <p:stCondLst>
                                            <p:cond delay="0"/>
                                          </p:stCondLst>
                                        </p:cTn>
                                        <p:tgtEl>
                                          <p:spTgt spid="156675">
                                            <p:txEl>
                                              <p:pRg st="0" end="0"/>
                                            </p:txEl>
                                          </p:spTgt>
                                        </p:tgtEl>
                                        <p:attrNameLst>
                                          <p:attrName>style.visibility</p:attrName>
                                        </p:attrNameLst>
                                      </p:cBhvr>
                                      <p:to>
                                        <p:strVal val="visible"/>
                                      </p:to>
                                    </p:set>
                                    <p:animEffect transition="in" filter="barn(outHorizontal)">
                                      <p:cBhvr>
                                        <p:cTn id="192" dur="500"/>
                                        <p:tgtEl>
                                          <p:spTgt spid="1566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p:bldP spid="156816" grpId="0"/>
      <p:bldP spid="156817" grpId="0"/>
      <p:bldP spid="156818" grpId="0"/>
      <p:bldP spid="156819" grpId="0"/>
      <p:bldP spid="156821" grpId="0"/>
      <p:bldP spid="156822" grpId="0"/>
      <p:bldP spid="156823" grpId="0"/>
      <p:bldP spid="156824" grpId="0"/>
      <p:bldP spid="156826" grpId="0"/>
      <p:bldP spid="156827" grpId="0"/>
      <p:bldP spid="156828" grpId="0"/>
      <p:bldP spid="156829" grpId="0"/>
      <p:bldP spid="156841" grpId="0"/>
      <p:bldP spid="156842" grpId="0"/>
      <p:bldP spid="156843" grpId="0"/>
      <p:bldP spid="156844" grpId="0"/>
      <p:bldP spid="156846" grpId="0"/>
      <p:bldP spid="156847" grpId="0"/>
      <p:bldP spid="156848" grpId="0"/>
      <p:bldP spid="156849" grpId="0"/>
      <p:bldP spid="156851" grpId="0"/>
      <p:bldP spid="156852" grpId="0"/>
      <p:bldP spid="156853" grpId="0"/>
      <p:bldP spid="156854" grpId="0"/>
      <p:bldP spid="156856" grpId="0"/>
      <p:bldP spid="156857" grpId="0"/>
      <p:bldP spid="156858" grpId="0"/>
      <p:bldP spid="156859" grpId="0"/>
      <p:bldP spid="156861" grpId="0"/>
      <p:bldP spid="156862" grpId="0"/>
      <p:bldP spid="156863" grpId="0"/>
      <p:bldP spid="156864" grpId="0"/>
      <p:bldP spid="156866" grpId="0"/>
      <p:bldP spid="156868" grpId="0"/>
      <p:bldP spid="156869" grpId="0"/>
      <p:bldP spid="156871" grpId="0"/>
      <p:bldP spid="156874" grpId="0"/>
    </p:bldLst>
  </p:timing>
</p:sld>
</file>

<file path=ppt/slides/slide1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52708973-6237-7A35-DB03-30D3F0EB2E81}"/>
              </a:ext>
            </a:extLst>
          </p:cNvPr>
          <p:cNvSpPr>
            <a:spLocks noGrp="1" noChangeArrowheads="1"/>
          </p:cNvSpPr>
          <p:nvPr>
            <p:ph type="title"/>
          </p:nvPr>
        </p:nvSpPr>
        <p:spPr>
          <a:xfrm>
            <a:off x="1042988" y="225431"/>
            <a:ext cx="7850187" cy="746125"/>
          </a:xfrm>
        </p:spPr>
        <p:txBody>
          <a:bodyPr/>
          <a:lstStyle/>
          <a:p>
            <a:r>
              <a:rPr lang="zh-CN" altLang="en-US"/>
              <a:t>为进程分配4个物理块</a:t>
            </a:r>
          </a:p>
        </p:txBody>
      </p:sp>
      <p:sp>
        <p:nvSpPr>
          <p:cNvPr id="230403" name="Rectangle 3">
            <a:extLst>
              <a:ext uri="{FF2B5EF4-FFF2-40B4-BE49-F238E27FC236}">
                <a16:creationId xmlns:a16="http://schemas.microsoft.com/office/drawing/2014/main" id="{FBBE19D9-CE0A-360F-AF53-686482D1B899}"/>
              </a:ext>
            </a:extLst>
          </p:cNvPr>
          <p:cNvSpPr>
            <a:spLocks noGrp="1" noChangeArrowheads="1"/>
          </p:cNvSpPr>
          <p:nvPr>
            <p:ph idx="1"/>
          </p:nvPr>
        </p:nvSpPr>
        <p:spPr>
          <a:xfrm>
            <a:off x="935038" y="5185774"/>
            <a:ext cx="7772400" cy="943563"/>
          </a:xfrm>
        </p:spPr>
        <p:txBody>
          <a:bodyPr>
            <a:normAutofit fontScale="92500" lnSpcReduction="10000"/>
          </a:bodyPr>
          <a:lstStyle/>
          <a:p>
            <a:r>
              <a:rPr lang="zh-CN" altLang="en-US" dirty="0"/>
              <a:t>从上表中可以看出，共发生了8次缺页中断。其缺页率为8/12＝66.7% 。</a:t>
            </a:r>
          </a:p>
        </p:txBody>
      </p:sp>
      <p:sp>
        <p:nvSpPr>
          <p:cNvPr id="230404" name="Rectangle 4">
            <a:extLst>
              <a:ext uri="{FF2B5EF4-FFF2-40B4-BE49-F238E27FC236}">
                <a16:creationId xmlns:a16="http://schemas.microsoft.com/office/drawing/2014/main" id="{C901A39C-979B-F6C5-3CC4-82F4CAAF7223}"/>
              </a:ext>
            </a:extLst>
          </p:cNvPr>
          <p:cNvSpPr>
            <a:spLocks noChangeArrowheads="1"/>
          </p:cNvSpPr>
          <p:nvPr/>
        </p:nvSpPr>
        <p:spPr bwMode="auto">
          <a:xfrm>
            <a:off x="7737475" y="3952875"/>
            <a:ext cx="6143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230405" name="Rectangle 5">
            <a:extLst>
              <a:ext uri="{FF2B5EF4-FFF2-40B4-BE49-F238E27FC236}">
                <a16:creationId xmlns:a16="http://schemas.microsoft.com/office/drawing/2014/main" id="{905F220C-7F3B-61C0-77D0-AC302F9ED7C9}"/>
              </a:ext>
            </a:extLst>
          </p:cNvPr>
          <p:cNvSpPr>
            <a:spLocks noChangeArrowheads="1"/>
          </p:cNvSpPr>
          <p:nvPr/>
        </p:nvSpPr>
        <p:spPr bwMode="auto">
          <a:xfrm>
            <a:off x="7207250" y="3952875"/>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230406" name="Rectangle 6">
            <a:extLst>
              <a:ext uri="{FF2B5EF4-FFF2-40B4-BE49-F238E27FC236}">
                <a16:creationId xmlns:a16="http://schemas.microsoft.com/office/drawing/2014/main" id="{0E943712-CCB3-C535-1CC5-D8CEED552273}"/>
              </a:ext>
            </a:extLst>
          </p:cNvPr>
          <p:cNvSpPr>
            <a:spLocks noChangeArrowheads="1"/>
          </p:cNvSpPr>
          <p:nvPr/>
        </p:nvSpPr>
        <p:spPr bwMode="auto">
          <a:xfrm>
            <a:off x="6670675" y="39528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56326" name="Rectangle 7">
            <a:extLst>
              <a:ext uri="{FF2B5EF4-FFF2-40B4-BE49-F238E27FC236}">
                <a16:creationId xmlns:a16="http://schemas.microsoft.com/office/drawing/2014/main" id="{FCAD79AF-514B-D3D2-3204-B0052654CD6B}"/>
              </a:ext>
            </a:extLst>
          </p:cNvPr>
          <p:cNvSpPr>
            <a:spLocks noChangeArrowheads="1"/>
          </p:cNvSpPr>
          <p:nvPr/>
        </p:nvSpPr>
        <p:spPr bwMode="auto">
          <a:xfrm>
            <a:off x="6134100" y="39528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6327" name="Rectangle 8">
            <a:extLst>
              <a:ext uri="{FF2B5EF4-FFF2-40B4-BE49-F238E27FC236}">
                <a16:creationId xmlns:a16="http://schemas.microsoft.com/office/drawing/2014/main" id="{DE34A279-5E4F-520A-88D0-2C60C482A451}"/>
              </a:ext>
            </a:extLst>
          </p:cNvPr>
          <p:cNvSpPr>
            <a:spLocks noChangeArrowheads="1"/>
          </p:cNvSpPr>
          <p:nvPr/>
        </p:nvSpPr>
        <p:spPr bwMode="auto">
          <a:xfrm>
            <a:off x="5595938" y="3952875"/>
            <a:ext cx="5381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230409" name="Rectangle 9">
            <a:extLst>
              <a:ext uri="{FF2B5EF4-FFF2-40B4-BE49-F238E27FC236}">
                <a16:creationId xmlns:a16="http://schemas.microsoft.com/office/drawing/2014/main" id="{CE9FDCCC-59A9-2744-9600-4002CF9F21E0}"/>
              </a:ext>
            </a:extLst>
          </p:cNvPr>
          <p:cNvSpPr>
            <a:spLocks noChangeArrowheads="1"/>
          </p:cNvSpPr>
          <p:nvPr/>
        </p:nvSpPr>
        <p:spPr bwMode="auto">
          <a:xfrm>
            <a:off x="5059363" y="39528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56329" name="Rectangle 10">
            <a:extLst>
              <a:ext uri="{FF2B5EF4-FFF2-40B4-BE49-F238E27FC236}">
                <a16:creationId xmlns:a16="http://schemas.microsoft.com/office/drawing/2014/main" id="{17E2A875-8201-374B-B27B-EFF2AF784D19}"/>
              </a:ext>
            </a:extLst>
          </p:cNvPr>
          <p:cNvSpPr>
            <a:spLocks noChangeArrowheads="1"/>
          </p:cNvSpPr>
          <p:nvPr/>
        </p:nvSpPr>
        <p:spPr bwMode="auto">
          <a:xfrm>
            <a:off x="4522788" y="39528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6330" name="Rectangle 11">
            <a:extLst>
              <a:ext uri="{FF2B5EF4-FFF2-40B4-BE49-F238E27FC236}">
                <a16:creationId xmlns:a16="http://schemas.microsoft.com/office/drawing/2014/main" id="{BB345B97-BEAC-0071-5D37-8A6CB9E21BA5}"/>
              </a:ext>
            </a:extLst>
          </p:cNvPr>
          <p:cNvSpPr>
            <a:spLocks noChangeArrowheads="1"/>
          </p:cNvSpPr>
          <p:nvPr/>
        </p:nvSpPr>
        <p:spPr bwMode="auto">
          <a:xfrm>
            <a:off x="3986213" y="39528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230412" name="Rectangle 12">
            <a:extLst>
              <a:ext uri="{FF2B5EF4-FFF2-40B4-BE49-F238E27FC236}">
                <a16:creationId xmlns:a16="http://schemas.microsoft.com/office/drawing/2014/main" id="{5B6F695A-B630-3900-1106-BA26D5201D53}"/>
              </a:ext>
            </a:extLst>
          </p:cNvPr>
          <p:cNvSpPr>
            <a:spLocks noChangeArrowheads="1"/>
          </p:cNvSpPr>
          <p:nvPr/>
        </p:nvSpPr>
        <p:spPr bwMode="auto">
          <a:xfrm>
            <a:off x="3449638" y="39528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56332" name="Rectangle 13">
            <a:extLst>
              <a:ext uri="{FF2B5EF4-FFF2-40B4-BE49-F238E27FC236}">
                <a16:creationId xmlns:a16="http://schemas.microsoft.com/office/drawing/2014/main" id="{72078F5A-4945-45B2-C84E-3D1642A21D02}"/>
              </a:ext>
            </a:extLst>
          </p:cNvPr>
          <p:cNvSpPr>
            <a:spLocks noChangeArrowheads="1"/>
          </p:cNvSpPr>
          <p:nvPr/>
        </p:nvSpPr>
        <p:spPr bwMode="auto">
          <a:xfrm>
            <a:off x="2913063" y="39528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6333" name="Rectangle 14">
            <a:extLst>
              <a:ext uri="{FF2B5EF4-FFF2-40B4-BE49-F238E27FC236}">
                <a16:creationId xmlns:a16="http://schemas.microsoft.com/office/drawing/2014/main" id="{F6B4AFFE-AC95-884C-65F9-C17C6256D975}"/>
              </a:ext>
            </a:extLst>
          </p:cNvPr>
          <p:cNvSpPr>
            <a:spLocks noChangeArrowheads="1"/>
          </p:cNvSpPr>
          <p:nvPr/>
        </p:nvSpPr>
        <p:spPr bwMode="auto">
          <a:xfrm>
            <a:off x="2376488" y="3952875"/>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6334" name="Rectangle 15">
            <a:extLst>
              <a:ext uri="{FF2B5EF4-FFF2-40B4-BE49-F238E27FC236}">
                <a16:creationId xmlns:a16="http://schemas.microsoft.com/office/drawing/2014/main" id="{2763F400-456A-EF30-3BF6-1387E627BD26}"/>
              </a:ext>
            </a:extLst>
          </p:cNvPr>
          <p:cNvSpPr>
            <a:spLocks noChangeArrowheads="1"/>
          </p:cNvSpPr>
          <p:nvPr/>
        </p:nvSpPr>
        <p:spPr bwMode="auto">
          <a:xfrm>
            <a:off x="1733550" y="3952875"/>
            <a:ext cx="6429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6335" name="Rectangle 16">
            <a:extLst>
              <a:ext uri="{FF2B5EF4-FFF2-40B4-BE49-F238E27FC236}">
                <a16:creationId xmlns:a16="http://schemas.microsoft.com/office/drawing/2014/main" id="{25C44066-E6B5-FC3C-BC8E-78E9C7566403}"/>
              </a:ext>
            </a:extLst>
          </p:cNvPr>
          <p:cNvSpPr>
            <a:spLocks noChangeArrowheads="1"/>
          </p:cNvSpPr>
          <p:nvPr/>
        </p:nvSpPr>
        <p:spPr bwMode="auto">
          <a:xfrm>
            <a:off x="731838" y="3952875"/>
            <a:ext cx="10017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块4</a:t>
            </a:r>
          </a:p>
        </p:txBody>
      </p:sp>
      <p:sp>
        <p:nvSpPr>
          <p:cNvPr id="230417" name="Rectangle 17">
            <a:extLst>
              <a:ext uri="{FF2B5EF4-FFF2-40B4-BE49-F238E27FC236}">
                <a16:creationId xmlns:a16="http://schemas.microsoft.com/office/drawing/2014/main" id="{7F0841D8-45B6-0337-C8AE-4B6C49FCB269}"/>
              </a:ext>
            </a:extLst>
          </p:cNvPr>
          <p:cNvSpPr>
            <a:spLocks noChangeArrowheads="1"/>
          </p:cNvSpPr>
          <p:nvPr/>
        </p:nvSpPr>
        <p:spPr bwMode="auto">
          <a:xfrm>
            <a:off x="7737475" y="4470400"/>
            <a:ext cx="6143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230418" name="Rectangle 18">
            <a:extLst>
              <a:ext uri="{FF2B5EF4-FFF2-40B4-BE49-F238E27FC236}">
                <a16:creationId xmlns:a16="http://schemas.microsoft.com/office/drawing/2014/main" id="{A30DC40B-B920-7CA4-4889-BA2B0E5E6E2B}"/>
              </a:ext>
            </a:extLst>
          </p:cNvPr>
          <p:cNvSpPr>
            <a:spLocks noChangeArrowheads="1"/>
          </p:cNvSpPr>
          <p:nvPr/>
        </p:nvSpPr>
        <p:spPr bwMode="auto">
          <a:xfrm>
            <a:off x="7737475" y="3435350"/>
            <a:ext cx="6143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230419" name="Rectangle 19">
            <a:extLst>
              <a:ext uri="{FF2B5EF4-FFF2-40B4-BE49-F238E27FC236}">
                <a16:creationId xmlns:a16="http://schemas.microsoft.com/office/drawing/2014/main" id="{EEADD001-D2AA-AA02-A130-C46717EE8FDE}"/>
              </a:ext>
            </a:extLst>
          </p:cNvPr>
          <p:cNvSpPr>
            <a:spLocks noChangeArrowheads="1"/>
          </p:cNvSpPr>
          <p:nvPr/>
        </p:nvSpPr>
        <p:spPr bwMode="auto">
          <a:xfrm>
            <a:off x="7737475" y="2901950"/>
            <a:ext cx="6143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230420" name="Rectangle 20">
            <a:extLst>
              <a:ext uri="{FF2B5EF4-FFF2-40B4-BE49-F238E27FC236}">
                <a16:creationId xmlns:a16="http://schemas.microsoft.com/office/drawing/2014/main" id="{5E17F4F3-3501-C137-EBCC-16046B47844D}"/>
              </a:ext>
            </a:extLst>
          </p:cNvPr>
          <p:cNvSpPr>
            <a:spLocks noChangeArrowheads="1"/>
          </p:cNvSpPr>
          <p:nvPr/>
        </p:nvSpPr>
        <p:spPr bwMode="auto">
          <a:xfrm>
            <a:off x="7737475" y="2322513"/>
            <a:ext cx="614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56340" name="Rectangle 21">
            <a:extLst>
              <a:ext uri="{FF2B5EF4-FFF2-40B4-BE49-F238E27FC236}">
                <a16:creationId xmlns:a16="http://schemas.microsoft.com/office/drawing/2014/main" id="{7B78D5CD-6819-4538-EAA3-A4B0E2238E13}"/>
              </a:ext>
            </a:extLst>
          </p:cNvPr>
          <p:cNvSpPr>
            <a:spLocks noChangeArrowheads="1"/>
          </p:cNvSpPr>
          <p:nvPr/>
        </p:nvSpPr>
        <p:spPr bwMode="auto">
          <a:xfrm>
            <a:off x="7737475" y="1484313"/>
            <a:ext cx="61436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230422" name="Rectangle 22">
            <a:extLst>
              <a:ext uri="{FF2B5EF4-FFF2-40B4-BE49-F238E27FC236}">
                <a16:creationId xmlns:a16="http://schemas.microsoft.com/office/drawing/2014/main" id="{59DE847F-F11F-59E3-8784-10680A910D87}"/>
              </a:ext>
            </a:extLst>
          </p:cNvPr>
          <p:cNvSpPr>
            <a:spLocks noChangeArrowheads="1"/>
          </p:cNvSpPr>
          <p:nvPr/>
        </p:nvSpPr>
        <p:spPr bwMode="auto">
          <a:xfrm>
            <a:off x="7207250" y="4470400"/>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230423" name="Rectangle 23">
            <a:extLst>
              <a:ext uri="{FF2B5EF4-FFF2-40B4-BE49-F238E27FC236}">
                <a16:creationId xmlns:a16="http://schemas.microsoft.com/office/drawing/2014/main" id="{5724C7AD-C94D-15D7-AF89-AA3468D6EAD9}"/>
              </a:ext>
            </a:extLst>
          </p:cNvPr>
          <p:cNvSpPr>
            <a:spLocks noChangeArrowheads="1"/>
          </p:cNvSpPr>
          <p:nvPr/>
        </p:nvSpPr>
        <p:spPr bwMode="auto">
          <a:xfrm>
            <a:off x="7207250" y="3435350"/>
            <a:ext cx="530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230424" name="Rectangle 24">
            <a:extLst>
              <a:ext uri="{FF2B5EF4-FFF2-40B4-BE49-F238E27FC236}">
                <a16:creationId xmlns:a16="http://schemas.microsoft.com/office/drawing/2014/main" id="{054F9B54-B539-0DEA-5D05-3351F78BD232}"/>
              </a:ext>
            </a:extLst>
          </p:cNvPr>
          <p:cNvSpPr>
            <a:spLocks noChangeArrowheads="1"/>
          </p:cNvSpPr>
          <p:nvPr/>
        </p:nvSpPr>
        <p:spPr bwMode="auto">
          <a:xfrm>
            <a:off x="7207250" y="2901950"/>
            <a:ext cx="5302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230425" name="Rectangle 25">
            <a:extLst>
              <a:ext uri="{FF2B5EF4-FFF2-40B4-BE49-F238E27FC236}">
                <a16:creationId xmlns:a16="http://schemas.microsoft.com/office/drawing/2014/main" id="{6C6E8BF8-0371-3537-4FD6-926D8C81FC38}"/>
              </a:ext>
            </a:extLst>
          </p:cNvPr>
          <p:cNvSpPr>
            <a:spLocks noChangeArrowheads="1"/>
          </p:cNvSpPr>
          <p:nvPr/>
        </p:nvSpPr>
        <p:spPr bwMode="auto">
          <a:xfrm>
            <a:off x="7207250" y="2322513"/>
            <a:ext cx="5302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6345" name="Rectangle 26">
            <a:extLst>
              <a:ext uri="{FF2B5EF4-FFF2-40B4-BE49-F238E27FC236}">
                <a16:creationId xmlns:a16="http://schemas.microsoft.com/office/drawing/2014/main" id="{98879818-FEB4-3DD7-36C4-D29F7FB5AF77}"/>
              </a:ext>
            </a:extLst>
          </p:cNvPr>
          <p:cNvSpPr>
            <a:spLocks noChangeArrowheads="1"/>
          </p:cNvSpPr>
          <p:nvPr/>
        </p:nvSpPr>
        <p:spPr bwMode="auto">
          <a:xfrm>
            <a:off x="7207250" y="1484313"/>
            <a:ext cx="5302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230427" name="Rectangle 27">
            <a:extLst>
              <a:ext uri="{FF2B5EF4-FFF2-40B4-BE49-F238E27FC236}">
                <a16:creationId xmlns:a16="http://schemas.microsoft.com/office/drawing/2014/main" id="{6C9DB28F-9F60-EB56-FB50-8FBA49A9215B}"/>
              </a:ext>
            </a:extLst>
          </p:cNvPr>
          <p:cNvSpPr>
            <a:spLocks noChangeArrowheads="1"/>
          </p:cNvSpPr>
          <p:nvPr/>
        </p:nvSpPr>
        <p:spPr bwMode="auto">
          <a:xfrm>
            <a:off x="6670675" y="4470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230428" name="Rectangle 28">
            <a:extLst>
              <a:ext uri="{FF2B5EF4-FFF2-40B4-BE49-F238E27FC236}">
                <a16:creationId xmlns:a16="http://schemas.microsoft.com/office/drawing/2014/main" id="{2B0B5B29-709A-508C-F2A8-26197D2B05F3}"/>
              </a:ext>
            </a:extLst>
          </p:cNvPr>
          <p:cNvSpPr>
            <a:spLocks noChangeArrowheads="1"/>
          </p:cNvSpPr>
          <p:nvPr/>
        </p:nvSpPr>
        <p:spPr bwMode="auto">
          <a:xfrm>
            <a:off x="6670675" y="343535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230429" name="Rectangle 29">
            <a:extLst>
              <a:ext uri="{FF2B5EF4-FFF2-40B4-BE49-F238E27FC236}">
                <a16:creationId xmlns:a16="http://schemas.microsoft.com/office/drawing/2014/main" id="{CAE3184A-0217-80E2-9B4D-37BBB927ACC5}"/>
              </a:ext>
            </a:extLst>
          </p:cNvPr>
          <p:cNvSpPr>
            <a:spLocks noChangeArrowheads="1"/>
          </p:cNvSpPr>
          <p:nvPr/>
        </p:nvSpPr>
        <p:spPr bwMode="auto">
          <a:xfrm>
            <a:off x="6670675" y="290195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230430" name="Rectangle 30">
            <a:extLst>
              <a:ext uri="{FF2B5EF4-FFF2-40B4-BE49-F238E27FC236}">
                <a16:creationId xmlns:a16="http://schemas.microsoft.com/office/drawing/2014/main" id="{C92B91EF-4FCA-8619-1EC8-9D3C28111C97}"/>
              </a:ext>
            </a:extLst>
          </p:cNvPr>
          <p:cNvSpPr>
            <a:spLocks noChangeArrowheads="1"/>
          </p:cNvSpPr>
          <p:nvPr/>
        </p:nvSpPr>
        <p:spPr bwMode="auto">
          <a:xfrm>
            <a:off x="6670675" y="232251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6350" name="Rectangle 31">
            <a:extLst>
              <a:ext uri="{FF2B5EF4-FFF2-40B4-BE49-F238E27FC236}">
                <a16:creationId xmlns:a16="http://schemas.microsoft.com/office/drawing/2014/main" id="{354EBFC7-DEC7-AB8D-C175-14151FABF00F}"/>
              </a:ext>
            </a:extLst>
          </p:cNvPr>
          <p:cNvSpPr>
            <a:spLocks noChangeArrowheads="1"/>
          </p:cNvSpPr>
          <p:nvPr/>
        </p:nvSpPr>
        <p:spPr bwMode="auto">
          <a:xfrm>
            <a:off x="6670675" y="148431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56351" name="Rectangle 32">
            <a:extLst>
              <a:ext uri="{FF2B5EF4-FFF2-40B4-BE49-F238E27FC236}">
                <a16:creationId xmlns:a16="http://schemas.microsoft.com/office/drawing/2014/main" id="{E55E3E1A-0F36-B0D8-4C0C-0C8DEB535907}"/>
              </a:ext>
            </a:extLst>
          </p:cNvPr>
          <p:cNvSpPr>
            <a:spLocks noChangeArrowheads="1"/>
          </p:cNvSpPr>
          <p:nvPr/>
        </p:nvSpPr>
        <p:spPr bwMode="auto">
          <a:xfrm>
            <a:off x="6134100" y="4470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56352" name="Rectangle 33">
            <a:extLst>
              <a:ext uri="{FF2B5EF4-FFF2-40B4-BE49-F238E27FC236}">
                <a16:creationId xmlns:a16="http://schemas.microsoft.com/office/drawing/2014/main" id="{4ACA9826-FA14-A24F-4BC1-40D489FCFE69}"/>
              </a:ext>
            </a:extLst>
          </p:cNvPr>
          <p:cNvSpPr>
            <a:spLocks noChangeArrowheads="1"/>
          </p:cNvSpPr>
          <p:nvPr/>
        </p:nvSpPr>
        <p:spPr bwMode="auto">
          <a:xfrm>
            <a:off x="6134100" y="343535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6353" name="Rectangle 34">
            <a:extLst>
              <a:ext uri="{FF2B5EF4-FFF2-40B4-BE49-F238E27FC236}">
                <a16:creationId xmlns:a16="http://schemas.microsoft.com/office/drawing/2014/main" id="{8C147810-DD5C-C965-7F9C-3B7F3A624BA2}"/>
              </a:ext>
            </a:extLst>
          </p:cNvPr>
          <p:cNvSpPr>
            <a:spLocks noChangeArrowheads="1"/>
          </p:cNvSpPr>
          <p:nvPr/>
        </p:nvSpPr>
        <p:spPr bwMode="auto">
          <a:xfrm>
            <a:off x="6134100" y="290195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6354" name="Rectangle 35">
            <a:extLst>
              <a:ext uri="{FF2B5EF4-FFF2-40B4-BE49-F238E27FC236}">
                <a16:creationId xmlns:a16="http://schemas.microsoft.com/office/drawing/2014/main" id="{F37FA18F-3320-2C4F-D03E-04898564E03D}"/>
              </a:ext>
            </a:extLst>
          </p:cNvPr>
          <p:cNvSpPr>
            <a:spLocks noChangeArrowheads="1"/>
          </p:cNvSpPr>
          <p:nvPr/>
        </p:nvSpPr>
        <p:spPr bwMode="auto">
          <a:xfrm>
            <a:off x="6134100" y="232251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6355" name="Rectangle 36">
            <a:extLst>
              <a:ext uri="{FF2B5EF4-FFF2-40B4-BE49-F238E27FC236}">
                <a16:creationId xmlns:a16="http://schemas.microsoft.com/office/drawing/2014/main" id="{9AD7FCAA-01F4-B7C5-0161-F79105FC2633}"/>
              </a:ext>
            </a:extLst>
          </p:cNvPr>
          <p:cNvSpPr>
            <a:spLocks noChangeArrowheads="1"/>
          </p:cNvSpPr>
          <p:nvPr/>
        </p:nvSpPr>
        <p:spPr bwMode="auto">
          <a:xfrm>
            <a:off x="6134100" y="148431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56356" name="Rectangle 37">
            <a:extLst>
              <a:ext uri="{FF2B5EF4-FFF2-40B4-BE49-F238E27FC236}">
                <a16:creationId xmlns:a16="http://schemas.microsoft.com/office/drawing/2014/main" id="{5E0FFB1E-0127-42C1-5FE9-A3F34FC08FB3}"/>
              </a:ext>
            </a:extLst>
          </p:cNvPr>
          <p:cNvSpPr>
            <a:spLocks noChangeArrowheads="1"/>
          </p:cNvSpPr>
          <p:nvPr/>
        </p:nvSpPr>
        <p:spPr bwMode="auto">
          <a:xfrm>
            <a:off x="5595938" y="4470400"/>
            <a:ext cx="5381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56357" name="Rectangle 38">
            <a:extLst>
              <a:ext uri="{FF2B5EF4-FFF2-40B4-BE49-F238E27FC236}">
                <a16:creationId xmlns:a16="http://schemas.microsoft.com/office/drawing/2014/main" id="{EB17D34F-A71A-171C-35D5-5832BCCF11EA}"/>
              </a:ext>
            </a:extLst>
          </p:cNvPr>
          <p:cNvSpPr>
            <a:spLocks noChangeArrowheads="1"/>
          </p:cNvSpPr>
          <p:nvPr/>
        </p:nvSpPr>
        <p:spPr bwMode="auto">
          <a:xfrm>
            <a:off x="5595938" y="3435350"/>
            <a:ext cx="5381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6358" name="Rectangle 39">
            <a:extLst>
              <a:ext uri="{FF2B5EF4-FFF2-40B4-BE49-F238E27FC236}">
                <a16:creationId xmlns:a16="http://schemas.microsoft.com/office/drawing/2014/main" id="{706DEC4C-FDF2-EBD5-5EFD-B8E845CFEB7C}"/>
              </a:ext>
            </a:extLst>
          </p:cNvPr>
          <p:cNvSpPr>
            <a:spLocks noChangeArrowheads="1"/>
          </p:cNvSpPr>
          <p:nvPr/>
        </p:nvSpPr>
        <p:spPr bwMode="auto">
          <a:xfrm>
            <a:off x="5595938" y="2901950"/>
            <a:ext cx="5381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6359" name="Rectangle 40">
            <a:extLst>
              <a:ext uri="{FF2B5EF4-FFF2-40B4-BE49-F238E27FC236}">
                <a16:creationId xmlns:a16="http://schemas.microsoft.com/office/drawing/2014/main" id="{6E098834-DE26-54D9-6E5F-D97163D39AAE}"/>
              </a:ext>
            </a:extLst>
          </p:cNvPr>
          <p:cNvSpPr>
            <a:spLocks noChangeArrowheads="1"/>
          </p:cNvSpPr>
          <p:nvPr/>
        </p:nvSpPr>
        <p:spPr bwMode="auto">
          <a:xfrm>
            <a:off x="5595938" y="2322513"/>
            <a:ext cx="5381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6360" name="Rectangle 41">
            <a:extLst>
              <a:ext uri="{FF2B5EF4-FFF2-40B4-BE49-F238E27FC236}">
                <a16:creationId xmlns:a16="http://schemas.microsoft.com/office/drawing/2014/main" id="{517BE659-9FAE-2507-4F89-ACE4F05969D3}"/>
              </a:ext>
            </a:extLst>
          </p:cNvPr>
          <p:cNvSpPr>
            <a:spLocks noChangeArrowheads="1"/>
          </p:cNvSpPr>
          <p:nvPr/>
        </p:nvSpPr>
        <p:spPr bwMode="auto">
          <a:xfrm>
            <a:off x="5595938" y="1484313"/>
            <a:ext cx="5381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230442" name="Rectangle 42">
            <a:extLst>
              <a:ext uri="{FF2B5EF4-FFF2-40B4-BE49-F238E27FC236}">
                <a16:creationId xmlns:a16="http://schemas.microsoft.com/office/drawing/2014/main" id="{D879EFEF-5C56-EC8E-C477-01B82C47BC14}"/>
              </a:ext>
            </a:extLst>
          </p:cNvPr>
          <p:cNvSpPr>
            <a:spLocks noChangeArrowheads="1"/>
          </p:cNvSpPr>
          <p:nvPr/>
        </p:nvSpPr>
        <p:spPr bwMode="auto">
          <a:xfrm>
            <a:off x="5059363" y="4470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230443" name="Rectangle 43">
            <a:extLst>
              <a:ext uri="{FF2B5EF4-FFF2-40B4-BE49-F238E27FC236}">
                <a16:creationId xmlns:a16="http://schemas.microsoft.com/office/drawing/2014/main" id="{A7D42B31-043C-08C3-F2BE-417FFF8F00B2}"/>
              </a:ext>
            </a:extLst>
          </p:cNvPr>
          <p:cNvSpPr>
            <a:spLocks noChangeArrowheads="1"/>
          </p:cNvSpPr>
          <p:nvPr/>
        </p:nvSpPr>
        <p:spPr bwMode="auto">
          <a:xfrm>
            <a:off x="5059363" y="343535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230444" name="Rectangle 44">
            <a:extLst>
              <a:ext uri="{FF2B5EF4-FFF2-40B4-BE49-F238E27FC236}">
                <a16:creationId xmlns:a16="http://schemas.microsoft.com/office/drawing/2014/main" id="{BDB2DEE0-4D71-FD0D-6869-EB9C2AE20889}"/>
              </a:ext>
            </a:extLst>
          </p:cNvPr>
          <p:cNvSpPr>
            <a:spLocks noChangeArrowheads="1"/>
          </p:cNvSpPr>
          <p:nvPr/>
        </p:nvSpPr>
        <p:spPr bwMode="auto">
          <a:xfrm>
            <a:off x="5059363" y="290195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230445" name="Rectangle 45">
            <a:extLst>
              <a:ext uri="{FF2B5EF4-FFF2-40B4-BE49-F238E27FC236}">
                <a16:creationId xmlns:a16="http://schemas.microsoft.com/office/drawing/2014/main" id="{5640B564-25A2-33CB-E1F7-6F53F6EE0068}"/>
              </a:ext>
            </a:extLst>
          </p:cNvPr>
          <p:cNvSpPr>
            <a:spLocks noChangeArrowheads="1"/>
          </p:cNvSpPr>
          <p:nvPr/>
        </p:nvSpPr>
        <p:spPr bwMode="auto">
          <a:xfrm>
            <a:off x="5059363" y="232251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6365" name="Rectangle 46">
            <a:extLst>
              <a:ext uri="{FF2B5EF4-FFF2-40B4-BE49-F238E27FC236}">
                <a16:creationId xmlns:a16="http://schemas.microsoft.com/office/drawing/2014/main" id="{34852735-B45F-E7A6-3826-05742A76BD13}"/>
              </a:ext>
            </a:extLst>
          </p:cNvPr>
          <p:cNvSpPr>
            <a:spLocks noChangeArrowheads="1"/>
          </p:cNvSpPr>
          <p:nvPr/>
        </p:nvSpPr>
        <p:spPr bwMode="auto">
          <a:xfrm>
            <a:off x="5059363" y="148431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5</a:t>
            </a:r>
          </a:p>
        </p:txBody>
      </p:sp>
      <p:sp>
        <p:nvSpPr>
          <p:cNvPr id="56366" name="Rectangle 47">
            <a:extLst>
              <a:ext uri="{FF2B5EF4-FFF2-40B4-BE49-F238E27FC236}">
                <a16:creationId xmlns:a16="http://schemas.microsoft.com/office/drawing/2014/main" id="{10F1951B-2B39-44F2-DFDF-59BDBDB70FFF}"/>
              </a:ext>
            </a:extLst>
          </p:cNvPr>
          <p:cNvSpPr>
            <a:spLocks noChangeArrowheads="1"/>
          </p:cNvSpPr>
          <p:nvPr/>
        </p:nvSpPr>
        <p:spPr bwMode="auto">
          <a:xfrm>
            <a:off x="4522788" y="4470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56367" name="Rectangle 48">
            <a:extLst>
              <a:ext uri="{FF2B5EF4-FFF2-40B4-BE49-F238E27FC236}">
                <a16:creationId xmlns:a16="http://schemas.microsoft.com/office/drawing/2014/main" id="{7CFCBE8F-8EB6-029E-E9D7-BDB40155325D}"/>
              </a:ext>
            </a:extLst>
          </p:cNvPr>
          <p:cNvSpPr>
            <a:spLocks noChangeArrowheads="1"/>
          </p:cNvSpPr>
          <p:nvPr/>
        </p:nvSpPr>
        <p:spPr bwMode="auto">
          <a:xfrm>
            <a:off x="4522788" y="343535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6368" name="Rectangle 49">
            <a:extLst>
              <a:ext uri="{FF2B5EF4-FFF2-40B4-BE49-F238E27FC236}">
                <a16:creationId xmlns:a16="http://schemas.microsoft.com/office/drawing/2014/main" id="{FF655C48-B73A-B216-F552-C5F7106BA31E}"/>
              </a:ext>
            </a:extLst>
          </p:cNvPr>
          <p:cNvSpPr>
            <a:spLocks noChangeArrowheads="1"/>
          </p:cNvSpPr>
          <p:nvPr/>
        </p:nvSpPr>
        <p:spPr bwMode="auto">
          <a:xfrm>
            <a:off x="4522788" y="290195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6369" name="Rectangle 50">
            <a:extLst>
              <a:ext uri="{FF2B5EF4-FFF2-40B4-BE49-F238E27FC236}">
                <a16:creationId xmlns:a16="http://schemas.microsoft.com/office/drawing/2014/main" id="{22745C57-7491-FA2C-30E4-3D28B53A4787}"/>
              </a:ext>
            </a:extLst>
          </p:cNvPr>
          <p:cNvSpPr>
            <a:spLocks noChangeArrowheads="1"/>
          </p:cNvSpPr>
          <p:nvPr/>
        </p:nvSpPr>
        <p:spPr bwMode="auto">
          <a:xfrm>
            <a:off x="4522788" y="232251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6370" name="Rectangle 51">
            <a:extLst>
              <a:ext uri="{FF2B5EF4-FFF2-40B4-BE49-F238E27FC236}">
                <a16:creationId xmlns:a16="http://schemas.microsoft.com/office/drawing/2014/main" id="{9CD2B255-7C8A-650A-BAFE-6E98343852A3}"/>
              </a:ext>
            </a:extLst>
          </p:cNvPr>
          <p:cNvSpPr>
            <a:spLocks noChangeArrowheads="1"/>
          </p:cNvSpPr>
          <p:nvPr/>
        </p:nvSpPr>
        <p:spPr bwMode="auto">
          <a:xfrm>
            <a:off x="4522788" y="148431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56371" name="Rectangle 52">
            <a:extLst>
              <a:ext uri="{FF2B5EF4-FFF2-40B4-BE49-F238E27FC236}">
                <a16:creationId xmlns:a16="http://schemas.microsoft.com/office/drawing/2014/main" id="{BAC4F750-E2CE-FCAA-8517-DC540DDFCE55}"/>
              </a:ext>
            </a:extLst>
          </p:cNvPr>
          <p:cNvSpPr>
            <a:spLocks noChangeArrowheads="1"/>
          </p:cNvSpPr>
          <p:nvPr/>
        </p:nvSpPr>
        <p:spPr bwMode="auto">
          <a:xfrm>
            <a:off x="3986213" y="4470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400"/>
          </a:p>
        </p:txBody>
      </p:sp>
      <p:sp>
        <p:nvSpPr>
          <p:cNvPr id="56372" name="Rectangle 53">
            <a:extLst>
              <a:ext uri="{FF2B5EF4-FFF2-40B4-BE49-F238E27FC236}">
                <a16:creationId xmlns:a16="http://schemas.microsoft.com/office/drawing/2014/main" id="{C74A86B0-4E37-1A6D-E986-C69DD7BEB303}"/>
              </a:ext>
            </a:extLst>
          </p:cNvPr>
          <p:cNvSpPr>
            <a:spLocks noChangeArrowheads="1"/>
          </p:cNvSpPr>
          <p:nvPr/>
        </p:nvSpPr>
        <p:spPr bwMode="auto">
          <a:xfrm>
            <a:off x="3986213" y="343535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6373" name="Rectangle 54">
            <a:extLst>
              <a:ext uri="{FF2B5EF4-FFF2-40B4-BE49-F238E27FC236}">
                <a16:creationId xmlns:a16="http://schemas.microsoft.com/office/drawing/2014/main" id="{22517282-9D17-4931-2E0D-E1B1FA413D22}"/>
              </a:ext>
            </a:extLst>
          </p:cNvPr>
          <p:cNvSpPr>
            <a:spLocks noChangeArrowheads="1"/>
          </p:cNvSpPr>
          <p:nvPr/>
        </p:nvSpPr>
        <p:spPr bwMode="auto">
          <a:xfrm>
            <a:off x="3986213" y="290195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6374" name="Rectangle 55">
            <a:extLst>
              <a:ext uri="{FF2B5EF4-FFF2-40B4-BE49-F238E27FC236}">
                <a16:creationId xmlns:a16="http://schemas.microsoft.com/office/drawing/2014/main" id="{BB65D90F-A0F5-ADEC-7210-682A9D203489}"/>
              </a:ext>
            </a:extLst>
          </p:cNvPr>
          <p:cNvSpPr>
            <a:spLocks noChangeArrowheads="1"/>
          </p:cNvSpPr>
          <p:nvPr/>
        </p:nvSpPr>
        <p:spPr bwMode="auto">
          <a:xfrm>
            <a:off x="3986213" y="232251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a:t>
            </a:r>
          </a:p>
        </p:txBody>
      </p:sp>
      <p:sp>
        <p:nvSpPr>
          <p:cNvPr id="56375" name="Rectangle 56">
            <a:extLst>
              <a:ext uri="{FF2B5EF4-FFF2-40B4-BE49-F238E27FC236}">
                <a16:creationId xmlns:a16="http://schemas.microsoft.com/office/drawing/2014/main" id="{6A5C61EF-9939-B43C-8AB6-7AFC5546056C}"/>
              </a:ext>
            </a:extLst>
          </p:cNvPr>
          <p:cNvSpPr>
            <a:spLocks noChangeArrowheads="1"/>
          </p:cNvSpPr>
          <p:nvPr/>
        </p:nvSpPr>
        <p:spPr bwMode="auto">
          <a:xfrm>
            <a:off x="3986213" y="148431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230457" name="Rectangle 57">
            <a:extLst>
              <a:ext uri="{FF2B5EF4-FFF2-40B4-BE49-F238E27FC236}">
                <a16:creationId xmlns:a16="http://schemas.microsoft.com/office/drawing/2014/main" id="{90E57571-6B09-9561-8A94-25094C77231E}"/>
              </a:ext>
            </a:extLst>
          </p:cNvPr>
          <p:cNvSpPr>
            <a:spLocks noChangeArrowheads="1"/>
          </p:cNvSpPr>
          <p:nvPr/>
        </p:nvSpPr>
        <p:spPr bwMode="auto">
          <a:xfrm>
            <a:off x="3449638" y="4470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230458" name="Rectangle 58">
            <a:extLst>
              <a:ext uri="{FF2B5EF4-FFF2-40B4-BE49-F238E27FC236}">
                <a16:creationId xmlns:a16="http://schemas.microsoft.com/office/drawing/2014/main" id="{73AFE4A5-C569-5697-2186-9109A6BA1199}"/>
              </a:ext>
            </a:extLst>
          </p:cNvPr>
          <p:cNvSpPr>
            <a:spLocks noChangeArrowheads="1"/>
          </p:cNvSpPr>
          <p:nvPr/>
        </p:nvSpPr>
        <p:spPr bwMode="auto">
          <a:xfrm>
            <a:off x="3449638" y="343535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230459" name="Rectangle 59">
            <a:extLst>
              <a:ext uri="{FF2B5EF4-FFF2-40B4-BE49-F238E27FC236}">
                <a16:creationId xmlns:a16="http://schemas.microsoft.com/office/drawing/2014/main" id="{16731F58-F7B1-1D6F-97D3-DB581E0D7589}"/>
              </a:ext>
            </a:extLst>
          </p:cNvPr>
          <p:cNvSpPr>
            <a:spLocks noChangeArrowheads="1"/>
          </p:cNvSpPr>
          <p:nvPr/>
        </p:nvSpPr>
        <p:spPr bwMode="auto">
          <a:xfrm>
            <a:off x="3449638" y="290195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230460" name="Rectangle 60">
            <a:extLst>
              <a:ext uri="{FF2B5EF4-FFF2-40B4-BE49-F238E27FC236}">
                <a16:creationId xmlns:a16="http://schemas.microsoft.com/office/drawing/2014/main" id="{314A9384-C0BB-0F67-3EE3-6E438D419045}"/>
              </a:ext>
            </a:extLst>
          </p:cNvPr>
          <p:cNvSpPr>
            <a:spLocks noChangeArrowheads="1"/>
          </p:cNvSpPr>
          <p:nvPr/>
        </p:nvSpPr>
        <p:spPr bwMode="auto">
          <a:xfrm>
            <a:off x="3449638" y="232251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6380" name="Rectangle 61">
            <a:extLst>
              <a:ext uri="{FF2B5EF4-FFF2-40B4-BE49-F238E27FC236}">
                <a16:creationId xmlns:a16="http://schemas.microsoft.com/office/drawing/2014/main" id="{D343B7E4-621E-3F56-96FE-31D37FECFE9F}"/>
              </a:ext>
            </a:extLst>
          </p:cNvPr>
          <p:cNvSpPr>
            <a:spLocks noChangeArrowheads="1"/>
          </p:cNvSpPr>
          <p:nvPr/>
        </p:nvSpPr>
        <p:spPr bwMode="auto">
          <a:xfrm>
            <a:off x="3449638" y="148431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230462" name="Rectangle 62">
            <a:extLst>
              <a:ext uri="{FF2B5EF4-FFF2-40B4-BE49-F238E27FC236}">
                <a16:creationId xmlns:a16="http://schemas.microsoft.com/office/drawing/2014/main" id="{58D2C088-D402-B14B-9D11-9EFE316C9BE2}"/>
              </a:ext>
            </a:extLst>
          </p:cNvPr>
          <p:cNvSpPr>
            <a:spLocks noChangeArrowheads="1"/>
          </p:cNvSpPr>
          <p:nvPr/>
        </p:nvSpPr>
        <p:spPr bwMode="auto">
          <a:xfrm>
            <a:off x="2913063" y="4470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230463" name="Rectangle 63">
            <a:extLst>
              <a:ext uri="{FF2B5EF4-FFF2-40B4-BE49-F238E27FC236}">
                <a16:creationId xmlns:a16="http://schemas.microsoft.com/office/drawing/2014/main" id="{DBED1EDC-5373-BCEF-65EB-686FB54997E0}"/>
              </a:ext>
            </a:extLst>
          </p:cNvPr>
          <p:cNvSpPr>
            <a:spLocks noChangeArrowheads="1"/>
          </p:cNvSpPr>
          <p:nvPr/>
        </p:nvSpPr>
        <p:spPr bwMode="auto">
          <a:xfrm>
            <a:off x="2913063" y="343535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230464" name="Rectangle 64">
            <a:extLst>
              <a:ext uri="{FF2B5EF4-FFF2-40B4-BE49-F238E27FC236}">
                <a16:creationId xmlns:a16="http://schemas.microsoft.com/office/drawing/2014/main" id="{14B8ED14-2333-B483-CE6F-5AD7D31797AB}"/>
              </a:ext>
            </a:extLst>
          </p:cNvPr>
          <p:cNvSpPr>
            <a:spLocks noChangeArrowheads="1"/>
          </p:cNvSpPr>
          <p:nvPr/>
        </p:nvSpPr>
        <p:spPr bwMode="auto">
          <a:xfrm>
            <a:off x="2913063" y="290195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230465" name="Rectangle 65">
            <a:extLst>
              <a:ext uri="{FF2B5EF4-FFF2-40B4-BE49-F238E27FC236}">
                <a16:creationId xmlns:a16="http://schemas.microsoft.com/office/drawing/2014/main" id="{A5A48FE7-68B7-E202-A42F-2FD060EA461F}"/>
              </a:ext>
            </a:extLst>
          </p:cNvPr>
          <p:cNvSpPr>
            <a:spLocks noChangeArrowheads="1"/>
          </p:cNvSpPr>
          <p:nvPr/>
        </p:nvSpPr>
        <p:spPr bwMode="auto">
          <a:xfrm>
            <a:off x="2913063" y="232251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6385" name="Rectangle 66">
            <a:extLst>
              <a:ext uri="{FF2B5EF4-FFF2-40B4-BE49-F238E27FC236}">
                <a16:creationId xmlns:a16="http://schemas.microsoft.com/office/drawing/2014/main" id="{F0D7A47D-16EA-3C82-716B-D52BBD9E371C}"/>
              </a:ext>
            </a:extLst>
          </p:cNvPr>
          <p:cNvSpPr>
            <a:spLocks noChangeArrowheads="1"/>
          </p:cNvSpPr>
          <p:nvPr/>
        </p:nvSpPr>
        <p:spPr bwMode="auto">
          <a:xfrm>
            <a:off x="2913063" y="148431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230467" name="Rectangle 67">
            <a:extLst>
              <a:ext uri="{FF2B5EF4-FFF2-40B4-BE49-F238E27FC236}">
                <a16:creationId xmlns:a16="http://schemas.microsoft.com/office/drawing/2014/main" id="{DDED7DF2-3C85-6776-C09D-41DF77025905}"/>
              </a:ext>
            </a:extLst>
          </p:cNvPr>
          <p:cNvSpPr>
            <a:spLocks noChangeArrowheads="1"/>
          </p:cNvSpPr>
          <p:nvPr/>
        </p:nvSpPr>
        <p:spPr bwMode="auto">
          <a:xfrm>
            <a:off x="2376488" y="447040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56387" name="Rectangle 68">
            <a:extLst>
              <a:ext uri="{FF2B5EF4-FFF2-40B4-BE49-F238E27FC236}">
                <a16:creationId xmlns:a16="http://schemas.microsoft.com/office/drawing/2014/main" id="{62848745-9087-9858-4054-5D43FDBDFA9F}"/>
              </a:ext>
            </a:extLst>
          </p:cNvPr>
          <p:cNvSpPr>
            <a:spLocks noChangeArrowheads="1"/>
          </p:cNvSpPr>
          <p:nvPr/>
        </p:nvSpPr>
        <p:spPr bwMode="auto">
          <a:xfrm>
            <a:off x="2376488" y="3435350"/>
            <a:ext cx="536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230469" name="Rectangle 69">
            <a:extLst>
              <a:ext uri="{FF2B5EF4-FFF2-40B4-BE49-F238E27FC236}">
                <a16:creationId xmlns:a16="http://schemas.microsoft.com/office/drawing/2014/main" id="{E80A9EEB-8AC5-6867-773E-C88E5548E9CA}"/>
              </a:ext>
            </a:extLst>
          </p:cNvPr>
          <p:cNvSpPr>
            <a:spLocks noChangeArrowheads="1"/>
          </p:cNvSpPr>
          <p:nvPr/>
        </p:nvSpPr>
        <p:spPr bwMode="auto">
          <a:xfrm>
            <a:off x="2376488" y="2901950"/>
            <a:ext cx="5365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230470" name="Rectangle 70">
            <a:extLst>
              <a:ext uri="{FF2B5EF4-FFF2-40B4-BE49-F238E27FC236}">
                <a16:creationId xmlns:a16="http://schemas.microsoft.com/office/drawing/2014/main" id="{952C4303-7489-20C0-A071-72467431F544}"/>
              </a:ext>
            </a:extLst>
          </p:cNvPr>
          <p:cNvSpPr>
            <a:spLocks noChangeArrowheads="1"/>
          </p:cNvSpPr>
          <p:nvPr/>
        </p:nvSpPr>
        <p:spPr bwMode="auto">
          <a:xfrm>
            <a:off x="2376488" y="2322513"/>
            <a:ext cx="536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6390" name="Rectangle 71">
            <a:extLst>
              <a:ext uri="{FF2B5EF4-FFF2-40B4-BE49-F238E27FC236}">
                <a16:creationId xmlns:a16="http://schemas.microsoft.com/office/drawing/2014/main" id="{84BB9CC3-BD23-7BD6-6EEF-B0F8CB700685}"/>
              </a:ext>
            </a:extLst>
          </p:cNvPr>
          <p:cNvSpPr>
            <a:spLocks noChangeArrowheads="1"/>
          </p:cNvSpPr>
          <p:nvPr/>
        </p:nvSpPr>
        <p:spPr bwMode="auto">
          <a:xfrm>
            <a:off x="2376488" y="1484313"/>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230472" name="Rectangle 72">
            <a:extLst>
              <a:ext uri="{FF2B5EF4-FFF2-40B4-BE49-F238E27FC236}">
                <a16:creationId xmlns:a16="http://schemas.microsoft.com/office/drawing/2014/main" id="{50812B7B-D535-E253-6397-7104CCDDBA22}"/>
              </a:ext>
            </a:extLst>
          </p:cNvPr>
          <p:cNvSpPr>
            <a:spLocks noChangeArrowheads="1"/>
          </p:cNvSpPr>
          <p:nvPr/>
        </p:nvSpPr>
        <p:spPr bwMode="auto">
          <a:xfrm>
            <a:off x="1733550" y="4470400"/>
            <a:ext cx="6429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56392" name="Rectangle 73">
            <a:extLst>
              <a:ext uri="{FF2B5EF4-FFF2-40B4-BE49-F238E27FC236}">
                <a16:creationId xmlns:a16="http://schemas.microsoft.com/office/drawing/2014/main" id="{05F6A507-A375-DED3-A465-4E27C918CF0F}"/>
              </a:ext>
            </a:extLst>
          </p:cNvPr>
          <p:cNvSpPr>
            <a:spLocks noChangeArrowheads="1"/>
          </p:cNvSpPr>
          <p:nvPr/>
        </p:nvSpPr>
        <p:spPr bwMode="auto">
          <a:xfrm>
            <a:off x="1733550" y="3435350"/>
            <a:ext cx="6429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56393" name="Rectangle 74">
            <a:extLst>
              <a:ext uri="{FF2B5EF4-FFF2-40B4-BE49-F238E27FC236}">
                <a16:creationId xmlns:a16="http://schemas.microsoft.com/office/drawing/2014/main" id="{5436DB88-75DD-A6CF-7FDD-B3275A93ED17}"/>
              </a:ext>
            </a:extLst>
          </p:cNvPr>
          <p:cNvSpPr>
            <a:spLocks noChangeArrowheads="1"/>
          </p:cNvSpPr>
          <p:nvPr/>
        </p:nvSpPr>
        <p:spPr bwMode="auto">
          <a:xfrm>
            <a:off x="1733550" y="2901950"/>
            <a:ext cx="6429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230475" name="Rectangle 75">
            <a:extLst>
              <a:ext uri="{FF2B5EF4-FFF2-40B4-BE49-F238E27FC236}">
                <a16:creationId xmlns:a16="http://schemas.microsoft.com/office/drawing/2014/main" id="{09A9C3BA-42FD-CBFD-EFEA-59D1B1391945}"/>
              </a:ext>
            </a:extLst>
          </p:cNvPr>
          <p:cNvSpPr>
            <a:spLocks noChangeArrowheads="1"/>
          </p:cNvSpPr>
          <p:nvPr/>
        </p:nvSpPr>
        <p:spPr bwMode="auto">
          <a:xfrm>
            <a:off x="1733550" y="2322513"/>
            <a:ext cx="6429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6395" name="Rectangle 76">
            <a:extLst>
              <a:ext uri="{FF2B5EF4-FFF2-40B4-BE49-F238E27FC236}">
                <a16:creationId xmlns:a16="http://schemas.microsoft.com/office/drawing/2014/main" id="{DA5000EF-9A87-1F5D-E59B-AE5BFECC597C}"/>
              </a:ext>
            </a:extLst>
          </p:cNvPr>
          <p:cNvSpPr>
            <a:spLocks noChangeArrowheads="1"/>
          </p:cNvSpPr>
          <p:nvPr/>
        </p:nvSpPr>
        <p:spPr bwMode="auto">
          <a:xfrm>
            <a:off x="1733550" y="1484313"/>
            <a:ext cx="6429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56396" name="Rectangle 77">
            <a:extLst>
              <a:ext uri="{FF2B5EF4-FFF2-40B4-BE49-F238E27FC236}">
                <a16:creationId xmlns:a16="http://schemas.microsoft.com/office/drawing/2014/main" id="{BE4B505F-5DCF-7DC4-0F94-C1B64D3925F8}"/>
              </a:ext>
            </a:extLst>
          </p:cNvPr>
          <p:cNvSpPr>
            <a:spLocks noChangeArrowheads="1"/>
          </p:cNvSpPr>
          <p:nvPr/>
        </p:nvSpPr>
        <p:spPr bwMode="auto">
          <a:xfrm>
            <a:off x="731838" y="4470400"/>
            <a:ext cx="10017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397" name="Rectangle 78">
            <a:extLst>
              <a:ext uri="{FF2B5EF4-FFF2-40B4-BE49-F238E27FC236}">
                <a16:creationId xmlns:a16="http://schemas.microsoft.com/office/drawing/2014/main" id="{8645BDD0-F4AD-C04A-4E13-4BA1ADE500CC}"/>
              </a:ext>
            </a:extLst>
          </p:cNvPr>
          <p:cNvSpPr>
            <a:spLocks noChangeArrowheads="1"/>
          </p:cNvSpPr>
          <p:nvPr/>
        </p:nvSpPr>
        <p:spPr bwMode="auto">
          <a:xfrm>
            <a:off x="731838" y="3435350"/>
            <a:ext cx="10017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块3</a:t>
            </a:r>
          </a:p>
        </p:txBody>
      </p:sp>
      <p:sp>
        <p:nvSpPr>
          <p:cNvPr id="56398" name="Rectangle 79">
            <a:extLst>
              <a:ext uri="{FF2B5EF4-FFF2-40B4-BE49-F238E27FC236}">
                <a16:creationId xmlns:a16="http://schemas.microsoft.com/office/drawing/2014/main" id="{80B86362-A2C4-6BED-7774-FDB5BE8B5473}"/>
              </a:ext>
            </a:extLst>
          </p:cNvPr>
          <p:cNvSpPr>
            <a:spLocks noChangeArrowheads="1"/>
          </p:cNvSpPr>
          <p:nvPr/>
        </p:nvSpPr>
        <p:spPr bwMode="auto">
          <a:xfrm>
            <a:off x="731838" y="2901950"/>
            <a:ext cx="10017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块2</a:t>
            </a:r>
          </a:p>
        </p:txBody>
      </p:sp>
      <p:sp>
        <p:nvSpPr>
          <p:cNvPr id="56399" name="Rectangle 80">
            <a:extLst>
              <a:ext uri="{FF2B5EF4-FFF2-40B4-BE49-F238E27FC236}">
                <a16:creationId xmlns:a16="http://schemas.microsoft.com/office/drawing/2014/main" id="{38EDF572-7C6F-4CB3-CD16-11F885F89190}"/>
              </a:ext>
            </a:extLst>
          </p:cNvPr>
          <p:cNvSpPr>
            <a:spLocks noChangeArrowheads="1"/>
          </p:cNvSpPr>
          <p:nvPr/>
        </p:nvSpPr>
        <p:spPr bwMode="auto">
          <a:xfrm>
            <a:off x="731838" y="2322513"/>
            <a:ext cx="10017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块1</a:t>
            </a:r>
          </a:p>
        </p:txBody>
      </p:sp>
      <p:sp>
        <p:nvSpPr>
          <p:cNvPr id="56400" name="Rectangle 81">
            <a:extLst>
              <a:ext uri="{FF2B5EF4-FFF2-40B4-BE49-F238E27FC236}">
                <a16:creationId xmlns:a16="http://schemas.microsoft.com/office/drawing/2014/main" id="{AC2DC13F-F2BC-8173-5372-558FE26FC204}"/>
              </a:ext>
            </a:extLst>
          </p:cNvPr>
          <p:cNvSpPr>
            <a:spLocks noChangeArrowheads="1"/>
          </p:cNvSpPr>
          <p:nvPr/>
        </p:nvSpPr>
        <p:spPr bwMode="auto">
          <a:xfrm>
            <a:off x="731838" y="1484313"/>
            <a:ext cx="100171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走向</a:t>
            </a:r>
          </a:p>
        </p:txBody>
      </p:sp>
      <p:sp>
        <p:nvSpPr>
          <p:cNvPr id="56401" name="Line 82">
            <a:extLst>
              <a:ext uri="{FF2B5EF4-FFF2-40B4-BE49-F238E27FC236}">
                <a16:creationId xmlns:a16="http://schemas.microsoft.com/office/drawing/2014/main" id="{D1A44601-4974-6422-EC91-1EF9AE6CFA0D}"/>
              </a:ext>
            </a:extLst>
          </p:cNvPr>
          <p:cNvSpPr>
            <a:spLocks noChangeShapeType="1"/>
          </p:cNvSpPr>
          <p:nvPr/>
        </p:nvSpPr>
        <p:spPr bwMode="auto">
          <a:xfrm>
            <a:off x="731838" y="1484313"/>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2" name="Line 83">
            <a:extLst>
              <a:ext uri="{FF2B5EF4-FFF2-40B4-BE49-F238E27FC236}">
                <a16:creationId xmlns:a16="http://schemas.microsoft.com/office/drawing/2014/main" id="{B2C5C4BA-6A0E-757A-55E7-A1929464994D}"/>
              </a:ext>
            </a:extLst>
          </p:cNvPr>
          <p:cNvSpPr>
            <a:spLocks noChangeShapeType="1"/>
          </p:cNvSpPr>
          <p:nvPr/>
        </p:nvSpPr>
        <p:spPr bwMode="auto">
          <a:xfrm>
            <a:off x="731838" y="4987925"/>
            <a:ext cx="76200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3" name="Line 84">
            <a:extLst>
              <a:ext uri="{FF2B5EF4-FFF2-40B4-BE49-F238E27FC236}">
                <a16:creationId xmlns:a16="http://schemas.microsoft.com/office/drawing/2014/main" id="{8133CD1C-4072-AC0F-E397-F32F60AB3F98}"/>
              </a:ext>
            </a:extLst>
          </p:cNvPr>
          <p:cNvSpPr>
            <a:spLocks noChangeShapeType="1"/>
          </p:cNvSpPr>
          <p:nvPr/>
        </p:nvSpPr>
        <p:spPr bwMode="auto">
          <a:xfrm>
            <a:off x="731838" y="1484313"/>
            <a:ext cx="0" cy="3503612"/>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4" name="Line 85">
            <a:extLst>
              <a:ext uri="{FF2B5EF4-FFF2-40B4-BE49-F238E27FC236}">
                <a16:creationId xmlns:a16="http://schemas.microsoft.com/office/drawing/2014/main" id="{D774BE33-7445-F7D3-E901-3A6BE33427D1}"/>
              </a:ext>
            </a:extLst>
          </p:cNvPr>
          <p:cNvSpPr>
            <a:spLocks noChangeShapeType="1"/>
          </p:cNvSpPr>
          <p:nvPr/>
        </p:nvSpPr>
        <p:spPr bwMode="auto">
          <a:xfrm>
            <a:off x="8351838" y="1484313"/>
            <a:ext cx="0" cy="3503612"/>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5" name="Line 86">
            <a:extLst>
              <a:ext uri="{FF2B5EF4-FFF2-40B4-BE49-F238E27FC236}">
                <a16:creationId xmlns:a16="http://schemas.microsoft.com/office/drawing/2014/main" id="{A4A6A87D-22CF-200C-E0CB-9596FD6AC54D}"/>
              </a:ext>
            </a:extLst>
          </p:cNvPr>
          <p:cNvSpPr>
            <a:spLocks noChangeShapeType="1"/>
          </p:cNvSpPr>
          <p:nvPr/>
        </p:nvSpPr>
        <p:spPr bwMode="auto">
          <a:xfrm>
            <a:off x="731838" y="2322513"/>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6" name="Line 87">
            <a:extLst>
              <a:ext uri="{FF2B5EF4-FFF2-40B4-BE49-F238E27FC236}">
                <a16:creationId xmlns:a16="http://schemas.microsoft.com/office/drawing/2014/main" id="{2D7D1A11-EEB0-9239-2FBE-FB59E349D5A9}"/>
              </a:ext>
            </a:extLst>
          </p:cNvPr>
          <p:cNvSpPr>
            <a:spLocks noChangeShapeType="1"/>
          </p:cNvSpPr>
          <p:nvPr/>
        </p:nvSpPr>
        <p:spPr bwMode="auto">
          <a:xfrm>
            <a:off x="731838" y="2901950"/>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7" name="Line 88">
            <a:extLst>
              <a:ext uri="{FF2B5EF4-FFF2-40B4-BE49-F238E27FC236}">
                <a16:creationId xmlns:a16="http://schemas.microsoft.com/office/drawing/2014/main" id="{65E38ACC-3621-6921-B69B-6AEF8B2FCEB6}"/>
              </a:ext>
            </a:extLst>
          </p:cNvPr>
          <p:cNvSpPr>
            <a:spLocks noChangeShapeType="1"/>
          </p:cNvSpPr>
          <p:nvPr/>
        </p:nvSpPr>
        <p:spPr bwMode="auto">
          <a:xfrm>
            <a:off x="731838" y="3435350"/>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8" name="Line 89">
            <a:extLst>
              <a:ext uri="{FF2B5EF4-FFF2-40B4-BE49-F238E27FC236}">
                <a16:creationId xmlns:a16="http://schemas.microsoft.com/office/drawing/2014/main" id="{88E6DA03-CCBF-4208-8401-544759902256}"/>
              </a:ext>
            </a:extLst>
          </p:cNvPr>
          <p:cNvSpPr>
            <a:spLocks noChangeShapeType="1"/>
          </p:cNvSpPr>
          <p:nvPr/>
        </p:nvSpPr>
        <p:spPr bwMode="auto">
          <a:xfrm>
            <a:off x="731838" y="4470400"/>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9" name="Line 90">
            <a:extLst>
              <a:ext uri="{FF2B5EF4-FFF2-40B4-BE49-F238E27FC236}">
                <a16:creationId xmlns:a16="http://schemas.microsoft.com/office/drawing/2014/main" id="{443F992C-69B2-1364-2B5B-BB2E1F444136}"/>
              </a:ext>
            </a:extLst>
          </p:cNvPr>
          <p:cNvSpPr>
            <a:spLocks noChangeShapeType="1"/>
          </p:cNvSpPr>
          <p:nvPr/>
        </p:nvSpPr>
        <p:spPr bwMode="auto">
          <a:xfrm>
            <a:off x="1733550" y="1484313"/>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0" name="Line 91">
            <a:extLst>
              <a:ext uri="{FF2B5EF4-FFF2-40B4-BE49-F238E27FC236}">
                <a16:creationId xmlns:a16="http://schemas.microsoft.com/office/drawing/2014/main" id="{EB107F35-1B24-0290-2EA5-43C26F611AE5}"/>
              </a:ext>
            </a:extLst>
          </p:cNvPr>
          <p:cNvSpPr>
            <a:spLocks noChangeShapeType="1"/>
          </p:cNvSpPr>
          <p:nvPr/>
        </p:nvSpPr>
        <p:spPr bwMode="auto">
          <a:xfrm>
            <a:off x="2376488" y="1484313"/>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1" name="Line 92">
            <a:extLst>
              <a:ext uri="{FF2B5EF4-FFF2-40B4-BE49-F238E27FC236}">
                <a16:creationId xmlns:a16="http://schemas.microsoft.com/office/drawing/2014/main" id="{E877E406-3B4D-95E0-1A50-ED6B3B395FFF}"/>
              </a:ext>
            </a:extLst>
          </p:cNvPr>
          <p:cNvSpPr>
            <a:spLocks noChangeShapeType="1"/>
          </p:cNvSpPr>
          <p:nvPr/>
        </p:nvSpPr>
        <p:spPr bwMode="auto">
          <a:xfrm>
            <a:off x="2913063" y="1484313"/>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2" name="Line 93">
            <a:extLst>
              <a:ext uri="{FF2B5EF4-FFF2-40B4-BE49-F238E27FC236}">
                <a16:creationId xmlns:a16="http://schemas.microsoft.com/office/drawing/2014/main" id="{5CFBCA58-C352-6C62-1876-608FBBF19AEF}"/>
              </a:ext>
            </a:extLst>
          </p:cNvPr>
          <p:cNvSpPr>
            <a:spLocks noChangeShapeType="1"/>
          </p:cNvSpPr>
          <p:nvPr/>
        </p:nvSpPr>
        <p:spPr bwMode="auto">
          <a:xfrm>
            <a:off x="3449638" y="1484313"/>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3" name="Line 94">
            <a:extLst>
              <a:ext uri="{FF2B5EF4-FFF2-40B4-BE49-F238E27FC236}">
                <a16:creationId xmlns:a16="http://schemas.microsoft.com/office/drawing/2014/main" id="{84CD609A-6AD7-EAE8-BF0C-E441A7925F55}"/>
              </a:ext>
            </a:extLst>
          </p:cNvPr>
          <p:cNvSpPr>
            <a:spLocks noChangeShapeType="1"/>
          </p:cNvSpPr>
          <p:nvPr/>
        </p:nvSpPr>
        <p:spPr bwMode="auto">
          <a:xfrm>
            <a:off x="3986213" y="1484313"/>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4" name="Line 95">
            <a:extLst>
              <a:ext uri="{FF2B5EF4-FFF2-40B4-BE49-F238E27FC236}">
                <a16:creationId xmlns:a16="http://schemas.microsoft.com/office/drawing/2014/main" id="{000F7878-424C-BB5C-31EA-74D5C09C975B}"/>
              </a:ext>
            </a:extLst>
          </p:cNvPr>
          <p:cNvSpPr>
            <a:spLocks noChangeShapeType="1"/>
          </p:cNvSpPr>
          <p:nvPr/>
        </p:nvSpPr>
        <p:spPr bwMode="auto">
          <a:xfrm>
            <a:off x="4522788" y="1484313"/>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5" name="Line 96">
            <a:extLst>
              <a:ext uri="{FF2B5EF4-FFF2-40B4-BE49-F238E27FC236}">
                <a16:creationId xmlns:a16="http://schemas.microsoft.com/office/drawing/2014/main" id="{D9025D50-023A-DC03-B229-E775F412BA74}"/>
              </a:ext>
            </a:extLst>
          </p:cNvPr>
          <p:cNvSpPr>
            <a:spLocks noChangeShapeType="1"/>
          </p:cNvSpPr>
          <p:nvPr/>
        </p:nvSpPr>
        <p:spPr bwMode="auto">
          <a:xfrm>
            <a:off x="5059363" y="1484313"/>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6" name="Line 97">
            <a:extLst>
              <a:ext uri="{FF2B5EF4-FFF2-40B4-BE49-F238E27FC236}">
                <a16:creationId xmlns:a16="http://schemas.microsoft.com/office/drawing/2014/main" id="{AB4B9766-05AE-2B12-7040-D95629742459}"/>
              </a:ext>
            </a:extLst>
          </p:cNvPr>
          <p:cNvSpPr>
            <a:spLocks noChangeShapeType="1"/>
          </p:cNvSpPr>
          <p:nvPr/>
        </p:nvSpPr>
        <p:spPr bwMode="auto">
          <a:xfrm>
            <a:off x="5595938" y="1484313"/>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7" name="Line 98">
            <a:extLst>
              <a:ext uri="{FF2B5EF4-FFF2-40B4-BE49-F238E27FC236}">
                <a16:creationId xmlns:a16="http://schemas.microsoft.com/office/drawing/2014/main" id="{4D7ED262-A6E7-F528-3A46-38B67A04617E}"/>
              </a:ext>
            </a:extLst>
          </p:cNvPr>
          <p:cNvSpPr>
            <a:spLocks noChangeShapeType="1"/>
          </p:cNvSpPr>
          <p:nvPr/>
        </p:nvSpPr>
        <p:spPr bwMode="auto">
          <a:xfrm>
            <a:off x="6134100" y="1484313"/>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8" name="Line 99">
            <a:extLst>
              <a:ext uri="{FF2B5EF4-FFF2-40B4-BE49-F238E27FC236}">
                <a16:creationId xmlns:a16="http://schemas.microsoft.com/office/drawing/2014/main" id="{C2E7CF59-3324-1F70-109F-E35125F00558}"/>
              </a:ext>
            </a:extLst>
          </p:cNvPr>
          <p:cNvSpPr>
            <a:spLocks noChangeShapeType="1"/>
          </p:cNvSpPr>
          <p:nvPr/>
        </p:nvSpPr>
        <p:spPr bwMode="auto">
          <a:xfrm>
            <a:off x="6670675" y="1484313"/>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9" name="Line 100">
            <a:extLst>
              <a:ext uri="{FF2B5EF4-FFF2-40B4-BE49-F238E27FC236}">
                <a16:creationId xmlns:a16="http://schemas.microsoft.com/office/drawing/2014/main" id="{0F0CC03D-BC25-1EBC-A3C2-89BD22AF9578}"/>
              </a:ext>
            </a:extLst>
          </p:cNvPr>
          <p:cNvSpPr>
            <a:spLocks noChangeShapeType="1"/>
          </p:cNvSpPr>
          <p:nvPr/>
        </p:nvSpPr>
        <p:spPr bwMode="auto">
          <a:xfrm>
            <a:off x="7207250" y="1484313"/>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0" name="Line 101">
            <a:extLst>
              <a:ext uri="{FF2B5EF4-FFF2-40B4-BE49-F238E27FC236}">
                <a16:creationId xmlns:a16="http://schemas.microsoft.com/office/drawing/2014/main" id="{071E7C2A-AA44-1076-1F1A-56EADFE4F48C}"/>
              </a:ext>
            </a:extLst>
          </p:cNvPr>
          <p:cNvSpPr>
            <a:spLocks noChangeShapeType="1"/>
          </p:cNvSpPr>
          <p:nvPr/>
        </p:nvSpPr>
        <p:spPr bwMode="auto">
          <a:xfrm>
            <a:off x="7737475" y="1484313"/>
            <a:ext cx="0" cy="350361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1" name="Line 102">
            <a:extLst>
              <a:ext uri="{FF2B5EF4-FFF2-40B4-BE49-F238E27FC236}">
                <a16:creationId xmlns:a16="http://schemas.microsoft.com/office/drawing/2014/main" id="{1D506CC6-996E-6146-A02A-E7A6BB8645EC}"/>
              </a:ext>
            </a:extLst>
          </p:cNvPr>
          <p:cNvSpPr>
            <a:spLocks noChangeShapeType="1"/>
          </p:cNvSpPr>
          <p:nvPr/>
        </p:nvSpPr>
        <p:spPr bwMode="auto">
          <a:xfrm>
            <a:off x="731838" y="3952875"/>
            <a:ext cx="76200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230475"/>
                                        </p:tgtEl>
                                        <p:attrNameLst>
                                          <p:attrName>style.visibility</p:attrName>
                                        </p:attrNameLst>
                                      </p:cBhvr>
                                      <p:to>
                                        <p:strVal val="visible"/>
                                      </p:to>
                                    </p:set>
                                    <p:animEffect transition="in" filter="barn(outHorizontal)">
                                      <p:cBhvr>
                                        <p:cTn id="7" dur="500"/>
                                        <p:tgtEl>
                                          <p:spTgt spid="2304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230472"/>
                                        </p:tgtEl>
                                        <p:attrNameLst>
                                          <p:attrName>style.visibility</p:attrName>
                                        </p:attrNameLst>
                                      </p:cBhvr>
                                      <p:to>
                                        <p:strVal val="visible"/>
                                      </p:to>
                                    </p:set>
                                    <p:animEffect transition="in" filter="barn(outHorizontal)">
                                      <p:cBhvr>
                                        <p:cTn id="12" dur="500"/>
                                        <p:tgtEl>
                                          <p:spTgt spid="2304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230470"/>
                                        </p:tgtEl>
                                        <p:attrNameLst>
                                          <p:attrName>style.visibility</p:attrName>
                                        </p:attrNameLst>
                                      </p:cBhvr>
                                      <p:to>
                                        <p:strVal val="visible"/>
                                      </p:to>
                                    </p:set>
                                    <p:animEffect transition="in" filter="barn(outHorizontal)">
                                      <p:cBhvr>
                                        <p:cTn id="17" dur="500"/>
                                        <p:tgtEl>
                                          <p:spTgt spid="2304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230469"/>
                                        </p:tgtEl>
                                        <p:attrNameLst>
                                          <p:attrName>style.visibility</p:attrName>
                                        </p:attrNameLst>
                                      </p:cBhvr>
                                      <p:to>
                                        <p:strVal val="visible"/>
                                      </p:to>
                                    </p:set>
                                    <p:animEffect transition="in" filter="barn(outHorizontal)">
                                      <p:cBhvr>
                                        <p:cTn id="22" dur="500"/>
                                        <p:tgtEl>
                                          <p:spTgt spid="2304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230467"/>
                                        </p:tgtEl>
                                        <p:attrNameLst>
                                          <p:attrName>style.visibility</p:attrName>
                                        </p:attrNameLst>
                                      </p:cBhvr>
                                      <p:to>
                                        <p:strVal val="visible"/>
                                      </p:to>
                                    </p:set>
                                    <p:animEffect transition="in" filter="barn(outHorizontal)">
                                      <p:cBhvr>
                                        <p:cTn id="27" dur="500"/>
                                        <p:tgtEl>
                                          <p:spTgt spid="23046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230465"/>
                                        </p:tgtEl>
                                        <p:attrNameLst>
                                          <p:attrName>style.visibility</p:attrName>
                                        </p:attrNameLst>
                                      </p:cBhvr>
                                      <p:to>
                                        <p:strVal val="visible"/>
                                      </p:to>
                                    </p:set>
                                    <p:animEffect transition="in" filter="barn(outHorizontal)">
                                      <p:cBhvr>
                                        <p:cTn id="32" dur="500"/>
                                        <p:tgtEl>
                                          <p:spTgt spid="2304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230464"/>
                                        </p:tgtEl>
                                        <p:attrNameLst>
                                          <p:attrName>style.visibility</p:attrName>
                                        </p:attrNameLst>
                                      </p:cBhvr>
                                      <p:to>
                                        <p:strVal val="visible"/>
                                      </p:to>
                                    </p:set>
                                    <p:animEffect transition="in" filter="barn(outHorizontal)">
                                      <p:cBhvr>
                                        <p:cTn id="37" dur="500"/>
                                        <p:tgtEl>
                                          <p:spTgt spid="23046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230463"/>
                                        </p:tgtEl>
                                        <p:attrNameLst>
                                          <p:attrName>style.visibility</p:attrName>
                                        </p:attrNameLst>
                                      </p:cBhvr>
                                      <p:to>
                                        <p:strVal val="visible"/>
                                      </p:to>
                                    </p:set>
                                    <p:animEffect transition="in" filter="barn(outHorizontal)">
                                      <p:cBhvr>
                                        <p:cTn id="42" dur="500"/>
                                        <p:tgtEl>
                                          <p:spTgt spid="23046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230462"/>
                                        </p:tgtEl>
                                        <p:attrNameLst>
                                          <p:attrName>style.visibility</p:attrName>
                                        </p:attrNameLst>
                                      </p:cBhvr>
                                      <p:to>
                                        <p:strVal val="visible"/>
                                      </p:to>
                                    </p:set>
                                    <p:animEffect transition="in" filter="barn(outHorizontal)">
                                      <p:cBhvr>
                                        <p:cTn id="47" dur="500"/>
                                        <p:tgtEl>
                                          <p:spTgt spid="23046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230460"/>
                                        </p:tgtEl>
                                        <p:attrNameLst>
                                          <p:attrName>style.visibility</p:attrName>
                                        </p:attrNameLst>
                                      </p:cBhvr>
                                      <p:to>
                                        <p:strVal val="visible"/>
                                      </p:to>
                                    </p:set>
                                    <p:animEffect transition="in" filter="barn(outHorizontal)">
                                      <p:cBhvr>
                                        <p:cTn id="52" dur="500"/>
                                        <p:tgtEl>
                                          <p:spTgt spid="23046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230459"/>
                                        </p:tgtEl>
                                        <p:attrNameLst>
                                          <p:attrName>style.visibility</p:attrName>
                                        </p:attrNameLst>
                                      </p:cBhvr>
                                      <p:to>
                                        <p:strVal val="visible"/>
                                      </p:to>
                                    </p:set>
                                    <p:animEffect transition="in" filter="barn(outHorizontal)">
                                      <p:cBhvr>
                                        <p:cTn id="57" dur="500"/>
                                        <p:tgtEl>
                                          <p:spTgt spid="23045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230458"/>
                                        </p:tgtEl>
                                        <p:attrNameLst>
                                          <p:attrName>style.visibility</p:attrName>
                                        </p:attrNameLst>
                                      </p:cBhvr>
                                      <p:to>
                                        <p:strVal val="visible"/>
                                      </p:to>
                                    </p:set>
                                    <p:animEffect transition="in" filter="barn(outHorizontal)">
                                      <p:cBhvr>
                                        <p:cTn id="62" dur="500"/>
                                        <p:tgtEl>
                                          <p:spTgt spid="23045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230412"/>
                                        </p:tgtEl>
                                        <p:attrNameLst>
                                          <p:attrName>style.visibility</p:attrName>
                                        </p:attrNameLst>
                                      </p:cBhvr>
                                      <p:to>
                                        <p:strVal val="visible"/>
                                      </p:to>
                                    </p:set>
                                    <p:animEffect transition="in" filter="barn(outHorizontal)">
                                      <p:cBhvr>
                                        <p:cTn id="67" dur="500"/>
                                        <p:tgtEl>
                                          <p:spTgt spid="23041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230457"/>
                                        </p:tgtEl>
                                        <p:attrNameLst>
                                          <p:attrName>style.visibility</p:attrName>
                                        </p:attrNameLst>
                                      </p:cBhvr>
                                      <p:to>
                                        <p:strVal val="visible"/>
                                      </p:to>
                                    </p:set>
                                    <p:animEffect transition="in" filter="barn(outHorizontal)">
                                      <p:cBhvr>
                                        <p:cTn id="72" dur="500"/>
                                        <p:tgtEl>
                                          <p:spTgt spid="23045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230445"/>
                                        </p:tgtEl>
                                        <p:attrNameLst>
                                          <p:attrName>style.visibility</p:attrName>
                                        </p:attrNameLst>
                                      </p:cBhvr>
                                      <p:to>
                                        <p:strVal val="visible"/>
                                      </p:to>
                                    </p:set>
                                    <p:animEffect transition="in" filter="barn(outHorizontal)">
                                      <p:cBhvr>
                                        <p:cTn id="77" dur="500"/>
                                        <p:tgtEl>
                                          <p:spTgt spid="23044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230444"/>
                                        </p:tgtEl>
                                        <p:attrNameLst>
                                          <p:attrName>style.visibility</p:attrName>
                                        </p:attrNameLst>
                                      </p:cBhvr>
                                      <p:to>
                                        <p:strVal val="visible"/>
                                      </p:to>
                                    </p:set>
                                    <p:animEffect transition="in" filter="barn(outHorizontal)">
                                      <p:cBhvr>
                                        <p:cTn id="82" dur="500"/>
                                        <p:tgtEl>
                                          <p:spTgt spid="23044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230443"/>
                                        </p:tgtEl>
                                        <p:attrNameLst>
                                          <p:attrName>style.visibility</p:attrName>
                                        </p:attrNameLst>
                                      </p:cBhvr>
                                      <p:to>
                                        <p:strVal val="visible"/>
                                      </p:to>
                                    </p:set>
                                    <p:animEffect transition="in" filter="barn(outHorizontal)">
                                      <p:cBhvr>
                                        <p:cTn id="87" dur="500"/>
                                        <p:tgtEl>
                                          <p:spTgt spid="23044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230409"/>
                                        </p:tgtEl>
                                        <p:attrNameLst>
                                          <p:attrName>style.visibility</p:attrName>
                                        </p:attrNameLst>
                                      </p:cBhvr>
                                      <p:to>
                                        <p:strVal val="visible"/>
                                      </p:to>
                                    </p:set>
                                    <p:animEffect transition="in" filter="barn(outHorizontal)">
                                      <p:cBhvr>
                                        <p:cTn id="92" dur="500"/>
                                        <p:tgtEl>
                                          <p:spTgt spid="23040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230442"/>
                                        </p:tgtEl>
                                        <p:attrNameLst>
                                          <p:attrName>style.visibility</p:attrName>
                                        </p:attrNameLst>
                                      </p:cBhvr>
                                      <p:to>
                                        <p:strVal val="visible"/>
                                      </p:to>
                                    </p:set>
                                    <p:animEffect transition="in" filter="barn(outHorizontal)">
                                      <p:cBhvr>
                                        <p:cTn id="97" dur="500"/>
                                        <p:tgtEl>
                                          <p:spTgt spid="23044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6" presetClass="entr" presetSubtype="42" fill="hold" nodeType="clickEffect">
                                  <p:stCondLst>
                                    <p:cond delay="0"/>
                                  </p:stCondLst>
                                  <p:childTnLst>
                                    <p:set>
                                      <p:cBhvr>
                                        <p:cTn id="101" dur="1" fill="hold">
                                          <p:stCondLst>
                                            <p:cond delay="0"/>
                                          </p:stCondLst>
                                        </p:cTn>
                                        <p:tgtEl>
                                          <p:spTgt spid="230430"/>
                                        </p:tgtEl>
                                        <p:attrNameLst>
                                          <p:attrName>style.visibility</p:attrName>
                                        </p:attrNameLst>
                                      </p:cBhvr>
                                      <p:to>
                                        <p:strVal val="visible"/>
                                      </p:to>
                                    </p:set>
                                    <p:animEffect transition="in" filter="barn(outHorizontal)">
                                      <p:cBhvr>
                                        <p:cTn id="102" dur="500"/>
                                        <p:tgtEl>
                                          <p:spTgt spid="230430"/>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6" presetClass="entr" presetSubtype="42" fill="hold" nodeType="clickEffect">
                                  <p:stCondLst>
                                    <p:cond delay="0"/>
                                  </p:stCondLst>
                                  <p:childTnLst>
                                    <p:set>
                                      <p:cBhvr>
                                        <p:cTn id="106" dur="1" fill="hold">
                                          <p:stCondLst>
                                            <p:cond delay="0"/>
                                          </p:stCondLst>
                                        </p:cTn>
                                        <p:tgtEl>
                                          <p:spTgt spid="230429"/>
                                        </p:tgtEl>
                                        <p:attrNameLst>
                                          <p:attrName>style.visibility</p:attrName>
                                        </p:attrNameLst>
                                      </p:cBhvr>
                                      <p:to>
                                        <p:strVal val="visible"/>
                                      </p:to>
                                    </p:set>
                                    <p:animEffect transition="in" filter="barn(outHorizontal)">
                                      <p:cBhvr>
                                        <p:cTn id="107" dur="500"/>
                                        <p:tgtEl>
                                          <p:spTgt spid="230429"/>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6" presetClass="entr" presetSubtype="42" fill="hold" nodeType="clickEffect">
                                  <p:stCondLst>
                                    <p:cond delay="0"/>
                                  </p:stCondLst>
                                  <p:childTnLst>
                                    <p:set>
                                      <p:cBhvr>
                                        <p:cTn id="111" dur="1" fill="hold">
                                          <p:stCondLst>
                                            <p:cond delay="0"/>
                                          </p:stCondLst>
                                        </p:cTn>
                                        <p:tgtEl>
                                          <p:spTgt spid="230428"/>
                                        </p:tgtEl>
                                        <p:attrNameLst>
                                          <p:attrName>style.visibility</p:attrName>
                                        </p:attrNameLst>
                                      </p:cBhvr>
                                      <p:to>
                                        <p:strVal val="visible"/>
                                      </p:to>
                                    </p:set>
                                    <p:animEffect transition="in" filter="barn(outHorizontal)">
                                      <p:cBhvr>
                                        <p:cTn id="112" dur="500"/>
                                        <p:tgtEl>
                                          <p:spTgt spid="230428"/>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6" presetClass="entr" presetSubtype="42" fill="hold" nodeType="clickEffect">
                                  <p:stCondLst>
                                    <p:cond delay="0"/>
                                  </p:stCondLst>
                                  <p:childTnLst>
                                    <p:set>
                                      <p:cBhvr>
                                        <p:cTn id="116" dur="1" fill="hold">
                                          <p:stCondLst>
                                            <p:cond delay="0"/>
                                          </p:stCondLst>
                                        </p:cTn>
                                        <p:tgtEl>
                                          <p:spTgt spid="230406"/>
                                        </p:tgtEl>
                                        <p:attrNameLst>
                                          <p:attrName>style.visibility</p:attrName>
                                        </p:attrNameLst>
                                      </p:cBhvr>
                                      <p:to>
                                        <p:strVal val="visible"/>
                                      </p:to>
                                    </p:set>
                                    <p:animEffect transition="in" filter="barn(outHorizontal)">
                                      <p:cBhvr>
                                        <p:cTn id="117" dur="500"/>
                                        <p:tgtEl>
                                          <p:spTgt spid="230406"/>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6" presetClass="entr" presetSubtype="42" fill="hold" nodeType="clickEffect">
                                  <p:stCondLst>
                                    <p:cond delay="0"/>
                                  </p:stCondLst>
                                  <p:childTnLst>
                                    <p:set>
                                      <p:cBhvr>
                                        <p:cTn id="121" dur="1" fill="hold">
                                          <p:stCondLst>
                                            <p:cond delay="0"/>
                                          </p:stCondLst>
                                        </p:cTn>
                                        <p:tgtEl>
                                          <p:spTgt spid="230427"/>
                                        </p:tgtEl>
                                        <p:attrNameLst>
                                          <p:attrName>style.visibility</p:attrName>
                                        </p:attrNameLst>
                                      </p:cBhvr>
                                      <p:to>
                                        <p:strVal val="visible"/>
                                      </p:to>
                                    </p:set>
                                    <p:animEffect transition="in" filter="barn(outHorizontal)">
                                      <p:cBhvr>
                                        <p:cTn id="122" dur="500"/>
                                        <p:tgtEl>
                                          <p:spTgt spid="230427"/>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6" presetClass="entr" presetSubtype="42" fill="hold" nodeType="clickEffect">
                                  <p:stCondLst>
                                    <p:cond delay="0"/>
                                  </p:stCondLst>
                                  <p:childTnLst>
                                    <p:set>
                                      <p:cBhvr>
                                        <p:cTn id="126" dur="1" fill="hold">
                                          <p:stCondLst>
                                            <p:cond delay="0"/>
                                          </p:stCondLst>
                                        </p:cTn>
                                        <p:tgtEl>
                                          <p:spTgt spid="230425"/>
                                        </p:tgtEl>
                                        <p:attrNameLst>
                                          <p:attrName>style.visibility</p:attrName>
                                        </p:attrNameLst>
                                      </p:cBhvr>
                                      <p:to>
                                        <p:strVal val="visible"/>
                                      </p:to>
                                    </p:set>
                                    <p:animEffect transition="in" filter="barn(outHorizontal)">
                                      <p:cBhvr>
                                        <p:cTn id="127" dur="500"/>
                                        <p:tgtEl>
                                          <p:spTgt spid="230425"/>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6" presetClass="entr" presetSubtype="42" fill="hold" nodeType="clickEffect">
                                  <p:stCondLst>
                                    <p:cond delay="0"/>
                                  </p:stCondLst>
                                  <p:childTnLst>
                                    <p:set>
                                      <p:cBhvr>
                                        <p:cTn id="131" dur="1" fill="hold">
                                          <p:stCondLst>
                                            <p:cond delay="0"/>
                                          </p:stCondLst>
                                        </p:cTn>
                                        <p:tgtEl>
                                          <p:spTgt spid="230424"/>
                                        </p:tgtEl>
                                        <p:attrNameLst>
                                          <p:attrName>style.visibility</p:attrName>
                                        </p:attrNameLst>
                                      </p:cBhvr>
                                      <p:to>
                                        <p:strVal val="visible"/>
                                      </p:to>
                                    </p:set>
                                    <p:animEffect transition="in" filter="barn(outHorizontal)">
                                      <p:cBhvr>
                                        <p:cTn id="132" dur="500"/>
                                        <p:tgtEl>
                                          <p:spTgt spid="230424"/>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6" presetClass="entr" presetSubtype="42" fill="hold" nodeType="clickEffect">
                                  <p:stCondLst>
                                    <p:cond delay="0"/>
                                  </p:stCondLst>
                                  <p:childTnLst>
                                    <p:set>
                                      <p:cBhvr>
                                        <p:cTn id="136" dur="1" fill="hold">
                                          <p:stCondLst>
                                            <p:cond delay="0"/>
                                          </p:stCondLst>
                                        </p:cTn>
                                        <p:tgtEl>
                                          <p:spTgt spid="230423"/>
                                        </p:tgtEl>
                                        <p:attrNameLst>
                                          <p:attrName>style.visibility</p:attrName>
                                        </p:attrNameLst>
                                      </p:cBhvr>
                                      <p:to>
                                        <p:strVal val="visible"/>
                                      </p:to>
                                    </p:set>
                                    <p:animEffect transition="in" filter="barn(outHorizontal)">
                                      <p:cBhvr>
                                        <p:cTn id="137" dur="500"/>
                                        <p:tgtEl>
                                          <p:spTgt spid="230423"/>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6" presetClass="entr" presetSubtype="42" fill="hold" nodeType="clickEffect">
                                  <p:stCondLst>
                                    <p:cond delay="0"/>
                                  </p:stCondLst>
                                  <p:childTnLst>
                                    <p:set>
                                      <p:cBhvr>
                                        <p:cTn id="141" dur="1" fill="hold">
                                          <p:stCondLst>
                                            <p:cond delay="0"/>
                                          </p:stCondLst>
                                        </p:cTn>
                                        <p:tgtEl>
                                          <p:spTgt spid="230405"/>
                                        </p:tgtEl>
                                        <p:attrNameLst>
                                          <p:attrName>style.visibility</p:attrName>
                                        </p:attrNameLst>
                                      </p:cBhvr>
                                      <p:to>
                                        <p:strVal val="visible"/>
                                      </p:to>
                                    </p:set>
                                    <p:animEffect transition="in" filter="barn(outHorizontal)">
                                      <p:cBhvr>
                                        <p:cTn id="142" dur="500"/>
                                        <p:tgtEl>
                                          <p:spTgt spid="230405"/>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6" presetClass="entr" presetSubtype="42" fill="hold" nodeType="clickEffect">
                                  <p:stCondLst>
                                    <p:cond delay="0"/>
                                  </p:stCondLst>
                                  <p:childTnLst>
                                    <p:set>
                                      <p:cBhvr>
                                        <p:cTn id="146" dur="1" fill="hold">
                                          <p:stCondLst>
                                            <p:cond delay="0"/>
                                          </p:stCondLst>
                                        </p:cTn>
                                        <p:tgtEl>
                                          <p:spTgt spid="230422"/>
                                        </p:tgtEl>
                                        <p:attrNameLst>
                                          <p:attrName>style.visibility</p:attrName>
                                        </p:attrNameLst>
                                      </p:cBhvr>
                                      <p:to>
                                        <p:strVal val="visible"/>
                                      </p:to>
                                    </p:set>
                                    <p:animEffect transition="in" filter="barn(outHorizontal)">
                                      <p:cBhvr>
                                        <p:cTn id="147" dur="500"/>
                                        <p:tgtEl>
                                          <p:spTgt spid="230422"/>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6" presetClass="entr" presetSubtype="42" fill="hold" nodeType="clickEffect">
                                  <p:stCondLst>
                                    <p:cond delay="0"/>
                                  </p:stCondLst>
                                  <p:childTnLst>
                                    <p:set>
                                      <p:cBhvr>
                                        <p:cTn id="151" dur="1" fill="hold">
                                          <p:stCondLst>
                                            <p:cond delay="0"/>
                                          </p:stCondLst>
                                        </p:cTn>
                                        <p:tgtEl>
                                          <p:spTgt spid="230420"/>
                                        </p:tgtEl>
                                        <p:attrNameLst>
                                          <p:attrName>style.visibility</p:attrName>
                                        </p:attrNameLst>
                                      </p:cBhvr>
                                      <p:to>
                                        <p:strVal val="visible"/>
                                      </p:to>
                                    </p:set>
                                    <p:animEffect transition="in" filter="barn(outHorizontal)">
                                      <p:cBhvr>
                                        <p:cTn id="152" dur="500"/>
                                        <p:tgtEl>
                                          <p:spTgt spid="230420"/>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6" presetClass="entr" presetSubtype="42" fill="hold" nodeType="clickEffect">
                                  <p:stCondLst>
                                    <p:cond delay="0"/>
                                  </p:stCondLst>
                                  <p:childTnLst>
                                    <p:set>
                                      <p:cBhvr>
                                        <p:cTn id="156" dur="1" fill="hold">
                                          <p:stCondLst>
                                            <p:cond delay="0"/>
                                          </p:stCondLst>
                                        </p:cTn>
                                        <p:tgtEl>
                                          <p:spTgt spid="230419"/>
                                        </p:tgtEl>
                                        <p:attrNameLst>
                                          <p:attrName>style.visibility</p:attrName>
                                        </p:attrNameLst>
                                      </p:cBhvr>
                                      <p:to>
                                        <p:strVal val="visible"/>
                                      </p:to>
                                    </p:set>
                                    <p:animEffect transition="in" filter="barn(outHorizontal)">
                                      <p:cBhvr>
                                        <p:cTn id="157" dur="500"/>
                                        <p:tgtEl>
                                          <p:spTgt spid="230419"/>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6" presetClass="entr" presetSubtype="42" fill="hold" nodeType="clickEffect">
                                  <p:stCondLst>
                                    <p:cond delay="0"/>
                                  </p:stCondLst>
                                  <p:childTnLst>
                                    <p:set>
                                      <p:cBhvr>
                                        <p:cTn id="161" dur="1" fill="hold">
                                          <p:stCondLst>
                                            <p:cond delay="0"/>
                                          </p:stCondLst>
                                        </p:cTn>
                                        <p:tgtEl>
                                          <p:spTgt spid="230418"/>
                                        </p:tgtEl>
                                        <p:attrNameLst>
                                          <p:attrName>style.visibility</p:attrName>
                                        </p:attrNameLst>
                                      </p:cBhvr>
                                      <p:to>
                                        <p:strVal val="visible"/>
                                      </p:to>
                                    </p:set>
                                    <p:animEffect transition="in" filter="barn(outHorizontal)">
                                      <p:cBhvr>
                                        <p:cTn id="162" dur="500"/>
                                        <p:tgtEl>
                                          <p:spTgt spid="230418"/>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6" presetClass="entr" presetSubtype="42" fill="hold" nodeType="clickEffect">
                                  <p:stCondLst>
                                    <p:cond delay="0"/>
                                  </p:stCondLst>
                                  <p:childTnLst>
                                    <p:set>
                                      <p:cBhvr>
                                        <p:cTn id="166" dur="1" fill="hold">
                                          <p:stCondLst>
                                            <p:cond delay="0"/>
                                          </p:stCondLst>
                                        </p:cTn>
                                        <p:tgtEl>
                                          <p:spTgt spid="230404"/>
                                        </p:tgtEl>
                                        <p:attrNameLst>
                                          <p:attrName>style.visibility</p:attrName>
                                        </p:attrNameLst>
                                      </p:cBhvr>
                                      <p:to>
                                        <p:strVal val="visible"/>
                                      </p:to>
                                    </p:set>
                                    <p:animEffect transition="in" filter="barn(outHorizontal)">
                                      <p:cBhvr>
                                        <p:cTn id="167" dur="500"/>
                                        <p:tgtEl>
                                          <p:spTgt spid="230404"/>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6" presetClass="entr" presetSubtype="42" fill="hold" nodeType="clickEffect">
                                  <p:stCondLst>
                                    <p:cond delay="0"/>
                                  </p:stCondLst>
                                  <p:childTnLst>
                                    <p:set>
                                      <p:cBhvr>
                                        <p:cTn id="171" dur="1" fill="hold">
                                          <p:stCondLst>
                                            <p:cond delay="0"/>
                                          </p:stCondLst>
                                        </p:cTn>
                                        <p:tgtEl>
                                          <p:spTgt spid="230417"/>
                                        </p:tgtEl>
                                        <p:attrNameLst>
                                          <p:attrName>style.visibility</p:attrName>
                                        </p:attrNameLst>
                                      </p:cBhvr>
                                      <p:to>
                                        <p:strVal val="visible"/>
                                      </p:to>
                                    </p:set>
                                    <p:animEffect transition="in" filter="barn(outHorizontal)">
                                      <p:cBhvr>
                                        <p:cTn id="172" dur="500"/>
                                        <p:tgtEl>
                                          <p:spTgt spid="230417"/>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6" presetClass="entr" presetSubtype="42" fill="hold" nodeType="clickEffect">
                                  <p:stCondLst>
                                    <p:cond delay="0"/>
                                  </p:stCondLst>
                                  <p:childTnLst>
                                    <p:set>
                                      <p:cBhvr>
                                        <p:cTn id="176" dur="1" fill="hold">
                                          <p:stCondLst>
                                            <p:cond delay="0"/>
                                          </p:stCondLst>
                                        </p:cTn>
                                        <p:tgtEl>
                                          <p:spTgt spid="230403">
                                            <p:txEl>
                                              <p:pRg st="0" end="0"/>
                                            </p:txEl>
                                          </p:spTgt>
                                        </p:tgtEl>
                                        <p:attrNameLst>
                                          <p:attrName>style.visibility</p:attrName>
                                        </p:attrNameLst>
                                      </p:cBhvr>
                                      <p:to>
                                        <p:strVal val="visible"/>
                                      </p:to>
                                    </p:set>
                                    <p:animEffect transition="in" filter="barn(outHorizontal)">
                                      <p:cBhvr>
                                        <p:cTn id="177" dur="500"/>
                                        <p:tgtEl>
                                          <p:spTgt spid="2304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p:bldP spid="230404" grpId="0"/>
      <p:bldP spid="230405" grpId="0"/>
      <p:bldP spid="230406" grpId="0"/>
      <p:bldP spid="230409" grpId="0"/>
      <p:bldP spid="230412" grpId="0"/>
      <p:bldP spid="230417" grpId="0"/>
      <p:bldP spid="230418" grpId="0"/>
      <p:bldP spid="230419" grpId="0"/>
      <p:bldP spid="230420" grpId="0"/>
      <p:bldP spid="230422" grpId="0"/>
      <p:bldP spid="230423" grpId="0"/>
      <p:bldP spid="230424" grpId="0"/>
      <p:bldP spid="230425" grpId="0"/>
      <p:bldP spid="230427" grpId="0"/>
      <p:bldP spid="230428" grpId="0"/>
      <p:bldP spid="230429" grpId="0"/>
      <p:bldP spid="230430" grpId="0"/>
      <p:bldP spid="230442" grpId="0"/>
      <p:bldP spid="230443" grpId="0"/>
      <p:bldP spid="230444" grpId="0"/>
      <p:bldP spid="230445" grpId="0"/>
      <p:bldP spid="230457" grpId="0"/>
      <p:bldP spid="230458" grpId="0"/>
      <p:bldP spid="230459" grpId="0"/>
      <p:bldP spid="230460" grpId="0"/>
      <p:bldP spid="230462" grpId="0"/>
      <p:bldP spid="230463" grpId="0"/>
      <p:bldP spid="230464" grpId="0"/>
      <p:bldP spid="230465" grpId="0"/>
      <p:bldP spid="230467" grpId="0"/>
      <p:bldP spid="230469" grpId="0"/>
      <p:bldP spid="230470" grpId="0"/>
      <p:bldP spid="230472" grpId="0"/>
      <p:bldP spid="230475"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29845A8F-CA21-3254-AB30-6758FF7AE2A3}"/>
              </a:ext>
            </a:extLst>
          </p:cNvPr>
          <p:cNvSpPr>
            <a:spLocks noGrp="1" noChangeArrowheads="1"/>
          </p:cNvSpPr>
          <p:nvPr>
            <p:ph type="title"/>
          </p:nvPr>
        </p:nvSpPr>
        <p:spPr>
          <a:xfrm>
            <a:off x="1042988" y="225431"/>
            <a:ext cx="7850187" cy="746125"/>
          </a:xfrm>
        </p:spPr>
        <p:txBody>
          <a:bodyPr/>
          <a:lstStyle/>
          <a:p>
            <a:r>
              <a:rPr lang="en-US" altLang="zh-CN"/>
              <a:t>LRU</a:t>
            </a:r>
            <a:r>
              <a:rPr lang="zh-CN" altLang="en-US"/>
              <a:t>算法的实现</a:t>
            </a:r>
          </a:p>
        </p:txBody>
      </p:sp>
      <p:sp>
        <p:nvSpPr>
          <p:cNvPr id="57346" name="Rectangle 3">
            <a:extLst>
              <a:ext uri="{FF2B5EF4-FFF2-40B4-BE49-F238E27FC236}">
                <a16:creationId xmlns:a16="http://schemas.microsoft.com/office/drawing/2014/main" id="{25AA91B7-1942-1916-7AB2-3AA86D492753}"/>
              </a:ext>
            </a:extLst>
          </p:cNvPr>
          <p:cNvSpPr>
            <a:spLocks noGrp="1" noChangeArrowheads="1"/>
          </p:cNvSpPr>
          <p:nvPr>
            <p:ph idx="1"/>
          </p:nvPr>
        </p:nvSpPr>
        <p:spPr>
          <a:xfrm>
            <a:off x="935038" y="1233488"/>
            <a:ext cx="7772400" cy="4895850"/>
          </a:xfrm>
        </p:spPr>
        <p:txBody>
          <a:bodyPr/>
          <a:lstStyle/>
          <a:p>
            <a:r>
              <a:rPr lang="en-US" altLang="zh-CN"/>
              <a:t>LRU</a:t>
            </a:r>
            <a:r>
              <a:rPr lang="zh-CN" altLang="en-US"/>
              <a:t>算法实现时需要较多的硬件支持，以记录进程中各页面自上次访问以来有多长时间未被访问。下面介绍几种实现方法。</a:t>
            </a:r>
          </a:p>
          <a:p>
            <a:pPr lvl="1"/>
            <a:r>
              <a:rPr lang="zh-CN" altLang="en-US"/>
              <a:t>计数器法</a:t>
            </a:r>
          </a:p>
          <a:p>
            <a:pPr lvl="1"/>
            <a:r>
              <a:rPr lang="zh-CN" altLang="en-US"/>
              <a:t>特殊栈</a:t>
            </a:r>
          </a:p>
        </p:txBody>
      </p:sp>
    </p:spTree>
  </p:cSld>
  <p:clrMapOvr>
    <a:masterClrMapping/>
  </p:clrMapOvr>
  <p:transition spd="med">
    <p:zoom/>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459834F3-DA29-3A20-8B66-DAB4BADFC194}"/>
              </a:ext>
            </a:extLst>
          </p:cNvPr>
          <p:cNvSpPr>
            <a:spLocks noGrp="1" noChangeArrowheads="1"/>
          </p:cNvSpPr>
          <p:nvPr>
            <p:ph type="title"/>
          </p:nvPr>
        </p:nvSpPr>
        <p:spPr>
          <a:xfrm>
            <a:off x="1042988" y="225431"/>
            <a:ext cx="7850187" cy="746125"/>
          </a:xfrm>
        </p:spPr>
        <p:txBody>
          <a:bodyPr/>
          <a:lstStyle/>
          <a:p>
            <a:r>
              <a:rPr lang="zh-CN" altLang="en-US" dirty="0"/>
              <a:t>计数器实现</a:t>
            </a:r>
          </a:p>
        </p:txBody>
      </p:sp>
      <p:sp>
        <p:nvSpPr>
          <p:cNvPr id="368643" name="Rectangle 3">
            <a:extLst>
              <a:ext uri="{FF2B5EF4-FFF2-40B4-BE49-F238E27FC236}">
                <a16:creationId xmlns:a16="http://schemas.microsoft.com/office/drawing/2014/main" id="{3E2D2FA8-1ED6-8D64-E821-1A41A4FBFEC6}"/>
              </a:ext>
            </a:extLst>
          </p:cNvPr>
          <p:cNvSpPr>
            <a:spLocks noGrp="1" noChangeArrowheads="1"/>
          </p:cNvSpPr>
          <p:nvPr>
            <p:ph idx="1"/>
          </p:nvPr>
        </p:nvSpPr>
        <p:spPr>
          <a:xfrm>
            <a:off x="935038" y="1233488"/>
            <a:ext cx="7772400" cy="4895850"/>
          </a:xfrm>
        </p:spPr>
        <p:txBody>
          <a:bodyPr/>
          <a:lstStyle/>
          <a:p>
            <a:r>
              <a:rPr lang="zh-CN" altLang="en-US" dirty="0"/>
              <a:t>每个页表项有一个计数器，每次访问页时，把时间拷贝到计数器中。</a:t>
            </a:r>
            <a:endParaRPr lang="en-US" altLang="zh-CN" dirty="0"/>
          </a:p>
          <a:p>
            <a:r>
              <a:rPr lang="zh-CN" altLang="en-US" dirty="0"/>
              <a:t>置换计数器最小值的页</a:t>
            </a:r>
            <a:endParaRPr lang="en-US" altLang="zh-CN" dirty="0"/>
          </a:p>
          <a:p>
            <a:r>
              <a:rPr lang="zh-CN" altLang="en-US" dirty="0">
                <a:latin typeface="Times New Roman" panose="02020603050405020304" pitchFamily="18" charset="0"/>
              </a:rPr>
              <a:t>为每个页面配置一个计数器</a:t>
            </a:r>
            <a:r>
              <a:rPr lang="en-US" altLang="zh-CN" dirty="0">
                <a:latin typeface="Times New Roman" panose="02020603050405020304" pitchFamily="18" charset="0"/>
              </a:rPr>
              <a:t>，</a:t>
            </a:r>
            <a:r>
              <a:rPr lang="zh-CN" altLang="en-US" dirty="0">
                <a:latin typeface="Times New Roman" panose="02020603050405020304" pitchFamily="18" charset="0"/>
              </a:rPr>
              <a:t>其初值为0。当进程访问某页时，将计数器的最高位置</a:t>
            </a:r>
            <a:r>
              <a:rPr lang="zh-CN" altLang="en-US" dirty="0"/>
              <a:t>1</a:t>
            </a:r>
            <a:r>
              <a:rPr lang="zh-CN" altLang="en-US" dirty="0">
                <a:latin typeface="Times New Roman" panose="02020603050405020304" pitchFamily="18" charset="0"/>
              </a:rPr>
              <a:t>，定时器每隔一定时间将计数器右移1位，则数值最小的页是最近最久未使用的页面。</a:t>
            </a:r>
            <a:r>
              <a:rPr lang="zh-CN" altLang="en-US" dirty="0"/>
              <a:t> </a:t>
            </a:r>
          </a:p>
          <a:p>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8643">
                                            <p:txEl>
                                              <p:pRg st="0" end="0"/>
                                            </p:txEl>
                                          </p:spTgt>
                                        </p:tgtEl>
                                        <p:attrNameLst>
                                          <p:attrName>style.visibility</p:attrName>
                                        </p:attrNameLst>
                                      </p:cBhvr>
                                      <p:to>
                                        <p:strVal val="visible"/>
                                      </p:to>
                                    </p:set>
                                    <p:animEffect transition="in" filter="checkerboard(across)">
                                      <p:cBhvr>
                                        <p:cTn id="7" dur="500"/>
                                        <p:tgtEl>
                                          <p:spTgt spid="368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8643">
                                            <p:txEl>
                                              <p:pRg st="1" end="1"/>
                                            </p:txEl>
                                          </p:spTgt>
                                        </p:tgtEl>
                                        <p:attrNameLst>
                                          <p:attrName>style.visibility</p:attrName>
                                        </p:attrNameLst>
                                      </p:cBhvr>
                                      <p:to>
                                        <p:strVal val="visible"/>
                                      </p:to>
                                    </p:set>
                                    <p:animEffect transition="in" filter="checkerboard(across)">
                                      <p:cBhvr>
                                        <p:cTn id="12" dur="500"/>
                                        <p:tgtEl>
                                          <p:spTgt spid="3686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68643">
                                            <p:txEl>
                                              <p:pRg st="2" end="2"/>
                                            </p:txEl>
                                          </p:spTgt>
                                        </p:tgtEl>
                                        <p:attrNameLst>
                                          <p:attrName>style.visibility</p:attrName>
                                        </p:attrNameLst>
                                      </p:cBhvr>
                                      <p:to>
                                        <p:strVal val="visible"/>
                                      </p:to>
                                    </p:set>
                                    <p:animEffect transition="in" filter="checkerboard(across)">
                                      <p:cBhvr>
                                        <p:cTn id="17" dur="500"/>
                                        <p:tgtEl>
                                          <p:spTgt spid="3686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39935BC4-D28C-00AF-4700-E1CDD966475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rPr>
              <a:t>计数器实现方法</a:t>
            </a:r>
          </a:p>
        </p:txBody>
      </p:sp>
      <p:graphicFrame>
        <p:nvGraphicFramePr>
          <p:cNvPr id="269351" name="Group 39">
            <a:extLst>
              <a:ext uri="{FF2B5EF4-FFF2-40B4-BE49-F238E27FC236}">
                <a16:creationId xmlns:a16="http://schemas.microsoft.com/office/drawing/2014/main" id="{B27E287C-D301-34EC-7574-D5E98485302E}"/>
              </a:ext>
            </a:extLst>
          </p:cNvPr>
          <p:cNvGraphicFramePr>
            <a:graphicFrameLocks noGrp="1"/>
          </p:cNvGraphicFramePr>
          <p:nvPr/>
        </p:nvGraphicFramePr>
        <p:xfrm>
          <a:off x="152400" y="1341438"/>
          <a:ext cx="8763000" cy="3984626"/>
        </p:xfrm>
        <a:graphic>
          <a:graphicData uri="http://schemas.openxmlformats.org/drawingml/2006/table">
            <a:tbl>
              <a:tblPr/>
              <a:tblGrid>
                <a:gridCol w="1143000">
                  <a:extLst>
                    <a:ext uri="{9D8B030D-6E8A-4147-A177-3AD203B41FA5}">
                      <a16:colId xmlns:a16="http://schemas.microsoft.com/office/drawing/2014/main" val="3430334213"/>
                    </a:ext>
                  </a:extLst>
                </a:gridCol>
                <a:gridCol w="914400">
                  <a:extLst>
                    <a:ext uri="{9D8B030D-6E8A-4147-A177-3AD203B41FA5}">
                      <a16:colId xmlns:a16="http://schemas.microsoft.com/office/drawing/2014/main" val="1791445789"/>
                    </a:ext>
                  </a:extLst>
                </a:gridCol>
                <a:gridCol w="990600">
                  <a:extLst>
                    <a:ext uri="{9D8B030D-6E8A-4147-A177-3AD203B41FA5}">
                      <a16:colId xmlns:a16="http://schemas.microsoft.com/office/drawing/2014/main" val="450419352"/>
                    </a:ext>
                  </a:extLst>
                </a:gridCol>
                <a:gridCol w="914400">
                  <a:extLst>
                    <a:ext uri="{9D8B030D-6E8A-4147-A177-3AD203B41FA5}">
                      <a16:colId xmlns:a16="http://schemas.microsoft.com/office/drawing/2014/main" val="2859128274"/>
                    </a:ext>
                  </a:extLst>
                </a:gridCol>
                <a:gridCol w="914400">
                  <a:extLst>
                    <a:ext uri="{9D8B030D-6E8A-4147-A177-3AD203B41FA5}">
                      <a16:colId xmlns:a16="http://schemas.microsoft.com/office/drawing/2014/main" val="3889323203"/>
                    </a:ext>
                  </a:extLst>
                </a:gridCol>
                <a:gridCol w="1066800">
                  <a:extLst>
                    <a:ext uri="{9D8B030D-6E8A-4147-A177-3AD203B41FA5}">
                      <a16:colId xmlns:a16="http://schemas.microsoft.com/office/drawing/2014/main" val="2729253900"/>
                    </a:ext>
                  </a:extLst>
                </a:gridCol>
                <a:gridCol w="990600">
                  <a:extLst>
                    <a:ext uri="{9D8B030D-6E8A-4147-A177-3AD203B41FA5}">
                      <a16:colId xmlns:a16="http://schemas.microsoft.com/office/drawing/2014/main" val="4260004845"/>
                    </a:ext>
                  </a:extLst>
                </a:gridCol>
                <a:gridCol w="914400">
                  <a:extLst>
                    <a:ext uri="{9D8B030D-6E8A-4147-A177-3AD203B41FA5}">
                      <a16:colId xmlns:a16="http://schemas.microsoft.com/office/drawing/2014/main" val="622253687"/>
                    </a:ext>
                  </a:extLst>
                </a:gridCol>
                <a:gridCol w="914400">
                  <a:extLst>
                    <a:ext uri="{9D8B030D-6E8A-4147-A177-3AD203B41FA5}">
                      <a16:colId xmlns:a16="http://schemas.microsoft.com/office/drawing/2014/main" val="755412129"/>
                    </a:ext>
                  </a:extLst>
                </a:gridCol>
              </a:tblGrid>
              <a:tr h="817563">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R</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页面</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R7</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R6</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R5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R4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R3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R2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R1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ahoma" panose="020B0604030504040204" pitchFamily="34" charset="0"/>
                          <a:ea typeface="宋体" panose="02010600030101010101" pitchFamily="2" charset="-122"/>
                        </a:rPr>
                        <a:t>  R0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176835182"/>
                  </a:ext>
                </a:extLst>
              </a:tr>
              <a:tr h="3167063">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2</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3</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4</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5</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6</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7</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8</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zh-CN" altLang="en-US" sz="2000" b="1" i="0" u="none" strike="noStrike" cap="none" normalizeH="0" baseline="0">
                          <a:ln>
                            <a:noFill/>
                          </a:ln>
                          <a:solidFill>
                            <a:schemeClr val="hlink"/>
                          </a:solidFill>
                          <a:effectLst/>
                          <a:latin typeface="Tahoma" panose="020B0604030504040204" pitchFamily="34" charset="0"/>
                          <a:ea typeface="宋体" panose="02010600030101010101" pitchFamily="2" charset="-122"/>
                        </a:rPr>
                        <a:t> </a:t>
                      </a: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    </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875712012"/>
                  </a:ext>
                </a:extLst>
              </a:tr>
            </a:tbl>
          </a:graphicData>
        </a:graphic>
      </p:graphicFrame>
      <p:sp>
        <p:nvSpPr>
          <p:cNvPr id="269352" name="AutoShape 40">
            <a:extLst>
              <a:ext uri="{FF2B5EF4-FFF2-40B4-BE49-F238E27FC236}">
                <a16:creationId xmlns:a16="http://schemas.microsoft.com/office/drawing/2014/main" id="{8C7741F0-4C9D-C33C-1619-84A6C2F464A5}"/>
              </a:ext>
            </a:extLst>
          </p:cNvPr>
          <p:cNvSpPr>
            <a:spLocks noChangeArrowheads="1"/>
          </p:cNvSpPr>
          <p:nvPr/>
        </p:nvSpPr>
        <p:spPr bwMode="auto">
          <a:xfrm>
            <a:off x="1800225" y="5609856"/>
            <a:ext cx="5903913" cy="720725"/>
          </a:xfrm>
          <a:prstGeom prst="wedgeEllipseCallout">
            <a:avLst>
              <a:gd name="adj1" fmla="val -46019"/>
              <a:gd name="adj2" fmla="val -23569"/>
            </a:avLst>
          </a:prstGeom>
          <a:solidFill>
            <a:srgbClr val="D0F6FF"/>
          </a:solidFill>
          <a:ln w="9525">
            <a:solidFill>
              <a:schemeClr val="tx1"/>
            </a:solidFill>
            <a:miter lim="800000"/>
            <a:headEnd/>
            <a:tailEnd/>
          </a:ln>
        </p:spPr>
        <p:txBody>
          <a:bodyPr/>
          <a:lstStyle/>
          <a:p>
            <a:pPr algn="ctr">
              <a:spcBef>
                <a:spcPct val="0"/>
              </a:spcBef>
              <a:buClrTx/>
              <a:buSzTx/>
              <a:buFontTx/>
              <a:buNone/>
            </a:pPr>
            <a:r>
              <a:rPr lang="zh-CN" altLang="en-US" sz="2000"/>
              <a:t>最近最久未使用的页是？</a:t>
            </a:r>
          </a:p>
        </p:txBody>
      </p:sp>
      <p:sp>
        <p:nvSpPr>
          <p:cNvPr id="269353" name="Rectangle 41">
            <a:extLst>
              <a:ext uri="{FF2B5EF4-FFF2-40B4-BE49-F238E27FC236}">
                <a16:creationId xmlns:a16="http://schemas.microsoft.com/office/drawing/2014/main" id="{B5F5582D-9AA4-3B2F-7515-58398C9A9842}"/>
              </a:ext>
            </a:extLst>
          </p:cNvPr>
          <p:cNvSpPr>
            <a:spLocks noChangeArrowheads="1"/>
          </p:cNvSpPr>
          <p:nvPr/>
        </p:nvSpPr>
        <p:spPr bwMode="auto">
          <a:xfrm>
            <a:off x="603250" y="4324350"/>
            <a:ext cx="81359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spcBef>
                <a:spcPct val="0"/>
              </a:spcBef>
              <a:buClrTx/>
              <a:buSzTx/>
              <a:buFontTx/>
              <a:buNone/>
            </a:pPr>
            <a:r>
              <a:rPr lang="en-US" altLang="zh-CN" sz="2000" b="1">
                <a:solidFill>
                  <a:schemeClr val="hlink"/>
                </a:solidFill>
              </a:rPr>
              <a:t>7        </a:t>
            </a:r>
            <a:r>
              <a:rPr lang="en-US" altLang="zh-CN" sz="2400" b="1">
                <a:solidFill>
                  <a:schemeClr val="hlink"/>
                </a:solidFill>
              </a:rPr>
              <a:t>  </a:t>
            </a:r>
            <a:r>
              <a:rPr lang="en-US" altLang="zh-CN" sz="2000" b="1">
                <a:solidFill>
                  <a:schemeClr val="hlink"/>
                </a:solidFill>
              </a:rPr>
              <a:t>  0          0         </a:t>
            </a:r>
            <a:r>
              <a:rPr lang="en-US" altLang="zh-CN" sz="2400" b="1">
                <a:solidFill>
                  <a:schemeClr val="hlink"/>
                </a:solidFill>
              </a:rPr>
              <a:t> </a:t>
            </a:r>
            <a:r>
              <a:rPr lang="en-US" altLang="zh-CN" sz="2000" b="1">
                <a:solidFill>
                  <a:schemeClr val="hlink"/>
                </a:solidFill>
              </a:rPr>
              <a:t> 0      </a:t>
            </a:r>
            <a:r>
              <a:rPr lang="en-US" altLang="zh-CN" sz="2400" b="1">
                <a:solidFill>
                  <a:schemeClr val="hlink"/>
                </a:solidFill>
              </a:rPr>
              <a:t> </a:t>
            </a:r>
            <a:r>
              <a:rPr lang="en-US" altLang="zh-CN" sz="1600" b="1">
                <a:solidFill>
                  <a:schemeClr val="hlink"/>
                </a:solidFill>
              </a:rPr>
              <a:t> </a:t>
            </a:r>
            <a:r>
              <a:rPr lang="en-US" altLang="zh-CN" sz="2000" b="1">
                <a:solidFill>
                  <a:schemeClr val="hlink"/>
                </a:solidFill>
              </a:rPr>
              <a:t>  0       </a:t>
            </a:r>
            <a:r>
              <a:rPr lang="en-US" altLang="zh-CN" sz="1200" b="1">
                <a:solidFill>
                  <a:schemeClr val="hlink"/>
                </a:solidFill>
              </a:rPr>
              <a:t>  </a:t>
            </a:r>
            <a:r>
              <a:rPr lang="en-US" altLang="zh-CN" sz="2000" b="1">
                <a:solidFill>
                  <a:schemeClr val="hlink"/>
                </a:solidFill>
              </a:rPr>
              <a:t>  0         </a:t>
            </a:r>
            <a:r>
              <a:rPr lang="en-US" altLang="zh-CN" sz="800" b="1">
                <a:solidFill>
                  <a:schemeClr val="hlink"/>
                </a:solidFill>
              </a:rPr>
              <a:t> </a:t>
            </a:r>
            <a:r>
              <a:rPr lang="en-US" altLang="zh-CN" sz="1200" b="1">
                <a:solidFill>
                  <a:schemeClr val="hlink"/>
                </a:solidFill>
              </a:rPr>
              <a:t> </a:t>
            </a:r>
            <a:r>
              <a:rPr lang="en-US" altLang="zh-CN" sz="2400" b="1">
                <a:solidFill>
                  <a:schemeClr val="hlink"/>
                </a:solidFill>
              </a:rPr>
              <a:t> </a:t>
            </a:r>
            <a:r>
              <a:rPr lang="en-US" altLang="zh-CN" sz="2000" b="1">
                <a:solidFill>
                  <a:schemeClr val="hlink"/>
                </a:solidFill>
              </a:rPr>
              <a:t> 1       </a:t>
            </a:r>
            <a:r>
              <a:rPr lang="en-US" altLang="zh-CN" sz="2400" b="1">
                <a:solidFill>
                  <a:schemeClr val="hlink"/>
                </a:solidFill>
              </a:rPr>
              <a:t> </a:t>
            </a:r>
            <a:r>
              <a:rPr lang="en-US" altLang="zh-CN" sz="2000" b="1">
                <a:solidFill>
                  <a:schemeClr val="hlink"/>
                </a:solidFill>
              </a:rPr>
              <a:t> </a:t>
            </a:r>
            <a:r>
              <a:rPr lang="zh-CN" altLang="en-US" sz="2000" b="1">
                <a:solidFill>
                  <a:schemeClr val="hlink"/>
                </a:solidFill>
              </a:rPr>
              <a:t>  </a:t>
            </a:r>
            <a:r>
              <a:rPr lang="en-US" altLang="zh-CN" sz="2000" b="1">
                <a:solidFill>
                  <a:schemeClr val="hlink"/>
                </a:solidFill>
              </a:rPr>
              <a:t>1        </a:t>
            </a:r>
            <a:r>
              <a:rPr lang="en-US" altLang="zh-CN" sz="2400" b="1">
                <a:solidFill>
                  <a:schemeClr val="hlink"/>
                </a:solidFill>
              </a:rPr>
              <a:t> </a:t>
            </a:r>
            <a:r>
              <a:rPr lang="en-US" altLang="zh-CN" sz="2000" b="1">
                <a:solidFill>
                  <a:schemeClr val="hlink"/>
                </a:solidFill>
              </a:rPr>
              <a:t> 1</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5" presetClass="entr" presetSubtype="0" fill="hold" nodeType="clickEffect">
                                  <p:stCondLst>
                                    <p:cond delay="0"/>
                                  </p:stCondLst>
                                  <p:childTnLst>
                                    <p:set>
                                      <p:cBhvr>
                                        <p:cTn id="6" dur="1" fill="hold">
                                          <p:stCondLst>
                                            <p:cond delay="0"/>
                                          </p:stCondLst>
                                        </p:cTn>
                                        <p:tgtEl>
                                          <p:spTgt spid="269352"/>
                                        </p:tgtEl>
                                        <p:attrNameLst>
                                          <p:attrName>style.visibility</p:attrName>
                                        </p:attrNameLst>
                                      </p:cBhvr>
                                      <p:to>
                                        <p:strVal val="visible"/>
                                      </p:to>
                                    </p:set>
                                    <p:anim calcmode="lin" valueType="num">
                                      <p:cBhvr>
                                        <p:cTn id="7" dur="500" decel="50000" fill="hold">
                                          <p:stCondLst>
                                            <p:cond delay="0"/>
                                          </p:stCondLst>
                                        </p:cTn>
                                        <p:tgtEl>
                                          <p:spTgt spid="26935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6935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69352"/>
                                        </p:tgtEl>
                                        <p:attrNameLst>
                                          <p:attrName>ppt_w</p:attrName>
                                        </p:attrNameLst>
                                      </p:cBhvr>
                                      <p:tavLst>
                                        <p:tav tm="0">
                                          <p:val>
                                            <p:strVal val="#ppt_w*.05"/>
                                          </p:val>
                                        </p:tav>
                                        <p:tav tm="100000">
                                          <p:val>
                                            <p:strVal val="#ppt_w"/>
                                          </p:val>
                                        </p:tav>
                                      </p:tavLst>
                                    </p:anim>
                                    <p:anim calcmode="lin" valueType="num">
                                      <p:cBhvr>
                                        <p:cTn id="10" dur="1000" fill="hold"/>
                                        <p:tgtEl>
                                          <p:spTgt spid="26935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6935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6935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6935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6935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269353"/>
                                        </p:tgtEl>
                                        <p:attrNameLst>
                                          <p:attrName>style.visibility</p:attrName>
                                        </p:attrNameLst>
                                      </p:cBhvr>
                                      <p:to>
                                        <p:strVal val="visible"/>
                                      </p:to>
                                    </p:set>
                                    <p:animEffect transition="in" filter="fade">
                                      <p:cBhvr>
                                        <p:cTn id="19" dur="2000"/>
                                        <p:tgtEl>
                                          <p:spTgt spid="269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52" grpId="0" animBg="1"/>
      <p:bldP spid="269353"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610815AC-CCD9-D236-9C5E-1EE257ED4703}"/>
              </a:ext>
            </a:extLst>
          </p:cNvPr>
          <p:cNvSpPr>
            <a:spLocks noGrp="1" noChangeArrowheads="1"/>
          </p:cNvSpPr>
          <p:nvPr>
            <p:ph type="title"/>
          </p:nvPr>
        </p:nvSpPr>
        <p:spPr>
          <a:xfrm>
            <a:off x="1042988" y="225431"/>
            <a:ext cx="7850187" cy="746125"/>
          </a:xfrm>
        </p:spPr>
        <p:txBody>
          <a:bodyPr/>
          <a:lstStyle/>
          <a:p>
            <a:r>
              <a:rPr lang="zh-CN" altLang="en-US" dirty="0"/>
              <a:t>特殊栈（</a:t>
            </a:r>
            <a:r>
              <a:rPr lang="en-US" altLang="zh-CN" dirty="0"/>
              <a:t>Stack</a:t>
            </a:r>
            <a:r>
              <a:rPr lang="zh-CN" altLang="en-US" dirty="0"/>
              <a:t>）</a:t>
            </a:r>
          </a:p>
        </p:txBody>
      </p:sp>
      <p:sp>
        <p:nvSpPr>
          <p:cNvPr id="14" name="内容占位符 13">
            <a:extLst>
              <a:ext uri="{FF2B5EF4-FFF2-40B4-BE49-F238E27FC236}">
                <a16:creationId xmlns:a16="http://schemas.microsoft.com/office/drawing/2014/main" id="{00FB8109-FA26-641C-5D83-F8F3B6C4AC85}"/>
              </a:ext>
            </a:extLst>
          </p:cNvPr>
          <p:cNvSpPr>
            <a:spLocks noGrp="1"/>
          </p:cNvSpPr>
          <p:nvPr>
            <p:ph idx="1"/>
          </p:nvPr>
        </p:nvSpPr>
        <p:spPr>
          <a:xfrm>
            <a:off x="935038" y="1233488"/>
            <a:ext cx="7772400" cy="1543961"/>
          </a:xfrm>
        </p:spPr>
        <p:txBody>
          <a:bodyPr>
            <a:normAutofit fontScale="85000" lnSpcReduction="10000"/>
          </a:bodyPr>
          <a:lstStyle/>
          <a:p>
            <a:r>
              <a:rPr lang="zh-CN" altLang="en-US" sz="3200" dirty="0"/>
              <a:t>利用一个特殊栈保存当前使用各页的页面号。当进程访问一个页面时，将该页面号从栈中移出压到栈顶。栈底即最近最久未使用的页面号。</a:t>
            </a:r>
          </a:p>
          <a:p>
            <a:endParaRPr lang="zh-CN" altLang="en-US" dirty="0"/>
          </a:p>
        </p:txBody>
      </p:sp>
      <p:sp>
        <p:nvSpPr>
          <p:cNvPr id="373763" name="Rectangle 3">
            <a:extLst>
              <a:ext uri="{FF2B5EF4-FFF2-40B4-BE49-F238E27FC236}">
                <a16:creationId xmlns:a16="http://schemas.microsoft.com/office/drawing/2014/main" id="{5EE7C631-6585-1B59-DFCC-82F9EE4B6305}"/>
              </a:ext>
            </a:extLst>
          </p:cNvPr>
          <p:cNvSpPr>
            <a:spLocks noChangeArrowheads="1"/>
          </p:cNvSpPr>
          <p:nvPr/>
        </p:nvSpPr>
        <p:spPr bwMode="auto">
          <a:xfrm>
            <a:off x="609600" y="2777449"/>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400" b="1">
                <a:latin typeface="Times New Roman" panose="02020603050405020304" pitchFamily="18" charset="0"/>
              </a:rPr>
              <a:t>4        7         0        7         1        0        1        2         1        2         6</a:t>
            </a:r>
          </a:p>
        </p:txBody>
      </p:sp>
      <p:grpSp>
        <p:nvGrpSpPr>
          <p:cNvPr id="2" name="Group 4">
            <a:extLst>
              <a:ext uri="{FF2B5EF4-FFF2-40B4-BE49-F238E27FC236}">
                <a16:creationId xmlns:a16="http://schemas.microsoft.com/office/drawing/2014/main" id="{9D631459-00A4-60AD-B6D0-B32C3B7BCC07}"/>
              </a:ext>
            </a:extLst>
          </p:cNvPr>
          <p:cNvGrpSpPr>
            <a:grpSpLocks/>
          </p:cNvGrpSpPr>
          <p:nvPr/>
        </p:nvGrpSpPr>
        <p:grpSpPr bwMode="auto">
          <a:xfrm>
            <a:off x="381000" y="3387049"/>
            <a:ext cx="625475" cy="2743200"/>
            <a:chOff x="578" y="2544"/>
            <a:chExt cx="298" cy="1428"/>
          </a:xfrm>
        </p:grpSpPr>
        <p:sp>
          <p:nvSpPr>
            <p:cNvPr id="62468" name="Rectangle 5">
              <a:extLst>
                <a:ext uri="{FF2B5EF4-FFF2-40B4-BE49-F238E27FC236}">
                  <a16:creationId xmlns:a16="http://schemas.microsoft.com/office/drawing/2014/main" id="{82E2CEC4-DA21-56EB-D019-4A214B29546E}"/>
                </a:ext>
              </a:extLst>
            </p:cNvPr>
            <p:cNvSpPr>
              <a:spLocks noChangeArrowheads="1"/>
            </p:cNvSpPr>
            <p:nvPr/>
          </p:nvSpPr>
          <p:spPr bwMode="auto">
            <a:xfrm>
              <a:off x="578" y="2544"/>
              <a:ext cx="296" cy="1428"/>
            </a:xfrm>
            <a:prstGeom prst="rect">
              <a:avLst/>
            </a:prstGeom>
            <a:solidFill>
              <a:srgbClr val="FFFFFF"/>
            </a:solidFill>
            <a:ln w="28575">
              <a:solidFill>
                <a:srgbClr val="000000"/>
              </a:solidFill>
              <a:miter lim="800000"/>
              <a:headEnd/>
              <a:tailEnd/>
            </a:ln>
          </p:spPr>
          <p:txBody>
            <a:bodyPr lIns="0" tIns="0" rIns="0" bIns="0"/>
            <a:lstStyle/>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4</a:t>
              </a:r>
            </a:p>
          </p:txBody>
        </p:sp>
        <p:sp>
          <p:nvSpPr>
            <p:cNvPr id="62469" name="Line 6">
              <a:extLst>
                <a:ext uri="{FF2B5EF4-FFF2-40B4-BE49-F238E27FC236}">
                  <a16:creationId xmlns:a16="http://schemas.microsoft.com/office/drawing/2014/main" id="{90FB606E-12C7-7D78-22C5-79DFF4091E2A}"/>
                </a:ext>
              </a:extLst>
            </p:cNvPr>
            <p:cNvSpPr>
              <a:spLocks noChangeShapeType="1"/>
            </p:cNvSpPr>
            <p:nvPr/>
          </p:nvSpPr>
          <p:spPr bwMode="auto">
            <a:xfrm>
              <a:off x="580" y="2814"/>
              <a:ext cx="29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70" name="Line 7">
              <a:extLst>
                <a:ext uri="{FF2B5EF4-FFF2-40B4-BE49-F238E27FC236}">
                  <a16:creationId xmlns:a16="http://schemas.microsoft.com/office/drawing/2014/main" id="{0B2216B3-075D-849A-8D85-C302849108D8}"/>
                </a:ext>
              </a:extLst>
            </p:cNvPr>
            <p:cNvSpPr>
              <a:spLocks noChangeShapeType="1"/>
            </p:cNvSpPr>
            <p:nvPr/>
          </p:nvSpPr>
          <p:spPr bwMode="auto">
            <a:xfrm>
              <a:off x="580" y="3119"/>
              <a:ext cx="29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71" name="Line 8">
              <a:extLst>
                <a:ext uri="{FF2B5EF4-FFF2-40B4-BE49-F238E27FC236}">
                  <a16:creationId xmlns:a16="http://schemas.microsoft.com/office/drawing/2014/main" id="{8CFD4477-C75F-D459-3FDF-C31F29F78AC1}"/>
                </a:ext>
              </a:extLst>
            </p:cNvPr>
            <p:cNvSpPr>
              <a:spLocks noChangeShapeType="1"/>
            </p:cNvSpPr>
            <p:nvPr/>
          </p:nvSpPr>
          <p:spPr bwMode="auto">
            <a:xfrm>
              <a:off x="580" y="3407"/>
              <a:ext cx="29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72" name="Line 9">
              <a:extLst>
                <a:ext uri="{FF2B5EF4-FFF2-40B4-BE49-F238E27FC236}">
                  <a16:creationId xmlns:a16="http://schemas.microsoft.com/office/drawing/2014/main" id="{A7C8DAC3-56FA-3B6C-6E00-84F622C982F6}"/>
                </a:ext>
              </a:extLst>
            </p:cNvPr>
            <p:cNvSpPr>
              <a:spLocks noChangeShapeType="1"/>
            </p:cNvSpPr>
            <p:nvPr/>
          </p:nvSpPr>
          <p:spPr bwMode="auto">
            <a:xfrm>
              <a:off x="580" y="3679"/>
              <a:ext cx="29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0">
            <a:extLst>
              <a:ext uri="{FF2B5EF4-FFF2-40B4-BE49-F238E27FC236}">
                <a16:creationId xmlns:a16="http://schemas.microsoft.com/office/drawing/2014/main" id="{D664979A-6039-B551-2901-DCDB72CF94D1}"/>
              </a:ext>
            </a:extLst>
          </p:cNvPr>
          <p:cNvGrpSpPr>
            <a:grpSpLocks/>
          </p:cNvGrpSpPr>
          <p:nvPr/>
        </p:nvGrpSpPr>
        <p:grpSpPr bwMode="auto">
          <a:xfrm>
            <a:off x="1219200" y="3387049"/>
            <a:ext cx="585788" cy="2743200"/>
            <a:chOff x="1014" y="2544"/>
            <a:chExt cx="279" cy="1428"/>
          </a:xfrm>
        </p:grpSpPr>
        <p:sp>
          <p:nvSpPr>
            <p:cNvPr id="62474" name="Rectangle 11">
              <a:extLst>
                <a:ext uri="{FF2B5EF4-FFF2-40B4-BE49-F238E27FC236}">
                  <a16:creationId xmlns:a16="http://schemas.microsoft.com/office/drawing/2014/main" id="{E59B7894-6ABA-684A-BEE9-C91D926A5DB0}"/>
                </a:ext>
              </a:extLst>
            </p:cNvPr>
            <p:cNvSpPr>
              <a:spLocks noChangeArrowheads="1"/>
            </p:cNvSpPr>
            <p:nvPr/>
          </p:nvSpPr>
          <p:spPr bwMode="auto">
            <a:xfrm>
              <a:off x="1014" y="2544"/>
              <a:ext cx="277" cy="1428"/>
            </a:xfrm>
            <a:prstGeom prst="rect">
              <a:avLst/>
            </a:prstGeom>
            <a:solidFill>
              <a:srgbClr val="FFFFFF"/>
            </a:solidFill>
            <a:ln w="28575">
              <a:solidFill>
                <a:srgbClr val="000000"/>
              </a:solidFill>
              <a:miter lim="800000"/>
              <a:headEnd/>
              <a:tailEnd/>
            </a:ln>
          </p:spPr>
          <p:txBody>
            <a:bodyPr lIns="0" tIns="0" rIns="0" bIns="72000"/>
            <a:lstStyle/>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18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7</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4</a:t>
              </a:r>
              <a:endParaRPr lang="zh-CN" altLang="en-US" sz="2400">
                <a:latin typeface="Times New Roman" panose="02020603050405020304" pitchFamily="18" charset="0"/>
              </a:endParaRPr>
            </a:p>
          </p:txBody>
        </p:sp>
        <p:sp>
          <p:nvSpPr>
            <p:cNvPr id="62475" name="Line 12">
              <a:extLst>
                <a:ext uri="{FF2B5EF4-FFF2-40B4-BE49-F238E27FC236}">
                  <a16:creationId xmlns:a16="http://schemas.microsoft.com/office/drawing/2014/main" id="{2B5882A4-7E7A-6C8F-2EDC-0847D95A33A8}"/>
                </a:ext>
              </a:extLst>
            </p:cNvPr>
            <p:cNvSpPr>
              <a:spLocks noChangeShapeType="1"/>
            </p:cNvSpPr>
            <p:nvPr/>
          </p:nvSpPr>
          <p:spPr bwMode="auto">
            <a:xfrm>
              <a:off x="1016" y="2814"/>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76" name="Line 13">
              <a:extLst>
                <a:ext uri="{FF2B5EF4-FFF2-40B4-BE49-F238E27FC236}">
                  <a16:creationId xmlns:a16="http://schemas.microsoft.com/office/drawing/2014/main" id="{FADF144F-3A78-121B-2C0F-C39E63AE8402}"/>
                </a:ext>
              </a:extLst>
            </p:cNvPr>
            <p:cNvSpPr>
              <a:spLocks noChangeShapeType="1"/>
            </p:cNvSpPr>
            <p:nvPr/>
          </p:nvSpPr>
          <p:spPr bwMode="auto">
            <a:xfrm>
              <a:off x="1016" y="311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77" name="Line 14">
              <a:extLst>
                <a:ext uri="{FF2B5EF4-FFF2-40B4-BE49-F238E27FC236}">
                  <a16:creationId xmlns:a16="http://schemas.microsoft.com/office/drawing/2014/main" id="{0943BFDB-B9B4-CD1B-A524-95283F6C3105}"/>
                </a:ext>
              </a:extLst>
            </p:cNvPr>
            <p:cNvSpPr>
              <a:spLocks noChangeShapeType="1"/>
            </p:cNvSpPr>
            <p:nvPr/>
          </p:nvSpPr>
          <p:spPr bwMode="auto">
            <a:xfrm>
              <a:off x="1016" y="3407"/>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78" name="Line 15">
              <a:extLst>
                <a:ext uri="{FF2B5EF4-FFF2-40B4-BE49-F238E27FC236}">
                  <a16:creationId xmlns:a16="http://schemas.microsoft.com/office/drawing/2014/main" id="{D478481C-E984-9C59-3CCB-E5C9FA70B05F}"/>
                </a:ext>
              </a:extLst>
            </p:cNvPr>
            <p:cNvSpPr>
              <a:spLocks noChangeShapeType="1"/>
            </p:cNvSpPr>
            <p:nvPr/>
          </p:nvSpPr>
          <p:spPr bwMode="auto">
            <a:xfrm>
              <a:off x="1016" y="367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6">
            <a:extLst>
              <a:ext uri="{FF2B5EF4-FFF2-40B4-BE49-F238E27FC236}">
                <a16:creationId xmlns:a16="http://schemas.microsoft.com/office/drawing/2014/main" id="{59D10030-B963-92E2-49D9-D19B52A76FBB}"/>
              </a:ext>
            </a:extLst>
          </p:cNvPr>
          <p:cNvGrpSpPr>
            <a:grpSpLocks/>
          </p:cNvGrpSpPr>
          <p:nvPr/>
        </p:nvGrpSpPr>
        <p:grpSpPr bwMode="auto">
          <a:xfrm>
            <a:off x="1981200" y="3387049"/>
            <a:ext cx="585788" cy="2743200"/>
            <a:chOff x="1420" y="2544"/>
            <a:chExt cx="279" cy="1428"/>
          </a:xfrm>
        </p:grpSpPr>
        <p:sp>
          <p:nvSpPr>
            <p:cNvPr id="62480" name="Rectangle 17">
              <a:extLst>
                <a:ext uri="{FF2B5EF4-FFF2-40B4-BE49-F238E27FC236}">
                  <a16:creationId xmlns:a16="http://schemas.microsoft.com/office/drawing/2014/main" id="{8038E8B1-42EF-3263-68F7-EC1D93B93E25}"/>
                </a:ext>
              </a:extLst>
            </p:cNvPr>
            <p:cNvSpPr>
              <a:spLocks noChangeArrowheads="1"/>
            </p:cNvSpPr>
            <p:nvPr/>
          </p:nvSpPr>
          <p:spPr bwMode="auto">
            <a:xfrm>
              <a:off x="1420" y="2544"/>
              <a:ext cx="277" cy="1428"/>
            </a:xfrm>
            <a:prstGeom prst="rect">
              <a:avLst/>
            </a:prstGeom>
            <a:solidFill>
              <a:srgbClr val="FFFFFF"/>
            </a:solidFill>
            <a:ln w="28575">
              <a:solidFill>
                <a:srgbClr val="000000"/>
              </a:solidFill>
              <a:miter lim="800000"/>
              <a:headEnd/>
              <a:tailEnd/>
            </a:ln>
          </p:spPr>
          <p:txBody>
            <a:bodyPr lIns="0" tIns="0" rIns="0" bIns="72000"/>
            <a:lstStyle/>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8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0</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7</a:t>
              </a:r>
            </a:p>
            <a:p>
              <a:pPr algn="just" eaLnBrk="0" hangingPunct="0">
                <a:spcBef>
                  <a:spcPct val="0"/>
                </a:spcBef>
                <a:buClrTx/>
                <a:buSzTx/>
                <a:buFontTx/>
                <a:buNone/>
              </a:pPr>
              <a:endParaRPr lang="zh-CN" altLang="en-US" sz="8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4</a:t>
              </a:r>
              <a:endParaRPr lang="zh-CN" altLang="en-US" sz="2400">
                <a:latin typeface="Times New Roman" panose="02020603050405020304" pitchFamily="18" charset="0"/>
              </a:endParaRPr>
            </a:p>
          </p:txBody>
        </p:sp>
        <p:sp>
          <p:nvSpPr>
            <p:cNvPr id="62481" name="Line 18">
              <a:extLst>
                <a:ext uri="{FF2B5EF4-FFF2-40B4-BE49-F238E27FC236}">
                  <a16:creationId xmlns:a16="http://schemas.microsoft.com/office/drawing/2014/main" id="{3A71A8A9-28A3-422F-5043-8A4AF4B2BEAA}"/>
                </a:ext>
              </a:extLst>
            </p:cNvPr>
            <p:cNvSpPr>
              <a:spLocks noChangeShapeType="1"/>
            </p:cNvSpPr>
            <p:nvPr/>
          </p:nvSpPr>
          <p:spPr bwMode="auto">
            <a:xfrm>
              <a:off x="1422" y="2814"/>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82" name="Line 19">
              <a:extLst>
                <a:ext uri="{FF2B5EF4-FFF2-40B4-BE49-F238E27FC236}">
                  <a16:creationId xmlns:a16="http://schemas.microsoft.com/office/drawing/2014/main" id="{0652A2F3-5D87-E277-DA9B-6B7500F133B1}"/>
                </a:ext>
              </a:extLst>
            </p:cNvPr>
            <p:cNvSpPr>
              <a:spLocks noChangeShapeType="1"/>
            </p:cNvSpPr>
            <p:nvPr/>
          </p:nvSpPr>
          <p:spPr bwMode="auto">
            <a:xfrm>
              <a:off x="1422" y="311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83" name="Line 20">
              <a:extLst>
                <a:ext uri="{FF2B5EF4-FFF2-40B4-BE49-F238E27FC236}">
                  <a16:creationId xmlns:a16="http://schemas.microsoft.com/office/drawing/2014/main" id="{6D0215A6-5D3B-9557-7190-013D97572C49}"/>
                </a:ext>
              </a:extLst>
            </p:cNvPr>
            <p:cNvSpPr>
              <a:spLocks noChangeShapeType="1"/>
            </p:cNvSpPr>
            <p:nvPr/>
          </p:nvSpPr>
          <p:spPr bwMode="auto">
            <a:xfrm>
              <a:off x="1422" y="3407"/>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84" name="Line 21">
              <a:extLst>
                <a:ext uri="{FF2B5EF4-FFF2-40B4-BE49-F238E27FC236}">
                  <a16:creationId xmlns:a16="http://schemas.microsoft.com/office/drawing/2014/main" id="{FAF004D3-F0B6-04EB-E576-D7B21694189D}"/>
                </a:ext>
              </a:extLst>
            </p:cNvPr>
            <p:cNvSpPr>
              <a:spLocks noChangeShapeType="1"/>
            </p:cNvSpPr>
            <p:nvPr/>
          </p:nvSpPr>
          <p:spPr bwMode="auto">
            <a:xfrm>
              <a:off x="1422" y="367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22">
            <a:extLst>
              <a:ext uri="{FF2B5EF4-FFF2-40B4-BE49-F238E27FC236}">
                <a16:creationId xmlns:a16="http://schemas.microsoft.com/office/drawing/2014/main" id="{B5C16784-10A9-49C7-A145-00E028C56870}"/>
              </a:ext>
            </a:extLst>
          </p:cNvPr>
          <p:cNvGrpSpPr>
            <a:grpSpLocks/>
          </p:cNvGrpSpPr>
          <p:nvPr/>
        </p:nvGrpSpPr>
        <p:grpSpPr bwMode="auto">
          <a:xfrm>
            <a:off x="2773363" y="3387049"/>
            <a:ext cx="585787" cy="2743200"/>
            <a:chOff x="1837" y="2544"/>
            <a:chExt cx="279" cy="1428"/>
          </a:xfrm>
        </p:grpSpPr>
        <p:sp>
          <p:nvSpPr>
            <p:cNvPr id="62486" name="Rectangle 23">
              <a:extLst>
                <a:ext uri="{FF2B5EF4-FFF2-40B4-BE49-F238E27FC236}">
                  <a16:creationId xmlns:a16="http://schemas.microsoft.com/office/drawing/2014/main" id="{9E51520A-DA8C-BF98-2FE8-870ABE7060E7}"/>
                </a:ext>
              </a:extLst>
            </p:cNvPr>
            <p:cNvSpPr>
              <a:spLocks noChangeArrowheads="1"/>
            </p:cNvSpPr>
            <p:nvPr/>
          </p:nvSpPr>
          <p:spPr bwMode="auto">
            <a:xfrm>
              <a:off x="1837" y="2544"/>
              <a:ext cx="277" cy="1428"/>
            </a:xfrm>
            <a:prstGeom prst="rect">
              <a:avLst/>
            </a:prstGeom>
            <a:solidFill>
              <a:srgbClr val="FFFFFF"/>
            </a:solidFill>
            <a:ln w="28575">
              <a:solidFill>
                <a:srgbClr val="000000"/>
              </a:solidFill>
              <a:miter lim="800000"/>
              <a:headEnd/>
              <a:tailEnd/>
            </a:ln>
          </p:spPr>
          <p:txBody>
            <a:bodyPr lIns="0" tIns="0" rIns="0" bIns="72000"/>
            <a:lstStyle/>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2400" b="1">
                <a:latin typeface="Times New Roman" panose="02020603050405020304" pitchFamily="18" charset="0"/>
              </a:endParaRPr>
            </a:p>
            <a:p>
              <a:pPr algn="just" eaLnBrk="0" hangingPunct="0">
                <a:spcBef>
                  <a:spcPct val="0"/>
                </a:spcBef>
                <a:buClrTx/>
                <a:buSzTx/>
                <a:buFontTx/>
                <a:buNone/>
              </a:pPr>
              <a:endParaRPr lang="zh-CN" altLang="en-US" sz="8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7</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0</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4</a:t>
              </a:r>
              <a:endParaRPr lang="zh-CN" altLang="en-US" sz="2400">
                <a:latin typeface="Times New Roman" panose="02020603050405020304" pitchFamily="18" charset="0"/>
              </a:endParaRPr>
            </a:p>
          </p:txBody>
        </p:sp>
        <p:sp>
          <p:nvSpPr>
            <p:cNvPr id="62487" name="Line 24">
              <a:extLst>
                <a:ext uri="{FF2B5EF4-FFF2-40B4-BE49-F238E27FC236}">
                  <a16:creationId xmlns:a16="http://schemas.microsoft.com/office/drawing/2014/main" id="{9F2B07CD-5850-C5A7-BF3C-FC1F8F2A92F1}"/>
                </a:ext>
              </a:extLst>
            </p:cNvPr>
            <p:cNvSpPr>
              <a:spLocks noChangeShapeType="1"/>
            </p:cNvSpPr>
            <p:nvPr/>
          </p:nvSpPr>
          <p:spPr bwMode="auto">
            <a:xfrm>
              <a:off x="1839" y="2814"/>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88" name="Line 25">
              <a:extLst>
                <a:ext uri="{FF2B5EF4-FFF2-40B4-BE49-F238E27FC236}">
                  <a16:creationId xmlns:a16="http://schemas.microsoft.com/office/drawing/2014/main" id="{734E7370-6853-F7B5-9A2B-DA966F248A44}"/>
                </a:ext>
              </a:extLst>
            </p:cNvPr>
            <p:cNvSpPr>
              <a:spLocks noChangeShapeType="1"/>
            </p:cNvSpPr>
            <p:nvPr/>
          </p:nvSpPr>
          <p:spPr bwMode="auto">
            <a:xfrm>
              <a:off x="1839" y="311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89" name="Line 26">
              <a:extLst>
                <a:ext uri="{FF2B5EF4-FFF2-40B4-BE49-F238E27FC236}">
                  <a16:creationId xmlns:a16="http://schemas.microsoft.com/office/drawing/2014/main" id="{1B4E27D1-A4B5-C4CF-3A83-AB536486BE81}"/>
                </a:ext>
              </a:extLst>
            </p:cNvPr>
            <p:cNvSpPr>
              <a:spLocks noChangeShapeType="1"/>
            </p:cNvSpPr>
            <p:nvPr/>
          </p:nvSpPr>
          <p:spPr bwMode="auto">
            <a:xfrm>
              <a:off x="1839" y="3407"/>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90" name="Line 27">
              <a:extLst>
                <a:ext uri="{FF2B5EF4-FFF2-40B4-BE49-F238E27FC236}">
                  <a16:creationId xmlns:a16="http://schemas.microsoft.com/office/drawing/2014/main" id="{EC36D836-DB23-2297-B186-1C5CEF1E8968}"/>
                </a:ext>
              </a:extLst>
            </p:cNvPr>
            <p:cNvSpPr>
              <a:spLocks noChangeShapeType="1"/>
            </p:cNvSpPr>
            <p:nvPr/>
          </p:nvSpPr>
          <p:spPr bwMode="auto">
            <a:xfrm>
              <a:off x="1839" y="367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8">
            <a:extLst>
              <a:ext uri="{FF2B5EF4-FFF2-40B4-BE49-F238E27FC236}">
                <a16:creationId xmlns:a16="http://schemas.microsoft.com/office/drawing/2014/main" id="{E0B8D133-AE73-A140-69D8-F750D4C25170}"/>
              </a:ext>
            </a:extLst>
          </p:cNvPr>
          <p:cNvGrpSpPr>
            <a:grpSpLocks/>
          </p:cNvGrpSpPr>
          <p:nvPr/>
        </p:nvGrpSpPr>
        <p:grpSpPr bwMode="auto">
          <a:xfrm>
            <a:off x="3657600" y="3387049"/>
            <a:ext cx="585788" cy="2743200"/>
            <a:chOff x="2272" y="2544"/>
            <a:chExt cx="279" cy="1428"/>
          </a:xfrm>
        </p:grpSpPr>
        <p:sp>
          <p:nvSpPr>
            <p:cNvPr id="62492" name="Rectangle 29">
              <a:extLst>
                <a:ext uri="{FF2B5EF4-FFF2-40B4-BE49-F238E27FC236}">
                  <a16:creationId xmlns:a16="http://schemas.microsoft.com/office/drawing/2014/main" id="{EDD19A5C-370E-54CD-37AB-6033C0971F6C}"/>
                </a:ext>
              </a:extLst>
            </p:cNvPr>
            <p:cNvSpPr>
              <a:spLocks noChangeArrowheads="1"/>
            </p:cNvSpPr>
            <p:nvPr/>
          </p:nvSpPr>
          <p:spPr bwMode="auto">
            <a:xfrm>
              <a:off x="2272" y="2544"/>
              <a:ext cx="277" cy="1428"/>
            </a:xfrm>
            <a:prstGeom prst="rect">
              <a:avLst/>
            </a:prstGeom>
            <a:solidFill>
              <a:srgbClr val="FFFFFF"/>
            </a:solidFill>
            <a:ln w="28575">
              <a:solidFill>
                <a:srgbClr val="000000"/>
              </a:solidFill>
              <a:miter lim="800000"/>
              <a:headEnd/>
              <a:tailEnd/>
            </a:ln>
          </p:spPr>
          <p:txBody>
            <a:bodyPr lIns="0" tIns="0" rIns="0" bIns="72000"/>
            <a:lstStyle/>
            <a:p>
              <a:pPr algn="just" eaLnBrk="0" hangingPunct="0">
                <a:spcBef>
                  <a:spcPct val="0"/>
                </a:spcBef>
                <a:buClrTx/>
                <a:buSzTx/>
                <a:buFontTx/>
                <a:buNone/>
              </a:pPr>
              <a:endParaRPr lang="zh-CN" altLang="en-US" sz="2000">
                <a:latin typeface="Times New Roman" panose="02020603050405020304" pitchFamily="18" charset="0"/>
              </a:endParaRPr>
            </a:p>
            <a:p>
              <a:pPr algn="just" eaLnBrk="0" hangingPunct="0">
                <a:spcBef>
                  <a:spcPct val="0"/>
                </a:spcBef>
                <a:buClrTx/>
                <a:buSzTx/>
                <a:buFontTx/>
                <a:buNone/>
              </a:pPr>
              <a:r>
                <a:rPr lang="zh-CN" altLang="en-US" sz="2000">
                  <a:latin typeface="Times New Roman" panose="02020603050405020304" pitchFamily="18" charset="0"/>
                </a:rPr>
                <a:t> </a:t>
              </a:r>
            </a:p>
            <a:p>
              <a:pPr algn="just" eaLnBrk="0" hangingPunct="0">
                <a:spcBef>
                  <a:spcPct val="0"/>
                </a:spcBef>
                <a:buClrTx/>
                <a:buSzTx/>
                <a:buFontTx/>
                <a:buNone/>
              </a:pPr>
              <a:r>
                <a:rPr lang="zh-CN" altLang="en-US" sz="2000" b="1">
                  <a:latin typeface="Times New Roman" panose="02020603050405020304" pitchFamily="18" charset="0"/>
                </a:rPr>
                <a:t>    </a:t>
              </a:r>
              <a:r>
                <a:rPr lang="zh-CN" altLang="en-US" sz="2400" b="1">
                  <a:latin typeface="Times New Roman" panose="02020603050405020304" pitchFamily="18" charset="0"/>
                </a:rPr>
                <a:t>1</a:t>
              </a:r>
            </a:p>
            <a:p>
              <a:pPr algn="just" eaLnBrk="0" hangingPunct="0">
                <a:spcBef>
                  <a:spcPct val="0"/>
                </a:spcBef>
                <a:buClrTx/>
                <a:buSzTx/>
                <a:buFontTx/>
                <a:buNone/>
              </a:pPr>
              <a:endParaRPr lang="zh-CN" altLang="en-US" sz="16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7</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0</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4</a:t>
              </a:r>
              <a:endParaRPr lang="zh-CN" altLang="en-US" sz="2400">
                <a:latin typeface="Times New Roman" panose="02020603050405020304" pitchFamily="18" charset="0"/>
              </a:endParaRPr>
            </a:p>
          </p:txBody>
        </p:sp>
        <p:sp>
          <p:nvSpPr>
            <p:cNvPr id="62493" name="Line 30">
              <a:extLst>
                <a:ext uri="{FF2B5EF4-FFF2-40B4-BE49-F238E27FC236}">
                  <a16:creationId xmlns:a16="http://schemas.microsoft.com/office/drawing/2014/main" id="{5063186E-BA8C-1E50-F5D0-7FC24E21C068}"/>
                </a:ext>
              </a:extLst>
            </p:cNvPr>
            <p:cNvSpPr>
              <a:spLocks noChangeShapeType="1"/>
            </p:cNvSpPr>
            <p:nvPr/>
          </p:nvSpPr>
          <p:spPr bwMode="auto">
            <a:xfrm>
              <a:off x="2274" y="2814"/>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94" name="Line 31">
              <a:extLst>
                <a:ext uri="{FF2B5EF4-FFF2-40B4-BE49-F238E27FC236}">
                  <a16:creationId xmlns:a16="http://schemas.microsoft.com/office/drawing/2014/main" id="{3AFF7BEA-8A37-95BF-993C-2ACF92728EA3}"/>
                </a:ext>
              </a:extLst>
            </p:cNvPr>
            <p:cNvSpPr>
              <a:spLocks noChangeShapeType="1"/>
            </p:cNvSpPr>
            <p:nvPr/>
          </p:nvSpPr>
          <p:spPr bwMode="auto">
            <a:xfrm>
              <a:off x="2274" y="311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95" name="Line 32">
              <a:extLst>
                <a:ext uri="{FF2B5EF4-FFF2-40B4-BE49-F238E27FC236}">
                  <a16:creationId xmlns:a16="http://schemas.microsoft.com/office/drawing/2014/main" id="{AC5C8F71-CA1F-B50A-A6E7-D330D8CDF876}"/>
                </a:ext>
              </a:extLst>
            </p:cNvPr>
            <p:cNvSpPr>
              <a:spLocks noChangeShapeType="1"/>
            </p:cNvSpPr>
            <p:nvPr/>
          </p:nvSpPr>
          <p:spPr bwMode="auto">
            <a:xfrm>
              <a:off x="2274" y="3407"/>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96" name="Line 33">
              <a:extLst>
                <a:ext uri="{FF2B5EF4-FFF2-40B4-BE49-F238E27FC236}">
                  <a16:creationId xmlns:a16="http://schemas.microsoft.com/office/drawing/2014/main" id="{05531195-10FA-C4B6-141F-3578416CE23C}"/>
                </a:ext>
              </a:extLst>
            </p:cNvPr>
            <p:cNvSpPr>
              <a:spLocks noChangeShapeType="1"/>
            </p:cNvSpPr>
            <p:nvPr/>
          </p:nvSpPr>
          <p:spPr bwMode="auto">
            <a:xfrm>
              <a:off x="2274" y="367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34">
            <a:extLst>
              <a:ext uri="{FF2B5EF4-FFF2-40B4-BE49-F238E27FC236}">
                <a16:creationId xmlns:a16="http://schemas.microsoft.com/office/drawing/2014/main" id="{1C9553A2-24A7-6AAB-2C83-AC033C6A569C}"/>
              </a:ext>
            </a:extLst>
          </p:cNvPr>
          <p:cNvGrpSpPr>
            <a:grpSpLocks/>
          </p:cNvGrpSpPr>
          <p:nvPr/>
        </p:nvGrpSpPr>
        <p:grpSpPr bwMode="auto">
          <a:xfrm>
            <a:off x="4443413" y="3387049"/>
            <a:ext cx="585787" cy="2743200"/>
            <a:chOff x="2698" y="2544"/>
            <a:chExt cx="279" cy="1428"/>
          </a:xfrm>
        </p:grpSpPr>
        <p:sp>
          <p:nvSpPr>
            <p:cNvPr id="62498" name="Rectangle 35">
              <a:extLst>
                <a:ext uri="{FF2B5EF4-FFF2-40B4-BE49-F238E27FC236}">
                  <a16:creationId xmlns:a16="http://schemas.microsoft.com/office/drawing/2014/main" id="{00625FD1-D4AE-1C1F-691F-7664795850D6}"/>
                </a:ext>
              </a:extLst>
            </p:cNvPr>
            <p:cNvSpPr>
              <a:spLocks noChangeArrowheads="1"/>
            </p:cNvSpPr>
            <p:nvPr/>
          </p:nvSpPr>
          <p:spPr bwMode="auto">
            <a:xfrm>
              <a:off x="2698" y="2544"/>
              <a:ext cx="277" cy="1428"/>
            </a:xfrm>
            <a:prstGeom prst="rect">
              <a:avLst/>
            </a:prstGeom>
            <a:solidFill>
              <a:srgbClr val="FFFFFF"/>
            </a:solidFill>
            <a:ln w="28575">
              <a:solidFill>
                <a:srgbClr val="000000"/>
              </a:solidFill>
              <a:miter lim="800000"/>
              <a:headEnd/>
              <a:tailEnd/>
            </a:ln>
          </p:spPr>
          <p:txBody>
            <a:bodyPr lIns="0" tIns="0" rIns="0" bIns="72000"/>
            <a:lstStyle/>
            <a:p>
              <a:pPr algn="just" eaLnBrk="0" hangingPunct="0">
                <a:spcBef>
                  <a:spcPct val="0"/>
                </a:spcBef>
                <a:buClrTx/>
                <a:buSzTx/>
                <a:buFontTx/>
                <a:buNone/>
              </a:pPr>
              <a:endParaRPr lang="zh-CN" altLang="en-US" sz="2000">
                <a:latin typeface="Times New Roman" panose="02020603050405020304" pitchFamily="18" charset="0"/>
              </a:endParaRPr>
            </a:p>
            <a:p>
              <a:pPr algn="just" eaLnBrk="0" hangingPunct="0">
                <a:spcBef>
                  <a:spcPct val="0"/>
                </a:spcBef>
                <a:buClrTx/>
                <a:buSzTx/>
                <a:buFontTx/>
                <a:buNone/>
              </a:pPr>
              <a:endParaRPr lang="zh-CN" altLang="en-US" sz="2000">
                <a:latin typeface="Times New Roman" panose="02020603050405020304" pitchFamily="18" charset="0"/>
              </a:endParaRPr>
            </a:p>
            <a:p>
              <a:pPr algn="just" eaLnBrk="0" hangingPunct="0">
                <a:spcBef>
                  <a:spcPct val="0"/>
                </a:spcBef>
                <a:buClrTx/>
                <a:buSzTx/>
                <a:buFontTx/>
                <a:buNone/>
              </a:pPr>
              <a:r>
                <a:rPr lang="zh-CN" altLang="en-US" sz="2000">
                  <a:latin typeface="Times New Roman" panose="02020603050405020304" pitchFamily="18" charset="0"/>
                </a:rPr>
                <a:t>   </a:t>
              </a:r>
              <a:r>
                <a:rPr lang="zh-CN" altLang="en-US" sz="2400" b="1">
                  <a:latin typeface="Times New Roman" panose="02020603050405020304" pitchFamily="18" charset="0"/>
                </a:rPr>
                <a:t>0</a:t>
              </a:r>
            </a:p>
            <a:p>
              <a:pPr algn="just" eaLnBrk="0" hangingPunct="0">
                <a:spcBef>
                  <a:spcPct val="0"/>
                </a:spcBef>
                <a:buClrTx/>
                <a:buSzTx/>
                <a:buFontTx/>
                <a:buNone/>
              </a:pPr>
              <a:endParaRPr lang="zh-CN" altLang="en-US" sz="16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1</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7</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4</a:t>
              </a:r>
              <a:endParaRPr lang="zh-CN" altLang="en-US" sz="2400">
                <a:latin typeface="Times New Roman" panose="02020603050405020304" pitchFamily="18" charset="0"/>
              </a:endParaRPr>
            </a:p>
          </p:txBody>
        </p:sp>
        <p:sp>
          <p:nvSpPr>
            <p:cNvPr id="62499" name="Line 36">
              <a:extLst>
                <a:ext uri="{FF2B5EF4-FFF2-40B4-BE49-F238E27FC236}">
                  <a16:creationId xmlns:a16="http://schemas.microsoft.com/office/drawing/2014/main" id="{31F9EE81-7DBE-AD12-C2F5-C583FF95E713}"/>
                </a:ext>
              </a:extLst>
            </p:cNvPr>
            <p:cNvSpPr>
              <a:spLocks noChangeShapeType="1"/>
            </p:cNvSpPr>
            <p:nvPr/>
          </p:nvSpPr>
          <p:spPr bwMode="auto">
            <a:xfrm>
              <a:off x="2700" y="2814"/>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00" name="Line 37">
              <a:extLst>
                <a:ext uri="{FF2B5EF4-FFF2-40B4-BE49-F238E27FC236}">
                  <a16:creationId xmlns:a16="http://schemas.microsoft.com/office/drawing/2014/main" id="{78020FFF-8976-84EC-C2BF-7AF9501B8FC0}"/>
                </a:ext>
              </a:extLst>
            </p:cNvPr>
            <p:cNvSpPr>
              <a:spLocks noChangeShapeType="1"/>
            </p:cNvSpPr>
            <p:nvPr/>
          </p:nvSpPr>
          <p:spPr bwMode="auto">
            <a:xfrm>
              <a:off x="2700" y="311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01" name="Line 38">
              <a:extLst>
                <a:ext uri="{FF2B5EF4-FFF2-40B4-BE49-F238E27FC236}">
                  <a16:creationId xmlns:a16="http://schemas.microsoft.com/office/drawing/2014/main" id="{9AB2D871-35B7-2527-03F3-0B529A4E98E2}"/>
                </a:ext>
              </a:extLst>
            </p:cNvPr>
            <p:cNvSpPr>
              <a:spLocks noChangeShapeType="1"/>
            </p:cNvSpPr>
            <p:nvPr/>
          </p:nvSpPr>
          <p:spPr bwMode="auto">
            <a:xfrm>
              <a:off x="2700" y="3407"/>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02" name="Line 39">
              <a:extLst>
                <a:ext uri="{FF2B5EF4-FFF2-40B4-BE49-F238E27FC236}">
                  <a16:creationId xmlns:a16="http://schemas.microsoft.com/office/drawing/2014/main" id="{1F3E406E-CAD6-4981-341F-090D3E968CB7}"/>
                </a:ext>
              </a:extLst>
            </p:cNvPr>
            <p:cNvSpPr>
              <a:spLocks noChangeShapeType="1"/>
            </p:cNvSpPr>
            <p:nvPr/>
          </p:nvSpPr>
          <p:spPr bwMode="auto">
            <a:xfrm>
              <a:off x="2700" y="367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40">
            <a:extLst>
              <a:ext uri="{FF2B5EF4-FFF2-40B4-BE49-F238E27FC236}">
                <a16:creationId xmlns:a16="http://schemas.microsoft.com/office/drawing/2014/main" id="{EFF5C3C8-4163-7AD7-267F-90AB1536F6AE}"/>
              </a:ext>
            </a:extLst>
          </p:cNvPr>
          <p:cNvGrpSpPr>
            <a:grpSpLocks/>
          </p:cNvGrpSpPr>
          <p:nvPr/>
        </p:nvGrpSpPr>
        <p:grpSpPr bwMode="auto">
          <a:xfrm>
            <a:off x="5129213" y="3387049"/>
            <a:ext cx="585787" cy="2743200"/>
            <a:chOff x="3095" y="2544"/>
            <a:chExt cx="279" cy="1428"/>
          </a:xfrm>
        </p:grpSpPr>
        <p:sp>
          <p:nvSpPr>
            <p:cNvPr id="62504" name="Rectangle 41">
              <a:extLst>
                <a:ext uri="{FF2B5EF4-FFF2-40B4-BE49-F238E27FC236}">
                  <a16:creationId xmlns:a16="http://schemas.microsoft.com/office/drawing/2014/main" id="{A4E28B02-F517-5372-9692-BF01B3A88AB6}"/>
                </a:ext>
              </a:extLst>
            </p:cNvPr>
            <p:cNvSpPr>
              <a:spLocks noChangeArrowheads="1"/>
            </p:cNvSpPr>
            <p:nvPr/>
          </p:nvSpPr>
          <p:spPr bwMode="auto">
            <a:xfrm>
              <a:off x="3095" y="2544"/>
              <a:ext cx="277" cy="1428"/>
            </a:xfrm>
            <a:prstGeom prst="rect">
              <a:avLst/>
            </a:prstGeom>
            <a:solidFill>
              <a:srgbClr val="FFFFFF"/>
            </a:solidFill>
            <a:ln w="28575">
              <a:solidFill>
                <a:srgbClr val="000000"/>
              </a:solidFill>
              <a:miter lim="800000"/>
              <a:headEnd/>
              <a:tailEnd/>
            </a:ln>
          </p:spPr>
          <p:txBody>
            <a:bodyPr lIns="0" tIns="288000" rIns="0" bIns="72000"/>
            <a:lstStyle/>
            <a:p>
              <a:pPr algn="just" eaLnBrk="0" hangingPunct="0">
                <a:spcBef>
                  <a:spcPct val="0"/>
                </a:spcBef>
                <a:buClrTx/>
                <a:buSzTx/>
                <a:buFontTx/>
                <a:buNone/>
              </a:pPr>
              <a:endParaRPr lang="zh-CN" altLang="en-US" sz="2000">
                <a:latin typeface="Times New Roman" panose="02020603050405020304" pitchFamily="18" charset="0"/>
              </a:endParaRPr>
            </a:p>
            <a:p>
              <a:pPr algn="just" eaLnBrk="0" hangingPunct="0">
                <a:spcBef>
                  <a:spcPct val="0"/>
                </a:spcBef>
                <a:buClrTx/>
                <a:buSzTx/>
                <a:buFontTx/>
                <a:buNone/>
              </a:pPr>
              <a:r>
                <a:rPr lang="zh-CN" altLang="en-US" sz="2000">
                  <a:latin typeface="Times New Roman" panose="02020603050405020304" pitchFamily="18" charset="0"/>
                </a:rPr>
                <a:t>    </a:t>
              </a:r>
              <a:r>
                <a:rPr lang="zh-CN" altLang="en-US" sz="2400" b="1">
                  <a:latin typeface="Times New Roman" panose="02020603050405020304" pitchFamily="18" charset="0"/>
                </a:rPr>
                <a:t>1</a:t>
              </a:r>
            </a:p>
            <a:p>
              <a:pPr algn="just" eaLnBrk="0" hangingPunct="0">
                <a:spcBef>
                  <a:spcPct val="0"/>
                </a:spcBef>
                <a:buClrTx/>
                <a:buSzTx/>
                <a:buFontTx/>
                <a:buNone/>
              </a:pPr>
              <a:endParaRPr lang="zh-CN" altLang="en-US" sz="16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0</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7</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4</a:t>
              </a:r>
              <a:endParaRPr lang="zh-CN" altLang="en-US" sz="2400">
                <a:latin typeface="Times New Roman" panose="02020603050405020304" pitchFamily="18" charset="0"/>
              </a:endParaRPr>
            </a:p>
          </p:txBody>
        </p:sp>
        <p:sp>
          <p:nvSpPr>
            <p:cNvPr id="62505" name="Line 42">
              <a:extLst>
                <a:ext uri="{FF2B5EF4-FFF2-40B4-BE49-F238E27FC236}">
                  <a16:creationId xmlns:a16="http://schemas.microsoft.com/office/drawing/2014/main" id="{CC9F235A-30DC-8C81-9C2C-79049F0A27D1}"/>
                </a:ext>
              </a:extLst>
            </p:cNvPr>
            <p:cNvSpPr>
              <a:spLocks noChangeShapeType="1"/>
            </p:cNvSpPr>
            <p:nvPr/>
          </p:nvSpPr>
          <p:spPr bwMode="auto">
            <a:xfrm>
              <a:off x="3097" y="2814"/>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06" name="Line 43">
              <a:extLst>
                <a:ext uri="{FF2B5EF4-FFF2-40B4-BE49-F238E27FC236}">
                  <a16:creationId xmlns:a16="http://schemas.microsoft.com/office/drawing/2014/main" id="{F196C325-1A77-8055-1E4D-4F8588FB5326}"/>
                </a:ext>
              </a:extLst>
            </p:cNvPr>
            <p:cNvSpPr>
              <a:spLocks noChangeShapeType="1"/>
            </p:cNvSpPr>
            <p:nvPr/>
          </p:nvSpPr>
          <p:spPr bwMode="auto">
            <a:xfrm>
              <a:off x="3097" y="311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07" name="Line 44">
              <a:extLst>
                <a:ext uri="{FF2B5EF4-FFF2-40B4-BE49-F238E27FC236}">
                  <a16:creationId xmlns:a16="http://schemas.microsoft.com/office/drawing/2014/main" id="{C069EDF7-CD8A-65C7-2A39-949A815A9F7C}"/>
                </a:ext>
              </a:extLst>
            </p:cNvPr>
            <p:cNvSpPr>
              <a:spLocks noChangeShapeType="1"/>
            </p:cNvSpPr>
            <p:nvPr/>
          </p:nvSpPr>
          <p:spPr bwMode="auto">
            <a:xfrm>
              <a:off x="3097" y="3407"/>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08" name="Line 45">
              <a:extLst>
                <a:ext uri="{FF2B5EF4-FFF2-40B4-BE49-F238E27FC236}">
                  <a16:creationId xmlns:a16="http://schemas.microsoft.com/office/drawing/2014/main" id="{4FD2B891-ECB7-753D-EFE7-A629E81E0BD5}"/>
                </a:ext>
              </a:extLst>
            </p:cNvPr>
            <p:cNvSpPr>
              <a:spLocks noChangeShapeType="1"/>
            </p:cNvSpPr>
            <p:nvPr/>
          </p:nvSpPr>
          <p:spPr bwMode="auto">
            <a:xfrm>
              <a:off x="3097" y="367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 name="Group 46">
            <a:extLst>
              <a:ext uri="{FF2B5EF4-FFF2-40B4-BE49-F238E27FC236}">
                <a16:creationId xmlns:a16="http://schemas.microsoft.com/office/drawing/2014/main" id="{E1CB2289-4E5F-082B-1308-346C71B837D5}"/>
              </a:ext>
            </a:extLst>
          </p:cNvPr>
          <p:cNvGrpSpPr>
            <a:grpSpLocks/>
          </p:cNvGrpSpPr>
          <p:nvPr/>
        </p:nvGrpSpPr>
        <p:grpSpPr bwMode="auto">
          <a:xfrm>
            <a:off x="5967413" y="3387049"/>
            <a:ext cx="585787" cy="2743200"/>
            <a:chOff x="3512" y="2544"/>
            <a:chExt cx="279" cy="1428"/>
          </a:xfrm>
        </p:grpSpPr>
        <p:sp>
          <p:nvSpPr>
            <p:cNvPr id="62510" name="Rectangle 47">
              <a:extLst>
                <a:ext uri="{FF2B5EF4-FFF2-40B4-BE49-F238E27FC236}">
                  <a16:creationId xmlns:a16="http://schemas.microsoft.com/office/drawing/2014/main" id="{9F0B502B-5F05-44BA-2293-5729F97D55CB}"/>
                </a:ext>
              </a:extLst>
            </p:cNvPr>
            <p:cNvSpPr>
              <a:spLocks noChangeArrowheads="1"/>
            </p:cNvSpPr>
            <p:nvPr/>
          </p:nvSpPr>
          <p:spPr bwMode="auto">
            <a:xfrm>
              <a:off x="3512" y="2544"/>
              <a:ext cx="277" cy="1428"/>
            </a:xfrm>
            <a:prstGeom prst="rect">
              <a:avLst/>
            </a:prstGeom>
            <a:solidFill>
              <a:srgbClr val="FFFFFF"/>
            </a:solidFill>
            <a:ln w="28575">
              <a:solidFill>
                <a:srgbClr val="000000"/>
              </a:solidFill>
              <a:miter lim="800000"/>
              <a:headEnd/>
              <a:tailEnd/>
            </a:ln>
          </p:spPr>
          <p:txBody>
            <a:bodyPr lIns="0" tIns="108000" rIns="0" bIns="72000"/>
            <a:lstStyle/>
            <a:p>
              <a:pPr algn="just" eaLnBrk="0" hangingPunct="0">
                <a:spcBef>
                  <a:spcPct val="0"/>
                </a:spcBef>
                <a:buClrTx/>
                <a:buSzTx/>
                <a:buFontTx/>
                <a:buNone/>
              </a:pPr>
              <a:r>
                <a:rPr lang="zh-CN" altLang="en-US" sz="2000">
                  <a:latin typeface="Times New Roman" panose="02020603050405020304" pitchFamily="18" charset="0"/>
                </a:rPr>
                <a:t>    </a:t>
              </a:r>
              <a:r>
                <a:rPr lang="zh-CN" altLang="en-US" sz="2400" b="1">
                  <a:latin typeface="Times New Roman" panose="02020603050405020304" pitchFamily="18" charset="0"/>
                </a:rPr>
                <a:t>2</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1</a:t>
              </a:r>
            </a:p>
            <a:p>
              <a:pPr algn="just" eaLnBrk="0" hangingPunct="0">
                <a:spcBef>
                  <a:spcPct val="0"/>
                </a:spcBef>
                <a:buClrTx/>
                <a:buSzTx/>
                <a:buFontTx/>
                <a:buNone/>
              </a:pPr>
              <a:endParaRPr lang="zh-CN" altLang="en-US" sz="14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0</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7</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4</a:t>
              </a:r>
              <a:endParaRPr lang="zh-CN" altLang="en-US" sz="2400">
                <a:latin typeface="Times New Roman" panose="02020603050405020304" pitchFamily="18" charset="0"/>
              </a:endParaRPr>
            </a:p>
          </p:txBody>
        </p:sp>
        <p:sp>
          <p:nvSpPr>
            <p:cNvPr id="62511" name="Line 48">
              <a:extLst>
                <a:ext uri="{FF2B5EF4-FFF2-40B4-BE49-F238E27FC236}">
                  <a16:creationId xmlns:a16="http://schemas.microsoft.com/office/drawing/2014/main" id="{00226A7D-713D-6F45-AFA8-F6C4294D1BB5}"/>
                </a:ext>
              </a:extLst>
            </p:cNvPr>
            <p:cNvSpPr>
              <a:spLocks noChangeShapeType="1"/>
            </p:cNvSpPr>
            <p:nvPr/>
          </p:nvSpPr>
          <p:spPr bwMode="auto">
            <a:xfrm>
              <a:off x="3514" y="2814"/>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12" name="Line 49">
              <a:extLst>
                <a:ext uri="{FF2B5EF4-FFF2-40B4-BE49-F238E27FC236}">
                  <a16:creationId xmlns:a16="http://schemas.microsoft.com/office/drawing/2014/main" id="{412972F1-DDB3-3FB9-AF3F-0ED4D6E70EE0}"/>
                </a:ext>
              </a:extLst>
            </p:cNvPr>
            <p:cNvSpPr>
              <a:spLocks noChangeShapeType="1"/>
            </p:cNvSpPr>
            <p:nvPr/>
          </p:nvSpPr>
          <p:spPr bwMode="auto">
            <a:xfrm>
              <a:off x="3514" y="311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13" name="Line 50">
              <a:extLst>
                <a:ext uri="{FF2B5EF4-FFF2-40B4-BE49-F238E27FC236}">
                  <a16:creationId xmlns:a16="http://schemas.microsoft.com/office/drawing/2014/main" id="{24ED4737-6102-0E89-43BB-E15F0364E851}"/>
                </a:ext>
              </a:extLst>
            </p:cNvPr>
            <p:cNvSpPr>
              <a:spLocks noChangeShapeType="1"/>
            </p:cNvSpPr>
            <p:nvPr/>
          </p:nvSpPr>
          <p:spPr bwMode="auto">
            <a:xfrm>
              <a:off x="3514" y="3407"/>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14" name="Line 51">
              <a:extLst>
                <a:ext uri="{FF2B5EF4-FFF2-40B4-BE49-F238E27FC236}">
                  <a16:creationId xmlns:a16="http://schemas.microsoft.com/office/drawing/2014/main" id="{D1CD24C5-3445-1780-BDD5-F873613FD8DE}"/>
                </a:ext>
              </a:extLst>
            </p:cNvPr>
            <p:cNvSpPr>
              <a:spLocks noChangeShapeType="1"/>
            </p:cNvSpPr>
            <p:nvPr/>
          </p:nvSpPr>
          <p:spPr bwMode="auto">
            <a:xfrm>
              <a:off x="3514" y="367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52">
            <a:extLst>
              <a:ext uri="{FF2B5EF4-FFF2-40B4-BE49-F238E27FC236}">
                <a16:creationId xmlns:a16="http://schemas.microsoft.com/office/drawing/2014/main" id="{A4740F0C-0F73-09D7-8FCB-A27636B90C2C}"/>
              </a:ext>
            </a:extLst>
          </p:cNvPr>
          <p:cNvGrpSpPr>
            <a:grpSpLocks/>
          </p:cNvGrpSpPr>
          <p:nvPr/>
        </p:nvGrpSpPr>
        <p:grpSpPr bwMode="auto">
          <a:xfrm>
            <a:off x="6729413" y="3387049"/>
            <a:ext cx="585787" cy="2741612"/>
            <a:chOff x="3918" y="2544"/>
            <a:chExt cx="279" cy="1427"/>
          </a:xfrm>
        </p:grpSpPr>
        <p:sp>
          <p:nvSpPr>
            <p:cNvPr id="62516" name="Rectangle 53">
              <a:extLst>
                <a:ext uri="{FF2B5EF4-FFF2-40B4-BE49-F238E27FC236}">
                  <a16:creationId xmlns:a16="http://schemas.microsoft.com/office/drawing/2014/main" id="{53511CFE-DA5D-DFC9-0A5F-281ED3FDFA72}"/>
                </a:ext>
              </a:extLst>
            </p:cNvPr>
            <p:cNvSpPr>
              <a:spLocks noChangeArrowheads="1"/>
            </p:cNvSpPr>
            <p:nvPr/>
          </p:nvSpPr>
          <p:spPr bwMode="auto">
            <a:xfrm>
              <a:off x="3918" y="2544"/>
              <a:ext cx="277" cy="1427"/>
            </a:xfrm>
            <a:prstGeom prst="rect">
              <a:avLst/>
            </a:prstGeom>
            <a:solidFill>
              <a:srgbClr val="FFFFFF"/>
            </a:solidFill>
            <a:ln w="28575">
              <a:solidFill>
                <a:srgbClr val="000000"/>
              </a:solidFill>
              <a:miter lim="800000"/>
              <a:headEnd/>
              <a:tailEnd/>
            </a:ln>
          </p:spPr>
          <p:txBody>
            <a:bodyPr lIns="0" tIns="108000" rIns="0" bIns="72000"/>
            <a:lstStyle/>
            <a:p>
              <a:pPr algn="just" eaLnBrk="0" hangingPunct="0">
                <a:spcBef>
                  <a:spcPct val="0"/>
                </a:spcBef>
                <a:buClrTx/>
                <a:buSzTx/>
                <a:buFontTx/>
                <a:buNone/>
              </a:pPr>
              <a:r>
                <a:rPr lang="zh-CN" altLang="en-US" sz="2000">
                  <a:latin typeface="Times New Roman" panose="02020603050405020304" pitchFamily="18" charset="0"/>
                </a:rPr>
                <a:t>  </a:t>
              </a:r>
              <a:r>
                <a:rPr lang="zh-CN" altLang="en-US" sz="2000" b="1">
                  <a:latin typeface="Times New Roman" panose="02020603050405020304" pitchFamily="18" charset="0"/>
                </a:rPr>
                <a:t>  </a:t>
              </a:r>
              <a:r>
                <a:rPr lang="zh-CN" altLang="en-US" sz="2400" b="1">
                  <a:latin typeface="Times New Roman" panose="02020603050405020304" pitchFamily="18" charset="0"/>
                </a:rPr>
                <a:t>1</a:t>
              </a:r>
            </a:p>
            <a:p>
              <a:pPr algn="just" eaLnBrk="0" hangingPunct="0">
                <a:spcBef>
                  <a:spcPct val="0"/>
                </a:spcBef>
                <a:buClrTx/>
                <a:buSzTx/>
                <a:buFontTx/>
                <a:buNone/>
              </a:pPr>
              <a:endParaRPr lang="zh-CN" altLang="en-US" sz="14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2</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0</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7</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4</a:t>
              </a:r>
              <a:endParaRPr lang="zh-CN" altLang="en-US" sz="2400">
                <a:latin typeface="Times New Roman" panose="02020603050405020304" pitchFamily="18" charset="0"/>
              </a:endParaRPr>
            </a:p>
          </p:txBody>
        </p:sp>
        <p:sp>
          <p:nvSpPr>
            <p:cNvPr id="62517" name="Line 54">
              <a:extLst>
                <a:ext uri="{FF2B5EF4-FFF2-40B4-BE49-F238E27FC236}">
                  <a16:creationId xmlns:a16="http://schemas.microsoft.com/office/drawing/2014/main" id="{5FAECBEF-ADA3-7612-ECEB-5E9CA7587917}"/>
                </a:ext>
              </a:extLst>
            </p:cNvPr>
            <p:cNvSpPr>
              <a:spLocks noChangeShapeType="1"/>
            </p:cNvSpPr>
            <p:nvPr/>
          </p:nvSpPr>
          <p:spPr bwMode="auto">
            <a:xfrm>
              <a:off x="3920" y="2814"/>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18" name="Line 55">
              <a:extLst>
                <a:ext uri="{FF2B5EF4-FFF2-40B4-BE49-F238E27FC236}">
                  <a16:creationId xmlns:a16="http://schemas.microsoft.com/office/drawing/2014/main" id="{C6FAB5CE-3CC8-CC21-58E1-6437D336BED0}"/>
                </a:ext>
              </a:extLst>
            </p:cNvPr>
            <p:cNvSpPr>
              <a:spLocks noChangeShapeType="1"/>
            </p:cNvSpPr>
            <p:nvPr/>
          </p:nvSpPr>
          <p:spPr bwMode="auto">
            <a:xfrm>
              <a:off x="3920" y="311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19" name="Line 56">
              <a:extLst>
                <a:ext uri="{FF2B5EF4-FFF2-40B4-BE49-F238E27FC236}">
                  <a16:creationId xmlns:a16="http://schemas.microsoft.com/office/drawing/2014/main" id="{4C788D72-AC20-5B32-016C-A975A896A4A2}"/>
                </a:ext>
              </a:extLst>
            </p:cNvPr>
            <p:cNvSpPr>
              <a:spLocks noChangeShapeType="1"/>
            </p:cNvSpPr>
            <p:nvPr/>
          </p:nvSpPr>
          <p:spPr bwMode="auto">
            <a:xfrm>
              <a:off x="3920" y="3407"/>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20" name="Line 57">
              <a:extLst>
                <a:ext uri="{FF2B5EF4-FFF2-40B4-BE49-F238E27FC236}">
                  <a16:creationId xmlns:a16="http://schemas.microsoft.com/office/drawing/2014/main" id="{65EC5E10-6448-ADC5-6D7D-7B11FE3FE882}"/>
                </a:ext>
              </a:extLst>
            </p:cNvPr>
            <p:cNvSpPr>
              <a:spLocks noChangeShapeType="1"/>
            </p:cNvSpPr>
            <p:nvPr/>
          </p:nvSpPr>
          <p:spPr bwMode="auto">
            <a:xfrm>
              <a:off x="3920" y="367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 name="Group 58">
            <a:extLst>
              <a:ext uri="{FF2B5EF4-FFF2-40B4-BE49-F238E27FC236}">
                <a16:creationId xmlns:a16="http://schemas.microsoft.com/office/drawing/2014/main" id="{BD661CCD-49CC-06CA-06AB-232D628BB47B}"/>
              </a:ext>
            </a:extLst>
          </p:cNvPr>
          <p:cNvGrpSpPr>
            <a:grpSpLocks/>
          </p:cNvGrpSpPr>
          <p:nvPr/>
        </p:nvGrpSpPr>
        <p:grpSpPr bwMode="auto">
          <a:xfrm>
            <a:off x="7567613" y="3387049"/>
            <a:ext cx="585787" cy="2743200"/>
            <a:chOff x="4335" y="2544"/>
            <a:chExt cx="279" cy="1428"/>
          </a:xfrm>
        </p:grpSpPr>
        <p:sp>
          <p:nvSpPr>
            <p:cNvPr id="62522" name="Rectangle 59">
              <a:extLst>
                <a:ext uri="{FF2B5EF4-FFF2-40B4-BE49-F238E27FC236}">
                  <a16:creationId xmlns:a16="http://schemas.microsoft.com/office/drawing/2014/main" id="{A09487B4-EBB5-9CA5-6AC4-3A3955548A82}"/>
                </a:ext>
              </a:extLst>
            </p:cNvPr>
            <p:cNvSpPr>
              <a:spLocks noChangeArrowheads="1"/>
            </p:cNvSpPr>
            <p:nvPr/>
          </p:nvSpPr>
          <p:spPr bwMode="auto">
            <a:xfrm>
              <a:off x="4335" y="2544"/>
              <a:ext cx="277" cy="1428"/>
            </a:xfrm>
            <a:prstGeom prst="rect">
              <a:avLst/>
            </a:prstGeom>
            <a:solidFill>
              <a:srgbClr val="FFFFFF"/>
            </a:solidFill>
            <a:ln w="28575">
              <a:solidFill>
                <a:srgbClr val="000000"/>
              </a:solidFill>
              <a:miter lim="800000"/>
              <a:headEnd/>
              <a:tailEnd/>
            </a:ln>
          </p:spPr>
          <p:txBody>
            <a:bodyPr lIns="0" tIns="72000" rIns="0" bIns="72000"/>
            <a:lstStyle/>
            <a:p>
              <a:pPr algn="just" eaLnBrk="0" hangingPunct="0">
                <a:spcBef>
                  <a:spcPct val="0"/>
                </a:spcBef>
                <a:buClrTx/>
                <a:buSzTx/>
                <a:buFontTx/>
                <a:buNone/>
              </a:pPr>
              <a:r>
                <a:rPr lang="zh-CN" altLang="en-US" sz="2000">
                  <a:latin typeface="Times New Roman" panose="02020603050405020304" pitchFamily="18" charset="0"/>
                </a:rPr>
                <a:t>   </a:t>
              </a:r>
              <a:r>
                <a:rPr lang="zh-CN" altLang="en-US" sz="2400" b="1">
                  <a:latin typeface="Times New Roman" panose="02020603050405020304" pitchFamily="18" charset="0"/>
                </a:rPr>
                <a:t>2</a:t>
              </a:r>
            </a:p>
            <a:p>
              <a:pPr algn="just" eaLnBrk="0" hangingPunct="0">
                <a:spcBef>
                  <a:spcPct val="0"/>
                </a:spcBef>
                <a:buClrTx/>
                <a:buSzTx/>
                <a:buFontTx/>
                <a:buNone/>
              </a:pPr>
              <a:endParaRPr lang="zh-CN" altLang="en-US" sz="16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1</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0</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7</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4</a:t>
              </a:r>
              <a:endParaRPr lang="zh-CN" altLang="en-US" sz="2400">
                <a:latin typeface="Times New Roman" panose="02020603050405020304" pitchFamily="18" charset="0"/>
              </a:endParaRPr>
            </a:p>
          </p:txBody>
        </p:sp>
        <p:sp>
          <p:nvSpPr>
            <p:cNvPr id="62523" name="Line 60">
              <a:extLst>
                <a:ext uri="{FF2B5EF4-FFF2-40B4-BE49-F238E27FC236}">
                  <a16:creationId xmlns:a16="http://schemas.microsoft.com/office/drawing/2014/main" id="{72225397-DCD6-1149-D64C-D7A50826C1F6}"/>
                </a:ext>
              </a:extLst>
            </p:cNvPr>
            <p:cNvSpPr>
              <a:spLocks noChangeShapeType="1"/>
            </p:cNvSpPr>
            <p:nvPr/>
          </p:nvSpPr>
          <p:spPr bwMode="auto">
            <a:xfrm>
              <a:off x="4337" y="2814"/>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24" name="Line 61">
              <a:extLst>
                <a:ext uri="{FF2B5EF4-FFF2-40B4-BE49-F238E27FC236}">
                  <a16:creationId xmlns:a16="http://schemas.microsoft.com/office/drawing/2014/main" id="{FAD5AD7E-6632-C57B-F087-9A3762CB54E2}"/>
                </a:ext>
              </a:extLst>
            </p:cNvPr>
            <p:cNvSpPr>
              <a:spLocks noChangeShapeType="1"/>
            </p:cNvSpPr>
            <p:nvPr/>
          </p:nvSpPr>
          <p:spPr bwMode="auto">
            <a:xfrm>
              <a:off x="4337" y="311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25" name="Line 62">
              <a:extLst>
                <a:ext uri="{FF2B5EF4-FFF2-40B4-BE49-F238E27FC236}">
                  <a16:creationId xmlns:a16="http://schemas.microsoft.com/office/drawing/2014/main" id="{98534476-0235-1E66-33F1-2FA4B8084A29}"/>
                </a:ext>
              </a:extLst>
            </p:cNvPr>
            <p:cNvSpPr>
              <a:spLocks noChangeShapeType="1"/>
            </p:cNvSpPr>
            <p:nvPr/>
          </p:nvSpPr>
          <p:spPr bwMode="auto">
            <a:xfrm>
              <a:off x="4337" y="3407"/>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26" name="Line 63">
              <a:extLst>
                <a:ext uri="{FF2B5EF4-FFF2-40B4-BE49-F238E27FC236}">
                  <a16:creationId xmlns:a16="http://schemas.microsoft.com/office/drawing/2014/main" id="{82C00413-09F3-7A29-5A85-1C01F398A568}"/>
                </a:ext>
              </a:extLst>
            </p:cNvPr>
            <p:cNvSpPr>
              <a:spLocks noChangeShapeType="1"/>
            </p:cNvSpPr>
            <p:nvPr/>
          </p:nvSpPr>
          <p:spPr bwMode="auto">
            <a:xfrm>
              <a:off x="4337" y="367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64">
            <a:extLst>
              <a:ext uri="{FF2B5EF4-FFF2-40B4-BE49-F238E27FC236}">
                <a16:creationId xmlns:a16="http://schemas.microsoft.com/office/drawing/2014/main" id="{62DF8951-C6F6-BE2B-4DC9-5D4C0FEA4FBD}"/>
              </a:ext>
            </a:extLst>
          </p:cNvPr>
          <p:cNvGrpSpPr>
            <a:grpSpLocks/>
          </p:cNvGrpSpPr>
          <p:nvPr/>
        </p:nvGrpSpPr>
        <p:grpSpPr bwMode="auto">
          <a:xfrm>
            <a:off x="8329613" y="3387049"/>
            <a:ext cx="585787" cy="2743200"/>
            <a:chOff x="4741" y="2544"/>
            <a:chExt cx="279" cy="1428"/>
          </a:xfrm>
        </p:grpSpPr>
        <p:sp>
          <p:nvSpPr>
            <p:cNvPr id="62528" name="Rectangle 65">
              <a:extLst>
                <a:ext uri="{FF2B5EF4-FFF2-40B4-BE49-F238E27FC236}">
                  <a16:creationId xmlns:a16="http://schemas.microsoft.com/office/drawing/2014/main" id="{D40C01E4-1B1B-47AA-61AA-A01E3FA1DF58}"/>
                </a:ext>
              </a:extLst>
            </p:cNvPr>
            <p:cNvSpPr>
              <a:spLocks noChangeArrowheads="1"/>
            </p:cNvSpPr>
            <p:nvPr/>
          </p:nvSpPr>
          <p:spPr bwMode="auto">
            <a:xfrm>
              <a:off x="4741" y="2544"/>
              <a:ext cx="277" cy="1428"/>
            </a:xfrm>
            <a:prstGeom prst="rect">
              <a:avLst/>
            </a:prstGeom>
            <a:solidFill>
              <a:srgbClr val="FFFFFF"/>
            </a:solidFill>
            <a:ln w="28575">
              <a:solidFill>
                <a:srgbClr val="000000"/>
              </a:solidFill>
              <a:miter lim="800000"/>
              <a:headEnd/>
              <a:tailEnd/>
            </a:ln>
          </p:spPr>
          <p:txBody>
            <a:bodyPr lIns="0" tIns="72000" rIns="0" bIns="72000"/>
            <a:lstStyle/>
            <a:p>
              <a:pPr algn="just" eaLnBrk="0" hangingPunct="0">
                <a:spcBef>
                  <a:spcPct val="0"/>
                </a:spcBef>
                <a:buClrTx/>
                <a:buSzTx/>
                <a:buFontTx/>
                <a:buNone/>
              </a:pPr>
              <a:r>
                <a:rPr lang="zh-CN" altLang="en-US" sz="2000">
                  <a:latin typeface="Times New Roman" panose="02020603050405020304" pitchFamily="18" charset="0"/>
                </a:rPr>
                <a:t>   </a:t>
              </a:r>
              <a:r>
                <a:rPr lang="zh-CN" altLang="en-US" sz="2400" b="1">
                  <a:latin typeface="Times New Roman" panose="02020603050405020304" pitchFamily="18" charset="0"/>
                </a:rPr>
                <a:t>6</a:t>
              </a:r>
            </a:p>
            <a:p>
              <a:pPr algn="just" eaLnBrk="0" hangingPunct="0">
                <a:spcBef>
                  <a:spcPct val="0"/>
                </a:spcBef>
                <a:buClrTx/>
                <a:buSzTx/>
                <a:buFontTx/>
                <a:buNone/>
              </a:pPr>
              <a:endParaRPr lang="zh-CN" altLang="en-US" sz="14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2</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1</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0</a:t>
              </a:r>
            </a:p>
            <a:p>
              <a:pPr algn="just" eaLnBrk="0" hangingPunct="0">
                <a:spcBef>
                  <a:spcPct val="0"/>
                </a:spcBef>
                <a:buClrTx/>
                <a:buSzTx/>
                <a:buFontTx/>
                <a:buNone/>
              </a:pPr>
              <a:endParaRPr lang="zh-CN" altLang="en-US" sz="1000" b="1">
                <a:latin typeface="Times New Roman" panose="02020603050405020304" pitchFamily="18" charset="0"/>
              </a:endParaRPr>
            </a:p>
            <a:p>
              <a:pPr algn="just" eaLnBrk="0" hangingPunct="0">
                <a:spcBef>
                  <a:spcPct val="0"/>
                </a:spcBef>
                <a:buClrTx/>
                <a:buSzTx/>
                <a:buFontTx/>
                <a:buNone/>
              </a:pPr>
              <a:r>
                <a:rPr lang="zh-CN" altLang="en-US" sz="2400" b="1">
                  <a:latin typeface="Times New Roman" panose="02020603050405020304" pitchFamily="18" charset="0"/>
                </a:rPr>
                <a:t>   7</a:t>
              </a:r>
              <a:endParaRPr lang="zh-CN" altLang="en-US" sz="2400">
                <a:latin typeface="Times New Roman" panose="02020603050405020304" pitchFamily="18" charset="0"/>
              </a:endParaRPr>
            </a:p>
          </p:txBody>
        </p:sp>
        <p:sp>
          <p:nvSpPr>
            <p:cNvPr id="62529" name="Line 66">
              <a:extLst>
                <a:ext uri="{FF2B5EF4-FFF2-40B4-BE49-F238E27FC236}">
                  <a16:creationId xmlns:a16="http://schemas.microsoft.com/office/drawing/2014/main" id="{2693B847-308A-8363-0658-2BA00C8AB1D7}"/>
                </a:ext>
              </a:extLst>
            </p:cNvPr>
            <p:cNvSpPr>
              <a:spLocks noChangeShapeType="1"/>
            </p:cNvSpPr>
            <p:nvPr/>
          </p:nvSpPr>
          <p:spPr bwMode="auto">
            <a:xfrm>
              <a:off x="4743" y="2814"/>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30" name="Line 67">
              <a:extLst>
                <a:ext uri="{FF2B5EF4-FFF2-40B4-BE49-F238E27FC236}">
                  <a16:creationId xmlns:a16="http://schemas.microsoft.com/office/drawing/2014/main" id="{40704EF6-DF08-5102-6049-8F2BB40F986F}"/>
                </a:ext>
              </a:extLst>
            </p:cNvPr>
            <p:cNvSpPr>
              <a:spLocks noChangeShapeType="1"/>
            </p:cNvSpPr>
            <p:nvPr/>
          </p:nvSpPr>
          <p:spPr bwMode="auto">
            <a:xfrm>
              <a:off x="4743" y="311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31" name="Line 68">
              <a:extLst>
                <a:ext uri="{FF2B5EF4-FFF2-40B4-BE49-F238E27FC236}">
                  <a16:creationId xmlns:a16="http://schemas.microsoft.com/office/drawing/2014/main" id="{6F8D6942-873C-2662-65F7-4DC7670251E3}"/>
                </a:ext>
              </a:extLst>
            </p:cNvPr>
            <p:cNvSpPr>
              <a:spLocks noChangeShapeType="1"/>
            </p:cNvSpPr>
            <p:nvPr/>
          </p:nvSpPr>
          <p:spPr bwMode="auto">
            <a:xfrm>
              <a:off x="4743" y="3407"/>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32" name="Line 69">
              <a:extLst>
                <a:ext uri="{FF2B5EF4-FFF2-40B4-BE49-F238E27FC236}">
                  <a16:creationId xmlns:a16="http://schemas.microsoft.com/office/drawing/2014/main" id="{1E211B3F-DF5C-7DE4-2CC9-03DC39BA8E1A}"/>
                </a:ext>
              </a:extLst>
            </p:cNvPr>
            <p:cNvSpPr>
              <a:spLocks noChangeShapeType="1"/>
            </p:cNvSpPr>
            <p:nvPr/>
          </p:nvSpPr>
          <p:spPr bwMode="auto">
            <a:xfrm>
              <a:off x="4743" y="3679"/>
              <a:ext cx="2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73763"/>
                                        </p:tgtEl>
                                        <p:attrNameLst>
                                          <p:attrName>style.visibility</p:attrName>
                                        </p:attrNameLst>
                                      </p:cBhvr>
                                      <p:to>
                                        <p:strVal val="visible"/>
                                      </p:to>
                                    </p:set>
                                    <p:animEffect transition="in" filter="blinds(horizontal)">
                                      <p:cBhvr>
                                        <p:cTn id="7" dur="500"/>
                                        <p:tgtEl>
                                          <p:spTgt spid="3737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outHorizont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outHorizontal)">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arn(outHorizontal)">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arn(outHorizontal)">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arn(outHorizontal)">
                                      <p:cBhvr>
                                        <p:cTn id="37" dur="500"/>
                                        <p:tgtEl>
                                          <p:spTgt spid="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barn(outHorizontal)">
                                      <p:cBhvr>
                                        <p:cTn id="42" dur="500"/>
                                        <p:tgtEl>
                                          <p:spTgt spid="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barn(outHorizontal)">
                                      <p:cBhvr>
                                        <p:cTn id="47" dur="500"/>
                                        <p:tgtEl>
                                          <p:spTgt spid="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barn(outHorizontal)">
                                      <p:cBhvr>
                                        <p:cTn id="52" dur="500"/>
                                        <p:tgtEl>
                                          <p:spTgt spid="1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barn(outHorizontal)">
                                      <p:cBhvr>
                                        <p:cTn id="57" dur="500"/>
                                        <p:tgtEl>
                                          <p:spTgt spid="1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barn(outHorizontal)">
                                      <p:cBhvr>
                                        <p:cTn id="6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3"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E2118A53-E4BE-8D55-CAA7-D95BB0729721}"/>
              </a:ext>
            </a:extLst>
          </p:cNvPr>
          <p:cNvSpPr>
            <a:spLocks noGrp="1" noChangeArrowheads="1"/>
          </p:cNvSpPr>
          <p:nvPr>
            <p:ph type="title"/>
          </p:nvPr>
        </p:nvSpPr>
        <p:spPr/>
        <p:txBody>
          <a:bodyPr/>
          <a:lstStyle/>
          <a:p>
            <a:pPr eaLnBrk="1" hangingPunct="1"/>
            <a:r>
              <a:rPr lang="zh-CN" altLang="en-US" sz="4000" dirty="0"/>
              <a:t>栈算法</a:t>
            </a:r>
            <a:endParaRPr lang="en-US" altLang="zh-CN" sz="4000" dirty="0"/>
          </a:p>
        </p:txBody>
      </p:sp>
      <p:sp>
        <p:nvSpPr>
          <p:cNvPr id="369667" name="Rectangle 3">
            <a:extLst>
              <a:ext uri="{FF2B5EF4-FFF2-40B4-BE49-F238E27FC236}">
                <a16:creationId xmlns:a16="http://schemas.microsoft.com/office/drawing/2014/main" id="{43F773E1-7508-97E2-B5B6-E4010F471FAD}"/>
              </a:ext>
            </a:extLst>
          </p:cNvPr>
          <p:cNvSpPr>
            <a:spLocks noGrp="1" noChangeArrowheads="1"/>
          </p:cNvSpPr>
          <p:nvPr>
            <p:ph idx="1"/>
          </p:nvPr>
        </p:nvSpPr>
        <p:spPr>
          <a:xfrm>
            <a:off x="792163" y="1268413"/>
            <a:ext cx="8112125" cy="4752975"/>
          </a:xfrm>
        </p:spPr>
        <p:txBody>
          <a:bodyPr>
            <a:normAutofit/>
          </a:bodyPr>
          <a:lstStyle/>
          <a:p>
            <a:pPr eaLnBrk="1" hangingPunct="1"/>
            <a:r>
              <a:rPr lang="zh-CN" altLang="en-US" sz="2800" dirty="0"/>
              <a:t>最佳置换和</a:t>
            </a:r>
            <a:r>
              <a:rPr lang="en-US" altLang="zh-CN" sz="2800" dirty="0"/>
              <a:t>LRU</a:t>
            </a:r>
            <a:r>
              <a:rPr lang="zh-CN" altLang="en-US" sz="2800" dirty="0"/>
              <a:t>都没有</a:t>
            </a:r>
            <a:r>
              <a:rPr lang="en-US" altLang="zh-CN" sz="2800" dirty="0" err="1"/>
              <a:t>belady</a:t>
            </a:r>
            <a:r>
              <a:rPr lang="zh-CN" altLang="en-US" sz="2800" dirty="0"/>
              <a:t>异常，这类算法称为栈算法。</a:t>
            </a:r>
          </a:p>
          <a:p>
            <a:pPr eaLnBrk="1" hangingPunct="1"/>
            <a:r>
              <a:rPr lang="zh-CN" altLang="en-US" sz="2800" dirty="0"/>
              <a:t>对于栈算法：帧数为</a:t>
            </a:r>
            <a:r>
              <a:rPr lang="en-US" altLang="zh-CN" sz="2800" dirty="0"/>
              <a:t>n</a:t>
            </a:r>
            <a:r>
              <a:rPr lang="zh-CN" altLang="en-US" sz="2800" dirty="0"/>
              <a:t>的内存页集合是帧数为</a:t>
            </a:r>
            <a:r>
              <a:rPr lang="en-US" altLang="zh-CN" sz="2800" dirty="0"/>
              <a:t>n+1</a:t>
            </a:r>
            <a:r>
              <a:rPr lang="zh-CN" altLang="en-US" sz="2800" dirty="0"/>
              <a:t>的页集合的子集。</a:t>
            </a:r>
          </a:p>
          <a:p>
            <a:pPr eaLnBrk="1" hangingPunct="1">
              <a:buFont typeface="Wingdings" pitchFamily="2" charset="2"/>
              <a:buNone/>
            </a:pPr>
            <a:r>
              <a:rPr lang="en-US" altLang="zh-CN" sz="2800" dirty="0"/>
              <a:t>   </a:t>
            </a:r>
            <a:endParaRPr lang="zh-CN" altLang="en-US" sz="28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9667">
                                            <p:txEl>
                                              <p:pRg st="0" end="0"/>
                                            </p:txEl>
                                          </p:spTgt>
                                        </p:tgtEl>
                                        <p:attrNameLst>
                                          <p:attrName>style.visibility</p:attrName>
                                        </p:attrNameLst>
                                      </p:cBhvr>
                                      <p:to>
                                        <p:strVal val="visible"/>
                                      </p:to>
                                    </p:set>
                                    <p:animEffect transition="in" filter="checkerboard(across)">
                                      <p:cBhvr>
                                        <p:cTn id="7" dur="500"/>
                                        <p:tgtEl>
                                          <p:spTgt spid="3696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69667">
                                            <p:txEl>
                                              <p:pRg st="1" end="1"/>
                                            </p:txEl>
                                          </p:spTgt>
                                        </p:tgtEl>
                                        <p:attrNameLst>
                                          <p:attrName>style.visibility</p:attrName>
                                        </p:attrNameLst>
                                      </p:cBhvr>
                                      <p:to>
                                        <p:strVal val="visible"/>
                                      </p:to>
                                    </p:set>
                                    <p:animEffect transition="in" filter="checkerboard(across)">
                                      <p:cBhvr>
                                        <p:cTn id="12" dur="500"/>
                                        <p:tgtEl>
                                          <p:spTgt spid="369667">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369667">
                                            <p:txEl>
                                              <p:pRg st="2" end="2"/>
                                            </p:txEl>
                                          </p:spTgt>
                                        </p:tgtEl>
                                        <p:attrNameLst>
                                          <p:attrName>style.visibility</p:attrName>
                                        </p:attrNameLst>
                                      </p:cBhvr>
                                      <p:to>
                                        <p:strVal val="visible"/>
                                      </p:to>
                                    </p:set>
                                    <p:animEffect transition="in" filter="checkerboard(across)">
                                      <p:cBhvr>
                                        <p:cTn id="15" dur="500"/>
                                        <p:tgtEl>
                                          <p:spTgt spid="3696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build="p"/>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D9512B00-BABE-56F8-06FB-AB48732ECBC0}"/>
              </a:ext>
            </a:extLst>
          </p:cNvPr>
          <p:cNvSpPr>
            <a:spLocks noGrp="1" noChangeArrowheads="1"/>
          </p:cNvSpPr>
          <p:nvPr>
            <p:ph type="title"/>
          </p:nvPr>
        </p:nvSpPr>
        <p:spPr>
          <a:xfrm>
            <a:off x="1042988" y="225431"/>
            <a:ext cx="7850187" cy="746125"/>
          </a:xfrm>
        </p:spPr>
        <p:txBody>
          <a:bodyPr/>
          <a:lstStyle/>
          <a:p>
            <a:r>
              <a:rPr lang="en-US" altLang="zh-CN" dirty="0"/>
              <a:t>LRU</a:t>
            </a:r>
            <a:r>
              <a:rPr lang="zh-CN" altLang="en-US" dirty="0"/>
              <a:t>近似置换算法</a:t>
            </a:r>
          </a:p>
        </p:txBody>
      </p:sp>
      <p:sp>
        <p:nvSpPr>
          <p:cNvPr id="371715" name="Rectangle 3">
            <a:extLst>
              <a:ext uri="{FF2B5EF4-FFF2-40B4-BE49-F238E27FC236}">
                <a16:creationId xmlns:a16="http://schemas.microsoft.com/office/drawing/2014/main" id="{3AAF93EC-D48B-7371-391B-1E457855D296}"/>
              </a:ext>
            </a:extLst>
          </p:cNvPr>
          <p:cNvSpPr>
            <a:spLocks noGrp="1" noChangeArrowheads="1"/>
          </p:cNvSpPr>
          <p:nvPr>
            <p:ph idx="1"/>
          </p:nvPr>
        </p:nvSpPr>
        <p:spPr>
          <a:xfrm>
            <a:off x="935038" y="1233488"/>
            <a:ext cx="7772400" cy="4895850"/>
          </a:xfrm>
        </p:spPr>
        <p:txBody>
          <a:bodyPr>
            <a:normAutofit/>
          </a:bodyPr>
          <a:lstStyle/>
          <a:p>
            <a:r>
              <a:rPr lang="zh-CN" altLang="en-US" dirty="0"/>
              <a:t>近似</a:t>
            </a:r>
            <a:r>
              <a:rPr lang="en-US" altLang="zh-CN" dirty="0"/>
              <a:t>LRU</a:t>
            </a:r>
            <a:r>
              <a:rPr lang="zh-CN" altLang="en-US" dirty="0"/>
              <a:t>算法的基础：引用位（也称访问位） </a:t>
            </a:r>
          </a:p>
          <a:p>
            <a:pPr lvl="1"/>
            <a:r>
              <a:rPr lang="zh-CN" altLang="en-US" dirty="0"/>
              <a:t>每个页表项都关联一个引用位，初始值为0</a:t>
            </a:r>
          </a:p>
          <a:p>
            <a:pPr lvl="1"/>
            <a:r>
              <a:rPr lang="zh-CN" altLang="en-US" dirty="0"/>
              <a:t>当页被访问时将引用位设为</a:t>
            </a:r>
            <a:r>
              <a:rPr lang="en-US" altLang="zh-CN" dirty="0"/>
              <a:t>1</a:t>
            </a:r>
          </a:p>
          <a:p>
            <a:pPr lvl="1"/>
            <a:r>
              <a:rPr lang="zh-CN" altLang="en-US" dirty="0"/>
              <a:t>如果存在引用位为0的页，则置换它</a:t>
            </a:r>
            <a:r>
              <a:rPr lang="en-US" altLang="zh-CN" dirty="0"/>
              <a:t>  </a:t>
            </a:r>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Effect transition="in" filter="checkerboard(across)">
                                      <p:cBhvr>
                                        <p:cTn id="7" dur="500"/>
                                        <p:tgtEl>
                                          <p:spTgt spid="3717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71715">
                                            <p:txEl>
                                              <p:pRg st="1" end="1"/>
                                            </p:txEl>
                                          </p:spTgt>
                                        </p:tgtEl>
                                        <p:attrNameLst>
                                          <p:attrName>style.visibility</p:attrName>
                                        </p:attrNameLst>
                                      </p:cBhvr>
                                      <p:to>
                                        <p:strVal val="visible"/>
                                      </p:to>
                                    </p:set>
                                    <p:animEffect transition="in" filter="checkerboard(across)">
                                      <p:cBhvr>
                                        <p:cTn id="12" dur="500"/>
                                        <p:tgtEl>
                                          <p:spTgt spid="3717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71715">
                                            <p:txEl>
                                              <p:pRg st="2" end="2"/>
                                            </p:txEl>
                                          </p:spTgt>
                                        </p:tgtEl>
                                        <p:attrNameLst>
                                          <p:attrName>style.visibility</p:attrName>
                                        </p:attrNameLst>
                                      </p:cBhvr>
                                      <p:to>
                                        <p:strVal val="visible"/>
                                      </p:to>
                                    </p:set>
                                    <p:animEffect transition="in" filter="checkerboard(across)">
                                      <p:cBhvr>
                                        <p:cTn id="17" dur="500"/>
                                        <p:tgtEl>
                                          <p:spTgt spid="3717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71715">
                                            <p:txEl>
                                              <p:pRg st="3" end="3"/>
                                            </p:txEl>
                                          </p:spTgt>
                                        </p:tgtEl>
                                        <p:attrNameLst>
                                          <p:attrName>style.visibility</p:attrName>
                                        </p:attrNameLst>
                                      </p:cBhvr>
                                      <p:to>
                                        <p:strVal val="visible"/>
                                      </p:to>
                                    </p:set>
                                    <p:animEffect transition="in" filter="checkerboard(across)">
                                      <p:cBhvr>
                                        <p:cTn id="22" dur="500"/>
                                        <p:tgtEl>
                                          <p:spTgt spid="3717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5" grpId="0" build="p"/>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D42A38-82E7-2CA2-6506-8742CDFA4F7D}"/>
              </a:ext>
            </a:extLst>
          </p:cNvPr>
          <p:cNvSpPr>
            <a:spLocks noGrp="1"/>
          </p:cNvSpPr>
          <p:nvPr>
            <p:ph type="title"/>
          </p:nvPr>
        </p:nvSpPr>
        <p:spPr/>
        <p:txBody>
          <a:bodyPr/>
          <a:lstStyle/>
          <a:p>
            <a:r>
              <a:rPr kumimoji="1" lang="en-US" altLang="zh-CN" dirty="0"/>
              <a:t>LRU</a:t>
            </a:r>
            <a:r>
              <a:rPr kumimoji="1" lang="zh-CN" altLang="en-US" dirty="0"/>
              <a:t>近似置换算法</a:t>
            </a:r>
          </a:p>
        </p:txBody>
      </p:sp>
      <p:sp>
        <p:nvSpPr>
          <p:cNvPr id="3" name="内容占位符 2">
            <a:extLst>
              <a:ext uri="{FF2B5EF4-FFF2-40B4-BE49-F238E27FC236}">
                <a16:creationId xmlns:a16="http://schemas.microsoft.com/office/drawing/2014/main" id="{15B2D401-AE22-0AB3-A302-8100635B5303}"/>
              </a:ext>
            </a:extLst>
          </p:cNvPr>
          <p:cNvSpPr>
            <a:spLocks noGrp="1"/>
          </p:cNvSpPr>
          <p:nvPr>
            <p:ph idx="1"/>
          </p:nvPr>
        </p:nvSpPr>
        <p:spPr/>
        <p:txBody>
          <a:bodyPr>
            <a:normAutofit/>
          </a:bodyPr>
          <a:lstStyle/>
          <a:p>
            <a:r>
              <a:rPr lang="en-US" altLang="zh-CN" sz="2800" dirty="0"/>
              <a:t>1.</a:t>
            </a:r>
            <a:r>
              <a:rPr lang="zh-CN" altLang="en-US" sz="2800" dirty="0"/>
              <a:t>附加引用位算法</a:t>
            </a:r>
            <a:endParaRPr lang="en-US" altLang="zh-CN" sz="2800" dirty="0"/>
          </a:p>
          <a:p>
            <a:pPr lvl="1"/>
            <a:r>
              <a:rPr lang="zh-CN" altLang="en-US" dirty="0"/>
              <a:t>与前面的计数器实现方法类似</a:t>
            </a:r>
          </a:p>
          <a:p>
            <a:pPr eaLnBrk="1" hangingPunct="1"/>
            <a:r>
              <a:rPr kumimoji="1" lang="en-US" altLang="zh-CN" dirty="0"/>
              <a:t>2.</a:t>
            </a:r>
            <a:r>
              <a:rPr lang="zh-CN" altLang="en-US" dirty="0">
                <a:solidFill>
                  <a:srgbClr val="FF0000"/>
                </a:solidFill>
              </a:rPr>
              <a:t>二次机会算法：</a:t>
            </a:r>
            <a:r>
              <a:rPr lang="zh-CN" altLang="en-US" dirty="0"/>
              <a:t>是</a:t>
            </a:r>
            <a:r>
              <a:rPr lang="en-US" altLang="zh-CN" dirty="0"/>
              <a:t>FIFO</a:t>
            </a:r>
            <a:r>
              <a:rPr lang="zh-CN" altLang="en-US" dirty="0"/>
              <a:t>算法的改进，以避免将经常使用的页面淘汰掉。</a:t>
            </a:r>
          </a:p>
          <a:p>
            <a:pPr lvl="1"/>
            <a:r>
              <a:rPr lang="zh-CN" altLang="en-US" dirty="0"/>
              <a:t>算法思想：使用</a:t>
            </a:r>
            <a:r>
              <a:rPr lang="en-US" altLang="zh-CN" dirty="0"/>
              <a:t>FIFO</a:t>
            </a:r>
            <a:r>
              <a:rPr lang="zh-CN" altLang="en-US" dirty="0"/>
              <a:t>算法选择一页淘汰时，先检查该页的引用位，如果是</a:t>
            </a:r>
            <a:r>
              <a:rPr lang="en-US" altLang="zh-CN" dirty="0"/>
              <a:t>0</a:t>
            </a:r>
            <a:r>
              <a:rPr lang="zh-CN" altLang="en-US" dirty="0"/>
              <a:t>就立即淘汰该页，如果是</a:t>
            </a:r>
            <a:r>
              <a:rPr lang="en-US" altLang="zh-CN" dirty="0"/>
              <a:t>1</a:t>
            </a:r>
            <a:r>
              <a:rPr lang="zh-CN" altLang="en-US" dirty="0"/>
              <a:t>就给它第二次机会，将其引用位清</a:t>
            </a:r>
            <a:r>
              <a:rPr lang="en-US" altLang="zh-CN" dirty="0"/>
              <a:t>0</a:t>
            </a:r>
            <a:r>
              <a:rPr lang="zh-CN" altLang="en-US" dirty="0"/>
              <a:t>，并将它放入页面链的末尾，将其装入时间置为当前时间，然后选择下一个页面。</a:t>
            </a:r>
          </a:p>
          <a:p>
            <a:endParaRPr kumimoji="1" lang="zh-CN" altLang="en-US" dirty="0"/>
          </a:p>
        </p:txBody>
      </p:sp>
      <p:sp>
        <p:nvSpPr>
          <p:cNvPr id="4" name="灯片编号占位符 3">
            <a:extLst>
              <a:ext uri="{FF2B5EF4-FFF2-40B4-BE49-F238E27FC236}">
                <a16:creationId xmlns:a16="http://schemas.microsoft.com/office/drawing/2014/main" id="{A8FB7085-59B4-5C92-7758-8DEEA17F543E}"/>
              </a:ext>
            </a:extLst>
          </p:cNvPr>
          <p:cNvSpPr>
            <a:spLocks noGrp="1"/>
          </p:cNvSpPr>
          <p:nvPr>
            <p:ph type="sldNum" sz="quarter" idx="12"/>
          </p:nvPr>
        </p:nvSpPr>
        <p:spPr/>
        <p:txBody>
          <a:bodyPr/>
          <a:lstStyle/>
          <a:p>
            <a:fld id="{4093CC90-4002-504C-BD88-C9A1D374048E}" type="slidenum">
              <a:rPr lang="zh-CN" altLang="en-US" smtClean="0"/>
              <a:pPr/>
              <a:t>182</a:t>
            </a:fld>
            <a:endParaRPr lang="zh-CN" altLang="en-US" dirty="0"/>
          </a:p>
        </p:txBody>
      </p:sp>
    </p:spTree>
    <p:extLst>
      <p:ext uri="{BB962C8B-B14F-4D97-AF65-F5344CB8AC3E}">
        <p14:creationId xmlns:p14="http://schemas.microsoft.com/office/powerpoint/2010/main" val="4230342343"/>
      </p:ext>
    </p:extLst>
  </p:cSld>
  <p:clrMapOvr>
    <a:masterClrMapping/>
  </p:clrMapOvr>
  <p:transition spd="med">
    <p:zoom/>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8D5B2264-0703-7AE5-47E3-CA15A0132D4C}"/>
              </a:ext>
            </a:extLst>
          </p:cNvPr>
          <p:cNvSpPr>
            <a:spLocks noGrp="1" noChangeArrowheads="1"/>
          </p:cNvSpPr>
          <p:nvPr>
            <p:ph type="title"/>
          </p:nvPr>
        </p:nvSpPr>
        <p:spPr>
          <a:xfrm>
            <a:off x="1042988" y="225431"/>
            <a:ext cx="7850187" cy="746125"/>
          </a:xfrm>
        </p:spPr>
        <p:txBody>
          <a:bodyPr/>
          <a:lstStyle/>
          <a:p>
            <a:r>
              <a:rPr lang="zh-CN" altLang="en-US"/>
              <a:t>简单时钟（</a:t>
            </a:r>
            <a:r>
              <a:rPr lang="en-US" altLang="zh-CN"/>
              <a:t>clock）</a:t>
            </a:r>
            <a:r>
              <a:rPr lang="zh-CN" altLang="en-US"/>
              <a:t>算法</a:t>
            </a:r>
          </a:p>
        </p:txBody>
      </p:sp>
      <p:sp>
        <p:nvSpPr>
          <p:cNvPr id="160771" name="Rectangle 3">
            <a:extLst>
              <a:ext uri="{FF2B5EF4-FFF2-40B4-BE49-F238E27FC236}">
                <a16:creationId xmlns:a16="http://schemas.microsoft.com/office/drawing/2014/main" id="{4AAE1FE5-0D56-F865-167A-58B3BCB96376}"/>
              </a:ext>
            </a:extLst>
          </p:cNvPr>
          <p:cNvSpPr>
            <a:spLocks noGrp="1" noChangeArrowheads="1"/>
          </p:cNvSpPr>
          <p:nvPr>
            <p:ph idx="1"/>
          </p:nvPr>
        </p:nvSpPr>
        <p:spPr>
          <a:xfrm>
            <a:off x="935038" y="1233488"/>
            <a:ext cx="7772400" cy="4895850"/>
          </a:xfrm>
        </p:spPr>
        <p:txBody>
          <a:bodyPr>
            <a:normAutofit fontScale="92500" lnSpcReduction="20000"/>
          </a:bodyPr>
          <a:lstStyle/>
          <a:p>
            <a:r>
              <a:rPr lang="zh-CN" altLang="en-US" b="1" dirty="0">
                <a:solidFill>
                  <a:srgbClr val="FF0000"/>
                </a:solidFill>
              </a:rPr>
              <a:t>简单时钟置换算法</a:t>
            </a:r>
            <a:r>
              <a:rPr lang="zh-CN" altLang="en-US" dirty="0"/>
              <a:t>既是对二次机会算法的改进，也是对</a:t>
            </a:r>
            <a:r>
              <a:rPr lang="en-US" altLang="zh-CN" dirty="0"/>
              <a:t>LRU</a:t>
            </a:r>
            <a:r>
              <a:rPr lang="zh-CN" altLang="en-US" dirty="0"/>
              <a:t>算法的近似。该算法也要求为每页设置一个访问位。</a:t>
            </a:r>
          </a:p>
          <a:p>
            <a:r>
              <a:rPr lang="zh-CN" altLang="en-US" dirty="0"/>
              <a:t>实现思想：将页面排成一个循环队列，类似于时钟表面，并使用一个置换指针。当发生缺页时，检查指针指向的页面，若其访问位为</a:t>
            </a:r>
            <a:r>
              <a:rPr lang="en-US" altLang="zh-CN" dirty="0"/>
              <a:t>0</a:t>
            </a:r>
            <a:r>
              <a:rPr lang="zh-CN" altLang="en-US" dirty="0"/>
              <a:t>则淘汰该页，否则将该页的访问位清</a:t>
            </a:r>
            <a:r>
              <a:rPr lang="en-US" altLang="zh-CN" dirty="0"/>
              <a:t>0</a:t>
            </a:r>
            <a:r>
              <a:rPr lang="zh-CN" altLang="en-US" dirty="0"/>
              <a:t>，指针前移并重复上述过程，直到找到访问位为</a:t>
            </a:r>
            <a:r>
              <a:rPr lang="en-US" altLang="zh-CN" dirty="0"/>
              <a:t>0</a:t>
            </a:r>
            <a:r>
              <a:rPr lang="zh-CN" altLang="en-US" dirty="0"/>
              <a:t>的淘汰页为止。最后指针停留在被置换页的下一页上；</a:t>
            </a:r>
          </a:p>
          <a:p>
            <a:r>
              <a:rPr lang="zh-CN" altLang="en-US" dirty="0"/>
              <a:t>该算法也称为最近未使用（</a:t>
            </a:r>
            <a:r>
              <a:rPr lang="en-US" altLang="zh-CN" dirty="0"/>
              <a:t>Not Recently Used</a:t>
            </a:r>
            <a:r>
              <a:rPr lang="zh-CN" altLang="en-US" dirty="0"/>
              <a:t>，</a:t>
            </a:r>
            <a:r>
              <a:rPr lang="en-US" altLang="zh-CN" dirty="0"/>
              <a:t>NRU</a:t>
            </a:r>
            <a:r>
              <a:rPr lang="zh-CN" altLang="en-US" dirty="0"/>
              <a:t>）算法。</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Effect transition="in" filter="checkerboard(across)">
                                      <p:cBhvr>
                                        <p:cTn id="7" dur="500"/>
                                        <p:tgtEl>
                                          <p:spTgt spid="160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60771">
                                            <p:txEl>
                                              <p:pRg st="1" end="1"/>
                                            </p:txEl>
                                          </p:spTgt>
                                        </p:tgtEl>
                                        <p:attrNameLst>
                                          <p:attrName>style.visibility</p:attrName>
                                        </p:attrNameLst>
                                      </p:cBhvr>
                                      <p:to>
                                        <p:strVal val="visible"/>
                                      </p:to>
                                    </p:set>
                                    <p:animEffect transition="in" filter="checkerboard(across)">
                                      <p:cBhvr>
                                        <p:cTn id="12" dur="500"/>
                                        <p:tgtEl>
                                          <p:spTgt spid="1607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60771">
                                            <p:txEl>
                                              <p:pRg st="2" end="2"/>
                                            </p:txEl>
                                          </p:spTgt>
                                        </p:tgtEl>
                                        <p:attrNameLst>
                                          <p:attrName>style.visibility</p:attrName>
                                        </p:attrNameLst>
                                      </p:cBhvr>
                                      <p:to>
                                        <p:strVal val="visible"/>
                                      </p:to>
                                    </p:set>
                                    <p:animEffect transition="in" filter="checkerboard(across)">
                                      <p:cBhvr>
                                        <p:cTn id="17" dur="500"/>
                                        <p:tgtEl>
                                          <p:spTgt spid="1607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E767C45F-63C7-B84F-B5C7-5E5BA24C536C}"/>
              </a:ext>
            </a:extLst>
          </p:cNvPr>
          <p:cNvSpPr>
            <a:spLocks noGrp="1" noChangeArrowheads="1"/>
          </p:cNvSpPr>
          <p:nvPr>
            <p:ph type="title"/>
          </p:nvPr>
        </p:nvSpPr>
        <p:spPr/>
        <p:txBody>
          <a:bodyPr/>
          <a:lstStyle/>
          <a:p>
            <a:pPr eaLnBrk="1" hangingPunct="1"/>
            <a:r>
              <a:rPr lang="zh-CN" altLang="en-US" b="1"/>
              <a:t>简单时钟置换算法页面链</a:t>
            </a:r>
            <a:endParaRPr lang="zh-CN" altLang="en-US"/>
          </a:p>
        </p:txBody>
      </p:sp>
      <p:sp>
        <p:nvSpPr>
          <p:cNvPr id="68610" name="Rectangle 4">
            <a:extLst>
              <a:ext uri="{FF2B5EF4-FFF2-40B4-BE49-F238E27FC236}">
                <a16:creationId xmlns:a16="http://schemas.microsoft.com/office/drawing/2014/main" id="{A5818959-A54E-2A7D-4920-7F64F42C6F6C}"/>
              </a:ext>
            </a:extLst>
          </p:cNvPr>
          <p:cNvSpPr>
            <a:spLocks noChangeArrowheads="1"/>
          </p:cNvSpPr>
          <p:nvPr/>
        </p:nvSpPr>
        <p:spPr bwMode="auto">
          <a:xfrm>
            <a:off x="2978150" y="1600200"/>
            <a:ext cx="2809875" cy="3962400"/>
          </a:xfrm>
          <a:prstGeom prst="rect">
            <a:avLst/>
          </a:prstGeom>
          <a:solidFill>
            <a:srgbClr val="FFFFFF"/>
          </a:solidFill>
          <a:ln w="28575">
            <a:solidFill>
              <a:srgbClr val="000000"/>
            </a:solidFill>
            <a:miter lim="800000"/>
            <a:headEnd/>
            <a:tailEnd/>
          </a:ln>
        </p:spPr>
        <p:txBody>
          <a:bodyPr lIns="0" tIns="144000" rIns="0" bIns="0"/>
          <a:lstStyle/>
          <a:p>
            <a:pPr algn="just" eaLnBrk="0" hangingPunct="0">
              <a:spcBef>
                <a:spcPct val="0"/>
              </a:spcBef>
              <a:buClrTx/>
              <a:buSzTx/>
              <a:buFontTx/>
              <a:buNone/>
            </a:pPr>
            <a:r>
              <a:rPr lang="zh-CN" altLang="en-US" sz="2000">
                <a:latin typeface="Times New Roman" panose="02020603050405020304" pitchFamily="18" charset="0"/>
              </a:rPr>
              <a:t> </a:t>
            </a:r>
            <a:r>
              <a:rPr lang="zh-CN" altLang="en-US" sz="2000" b="1">
                <a:latin typeface="Times New Roman" panose="02020603050405020304" pitchFamily="18" charset="0"/>
              </a:rPr>
              <a:t>块号  页号  访问位  指针</a:t>
            </a:r>
            <a:endParaRPr lang="zh-CN" altLang="en-US" sz="800" b="1">
              <a:latin typeface="Times New Roman" panose="02020603050405020304" pitchFamily="18" charset="0"/>
            </a:endParaRPr>
          </a:p>
          <a:p>
            <a:pPr algn="just" eaLnBrk="0" hangingPunct="0">
              <a:spcBef>
                <a:spcPct val="0"/>
              </a:spcBef>
              <a:buClrTx/>
              <a:buSzTx/>
              <a:buFontTx/>
              <a:buNone/>
            </a:pPr>
            <a:endParaRPr lang="zh-CN" altLang="en-US" sz="800" b="1">
              <a:latin typeface="Times New Roman" panose="02020603050405020304" pitchFamily="18" charset="0"/>
            </a:endParaRPr>
          </a:p>
          <a:p>
            <a:pPr algn="just" eaLnBrk="0" hangingPunct="0">
              <a:spcBef>
                <a:spcPct val="0"/>
              </a:spcBef>
              <a:buClrTx/>
              <a:buSzTx/>
              <a:buFontTx/>
              <a:buNone/>
            </a:pPr>
            <a:r>
              <a:rPr lang="zh-CN" altLang="en-US" sz="2000" b="1">
                <a:latin typeface="Times New Roman" panose="02020603050405020304" pitchFamily="18" charset="0"/>
              </a:rPr>
              <a:t>    0</a:t>
            </a:r>
          </a:p>
          <a:p>
            <a:pPr algn="just" eaLnBrk="0" hangingPunct="0">
              <a:spcBef>
                <a:spcPct val="0"/>
              </a:spcBef>
              <a:buClrTx/>
              <a:buSzTx/>
              <a:buFontTx/>
              <a:buNone/>
            </a:pPr>
            <a:endParaRPr lang="zh-CN" altLang="en-US" sz="800" b="1">
              <a:latin typeface="Times New Roman" panose="02020603050405020304" pitchFamily="18" charset="0"/>
            </a:endParaRPr>
          </a:p>
          <a:p>
            <a:pPr algn="just" eaLnBrk="0" hangingPunct="0">
              <a:spcBef>
                <a:spcPct val="0"/>
              </a:spcBef>
              <a:buClrTx/>
              <a:buSzTx/>
              <a:buFontTx/>
              <a:buNone/>
            </a:pPr>
            <a:r>
              <a:rPr lang="zh-CN" altLang="en-US" sz="2000" b="1">
                <a:latin typeface="Times New Roman" panose="02020603050405020304" pitchFamily="18" charset="0"/>
              </a:rPr>
              <a:t>    1</a:t>
            </a:r>
          </a:p>
          <a:p>
            <a:pPr algn="just" eaLnBrk="0" hangingPunct="0">
              <a:spcBef>
                <a:spcPct val="0"/>
              </a:spcBef>
              <a:buClrTx/>
              <a:buSzTx/>
              <a:buFontTx/>
              <a:buNone/>
            </a:pPr>
            <a:endParaRPr lang="zh-CN" altLang="en-US" sz="800" b="1">
              <a:latin typeface="Times New Roman" panose="02020603050405020304" pitchFamily="18" charset="0"/>
            </a:endParaRPr>
          </a:p>
          <a:p>
            <a:pPr algn="just" eaLnBrk="0" hangingPunct="0">
              <a:spcBef>
                <a:spcPct val="0"/>
              </a:spcBef>
              <a:buClrTx/>
              <a:buSzTx/>
              <a:buFontTx/>
              <a:buNone/>
            </a:pPr>
            <a:r>
              <a:rPr lang="zh-CN" altLang="en-US" sz="2000" b="1">
                <a:latin typeface="Times New Roman" panose="02020603050405020304" pitchFamily="18" charset="0"/>
              </a:rPr>
              <a:t>    2        4          0</a:t>
            </a:r>
          </a:p>
          <a:p>
            <a:pPr algn="just" eaLnBrk="0" hangingPunct="0">
              <a:spcBef>
                <a:spcPct val="0"/>
              </a:spcBef>
              <a:buClrTx/>
              <a:buSzTx/>
              <a:buFontTx/>
              <a:buNone/>
            </a:pPr>
            <a:endParaRPr lang="zh-CN" altLang="en-US" sz="800" b="1">
              <a:latin typeface="Times New Roman" panose="02020603050405020304" pitchFamily="18" charset="0"/>
            </a:endParaRPr>
          </a:p>
          <a:p>
            <a:pPr algn="just" eaLnBrk="0" hangingPunct="0">
              <a:spcBef>
                <a:spcPct val="0"/>
              </a:spcBef>
              <a:buClrTx/>
              <a:buSzTx/>
              <a:buFontTx/>
              <a:buNone/>
            </a:pPr>
            <a:r>
              <a:rPr lang="zh-CN" altLang="en-US" sz="2000" b="1">
                <a:latin typeface="Times New Roman" panose="02020603050405020304" pitchFamily="18" charset="0"/>
              </a:rPr>
              <a:t>    3</a:t>
            </a:r>
          </a:p>
          <a:p>
            <a:pPr algn="just" eaLnBrk="0" hangingPunct="0">
              <a:spcBef>
                <a:spcPct val="0"/>
              </a:spcBef>
              <a:buClrTx/>
              <a:buSzTx/>
              <a:buFontTx/>
              <a:buNone/>
            </a:pPr>
            <a:endParaRPr lang="zh-CN" altLang="en-US" sz="800" b="1">
              <a:latin typeface="Times New Roman" panose="02020603050405020304" pitchFamily="18" charset="0"/>
            </a:endParaRPr>
          </a:p>
          <a:p>
            <a:pPr algn="just" eaLnBrk="0" hangingPunct="0">
              <a:spcBef>
                <a:spcPct val="0"/>
              </a:spcBef>
              <a:buClrTx/>
              <a:buSzTx/>
              <a:buFontTx/>
              <a:buNone/>
            </a:pPr>
            <a:r>
              <a:rPr lang="zh-CN" altLang="en-US" sz="2000" b="1">
                <a:latin typeface="Times New Roman" panose="02020603050405020304" pitchFamily="18" charset="0"/>
              </a:rPr>
              <a:t>    4        2          1</a:t>
            </a:r>
          </a:p>
          <a:p>
            <a:pPr algn="just" eaLnBrk="0" hangingPunct="0">
              <a:spcBef>
                <a:spcPct val="0"/>
              </a:spcBef>
              <a:buClrTx/>
              <a:buSzTx/>
              <a:buFontTx/>
              <a:buNone/>
            </a:pPr>
            <a:endParaRPr lang="zh-CN" altLang="en-US" sz="800" b="1">
              <a:latin typeface="Times New Roman" panose="02020603050405020304" pitchFamily="18" charset="0"/>
            </a:endParaRPr>
          </a:p>
          <a:p>
            <a:pPr algn="just" eaLnBrk="0" hangingPunct="0">
              <a:spcBef>
                <a:spcPct val="0"/>
              </a:spcBef>
              <a:buClrTx/>
              <a:buSzTx/>
              <a:buFontTx/>
              <a:buNone/>
            </a:pPr>
            <a:r>
              <a:rPr lang="zh-CN" altLang="en-US" sz="2000" b="1">
                <a:latin typeface="Times New Roman" panose="02020603050405020304" pitchFamily="18" charset="0"/>
              </a:rPr>
              <a:t>    5</a:t>
            </a:r>
          </a:p>
          <a:p>
            <a:pPr algn="just" eaLnBrk="0" hangingPunct="0">
              <a:spcBef>
                <a:spcPct val="0"/>
              </a:spcBef>
              <a:buClrTx/>
              <a:buSzTx/>
              <a:buFontTx/>
              <a:buNone/>
            </a:pPr>
            <a:endParaRPr lang="zh-CN" altLang="en-US" sz="800" b="1">
              <a:latin typeface="Times New Roman" panose="02020603050405020304" pitchFamily="18" charset="0"/>
            </a:endParaRPr>
          </a:p>
          <a:p>
            <a:pPr algn="just" eaLnBrk="0" hangingPunct="0">
              <a:spcBef>
                <a:spcPct val="0"/>
              </a:spcBef>
              <a:buClrTx/>
              <a:buSzTx/>
              <a:buFontTx/>
              <a:buNone/>
            </a:pPr>
            <a:r>
              <a:rPr lang="zh-CN" altLang="en-US" sz="2000" b="1">
                <a:latin typeface="Times New Roman" panose="02020603050405020304" pitchFamily="18" charset="0"/>
              </a:rPr>
              <a:t>    6        5          0</a:t>
            </a:r>
          </a:p>
          <a:p>
            <a:pPr algn="just" eaLnBrk="0" hangingPunct="0">
              <a:spcBef>
                <a:spcPct val="0"/>
              </a:spcBef>
              <a:buClrTx/>
              <a:buSzTx/>
              <a:buFontTx/>
              <a:buNone/>
            </a:pPr>
            <a:endParaRPr lang="zh-CN" altLang="en-US" sz="800" b="1">
              <a:latin typeface="Times New Roman" panose="02020603050405020304" pitchFamily="18" charset="0"/>
            </a:endParaRPr>
          </a:p>
          <a:p>
            <a:pPr algn="just" eaLnBrk="0" hangingPunct="0">
              <a:spcBef>
                <a:spcPct val="0"/>
              </a:spcBef>
              <a:buClrTx/>
              <a:buSzTx/>
              <a:buFontTx/>
              <a:buNone/>
            </a:pPr>
            <a:r>
              <a:rPr lang="zh-CN" altLang="en-US" sz="2000" b="1">
                <a:latin typeface="Times New Roman" panose="02020603050405020304" pitchFamily="18" charset="0"/>
              </a:rPr>
              <a:t>    7        1          1</a:t>
            </a:r>
          </a:p>
        </p:txBody>
      </p:sp>
      <p:sp>
        <p:nvSpPr>
          <p:cNvPr id="68611" name="Line 5">
            <a:extLst>
              <a:ext uri="{FF2B5EF4-FFF2-40B4-BE49-F238E27FC236}">
                <a16:creationId xmlns:a16="http://schemas.microsoft.com/office/drawing/2014/main" id="{9DF92077-CC4E-F07B-72FA-7D0128991864}"/>
              </a:ext>
            </a:extLst>
          </p:cNvPr>
          <p:cNvSpPr>
            <a:spLocks noChangeShapeType="1"/>
          </p:cNvSpPr>
          <p:nvPr/>
        </p:nvSpPr>
        <p:spPr bwMode="auto">
          <a:xfrm>
            <a:off x="2981325" y="2133600"/>
            <a:ext cx="2811463"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12" name="Line 6">
            <a:extLst>
              <a:ext uri="{FF2B5EF4-FFF2-40B4-BE49-F238E27FC236}">
                <a16:creationId xmlns:a16="http://schemas.microsoft.com/office/drawing/2014/main" id="{1ED43983-7796-91A6-AC79-404DD9BC14C0}"/>
              </a:ext>
            </a:extLst>
          </p:cNvPr>
          <p:cNvSpPr>
            <a:spLocks noChangeShapeType="1"/>
          </p:cNvSpPr>
          <p:nvPr/>
        </p:nvSpPr>
        <p:spPr bwMode="auto">
          <a:xfrm>
            <a:off x="5130800" y="1600200"/>
            <a:ext cx="1588" cy="3962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13" name="Line 7">
            <a:extLst>
              <a:ext uri="{FF2B5EF4-FFF2-40B4-BE49-F238E27FC236}">
                <a16:creationId xmlns:a16="http://schemas.microsoft.com/office/drawing/2014/main" id="{C9C3E14E-4B84-8B28-881F-4B6E63CA94D6}"/>
              </a:ext>
            </a:extLst>
          </p:cNvPr>
          <p:cNvSpPr>
            <a:spLocks noChangeShapeType="1"/>
          </p:cNvSpPr>
          <p:nvPr/>
        </p:nvSpPr>
        <p:spPr bwMode="auto">
          <a:xfrm>
            <a:off x="2981325" y="4265613"/>
            <a:ext cx="2811463" cy="158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14" name="Line 8">
            <a:extLst>
              <a:ext uri="{FF2B5EF4-FFF2-40B4-BE49-F238E27FC236}">
                <a16:creationId xmlns:a16="http://schemas.microsoft.com/office/drawing/2014/main" id="{42EDA877-B804-0100-C57D-539635591032}"/>
              </a:ext>
            </a:extLst>
          </p:cNvPr>
          <p:cNvSpPr>
            <a:spLocks noChangeShapeType="1"/>
          </p:cNvSpPr>
          <p:nvPr/>
        </p:nvSpPr>
        <p:spPr bwMode="auto">
          <a:xfrm>
            <a:off x="2981325" y="5105400"/>
            <a:ext cx="2811463"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15" name="Line 9">
            <a:extLst>
              <a:ext uri="{FF2B5EF4-FFF2-40B4-BE49-F238E27FC236}">
                <a16:creationId xmlns:a16="http://schemas.microsoft.com/office/drawing/2014/main" id="{55624875-EB29-AF68-078C-F0E3D67414EC}"/>
              </a:ext>
            </a:extLst>
          </p:cNvPr>
          <p:cNvSpPr>
            <a:spLocks noChangeShapeType="1"/>
          </p:cNvSpPr>
          <p:nvPr/>
        </p:nvSpPr>
        <p:spPr bwMode="auto">
          <a:xfrm>
            <a:off x="2981325" y="4722813"/>
            <a:ext cx="2811463" cy="158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16" name="Rectangle 10">
            <a:extLst>
              <a:ext uri="{FF2B5EF4-FFF2-40B4-BE49-F238E27FC236}">
                <a16:creationId xmlns:a16="http://schemas.microsoft.com/office/drawing/2014/main" id="{D7612BDD-6DBA-26F7-7E45-FCFB912AA3DE}"/>
              </a:ext>
            </a:extLst>
          </p:cNvPr>
          <p:cNvSpPr>
            <a:spLocks noChangeArrowheads="1"/>
          </p:cNvSpPr>
          <p:nvPr/>
        </p:nvSpPr>
        <p:spPr bwMode="auto">
          <a:xfrm>
            <a:off x="1709738" y="2743200"/>
            <a:ext cx="1109662"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替换指针</a:t>
            </a:r>
          </a:p>
        </p:txBody>
      </p:sp>
      <p:sp>
        <p:nvSpPr>
          <p:cNvPr id="68617" name="Line 11">
            <a:extLst>
              <a:ext uri="{FF2B5EF4-FFF2-40B4-BE49-F238E27FC236}">
                <a16:creationId xmlns:a16="http://schemas.microsoft.com/office/drawing/2014/main" id="{D2763CE6-D32D-79A9-8730-969075D26598}"/>
              </a:ext>
            </a:extLst>
          </p:cNvPr>
          <p:cNvSpPr>
            <a:spLocks noChangeShapeType="1"/>
          </p:cNvSpPr>
          <p:nvPr/>
        </p:nvSpPr>
        <p:spPr bwMode="auto">
          <a:xfrm>
            <a:off x="2435225" y="3276600"/>
            <a:ext cx="519113" cy="0"/>
          </a:xfrm>
          <a:prstGeom prst="line">
            <a:avLst/>
          </a:prstGeom>
          <a:noFill/>
          <a:ln w="31750">
            <a:solidFill>
              <a:srgbClr val="000000"/>
            </a:solidFill>
            <a:round/>
            <a:headEnd type="none" w="sm" len="me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8618" name="Line 12">
            <a:extLst>
              <a:ext uri="{FF2B5EF4-FFF2-40B4-BE49-F238E27FC236}">
                <a16:creationId xmlns:a16="http://schemas.microsoft.com/office/drawing/2014/main" id="{F35F6AC7-2215-8BAF-348A-AEB776CC474B}"/>
              </a:ext>
            </a:extLst>
          </p:cNvPr>
          <p:cNvSpPr>
            <a:spLocks noChangeShapeType="1"/>
          </p:cNvSpPr>
          <p:nvPr/>
        </p:nvSpPr>
        <p:spPr bwMode="auto">
          <a:xfrm flipH="1">
            <a:off x="6078538" y="3335338"/>
            <a:ext cx="0" cy="627062"/>
          </a:xfrm>
          <a:prstGeom prst="line">
            <a:avLst/>
          </a:prstGeom>
          <a:noFill/>
          <a:ln w="3175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8619" name="Line 13">
            <a:extLst>
              <a:ext uri="{FF2B5EF4-FFF2-40B4-BE49-F238E27FC236}">
                <a16:creationId xmlns:a16="http://schemas.microsoft.com/office/drawing/2014/main" id="{C78D370B-6352-61CC-A069-B9639F0AF99B}"/>
              </a:ext>
            </a:extLst>
          </p:cNvPr>
          <p:cNvSpPr>
            <a:spLocks noChangeShapeType="1"/>
          </p:cNvSpPr>
          <p:nvPr/>
        </p:nvSpPr>
        <p:spPr bwMode="auto">
          <a:xfrm>
            <a:off x="4265613" y="1600200"/>
            <a:ext cx="1587" cy="3962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0" name="Line 14">
            <a:extLst>
              <a:ext uri="{FF2B5EF4-FFF2-40B4-BE49-F238E27FC236}">
                <a16:creationId xmlns:a16="http://schemas.microsoft.com/office/drawing/2014/main" id="{43EE70A3-B969-10C8-4BFE-B4DAD5F2386D}"/>
              </a:ext>
            </a:extLst>
          </p:cNvPr>
          <p:cNvSpPr>
            <a:spLocks noChangeShapeType="1"/>
          </p:cNvSpPr>
          <p:nvPr/>
        </p:nvSpPr>
        <p:spPr bwMode="auto">
          <a:xfrm>
            <a:off x="3600450" y="1600200"/>
            <a:ext cx="1588" cy="3962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1" name="Line 15">
            <a:extLst>
              <a:ext uri="{FF2B5EF4-FFF2-40B4-BE49-F238E27FC236}">
                <a16:creationId xmlns:a16="http://schemas.microsoft.com/office/drawing/2014/main" id="{0A40360E-44D3-B658-DF8E-750BB2CF733E}"/>
              </a:ext>
            </a:extLst>
          </p:cNvPr>
          <p:cNvSpPr>
            <a:spLocks noChangeShapeType="1"/>
          </p:cNvSpPr>
          <p:nvPr/>
        </p:nvSpPr>
        <p:spPr bwMode="auto">
          <a:xfrm>
            <a:off x="2981325" y="3810000"/>
            <a:ext cx="2811463"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2" name="Line 16">
            <a:extLst>
              <a:ext uri="{FF2B5EF4-FFF2-40B4-BE49-F238E27FC236}">
                <a16:creationId xmlns:a16="http://schemas.microsoft.com/office/drawing/2014/main" id="{05F85A57-573E-FA29-09B5-9C52FFA6208F}"/>
              </a:ext>
            </a:extLst>
          </p:cNvPr>
          <p:cNvSpPr>
            <a:spLocks noChangeShapeType="1"/>
          </p:cNvSpPr>
          <p:nvPr/>
        </p:nvSpPr>
        <p:spPr bwMode="auto">
          <a:xfrm>
            <a:off x="2968625" y="3429000"/>
            <a:ext cx="2811463"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3" name="Line 17">
            <a:extLst>
              <a:ext uri="{FF2B5EF4-FFF2-40B4-BE49-F238E27FC236}">
                <a16:creationId xmlns:a16="http://schemas.microsoft.com/office/drawing/2014/main" id="{8FBCCD36-1F7B-6FE5-BD07-7D9B041FCADA}"/>
              </a:ext>
            </a:extLst>
          </p:cNvPr>
          <p:cNvSpPr>
            <a:spLocks noChangeShapeType="1"/>
          </p:cNvSpPr>
          <p:nvPr/>
        </p:nvSpPr>
        <p:spPr bwMode="auto">
          <a:xfrm>
            <a:off x="2981325" y="2514600"/>
            <a:ext cx="2811463"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4" name="Line 18">
            <a:extLst>
              <a:ext uri="{FF2B5EF4-FFF2-40B4-BE49-F238E27FC236}">
                <a16:creationId xmlns:a16="http://schemas.microsoft.com/office/drawing/2014/main" id="{A815944E-5E28-C6E5-866F-7235E78FFF64}"/>
              </a:ext>
            </a:extLst>
          </p:cNvPr>
          <p:cNvSpPr>
            <a:spLocks noChangeShapeType="1"/>
          </p:cNvSpPr>
          <p:nvPr/>
        </p:nvSpPr>
        <p:spPr bwMode="auto">
          <a:xfrm>
            <a:off x="2981325" y="2971800"/>
            <a:ext cx="2811463"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5" name="Line 19">
            <a:extLst>
              <a:ext uri="{FF2B5EF4-FFF2-40B4-BE49-F238E27FC236}">
                <a16:creationId xmlns:a16="http://schemas.microsoft.com/office/drawing/2014/main" id="{9156C0DA-864C-92AE-77CB-1A54A02E08AF}"/>
              </a:ext>
            </a:extLst>
          </p:cNvPr>
          <p:cNvSpPr>
            <a:spLocks noChangeShapeType="1"/>
          </p:cNvSpPr>
          <p:nvPr/>
        </p:nvSpPr>
        <p:spPr bwMode="auto">
          <a:xfrm flipH="1">
            <a:off x="5719763" y="3322638"/>
            <a:ext cx="376237" cy="14287"/>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6" name="Line 20">
            <a:extLst>
              <a:ext uri="{FF2B5EF4-FFF2-40B4-BE49-F238E27FC236}">
                <a16:creationId xmlns:a16="http://schemas.microsoft.com/office/drawing/2014/main" id="{67A25E56-0DAB-7102-27E8-99F66C475613}"/>
              </a:ext>
            </a:extLst>
          </p:cNvPr>
          <p:cNvSpPr>
            <a:spLocks noChangeShapeType="1"/>
          </p:cNvSpPr>
          <p:nvPr/>
        </p:nvSpPr>
        <p:spPr bwMode="auto">
          <a:xfrm>
            <a:off x="5649913" y="4114800"/>
            <a:ext cx="446087"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7" name="Line 21">
            <a:extLst>
              <a:ext uri="{FF2B5EF4-FFF2-40B4-BE49-F238E27FC236}">
                <a16:creationId xmlns:a16="http://schemas.microsoft.com/office/drawing/2014/main" id="{F22229FF-1472-B20B-44D4-A613B537CB16}"/>
              </a:ext>
            </a:extLst>
          </p:cNvPr>
          <p:cNvSpPr>
            <a:spLocks noChangeShapeType="1"/>
          </p:cNvSpPr>
          <p:nvPr/>
        </p:nvSpPr>
        <p:spPr bwMode="auto">
          <a:xfrm flipH="1">
            <a:off x="6096000" y="4114800"/>
            <a:ext cx="0" cy="762000"/>
          </a:xfrm>
          <a:prstGeom prst="line">
            <a:avLst/>
          </a:prstGeom>
          <a:noFill/>
          <a:ln w="3175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8628" name="Line 22">
            <a:extLst>
              <a:ext uri="{FF2B5EF4-FFF2-40B4-BE49-F238E27FC236}">
                <a16:creationId xmlns:a16="http://schemas.microsoft.com/office/drawing/2014/main" id="{F1F41313-53A7-8D13-2ACF-9740F7CEB058}"/>
              </a:ext>
            </a:extLst>
          </p:cNvPr>
          <p:cNvSpPr>
            <a:spLocks noChangeShapeType="1"/>
          </p:cNvSpPr>
          <p:nvPr/>
        </p:nvSpPr>
        <p:spPr bwMode="auto">
          <a:xfrm flipH="1">
            <a:off x="5661025" y="3962400"/>
            <a:ext cx="414338" cy="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8629" name="Line 23">
            <a:extLst>
              <a:ext uri="{FF2B5EF4-FFF2-40B4-BE49-F238E27FC236}">
                <a16:creationId xmlns:a16="http://schemas.microsoft.com/office/drawing/2014/main" id="{6BD84901-E7E2-FC98-520C-CBF5E97A87C8}"/>
              </a:ext>
            </a:extLst>
          </p:cNvPr>
          <p:cNvSpPr>
            <a:spLocks noChangeShapeType="1"/>
          </p:cNvSpPr>
          <p:nvPr/>
        </p:nvSpPr>
        <p:spPr bwMode="auto">
          <a:xfrm>
            <a:off x="5638800" y="4856163"/>
            <a:ext cx="446088" cy="0"/>
          </a:xfrm>
          <a:prstGeom prst="line">
            <a:avLst/>
          </a:prstGeom>
          <a:noFill/>
          <a:ln w="3175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p>
        </p:txBody>
      </p:sp>
      <p:sp>
        <p:nvSpPr>
          <p:cNvPr id="68630" name="Line 24">
            <a:extLst>
              <a:ext uri="{FF2B5EF4-FFF2-40B4-BE49-F238E27FC236}">
                <a16:creationId xmlns:a16="http://schemas.microsoft.com/office/drawing/2014/main" id="{7F4FD838-3C88-DBC1-D931-FFF0D90338DF}"/>
              </a:ext>
            </a:extLst>
          </p:cNvPr>
          <p:cNvSpPr>
            <a:spLocks noChangeShapeType="1"/>
          </p:cNvSpPr>
          <p:nvPr/>
        </p:nvSpPr>
        <p:spPr bwMode="auto">
          <a:xfrm>
            <a:off x="6096000" y="4995863"/>
            <a:ext cx="0" cy="338137"/>
          </a:xfrm>
          <a:prstGeom prst="line">
            <a:avLst/>
          </a:prstGeom>
          <a:noFill/>
          <a:ln w="3175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8631" name="Line 25">
            <a:extLst>
              <a:ext uri="{FF2B5EF4-FFF2-40B4-BE49-F238E27FC236}">
                <a16:creationId xmlns:a16="http://schemas.microsoft.com/office/drawing/2014/main" id="{9ABFA78C-1ABA-C083-8D65-36A4F85A0593}"/>
              </a:ext>
            </a:extLst>
          </p:cNvPr>
          <p:cNvSpPr>
            <a:spLocks noChangeShapeType="1"/>
          </p:cNvSpPr>
          <p:nvPr/>
        </p:nvSpPr>
        <p:spPr bwMode="auto">
          <a:xfrm flipH="1">
            <a:off x="5715000" y="5029200"/>
            <a:ext cx="376238"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32" name="Line 26">
            <a:extLst>
              <a:ext uri="{FF2B5EF4-FFF2-40B4-BE49-F238E27FC236}">
                <a16:creationId xmlns:a16="http://schemas.microsoft.com/office/drawing/2014/main" id="{7C014046-08E1-D884-A7A2-29F82E617A2E}"/>
              </a:ext>
            </a:extLst>
          </p:cNvPr>
          <p:cNvSpPr>
            <a:spLocks noChangeShapeType="1"/>
          </p:cNvSpPr>
          <p:nvPr/>
        </p:nvSpPr>
        <p:spPr bwMode="auto">
          <a:xfrm>
            <a:off x="5638800" y="5334000"/>
            <a:ext cx="446088" cy="0"/>
          </a:xfrm>
          <a:prstGeom prst="line">
            <a:avLst/>
          </a:prstGeom>
          <a:noFill/>
          <a:ln w="3175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p>
        </p:txBody>
      </p:sp>
      <p:sp>
        <p:nvSpPr>
          <p:cNvPr id="68633" name="Line 27">
            <a:extLst>
              <a:ext uri="{FF2B5EF4-FFF2-40B4-BE49-F238E27FC236}">
                <a16:creationId xmlns:a16="http://schemas.microsoft.com/office/drawing/2014/main" id="{691AA743-3ECA-B562-D34D-34907493F9F1}"/>
              </a:ext>
            </a:extLst>
          </p:cNvPr>
          <p:cNvSpPr>
            <a:spLocks noChangeShapeType="1"/>
          </p:cNvSpPr>
          <p:nvPr/>
        </p:nvSpPr>
        <p:spPr bwMode="auto">
          <a:xfrm flipH="1">
            <a:off x="5791200" y="5472113"/>
            <a:ext cx="449263"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34" name="Line 28">
            <a:extLst>
              <a:ext uri="{FF2B5EF4-FFF2-40B4-BE49-F238E27FC236}">
                <a16:creationId xmlns:a16="http://schemas.microsoft.com/office/drawing/2014/main" id="{E7F950E4-D872-C3A9-41CB-9831E6117E46}"/>
              </a:ext>
            </a:extLst>
          </p:cNvPr>
          <p:cNvSpPr>
            <a:spLocks noChangeShapeType="1"/>
          </p:cNvSpPr>
          <p:nvPr/>
        </p:nvSpPr>
        <p:spPr bwMode="auto">
          <a:xfrm flipH="1">
            <a:off x="6248400" y="3124200"/>
            <a:ext cx="0" cy="2362200"/>
          </a:xfrm>
          <a:prstGeom prst="line">
            <a:avLst/>
          </a:prstGeom>
          <a:noFill/>
          <a:ln w="3175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8635" name="Line 29">
            <a:extLst>
              <a:ext uri="{FF2B5EF4-FFF2-40B4-BE49-F238E27FC236}">
                <a16:creationId xmlns:a16="http://schemas.microsoft.com/office/drawing/2014/main" id="{28B69F81-57E6-F674-23EC-2D3C572055DA}"/>
              </a:ext>
            </a:extLst>
          </p:cNvPr>
          <p:cNvSpPr>
            <a:spLocks noChangeShapeType="1"/>
          </p:cNvSpPr>
          <p:nvPr/>
        </p:nvSpPr>
        <p:spPr bwMode="auto">
          <a:xfrm>
            <a:off x="5788025" y="3124200"/>
            <a:ext cx="460375" cy="0"/>
          </a:xfrm>
          <a:prstGeom prst="line">
            <a:avLst/>
          </a:prstGeom>
          <a:noFill/>
          <a:ln w="3175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A4AE31AA-295E-5977-3CEB-20000BAECB3A}"/>
              </a:ext>
            </a:extLst>
          </p:cNvPr>
          <p:cNvSpPr>
            <a:spLocks noGrp="1" noChangeArrowheads="1"/>
          </p:cNvSpPr>
          <p:nvPr>
            <p:ph type="title"/>
          </p:nvPr>
        </p:nvSpPr>
        <p:spPr/>
        <p:txBody>
          <a:bodyPr/>
          <a:lstStyle/>
          <a:p>
            <a:pPr eaLnBrk="1" hangingPunct="1"/>
            <a:r>
              <a:rPr lang="zh-CN" altLang="en-US"/>
              <a:t>简单时钟置换算法流程</a:t>
            </a:r>
            <a:endParaRPr lang="en-US" altLang="zh-CN"/>
          </a:p>
        </p:txBody>
      </p:sp>
      <p:sp>
        <p:nvSpPr>
          <p:cNvPr id="69634" name="Rectangle 5">
            <a:extLst>
              <a:ext uri="{FF2B5EF4-FFF2-40B4-BE49-F238E27FC236}">
                <a16:creationId xmlns:a16="http://schemas.microsoft.com/office/drawing/2014/main" id="{EAFBC691-F298-8D4D-4BBE-2FBFF0CBB15B}"/>
              </a:ext>
            </a:extLst>
          </p:cNvPr>
          <p:cNvSpPr>
            <a:spLocks noChangeArrowheads="1"/>
          </p:cNvSpPr>
          <p:nvPr/>
        </p:nvSpPr>
        <p:spPr bwMode="auto">
          <a:xfrm>
            <a:off x="3771900" y="1412875"/>
            <a:ext cx="660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入口</a:t>
            </a:r>
          </a:p>
        </p:txBody>
      </p:sp>
      <p:sp>
        <p:nvSpPr>
          <p:cNvPr id="69635" name="Rectangle 6">
            <a:extLst>
              <a:ext uri="{FF2B5EF4-FFF2-40B4-BE49-F238E27FC236}">
                <a16:creationId xmlns:a16="http://schemas.microsoft.com/office/drawing/2014/main" id="{FA23BEC9-F6F1-F68C-81AB-6A2FC3CF0323}"/>
              </a:ext>
            </a:extLst>
          </p:cNvPr>
          <p:cNvSpPr>
            <a:spLocks noChangeArrowheads="1"/>
          </p:cNvSpPr>
          <p:nvPr/>
        </p:nvSpPr>
        <p:spPr bwMode="auto">
          <a:xfrm>
            <a:off x="5435600" y="3717925"/>
            <a:ext cx="18732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指针前进一步</a:t>
            </a:r>
          </a:p>
        </p:txBody>
      </p:sp>
      <p:sp>
        <p:nvSpPr>
          <p:cNvPr id="69636" name="Line 7">
            <a:extLst>
              <a:ext uri="{FF2B5EF4-FFF2-40B4-BE49-F238E27FC236}">
                <a16:creationId xmlns:a16="http://schemas.microsoft.com/office/drawing/2014/main" id="{55D52C1B-BAF1-1B08-94BB-B74F610F9AB0}"/>
              </a:ext>
            </a:extLst>
          </p:cNvPr>
          <p:cNvSpPr>
            <a:spLocks noChangeShapeType="1"/>
          </p:cNvSpPr>
          <p:nvPr/>
        </p:nvSpPr>
        <p:spPr bwMode="auto">
          <a:xfrm>
            <a:off x="3995738" y="1754188"/>
            <a:ext cx="0" cy="344487"/>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37" name="Rectangle 8">
            <a:extLst>
              <a:ext uri="{FF2B5EF4-FFF2-40B4-BE49-F238E27FC236}">
                <a16:creationId xmlns:a16="http://schemas.microsoft.com/office/drawing/2014/main" id="{DE6ECDD5-A929-05CA-3F68-C14007A6161F}"/>
              </a:ext>
            </a:extLst>
          </p:cNvPr>
          <p:cNvSpPr>
            <a:spLocks noChangeArrowheads="1"/>
          </p:cNvSpPr>
          <p:nvPr/>
        </p:nvSpPr>
        <p:spPr bwMode="auto">
          <a:xfrm>
            <a:off x="6113463" y="4630738"/>
            <a:ext cx="762000"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返回</a:t>
            </a:r>
          </a:p>
        </p:txBody>
      </p:sp>
      <p:sp>
        <p:nvSpPr>
          <p:cNvPr id="69638" name="Line 9">
            <a:extLst>
              <a:ext uri="{FF2B5EF4-FFF2-40B4-BE49-F238E27FC236}">
                <a16:creationId xmlns:a16="http://schemas.microsoft.com/office/drawing/2014/main" id="{AD9AC0AB-6567-DCDE-C1A9-3A0833195FFE}"/>
              </a:ext>
            </a:extLst>
          </p:cNvPr>
          <p:cNvSpPr>
            <a:spLocks noChangeShapeType="1"/>
          </p:cNvSpPr>
          <p:nvPr/>
        </p:nvSpPr>
        <p:spPr bwMode="auto">
          <a:xfrm>
            <a:off x="6335713" y="4100513"/>
            <a:ext cx="0" cy="407987"/>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39" name="Rectangle 10">
            <a:extLst>
              <a:ext uri="{FF2B5EF4-FFF2-40B4-BE49-F238E27FC236}">
                <a16:creationId xmlns:a16="http://schemas.microsoft.com/office/drawing/2014/main" id="{855433CF-2488-07E7-EAC7-8C711D14CC95}"/>
              </a:ext>
            </a:extLst>
          </p:cNvPr>
          <p:cNvSpPr>
            <a:spLocks noChangeArrowheads="1"/>
          </p:cNvSpPr>
          <p:nvPr/>
        </p:nvSpPr>
        <p:spPr bwMode="auto">
          <a:xfrm>
            <a:off x="2735263" y="2228850"/>
            <a:ext cx="30956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指针所指页面访问位=0？</a:t>
            </a:r>
          </a:p>
        </p:txBody>
      </p:sp>
      <p:sp>
        <p:nvSpPr>
          <p:cNvPr id="69640" name="Rectangle 11">
            <a:extLst>
              <a:ext uri="{FF2B5EF4-FFF2-40B4-BE49-F238E27FC236}">
                <a16:creationId xmlns:a16="http://schemas.microsoft.com/office/drawing/2014/main" id="{2FC67B02-FDD4-B262-593B-F8362EE8A924}"/>
              </a:ext>
            </a:extLst>
          </p:cNvPr>
          <p:cNvSpPr>
            <a:spLocks noChangeArrowheads="1"/>
          </p:cNvSpPr>
          <p:nvPr/>
        </p:nvSpPr>
        <p:spPr bwMode="auto">
          <a:xfrm>
            <a:off x="2051050" y="1844675"/>
            <a:ext cx="322263"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b="1">
                <a:latin typeface="Times New Roman" panose="02020603050405020304" pitchFamily="18" charset="0"/>
              </a:rPr>
              <a:t>N</a:t>
            </a:r>
          </a:p>
        </p:txBody>
      </p:sp>
      <p:sp>
        <p:nvSpPr>
          <p:cNvPr id="69641" name="Line 12">
            <a:extLst>
              <a:ext uri="{FF2B5EF4-FFF2-40B4-BE49-F238E27FC236}">
                <a16:creationId xmlns:a16="http://schemas.microsoft.com/office/drawing/2014/main" id="{AD71C7B9-7CAC-5534-B9D8-17FB4F1717CC}"/>
              </a:ext>
            </a:extLst>
          </p:cNvPr>
          <p:cNvSpPr>
            <a:spLocks noChangeShapeType="1"/>
          </p:cNvSpPr>
          <p:nvPr/>
        </p:nvSpPr>
        <p:spPr bwMode="auto">
          <a:xfrm>
            <a:off x="2051050" y="4365625"/>
            <a:ext cx="874713" cy="0"/>
          </a:xfrm>
          <a:prstGeom prst="line">
            <a:avLst/>
          </a:prstGeom>
          <a:noFill/>
          <a:ln w="28575">
            <a:solidFill>
              <a:srgbClr val="000000"/>
            </a:solidFill>
            <a:round/>
            <a:headEnd type="none" w="lg" len="lg"/>
            <a:tailEnd/>
          </a:ln>
          <a:extLst>
            <a:ext uri="{909E8E84-426E-40DD-AFC4-6F175D3DCCD1}">
              <a14:hiddenFill xmlns:a14="http://schemas.microsoft.com/office/drawing/2010/main">
                <a:noFill/>
              </a14:hiddenFill>
            </a:ext>
          </a:extLst>
        </p:spPr>
        <p:txBody>
          <a:bodyPr/>
          <a:lstStyle/>
          <a:p>
            <a:endParaRPr lang="zh-CN" altLang="en-US"/>
          </a:p>
        </p:txBody>
      </p:sp>
      <p:sp>
        <p:nvSpPr>
          <p:cNvPr id="69642" name="Rectangle 13">
            <a:extLst>
              <a:ext uri="{FF2B5EF4-FFF2-40B4-BE49-F238E27FC236}">
                <a16:creationId xmlns:a16="http://schemas.microsoft.com/office/drawing/2014/main" id="{BB583341-646D-21F3-9B01-D99561FFE22C}"/>
              </a:ext>
            </a:extLst>
          </p:cNvPr>
          <p:cNvSpPr>
            <a:spLocks noChangeArrowheads="1"/>
          </p:cNvSpPr>
          <p:nvPr/>
        </p:nvSpPr>
        <p:spPr bwMode="auto">
          <a:xfrm>
            <a:off x="5461000" y="2852738"/>
            <a:ext cx="1919288"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选择该页面淘汰</a:t>
            </a:r>
          </a:p>
        </p:txBody>
      </p:sp>
      <p:sp>
        <p:nvSpPr>
          <p:cNvPr id="69643" name="Line 14">
            <a:extLst>
              <a:ext uri="{FF2B5EF4-FFF2-40B4-BE49-F238E27FC236}">
                <a16:creationId xmlns:a16="http://schemas.microsoft.com/office/drawing/2014/main" id="{D0F2CF35-B19F-4935-3B76-3DF5739C6374}"/>
              </a:ext>
            </a:extLst>
          </p:cNvPr>
          <p:cNvSpPr>
            <a:spLocks noChangeShapeType="1"/>
          </p:cNvSpPr>
          <p:nvPr/>
        </p:nvSpPr>
        <p:spPr bwMode="auto">
          <a:xfrm>
            <a:off x="5651500" y="2420938"/>
            <a:ext cx="720725" cy="0"/>
          </a:xfrm>
          <a:prstGeom prst="line">
            <a:avLst/>
          </a:prstGeom>
          <a:noFill/>
          <a:ln w="2857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69644" name="Rectangle 15">
            <a:extLst>
              <a:ext uri="{FF2B5EF4-FFF2-40B4-BE49-F238E27FC236}">
                <a16:creationId xmlns:a16="http://schemas.microsoft.com/office/drawing/2014/main" id="{07C7A542-60BA-A800-0168-FCBD9AFA78A6}"/>
              </a:ext>
            </a:extLst>
          </p:cNvPr>
          <p:cNvSpPr>
            <a:spLocks noChangeArrowheads="1"/>
          </p:cNvSpPr>
          <p:nvPr/>
        </p:nvSpPr>
        <p:spPr bwMode="auto">
          <a:xfrm>
            <a:off x="5651500" y="1773238"/>
            <a:ext cx="32226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b="1">
                <a:latin typeface="Times New Roman" panose="02020603050405020304" pitchFamily="18" charset="0"/>
              </a:rPr>
              <a:t>Y</a:t>
            </a:r>
          </a:p>
        </p:txBody>
      </p:sp>
      <p:sp>
        <p:nvSpPr>
          <p:cNvPr id="69645" name="Line 16">
            <a:extLst>
              <a:ext uri="{FF2B5EF4-FFF2-40B4-BE49-F238E27FC236}">
                <a16:creationId xmlns:a16="http://schemas.microsoft.com/office/drawing/2014/main" id="{0A9EB712-1451-994C-0D1C-3D4927C552F3}"/>
              </a:ext>
            </a:extLst>
          </p:cNvPr>
          <p:cNvSpPr>
            <a:spLocks noChangeShapeType="1"/>
          </p:cNvSpPr>
          <p:nvPr/>
        </p:nvSpPr>
        <p:spPr bwMode="auto">
          <a:xfrm flipH="1">
            <a:off x="3924300" y="2636838"/>
            <a:ext cx="0" cy="576262"/>
          </a:xfrm>
          <a:prstGeom prst="line">
            <a:avLst/>
          </a:prstGeom>
          <a:noFill/>
          <a:ln w="28575">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46" name="Rectangle 17">
            <a:extLst>
              <a:ext uri="{FF2B5EF4-FFF2-40B4-BE49-F238E27FC236}">
                <a16:creationId xmlns:a16="http://schemas.microsoft.com/office/drawing/2014/main" id="{6F49F755-9076-301A-D4AF-45C46DCEDDA2}"/>
              </a:ext>
            </a:extLst>
          </p:cNvPr>
          <p:cNvSpPr>
            <a:spLocks noChangeArrowheads="1"/>
          </p:cNvSpPr>
          <p:nvPr/>
        </p:nvSpPr>
        <p:spPr bwMode="auto">
          <a:xfrm>
            <a:off x="2843213" y="3284538"/>
            <a:ext cx="22415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置页面访问位为0</a:t>
            </a:r>
          </a:p>
        </p:txBody>
      </p:sp>
      <p:sp>
        <p:nvSpPr>
          <p:cNvPr id="69647" name="Line 18">
            <a:extLst>
              <a:ext uri="{FF2B5EF4-FFF2-40B4-BE49-F238E27FC236}">
                <a16:creationId xmlns:a16="http://schemas.microsoft.com/office/drawing/2014/main" id="{66200F78-930B-2D55-C8F5-917EC2C13F63}"/>
              </a:ext>
            </a:extLst>
          </p:cNvPr>
          <p:cNvSpPr>
            <a:spLocks noChangeShapeType="1"/>
          </p:cNvSpPr>
          <p:nvPr/>
        </p:nvSpPr>
        <p:spPr bwMode="auto">
          <a:xfrm>
            <a:off x="2051050" y="2349500"/>
            <a:ext cx="0" cy="2016125"/>
          </a:xfrm>
          <a:prstGeom prst="line">
            <a:avLst/>
          </a:prstGeom>
          <a:noFill/>
          <a:ln w="2857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69648" name="Line 19">
            <a:extLst>
              <a:ext uri="{FF2B5EF4-FFF2-40B4-BE49-F238E27FC236}">
                <a16:creationId xmlns:a16="http://schemas.microsoft.com/office/drawing/2014/main" id="{2C9E8BB6-CFF0-11E4-F49B-758673287F3E}"/>
              </a:ext>
            </a:extLst>
          </p:cNvPr>
          <p:cNvSpPr>
            <a:spLocks noChangeShapeType="1"/>
          </p:cNvSpPr>
          <p:nvPr/>
        </p:nvSpPr>
        <p:spPr bwMode="auto">
          <a:xfrm>
            <a:off x="6335713" y="3213100"/>
            <a:ext cx="0" cy="407988"/>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49" name="Rectangle 20">
            <a:extLst>
              <a:ext uri="{FF2B5EF4-FFF2-40B4-BE49-F238E27FC236}">
                <a16:creationId xmlns:a16="http://schemas.microsoft.com/office/drawing/2014/main" id="{7509F578-93CD-6E0F-E335-1867C5CD7BDF}"/>
              </a:ext>
            </a:extLst>
          </p:cNvPr>
          <p:cNvSpPr>
            <a:spLocks noChangeArrowheads="1"/>
          </p:cNvSpPr>
          <p:nvPr/>
        </p:nvSpPr>
        <p:spPr bwMode="auto">
          <a:xfrm>
            <a:off x="3059113" y="4149725"/>
            <a:ext cx="18732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指针前进一步</a:t>
            </a:r>
          </a:p>
        </p:txBody>
      </p:sp>
      <p:sp>
        <p:nvSpPr>
          <p:cNvPr id="69650" name="Line 21">
            <a:extLst>
              <a:ext uri="{FF2B5EF4-FFF2-40B4-BE49-F238E27FC236}">
                <a16:creationId xmlns:a16="http://schemas.microsoft.com/office/drawing/2014/main" id="{6ECC5046-E02F-9AF9-2236-62EABEE4B1D7}"/>
              </a:ext>
            </a:extLst>
          </p:cNvPr>
          <p:cNvSpPr>
            <a:spLocks noChangeShapeType="1"/>
          </p:cNvSpPr>
          <p:nvPr/>
        </p:nvSpPr>
        <p:spPr bwMode="auto">
          <a:xfrm>
            <a:off x="3924300" y="3716338"/>
            <a:ext cx="0" cy="407987"/>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1" name="Line 22">
            <a:extLst>
              <a:ext uri="{FF2B5EF4-FFF2-40B4-BE49-F238E27FC236}">
                <a16:creationId xmlns:a16="http://schemas.microsoft.com/office/drawing/2014/main" id="{7B676325-284D-608B-9160-1043FA4F9ED3}"/>
              </a:ext>
            </a:extLst>
          </p:cNvPr>
          <p:cNvSpPr>
            <a:spLocks noChangeShapeType="1"/>
          </p:cNvSpPr>
          <p:nvPr/>
        </p:nvSpPr>
        <p:spPr bwMode="auto">
          <a:xfrm>
            <a:off x="6372225" y="2420938"/>
            <a:ext cx="0" cy="407987"/>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2" name="Line 23">
            <a:extLst>
              <a:ext uri="{FF2B5EF4-FFF2-40B4-BE49-F238E27FC236}">
                <a16:creationId xmlns:a16="http://schemas.microsoft.com/office/drawing/2014/main" id="{EAB1C9B1-839C-F79F-39DB-BC15C531A2C1}"/>
              </a:ext>
            </a:extLst>
          </p:cNvPr>
          <p:cNvSpPr>
            <a:spLocks noChangeShapeType="1"/>
          </p:cNvSpPr>
          <p:nvPr/>
        </p:nvSpPr>
        <p:spPr bwMode="auto">
          <a:xfrm>
            <a:off x="2051050" y="2349500"/>
            <a:ext cx="649288"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1E7581F4-6913-059D-DC7A-7690DE1886E8}"/>
              </a:ext>
            </a:extLst>
          </p:cNvPr>
          <p:cNvSpPr>
            <a:spLocks noGrp="1" noChangeArrowheads="1"/>
          </p:cNvSpPr>
          <p:nvPr>
            <p:ph type="title"/>
          </p:nvPr>
        </p:nvSpPr>
        <p:spPr/>
        <p:txBody>
          <a:bodyPr/>
          <a:lstStyle/>
          <a:p>
            <a:pPr eaLnBrk="1" hangingPunct="1"/>
            <a:r>
              <a:rPr lang="en-US" altLang="zh-CN" sz="3200" b="1"/>
              <a:t>Clock Page-Replacement Algorithm</a:t>
            </a:r>
            <a:endParaRPr lang="zh-CN" altLang="en-US" sz="3200" b="1"/>
          </a:p>
        </p:txBody>
      </p:sp>
      <p:pic>
        <p:nvPicPr>
          <p:cNvPr id="70658" name="Picture 4">
            <a:extLst>
              <a:ext uri="{FF2B5EF4-FFF2-40B4-BE49-F238E27FC236}">
                <a16:creationId xmlns:a16="http://schemas.microsoft.com/office/drawing/2014/main" id="{C312918E-A4ED-4761-CB1D-A4B178E22F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108" t="1372" r="8961" b="1338"/>
          <a:stretch>
            <a:fillRect/>
          </a:stretch>
        </p:blipFill>
        <p:spPr bwMode="auto">
          <a:xfrm>
            <a:off x="827088" y="1176338"/>
            <a:ext cx="7764462" cy="5313362"/>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1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AD4139E2-365A-8F79-190B-D18A8933018D}"/>
              </a:ext>
            </a:extLst>
          </p:cNvPr>
          <p:cNvSpPr>
            <a:spLocks noGrp="1" noChangeArrowheads="1"/>
          </p:cNvSpPr>
          <p:nvPr>
            <p:ph type="title"/>
          </p:nvPr>
        </p:nvSpPr>
        <p:spPr/>
        <p:txBody>
          <a:bodyPr/>
          <a:lstStyle/>
          <a:p>
            <a:pPr eaLnBrk="1" hangingPunct="1"/>
            <a:r>
              <a:rPr lang="zh-CN" altLang="en-US"/>
              <a:t>页面置换情况</a:t>
            </a:r>
          </a:p>
        </p:txBody>
      </p:sp>
      <p:sp>
        <p:nvSpPr>
          <p:cNvPr id="318467" name="Rectangle 3">
            <a:extLst>
              <a:ext uri="{FF2B5EF4-FFF2-40B4-BE49-F238E27FC236}">
                <a16:creationId xmlns:a16="http://schemas.microsoft.com/office/drawing/2014/main" id="{7D1D6516-7E9C-2523-E466-033BA0BD0511}"/>
              </a:ext>
            </a:extLst>
          </p:cNvPr>
          <p:cNvSpPr>
            <a:spLocks noGrp="1" noChangeArrowheads="1"/>
          </p:cNvSpPr>
          <p:nvPr>
            <p:ph idx="1"/>
          </p:nvPr>
        </p:nvSpPr>
        <p:spPr>
          <a:xfrm>
            <a:off x="609600" y="4724400"/>
            <a:ext cx="7772400" cy="1079500"/>
          </a:xfrm>
        </p:spPr>
        <p:txBody>
          <a:bodyPr>
            <a:normAutofit lnSpcReduction="10000"/>
          </a:bodyPr>
          <a:lstStyle/>
          <a:p>
            <a:pPr eaLnBrk="1" hangingPunct="1"/>
            <a:r>
              <a:rPr lang="zh-CN" altLang="en-US"/>
              <a:t>从上表中可以看出，共发生了</a:t>
            </a:r>
            <a:r>
              <a:rPr lang="en-US" altLang="zh-CN"/>
              <a:t>9</a:t>
            </a:r>
            <a:r>
              <a:rPr lang="zh-CN" altLang="en-US"/>
              <a:t>次缺页中断。其缺页率为</a:t>
            </a:r>
            <a:r>
              <a:rPr lang="en-US" altLang="zh-CN"/>
              <a:t>9/12</a:t>
            </a:r>
            <a:r>
              <a:rPr lang="zh-CN" altLang="en-US"/>
              <a:t>＝</a:t>
            </a:r>
            <a:r>
              <a:rPr lang="en-US" altLang="zh-CN"/>
              <a:t>75% </a:t>
            </a:r>
            <a:r>
              <a:rPr lang="zh-CN" altLang="en-US"/>
              <a:t>。</a:t>
            </a:r>
          </a:p>
        </p:txBody>
      </p:sp>
      <p:sp>
        <p:nvSpPr>
          <p:cNvPr id="71683" name="Rectangle 4">
            <a:extLst>
              <a:ext uri="{FF2B5EF4-FFF2-40B4-BE49-F238E27FC236}">
                <a16:creationId xmlns:a16="http://schemas.microsoft.com/office/drawing/2014/main" id="{6003E471-FE2D-5443-2FE2-86CA6448C2A6}"/>
              </a:ext>
            </a:extLst>
          </p:cNvPr>
          <p:cNvSpPr>
            <a:spLocks noChangeArrowheads="1"/>
          </p:cNvSpPr>
          <p:nvPr/>
        </p:nvSpPr>
        <p:spPr bwMode="auto">
          <a:xfrm>
            <a:off x="7953375" y="3881438"/>
            <a:ext cx="6143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000"/>
          </a:p>
        </p:txBody>
      </p:sp>
      <p:sp>
        <p:nvSpPr>
          <p:cNvPr id="318469" name="Rectangle 5">
            <a:extLst>
              <a:ext uri="{FF2B5EF4-FFF2-40B4-BE49-F238E27FC236}">
                <a16:creationId xmlns:a16="http://schemas.microsoft.com/office/drawing/2014/main" id="{B88B9A26-A345-E0EE-0322-AFC4CFF42B0C}"/>
              </a:ext>
            </a:extLst>
          </p:cNvPr>
          <p:cNvSpPr>
            <a:spLocks noChangeArrowheads="1"/>
          </p:cNvSpPr>
          <p:nvPr/>
        </p:nvSpPr>
        <p:spPr bwMode="auto">
          <a:xfrm>
            <a:off x="7953375" y="3363913"/>
            <a:ext cx="6143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a:t>0*</a:t>
            </a:r>
          </a:p>
        </p:txBody>
      </p:sp>
      <p:sp>
        <p:nvSpPr>
          <p:cNvPr id="318470" name="Rectangle 6">
            <a:extLst>
              <a:ext uri="{FF2B5EF4-FFF2-40B4-BE49-F238E27FC236}">
                <a16:creationId xmlns:a16="http://schemas.microsoft.com/office/drawing/2014/main" id="{6BE3D794-828C-A6FD-273B-8E2D0B166D29}"/>
              </a:ext>
            </a:extLst>
          </p:cNvPr>
          <p:cNvSpPr>
            <a:spLocks noChangeArrowheads="1"/>
          </p:cNvSpPr>
          <p:nvPr/>
        </p:nvSpPr>
        <p:spPr bwMode="auto">
          <a:xfrm>
            <a:off x="7953375" y="2830513"/>
            <a:ext cx="542925" cy="5334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rIns="54000" anchor="ctr"/>
          <a:lstStyle/>
          <a:p>
            <a:r>
              <a:rPr lang="en-US" altLang="zh-CN"/>
              <a:t>2</a:t>
            </a:r>
          </a:p>
        </p:txBody>
      </p:sp>
      <p:sp>
        <p:nvSpPr>
          <p:cNvPr id="318471" name="Rectangle 7">
            <a:extLst>
              <a:ext uri="{FF2B5EF4-FFF2-40B4-BE49-F238E27FC236}">
                <a16:creationId xmlns:a16="http://schemas.microsoft.com/office/drawing/2014/main" id="{6727A410-AED5-69C9-981E-C4AD2220A909}"/>
              </a:ext>
            </a:extLst>
          </p:cNvPr>
          <p:cNvSpPr>
            <a:spLocks noChangeArrowheads="1"/>
          </p:cNvSpPr>
          <p:nvPr/>
        </p:nvSpPr>
        <p:spPr bwMode="auto">
          <a:xfrm>
            <a:off x="7953375" y="2251075"/>
            <a:ext cx="6143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a:t>3*</a:t>
            </a:r>
          </a:p>
        </p:txBody>
      </p:sp>
      <p:sp>
        <p:nvSpPr>
          <p:cNvPr id="71687" name="Rectangle 8">
            <a:extLst>
              <a:ext uri="{FF2B5EF4-FFF2-40B4-BE49-F238E27FC236}">
                <a16:creationId xmlns:a16="http://schemas.microsoft.com/office/drawing/2014/main" id="{24A36CE4-BE4D-F055-0550-DC8CFDC85F19}"/>
              </a:ext>
            </a:extLst>
          </p:cNvPr>
          <p:cNvSpPr>
            <a:spLocks noChangeArrowheads="1"/>
          </p:cNvSpPr>
          <p:nvPr/>
        </p:nvSpPr>
        <p:spPr bwMode="auto">
          <a:xfrm>
            <a:off x="7862888" y="1412875"/>
            <a:ext cx="6143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18473" name="Rectangle 9">
            <a:extLst>
              <a:ext uri="{FF2B5EF4-FFF2-40B4-BE49-F238E27FC236}">
                <a16:creationId xmlns:a16="http://schemas.microsoft.com/office/drawing/2014/main" id="{6657B193-03A8-4955-D822-862043BD096C}"/>
              </a:ext>
            </a:extLst>
          </p:cNvPr>
          <p:cNvSpPr>
            <a:spLocks noChangeArrowheads="1"/>
          </p:cNvSpPr>
          <p:nvPr/>
        </p:nvSpPr>
        <p:spPr bwMode="auto">
          <a:xfrm>
            <a:off x="7416800" y="3881438"/>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sz="2400"/>
              <a:t>缺</a:t>
            </a:r>
          </a:p>
        </p:txBody>
      </p:sp>
      <p:sp>
        <p:nvSpPr>
          <p:cNvPr id="318474" name="Rectangle 10">
            <a:extLst>
              <a:ext uri="{FF2B5EF4-FFF2-40B4-BE49-F238E27FC236}">
                <a16:creationId xmlns:a16="http://schemas.microsoft.com/office/drawing/2014/main" id="{6E9F421E-17CA-A18D-E008-ED3EC3648320}"/>
              </a:ext>
            </a:extLst>
          </p:cNvPr>
          <p:cNvSpPr>
            <a:spLocks noChangeArrowheads="1"/>
          </p:cNvSpPr>
          <p:nvPr/>
        </p:nvSpPr>
        <p:spPr bwMode="auto">
          <a:xfrm>
            <a:off x="7380288" y="3363913"/>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en-US" altLang="zh-CN"/>
              <a:t>0*</a:t>
            </a:r>
          </a:p>
        </p:txBody>
      </p:sp>
      <p:sp>
        <p:nvSpPr>
          <p:cNvPr id="318475" name="Rectangle 11">
            <a:extLst>
              <a:ext uri="{FF2B5EF4-FFF2-40B4-BE49-F238E27FC236}">
                <a16:creationId xmlns:a16="http://schemas.microsoft.com/office/drawing/2014/main" id="{FC4D7A62-7A0F-A428-712F-8220AAB196B4}"/>
              </a:ext>
            </a:extLst>
          </p:cNvPr>
          <p:cNvSpPr>
            <a:spLocks noChangeArrowheads="1"/>
          </p:cNvSpPr>
          <p:nvPr/>
        </p:nvSpPr>
        <p:spPr bwMode="auto">
          <a:xfrm>
            <a:off x="7380288" y="2830513"/>
            <a:ext cx="5397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2</a:t>
            </a:r>
          </a:p>
        </p:txBody>
      </p:sp>
      <p:sp>
        <p:nvSpPr>
          <p:cNvPr id="318476" name="Rectangle 12">
            <a:extLst>
              <a:ext uri="{FF2B5EF4-FFF2-40B4-BE49-F238E27FC236}">
                <a16:creationId xmlns:a16="http://schemas.microsoft.com/office/drawing/2014/main" id="{B273427A-3618-40C4-3D3F-0EDDBA9C637F}"/>
              </a:ext>
            </a:extLst>
          </p:cNvPr>
          <p:cNvSpPr>
            <a:spLocks noChangeArrowheads="1"/>
          </p:cNvSpPr>
          <p:nvPr/>
        </p:nvSpPr>
        <p:spPr bwMode="auto">
          <a:xfrm>
            <a:off x="7380288" y="2251075"/>
            <a:ext cx="539750" cy="57943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a:t>
            </a:r>
            <a:r>
              <a:rPr lang="en-US" altLang="zh-CN"/>
              <a:t>4</a:t>
            </a:r>
          </a:p>
        </p:txBody>
      </p:sp>
      <p:sp>
        <p:nvSpPr>
          <p:cNvPr id="71692" name="Rectangle 13">
            <a:extLst>
              <a:ext uri="{FF2B5EF4-FFF2-40B4-BE49-F238E27FC236}">
                <a16:creationId xmlns:a16="http://schemas.microsoft.com/office/drawing/2014/main" id="{B97B2806-170F-FD64-FFB5-81E905DB3D61}"/>
              </a:ext>
            </a:extLst>
          </p:cNvPr>
          <p:cNvSpPr>
            <a:spLocks noChangeArrowheads="1"/>
          </p:cNvSpPr>
          <p:nvPr/>
        </p:nvSpPr>
        <p:spPr bwMode="auto">
          <a:xfrm>
            <a:off x="7332663" y="1412875"/>
            <a:ext cx="5302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18479" name="Rectangle 15">
            <a:extLst>
              <a:ext uri="{FF2B5EF4-FFF2-40B4-BE49-F238E27FC236}">
                <a16:creationId xmlns:a16="http://schemas.microsoft.com/office/drawing/2014/main" id="{A2C88FC7-C25D-8B1B-D7AF-8E30585B5B16}"/>
              </a:ext>
            </a:extLst>
          </p:cNvPr>
          <p:cNvSpPr>
            <a:spLocks noChangeArrowheads="1"/>
          </p:cNvSpPr>
          <p:nvPr/>
        </p:nvSpPr>
        <p:spPr bwMode="auto">
          <a:xfrm>
            <a:off x="6767513" y="3363913"/>
            <a:ext cx="539750" cy="51752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3*</a:t>
            </a:r>
          </a:p>
        </p:txBody>
      </p:sp>
      <p:sp>
        <p:nvSpPr>
          <p:cNvPr id="318480" name="Rectangle 16">
            <a:extLst>
              <a:ext uri="{FF2B5EF4-FFF2-40B4-BE49-F238E27FC236}">
                <a16:creationId xmlns:a16="http://schemas.microsoft.com/office/drawing/2014/main" id="{CEDBBF5E-9B5A-4954-5711-04A7924FB904}"/>
              </a:ext>
            </a:extLst>
          </p:cNvPr>
          <p:cNvSpPr>
            <a:spLocks noChangeArrowheads="1"/>
          </p:cNvSpPr>
          <p:nvPr/>
        </p:nvSpPr>
        <p:spPr bwMode="auto">
          <a:xfrm>
            <a:off x="6767513" y="2830513"/>
            <a:ext cx="5397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2*</a:t>
            </a:r>
          </a:p>
        </p:txBody>
      </p:sp>
      <p:sp>
        <p:nvSpPr>
          <p:cNvPr id="318481" name="Rectangle 17">
            <a:extLst>
              <a:ext uri="{FF2B5EF4-FFF2-40B4-BE49-F238E27FC236}">
                <a16:creationId xmlns:a16="http://schemas.microsoft.com/office/drawing/2014/main" id="{B88AC9DA-FDC9-9AC7-ABBC-23296C4BBCA6}"/>
              </a:ext>
            </a:extLst>
          </p:cNvPr>
          <p:cNvSpPr>
            <a:spLocks noChangeArrowheads="1"/>
          </p:cNvSpPr>
          <p:nvPr/>
        </p:nvSpPr>
        <p:spPr bwMode="auto">
          <a:xfrm>
            <a:off x="6767513" y="2251075"/>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4*</a:t>
            </a:r>
          </a:p>
        </p:txBody>
      </p:sp>
      <p:sp>
        <p:nvSpPr>
          <p:cNvPr id="71696" name="Rectangle 18">
            <a:extLst>
              <a:ext uri="{FF2B5EF4-FFF2-40B4-BE49-F238E27FC236}">
                <a16:creationId xmlns:a16="http://schemas.microsoft.com/office/drawing/2014/main" id="{633D6D00-5C57-F529-12A7-2F62AFCF8E14}"/>
              </a:ext>
            </a:extLst>
          </p:cNvPr>
          <p:cNvSpPr>
            <a:spLocks noChangeArrowheads="1"/>
          </p:cNvSpPr>
          <p:nvPr/>
        </p:nvSpPr>
        <p:spPr bwMode="auto">
          <a:xfrm>
            <a:off x="6796088"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318483" name="Rectangle 19">
            <a:extLst>
              <a:ext uri="{FF2B5EF4-FFF2-40B4-BE49-F238E27FC236}">
                <a16:creationId xmlns:a16="http://schemas.microsoft.com/office/drawing/2014/main" id="{30CBEE88-F94F-2487-9DB5-97030BFB0C48}"/>
              </a:ext>
            </a:extLst>
          </p:cNvPr>
          <p:cNvSpPr>
            <a:spLocks noChangeArrowheads="1"/>
          </p:cNvSpPr>
          <p:nvPr/>
        </p:nvSpPr>
        <p:spPr bwMode="auto">
          <a:xfrm>
            <a:off x="6350000" y="3881438"/>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sz="2400"/>
              <a:t>缺</a:t>
            </a:r>
          </a:p>
        </p:txBody>
      </p:sp>
      <p:sp>
        <p:nvSpPr>
          <p:cNvPr id="318484" name="Rectangle 20">
            <a:extLst>
              <a:ext uri="{FF2B5EF4-FFF2-40B4-BE49-F238E27FC236}">
                <a16:creationId xmlns:a16="http://schemas.microsoft.com/office/drawing/2014/main" id="{1541BDFC-CACD-40F0-9AA5-38CBE9971949}"/>
              </a:ext>
            </a:extLst>
          </p:cNvPr>
          <p:cNvSpPr>
            <a:spLocks noChangeArrowheads="1"/>
          </p:cNvSpPr>
          <p:nvPr/>
        </p:nvSpPr>
        <p:spPr bwMode="auto">
          <a:xfrm>
            <a:off x="6264275" y="3363913"/>
            <a:ext cx="539750" cy="51752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a:t>
            </a:r>
            <a:r>
              <a:rPr lang="en-US" altLang="zh-CN"/>
              <a:t>3</a:t>
            </a:r>
          </a:p>
        </p:txBody>
      </p:sp>
      <p:sp>
        <p:nvSpPr>
          <p:cNvPr id="318485" name="Rectangle 21">
            <a:extLst>
              <a:ext uri="{FF2B5EF4-FFF2-40B4-BE49-F238E27FC236}">
                <a16:creationId xmlns:a16="http://schemas.microsoft.com/office/drawing/2014/main" id="{E5E1758F-170F-3B4C-9DF0-80390D2F08FC}"/>
              </a:ext>
            </a:extLst>
          </p:cNvPr>
          <p:cNvSpPr>
            <a:spLocks noChangeArrowheads="1"/>
          </p:cNvSpPr>
          <p:nvPr/>
        </p:nvSpPr>
        <p:spPr bwMode="auto">
          <a:xfrm>
            <a:off x="6264275" y="2846388"/>
            <a:ext cx="5397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2*</a:t>
            </a:r>
          </a:p>
        </p:txBody>
      </p:sp>
      <p:sp>
        <p:nvSpPr>
          <p:cNvPr id="318486" name="Rectangle 22">
            <a:extLst>
              <a:ext uri="{FF2B5EF4-FFF2-40B4-BE49-F238E27FC236}">
                <a16:creationId xmlns:a16="http://schemas.microsoft.com/office/drawing/2014/main" id="{F05EFFC9-37DF-BC57-B437-8D395840A07C}"/>
              </a:ext>
            </a:extLst>
          </p:cNvPr>
          <p:cNvSpPr>
            <a:spLocks noChangeArrowheads="1"/>
          </p:cNvSpPr>
          <p:nvPr/>
        </p:nvSpPr>
        <p:spPr bwMode="auto">
          <a:xfrm>
            <a:off x="6264275" y="2251075"/>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4*</a:t>
            </a:r>
          </a:p>
        </p:txBody>
      </p:sp>
      <p:sp>
        <p:nvSpPr>
          <p:cNvPr id="71701" name="Rectangle 23">
            <a:extLst>
              <a:ext uri="{FF2B5EF4-FFF2-40B4-BE49-F238E27FC236}">
                <a16:creationId xmlns:a16="http://schemas.microsoft.com/office/drawing/2014/main" id="{8B3B882D-BF6D-6A82-C3E6-1A8816988590}"/>
              </a:ext>
            </a:extLst>
          </p:cNvPr>
          <p:cNvSpPr>
            <a:spLocks noChangeArrowheads="1"/>
          </p:cNvSpPr>
          <p:nvPr/>
        </p:nvSpPr>
        <p:spPr bwMode="auto">
          <a:xfrm>
            <a:off x="6259513"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18488" name="Rectangle 24">
            <a:extLst>
              <a:ext uri="{FF2B5EF4-FFF2-40B4-BE49-F238E27FC236}">
                <a16:creationId xmlns:a16="http://schemas.microsoft.com/office/drawing/2014/main" id="{342472A7-62FD-1685-F040-85E6B1745EFA}"/>
              </a:ext>
            </a:extLst>
          </p:cNvPr>
          <p:cNvSpPr>
            <a:spLocks noChangeArrowheads="1"/>
          </p:cNvSpPr>
          <p:nvPr/>
        </p:nvSpPr>
        <p:spPr bwMode="auto">
          <a:xfrm>
            <a:off x="5795963" y="3881438"/>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sz="2400"/>
              <a:t>缺</a:t>
            </a:r>
          </a:p>
        </p:txBody>
      </p:sp>
      <p:sp>
        <p:nvSpPr>
          <p:cNvPr id="318489" name="Rectangle 25">
            <a:extLst>
              <a:ext uri="{FF2B5EF4-FFF2-40B4-BE49-F238E27FC236}">
                <a16:creationId xmlns:a16="http://schemas.microsoft.com/office/drawing/2014/main" id="{1D43CBD8-1F1B-6188-1AA5-E388805A17C2}"/>
              </a:ext>
            </a:extLst>
          </p:cNvPr>
          <p:cNvSpPr>
            <a:spLocks noChangeArrowheads="1"/>
          </p:cNvSpPr>
          <p:nvPr/>
        </p:nvSpPr>
        <p:spPr bwMode="auto">
          <a:xfrm>
            <a:off x="5741988" y="3363913"/>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a:t>
            </a:r>
            <a:r>
              <a:rPr lang="en-US" altLang="zh-CN"/>
              <a:t>3</a:t>
            </a:r>
          </a:p>
        </p:txBody>
      </p:sp>
      <p:sp>
        <p:nvSpPr>
          <p:cNvPr id="318490" name="Rectangle 26">
            <a:extLst>
              <a:ext uri="{FF2B5EF4-FFF2-40B4-BE49-F238E27FC236}">
                <a16:creationId xmlns:a16="http://schemas.microsoft.com/office/drawing/2014/main" id="{58309B5E-F88E-EE62-34E7-5273A0211C60}"/>
              </a:ext>
            </a:extLst>
          </p:cNvPr>
          <p:cNvSpPr>
            <a:spLocks noChangeArrowheads="1"/>
          </p:cNvSpPr>
          <p:nvPr/>
        </p:nvSpPr>
        <p:spPr bwMode="auto">
          <a:xfrm>
            <a:off x="5724525" y="2830513"/>
            <a:ext cx="539750" cy="5334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a:t>
            </a:r>
            <a:r>
              <a:rPr lang="en-US" altLang="zh-CN"/>
              <a:t>0</a:t>
            </a:r>
          </a:p>
        </p:txBody>
      </p:sp>
      <p:sp>
        <p:nvSpPr>
          <p:cNvPr id="318491" name="Rectangle 27">
            <a:extLst>
              <a:ext uri="{FF2B5EF4-FFF2-40B4-BE49-F238E27FC236}">
                <a16:creationId xmlns:a16="http://schemas.microsoft.com/office/drawing/2014/main" id="{6AC32358-B631-37E7-C7A4-57217724B655}"/>
              </a:ext>
            </a:extLst>
          </p:cNvPr>
          <p:cNvSpPr>
            <a:spLocks noChangeArrowheads="1"/>
          </p:cNvSpPr>
          <p:nvPr/>
        </p:nvSpPr>
        <p:spPr bwMode="auto">
          <a:xfrm>
            <a:off x="5741988" y="2251075"/>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4*</a:t>
            </a:r>
          </a:p>
        </p:txBody>
      </p:sp>
      <p:sp>
        <p:nvSpPr>
          <p:cNvPr id="71706" name="Rectangle 28">
            <a:extLst>
              <a:ext uri="{FF2B5EF4-FFF2-40B4-BE49-F238E27FC236}">
                <a16:creationId xmlns:a16="http://schemas.microsoft.com/office/drawing/2014/main" id="{BDCD4F99-ACCE-22D2-9475-DC7EB1897AA8}"/>
              </a:ext>
            </a:extLst>
          </p:cNvPr>
          <p:cNvSpPr>
            <a:spLocks noChangeArrowheads="1"/>
          </p:cNvSpPr>
          <p:nvPr/>
        </p:nvSpPr>
        <p:spPr bwMode="auto">
          <a:xfrm>
            <a:off x="5651500" y="1412875"/>
            <a:ext cx="53816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4</a:t>
            </a:r>
          </a:p>
        </p:txBody>
      </p:sp>
      <p:sp>
        <p:nvSpPr>
          <p:cNvPr id="318494" name="Rectangle 30">
            <a:extLst>
              <a:ext uri="{FF2B5EF4-FFF2-40B4-BE49-F238E27FC236}">
                <a16:creationId xmlns:a16="http://schemas.microsoft.com/office/drawing/2014/main" id="{EAD2E684-3FD2-5FB7-94E2-437269E3A29F}"/>
              </a:ext>
            </a:extLst>
          </p:cNvPr>
          <p:cNvSpPr>
            <a:spLocks noChangeArrowheads="1"/>
          </p:cNvSpPr>
          <p:nvPr/>
        </p:nvSpPr>
        <p:spPr bwMode="auto">
          <a:xfrm>
            <a:off x="5075238" y="3363913"/>
            <a:ext cx="6477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a:t>
            </a:r>
            <a:r>
              <a:rPr lang="en-US" altLang="zh-CN"/>
              <a:t>3*</a:t>
            </a:r>
          </a:p>
        </p:txBody>
      </p:sp>
      <p:sp>
        <p:nvSpPr>
          <p:cNvPr id="318495" name="Rectangle 31">
            <a:extLst>
              <a:ext uri="{FF2B5EF4-FFF2-40B4-BE49-F238E27FC236}">
                <a16:creationId xmlns:a16="http://schemas.microsoft.com/office/drawing/2014/main" id="{FEEDF610-4EC2-B536-A11F-DAAA0395EA75}"/>
              </a:ext>
            </a:extLst>
          </p:cNvPr>
          <p:cNvSpPr>
            <a:spLocks noChangeArrowheads="1"/>
          </p:cNvSpPr>
          <p:nvPr/>
        </p:nvSpPr>
        <p:spPr bwMode="auto">
          <a:xfrm>
            <a:off x="5129213" y="2830513"/>
            <a:ext cx="5397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a:t>
            </a:r>
            <a:r>
              <a:rPr lang="en-US" altLang="zh-CN"/>
              <a:t>0*</a:t>
            </a:r>
          </a:p>
        </p:txBody>
      </p:sp>
      <p:sp>
        <p:nvSpPr>
          <p:cNvPr id="318496" name="Rectangle 32">
            <a:extLst>
              <a:ext uri="{FF2B5EF4-FFF2-40B4-BE49-F238E27FC236}">
                <a16:creationId xmlns:a16="http://schemas.microsoft.com/office/drawing/2014/main" id="{C2FB0261-43DC-0CD2-165F-58B9D038F92B}"/>
              </a:ext>
            </a:extLst>
          </p:cNvPr>
          <p:cNvSpPr>
            <a:spLocks noChangeArrowheads="1"/>
          </p:cNvSpPr>
          <p:nvPr/>
        </p:nvSpPr>
        <p:spPr bwMode="auto">
          <a:xfrm>
            <a:off x="5129213" y="2251075"/>
            <a:ext cx="539750" cy="57943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2*</a:t>
            </a:r>
          </a:p>
        </p:txBody>
      </p:sp>
      <p:sp>
        <p:nvSpPr>
          <p:cNvPr id="71710" name="Rectangle 33">
            <a:extLst>
              <a:ext uri="{FF2B5EF4-FFF2-40B4-BE49-F238E27FC236}">
                <a16:creationId xmlns:a16="http://schemas.microsoft.com/office/drawing/2014/main" id="{D98493AF-D154-1317-1923-8118360F50CD}"/>
              </a:ext>
            </a:extLst>
          </p:cNvPr>
          <p:cNvSpPr>
            <a:spLocks noChangeArrowheads="1"/>
          </p:cNvSpPr>
          <p:nvPr/>
        </p:nvSpPr>
        <p:spPr bwMode="auto">
          <a:xfrm>
            <a:off x="5040313"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18498" name="Rectangle 34">
            <a:extLst>
              <a:ext uri="{FF2B5EF4-FFF2-40B4-BE49-F238E27FC236}">
                <a16:creationId xmlns:a16="http://schemas.microsoft.com/office/drawing/2014/main" id="{13888F1B-2479-9C76-2598-B8B3B19ECB3C}"/>
              </a:ext>
            </a:extLst>
          </p:cNvPr>
          <p:cNvSpPr>
            <a:spLocks noChangeArrowheads="1"/>
          </p:cNvSpPr>
          <p:nvPr/>
        </p:nvSpPr>
        <p:spPr bwMode="auto">
          <a:xfrm>
            <a:off x="4625975" y="3881438"/>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sz="2400"/>
              <a:t>缺</a:t>
            </a:r>
          </a:p>
        </p:txBody>
      </p:sp>
      <p:sp>
        <p:nvSpPr>
          <p:cNvPr id="318499" name="Rectangle 35">
            <a:extLst>
              <a:ext uri="{FF2B5EF4-FFF2-40B4-BE49-F238E27FC236}">
                <a16:creationId xmlns:a16="http://schemas.microsoft.com/office/drawing/2014/main" id="{D61583BA-CC80-B175-741C-E47A76CE649E}"/>
              </a:ext>
            </a:extLst>
          </p:cNvPr>
          <p:cNvSpPr>
            <a:spLocks noChangeArrowheads="1"/>
          </p:cNvSpPr>
          <p:nvPr/>
        </p:nvSpPr>
        <p:spPr bwMode="auto">
          <a:xfrm>
            <a:off x="4500563" y="3363913"/>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a:t>
            </a:r>
            <a:r>
              <a:rPr lang="en-US" altLang="zh-CN"/>
              <a:t>3*</a:t>
            </a:r>
          </a:p>
        </p:txBody>
      </p:sp>
      <p:sp>
        <p:nvSpPr>
          <p:cNvPr id="318500" name="Rectangle 36">
            <a:extLst>
              <a:ext uri="{FF2B5EF4-FFF2-40B4-BE49-F238E27FC236}">
                <a16:creationId xmlns:a16="http://schemas.microsoft.com/office/drawing/2014/main" id="{70AD0E01-67AF-FB5A-386E-1E772FED1299}"/>
              </a:ext>
            </a:extLst>
          </p:cNvPr>
          <p:cNvSpPr>
            <a:spLocks noChangeArrowheads="1"/>
          </p:cNvSpPr>
          <p:nvPr/>
        </p:nvSpPr>
        <p:spPr bwMode="auto">
          <a:xfrm>
            <a:off x="4518025" y="2830513"/>
            <a:ext cx="5397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a:t>
            </a:r>
            <a:r>
              <a:rPr lang="en-US" altLang="zh-CN"/>
              <a:t>0</a:t>
            </a:r>
          </a:p>
        </p:txBody>
      </p:sp>
      <p:sp>
        <p:nvSpPr>
          <p:cNvPr id="318501" name="Rectangle 37">
            <a:extLst>
              <a:ext uri="{FF2B5EF4-FFF2-40B4-BE49-F238E27FC236}">
                <a16:creationId xmlns:a16="http://schemas.microsoft.com/office/drawing/2014/main" id="{7FA8CAAA-42FB-1D4E-893E-CE1B3DD89B01}"/>
              </a:ext>
            </a:extLst>
          </p:cNvPr>
          <p:cNvSpPr>
            <a:spLocks noChangeArrowheads="1"/>
          </p:cNvSpPr>
          <p:nvPr/>
        </p:nvSpPr>
        <p:spPr bwMode="auto">
          <a:xfrm>
            <a:off x="4518025" y="2251075"/>
            <a:ext cx="539750" cy="57943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2*</a:t>
            </a:r>
          </a:p>
        </p:txBody>
      </p:sp>
      <p:sp>
        <p:nvSpPr>
          <p:cNvPr id="71715" name="Rectangle 38">
            <a:extLst>
              <a:ext uri="{FF2B5EF4-FFF2-40B4-BE49-F238E27FC236}">
                <a16:creationId xmlns:a16="http://schemas.microsoft.com/office/drawing/2014/main" id="{BEEB1089-13BB-24F3-8ED8-05089C2FC487}"/>
              </a:ext>
            </a:extLst>
          </p:cNvPr>
          <p:cNvSpPr>
            <a:spLocks noChangeArrowheads="1"/>
          </p:cNvSpPr>
          <p:nvPr/>
        </p:nvSpPr>
        <p:spPr bwMode="auto">
          <a:xfrm>
            <a:off x="4427538"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3</a:t>
            </a:r>
          </a:p>
        </p:txBody>
      </p:sp>
      <p:sp>
        <p:nvSpPr>
          <p:cNvPr id="71716" name="Rectangle 43">
            <a:extLst>
              <a:ext uri="{FF2B5EF4-FFF2-40B4-BE49-F238E27FC236}">
                <a16:creationId xmlns:a16="http://schemas.microsoft.com/office/drawing/2014/main" id="{207ABBD3-CC2D-1D52-8C9D-07667F4B7673}"/>
              </a:ext>
            </a:extLst>
          </p:cNvPr>
          <p:cNvSpPr>
            <a:spLocks noChangeArrowheads="1"/>
          </p:cNvSpPr>
          <p:nvPr/>
        </p:nvSpPr>
        <p:spPr bwMode="auto">
          <a:xfrm>
            <a:off x="3851275"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18508" name="Rectangle 44">
            <a:extLst>
              <a:ext uri="{FF2B5EF4-FFF2-40B4-BE49-F238E27FC236}">
                <a16:creationId xmlns:a16="http://schemas.microsoft.com/office/drawing/2014/main" id="{BF6ADC11-FB80-DADC-4022-45C8E77929A6}"/>
              </a:ext>
            </a:extLst>
          </p:cNvPr>
          <p:cNvSpPr>
            <a:spLocks noChangeArrowheads="1"/>
          </p:cNvSpPr>
          <p:nvPr/>
        </p:nvSpPr>
        <p:spPr bwMode="auto">
          <a:xfrm>
            <a:off x="3395663" y="3881438"/>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sz="2400"/>
              <a:t>缺</a:t>
            </a:r>
          </a:p>
        </p:txBody>
      </p:sp>
      <p:sp>
        <p:nvSpPr>
          <p:cNvPr id="318509" name="Rectangle 45">
            <a:extLst>
              <a:ext uri="{FF2B5EF4-FFF2-40B4-BE49-F238E27FC236}">
                <a16:creationId xmlns:a16="http://schemas.microsoft.com/office/drawing/2014/main" id="{48ABC332-2817-4D37-CC42-0F41D42B0DC4}"/>
              </a:ext>
            </a:extLst>
          </p:cNvPr>
          <p:cNvSpPr>
            <a:spLocks noChangeArrowheads="1"/>
          </p:cNvSpPr>
          <p:nvPr/>
        </p:nvSpPr>
        <p:spPr bwMode="auto">
          <a:xfrm>
            <a:off x="3311525" y="3363913"/>
            <a:ext cx="6477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1</a:t>
            </a:r>
          </a:p>
        </p:txBody>
      </p:sp>
      <p:sp>
        <p:nvSpPr>
          <p:cNvPr id="318510" name="Rectangle 46">
            <a:extLst>
              <a:ext uri="{FF2B5EF4-FFF2-40B4-BE49-F238E27FC236}">
                <a16:creationId xmlns:a16="http://schemas.microsoft.com/office/drawing/2014/main" id="{BD835F7E-6C6E-24DC-46D7-AB398BDEB1B1}"/>
              </a:ext>
            </a:extLst>
          </p:cNvPr>
          <p:cNvSpPr>
            <a:spLocks noChangeArrowheads="1"/>
          </p:cNvSpPr>
          <p:nvPr/>
        </p:nvSpPr>
        <p:spPr bwMode="auto">
          <a:xfrm>
            <a:off x="3313113" y="2830513"/>
            <a:ext cx="539750" cy="5334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0</a:t>
            </a:r>
          </a:p>
        </p:txBody>
      </p:sp>
      <p:sp>
        <p:nvSpPr>
          <p:cNvPr id="318511" name="Rectangle 47">
            <a:extLst>
              <a:ext uri="{FF2B5EF4-FFF2-40B4-BE49-F238E27FC236}">
                <a16:creationId xmlns:a16="http://schemas.microsoft.com/office/drawing/2014/main" id="{DF4AC57D-B837-FD84-C807-48494DE3AEED}"/>
              </a:ext>
            </a:extLst>
          </p:cNvPr>
          <p:cNvSpPr>
            <a:spLocks noChangeArrowheads="1"/>
          </p:cNvSpPr>
          <p:nvPr/>
        </p:nvSpPr>
        <p:spPr bwMode="auto">
          <a:xfrm>
            <a:off x="3348038" y="2251075"/>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2*</a:t>
            </a:r>
          </a:p>
        </p:txBody>
      </p:sp>
      <p:sp>
        <p:nvSpPr>
          <p:cNvPr id="71721" name="Rectangle 48">
            <a:extLst>
              <a:ext uri="{FF2B5EF4-FFF2-40B4-BE49-F238E27FC236}">
                <a16:creationId xmlns:a16="http://schemas.microsoft.com/office/drawing/2014/main" id="{9EEBDC88-769D-B07F-D1DD-E7E9C7205D91}"/>
              </a:ext>
            </a:extLst>
          </p:cNvPr>
          <p:cNvSpPr>
            <a:spLocks noChangeArrowheads="1"/>
          </p:cNvSpPr>
          <p:nvPr/>
        </p:nvSpPr>
        <p:spPr bwMode="auto">
          <a:xfrm>
            <a:off x="3240088"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2</a:t>
            </a:r>
          </a:p>
        </p:txBody>
      </p:sp>
      <p:sp>
        <p:nvSpPr>
          <p:cNvPr id="318513" name="Rectangle 49">
            <a:extLst>
              <a:ext uri="{FF2B5EF4-FFF2-40B4-BE49-F238E27FC236}">
                <a16:creationId xmlns:a16="http://schemas.microsoft.com/office/drawing/2014/main" id="{649178CA-0B3A-38B3-40C8-9A888653A43A}"/>
              </a:ext>
            </a:extLst>
          </p:cNvPr>
          <p:cNvSpPr>
            <a:spLocks noChangeArrowheads="1"/>
          </p:cNvSpPr>
          <p:nvPr/>
        </p:nvSpPr>
        <p:spPr bwMode="auto">
          <a:xfrm>
            <a:off x="2808288" y="3881438"/>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sz="2400"/>
              <a:t>缺</a:t>
            </a:r>
          </a:p>
        </p:txBody>
      </p:sp>
      <p:sp>
        <p:nvSpPr>
          <p:cNvPr id="318514" name="Rectangle 50">
            <a:extLst>
              <a:ext uri="{FF2B5EF4-FFF2-40B4-BE49-F238E27FC236}">
                <a16:creationId xmlns:a16="http://schemas.microsoft.com/office/drawing/2014/main" id="{7CB3BCB7-B597-F3B8-E38E-88689F1A5C0E}"/>
              </a:ext>
            </a:extLst>
          </p:cNvPr>
          <p:cNvSpPr>
            <a:spLocks noChangeArrowheads="1"/>
          </p:cNvSpPr>
          <p:nvPr/>
        </p:nvSpPr>
        <p:spPr bwMode="auto">
          <a:xfrm>
            <a:off x="2663825" y="3363913"/>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1*</a:t>
            </a:r>
          </a:p>
        </p:txBody>
      </p:sp>
      <p:sp>
        <p:nvSpPr>
          <p:cNvPr id="318515" name="Rectangle 51">
            <a:extLst>
              <a:ext uri="{FF2B5EF4-FFF2-40B4-BE49-F238E27FC236}">
                <a16:creationId xmlns:a16="http://schemas.microsoft.com/office/drawing/2014/main" id="{BA5F5C49-0313-E9AC-2CC3-952A92CA8008}"/>
              </a:ext>
            </a:extLst>
          </p:cNvPr>
          <p:cNvSpPr>
            <a:spLocks noChangeArrowheads="1"/>
          </p:cNvSpPr>
          <p:nvPr/>
        </p:nvSpPr>
        <p:spPr bwMode="auto">
          <a:xfrm>
            <a:off x="2663825" y="2830513"/>
            <a:ext cx="5397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0*</a:t>
            </a:r>
          </a:p>
        </p:txBody>
      </p:sp>
      <p:sp>
        <p:nvSpPr>
          <p:cNvPr id="318516" name="Rectangle 52">
            <a:extLst>
              <a:ext uri="{FF2B5EF4-FFF2-40B4-BE49-F238E27FC236}">
                <a16:creationId xmlns:a16="http://schemas.microsoft.com/office/drawing/2014/main" id="{9708F8E8-3B8B-62D4-F434-B214FAED4D97}"/>
              </a:ext>
            </a:extLst>
          </p:cNvPr>
          <p:cNvSpPr>
            <a:spLocks noChangeArrowheads="1"/>
          </p:cNvSpPr>
          <p:nvPr/>
        </p:nvSpPr>
        <p:spPr bwMode="auto">
          <a:xfrm>
            <a:off x="2700338" y="2233613"/>
            <a:ext cx="539750" cy="57943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7*</a:t>
            </a:r>
          </a:p>
        </p:txBody>
      </p:sp>
      <p:sp>
        <p:nvSpPr>
          <p:cNvPr id="71726" name="Rectangle 53">
            <a:extLst>
              <a:ext uri="{FF2B5EF4-FFF2-40B4-BE49-F238E27FC236}">
                <a16:creationId xmlns:a16="http://schemas.microsoft.com/office/drawing/2014/main" id="{C4392412-AA89-C74A-F730-D0250AAE3880}"/>
              </a:ext>
            </a:extLst>
          </p:cNvPr>
          <p:cNvSpPr>
            <a:spLocks noChangeArrowheads="1"/>
          </p:cNvSpPr>
          <p:nvPr/>
        </p:nvSpPr>
        <p:spPr bwMode="auto">
          <a:xfrm>
            <a:off x="2627313"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1</a:t>
            </a:r>
          </a:p>
        </p:txBody>
      </p:sp>
      <p:sp>
        <p:nvSpPr>
          <p:cNvPr id="318518" name="Rectangle 54">
            <a:extLst>
              <a:ext uri="{FF2B5EF4-FFF2-40B4-BE49-F238E27FC236}">
                <a16:creationId xmlns:a16="http://schemas.microsoft.com/office/drawing/2014/main" id="{55D96ED3-E840-1153-8B79-5C74160EEACA}"/>
              </a:ext>
            </a:extLst>
          </p:cNvPr>
          <p:cNvSpPr>
            <a:spLocks noChangeArrowheads="1"/>
          </p:cNvSpPr>
          <p:nvPr/>
        </p:nvSpPr>
        <p:spPr bwMode="auto">
          <a:xfrm>
            <a:off x="2087563" y="3881438"/>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sz="2400"/>
              <a:t>缺</a:t>
            </a:r>
          </a:p>
        </p:txBody>
      </p:sp>
      <p:sp>
        <p:nvSpPr>
          <p:cNvPr id="318519" name="Rectangle 55">
            <a:extLst>
              <a:ext uri="{FF2B5EF4-FFF2-40B4-BE49-F238E27FC236}">
                <a16:creationId xmlns:a16="http://schemas.microsoft.com/office/drawing/2014/main" id="{9ABF1718-73B0-958B-BA81-4F0364F5D131}"/>
              </a:ext>
            </a:extLst>
          </p:cNvPr>
          <p:cNvSpPr>
            <a:spLocks noChangeArrowheads="1"/>
          </p:cNvSpPr>
          <p:nvPr/>
        </p:nvSpPr>
        <p:spPr bwMode="auto">
          <a:xfrm>
            <a:off x="2016125" y="3349625"/>
            <a:ext cx="539750" cy="51752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endParaRPr lang="zh-CN" altLang="en-US"/>
          </a:p>
        </p:txBody>
      </p:sp>
      <p:sp>
        <p:nvSpPr>
          <p:cNvPr id="318520" name="Rectangle 56">
            <a:extLst>
              <a:ext uri="{FF2B5EF4-FFF2-40B4-BE49-F238E27FC236}">
                <a16:creationId xmlns:a16="http://schemas.microsoft.com/office/drawing/2014/main" id="{CA080B8D-883C-7361-AC87-F24EF99C2831}"/>
              </a:ext>
            </a:extLst>
          </p:cNvPr>
          <p:cNvSpPr>
            <a:spLocks noChangeArrowheads="1"/>
          </p:cNvSpPr>
          <p:nvPr/>
        </p:nvSpPr>
        <p:spPr bwMode="auto">
          <a:xfrm>
            <a:off x="2087563" y="2830513"/>
            <a:ext cx="5397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0*</a:t>
            </a:r>
          </a:p>
        </p:txBody>
      </p:sp>
      <p:sp>
        <p:nvSpPr>
          <p:cNvPr id="318521" name="Rectangle 57">
            <a:extLst>
              <a:ext uri="{FF2B5EF4-FFF2-40B4-BE49-F238E27FC236}">
                <a16:creationId xmlns:a16="http://schemas.microsoft.com/office/drawing/2014/main" id="{C36D8202-96D8-D2A7-D43B-CAE5C037DDEB}"/>
              </a:ext>
            </a:extLst>
          </p:cNvPr>
          <p:cNvSpPr>
            <a:spLocks noChangeArrowheads="1"/>
          </p:cNvSpPr>
          <p:nvPr/>
        </p:nvSpPr>
        <p:spPr bwMode="auto">
          <a:xfrm>
            <a:off x="2016125" y="2251075"/>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7</a:t>
            </a:r>
            <a:r>
              <a:rPr lang="zh-CN" altLang="en-US" sz="2400"/>
              <a:t>*</a:t>
            </a:r>
          </a:p>
        </p:txBody>
      </p:sp>
      <p:sp>
        <p:nvSpPr>
          <p:cNvPr id="71731" name="Rectangle 58">
            <a:extLst>
              <a:ext uri="{FF2B5EF4-FFF2-40B4-BE49-F238E27FC236}">
                <a16:creationId xmlns:a16="http://schemas.microsoft.com/office/drawing/2014/main" id="{D1FE879F-823D-B49E-1AD9-72D032AA6ED0}"/>
              </a:ext>
            </a:extLst>
          </p:cNvPr>
          <p:cNvSpPr>
            <a:spLocks noChangeArrowheads="1"/>
          </p:cNvSpPr>
          <p:nvPr/>
        </p:nvSpPr>
        <p:spPr bwMode="auto">
          <a:xfrm>
            <a:off x="1943100" y="1412875"/>
            <a:ext cx="536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0</a:t>
            </a:r>
          </a:p>
        </p:txBody>
      </p:sp>
      <p:sp>
        <p:nvSpPr>
          <p:cNvPr id="318523" name="Rectangle 59">
            <a:extLst>
              <a:ext uri="{FF2B5EF4-FFF2-40B4-BE49-F238E27FC236}">
                <a16:creationId xmlns:a16="http://schemas.microsoft.com/office/drawing/2014/main" id="{60E0BC0F-20E2-FDC3-FE09-2B7973607141}"/>
              </a:ext>
            </a:extLst>
          </p:cNvPr>
          <p:cNvSpPr>
            <a:spLocks noChangeArrowheads="1"/>
          </p:cNvSpPr>
          <p:nvPr/>
        </p:nvSpPr>
        <p:spPr bwMode="auto">
          <a:xfrm>
            <a:off x="1439863" y="3881438"/>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a:t>缺</a:t>
            </a:r>
          </a:p>
        </p:txBody>
      </p:sp>
      <p:sp>
        <p:nvSpPr>
          <p:cNvPr id="71733" name="Rectangle 60">
            <a:extLst>
              <a:ext uri="{FF2B5EF4-FFF2-40B4-BE49-F238E27FC236}">
                <a16:creationId xmlns:a16="http://schemas.microsoft.com/office/drawing/2014/main" id="{9CC81FAB-F992-715A-7967-79B1AFE56969}"/>
              </a:ext>
            </a:extLst>
          </p:cNvPr>
          <p:cNvSpPr>
            <a:spLocks noChangeArrowheads="1"/>
          </p:cNvSpPr>
          <p:nvPr/>
        </p:nvSpPr>
        <p:spPr bwMode="auto">
          <a:xfrm>
            <a:off x="1439863" y="3363913"/>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endParaRPr lang="zh-CN" altLang="en-US"/>
          </a:p>
        </p:txBody>
      </p:sp>
      <p:sp>
        <p:nvSpPr>
          <p:cNvPr id="318525" name="Rectangle 61">
            <a:extLst>
              <a:ext uri="{FF2B5EF4-FFF2-40B4-BE49-F238E27FC236}">
                <a16:creationId xmlns:a16="http://schemas.microsoft.com/office/drawing/2014/main" id="{ABDE3C28-1B57-EF86-3617-9BA8A62E3A47}"/>
              </a:ext>
            </a:extLst>
          </p:cNvPr>
          <p:cNvSpPr>
            <a:spLocks noChangeArrowheads="1"/>
          </p:cNvSpPr>
          <p:nvPr/>
        </p:nvSpPr>
        <p:spPr bwMode="auto">
          <a:xfrm>
            <a:off x="1403350" y="2830513"/>
            <a:ext cx="539750" cy="5334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endParaRPr lang="zh-CN" altLang="en-US"/>
          </a:p>
        </p:txBody>
      </p:sp>
      <p:sp>
        <p:nvSpPr>
          <p:cNvPr id="318526" name="Rectangle 62">
            <a:extLst>
              <a:ext uri="{FF2B5EF4-FFF2-40B4-BE49-F238E27FC236}">
                <a16:creationId xmlns:a16="http://schemas.microsoft.com/office/drawing/2014/main" id="{2C766FBF-B8BF-D693-F916-E6793AE9143D}"/>
              </a:ext>
            </a:extLst>
          </p:cNvPr>
          <p:cNvSpPr>
            <a:spLocks noChangeArrowheads="1"/>
          </p:cNvSpPr>
          <p:nvPr/>
        </p:nvSpPr>
        <p:spPr bwMode="auto">
          <a:xfrm>
            <a:off x="1476375" y="2251075"/>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7*</a:t>
            </a:r>
          </a:p>
        </p:txBody>
      </p:sp>
      <p:sp>
        <p:nvSpPr>
          <p:cNvPr id="71736" name="Rectangle 63">
            <a:extLst>
              <a:ext uri="{FF2B5EF4-FFF2-40B4-BE49-F238E27FC236}">
                <a16:creationId xmlns:a16="http://schemas.microsoft.com/office/drawing/2014/main" id="{54D0BF09-A9DA-C62F-63B2-1967E422CFD6}"/>
              </a:ext>
            </a:extLst>
          </p:cNvPr>
          <p:cNvSpPr>
            <a:spLocks noChangeArrowheads="1"/>
          </p:cNvSpPr>
          <p:nvPr/>
        </p:nvSpPr>
        <p:spPr bwMode="auto">
          <a:xfrm>
            <a:off x="1409700" y="1412875"/>
            <a:ext cx="6429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7</a:t>
            </a:r>
          </a:p>
        </p:txBody>
      </p:sp>
      <p:sp>
        <p:nvSpPr>
          <p:cNvPr id="71737" name="Rectangle 64">
            <a:extLst>
              <a:ext uri="{FF2B5EF4-FFF2-40B4-BE49-F238E27FC236}">
                <a16:creationId xmlns:a16="http://schemas.microsoft.com/office/drawing/2014/main" id="{D95A99CE-1B8C-E2F8-6145-02AD50ABF079}"/>
              </a:ext>
            </a:extLst>
          </p:cNvPr>
          <p:cNvSpPr>
            <a:spLocks noChangeArrowheads="1"/>
          </p:cNvSpPr>
          <p:nvPr/>
        </p:nvSpPr>
        <p:spPr bwMode="auto">
          <a:xfrm>
            <a:off x="827088" y="3881438"/>
            <a:ext cx="6477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lstStyle/>
          <a:p>
            <a:endParaRPr lang="zh-CN" altLang="en-US"/>
          </a:p>
        </p:txBody>
      </p:sp>
      <p:sp>
        <p:nvSpPr>
          <p:cNvPr id="71738" name="Rectangle 65">
            <a:extLst>
              <a:ext uri="{FF2B5EF4-FFF2-40B4-BE49-F238E27FC236}">
                <a16:creationId xmlns:a16="http://schemas.microsoft.com/office/drawing/2014/main" id="{738F34E6-FD19-6012-2ADB-A1198A60702A}"/>
              </a:ext>
            </a:extLst>
          </p:cNvPr>
          <p:cNvSpPr>
            <a:spLocks noChangeArrowheads="1"/>
          </p:cNvSpPr>
          <p:nvPr/>
        </p:nvSpPr>
        <p:spPr bwMode="auto">
          <a:xfrm>
            <a:off x="503238" y="3363913"/>
            <a:ext cx="10017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块3</a:t>
            </a:r>
          </a:p>
        </p:txBody>
      </p:sp>
      <p:sp>
        <p:nvSpPr>
          <p:cNvPr id="71739" name="Rectangle 66">
            <a:extLst>
              <a:ext uri="{FF2B5EF4-FFF2-40B4-BE49-F238E27FC236}">
                <a16:creationId xmlns:a16="http://schemas.microsoft.com/office/drawing/2014/main" id="{38E59437-00C2-F8AA-E2D1-7E9E8C96AF67}"/>
              </a:ext>
            </a:extLst>
          </p:cNvPr>
          <p:cNvSpPr>
            <a:spLocks noChangeArrowheads="1"/>
          </p:cNvSpPr>
          <p:nvPr/>
        </p:nvSpPr>
        <p:spPr bwMode="auto">
          <a:xfrm>
            <a:off x="503238" y="2830513"/>
            <a:ext cx="10017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块2</a:t>
            </a:r>
          </a:p>
        </p:txBody>
      </p:sp>
      <p:sp>
        <p:nvSpPr>
          <p:cNvPr id="71740" name="Rectangle 67">
            <a:extLst>
              <a:ext uri="{FF2B5EF4-FFF2-40B4-BE49-F238E27FC236}">
                <a16:creationId xmlns:a16="http://schemas.microsoft.com/office/drawing/2014/main" id="{0B7662A6-8B7F-E7DF-A624-6FC170A1C681}"/>
              </a:ext>
            </a:extLst>
          </p:cNvPr>
          <p:cNvSpPr>
            <a:spLocks noChangeArrowheads="1"/>
          </p:cNvSpPr>
          <p:nvPr/>
        </p:nvSpPr>
        <p:spPr bwMode="auto">
          <a:xfrm>
            <a:off x="503238" y="2251075"/>
            <a:ext cx="10017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 块1</a:t>
            </a:r>
          </a:p>
        </p:txBody>
      </p:sp>
      <p:sp>
        <p:nvSpPr>
          <p:cNvPr id="71741" name="Rectangle 68">
            <a:extLst>
              <a:ext uri="{FF2B5EF4-FFF2-40B4-BE49-F238E27FC236}">
                <a16:creationId xmlns:a16="http://schemas.microsoft.com/office/drawing/2014/main" id="{788F7EA3-6F34-87DA-12D0-92751B9C4E81}"/>
              </a:ext>
            </a:extLst>
          </p:cNvPr>
          <p:cNvSpPr>
            <a:spLocks noChangeArrowheads="1"/>
          </p:cNvSpPr>
          <p:nvPr/>
        </p:nvSpPr>
        <p:spPr bwMode="auto">
          <a:xfrm>
            <a:off x="503238" y="1412875"/>
            <a:ext cx="100171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a:t>走向</a:t>
            </a:r>
          </a:p>
        </p:txBody>
      </p:sp>
      <p:sp>
        <p:nvSpPr>
          <p:cNvPr id="71742" name="Line 69">
            <a:extLst>
              <a:ext uri="{FF2B5EF4-FFF2-40B4-BE49-F238E27FC236}">
                <a16:creationId xmlns:a16="http://schemas.microsoft.com/office/drawing/2014/main" id="{0B4D4D45-6989-104A-439B-767F915097D0}"/>
              </a:ext>
            </a:extLst>
          </p:cNvPr>
          <p:cNvSpPr>
            <a:spLocks noChangeShapeType="1"/>
          </p:cNvSpPr>
          <p:nvPr/>
        </p:nvSpPr>
        <p:spPr bwMode="auto">
          <a:xfrm>
            <a:off x="569913" y="1412875"/>
            <a:ext cx="7916862"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43" name="Line 70">
            <a:extLst>
              <a:ext uri="{FF2B5EF4-FFF2-40B4-BE49-F238E27FC236}">
                <a16:creationId xmlns:a16="http://schemas.microsoft.com/office/drawing/2014/main" id="{44E85964-D83E-FD15-7678-2677A9895CF9}"/>
              </a:ext>
            </a:extLst>
          </p:cNvPr>
          <p:cNvSpPr>
            <a:spLocks noChangeShapeType="1"/>
          </p:cNvSpPr>
          <p:nvPr/>
        </p:nvSpPr>
        <p:spPr bwMode="auto">
          <a:xfrm>
            <a:off x="569913" y="4398963"/>
            <a:ext cx="7916862"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44" name="Line 71">
            <a:extLst>
              <a:ext uri="{FF2B5EF4-FFF2-40B4-BE49-F238E27FC236}">
                <a16:creationId xmlns:a16="http://schemas.microsoft.com/office/drawing/2014/main" id="{F8914818-4983-9068-B4F4-A8A440D9A712}"/>
              </a:ext>
            </a:extLst>
          </p:cNvPr>
          <p:cNvSpPr>
            <a:spLocks noChangeShapeType="1"/>
          </p:cNvSpPr>
          <p:nvPr/>
        </p:nvSpPr>
        <p:spPr bwMode="auto">
          <a:xfrm>
            <a:off x="574675" y="1412875"/>
            <a:ext cx="0" cy="2986088"/>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45" name="Line 72">
            <a:extLst>
              <a:ext uri="{FF2B5EF4-FFF2-40B4-BE49-F238E27FC236}">
                <a16:creationId xmlns:a16="http://schemas.microsoft.com/office/drawing/2014/main" id="{63DA4BF8-100F-4BC6-88F8-23219C5C386D}"/>
              </a:ext>
            </a:extLst>
          </p:cNvPr>
          <p:cNvSpPr>
            <a:spLocks noChangeShapeType="1"/>
          </p:cNvSpPr>
          <p:nvPr/>
        </p:nvSpPr>
        <p:spPr bwMode="auto">
          <a:xfrm>
            <a:off x="8477250" y="1412875"/>
            <a:ext cx="0" cy="2986088"/>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46" name="Line 73">
            <a:extLst>
              <a:ext uri="{FF2B5EF4-FFF2-40B4-BE49-F238E27FC236}">
                <a16:creationId xmlns:a16="http://schemas.microsoft.com/office/drawing/2014/main" id="{CC4F7EFB-3765-5E64-55C3-90D065AE2CCB}"/>
              </a:ext>
            </a:extLst>
          </p:cNvPr>
          <p:cNvSpPr>
            <a:spLocks noChangeShapeType="1"/>
          </p:cNvSpPr>
          <p:nvPr/>
        </p:nvSpPr>
        <p:spPr bwMode="auto">
          <a:xfrm>
            <a:off x="579438" y="2233613"/>
            <a:ext cx="791686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47" name="Line 74">
            <a:extLst>
              <a:ext uri="{FF2B5EF4-FFF2-40B4-BE49-F238E27FC236}">
                <a16:creationId xmlns:a16="http://schemas.microsoft.com/office/drawing/2014/main" id="{3F6D4F34-94E0-3C48-4636-AF2FE10425B9}"/>
              </a:ext>
            </a:extLst>
          </p:cNvPr>
          <p:cNvSpPr>
            <a:spLocks noChangeShapeType="1"/>
          </p:cNvSpPr>
          <p:nvPr/>
        </p:nvSpPr>
        <p:spPr bwMode="auto">
          <a:xfrm>
            <a:off x="569913" y="2830513"/>
            <a:ext cx="791686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48" name="Line 75">
            <a:extLst>
              <a:ext uri="{FF2B5EF4-FFF2-40B4-BE49-F238E27FC236}">
                <a16:creationId xmlns:a16="http://schemas.microsoft.com/office/drawing/2014/main" id="{B21FD0D6-E522-AA87-B430-283D10C088FC}"/>
              </a:ext>
            </a:extLst>
          </p:cNvPr>
          <p:cNvSpPr>
            <a:spLocks noChangeShapeType="1"/>
          </p:cNvSpPr>
          <p:nvPr/>
        </p:nvSpPr>
        <p:spPr bwMode="auto">
          <a:xfrm>
            <a:off x="569913" y="3363913"/>
            <a:ext cx="791686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49" name="Line 76">
            <a:extLst>
              <a:ext uri="{FF2B5EF4-FFF2-40B4-BE49-F238E27FC236}">
                <a16:creationId xmlns:a16="http://schemas.microsoft.com/office/drawing/2014/main" id="{533836A2-9A87-B5B0-4640-9B82C74BD1A5}"/>
              </a:ext>
            </a:extLst>
          </p:cNvPr>
          <p:cNvSpPr>
            <a:spLocks noChangeShapeType="1"/>
          </p:cNvSpPr>
          <p:nvPr/>
        </p:nvSpPr>
        <p:spPr bwMode="auto">
          <a:xfrm>
            <a:off x="569913" y="3881438"/>
            <a:ext cx="7916862"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0" name="Line 77">
            <a:extLst>
              <a:ext uri="{FF2B5EF4-FFF2-40B4-BE49-F238E27FC236}">
                <a16:creationId xmlns:a16="http://schemas.microsoft.com/office/drawing/2014/main" id="{821B9B29-E2BA-534A-C870-49BECBFA57EF}"/>
              </a:ext>
            </a:extLst>
          </p:cNvPr>
          <p:cNvSpPr>
            <a:spLocks noChangeShapeType="1"/>
          </p:cNvSpPr>
          <p:nvPr/>
        </p:nvSpPr>
        <p:spPr bwMode="auto">
          <a:xfrm>
            <a:off x="1366838"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1" name="Line 78">
            <a:extLst>
              <a:ext uri="{FF2B5EF4-FFF2-40B4-BE49-F238E27FC236}">
                <a16:creationId xmlns:a16="http://schemas.microsoft.com/office/drawing/2014/main" id="{03B6E7EB-FC11-C9C6-FD01-08DF5DC0B0FA}"/>
              </a:ext>
            </a:extLst>
          </p:cNvPr>
          <p:cNvSpPr>
            <a:spLocks noChangeShapeType="1"/>
          </p:cNvSpPr>
          <p:nvPr/>
        </p:nvSpPr>
        <p:spPr bwMode="auto">
          <a:xfrm>
            <a:off x="1979613" y="1441450"/>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2" name="Line 79">
            <a:extLst>
              <a:ext uri="{FF2B5EF4-FFF2-40B4-BE49-F238E27FC236}">
                <a16:creationId xmlns:a16="http://schemas.microsoft.com/office/drawing/2014/main" id="{8672DADD-6751-F531-BDFD-954E6683A123}"/>
              </a:ext>
            </a:extLst>
          </p:cNvPr>
          <p:cNvSpPr>
            <a:spLocks noChangeShapeType="1"/>
          </p:cNvSpPr>
          <p:nvPr/>
        </p:nvSpPr>
        <p:spPr bwMode="auto">
          <a:xfrm>
            <a:off x="2627313"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3" name="Line 80">
            <a:extLst>
              <a:ext uri="{FF2B5EF4-FFF2-40B4-BE49-F238E27FC236}">
                <a16:creationId xmlns:a16="http://schemas.microsoft.com/office/drawing/2014/main" id="{9DB43FAB-4684-EAA1-9672-32077C8A20CA}"/>
              </a:ext>
            </a:extLst>
          </p:cNvPr>
          <p:cNvSpPr>
            <a:spLocks noChangeShapeType="1"/>
          </p:cNvSpPr>
          <p:nvPr/>
        </p:nvSpPr>
        <p:spPr bwMode="auto">
          <a:xfrm>
            <a:off x="3275013"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4" name="Line 81">
            <a:extLst>
              <a:ext uri="{FF2B5EF4-FFF2-40B4-BE49-F238E27FC236}">
                <a16:creationId xmlns:a16="http://schemas.microsoft.com/office/drawing/2014/main" id="{E9D02421-633E-8149-800F-22A38CAED86F}"/>
              </a:ext>
            </a:extLst>
          </p:cNvPr>
          <p:cNvSpPr>
            <a:spLocks noChangeShapeType="1"/>
          </p:cNvSpPr>
          <p:nvPr/>
        </p:nvSpPr>
        <p:spPr bwMode="auto">
          <a:xfrm>
            <a:off x="3924300"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5" name="Line 82">
            <a:extLst>
              <a:ext uri="{FF2B5EF4-FFF2-40B4-BE49-F238E27FC236}">
                <a16:creationId xmlns:a16="http://schemas.microsoft.com/office/drawing/2014/main" id="{26A3E635-221A-BBFB-3D43-EAE57834D92F}"/>
              </a:ext>
            </a:extLst>
          </p:cNvPr>
          <p:cNvSpPr>
            <a:spLocks noChangeShapeType="1"/>
          </p:cNvSpPr>
          <p:nvPr/>
        </p:nvSpPr>
        <p:spPr bwMode="auto">
          <a:xfrm>
            <a:off x="4535488"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6" name="Line 83">
            <a:extLst>
              <a:ext uri="{FF2B5EF4-FFF2-40B4-BE49-F238E27FC236}">
                <a16:creationId xmlns:a16="http://schemas.microsoft.com/office/drawing/2014/main" id="{96CCCFDC-C730-981C-B24D-D4DAD5E61F9B}"/>
              </a:ext>
            </a:extLst>
          </p:cNvPr>
          <p:cNvSpPr>
            <a:spLocks noChangeShapeType="1"/>
          </p:cNvSpPr>
          <p:nvPr/>
        </p:nvSpPr>
        <p:spPr bwMode="auto">
          <a:xfrm>
            <a:off x="5075238"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7" name="Line 84">
            <a:extLst>
              <a:ext uri="{FF2B5EF4-FFF2-40B4-BE49-F238E27FC236}">
                <a16:creationId xmlns:a16="http://schemas.microsoft.com/office/drawing/2014/main" id="{E9C70EC4-AF93-363F-B3C7-616529D80199}"/>
              </a:ext>
            </a:extLst>
          </p:cNvPr>
          <p:cNvSpPr>
            <a:spLocks noChangeShapeType="1"/>
          </p:cNvSpPr>
          <p:nvPr/>
        </p:nvSpPr>
        <p:spPr bwMode="auto">
          <a:xfrm>
            <a:off x="5724525"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8" name="Line 85">
            <a:extLst>
              <a:ext uri="{FF2B5EF4-FFF2-40B4-BE49-F238E27FC236}">
                <a16:creationId xmlns:a16="http://schemas.microsoft.com/office/drawing/2014/main" id="{01BF054D-F256-3363-F80A-4A37F5F1D553}"/>
              </a:ext>
            </a:extLst>
          </p:cNvPr>
          <p:cNvSpPr>
            <a:spLocks noChangeShapeType="1"/>
          </p:cNvSpPr>
          <p:nvPr/>
        </p:nvSpPr>
        <p:spPr bwMode="auto">
          <a:xfrm>
            <a:off x="6264275"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9" name="Line 86">
            <a:extLst>
              <a:ext uri="{FF2B5EF4-FFF2-40B4-BE49-F238E27FC236}">
                <a16:creationId xmlns:a16="http://schemas.microsoft.com/office/drawing/2014/main" id="{4CA9191B-33AD-3AAB-A895-ADD48CD5A021}"/>
              </a:ext>
            </a:extLst>
          </p:cNvPr>
          <p:cNvSpPr>
            <a:spLocks noChangeShapeType="1"/>
          </p:cNvSpPr>
          <p:nvPr/>
        </p:nvSpPr>
        <p:spPr bwMode="auto">
          <a:xfrm>
            <a:off x="6796088"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0" name="Line 87">
            <a:extLst>
              <a:ext uri="{FF2B5EF4-FFF2-40B4-BE49-F238E27FC236}">
                <a16:creationId xmlns:a16="http://schemas.microsoft.com/office/drawing/2014/main" id="{A5246DF1-5DBE-6D2E-F31E-B9F598314FA5}"/>
              </a:ext>
            </a:extLst>
          </p:cNvPr>
          <p:cNvSpPr>
            <a:spLocks noChangeShapeType="1"/>
          </p:cNvSpPr>
          <p:nvPr/>
        </p:nvSpPr>
        <p:spPr bwMode="auto">
          <a:xfrm>
            <a:off x="7332663"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1" name="Line 88">
            <a:extLst>
              <a:ext uri="{FF2B5EF4-FFF2-40B4-BE49-F238E27FC236}">
                <a16:creationId xmlns:a16="http://schemas.microsoft.com/office/drawing/2014/main" id="{3732E3CC-8017-417B-DB90-A87EA794FB68}"/>
              </a:ext>
            </a:extLst>
          </p:cNvPr>
          <p:cNvSpPr>
            <a:spLocks noChangeShapeType="1"/>
          </p:cNvSpPr>
          <p:nvPr/>
        </p:nvSpPr>
        <p:spPr bwMode="auto">
          <a:xfrm>
            <a:off x="7920038" y="1412875"/>
            <a:ext cx="0" cy="298608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8553" name="Rectangle 89">
            <a:extLst>
              <a:ext uri="{FF2B5EF4-FFF2-40B4-BE49-F238E27FC236}">
                <a16:creationId xmlns:a16="http://schemas.microsoft.com/office/drawing/2014/main" id="{DF92643B-439C-1F97-F7CD-A95CBEE882DA}"/>
              </a:ext>
            </a:extLst>
          </p:cNvPr>
          <p:cNvSpPr>
            <a:spLocks noChangeArrowheads="1"/>
          </p:cNvSpPr>
          <p:nvPr/>
        </p:nvSpPr>
        <p:spPr bwMode="auto">
          <a:xfrm>
            <a:off x="3924300" y="3371850"/>
            <a:ext cx="6477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1</a:t>
            </a:r>
          </a:p>
        </p:txBody>
      </p:sp>
      <p:sp>
        <p:nvSpPr>
          <p:cNvPr id="318554" name="Rectangle 90">
            <a:extLst>
              <a:ext uri="{FF2B5EF4-FFF2-40B4-BE49-F238E27FC236}">
                <a16:creationId xmlns:a16="http://schemas.microsoft.com/office/drawing/2014/main" id="{064813F2-4757-D9D0-ABDA-BF4D5C936228}"/>
              </a:ext>
            </a:extLst>
          </p:cNvPr>
          <p:cNvSpPr>
            <a:spLocks noChangeArrowheads="1"/>
          </p:cNvSpPr>
          <p:nvPr/>
        </p:nvSpPr>
        <p:spPr bwMode="auto">
          <a:xfrm>
            <a:off x="3960813" y="2838450"/>
            <a:ext cx="539750" cy="5334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0*</a:t>
            </a:r>
          </a:p>
        </p:txBody>
      </p:sp>
      <p:sp>
        <p:nvSpPr>
          <p:cNvPr id="318555" name="Rectangle 91">
            <a:extLst>
              <a:ext uri="{FF2B5EF4-FFF2-40B4-BE49-F238E27FC236}">
                <a16:creationId xmlns:a16="http://schemas.microsoft.com/office/drawing/2014/main" id="{D6AC0581-1756-1157-E12B-15C09DA3F72F}"/>
              </a:ext>
            </a:extLst>
          </p:cNvPr>
          <p:cNvSpPr>
            <a:spLocks noChangeArrowheads="1"/>
          </p:cNvSpPr>
          <p:nvPr/>
        </p:nvSpPr>
        <p:spPr bwMode="auto">
          <a:xfrm>
            <a:off x="3960813" y="2259013"/>
            <a:ext cx="539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a:t> 2*</a:t>
            </a:r>
          </a:p>
        </p:txBody>
      </p:sp>
      <p:sp>
        <p:nvSpPr>
          <p:cNvPr id="318556" name="Rectangle 92">
            <a:extLst>
              <a:ext uri="{FF2B5EF4-FFF2-40B4-BE49-F238E27FC236}">
                <a16:creationId xmlns:a16="http://schemas.microsoft.com/office/drawing/2014/main" id="{8D85AEC1-CA44-6DEB-5967-3EC4765A0F93}"/>
              </a:ext>
            </a:extLst>
          </p:cNvPr>
          <p:cNvSpPr>
            <a:spLocks noChangeArrowheads="1"/>
          </p:cNvSpPr>
          <p:nvPr/>
        </p:nvSpPr>
        <p:spPr bwMode="auto">
          <a:xfrm>
            <a:off x="7956550" y="3889375"/>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nchor="ctr"/>
          <a:lstStyle/>
          <a:p>
            <a:r>
              <a:rPr lang="zh-CN" altLang="en-US" sz="2400"/>
              <a:t>缺</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318526"/>
                                        </p:tgtEl>
                                        <p:attrNameLst>
                                          <p:attrName>style.visibility</p:attrName>
                                        </p:attrNameLst>
                                      </p:cBhvr>
                                      <p:to>
                                        <p:strVal val="visible"/>
                                      </p:to>
                                    </p:set>
                                    <p:animEffect transition="in" filter="barn(outHorizontal)">
                                      <p:cBhvr>
                                        <p:cTn id="7" dur="500"/>
                                        <p:tgtEl>
                                          <p:spTgt spid="318526"/>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318525"/>
                                        </p:tgtEl>
                                        <p:attrNameLst>
                                          <p:attrName>style.visibility</p:attrName>
                                        </p:attrNameLst>
                                      </p:cBhvr>
                                      <p:to>
                                        <p:strVal val="visible"/>
                                      </p:to>
                                    </p:set>
                                    <p:animEffect transition="in" filter="blinds(horizontal)">
                                      <p:cBhvr>
                                        <p:cTn id="11" dur="500"/>
                                        <p:tgtEl>
                                          <p:spTgt spid="3185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42" fill="hold" nodeType="clickEffect">
                                  <p:stCondLst>
                                    <p:cond delay="0"/>
                                  </p:stCondLst>
                                  <p:childTnLst>
                                    <p:set>
                                      <p:cBhvr>
                                        <p:cTn id="15" dur="1" fill="hold">
                                          <p:stCondLst>
                                            <p:cond delay="0"/>
                                          </p:stCondLst>
                                        </p:cTn>
                                        <p:tgtEl>
                                          <p:spTgt spid="318523"/>
                                        </p:tgtEl>
                                        <p:attrNameLst>
                                          <p:attrName>style.visibility</p:attrName>
                                        </p:attrNameLst>
                                      </p:cBhvr>
                                      <p:to>
                                        <p:strVal val="visible"/>
                                      </p:to>
                                    </p:set>
                                    <p:animEffect transition="in" filter="barn(outHorizontal)">
                                      <p:cBhvr>
                                        <p:cTn id="16" dur="500"/>
                                        <p:tgtEl>
                                          <p:spTgt spid="31852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42" fill="hold" nodeType="clickEffect">
                                  <p:stCondLst>
                                    <p:cond delay="0"/>
                                  </p:stCondLst>
                                  <p:childTnLst>
                                    <p:set>
                                      <p:cBhvr>
                                        <p:cTn id="20" dur="1" fill="hold">
                                          <p:stCondLst>
                                            <p:cond delay="0"/>
                                          </p:stCondLst>
                                        </p:cTn>
                                        <p:tgtEl>
                                          <p:spTgt spid="318521"/>
                                        </p:tgtEl>
                                        <p:attrNameLst>
                                          <p:attrName>style.visibility</p:attrName>
                                        </p:attrNameLst>
                                      </p:cBhvr>
                                      <p:to>
                                        <p:strVal val="visible"/>
                                      </p:to>
                                    </p:set>
                                    <p:animEffect transition="in" filter="barn(outHorizontal)">
                                      <p:cBhvr>
                                        <p:cTn id="21" dur="500"/>
                                        <p:tgtEl>
                                          <p:spTgt spid="31852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6" presetClass="entr" presetSubtype="42" fill="hold" nodeType="clickEffect">
                                  <p:stCondLst>
                                    <p:cond delay="0"/>
                                  </p:stCondLst>
                                  <p:childTnLst>
                                    <p:set>
                                      <p:cBhvr>
                                        <p:cTn id="25" dur="1" fill="hold">
                                          <p:stCondLst>
                                            <p:cond delay="0"/>
                                          </p:stCondLst>
                                        </p:cTn>
                                        <p:tgtEl>
                                          <p:spTgt spid="318520"/>
                                        </p:tgtEl>
                                        <p:attrNameLst>
                                          <p:attrName>style.visibility</p:attrName>
                                        </p:attrNameLst>
                                      </p:cBhvr>
                                      <p:to>
                                        <p:strVal val="visible"/>
                                      </p:to>
                                    </p:set>
                                    <p:animEffect transition="in" filter="barn(outHorizontal)">
                                      <p:cBhvr>
                                        <p:cTn id="26" dur="500"/>
                                        <p:tgtEl>
                                          <p:spTgt spid="318520"/>
                                        </p:tgtEl>
                                      </p:cBhvr>
                                    </p:animEffect>
                                  </p:childTnLst>
                                </p:cTn>
                              </p:par>
                            </p:childTnLst>
                          </p:cTn>
                        </p:par>
                        <p:par>
                          <p:cTn id="27" fill="hold" nodeType="afterGroup">
                            <p:stCondLst>
                              <p:cond delay="500"/>
                            </p:stCondLst>
                            <p:childTnLst>
                              <p:par>
                                <p:cTn id="28" presetID="3" presetClass="entr" presetSubtype="10" fill="hold" nodeType="afterEffect">
                                  <p:stCondLst>
                                    <p:cond delay="0"/>
                                  </p:stCondLst>
                                  <p:childTnLst>
                                    <p:set>
                                      <p:cBhvr>
                                        <p:cTn id="29" dur="1" fill="hold">
                                          <p:stCondLst>
                                            <p:cond delay="0"/>
                                          </p:stCondLst>
                                        </p:cTn>
                                        <p:tgtEl>
                                          <p:spTgt spid="318519"/>
                                        </p:tgtEl>
                                        <p:attrNameLst>
                                          <p:attrName>style.visibility</p:attrName>
                                        </p:attrNameLst>
                                      </p:cBhvr>
                                      <p:to>
                                        <p:strVal val="visible"/>
                                      </p:to>
                                    </p:set>
                                    <p:animEffect transition="in" filter="blinds(horizontal)">
                                      <p:cBhvr>
                                        <p:cTn id="30" dur="500"/>
                                        <p:tgtEl>
                                          <p:spTgt spid="31851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6" presetClass="entr" presetSubtype="42" fill="hold" nodeType="clickEffect">
                                  <p:stCondLst>
                                    <p:cond delay="0"/>
                                  </p:stCondLst>
                                  <p:childTnLst>
                                    <p:set>
                                      <p:cBhvr>
                                        <p:cTn id="34" dur="1" fill="hold">
                                          <p:stCondLst>
                                            <p:cond delay="0"/>
                                          </p:stCondLst>
                                        </p:cTn>
                                        <p:tgtEl>
                                          <p:spTgt spid="318518"/>
                                        </p:tgtEl>
                                        <p:attrNameLst>
                                          <p:attrName>style.visibility</p:attrName>
                                        </p:attrNameLst>
                                      </p:cBhvr>
                                      <p:to>
                                        <p:strVal val="visible"/>
                                      </p:to>
                                    </p:set>
                                    <p:animEffect transition="in" filter="barn(outHorizontal)">
                                      <p:cBhvr>
                                        <p:cTn id="35" dur="500"/>
                                        <p:tgtEl>
                                          <p:spTgt spid="31851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6" presetClass="entr" presetSubtype="42" fill="hold" nodeType="clickEffect">
                                  <p:stCondLst>
                                    <p:cond delay="0"/>
                                  </p:stCondLst>
                                  <p:childTnLst>
                                    <p:set>
                                      <p:cBhvr>
                                        <p:cTn id="39" dur="1" fill="hold">
                                          <p:stCondLst>
                                            <p:cond delay="0"/>
                                          </p:stCondLst>
                                        </p:cTn>
                                        <p:tgtEl>
                                          <p:spTgt spid="318516"/>
                                        </p:tgtEl>
                                        <p:attrNameLst>
                                          <p:attrName>style.visibility</p:attrName>
                                        </p:attrNameLst>
                                      </p:cBhvr>
                                      <p:to>
                                        <p:strVal val="visible"/>
                                      </p:to>
                                    </p:set>
                                    <p:animEffect transition="in" filter="barn(outHorizontal)">
                                      <p:cBhvr>
                                        <p:cTn id="40" dur="500"/>
                                        <p:tgtEl>
                                          <p:spTgt spid="31851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6" presetClass="entr" presetSubtype="42" fill="hold" nodeType="clickEffect">
                                  <p:stCondLst>
                                    <p:cond delay="0"/>
                                  </p:stCondLst>
                                  <p:childTnLst>
                                    <p:set>
                                      <p:cBhvr>
                                        <p:cTn id="44" dur="1" fill="hold">
                                          <p:stCondLst>
                                            <p:cond delay="0"/>
                                          </p:stCondLst>
                                        </p:cTn>
                                        <p:tgtEl>
                                          <p:spTgt spid="318515"/>
                                        </p:tgtEl>
                                        <p:attrNameLst>
                                          <p:attrName>style.visibility</p:attrName>
                                        </p:attrNameLst>
                                      </p:cBhvr>
                                      <p:to>
                                        <p:strVal val="visible"/>
                                      </p:to>
                                    </p:set>
                                    <p:animEffect transition="in" filter="barn(outHorizontal)">
                                      <p:cBhvr>
                                        <p:cTn id="45" dur="500"/>
                                        <p:tgtEl>
                                          <p:spTgt spid="31851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6" presetClass="entr" presetSubtype="42" fill="hold" nodeType="clickEffect">
                                  <p:stCondLst>
                                    <p:cond delay="0"/>
                                  </p:stCondLst>
                                  <p:childTnLst>
                                    <p:set>
                                      <p:cBhvr>
                                        <p:cTn id="49" dur="1" fill="hold">
                                          <p:stCondLst>
                                            <p:cond delay="0"/>
                                          </p:stCondLst>
                                        </p:cTn>
                                        <p:tgtEl>
                                          <p:spTgt spid="318514"/>
                                        </p:tgtEl>
                                        <p:attrNameLst>
                                          <p:attrName>style.visibility</p:attrName>
                                        </p:attrNameLst>
                                      </p:cBhvr>
                                      <p:to>
                                        <p:strVal val="visible"/>
                                      </p:to>
                                    </p:set>
                                    <p:animEffect transition="in" filter="barn(outHorizontal)">
                                      <p:cBhvr>
                                        <p:cTn id="50" dur="500"/>
                                        <p:tgtEl>
                                          <p:spTgt spid="31851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6" presetClass="entr" presetSubtype="42" fill="hold" nodeType="clickEffect">
                                  <p:stCondLst>
                                    <p:cond delay="0"/>
                                  </p:stCondLst>
                                  <p:childTnLst>
                                    <p:set>
                                      <p:cBhvr>
                                        <p:cTn id="54" dur="1" fill="hold">
                                          <p:stCondLst>
                                            <p:cond delay="0"/>
                                          </p:stCondLst>
                                        </p:cTn>
                                        <p:tgtEl>
                                          <p:spTgt spid="318513"/>
                                        </p:tgtEl>
                                        <p:attrNameLst>
                                          <p:attrName>style.visibility</p:attrName>
                                        </p:attrNameLst>
                                      </p:cBhvr>
                                      <p:to>
                                        <p:strVal val="visible"/>
                                      </p:to>
                                    </p:set>
                                    <p:animEffect transition="in" filter="barn(outHorizontal)">
                                      <p:cBhvr>
                                        <p:cTn id="55" dur="500"/>
                                        <p:tgtEl>
                                          <p:spTgt spid="31851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6" presetClass="entr" presetSubtype="42" fill="hold" nodeType="clickEffect">
                                  <p:stCondLst>
                                    <p:cond delay="0"/>
                                  </p:stCondLst>
                                  <p:childTnLst>
                                    <p:set>
                                      <p:cBhvr>
                                        <p:cTn id="59" dur="1" fill="hold">
                                          <p:stCondLst>
                                            <p:cond delay="0"/>
                                          </p:stCondLst>
                                        </p:cTn>
                                        <p:tgtEl>
                                          <p:spTgt spid="318511"/>
                                        </p:tgtEl>
                                        <p:attrNameLst>
                                          <p:attrName>style.visibility</p:attrName>
                                        </p:attrNameLst>
                                      </p:cBhvr>
                                      <p:to>
                                        <p:strVal val="visible"/>
                                      </p:to>
                                    </p:set>
                                    <p:animEffect transition="in" filter="barn(outHorizontal)">
                                      <p:cBhvr>
                                        <p:cTn id="60" dur="500"/>
                                        <p:tgtEl>
                                          <p:spTgt spid="31851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6" presetClass="entr" presetSubtype="42" fill="hold" nodeType="clickEffect">
                                  <p:stCondLst>
                                    <p:cond delay="0"/>
                                  </p:stCondLst>
                                  <p:childTnLst>
                                    <p:set>
                                      <p:cBhvr>
                                        <p:cTn id="64" dur="1" fill="hold">
                                          <p:stCondLst>
                                            <p:cond delay="0"/>
                                          </p:stCondLst>
                                        </p:cTn>
                                        <p:tgtEl>
                                          <p:spTgt spid="318510"/>
                                        </p:tgtEl>
                                        <p:attrNameLst>
                                          <p:attrName>style.visibility</p:attrName>
                                        </p:attrNameLst>
                                      </p:cBhvr>
                                      <p:to>
                                        <p:strVal val="visible"/>
                                      </p:to>
                                    </p:set>
                                    <p:animEffect transition="in" filter="barn(outHorizontal)">
                                      <p:cBhvr>
                                        <p:cTn id="65" dur="500"/>
                                        <p:tgtEl>
                                          <p:spTgt spid="31851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6" presetClass="entr" presetSubtype="42" fill="hold" nodeType="clickEffect">
                                  <p:stCondLst>
                                    <p:cond delay="0"/>
                                  </p:stCondLst>
                                  <p:childTnLst>
                                    <p:set>
                                      <p:cBhvr>
                                        <p:cTn id="69" dur="1" fill="hold">
                                          <p:stCondLst>
                                            <p:cond delay="0"/>
                                          </p:stCondLst>
                                        </p:cTn>
                                        <p:tgtEl>
                                          <p:spTgt spid="318509"/>
                                        </p:tgtEl>
                                        <p:attrNameLst>
                                          <p:attrName>style.visibility</p:attrName>
                                        </p:attrNameLst>
                                      </p:cBhvr>
                                      <p:to>
                                        <p:strVal val="visible"/>
                                      </p:to>
                                    </p:set>
                                    <p:animEffect transition="in" filter="barn(outHorizontal)">
                                      <p:cBhvr>
                                        <p:cTn id="70" dur="500"/>
                                        <p:tgtEl>
                                          <p:spTgt spid="318509"/>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6" presetClass="entr" presetSubtype="42" fill="hold" nodeType="clickEffect">
                                  <p:stCondLst>
                                    <p:cond delay="0"/>
                                  </p:stCondLst>
                                  <p:childTnLst>
                                    <p:set>
                                      <p:cBhvr>
                                        <p:cTn id="74" dur="1" fill="hold">
                                          <p:stCondLst>
                                            <p:cond delay="0"/>
                                          </p:stCondLst>
                                        </p:cTn>
                                        <p:tgtEl>
                                          <p:spTgt spid="318508"/>
                                        </p:tgtEl>
                                        <p:attrNameLst>
                                          <p:attrName>style.visibility</p:attrName>
                                        </p:attrNameLst>
                                      </p:cBhvr>
                                      <p:to>
                                        <p:strVal val="visible"/>
                                      </p:to>
                                    </p:set>
                                    <p:animEffect transition="in" filter="barn(outHorizontal)">
                                      <p:cBhvr>
                                        <p:cTn id="75" dur="500"/>
                                        <p:tgtEl>
                                          <p:spTgt spid="31850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6" presetClass="entr" presetSubtype="42" fill="hold" nodeType="clickEffect">
                                  <p:stCondLst>
                                    <p:cond delay="0"/>
                                  </p:stCondLst>
                                  <p:childTnLst>
                                    <p:set>
                                      <p:cBhvr>
                                        <p:cTn id="79" dur="1" fill="hold">
                                          <p:stCondLst>
                                            <p:cond delay="0"/>
                                          </p:stCondLst>
                                        </p:cTn>
                                        <p:tgtEl>
                                          <p:spTgt spid="318555"/>
                                        </p:tgtEl>
                                        <p:attrNameLst>
                                          <p:attrName>style.visibility</p:attrName>
                                        </p:attrNameLst>
                                      </p:cBhvr>
                                      <p:to>
                                        <p:strVal val="visible"/>
                                      </p:to>
                                    </p:set>
                                    <p:animEffect transition="in" filter="barn(outHorizontal)">
                                      <p:cBhvr>
                                        <p:cTn id="80" dur="500"/>
                                        <p:tgtEl>
                                          <p:spTgt spid="318555"/>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6" presetClass="entr" presetSubtype="42" fill="hold" nodeType="clickEffect">
                                  <p:stCondLst>
                                    <p:cond delay="0"/>
                                  </p:stCondLst>
                                  <p:childTnLst>
                                    <p:set>
                                      <p:cBhvr>
                                        <p:cTn id="84" dur="1" fill="hold">
                                          <p:stCondLst>
                                            <p:cond delay="0"/>
                                          </p:stCondLst>
                                        </p:cTn>
                                        <p:tgtEl>
                                          <p:spTgt spid="318554"/>
                                        </p:tgtEl>
                                        <p:attrNameLst>
                                          <p:attrName>style.visibility</p:attrName>
                                        </p:attrNameLst>
                                      </p:cBhvr>
                                      <p:to>
                                        <p:strVal val="visible"/>
                                      </p:to>
                                    </p:set>
                                    <p:animEffect transition="in" filter="barn(outHorizontal)">
                                      <p:cBhvr>
                                        <p:cTn id="85" dur="500"/>
                                        <p:tgtEl>
                                          <p:spTgt spid="31855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6" presetClass="entr" presetSubtype="42" fill="hold" nodeType="clickEffect">
                                  <p:stCondLst>
                                    <p:cond delay="0"/>
                                  </p:stCondLst>
                                  <p:childTnLst>
                                    <p:set>
                                      <p:cBhvr>
                                        <p:cTn id="89" dur="1" fill="hold">
                                          <p:stCondLst>
                                            <p:cond delay="0"/>
                                          </p:stCondLst>
                                        </p:cTn>
                                        <p:tgtEl>
                                          <p:spTgt spid="318553"/>
                                        </p:tgtEl>
                                        <p:attrNameLst>
                                          <p:attrName>style.visibility</p:attrName>
                                        </p:attrNameLst>
                                      </p:cBhvr>
                                      <p:to>
                                        <p:strVal val="visible"/>
                                      </p:to>
                                    </p:set>
                                    <p:animEffect transition="in" filter="barn(outHorizontal)">
                                      <p:cBhvr>
                                        <p:cTn id="90" dur="500"/>
                                        <p:tgtEl>
                                          <p:spTgt spid="318553"/>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6" presetClass="entr" presetSubtype="42" fill="hold" nodeType="clickEffect">
                                  <p:stCondLst>
                                    <p:cond delay="0"/>
                                  </p:stCondLst>
                                  <p:childTnLst>
                                    <p:set>
                                      <p:cBhvr>
                                        <p:cTn id="94" dur="1" fill="hold">
                                          <p:stCondLst>
                                            <p:cond delay="0"/>
                                          </p:stCondLst>
                                        </p:cTn>
                                        <p:tgtEl>
                                          <p:spTgt spid="318501"/>
                                        </p:tgtEl>
                                        <p:attrNameLst>
                                          <p:attrName>style.visibility</p:attrName>
                                        </p:attrNameLst>
                                      </p:cBhvr>
                                      <p:to>
                                        <p:strVal val="visible"/>
                                      </p:to>
                                    </p:set>
                                    <p:animEffect transition="in" filter="barn(outHorizontal)">
                                      <p:cBhvr>
                                        <p:cTn id="95" dur="500"/>
                                        <p:tgtEl>
                                          <p:spTgt spid="31850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16" presetClass="entr" presetSubtype="42" fill="hold" nodeType="clickEffect">
                                  <p:stCondLst>
                                    <p:cond delay="0"/>
                                  </p:stCondLst>
                                  <p:childTnLst>
                                    <p:set>
                                      <p:cBhvr>
                                        <p:cTn id="99" dur="1" fill="hold">
                                          <p:stCondLst>
                                            <p:cond delay="0"/>
                                          </p:stCondLst>
                                        </p:cTn>
                                        <p:tgtEl>
                                          <p:spTgt spid="318500"/>
                                        </p:tgtEl>
                                        <p:attrNameLst>
                                          <p:attrName>style.visibility</p:attrName>
                                        </p:attrNameLst>
                                      </p:cBhvr>
                                      <p:to>
                                        <p:strVal val="visible"/>
                                      </p:to>
                                    </p:set>
                                    <p:animEffect transition="in" filter="barn(outHorizontal)">
                                      <p:cBhvr>
                                        <p:cTn id="100" dur="500"/>
                                        <p:tgtEl>
                                          <p:spTgt spid="318500"/>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6" presetClass="entr" presetSubtype="42" fill="hold" nodeType="clickEffect">
                                  <p:stCondLst>
                                    <p:cond delay="0"/>
                                  </p:stCondLst>
                                  <p:childTnLst>
                                    <p:set>
                                      <p:cBhvr>
                                        <p:cTn id="104" dur="1" fill="hold">
                                          <p:stCondLst>
                                            <p:cond delay="0"/>
                                          </p:stCondLst>
                                        </p:cTn>
                                        <p:tgtEl>
                                          <p:spTgt spid="318499"/>
                                        </p:tgtEl>
                                        <p:attrNameLst>
                                          <p:attrName>style.visibility</p:attrName>
                                        </p:attrNameLst>
                                      </p:cBhvr>
                                      <p:to>
                                        <p:strVal val="visible"/>
                                      </p:to>
                                    </p:set>
                                    <p:animEffect transition="in" filter="barn(outHorizontal)">
                                      <p:cBhvr>
                                        <p:cTn id="105" dur="500"/>
                                        <p:tgtEl>
                                          <p:spTgt spid="318499"/>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6" presetClass="entr" presetSubtype="42" fill="hold" nodeType="clickEffect">
                                  <p:stCondLst>
                                    <p:cond delay="0"/>
                                  </p:stCondLst>
                                  <p:childTnLst>
                                    <p:set>
                                      <p:cBhvr>
                                        <p:cTn id="109" dur="1" fill="hold">
                                          <p:stCondLst>
                                            <p:cond delay="0"/>
                                          </p:stCondLst>
                                        </p:cTn>
                                        <p:tgtEl>
                                          <p:spTgt spid="318498"/>
                                        </p:tgtEl>
                                        <p:attrNameLst>
                                          <p:attrName>style.visibility</p:attrName>
                                        </p:attrNameLst>
                                      </p:cBhvr>
                                      <p:to>
                                        <p:strVal val="visible"/>
                                      </p:to>
                                    </p:set>
                                    <p:animEffect transition="in" filter="barn(outHorizontal)">
                                      <p:cBhvr>
                                        <p:cTn id="110" dur="500"/>
                                        <p:tgtEl>
                                          <p:spTgt spid="318498"/>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6" presetClass="entr" presetSubtype="42" fill="hold" nodeType="clickEffect">
                                  <p:stCondLst>
                                    <p:cond delay="0"/>
                                  </p:stCondLst>
                                  <p:childTnLst>
                                    <p:set>
                                      <p:cBhvr>
                                        <p:cTn id="114" dur="1" fill="hold">
                                          <p:stCondLst>
                                            <p:cond delay="0"/>
                                          </p:stCondLst>
                                        </p:cTn>
                                        <p:tgtEl>
                                          <p:spTgt spid="318496"/>
                                        </p:tgtEl>
                                        <p:attrNameLst>
                                          <p:attrName>style.visibility</p:attrName>
                                        </p:attrNameLst>
                                      </p:cBhvr>
                                      <p:to>
                                        <p:strVal val="visible"/>
                                      </p:to>
                                    </p:set>
                                    <p:animEffect transition="in" filter="barn(outHorizontal)">
                                      <p:cBhvr>
                                        <p:cTn id="115" dur="500"/>
                                        <p:tgtEl>
                                          <p:spTgt spid="318496"/>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6" presetClass="entr" presetSubtype="42" fill="hold" nodeType="clickEffect">
                                  <p:stCondLst>
                                    <p:cond delay="0"/>
                                  </p:stCondLst>
                                  <p:childTnLst>
                                    <p:set>
                                      <p:cBhvr>
                                        <p:cTn id="119" dur="1" fill="hold">
                                          <p:stCondLst>
                                            <p:cond delay="0"/>
                                          </p:stCondLst>
                                        </p:cTn>
                                        <p:tgtEl>
                                          <p:spTgt spid="318495"/>
                                        </p:tgtEl>
                                        <p:attrNameLst>
                                          <p:attrName>style.visibility</p:attrName>
                                        </p:attrNameLst>
                                      </p:cBhvr>
                                      <p:to>
                                        <p:strVal val="visible"/>
                                      </p:to>
                                    </p:set>
                                    <p:animEffect transition="in" filter="barn(outHorizontal)">
                                      <p:cBhvr>
                                        <p:cTn id="120" dur="500"/>
                                        <p:tgtEl>
                                          <p:spTgt spid="318495"/>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6" presetClass="entr" presetSubtype="42" fill="hold" nodeType="clickEffect">
                                  <p:stCondLst>
                                    <p:cond delay="0"/>
                                  </p:stCondLst>
                                  <p:childTnLst>
                                    <p:set>
                                      <p:cBhvr>
                                        <p:cTn id="124" dur="1" fill="hold">
                                          <p:stCondLst>
                                            <p:cond delay="0"/>
                                          </p:stCondLst>
                                        </p:cTn>
                                        <p:tgtEl>
                                          <p:spTgt spid="318494"/>
                                        </p:tgtEl>
                                        <p:attrNameLst>
                                          <p:attrName>style.visibility</p:attrName>
                                        </p:attrNameLst>
                                      </p:cBhvr>
                                      <p:to>
                                        <p:strVal val="visible"/>
                                      </p:to>
                                    </p:set>
                                    <p:animEffect transition="in" filter="barn(outHorizontal)">
                                      <p:cBhvr>
                                        <p:cTn id="125" dur="500"/>
                                        <p:tgtEl>
                                          <p:spTgt spid="318494"/>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6" presetClass="entr" presetSubtype="42" fill="hold" nodeType="clickEffect">
                                  <p:stCondLst>
                                    <p:cond delay="0"/>
                                  </p:stCondLst>
                                  <p:childTnLst>
                                    <p:set>
                                      <p:cBhvr>
                                        <p:cTn id="129" dur="1" fill="hold">
                                          <p:stCondLst>
                                            <p:cond delay="0"/>
                                          </p:stCondLst>
                                        </p:cTn>
                                        <p:tgtEl>
                                          <p:spTgt spid="318491"/>
                                        </p:tgtEl>
                                        <p:attrNameLst>
                                          <p:attrName>style.visibility</p:attrName>
                                        </p:attrNameLst>
                                      </p:cBhvr>
                                      <p:to>
                                        <p:strVal val="visible"/>
                                      </p:to>
                                    </p:set>
                                    <p:animEffect transition="in" filter="barn(outHorizontal)">
                                      <p:cBhvr>
                                        <p:cTn id="130" dur="500"/>
                                        <p:tgtEl>
                                          <p:spTgt spid="318491"/>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6" presetClass="entr" presetSubtype="42" fill="hold" nodeType="clickEffect">
                                  <p:stCondLst>
                                    <p:cond delay="0"/>
                                  </p:stCondLst>
                                  <p:childTnLst>
                                    <p:set>
                                      <p:cBhvr>
                                        <p:cTn id="134" dur="1" fill="hold">
                                          <p:stCondLst>
                                            <p:cond delay="0"/>
                                          </p:stCondLst>
                                        </p:cTn>
                                        <p:tgtEl>
                                          <p:spTgt spid="318490"/>
                                        </p:tgtEl>
                                        <p:attrNameLst>
                                          <p:attrName>style.visibility</p:attrName>
                                        </p:attrNameLst>
                                      </p:cBhvr>
                                      <p:to>
                                        <p:strVal val="visible"/>
                                      </p:to>
                                    </p:set>
                                    <p:animEffect transition="in" filter="barn(outHorizontal)">
                                      <p:cBhvr>
                                        <p:cTn id="135" dur="500"/>
                                        <p:tgtEl>
                                          <p:spTgt spid="318490"/>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6" presetClass="entr" presetSubtype="42" fill="hold" nodeType="clickEffect">
                                  <p:stCondLst>
                                    <p:cond delay="0"/>
                                  </p:stCondLst>
                                  <p:childTnLst>
                                    <p:set>
                                      <p:cBhvr>
                                        <p:cTn id="139" dur="1" fill="hold">
                                          <p:stCondLst>
                                            <p:cond delay="0"/>
                                          </p:stCondLst>
                                        </p:cTn>
                                        <p:tgtEl>
                                          <p:spTgt spid="318489"/>
                                        </p:tgtEl>
                                        <p:attrNameLst>
                                          <p:attrName>style.visibility</p:attrName>
                                        </p:attrNameLst>
                                      </p:cBhvr>
                                      <p:to>
                                        <p:strVal val="visible"/>
                                      </p:to>
                                    </p:set>
                                    <p:animEffect transition="in" filter="barn(outHorizontal)">
                                      <p:cBhvr>
                                        <p:cTn id="140" dur="500"/>
                                        <p:tgtEl>
                                          <p:spTgt spid="318489"/>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6" presetClass="entr" presetSubtype="42" fill="hold" nodeType="clickEffect">
                                  <p:stCondLst>
                                    <p:cond delay="0"/>
                                  </p:stCondLst>
                                  <p:childTnLst>
                                    <p:set>
                                      <p:cBhvr>
                                        <p:cTn id="144" dur="1" fill="hold">
                                          <p:stCondLst>
                                            <p:cond delay="0"/>
                                          </p:stCondLst>
                                        </p:cTn>
                                        <p:tgtEl>
                                          <p:spTgt spid="318488"/>
                                        </p:tgtEl>
                                        <p:attrNameLst>
                                          <p:attrName>style.visibility</p:attrName>
                                        </p:attrNameLst>
                                      </p:cBhvr>
                                      <p:to>
                                        <p:strVal val="visible"/>
                                      </p:to>
                                    </p:set>
                                    <p:animEffect transition="in" filter="barn(outHorizontal)">
                                      <p:cBhvr>
                                        <p:cTn id="145" dur="500"/>
                                        <p:tgtEl>
                                          <p:spTgt spid="318488"/>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6" presetClass="entr" presetSubtype="42" fill="hold" nodeType="clickEffect">
                                  <p:stCondLst>
                                    <p:cond delay="0"/>
                                  </p:stCondLst>
                                  <p:childTnLst>
                                    <p:set>
                                      <p:cBhvr>
                                        <p:cTn id="149" dur="1" fill="hold">
                                          <p:stCondLst>
                                            <p:cond delay="0"/>
                                          </p:stCondLst>
                                        </p:cTn>
                                        <p:tgtEl>
                                          <p:spTgt spid="318486"/>
                                        </p:tgtEl>
                                        <p:attrNameLst>
                                          <p:attrName>style.visibility</p:attrName>
                                        </p:attrNameLst>
                                      </p:cBhvr>
                                      <p:to>
                                        <p:strVal val="visible"/>
                                      </p:to>
                                    </p:set>
                                    <p:animEffect transition="in" filter="barn(outHorizontal)">
                                      <p:cBhvr>
                                        <p:cTn id="150" dur="500"/>
                                        <p:tgtEl>
                                          <p:spTgt spid="318486"/>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6" presetClass="entr" presetSubtype="42" fill="hold" nodeType="clickEffect">
                                  <p:stCondLst>
                                    <p:cond delay="0"/>
                                  </p:stCondLst>
                                  <p:childTnLst>
                                    <p:set>
                                      <p:cBhvr>
                                        <p:cTn id="154" dur="1" fill="hold">
                                          <p:stCondLst>
                                            <p:cond delay="0"/>
                                          </p:stCondLst>
                                        </p:cTn>
                                        <p:tgtEl>
                                          <p:spTgt spid="318485"/>
                                        </p:tgtEl>
                                        <p:attrNameLst>
                                          <p:attrName>style.visibility</p:attrName>
                                        </p:attrNameLst>
                                      </p:cBhvr>
                                      <p:to>
                                        <p:strVal val="visible"/>
                                      </p:to>
                                    </p:set>
                                    <p:animEffect transition="in" filter="barn(outHorizontal)">
                                      <p:cBhvr>
                                        <p:cTn id="155" dur="500"/>
                                        <p:tgtEl>
                                          <p:spTgt spid="318485"/>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6" presetClass="entr" presetSubtype="42" fill="hold" nodeType="clickEffect">
                                  <p:stCondLst>
                                    <p:cond delay="0"/>
                                  </p:stCondLst>
                                  <p:childTnLst>
                                    <p:set>
                                      <p:cBhvr>
                                        <p:cTn id="159" dur="1" fill="hold">
                                          <p:stCondLst>
                                            <p:cond delay="0"/>
                                          </p:stCondLst>
                                        </p:cTn>
                                        <p:tgtEl>
                                          <p:spTgt spid="318484"/>
                                        </p:tgtEl>
                                        <p:attrNameLst>
                                          <p:attrName>style.visibility</p:attrName>
                                        </p:attrNameLst>
                                      </p:cBhvr>
                                      <p:to>
                                        <p:strVal val="visible"/>
                                      </p:to>
                                    </p:set>
                                    <p:animEffect transition="in" filter="barn(outHorizontal)">
                                      <p:cBhvr>
                                        <p:cTn id="160" dur="500"/>
                                        <p:tgtEl>
                                          <p:spTgt spid="318484"/>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16" presetClass="entr" presetSubtype="42" fill="hold" nodeType="clickEffect">
                                  <p:stCondLst>
                                    <p:cond delay="0"/>
                                  </p:stCondLst>
                                  <p:childTnLst>
                                    <p:set>
                                      <p:cBhvr>
                                        <p:cTn id="164" dur="1" fill="hold">
                                          <p:stCondLst>
                                            <p:cond delay="0"/>
                                          </p:stCondLst>
                                        </p:cTn>
                                        <p:tgtEl>
                                          <p:spTgt spid="318483"/>
                                        </p:tgtEl>
                                        <p:attrNameLst>
                                          <p:attrName>style.visibility</p:attrName>
                                        </p:attrNameLst>
                                      </p:cBhvr>
                                      <p:to>
                                        <p:strVal val="visible"/>
                                      </p:to>
                                    </p:set>
                                    <p:animEffect transition="in" filter="barn(outHorizontal)">
                                      <p:cBhvr>
                                        <p:cTn id="165" dur="500"/>
                                        <p:tgtEl>
                                          <p:spTgt spid="318483"/>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16" presetClass="entr" presetSubtype="42" fill="hold" nodeType="clickEffect">
                                  <p:stCondLst>
                                    <p:cond delay="0"/>
                                  </p:stCondLst>
                                  <p:childTnLst>
                                    <p:set>
                                      <p:cBhvr>
                                        <p:cTn id="169" dur="1" fill="hold">
                                          <p:stCondLst>
                                            <p:cond delay="0"/>
                                          </p:stCondLst>
                                        </p:cTn>
                                        <p:tgtEl>
                                          <p:spTgt spid="318481"/>
                                        </p:tgtEl>
                                        <p:attrNameLst>
                                          <p:attrName>style.visibility</p:attrName>
                                        </p:attrNameLst>
                                      </p:cBhvr>
                                      <p:to>
                                        <p:strVal val="visible"/>
                                      </p:to>
                                    </p:set>
                                    <p:animEffect transition="in" filter="barn(outHorizontal)">
                                      <p:cBhvr>
                                        <p:cTn id="170" dur="500"/>
                                        <p:tgtEl>
                                          <p:spTgt spid="318481"/>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6" presetClass="entr" presetSubtype="42" fill="hold" nodeType="clickEffect">
                                  <p:stCondLst>
                                    <p:cond delay="0"/>
                                  </p:stCondLst>
                                  <p:childTnLst>
                                    <p:set>
                                      <p:cBhvr>
                                        <p:cTn id="174" dur="1" fill="hold">
                                          <p:stCondLst>
                                            <p:cond delay="0"/>
                                          </p:stCondLst>
                                        </p:cTn>
                                        <p:tgtEl>
                                          <p:spTgt spid="318480"/>
                                        </p:tgtEl>
                                        <p:attrNameLst>
                                          <p:attrName>style.visibility</p:attrName>
                                        </p:attrNameLst>
                                      </p:cBhvr>
                                      <p:to>
                                        <p:strVal val="visible"/>
                                      </p:to>
                                    </p:set>
                                    <p:animEffect transition="in" filter="barn(outHorizontal)">
                                      <p:cBhvr>
                                        <p:cTn id="175" dur="500"/>
                                        <p:tgtEl>
                                          <p:spTgt spid="318480"/>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6" presetClass="entr" presetSubtype="42" fill="hold" nodeType="clickEffect">
                                  <p:stCondLst>
                                    <p:cond delay="0"/>
                                  </p:stCondLst>
                                  <p:childTnLst>
                                    <p:set>
                                      <p:cBhvr>
                                        <p:cTn id="179" dur="1" fill="hold">
                                          <p:stCondLst>
                                            <p:cond delay="0"/>
                                          </p:stCondLst>
                                        </p:cTn>
                                        <p:tgtEl>
                                          <p:spTgt spid="318479"/>
                                        </p:tgtEl>
                                        <p:attrNameLst>
                                          <p:attrName>style.visibility</p:attrName>
                                        </p:attrNameLst>
                                      </p:cBhvr>
                                      <p:to>
                                        <p:strVal val="visible"/>
                                      </p:to>
                                    </p:set>
                                    <p:animEffect transition="in" filter="barn(outHorizontal)">
                                      <p:cBhvr>
                                        <p:cTn id="180" dur="500"/>
                                        <p:tgtEl>
                                          <p:spTgt spid="318479"/>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6" presetClass="entr" presetSubtype="42" fill="hold" nodeType="clickEffect">
                                  <p:stCondLst>
                                    <p:cond delay="0"/>
                                  </p:stCondLst>
                                  <p:childTnLst>
                                    <p:set>
                                      <p:cBhvr>
                                        <p:cTn id="184" dur="1" fill="hold">
                                          <p:stCondLst>
                                            <p:cond delay="0"/>
                                          </p:stCondLst>
                                        </p:cTn>
                                        <p:tgtEl>
                                          <p:spTgt spid="318476"/>
                                        </p:tgtEl>
                                        <p:attrNameLst>
                                          <p:attrName>style.visibility</p:attrName>
                                        </p:attrNameLst>
                                      </p:cBhvr>
                                      <p:to>
                                        <p:strVal val="visible"/>
                                      </p:to>
                                    </p:set>
                                    <p:animEffect transition="in" filter="barn(outHorizontal)">
                                      <p:cBhvr>
                                        <p:cTn id="185" dur="500"/>
                                        <p:tgtEl>
                                          <p:spTgt spid="318476"/>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16" presetClass="entr" presetSubtype="42" fill="hold" nodeType="clickEffect">
                                  <p:stCondLst>
                                    <p:cond delay="0"/>
                                  </p:stCondLst>
                                  <p:childTnLst>
                                    <p:set>
                                      <p:cBhvr>
                                        <p:cTn id="189" dur="1" fill="hold">
                                          <p:stCondLst>
                                            <p:cond delay="0"/>
                                          </p:stCondLst>
                                        </p:cTn>
                                        <p:tgtEl>
                                          <p:spTgt spid="318475"/>
                                        </p:tgtEl>
                                        <p:attrNameLst>
                                          <p:attrName>style.visibility</p:attrName>
                                        </p:attrNameLst>
                                      </p:cBhvr>
                                      <p:to>
                                        <p:strVal val="visible"/>
                                      </p:to>
                                    </p:set>
                                    <p:animEffect transition="in" filter="barn(outHorizontal)">
                                      <p:cBhvr>
                                        <p:cTn id="190" dur="500"/>
                                        <p:tgtEl>
                                          <p:spTgt spid="318475"/>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16" presetClass="entr" presetSubtype="42" fill="hold" nodeType="clickEffect">
                                  <p:stCondLst>
                                    <p:cond delay="0"/>
                                  </p:stCondLst>
                                  <p:childTnLst>
                                    <p:set>
                                      <p:cBhvr>
                                        <p:cTn id="194" dur="1" fill="hold">
                                          <p:stCondLst>
                                            <p:cond delay="0"/>
                                          </p:stCondLst>
                                        </p:cTn>
                                        <p:tgtEl>
                                          <p:spTgt spid="318474"/>
                                        </p:tgtEl>
                                        <p:attrNameLst>
                                          <p:attrName>style.visibility</p:attrName>
                                        </p:attrNameLst>
                                      </p:cBhvr>
                                      <p:to>
                                        <p:strVal val="visible"/>
                                      </p:to>
                                    </p:set>
                                    <p:animEffect transition="in" filter="barn(outHorizontal)">
                                      <p:cBhvr>
                                        <p:cTn id="195" dur="500"/>
                                        <p:tgtEl>
                                          <p:spTgt spid="318474"/>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16" presetClass="entr" presetSubtype="42" fill="hold" nodeType="clickEffect">
                                  <p:stCondLst>
                                    <p:cond delay="0"/>
                                  </p:stCondLst>
                                  <p:childTnLst>
                                    <p:set>
                                      <p:cBhvr>
                                        <p:cTn id="199" dur="1" fill="hold">
                                          <p:stCondLst>
                                            <p:cond delay="0"/>
                                          </p:stCondLst>
                                        </p:cTn>
                                        <p:tgtEl>
                                          <p:spTgt spid="318473"/>
                                        </p:tgtEl>
                                        <p:attrNameLst>
                                          <p:attrName>style.visibility</p:attrName>
                                        </p:attrNameLst>
                                      </p:cBhvr>
                                      <p:to>
                                        <p:strVal val="visible"/>
                                      </p:to>
                                    </p:set>
                                    <p:animEffect transition="in" filter="barn(outHorizontal)">
                                      <p:cBhvr>
                                        <p:cTn id="200" dur="500"/>
                                        <p:tgtEl>
                                          <p:spTgt spid="318473"/>
                                        </p:tgtEl>
                                      </p:cBhvr>
                                    </p:animEffec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3" presetClass="entr" presetSubtype="10" fill="hold" nodeType="clickEffect">
                                  <p:stCondLst>
                                    <p:cond delay="0"/>
                                  </p:stCondLst>
                                  <p:childTnLst>
                                    <p:set>
                                      <p:cBhvr>
                                        <p:cTn id="204" dur="1" fill="hold">
                                          <p:stCondLst>
                                            <p:cond delay="0"/>
                                          </p:stCondLst>
                                        </p:cTn>
                                        <p:tgtEl>
                                          <p:spTgt spid="318471"/>
                                        </p:tgtEl>
                                        <p:attrNameLst>
                                          <p:attrName>style.visibility</p:attrName>
                                        </p:attrNameLst>
                                      </p:cBhvr>
                                      <p:to>
                                        <p:strVal val="visible"/>
                                      </p:to>
                                    </p:set>
                                    <p:animEffect transition="in" filter="blinds(horizontal)">
                                      <p:cBhvr>
                                        <p:cTn id="205" dur="500"/>
                                        <p:tgtEl>
                                          <p:spTgt spid="318471"/>
                                        </p:tgtEl>
                                      </p:cBhvr>
                                    </p:animEffec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3" presetClass="entr" presetSubtype="10" fill="hold" nodeType="clickEffect">
                                  <p:stCondLst>
                                    <p:cond delay="0"/>
                                  </p:stCondLst>
                                  <p:childTnLst>
                                    <p:set>
                                      <p:cBhvr>
                                        <p:cTn id="209" dur="1" fill="hold">
                                          <p:stCondLst>
                                            <p:cond delay="0"/>
                                          </p:stCondLst>
                                        </p:cTn>
                                        <p:tgtEl>
                                          <p:spTgt spid="318470"/>
                                        </p:tgtEl>
                                        <p:attrNameLst>
                                          <p:attrName>style.visibility</p:attrName>
                                        </p:attrNameLst>
                                      </p:cBhvr>
                                      <p:to>
                                        <p:strVal val="visible"/>
                                      </p:to>
                                    </p:set>
                                    <p:animEffect transition="in" filter="blinds(horizontal)">
                                      <p:cBhvr>
                                        <p:cTn id="210" dur="500"/>
                                        <p:tgtEl>
                                          <p:spTgt spid="318470"/>
                                        </p:tgtEl>
                                      </p:cBhvr>
                                    </p:animEffect>
                                  </p:childTnLst>
                                </p:cTn>
                              </p:par>
                            </p:childTnLst>
                          </p:cTn>
                        </p:par>
                      </p:childTnLst>
                    </p:cTn>
                  </p:par>
                  <p:par>
                    <p:cTn id="211" fill="hold" nodeType="clickPar">
                      <p:stCondLst>
                        <p:cond delay="indefinite"/>
                      </p:stCondLst>
                      <p:childTnLst>
                        <p:par>
                          <p:cTn id="212" fill="hold" nodeType="withGroup">
                            <p:stCondLst>
                              <p:cond delay="0"/>
                            </p:stCondLst>
                            <p:childTnLst>
                              <p:par>
                                <p:cTn id="213" presetID="3" presetClass="entr" presetSubtype="10" fill="hold" nodeType="clickEffect">
                                  <p:stCondLst>
                                    <p:cond delay="0"/>
                                  </p:stCondLst>
                                  <p:childTnLst>
                                    <p:set>
                                      <p:cBhvr>
                                        <p:cTn id="214" dur="1" fill="hold">
                                          <p:stCondLst>
                                            <p:cond delay="0"/>
                                          </p:stCondLst>
                                        </p:cTn>
                                        <p:tgtEl>
                                          <p:spTgt spid="318469"/>
                                        </p:tgtEl>
                                        <p:attrNameLst>
                                          <p:attrName>style.visibility</p:attrName>
                                        </p:attrNameLst>
                                      </p:cBhvr>
                                      <p:to>
                                        <p:strVal val="visible"/>
                                      </p:to>
                                    </p:set>
                                    <p:animEffect transition="in" filter="blinds(horizontal)">
                                      <p:cBhvr>
                                        <p:cTn id="215" dur="500"/>
                                        <p:tgtEl>
                                          <p:spTgt spid="318469"/>
                                        </p:tgtEl>
                                      </p:cBhvr>
                                    </p:animEffec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16" presetClass="entr" presetSubtype="42" fill="hold" nodeType="clickEffect">
                                  <p:stCondLst>
                                    <p:cond delay="0"/>
                                  </p:stCondLst>
                                  <p:childTnLst>
                                    <p:set>
                                      <p:cBhvr>
                                        <p:cTn id="219" dur="1" fill="hold">
                                          <p:stCondLst>
                                            <p:cond delay="0"/>
                                          </p:stCondLst>
                                        </p:cTn>
                                        <p:tgtEl>
                                          <p:spTgt spid="318556"/>
                                        </p:tgtEl>
                                        <p:attrNameLst>
                                          <p:attrName>style.visibility</p:attrName>
                                        </p:attrNameLst>
                                      </p:cBhvr>
                                      <p:to>
                                        <p:strVal val="visible"/>
                                      </p:to>
                                    </p:set>
                                    <p:animEffect transition="in" filter="barn(outHorizontal)">
                                      <p:cBhvr>
                                        <p:cTn id="220" dur="500"/>
                                        <p:tgtEl>
                                          <p:spTgt spid="318556"/>
                                        </p:tgtEl>
                                      </p:cBhvr>
                                    </p:animEffect>
                                  </p:childTnLst>
                                </p:cTn>
                              </p:par>
                            </p:childTnLst>
                          </p:cTn>
                        </p:par>
                      </p:childTnLst>
                    </p:cTn>
                  </p:par>
                  <p:par>
                    <p:cTn id="221" fill="hold" nodeType="clickPar">
                      <p:stCondLst>
                        <p:cond delay="indefinite"/>
                      </p:stCondLst>
                      <p:childTnLst>
                        <p:par>
                          <p:cTn id="222" fill="hold" nodeType="withGroup">
                            <p:stCondLst>
                              <p:cond delay="0"/>
                            </p:stCondLst>
                            <p:childTnLst>
                              <p:par>
                                <p:cTn id="223" presetID="16" presetClass="entr" presetSubtype="42" fill="hold" nodeType="clickEffect">
                                  <p:stCondLst>
                                    <p:cond delay="0"/>
                                  </p:stCondLst>
                                  <p:childTnLst>
                                    <p:set>
                                      <p:cBhvr>
                                        <p:cTn id="224" dur="1" fill="hold">
                                          <p:stCondLst>
                                            <p:cond delay="0"/>
                                          </p:stCondLst>
                                        </p:cTn>
                                        <p:tgtEl>
                                          <p:spTgt spid="318467">
                                            <p:txEl>
                                              <p:pRg st="0" end="0"/>
                                            </p:txEl>
                                          </p:spTgt>
                                        </p:tgtEl>
                                        <p:attrNameLst>
                                          <p:attrName>style.visibility</p:attrName>
                                        </p:attrNameLst>
                                      </p:cBhvr>
                                      <p:to>
                                        <p:strVal val="visible"/>
                                      </p:to>
                                    </p:set>
                                    <p:animEffect transition="in" filter="barn(outHorizontal)">
                                      <p:cBhvr>
                                        <p:cTn id="225" dur="500"/>
                                        <p:tgtEl>
                                          <p:spTgt spid="318467">
                                            <p:txEl>
                                              <p:pRg st="0" end="0"/>
                                            </p:txEl>
                                          </p:spTgt>
                                        </p:tgtEl>
                                      </p:cBhvr>
                                    </p:animEffect>
                                  </p:childTnLst>
                                </p:cTn>
                              </p:par>
                            </p:childTnLst>
                          </p:cTn>
                        </p:par>
                      </p:childTnLst>
                    </p:cTn>
                  </p:par>
                  <p:par>
                    <p:cTn id="226" fill="hold" nodeType="clickPar">
                      <p:stCondLst>
                        <p:cond delay="indefinite"/>
                      </p:stCondLst>
                      <p:childTnLst>
                        <p:par>
                          <p:cTn id="227" fill="hold" nodeType="withGroup">
                            <p:stCondLst>
                              <p:cond delay="0"/>
                            </p:stCondLst>
                            <p:childTnLst>
                              <p:par>
                                <p:cTn id="228" presetID="3" presetClass="entr" presetSubtype="10" fill="hold" nodeType="clickEffect">
                                  <p:stCondLst>
                                    <p:cond delay="0"/>
                                  </p:stCondLst>
                                  <p:childTnLst>
                                    <p:set>
                                      <p:cBhvr>
                                        <p:cTn id="229" dur="1" fill="hold">
                                          <p:stCondLst>
                                            <p:cond delay="0"/>
                                          </p:stCondLst>
                                        </p:cTn>
                                        <p:tgtEl>
                                          <p:spTgt spid="318556"/>
                                        </p:tgtEl>
                                        <p:attrNameLst>
                                          <p:attrName>style.visibility</p:attrName>
                                        </p:attrNameLst>
                                      </p:cBhvr>
                                      <p:to>
                                        <p:strVal val="visible"/>
                                      </p:to>
                                    </p:set>
                                    <p:animEffect transition="in" filter="blinds(horizontal)">
                                      <p:cBhvr>
                                        <p:cTn id="230" dur="500"/>
                                        <p:tgtEl>
                                          <p:spTgt spid="318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67" grpId="0" build="p"/>
      <p:bldP spid="318469" grpId="0"/>
      <p:bldP spid="318470" grpId="0" animBg="1"/>
      <p:bldP spid="318471" grpId="0"/>
      <p:bldP spid="318473" grpId="0"/>
      <p:bldP spid="318474" grpId="0"/>
      <p:bldP spid="318475" grpId="0"/>
      <p:bldP spid="318476" grpId="0" animBg="1"/>
      <p:bldP spid="318479" grpId="0" animBg="1"/>
      <p:bldP spid="318480" grpId="0"/>
      <p:bldP spid="318481" grpId="0"/>
      <p:bldP spid="318483" grpId="0"/>
      <p:bldP spid="318484" grpId="0" animBg="1"/>
      <p:bldP spid="318485" grpId="0"/>
      <p:bldP spid="318486" grpId="0"/>
      <p:bldP spid="318488" grpId="0"/>
      <p:bldP spid="318489" grpId="0"/>
      <p:bldP spid="318490" grpId="0" animBg="1"/>
      <p:bldP spid="318491" grpId="0"/>
      <p:bldP spid="318494" grpId="0"/>
      <p:bldP spid="318495" grpId="0"/>
      <p:bldP spid="318496" grpId="0" animBg="1"/>
      <p:bldP spid="318498" grpId="0"/>
      <p:bldP spid="318499" grpId="0"/>
      <p:bldP spid="318500" grpId="0"/>
      <p:bldP spid="318501" grpId="0" animBg="1"/>
      <p:bldP spid="318508" grpId="0"/>
      <p:bldP spid="318509" grpId="0"/>
      <p:bldP spid="318510" grpId="0" animBg="1"/>
      <p:bldP spid="318511" grpId="0"/>
      <p:bldP spid="318513" grpId="0"/>
      <p:bldP spid="318514" grpId="0"/>
      <p:bldP spid="318515" grpId="0"/>
      <p:bldP spid="318516" grpId="0" animBg="1"/>
      <p:bldP spid="318518" grpId="0"/>
      <p:bldP spid="318519" grpId="0" animBg="1"/>
      <p:bldP spid="318520" grpId="0"/>
      <p:bldP spid="318521" grpId="0"/>
      <p:bldP spid="318523" grpId="0"/>
      <p:bldP spid="318525" grpId="0" animBg="1"/>
      <p:bldP spid="318526" grpId="0"/>
      <p:bldP spid="318553" grpId="0"/>
      <p:bldP spid="318554" grpId="0" animBg="1"/>
      <p:bldP spid="318555" grpId="0"/>
      <p:bldP spid="318556" grpId="0"/>
      <p:bldP spid="318556" grpId="1"/>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280D9F0B-72AA-1386-7C15-C42E276DB177}"/>
              </a:ext>
            </a:extLst>
          </p:cNvPr>
          <p:cNvSpPr>
            <a:spLocks noGrp="1" noChangeArrowheads="1"/>
          </p:cNvSpPr>
          <p:nvPr>
            <p:ph type="title"/>
          </p:nvPr>
        </p:nvSpPr>
        <p:spPr>
          <a:xfrm>
            <a:off x="1042988" y="225431"/>
            <a:ext cx="7850187" cy="746125"/>
          </a:xfrm>
        </p:spPr>
        <p:txBody>
          <a:bodyPr/>
          <a:lstStyle/>
          <a:p>
            <a:r>
              <a:rPr lang="zh-CN" altLang="en-US" dirty="0"/>
              <a:t>改进的时钟算法</a:t>
            </a:r>
          </a:p>
        </p:txBody>
      </p:sp>
      <p:sp>
        <p:nvSpPr>
          <p:cNvPr id="163843" name="Rectangle 3">
            <a:extLst>
              <a:ext uri="{FF2B5EF4-FFF2-40B4-BE49-F238E27FC236}">
                <a16:creationId xmlns:a16="http://schemas.microsoft.com/office/drawing/2014/main" id="{7AE521E8-9FC2-A457-D100-F4A53299D0E8}"/>
              </a:ext>
            </a:extLst>
          </p:cNvPr>
          <p:cNvSpPr>
            <a:spLocks noGrp="1" noChangeArrowheads="1"/>
          </p:cNvSpPr>
          <p:nvPr>
            <p:ph idx="1"/>
          </p:nvPr>
        </p:nvSpPr>
        <p:spPr>
          <a:xfrm>
            <a:off x="935038" y="1233488"/>
            <a:ext cx="7772400" cy="4895850"/>
          </a:xfrm>
        </p:spPr>
        <p:txBody>
          <a:bodyPr/>
          <a:lstStyle/>
          <a:p>
            <a:r>
              <a:rPr lang="zh-CN" altLang="en-US"/>
              <a:t>将一个修改过的页面换出需要写磁盘，其开销大于未修改页面。为此在改进型时钟算法中应考虑页面修改情况。设</a:t>
            </a:r>
            <a:r>
              <a:rPr lang="en-US" altLang="zh-CN"/>
              <a:t>R</a:t>
            </a:r>
            <a:r>
              <a:rPr lang="zh-CN" altLang="en-US"/>
              <a:t>为访问位，</a:t>
            </a:r>
            <a:r>
              <a:rPr lang="en-US" altLang="zh-CN"/>
              <a:t>U</a:t>
            </a:r>
            <a:r>
              <a:rPr lang="zh-CN" altLang="en-US"/>
              <a:t>为修改位，将页面分为以下4种类型：</a:t>
            </a:r>
          </a:p>
          <a:p>
            <a:pPr lvl="1"/>
            <a:r>
              <a:rPr lang="zh-CN" altLang="en-US"/>
              <a:t>1类(</a:t>
            </a:r>
            <a:r>
              <a:rPr lang="en-US" altLang="zh-CN"/>
              <a:t>R=0,U=0)：</a:t>
            </a:r>
            <a:r>
              <a:rPr lang="zh-CN" altLang="en-US"/>
              <a:t>未被访问又未被修改</a:t>
            </a:r>
          </a:p>
          <a:p>
            <a:pPr lvl="1"/>
            <a:r>
              <a:rPr lang="zh-CN" altLang="en-US"/>
              <a:t>2类(</a:t>
            </a:r>
            <a:r>
              <a:rPr lang="en-US" altLang="zh-CN"/>
              <a:t>R=0,U=1)：</a:t>
            </a:r>
            <a:r>
              <a:rPr lang="zh-CN" altLang="en-US"/>
              <a:t>未被访问但已被修改</a:t>
            </a:r>
          </a:p>
          <a:p>
            <a:pPr lvl="1"/>
            <a:r>
              <a:rPr lang="zh-CN" altLang="en-US"/>
              <a:t>3类(</a:t>
            </a:r>
            <a:r>
              <a:rPr lang="en-US" altLang="zh-CN"/>
              <a:t>R=1,U=0)：</a:t>
            </a:r>
            <a:r>
              <a:rPr lang="zh-CN" altLang="en-US"/>
              <a:t>已被访问但未被修改</a:t>
            </a:r>
          </a:p>
          <a:p>
            <a:pPr lvl="1"/>
            <a:r>
              <a:rPr lang="zh-CN" altLang="en-US"/>
              <a:t>4类(</a:t>
            </a:r>
            <a:r>
              <a:rPr lang="en-US" altLang="zh-CN"/>
              <a:t>R=1,U=1)：</a:t>
            </a:r>
            <a:r>
              <a:rPr lang="zh-CN" altLang="en-US"/>
              <a:t>已被访问且已被修改</a:t>
            </a:r>
          </a:p>
        </p:txBody>
      </p:sp>
    </p:spTree>
  </p:cSld>
  <p:clrMapOvr>
    <a:masterClrMapping/>
  </p:clrMapOvr>
  <p:transition spd="med">
    <p:zoom/>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AC2ACF39-E6FD-B5F7-B92E-A4A24A9DE346}"/>
              </a:ext>
            </a:extLst>
          </p:cNvPr>
          <p:cNvSpPr>
            <a:spLocks noGrp="1" noChangeArrowheads="1"/>
          </p:cNvSpPr>
          <p:nvPr>
            <p:ph type="title"/>
          </p:nvPr>
        </p:nvSpPr>
        <p:spPr>
          <a:xfrm>
            <a:off x="1042988" y="225431"/>
            <a:ext cx="7850187" cy="746125"/>
          </a:xfrm>
        </p:spPr>
        <p:txBody>
          <a:bodyPr/>
          <a:lstStyle/>
          <a:p>
            <a:r>
              <a:rPr lang="zh-CN" altLang="en-US"/>
              <a:t>改进型时钟算法描述</a:t>
            </a:r>
          </a:p>
        </p:txBody>
      </p:sp>
      <p:sp>
        <p:nvSpPr>
          <p:cNvPr id="164867" name="Rectangle 3">
            <a:extLst>
              <a:ext uri="{FF2B5EF4-FFF2-40B4-BE49-F238E27FC236}">
                <a16:creationId xmlns:a16="http://schemas.microsoft.com/office/drawing/2014/main" id="{C42A53A2-2912-928C-8131-DAF2E52D886B}"/>
              </a:ext>
            </a:extLst>
          </p:cNvPr>
          <p:cNvSpPr>
            <a:spLocks noGrp="1" noChangeArrowheads="1"/>
          </p:cNvSpPr>
          <p:nvPr>
            <p:ph idx="1"/>
          </p:nvPr>
        </p:nvSpPr>
        <p:spPr>
          <a:xfrm>
            <a:off x="935038" y="1233488"/>
            <a:ext cx="7772400" cy="5229942"/>
          </a:xfrm>
        </p:spPr>
        <p:txBody>
          <a:bodyPr>
            <a:normAutofit fontScale="92500" lnSpcReduction="20000"/>
          </a:bodyPr>
          <a:lstStyle/>
          <a:p>
            <a:pPr>
              <a:lnSpc>
                <a:spcPct val="120000"/>
              </a:lnSpc>
            </a:pPr>
            <a:r>
              <a:rPr lang="zh-CN" altLang="en-US" dirty="0"/>
              <a:t>从指针当前位置开始扫描循环队列，寻找</a:t>
            </a:r>
            <a:r>
              <a:rPr lang="en-US" altLang="zh-CN" dirty="0"/>
              <a:t>R=0,U=0</a:t>
            </a:r>
            <a:r>
              <a:rPr lang="zh-CN" altLang="en-US" dirty="0"/>
              <a:t>的页面，将满足条件的第一个页面作为淘汰页。</a:t>
            </a:r>
          </a:p>
          <a:p>
            <a:pPr>
              <a:lnSpc>
                <a:spcPct val="120000"/>
              </a:lnSpc>
            </a:pPr>
            <a:r>
              <a:rPr lang="zh-CN" altLang="en-US" dirty="0"/>
              <a:t>若第1步失败，则开始第2轮扫描，寻找</a:t>
            </a:r>
            <a:r>
              <a:rPr lang="en-US" altLang="zh-CN" dirty="0"/>
              <a:t>R=0,U=1</a:t>
            </a:r>
            <a:r>
              <a:rPr lang="zh-CN" altLang="en-US" dirty="0"/>
              <a:t>的页面，将满足条件的第一个页面作为淘汰页，并将所有经历过页面的访问位置0。</a:t>
            </a:r>
          </a:p>
          <a:p>
            <a:pPr>
              <a:lnSpc>
                <a:spcPct val="120000"/>
              </a:lnSpc>
            </a:pPr>
            <a:r>
              <a:rPr lang="zh-CN" altLang="en-US" dirty="0"/>
              <a:t>若第2步失败，则将指针返回到开始位置，然后重复第1步，若仍失败则必须重复第2步。此时一定能找到淘汰页面。</a:t>
            </a:r>
          </a:p>
          <a:p>
            <a:pPr>
              <a:lnSpc>
                <a:spcPct val="120000"/>
              </a:lnSpc>
            </a:pPr>
            <a:r>
              <a:rPr lang="zh-CN" altLang="en-US" dirty="0"/>
              <a:t>特点：减少了磁盘</a:t>
            </a:r>
            <a:r>
              <a:rPr lang="en-US" altLang="zh-CN" dirty="0"/>
              <a:t>I/O</a:t>
            </a:r>
            <a:r>
              <a:rPr lang="zh-CN" altLang="en-US" dirty="0"/>
              <a:t>次数，但算法本身开销增加。</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animEffect transition="in" filter="checkerboard(across)">
                                      <p:cBhvr>
                                        <p:cTn id="7" dur="500"/>
                                        <p:tgtEl>
                                          <p:spTgt spid="1648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64867">
                                            <p:txEl>
                                              <p:pRg st="1" end="1"/>
                                            </p:txEl>
                                          </p:spTgt>
                                        </p:tgtEl>
                                        <p:attrNameLst>
                                          <p:attrName>style.visibility</p:attrName>
                                        </p:attrNameLst>
                                      </p:cBhvr>
                                      <p:to>
                                        <p:strVal val="visible"/>
                                      </p:to>
                                    </p:set>
                                    <p:animEffect transition="in" filter="checkerboard(across)">
                                      <p:cBhvr>
                                        <p:cTn id="12" dur="500"/>
                                        <p:tgtEl>
                                          <p:spTgt spid="1648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64867">
                                            <p:txEl>
                                              <p:pRg st="2" end="2"/>
                                            </p:txEl>
                                          </p:spTgt>
                                        </p:tgtEl>
                                        <p:attrNameLst>
                                          <p:attrName>style.visibility</p:attrName>
                                        </p:attrNameLst>
                                      </p:cBhvr>
                                      <p:to>
                                        <p:strVal val="visible"/>
                                      </p:to>
                                    </p:set>
                                    <p:animEffect transition="in" filter="checkerboard(across)">
                                      <p:cBhvr>
                                        <p:cTn id="17" dur="500"/>
                                        <p:tgtEl>
                                          <p:spTgt spid="1648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64867">
                                            <p:txEl>
                                              <p:pRg st="3" end="3"/>
                                            </p:txEl>
                                          </p:spTgt>
                                        </p:tgtEl>
                                        <p:attrNameLst>
                                          <p:attrName>style.visibility</p:attrName>
                                        </p:attrNameLst>
                                      </p:cBhvr>
                                      <p:to>
                                        <p:strVal val="visible"/>
                                      </p:to>
                                    </p:set>
                                    <p:animEffect transition="in" filter="checkerboard(across)">
                                      <p:cBhvr>
                                        <p:cTn id="22" dur="500"/>
                                        <p:tgtEl>
                                          <p:spTgt spid="1648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C7A2AE24-9803-0948-CDA0-43B183FA00B3}"/>
              </a:ext>
            </a:extLst>
          </p:cNvPr>
          <p:cNvSpPr>
            <a:spLocks noGrp="1" noChangeArrowheads="1"/>
          </p:cNvSpPr>
          <p:nvPr>
            <p:ph type="title"/>
          </p:nvPr>
        </p:nvSpPr>
        <p:spPr>
          <a:xfrm>
            <a:off x="1042988" y="225431"/>
            <a:ext cx="7850187" cy="746125"/>
          </a:xfrm>
        </p:spPr>
        <p:txBody>
          <a:bodyPr/>
          <a:lstStyle/>
          <a:p>
            <a:r>
              <a:rPr lang="zh-CN" altLang="en-US" dirty="0"/>
              <a:t>基于计数的页面置换</a:t>
            </a:r>
          </a:p>
        </p:txBody>
      </p:sp>
      <p:sp>
        <p:nvSpPr>
          <p:cNvPr id="74754" name="Rectangle 3">
            <a:extLst>
              <a:ext uri="{FF2B5EF4-FFF2-40B4-BE49-F238E27FC236}">
                <a16:creationId xmlns:a16="http://schemas.microsoft.com/office/drawing/2014/main" id="{CC5106CF-5384-7753-3DC3-7C0A349AF79D}"/>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最不经常使用算法（</a:t>
            </a:r>
            <a:r>
              <a:rPr lang="en-US" altLang="zh-CN" b="1" dirty="0">
                <a:solidFill>
                  <a:srgbClr val="FF0000"/>
                </a:solidFill>
              </a:rPr>
              <a:t>LFU）</a:t>
            </a:r>
            <a:r>
              <a:rPr lang="zh-CN" altLang="en-US" dirty="0"/>
              <a:t>：选择到当前时间为止访问次数最少的页淘汰。</a:t>
            </a:r>
          </a:p>
          <a:p>
            <a:r>
              <a:rPr lang="zh-CN" altLang="en-US" dirty="0"/>
              <a:t>该算法要求为每页设置一个访问计数器，每当页被访问时，该页的访问计数器加1。发生缺页中断时，淘汰计数值最小的页面，并将所有计数器清零。</a:t>
            </a:r>
          </a:p>
          <a:p>
            <a:r>
              <a:rPr lang="zh-CN" altLang="en-US" dirty="0"/>
              <a:t>最常使用算法：</a:t>
            </a:r>
          </a:p>
        </p:txBody>
      </p:sp>
    </p:spTree>
  </p:cSld>
  <p:clrMapOvr>
    <a:masterClrMapping/>
  </p:clrMapOvr>
  <p:transition spd="med">
    <p:zoom/>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00A26798-C60B-4DDE-49F9-3A992CC18FEF}"/>
              </a:ext>
            </a:extLst>
          </p:cNvPr>
          <p:cNvSpPr>
            <a:spLocks noGrp="1" noChangeArrowheads="1"/>
          </p:cNvSpPr>
          <p:nvPr>
            <p:ph type="title"/>
          </p:nvPr>
        </p:nvSpPr>
        <p:spPr/>
        <p:txBody>
          <a:bodyPr/>
          <a:lstStyle/>
          <a:p>
            <a:pPr eaLnBrk="1" hangingPunct="1"/>
            <a:r>
              <a:rPr lang="zh-CN" altLang="en-US" dirty="0"/>
              <a:t>页面缓冲算法</a:t>
            </a:r>
            <a:endParaRPr lang="en-US" altLang="zh-CN" dirty="0"/>
          </a:p>
        </p:txBody>
      </p:sp>
      <p:sp>
        <p:nvSpPr>
          <p:cNvPr id="75778" name="Rectangle 3">
            <a:extLst>
              <a:ext uri="{FF2B5EF4-FFF2-40B4-BE49-F238E27FC236}">
                <a16:creationId xmlns:a16="http://schemas.microsoft.com/office/drawing/2014/main" id="{4F3C0392-403C-CADA-638D-21F015E8145F}"/>
              </a:ext>
            </a:extLst>
          </p:cNvPr>
          <p:cNvSpPr>
            <a:spLocks noGrp="1" noChangeArrowheads="1"/>
          </p:cNvSpPr>
          <p:nvPr>
            <p:ph idx="1"/>
          </p:nvPr>
        </p:nvSpPr>
        <p:spPr>
          <a:xfrm>
            <a:off x="684213" y="1341438"/>
            <a:ext cx="8270875" cy="4611687"/>
          </a:xfrm>
        </p:spPr>
        <p:txBody>
          <a:bodyPr/>
          <a:lstStyle/>
          <a:p>
            <a:pPr algn="just" eaLnBrk="1" hangingPunct="1"/>
            <a:r>
              <a:rPr lang="zh-CN" altLang="en-US">
                <a:solidFill>
                  <a:srgbClr val="FF0000"/>
                </a:solidFill>
              </a:rPr>
              <a:t>页面缓冲算法</a:t>
            </a:r>
            <a:r>
              <a:rPr lang="zh-CN" altLang="en-US"/>
              <a:t>是</a:t>
            </a:r>
            <a:r>
              <a:rPr lang="en-US" altLang="zh-CN"/>
              <a:t>FIFO</a:t>
            </a:r>
            <a:r>
              <a:rPr lang="zh-CN" altLang="en-US"/>
              <a:t>算法的发展。它在系统中保存一个空闲帧缓冲池。</a:t>
            </a:r>
          </a:p>
          <a:p>
            <a:pPr algn="just" eaLnBrk="1" hangingPunct="1"/>
            <a:r>
              <a:rPr lang="zh-CN" altLang="en-US"/>
              <a:t>页面缓冲置换算法采用</a:t>
            </a:r>
            <a:r>
              <a:rPr lang="en-US" altLang="zh-CN"/>
              <a:t>FIFO</a:t>
            </a:r>
            <a:r>
              <a:rPr lang="zh-CN" altLang="en-US"/>
              <a:t>选择被置换页面，选择出的页面不是立即换出，而是放入两个链表之一。</a:t>
            </a:r>
          </a:p>
        </p:txBody>
      </p:sp>
    </p:spTree>
  </p:cSld>
  <p:clrMapOvr>
    <a:masterClrMapping/>
  </p:clrMapOvr>
  <p:transition spd="med">
    <p:zoom/>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1C66EF90-264D-D65E-E275-69A3D619FB09}"/>
              </a:ext>
            </a:extLst>
          </p:cNvPr>
          <p:cNvSpPr>
            <a:spLocks noGrp="1" noChangeArrowheads="1"/>
          </p:cNvSpPr>
          <p:nvPr>
            <p:ph type="title"/>
          </p:nvPr>
        </p:nvSpPr>
        <p:spPr/>
        <p:txBody>
          <a:bodyPr/>
          <a:lstStyle/>
          <a:p>
            <a:pPr eaLnBrk="1" hangingPunct="1"/>
            <a:r>
              <a:rPr lang="zh-CN" altLang="en-US"/>
              <a:t>页面缓冲算法描述</a:t>
            </a:r>
          </a:p>
        </p:txBody>
      </p:sp>
      <p:sp>
        <p:nvSpPr>
          <p:cNvPr id="233475" name="Rectangle 3">
            <a:extLst>
              <a:ext uri="{FF2B5EF4-FFF2-40B4-BE49-F238E27FC236}">
                <a16:creationId xmlns:a16="http://schemas.microsoft.com/office/drawing/2014/main" id="{C88D75AC-7969-28B6-09F7-122435763C5A}"/>
              </a:ext>
            </a:extLst>
          </p:cNvPr>
          <p:cNvSpPr>
            <a:spLocks noGrp="1" noChangeArrowheads="1"/>
          </p:cNvSpPr>
          <p:nvPr>
            <p:ph idx="1"/>
          </p:nvPr>
        </p:nvSpPr>
        <p:spPr>
          <a:xfrm>
            <a:off x="647700" y="1268413"/>
            <a:ext cx="8307388" cy="5068887"/>
          </a:xfrm>
        </p:spPr>
        <p:txBody>
          <a:bodyPr/>
          <a:lstStyle/>
          <a:p>
            <a:pPr algn="just" eaLnBrk="1" hangingPunct="1">
              <a:lnSpc>
                <a:spcPct val="90000"/>
              </a:lnSpc>
            </a:pPr>
            <a:r>
              <a:rPr lang="zh-CN" altLang="en-US"/>
              <a:t>算法采用</a:t>
            </a:r>
            <a:r>
              <a:rPr lang="en-US" altLang="zh-CN"/>
              <a:t>FIFO</a:t>
            </a:r>
            <a:r>
              <a:rPr lang="zh-CN" altLang="en-US"/>
              <a:t>选择淘汰页，规定将淘汰页放入两个链表之一：</a:t>
            </a:r>
          </a:p>
          <a:p>
            <a:pPr lvl="1" algn="just" eaLnBrk="1" hangingPunct="1">
              <a:lnSpc>
                <a:spcPct val="90000"/>
              </a:lnSpc>
            </a:pPr>
            <a:r>
              <a:rPr lang="zh-CN" altLang="en-US"/>
              <a:t>空闲链：页面未修改则放入空闲链末尾</a:t>
            </a:r>
          </a:p>
          <a:p>
            <a:pPr lvl="1" algn="just" eaLnBrk="1" hangingPunct="1">
              <a:lnSpc>
                <a:spcPct val="90000"/>
              </a:lnSpc>
            </a:pPr>
            <a:r>
              <a:rPr lang="zh-CN" altLang="en-US"/>
              <a:t>修改链：页面已修改则放入修改链末尾</a:t>
            </a:r>
          </a:p>
          <a:p>
            <a:pPr algn="just" eaLnBrk="1" hangingPunct="1">
              <a:lnSpc>
                <a:spcPct val="90000"/>
              </a:lnSpc>
            </a:pPr>
            <a:r>
              <a:rPr lang="zh-CN" altLang="en-US"/>
              <a:t>当需要访问一个页面时，若该页在上述两个队列中，则只要将该页面从队列中移出，否则用空闲链的第一个物理块装入该页。当修改链中的页面数达到一定值时，再将它们一次写回磁盘，然后将它们加入空闲页面链表中。</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33475">
                                            <p:txEl>
                                              <p:pRg st="0" end="0"/>
                                            </p:txEl>
                                          </p:spTgt>
                                        </p:tgtEl>
                                        <p:attrNameLst>
                                          <p:attrName>style.visibility</p:attrName>
                                        </p:attrNameLst>
                                      </p:cBhvr>
                                      <p:to>
                                        <p:strVal val="visible"/>
                                      </p:to>
                                    </p:set>
                                    <p:animEffect transition="in" filter="checkerboard(across)">
                                      <p:cBhvr>
                                        <p:cTn id="7" dur="500"/>
                                        <p:tgtEl>
                                          <p:spTgt spid="233475">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233475">
                                            <p:txEl>
                                              <p:pRg st="1" end="1"/>
                                            </p:txEl>
                                          </p:spTgt>
                                        </p:tgtEl>
                                        <p:attrNameLst>
                                          <p:attrName>style.visibility</p:attrName>
                                        </p:attrNameLst>
                                      </p:cBhvr>
                                      <p:to>
                                        <p:strVal val="visible"/>
                                      </p:to>
                                    </p:set>
                                    <p:animEffect transition="in" filter="checkerboard(across)">
                                      <p:cBhvr>
                                        <p:cTn id="10" dur="500"/>
                                        <p:tgtEl>
                                          <p:spTgt spid="233475">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33475">
                                            <p:txEl>
                                              <p:pRg st="2" end="2"/>
                                            </p:txEl>
                                          </p:spTgt>
                                        </p:tgtEl>
                                        <p:attrNameLst>
                                          <p:attrName>style.visibility</p:attrName>
                                        </p:attrNameLst>
                                      </p:cBhvr>
                                      <p:to>
                                        <p:strVal val="visible"/>
                                      </p:to>
                                    </p:set>
                                    <p:animEffect transition="in" filter="checkerboard(across)">
                                      <p:cBhvr>
                                        <p:cTn id="13" dur="500"/>
                                        <p:tgtEl>
                                          <p:spTgt spid="23347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233475">
                                            <p:txEl>
                                              <p:pRg st="3" end="3"/>
                                            </p:txEl>
                                          </p:spTgt>
                                        </p:tgtEl>
                                        <p:attrNameLst>
                                          <p:attrName>style.visibility</p:attrName>
                                        </p:attrNameLst>
                                      </p:cBhvr>
                                      <p:to>
                                        <p:strVal val="visible"/>
                                      </p:to>
                                    </p:set>
                                    <p:animEffect transition="in" filter="checkerboard(across)">
                                      <p:cBhvr>
                                        <p:cTn id="18" dur="500"/>
                                        <p:tgtEl>
                                          <p:spTgt spid="2334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5" grpId="0" build="p"/>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D27BF72B-B215-5D70-8F66-3935CEF1AC51}"/>
              </a:ext>
            </a:extLst>
          </p:cNvPr>
          <p:cNvSpPr>
            <a:spLocks noGrp="1" noChangeArrowheads="1"/>
          </p:cNvSpPr>
          <p:nvPr>
            <p:ph type="title"/>
          </p:nvPr>
        </p:nvSpPr>
        <p:spPr>
          <a:xfrm>
            <a:off x="1042988" y="225431"/>
            <a:ext cx="7850187" cy="746125"/>
          </a:xfrm>
        </p:spPr>
        <p:txBody>
          <a:bodyPr/>
          <a:lstStyle/>
          <a:p>
            <a:r>
              <a:rPr lang="zh-CN" altLang="en-US" dirty="0"/>
              <a:t>页面分配</a:t>
            </a:r>
            <a:endParaRPr lang="en-US" altLang="zh-CN" dirty="0"/>
          </a:p>
        </p:txBody>
      </p:sp>
      <p:sp>
        <p:nvSpPr>
          <p:cNvPr id="77826" name="Rectangle 3">
            <a:extLst>
              <a:ext uri="{FF2B5EF4-FFF2-40B4-BE49-F238E27FC236}">
                <a16:creationId xmlns:a16="http://schemas.microsoft.com/office/drawing/2014/main" id="{7D0CF761-CC5B-4D43-A5ED-0CACF55CB991}"/>
              </a:ext>
            </a:extLst>
          </p:cNvPr>
          <p:cNvSpPr>
            <a:spLocks noGrp="1" noChangeArrowheads="1"/>
          </p:cNvSpPr>
          <p:nvPr>
            <p:ph idx="1"/>
          </p:nvPr>
        </p:nvSpPr>
        <p:spPr>
          <a:xfrm>
            <a:off x="935038" y="1233488"/>
            <a:ext cx="7772400" cy="4895850"/>
          </a:xfrm>
        </p:spPr>
        <p:txBody>
          <a:bodyPr/>
          <a:lstStyle/>
          <a:p>
            <a:r>
              <a:rPr lang="zh-CN" altLang="en-US"/>
              <a:t>在为进程分配物理块时应确定:</a:t>
            </a:r>
          </a:p>
          <a:p>
            <a:pPr lvl="1"/>
            <a:r>
              <a:rPr lang="zh-CN" altLang="en-US"/>
              <a:t>进程需要的最少物理块数</a:t>
            </a:r>
          </a:p>
          <a:p>
            <a:pPr lvl="1"/>
            <a:r>
              <a:rPr lang="zh-CN" altLang="en-US"/>
              <a:t>进程的物理块数是固定还是可变</a:t>
            </a:r>
          </a:p>
          <a:p>
            <a:pPr lvl="1"/>
            <a:r>
              <a:rPr lang="zh-CN" altLang="en-US"/>
              <a:t>按什么原则为进程分配物理块数</a:t>
            </a:r>
          </a:p>
        </p:txBody>
      </p:sp>
    </p:spTree>
  </p:cSld>
  <p:clrMapOvr>
    <a:masterClrMapping/>
  </p:clrMapOvr>
  <p:transition spd="med">
    <p:zoom/>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C71129ED-959C-1D31-EC8B-6B20F6BA8799}"/>
              </a:ext>
            </a:extLst>
          </p:cNvPr>
          <p:cNvSpPr>
            <a:spLocks noGrp="1" noChangeArrowheads="1"/>
          </p:cNvSpPr>
          <p:nvPr>
            <p:ph type="title"/>
          </p:nvPr>
        </p:nvSpPr>
        <p:spPr>
          <a:xfrm>
            <a:off x="1042988" y="225431"/>
            <a:ext cx="7850187" cy="746125"/>
          </a:xfrm>
        </p:spPr>
        <p:txBody>
          <a:bodyPr/>
          <a:lstStyle/>
          <a:p>
            <a:r>
              <a:rPr lang="zh-CN" altLang="en-US" dirty="0"/>
              <a:t>最小物理块数</a:t>
            </a:r>
            <a:endParaRPr lang="en-US" altLang="zh-CN" dirty="0"/>
          </a:p>
        </p:txBody>
      </p:sp>
      <p:sp>
        <p:nvSpPr>
          <p:cNvPr id="346115" name="Rectangle 3">
            <a:extLst>
              <a:ext uri="{FF2B5EF4-FFF2-40B4-BE49-F238E27FC236}">
                <a16:creationId xmlns:a16="http://schemas.microsoft.com/office/drawing/2014/main" id="{D7D95F19-0EBC-5DBB-BDB1-E54ABCA437B5}"/>
              </a:ext>
            </a:extLst>
          </p:cNvPr>
          <p:cNvSpPr>
            <a:spLocks noGrp="1" noChangeArrowheads="1"/>
          </p:cNvSpPr>
          <p:nvPr>
            <p:ph idx="1"/>
          </p:nvPr>
        </p:nvSpPr>
        <p:spPr>
          <a:xfrm>
            <a:off x="935038" y="1233488"/>
            <a:ext cx="7772400" cy="4895850"/>
          </a:xfrm>
        </p:spPr>
        <p:txBody>
          <a:bodyPr>
            <a:normAutofit/>
          </a:bodyPr>
          <a:lstStyle/>
          <a:p>
            <a:r>
              <a:rPr lang="zh-CN" altLang="en-US" b="1" dirty="0">
                <a:solidFill>
                  <a:srgbClr val="FF0000"/>
                </a:solidFill>
              </a:rPr>
              <a:t>最小物理块数</a:t>
            </a:r>
            <a:r>
              <a:rPr lang="zh-CN" altLang="en-US" dirty="0"/>
              <a:t>是指能保证进程正常运行所需的最少物理块数，若小于此值进程无法运行。</a:t>
            </a:r>
          </a:p>
          <a:p>
            <a:r>
              <a:rPr lang="zh-CN" altLang="en-US" dirty="0"/>
              <a:t>一般情况下：</a:t>
            </a:r>
          </a:p>
          <a:p>
            <a:pPr lvl="1"/>
            <a:r>
              <a:rPr lang="zh-CN" altLang="en-US" dirty="0"/>
              <a:t>单地址指令且采用直接寻址，则所需最少物理块数为2。</a:t>
            </a:r>
          </a:p>
          <a:p>
            <a:pPr lvl="1"/>
            <a:r>
              <a:rPr lang="zh-CN" altLang="en-US" dirty="0"/>
              <a:t>若单地址指令且允许采用间接寻址，则所需最少物理块数为3。</a:t>
            </a:r>
          </a:p>
          <a:p>
            <a:pPr lvl="1"/>
            <a:r>
              <a:rPr lang="zh-CN" altLang="en-US" dirty="0"/>
              <a:t>某些功能较强的机器，指令及源地址和目标地址均跨两个页面，则最少需要6个物理块。</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6115">
                                            <p:txEl>
                                              <p:pRg st="0" end="0"/>
                                            </p:txEl>
                                          </p:spTgt>
                                        </p:tgtEl>
                                        <p:attrNameLst>
                                          <p:attrName>style.visibility</p:attrName>
                                        </p:attrNameLst>
                                      </p:cBhvr>
                                      <p:to>
                                        <p:strVal val="visible"/>
                                      </p:to>
                                    </p:set>
                                    <p:animEffect transition="in" filter="checkerboard(across)">
                                      <p:cBhvr>
                                        <p:cTn id="7" dur="500"/>
                                        <p:tgtEl>
                                          <p:spTgt spid="3461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6115">
                                            <p:txEl>
                                              <p:pRg st="1" end="1"/>
                                            </p:txEl>
                                          </p:spTgt>
                                        </p:tgtEl>
                                        <p:attrNameLst>
                                          <p:attrName>style.visibility</p:attrName>
                                        </p:attrNameLst>
                                      </p:cBhvr>
                                      <p:to>
                                        <p:strVal val="visible"/>
                                      </p:to>
                                    </p:set>
                                    <p:animEffect transition="in" filter="checkerboard(across)">
                                      <p:cBhvr>
                                        <p:cTn id="12" dur="500"/>
                                        <p:tgtEl>
                                          <p:spTgt spid="3461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46115">
                                            <p:txEl>
                                              <p:pRg st="2" end="2"/>
                                            </p:txEl>
                                          </p:spTgt>
                                        </p:tgtEl>
                                        <p:attrNameLst>
                                          <p:attrName>style.visibility</p:attrName>
                                        </p:attrNameLst>
                                      </p:cBhvr>
                                      <p:to>
                                        <p:strVal val="visible"/>
                                      </p:to>
                                    </p:set>
                                    <p:animEffect transition="in" filter="checkerboard(across)">
                                      <p:cBhvr>
                                        <p:cTn id="17" dur="500"/>
                                        <p:tgtEl>
                                          <p:spTgt spid="3461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46115">
                                            <p:txEl>
                                              <p:pRg st="3" end="3"/>
                                            </p:txEl>
                                          </p:spTgt>
                                        </p:tgtEl>
                                        <p:attrNameLst>
                                          <p:attrName>style.visibility</p:attrName>
                                        </p:attrNameLst>
                                      </p:cBhvr>
                                      <p:to>
                                        <p:strVal val="visible"/>
                                      </p:to>
                                    </p:set>
                                    <p:animEffect transition="in" filter="checkerboard(across)">
                                      <p:cBhvr>
                                        <p:cTn id="22" dur="500"/>
                                        <p:tgtEl>
                                          <p:spTgt spid="3461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46115">
                                            <p:txEl>
                                              <p:pRg st="4" end="4"/>
                                            </p:txEl>
                                          </p:spTgt>
                                        </p:tgtEl>
                                        <p:attrNameLst>
                                          <p:attrName>style.visibility</p:attrName>
                                        </p:attrNameLst>
                                      </p:cBhvr>
                                      <p:to>
                                        <p:strVal val="visible"/>
                                      </p:to>
                                    </p:set>
                                    <p:animEffect transition="in" filter="checkerboard(across)">
                                      <p:cBhvr>
                                        <p:cTn id="27" dur="500"/>
                                        <p:tgtEl>
                                          <p:spTgt spid="3461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5" grpId="0" build="p"/>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12E4BCE3-B191-0C21-2E1C-34F097D90A8A}"/>
              </a:ext>
            </a:extLst>
          </p:cNvPr>
          <p:cNvSpPr>
            <a:spLocks noGrp="1" noChangeArrowheads="1"/>
          </p:cNvSpPr>
          <p:nvPr>
            <p:ph type="title"/>
          </p:nvPr>
        </p:nvSpPr>
        <p:spPr>
          <a:xfrm>
            <a:off x="1042988" y="225431"/>
            <a:ext cx="7850187" cy="746125"/>
          </a:xfrm>
        </p:spPr>
        <p:txBody>
          <a:bodyPr/>
          <a:lstStyle/>
          <a:p>
            <a:r>
              <a:rPr lang="zh-CN" altLang="en-US" dirty="0"/>
              <a:t>页面分配算法</a:t>
            </a:r>
            <a:endParaRPr lang="en-US" altLang="zh-CN" dirty="0"/>
          </a:p>
        </p:txBody>
      </p:sp>
      <p:sp>
        <p:nvSpPr>
          <p:cNvPr id="347139" name="Rectangle 3">
            <a:extLst>
              <a:ext uri="{FF2B5EF4-FFF2-40B4-BE49-F238E27FC236}">
                <a16:creationId xmlns:a16="http://schemas.microsoft.com/office/drawing/2014/main" id="{A61C6001-7C13-D52A-7C2C-4C521A71A8E3}"/>
              </a:ext>
            </a:extLst>
          </p:cNvPr>
          <p:cNvSpPr>
            <a:spLocks noGrp="1" noChangeArrowheads="1"/>
          </p:cNvSpPr>
          <p:nvPr>
            <p:ph idx="1"/>
          </p:nvPr>
        </p:nvSpPr>
        <p:spPr>
          <a:xfrm>
            <a:off x="935038" y="1233488"/>
            <a:ext cx="7772400" cy="4895850"/>
          </a:xfrm>
        </p:spPr>
        <p:txBody>
          <a:bodyPr>
            <a:normAutofit lnSpcReduction="10000"/>
          </a:bodyPr>
          <a:lstStyle/>
          <a:p>
            <a:r>
              <a:rPr lang="zh-CN" altLang="en-US" dirty="0"/>
              <a:t>页面分配是指按什么原则给进程分配物理块数，通常有以下几种分配算法：</a:t>
            </a:r>
          </a:p>
          <a:p>
            <a:pPr lvl="1"/>
            <a:r>
              <a:rPr lang="zh-CN" altLang="en-US" b="1" dirty="0">
                <a:solidFill>
                  <a:srgbClr val="FF0000"/>
                </a:solidFill>
              </a:rPr>
              <a:t>平均分配</a:t>
            </a:r>
            <a:r>
              <a:rPr lang="zh-CN" altLang="en-US" dirty="0"/>
              <a:t>（</a:t>
            </a:r>
            <a:r>
              <a:rPr lang="en-US" altLang="zh-CN" dirty="0"/>
              <a:t>Equal allocation</a:t>
            </a:r>
            <a:r>
              <a:rPr lang="zh-CN" altLang="en-US" dirty="0"/>
              <a:t>）：将系统中所有可供分配物理块平均分配给每个进程。</a:t>
            </a:r>
          </a:p>
          <a:p>
            <a:pPr lvl="1"/>
            <a:r>
              <a:rPr lang="zh-CN" altLang="en-US" b="1" dirty="0">
                <a:solidFill>
                  <a:srgbClr val="FF0000"/>
                </a:solidFill>
              </a:rPr>
              <a:t>按比例分配</a:t>
            </a:r>
            <a:r>
              <a:rPr lang="zh-CN" altLang="en-US" dirty="0"/>
              <a:t>（</a:t>
            </a:r>
            <a:r>
              <a:rPr lang="en-US" altLang="zh-CN" dirty="0"/>
              <a:t>Proportional allocation</a:t>
            </a:r>
            <a:r>
              <a:rPr lang="zh-CN" altLang="en-US" dirty="0"/>
              <a:t>）：根据进程大小按比例分配物理块。</a:t>
            </a:r>
          </a:p>
          <a:p>
            <a:pPr lvl="1"/>
            <a:r>
              <a:rPr lang="zh-CN" altLang="en-US" b="1" dirty="0">
                <a:solidFill>
                  <a:srgbClr val="FF0000"/>
                </a:solidFill>
              </a:rPr>
              <a:t>按优先级分配</a:t>
            </a:r>
            <a:r>
              <a:rPr lang="en-US" altLang="zh-CN" dirty="0"/>
              <a:t>(priority allocation):</a:t>
            </a:r>
            <a:r>
              <a:rPr lang="zh-CN" altLang="en-US" dirty="0"/>
              <a:t>有两种方案</a:t>
            </a:r>
          </a:p>
          <a:p>
            <a:pPr lvl="2"/>
            <a:r>
              <a:rPr lang="zh-CN" altLang="en-US" dirty="0"/>
              <a:t>将可供分配的物理块分为两部分，一部分按比例分配给每个进程，另一部分根据进程的优先级适当增加物理块。</a:t>
            </a:r>
          </a:p>
          <a:p>
            <a:pPr lvl="2"/>
            <a:r>
              <a:rPr lang="zh-CN" altLang="en-US" dirty="0"/>
              <a:t>先按比例为进程分配物理块，当高优先级进程发生缺页时，允许它从低优先级进程处获得物理块。</a:t>
            </a:r>
          </a:p>
        </p:txBody>
      </p:sp>
    </p:spTree>
  </p:cSld>
  <p:clrMapOvr>
    <a:masterClrMapping/>
  </p:clrMapOvr>
  <p:transition spd="med">
    <p:zoom/>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FD88392F-F501-A4C0-9224-036E8F6F6821}"/>
              </a:ext>
            </a:extLst>
          </p:cNvPr>
          <p:cNvSpPr>
            <a:spLocks noGrp="1" noChangeArrowheads="1"/>
          </p:cNvSpPr>
          <p:nvPr>
            <p:ph type="title"/>
          </p:nvPr>
        </p:nvSpPr>
        <p:spPr>
          <a:xfrm>
            <a:off x="1042988" y="225431"/>
            <a:ext cx="7850187" cy="746125"/>
          </a:xfrm>
        </p:spPr>
        <p:txBody>
          <a:bodyPr/>
          <a:lstStyle/>
          <a:p>
            <a:r>
              <a:rPr lang="zh-CN" altLang="en-US" dirty="0"/>
              <a:t>全局分配与局部分配</a:t>
            </a:r>
            <a:endParaRPr lang="en-US" altLang="zh-CN" dirty="0"/>
          </a:p>
        </p:txBody>
      </p:sp>
      <p:sp>
        <p:nvSpPr>
          <p:cNvPr id="348163" name="Rectangle 3">
            <a:extLst>
              <a:ext uri="{FF2B5EF4-FFF2-40B4-BE49-F238E27FC236}">
                <a16:creationId xmlns:a16="http://schemas.microsoft.com/office/drawing/2014/main" id="{C744E365-059F-E606-C2D7-C39D864D9611}"/>
              </a:ext>
            </a:extLst>
          </p:cNvPr>
          <p:cNvSpPr>
            <a:spLocks noGrp="1" noChangeArrowheads="1"/>
          </p:cNvSpPr>
          <p:nvPr>
            <p:ph idx="1"/>
          </p:nvPr>
        </p:nvSpPr>
        <p:spPr>
          <a:xfrm>
            <a:off x="935038" y="1233488"/>
            <a:ext cx="7772400" cy="4895850"/>
          </a:xfrm>
        </p:spPr>
        <p:txBody>
          <a:bodyPr/>
          <a:lstStyle/>
          <a:p>
            <a:r>
              <a:rPr lang="zh-CN" altLang="en-US"/>
              <a:t>页面分配常采用固定分配和可变分配两种策略。</a:t>
            </a:r>
          </a:p>
          <a:p>
            <a:r>
              <a:rPr lang="zh-CN" altLang="en-US"/>
              <a:t>页面置换也有全局置换和局部置换两种策略。</a:t>
            </a:r>
          </a:p>
          <a:p>
            <a:r>
              <a:rPr lang="zh-CN" altLang="en-US"/>
              <a:t>将分配策略和置换范围组合可得如下三种策略：</a:t>
            </a:r>
          </a:p>
          <a:p>
            <a:pPr lvl="1"/>
            <a:r>
              <a:rPr lang="zh-CN" altLang="en-US"/>
              <a:t>固定分配局部置换</a:t>
            </a:r>
          </a:p>
          <a:p>
            <a:pPr lvl="1"/>
            <a:r>
              <a:rPr lang="zh-CN" altLang="en-US"/>
              <a:t>可变分配全局置换</a:t>
            </a:r>
          </a:p>
          <a:p>
            <a:pPr lvl="1"/>
            <a:r>
              <a:rPr lang="zh-CN" altLang="en-US"/>
              <a:t>可变分配局部置换</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8163">
                                            <p:txEl>
                                              <p:pRg st="0" end="0"/>
                                            </p:txEl>
                                          </p:spTgt>
                                        </p:tgtEl>
                                        <p:attrNameLst>
                                          <p:attrName>style.visibility</p:attrName>
                                        </p:attrNameLst>
                                      </p:cBhvr>
                                      <p:to>
                                        <p:strVal val="visible"/>
                                      </p:to>
                                    </p:set>
                                    <p:animEffect transition="in" filter="checkerboard(across)">
                                      <p:cBhvr>
                                        <p:cTn id="7" dur="500"/>
                                        <p:tgtEl>
                                          <p:spTgt spid="3481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8163">
                                            <p:txEl>
                                              <p:pRg st="1" end="1"/>
                                            </p:txEl>
                                          </p:spTgt>
                                        </p:tgtEl>
                                        <p:attrNameLst>
                                          <p:attrName>style.visibility</p:attrName>
                                        </p:attrNameLst>
                                      </p:cBhvr>
                                      <p:to>
                                        <p:strVal val="visible"/>
                                      </p:to>
                                    </p:set>
                                    <p:animEffect transition="in" filter="checkerboard(across)">
                                      <p:cBhvr>
                                        <p:cTn id="12" dur="500"/>
                                        <p:tgtEl>
                                          <p:spTgt spid="3481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48163">
                                            <p:txEl>
                                              <p:pRg st="2" end="2"/>
                                            </p:txEl>
                                          </p:spTgt>
                                        </p:tgtEl>
                                        <p:attrNameLst>
                                          <p:attrName>style.visibility</p:attrName>
                                        </p:attrNameLst>
                                      </p:cBhvr>
                                      <p:to>
                                        <p:strVal val="visible"/>
                                      </p:to>
                                    </p:set>
                                    <p:animEffect transition="in" filter="checkerboard(across)">
                                      <p:cBhvr>
                                        <p:cTn id="17" dur="500"/>
                                        <p:tgtEl>
                                          <p:spTgt spid="3481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48163">
                                            <p:txEl>
                                              <p:pRg st="3" end="3"/>
                                            </p:txEl>
                                          </p:spTgt>
                                        </p:tgtEl>
                                        <p:attrNameLst>
                                          <p:attrName>style.visibility</p:attrName>
                                        </p:attrNameLst>
                                      </p:cBhvr>
                                      <p:to>
                                        <p:strVal val="visible"/>
                                      </p:to>
                                    </p:set>
                                    <p:animEffect transition="in" filter="checkerboard(across)">
                                      <p:cBhvr>
                                        <p:cTn id="22" dur="500"/>
                                        <p:tgtEl>
                                          <p:spTgt spid="3481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48163">
                                            <p:txEl>
                                              <p:pRg st="4" end="4"/>
                                            </p:txEl>
                                          </p:spTgt>
                                        </p:tgtEl>
                                        <p:attrNameLst>
                                          <p:attrName>style.visibility</p:attrName>
                                        </p:attrNameLst>
                                      </p:cBhvr>
                                      <p:to>
                                        <p:strVal val="visible"/>
                                      </p:to>
                                    </p:set>
                                    <p:animEffect transition="in" filter="checkerboard(across)">
                                      <p:cBhvr>
                                        <p:cTn id="27" dur="500"/>
                                        <p:tgtEl>
                                          <p:spTgt spid="3481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48163">
                                            <p:txEl>
                                              <p:pRg st="5" end="5"/>
                                            </p:txEl>
                                          </p:spTgt>
                                        </p:tgtEl>
                                        <p:attrNameLst>
                                          <p:attrName>style.visibility</p:attrName>
                                        </p:attrNameLst>
                                      </p:cBhvr>
                                      <p:to>
                                        <p:strVal val="visible"/>
                                      </p:to>
                                    </p:set>
                                    <p:animEffect transition="in" filter="checkerboard(across)">
                                      <p:cBhvr>
                                        <p:cTn id="32" dur="500"/>
                                        <p:tgtEl>
                                          <p:spTgt spid="3481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3" grpId="0" build="p"/>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2A23CC0A-9B0D-643E-FE09-0DE126A707CC}"/>
              </a:ext>
            </a:extLst>
          </p:cNvPr>
          <p:cNvSpPr>
            <a:spLocks noGrp="1" noChangeArrowheads="1"/>
          </p:cNvSpPr>
          <p:nvPr>
            <p:ph type="title"/>
          </p:nvPr>
        </p:nvSpPr>
        <p:spPr/>
        <p:txBody>
          <a:bodyPr/>
          <a:lstStyle/>
          <a:p>
            <a:pPr eaLnBrk="1" hangingPunct="1"/>
            <a:r>
              <a:rPr lang="zh-CN" altLang="en-US"/>
              <a:t>固定分配局部置换</a:t>
            </a:r>
          </a:p>
        </p:txBody>
      </p:sp>
      <p:sp>
        <p:nvSpPr>
          <p:cNvPr id="349187" name="Rectangle 3">
            <a:extLst>
              <a:ext uri="{FF2B5EF4-FFF2-40B4-BE49-F238E27FC236}">
                <a16:creationId xmlns:a16="http://schemas.microsoft.com/office/drawing/2014/main" id="{6D971173-DA2E-656C-4FB6-DD0D1222D610}"/>
              </a:ext>
            </a:extLst>
          </p:cNvPr>
          <p:cNvSpPr>
            <a:spLocks noGrp="1" noChangeArrowheads="1"/>
          </p:cNvSpPr>
          <p:nvPr>
            <p:ph idx="1"/>
          </p:nvPr>
        </p:nvSpPr>
        <p:spPr>
          <a:xfrm>
            <a:off x="611188" y="1268413"/>
            <a:ext cx="8343900" cy="4114800"/>
          </a:xfrm>
        </p:spPr>
        <p:txBody>
          <a:bodyPr/>
          <a:lstStyle/>
          <a:p>
            <a:pPr algn="just" eaLnBrk="1" hangingPunct="1"/>
            <a:r>
              <a:rPr lang="zh-CN" altLang="en-US">
                <a:solidFill>
                  <a:srgbClr val="FF0000"/>
                </a:solidFill>
              </a:rPr>
              <a:t>固定分配局部置换</a:t>
            </a:r>
            <a:r>
              <a:rPr lang="zh-CN" altLang="en-US"/>
              <a:t>：基于某种原则为每个进程分配固定数量的物理块，当进程运行中出现缺页时，只能从自己的页面中选择一页换出，然后再调入缺页。</a:t>
            </a:r>
          </a:p>
          <a:p>
            <a:pPr algn="just" eaLnBrk="1" hangingPunct="1"/>
            <a:r>
              <a:rPr lang="zh-CN" altLang="en-US"/>
              <a:t>实现这种策略的困难在于：难以确定应为每个进程分配多少个物理块。</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9187">
                                            <p:txEl>
                                              <p:pRg st="0" end="0"/>
                                            </p:txEl>
                                          </p:spTgt>
                                        </p:tgtEl>
                                        <p:attrNameLst>
                                          <p:attrName>style.visibility</p:attrName>
                                        </p:attrNameLst>
                                      </p:cBhvr>
                                      <p:to>
                                        <p:strVal val="visible"/>
                                      </p:to>
                                    </p:set>
                                    <p:animEffect transition="in" filter="checkerboard(across)">
                                      <p:cBhvr>
                                        <p:cTn id="7" dur="500"/>
                                        <p:tgtEl>
                                          <p:spTgt spid="3491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49187">
                                            <p:txEl>
                                              <p:pRg st="1" end="1"/>
                                            </p:txEl>
                                          </p:spTgt>
                                        </p:tgtEl>
                                        <p:attrNameLst>
                                          <p:attrName>style.visibility</p:attrName>
                                        </p:attrNameLst>
                                      </p:cBhvr>
                                      <p:to>
                                        <p:strVal val="visible"/>
                                      </p:to>
                                    </p:set>
                                    <p:animEffect transition="in" filter="checkerboard(across)">
                                      <p:cBhvr>
                                        <p:cTn id="12" dur="500"/>
                                        <p:tgtEl>
                                          <p:spTgt spid="3491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build="p"/>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9496CB62-A6AB-6337-DF57-A48A5295ED7E}"/>
              </a:ext>
            </a:extLst>
          </p:cNvPr>
          <p:cNvSpPr>
            <a:spLocks noGrp="1" noChangeArrowheads="1"/>
          </p:cNvSpPr>
          <p:nvPr>
            <p:ph type="title"/>
          </p:nvPr>
        </p:nvSpPr>
        <p:spPr/>
        <p:txBody>
          <a:bodyPr/>
          <a:lstStyle/>
          <a:p>
            <a:pPr eaLnBrk="1" hangingPunct="1"/>
            <a:r>
              <a:rPr lang="zh-CN" altLang="en-US"/>
              <a:t>可变分配全局置换</a:t>
            </a:r>
          </a:p>
        </p:txBody>
      </p:sp>
      <p:sp>
        <p:nvSpPr>
          <p:cNvPr id="350211" name="Rectangle 3">
            <a:extLst>
              <a:ext uri="{FF2B5EF4-FFF2-40B4-BE49-F238E27FC236}">
                <a16:creationId xmlns:a16="http://schemas.microsoft.com/office/drawing/2014/main" id="{8951984D-9B1D-E5AB-EA4A-F17922975B8C}"/>
              </a:ext>
            </a:extLst>
          </p:cNvPr>
          <p:cNvSpPr>
            <a:spLocks noGrp="1" noChangeArrowheads="1"/>
          </p:cNvSpPr>
          <p:nvPr>
            <p:ph idx="1"/>
          </p:nvPr>
        </p:nvSpPr>
        <p:spPr>
          <a:xfrm>
            <a:off x="755650" y="1196975"/>
            <a:ext cx="8199438" cy="4932363"/>
          </a:xfrm>
        </p:spPr>
        <p:txBody>
          <a:bodyPr/>
          <a:lstStyle/>
          <a:p>
            <a:pPr algn="just" eaLnBrk="1" hangingPunct="1">
              <a:lnSpc>
                <a:spcPct val="90000"/>
              </a:lnSpc>
            </a:pPr>
            <a:r>
              <a:rPr lang="zh-CN" altLang="en-US">
                <a:solidFill>
                  <a:srgbClr val="FF0000"/>
                </a:solidFill>
              </a:rPr>
              <a:t>可变分配全局置换</a:t>
            </a:r>
            <a:r>
              <a:rPr lang="zh-CN" altLang="en-US"/>
              <a:t>：先为系统中的每个进程分配一定数量的物理块，操作系统本身也保持一个空闲物理块队列。当某进程发生缺页时，由系统从空闲物理块队列中取出一个物理块分配给该进程；当空闲物理块队列中的物理块用完时，操作系统才从内存中选择一页调出，该页可以是系统中任何一个进程的页面。</a:t>
            </a:r>
          </a:p>
          <a:p>
            <a:pPr eaLnBrk="1" hangingPunct="1">
              <a:lnSpc>
                <a:spcPct val="90000"/>
              </a:lnSpc>
            </a:pPr>
            <a:r>
              <a:rPr lang="zh-CN" altLang="en-US">
                <a:latin typeface="Times New Roman" panose="02020603050405020304" pitchFamily="18" charset="0"/>
              </a:rPr>
              <a:t>这是一种容易实现的页面分配和置换策略，目前已用于若干操作系统中。</a:t>
            </a:r>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50211">
                                            <p:txEl>
                                              <p:pRg st="0" end="0"/>
                                            </p:txEl>
                                          </p:spTgt>
                                        </p:tgtEl>
                                        <p:attrNameLst>
                                          <p:attrName>style.visibility</p:attrName>
                                        </p:attrNameLst>
                                      </p:cBhvr>
                                      <p:to>
                                        <p:strVal val="visible"/>
                                      </p:to>
                                    </p:set>
                                    <p:animEffect transition="in" filter="checkerboard(across)">
                                      <p:cBhvr>
                                        <p:cTn id="7" dur="500"/>
                                        <p:tgtEl>
                                          <p:spTgt spid="3502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50211">
                                            <p:txEl>
                                              <p:pRg st="1" end="1"/>
                                            </p:txEl>
                                          </p:spTgt>
                                        </p:tgtEl>
                                        <p:attrNameLst>
                                          <p:attrName>style.visibility</p:attrName>
                                        </p:attrNameLst>
                                      </p:cBhvr>
                                      <p:to>
                                        <p:strVal val="visible"/>
                                      </p:to>
                                    </p:set>
                                    <p:animEffect transition="in" filter="checkerboard(across)">
                                      <p:cBhvr>
                                        <p:cTn id="12" dur="500"/>
                                        <p:tgtEl>
                                          <p:spTgt spid="3502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1" grpId="0" build="p"/>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0DB99FE1-4BAA-83F3-5E55-73B03CF1BBDD}"/>
              </a:ext>
            </a:extLst>
          </p:cNvPr>
          <p:cNvSpPr>
            <a:spLocks noGrp="1" noChangeArrowheads="1"/>
          </p:cNvSpPr>
          <p:nvPr>
            <p:ph type="title"/>
          </p:nvPr>
        </p:nvSpPr>
        <p:spPr/>
        <p:txBody>
          <a:bodyPr/>
          <a:lstStyle/>
          <a:p>
            <a:pPr eaLnBrk="1" hangingPunct="1"/>
            <a:r>
              <a:rPr lang="zh-CN" altLang="en-US"/>
              <a:t>可变分配局部置换</a:t>
            </a:r>
          </a:p>
        </p:txBody>
      </p:sp>
      <p:sp>
        <p:nvSpPr>
          <p:cNvPr id="351235" name="Rectangle 3">
            <a:extLst>
              <a:ext uri="{FF2B5EF4-FFF2-40B4-BE49-F238E27FC236}">
                <a16:creationId xmlns:a16="http://schemas.microsoft.com/office/drawing/2014/main" id="{6B2230F0-6F63-4CF3-54E1-9F8E844A2156}"/>
              </a:ext>
            </a:extLst>
          </p:cNvPr>
          <p:cNvSpPr>
            <a:spLocks noGrp="1" noChangeArrowheads="1"/>
          </p:cNvSpPr>
          <p:nvPr>
            <p:ph idx="1"/>
          </p:nvPr>
        </p:nvSpPr>
        <p:spPr>
          <a:xfrm>
            <a:off x="719138" y="1196975"/>
            <a:ext cx="8235950" cy="4752975"/>
          </a:xfrm>
        </p:spPr>
        <p:txBody>
          <a:bodyPr/>
          <a:lstStyle/>
          <a:p>
            <a:pPr algn="just" eaLnBrk="1" hangingPunct="1"/>
            <a:r>
              <a:rPr lang="zh-CN" altLang="en-US">
                <a:solidFill>
                  <a:srgbClr val="FF0000"/>
                </a:solidFill>
              </a:rPr>
              <a:t>可变分配局部置换</a:t>
            </a:r>
            <a:r>
              <a:rPr lang="zh-CN" altLang="en-US"/>
              <a:t>：根据某种原则为每个进程分配一定数量的物理块，当进程发生缺页中断时，只允许从该进程的页面中选出一页换出。如果某进程的缺页率较高，则系统再为该进程分配若干物理块；反之若某进程的缺页率特别低，则系统可适当减少分配给该进程的物理块数。</a:t>
            </a:r>
          </a:p>
          <a:p>
            <a:pPr algn="just" eaLnBrk="1" hangingPunct="1"/>
            <a:r>
              <a:rPr lang="zh-CN" altLang="en-US"/>
              <a:t>该算法比较复杂，但性能较好。</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51235">
                                            <p:txEl>
                                              <p:pRg st="0" end="0"/>
                                            </p:txEl>
                                          </p:spTgt>
                                        </p:tgtEl>
                                        <p:attrNameLst>
                                          <p:attrName>style.visibility</p:attrName>
                                        </p:attrNameLst>
                                      </p:cBhvr>
                                      <p:to>
                                        <p:strVal val="visible"/>
                                      </p:to>
                                    </p:set>
                                    <p:animEffect transition="in" filter="checkerboard(across)">
                                      <p:cBhvr>
                                        <p:cTn id="7" dur="500"/>
                                        <p:tgtEl>
                                          <p:spTgt spid="3512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51235">
                                            <p:txEl>
                                              <p:pRg st="1" end="1"/>
                                            </p:txEl>
                                          </p:spTgt>
                                        </p:tgtEl>
                                        <p:attrNameLst>
                                          <p:attrName>style.visibility</p:attrName>
                                        </p:attrNameLst>
                                      </p:cBhvr>
                                      <p:to>
                                        <p:strVal val="visible"/>
                                      </p:to>
                                    </p:set>
                                    <p:animEffect transition="in" filter="checkerboard(across)">
                                      <p:cBhvr>
                                        <p:cTn id="12" dur="500"/>
                                        <p:tgtEl>
                                          <p:spTgt spid="3512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5" grpId="0" build="p"/>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C14B40F6-A491-BF9B-049E-6B35A5BCDA9A}"/>
              </a:ext>
            </a:extLst>
          </p:cNvPr>
          <p:cNvSpPr>
            <a:spLocks noGrp="1" noChangeArrowheads="1"/>
          </p:cNvSpPr>
          <p:nvPr>
            <p:ph type="title"/>
          </p:nvPr>
        </p:nvSpPr>
        <p:spPr>
          <a:xfrm>
            <a:off x="1042988" y="225431"/>
            <a:ext cx="7850187" cy="746125"/>
          </a:xfrm>
        </p:spPr>
        <p:txBody>
          <a:bodyPr/>
          <a:lstStyle/>
          <a:p>
            <a:r>
              <a:rPr lang="zh-CN" altLang="en-US" dirty="0"/>
              <a:t>抖动</a:t>
            </a:r>
            <a:endParaRPr lang="en-US" altLang="zh-CN" dirty="0"/>
          </a:p>
        </p:txBody>
      </p:sp>
      <p:sp>
        <p:nvSpPr>
          <p:cNvPr id="296963" name="Rectangle 3">
            <a:extLst>
              <a:ext uri="{FF2B5EF4-FFF2-40B4-BE49-F238E27FC236}">
                <a16:creationId xmlns:a16="http://schemas.microsoft.com/office/drawing/2014/main" id="{D6987D92-A01F-BCD2-9CCF-8B27929B91C8}"/>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抖动</a:t>
            </a:r>
            <a:r>
              <a:rPr lang="zh-CN" altLang="en-US" dirty="0"/>
              <a:t>：如果运行进程的大部分时间都用于页面的换入/换出，而几乎不能完成任何有效的工作，则称此进程处于抖动状态。抖动又称为颠簸、颤动。</a:t>
            </a:r>
          </a:p>
          <a:p>
            <a:r>
              <a:rPr lang="zh-CN" altLang="en-US" dirty="0"/>
              <a:t>抖动分为：</a:t>
            </a:r>
          </a:p>
          <a:p>
            <a:pPr lvl="1"/>
            <a:r>
              <a:rPr lang="zh-CN" altLang="en-US" dirty="0"/>
              <a:t>局部抖动</a:t>
            </a:r>
          </a:p>
          <a:p>
            <a:pPr lvl="1"/>
            <a:r>
              <a:rPr lang="zh-CN" altLang="en-US" dirty="0"/>
              <a:t>全局抖动</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6963">
                                            <p:txEl>
                                              <p:pRg st="0" end="0"/>
                                            </p:txEl>
                                          </p:spTgt>
                                        </p:tgtEl>
                                        <p:attrNameLst>
                                          <p:attrName>style.visibility</p:attrName>
                                        </p:attrNameLst>
                                      </p:cBhvr>
                                      <p:to>
                                        <p:strVal val="visible"/>
                                      </p:to>
                                    </p:set>
                                    <p:animEffect transition="in" filter="checkerboard(across)">
                                      <p:cBhvr>
                                        <p:cTn id="7" dur="500"/>
                                        <p:tgtEl>
                                          <p:spTgt spid="2969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96963">
                                            <p:txEl>
                                              <p:pRg st="1" end="1"/>
                                            </p:txEl>
                                          </p:spTgt>
                                        </p:tgtEl>
                                        <p:attrNameLst>
                                          <p:attrName>style.visibility</p:attrName>
                                        </p:attrNameLst>
                                      </p:cBhvr>
                                      <p:to>
                                        <p:strVal val="visible"/>
                                      </p:to>
                                    </p:set>
                                    <p:animEffect transition="in" filter="checkerboard(across)">
                                      <p:cBhvr>
                                        <p:cTn id="12" dur="500"/>
                                        <p:tgtEl>
                                          <p:spTgt spid="2969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96963">
                                            <p:txEl>
                                              <p:pRg st="2" end="2"/>
                                            </p:txEl>
                                          </p:spTgt>
                                        </p:tgtEl>
                                        <p:attrNameLst>
                                          <p:attrName>style.visibility</p:attrName>
                                        </p:attrNameLst>
                                      </p:cBhvr>
                                      <p:to>
                                        <p:strVal val="visible"/>
                                      </p:to>
                                    </p:set>
                                    <p:animEffect transition="in" filter="checkerboard(across)">
                                      <p:cBhvr>
                                        <p:cTn id="17" dur="500"/>
                                        <p:tgtEl>
                                          <p:spTgt spid="2969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96963">
                                            <p:txEl>
                                              <p:pRg st="3" end="3"/>
                                            </p:txEl>
                                          </p:spTgt>
                                        </p:tgtEl>
                                        <p:attrNameLst>
                                          <p:attrName>style.visibility</p:attrName>
                                        </p:attrNameLst>
                                      </p:cBhvr>
                                      <p:to>
                                        <p:strVal val="visible"/>
                                      </p:to>
                                    </p:set>
                                    <p:animEffect transition="in" filter="checkerboard(across)">
                                      <p:cBhvr>
                                        <p:cTn id="22" dur="500"/>
                                        <p:tgtEl>
                                          <p:spTgt spid="2969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3" grpId="0" build="p"/>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1591D19D-0385-44E2-43A5-529BE4AF0F29}"/>
              </a:ext>
            </a:extLst>
          </p:cNvPr>
          <p:cNvSpPr>
            <a:spLocks noGrp="1" noChangeArrowheads="1"/>
          </p:cNvSpPr>
          <p:nvPr>
            <p:ph type="title"/>
          </p:nvPr>
        </p:nvSpPr>
        <p:spPr>
          <a:xfrm>
            <a:off x="1042988" y="225431"/>
            <a:ext cx="7850187" cy="746125"/>
          </a:xfrm>
        </p:spPr>
        <p:txBody>
          <a:bodyPr/>
          <a:lstStyle/>
          <a:p>
            <a:r>
              <a:rPr lang="zh-CN" altLang="en-US" dirty="0"/>
              <a:t>抖动的原因</a:t>
            </a:r>
            <a:endParaRPr lang="en-US" altLang="zh-CN" dirty="0"/>
          </a:p>
        </p:txBody>
      </p:sp>
      <p:sp>
        <p:nvSpPr>
          <p:cNvPr id="270339" name="Rectangle 3">
            <a:extLst>
              <a:ext uri="{FF2B5EF4-FFF2-40B4-BE49-F238E27FC236}">
                <a16:creationId xmlns:a16="http://schemas.microsoft.com/office/drawing/2014/main" id="{C15424D7-D632-8B03-0F9F-95E17A719DAD}"/>
              </a:ext>
            </a:extLst>
          </p:cNvPr>
          <p:cNvSpPr>
            <a:spLocks noGrp="1" noChangeArrowheads="1"/>
          </p:cNvSpPr>
          <p:nvPr>
            <p:ph idx="1"/>
          </p:nvPr>
        </p:nvSpPr>
        <p:spPr>
          <a:xfrm>
            <a:off x="935038" y="1233488"/>
            <a:ext cx="7772400" cy="4895850"/>
          </a:xfrm>
        </p:spPr>
        <p:txBody>
          <a:bodyPr/>
          <a:lstStyle/>
          <a:p>
            <a:r>
              <a:rPr lang="zh-CN" altLang="en-US" dirty="0"/>
              <a:t>如果一个进程没有足够的页，那么缺页率将很高，这将导致：</a:t>
            </a:r>
          </a:p>
          <a:p>
            <a:pPr lvl="1"/>
            <a:r>
              <a:rPr lang="en-US" altLang="zh-CN" dirty="0"/>
              <a:t>CPU</a:t>
            </a:r>
            <a:r>
              <a:rPr lang="zh-CN" altLang="en-US" dirty="0"/>
              <a:t>利用率低下 </a:t>
            </a:r>
            <a:r>
              <a:rPr lang="en-US" altLang="zh-CN" dirty="0"/>
              <a:t>low CPU utilization</a:t>
            </a:r>
            <a:r>
              <a:rPr lang="zh-CN" altLang="en-US" dirty="0"/>
              <a:t>.</a:t>
            </a:r>
          </a:p>
          <a:p>
            <a:pPr lvl="1"/>
            <a:r>
              <a:rPr lang="zh-CN" altLang="en-US" dirty="0"/>
              <a:t>操作系统认为需要增加多道程序设计的道数、</a:t>
            </a:r>
          </a:p>
          <a:p>
            <a:pPr lvl="1"/>
            <a:r>
              <a:rPr lang="zh-CN" altLang="en-US" dirty="0"/>
              <a:t>系统中将加入一个新的进程</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70339">
                                            <p:txEl>
                                              <p:pRg st="0" end="0"/>
                                            </p:txEl>
                                          </p:spTgt>
                                        </p:tgtEl>
                                        <p:attrNameLst>
                                          <p:attrName>style.visibility</p:attrName>
                                        </p:attrNameLst>
                                      </p:cBhvr>
                                      <p:to>
                                        <p:strVal val="visible"/>
                                      </p:to>
                                    </p:set>
                                    <p:animEffect transition="in" filter="checkerboard(across)">
                                      <p:cBhvr>
                                        <p:cTn id="7" dur="500"/>
                                        <p:tgtEl>
                                          <p:spTgt spid="270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70339">
                                            <p:txEl>
                                              <p:pRg st="1" end="1"/>
                                            </p:txEl>
                                          </p:spTgt>
                                        </p:tgtEl>
                                        <p:attrNameLst>
                                          <p:attrName>style.visibility</p:attrName>
                                        </p:attrNameLst>
                                      </p:cBhvr>
                                      <p:to>
                                        <p:strVal val="visible"/>
                                      </p:to>
                                    </p:set>
                                    <p:animEffect transition="in" filter="checkerboard(across)">
                                      <p:cBhvr>
                                        <p:cTn id="12" dur="500"/>
                                        <p:tgtEl>
                                          <p:spTgt spid="270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70339">
                                            <p:txEl>
                                              <p:pRg st="2" end="2"/>
                                            </p:txEl>
                                          </p:spTgt>
                                        </p:tgtEl>
                                        <p:attrNameLst>
                                          <p:attrName>style.visibility</p:attrName>
                                        </p:attrNameLst>
                                      </p:cBhvr>
                                      <p:to>
                                        <p:strVal val="visible"/>
                                      </p:to>
                                    </p:set>
                                    <p:animEffect transition="in" filter="checkerboard(across)">
                                      <p:cBhvr>
                                        <p:cTn id="17" dur="500"/>
                                        <p:tgtEl>
                                          <p:spTgt spid="270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70339">
                                            <p:txEl>
                                              <p:pRg st="3" end="3"/>
                                            </p:txEl>
                                          </p:spTgt>
                                        </p:tgtEl>
                                        <p:attrNameLst>
                                          <p:attrName>style.visibility</p:attrName>
                                        </p:attrNameLst>
                                      </p:cBhvr>
                                      <p:to>
                                        <p:strVal val="visible"/>
                                      </p:to>
                                    </p:set>
                                    <p:animEffect transition="in" filter="checkerboard(across)">
                                      <p:cBhvr>
                                        <p:cTn id="22" dur="500"/>
                                        <p:tgtEl>
                                          <p:spTgt spid="2703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9" grpId="0" build="p"/>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F6A795C3-B230-7AB0-5A08-C29ACE27C59E}"/>
              </a:ext>
            </a:extLst>
          </p:cNvPr>
          <p:cNvSpPr>
            <a:spLocks noGrp="1" noChangeArrowheads="1"/>
          </p:cNvSpPr>
          <p:nvPr>
            <p:ph type="title"/>
          </p:nvPr>
        </p:nvSpPr>
        <p:spPr>
          <a:xfrm>
            <a:off x="1042988" y="225431"/>
            <a:ext cx="7850187" cy="746125"/>
          </a:xfrm>
        </p:spPr>
        <p:txBody>
          <a:bodyPr/>
          <a:lstStyle/>
          <a:p>
            <a:r>
              <a:rPr lang="en-US" altLang="zh-CN" dirty="0"/>
              <a:t>CPU</a:t>
            </a:r>
            <a:r>
              <a:rPr lang="zh-CN" altLang="en-US" dirty="0"/>
              <a:t>利用率与程序道数的关系</a:t>
            </a:r>
            <a:endParaRPr lang="en-US" altLang="zh-CN" dirty="0"/>
          </a:p>
        </p:txBody>
      </p:sp>
      <p:sp>
        <p:nvSpPr>
          <p:cNvPr id="87042" name="Rectangle 3">
            <a:extLst>
              <a:ext uri="{FF2B5EF4-FFF2-40B4-BE49-F238E27FC236}">
                <a16:creationId xmlns:a16="http://schemas.microsoft.com/office/drawing/2014/main" id="{1E881197-F352-01A1-9171-67298BA6203F}"/>
              </a:ext>
            </a:extLst>
          </p:cNvPr>
          <p:cNvSpPr>
            <a:spLocks noGrp="1" noChangeArrowheads="1"/>
          </p:cNvSpPr>
          <p:nvPr>
            <p:ph idx="1"/>
          </p:nvPr>
        </p:nvSpPr>
        <p:spPr>
          <a:xfrm>
            <a:off x="935038" y="1233488"/>
            <a:ext cx="7772400" cy="4895850"/>
          </a:xfrm>
        </p:spPr>
        <p:txBody>
          <a:bodyPr>
            <a:normAutofit/>
          </a:bodyPr>
          <a:lstStyle/>
          <a:p>
            <a:r>
              <a:rPr lang="zh-CN" altLang="en-US" dirty="0"/>
              <a:t>开始时</a:t>
            </a:r>
            <a:r>
              <a:rPr lang="en-US" altLang="zh-CN" dirty="0"/>
              <a:t>CPU</a:t>
            </a:r>
            <a:r>
              <a:rPr lang="zh-CN" altLang="en-US" dirty="0"/>
              <a:t>利用率会随着程序道数的增加而增加，当程序道数增加到一定数量以后，程序道数的增加会使</a:t>
            </a:r>
            <a:r>
              <a:rPr lang="en-US" altLang="zh-CN" dirty="0"/>
              <a:t>CPU</a:t>
            </a:r>
            <a:r>
              <a:rPr lang="zh-CN" altLang="en-US" dirty="0"/>
              <a:t>的利用率急剧下降。</a:t>
            </a:r>
          </a:p>
        </p:txBody>
      </p:sp>
      <p:pic>
        <p:nvPicPr>
          <p:cNvPr id="87043" name="Picture 4">
            <a:extLst>
              <a:ext uri="{FF2B5EF4-FFF2-40B4-BE49-F238E27FC236}">
                <a16:creationId xmlns:a16="http://schemas.microsoft.com/office/drawing/2014/main" id="{DBFB1050-9E15-C5F5-E578-8C3A0C7E7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60" t="14096" r="562" b="14427"/>
          <a:stretch>
            <a:fillRect/>
          </a:stretch>
        </p:blipFill>
        <p:spPr bwMode="auto">
          <a:xfrm>
            <a:off x="3413125" y="3141663"/>
            <a:ext cx="5372100" cy="357187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2680A23E-A642-6F61-B3C1-E295310BE5CC}"/>
              </a:ext>
            </a:extLst>
          </p:cNvPr>
          <p:cNvSpPr>
            <a:spLocks noGrp="1" noChangeArrowheads="1"/>
          </p:cNvSpPr>
          <p:nvPr>
            <p:ph type="title"/>
          </p:nvPr>
        </p:nvSpPr>
        <p:spPr>
          <a:xfrm>
            <a:off x="1042988" y="225431"/>
            <a:ext cx="7850187" cy="746125"/>
          </a:xfrm>
        </p:spPr>
        <p:txBody>
          <a:bodyPr/>
          <a:lstStyle/>
          <a:p>
            <a:r>
              <a:rPr lang="zh-CN" altLang="en-US" dirty="0"/>
              <a:t>抖动的原因 </a:t>
            </a:r>
            <a:endParaRPr lang="en-US" altLang="zh-CN" dirty="0"/>
          </a:p>
        </p:txBody>
      </p:sp>
      <p:sp>
        <p:nvSpPr>
          <p:cNvPr id="88066" name="Rectangle 3">
            <a:extLst>
              <a:ext uri="{FF2B5EF4-FFF2-40B4-BE49-F238E27FC236}">
                <a16:creationId xmlns:a16="http://schemas.microsoft.com/office/drawing/2014/main" id="{43D4A908-65D6-52D8-7C63-C8B9636F5DF8}"/>
              </a:ext>
            </a:extLst>
          </p:cNvPr>
          <p:cNvSpPr>
            <a:spLocks noGrp="1" noChangeArrowheads="1"/>
          </p:cNvSpPr>
          <p:nvPr>
            <p:ph idx="1"/>
          </p:nvPr>
        </p:nvSpPr>
        <p:spPr>
          <a:xfrm>
            <a:off x="935038" y="1233488"/>
            <a:ext cx="7772400" cy="4895850"/>
          </a:xfrm>
        </p:spPr>
        <p:txBody>
          <a:bodyPr/>
          <a:lstStyle/>
          <a:p>
            <a:r>
              <a:rPr lang="zh-CN" altLang="en-US"/>
              <a:t>抖动产生的原因有：</a:t>
            </a:r>
          </a:p>
          <a:p>
            <a:pPr lvl="1"/>
            <a:r>
              <a:rPr lang="zh-CN" altLang="en-US"/>
              <a:t>进程分配的物理块太少</a:t>
            </a:r>
          </a:p>
          <a:p>
            <a:pPr lvl="1"/>
            <a:r>
              <a:rPr lang="zh-CN" altLang="en-US"/>
              <a:t>置换算法选择不当</a:t>
            </a:r>
          </a:p>
          <a:p>
            <a:pPr lvl="1"/>
            <a:r>
              <a:rPr lang="zh-CN" altLang="en-US"/>
              <a:t>全局置换使抖动传播</a:t>
            </a:r>
          </a:p>
        </p:txBody>
      </p:sp>
    </p:spTree>
  </p:cSld>
  <p:clrMapOvr>
    <a:masterClrMapping/>
  </p:clrMapOvr>
  <p:transition spd="med">
    <p:zoom/>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BCD32966-627C-E2D4-8304-7F0E1C42BACB}"/>
              </a:ext>
            </a:extLst>
          </p:cNvPr>
          <p:cNvSpPr>
            <a:spLocks noGrp="1" noChangeArrowheads="1"/>
          </p:cNvSpPr>
          <p:nvPr>
            <p:ph type="title"/>
          </p:nvPr>
        </p:nvSpPr>
        <p:spPr>
          <a:xfrm>
            <a:off x="1042988" y="225431"/>
            <a:ext cx="7850187" cy="746125"/>
          </a:xfrm>
        </p:spPr>
        <p:txBody>
          <a:bodyPr/>
          <a:lstStyle/>
          <a:p>
            <a:r>
              <a:rPr lang="zh-CN" altLang="en-US" dirty="0"/>
              <a:t>工作集模型</a:t>
            </a:r>
          </a:p>
        </p:txBody>
      </p:sp>
      <p:sp>
        <p:nvSpPr>
          <p:cNvPr id="386051" name="Rectangle 3">
            <a:extLst>
              <a:ext uri="{FF2B5EF4-FFF2-40B4-BE49-F238E27FC236}">
                <a16:creationId xmlns:a16="http://schemas.microsoft.com/office/drawing/2014/main" id="{5D28FDCF-035E-CA5C-F896-4C277D98ECD1}"/>
              </a:ext>
            </a:extLst>
          </p:cNvPr>
          <p:cNvSpPr>
            <a:spLocks noGrp="1" noChangeArrowheads="1"/>
          </p:cNvSpPr>
          <p:nvPr>
            <p:ph idx="1"/>
          </p:nvPr>
        </p:nvSpPr>
        <p:spPr>
          <a:xfrm>
            <a:off x="935038" y="1233488"/>
            <a:ext cx="7772400" cy="4895850"/>
          </a:xfrm>
        </p:spPr>
        <p:txBody>
          <a:bodyPr/>
          <a:lstStyle/>
          <a:p>
            <a:r>
              <a:rPr lang="zh-CN" altLang="en-US" dirty="0">
                <a:sym typeface="Symbol" pitchFamily="2" charset="2"/>
              </a:rPr>
              <a:t>工作集窗口：固定数量的页面引用。</a:t>
            </a:r>
            <a:endParaRPr lang="en-US" altLang="zh-CN" dirty="0">
              <a:sym typeface="Symbol" pitchFamily="2" charset="2"/>
            </a:endParaRPr>
          </a:p>
          <a:p>
            <a:r>
              <a:rPr lang="en-US" altLang="zh-CN" dirty="0">
                <a:sym typeface="Symbol" pitchFamily="2" charset="2"/>
              </a:rPr>
              <a:t>Example:  10,000 instruction</a:t>
            </a:r>
          </a:p>
          <a:p>
            <a:r>
              <a:rPr lang="zh-CN" altLang="en-US" dirty="0">
                <a:sym typeface="Symbol" pitchFamily="2" charset="2"/>
              </a:rPr>
              <a:t>进程</a:t>
            </a:r>
            <a:r>
              <a:rPr lang="en-US" altLang="zh-CN" dirty="0">
                <a:sym typeface="Symbol" pitchFamily="2" charset="2"/>
              </a:rPr>
              <a:t>Pi</a:t>
            </a:r>
            <a:r>
              <a:rPr lang="zh-CN" altLang="en-US" dirty="0">
                <a:sym typeface="Symbol" pitchFamily="2" charset="2"/>
              </a:rPr>
              <a:t>的工作集</a:t>
            </a:r>
            <a:r>
              <a:rPr lang="en-US" altLang="zh-CN" dirty="0" err="1">
                <a:sym typeface="Symbol" pitchFamily="2" charset="2"/>
              </a:rPr>
              <a:t>WSSi</a:t>
            </a:r>
            <a:r>
              <a:rPr lang="en-US" altLang="zh-CN" dirty="0">
                <a:sym typeface="Symbol" pitchFamily="2" charset="2"/>
              </a:rPr>
              <a:t> </a:t>
            </a:r>
            <a:r>
              <a:rPr lang="zh-CN" altLang="en-US" dirty="0">
                <a:sym typeface="Symbol" pitchFamily="2" charset="2"/>
              </a:rPr>
              <a:t>：最近个页面引用的集合</a:t>
            </a:r>
          </a:p>
          <a:p>
            <a:r>
              <a:rPr lang="en-US" altLang="zh-CN" dirty="0">
                <a:sym typeface="Symbol" pitchFamily="2" charset="2"/>
              </a:rPr>
              <a:t>   </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animEffect transition="in" filter="checkerboard(across)">
                                      <p:cBhvr>
                                        <p:cTn id="7" dur="500"/>
                                        <p:tgtEl>
                                          <p:spTgt spid="386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6051">
                                            <p:txEl>
                                              <p:pRg st="1" end="1"/>
                                            </p:txEl>
                                          </p:spTgt>
                                        </p:tgtEl>
                                        <p:attrNameLst>
                                          <p:attrName>style.visibility</p:attrName>
                                        </p:attrNameLst>
                                      </p:cBhvr>
                                      <p:to>
                                        <p:strVal val="visible"/>
                                      </p:to>
                                    </p:set>
                                    <p:animEffect transition="in" filter="checkerboard(across)">
                                      <p:cBhvr>
                                        <p:cTn id="12" dur="500"/>
                                        <p:tgtEl>
                                          <p:spTgt spid="3860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6051">
                                            <p:txEl>
                                              <p:pRg st="2" end="2"/>
                                            </p:txEl>
                                          </p:spTgt>
                                        </p:tgtEl>
                                        <p:attrNameLst>
                                          <p:attrName>style.visibility</p:attrName>
                                        </p:attrNameLst>
                                      </p:cBhvr>
                                      <p:to>
                                        <p:strVal val="visible"/>
                                      </p:to>
                                    </p:set>
                                    <p:animEffect transition="in" filter="checkerboard(across)">
                                      <p:cBhvr>
                                        <p:cTn id="17" dur="500"/>
                                        <p:tgtEl>
                                          <p:spTgt spid="3860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86051">
                                            <p:txEl>
                                              <p:pRg st="3" end="3"/>
                                            </p:txEl>
                                          </p:spTgt>
                                        </p:tgtEl>
                                        <p:attrNameLst>
                                          <p:attrName>style.visibility</p:attrName>
                                        </p:attrNameLst>
                                      </p:cBhvr>
                                      <p:to>
                                        <p:strVal val="visible"/>
                                      </p:to>
                                    </p:set>
                                    <p:animEffect transition="in" filter="checkerboard(across)">
                                      <p:cBhvr>
                                        <p:cTn id="22" dur="500"/>
                                        <p:tgtEl>
                                          <p:spTgt spid="3860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build="p"/>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9D834081-E9C3-04FA-1164-26C644DEC8EC}"/>
              </a:ext>
            </a:extLst>
          </p:cNvPr>
          <p:cNvSpPr>
            <a:spLocks noGrp="1" noChangeArrowheads="1"/>
          </p:cNvSpPr>
          <p:nvPr>
            <p:ph type="title"/>
          </p:nvPr>
        </p:nvSpPr>
        <p:spPr/>
        <p:txBody>
          <a:bodyPr/>
          <a:lstStyle/>
          <a:p>
            <a:pPr eaLnBrk="1" hangingPunct="1"/>
            <a:r>
              <a:rPr lang="zh-CN" altLang="en-US" sz="4000"/>
              <a:t>例</a:t>
            </a:r>
          </a:p>
        </p:txBody>
      </p:sp>
      <p:pic>
        <p:nvPicPr>
          <p:cNvPr id="90114" name="Picture 4">
            <a:extLst>
              <a:ext uri="{FF2B5EF4-FFF2-40B4-BE49-F238E27FC236}">
                <a16:creationId xmlns:a16="http://schemas.microsoft.com/office/drawing/2014/main" id="{F18F79A4-663F-8EAC-0B5E-21D9ECB76F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67" t="34583" r="3287" b="34836"/>
          <a:stretch>
            <a:fillRect/>
          </a:stretch>
        </p:blipFill>
        <p:spPr bwMode="auto">
          <a:xfrm>
            <a:off x="584200" y="2824163"/>
            <a:ext cx="8191500" cy="319722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0115" name="Rectangle 5">
            <a:extLst>
              <a:ext uri="{FF2B5EF4-FFF2-40B4-BE49-F238E27FC236}">
                <a16:creationId xmlns:a16="http://schemas.microsoft.com/office/drawing/2014/main" id="{2B62679A-D878-BC4E-4F7B-41844708A7C3}"/>
              </a:ext>
            </a:extLst>
          </p:cNvPr>
          <p:cNvSpPr>
            <a:spLocks noGrp="1" noChangeArrowheads="1"/>
          </p:cNvSpPr>
          <p:nvPr>
            <p:ph idx="1"/>
          </p:nvPr>
        </p:nvSpPr>
        <p:spPr>
          <a:xfrm>
            <a:off x="1131888" y="1268413"/>
            <a:ext cx="7772400" cy="1296987"/>
          </a:xfrm>
        </p:spPr>
        <p:txBody>
          <a:bodyPr/>
          <a:lstStyle/>
          <a:p>
            <a:pPr eaLnBrk="1" hangingPunct="1"/>
            <a:r>
              <a:rPr lang="zh-CN" altLang="en-US">
                <a:sym typeface="Symbol" pitchFamily="2" charset="2"/>
              </a:rPr>
              <a:t>为</a:t>
            </a:r>
            <a:r>
              <a:rPr lang="en-US" altLang="zh-CN">
                <a:sym typeface="Symbol" pitchFamily="2" charset="2"/>
              </a:rPr>
              <a:t>10</a:t>
            </a:r>
            <a:r>
              <a:rPr lang="zh-CN" altLang="en-US">
                <a:sym typeface="Symbol" pitchFamily="2" charset="2"/>
              </a:rPr>
              <a:t>个内存引用</a:t>
            </a:r>
          </a:p>
          <a:p>
            <a:pPr eaLnBrk="1" hangingPunct="1">
              <a:buFont typeface="Wingdings" pitchFamily="2" charset="2"/>
              <a:buNone/>
            </a:pPr>
            <a:r>
              <a:rPr lang="zh-CN" altLang="en-US">
                <a:sym typeface="Symbol" pitchFamily="2" charset="2"/>
              </a:rPr>
              <a:t>  </a:t>
            </a:r>
            <a:r>
              <a:rPr lang="en-US" altLang="zh-CN">
                <a:sym typeface="Symbol" pitchFamily="2" charset="2"/>
              </a:rPr>
              <a:t>=10 memory references</a:t>
            </a:r>
          </a:p>
        </p:txBody>
      </p:sp>
    </p:spTree>
  </p:cSld>
  <p:clrMapOvr>
    <a:masterClrMapping/>
  </p:clrMapOvr>
  <p:transition spd="med">
    <p:zoom/>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A445F3F9-2CCA-C1CC-0A5A-07B4E8DA6204}"/>
              </a:ext>
            </a:extLst>
          </p:cNvPr>
          <p:cNvSpPr>
            <a:spLocks noGrp="1" noChangeArrowheads="1"/>
          </p:cNvSpPr>
          <p:nvPr>
            <p:ph type="title"/>
          </p:nvPr>
        </p:nvSpPr>
        <p:spPr>
          <a:xfrm>
            <a:off x="1042988" y="225431"/>
            <a:ext cx="7850187" cy="746125"/>
          </a:xfrm>
        </p:spPr>
        <p:txBody>
          <a:bodyPr/>
          <a:lstStyle/>
          <a:p>
            <a:r>
              <a:rPr lang="en-US" altLang="zh-CN" dirty="0"/>
              <a:t> </a:t>
            </a:r>
            <a:r>
              <a:rPr lang="zh-CN" altLang="en-US" dirty="0"/>
              <a:t>工作集模型 </a:t>
            </a:r>
          </a:p>
        </p:txBody>
      </p:sp>
      <p:sp>
        <p:nvSpPr>
          <p:cNvPr id="385027" name="Rectangle 3">
            <a:extLst>
              <a:ext uri="{FF2B5EF4-FFF2-40B4-BE49-F238E27FC236}">
                <a16:creationId xmlns:a16="http://schemas.microsoft.com/office/drawing/2014/main" id="{D5A5E84E-DE23-7157-6C87-4F7A11148019}"/>
              </a:ext>
            </a:extLst>
          </p:cNvPr>
          <p:cNvSpPr>
            <a:spLocks noGrp="1" noChangeArrowheads="1"/>
          </p:cNvSpPr>
          <p:nvPr>
            <p:ph idx="1"/>
          </p:nvPr>
        </p:nvSpPr>
        <p:spPr>
          <a:xfrm>
            <a:off x="935038" y="1233488"/>
            <a:ext cx="7772400" cy="4895850"/>
          </a:xfrm>
        </p:spPr>
        <p:txBody>
          <a:bodyPr>
            <a:normAutofit/>
          </a:bodyPr>
          <a:lstStyle/>
          <a:p>
            <a:r>
              <a:rPr lang="zh-CN" altLang="en-US" dirty="0">
                <a:sym typeface="Symbol" pitchFamily="2" charset="2"/>
              </a:rPr>
              <a:t>工作集精确度与的选择有关：</a:t>
            </a:r>
            <a:endParaRPr lang="en-US" altLang="zh-CN" dirty="0">
              <a:sym typeface="Symbol" pitchFamily="2" charset="2"/>
            </a:endParaRPr>
          </a:p>
          <a:p>
            <a:pPr lvl="1"/>
            <a:r>
              <a:rPr lang="zh-CN" altLang="en-US" dirty="0">
                <a:sym typeface="Symbol" pitchFamily="2" charset="2"/>
              </a:rPr>
              <a:t>如果太小，那么不能包含整个局部</a:t>
            </a:r>
          </a:p>
          <a:p>
            <a:pPr lvl="1"/>
            <a:r>
              <a:rPr lang="zh-CN" altLang="en-US" dirty="0">
                <a:sym typeface="Symbol" pitchFamily="2" charset="2"/>
              </a:rPr>
              <a:t>如果太大，那么它可能包含多个局部</a:t>
            </a:r>
          </a:p>
          <a:p>
            <a:pPr lvl="1"/>
            <a:r>
              <a:rPr lang="zh-CN" altLang="en-US" dirty="0">
                <a:sym typeface="Symbol" pitchFamily="2" charset="2"/>
              </a:rPr>
              <a:t>如果无穷大，那么包含整个程序</a:t>
            </a:r>
          </a:p>
        </p:txBody>
      </p:sp>
    </p:spTree>
  </p:cSld>
  <p:clrMapOvr>
    <a:masterClrMapping/>
  </p:clrMapOvr>
  <p:transition spd="med">
    <p:zoom/>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3F9397B6-272D-D7CA-6F11-5C756524008E}"/>
              </a:ext>
            </a:extLst>
          </p:cNvPr>
          <p:cNvSpPr>
            <a:spLocks noGrp="1" noChangeArrowheads="1"/>
          </p:cNvSpPr>
          <p:nvPr>
            <p:ph type="title"/>
          </p:nvPr>
        </p:nvSpPr>
        <p:spPr>
          <a:xfrm>
            <a:off x="1042988" y="225431"/>
            <a:ext cx="7850187" cy="746125"/>
          </a:xfrm>
        </p:spPr>
        <p:txBody>
          <a:bodyPr/>
          <a:lstStyle/>
          <a:p>
            <a:r>
              <a:rPr lang="en-US" altLang="zh-CN" dirty="0"/>
              <a:t> </a:t>
            </a:r>
            <a:r>
              <a:rPr lang="zh-CN" altLang="en-US" dirty="0"/>
              <a:t>工作集模型</a:t>
            </a:r>
          </a:p>
        </p:txBody>
      </p:sp>
      <p:sp>
        <p:nvSpPr>
          <p:cNvPr id="388099" name="Rectangle 3">
            <a:extLst>
              <a:ext uri="{FF2B5EF4-FFF2-40B4-BE49-F238E27FC236}">
                <a16:creationId xmlns:a16="http://schemas.microsoft.com/office/drawing/2014/main" id="{A8567E86-8694-E6D0-A35A-8736E9C8B1AD}"/>
              </a:ext>
            </a:extLst>
          </p:cNvPr>
          <p:cNvSpPr>
            <a:spLocks noGrp="1" noChangeArrowheads="1"/>
          </p:cNvSpPr>
          <p:nvPr>
            <p:ph idx="1"/>
          </p:nvPr>
        </p:nvSpPr>
        <p:spPr>
          <a:xfrm>
            <a:off x="935038" y="1233488"/>
            <a:ext cx="7772400" cy="4895850"/>
          </a:xfrm>
        </p:spPr>
        <p:txBody>
          <a:bodyPr/>
          <a:lstStyle/>
          <a:p>
            <a:r>
              <a:rPr lang="zh-CN" altLang="en-US" dirty="0">
                <a:sym typeface="Symbol" pitchFamily="2" charset="2"/>
              </a:rPr>
              <a:t>操作系统跟踪每个进程的工作集，并为进程分配大于其工作集的帧数。</a:t>
            </a:r>
          </a:p>
          <a:p>
            <a:r>
              <a:rPr lang="zh-CN" altLang="en-US" dirty="0">
                <a:sym typeface="Symbol" pitchFamily="2" charset="2"/>
              </a:rPr>
              <a:t>如果还有空闲帧，那么可启动另一进程</a:t>
            </a:r>
          </a:p>
          <a:p>
            <a:r>
              <a:rPr lang="zh-CN" altLang="en-US" dirty="0">
                <a:sym typeface="Symbol" pitchFamily="2" charset="2"/>
              </a:rPr>
              <a:t>如果所有工作集之和的增加超过了可用帧的总数，则选择暂停一个进程。</a:t>
            </a:r>
          </a:p>
          <a:p>
            <a:r>
              <a:rPr lang="en-US" altLang="zh-CN" dirty="0">
                <a:sym typeface="Symbol" pitchFamily="2" charset="2"/>
              </a:rPr>
              <a:t>    </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8099">
                                            <p:txEl>
                                              <p:pRg st="0" end="0"/>
                                            </p:txEl>
                                          </p:spTgt>
                                        </p:tgtEl>
                                        <p:attrNameLst>
                                          <p:attrName>style.visibility</p:attrName>
                                        </p:attrNameLst>
                                      </p:cBhvr>
                                      <p:to>
                                        <p:strVal val="visible"/>
                                      </p:to>
                                    </p:set>
                                    <p:animEffect transition="in" filter="checkerboard(across)">
                                      <p:cBhvr>
                                        <p:cTn id="7" dur="500"/>
                                        <p:tgtEl>
                                          <p:spTgt spid="388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8099">
                                            <p:txEl>
                                              <p:pRg st="1" end="1"/>
                                            </p:txEl>
                                          </p:spTgt>
                                        </p:tgtEl>
                                        <p:attrNameLst>
                                          <p:attrName>style.visibility</p:attrName>
                                        </p:attrNameLst>
                                      </p:cBhvr>
                                      <p:to>
                                        <p:strVal val="visible"/>
                                      </p:to>
                                    </p:set>
                                    <p:animEffect transition="in" filter="checkerboard(across)">
                                      <p:cBhvr>
                                        <p:cTn id="12" dur="500"/>
                                        <p:tgtEl>
                                          <p:spTgt spid="388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8099">
                                            <p:txEl>
                                              <p:pRg st="2" end="2"/>
                                            </p:txEl>
                                          </p:spTgt>
                                        </p:tgtEl>
                                        <p:attrNameLst>
                                          <p:attrName>style.visibility</p:attrName>
                                        </p:attrNameLst>
                                      </p:cBhvr>
                                      <p:to>
                                        <p:strVal val="visible"/>
                                      </p:to>
                                    </p:set>
                                    <p:animEffect transition="in" filter="checkerboard(across)">
                                      <p:cBhvr>
                                        <p:cTn id="17" dur="500"/>
                                        <p:tgtEl>
                                          <p:spTgt spid="3880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88099">
                                            <p:txEl>
                                              <p:pRg st="3" end="3"/>
                                            </p:txEl>
                                          </p:spTgt>
                                        </p:tgtEl>
                                        <p:attrNameLst>
                                          <p:attrName>style.visibility</p:attrName>
                                        </p:attrNameLst>
                                      </p:cBhvr>
                                      <p:to>
                                        <p:strVal val="visible"/>
                                      </p:to>
                                    </p:set>
                                    <p:animEffect transition="in" filter="checkerboard(across)">
                                      <p:cBhvr>
                                        <p:cTn id="22" dur="500"/>
                                        <p:tgtEl>
                                          <p:spTgt spid="3880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uild="p"/>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D2EE274D-E2AD-D38A-5726-AAA2D6B925B0}"/>
              </a:ext>
            </a:extLst>
          </p:cNvPr>
          <p:cNvSpPr>
            <a:spLocks noGrp="1" noChangeArrowheads="1"/>
          </p:cNvSpPr>
          <p:nvPr>
            <p:ph type="title"/>
          </p:nvPr>
        </p:nvSpPr>
        <p:spPr/>
        <p:txBody>
          <a:bodyPr/>
          <a:lstStyle/>
          <a:p>
            <a:pPr eaLnBrk="1" hangingPunct="1"/>
            <a:r>
              <a:rPr lang="zh-CN" altLang="en-US" dirty="0"/>
              <a:t>抖动的发现</a:t>
            </a:r>
          </a:p>
        </p:txBody>
      </p:sp>
      <p:sp>
        <p:nvSpPr>
          <p:cNvPr id="93186" name="Rectangle 3">
            <a:extLst>
              <a:ext uri="{FF2B5EF4-FFF2-40B4-BE49-F238E27FC236}">
                <a16:creationId xmlns:a16="http://schemas.microsoft.com/office/drawing/2014/main" id="{980458C8-357F-AC5C-9CCB-D99E48003AFA}"/>
              </a:ext>
            </a:extLst>
          </p:cNvPr>
          <p:cNvSpPr>
            <a:spLocks noGrp="1" noChangeArrowheads="1"/>
          </p:cNvSpPr>
          <p:nvPr>
            <p:ph idx="1"/>
          </p:nvPr>
        </p:nvSpPr>
        <p:spPr>
          <a:xfrm>
            <a:off x="647700" y="1268413"/>
            <a:ext cx="8307388" cy="4535487"/>
          </a:xfrm>
        </p:spPr>
        <p:txBody>
          <a:bodyPr/>
          <a:lstStyle/>
          <a:p>
            <a:pPr eaLnBrk="1" hangingPunct="1"/>
            <a:r>
              <a:rPr lang="zh-CN" altLang="en-US"/>
              <a:t>抖动发生前会出现一些征兆，可利用这些征兆发现抖动并加以防范。这些技术有：</a:t>
            </a:r>
          </a:p>
          <a:p>
            <a:pPr lvl="1" eaLnBrk="1" hangingPunct="1"/>
            <a:r>
              <a:rPr lang="zh-CN" altLang="en-US"/>
              <a:t>全局范围技术</a:t>
            </a:r>
          </a:p>
          <a:p>
            <a:pPr lvl="1" eaLnBrk="1" hangingPunct="1"/>
            <a:r>
              <a:rPr lang="en-US" altLang="zh-CN"/>
              <a:t>L=S</a:t>
            </a:r>
            <a:r>
              <a:rPr lang="zh-CN" altLang="en-US"/>
              <a:t>准则</a:t>
            </a:r>
          </a:p>
          <a:p>
            <a:pPr lvl="1" eaLnBrk="1" hangingPunct="1"/>
            <a:r>
              <a:rPr lang="zh-CN" altLang="en-US"/>
              <a:t>利用缺页率发现抖动</a:t>
            </a:r>
          </a:p>
          <a:p>
            <a:pPr lvl="1" eaLnBrk="1" hangingPunct="1"/>
            <a:r>
              <a:rPr lang="zh-CN" altLang="en-US"/>
              <a:t>平均缺页频率</a:t>
            </a:r>
          </a:p>
        </p:txBody>
      </p:sp>
    </p:spTree>
  </p:cSld>
  <p:clrMapOvr>
    <a:masterClrMapping/>
  </p:clrMapOvr>
  <p:transition spd="med">
    <p:zoom/>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00A4E260-B308-6C31-3296-C7851B3755A0}"/>
              </a:ext>
            </a:extLst>
          </p:cNvPr>
          <p:cNvSpPr>
            <a:spLocks noGrp="1" noChangeArrowheads="1"/>
          </p:cNvSpPr>
          <p:nvPr>
            <p:ph type="title"/>
          </p:nvPr>
        </p:nvSpPr>
        <p:spPr>
          <a:xfrm>
            <a:off x="1042988" y="225431"/>
            <a:ext cx="7850187" cy="746125"/>
          </a:xfrm>
        </p:spPr>
        <p:txBody>
          <a:bodyPr/>
          <a:lstStyle/>
          <a:p>
            <a:r>
              <a:rPr lang="zh-CN" altLang="en-US" dirty="0"/>
              <a:t>全局范围技术</a:t>
            </a:r>
          </a:p>
        </p:txBody>
      </p:sp>
      <p:sp>
        <p:nvSpPr>
          <p:cNvPr id="94210" name="Rectangle 3">
            <a:extLst>
              <a:ext uri="{FF2B5EF4-FFF2-40B4-BE49-F238E27FC236}">
                <a16:creationId xmlns:a16="http://schemas.microsoft.com/office/drawing/2014/main" id="{406AED05-D144-A2F1-A9D3-8EF0632CDD9D}"/>
              </a:ext>
            </a:extLst>
          </p:cNvPr>
          <p:cNvSpPr>
            <a:spLocks noGrp="1" noChangeArrowheads="1"/>
          </p:cNvSpPr>
          <p:nvPr>
            <p:ph idx="1"/>
          </p:nvPr>
        </p:nvSpPr>
        <p:spPr>
          <a:xfrm>
            <a:off x="935038" y="1233488"/>
            <a:ext cx="7772400" cy="4895850"/>
          </a:xfrm>
        </p:spPr>
        <p:txBody>
          <a:bodyPr/>
          <a:lstStyle/>
          <a:p>
            <a:r>
              <a:rPr lang="zh-CN" altLang="en-US"/>
              <a:t>全局范围技术采用时钟置换算法，用一个计数器</a:t>
            </a:r>
            <a:r>
              <a:rPr lang="en-US" altLang="zh-CN"/>
              <a:t>C</a:t>
            </a:r>
            <a:r>
              <a:rPr lang="zh-CN" altLang="en-US"/>
              <a:t>记录搜索指针扫描页面缓冲的速度。</a:t>
            </a:r>
          </a:p>
          <a:p>
            <a:pPr lvl="1"/>
            <a:r>
              <a:rPr lang="zh-CN" altLang="en-US"/>
              <a:t>若</a:t>
            </a:r>
            <a:r>
              <a:rPr lang="en-US" altLang="zh-CN"/>
              <a:t>C</a:t>
            </a:r>
            <a:r>
              <a:rPr lang="zh-CN" altLang="en-US"/>
              <a:t>的值大于给定的上限值</a:t>
            </a:r>
            <a:r>
              <a:rPr lang="en-US" altLang="zh-CN"/>
              <a:t>，</a:t>
            </a:r>
            <a:r>
              <a:rPr lang="zh-CN" altLang="en-US"/>
              <a:t>说明缺页率太高（可能抖动）或找不到可供置换的页面，这时应减少程序道数。</a:t>
            </a:r>
          </a:p>
          <a:p>
            <a:pPr lvl="1"/>
            <a:r>
              <a:rPr lang="zh-CN" altLang="en-US"/>
              <a:t>若</a:t>
            </a:r>
            <a:r>
              <a:rPr lang="en-US" altLang="zh-CN"/>
              <a:t>C</a:t>
            </a:r>
            <a:r>
              <a:rPr lang="zh-CN" altLang="en-US"/>
              <a:t>小于给定的下限值，表明缺页率小或存在较多可供置换的页面，这时应增加程序的道数。</a:t>
            </a:r>
            <a:endParaRPr lang="en-US" altLang="zh-CN"/>
          </a:p>
        </p:txBody>
      </p:sp>
    </p:spTree>
  </p:cSld>
  <p:clrMapOvr>
    <a:masterClrMapping/>
  </p:clrMapOvr>
  <p:transition spd="med">
    <p:zoom/>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6A917E6F-0BE9-135D-DFF2-85B97CAF756A}"/>
              </a:ext>
            </a:extLst>
          </p:cNvPr>
          <p:cNvSpPr>
            <a:spLocks noGrp="1" noChangeArrowheads="1"/>
          </p:cNvSpPr>
          <p:nvPr>
            <p:ph type="title"/>
          </p:nvPr>
        </p:nvSpPr>
        <p:spPr>
          <a:xfrm>
            <a:off x="1042988" y="225431"/>
            <a:ext cx="7850187" cy="746125"/>
          </a:xfrm>
        </p:spPr>
        <p:txBody>
          <a:bodyPr/>
          <a:lstStyle/>
          <a:p>
            <a:r>
              <a:rPr lang="en-US" altLang="zh-CN" dirty="0"/>
              <a:t>L=S</a:t>
            </a:r>
            <a:r>
              <a:rPr lang="zh-CN" altLang="en-US" dirty="0"/>
              <a:t>准则</a:t>
            </a:r>
          </a:p>
        </p:txBody>
      </p:sp>
      <p:sp>
        <p:nvSpPr>
          <p:cNvPr id="95234" name="Rectangle 3">
            <a:extLst>
              <a:ext uri="{FF2B5EF4-FFF2-40B4-BE49-F238E27FC236}">
                <a16:creationId xmlns:a16="http://schemas.microsoft.com/office/drawing/2014/main" id="{01505DDE-BB1B-30CB-4ED9-73B45C43456C}"/>
              </a:ext>
            </a:extLst>
          </p:cNvPr>
          <p:cNvSpPr>
            <a:spLocks noGrp="1" noChangeArrowheads="1"/>
          </p:cNvSpPr>
          <p:nvPr>
            <p:ph idx="1"/>
          </p:nvPr>
        </p:nvSpPr>
        <p:spPr>
          <a:xfrm>
            <a:off x="935038" y="1233488"/>
            <a:ext cx="7772400" cy="4895850"/>
          </a:xfrm>
        </p:spPr>
        <p:txBody>
          <a:bodyPr/>
          <a:lstStyle/>
          <a:p>
            <a:r>
              <a:rPr lang="zh-CN" altLang="en-US"/>
              <a:t>实际证明，产生缺页的平均时间</a:t>
            </a:r>
            <a:r>
              <a:rPr lang="en-US" altLang="zh-CN"/>
              <a:t>L</a:t>
            </a:r>
            <a:r>
              <a:rPr lang="zh-CN" altLang="en-US"/>
              <a:t>等于系统处理缺页的平均时间</a:t>
            </a:r>
            <a:r>
              <a:rPr lang="en-US" altLang="zh-CN"/>
              <a:t>S</a:t>
            </a:r>
            <a:r>
              <a:rPr lang="zh-CN" altLang="en-US"/>
              <a:t>时，</a:t>
            </a:r>
            <a:r>
              <a:rPr lang="en-US" altLang="zh-CN"/>
              <a:t>CPU</a:t>
            </a:r>
            <a:r>
              <a:rPr lang="zh-CN" altLang="en-US"/>
              <a:t>的利用率达到最大。</a:t>
            </a:r>
          </a:p>
          <a:p>
            <a:r>
              <a:rPr lang="zh-CN" altLang="en-US"/>
              <a:t>当</a:t>
            </a:r>
            <a:r>
              <a:rPr lang="en-US" altLang="zh-CN"/>
              <a:t>L&lt;S</a:t>
            </a:r>
            <a:r>
              <a:rPr lang="zh-CN" altLang="en-US"/>
              <a:t>时，表明系统频繁缺页，</a:t>
            </a:r>
            <a:r>
              <a:rPr lang="en-US" altLang="zh-CN"/>
              <a:t>CPU</a:t>
            </a:r>
            <a:r>
              <a:rPr lang="zh-CN" altLang="en-US"/>
              <a:t>利用率低，会导致系统抖动。</a:t>
            </a:r>
          </a:p>
        </p:txBody>
      </p:sp>
    </p:spTree>
  </p:cSld>
  <p:clrMapOvr>
    <a:masterClrMapping/>
  </p:clrMapOvr>
  <p:transition spd="med">
    <p:zoom/>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7823B547-CC3F-2272-7246-F0A545ECC1BA}"/>
              </a:ext>
            </a:extLst>
          </p:cNvPr>
          <p:cNvSpPr>
            <a:spLocks noGrp="1" noChangeArrowheads="1"/>
          </p:cNvSpPr>
          <p:nvPr>
            <p:ph type="title"/>
          </p:nvPr>
        </p:nvSpPr>
        <p:spPr>
          <a:xfrm>
            <a:off x="1042988" y="225431"/>
            <a:ext cx="7850187" cy="746125"/>
          </a:xfrm>
        </p:spPr>
        <p:txBody>
          <a:bodyPr/>
          <a:lstStyle/>
          <a:p>
            <a:r>
              <a:rPr lang="zh-CN" altLang="en-US" dirty="0"/>
              <a:t>利用缺页率发现抖动</a:t>
            </a:r>
          </a:p>
        </p:txBody>
      </p:sp>
      <p:sp>
        <p:nvSpPr>
          <p:cNvPr id="96258" name="Rectangle 3">
            <a:extLst>
              <a:ext uri="{FF2B5EF4-FFF2-40B4-BE49-F238E27FC236}">
                <a16:creationId xmlns:a16="http://schemas.microsoft.com/office/drawing/2014/main" id="{03E5CBFF-3317-C66F-2040-182FCC5146AC}"/>
              </a:ext>
            </a:extLst>
          </p:cNvPr>
          <p:cNvSpPr>
            <a:spLocks noGrp="1" noChangeArrowheads="1"/>
          </p:cNvSpPr>
          <p:nvPr>
            <p:ph idx="1"/>
          </p:nvPr>
        </p:nvSpPr>
        <p:spPr>
          <a:xfrm>
            <a:off x="935038" y="1233489"/>
            <a:ext cx="7772400" cy="2336430"/>
          </a:xfrm>
        </p:spPr>
        <p:txBody>
          <a:bodyPr>
            <a:normAutofit fontScale="85000" lnSpcReduction="10000"/>
          </a:bodyPr>
          <a:lstStyle/>
          <a:p>
            <a:r>
              <a:rPr lang="zh-CN" altLang="en-US" dirty="0"/>
              <a:t>下图是缺页率与进程分得物理块数之间的关系。当缺页率超过上限时会引起抖动，因此应增加分配给进程的物理块；此时每增加一个物理块，其缺页率明显降低；当进程缺页率达到下限值时，物理块的进一步增加对进程缺页率的影响不大。</a:t>
            </a:r>
          </a:p>
        </p:txBody>
      </p:sp>
      <p:pic>
        <p:nvPicPr>
          <p:cNvPr id="96259" name="Picture 19">
            <a:extLst>
              <a:ext uri="{FF2B5EF4-FFF2-40B4-BE49-F238E27FC236}">
                <a16:creationId xmlns:a16="http://schemas.microsoft.com/office/drawing/2014/main" id="{AE2C6C3F-EF26-E305-91AB-83115E31F6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80" t="18047" r="580" b="18515"/>
          <a:stretch>
            <a:fillRect/>
          </a:stretch>
        </p:blipFill>
        <p:spPr bwMode="auto">
          <a:xfrm>
            <a:off x="1606573" y="3537691"/>
            <a:ext cx="6209669" cy="2964109"/>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70DE2F72-9D01-43CB-1732-9701BD955765}"/>
              </a:ext>
            </a:extLst>
          </p:cNvPr>
          <p:cNvSpPr>
            <a:spLocks noGrp="1" noChangeArrowheads="1"/>
          </p:cNvSpPr>
          <p:nvPr>
            <p:ph type="title"/>
          </p:nvPr>
        </p:nvSpPr>
        <p:spPr>
          <a:xfrm>
            <a:off x="1042988" y="225431"/>
            <a:ext cx="7850187" cy="746125"/>
          </a:xfrm>
        </p:spPr>
        <p:txBody>
          <a:bodyPr/>
          <a:lstStyle/>
          <a:p>
            <a:r>
              <a:rPr lang="zh-CN" altLang="en-US"/>
              <a:t>缺页率算法</a:t>
            </a:r>
          </a:p>
        </p:txBody>
      </p:sp>
      <p:sp>
        <p:nvSpPr>
          <p:cNvPr id="247811" name="Rectangle 3">
            <a:extLst>
              <a:ext uri="{FF2B5EF4-FFF2-40B4-BE49-F238E27FC236}">
                <a16:creationId xmlns:a16="http://schemas.microsoft.com/office/drawing/2014/main" id="{8532478D-6C4E-822A-D1B2-553F91B315A6}"/>
              </a:ext>
            </a:extLst>
          </p:cNvPr>
          <p:cNvSpPr>
            <a:spLocks noGrp="1" noChangeArrowheads="1"/>
          </p:cNvSpPr>
          <p:nvPr>
            <p:ph idx="1"/>
          </p:nvPr>
        </p:nvSpPr>
        <p:spPr>
          <a:xfrm>
            <a:off x="935038" y="1233488"/>
            <a:ext cx="7772400" cy="4895850"/>
          </a:xfrm>
        </p:spPr>
        <p:txBody>
          <a:bodyPr>
            <a:normAutofit fontScale="92500"/>
          </a:bodyPr>
          <a:lstStyle/>
          <a:p>
            <a:r>
              <a:rPr lang="zh-CN" altLang="en-US"/>
              <a:t>缺页率算法是一种直接的控制抖动方法。该方法要求为每页设一个使用位，当该页被访问时，相应位置1。同时设计一个计数器，记录自上次进程产生缺页以来进程执行的时间。</a:t>
            </a:r>
          </a:p>
          <a:p>
            <a:r>
              <a:rPr lang="zh-CN" altLang="en-US"/>
              <a:t>方法1：设置一个阈值</a:t>
            </a:r>
            <a:r>
              <a:rPr lang="en-US" altLang="zh-CN"/>
              <a:t>F，</a:t>
            </a:r>
            <a:r>
              <a:rPr lang="zh-CN" altLang="en-US"/>
              <a:t>如最近两次缺页时间间隔小于</a:t>
            </a:r>
            <a:r>
              <a:rPr lang="en-US" altLang="zh-CN"/>
              <a:t>F，</a:t>
            </a:r>
            <a:r>
              <a:rPr lang="zh-CN" altLang="en-US"/>
              <a:t>则分配一个物理块给该进程；否则淘汰使用位为0的页，并减少该进程的物理块数，同时将该进程的剩余页使用位重置为0。</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47811">
                                            <p:txEl>
                                              <p:pRg st="0" end="0"/>
                                            </p:txEl>
                                          </p:spTgt>
                                        </p:tgtEl>
                                        <p:attrNameLst>
                                          <p:attrName>style.visibility</p:attrName>
                                        </p:attrNameLst>
                                      </p:cBhvr>
                                      <p:to>
                                        <p:strVal val="visible"/>
                                      </p:to>
                                    </p:set>
                                    <p:animEffect transition="in" filter="checkerboard(across)">
                                      <p:cBhvr>
                                        <p:cTn id="7" dur="500"/>
                                        <p:tgtEl>
                                          <p:spTgt spid="2478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47811">
                                            <p:txEl>
                                              <p:pRg st="1" end="1"/>
                                            </p:txEl>
                                          </p:spTgt>
                                        </p:tgtEl>
                                        <p:attrNameLst>
                                          <p:attrName>style.visibility</p:attrName>
                                        </p:attrNameLst>
                                      </p:cBhvr>
                                      <p:to>
                                        <p:strVal val="visible"/>
                                      </p:to>
                                    </p:set>
                                    <p:animEffect transition="in" filter="checkerboard(across)">
                                      <p:cBhvr>
                                        <p:cTn id="12" dur="500"/>
                                        <p:tgtEl>
                                          <p:spTgt spid="2478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build="p"/>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53D393B8-E615-0C8D-986B-21C95EB5C17D}"/>
              </a:ext>
            </a:extLst>
          </p:cNvPr>
          <p:cNvSpPr>
            <a:spLocks noGrp="1" noChangeArrowheads="1"/>
          </p:cNvSpPr>
          <p:nvPr>
            <p:ph type="title"/>
          </p:nvPr>
        </p:nvSpPr>
        <p:spPr>
          <a:xfrm>
            <a:off x="1042988" y="225431"/>
            <a:ext cx="7850187" cy="746125"/>
          </a:xfrm>
        </p:spPr>
        <p:txBody>
          <a:bodyPr/>
          <a:lstStyle/>
          <a:p>
            <a:r>
              <a:rPr lang="zh-CN" altLang="en-US" dirty="0"/>
              <a:t>缺页率算法</a:t>
            </a:r>
          </a:p>
        </p:txBody>
      </p:sp>
      <p:sp>
        <p:nvSpPr>
          <p:cNvPr id="248835" name="Rectangle 3">
            <a:extLst>
              <a:ext uri="{FF2B5EF4-FFF2-40B4-BE49-F238E27FC236}">
                <a16:creationId xmlns:a16="http://schemas.microsoft.com/office/drawing/2014/main" id="{F1668778-26A0-D7BD-2F59-90D6AAEA1003}"/>
              </a:ext>
            </a:extLst>
          </p:cNvPr>
          <p:cNvSpPr>
            <a:spLocks noGrp="1" noChangeArrowheads="1"/>
          </p:cNvSpPr>
          <p:nvPr>
            <p:ph idx="1"/>
          </p:nvPr>
        </p:nvSpPr>
        <p:spPr>
          <a:xfrm>
            <a:off x="935038" y="1233488"/>
            <a:ext cx="7772400" cy="4895850"/>
          </a:xfrm>
        </p:spPr>
        <p:txBody>
          <a:bodyPr/>
          <a:lstStyle/>
          <a:p>
            <a:r>
              <a:rPr lang="zh-CN" altLang="en-US"/>
              <a:t>方法2：设置两个阈值，当缺页率达到上限值时为进程增加物理块，当缺页率达到下限值时减少进程的物理块。</a:t>
            </a:r>
          </a:p>
          <a:p>
            <a:r>
              <a:rPr lang="zh-CN" altLang="en-US"/>
              <a:t>缺页率算法的缺点：当进程由一个局部转移到另一个局部时，在原局部中的页面未移出内存之前，连续的缺页会导致该进程在内存的页面迅速增加，产生对内存请求的高峰。</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48835">
                                            <p:txEl>
                                              <p:pRg st="0" end="0"/>
                                            </p:txEl>
                                          </p:spTgt>
                                        </p:tgtEl>
                                        <p:attrNameLst>
                                          <p:attrName>style.visibility</p:attrName>
                                        </p:attrNameLst>
                                      </p:cBhvr>
                                      <p:to>
                                        <p:strVal val="visible"/>
                                      </p:to>
                                    </p:set>
                                    <p:animEffect transition="in" filter="checkerboard(across)">
                                      <p:cBhvr>
                                        <p:cTn id="7" dur="500"/>
                                        <p:tgtEl>
                                          <p:spTgt spid="248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48835">
                                            <p:txEl>
                                              <p:pRg st="1" end="1"/>
                                            </p:txEl>
                                          </p:spTgt>
                                        </p:tgtEl>
                                        <p:attrNameLst>
                                          <p:attrName>style.visibility</p:attrName>
                                        </p:attrNameLst>
                                      </p:cBhvr>
                                      <p:to>
                                        <p:strVal val="visible"/>
                                      </p:to>
                                    </p:set>
                                    <p:animEffect transition="in" filter="checkerboard(across)">
                                      <p:cBhvr>
                                        <p:cTn id="12" dur="500"/>
                                        <p:tgtEl>
                                          <p:spTgt spid="2488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5" grpId="0" build="p"/>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EE14039A-DFA4-5D41-50A4-96C6D4DAA66E}"/>
              </a:ext>
            </a:extLst>
          </p:cNvPr>
          <p:cNvSpPr>
            <a:spLocks noGrp="1" noChangeArrowheads="1"/>
          </p:cNvSpPr>
          <p:nvPr>
            <p:ph type="title"/>
          </p:nvPr>
        </p:nvSpPr>
        <p:spPr/>
        <p:txBody>
          <a:bodyPr/>
          <a:lstStyle/>
          <a:p>
            <a:pPr eaLnBrk="1" hangingPunct="1"/>
            <a:r>
              <a:rPr lang="zh-CN" altLang="en-US"/>
              <a:t>平均缺页频率</a:t>
            </a:r>
            <a:endParaRPr lang="zh-CN" altLang="en-US" dirty="0"/>
          </a:p>
        </p:txBody>
      </p:sp>
      <p:sp>
        <p:nvSpPr>
          <p:cNvPr id="99330" name="Rectangle 3">
            <a:extLst>
              <a:ext uri="{FF2B5EF4-FFF2-40B4-BE49-F238E27FC236}">
                <a16:creationId xmlns:a16="http://schemas.microsoft.com/office/drawing/2014/main" id="{3D221454-21F6-FD16-0AC5-0966C7CBC64C}"/>
              </a:ext>
            </a:extLst>
          </p:cNvPr>
          <p:cNvSpPr>
            <a:spLocks noGrp="1" noChangeArrowheads="1"/>
          </p:cNvSpPr>
          <p:nvPr>
            <p:ph idx="1"/>
          </p:nvPr>
        </p:nvSpPr>
        <p:spPr>
          <a:xfrm>
            <a:off x="611188" y="1341438"/>
            <a:ext cx="8343900" cy="4114800"/>
          </a:xfrm>
        </p:spPr>
        <p:txBody>
          <a:bodyPr/>
          <a:lstStyle/>
          <a:p>
            <a:pPr eaLnBrk="1" hangingPunct="1"/>
            <a:r>
              <a:rPr lang="zh-CN" altLang="en-US"/>
              <a:t>设</a:t>
            </a:r>
            <a:r>
              <a:rPr lang="en-US" altLang="zh-CN"/>
              <a:t>t</a:t>
            </a:r>
            <a:r>
              <a:rPr lang="en-US" altLang="zh-CN" baseline="-25000"/>
              <a:t>i</a:t>
            </a:r>
            <a:r>
              <a:rPr lang="zh-CN" altLang="en-US"/>
              <a:t>为两次缺页之间的间隔时间，</a:t>
            </a:r>
            <a:r>
              <a:rPr lang="en-US" altLang="zh-CN"/>
              <a:t>f</a:t>
            </a:r>
            <a:r>
              <a:rPr lang="en-US" altLang="zh-CN" baseline="-25000"/>
              <a:t>i</a:t>
            </a:r>
            <a:r>
              <a:rPr lang="zh-CN" altLang="en-US"/>
              <a:t>为其缺页频率，则有： </a:t>
            </a:r>
            <a:r>
              <a:rPr lang="en-US" altLang="zh-CN"/>
              <a:t>f</a:t>
            </a:r>
            <a:r>
              <a:rPr lang="en-US" altLang="zh-CN" baseline="-25000"/>
              <a:t>i</a:t>
            </a:r>
            <a:r>
              <a:rPr lang="zh-CN" altLang="en-US"/>
              <a:t>= 1/</a:t>
            </a:r>
            <a:r>
              <a:rPr lang="en-US" altLang="zh-CN"/>
              <a:t>t</a:t>
            </a:r>
            <a:r>
              <a:rPr lang="en-US" altLang="zh-CN" baseline="-25000"/>
              <a:t>i</a:t>
            </a:r>
          </a:p>
          <a:p>
            <a:pPr eaLnBrk="1" hangingPunct="1"/>
            <a:r>
              <a:rPr lang="zh-CN" altLang="en-US"/>
              <a:t>设</a:t>
            </a:r>
            <a:r>
              <a:rPr lang="en-US" altLang="zh-CN"/>
              <a:t>F</a:t>
            </a:r>
            <a:r>
              <a:rPr lang="zh-CN" altLang="en-US"/>
              <a:t>为平均缺页频率，则有：</a:t>
            </a:r>
          </a:p>
          <a:p>
            <a:pPr lvl="1" eaLnBrk="1" hangingPunct="1"/>
            <a:r>
              <a:rPr lang="en-US" altLang="zh-CN"/>
              <a:t> F=（ f</a:t>
            </a:r>
            <a:r>
              <a:rPr lang="en-US" altLang="zh-CN" baseline="-25000"/>
              <a:t>1</a:t>
            </a:r>
            <a:r>
              <a:rPr lang="zh-CN" altLang="en-US"/>
              <a:t>+</a:t>
            </a:r>
            <a:r>
              <a:rPr lang="en-US" altLang="zh-CN"/>
              <a:t>f</a:t>
            </a:r>
            <a:r>
              <a:rPr lang="en-US" altLang="zh-CN" baseline="-25000"/>
              <a:t>2</a:t>
            </a:r>
            <a:r>
              <a:rPr lang="zh-CN" altLang="en-US"/>
              <a:t>+</a:t>
            </a:r>
            <a:r>
              <a:rPr lang="zh-CN" altLang="en-US">
                <a:latin typeface="Times New Roman" panose="02020603050405020304" pitchFamily="18" charset="0"/>
              </a:rPr>
              <a:t>…</a:t>
            </a:r>
            <a:r>
              <a:rPr lang="zh-CN" altLang="en-US"/>
              <a:t>+</a:t>
            </a:r>
            <a:r>
              <a:rPr lang="en-US" altLang="zh-CN"/>
              <a:t>f</a:t>
            </a:r>
            <a:r>
              <a:rPr lang="en-US" altLang="zh-CN" baseline="-25000"/>
              <a:t>n</a:t>
            </a:r>
            <a:r>
              <a:rPr lang="zh-CN" altLang="en-US"/>
              <a:t>）/</a:t>
            </a:r>
            <a:r>
              <a:rPr lang="en-US" altLang="zh-CN"/>
              <a:t>n</a:t>
            </a:r>
          </a:p>
          <a:p>
            <a:pPr eaLnBrk="1" hangingPunct="1"/>
            <a:r>
              <a:rPr lang="zh-CN" altLang="en-US"/>
              <a:t>当</a:t>
            </a:r>
            <a:r>
              <a:rPr lang="en-US" altLang="zh-CN"/>
              <a:t>F</a:t>
            </a:r>
            <a:r>
              <a:rPr lang="zh-CN" altLang="en-US"/>
              <a:t>大于系统中规定的允许缺页频率时，则说明系统中缺页率过高，有可能引起抖动。</a:t>
            </a:r>
            <a:endParaRPr lang="en-US" altLang="zh-CN"/>
          </a:p>
        </p:txBody>
      </p:sp>
    </p:spTree>
  </p:cSld>
  <p:clrMapOvr>
    <a:masterClrMapping/>
  </p:clrMapOvr>
  <p:transition spd="med">
    <p:zoom/>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429BE116-8304-67DD-0221-31CBB9F3F1D4}"/>
              </a:ext>
            </a:extLst>
          </p:cNvPr>
          <p:cNvSpPr>
            <a:spLocks noGrp="1" noChangeArrowheads="1"/>
          </p:cNvSpPr>
          <p:nvPr>
            <p:ph type="title"/>
          </p:nvPr>
        </p:nvSpPr>
        <p:spPr>
          <a:xfrm>
            <a:off x="1042988" y="225431"/>
            <a:ext cx="7850187" cy="746125"/>
          </a:xfrm>
        </p:spPr>
        <p:txBody>
          <a:bodyPr/>
          <a:lstStyle/>
          <a:p>
            <a:r>
              <a:rPr lang="zh-CN" altLang="en-US"/>
              <a:t>抖动的预防及解除</a:t>
            </a:r>
          </a:p>
        </p:txBody>
      </p:sp>
      <p:sp>
        <p:nvSpPr>
          <p:cNvPr id="250883" name="Rectangle 3">
            <a:extLst>
              <a:ext uri="{FF2B5EF4-FFF2-40B4-BE49-F238E27FC236}">
                <a16:creationId xmlns:a16="http://schemas.microsoft.com/office/drawing/2014/main" id="{BAC72CC0-5AD9-B3A1-ECEA-E2D8E9D19272}"/>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a:t>采用局部置换策略可以防止抖动传播</a:t>
            </a:r>
          </a:p>
          <a:p>
            <a:r>
              <a:rPr lang="zh-CN" altLang="en-US"/>
              <a:t>利用工作集模型防止抖动：给进程分配工作集所需的物理块。</a:t>
            </a:r>
          </a:p>
          <a:p>
            <a:r>
              <a:rPr lang="zh-CN" altLang="en-US"/>
              <a:t>挂起进程来解决抖动。</a:t>
            </a:r>
          </a:p>
          <a:p>
            <a:r>
              <a:rPr lang="zh-CN" altLang="en-US"/>
              <a:t>选择挂起进程的条件</a:t>
            </a:r>
          </a:p>
          <a:p>
            <a:pPr lvl="1"/>
            <a:r>
              <a:rPr lang="zh-CN" altLang="en-US"/>
              <a:t>优先级最低：符合进程调度原则</a:t>
            </a:r>
          </a:p>
          <a:p>
            <a:pPr lvl="1"/>
            <a:r>
              <a:rPr lang="zh-CN" altLang="en-US"/>
              <a:t>发生缺页中断的进程：内存不含工作集，缺页时应阻塞</a:t>
            </a:r>
          </a:p>
          <a:p>
            <a:pPr lvl="1"/>
            <a:r>
              <a:rPr lang="zh-CN" altLang="en-US"/>
              <a:t>最后被激活的进程：工作集可能不在内存</a:t>
            </a:r>
          </a:p>
          <a:p>
            <a:pPr lvl="1"/>
            <a:r>
              <a:rPr lang="zh-CN" altLang="en-US"/>
              <a:t>最大的进程：可释放较多空间</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50883">
                                            <p:txEl>
                                              <p:pRg st="0" end="0"/>
                                            </p:txEl>
                                          </p:spTgt>
                                        </p:tgtEl>
                                        <p:attrNameLst>
                                          <p:attrName>style.visibility</p:attrName>
                                        </p:attrNameLst>
                                      </p:cBhvr>
                                      <p:to>
                                        <p:strVal val="visible"/>
                                      </p:to>
                                    </p:set>
                                    <p:animEffect transition="in" filter="checkerboard(across)">
                                      <p:cBhvr>
                                        <p:cTn id="7" dur="500"/>
                                        <p:tgtEl>
                                          <p:spTgt spid="2508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50883">
                                            <p:txEl>
                                              <p:pRg st="1" end="1"/>
                                            </p:txEl>
                                          </p:spTgt>
                                        </p:tgtEl>
                                        <p:attrNameLst>
                                          <p:attrName>style.visibility</p:attrName>
                                        </p:attrNameLst>
                                      </p:cBhvr>
                                      <p:to>
                                        <p:strVal val="visible"/>
                                      </p:to>
                                    </p:set>
                                    <p:animEffect transition="in" filter="checkerboard(across)">
                                      <p:cBhvr>
                                        <p:cTn id="12" dur="500"/>
                                        <p:tgtEl>
                                          <p:spTgt spid="2508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50883">
                                            <p:txEl>
                                              <p:pRg st="2" end="2"/>
                                            </p:txEl>
                                          </p:spTgt>
                                        </p:tgtEl>
                                        <p:attrNameLst>
                                          <p:attrName>style.visibility</p:attrName>
                                        </p:attrNameLst>
                                      </p:cBhvr>
                                      <p:to>
                                        <p:strVal val="visible"/>
                                      </p:to>
                                    </p:set>
                                    <p:animEffect transition="in" filter="checkerboard(across)">
                                      <p:cBhvr>
                                        <p:cTn id="17" dur="500"/>
                                        <p:tgtEl>
                                          <p:spTgt spid="2508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50883">
                                            <p:txEl>
                                              <p:pRg st="3" end="3"/>
                                            </p:txEl>
                                          </p:spTgt>
                                        </p:tgtEl>
                                        <p:attrNameLst>
                                          <p:attrName>style.visibility</p:attrName>
                                        </p:attrNameLst>
                                      </p:cBhvr>
                                      <p:to>
                                        <p:strVal val="visible"/>
                                      </p:to>
                                    </p:set>
                                    <p:animEffect transition="in" filter="checkerboard(across)">
                                      <p:cBhvr>
                                        <p:cTn id="22" dur="500"/>
                                        <p:tgtEl>
                                          <p:spTgt spid="25088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50883">
                                            <p:txEl>
                                              <p:pRg st="4" end="4"/>
                                            </p:txEl>
                                          </p:spTgt>
                                        </p:tgtEl>
                                        <p:attrNameLst>
                                          <p:attrName>style.visibility</p:attrName>
                                        </p:attrNameLst>
                                      </p:cBhvr>
                                      <p:to>
                                        <p:strVal val="visible"/>
                                      </p:to>
                                    </p:set>
                                    <p:animEffect transition="in" filter="checkerboard(across)">
                                      <p:cBhvr>
                                        <p:cTn id="27" dur="500"/>
                                        <p:tgtEl>
                                          <p:spTgt spid="25088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50883">
                                            <p:txEl>
                                              <p:pRg st="5" end="5"/>
                                            </p:txEl>
                                          </p:spTgt>
                                        </p:tgtEl>
                                        <p:attrNameLst>
                                          <p:attrName>style.visibility</p:attrName>
                                        </p:attrNameLst>
                                      </p:cBhvr>
                                      <p:to>
                                        <p:strVal val="visible"/>
                                      </p:to>
                                    </p:set>
                                    <p:animEffect transition="in" filter="checkerboard(across)">
                                      <p:cBhvr>
                                        <p:cTn id="32" dur="500"/>
                                        <p:tgtEl>
                                          <p:spTgt spid="25088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50883">
                                            <p:txEl>
                                              <p:pRg st="6" end="6"/>
                                            </p:txEl>
                                          </p:spTgt>
                                        </p:tgtEl>
                                        <p:attrNameLst>
                                          <p:attrName>style.visibility</p:attrName>
                                        </p:attrNameLst>
                                      </p:cBhvr>
                                      <p:to>
                                        <p:strVal val="visible"/>
                                      </p:to>
                                    </p:set>
                                    <p:animEffect transition="in" filter="checkerboard(across)">
                                      <p:cBhvr>
                                        <p:cTn id="37" dur="500"/>
                                        <p:tgtEl>
                                          <p:spTgt spid="25088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250883">
                                            <p:txEl>
                                              <p:pRg st="7" end="7"/>
                                            </p:txEl>
                                          </p:spTgt>
                                        </p:tgtEl>
                                        <p:attrNameLst>
                                          <p:attrName>style.visibility</p:attrName>
                                        </p:attrNameLst>
                                      </p:cBhvr>
                                      <p:to>
                                        <p:strVal val="visible"/>
                                      </p:to>
                                    </p:set>
                                    <p:animEffect transition="in" filter="checkerboard(across)">
                                      <p:cBhvr>
                                        <p:cTn id="42" dur="500"/>
                                        <p:tgtEl>
                                          <p:spTgt spid="2508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6939FB6A-2432-0B2A-1253-E9D543B2EC37}"/>
              </a:ext>
            </a:extLst>
          </p:cNvPr>
          <p:cNvSpPr>
            <a:spLocks noGrp="1" noChangeArrowheads="1"/>
          </p:cNvSpPr>
          <p:nvPr>
            <p:ph type="title"/>
          </p:nvPr>
        </p:nvSpPr>
        <p:spPr>
          <a:xfrm>
            <a:off x="1042988" y="225431"/>
            <a:ext cx="7850187" cy="746125"/>
          </a:xfrm>
        </p:spPr>
        <p:txBody>
          <a:bodyPr/>
          <a:lstStyle/>
          <a:p>
            <a:r>
              <a:rPr lang="zh-CN" altLang="en-US" dirty="0"/>
              <a:t>其他考虑</a:t>
            </a:r>
          </a:p>
        </p:txBody>
      </p:sp>
      <p:sp>
        <p:nvSpPr>
          <p:cNvPr id="101378" name="Rectangle 3">
            <a:extLst>
              <a:ext uri="{FF2B5EF4-FFF2-40B4-BE49-F238E27FC236}">
                <a16:creationId xmlns:a16="http://schemas.microsoft.com/office/drawing/2014/main" id="{97BEE434-BD9E-6201-1ECF-5C920DB033B2}"/>
              </a:ext>
            </a:extLst>
          </p:cNvPr>
          <p:cNvSpPr>
            <a:spLocks noGrp="1" noChangeArrowheads="1"/>
          </p:cNvSpPr>
          <p:nvPr>
            <p:ph idx="1"/>
          </p:nvPr>
        </p:nvSpPr>
        <p:spPr>
          <a:xfrm>
            <a:off x="935038" y="1233488"/>
            <a:ext cx="7772400" cy="4895850"/>
          </a:xfrm>
        </p:spPr>
        <p:txBody>
          <a:bodyPr/>
          <a:lstStyle/>
          <a:p>
            <a:r>
              <a:rPr lang="zh-CN" altLang="en-US" dirty="0"/>
              <a:t>置换算法及分配策略的选择是调页系统的主要问题</a:t>
            </a:r>
          </a:p>
          <a:p>
            <a:r>
              <a:rPr lang="zh-CN" altLang="en-US" dirty="0"/>
              <a:t>然而还有其他一些问题要考虑</a:t>
            </a:r>
          </a:p>
        </p:txBody>
      </p:sp>
    </p:spTree>
  </p:cSld>
  <p:clrMapOvr>
    <a:masterClrMapping/>
  </p:clrMapOvr>
  <p:transition spd="med">
    <p:zoom/>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5F3B2BA5-727C-1F66-3C91-C705C77BDC97}"/>
              </a:ext>
            </a:extLst>
          </p:cNvPr>
          <p:cNvSpPr>
            <a:spLocks noGrp="1" noChangeArrowheads="1"/>
          </p:cNvSpPr>
          <p:nvPr>
            <p:ph type="title"/>
          </p:nvPr>
        </p:nvSpPr>
        <p:spPr>
          <a:xfrm>
            <a:off x="1042988" y="225431"/>
            <a:ext cx="7850187" cy="746125"/>
          </a:xfrm>
        </p:spPr>
        <p:txBody>
          <a:bodyPr/>
          <a:lstStyle/>
          <a:p>
            <a:r>
              <a:rPr lang="zh-CN" altLang="en-US" dirty="0"/>
              <a:t>预调页</a:t>
            </a:r>
          </a:p>
        </p:txBody>
      </p:sp>
      <p:sp>
        <p:nvSpPr>
          <p:cNvPr id="102402" name="Rectangle 3">
            <a:extLst>
              <a:ext uri="{FF2B5EF4-FFF2-40B4-BE49-F238E27FC236}">
                <a16:creationId xmlns:a16="http://schemas.microsoft.com/office/drawing/2014/main" id="{DA7C4F05-DB35-66B1-81EF-64F1CB2659A7}"/>
              </a:ext>
            </a:extLst>
          </p:cNvPr>
          <p:cNvSpPr>
            <a:spLocks noGrp="1" noChangeArrowheads="1"/>
          </p:cNvSpPr>
          <p:nvPr>
            <p:ph idx="1"/>
          </p:nvPr>
        </p:nvSpPr>
        <p:spPr>
          <a:xfrm>
            <a:off x="935038" y="1233488"/>
            <a:ext cx="7772400" cy="4895850"/>
          </a:xfrm>
        </p:spPr>
        <p:txBody>
          <a:bodyPr>
            <a:normAutofit/>
          </a:bodyPr>
          <a:lstStyle/>
          <a:p>
            <a:r>
              <a:rPr lang="zh-CN" altLang="en-US" dirty="0"/>
              <a:t>预调页：将需要的所有页一起调入内存。</a:t>
            </a:r>
          </a:p>
          <a:p>
            <a:pPr lvl="1"/>
            <a:r>
              <a:rPr lang="zh-CN" altLang="en-US" dirty="0"/>
              <a:t>减少进程启动时发生的大量页面错误</a:t>
            </a:r>
          </a:p>
          <a:p>
            <a:pPr lvl="1"/>
            <a:r>
              <a:rPr lang="zh-CN" altLang="en-US" dirty="0"/>
              <a:t>在引用之前预取进程需要的所有或部分页面</a:t>
            </a:r>
          </a:p>
          <a:p>
            <a:pPr lvl="1"/>
            <a:r>
              <a:rPr lang="zh-CN" altLang="en-US" dirty="0"/>
              <a:t>但是，如果预取的页面未被使用，</a:t>
            </a:r>
            <a:r>
              <a:rPr lang="en" altLang="zh-CN" dirty="0"/>
              <a:t>I/O</a:t>
            </a:r>
            <a:r>
              <a:rPr lang="zh-CN" altLang="en-US" dirty="0"/>
              <a:t>和内存就会被浪费</a:t>
            </a:r>
          </a:p>
          <a:p>
            <a:pPr lvl="1"/>
            <a:endParaRPr lang="en-US" altLang="zh-CN" dirty="0"/>
          </a:p>
        </p:txBody>
      </p:sp>
    </p:spTree>
  </p:cSld>
  <p:clrMapOvr>
    <a:masterClrMapping/>
  </p:clrMapOvr>
  <p:transition spd="med">
    <p:zoom/>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DAE8C3A3-6C53-4BB8-5D12-7543235FB618}"/>
              </a:ext>
            </a:extLst>
          </p:cNvPr>
          <p:cNvSpPr>
            <a:spLocks noGrp="1" noChangeArrowheads="1"/>
          </p:cNvSpPr>
          <p:nvPr>
            <p:ph type="title"/>
          </p:nvPr>
        </p:nvSpPr>
        <p:spPr>
          <a:xfrm>
            <a:off x="1042988" y="225431"/>
            <a:ext cx="7850187" cy="746125"/>
          </a:xfrm>
        </p:spPr>
        <p:txBody>
          <a:bodyPr/>
          <a:lstStyle/>
          <a:p>
            <a:r>
              <a:rPr lang="zh-CN" altLang="en-US"/>
              <a:t>页面尺寸</a:t>
            </a:r>
            <a:endParaRPr lang="zh-CN" altLang="en-US" dirty="0"/>
          </a:p>
        </p:txBody>
      </p:sp>
      <p:sp>
        <p:nvSpPr>
          <p:cNvPr id="393219" name="Rectangle 3">
            <a:extLst>
              <a:ext uri="{FF2B5EF4-FFF2-40B4-BE49-F238E27FC236}">
                <a16:creationId xmlns:a16="http://schemas.microsoft.com/office/drawing/2014/main" id="{BD492B13-29EC-5EE8-0F12-0CFDD23B113E}"/>
              </a:ext>
            </a:extLst>
          </p:cNvPr>
          <p:cNvSpPr>
            <a:spLocks noGrp="1" noChangeArrowheads="1"/>
          </p:cNvSpPr>
          <p:nvPr>
            <p:ph idx="1"/>
          </p:nvPr>
        </p:nvSpPr>
        <p:spPr>
          <a:xfrm>
            <a:off x="935038" y="1233488"/>
            <a:ext cx="7772400" cy="4895850"/>
          </a:xfrm>
        </p:spPr>
        <p:txBody>
          <a:bodyPr>
            <a:normAutofit/>
          </a:bodyPr>
          <a:lstStyle/>
          <a:p>
            <a:r>
              <a:rPr lang="zh-CN" altLang="en-US" dirty="0"/>
              <a:t>没有单一的最佳页大小存在，许多因素会影响页大小。</a:t>
            </a:r>
          </a:p>
          <a:p>
            <a:pPr lvl="1"/>
            <a:r>
              <a:rPr lang="zh-CN" altLang="en-US" dirty="0"/>
              <a:t>页表大小，应选大页面。</a:t>
            </a:r>
          </a:p>
          <a:p>
            <a:pPr lvl="1"/>
            <a:r>
              <a:rPr lang="zh-CN" altLang="en-US" dirty="0"/>
              <a:t>页内碎片，应选小页面。</a:t>
            </a:r>
          </a:p>
          <a:p>
            <a:pPr lvl="1"/>
            <a:r>
              <a:rPr lang="zh-CN" altLang="en-US" dirty="0"/>
              <a:t>页读写时间，应选大页面。</a:t>
            </a:r>
          </a:p>
          <a:p>
            <a:pPr lvl="1"/>
            <a:r>
              <a:rPr lang="zh-CN" altLang="en-US" dirty="0"/>
              <a:t>局部性 </a:t>
            </a:r>
            <a:r>
              <a:rPr lang="en-US" altLang="zh-CN" dirty="0"/>
              <a:t>locality</a:t>
            </a:r>
            <a:r>
              <a:rPr lang="zh-CN" altLang="en-US" dirty="0"/>
              <a:t>。采用小页面导致更少的</a:t>
            </a:r>
            <a:r>
              <a:rPr lang="en-US" altLang="zh-CN" dirty="0"/>
              <a:t>I/O</a:t>
            </a:r>
            <a:r>
              <a:rPr lang="zh-CN" altLang="en-US" dirty="0"/>
              <a:t>和更少的总的分配内存；但为了降低页错误数量，需要大页。矛盾！</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3219">
                                            <p:txEl>
                                              <p:pRg st="0" end="0"/>
                                            </p:txEl>
                                          </p:spTgt>
                                        </p:tgtEl>
                                        <p:attrNameLst>
                                          <p:attrName>style.visibility</p:attrName>
                                        </p:attrNameLst>
                                      </p:cBhvr>
                                      <p:to>
                                        <p:strVal val="visible"/>
                                      </p:to>
                                    </p:set>
                                    <p:animEffect transition="in" filter="checkerboard(across)">
                                      <p:cBhvr>
                                        <p:cTn id="7" dur="500"/>
                                        <p:tgtEl>
                                          <p:spTgt spid="393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93219">
                                            <p:txEl>
                                              <p:pRg st="1" end="1"/>
                                            </p:txEl>
                                          </p:spTgt>
                                        </p:tgtEl>
                                        <p:attrNameLst>
                                          <p:attrName>style.visibility</p:attrName>
                                        </p:attrNameLst>
                                      </p:cBhvr>
                                      <p:to>
                                        <p:strVal val="visible"/>
                                      </p:to>
                                    </p:set>
                                    <p:animEffect transition="in" filter="checkerboard(across)">
                                      <p:cBhvr>
                                        <p:cTn id="12" dur="500"/>
                                        <p:tgtEl>
                                          <p:spTgt spid="393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93219">
                                            <p:txEl>
                                              <p:pRg st="2" end="2"/>
                                            </p:txEl>
                                          </p:spTgt>
                                        </p:tgtEl>
                                        <p:attrNameLst>
                                          <p:attrName>style.visibility</p:attrName>
                                        </p:attrNameLst>
                                      </p:cBhvr>
                                      <p:to>
                                        <p:strVal val="visible"/>
                                      </p:to>
                                    </p:set>
                                    <p:animEffect transition="in" filter="checkerboard(across)">
                                      <p:cBhvr>
                                        <p:cTn id="17" dur="500"/>
                                        <p:tgtEl>
                                          <p:spTgt spid="393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93219">
                                            <p:txEl>
                                              <p:pRg st="3" end="3"/>
                                            </p:txEl>
                                          </p:spTgt>
                                        </p:tgtEl>
                                        <p:attrNameLst>
                                          <p:attrName>style.visibility</p:attrName>
                                        </p:attrNameLst>
                                      </p:cBhvr>
                                      <p:to>
                                        <p:strVal val="visible"/>
                                      </p:to>
                                    </p:set>
                                    <p:animEffect transition="in" filter="checkerboard(across)">
                                      <p:cBhvr>
                                        <p:cTn id="22" dur="500"/>
                                        <p:tgtEl>
                                          <p:spTgt spid="393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93219">
                                            <p:txEl>
                                              <p:pRg st="4" end="4"/>
                                            </p:txEl>
                                          </p:spTgt>
                                        </p:tgtEl>
                                        <p:attrNameLst>
                                          <p:attrName>style.visibility</p:attrName>
                                        </p:attrNameLst>
                                      </p:cBhvr>
                                      <p:to>
                                        <p:strVal val="visible"/>
                                      </p:to>
                                    </p:set>
                                    <p:animEffect transition="in" filter="checkerboard(across)">
                                      <p:cBhvr>
                                        <p:cTn id="27" dur="500"/>
                                        <p:tgtEl>
                                          <p:spTgt spid="393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19" grpId="0" build="p"/>
    </p:bldLst>
  </p:timing>
</p:sld>
</file>

<file path=ppt/slides/slide2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5C63C375-0908-CFC1-0A5C-619625CF40D7}"/>
              </a:ext>
            </a:extLst>
          </p:cNvPr>
          <p:cNvSpPr>
            <a:spLocks noGrp="1" noChangeArrowheads="1"/>
          </p:cNvSpPr>
          <p:nvPr>
            <p:ph type="title"/>
          </p:nvPr>
        </p:nvSpPr>
        <p:spPr/>
        <p:txBody>
          <a:bodyPr/>
          <a:lstStyle/>
          <a:p>
            <a:pPr eaLnBrk="1" hangingPunct="1"/>
            <a:r>
              <a:rPr lang="zh-CN" altLang="en-US"/>
              <a:t>页面大小选择的分析</a:t>
            </a:r>
          </a:p>
        </p:txBody>
      </p:sp>
      <p:sp>
        <p:nvSpPr>
          <p:cNvPr id="104450" name="Rectangle 3">
            <a:extLst>
              <a:ext uri="{FF2B5EF4-FFF2-40B4-BE49-F238E27FC236}">
                <a16:creationId xmlns:a16="http://schemas.microsoft.com/office/drawing/2014/main" id="{18C8E29E-C82D-22EC-1A17-A344FDE12C50}"/>
              </a:ext>
            </a:extLst>
          </p:cNvPr>
          <p:cNvSpPr>
            <a:spLocks noGrp="1" noChangeArrowheads="1"/>
          </p:cNvSpPr>
          <p:nvPr>
            <p:ph idx="1"/>
          </p:nvPr>
        </p:nvSpPr>
        <p:spPr>
          <a:xfrm>
            <a:off x="539750" y="1196975"/>
            <a:ext cx="8415338" cy="1152525"/>
          </a:xfrm>
        </p:spPr>
        <p:txBody>
          <a:bodyPr/>
          <a:lstStyle/>
          <a:p>
            <a:pPr eaLnBrk="1" hangingPunct="1"/>
            <a:r>
              <a:rPr lang="zh-CN" altLang="en-US"/>
              <a:t>设系统内每个进程的平均长度为</a:t>
            </a:r>
            <a:r>
              <a:rPr lang="en-US" altLang="zh-CN"/>
              <a:t>s，</a:t>
            </a:r>
            <a:r>
              <a:rPr lang="zh-CN" altLang="en-US"/>
              <a:t>页面大小为</a:t>
            </a:r>
            <a:r>
              <a:rPr lang="en-US" altLang="zh-CN"/>
              <a:t>p，</a:t>
            </a:r>
            <a:r>
              <a:rPr lang="zh-CN" altLang="en-US"/>
              <a:t>每个页表项需</a:t>
            </a:r>
            <a:r>
              <a:rPr lang="en-US" altLang="zh-CN"/>
              <a:t>e</a:t>
            </a:r>
            <a:r>
              <a:rPr lang="zh-CN" altLang="en-US"/>
              <a:t>个字节</a:t>
            </a:r>
            <a:r>
              <a:rPr lang="en-US" altLang="zh-CN"/>
              <a:t>。</a:t>
            </a:r>
          </a:p>
        </p:txBody>
      </p:sp>
      <p:sp>
        <p:nvSpPr>
          <p:cNvPr id="395268" name="Rectangle 4">
            <a:extLst>
              <a:ext uri="{FF2B5EF4-FFF2-40B4-BE49-F238E27FC236}">
                <a16:creationId xmlns:a16="http://schemas.microsoft.com/office/drawing/2014/main" id="{178E0DE4-4656-2784-24AD-5F2E2AD299A7}"/>
              </a:ext>
            </a:extLst>
          </p:cNvPr>
          <p:cNvSpPr>
            <a:spLocks noChangeArrowheads="1"/>
          </p:cNvSpPr>
          <p:nvPr/>
        </p:nvSpPr>
        <p:spPr bwMode="auto">
          <a:xfrm>
            <a:off x="909638" y="2349500"/>
            <a:ext cx="4038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buFont typeface="Wingdings" pitchFamily="2" charset="2"/>
              <a:buChar char="n"/>
            </a:pPr>
            <a:r>
              <a:rPr lang="zh-CN" altLang="en-US" dirty="0"/>
              <a:t>每个进程页表长度：</a:t>
            </a:r>
            <a:r>
              <a:rPr lang="en-US" altLang="zh-CN" dirty="0"/>
              <a:t>s/p</a:t>
            </a:r>
          </a:p>
        </p:txBody>
      </p:sp>
      <p:sp>
        <p:nvSpPr>
          <p:cNvPr id="395269" name="Rectangle 5">
            <a:extLst>
              <a:ext uri="{FF2B5EF4-FFF2-40B4-BE49-F238E27FC236}">
                <a16:creationId xmlns:a16="http://schemas.microsoft.com/office/drawing/2014/main" id="{2C080BB5-2D7C-9FFC-6EF2-5DE3C0E050BC}"/>
              </a:ext>
            </a:extLst>
          </p:cNvPr>
          <p:cNvSpPr>
            <a:spLocks noChangeArrowheads="1"/>
          </p:cNvSpPr>
          <p:nvPr/>
        </p:nvSpPr>
        <p:spPr bwMode="auto">
          <a:xfrm>
            <a:off x="909638" y="3357563"/>
            <a:ext cx="47847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buFont typeface="Wingdings" pitchFamily="2" charset="2"/>
              <a:buChar char="n"/>
            </a:pPr>
            <a:r>
              <a:rPr lang="zh-CN" altLang="en-US"/>
              <a:t>每进程碎片的平均大小：</a:t>
            </a:r>
            <a:r>
              <a:rPr lang="en-US" altLang="zh-CN"/>
              <a:t>p/2</a:t>
            </a:r>
          </a:p>
        </p:txBody>
      </p:sp>
      <p:sp>
        <p:nvSpPr>
          <p:cNvPr id="395270" name="Rectangle 6">
            <a:extLst>
              <a:ext uri="{FF2B5EF4-FFF2-40B4-BE49-F238E27FC236}">
                <a16:creationId xmlns:a16="http://schemas.microsoft.com/office/drawing/2014/main" id="{95114482-1E99-A175-2CA5-10277981F295}"/>
              </a:ext>
            </a:extLst>
          </p:cNvPr>
          <p:cNvSpPr>
            <a:spLocks noChangeArrowheads="1"/>
          </p:cNvSpPr>
          <p:nvPr/>
        </p:nvSpPr>
        <p:spPr bwMode="auto">
          <a:xfrm>
            <a:off x="909638" y="3860800"/>
            <a:ext cx="53673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buFont typeface="Wingdings" pitchFamily="2" charset="2"/>
              <a:buChar char="n"/>
            </a:pPr>
            <a:r>
              <a:rPr lang="zh-CN" altLang="en-US"/>
              <a:t>每进程浪费的空间为：</a:t>
            </a:r>
            <a:r>
              <a:rPr lang="en-US" altLang="zh-CN"/>
              <a:t>se/p+p/2</a:t>
            </a:r>
          </a:p>
        </p:txBody>
      </p:sp>
      <p:sp>
        <p:nvSpPr>
          <p:cNvPr id="395271" name="Rectangle 7">
            <a:extLst>
              <a:ext uri="{FF2B5EF4-FFF2-40B4-BE49-F238E27FC236}">
                <a16:creationId xmlns:a16="http://schemas.microsoft.com/office/drawing/2014/main" id="{224D7608-57D5-7FE6-A6A2-131F09C9289F}"/>
              </a:ext>
            </a:extLst>
          </p:cNvPr>
          <p:cNvSpPr>
            <a:spLocks noChangeArrowheads="1"/>
          </p:cNvSpPr>
          <p:nvPr/>
        </p:nvSpPr>
        <p:spPr bwMode="auto">
          <a:xfrm>
            <a:off x="908050" y="2852738"/>
            <a:ext cx="35147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buFont typeface="Wingdings" pitchFamily="2" charset="2"/>
              <a:buChar char="n"/>
            </a:pPr>
            <a:r>
              <a:rPr lang="zh-CN" altLang="en-US"/>
              <a:t>页表占用空间：</a:t>
            </a:r>
            <a:r>
              <a:rPr lang="en-US" altLang="zh-CN"/>
              <a:t>se/p</a:t>
            </a:r>
          </a:p>
        </p:txBody>
      </p:sp>
      <p:sp>
        <p:nvSpPr>
          <p:cNvPr id="395272" name="Rectangle 8">
            <a:extLst>
              <a:ext uri="{FF2B5EF4-FFF2-40B4-BE49-F238E27FC236}">
                <a16:creationId xmlns:a16="http://schemas.microsoft.com/office/drawing/2014/main" id="{F9B6F629-30FC-AF77-F5F7-FF3E223D6A4D}"/>
              </a:ext>
            </a:extLst>
          </p:cNvPr>
          <p:cNvSpPr>
            <a:spLocks noChangeArrowheads="1"/>
          </p:cNvSpPr>
          <p:nvPr/>
        </p:nvSpPr>
        <p:spPr bwMode="auto">
          <a:xfrm>
            <a:off x="908050" y="4435475"/>
            <a:ext cx="40433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buFont typeface="Wingdings" pitchFamily="2" charset="2"/>
              <a:buChar char="n"/>
            </a:pPr>
            <a:r>
              <a:rPr lang="zh-CN" altLang="en-US"/>
              <a:t>对</a:t>
            </a:r>
            <a:r>
              <a:rPr lang="en-US" altLang="zh-CN"/>
              <a:t>p</a:t>
            </a:r>
            <a:r>
              <a:rPr lang="zh-CN" altLang="en-US"/>
              <a:t>求导数：</a:t>
            </a:r>
            <a:r>
              <a:rPr lang="en-US" altLang="zh-CN"/>
              <a:t>=1/2-se/p</a:t>
            </a:r>
            <a:r>
              <a:rPr lang="en-US" altLang="zh-CN" baseline="30000"/>
              <a:t>2</a:t>
            </a:r>
          </a:p>
        </p:txBody>
      </p:sp>
      <p:sp>
        <p:nvSpPr>
          <p:cNvPr id="395273" name="Rectangle 9">
            <a:extLst>
              <a:ext uri="{FF2B5EF4-FFF2-40B4-BE49-F238E27FC236}">
                <a16:creationId xmlns:a16="http://schemas.microsoft.com/office/drawing/2014/main" id="{0FCBE006-6AB7-8B1C-00BA-B0437A937976}"/>
              </a:ext>
            </a:extLst>
          </p:cNvPr>
          <p:cNvSpPr>
            <a:spLocks noChangeArrowheads="1"/>
          </p:cNvSpPr>
          <p:nvPr/>
        </p:nvSpPr>
        <p:spPr bwMode="auto">
          <a:xfrm>
            <a:off x="908050" y="4941888"/>
            <a:ext cx="56562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buFont typeface="Wingdings" pitchFamily="2" charset="2"/>
              <a:buChar char="n"/>
            </a:pPr>
            <a:r>
              <a:rPr lang="zh-CN" altLang="en-US"/>
              <a:t>令导数为0求最小值：1/2</a:t>
            </a:r>
            <a:r>
              <a:rPr lang="en-US" altLang="zh-CN"/>
              <a:t>s-e/p</a:t>
            </a:r>
            <a:r>
              <a:rPr lang="en-US" altLang="zh-CN" baseline="30000"/>
              <a:t>2</a:t>
            </a:r>
            <a:r>
              <a:rPr lang="en-US" altLang="zh-CN"/>
              <a:t>=0</a:t>
            </a:r>
          </a:p>
        </p:txBody>
      </p:sp>
      <p:grpSp>
        <p:nvGrpSpPr>
          <p:cNvPr id="2" name="Group 10">
            <a:extLst>
              <a:ext uri="{FF2B5EF4-FFF2-40B4-BE49-F238E27FC236}">
                <a16:creationId xmlns:a16="http://schemas.microsoft.com/office/drawing/2014/main" id="{01267BE5-98E5-AF4A-D77F-95E52F4D2F3F}"/>
              </a:ext>
            </a:extLst>
          </p:cNvPr>
          <p:cNvGrpSpPr>
            <a:grpSpLocks/>
          </p:cNvGrpSpPr>
          <p:nvPr/>
        </p:nvGrpSpPr>
        <p:grpSpPr bwMode="auto">
          <a:xfrm>
            <a:off x="908050" y="5589588"/>
            <a:ext cx="6076950" cy="476250"/>
            <a:chOff x="144" y="3252"/>
            <a:chExt cx="3828" cy="300"/>
          </a:xfrm>
        </p:grpSpPr>
        <p:sp>
          <p:nvSpPr>
            <p:cNvPr id="104458" name="Rectangle 11">
              <a:extLst>
                <a:ext uri="{FF2B5EF4-FFF2-40B4-BE49-F238E27FC236}">
                  <a16:creationId xmlns:a16="http://schemas.microsoft.com/office/drawing/2014/main" id="{632541E7-D5F4-999F-FB3B-32A526982ED0}"/>
                </a:ext>
              </a:extLst>
            </p:cNvPr>
            <p:cNvSpPr>
              <a:spLocks noChangeArrowheads="1"/>
            </p:cNvSpPr>
            <p:nvPr/>
          </p:nvSpPr>
          <p:spPr bwMode="auto">
            <a:xfrm>
              <a:off x="144" y="3252"/>
              <a:ext cx="3828"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buFont typeface="Wingdings" pitchFamily="2" charset="2"/>
                <a:buChar char="n"/>
              </a:pPr>
              <a:r>
                <a:rPr lang="zh-CN" altLang="en-US"/>
                <a:t>则页面大小为：</a:t>
              </a:r>
              <a:r>
                <a:rPr lang="en-US" altLang="zh-CN"/>
                <a:t>p=√2es</a:t>
              </a:r>
              <a:r>
                <a:rPr lang="zh-CN" altLang="en-US"/>
                <a:t>时，</a:t>
              </a:r>
              <a:r>
                <a:rPr lang="en-US" altLang="zh-CN"/>
                <a:t>f</a:t>
              </a:r>
              <a:r>
                <a:rPr lang="zh-CN" altLang="en-US"/>
                <a:t>最小。</a:t>
              </a:r>
            </a:p>
          </p:txBody>
        </p:sp>
        <p:sp>
          <p:nvSpPr>
            <p:cNvPr id="104459" name="Line 12">
              <a:extLst>
                <a:ext uri="{FF2B5EF4-FFF2-40B4-BE49-F238E27FC236}">
                  <a16:creationId xmlns:a16="http://schemas.microsoft.com/office/drawing/2014/main" id="{C2629D60-0263-7EFD-E8B8-1DE0C050AF5E}"/>
                </a:ext>
              </a:extLst>
            </p:cNvPr>
            <p:cNvSpPr>
              <a:spLocks noChangeShapeType="1"/>
            </p:cNvSpPr>
            <p:nvPr/>
          </p:nvSpPr>
          <p:spPr bwMode="auto">
            <a:xfrm>
              <a:off x="1595" y="3264"/>
              <a:ext cx="363"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5268"/>
                                        </p:tgtEl>
                                        <p:attrNameLst>
                                          <p:attrName>style.visibility</p:attrName>
                                        </p:attrNameLst>
                                      </p:cBhvr>
                                      <p:to>
                                        <p:strVal val="visible"/>
                                      </p:to>
                                    </p:set>
                                    <p:animEffect transition="in" filter="checkerboard(across)">
                                      <p:cBhvr>
                                        <p:cTn id="7" dur="500"/>
                                        <p:tgtEl>
                                          <p:spTgt spid="3952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95271"/>
                                        </p:tgtEl>
                                        <p:attrNameLst>
                                          <p:attrName>style.visibility</p:attrName>
                                        </p:attrNameLst>
                                      </p:cBhvr>
                                      <p:to>
                                        <p:strVal val="visible"/>
                                      </p:to>
                                    </p:set>
                                    <p:animEffect transition="in" filter="checkerboard(across)">
                                      <p:cBhvr>
                                        <p:cTn id="12" dur="500"/>
                                        <p:tgtEl>
                                          <p:spTgt spid="3952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95269"/>
                                        </p:tgtEl>
                                        <p:attrNameLst>
                                          <p:attrName>style.visibility</p:attrName>
                                        </p:attrNameLst>
                                      </p:cBhvr>
                                      <p:to>
                                        <p:strVal val="visible"/>
                                      </p:to>
                                    </p:set>
                                    <p:animEffect transition="in" filter="checkerboard(across)">
                                      <p:cBhvr>
                                        <p:cTn id="17" dur="500"/>
                                        <p:tgtEl>
                                          <p:spTgt spid="3952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95270"/>
                                        </p:tgtEl>
                                        <p:attrNameLst>
                                          <p:attrName>style.visibility</p:attrName>
                                        </p:attrNameLst>
                                      </p:cBhvr>
                                      <p:to>
                                        <p:strVal val="visible"/>
                                      </p:to>
                                    </p:set>
                                    <p:animEffect transition="in" filter="checkerboard(across)">
                                      <p:cBhvr>
                                        <p:cTn id="22" dur="500"/>
                                        <p:tgtEl>
                                          <p:spTgt spid="3952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95272"/>
                                        </p:tgtEl>
                                        <p:attrNameLst>
                                          <p:attrName>style.visibility</p:attrName>
                                        </p:attrNameLst>
                                      </p:cBhvr>
                                      <p:to>
                                        <p:strVal val="visible"/>
                                      </p:to>
                                    </p:set>
                                    <p:animEffect transition="in" filter="checkerboard(across)">
                                      <p:cBhvr>
                                        <p:cTn id="27" dur="500"/>
                                        <p:tgtEl>
                                          <p:spTgt spid="3952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395273"/>
                                        </p:tgtEl>
                                        <p:attrNameLst>
                                          <p:attrName>style.visibility</p:attrName>
                                        </p:attrNameLst>
                                      </p:cBhvr>
                                      <p:to>
                                        <p:strVal val="visible"/>
                                      </p:to>
                                    </p:set>
                                    <p:animEffect transition="in" filter="checkerboard(across)">
                                      <p:cBhvr>
                                        <p:cTn id="32" dur="500"/>
                                        <p:tgtEl>
                                          <p:spTgt spid="39527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checkerboard(across)">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8" grpId="0"/>
      <p:bldP spid="395269" grpId="0"/>
      <p:bldP spid="395270" grpId="0"/>
      <p:bldP spid="395271" grpId="0"/>
      <p:bldP spid="395272" grpId="0"/>
      <p:bldP spid="395273" grpId="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BA87F3AF-8045-D623-BBD6-DA229702F996}"/>
              </a:ext>
            </a:extLst>
          </p:cNvPr>
          <p:cNvSpPr>
            <a:spLocks noGrp="1" noChangeArrowheads="1"/>
          </p:cNvSpPr>
          <p:nvPr>
            <p:ph type="title"/>
          </p:nvPr>
        </p:nvSpPr>
        <p:spPr/>
        <p:txBody>
          <a:bodyPr/>
          <a:lstStyle/>
          <a:p>
            <a:pPr eaLnBrk="1" hangingPunct="1"/>
            <a:r>
              <a:rPr lang="zh-CN" altLang="en-US" dirty="0"/>
              <a:t>页面大小选择的分析</a:t>
            </a:r>
            <a:endParaRPr lang="en-US" altLang="zh-CN" dirty="0"/>
          </a:p>
        </p:txBody>
      </p:sp>
      <p:sp>
        <p:nvSpPr>
          <p:cNvPr id="105474" name="Rectangle 3">
            <a:extLst>
              <a:ext uri="{FF2B5EF4-FFF2-40B4-BE49-F238E27FC236}">
                <a16:creationId xmlns:a16="http://schemas.microsoft.com/office/drawing/2014/main" id="{D8380D7F-DF99-0B0C-93A8-2BE9A61736AD}"/>
              </a:ext>
            </a:extLst>
          </p:cNvPr>
          <p:cNvSpPr>
            <a:spLocks noGrp="1" noChangeArrowheads="1"/>
          </p:cNvSpPr>
          <p:nvPr>
            <p:ph idx="1"/>
          </p:nvPr>
        </p:nvSpPr>
        <p:spPr>
          <a:xfrm>
            <a:off x="792163" y="1196975"/>
            <a:ext cx="8162925" cy="4824413"/>
          </a:xfrm>
        </p:spPr>
        <p:txBody>
          <a:bodyPr/>
          <a:lstStyle/>
          <a:p>
            <a:pPr eaLnBrk="1" hangingPunct="1"/>
            <a:r>
              <a:rPr lang="zh-CN" altLang="en-US"/>
              <a:t>页的大小总为</a:t>
            </a:r>
            <a:r>
              <a:rPr lang="en-US" altLang="zh-CN"/>
              <a:t>2</a:t>
            </a:r>
            <a:r>
              <a:rPr lang="zh-CN" altLang="en-US"/>
              <a:t>的幂。</a:t>
            </a:r>
          </a:p>
          <a:p>
            <a:pPr eaLnBrk="1" hangingPunct="1"/>
            <a:r>
              <a:rPr lang="zh-CN" altLang="en-US"/>
              <a:t>页面尺寸多在</a:t>
            </a:r>
            <a:r>
              <a:rPr lang="en-US" altLang="zh-CN"/>
              <a:t>512B</a:t>
            </a:r>
            <a:r>
              <a:rPr lang="zh-CN" altLang="en-US"/>
              <a:t>到</a:t>
            </a:r>
            <a:r>
              <a:rPr lang="en-US" altLang="zh-CN"/>
              <a:t>16MB</a:t>
            </a:r>
            <a:r>
              <a:rPr lang="zh-CN" altLang="en-US"/>
              <a:t>之间。</a:t>
            </a:r>
            <a:endParaRPr lang="en-US" altLang="zh-CN"/>
          </a:p>
        </p:txBody>
      </p:sp>
    </p:spTree>
  </p:cSld>
  <p:clrMapOvr>
    <a:masterClrMapping/>
  </p:clrMapOvr>
  <p:transition spd="med">
    <p:zoom/>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158DBAE5-DBE9-9F3E-9708-B917F2EC5DE1}"/>
              </a:ext>
            </a:extLst>
          </p:cNvPr>
          <p:cNvSpPr>
            <a:spLocks noGrp="1" noChangeArrowheads="1"/>
          </p:cNvSpPr>
          <p:nvPr>
            <p:ph type="title"/>
          </p:nvPr>
        </p:nvSpPr>
        <p:spPr>
          <a:xfrm>
            <a:off x="1042988" y="225431"/>
            <a:ext cx="7850187" cy="746125"/>
          </a:xfrm>
        </p:spPr>
        <p:txBody>
          <a:bodyPr/>
          <a:lstStyle/>
          <a:p>
            <a:r>
              <a:rPr lang="en-US" altLang="zh-CN" dirty="0"/>
              <a:t>TLB</a:t>
            </a:r>
            <a:r>
              <a:rPr lang="zh-CN" altLang="en-US" dirty="0"/>
              <a:t>范围</a:t>
            </a:r>
            <a:endParaRPr lang="en-US" altLang="zh-CN" dirty="0"/>
          </a:p>
        </p:txBody>
      </p:sp>
      <p:sp>
        <p:nvSpPr>
          <p:cNvPr id="394243" name="Rectangle 3">
            <a:extLst>
              <a:ext uri="{FF2B5EF4-FFF2-40B4-BE49-F238E27FC236}">
                <a16:creationId xmlns:a16="http://schemas.microsoft.com/office/drawing/2014/main" id="{6BCC62AC-324F-DE3F-9C88-7EAD56CF6970}"/>
              </a:ext>
            </a:extLst>
          </p:cNvPr>
          <p:cNvSpPr>
            <a:spLocks noGrp="1" noChangeArrowheads="1"/>
          </p:cNvSpPr>
          <p:nvPr>
            <p:ph idx="1"/>
          </p:nvPr>
        </p:nvSpPr>
        <p:spPr>
          <a:xfrm>
            <a:off x="935038" y="1233488"/>
            <a:ext cx="7772400" cy="4895850"/>
          </a:xfrm>
        </p:spPr>
        <p:txBody>
          <a:bodyPr>
            <a:normAutofit/>
          </a:bodyPr>
          <a:lstStyle/>
          <a:p>
            <a:r>
              <a:rPr lang="en-US" altLang="zh-CN" dirty="0"/>
              <a:t>TLB</a:t>
            </a:r>
            <a:r>
              <a:rPr lang="zh-CN" altLang="en-US" dirty="0"/>
              <a:t>范围：从 </a:t>
            </a:r>
            <a:r>
              <a:rPr lang="en-US" altLang="zh-CN" dirty="0"/>
              <a:t>TLB </a:t>
            </a:r>
            <a:r>
              <a:rPr lang="zh-CN" altLang="en-US" dirty="0"/>
              <a:t>可访问的存储器数量。     </a:t>
            </a:r>
            <a:endParaRPr lang="en-US" altLang="zh-CN" dirty="0"/>
          </a:p>
          <a:p>
            <a:r>
              <a:rPr lang="en-US" altLang="zh-CN" dirty="0"/>
              <a:t>TLB Reach = (TLB Size) X (Page Size)</a:t>
            </a:r>
          </a:p>
          <a:p>
            <a:r>
              <a:rPr lang="zh-CN" altLang="en-US" dirty="0"/>
              <a:t>理想地，每进程的工作集存储在 </a:t>
            </a:r>
            <a:r>
              <a:rPr lang="en-US" altLang="zh-CN" dirty="0"/>
              <a:t>TLB</a:t>
            </a:r>
            <a:r>
              <a:rPr lang="zh-CN" altLang="en-US" dirty="0"/>
              <a:t>中。否则有很高的缺页率</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4243">
                                            <p:txEl>
                                              <p:pRg st="0" end="0"/>
                                            </p:txEl>
                                          </p:spTgt>
                                        </p:tgtEl>
                                        <p:attrNameLst>
                                          <p:attrName>style.visibility</p:attrName>
                                        </p:attrNameLst>
                                      </p:cBhvr>
                                      <p:to>
                                        <p:strVal val="visible"/>
                                      </p:to>
                                    </p:set>
                                    <p:animEffect transition="in" filter="checkerboard(across)">
                                      <p:cBhvr>
                                        <p:cTn id="7" dur="500"/>
                                        <p:tgtEl>
                                          <p:spTgt spid="394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94243">
                                            <p:txEl>
                                              <p:pRg st="1" end="1"/>
                                            </p:txEl>
                                          </p:spTgt>
                                        </p:tgtEl>
                                        <p:attrNameLst>
                                          <p:attrName>style.visibility</p:attrName>
                                        </p:attrNameLst>
                                      </p:cBhvr>
                                      <p:to>
                                        <p:strVal val="visible"/>
                                      </p:to>
                                    </p:set>
                                    <p:animEffect transition="in" filter="checkerboard(across)">
                                      <p:cBhvr>
                                        <p:cTn id="12" dur="500"/>
                                        <p:tgtEl>
                                          <p:spTgt spid="394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94243">
                                            <p:txEl>
                                              <p:pRg st="2" end="2"/>
                                            </p:txEl>
                                          </p:spTgt>
                                        </p:tgtEl>
                                        <p:attrNameLst>
                                          <p:attrName>style.visibility</p:attrName>
                                        </p:attrNameLst>
                                      </p:cBhvr>
                                      <p:to>
                                        <p:strVal val="visible"/>
                                      </p:to>
                                    </p:set>
                                    <p:animEffect transition="in" filter="checkerboard(across)">
                                      <p:cBhvr>
                                        <p:cTn id="17" dur="500"/>
                                        <p:tgtEl>
                                          <p:spTgt spid="3942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3" grpId="0" build="p"/>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2873AC34-7495-EDD2-CF32-F10C6FD2AA05}"/>
              </a:ext>
            </a:extLst>
          </p:cNvPr>
          <p:cNvSpPr>
            <a:spLocks noGrp="1" noChangeArrowheads="1"/>
          </p:cNvSpPr>
          <p:nvPr>
            <p:ph type="title"/>
          </p:nvPr>
        </p:nvSpPr>
        <p:spPr>
          <a:xfrm>
            <a:off x="1042988" y="225431"/>
            <a:ext cx="7850187" cy="746125"/>
          </a:xfrm>
        </p:spPr>
        <p:txBody>
          <a:bodyPr/>
          <a:lstStyle/>
          <a:p>
            <a:r>
              <a:rPr lang="en-US" altLang="zh-CN" dirty="0"/>
              <a:t> TLB</a:t>
            </a:r>
            <a:r>
              <a:rPr lang="zh-CN" altLang="en-US" dirty="0"/>
              <a:t>范围</a:t>
            </a:r>
            <a:endParaRPr lang="en-US" altLang="zh-CN" dirty="0"/>
          </a:p>
        </p:txBody>
      </p:sp>
      <p:sp>
        <p:nvSpPr>
          <p:cNvPr id="398339" name="Rectangle 3">
            <a:extLst>
              <a:ext uri="{FF2B5EF4-FFF2-40B4-BE49-F238E27FC236}">
                <a16:creationId xmlns:a16="http://schemas.microsoft.com/office/drawing/2014/main" id="{06F5C9FE-360F-7C6C-484C-8C5E52EB22EC}"/>
              </a:ext>
            </a:extLst>
          </p:cNvPr>
          <p:cNvSpPr>
            <a:spLocks noGrp="1" noChangeArrowheads="1"/>
          </p:cNvSpPr>
          <p:nvPr>
            <p:ph idx="1"/>
          </p:nvPr>
        </p:nvSpPr>
        <p:spPr>
          <a:xfrm>
            <a:off x="935038" y="1233488"/>
            <a:ext cx="7772400" cy="4895850"/>
          </a:xfrm>
        </p:spPr>
        <p:txBody>
          <a:bodyPr/>
          <a:lstStyle/>
          <a:p>
            <a:r>
              <a:rPr lang="zh-CN" altLang="en-US" dirty="0"/>
              <a:t>增加</a:t>
            </a:r>
            <a:r>
              <a:rPr lang="en-US" altLang="zh-CN" dirty="0"/>
              <a:t>TLB</a:t>
            </a:r>
            <a:r>
              <a:rPr lang="zh-CN" altLang="en-US" dirty="0"/>
              <a:t>范围的方法：</a:t>
            </a:r>
            <a:r>
              <a:rPr lang="en-US" altLang="zh-CN" dirty="0"/>
              <a:t> </a:t>
            </a:r>
          </a:p>
          <a:p>
            <a:pPr lvl="1"/>
            <a:r>
              <a:rPr lang="zh-CN" altLang="en-US" dirty="0"/>
              <a:t>增加页大小：这可能导致碎片的增加。</a:t>
            </a:r>
          </a:p>
          <a:p>
            <a:pPr lvl="1"/>
            <a:r>
              <a:rPr lang="zh-CN" altLang="en-US" dirty="0"/>
              <a:t>提供多种页大小：允许需要大页面的应用程序使用大页面而不增加碎片。</a:t>
            </a:r>
            <a:endParaRPr lang="en-US" altLang="zh-CN"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8339">
                                            <p:txEl>
                                              <p:pRg st="0" end="0"/>
                                            </p:txEl>
                                          </p:spTgt>
                                        </p:tgtEl>
                                        <p:attrNameLst>
                                          <p:attrName>style.visibility</p:attrName>
                                        </p:attrNameLst>
                                      </p:cBhvr>
                                      <p:to>
                                        <p:strVal val="visible"/>
                                      </p:to>
                                    </p:set>
                                    <p:animEffect transition="in" filter="checkerboard(across)">
                                      <p:cBhvr>
                                        <p:cTn id="7" dur="500"/>
                                        <p:tgtEl>
                                          <p:spTgt spid="398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98339">
                                            <p:txEl>
                                              <p:pRg st="1" end="1"/>
                                            </p:txEl>
                                          </p:spTgt>
                                        </p:tgtEl>
                                        <p:attrNameLst>
                                          <p:attrName>style.visibility</p:attrName>
                                        </p:attrNameLst>
                                      </p:cBhvr>
                                      <p:to>
                                        <p:strVal val="visible"/>
                                      </p:to>
                                    </p:set>
                                    <p:animEffect transition="in" filter="checkerboard(across)">
                                      <p:cBhvr>
                                        <p:cTn id="12" dur="500"/>
                                        <p:tgtEl>
                                          <p:spTgt spid="398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98339">
                                            <p:txEl>
                                              <p:pRg st="2" end="2"/>
                                            </p:txEl>
                                          </p:spTgt>
                                        </p:tgtEl>
                                        <p:attrNameLst>
                                          <p:attrName>style.visibility</p:attrName>
                                        </p:attrNameLst>
                                      </p:cBhvr>
                                      <p:to>
                                        <p:strVal val="visible"/>
                                      </p:to>
                                    </p:set>
                                    <p:animEffect transition="in" filter="checkerboard(across)">
                                      <p:cBhvr>
                                        <p:cTn id="17" dur="500"/>
                                        <p:tgtEl>
                                          <p:spTgt spid="3983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build="p"/>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440B8B4A-1819-ABB3-7BCE-F8E9DC4A7679}"/>
              </a:ext>
            </a:extLst>
          </p:cNvPr>
          <p:cNvSpPr>
            <a:spLocks noGrp="1" noChangeArrowheads="1"/>
          </p:cNvSpPr>
          <p:nvPr>
            <p:ph type="title"/>
          </p:nvPr>
        </p:nvSpPr>
        <p:spPr/>
        <p:txBody>
          <a:bodyPr/>
          <a:lstStyle/>
          <a:p>
            <a:pPr eaLnBrk="1" hangingPunct="1"/>
            <a:r>
              <a:rPr lang="zh-CN" altLang="en-US"/>
              <a:t>程序结构对缺页率影响例</a:t>
            </a:r>
          </a:p>
        </p:txBody>
      </p:sp>
      <p:sp>
        <p:nvSpPr>
          <p:cNvPr id="109570" name="Rectangle 3">
            <a:extLst>
              <a:ext uri="{FF2B5EF4-FFF2-40B4-BE49-F238E27FC236}">
                <a16:creationId xmlns:a16="http://schemas.microsoft.com/office/drawing/2014/main" id="{04CE61B6-6A29-E924-7703-AD34892E1D0B}"/>
              </a:ext>
            </a:extLst>
          </p:cNvPr>
          <p:cNvSpPr>
            <a:spLocks noGrp="1" noChangeArrowheads="1"/>
          </p:cNvSpPr>
          <p:nvPr>
            <p:ph idx="1"/>
          </p:nvPr>
        </p:nvSpPr>
        <p:spPr>
          <a:xfrm>
            <a:off x="250825" y="1341438"/>
            <a:ext cx="8650288" cy="4687887"/>
          </a:xfrm>
        </p:spPr>
        <p:txBody>
          <a:bodyPr>
            <a:normAutofit/>
          </a:bodyPr>
          <a:lstStyle/>
          <a:p>
            <a:pPr eaLnBrk="1" hangingPunct="1"/>
            <a:r>
              <a:rPr lang="zh-CN" altLang="en-US" sz="2800" dirty="0"/>
              <a:t>设页面大小为128字节，考虑一个程序，其功能是将128×128的二维数组清零</a:t>
            </a:r>
            <a:r>
              <a:rPr lang="en-US" altLang="zh-CN" sz="2800" dirty="0"/>
              <a:t> </a:t>
            </a:r>
          </a:p>
          <a:p>
            <a:pPr eaLnBrk="1" hangingPunct="1"/>
            <a:endParaRPr lang="en-US" altLang="zh-CN" sz="2800" dirty="0"/>
          </a:p>
          <a:p>
            <a:pPr eaLnBrk="1" hangingPunct="1"/>
            <a:r>
              <a:rPr lang="zh-CN" altLang="en-US" sz="2800" dirty="0"/>
              <a:t>程序1                                   程序2</a:t>
            </a:r>
          </a:p>
          <a:p>
            <a:pPr eaLnBrk="1" hangingPunct="1">
              <a:buFont typeface="Wingdings" pitchFamily="2" charset="2"/>
              <a:buNone/>
            </a:pPr>
            <a:r>
              <a:rPr lang="en-US" altLang="zh-CN" sz="2800" dirty="0"/>
              <a:t>  short int a[128][128]；</a:t>
            </a:r>
          </a:p>
          <a:p>
            <a:pPr eaLnBrk="1" hangingPunct="1">
              <a:buFont typeface="Wingdings" pitchFamily="2" charset="2"/>
              <a:buNone/>
            </a:pPr>
            <a:r>
              <a:rPr lang="en-US" altLang="zh-CN" sz="2800" dirty="0"/>
              <a:t>  for (j=0;j&lt;=127;j++)           for (</a:t>
            </a:r>
            <a:r>
              <a:rPr lang="en-US" altLang="zh-CN" sz="2800" dirty="0" err="1"/>
              <a:t>i</a:t>
            </a:r>
            <a:r>
              <a:rPr lang="en-US" altLang="zh-CN" sz="2800" dirty="0"/>
              <a:t>=0;i&lt;=127;i++)</a:t>
            </a:r>
          </a:p>
          <a:p>
            <a:pPr eaLnBrk="1" hangingPunct="1">
              <a:buFont typeface="Wingdings" pitchFamily="2" charset="2"/>
              <a:buNone/>
            </a:pPr>
            <a:r>
              <a:rPr lang="en-US" altLang="zh-CN" sz="2800" dirty="0"/>
              <a:t>  for (</a:t>
            </a:r>
            <a:r>
              <a:rPr lang="en-US" altLang="zh-CN" sz="2800" dirty="0" err="1"/>
              <a:t>i</a:t>
            </a:r>
            <a:r>
              <a:rPr lang="en-US" altLang="zh-CN" sz="2800" dirty="0"/>
              <a:t>=0;i&lt;=127;i++)           for (j=0;j&lt;=127;j++)</a:t>
            </a:r>
          </a:p>
          <a:p>
            <a:pPr eaLnBrk="1" hangingPunct="1">
              <a:buFont typeface="Wingdings" pitchFamily="2" charset="2"/>
              <a:buNone/>
            </a:pPr>
            <a:r>
              <a:rPr lang="en-US" altLang="zh-CN" sz="2800" dirty="0"/>
              <a:t>  a[</a:t>
            </a:r>
            <a:r>
              <a:rPr lang="en-US" altLang="zh-CN" sz="2800" dirty="0" err="1"/>
              <a:t>i</a:t>
            </a:r>
            <a:r>
              <a:rPr lang="en-US" altLang="zh-CN" sz="2800" dirty="0"/>
              <a:t>][j]=0;                            a[</a:t>
            </a:r>
            <a:r>
              <a:rPr lang="en-US" altLang="zh-CN" sz="2800" dirty="0" err="1"/>
              <a:t>i</a:t>
            </a:r>
            <a:r>
              <a:rPr lang="en-US" altLang="zh-CN" sz="2800" dirty="0"/>
              <a:t>][j]=0;</a:t>
            </a:r>
          </a:p>
        </p:txBody>
      </p:sp>
    </p:spTree>
  </p:cSld>
  <p:clrMapOvr>
    <a:masterClrMapping/>
  </p:clrMapOvr>
  <p:transition spd="med">
    <p:zoom/>
  </p:transition>
</p:sld>
</file>

<file path=ppt/slides/slide2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2C1D907B-04BA-AC99-E505-F82D5D788882}"/>
              </a:ext>
            </a:extLst>
          </p:cNvPr>
          <p:cNvSpPr>
            <a:spLocks noGrp="1" noChangeArrowheads="1"/>
          </p:cNvSpPr>
          <p:nvPr>
            <p:ph type="title"/>
          </p:nvPr>
        </p:nvSpPr>
        <p:spPr/>
        <p:txBody>
          <a:bodyPr/>
          <a:lstStyle/>
          <a:p>
            <a:pPr eaLnBrk="1" hangingPunct="1"/>
            <a:r>
              <a:rPr lang="zh-CN" altLang="en-US"/>
              <a:t>程序1的缺页次数</a:t>
            </a:r>
          </a:p>
        </p:txBody>
      </p:sp>
      <p:sp>
        <p:nvSpPr>
          <p:cNvPr id="254979" name="Rectangle 3">
            <a:extLst>
              <a:ext uri="{FF2B5EF4-FFF2-40B4-BE49-F238E27FC236}">
                <a16:creationId xmlns:a16="http://schemas.microsoft.com/office/drawing/2014/main" id="{D4B5BB67-109A-AB8C-927F-3857FE9E7E1B}"/>
              </a:ext>
            </a:extLst>
          </p:cNvPr>
          <p:cNvSpPr>
            <a:spLocks noGrp="1" noChangeArrowheads="1"/>
          </p:cNvSpPr>
          <p:nvPr>
            <p:ph idx="1"/>
          </p:nvPr>
        </p:nvSpPr>
        <p:spPr>
          <a:xfrm>
            <a:off x="4191000" y="1447800"/>
            <a:ext cx="4594225" cy="4897438"/>
          </a:xfrm>
        </p:spPr>
        <p:txBody>
          <a:bodyPr/>
          <a:lstStyle/>
          <a:p>
            <a:pPr eaLnBrk="1" hangingPunct="1"/>
            <a:r>
              <a:rPr lang="zh-CN" altLang="en-US" dirty="0"/>
              <a:t>因数组以行为主存放，页面大小为128字节，故每行占一个页面。</a:t>
            </a:r>
          </a:p>
          <a:p>
            <a:pPr eaLnBrk="1" hangingPunct="1"/>
            <a:r>
              <a:rPr lang="zh-CN" altLang="en-US" dirty="0"/>
              <a:t>程序1的内层循环将每行中的指定列置为0，故产生128次中断。</a:t>
            </a:r>
          </a:p>
          <a:p>
            <a:pPr eaLnBrk="1" hangingPunct="1"/>
            <a:r>
              <a:rPr lang="zh-CN" altLang="en-US" dirty="0"/>
              <a:t>外层循环128次，总缺页次数为128×128。</a:t>
            </a:r>
          </a:p>
        </p:txBody>
      </p:sp>
      <p:sp>
        <p:nvSpPr>
          <p:cNvPr id="110595" name="Rectangle 4">
            <a:extLst>
              <a:ext uri="{FF2B5EF4-FFF2-40B4-BE49-F238E27FC236}">
                <a16:creationId xmlns:a16="http://schemas.microsoft.com/office/drawing/2014/main" id="{F706732C-7B92-F9D0-18E2-5657E260834A}"/>
              </a:ext>
            </a:extLst>
          </p:cNvPr>
          <p:cNvSpPr>
            <a:spLocks noChangeArrowheads="1"/>
          </p:cNvSpPr>
          <p:nvPr/>
        </p:nvSpPr>
        <p:spPr bwMode="auto">
          <a:xfrm>
            <a:off x="304800" y="1449388"/>
            <a:ext cx="40386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Font typeface="Wingdings" pitchFamily="2" charset="2"/>
              <a:buChar char="n"/>
            </a:pPr>
            <a:r>
              <a:rPr lang="zh-CN" altLang="en-US" sz="2800" dirty="0"/>
              <a:t>程序1</a:t>
            </a:r>
          </a:p>
          <a:p>
            <a:pPr>
              <a:spcBef>
                <a:spcPct val="50000"/>
              </a:spcBef>
            </a:pPr>
            <a:r>
              <a:rPr lang="en-US" altLang="zh-CN" sz="2800" dirty="0"/>
              <a:t> short int a[128][128]；</a:t>
            </a:r>
          </a:p>
          <a:p>
            <a:pPr>
              <a:spcBef>
                <a:spcPct val="50000"/>
              </a:spcBef>
            </a:pPr>
            <a:r>
              <a:rPr lang="en-US" altLang="zh-CN" sz="2800" dirty="0"/>
              <a:t> for (j=0;j&lt;=127;j++) </a:t>
            </a:r>
          </a:p>
          <a:p>
            <a:pPr>
              <a:spcBef>
                <a:spcPct val="50000"/>
              </a:spcBef>
            </a:pPr>
            <a:r>
              <a:rPr lang="en-US" altLang="zh-CN" sz="2800" dirty="0"/>
              <a:t>   for (</a:t>
            </a:r>
            <a:r>
              <a:rPr lang="en-US" altLang="zh-CN" sz="2800" dirty="0" err="1"/>
              <a:t>i</a:t>
            </a:r>
            <a:r>
              <a:rPr lang="en-US" altLang="zh-CN" sz="2800" dirty="0"/>
              <a:t>=0;i&lt;=127;i++)</a:t>
            </a:r>
          </a:p>
          <a:p>
            <a:pPr>
              <a:spcBef>
                <a:spcPct val="50000"/>
              </a:spcBef>
            </a:pPr>
            <a:r>
              <a:rPr lang="en-US" altLang="zh-CN" sz="2800" dirty="0"/>
              <a:t>     a[</a:t>
            </a:r>
            <a:r>
              <a:rPr lang="en-US" altLang="zh-CN" sz="2800" dirty="0" err="1"/>
              <a:t>i</a:t>
            </a:r>
            <a:r>
              <a:rPr lang="en-US" altLang="zh-CN" sz="2800" dirty="0"/>
              <a:t>][j]=0;</a:t>
            </a:r>
            <a:endParaRPr lang="zh-CN" altLang="en-US" sz="28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54979">
                                            <p:txEl>
                                              <p:pRg st="0" end="0"/>
                                            </p:txEl>
                                          </p:spTgt>
                                        </p:tgtEl>
                                        <p:attrNameLst>
                                          <p:attrName>style.visibility</p:attrName>
                                        </p:attrNameLst>
                                      </p:cBhvr>
                                      <p:to>
                                        <p:strVal val="visible"/>
                                      </p:to>
                                    </p:set>
                                    <p:animEffect transition="in" filter="checkerboard(across)">
                                      <p:cBhvr>
                                        <p:cTn id="7" dur="500"/>
                                        <p:tgtEl>
                                          <p:spTgt spid="2549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54979">
                                            <p:txEl>
                                              <p:pRg st="1" end="1"/>
                                            </p:txEl>
                                          </p:spTgt>
                                        </p:tgtEl>
                                        <p:attrNameLst>
                                          <p:attrName>style.visibility</p:attrName>
                                        </p:attrNameLst>
                                      </p:cBhvr>
                                      <p:to>
                                        <p:strVal val="visible"/>
                                      </p:to>
                                    </p:set>
                                    <p:animEffect transition="in" filter="checkerboard(across)">
                                      <p:cBhvr>
                                        <p:cTn id="12" dur="500"/>
                                        <p:tgtEl>
                                          <p:spTgt spid="2549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54979">
                                            <p:txEl>
                                              <p:pRg st="2" end="2"/>
                                            </p:txEl>
                                          </p:spTgt>
                                        </p:tgtEl>
                                        <p:attrNameLst>
                                          <p:attrName>style.visibility</p:attrName>
                                        </p:attrNameLst>
                                      </p:cBhvr>
                                      <p:to>
                                        <p:strVal val="visible"/>
                                      </p:to>
                                    </p:set>
                                    <p:animEffect transition="in" filter="checkerboard(across)">
                                      <p:cBhvr>
                                        <p:cTn id="17" dur="500"/>
                                        <p:tgtEl>
                                          <p:spTgt spid="2549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9" grpId="0" build="p"/>
    </p:bldLst>
  </p:timing>
</p:sld>
</file>

<file path=ppt/slides/slide2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25B9E3E9-0D35-DA5F-4FA0-CB5D19927C41}"/>
              </a:ext>
            </a:extLst>
          </p:cNvPr>
          <p:cNvSpPr>
            <a:spLocks noGrp="1" noChangeArrowheads="1"/>
          </p:cNvSpPr>
          <p:nvPr>
            <p:ph type="title"/>
          </p:nvPr>
        </p:nvSpPr>
        <p:spPr/>
        <p:txBody>
          <a:bodyPr/>
          <a:lstStyle/>
          <a:p>
            <a:pPr eaLnBrk="1" hangingPunct="1"/>
            <a:r>
              <a:rPr lang="zh-CN" altLang="en-US"/>
              <a:t>程序2的缺页次数</a:t>
            </a:r>
          </a:p>
        </p:txBody>
      </p:sp>
      <p:sp>
        <p:nvSpPr>
          <p:cNvPr id="258051" name="Rectangle 3">
            <a:extLst>
              <a:ext uri="{FF2B5EF4-FFF2-40B4-BE49-F238E27FC236}">
                <a16:creationId xmlns:a16="http://schemas.microsoft.com/office/drawing/2014/main" id="{8B1BC677-AAE4-2B3F-EA81-2548EB0E7D8C}"/>
              </a:ext>
            </a:extLst>
          </p:cNvPr>
          <p:cNvSpPr>
            <a:spLocks noGrp="1" noChangeArrowheads="1"/>
          </p:cNvSpPr>
          <p:nvPr>
            <p:ph idx="1"/>
          </p:nvPr>
        </p:nvSpPr>
        <p:spPr>
          <a:xfrm>
            <a:off x="4191000" y="1447800"/>
            <a:ext cx="4629150" cy="4968875"/>
          </a:xfrm>
        </p:spPr>
        <p:txBody>
          <a:bodyPr/>
          <a:lstStyle/>
          <a:p>
            <a:pPr eaLnBrk="1" hangingPunct="1"/>
            <a:r>
              <a:rPr lang="zh-CN" altLang="en-US"/>
              <a:t>因数组以行为主存放，页面大小为128字节，故每行占一个页面。</a:t>
            </a:r>
          </a:p>
          <a:p>
            <a:pPr eaLnBrk="1" hangingPunct="1"/>
            <a:r>
              <a:rPr lang="zh-CN" altLang="en-US"/>
              <a:t>程序2的内层循环将每行的所有列置为0，故产生1次中断。</a:t>
            </a:r>
          </a:p>
          <a:p>
            <a:pPr eaLnBrk="1" hangingPunct="1"/>
            <a:r>
              <a:rPr lang="zh-CN" altLang="en-US"/>
              <a:t>外层循环128次，总缺页次数为128。</a:t>
            </a:r>
          </a:p>
        </p:txBody>
      </p:sp>
      <p:sp>
        <p:nvSpPr>
          <p:cNvPr id="112643" name="Rectangle 4">
            <a:extLst>
              <a:ext uri="{FF2B5EF4-FFF2-40B4-BE49-F238E27FC236}">
                <a16:creationId xmlns:a16="http://schemas.microsoft.com/office/drawing/2014/main" id="{BFD2CF76-4F9C-D517-C00D-ABBBB1F8098A}"/>
              </a:ext>
            </a:extLst>
          </p:cNvPr>
          <p:cNvSpPr>
            <a:spLocks noChangeArrowheads="1"/>
          </p:cNvSpPr>
          <p:nvPr/>
        </p:nvSpPr>
        <p:spPr bwMode="auto">
          <a:xfrm>
            <a:off x="250825" y="1449388"/>
            <a:ext cx="4038600" cy="308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Font typeface="Wingdings" pitchFamily="2" charset="2"/>
              <a:buChar char="n"/>
            </a:pPr>
            <a:r>
              <a:rPr lang="zh-CN" altLang="en-US" sz="2800" dirty="0"/>
              <a:t>程序2</a:t>
            </a:r>
          </a:p>
          <a:p>
            <a:pPr>
              <a:spcBef>
                <a:spcPct val="50000"/>
              </a:spcBef>
            </a:pPr>
            <a:r>
              <a:rPr lang="en-US" altLang="zh-CN" sz="2800" dirty="0"/>
              <a:t> short int a[128][128]；</a:t>
            </a:r>
          </a:p>
          <a:p>
            <a:pPr>
              <a:spcBef>
                <a:spcPct val="50000"/>
              </a:spcBef>
            </a:pPr>
            <a:r>
              <a:rPr lang="en-US" altLang="zh-CN" sz="2800" dirty="0"/>
              <a:t> for (</a:t>
            </a:r>
            <a:r>
              <a:rPr lang="en-US" altLang="zh-CN" sz="2800" dirty="0" err="1"/>
              <a:t>i</a:t>
            </a:r>
            <a:r>
              <a:rPr lang="en-US" altLang="zh-CN" sz="2800" dirty="0"/>
              <a:t>=0;i&lt;=127;i++) </a:t>
            </a:r>
          </a:p>
          <a:p>
            <a:pPr>
              <a:spcBef>
                <a:spcPct val="50000"/>
              </a:spcBef>
            </a:pPr>
            <a:r>
              <a:rPr lang="en-US" altLang="zh-CN" sz="2800" dirty="0"/>
              <a:t>   for (j=0;j&lt;=127;j++)</a:t>
            </a:r>
          </a:p>
          <a:p>
            <a:pPr>
              <a:spcBef>
                <a:spcPct val="50000"/>
              </a:spcBef>
            </a:pPr>
            <a:r>
              <a:rPr lang="en-US" altLang="zh-CN" sz="2800" dirty="0"/>
              <a:t>     a[</a:t>
            </a:r>
            <a:r>
              <a:rPr lang="en-US" altLang="zh-CN" sz="2800" dirty="0" err="1"/>
              <a:t>i</a:t>
            </a:r>
            <a:r>
              <a:rPr lang="en-US" altLang="zh-CN" sz="2800" dirty="0"/>
              <a:t>][j]=0;</a:t>
            </a:r>
            <a:endParaRPr lang="zh-CN" altLang="en-US" sz="28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58051">
                                            <p:txEl>
                                              <p:pRg st="0" end="0"/>
                                            </p:txEl>
                                          </p:spTgt>
                                        </p:tgtEl>
                                        <p:attrNameLst>
                                          <p:attrName>style.visibility</p:attrName>
                                        </p:attrNameLst>
                                      </p:cBhvr>
                                      <p:to>
                                        <p:strVal val="visible"/>
                                      </p:to>
                                    </p:set>
                                    <p:animEffect transition="in" filter="checkerboard(across)">
                                      <p:cBhvr>
                                        <p:cTn id="7" dur="500"/>
                                        <p:tgtEl>
                                          <p:spTgt spid="2580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58051">
                                            <p:txEl>
                                              <p:pRg st="1" end="1"/>
                                            </p:txEl>
                                          </p:spTgt>
                                        </p:tgtEl>
                                        <p:attrNameLst>
                                          <p:attrName>style.visibility</p:attrName>
                                        </p:attrNameLst>
                                      </p:cBhvr>
                                      <p:to>
                                        <p:strVal val="visible"/>
                                      </p:to>
                                    </p:set>
                                    <p:animEffect transition="in" filter="checkerboard(across)">
                                      <p:cBhvr>
                                        <p:cTn id="12" dur="500"/>
                                        <p:tgtEl>
                                          <p:spTgt spid="2580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58051">
                                            <p:txEl>
                                              <p:pRg st="2" end="2"/>
                                            </p:txEl>
                                          </p:spTgt>
                                        </p:tgtEl>
                                        <p:attrNameLst>
                                          <p:attrName>style.visibility</p:attrName>
                                        </p:attrNameLst>
                                      </p:cBhvr>
                                      <p:to>
                                        <p:strVal val="visible"/>
                                      </p:to>
                                    </p:set>
                                    <p:animEffect transition="in" filter="checkerboard(across)">
                                      <p:cBhvr>
                                        <p:cTn id="17" dur="500"/>
                                        <p:tgtEl>
                                          <p:spTgt spid="2580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1" grpId="0" build="p"/>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7618CB88-1C8B-A263-C74B-02868F925B08}"/>
              </a:ext>
            </a:extLst>
          </p:cNvPr>
          <p:cNvSpPr>
            <a:spLocks noGrp="1" noChangeArrowheads="1"/>
          </p:cNvSpPr>
          <p:nvPr>
            <p:ph type="title"/>
          </p:nvPr>
        </p:nvSpPr>
        <p:spPr>
          <a:xfrm>
            <a:off x="1042988" y="225431"/>
            <a:ext cx="7850187" cy="746125"/>
          </a:xfrm>
        </p:spPr>
        <p:txBody>
          <a:bodyPr/>
          <a:lstStyle/>
          <a:p>
            <a:r>
              <a:rPr lang="zh-CN" altLang="en-US"/>
              <a:t>请求分段存储管理</a:t>
            </a:r>
            <a:endParaRPr lang="en-US" altLang="zh-CN"/>
          </a:p>
        </p:txBody>
      </p:sp>
      <p:sp>
        <p:nvSpPr>
          <p:cNvPr id="114690" name="Rectangle 3">
            <a:extLst>
              <a:ext uri="{FF2B5EF4-FFF2-40B4-BE49-F238E27FC236}">
                <a16:creationId xmlns:a16="http://schemas.microsoft.com/office/drawing/2014/main" id="{C58499C6-A3EC-CA19-A30E-FFDF4C05FF61}"/>
              </a:ext>
            </a:extLst>
          </p:cNvPr>
          <p:cNvSpPr>
            <a:spLocks noGrp="1" noChangeArrowheads="1"/>
          </p:cNvSpPr>
          <p:nvPr>
            <p:ph idx="1"/>
          </p:nvPr>
        </p:nvSpPr>
        <p:spPr>
          <a:xfrm>
            <a:off x="935038" y="1233488"/>
            <a:ext cx="7772400" cy="4895850"/>
          </a:xfrm>
        </p:spPr>
        <p:txBody>
          <a:bodyPr/>
          <a:lstStyle/>
          <a:p>
            <a:r>
              <a:rPr lang="zh-CN" altLang="en-US"/>
              <a:t>请求分段存储管理是另一种实现虚拟存储器的方法。</a:t>
            </a:r>
          </a:p>
          <a:p>
            <a:r>
              <a:rPr lang="zh-CN" altLang="en-US"/>
              <a:t>分段有如下优点：</a:t>
            </a:r>
          </a:p>
          <a:p>
            <a:pPr lvl="1"/>
            <a:r>
              <a:rPr lang="zh-CN" altLang="en-US"/>
              <a:t>有利于动态增长</a:t>
            </a:r>
          </a:p>
          <a:p>
            <a:pPr lvl="1"/>
            <a:r>
              <a:rPr lang="zh-CN" altLang="en-US"/>
              <a:t>允许按段进行编译</a:t>
            </a:r>
          </a:p>
          <a:p>
            <a:pPr lvl="1"/>
            <a:r>
              <a:rPr lang="zh-CN" altLang="en-US"/>
              <a:t>有利于共享</a:t>
            </a:r>
          </a:p>
          <a:p>
            <a:pPr lvl="1"/>
            <a:r>
              <a:rPr lang="zh-CN" altLang="en-US"/>
              <a:t>有利于保护</a:t>
            </a:r>
          </a:p>
        </p:txBody>
      </p:sp>
    </p:spTree>
  </p:cSld>
  <p:clrMapOvr>
    <a:masterClrMapping/>
  </p:clrMapOvr>
  <p:transition spd="med">
    <p:zoom/>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D056B387-BDB6-62B7-C2D0-FF8A89CF095E}"/>
              </a:ext>
            </a:extLst>
          </p:cNvPr>
          <p:cNvSpPr>
            <a:spLocks noGrp="1" noChangeArrowheads="1"/>
          </p:cNvSpPr>
          <p:nvPr>
            <p:ph type="title"/>
          </p:nvPr>
        </p:nvSpPr>
        <p:spPr>
          <a:xfrm>
            <a:off x="1042988" y="225431"/>
            <a:ext cx="7850187" cy="746125"/>
          </a:xfrm>
        </p:spPr>
        <p:txBody>
          <a:bodyPr/>
          <a:lstStyle/>
          <a:p>
            <a:r>
              <a:rPr lang="zh-CN" altLang="en-US"/>
              <a:t>请求分段的实现思想</a:t>
            </a:r>
          </a:p>
        </p:txBody>
      </p:sp>
      <p:sp>
        <p:nvSpPr>
          <p:cNvPr id="262147" name="Rectangle 3">
            <a:extLst>
              <a:ext uri="{FF2B5EF4-FFF2-40B4-BE49-F238E27FC236}">
                <a16:creationId xmlns:a16="http://schemas.microsoft.com/office/drawing/2014/main" id="{ED10FD72-D922-E86C-D4EF-973ACE930F86}"/>
              </a:ext>
            </a:extLst>
          </p:cNvPr>
          <p:cNvSpPr>
            <a:spLocks noGrp="1" noChangeArrowheads="1"/>
          </p:cNvSpPr>
          <p:nvPr>
            <p:ph idx="1"/>
          </p:nvPr>
        </p:nvSpPr>
        <p:spPr>
          <a:xfrm>
            <a:off x="935038" y="1233488"/>
            <a:ext cx="7772400" cy="4895850"/>
          </a:xfrm>
        </p:spPr>
        <p:txBody>
          <a:bodyPr>
            <a:normAutofit fontScale="92500"/>
          </a:bodyPr>
          <a:lstStyle/>
          <a:p>
            <a:r>
              <a:rPr lang="zh-CN" altLang="en-US" dirty="0"/>
              <a:t>请求分段存储管理系统基于分段存储管理，是在分段存储管理系统的基础上，增加了请求调段、分段置换功能所形成的一种虚拟存储系统。</a:t>
            </a:r>
          </a:p>
          <a:p>
            <a:r>
              <a:rPr lang="zh-CN" altLang="en-US" dirty="0"/>
              <a:t>在请求分段存储管理中，作业运行之前，只要求将当前需要的若干个分段装入主存，便可启动作业运行。在作业运行过程中，若所要访问的分段不在主存，则通过调段功能将其调入，同时还可以通过置换功能将暂时不用的分段换出到外存上，以便腾出内存空间。</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2147">
                                            <p:txEl>
                                              <p:pRg st="0" end="0"/>
                                            </p:txEl>
                                          </p:spTgt>
                                        </p:tgtEl>
                                        <p:attrNameLst>
                                          <p:attrName>style.visibility</p:attrName>
                                        </p:attrNameLst>
                                      </p:cBhvr>
                                      <p:to>
                                        <p:strVal val="visible"/>
                                      </p:to>
                                    </p:set>
                                    <p:animEffect transition="in" filter="checkerboard(across)">
                                      <p:cBhvr>
                                        <p:cTn id="7" dur="500"/>
                                        <p:tgtEl>
                                          <p:spTgt spid="262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62147">
                                            <p:txEl>
                                              <p:pRg st="1" end="1"/>
                                            </p:txEl>
                                          </p:spTgt>
                                        </p:tgtEl>
                                        <p:attrNameLst>
                                          <p:attrName>style.visibility</p:attrName>
                                        </p:attrNameLst>
                                      </p:cBhvr>
                                      <p:to>
                                        <p:strVal val="visible"/>
                                      </p:to>
                                    </p:set>
                                    <p:animEffect transition="in" filter="checkerboard(across)">
                                      <p:cBhvr>
                                        <p:cTn id="12" dur="500"/>
                                        <p:tgtEl>
                                          <p:spTgt spid="2621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7" grpId="0" build="p"/>
    </p:bld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a:extLst>
              <a:ext uri="{FF2B5EF4-FFF2-40B4-BE49-F238E27FC236}">
                <a16:creationId xmlns:a16="http://schemas.microsoft.com/office/drawing/2014/main" id="{C6DF6F0F-E80D-29AF-58D0-3E31CF3A786F}"/>
              </a:ext>
            </a:extLst>
          </p:cNvPr>
          <p:cNvSpPr>
            <a:spLocks noGrp="1" noChangeArrowheads="1"/>
          </p:cNvSpPr>
          <p:nvPr>
            <p:ph type="title"/>
          </p:nvPr>
        </p:nvSpPr>
        <p:spPr>
          <a:xfrm>
            <a:off x="1042988" y="225431"/>
            <a:ext cx="7850187" cy="746125"/>
          </a:xfrm>
        </p:spPr>
        <p:txBody>
          <a:bodyPr/>
          <a:lstStyle/>
          <a:p>
            <a:r>
              <a:rPr lang="zh-CN" altLang="en-US"/>
              <a:t>请求分段的支持机构</a:t>
            </a:r>
          </a:p>
        </p:txBody>
      </p:sp>
      <p:sp>
        <p:nvSpPr>
          <p:cNvPr id="116738" name="Rectangle 3">
            <a:extLst>
              <a:ext uri="{FF2B5EF4-FFF2-40B4-BE49-F238E27FC236}">
                <a16:creationId xmlns:a16="http://schemas.microsoft.com/office/drawing/2014/main" id="{E912D8D3-8748-E772-469B-F7545B3DAFE5}"/>
              </a:ext>
            </a:extLst>
          </p:cNvPr>
          <p:cNvSpPr>
            <a:spLocks noGrp="1" noChangeArrowheads="1"/>
          </p:cNvSpPr>
          <p:nvPr>
            <p:ph idx="1"/>
          </p:nvPr>
        </p:nvSpPr>
        <p:spPr>
          <a:xfrm>
            <a:off x="935038" y="1233488"/>
            <a:ext cx="7772400" cy="4895850"/>
          </a:xfrm>
        </p:spPr>
        <p:txBody>
          <a:bodyPr/>
          <a:lstStyle/>
          <a:p>
            <a:r>
              <a:rPr lang="zh-CN" altLang="en-US"/>
              <a:t>请求分段的支持机构有：</a:t>
            </a:r>
          </a:p>
          <a:p>
            <a:pPr lvl="1"/>
            <a:r>
              <a:rPr lang="zh-CN" altLang="en-US"/>
              <a:t>段表</a:t>
            </a:r>
          </a:p>
          <a:p>
            <a:pPr lvl="1"/>
            <a:r>
              <a:rPr lang="zh-CN" altLang="en-US"/>
              <a:t>缺段中断机构</a:t>
            </a:r>
          </a:p>
          <a:p>
            <a:pPr lvl="1"/>
            <a:r>
              <a:rPr lang="zh-CN" altLang="en-US"/>
              <a:t>地址变换机构</a:t>
            </a:r>
          </a:p>
          <a:p>
            <a:pPr lvl="1"/>
            <a:r>
              <a:rPr lang="zh-CN" altLang="en-US"/>
              <a:t>请求调段和分段置换软件</a:t>
            </a:r>
          </a:p>
        </p:txBody>
      </p:sp>
    </p:spTree>
  </p:cSld>
  <p:clrMapOvr>
    <a:masterClrMapping/>
  </p:clrMapOvr>
  <p:transition spd="med">
    <p:zoom/>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a16="http://schemas.microsoft.com/office/drawing/2014/main" id="{8C0913B5-E295-4819-77BB-8FBD237B83B4}"/>
              </a:ext>
            </a:extLst>
          </p:cNvPr>
          <p:cNvSpPr>
            <a:spLocks noGrp="1" noChangeArrowheads="1"/>
          </p:cNvSpPr>
          <p:nvPr>
            <p:ph type="title"/>
          </p:nvPr>
        </p:nvSpPr>
        <p:spPr>
          <a:xfrm>
            <a:off x="1042988" y="225431"/>
            <a:ext cx="7850187" cy="746125"/>
          </a:xfrm>
        </p:spPr>
        <p:txBody>
          <a:bodyPr/>
          <a:lstStyle/>
          <a:p>
            <a:r>
              <a:rPr lang="zh-CN" altLang="en-US"/>
              <a:t>段表结构</a:t>
            </a:r>
          </a:p>
        </p:txBody>
      </p:sp>
      <p:sp>
        <p:nvSpPr>
          <p:cNvPr id="117762" name="Rectangle 3">
            <a:extLst>
              <a:ext uri="{FF2B5EF4-FFF2-40B4-BE49-F238E27FC236}">
                <a16:creationId xmlns:a16="http://schemas.microsoft.com/office/drawing/2014/main" id="{D338BEDC-6027-79C5-400D-57603E03E5ED}"/>
              </a:ext>
            </a:extLst>
          </p:cNvPr>
          <p:cNvSpPr>
            <a:spLocks noGrp="1" noChangeArrowheads="1"/>
          </p:cNvSpPr>
          <p:nvPr>
            <p:ph idx="1"/>
          </p:nvPr>
        </p:nvSpPr>
        <p:spPr>
          <a:xfrm>
            <a:off x="935038" y="1233488"/>
            <a:ext cx="7772400" cy="4895850"/>
          </a:xfrm>
        </p:spPr>
        <p:txBody>
          <a:bodyPr/>
          <a:lstStyle/>
          <a:p>
            <a:r>
              <a:rPr lang="zh-CN" altLang="en-US"/>
              <a:t>请求分段系统中使用的主要数据结构仍然是段表。</a:t>
            </a:r>
          </a:p>
          <a:p>
            <a:r>
              <a:rPr lang="zh-CN" altLang="en-US"/>
              <a:t>由于每次只将作业的一部分调入内存，还有一部分内容存放在磁盘上，故需扩充段表表项，扩充后的段表项如下所示：</a:t>
            </a:r>
          </a:p>
        </p:txBody>
      </p:sp>
    </p:spTree>
  </p:cSld>
  <p:clrMapOvr>
    <a:masterClrMapping/>
  </p:clrMapOvr>
  <p:transition spd="med">
    <p:zoom/>
  </p:transition>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a:extLst>
              <a:ext uri="{FF2B5EF4-FFF2-40B4-BE49-F238E27FC236}">
                <a16:creationId xmlns:a16="http://schemas.microsoft.com/office/drawing/2014/main" id="{7F0D5FDD-4984-7EA1-27CF-DE7BDEF55A4C}"/>
              </a:ext>
            </a:extLst>
          </p:cNvPr>
          <p:cNvSpPr>
            <a:spLocks noGrp="1" noChangeArrowheads="1"/>
          </p:cNvSpPr>
          <p:nvPr>
            <p:ph type="title"/>
          </p:nvPr>
        </p:nvSpPr>
        <p:spPr/>
        <p:txBody>
          <a:bodyPr/>
          <a:lstStyle/>
          <a:p>
            <a:pPr eaLnBrk="1" hangingPunct="1"/>
            <a:r>
              <a:rPr lang="zh-CN" altLang="en-US"/>
              <a:t>段表项中各字段的说明</a:t>
            </a:r>
          </a:p>
        </p:txBody>
      </p:sp>
      <p:sp>
        <p:nvSpPr>
          <p:cNvPr id="173059" name="Rectangle 3">
            <a:extLst>
              <a:ext uri="{FF2B5EF4-FFF2-40B4-BE49-F238E27FC236}">
                <a16:creationId xmlns:a16="http://schemas.microsoft.com/office/drawing/2014/main" id="{4D87A919-0043-F9A1-35EE-A7A5029E4B9C}"/>
              </a:ext>
            </a:extLst>
          </p:cNvPr>
          <p:cNvSpPr>
            <a:spLocks noGrp="1" noChangeArrowheads="1"/>
          </p:cNvSpPr>
          <p:nvPr>
            <p:ph idx="1"/>
          </p:nvPr>
        </p:nvSpPr>
        <p:spPr>
          <a:xfrm>
            <a:off x="228600" y="2438400"/>
            <a:ext cx="8726488" cy="3697288"/>
          </a:xfrm>
        </p:spPr>
        <p:txBody>
          <a:bodyPr>
            <a:normAutofit lnSpcReduction="10000"/>
          </a:bodyPr>
          <a:lstStyle/>
          <a:p>
            <a:pPr algn="just" eaLnBrk="1" hangingPunct="1"/>
            <a:r>
              <a:rPr lang="zh-CN" altLang="en-US" sz="2800">
                <a:solidFill>
                  <a:srgbClr val="FF0000"/>
                </a:solidFill>
              </a:rPr>
              <a:t>段号、段长和段基址</a:t>
            </a:r>
            <a:r>
              <a:rPr lang="zh-CN" altLang="en-US" sz="2800"/>
              <a:t>：其定义同分段存储管理。</a:t>
            </a:r>
          </a:p>
          <a:p>
            <a:pPr algn="just" eaLnBrk="1" hangingPunct="1"/>
            <a:r>
              <a:rPr lang="zh-CN" altLang="en-US" sz="2800">
                <a:solidFill>
                  <a:srgbClr val="FF0000"/>
                </a:solidFill>
              </a:rPr>
              <a:t>存取方式</a:t>
            </a:r>
            <a:r>
              <a:rPr lang="zh-CN" altLang="en-US" sz="2800"/>
              <a:t>：标识该分段的存取方式：读、写、执行。</a:t>
            </a:r>
          </a:p>
          <a:p>
            <a:pPr algn="just" eaLnBrk="1" hangingPunct="1"/>
            <a:r>
              <a:rPr lang="zh-CN" altLang="en-US" sz="2800">
                <a:solidFill>
                  <a:srgbClr val="FF0000"/>
                </a:solidFill>
              </a:rPr>
              <a:t>访问字段</a:t>
            </a:r>
            <a:r>
              <a:rPr lang="zh-CN" altLang="en-US" sz="2800"/>
              <a:t>：记录该段在一段时间内被访问的次数。</a:t>
            </a:r>
          </a:p>
          <a:p>
            <a:pPr algn="just" eaLnBrk="1" hangingPunct="1"/>
            <a:r>
              <a:rPr lang="zh-CN" altLang="en-US" sz="2800">
                <a:solidFill>
                  <a:srgbClr val="FF0000"/>
                </a:solidFill>
              </a:rPr>
              <a:t>修改位</a:t>
            </a:r>
            <a:r>
              <a:rPr lang="zh-CN" altLang="en-US" sz="2800"/>
              <a:t>：表示该段调入内存后是否被修改过。</a:t>
            </a:r>
          </a:p>
          <a:p>
            <a:pPr algn="just" eaLnBrk="1" hangingPunct="1"/>
            <a:r>
              <a:rPr lang="zh-CN" altLang="en-US" sz="2800">
                <a:solidFill>
                  <a:srgbClr val="FF0000"/>
                </a:solidFill>
              </a:rPr>
              <a:t>存在位</a:t>
            </a:r>
            <a:r>
              <a:rPr lang="zh-CN" altLang="en-US" sz="2800"/>
              <a:t>：表示该段是否在主存中。</a:t>
            </a:r>
          </a:p>
          <a:p>
            <a:pPr algn="just" eaLnBrk="1" hangingPunct="1"/>
            <a:r>
              <a:rPr lang="zh-CN" altLang="en-US" sz="2800">
                <a:solidFill>
                  <a:srgbClr val="FF0000"/>
                </a:solidFill>
              </a:rPr>
              <a:t>增补位</a:t>
            </a:r>
            <a:r>
              <a:rPr lang="zh-CN" altLang="en-US" sz="2800"/>
              <a:t>：指出该段在运行过程中，是否作过动态增长。</a:t>
            </a:r>
          </a:p>
          <a:p>
            <a:pPr algn="just" eaLnBrk="1" hangingPunct="1"/>
            <a:r>
              <a:rPr lang="zh-CN" altLang="en-US" sz="2800">
                <a:solidFill>
                  <a:srgbClr val="FF0000"/>
                </a:solidFill>
              </a:rPr>
              <a:t>外存地址</a:t>
            </a:r>
            <a:r>
              <a:rPr lang="zh-CN" altLang="en-US" sz="2800"/>
              <a:t>：指出该段在外存上的地址。</a:t>
            </a:r>
          </a:p>
        </p:txBody>
      </p:sp>
      <p:graphicFrame>
        <p:nvGraphicFramePr>
          <p:cNvPr id="173084" name="Group 28">
            <a:extLst>
              <a:ext uri="{FF2B5EF4-FFF2-40B4-BE49-F238E27FC236}">
                <a16:creationId xmlns:a16="http://schemas.microsoft.com/office/drawing/2014/main" id="{8EA29B2B-0B97-EDA7-948B-DB5987E1D511}"/>
              </a:ext>
            </a:extLst>
          </p:cNvPr>
          <p:cNvGraphicFramePr>
            <a:graphicFrameLocks noGrp="1"/>
          </p:cNvGraphicFramePr>
          <p:nvPr/>
        </p:nvGraphicFramePr>
        <p:xfrm>
          <a:off x="838200" y="1524000"/>
          <a:ext cx="7620000" cy="701675"/>
        </p:xfrm>
        <a:graphic>
          <a:graphicData uri="http://schemas.openxmlformats.org/drawingml/2006/table">
            <a:tbl>
              <a:tblPr/>
              <a:tblGrid>
                <a:gridCol w="762000">
                  <a:extLst>
                    <a:ext uri="{9D8B030D-6E8A-4147-A177-3AD203B41FA5}">
                      <a16:colId xmlns:a16="http://schemas.microsoft.com/office/drawing/2014/main" val="3427692378"/>
                    </a:ext>
                  </a:extLst>
                </a:gridCol>
                <a:gridCol w="762000">
                  <a:extLst>
                    <a:ext uri="{9D8B030D-6E8A-4147-A177-3AD203B41FA5}">
                      <a16:colId xmlns:a16="http://schemas.microsoft.com/office/drawing/2014/main" val="3239024260"/>
                    </a:ext>
                  </a:extLst>
                </a:gridCol>
                <a:gridCol w="914400">
                  <a:extLst>
                    <a:ext uri="{9D8B030D-6E8A-4147-A177-3AD203B41FA5}">
                      <a16:colId xmlns:a16="http://schemas.microsoft.com/office/drawing/2014/main" val="4083619981"/>
                    </a:ext>
                  </a:extLst>
                </a:gridCol>
                <a:gridCol w="914400">
                  <a:extLst>
                    <a:ext uri="{9D8B030D-6E8A-4147-A177-3AD203B41FA5}">
                      <a16:colId xmlns:a16="http://schemas.microsoft.com/office/drawing/2014/main" val="1014956467"/>
                    </a:ext>
                  </a:extLst>
                </a:gridCol>
                <a:gridCol w="914400">
                  <a:extLst>
                    <a:ext uri="{9D8B030D-6E8A-4147-A177-3AD203B41FA5}">
                      <a16:colId xmlns:a16="http://schemas.microsoft.com/office/drawing/2014/main" val="4131200228"/>
                    </a:ext>
                  </a:extLst>
                </a:gridCol>
                <a:gridCol w="838200">
                  <a:extLst>
                    <a:ext uri="{9D8B030D-6E8A-4147-A177-3AD203B41FA5}">
                      <a16:colId xmlns:a16="http://schemas.microsoft.com/office/drawing/2014/main" val="3324621370"/>
                    </a:ext>
                  </a:extLst>
                </a:gridCol>
                <a:gridCol w="762000">
                  <a:extLst>
                    <a:ext uri="{9D8B030D-6E8A-4147-A177-3AD203B41FA5}">
                      <a16:colId xmlns:a16="http://schemas.microsoft.com/office/drawing/2014/main" val="3096823779"/>
                    </a:ext>
                  </a:extLst>
                </a:gridCol>
                <a:gridCol w="914400">
                  <a:extLst>
                    <a:ext uri="{9D8B030D-6E8A-4147-A177-3AD203B41FA5}">
                      <a16:colId xmlns:a16="http://schemas.microsoft.com/office/drawing/2014/main" val="1870419488"/>
                    </a:ext>
                  </a:extLst>
                </a:gridCol>
                <a:gridCol w="838200">
                  <a:extLst>
                    <a:ext uri="{9D8B030D-6E8A-4147-A177-3AD203B41FA5}">
                      <a16:colId xmlns:a16="http://schemas.microsoft.com/office/drawing/2014/main" val="1915565923"/>
                    </a:ext>
                  </a:extLst>
                </a:gridCol>
              </a:tblGrid>
              <a:tr h="701675">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段号</a:t>
                      </a:r>
                    </a:p>
                  </a:txBody>
                  <a:tcPr anchor="ctr"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段长</a:t>
                      </a:r>
                    </a:p>
                  </a:txBody>
                  <a:tcPr anchor="ctr"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段基址</a:t>
                      </a:r>
                    </a:p>
                  </a:txBody>
                  <a:tcPr anchor="ctr"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存 取   方 式</a:t>
                      </a:r>
                    </a:p>
                  </a:txBody>
                  <a:tcPr anchor="ctr"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访问字段</a:t>
                      </a:r>
                    </a:p>
                  </a:txBody>
                  <a:tcPr anchor="ctr"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修改位</a:t>
                      </a:r>
                    </a:p>
                  </a:txBody>
                  <a:tcPr anchor="ctr"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存在位</a:t>
                      </a:r>
                    </a:p>
                  </a:txBody>
                  <a:tcPr anchor="ctr"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增补位</a:t>
                      </a:r>
                    </a:p>
                  </a:txBody>
                  <a:tcPr anchor="ctr"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外存地址</a:t>
                      </a:r>
                    </a:p>
                  </a:txBody>
                  <a:tcPr anchor="ctr" horzOverflow="overflow">
                    <a:lnL w="28575"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83035906"/>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73059">
                                            <p:txEl>
                                              <p:pRg st="0" end="0"/>
                                            </p:txEl>
                                          </p:spTgt>
                                        </p:tgtEl>
                                        <p:attrNameLst>
                                          <p:attrName>style.visibility</p:attrName>
                                        </p:attrNameLst>
                                      </p:cBhvr>
                                      <p:to>
                                        <p:strVal val="visible"/>
                                      </p:to>
                                    </p:set>
                                    <p:animEffect transition="in" filter="checkerboard(across)">
                                      <p:cBhvr>
                                        <p:cTn id="7" dur="500"/>
                                        <p:tgtEl>
                                          <p:spTgt spid="173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73059">
                                            <p:txEl>
                                              <p:pRg st="1" end="1"/>
                                            </p:txEl>
                                          </p:spTgt>
                                        </p:tgtEl>
                                        <p:attrNameLst>
                                          <p:attrName>style.visibility</p:attrName>
                                        </p:attrNameLst>
                                      </p:cBhvr>
                                      <p:to>
                                        <p:strVal val="visible"/>
                                      </p:to>
                                    </p:set>
                                    <p:animEffect transition="in" filter="checkerboard(across)">
                                      <p:cBhvr>
                                        <p:cTn id="12" dur="500"/>
                                        <p:tgtEl>
                                          <p:spTgt spid="1730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73059">
                                            <p:txEl>
                                              <p:pRg st="2" end="2"/>
                                            </p:txEl>
                                          </p:spTgt>
                                        </p:tgtEl>
                                        <p:attrNameLst>
                                          <p:attrName>style.visibility</p:attrName>
                                        </p:attrNameLst>
                                      </p:cBhvr>
                                      <p:to>
                                        <p:strVal val="visible"/>
                                      </p:to>
                                    </p:set>
                                    <p:animEffect transition="in" filter="checkerboard(across)">
                                      <p:cBhvr>
                                        <p:cTn id="17" dur="500"/>
                                        <p:tgtEl>
                                          <p:spTgt spid="1730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73059">
                                            <p:txEl>
                                              <p:pRg st="3" end="3"/>
                                            </p:txEl>
                                          </p:spTgt>
                                        </p:tgtEl>
                                        <p:attrNameLst>
                                          <p:attrName>style.visibility</p:attrName>
                                        </p:attrNameLst>
                                      </p:cBhvr>
                                      <p:to>
                                        <p:strVal val="visible"/>
                                      </p:to>
                                    </p:set>
                                    <p:animEffect transition="in" filter="checkerboard(across)">
                                      <p:cBhvr>
                                        <p:cTn id="22" dur="500"/>
                                        <p:tgtEl>
                                          <p:spTgt spid="1730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173059">
                                            <p:txEl>
                                              <p:pRg st="4" end="4"/>
                                            </p:txEl>
                                          </p:spTgt>
                                        </p:tgtEl>
                                        <p:attrNameLst>
                                          <p:attrName>style.visibility</p:attrName>
                                        </p:attrNameLst>
                                      </p:cBhvr>
                                      <p:to>
                                        <p:strVal val="visible"/>
                                      </p:to>
                                    </p:set>
                                    <p:animEffect transition="in" filter="checkerboard(across)">
                                      <p:cBhvr>
                                        <p:cTn id="27" dur="500"/>
                                        <p:tgtEl>
                                          <p:spTgt spid="17305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173059">
                                            <p:txEl>
                                              <p:pRg st="5" end="5"/>
                                            </p:txEl>
                                          </p:spTgt>
                                        </p:tgtEl>
                                        <p:attrNameLst>
                                          <p:attrName>style.visibility</p:attrName>
                                        </p:attrNameLst>
                                      </p:cBhvr>
                                      <p:to>
                                        <p:strVal val="visible"/>
                                      </p:to>
                                    </p:set>
                                    <p:animEffect transition="in" filter="checkerboard(across)">
                                      <p:cBhvr>
                                        <p:cTn id="32" dur="500"/>
                                        <p:tgtEl>
                                          <p:spTgt spid="17305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173059">
                                            <p:txEl>
                                              <p:pRg st="6" end="6"/>
                                            </p:txEl>
                                          </p:spTgt>
                                        </p:tgtEl>
                                        <p:attrNameLst>
                                          <p:attrName>style.visibility</p:attrName>
                                        </p:attrNameLst>
                                      </p:cBhvr>
                                      <p:to>
                                        <p:strVal val="visible"/>
                                      </p:to>
                                    </p:set>
                                    <p:animEffect transition="in" filter="checkerboard(across)">
                                      <p:cBhvr>
                                        <p:cTn id="37" dur="500"/>
                                        <p:tgtEl>
                                          <p:spTgt spid="1730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9" grpId="0" build="p"/>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3BD0D71D-0743-F667-3002-1ED5D7533934}"/>
              </a:ext>
            </a:extLst>
          </p:cNvPr>
          <p:cNvSpPr>
            <a:spLocks noGrp="1" noChangeArrowheads="1"/>
          </p:cNvSpPr>
          <p:nvPr>
            <p:ph type="title"/>
          </p:nvPr>
        </p:nvSpPr>
        <p:spPr>
          <a:xfrm>
            <a:off x="1042988" y="225431"/>
            <a:ext cx="7850187" cy="746125"/>
          </a:xfrm>
        </p:spPr>
        <p:txBody>
          <a:bodyPr/>
          <a:lstStyle/>
          <a:p>
            <a:r>
              <a:rPr lang="zh-CN" altLang="en-US"/>
              <a:t>缺段中断处理</a:t>
            </a:r>
          </a:p>
        </p:txBody>
      </p:sp>
      <p:sp>
        <p:nvSpPr>
          <p:cNvPr id="119810" name="Rectangle 3">
            <a:extLst>
              <a:ext uri="{FF2B5EF4-FFF2-40B4-BE49-F238E27FC236}">
                <a16:creationId xmlns:a16="http://schemas.microsoft.com/office/drawing/2014/main" id="{00A1AB1F-2D1B-4830-0557-14B8AC7CE58C}"/>
              </a:ext>
            </a:extLst>
          </p:cNvPr>
          <p:cNvSpPr>
            <a:spLocks noGrp="1" noChangeArrowheads="1"/>
          </p:cNvSpPr>
          <p:nvPr>
            <p:ph idx="1"/>
          </p:nvPr>
        </p:nvSpPr>
        <p:spPr>
          <a:xfrm>
            <a:off x="935038" y="1233488"/>
            <a:ext cx="7772400" cy="4895850"/>
          </a:xfrm>
        </p:spPr>
        <p:txBody>
          <a:bodyPr/>
          <a:lstStyle/>
          <a:p>
            <a:r>
              <a:rPr lang="zh-CN" altLang="en-US"/>
              <a:t>在请求分段系统中，每当所访问的段不在内存时，便产生一个缺段中断信号，请求</a:t>
            </a:r>
            <a:r>
              <a:rPr lang="en-US" altLang="zh-CN"/>
              <a:t>OS</a:t>
            </a:r>
            <a:r>
              <a:rPr lang="zh-CN" altLang="en-US"/>
              <a:t>将所缺分段调入内存。</a:t>
            </a:r>
          </a:p>
          <a:p>
            <a:r>
              <a:rPr lang="zh-CN" altLang="en-US"/>
              <a:t>缺段中断与缺页中断类似，也是在指令执行期间产生和处理。</a:t>
            </a:r>
          </a:p>
        </p:txBody>
      </p:sp>
    </p:spTree>
  </p:cSld>
  <p:clrMapOvr>
    <a:masterClrMapping/>
  </p:clrMapOvr>
  <p:transition spd="med">
    <p:zoom/>
  </p:transition>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BD45F19F-8487-3638-4EAA-59EB1CDE1F6E}"/>
              </a:ext>
            </a:extLst>
          </p:cNvPr>
          <p:cNvSpPr>
            <a:spLocks noGrp="1" noChangeArrowheads="1"/>
          </p:cNvSpPr>
          <p:nvPr>
            <p:ph type="title"/>
          </p:nvPr>
        </p:nvSpPr>
        <p:spPr/>
        <p:txBody>
          <a:bodyPr/>
          <a:lstStyle/>
          <a:p>
            <a:pPr eaLnBrk="1" hangingPunct="1"/>
            <a:r>
              <a:rPr lang="zh-CN" altLang="en-US"/>
              <a:t>缺段中断处理流程</a:t>
            </a:r>
          </a:p>
        </p:txBody>
      </p:sp>
      <p:sp>
        <p:nvSpPr>
          <p:cNvPr id="120834" name="Rectangle 5">
            <a:extLst>
              <a:ext uri="{FF2B5EF4-FFF2-40B4-BE49-F238E27FC236}">
                <a16:creationId xmlns:a16="http://schemas.microsoft.com/office/drawing/2014/main" id="{BBF53792-029D-64FA-43E3-49086C9AA17C}"/>
              </a:ext>
            </a:extLst>
          </p:cNvPr>
          <p:cNvSpPr>
            <a:spLocks noChangeArrowheads="1"/>
          </p:cNvSpPr>
          <p:nvPr/>
        </p:nvSpPr>
        <p:spPr bwMode="auto">
          <a:xfrm>
            <a:off x="1589088" y="1524000"/>
            <a:ext cx="19161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a:latin typeface="Times New Roman" panose="02020603050405020304" pitchFamily="18" charset="0"/>
              </a:rPr>
              <a:t>缺段中断处理</a:t>
            </a:r>
          </a:p>
        </p:txBody>
      </p:sp>
      <p:sp>
        <p:nvSpPr>
          <p:cNvPr id="120835" name="Rectangle 6">
            <a:extLst>
              <a:ext uri="{FF2B5EF4-FFF2-40B4-BE49-F238E27FC236}">
                <a16:creationId xmlns:a16="http://schemas.microsoft.com/office/drawing/2014/main" id="{9E05ECEF-A568-8E52-1295-B9B77C874303}"/>
              </a:ext>
            </a:extLst>
          </p:cNvPr>
          <p:cNvSpPr>
            <a:spLocks noChangeArrowheads="1"/>
          </p:cNvSpPr>
          <p:nvPr/>
        </p:nvSpPr>
        <p:spPr bwMode="auto">
          <a:xfrm>
            <a:off x="1635125" y="2274888"/>
            <a:ext cx="187007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a:latin typeface="Times New Roman" panose="02020603050405020304" pitchFamily="18" charset="0"/>
              </a:rPr>
              <a:t>阻塞请求进程</a:t>
            </a:r>
          </a:p>
        </p:txBody>
      </p:sp>
      <p:sp>
        <p:nvSpPr>
          <p:cNvPr id="120836" name="Line 7">
            <a:extLst>
              <a:ext uri="{FF2B5EF4-FFF2-40B4-BE49-F238E27FC236}">
                <a16:creationId xmlns:a16="http://schemas.microsoft.com/office/drawing/2014/main" id="{84020130-6FBA-DCA3-A121-E34A8CBC6104}"/>
              </a:ext>
            </a:extLst>
          </p:cNvPr>
          <p:cNvSpPr>
            <a:spLocks noChangeShapeType="1"/>
          </p:cNvSpPr>
          <p:nvPr/>
        </p:nvSpPr>
        <p:spPr bwMode="auto">
          <a:xfrm>
            <a:off x="2386013" y="1947863"/>
            <a:ext cx="0" cy="338137"/>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0837" name="Rectangle 8">
            <a:extLst>
              <a:ext uri="{FF2B5EF4-FFF2-40B4-BE49-F238E27FC236}">
                <a16:creationId xmlns:a16="http://schemas.microsoft.com/office/drawing/2014/main" id="{723ADBC8-6F70-4593-AEC8-17BF8057820D}"/>
              </a:ext>
            </a:extLst>
          </p:cNvPr>
          <p:cNvSpPr>
            <a:spLocks noChangeArrowheads="1"/>
          </p:cNvSpPr>
          <p:nvPr/>
        </p:nvSpPr>
        <p:spPr bwMode="auto">
          <a:xfrm>
            <a:off x="1660525" y="5345113"/>
            <a:ext cx="1916113"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a:latin typeface="Times New Roman" panose="02020603050405020304" pitchFamily="18" charset="0"/>
              </a:rPr>
              <a:t>唤醒请求进程</a:t>
            </a:r>
          </a:p>
        </p:txBody>
      </p:sp>
      <p:sp>
        <p:nvSpPr>
          <p:cNvPr id="120838" name="Line 9">
            <a:extLst>
              <a:ext uri="{FF2B5EF4-FFF2-40B4-BE49-F238E27FC236}">
                <a16:creationId xmlns:a16="http://schemas.microsoft.com/office/drawing/2014/main" id="{927E61B7-6A7F-8813-DF82-9CEEF908CC1C}"/>
              </a:ext>
            </a:extLst>
          </p:cNvPr>
          <p:cNvSpPr>
            <a:spLocks noChangeShapeType="1"/>
          </p:cNvSpPr>
          <p:nvPr/>
        </p:nvSpPr>
        <p:spPr bwMode="auto">
          <a:xfrm>
            <a:off x="2355850" y="2609850"/>
            <a:ext cx="0" cy="40005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0839" name="Rectangle 10">
            <a:extLst>
              <a:ext uri="{FF2B5EF4-FFF2-40B4-BE49-F238E27FC236}">
                <a16:creationId xmlns:a16="http://schemas.microsoft.com/office/drawing/2014/main" id="{CB30036B-A7D2-4993-F586-1474598DFC9B}"/>
              </a:ext>
            </a:extLst>
          </p:cNvPr>
          <p:cNvSpPr>
            <a:spLocks noChangeArrowheads="1"/>
          </p:cNvSpPr>
          <p:nvPr/>
        </p:nvSpPr>
        <p:spPr bwMode="auto">
          <a:xfrm>
            <a:off x="911225" y="3086100"/>
            <a:ext cx="358457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a:latin typeface="Times New Roman" panose="02020603050405020304" pitchFamily="18" charset="0"/>
              </a:rPr>
              <a:t>内存中有合适的空闲区吗？</a:t>
            </a:r>
          </a:p>
        </p:txBody>
      </p:sp>
      <p:sp>
        <p:nvSpPr>
          <p:cNvPr id="120840" name="Rectangle 11">
            <a:extLst>
              <a:ext uri="{FF2B5EF4-FFF2-40B4-BE49-F238E27FC236}">
                <a16:creationId xmlns:a16="http://schemas.microsoft.com/office/drawing/2014/main" id="{9ABF5C23-5BC7-6776-80E2-E97D298A79E3}"/>
              </a:ext>
            </a:extLst>
          </p:cNvPr>
          <p:cNvSpPr>
            <a:spLocks noChangeArrowheads="1"/>
          </p:cNvSpPr>
          <p:nvPr/>
        </p:nvSpPr>
        <p:spPr bwMode="auto">
          <a:xfrm>
            <a:off x="4156075" y="2901950"/>
            <a:ext cx="33972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N</a:t>
            </a:r>
          </a:p>
        </p:txBody>
      </p:sp>
      <p:sp>
        <p:nvSpPr>
          <p:cNvPr id="120841" name="Line 12">
            <a:extLst>
              <a:ext uri="{FF2B5EF4-FFF2-40B4-BE49-F238E27FC236}">
                <a16:creationId xmlns:a16="http://schemas.microsoft.com/office/drawing/2014/main" id="{F790F206-1865-6E9D-E343-24D5B62F6789}"/>
              </a:ext>
            </a:extLst>
          </p:cNvPr>
          <p:cNvSpPr>
            <a:spLocks noChangeShapeType="1"/>
          </p:cNvSpPr>
          <p:nvPr/>
        </p:nvSpPr>
        <p:spPr bwMode="auto">
          <a:xfrm flipV="1">
            <a:off x="2352675" y="4932363"/>
            <a:ext cx="0" cy="349250"/>
          </a:xfrm>
          <a:prstGeom prst="line">
            <a:avLst/>
          </a:prstGeom>
          <a:noFill/>
          <a:ln w="3175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p>
        </p:txBody>
      </p:sp>
      <p:sp>
        <p:nvSpPr>
          <p:cNvPr id="120842" name="Rectangle 13">
            <a:extLst>
              <a:ext uri="{FF2B5EF4-FFF2-40B4-BE49-F238E27FC236}">
                <a16:creationId xmlns:a16="http://schemas.microsoft.com/office/drawing/2014/main" id="{01490480-BAC7-900D-3CED-8960DCFF733B}"/>
              </a:ext>
            </a:extLst>
          </p:cNvPr>
          <p:cNvSpPr>
            <a:spLocks noChangeArrowheads="1"/>
          </p:cNvSpPr>
          <p:nvPr/>
        </p:nvSpPr>
        <p:spPr bwMode="auto">
          <a:xfrm>
            <a:off x="4808538" y="3921125"/>
            <a:ext cx="28876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a:latin typeface="Times New Roman" panose="02020603050405020304" pitchFamily="18" charset="0"/>
              </a:rPr>
              <a:t>拼接以形成合适的空闲区</a:t>
            </a:r>
          </a:p>
        </p:txBody>
      </p:sp>
      <p:sp>
        <p:nvSpPr>
          <p:cNvPr id="120843" name="Line 14">
            <a:extLst>
              <a:ext uri="{FF2B5EF4-FFF2-40B4-BE49-F238E27FC236}">
                <a16:creationId xmlns:a16="http://schemas.microsoft.com/office/drawing/2014/main" id="{8BD58F79-77B5-32B1-8185-BE2F693A1EE3}"/>
              </a:ext>
            </a:extLst>
          </p:cNvPr>
          <p:cNvSpPr>
            <a:spLocks noChangeShapeType="1"/>
          </p:cNvSpPr>
          <p:nvPr/>
        </p:nvSpPr>
        <p:spPr bwMode="auto">
          <a:xfrm flipH="1">
            <a:off x="7924800" y="2695575"/>
            <a:ext cx="0" cy="215900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0844" name="Rectangle 15">
            <a:extLst>
              <a:ext uri="{FF2B5EF4-FFF2-40B4-BE49-F238E27FC236}">
                <a16:creationId xmlns:a16="http://schemas.microsoft.com/office/drawing/2014/main" id="{5D702F39-19B6-59EF-403A-0EE41C52BFFD}"/>
              </a:ext>
            </a:extLst>
          </p:cNvPr>
          <p:cNvSpPr>
            <a:spLocks noChangeArrowheads="1"/>
          </p:cNvSpPr>
          <p:nvPr/>
        </p:nvSpPr>
        <p:spPr bwMode="auto">
          <a:xfrm>
            <a:off x="1525588" y="3871913"/>
            <a:ext cx="213201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a:latin typeface="Times New Roman" panose="02020603050405020304" pitchFamily="18" charset="0"/>
              </a:rPr>
              <a:t>从外存读入缺段</a:t>
            </a:r>
          </a:p>
        </p:txBody>
      </p:sp>
      <p:sp>
        <p:nvSpPr>
          <p:cNvPr id="120845" name="Line 16">
            <a:extLst>
              <a:ext uri="{FF2B5EF4-FFF2-40B4-BE49-F238E27FC236}">
                <a16:creationId xmlns:a16="http://schemas.microsoft.com/office/drawing/2014/main" id="{8CAED0D4-BE5C-57D0-A556-1E61ED82029B}"/>
              </a:ext>
            </a:extLst>
          </p:cNvPr>
          <p:cNvSpPr>
            <a:spLocks noChangeShapeType="1"/>
          </p:cNvSpPr>
          <p:nvPr/>
        </p:nvSpPr>
        <p:spPr bwMode="auto">
          <a:xfrm>
            <a:off x="2355850" y="3446463"/>
            <a:ext cx="0" cy="40005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0846" name="Rectangle 17">
            <a:extLst>
              <a:ext uri="{FF2B5EF4-FFF2-40B4-BE49-F238E27FC236}">
                <a16:creationId xmlns:a16="http://schemas.microsoft.com/office/drawing/2014/main" id="{667185A7-8671-5C1D-E7E3-8DFFC36A51CD}"/>
              </a:ext>
            </a:extLst>
          </p:cNvPr>
          <p:cNvSpPr>
            <a:spLocks noChangeArrowheads="1"/>
          </p:cNvSpPr>
          <p:nvPr/>
        </p:nvSpPr>
        <p:spPr bwMode="auto">
          <a:xfrm>
            <a:off x="2020888" y="3429000"/>
            <a:ext cx="2476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Y</a:t>
            </a:r>
          </a:p>
        </p:txBody>
      </p:sp>
      <p:sp>
        <p:nvSpPr>
          <p:cNvPr id="120847" name="Line 18">
            <a:extLst>
              <a:ext uri="{FF2B5EF4-FFF2-40B4-BE49-F238E27FC236}">
                <a16:creationId xmlns:a16="http://schemas.microsoft.com/office/drawing/2014/main" id="{A43D7F59-A42D-4E33-B73C-8B6BAFC535CE}"/>
              </a:ext>
            </a:extLst>
          </p:cNvPr>
          <p:cNvSpPr>
            <a:spLocks noChangeShapeType="1"/>
          </p:cNvSpPr>
          <p:nvPr/>
        </p:nvSpPr>
        <p:spPr bwMode="auto">
          <a:xfrm>
            <a:off x="2339975" y="4270375"/>
            <a:ext cx="0" cy="40005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0848" name="Rectangle 19">
            <a:extLst>
              <a:ext uri="{FF2B5EF4-FFF2-40B4-BE49-F238E27FC236}">
                <a16:creationId xmlns:a16="http://schemas.microsoft.com/office/drawing/2014/main" id="{4CF1CB5D-00C7-B662-7017-BA1003E41B80}"/>
              </a:ext>
            </a:extLst>
          </p:cNvPr>
          <p:cNvSpPr>
            <a:spLocks noChangeArrowheads="1"/>
          </p:cNvSpPr>
          <p:nvPr/>
        </p:nvSpPr>
        <p:spPr bwMode="auto">
          <a:xfrm>
            <a:off x="915988" y="4659313"/>
            <a:ext cx="2970212"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a:latin typeface="Times New Roman" panose="02020603050405020304" pitchFamily="18" charset="0"/>
              </a:rPr>
              <a:t>修改段表及内存空闲区链</a:t>
            </a:r>
          </a:p>
        </p:txBody>
      </p:sp>
      <p:sp>
        <p:nvSpPr>
          <p:cNvPr id="120849" name="Line 20">
            <a:extLst>
              <a:ext uri="{FF2B5EF4-FFF2-40B4-BE49-F238E27FC236}">
                <a16:creationId xmlns:a16="http://schemas.microsoft.com/office/drawing/2014/main" id="{93F6AA42-FC4D-4D07-D147-07C0D38ECD77}"/>
              </a:ext>
            </a:extLst>
          </p:cNvPr>
          <p:cNvSpPr>
            <a:spLocks noChangeShapeType="1"/>
          </p:cNvSpPr>
          <p:nvPr/>
        </p:nvSpPr>
        <p:spPr bwMode="auto">
          <a:xfrm flipH="1">
            <a:off x="3962400" y="3249613"/>
            <a:ext cx="741363" cy="12700"/>
          </a:xfrm>
          <a:prstGeom prst="line">
            <a:avLst/>
          </a:prstGeom>
          <a:noFill/>
          <a:ln w="3175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p>
        </p:txBody>
      </p:sp>
      <p:sp>
        <p:nvSpPr>
          <p:cNvPr id="120850" name="Rectangle 21">
            <a:extLst>
              <a:ext uri="{FF2B5EF4-FFF2-40B4-BE49-F238E27FC236}">
                <a16:creationId xmlns:a16="http://schemas.microsoft.com/office/drawing/2014/main" id="{D51F7A6D-74A3-F796-90F9-4439FF1068DF}"/>
              </a:ext>
            </a:extLst>
          </p:cNvPr>
          <p:cNvSpPr>
            <a:spLocks noChangeArrowheads="1"/>
          </p:cNvSpPr>
          <p:nvPr/>
        </p:nvSpPr>
        <p:spPr bwMode="auto">
          <a:xfrm>
            <a:off x="6324600" y="2743200"/>
            <a:ext cx="339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N</a:t>
            </a:r>
          </a:p>
        </p:txBody>
      </p:sp>
      <p:sp>
        <p:nvSpPr>
          <p:cNvPr id="120851" name="Rectangle 22">
            <a:extLst>
              <a:ext uri="{FF2B5EF4-FFF2-40B4-BE49-F238E27FC236}">
                <a16:creationId xmlns:a16="http://schemas.microsoft.com/office/drawing/2014/main" id="{A682A312-4378-32E7-633B-C36F08111726}"/>
              </a:ext>
            </a:extLst>
          </p:cNvPr>
          <p:cNvSpPr>
            <a:spLocks noChangeArrowheads="1"/>
          </p:cNvSpPr>
          <p:nvPr/>
        </p:nvSpPr>
        <p:spPr bwMode="auto">
          <a:xfrm>
            <a:off x="6324600" y="3435350"/>
            <a:ext cx="33972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Y</a:t>
            </a:r>
          </a:p>
        </p:txBody>
      </p:sp>
      <p:sp>
        <p:nvSpPr>
          <p:cNvPr id="120852" name="Line 23">
            <a:extLst>
              <a:ext uri="{FF2B5EF4-FFF2-40B4-BE49-F238E27FC236}">
                <a16:creationId xmlns:a16="http://schemas.microsoft.com/office/drawing/2014/main" id="{70D09C0F-D247-C5E1-7326-AA7354F1DCF6}"/>
              </a:ext>
            </a:extLst>
          </p:cNvPr>
          <p:cNvSpPr>
            <a:spLocks noChangeShapeType="1"/>
          </p:cNvSpPr>
          <p:nvPr/>
        </p:nvSpPr>
        <p:spPr bwMode="auto">
          <a:xfrm flipH="1" flipV="1">
            <a:off x="4240213" y="4872038"/>
            <a:ext cx="3698875"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853" name="Line 24">
            <a:extLst>
              <a:ext uri="{FF2B5EF4-FFF2-40B4-BE49-F238E27FC236}">
                <a16:creationId xmlns:a16="http://schemas.microsoft.com/office/drawing/2014/main" id="{19349DE1-D8AD-52AD-FE45-C781DDB8FDB3}"/>
              </a:ext>
            </a:extLst>
          </p:cNvPr>
          <p:cNvSpPr>
            <a:spLocks noChangeShapeType="1"/>
          </p:cNvSpPr>
          <p:nvPr/>
        </p:nvSpPr>
        <p:spPr bwMode="auto">
          <a:xfrm>
            <a:off x="6159500" y="4344988"/>
            <a:ext cx="0" cy="536575"/>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0854" name="Line 25">
            <a:extLst>
              <a:ext uri="{FF2B5EF4-FFF2-40B4-BE49-F238E27FC236}">
                <a16:creationId xmlns:a16="http://schemas.microsoft.com/office/drawing/2014/main" id="{B8ACD5DC-2D52-60D4-FB92-1F62BE55F7E8}"/>
              </a:ext>
            </a:extLst>
          </p:cNvPr>
          <p:cNvSpPr>
            <a:spLocks noChangeShapeType="1"/>
          </p:cNvSpPr>
          <p:nvPr/>
        </p:nvSpPr>
        <p:spPr bwMode="auto">
          <a:xfrm>
            <a:off x="6172200" y="3429000"/>
            <a:ext cx="0" cy="398463"/>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0855" name="Rectangle 26">
            <a:extLst>
              <a:ext uri="{FF2B5EF4-FFF2-40B4-BE49-F238E27FC236}">
                <a16:creationId xmlns:a16="http://schemas.microsoft.com/office/drawing/2014/main" id="{DCBEF177-0A00-7AED-BE45-A417A0AEDDEE}"/>
              </a:ext>
            </a:extLst>
          </p:cNvPr>
          <p:cNvSpPr>
            <a:spLocks noChangeArrowheads="1"/>
          </p:cNvSpPr>
          <p:nvPr/>
        </p:nvSpPr>
        <p:spPr bwMode="auto">
          <a:xfrm>
            <a:off x="4787900" y="3048000"/>
            <a:ext cx="2908300"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a:latin typeface="Times New Roman" panose="02020603050405020304" pitchFamily="18" charset="0"/>
              </a:rPr>
              <a:t>空闲区容量总和能否满足</a:t>
            </a:r>
          </a:p>
        </p:txBody>
      </p:sp>
      <p:sp>
        <p:nvSpPr>
          <p:cNvPr id="120856" name="Rectangle 27">
            <a:extLst>
              <a:ext uri="{FF2B5EF4-FFF2-40B4-BE49-F238E27FC236}">
                <a16:creationId xmlns:a16="http://schemas.microsoft.com/office/drawing/2014/main" id="{EE5E717D-0C9D-748F-71E5-0B8B90E388CA}"/>
              </a:ext>
            </a:extLst>
          </p:cNvPr>
          <p:cNvSpPr>
            <a:spLocks noChangeArrowheads="1"/>
          </p:cNvSpPr>
          <p:nvPr/>
        </p:nvSpPr>
        <p:spPr bwMode="auto">
          <a:xfrm>
            <a:off x="4822825" y="2322513"/>
            <a:ext cx="340677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a:latin typeface="Times New Roman" panose="02020603050405020304" pitchFamily="18" charset="0"/>
              </a:rPr>
              <a:t>淘汰实段以形成合适的空闲区</a:t>
            </a:r>
          </a:p>
        </p:txBody>
      </p:sp>
      <p:sp>
        <p:nvSpPr>
          <p:cNvPr id="120857" name="Line 28">
            <a:extLst>
              <a:ext uri="{FF2B5EF4-FFF2-40B4-BE49-F238E27FC236}">
                <a16:creationId xmlns:a16="http://schemas.microsoft.com/office/drawing/2014/main" id="{B0663871-7F7E-787C-34C6-A0026B5857EB}"/>
              </a:ext>
            </a:extLst>
          </p:cNvPr>
          <p:cNvSpPr>
            <a:spLocks noChangeShapeType="1"/>
          </p:cNvSpPr>
          <p:nvPr/>
        </p:nvSpPr>
        <p:spPr bwMode="auto">
          <a:xfrm>
            <a:off x="6159500" y="2667000"/>
            <a:ext cx="0" cy="398463"/>
          </a:xfrm>
          <a:prstGeom prst="line">
            <a:avLst/>
          </a:prstGeom>
          <a:noFill/>
          <a:ln w="3175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p>
        </p:txBody>
      </p:sp>
      <p:sp>
        <p:nvSpPr>
          <p:cNvPr id="120858" name="Line 29">
            <a:extLst>
              <a:ext uri="{FF2B5EF4-FFF2-40B4-BE49-F238E27FC236}">
                <a16:creationId xmlns:a16="http://schemas.microsoft.com/office/drawing/2014/main" id="{A1126235-54F8-F94F-E6A8-5BDB44DF8A07}"/>
              </a:ext>
            </a:extLst>
          </p:cNvPr>
          <p:cNvSpPr>
            <a:spLocks noChangeShapeType="1"/>
          </p:cNvSpPr>
          <p:nvPr/>
        </p:nvSpPr>
        <p:spPr bwMode="auto">
          <a:xfrm>
            <a:off x="4240213" y="3633788"/>
            <a:ext cx="0" cy="124777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859" name="Line 30">
            <a:extLst>
              <a:ext uri="{FF2B5EF4-FFF2-40B4-BE49-F238E27FC236}">
                <a16:creationId xmlns:a16="http://schemas.microsoft.com/office/drawing/2014/main" id="{962B3111-B13E-B392-32F9-03CF44A6F138}"/>
              </a:ext>
            </a:extLst>
          </p:cNvPr>
          <p:cNvSpPr>
            <a:spLocks noChangeShapeType="1"/>
          </p:cNvSpPr>
          <p:nvPr/>
        </p:nvSpPr>
        <p:spPr bwMode="auto">
          <a:xfrm flipH="1" flipV="1">
            <a:off x="2417763" y="3636963"/>
            <a:ext cx="1816100" cy="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0860" name="Rectangle 31">
            <a:extLst>
              <a:ext uri="{FF2B5EF4-FFF2-40B4-BE49-F238E27FC236}">
                <a16:creationId xmlns:a16="http://schemas.microsoft.com/office/drawing/2014/main" id="{30EC2294-36A7-39F9-6957-9F99CC4556A1}"/>
              </a:ext>
            </a:extLst>
          </p:cNvPr>
          <p:cNvSpPr>
            <a:spLocks noChangeArrowheads="1"/>
          </p:cNvSpPr>
          <p:nvPr/>
        </p:nvSpPr>
        <p:spPr bwMode="auto">
          <a:xfrm>
            <a:off x="4114800" y="5334000"/>
            <a:ext cx="757238"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a:latin typeface="Times New Roman" panose="02020603050405020304" pitchFamily="18" charset="0"/>
              </a:rPr>
              <a:t>返回</a:t>
            </a:r>
          </a:p>
        </p:txBody>
      </p:sp>
      <p:sp>
        <p:nvSpPr>
          <p:cNvPr id="120861" name="Line 32">
            <a:extLst>
              <a:ext uri="{FF2B5EF4-FFF2-40B4-BE49-F238E27FC236}">
                <a16:creationId xmlns:a16="http://schemas.microsoft.com/office/drawing/2014/main" id="{59210227-8391-2004-A71B-585C74946F59}"/>
              </a:ext>
            </a:extLst>
          </p:cNvPr>
          <p:cNvSpPr>
            <a:spLocks noChangeShapeType="1"/>
          </p:cNvSpPr>
          <p:nvPr/>
        </p:nvSpPr>
        <p:spPr bwMode="auto">
          <a:xfrm rot="-5400000">
            <a:off x="3675063" y="5268913"/>
            <a:ext cx="0" cy="49530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2C98E53C-202E-06F1-DFE5-C8EBE1C8A9DE}"/>
              </a:ext>
            </a:extLst>
          </p:cNvPr>
          <p:cNvSpPr>
            <a:spLocks noGrp="1" noChangeArrowheads="1"/>
          </p:cNvSpPr>
          <p:nvPr>
            <p:ph type="title"/>
          </p:nvPr>
        </p:nvSpPr>
        <p:spPr>
          <a:xfrm>
            <a:off x="1042988" y="225431"/>
            <a:ext cx="7850187" cy="746125"/>
          </a:xfrm>
        </p:spPr>
        <p:txBody>
          <a:bodyPr/>
          <a:lstStyle/>
          <a:p>
            <a:r>
              <a:rPr lang="zh-CN" altLang="en-US"/>
              <a:t>缺段中断涉及的几个问题</a:t>
            </a:r>
          </a:p>
        </p:txBody>
      </p:sp>
      <p:sp>
        <p:nvSpPr>
          <p:cNvPr id="264195" name="Rectangle 3">
            <a:extLst>
              <a:ext uri="{FF2B5EF4-FFF2-40B4-BE49-F238E27FC236}">
                <a16:creationId xmlns:a16="http://schemas.microsoft.com/office/drawing/2014/main" id="{96175F9E-DA42-7B5B-C756-0C0BB0346FA9}"/>
              </a:ext>
            </a:extLst>
          </p:cNvPr>
          <p:cNvSpPr>
            <a:spLocks noGrp="1" noChangeArrowheads="1"/>
          </p:cNvSpPr>
          <p:nvPr>
            <p:ph idx="1"/>
          </p:nvPr>
        </p:nvSpPr>
        <p:spPr>
          <a:xfrm>
            <a:off x="935038" y="1233488"/>
            <a:ext cx="7772400" cy="4895850"/>
          </a:xfrm>
        </p:spPr>
        <p:txBody>
          <a:bodyPr/>
          <a:lstStyle/>
          <a:p>
            <a:r>
              <a:rPr lang="zh-CN" altLang="en-US"/>
              <a:t>内存管理：请求分段的内存管理与与分区管理类似，采用连续内存管理方式。</a:t>
            </a:r>
          </a:p>
          <a:p>
            <a:r>
              <a:rPr lang="zh-CN" altLang="en-US"/>
              <a:t>段的置换：调入缺段时，若有足够的空闲分区则直接调入，否则查看空闲区之和能否满足要求，若能则进行拼接，否则进行置换。置换时可能要淘汰多段。</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4195">
                                            <p:txEl>
                                              <p:pRg st="0" end="0"/>
                                            </p:txEl>
                                          </p:spTgt>
                                        </p:tgtEl>
                                        <p:attrNameLst>
                                          <p:attrName>style.visibility</p:attrName>
                                        </p:attrNameLst>
                                      </p:cBhvr>
                                      <p:to>
                                        <p:strVal val="visible"/>
                                      </p:to>
                                    </p:set>
                                    <p:animEffect transition="in" filter="checkerboard(across)">
                                      <p:cBhvr>
                                        <p:cTn id="7" dur="500"/>
                                        <p:tgtEl>
                                          <p:spTgt spid="264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64195">
                                            <p:txEl>
                                              <p:pRg st="1" end="1"/>
                                            </p:txEl>
                                          </p:spTgt>
                                        </p:tgtEl>
                                        <p:attrNameLst>
                                          <p:attrName>style.visibility</p:attrName>
                                        </p:attrNameLst>
                                      </p:cBhvr>
                                      <p:to>
                                        <p:strVal val="visible"/>
                                      </p:to>
                                    </p:set>
                                    <p:animEffect transition="in" filter="checkerboard(across)">
                                      <p:cBhvr>
                                        <p:cTn id="12" dur="500"/>
                                        <p:tgtEl>
                                          <p:spTgt spid="2641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5" grpId="0" build="p"/>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417FFB21-0B2F-8D70-0A1C-14D08F00BDD0}"/>
              </a:ext>
            </a:extLst>
          </p:cNvPr>
          <p:cNvSpPr>
            <a:spLocks noGrp="1" noChangeArrowheads="1"/>
          </p:cNvSpPr>
          <p:nvPr>
            <p:ph type="title"/>
          </p:nvPr>
        </p:nvSpPr>
        <p:spPr>
          <a:xfrm>
            <a:off x="1042988" y="225431"/>
            <a:ext cx="7850187" cy="746125"/>
          </a:xfrm>
        </p:spPr>
        <p:txBody>
          <a:bodyPr/>
          <a:lstStyle/>
          <a:p>
            <a:r>
              <a:rPr lang="zh-CN" altLang="en-US"/>
              <a:t>动态地址变换 </a:t>
            </a:r>
          </a:p>
        </p:txBody>
      </p:sp>
      <p:sp>
        <p:nvSpPr>
          <p:cNvPr id="176131" name="Rectangle 3">
            <a:extLst>
              <a:ext uri="{FF2B5EF4-FFF2-40B4-BE49-F238E27FC236}">
                <a16:creationId xmlns:a16="http://schemas.microsoft.com/office/drawing/2014/main" id="{F20FAD2D-71AC-045A-A734-13D15C413F45}"/>
              </a:ext>
            </a:extLst>
          </p:cNvPr>
          <p:cNvSpPr>
            <a:spLocks noGrp="1" noChangeArrowheads="1"/>
          </p:cNvSpPr>
          <p:nvPr>
            <p:ph idx="1"/>
          </p:nvPr>
        </p:nvSpPr>
        <p:spPr>
          <a:xfrm>
            <a:off x="935038" y="1233488"/>
            <a:ext cx="7772400" cy="4895850"/>
          </a:xfrm>
        </p:spPr>
        <p:txBody>
          <a:bodyPr>
            <a:normAutofit lnSpcReduction="10000"/>
          </a:bodyPr>
          <a:lstStyle/>
          <a:p>
            <a:r>
              <a:rPr lang="zh-CN" altLang="en-US"/>
              <a:t>请求分段系统的地址变换是在分段系统地址变换的基础上形成的。</a:t>
            </a:r>
          </a:p>
          <a:p>
            <a:r>
              <a:rPr lang="zh-CN" altLang="en-US"/>
              <a:t>在地址变换过程中，若段在内存则判断其存取权限是否合法，若合法则从段表中取出该段在内存的起始地址，与段内位移相加形成访问内存的物理地址。</a:t>
            </a:r>
          </a:p>
          <a:p>
            <a:r>
              <a:rPr lang="zh-CN" altLang="en-US"/>
              <a:t>若段不在内存，则产生缺段中断信号，请求</a:t>
            </a:r>
            <a:r>
              <a:rPr lang="en-US" altLang="zh-CN"/>
              <a:t>OS</a:t>
            </a:r>
            <a:r>
              <a:rPr lang="zh-CN" altLang="en-US"/>
              <a:t>将缺段调入内存，然后修改段表，再利用段表进行地址变换。</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76131">
                                            <p:txEl>
                                              <p:pRg st="0" end="0"/>
                                            </p:txEl>
                                          </p:spTgt>
                                        </p:tgtEl>
                                        <p:attrNameLst>
                                          <p:attrName>style.visibility</p:attrName>
                                        </p:attrNameLst>
                                      </p:cBhvr>
                                      <p:to>
                                        <p:strVal val="visible"/>
                                      </p:to>
                                    </p:set>
                                    <p:animEffect transition="in" filter="checkerboard(across)">
                                      <p:cBhvr>
                                        <p:cTn id="7" dur="500"/>
                                        <p:tgtEl>
                                          <p:spTgt spid="176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76131">
                                            <p:txEl>
                                              <p:pRg st="1" end="1"/>
                                            </p:txEl>
                                          </p:spTgt>
                                        </p:tgtEl>
                                        <p:attrNameLst>
                                          <p:attrName>style.visibility</p:attrName>
                                        </p:attrNameLst>
                                      </p:cBhvr>
                                      <p:to>
                                        <p:strVal val="visible"/>
                                      </p:to>
                                    </p:set>
                                    <p:animEffect transition="in" filter="checkerboard(across)">
                                      <p:cBhvr>
                                        <p:cTn id="12" dur="500"/>
                                        <p:tgtEl>
                                          <p:spTgt spid="176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76131">
                                            <p:txEl>
                                              <p:pRg st="2" end="2"/>
                                            </p:txEl>
                                          </p:spTgt>
                                        </p:tgtEl>
                                        <p:attrNameLst>
                                          <p:attrName>style.visibility</p:attrName>
                                        </p:attrNameLst>
                                      </p:cBhvr>
                                      <p:to>
                                        <p:strVal val="visible"/>
                                      </p:to>
                                    </p:set>
                                    <p:animEffect transition="in" filter="checkerboard(across)">
                                      <p:cBhvr>
                                        <p:cTn id="17" dur="500"/>
                                        <p:tgtEl>
                                          <p:spTgt spid="1761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build="p"/>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a:extLst>
              <a:ext uri="{FF2B5EF4-FFF2-40B4-BE49-F238E27FC236}">
                <a16:creationId xmlns:a16="http://schemas.microsoft.com/office/drawing/2014/main" id="{ED2EA121-5B28-BF13-AAB6-D63F467E1BF3}"/>
              </a:ext>
            </a:extLst>
          </p:cNvPr>
          <p:cNvSpPr>
            <a:spLocks noGrp="1" noChangeArrowheads="1"/>
          </p:cNvSpPr>
          <p:nvPr>
            <p:ph type="title"/>
          </p:nvPr>
        </p:nvSpPr>
        <p:spPr/>
        <p:txBody>
          <a:bodyPr/>
          <a:lstStyle/>
          <a:p>
            <a:pPr eaLnBrk="1" hangingPunct="1"/>
            <a:r>
              <a:rPr lang="zh-CN" altLang="en-US"/>
              <a:t>请求分段的地址变换过程 </a:t>
            </a:r>
          </a:p>
        </p:txBody>
      </p:sp>
      <p:sp>
        <p:nvSpPr>
          <p:cNvPr id="123906" name="Rectangle 4">
            <a:extLst>
              <a:ext uri="{FF2B5EF4-FFF2-40B4-BE49-F238E27FC236}">
                <a16:creationId xmlns:a16="http://schemas.microsoft.com/office/drawing/2014/main" id="{5822AA03-94C2-FE7B-334D-FC9BD95FFF31}"/>
              </a:ext>
            </a:extLst>
          </p:cNvPr>
          <p:cNvSpPr>
            <a:spLocks noChangeArrowheads="1"/>
          </p:cNvSpPr>
          <p:nvPr/>
        </p:nvSpPr>
        <p:spPr bwMode="auto">
          <a:xfrm>
            <a:off x="2257425" y="1524000"/>
            <a:ext cx="2779713"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程序请求访问一段</a:t>
            </a:r>
          </a:p>
        </p:txBody>
      </p:sp>
      <p:sp>
        <p:nvSpPr>
          <p:cNvPr id="123907" name="Rectangle 5">
            <a:extLst>
              <a:ext uri="{FF2B5EF4-FFF2-40B4-BE49-F238E27FC236}">
                <a16:creationId xmlns:a16="http://schemas.microsoft.com/office/drawing/2014/main" id="{A1853682-B86D-156F-D830-627EAC91B86A}"/>
              </a:ext>
            </a:extLst>
          </p:cNvPr>
          <p:cNvSpPr>
            <a:spLocks noChangeArrowheads="1"/>
          </p:cNvSpPr>
          <p:nvPr/>
        </p:nvSpPr>
        <p:spPr bwMode="auto">
          <a:xfrm>
            <a:off x="609600" y="2225675"/>
            <a:ext cx="461168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段号&lt;段表长度,段内位移 &lt; 段长？</a:t>
            </a:r>
          </a:p>
        </p:txBody>
      </p:sp>
      <p:sp>
        <p:nvSpPr>
          <p:cNvPr id="123908" name="Line 6">
            <a:extLst>
              <a:ext uri="{FF2B5EF4-FFF2-40B4-BE49-F238E27FC236}">
                <a16:creationId xmlns:a16="http://schemas.microsoft.com/office/drawing/2014/main" id="{1DA26F26-8D6E-0626-915A-A48FB3294D03}"/>
              </a:ext>
            </a:extLst>
          </p:cNvPr>
          <p:cNvSpPr>
            <a:spLocks noChangeShapeType="1"/>
          </p:cNvSpPr>
          <p:nvPr/>
        </p:nvSpPr>
        <p:spPr bwMode="auto">
          <a:xfrm>
            <a:off x="3419475" y="1874838"/>
            <a:ext cx="0" cy="295275"/>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3909" name="Line 7">
            <a:extLst>
              <a:ext uri="{FF2B5EF4-FFF2-40B4-BE49-F238E27FC236}">
                <a16:creationId xmlns:a16="http://schemas.microsoft.com/office/drawing/2014/main" id="{B7F13DF4-6465-2965-95F0-759D2EBCBBF0}"/>
              </a:ext>
            </a:extLst>
          </p:cNvPr>
          <p:cNvSpPr>
            <a:spLocks noChangeShapeType="1"/>
          </p:cNvSpPr>
          <p:nvPr/>
        </p:nvSpPr>
        <p:spPr bwMode="auto">
          <a:xfrm>
            <a:off x="5129213" y="2433638"/>
            <a:ext cx="97472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3910" name="Rectangle 8">
            <a:extLst>
              <a:ext uri="{FF2B5EF4-FFF2-40B4-BE49-F238E27FC236}">
                <a16:creationId xmlns:a16="http://schemas.microsoft.com/office/drawing/2014/main" id="{AAD65F4F-C3B6-4CDE-DB3D-9C63B62DFC1A}"/>
              </a:ext>
            </a:extLst>
          </p:cNvPr>
          <p:cNvSpPr>
            <a:spLocks noChangeArrowheads="1"/>
          </p:cNvSpPr>
          <p:nvPr/>
        </p:nvSpPr>
        <p:spPr bwMode="auto">
          <a:xfrm>
            <a:off x="5313363" y="2071688"/>
            <a:ext cx="538162"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N</a:t>
            </a:r>
          </a:p>
        </p:txBody>
      </p:sp>
      <p:sp>
        <p:nvSpPr>
          <p:cNvPr id="123911" name="Rectangle 9">
            <a:extLst>
              <a:ext uri="{FF2B5EF4-FFF2-40B4-BE49-F238E27FC236}">
                <a16:creationId xmlns:a16="http://schemas.microsoft.com/office/drawing/2014/main" id="{07FE45C1-4231-7240-2B5F-949B5958D661}"/>
              </a:ext>
            </a:extLst>
          </p:cNvPr>
          <p:cNvSpPr>
            <a:spLocks noChangeArrowheads="1"/>
          </p:cNvSpPr>
          <p:nvPr/>
        </p:nvSpPr>
        <p:spPr bwMode="auto">
          <a:xfrm>
            <a:off x="2965450" y="2520950"/>
            <a:ext cx="319088"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Y</a:t>
            </a:r>
          </a:p>
        </p:txBody>
      </p:sp>
      <p:sp>
        <p:nvSpPr>
          <p:cNvPr id="123912" name="Line 10">
            <a:extLst>
              <a:ext uri="{FF2B5EF4-FFF2-40B4-BE49-F238E27FC236}">
                <a16:creationId xmlns:a16="http://schemas.microsoft.com/office/drawing/2014/main" id="{3F1A7A94-252B-9E82-050C-CA1E951478C7}"/>
              </a:ext>
            </a:extLst>
          </p:cNvPr>
          <p:cNvSpPr>
            <a:spLocks noChangeShapeType="1"/>
          </p:cNvSpPr>
          <p:nvPr/>
        </p:nvSpPr>
        <p:spPr bwMode="auto">
          <a:xfrm>
            <a:off x="3375025" y="2565400"/>
            <a:ext cx="0" cy="35083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3913" name="Rectangle 11">
            <a:extLst>
              <a:ext uri="{FF2B5EF4-FFF2-40B4-BE49-F238E27FC236}">
                <a16:creationId xmlns:a16="http://schemas.microsoft.com/office/drawing/2014/main" id="{3D1E31AF-70C4-E369-B57D-87BE5DC569DD}"/>
              </a:ext>
            </a:extLst>
          </p:cNvPr>
          <p:cNvSpPr>
            <a:spLocks noChangeArrowheads="1"/>
          </p:cNvSpPr>
          <p:nvPr/>
        </p:nvSpPr>
        <p:spPr bwMode="auto">
          <a:xfrm>
            <a:off x="2403475" y="2916238"/>
            <a:ext cx="23558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符合存取方式？</a:t>
            </a:r>
          </a:p>
        </p:txBody>
      </p:sp>
      <p:sp>
        <p:nvSpPr>
          <p:cNvPr id="123914" name="Rectangle 12">
            <a:extLst>
              <a:ext uri="{FF2B5EF4-FFF2-40B4-BE49-F238E27FC236}">
                <a16:creationId xmlns:a16="http://schemas.microsoft.com/office/drawing/2014/main" id="{ABEB14B5-3AFE-FE63-C153-E05A7F6A314C}"/>
              </a:ext>
            </a:extLst>
          </p:cNvPr>
          <p:cNvSpPr>
            <a:spLocks noChangeArrowheads="1"/>
          </p:cNvSpPr>
          <p:nvPr/>
        </p:nvSpPr>
        <p:spPr bwMode="auto">
          <a:xfrm>
            <a:off x="3741738" y="3300413"/>
            <a:ext cx="534987"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Y</a:t>
            </a:r>
          </a:p>
        </p:txBody>
      </p:sp>
      <p:sp>
        <p:nvSpPr>
          <p:cNvPr id="123915" name="Line 13">
            <a:extLst>
              <a:ext uri="{FF2B5EF4-FFF2-40B4-BE49-F238E27FC236}">
                <a16:creationId xmlns:a16="http://schemas.microsoft.com/office/drawing/2014/main" id="{F1495D98-39F1-63BE-8E94-161341F7D4FE}"/>
              </a:ext>
            </a:extLst>
          </p:cNvPr>
          <p:cNvSpPr>
            <a:spLocks noChangeShapeType="1"/>
          </p:cNvSpPr>
          <p:nvPr/>
        </p:nvSpPr>
        <p:spPr bwMode="auto">
          <a:xfrm flipH="1">
            <a:off x="3376613" y="4703763"/>
            <a:ext cx="0" cy="306387"/>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3916" name="Rectangle 14">
            <a:extLst>
              <a:ext uri="{FF2B5EF4-FFF2-40B4-BE49-F238E27FC236}">
                <a16:creationId xmlns:a16="http://schemas.microsoft.com/office/drawing/2014/main" id="{A8FFDA23-67B3-AFD6-3B85-1E596029B339}"/>
              </a:ext>
            </a:extLst>
          </p:cNvPr>
          <p:cNvSpPr>
            <a:spLocks noChangeArrowheads="1"/>
          </p:cNvSpPr>
          <p:nvPr/>
        </p:nvSpPr>
        <p:spPr bwMode="auto">
          <a:xfrm>
            <a:off x="3097213" y="5832475"/>
            <a:ext cx="9239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返回</a:t>
            </a:r>
          </a:p>
        </p:txBody>
      </p:sp>
      <p:sp>
        <p:nvSpPr>
          <p:cNvPr id="123917" name="Rectangle 15">
            <a:extLst>
              <a:ext uri="{FF2B5EF4-FFF2-40B4-BE49-F238E27FC236}">
                <a16:creationId xmlns:a16="http://schemas.microsoft.com/office/drawing/2014/main" id="{6471231E-6A84-2D79-33AA-72946EE66AD5}"/>
              </a:ext>
            </a:extLst>
          </p:cNvPr>
          <p:cNvSpPr>
            <a:spLocks noChangeArrowheads="1"/>
          </p:cNvSpPr>
          <p:nvPr/>
        </p:nvSpPr>
        <p:spPr bwMode="auto">
          <a:xfrm>
            <a:off x="2403475" y="3606800"/>
            <a:ext cx="226377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分段在主存中？</a:t>
            </a:r>
          </a:p>
        </p:txBody>
      </p:sp>
      <p:sp>
        <p:nvSpPr>
          <p:cNvPr id="123918" name="Line 16">
            <a:extLst>
              <a:ext uri="{FF2B5EF4-FFF2-40B4-BE49-F238E27FC236}">
                <a16:creationId xmlns:a16="http://schemas.microsoft.com/office/drawing/2014/main" id="{D28393AF-5325-71A8-A6DA-83B99E241E53}"/>
              </a:ext>
            </a:extLst>
          </p:cNvPr>
          <p:cNvSpPr>
            <a:spLocks noChangeShapeType="1"/>
          </p:cNvSpPr>
          <p:nvPr/>
        </p:nvSpPr>
        <p:spPr bwMode="auto">
          <a:xfrm>
            <a:off x="3375025" y="3300413"/>
            <a:ext cx="0" cy="350837"/>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3919" name="Rectangle 17">
            <a:extLst>
              <a:ext uri="{FF2B5EF4-FFF2-40B4-BE49-F238E27FC236}">
                <a16:creationId xmlns:a16="http://schemas.microsoft.com/office/drawing/2014/main" id="{AB00E095-AC9B-BA72-939B-0432104E81B4}"/>
              </a:ext>
            </a:extLst>
          </p:cNvPr>
          <p:cNvSpPr>
            <a:spLocks noChangeArrowheads="1"/>
          </p:cNvSpPr>
          <p:nvPr/>
        </p:nvSpPr>
        <p:spPr bwMode="auto">
          <a:xfrm>
            <a:off x="4959350" y="3421063"/>
            <a:ext cx="538163"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N</a:t>
            </a:r>
          </a:p>
        </p:txBody>
      </p:sp>
      <p:sp>
        <p:nvSpPr>
          <p:cNvPr id="123920" name="Line 18">
            <a:extLst>
              <a:ext uri="{FF2B5EF4-FFF2-40B4-BE49-F238E27FC236}">
                <a16:creationId xmlns:a16="http://schemas.microsoft.com/office/drawing/2014/main" id="{76882013-A96D-822B-2A23-4E7D7C3EBBEB}"/>
              </a:ext>
            </a:extLst>
          </p:cNvPr>
          <p:cNvSpPr>
            <a:spLocks noChangeShapeType="1"/>
          </p:cNvSpPr>
          <p:nvPr/>
        </p:nvSpPr>
        <p:spPr bwMode="auto">
          <a:xfrm>
            <a:off x="3349625" y="4022725"/>
            <a:ext cx="0" cy="35083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3921" name="Rectangle 19">
            <a:extLst>
              <a:ext uri="{FF2B5EF4-FFF2-40B4-BE49-F238E27FC236}">
                <a16:creationId xmlns:a16="http://schemas.microsoft.com/office/drawing/2014/main" id="{CCEB135A-BE81-B5DC-C70B-C554F5E95023}"/>
              </a:ext>
            </a:extLst>
          </p:cNvPr>
          <p:cNvSpPr>
            <a:spLocks noChangeArrowheads="1"/>
          </p:cNvSpPr>
          <p:nvPr/>
        </p:nvSpPr>
        <p:spPr bwMode="auto">
          <a:xfrm>
            <a:off x="2600325" y="5075238"/>
            <a:ext cx="21590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形成物理地址</a:t>
            </a:r>
          </a:p>
        </p:txBody>
      </p:sp>
      <p:sp>
        <p:nvSpPr>
          <p:cNvPr id="123922" name="Rectangle 20">
            <a:extLst>
              <a:ext uri="{FF2B5EF4-FFF2-40B4-BE49-F238E27FC236}">
                <a16:creationId xmlns:a16="http://schemas.microsoft.com/office/drawing/2014/main" id="{108DA07E-225C-DDFF-8E30-A0859B35DBF4}"/>
              </a:ext>
            </a:extLst>
          </p:cNvPr>
          <p:cNvSpPr>
            <a:spLocks noChangeArrowheads="1"/>
          </p:cNvSpPr>
          <p:nvPr/>
        </p:nvSpPr>
        <p:spPr bwMode="auto">
          <a:xfrm>
            <a:off x="6235700" y="2225675"/>
            <a:ext cx="193675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分段越界处理</a:t>
            </a:r>
          </a:p>
        </p:txBody>
      </p:sp>
      <p:sp>
        <p:nvSpPr>
          <p:cNvPr id="123923" name="Line 21">
            <a:extLst>
              <a:ext uri="{FF2B5EF4-FFF2-40B4-BE49-F238E27FC236}">
                <a16:creationId xmlns:a16="http://schemas.microsoft.com/office/drawing/2014/main" id="{8A52F5CA-152E-B030-A163-774C1DF0C1AB}"/>
              </a:ext>
            </a:extLst>
          </p:cNvPr>
          <p:cNvSpPr>
            <a:spLocks noChangeShapeType="1"/>
          </p:cNvSpPr>
          <p:nvPr/>
        </p:nvSpPr>
        <p:spPr bwMode="auto">
          <a:xfrm flipH="1">
            <a:off x="4575175" y="3838575"/>
            <a:ext cx="1293813" cy="0"/>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p>
        </p:txBody>
      </p:sp>
      <p:sp>
        <p:nvSpPr>
          <p:cNvPr id="123924" name="Rectangle 22">
            <a:extLst>
              <a:ext uri="{FF2B5EF4-FFF2-40B4-BE49-F238E27FC236}">
                <a16:creationId xmlns:a16="http://schemas.microsoft.com/office/drawing/2014/main" id="{03AE7FDF-7E4D-F468-F397-8702038CD27C}"/>
              </a:ext>
            </a:extLst>
          </p:cNvPr>
          <p:cNvSpPr>
            <a:spLocks noChangeArrowheads="1"/>
          </p:cNvSpPr>
          <p:nvPr/>
        </p:nvSpPr>
        <p:spPr bwMode="auto">
          <a:xfrm>
            <a:off x="4943475" y="2730500"/>
            <a:ext cx="53816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N</a:t>
            </a:r>
          </a:p>
        </p:txBody>
      </p:sp>
      <p:sp>
        <p:nvSpPr>
          <p:cNvPr id="123925" name="Rectangle 23">
            <a:extLst>
              <a:ext uri="{FF2B5EF4-FFF2-40B4-BE49-F238E27FC236}">
                <a16:creationId xmlns:a16="http://schemas.microsoft.com/office/drawing/2014/main" id="{60D94D9A-073B-A4C8-1CB8-A51ECFAF1A3D}"/>
              </a:ext>
            </a:extLst>
          </p:cNvPr>
          <p:cNvSpPr>
            <a:spLocks noChangeArrowheads="1"/>
          </p:cNvSpPr>
          <p:nvPr/>
        </p:nvSpPr>
        <p:spPr bwMode="auto">
          <a:xfrm>
            <a:off x="3667125" y="3979863"/>
            <a:ext cx="53657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en-US" altLang="zh-CN" sz="2000">
                <a:latin typeface="Times New Roman" panose="02020603050405020304" pitchFamily="18" charset="0"/>
              </a:rPr>
              <a:t>Y</a:t>
            </a:r>
          </a:p>
        </p:txBody>
      </p:sp>
      <p:sp>
        <p:nvSpPr>
          <p:cNvPr id="123926" name="Line 24">
            <a:extLst>
              <a:ext uri="{FF2B5EF4-FFF2-40B4-BE49-F238E27FC236}">
                <a16:creationId xmlns:a16="http://schemas.microsoft.com/office/drawing/2014/main" id="{D1BC3AD2-C135-E916-2391-E7926ECEA64E}"/>
              </a:ext>
            </a:extLst>
          </p:cNvPr>
          <p:cNvSpPr>
            <a:spLocks noChangeShapeType="1"/>
          </p:cNvSpPr>
          <p:nvPr/>
        </p:nvSpPr>
        <p:spPr bwMode="auto">
          <a:xfrm>
            <a:off x="3376613" y="5470525"/>
            <a:ext cx="0" cy="35083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3927" name="Rectangle 25">
            <a:extLst>
              <a:ext uri="{FF2B5EF4-FFF2-40B4-BE49-F238E27FC236}">
                <a16:creationId xmlns:a16="http://schemas.microsoft.com/office/drawing/2014/main" id="{2730D4DC-D48F-8ED6-7A56-5E63093B8772}"/>
              </a:ext>
            </a:extLst>
          </p:cNvPr>
          <p:cNvSpPr>
            <a:spLocks noChangeArrowheads="1"/>
          </p:cNvSpPr>
          <p:nvPr/>
        </p:nvSpPr>
        <p:spPr bwMode="auto">
          <a:xfrm>
            <a:off x="2108200" y="4330700"/>
            <a:ext cx="302101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修改访问位和修改位</a:t>
            </a:r>
          </a:p>
        </p:txBody>
      </p:sp>
      <p:sp>
        <p:nvSpPr>
          <p:cNvPr id="123928" name="Line 26">
            <a:extLst>
              <a:ext uri="{FF2B5EF4-FFF2-40B4-BE49-F238E27FC236}">
                <a16:creationId xmlns:a16="http://schemas.microsoft.com/office/drawing/2014/main" id="{6FDF4511-13E3-54D2-DCC9-DD263925AC16}"/>
              </a:ext>
            </a:extLst>
          </p:cNvPr>
          <p:cNvSpPr>
            <a:spLocks noChangeShapeType="1"/>
          </p:cNvSpPr>
          <p:nvPr/>
        </p:nvSpPr>
        <p:spPr bwMode="auto">
          <a:xfrm>
            <a:off x="4667250" y="3136900"/>
            <a:ext cx="107473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3929" name="Rectangle 27">
            <a:extLst>
              <a:ext uri="{FF2B5EF4-FFF2-40B4-BE49-F238E27FC236}">
                <a16:creationId xmlns:a16="http://schemas.microsoft.com/office/drawing/2014/main" id="{6401F962-05A6-7AFC-8F0C-8785771F191C}"/>
              </a:ext>
            </a:extLst>
          </p:cNvPr>
          <p:cNvSpPr>
            <a:spLocks noChangeArrowheads="1"/>
          </p:cNvSpPr>
          <p:nvPr/>
        </p:nvSpPr>
        <p:spPr bwMode="auto">
          <a:xfrm>
            <a:off x="5957888" y="2960688"/>
            <a:ext cx="20891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分段保护处理</a:t>
            </a:r>
          </a:p>
        </p:txBody>
      </p:sp>
      <p:sp>
        <p:nvSpPr>
          <p:cNvPr id="123930" name="Rectangle 28">
            <a:extLst>
              <a:ext uri="{FF2B5EF4-FFF2-40B4-BE49-F238E27FC236}">
                <a16:creationId xmlns:a16="http://schemas.microsoft.com/office/drawing/2014/main" id="{2C6A68A5-90D0-B1C7-9D4E-12AD0AE15343}"/>
              </a:ext>
            </a:extLst>
          </p:cNvPr>
          <p:cNvSpPr>
            <a:spLocks noChangeArrowheads="1"/>
          </p:cNvSpPr>
          <p:nvPr/>
        </p:nvSpPr>
        <p:spPr bwMode="auto">
          <a:xfrm>
            <a:off x="6051550" y="3651250"/>
            <a:ext cx="21780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缺段中断处理</a:t>
            </a:r>
          </a:p>
        </p:txBody>
      </p:sp>
    </p:spTree>
  </p:cSld>
  <p:clrMapOvr>
    <a:masterClrMapping/>
  </p:clrMapOvr>
  <p:transition spd="med">
    <p:zoom/>
  </p:transition>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6119E8FB-980E-873D-1A99-D45324025A46}"/>
              </a:ext>
            </a:extLst>
          </p:cNvPr>
          <p:cNvSpPr>
            <a:spLocks noGrp="1" noChangeArrowheads="1"/>
          </p:cNvSpPr>
          <p:nvPr>
            <p:ph type="title"/>
          </p:nvPr>
        </p:nvSpPr>
        <p:spPr>
          <a:xfrm>
            <a:off x="1042988" y="225431"/>
            <a:ext cx="7850187" cy="746125"/>
          </a:xfrm>
        </p:spPr>
        <p:txBody>
          <a:bodyPr/>
          <a:lstStyle/>
          <a:p>
            <a:r>
              <a:rPr lang="zh-CN" altLang="en-US"/>
              <a:t>引入快表提高访问速度</a:t>
            </a:r>
          </a:p>
        </p:txBody>
      </p:sp>
      <p:sp>
        <p:nvSpPr>
          <p:cNvPr id="124930" name="Rectangle 3">
            <a:extLst>
              <a:ext uri="{FF2B5EF4-FFF2-40B4-BE49-F238E27FC236}">
                <a16:creationId xmlns:a16="http://schemas.microsoft.com/office/drawing/2014/main" id="{18960271-4061-127F-D1AE-2571704CEA04}"/>
              </a:ext>
            </a:extLst>
          </p:cNvPr>
          <p:cNvSpPr>
            <a:spLocks noGrp="1" noChangeArrowheads="1"/>
          </p:cNvSpPr>
          <p:nvPr>
            <p:ph idx="1"/>
          </p:nvPr>
        </p:nvSpPr>
        <p:spPr>
          <a:xfrm>
            <a:off x="935038" y="1233488"/>
            <a:ext cx="7772400" cy="4895850"/>
          </a:xfrm>
        </p:spPr>
        <p:txBody>
          <a:bodyPr/>
          <a:lstStyle/>
          <a:p>
            <a:r>
              <a:rPr lang="zh-CN" altLang="en-US" dirty="0"/>
              <a:t>与请求分页管理一样，请求分段的地址变换过程必须访问内存两次以上。</a:t>
            </a:r>
          </a:p>
          <a:p>
            <a:r>
              <a:rPr lang="zh-CN" altLang="en-US" dirty="0"/>
              <a:t>为提高访问速度，也可以使用快表。</a:t>
            </a:r>
          </a:p>
        </p:txBody>
      </p:sp>
    </p:spTree>
  </p:cSld>
  <p:clrMapOvr>
    <a:masterClrMapping/>
  </p:clrMapOvr>
  <p:transition spd="med">
    <p:zoom/>
  </p:transition>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91A75849-DBD8-6731-4D24-45AD01ED1B20}"/>
              </a:ext>
            </a:extLst>
          </p:cNvPr>
          <p:cNvSpPr>
            <a:spLocks noGrp="1" noChangeArrowheads="1"/>
          </p:cNvSpPr>
          <p:nvPr>
            <p:ph type="title"/>
          </p:nvPr>
        </p:nvSpPr>
        <p:spPr>
          <a:xfrm>
            <a:off x="1042988" y="225431"/>
            <a:ext cx="7850187" cy="746125"/>
          </a:xfrm>
        </p:spPr>
        <p:txBody>
          <a:bodyPr/>
          <a:lstStyle/>
          <a:p>
            <a:r>
              <a:rPr lang="zh-CN" altLang="en-US"/>
              <a:t>段的共享与保护</a:t>
            </a:r>
          </a:p>
        </p:txBody>
      </p:sp>
      <p:sp>
        <p:nvSpPr>
          <p:cNvPr id="125954" name="Rectangle 3">
            <a:extLst>
              <a:ext uri="{FF2B5EF4-FFF2-40B4-BE49-F238E27FC236}">
                <a16:creationId xmlns:a16="http://schemas.microsoft.com/office/drawing/2014/main" id="{B3E49647-3816-DE60-A848-31D37DCD423E}"/>
              </a:ext>
            </a:extLst>
          </p:cNvPr>
          <p:cNvSpPr>
            <a:spLocks noGrp="1" noChangeArrowheads="1"/>
          </p:cNvSpPr>
          <p:nvPr>
            <p:ph idx="1"/>
          </p:nvPr>
        </p:nvSpPr>
        <p:spPr>
          <a:xfrm>
            <a:off x="935038" y="1233488"/>
            <a:ext cx="7772400" cy="4895850"/>
          </a:xfrm>
        </p:spPr>
        <p:txBody>
          <a:bodyPr/>
          <a:lstStyle/>
          <a:p>
            <a:r>
              <a:rPr lang="zh-CN" altLang="en-US" dirty="0"/>
              <a:t>为了实现分段共享，可在系统中设置一张共享段表，所有共享分段都在其中占有一表项。共享段表的格式如下：</a:t>
            </a:r>
          </a:p>
        </p:txBody>
      </p:sp>
    </p:spTree>
  </p:cSld>
  <p:clrMapOvr>
    <a:masterClrMapping/>
  </p:clrMapOvr>
  <p:transition spd="med">
    <p:zoom/>
  </p:transition>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8799F668-528B-FAEC-DCBE-96F3906AA9AE}"/>
              </a:ext>
            </a:extLst>
          </p:cNvPr>
          <p:cNvSpPr>
            <a:spLocks noGrp="1" noChangeArrowheads="1"/>
          </p:cNvSpPr>
          <p:nvPr>
            <p:ph type="title"/>
          </p:nvPr>
        </p:nvSpPr>
        <p:spPr/>
        <p:txBody>
          <a:bodyPr/>
          <a:lstStyle/>
          <a:p>
            <a:pPr eaLnBrk="1" hangingPunct="1"/>
            <a:r>
              <a:rPr lang="zh-CN" altLang="en-US"/>
              <a:t>共享段表及表项</a:t>
            </a:r>
          </a:p>
        </p:txBody>
      </p:sp>
      <p:sp>
        <p:nvSpPr>
          <p:cNvPr id="178179" name="Rectangle 3">
            <a:extLst>
              <a:ext uri="{FF2B5EF4-FFF2-40B4-BE49-F238E27FC236}">
                <a16:creationId xmlns:a16="http://schemas.microsoft.com/office/drawing/2014/main" id="{A399C16C-A9A2-68C1-B1BB-281819A33400}"/>
              </a:ext>
            </a:extLst>
          </p:cNvPr>
          <p:cNvSpPr>
            <a:spLocks noGrp="1" noChangeArrowheads="1"/>
          </p:cNvSpPr>
          <p:nvPr>
            <p:ph idx="1"/>
          </p:nvPr>
        </p:nvSpPr>
        <p:spPr>
          <a:xfrm>
            <a:off x="304800" y="4967288"/>
            <a:ext cx="8588375" cy="1557337"/>
          </a:xfrm>
        </p:spPr>
        <p:txBody>
          <a:bodyPr/>
          <a:lstStyle/>
          <a:p>
            <a:pPr algn="just" eaLnBrk="1" hangingPunct="1">
              <a:lnSpc>
                <a:spcPct val="90000"/>
              </a:lnSpc>
            </a:pPr>
            <a:r>
              <a:rPr lang="zh-CN" altLang="en-US" sz="2400"/>
              <a:t>共享进程计数：记录有多少进程共享该段。</a:t>
            </a:r>
          </a:p>
          <a:p>
            <a:pPr algn="just" eaLnBrk="1" hangingPunct="1">
              <a:lnSpc>
                <a:spcPct val="90000"/>
              </a:lnSpc>
            </a:pPr>
            <a:r>
              <a:rPr lang="zh-CN" altLang="en-US" sz="2400"/>
              <a:t>存取控制字段：对同一共享段，不同进程有不同的操作权限。</a:t>
            </a:r>
          </a:p>
          <a:p>
            <a:pPr algn="just" eaLnBrk="1" hangingPunct="1">
              <a:lnSpc>
                <a:spcPct val="90000"/>
              </a:lnSpc>
            </a:pPr>
            <a:r>
              <a:rPr lang="zh-CN" altLang="en-US" sz="2400"/>
              <a:t>段号：共享段在不同进程中有不同的段号。</a:t>
            </a:r>
          </a:p>
        </p:txBody>
      </p:sp>
      <p:sp>
        <p:nvSpPr>
          <p:cNvPr id="126979" name="Rectangle 5">
            <a:extLst>
              <a:ext uri="{FF2B5EF4-FFF2-40B4-BE49-F238E27FC236}">
                <a16:creationId xmlns:a16="http://schemas.microsoft.com/office/drawing/2014/main" id="{ACC07D88-C34C-FE0A-0061-C47AA6ECD500}"/>
              </a:ext>
            </a:extLst>
          </p:cNvPr>
          <p:cNvSpPr>
            <a:spLocks noChangeArrowheads="1"/>
          </p:cNvSpPr>
          <p:nvPr/>
        </p:nvSpPr>
        <p:spPr bwMode="auto">
          <a:xfrm>
            <a:off x="1295400" y="4352925"/>
            <a:ext cx="57912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spcBef>
                <a:spcPct val="0"/>
              </a:spcBef>
              <a:buClrTx/>
              <a:buSzTx/>
              <a:buFontTx/>
              <a:buNone/>
            </a:pPr>
            <a:r>
              <a:rPr lang="zh-CN" altLang="en-US" sz="2000" b="1">
                <a:latin typeface="Times New Roman" panose="02020603050405020304" pitchFamily="18" charset="0"/>
              </a:rPr>
              <a:t>共享段表                                       共享段表项</a:t>
            </a:r>
            <a:endParaRPr lang="en-US" altLang="zh-CN" sz="2000" b="1">
              <a:latin typeface="Times New Roman" panose="02020603050405020304" pitchFamily="18" charset="0"/>
            </a:endParaRPr>
          </a:p>
        </p:txBody>
      </p:sp>
      <p:sp>
        <p:nvSpPr>
          <p:cNvPr id="126980" name="Rectangle 6">
            <a:extLst>
              <a:ext uri="{FF2B5EF4-FFF2-40B4-BE49-F238E27FC236}">
                <a16:creationId xmlns:a16="http://schemas.microsoft.com/office/drawing/2014/main" id="{A825AF7C-71B0-C3C5-3B50-D64830488EF2}"/>
              </a:ext>
            </a:extLst>
          </p:cNvPr>
          <p:cNvSpPr>
            <a:spLocks noChangeArrowheads="1"/>
          </p:cNvSpPr>
          <p:nvPr/>
        </p:nvSpPr>
        <p:spPr bwMode="auto">
          <a:xfrm>
            <a:off x="3260725" y="1322388"/>
            <a:ext cx="4587875" cy="2778125"/>
          </a:xfrm>
          <a:prstGeom prst="rect">
            <a:avLst/>
          </a:prstGeom>
          <a:solidFill>
            <a:srgbClr val="FFFFFF"/>
          </a:solidFill>
          <a:ln w="25400">
            <a:solidFill>
              <a:srgbClr val="000000"/>
            </a:solidFill>
            <a:miter lim="800000"/>
            <a:headEnd/>
            <a:tailEnd/>
          </a:ln>
        </p:spPr>
        <p:txBody>
          <a:bodyPr lIns="0" tIns="0" rIns="0" bIns="0"/>
          <a:lstStyle/>
          <a:p>
            <a:pPr algn="just" eaLnBrk="0" hangingPunct="0">
              <a:spcBef>
                <a:spcPct val="0"/>
              </a:spcBef>
              <a:buClrTx/>
              <a:buSzTx/>
              <a:buFontTx/>
              <a:buNone/>
            </a:pPr>
            <a:endParaRPr lang="zh-CN" altLang="en-US" sz="1600">
              <a:latin typeface="Times New Roman" panose="02020603050405020304" pitchFamily="18" charset="0"/>
            </a:endParaRPr>
          </a:p>
          <a:p>
            <a:pPr algn="just" eaLnBrk="0" hangingPunct="0">
              <a:spcBef>
                <a:spcPct val="0"/>
              </a:spcBef>
              <a:buClrTx/>
              <a:buSzTx/>
              <a:buFontTx/>
              <a:buNone/>
            </a:pPr>
            <a:r>
              <a:rPr lang="zh-CN" altLang="en-US" sz="2000">
                <a:latin typeface="Times New Roman" panose="02020603050405020304" pitchFamily="18" charset="0"/>
              </a:rPr>
              <a:t>  </a:t>
            </a:r>
            <a:r>
              <a:rPr lang="zh-CN" altLang="en-US" sz="2000" b="1">
                <a:latin typeface="Times New Roman" panose="02020603050405020304" pitchFamily="18" charset="0"/>
              </a:rPr>
              <a:t>段名   段长   内存地址   状态   外存地址</a:t>
            </a:r>
          </a:p>
          <a:p>
            <a:pPr algn="just" eaLnBrk="0" hangingPunct="0">
              <a:spcBef>
                <a:spcPct val="0"/>
              </a:spcBef>
              <a:buClrTx/>
              <a:buSzTx/>
              <a:buFontTx/>
              <a:buNone/>
            </a:pPr>
            <a:endParaRPr lang="zh-CN" altLang="en-US" sz="2000" b="1">
              <a:latin typeface="Times New Roman" panose="02020603050405020304" pitchFamily="18" charset="0"/>
            </a:endParaRPr>
          </a:p>
          <a:p>
            <a:pPr algn="just" eaLnBrk="0" hangingPunct="0">
              <a:spcBef>
                <a:spcPct val="0"/>
              </a:spcBef>
              <a:buClrTx/>
              <a:buSzTx/>
              <a:buFontTx/>
              <a:buNone/>
            </a:pPr>
            <a:r>
              <a:rPr lang="zh-CN" altLang="en-US" sz="2000" b="1">
                <a:latin typeface="Times New Roman" panose="02020603050405020304" pitchFamily="18" charset="0"/>
              </a:rPr>
              <a:t>            共享进程计数</a:t>
            </a:r>
            <a:r>
              <a:rPr lang="en-US" altLang="zh-CN" sz="2000" b="1">
                <a:latin typeface="Times New Roman" panose="02020603050405020304" pitchFamily="18" charset="0"/>
              </a:rPr>
              <a:t>count</a:t>
            </a:r>
          </a:p>
          <a:p>
            <a:pPr algn="just" eaLnBrk="0" hangingPunct="0">
              <a:spcBef>
                <a:spcPct val="0"/>
              </a:spcBef>
              <a:buClrTx/>
              <a:buSzTx/>
              <a:buFontTx/>
              <a:buNone/>
            </a:pPr>
            <a:endParaRPr lang="zh-CN" altLang="en-US" sz="2000" b="1">
              <a:latin typeface="Times New Roman" panose="02020603050405020304" pitchFamily="18" charset="0"/>
            </a:endParaRPr>
          </a:p>
          <a:p>
            <a:pPr algn="just" eaLnBrk="0" hangingPunct="0">
              <a:spcBef>
                <a:spcPct val="0"/>
              </a:spcBef>
              <a:buClrTx/>
              <a:buSzTx/>
              <a:buFontTx/>
              <a:buNone/>
            </a:pPr>
            <a:r>
              <a:rPr lang="zh-CN" altLang="en-US" sz="2000" b="1">
                <a:latin typeface="Times New Roman" panose="02020603050405020304" pitchFamily="18" charset="0"/>
              </a:rPr>
              <a:t>  状态  进程名   进程号  段号  存取控制</a:t>
            </a:r>
          </a:p>
          <a:p>
            <a:pPr algn="just" eaLnBrk="0" hangingPunct="0">
              <a:spcBef>
                <a:spcPct val="0"/>
              </a:spcBef>
              <a:buClrTx/>
              <a:buSzTx/>
              <a:buFontTx/>
              <a:buNone/>
            </a:pPr>
            <a:endParaRPr lang="zh-CN" altLang="en-US" sz="1000">
              <a:latin typeface="Times New Roman" panose="02020603050405020304" pitchFamily="18" charset="0"/>
            </a:endParaRPr>
          </a:p>
          <a:p>
            <a:pPr algn="just" eaLnBrk="0" hangingPunct="0">
              <a:spcBef>
                <a:spcPct val="0"/>
              </a:spcBef>
              <a:buClrTx/>
              <a:buSzTx/>
              <a:buFontTx/>
              <a:buNone/>
            </a:pPr>
            <a:r>
              <a:rPr lang="zh-CN" altLang="en-US" sz="2000">
                <a:latin typeface="Times New Roman" panose="02020603050405020304" pitchFamily="18" charset="0"/>
              </a:rPr>
              <a:t>  </a:t>
            </a:r>
            <a:endParaRPr lang="zh-CN" altLang="en-US" sz="1000">
              <a:latin typeface="Times New Roman" panose="02020603050405020304" pitchFamily="18" charset="0"/>
            </a:endParaRPr>
          </a:p>
          <a:p>
            <a:pPr algn="just" eaLnBrk="0" hangingPunct="0">
              <a:spcBef>
                <a:spcPct val="0"/>
              </a:spcBef>
              <a:buClrTx/>
              <a:buSzTx/>
              <a:buFontTx/>
              <a:buNone/>
            </a:pPr>
            <a:r>
              <a:rPr lang="zh-CN" altLang="en-US" sz="2000">
                <a:latin typeface="Times New Roman" panose="02020603050405020304" pitchFamily="18" charset="0"/>
              </a:rPr>
              <a:t>     </a:t>
            </a:r>
            <a:r>
              <a:rPr lang="zh-CN" altLang="en-US" sz="2000">
                <a:latin typeface="宋体" panose="02010600030101010101" pitchFamily="2" charset="-122"/>
              </a:rPr>
              <a:t>┇   ┇      ┇     ┇     ┇</a:t>
            </a:r>
            <a:endParaRPr lang="zh-CN" altLang="en-US" sz="2000">
              <a:latin typeface="Times New Roman" panose="02020603050405020304" pitchFamily="18" charset="0"/>
            </a:endParaRPr>
          </a:p>
        </p:txBody>
      </p:sp>
      <p:sp>
        <p:nvSpPr>
          <p:cNvPr id="126981" name="Rectangle 7">
            <a:extLst>
              <a:ext uri="{FF2B5EF4-FFF2-40B4-BE49-F238E27FC236}">
                <a16:creationId xmlns:a16="http://schemas.microsoft.com/office/drawing/2014/main" id="{D13D3B85-FCA4-8F2F-AA3D-6095F9A04A41}"/>
              </a:ext>
            </a:extLst>
          </p:cNvPr>
          <p:cNvSpPr>
            <a:spLocks noChangeArrowheads="1"/>
          </p:cNvSpPr>
          <p:nvPr/>
        </p:nvSpPr>
        <p:spPr bwMode="auto">
          <a:xfrm>
            <a:off x="1219200" y="1304925"/>
            <a:ext cx="1144588" cy="2895600"/>
          </a:xfrm>
          <a:prstGeom prst="rect">
            <a:avLst/>
          </a:prstGeom>
          <a:solidFill>
            <a:srgbClr val="FFFFFF"/>
          </a:solidFill>
          <a:ln w="25400">
            <a:solidFill>
              <a:srgbClr val="000000"/>
            </a:solidFill>
            <a:miter lim="800000"/>
            <a:headEnd/>
            <a:tailEnd/>
          </a:ln>
        </p:spPr>
        <p:txBody>
          <a:bodyPr lIns="0" tIns="108000" rIns="0" bIns="0"/>
          <a:lstStyle/>
          <a:p>
            <a:pPr algn="ctr" eaLnBrk="0" hangingPunct="0">
              <a:spcBef>
                <a:spcPct val="0"/>
              </a:spcBef>
              <a:buClrTx/>
              <a:buSzTx/>
              <a:buFontTx/>
              <a:buNone/>
            </a:pPr>
            <a:r>
              <a:rPr lang="zh-CN" altLang="en-US" sz="2000" b="1">
                <a:latin typeface="宋体" panose="02010600030101010101" pitchFamily="2" charset="-122"/>
              </a:rPr>
              <a:t>表项1</a:t>
            </a:r>
          </a:p>
          <a:p>
            <a:pPr algn="ctr" eaLnBrk="0" hangingPunct="0">
              <a:spcBef>
                <a:spcPct val="0"/>
              </a:spcBef>
              <a:buClrTx/>
              <a:buSzTx/>
              <a:buFontTx/>
              <a:buNone/>
            </a:pPr>
            <a:endParaRPr lang="zh-CN" altLang="en-US" sz="2000" b="1">
              <a:latin typeface="宋体" panose="02010600030101010101" pitchFamily="2" charset="-122"/>
            </a:endParaRPr>
          </a:p>
          <a:p>
            <a:pPr algn="ctr" eaLnBrk="0" hangingPunct="0">
              <a:spcBef>
                <a:spcPct val="0"/>
              </a:spcBef>
              <a:buClrTx/>
              <a:buSzTx/>
              <a:buFontTx/>
              <a:buNone/>
            </a:pPr>
            <a:r>
              <a:rPr lang="zh-CN" altLang="en-US" sz="2000" b="1">
                <a:latin typeface="宋体" panose="02010600030101010101" pitchFamily="2" charset="-122"/>
              </a:rPr>
              <a:t>表项2</a:t>
            </a:r>
          </a:p>
          <a:p>
            <a:pPr algn="ctr" eaLnBrk="0" hangingPunct="0">
              <a:spcBef>
                <a:spcPct val="0"/>
              </a:spcBef>
              <a:buClrTx/>
              <a:buSzTx/>
              <a:buFontTx/>
              <a:buNone/>
            </a:pPr>
            <a:endParaRPr lang="zh-CN" altLang="en-US" sz="2000" b="1">
              <a:latin typeface="宋体" panose="02010600030101010101" pitchFamily="2" charset="-122"/>
            </a:endParaRPr>
          </a:p>
          <a:p>
            <a:pPr algn="ctr" eaLnBrk="0" hangingPunct="0">
              <a:spcBef>
                <a:spcPct val="0"/>
              </a:spcBef>
              <a:buClrTx/>
              <a:buSzTx/>
              <a:buFontTx/>
              <a:buNone/>
            </a:pPr>
            <a:endParaRPr lang="zh-CN" altLang="en-US" sz="2000" b="1">
              <a:latin typeface="宋体" panose="02010600030101010101" pitchFamily="2" charset="-122"/>
            </a:endParaRPr>
          </a:p>
          <a:p>
            <a:pPr algn="ctr" eaLnBrk="0" hangingPunct="0">
              <a:spcBef>
                <a:spcPct val="0"/>
              </a:spcBef>
              <a:buClrTx/>
              <a:buSzTx/>
              <a:buFontTx/>
              <a:buNone/>
            </a:pPr>
            <a:endParaRPr lang="zh-CN" altLang="en-US" sz="1400" b="1">
              <a:latin typeface="宋体" panose="02010600030101010101" pitchFamily="2" charset="-122"/>
            </a:endParaRPr>
          </a:p>
          <a:p>
            <a:pPr algn="ctr" eaLnBrk="0" hangingPunct="0">
              <a:spcBef>
                <a:spcPct val="0"/>
              </a:spcBef>
              <a:buClrTx/>
              <a:buSzTx/>
              <a:buFontTx/>
              <a:buNone/>
            </a:pPr>
            <a:r>
              <a:rPr lang="zh-CN" altLang="en-US" sz="2000" b="1">
                <a:latin typeface="宋体" panose="02010600030101010101" pitchFamily="2" charset="-122"/>
              </a:rPr>
              <a:t>┇</a:t>
            </a:r>
          </a:p>
          <a:p>
            <a:pPr algn="ctr" eaLnBrk="0" hangingPunct="0">
              <a:spcBef>
                <a:spcPct val="0"/>
              </a:spcBef>
              <a:buClrTx/>
              <a:buSzTx/>
              <a:buFontTx/>
              <a:buNone/>
            </a:pPr>
            <a:endParaRPr lang="zh-CN" altLang="en-US" sz="2000" b="1">
              <a:latin typeface="宋体" panose="02010600030101010101" pitchFamily="2" charset="-122"/>
            </a:endParaRPr>
          </a:p>
          <a:p>
            <a:pPr algn="ctr" eaLnBrk="0" hangingPunct="0">
              <a:spcBef>
                <a:spcPct val="0"/>
              </a:spcBef>
              <a:buClrTx/>
              <a:buSzTx/>
              <a:buFontTx/>
              <a:buNone/>
            </a:pPr>
            <a:r>
              <a:rPr lang="zh-CN" altLang="en-US" sz="2000" b="1">
                <a:latin typeface="宋体" panose="02010600030101010101" pitchFamily="2" charset="-122"/>
              </a:rPr>
              <a:t>表项</a:t>
            </a:r>
            <a:r>
              <a:rPr lang="en-US" altLang="zh-CN" sz="2000" b="1">
                <a:latin typeface="宋体" panose="02010600030101010101" pitchFamily="2" charset="-122"/>
              </a:rPr>
              <a:t>n</a:t>
            </a:r>
            <a:endParaRPr lang="en-US" altLang="zh-CN" sz="2000" b="1">
              <a:latin typeface="Times New Roman" panose="02020603050405020304" pitchFamily="18" charset="0"/>
            </a:endParaRPr>
          </a:p>
        </p:txBody>
      </p:sp>
      <p:sp>
        <p:nvSpPr>
          <p:cNvPr id="126982" name="Line 8">
            <a:extLst>
              <a:ext uri="{FF2B5EF4-FFF2-40B4-BE49-F238E27FC236}">
                <a16:creationId xmlns:a16="http://schemas.microsoft.com/office/drawing/2014/main" id="{6315F7E3-4E9E-7560-BD83-B05E8AE3168A}"/>
              </a:ext>
            </a:extLst>
          </p:cNvPr>
          <p:cNvSpPr>
            <a:spLocks noChangeShapeType="1"/>
          </p:cNvSpPr>
          <p:nvPr/>
        </p:nvSpPr>
        <p:spPr bwMode="auto">
          <a:xfrm>
            <a:off x="1219200" y="1914525"/>
            <a:ext cx="11445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3" name="Line 9">
            <a:extLst>
              <a:ext uri="{FF2B5EF4-FFF2-40B4-BE49-F238E27FC236}">
                <a16:creationId xmlns:a16="http://schemas.microsoft.com/office/drawing/2014/main" id="{4B4C9886-8C9A-5F3B-1A9B-96DC3E6342AB}"/>
              </a:ext>
            </a:extLst>
          </p:cNvPr>
          <p:cNvSpPr>
            <a:spLocks noChangeShapeType="1"/>
          </p:cNvSpPr>
          <p:nvPr/>
        </p:nvSpPr>
        <p:spPr bwMode="auto">
          <a:xfrm>
            <a:off x="1219200" y="3590925"/>
            <a:ext cx="11445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4" name="Line 10">
            <a:extLst>
              <a:ext uri="{FF2B5EF4-FFF2-40B4-BE49-F238E27FC236}">
                <a16:creationId xmlns:a16="http://schemas.microsoft.com/office/drawing/2014/main" id="{35A69CF9-BEF5-8857-DF6A-95A77169DA84}"/>
              </a:ext>
            </a:extLst>
          </p:cNvPr>
          <p:cNvSpPr>
            <a:spLocks noChangeShapeType="1"/>
          </p:cNvSpPr>
          <p:nvPr/>
        </p:nvSpPr>
        <p:spPr bwMode="auto">
          <a:xfrm>
            <a:off x="1219200" y="2447925"/>
            <a:ext cx="11445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5" name="Line 11">
            <a:extLst>
              <a:ext uri="{FF2B5EF4-FFF2-40B4-BE49-F238E27FC236}">
                <a16:creationId xmlns:a16="http://schemas.microsoft.com/office/drawing/2014/main" id="{58DD2E43-820C-E46F-0623-B43F99DCD9A4}"/>
              </a:ext>
            </a:extLst>
          </p:cNvPr>
          <p:cNvSpPr>
            <a:spLocks noChangeShapeType="1"/>
          </p:cNvSpPr>
          <p:nvPr/>
        </p:nvSpPr>
        <p:spPr bwMode="auto">
          <a:xfrm>
            <a:off x="1219200" y="3057525"/>
            <a:ext cx="11445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6" name="Line 12">
            <a:extLst>
              <a:ext uri="{FF2B5EF4-FFF2-40B4-BE49-F238E27FC236}">
                <a16:creationId xmlns:a16="http://schemas.microsoft.com/office/drawing/2014/main" id="{BCE69101-AEC9-45AC-828E-4318D74320E3}"/>
              </a:ext>
            </a:extLst>
          </p:cNvPr>
          <p:cNvSpPr>
            <a:spLocks noChangeShapeType="1"/>
          </p:cNvSpPr>
          <p:nvPr/>
        </p:nvSpPr>
        <p:spPr bwMode="auto">
          <a:xfrm>
            <a:off x="3260725" y="2025650"/>
            <a:ext cx="4587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7" name="Line 13">
            <a:extLst>
              <a:ext uri="{FF2B5EF4-FFF2-40B4-BE49-F238E27FC236}">
                <a16:creationId xmlns:a16="http://schemas.microsoft.com/office/drawing/2014/main" id="{A3B7118D-1702-0CCC-FFC9-2CA4211D531D}"/>
              </a:ext>
            </a:extLst>
          </p:cNvPr>
          <p:cNvSpPr>
            <a:spLocks noChangeShapeType="1"/>
          </p:cNvSpPr>
          <p:nvPr/>
        </p:nvSpPr>
        <p:spPr bwMode="auto">
          <a:xfrm>
            <a:off x="3260725" y="2592388"/>
            <a:ext cx="4587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8" name="Line 14">
            <a:extLst>
              <a:ext uri="{FF2B5EF4-FFF2-40B4-BE49-F238E27FC236}">
                <a16:creationId xmlns:a16="http://schemas.microsoft.com/office/drawing/2014/main" id="{951E214F-AAC9-62F8-1AAA-C536D7A4ACCD}"/>
              </a:ext>
            </a:extLst>
          </p:cNvPr>
          <p:cNvSpPr>
            <a:spLocks noChangeShapeType="1"/>
          </p:cNvSpPr>
          <p:nvPr/>
        </p:nvSpPr>
        <p:spPr bwMode="auto">
          <a:xfrm flipV="1">
            <a:off x="3260725" y="3362325"/>
            <a:ext cx="4584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9" name="Line 15">
            <a:extLst>
              <a:ext uri="{FF2B5EF4-FFF2-40B4-BE49-F238E27FC236}">
                <a16:creationId xmlns:a16="http://schemas.microsoft.com/office/drawing/2014/main" id="{B43D9889-F531-FFCB-99CD-75D986D3F0F5}"/>
              </a:ext>
            </a:extLst>
          </p:cNvPr>
          <p:cNvSpPr>
            <a:spLocks noChangeShapeType="1"/>
          </p:cNvSpPr>
          <p:nvPr/>
        </p:nvSpPr>
        <p:spPr bwMode="auto">
          <a:xfrm flipV="1">
            <a:off x="2362200" y="1268413"/>
            <a:ext cx="892175" cy="1179512"/>
          </a:xfrm>
          <a:prstGeom prst="line">
            <a:avLst/>
          </a:prstGeom>
          <a:noFill/>
          <a:ln w="25400" cap="rnd">
            <a:solidFill>
              <a:srgbClr val="000000"/>
            </a:solidFill>
            <a:prstDash val="sysDot"/>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6990" name="Line 16">
            <a:extLst>
              <a:ext uri="{FF2B5EF4-FFF2-40B4-BE49-F238E27FC236}">
                <a16:creationId xmlns:a16="http://schemas.microsoft.com/office/drawing/2014/main" id="{E3FEB16B-2070-98D6-CF36-36C1D09D3758}"/>
              </a:ext>
            </a:extLst>
          </p:cNvPr>
          <p:cNvSpPr>
            <a:spLocks noChangeShapeType="1"/>
          </p:cNvSpPr>
          <p:nvPr/>
        </p:nvSpPr>
        <p:spPr bwMode="auto">
          <a:xfrm>
            <a:off x="2362200" y="3057525"/>
            <a:ext cx="908050" cy="1028700"/>
          </a:xfrm>
          <a:prstGeom prst="line">
            <a:avLst/>
          </a:prstGeom>
          <a:noFill/>
          <a:ln w="25400" cap="rnd">
            <a:solidFill>
              <a:srgbClr val="000000"/>
            </a:solidFill>
            <a:prstDash val="sysDot"/>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6991" name="Line 17">
            <a:extLst>
              <a:ext uri="{FF2B5EF4-FFF2-40B4-BE49-F238E27FC236}">
                <a16:creationId xmlns:a16="http://schemas.microsoft.com/office/drawing/2014/main" id="{19446748-D92B-7993-F1BA-8EBB92F28057}"/>
              </a:ext>
            </a:extLst>
          </p:cNvPr>
          <p:cNvSpPr>
            <a:spLocks noChangeShapeType="1"/>
          </p:cNvSpPr>
          <p:nvPr/>
        </p:nvSpPr>
        <p:spPr bwMode="auto">
          <a:xfrm>
            <a:off x="3962400" y="1322388"/>
            <a:ext cx="0" cy="71913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26992" name="Line 18">
            <a:extLst>
              <a:ext uri="{FF2B5EF4-FFF2-40B4-BE49-F238E27FC236}">
                <a16:creationId xmlns:a16="http://schemas.microsoft.com/office/drawing/2014/main" id="{7F6C9E21-25D8-6DCD-4514-F4509476F898}"/>
              </a:ext>
            </a:extLst>
          </p:cNvPr>
          <p:cNvSpPr>
            <a:spLocks noChangeShapeType="1"/>
          </p:cNvSpPr>
          <p:nvPr/>
        </p:nvSpPr>
        <p:spPr bwMode="auto">
          <a:xfrm>
            <a:off x="4667250" y="1322388"/>
            <a:ext cx="0" cy="71913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26993" name="Line 19">
            <a:extLst>
              <a:ext uri="{FF2B5EF4-FFF2-40B4-BE49-F238E27FC236}">
                <a16:creationId xmlns:a16="http://schemas.microsoft.com/office/drawing/2014/main" id="{4EB52E3A-9703-B94E-6AED-DF3184E70AF5}"/>
              </a:ext>
            </a:extLst>
          </p:cNvPr>
          <p:cNvSpPr>
            <a:spLocks noChangeShapeType="1"/>
          </p:cNvSpPr>
          <p:nvPr/>
        </p:nvSpPr>
        <p:spPr bwMode="auto">
          <a:xfrm>
            <a:off x="5943600" y="1322388"/>
            <a:ext cx="0" cy="71913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26994" name="Line 20">
            <a:extLst>
              <a:ext uri="{FF2B5EF4-FFF2-40B4-BE49-F238E27FC236}">
                <a16:creationId xmlns:a16="http://schemas.microsoft.com/office/drawing/2014/main" id="{EEAC6162-3FA6-72DD-4839-B40713D1B714}"/>
              </a:ext>
            </a:extLst>
          </p:cNvPr>
          <p:cNvSpPr>
            <a:spLocks noChangeShapeType="1"/>
          </p:cNvSpPr>
          <p:nvPr/>
        </p:nvSpPr>
        <p:spPr bwMode="auto">
          <a:xfrm>
            <a:off x="6629400" y="1322388"/>
            <a:ext cx="0" cy="71913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26995" name="Line 21">
            <a:extLst>
              <a:ext uri="{FF2B5EF4-FFF2-40B4-BE49-F238E27FC236}">
                <a16:creationId xmlns:a16="http://schemas.microsoft.com/office/drawing/2014/main" id="{F377EA04-EDB8-A890-2EA6-CD658B62B996}"/>
              </a:ext>
            </a:extLst>
          </p:cNvPr>
          <p:cNvSpPr>
            <a:spLocks noChangeShapeType="1"/>
          </p:cNvSpPr>
          <p:nvPr/>
        </p:nvSpPr>
        <p:spPr bwMode="auto">
          <a:xfrm>
            <a:off x="3962400" y="2600325"/>
            <a:ext cx="0" cy="78105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26996" name="Line 22">
            <a:extLst>
              <a:ext uri="{FF2B5EF4-FFF2-40B4-BE49-F238E27FC236}">
                <a16:creationId xmlns:a16="http://schemas.microsoft.com/office/drawing/2014/main" id="{5DF3F50A-05DA-6B4F-B3A6-728AD5C98102}"/>
              </a:ext>
            </a:extLst>
          </p:cNvPr>
          <p:cNvSpPr>
            <a:spLocks noChangeShapeType="1"/>
          </p:cNvSpPr>
          <p:nvPr/>
        </p:nvSpPr>
        <p:spPr bwMode="auto">
          <a:xfrm>
            <a:off x="4876800" y="2617788"/>
            <a:ext cx="0" cy="78105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26997" name="Line 23">
            <a:extLst>
              <a:ext uri="{FF2B5EF4-FFF2-40B4-BE49-F238E27FC236}">
                <a16:creationId xmlns:a16="http://schemas.microsoft.com/office/drawing/2014/main" id="{4A465A51-F11C-A925-1AC7-7D4AC4C1A5DF}"/>
              </a:ext>
            </a:extLst>
          </p:cNvPr>
          <p:cNvSpPr>
            <a:spLocks noChangeShapeType="1"/>
          </p:cNvSpPr>
          <p:nvPr/>
        </p:nvSpPr>
        <p:spPr bwMode="auto">
          <a:xfrm>
            <a:off x="5791200" y="2600325"/>
            <a:ext cx="0" cy="78105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26998" name="Line 24">
            <a:extLst>
              <a:ext uri="{FF2B5EF4-FFF2-40B4-BE49-F238E27FC236}">
                <a16:creationId xmlns:a16="http://schemas.microsoft.com/office/drawing/2014/main" id="{D9CF268F-96C5-06ED-9219-BC733CCD62D9}"/>
              </a:ext>
            </a:extLst>
          </p:cNvPr>
          <p:cNvSpPr>
            <a:spLocks noChangeShapeType="1"/>
          </p:cNvSpPr>
          <p:nvPr/>
        </p:nvSpPr>
        <p:spPr bwMode="auto">
          <a:xfrm>
            <a:off x="6477000" y="2582863"/>
            <a:ext cx="0" cy="78105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78179">
                                            <p:txEl>
                                              <p:pRg st="0" end="0"/>
                                            </p:txEl>
                                          </p:spTgt>
                                        </p:tgtEl>
                                        <p:attrNameLst>
                                          <p:attrName>style.visibility</p:attrName>
                                        </p:attrNameLst>
                                      </p:cBhvr>
                                      <p:to>
                                        <p:strVal val="visible"/>
                                      </p:to>
                                    </p:set>
                                    <p:animEffect transition="in" filter="checkerboard(across)">
                                      <p:cBhvr>
                                        <p:cTn id="7" dur="500"/>
                                        <p:tgtEl>
                                          <p:spTgt spid="1781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78179">
                                            <p:txEl>
                                              <p:pRg st="1" end="1"/>
                                            </p:txEl>
                                          </p:spTgt>
                                        </p:tgtEl>
                                        <p:attrNameLst>
                                          <p:attrName>style.visibility</p:attrName>
                                        </p:attrNameLst>
                                      </p:cBhvr>
                                      <p:to>
                                        <p:strVal val="visible"/>
                                      </p:to>
                                    </p:set>
                                    <p:animEffect transition="in" filter="checkerboard(across)">
                                      <p:cBhvr>
                                        <p:cTn id="12" dur="500"/>
                                        <p:tgtEl>
                                          <p:spTgt spid="1781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78179">
                                            <p:txEl>
                                              <p:pRg st="2" end="2"/>
                                            </p:txEl>
                                          </p:spTgt>
                                        </p:tgtEl>
                                        <p:attrNameLst>
                                          <p:attrName>style.visibility</p:attrName>
                                        </p:attrNameLst>
                                      </p:cBhvr>
                                      <p:to>
                                        <p:strVal val="visible"/>
                                      </p:to>
                                    </p:set>
                                    <p:animEffect transition="in" filter="checkerboard(across)">
                                      <p:cBhvr>
                                        <p:cTn id="17" dur="500"/>
                                        <p:tgtEl>
                                          <p:spTgt spid="1781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build="p"/>
    </p:bld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A1662682-444B-4E2C-623C-9D81D4DB4F2B}"/>
              </a:ext>
            </a:extLst>
          </p:cNvPr>
          <p:cNvSpPr>
            <a:spLocks noGrp="1" noChangeArrowheads="1"/>
          </p:cNvSpPr>
          <p:nvPr>
            <p:ph type="title"/>
          </p:nvPr>
        </p:nvSpPr>
        <p:spPr>
          <a:xfrm>
            <a:off x="1042988" y="225431"/>
            <a:ext cx="7850187" cy="746125"/>
          </a:xfrm>
        </p:spPr>
        <p:txBody>
          <a:bodyPr/>
          <a:lstStyle/>
          <a:p>
            <a:r>
              <a:rPr lang="zh-CN" altLang="en-US"/>
              <a:t>共享段的分配</a:t>
            </a:r>
          </a:p>
        </p:txBody>
      </p:sp>
      <p:sp>
        <p:nvSpPr>
          <p:cNvPr id="179203" name="Rectangle 3">
            <a:extLst>
              <a:ext uri="{FF2B5EF4-FFF2-40B4-BE49-F238E27FC236}">
                <a16:creationId xmlns:a16="http://schemas.microsoft.com/office/drawing/2014/main" id="{14652445-A946-6257-4BF1-39E3D510443F}"/>
              </a:ext>
            </a:extLst>
          </p:cNvPr>
          <p:cNvSpPr>
            <a:spLocks noGrp="1" noChangeArrowheads="1"/>
          </p:cNvSpPr>
          <p:nvPr>
            <p:ph idx="1"/>
          </p:nvPr>
        </p:nvSpPr>
        <p:spPr>
          <a:xfrm>
            <a:off x="935038" y="1233488"/>
            <a:ext cx="7772400" cy="4895850"/>
          </a:xfrm>
        </p:spPr>
        <p:txBody>
          <a:bodyPr/>
          <a:lstStyle/>
          <a:p>
            <a:r>
              <a:rPr lang="zh-CN" altLang="en-US"/>
              <a:t>当为共享段分配内存时，对第一个请求使用该段的进程，系统为该共享段分配一个内存区，再将该共享段调入，同时将该区的始址填入请求进程的段表，还需在共享段表中增加一项，填写有关数据并将</a:t>
            </a:r>
            <a:r>
              <a:rPr lang="en-US" altLang="zh-CN"/>
              <a:t>count</a:t>
            </a:r>
            <a:r>
              <a:rPr lang="zh-CN" altLang="en-US"/>
              <a:t>置1。</a:t>
            </a:r>
          </a:p>
          <a:p>
            <a:r>
              <a:rPr lang="zh-CN" altLang="en-US"/>
              <a:t>此后，当又有其他进程申请使用该共享段时，只需将</a:t>
            </a:r>
            <a:r>
              <a:rPr lang="en-US" altLang="zh-CN"/>
              <a:t>count</a:t>
            </a:r>
            <a:r>
              <a:rPr lang="zh-CN" altLang="en-US"/>
              <a:t>加1并填写有关数据结构。</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79203">
                                            <p:txEl>
                                              <p:pRg st="0" end="0"/>
                                            </p:txEl>
                                          </p:spTgt>
                                        </p:tgtEl>
                                        <p:attrNameLst>
                                          <p:attrName>style.visibility</p:attrName>
                                        </p:attrNameLst>
                                      </p:cBhvr>
                                      <p:to>
                                        <p:strVal val="visible"/>
                                      </p:to>
                                    </p:set>
                                    <p:animEffect transition="in" filter="checkerboard(across)">
                                      <p:cBhvr>
                                        <p:cTn id="7" dur="500"/>
                                        <p:tgtEl>
                                          <p:spTgt spid="179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79203">
                                            <p:txEl>
                                              <p:pRg st="1" end="1"/>
                                            </p:txEl>
                                          </p:spTgt>
                                        </p:tgtEl>
                                        <p:attrNameLst>
                                          <p:attrName>style.visibility</p:attrName>
                                        </p:attrNameLst>
                                      </p:cBhvr>
                                      <p:to>
                                        <p:strVal val="visible"/>
                                      </p:to>
                                    </p:set>
                                    <p:animEffect transition="in" filter="checkerboard(across)">
                                      <p:cBhvr>
                                        <p:cTn id="12" dur="500"/>
                                        <p:tgtEl>
                                          <p:spTgt spid="1792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build="p"/>
    </p:bld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a:extLst>
              <a:ext uri="{FF2B5EF4-FFF2-40B4-BE49-F238E27FC236}">
                <a16:creationId xmlns:a16="http://schemas.microsoft.com/office/drawing/2014/main" id="{CA3209FB-7188-D37D-D6CA-E9CB722BD663}"/>
              </a:ext>
            </a:extLst>
          </p:cNvPr>
          <p:cNvSpPr>
            <a:spLocks noGrp="1" noChangeArrowheads="1"/>
          </p:cNvSpPr>
          <p:nvPr>
            <p:ph type="title"/>
          </p:nvPr>
        </p:nvSpPr>
        <p:spPr>
          <a:xfrm>
            <a:off x="1042988" y="225431"/>
            <a:ext cx="7850187" cy="746125"/>
          </a:xfrm>
        </p:spPr>
        <p:txBody>
          <a:bodyPr/>
          <a:lstStyle/>
          <a:p>
            <a:r>
              <a:rPr lang="zh-CN" altLang="en-US"/>
              <a:t>共享段的回收</a:t>
            </a:r>
          </a:p>
        </p:txBody>
      </p:sp>
      <p:sp>
        <p:nvSpPr>
          <p:cNvPr id="129026" name="Rectangle 3">
            <a:extLst>
              <a:ext uri="{FF2B5EF4-FFF2-40B4-BE49-F238E27FC236}">
                <a16:creationId xmlns:a16="http://schemas.microsoft.com/office/drawing/2014/main" id="{010EC0A2-D674-9DBE-924D-E6D4477C6D82}"/>
              </a:ext>
            </a:extLst>
          </p:cNvPr>
          <p:cNvSpPr>
            <a:spLocks noGrp="1" noChangeArrowheads="1"/>
          </p:cNvSpPr>
          <p:nvPr>
            <p:ph idx="1"/>
          </p:nvPr>
        </p:nvSpPr>
        <p:spPr>
          <a:xfrm>
            <a:off x="935038" y="1233488"/>
            <a:ext cx="7772400" cy="4895850"/>
          </a:xfrm>
        </p:spPr>
        <p:txBody>
          <a:bodyPr/>
          <a:lstStyle/>
          <a:p>
            <a:r>
              <a:rPr lang="zh-CN" altLang="en-US"/>
              <a:t>当某进程不再需要使用共享段时，应释放该段。此时应将该进程段表中共享段的对应表项撤消，并将</a:t>
            </a:r>
            <a:r>
              <a:rPr lang="en-US" altLang="zh-CN"/>
              <a:t>count</a:t>
            </a:r>
            <a:r>
              <a:rPr lang="zh-CN" altLang="en-US"/>
              <a:t>减1，若结果为0则需要系统回收共享段的物理内存及有关表项，否则仅取消该进程在共享段中的记录。</a:t>
            </a:r>
          </a:p>
        </p:txBody>
      </p:sp>
    </p:spTree>
  </p:cSld>
  <p:clrMapOvr>
    <a:masterClrMapping/>
  </p:clrMapOvr>
  <p:transition spd="med">
    <p:zoom/>
  </p:transition>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470E8C86-51F1-3471-4CE7-36D43DDB1E7D}"/>
              </a:ext>
            </a:extLst>
          </p:cNvPr>
          <p:cNvSpPr>
            <a:spLocks noGrp="1" noChangeArrowheads="1"/>
          </p:cNvSpPr>
          <p:nvPr>
            <p:ph type="title"/>
          </p:nvPr>
        </p:nvSpPr>
        <p:spPr>
          <a:xfrm>
            <a:off x="1042988" y="225431"/>
            <a:ext cx="7850187" cy="746125"/>
          </a:xfrm>
        </p:spPr>
        <p:txBody>
          <a:bodyPr/>
          <a:lstStyle/>
          <a:p>
            <a:r>
              <a:rPr lang="zh-CN" altLang="en-US"/>
              <a:t>虚拟段页式存储管理系统</a:t>
            </a:r>
          </a:p>
        </p:txBody>
      </p:sp>
      <p:sp>
        <p:nvSpPr>
          <p:cNvPr id="130050" name="Rectangle 3">
            <a:extLst>
              <a:ext uri="{FF2B5EF4-FFF2-40B4-BE49-F238E27FC236}">
                <a16:creationId xmlns:a16="http://schemas.microsoft.com/office/drawing/2014/main" id="{1A14BE14-4C74-832B-9B4A-D2C77C6DE0E3}"/>
              </a:ext>
            </a:extLst>
          </p:cNvPr>
          <p:cNvSpPr>
            <a:spLocks noGrp="1" noChangeArrowheads="1"/>
          </p:cNvSpPr>
          <p:nvPr>
            <p:ph idx="1"/>
          </p:nvPr>
        </p:nvSpPr>
        <p:spPr>
          <a:xfrm>
            <a:off x="935038" y="1233488"/>
            <a:ext cx="7772400" cy="4895850"/>
          </a:xfrm>
        </p:spPr>
        <p:txBody>
          <a:bodyPr/>
          <a:lstStyle/>
          <a:p>
            <a:r>
              <a:rPr lang="zh-CN" altLang="en-US"/>
              <a:t>虚拟段页式存储管理系统是虚拟页式和虚拟段式存储管理的结合。</a:t>
            </a:r>
          </a:p>
          <a:p>
            <a:endParaRPr lang="zh-CN" altLang="en-US"/>
          </a:p>
        </p:txBody>
      </p:sp>
    </p:spTree>
  </p:cSld>
  <p:clrMapOvr>
    <a:masterClrMapping/>
  </p:clrMapOvr>
  <p:transition spd="med">
    <p:zoom/>
  </p:transition>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2">
            <a:extLst>
              <a:ext uri="{FF2B5EF4-FFF2-40B4-BE49-F238E27FC236}">
                <a16:creationId xmlns:a16="http://schemas.microsoft.com/office/drawing/2014/main" id="{88DF2471-9828-0435-744A-88992B06DC1E}"/>
              </a:ext>
            </a:extLst>
          </p:cNvPr>
          <p:cNvSpPr>
            <a:spLocks noGrp="1" noChangeArrowheads="1"/>
          </p:cNvSpPr>
          <p:nvPr>
            <p:ph type="title"/>
          </p:nvPr>
        </p:nvSpPr>
        <p:spPr/>
        <p:txBody>
          <a:bodyPr/>
          <a:lstStyle/>
          <a:p>
            <a:pPr eaLnBrk="1" hangingPunct="1"/>
            <a:r>
              <a:rPr lang="zh-CN" altLang="en-US" b="1" dirty="0"/>
              <a:t>练习题</a:t>
            </a:r>
          </a:p>
        </p:txBody>
      </p:sp>
      <p:sp>
        <p:nvSpPr>
          <p:cNvPr id="172034" name="Rectangle 3">
            <a:extLst>
              <a:ext uri="{FF2B5EF4-FFF2-40B4-BE49-F238E27FC236}">
                <a16:creationId xmlns:a16="http://schemas.microsoft.com/office/drawing/2014/main" id="{3EE4AD73-391B-07C4-F00E-B2C896296407}"/>
              </a:ext>
            </a:extLst>
          </p:cNvPr>
          <p:cNvSpPr>
            <a:spLocks noGrp="1" noChangeArrowheads="1"/>
          </p:cNvSpPr>
          <p:nvPr>
            <p:ph idx="1"/>
          </p:nvPr>
        </p:nvSpPr>
        <p:spPr>
          <a:xfrm>
            <a:off x="377825" y="1125538"/>
            <a:ext cx="8432800" cy="5534025"/>
          </a:xfrm>
        </p:spPr>
        <p:txBody>
          <a:bodyPr>
            <a:normAutofit fontScale="92500" lnSpcReduction="10000"/>
          </a:bodyPr>
          <a:lstStyle/>
          <a:p>
            <a:pPr eaLnBrk="1" hangingPunct="1"/>
            <a:r>
              <a:rPr lang="en-US" altLang="zh-CN" sz="2000"/>
              <a:t>9.2 Why are page sizes always powers of 2?</a:t>
            </a:r>
          </a:p>
          <a:p>
            <a:pPr eaLnBrk="1" hangingPunct="1"/>
            <a:r>
              <a:rPr lang="en-US" altLang="zh-CN" sz="2000"/>
              <a:t>9.4 Consider a logical address space of 64 pages of 1,024 words each, mapped onto a physical memory of 32 frames. a. How many bits are there in the logical address? b. How many bits are there in the physical address? </a:t>
            </a:r>
          </a:p>
          <a:p>
            <a:pPr eaLnBrk="1" hangingPunct="1"/>
            <a:r>
              <a:rPr lang="en-US" altLang="zh-CN" sz="2000"/>
              <a:t>9.22 The MPV operating system is designed for embedded systems and has a 24-bit virtual address, a 20-bit physical address, and a 4-KB page size. How many entries are there in each of the following? a. A conventional, single-level page table b. An inverted page table What is the maximum amount of physical memory in the MPV operating system? </a:t>
            </a:r>
          </a:p>
          <a:p>
            <a:pPr eaLnBrk="1" hangingPunct="1"/>
            <a:r>
              <a:rPr lang="en-US" altLang="zh-CN" sz="2000"/>
              <a:t>9.25 Consider a paging system with the page table stored in memory. a. If a memory reference takes 50 nanoseconds, how long does a paged memory reference take? b. If we add TLBs, and if 75 percent of all page-table references are found in the TLBs, what is the effective memory reference time? (Assume that finding a page-table entry in the TLBs takes 2 nanoseconds, if the entry is present.)  </a:t>
            </a:r>
          </a:p>
        </p:txBody>
      </p:sp>
    </p:spTree>
  </p:cSld>
  <p:clrMapOvr>
    <a:masterClrMapping/>
  </p:clrMapOvr>
  <p:transition spd="med">
    <p:zoom/>
  </p:transition>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CBF92386-15F6-FF60-31E2-08F348250253}"/>
              </a:ext>
            </a:extLst>
          </p:cNvPr>
          <p:cNvSpPr>
            <a:spLocks noGrp="1" noChangeArrowheads="1"/>
          </p:cNvSpPr>
          <p:nvPr>
            <p:ph type="title"/>
          </p:nvPr>
        </p:nvSpPr>
        <p:spPr/>
        <p:txBody>
          <a:bodyPr/>
          <a:lstStyle/>
          <a:p>
            <a:pPr eaLnBrk="1" hangingPunct="1"/>
            <a:r>
              <a:rPr lang="zh-CN" altLang="en-US" b="1" dirty="0"/>
              <a:t>练习题</a:t>
            </a:r>
          </a:p>
        </p:txBody>
      </p:sp>
      <p:sp>
        <p:nvSpPr>
          <p:cNvPr id="129027" name="Rectangle 3">
            <a:extLst>
              <a:ext uri="{FF2B5EF4-FFF2-40B4-BE49-F238E27FC236}">
                <a16:creationId xmlns:a16="http://schemas.microsoft.com/office/drawing/2014/main" id="{08066E2B-9872-C030-0559-2B2A9D27EEDA}"/>
              </a:ext>
            </a:extLst>
          </p:cNvPr>
          <p:cNvSpPr>
            <a:spLocks noGrp="1"/>
          </p:cNvSpPr>
          <p:nvPr>
            <p:ph idx="1"/>
          </p:nvPr>
        </p:nvSpPr>
        <p:spPr>
          <a:xfrm>
            <a:off x="158750" y="1235075"/>
            <a:ext cx="8721725" cy="5395913"/>
          </a:xfrm>
        </p:spPr>
        <p:txBody>
          <a:bodyPr>
            <a:normAutofit/>
          </a:bodyPr>
          <a:lstStyle/>
          <a:p>
            <a:pPr eaLnBrk="1" hangingPunct="1"/>
            <a:r>
              <a:rPr kumimoji="1" sz="2000" noProof="1"/>
              <a:t>10.7 Consider the two-dimensional array A:</a:t>
            </a:r>
          </a:p>
          <a:p>
            <a:pPr marL="0" indent="0" eaLnBrk="1" hangingPunct="1">
              <a:buFont typeface="Wingdings" pitchFamily="2" charset="2"/>
              <a:buNone/>
            </a:pPr>
            <a:r>
              <a:rPr kumimoji="1" sz="2000" noProof="1"/>
              <a:t>         int A[][] = new int[100][100];</a:t>
            </a:r>
          </a:p>
          <a:p>
            <a:pPr marL="0" indent="0" eaLnBrk="1" hangingPunct="1">
              <a:buFont typeface="Wingdings" pitchFamily="2" charset="2"/>
              <a:buNone/>
            </a:pPr>
            <a:r>
              <a:rPr kumimoji="1" sz="2000" noProof="1"/>
              <a:t>Where A[0][0] is at location 200 in a paged memory system with pages of size 200. A small process that manipulates the matrix resides in page 0(locations 0 to 199). Thus, every instruction fetch will be from page 0. For three page-frames, how many page faults are generated by the following array-initialization loops? Use LRU replacement, and assume that page frame 1 contains the process and the other two are initially empty. </a:t>
            </a:r>
            <a:endParaRPr kumimoji="1" lang="en-US" sz="2000" noProof="1"/>
          </a:p>
          <a:p>
            <a:pPr marL="0" indent="0" eaLnBrk="1" hangingPunct="1">
              <a:buNone/>
            </a:pPr>
            <a:r>
              <a:rPr kumimoji="1" sz="2000" noProof="1"/>
              <a:t>                            </a:t>
            </a:r>
          </a:p>
        </p:txBody>
      </p:sp>
      <p:pic>
        <p:nvPicPr>
          <p:cNvPr id="2" name="图片 1">
            <a:extLst>
              <a:ext uri="{FF2B5EF4-FFF2-40B4-BE49-F238E27FC236}">
                <a16:creationId xmlns:a16="http://schemas.microsoft.com/office/drawing/2014/main" id="{995902B6-5440-95D6-364F-7FF49004167E}"/>
              </a:ext>
            </a:extLst>
          </p:cNvPr>
          <p:cNvPicPr>
            <a:picLocks noChangeAspect="1"/>
          </p:cNvPicPr>
          <p:nvPr/>
        </p:nvPicPr>
        <p:blipFill>
          <a:blip r:embed="rId2"/>
          <a:stretch>
            <a:fillRect/>
          </a:stretch>
        </p:blipFill>
        <p:spPr>
          <a:xfrm>
            <a:off x="533204" y="4633894"/>
            <a:ext cx="7772400" cy="1222760"/>
          </a:xfrm>
          <a:prstGeom prst="rect">
            <a:avLst/>
          </a:prstGeom>
        </p:spPr>
      </p:pic>
    </p:spTree>
  </p:cSld>
  <p:clrMapOvr>
    <a:masterClrMapping/>
  </p:clrMapOvr>
  <p:transition spd="med">
    <p:zoom/>
  </p:transition>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21F07B-A058-70CA-C8CA-61EE9FC9A1B5}"/>
              </a:ext>
            </a:extLst>
          </p:cNvPr>
          <p:cNvSpPr>
            <a:spLocks noGrp="1"/>
          </p:cNvSpPr>
          <p:nvPr>
            <p:ph type="title"/>
          </p:nvPr>
        </p:nvSpPr>
        <p:spPr/>
        <p:txBody>
          <a:bodyPr/>
          <a:lstStyle/>
          <a:p>
            <a:r>
              <a:rPr kumimoji="1" lang="zh-CN" altLang="en-US" b="1" dirty="0"/>
              <a:t>练习题</a:t>
            </a:r>
          </a:p>
        </p:txBody>
      </p:sp>
      <p:sp>
        <p:nvSpPr>
          <p:cNvPr id="3" name="内容占位符 2">
            <a:extLst>
              <a:ext uri="{FF2B5EF4-FFF2-40B4-BE49-F238E27FC236}">
                <a16:creationId xmlns:a16="http://schemas.microsoft.com/office/drawing/2014/main" id="{EA0B7857-1DA2-D7CD-BE22-76957B83434F}"/>
              </a:ext>
            </a:extLst>
          </p:cNvPr>
          <p:cNvSpPr>
            <a:spLocks noGrp="1"/>
          </p:cNvSpPr>
          <p:nvPr>
            <p:ph idx="1"/>
          </p:nvPr>
        </p:nvSpPr>
        <p:spPr/>
        <p:txBody>
          <a:bodyPr>
            <a:noAutofit/>
          </a:bodyPr>
          <a:lstStyle/>
          <a:p>
            <a:pPr eaLnBrk="1" hangingPunct="1"/>
            <a:r>
              <a:rPr kumimoji="1" lang="en" altLang="zh-CN" sz="2400" noProof="1"/>
              <a:t>10.9  Consider the following page reference string:</a:t>
            </a:r>
          </a:p>
          <a:p>
            <a:pPr marL="0" indent="0" eaLnBrk="1" hangingPunct="1">
              <a:buFont typeface="Wingdings" pitchFamily="2" charset="2"/>
              <a:buNone/>
            </a:pPr>
            <a:r>
              <a:rPr kumimoji="1" lang="en" altLang="zh-CN" sz="2400" noProof="1"/>
              <a:t>7, 2, 3, 1, 2, 5, 3, 4, 6, 7, 7, 1, 0, 5, 4, 6, 2, 3, 0 , 1.</a:t>
            </a:r>
          </a:p>
          <a:p>
            <a:pPr marL="0" indent="0" eaLnBrk="1" hangingPunct="1">
              <a:buFont typeface="Wingdings" pitchFamily="2" charset="2"/>
              <a:buNone/>
            </a:pPr>
            <a:r>
              <a:rPr kumimoji="1" lang="en" altLang="zh-CN" sz="2400" noProof="1"/>
              <a:t>Assuming demand paging with three frames, how many page faults would occur for the following replacement algorithms?</a:t>
            </a:r>
          </a:p>
          <a:p>
            <a:pPr marL="0" indent="0" eaLnBrk="1" hangingPunct="1">
              <a:buFont typeface="Wingdings" pitchFamily="2" charset="2"/>
              <a:buNone/>
            </a:pPr>
            <a:r>
              <a:rPr kumimoji="1" lang="en" altLang="zh-CN" sz="2400" noProof="1"/>
              <a:t> • LRU replacement </a:t>
            </a:r>
          </a:p>
          <a:p>
            <a:pPr marL="0" indent="0" eaLnBrk="1" hangingPunct="1">
              <a:buFont typeface="Wingdings" pitchFamily="2" charset="2"/>
              <a:buNone/>
            </a:pPr>
            <a:r>
              <a:rPr kumimoji="1" lang="en" altLang="zh-CN" sz="2400" noProof="1"/>
              <a:t> • FIFO replacement </a:t>
            </a:r>
          </a:p>
          <a:p>
            <a:pPr marL="0" indent="0" eaLnBrk="1" hangingPunct="1">
              <a:buFont typeface="Wingdings" pitchFamily="2" charset="2"/>
              <a:buNone/>
            </a:pPr>
            <a:r>
              <a:rPr kumimoji="1" lang="en" altLang="zh-CN" sz="2400" noProof="1"/>
              <a:t> • Optimal replacement</a:t>
            </a:r>
            <a:endParaRPr kumimoji="1" lang="zh-CN" altLang="en-US" sz="2400" dirty="0"/>
          </a:p>
        </p:txBody>
      </p:sp>
      <p:sp>
        <p:nvSpPr>
          <p:cNvPr id="4" name="灯片编号占位符 3">
            <a:extLst>
              <a:ext uri="{FF2B5EF4-FFF2-40B4-BE49-F238E27FC236}">
                <a16:creationId xmlns:a16="http://schemas.microsoft.com/office/drawing/2014/main" id="{89875FDB-9E8E-2278-C05C-2914EFBA42EA}"/>
              </a:ext>
            </a:extLst>
          </p:cNvPr>
          <p:cNvSpPr>
            <a:spLocks noGrp="1"/>
          </p:cNvSpPr>
          <p:nvPr>
            <p:ph type="sldNum" sz="quarter" idx="12"/>
          </p:nvPr>
        </p:nvSpPr>
        <p:spPr/>
        <p:txBody>
          <a:bodyPr/>
          <a:lstStyle/>
          <a:p>
            <a:fld id="{4093CC90-4002-504C-BD88-C9A1D374048E}" type="slidenum">
              <a:rPr lang="zh-CN" altLang="en-US" smtClean="0"/>
              <a:pPr/>
              <a:t>244</a:t>
            </a:fld>
            <a:endParaRPr lang="zh-CN" altLang="en-US" dirty="0"/>
          </a:p>
        </p:txBody>
      </p:sp>
    </p:spTree>
    <p:extLst>
      <p:ext uri="{BB962C8B-B14F-4D97-AF65-F5344CB8AC3E}">
        <p14:creationId xmlns:p14="http://schemas.microsoft.com/office/powerpoint/2010/main" val="2677174455"/>
      </p:ext>
    </p:extLst>
  </p:cSld>
  <p:clrMapOvr>
    <a:masterClrMapping/>
  </p:clrMapOvr>
  <p:transition spd="med">
    <p:zoom/>
  </p:transition>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E503FD32-BB55-2809-3BD8-B19E321674E8}"/>
              </a:ext>
            </a:extLst>
          </p:cNvPr>
          <p:cNvSpPr>
            <a:spLocks noGrp="1" noChangeArrowheads="1"/>
          </p:cNvSpPr>
          <p:nvPr>
            <p:ph type="title"/>
          </p:nvPr>
        </p:nvSpPr>
        <p:spPr/>
        <p:txBody>
          <a:bodyPr/>
          <a:lstStyle/>
          <a:p>
            <a:pPr eaLnBrk="1" hangingPunct="1"/>
            <a:r>
              <a:rPr lang="zh-CN" altLang="en-US" b="1" dirty="0"/>
              <a:t>练习题</a:t>
            </a:r>
            <a:endParaRPr lang="en-US" altLang="zh-CN" b="1" dirty="0"/>
          </a:p>
        </p:txBody>
      </p:sp>
      <p:sp>
        <p:nvSpPr>
          <p:cNvPr id="129027" name="Rectangle 3">
            <a:extLst>
              <a:ext uri="{FF2B5EF4-FFF2-40B4-BE49-F238E27FC236}">
                <a16:creationId xmlns:a16="http://schemas.microsoft.com/office/drawing/2014/main" id="{AAF72B84-8173-0A27-3269-FEC5B69E350A}"/>
              </a:ext>
            </a:extLst>
          </p:cNvPr>
          <p:cNvSpPr>
            <a:spLocks noGrp="1"/>
          </p:cNvSpPr>
          <p:nvPr>
            <p:ph idx="1"/>
          </p:nvPr>
        </p:nvSpPr>
        <p:spPr>
          <a:xfrm>
            <a:off x="158750" y="1235075"/>
            <a:ext cx="8721725" cy="5395913"/>
          </a:xfrm>
        </p:spPr>
        <p:txBody>
          <a:bodyPr/>
          <a:lstStyle/>
          <a:p>
            <a:pPr eaLnBrk="1" hangingPunct="1"/>
            <a:r>
              <a:rPr kumimoji="1" sz="2000" noProof="1"/>
              <a:t>10.13 Consider a demand-paged computer system where the degree of multiprogramming is currently fixed at four. The system was recently measured to determine utilization of the CPU and the paging disk. Three alternative results are shown below. For each case, what is happening? Can the degree of multiprogramming be increased to increase the CPU utilization? </a:t>
            </a:r>
          </a:p>
          <a:p>
            <a:pPr marL="0" indent="0" eaLnBrk="1" hangingPunct="1">
              <a:buFont typeface="Wingdings" pitchFamily="2" charset="2"/>
              <a:buNone/>
            </a:pPr>
            <a:r>
              <a:rPr kumimoji="1" lang="en-US" sz="2000" noProof="1"/>
              <a:t>   </a:t>
            </a:r>
            <a:r>
              <a:rPr kumimoji="1" sz="2000" noProof="1"/>
              <a:t>a. CPU utilization 13 percent; disk utilization 97 percent </a:t>
            </a:r>
          </a:p>
          <a:p>
            <a:pPr marL="0" indent="0" eaLnBrk="1" hangingPunct="1">
              <a:buFont typeface="Wingdings" pitchFamily="2" charset="2"/>
              <a:buNone/>
            </a:pPr>
            <a:r>
              <a:rPr kumimoji="1" lang="en-US" sz="2000" noProof="1"/>
              <a:t>   </a:t>
            </a:r>
            <a:r>
              <a:rPr kumimoji="1" sz="2000" noProof="1"/>
              <a:t>b. CPU utilization 87 percent; disk utilization 3 percent </a:t>
            </a:r>
          </a:p>
          <a:p>
            <a:pPr marL="0" indent="0" eaLnBrk="1" hangingPunct="1">
              <a:buFont typeface="Wingdings" pitchFamily="2" charset="2"/>
              <a:buNone/>
            </a:pPr>
            <a:r>
              <a:rPr kumimoji="1" lang="en-US" sz="2000" noProof="1"/>
              <a:t>   </a:t>
            </a:r>
            <a:r>
              <a:rPr kumimoji="1" sz="2000" noProof="1"/>
              <a:t>c. CPU utilization 13 percent; disk utilization 3 percent</a:t>
            </a:r>
          </a:p>
        </p:txBody>
      </p:sp>
    </p:spTree>
  </p:cSld>
  <p:clrMapOvr>
    <a:masterClrMapping/>
  </p:clrMapOvr>
  <p:transition spd="med">
    <p:zoom/>
  </p:transition>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a:extLst>
              <a:ext uri="{FF2B5EF4-FFF2-40B4-BE49-F238E27FC236}">
                <a16:creationId xmlns:a16="http://schemas.microsoft.com/office/drawing/2014/main" id="{B03DDBAB-FABD-01DC-67C4-0C1D6C6BB5F7}"/>
              </a:ext>
            </a:extLst>
          </p:cNvPr>
          <p:cNvSpPr>
            <a:spLocks noGrp="1" noChangeArrowheads="1"/>
          </p:cNvSpPr>
          <p:nvPr>
            <p:ph type="title"/>
          </p:nvPr>
        </p:nvSpPr>
        <p:spPr/>
        <p:txBody>
          <a:bodyPr/>
          <a:lstStyle/>
          <a:p>
            <a:pPr eaLnBrk="1" hangingPunct="1"/>
            <a:r>
              <a:rPr lang="zh-CN" altLang="en-US"/>
              <a:t>选择题</a:t>
            </a:r>
            <a:r>
              <a:rPr lang="en-US" altLang="zh-CN"/>
              <a:t>1</a:t>
            </a:r>
          </a:p>
        </p:txBody>
      </p:sp>
      <p:sp>
        <p:nvSpPr>
          <p:cNvPr id="173058" name="Rectangle 3">
            <a:extLst>
              <a:ext uri="{FF2B5EF4-FFF2-40B4-BE49-F238E27FC236}">
                <a16:creationId xmlns:a16="http://schemas.microsoft.com/office/drawing/2014/main" id="{8B392907-E3CE-014C-4099-7CAA951C694D}"/>
              </a:ext>
            </a:extLst>
          </p:cNvPr>
          <p:cNvSpPr>
            <a:spLocks noGrp="1" noChangeArrowheads="1"/>
          </p:cNvSpPr>
          <p:nvPr>
            <p:ph idx="1"/>
          </p:nvPr>
        </p:nvSpPr>
        <p:spPr>
          <a:xfrm>
            <a:off x="684213" y="1268413"/>
            <a:ext cx="8220075" cy="4924425"/>
          </a:xfrm>
        </p:spPr>
        <p:txBody>
          <a:bodyPr/>
          <a:lstStyle/>
          <a:p>
            <a:pPr algn="just" eaLnBrk="1" hangingPunct="1"/>
            <a:r>
              <a:rPr lang="zh-CN" altLang="en-US">
                <a:latin typeface="Times New Roman" panose="02020603050405020304" pitchFamily="18" charset="0"/>
              </a:rPr>
              <a:t>首次适应算法的空白区是</a:t>
            </a:r>
            <a:r>
              <a:rPr lang="zh-CN" altLang="en-US"/>
              <a:t> _____ </a:t>
            </a:r>
            <a:r>
              <a:rPr lang="zh-CN" altLang="en-US">
                <a:latin typeface="Times New Roman" panose="02020603050405020304" pitchFamily="18" charset="0"/>
              </a:rPr>
              <a:t>。</a:t>
            </a:r>
          </a:p>
          <a:p>
            <a:pPr lvl="1" algn="just" eaLnBrk="1" hangingPunct="1">
              <a:buFont typeface="Wingdings" pitchFamily="2" charset="2"/>
              <a:buNone/>
            </a:pPr>
            <a:r>
              <a:rPr lang="en-US" altLang="zh-CN"/>
              <a:t>A. </a:t>
            </a:r>
            <a:r>
              <a:rPr lang="zh-CN" altLang="en-US">
                <a:latin typeface="Times New Roman" panose="02020603050405020304" pitchFamily="18" charset="0"/>
              </a:rPr>
              <a:t>按大小递减顺序连在一起</a:t>
            </a:r>
          </a:p>
          <a:p>
            <a:pPr lvl="1" algn="just" eaLnBrk="1" hangingPunct="1">
              <a:buFont typeface="Wingdings" pitchFamily="2" charset="2"/>
              <a:buNone/>
            </a:pPr>
            <a:r>
              <a:rPr lang="en-US" altLang="zh-CN"/>
              <a:t>B. </a:t>
            </a:r>
            <a:r>
              <a:rPr lang="zh-CN" altLang="en-US">
                <a:latin typeface="Times New Roman" panose="02020603050405020304" pitchFamily="18" charset="0"/>
              </a:rPr>
              <a:t>按地址由大到小排列</a:t>
            </a:r>
          </a:p>
          <a:p>
            <a:pPr lvl="1" algn="just" eaLnBrk="1" hangingPunct="1">
              <a:buFont typeface="Wingdings" pitchFamily="2" charset="2"/>
              <a:buNone/>
            </a:pPr>
            <a:r>
              <a:rPr lang="en-US" altLang="zh-CN"/>
              <a:t>C. </a:t>
            </a:r>
            <a:r>
              <a:rPr lang="zh-CN" altLang="en-US">
                <a:latin typeface="Times New Roman" panose="02020603050405020304" pitchFamily="18" charset="0"/>
              </a:rPr>
              <a:t>按地址由小到大排列</a:t>
            </a:r>
          </a:p>
          <a:p>
            <a:pPr lvl="1" algn="just" eaLnBrk="1" hangingPunct="1">
              <a:buFont typeface="Wingdings" pitchFamily="2" charset="2"/>
              <a:buNone/>
            </a:pPr>
            <a:r>
              <a:rPr lang="en-US" altLang="zh-CN"/>
              <a:t>D. </a:t>
            </a:r>
            <a:r>
              <a:rPr lang="zh-CN" altLang="en-US">
                <a:latin typeface="Times New Roman" panose="02020603050405020304" pitchFamily="18" charset="0"/>
              </a:rPr>
              <a:t>按大小递增顺序连在一起</a:t>
            </a:r>
            <a:endParaRPr lang="zh-CN" altLang="en-US"/>
          </a:p>
          <a:p>
            <a:pPr algn="just" eaLnBrk="1" hangingPunct="1"/>
            <a:r>
              <a:rPr lang="zh-CN" altLang="en-US">
                <a:latin typeface="Times New Roman" panose="02020603050405020304" pitchFamily="18" charset="0"/>
              </a:rPr>
              <a:t>在分区存储管理中的拼接技术可以</a:t>
            </a:r>
            <a:r>
              <a:rPr lang="zh-CN" altLang="en-US"/>
              <a:t> _____ </a:t>
            </a:r>
            <a:r>
              <a:rPr lang="zh-CN" altLang="en-US">
                <a:latin typeface="Times New Roman" panose="02020603050405020304" pitchFamily="18" charset="0"/>
              </a:rPr>
              <a:t>。</a:t>
            </a:r>
            <a:endParaRPr lang="zh-CN" altLang="en-US"/>
          </a:p>
          <a:p>
            <a:pPr lvl="1" algn="just" eaLnBrk="1" hangingPunct="1">
              <a:buFont typeface="Wingdings" pitchFamily="2" charset="2"/>
              <a:buNone/>
            </a:pPr>
            <a:r>
              <a:rPr lang="en-US" altLang="zh-CN"/>
              <a:t>A. </a:t>
            </a:r>
            <a:r>
              <a:rPr lang="zh-CN" altLang="en-US">
                <a:latin typeface="Times New Roman" panose="02020603050405020304" pitchFamily="18" charset="0"/>
              </a:rPr>
              <a:t>缩短访问周期</a:t>
            </a:r>
            <a:r>
              <a:rPr lang="zh-CN" altLang="en-US"/>
              <a:t>     </a:t>
            </a:r>
            <a:r>
              <a:rPr lang="en-US" altLang="zh-CN"/>
              <a:t>B. </a:t>
            </a:r>
            <a:r>
              <a:rPr lang="zh-CN" altLang="en-US">
                <a:latin typeface="Times New Roman" panose="02020603050405020304" pitchFamily="18" charset="0"/>
              </a:rPr>
              <a:t>增加内存容量</a:t>
            </a:r>
            <a:endParaRPr lang="zh-CN" altLang="en-US"/>
          </a:p>
          <a:p>
            <a:pPr lvl="1" algn="just" eaLnBrk="1" hangingPunct="1">
              <a:buFont typeface="Wingdings" pitchFamily="2" charset="2"/>
              <a:buNone/>
            </a:pPr>
            <a:r>
              <a:rPr lang="en-US" altLang="zh-CN"/>
              <a:t>C.</a:t>
            </a:r>
            <a:r>
              <a:rPr lang="zh-CN" altLang="en-US">
                <a:latin typeface="Times New Roman" panose="02020603050405020304" pitchFamily="18" charset="0"/>
              </a:rPr>
              <a:t>集中空闲区            </a:t>
            </a:r>
            <a:r>
              <a:rPr lang="en-US" altLang="zh-CN"/>
              <a:t>D. </a:t>
            </a:r>
            <a:r>
              <a:rPr lang="zh-CN" altLang="en-US">
                <a:latin typeface="Times New Roman" panose="02020603050405020304" pitchFamily="18" charset="0"/>
              </a:rPr>
              <a:t>加速地址转换</a:t>
            </a:r>
            <a:endParaRPr lang="zh-CN" altLang="en-US"/>
          </a:p>
        </p:txBody>
      </p:sp>
    </p:spTree>
  </p:cSld>
  <p:clrMapOvr>
    <a:masterClrMapping/>
  </p:clrMapOvr>
  <p:transition spd="med">
    <p:zoom/>
  </p:transition>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a:extLst>
              <a:ext uri="{FF2B5EF4-FFF2-40B4-BE49-F238E27FC236}">
                <a16:creationId xmlns:a16="http://schemas.microsoft.com/office/drawing/2014/main" id="{0C010CD8-9495-BA73-29E1-BCB7FCCE6652}"/>
              </a:ext>
            </a:extLst>
          </p:cNvPr>
          <p:cNvSpPr>
            <a:spLocks noGrp="1" noChangeArrowheads="1"/>
          </p:cNvSpPr>
          <p:nvPr>
            <p:ph type="title"/>
          </p:nvPr>
        </p:nvSpPr>
        <p:spPr/>
        <p:txBody>
          <a:bodyPr/>
          <a:lstStyle/>
          <a:p>
            <a:pPr eaLnBrk="1" hangingPunct="1"/>
            <a:r>
              <a:rPr lang="zh-CN" altLang="en-US"/>
              <a:t>选择题</a:t>
            </a:r>
            <a:r>
              <a:rPr lang="en-US" altLang="zh-CN"/>
              <a:t>2</a:t>
            </a:r>
          </a:p>
        </p:txBody>
      </p:sp>
      <p:sp>
        <p:nvSpPr>
          <p:cNvPr id="174082" name="Rectangle 3">
            <a:extLst>
              <a:ext uri="{FF2B5EF4-FFF2-40B4-BE49-F238E27FC236}">
                <a16:creationId xmlns:a16="http://schemas.microsoft.com/office/drawing/2014/main" id="{AC7B3450-9F26-89C6-5E7A-B3C05C3AD798}"/>
              </a:ext>
            </a:extLst>
          </p:cNvPr>
          <p:cNvSpPr>
            <a:spLocks noGrp="1" noChangeArrowheads="1"/>
          </p:cNvSpPr>
          <p:nvPr>
            <p:ph idx="1"/>
          </p:nvPr>
        </p:nvSpPr>
        <p:spPr>
          <a:xfrm>
            <a:off x="152400" y="1196975"/>
            <a:ext cx="6324600" cy="5184775"/>
          </a:xfrm>
        </p:spPr>
        <p:txBody>
          <a:bodyPr/>
          <a:lstStyle/>
          <a:p>
            <a:pPr algn="just" eaLnBrk="1" hangingPunct="1">
              <a:lnSpc>
                <a:spcPct val="90000"/>
              </a:lnSpc>
            </a:pPr>
            <a:r>
              <a:rPr lang="zh-CN" altLang="en-US">
                <a:latin typeface="Times New Roman" panose="02020603050405020304" pitchFamily="18" charset="0"/>
              </a:rPr>
              <a:t>采用</a:t>
            </a:r>
            <a:r>
              <a:rPr lang="zh-CN" altLang="en-US"/>
              <a:t> _____ </a:t>
            </a:r>
            <a:r>
              <a:rPr lang="zh-CN" altLang="en-US">
                <a:latin typeface="Times New Roman" panose="02020603050405020304" pitchFamily="18" charset="0"/>
              </a:rPr>
              <a:t>不会产生内部碎片。</a:t>
            </a:r>
            <a:endParaRPr lang="zh-CN" altLang="en-US"/>
          </a:p>
          <a:p>
            <a:pPr lvl="1" algn="just" eaLnBrk="1" hangingPunct="1">
              <a:lnSpc>
                <a:spcPct val="90000"/>
              </a:lnSpc>
              <a:buFont typeface="Wingdings" pitchFamily="2" charset="2"/>
              <a:buNone/>
            </a:pPr>
            <a:r>
              <a:rPr lang="en-US" altLang="zh-CN"/>
              <a:t>A.</a:t>
            </a:r>
            <a:r>
              <a:rPr lang="zh-CN" altLang="en-US">
                <a:latin typeface="Times New Roman" panose="02020603050405020304" pitchFamily="18" charset="0"/>
              </a:rPr>
              <a:t>分页存储管理</a:t>
            </a:r>
          </a:p>
          <a:p>
            <a:pPr lvl="1" algn="just" eaLnBrk="1" hangingPunct="1">
              <a:lnSpc>
                <a:spcPct val="90000"/>
              </a:lnSpc>
              <a:buFont typeface="Wingdings" pitchFamily="2" charset="2"/>
              <a:buNone/>
            </a:pPr>
            <a:r>
              <a:rPr lang="en-US" altLang="zh-CN"/>
              <a:t>B.</a:t>
            </a:r>
            <a:r>
              <a:rPr lang="zh-CN" altLang="en-US">
                <a:latin typeface="Times New Roman" panose="02020603050405020304" pitchFamily="18" charset="0"/>
              </a:rPr>
              <a:t>固定分区存储管理</a:t>
            </a:r>
            <a:endParaRPr lang="zh-CN" altLang="en-US"/>
          </a:p>
          <a:p>
            <a:pPr lvl="1" algn="just" eaLnBrk="1" hangingPunct="1">
              <a:lnSpc>
                <a:spcPct val="90000"/>
              </a:lnSpc>
              <a:buFont typeface="Wingdings" pitchFamily="2" charset="2"/>
              <a:buNone/>
            </a:pPr>
            <a:r>
              <a:rPr lang="en-US" altLang="zh-CN"/>
              <a:t>C.</a:t>
            </a:r>
            <a:r>
              <a:rPr lang="zh-CN" altLang="en-US">
                <a:latin typeface="Times New Roman" panose="02020603050405020304" pitchFamily="18" charset="0"/>
              </a:rPr>
              <a:t>分段存储管理</a:t>
            </a:r>
          </a:p>
          <a:p>
            <a:pPr lvl="1" algn="just" eaLnBrk="1" hangingPunct="1">
              <a:lnSpc>
                <a:spcPct val="90000"/>
              </a:lnSpc>
              <a:buFont typeface="Wingdings" pitchFamily="2" charset="2"/>
              <a:buNone/>
            </a:pPr>
            <a:r>
              <a:rPr lang="en-US" altLang="zh-CN"/>
              <a:t>D.</a:t>
            </a:r>
            <a:r>
              <a:rPr lang="zh-CN" altLang="en-US">
                <a:latin typeface="Times New Roman" panose="02020603050405020304" pitchFamily="18" charset="0"/>
              </a:rPr>
              <a:t>段页式存储管理</a:t>
            </a:r>
            <a:endParaRPr lang="zh-CN" altLang="en-US"/>
          </a:p>
          <a:p>
            <a:pPr algn="just" eaLnBrk="1" hangingPunct="1">
              <a:lnSpc>
                <a:spcPct val="90000"/>
              </a:lnSpc>
            </a:pPr>
            <a:r>
              <a:rPr lang="zh-CN" altLang="en-US">
                <a:latin typeface="Times New Roman" panose="02020603050405020304" pitchFamily="18" charset="0"/>
              </a:rPr>
              <a:t>设内存分配情况如右图所示。若要申请一块</a:t>
            </a:r>
            <a:r>
              <a:rPr lang="zh-CN" altLang="en-US"/>
              <a:t>40</a:t>
            </a:r>
            <a:r>
              <a:rPr lang="en-US" altLang="zh-CN"/>
              <a:t>K</a:t>
            </a:r>
            <a:r>
              <a:rPr lang="zh-CN" altLang="en-US">
                <a:latin typeface="Times New Roman" panose="02020603050405020304" pitchFamily="18" charset="0"/>
              </a:rPr>
              <a:t>字节的内存空间，采用最佳适应算法，则所得到的分区首址为</a:t>
            </a:r>
            <a:r>
              <a:rPr lang="zh-CN" altLang="en-US"/>
              <a:t> _____ </a:t>
            </a:r>
            <a:r>
              <a:rPr lang="zh-CN" altLang="en-US">
                <a:latin typeface="Times New Roman" panose="02020603050405020304" pitchFamily="18" charset="0"/>
              </a:rPr>
              <a:t>。</a:t>
            </a:r>
          </a:p>
          <a:p>
            <a:pPr lvl="1" algn="just" eaLnBrk="1" hangingPunct="1">
              <a:lnSpc>
                <a:spcPct val="90000"/>
              </a:lnSpc>
              <a:buFont typeface="Wingdings" pitchFamily="2" charset="2"/>
              <a:buNone/>
            </a:pPr>
            <a:r>
              <a:rPr lang="en-US" altLang="zh-CN"/>
              <a:t>A. 190K  B. 100K  C. 410K  D. 330K</a:t>
            </a:r>
            <a:endParaRPr lang="zh-CN" altLang="en-US"/>
          </a:p>
        </p:txBody>
      </p:sp>
      <p:grpSp>
        <p:nvGrpSpPr>
          <p:cNvPr id="174083" name="Group 4">
            <a:extLst>
              <a:ext uri="{FF2B5EF4-FFF2-40B4-BE49-F238E27FC236}">
                <a16:creationId xmlns:a16="http://schemas.microsoft.com/office/drawing/2014/main" id="{19D471EF-B363-5D76-5A43-4DFC30D476C0}"/>
              </a:ext>
            </a:extLst>
          </p:cNvPr>
          <p:cNvGrpSpPr>
            <a:grpSpLocks/>
          </p:cNvGrpSpPr>
          <p:nvPr/>
        </p:nvGrpSpPr>
        <p:grpSpPr bwMode="auto">
          <a:xfrm>
            <a:off x="6629400" y="1981200"/>
            <a:ext cx="2362200" cy="4648200"/>
            <a:chOff x="3776" y="7314"/>
            <a:chExt cx="2257" cy="3120"/>
          </a:xfrm>
        </p:grpSpPr>
        <p:sp>
          <p:nvSpPr>
            <p:cNvPr id="174084" name="Rectangle 5">
              <a:extLst>
                <a:ext uri="{FF2B5EF4-FFF2-40B4-BE49-F238E27FC236}">
                  <a16:creationId xmlns:a16="http://schemas.microsoft.com/office/drawing/2014/main" id="{8B5A6E89-9073-4D90-20D8-6F1A251E04D2}"/>
                </a:ext>
              </a:extLst>
            </p:cNvPr>
            <p:cNvSpPr>
              <a:spLocks noChangeArrowheads="1"/>
            </p:cNvSpPr>
            <p:nvPr/>
          </p:nvSpPr>
          <p:spPr bwMode="auto">
            <a:xfrm>
              <a:off x="4588" y="7402"/>
              <a:ext cx="1441" cy="2874"/>
            </a:xfrm>
            <a:prstGeom prst="rect">
              <a:avLst/>
            </a:prstGeom>
            <a:solidFill>
              <a:srgbClr val="FFFFFF"/>
            </a:solidFill>
            <a:ln w="25400">
              <a:solidFill>
                <a:srgbClr val="000000"/>
              </a:solidFill>
              <a:miter lim="800000"/>
              <a:headEnd/>
              <a:tailEnd/>
            </a:ln>
          </p:spPr>
          <p:txBody>
            <a:bodyPr lIns="0" tIns="0" rIns="0" bIns="0"/>
            <a:lstStyle/>
            <a:p>
              <a:pPr algn="ctr" eaLnBrk="0" hangingPunct="0"/>
              <a:r>
                <a:rPr lang="zh-CN" altLang="en-US" sz="2000" b="1">
                  <a:latin typeface="Times New Roman" panose="02020603050405020304" pitchFamily="18" charset="0"/>
                </a:rPr>
                <a:t>占用</a:t>
              </a:r>
            </a:p>
            <a:p>
              <a:pPr algn="ctr" eaLnBrk="0" hangingPunct="0">
                <a:lnSpc>
                  <a:spcPct val="136000"/>
                </a:lnSpc>
              </a:pPr>
              <a:endParaRPr lang="zh-CN" altLang="en-US" sz="2000" b="1">
                <a:latin typeface="Times New Roman" panose="02020603050405020304" pitchFamily="18" charset="0"/>
              </a:endParaRPr>
            </a:p>
            <a:p>
              <a:pPr algn="ctr" eaLnBrk="0" hangingPunct="0">
                <a:lnSpc>
                  <a:spcPct val="136000"/>
                </a:lnSpc>
              </a:pPr>
              <a:endParaRPr lang="zh-CN" altLang="en-US" sz="1000" b="1">
                <a:latin typeface="Times New Roman" panose="02020603050405020304" pitchFamily="18" charset="0"/>
              </a:endParaRPr>
            </a:p>
            <a:p>
              <a:pPr algn="ctr" eaLnBrk="0" hangingPunct="0">
                <a:lnSpc>
                  <a:spcPct val="136000"/>
                </a:lnSpc>
              </a:pPr>
              <a:r>
                <a:rPr lang="zh-CN" altLang="en-US" sz="2000" b="1">
                  <a:latin typeface="Times New Roman" panose="02020603050405020304" pitchFamily="18" charset="0"/>
                </a:rPr>
                <a:t>占用</a:t>
              </a:r>
            </a:p>
            <a:p>
              <a:pPr algn="ctr" eaLnBrk="0" hangingPunct="0">
                <a:lnSpc>
                  <a:spcPct val="136000"/>
                </a:lnSpc>
              </a:pPr>
              <a:endParaRPr lang="zh-CN" altLang="en-US" sz="2000" b="1">
                <a:latin typeface="Times New Roman" panose="02020603050405020304" pitchFamily="18" charset="0"/>
              </a:endParaRPr>
            </a:p>
            <a:p>
              <a:pPr algn="ctr" eaLnBrk="0" hangingPunct="0">
                <a:lnSpc>
                  <a:spcPct val="136000"/>
                </a:lnSpc>
              </a:pPr>
              <a:endParaRPr lang="zh-CN" altLang="en-US" sz="900" b="1">
                <a:latin typeface="Times New Roman" panose="02020603050405020304" pitchFamily="18" charset="0"/>
              </a:endParaRPr>
            </a:p>
            <a:p>
              <a:pPr algn="ctr" eaLnBrk="0" hangingPunct="0">
                <a:lnSpc>
                  <a:spcPct val="112000"/>
                </a:lnSpc>
              </a:pPr>
              <a:r>
                <a:rPr lang="zh-CN" altLang="en-US" sz="2000" b="1">
                  <a:latin typeface="Times New Roman" panose="02020603050405020304" pitchFamily="18" charset="0"/>
                </a:rPr>
                <a:t>占用</a:t>
              </a:r>
            </a:p>
            <a:p>
              <a:pPr algn="ctr" eaLnBrk="0" hangingPunct="0">
                <a:lnSpc>
                  <a:spcPct val="136000"/>
                </a:lnSpc>
              </a:pPr>
              <a:endParaRPr lang="zh-CN" altLang="en-US" sz="2000" b="1">
                <a:latin typeface="Times New Roman" panose="02020603050405020304" pitchFamily="18" charset="0"/>
              </a:endParaRPr>
            </a:p>
            <a:p>
              <a:pPr algn="ctr" eaLnBrk="0" hangingPunct="0">
                <a:lnSpc>
                  <a:spcPct val="136000"/>
                </a:lnSpc>
              </a:pPr>
              <a:endParaRPr lang="zh-CN" altLang="en-US" sz="1000" b="1">
                <a:latin typeface="Times New Roman" panose="02020603050405020304" pitchFamily="18" charset="0"/>
              </a:endParaRPr>
            </a:p>
            <a:p>
              <a:pPr algn="ctr" eaLnBrk="0" hangingPunct="0">
                <a:lnSpc>
                  <a:spcPct val="136000"/>
                </a:lnSpc>
              </a:pPr>
              <a:r>
                <a:rPr lang="zh-CN" altLang="en-US" sz="2000" b="1">
                  <a:latin typeface="Times New Roman" panose="02020603050405020304" pitchFamily="18" charset="0"/>
                </a:rPr>
                <a:t>占用</a:t>
              </a:r>
            </a:p>
            <a:p>
              <a:pPr algn="ctr" eaLnBrk="0" hangingPunct="0">
                <a:lnSpc>
                  <a:spcPct val="136000"/>
                </a:lnSpc>
              </a:pPr>
              <a:endParaRPr lang="zh-CN" altLang="en-US" sz="2000" b="1">
                <a:latin typeface="Times New Roman" panose="02020603050405020304" pitchFamily="18" charset="0"/>
              </a:endParaRPr>
            </a:p>
          </p:txBody>
        </p:sp>
        <p:sp>
          <p:nvSpPr>
            <p:cNvPr id="174085" name="Rectangle 6">
              <a:extLst>
                <a:ext uri="{FF2B5EF4-FFF2-40B4-BE49-F238E27FC236}">
                  <a16:creationId xmlns:a16="http://schemas.microsoft.com/office/drawing/2014/main" id="{1CC83B58-0D90-7BF9-38F8-D6B8A14C0A48}"/>
                </a:ext>
              </a:extLst>
            </p:cNvPr>
            <p:cNvSpPr>
              <a:spLocks noChangeArrowheads="1"/>
            </p:cNvSpPr>
            <p:nvPr/>
          </p:nvSpPr>
          <p:spPr bwMode="auto">
            <a:xfrm>
              <a:off x="3776" y="7314"/>
              <a:ext cx="706" cy="3120"/>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r" eaLnBrk="0" hangingPunct="0"/>
              <a:r>
                <a:rPr lang="zh-CN" altLang="en-US" sz="2000" b="1">
                  <a:latin typeface="Times New Roman" panose="02020603050405020304" pitchFamily="18" charset="0"/>
                </a:rPr>
                <a:t>0</a:t>
              </a:r>
            </a:p>
            <a:p>
              <a:pPr algn="r" eaLnBrk="0" hangingPunct="0"/>
              <a:endParaRPr lang="zh-CN" altLang="en-US" sz="1600" b="1">
                <a:latin typeface="Times New Roman" panose="02020603050405020304" pitchFamily="18" charset="0"/>
              </a:endParaRPr>
            </a:p>
            <a:p>
              <a:pPr algn="r" eaLnBrk="0" hangingPunct="0"/>
              <a:r>
                <a:rPr lang="zh-CN" altLang="en-US" sz="2000" b="1">
                  <a:latin typeface="Times New Roman" panose="02020603050405020304" pitchFamily="18" charset="0"/>
                </a:rPr>
                <a:t>100</a:t>
              </a:r>
              <a:r>
                <a:rPr lang="en-US" altLang="zh-CN" sz="2000" b="1">
                  <a:latin typeface="Times New Roman" panose="02020603050405020304" pitchFamily="18" charset="0"/>
                </a:rPr>
                <a:t>K</a:t>
              </a:r>
            </a:p>
            <a:p>
              <a:pPr algn="r" eaLnBrk="0" hangingPunct="0"/>
              <a:endParaRPr lang="en-US" altLang="zh-CN" sz="1000" b="1">
                <a:latin typeface="Times New Roman" panose="02020603050405020304" pitchFamily="18" charset="0"/>
              </a:endParaRPr>
            </a:p>
            <a:p>
              <a:pPr algn="r" eaLnBrk="0" hangingPunct="0"/>
              <a:r>
                <a:rPr lang="en-US" altLang="zh-CN" sz="2000" b="1">
                  <a:latin typeface="Times New Roman" panose="02020603050405020304" pitchFamily="18" charset="0"/>
                </a:rPr>
                <a:t>180K</a:t>
              </a:r>
            </a:p>
            <a:p>
              <a:pPr algn="r" eaLnBrk="0" hangingPunct="0"/>
              <a:endParaRPr lang="en-US" altLang="zh-CN" sz="1000" b="1">
                <a:latin typeface="Times New Roman" panose="02020603050405020304" pitchFamily="18" charset="0"/>
              </a:endParaRPr>
            </a:p>
            <a:p>
              <a:pPr algn="r" eaLnBrk="0" hangingPunct="0"/>
              <a:r>
                <a:rPr lang="en-US" altLang="zh-CN" sz="2000" b="1">
                  <a:latin typeface="Times New Roman" panose="02020603050405020304" pitchFamily="18" charset="0"/>
                </a:rPr>
                <a:t>190K</a:t>
              </a:r>
            </a:p>
            <a:p>
              <a:pPr algn="r" eaLnBrk="0" hangingPunct="0"/>
              <a:endParaRPr lang="en-US" altLang="zh-CN" sz="800" b="1">
                <a:latin typeface="Times New Roman" panose="02020603050405020304" pitchFamily="18" charset="0"/>
              </a:endParaRPr>
            </a:p>
            <a:p>
              <a:pPr algn="r" eaLnBrk="0" hangingPunct="0"/>
              <a:r>
                <a:rPr lang="en-US" altLang="zh-CN" sz="2000" b="1">
                  <a:latin typeface="Times New Roman" panose="02020603050405020304" pitchFamily="18" charset="0"/>
                </a:rPr>
                <a:t>280K</a:t>
              </a:r>
            </a:p>
            <a:p>
              <a:pPr algn="r" eaLnBrk="0" hangingPunct="0"/>
              <a:endParaRPr lang="en-US" altLang="zh-CN" sz="800" b="1">
                <a:latin typeface="Times New Roman" panose="02020603050405020304" pitchFamily="18" charset="0"/>
              </a:endParaRPr>
            </a:p>
            <a:p>
              <a:pPr algn="r" eaLnBrk="0" hangingPunct="0"/>
              <a:r>
                <a:rPr lang="en-US" altLang="zh-CN" sz="2000" b="1">
                  <a:latin typeface="Times New Roman" panose="02020603050405020304" pitchFamily="18" charset="0"/>
                </a:rPr>
                <a:t>330K</a:t>
              </a:r>
            </a:p>
            <a:p>
              <a:pPr algn="r" eaLnBrk="0" hangingPunct="0"/>
              <a:endParaRPr lang="en-US" altLang="zh-CN" sz="1200" b="1">
                <a:latin typeface="Times New Roman" panose="02020603050405020304" pitchFamily="18" charset="0"/>
              </a:endParaRPr>
            </a:p>
            <a:p>
              <a:pPr algn="r" eaLnBrk="0" hangingPunct="0"/>
              <a:r>
                <a:rPr lang="en-US" altLang="zh-CN" sz="2000" b="1">
                  <a:latin typeface="Times New Roman" panose="02020603050405020304" pitchFamily="18" charset="0"/>
                </a:rPr>
                <a:t>390K</a:t>
              </a:r>
            </a:p>
            <a:p>
              <a:pPr algn="r" eaLnBrk="0" hangingPunct="0"/>
              <a:endParaRPr lang="en-US" altLang="zh-CN" sz="2000" b="1">
                <a:latin typeface="Times New Roman" panose="02020603050405020304" pitchFamily="18" charset="0"/>
              </a:endParaRPr>
            </a:p>
            <a:p>
              <a:pPr algn="r" eaLnBrk="0" hangingPunct="0"/>
              <a:r>
                <a:rPr lang="en-US" altLang="zh-CN" sz="2000" b="1">
                  <a:latin typeface="Times New Roman" panose="02020603050405020304" pitchFamily="18" charset="0"/>
                </a:rPr>
                <a:t>410K</a:t>
              </a:r>
            </a:p>
            <a:p>
              <a:pPr algn="r" eaLnBrk="0" hangingPunct="0"/>
              <a:endParaRPr lang="en-US" altLang="zh-CN" sz="2000" b="1">
                <a:latin typeface="Times New Roman" panose="02020603050405020304" pitchFamily="18" charset="0"/>
              </a:endParaRPr>
            </a:p>
            <a:p>
              <a:pPr algn="r" eaLnBrk="0" hangingPunct="0"/>
              <a:r>
                <a:rPr lang="en-US" altLang="zh-CN" sz="2000" b="1">
                  <a:latin typeface="Times New Roman" panose="02020603050405020304" pitchFamily="18" charset="0"/>
                </a:rPr>
                <a:t>512K－1</a:t>
              </a:r>
            </a:p>
          </p:txBody>
        </p:sp>
        <p:sp>
          <p:nvSpPr>
            <p:cNvPr id="174086" name="Line 7">
              <a:extLst>
                <a:ext uri="{FF2B5EF4-FFF2-40B4-BE49-F238E27FC236}">
                  <a16:creationId xmlns:a16="http://schemas.microsoft.com/office/drawing/2014/main" id="{C96C3261-EB79-E0C2-A183-F49014D1432B}"/>
                </a:ext>
              </a:extLst>
            </p:cNvPr>
            <p:cNvSpPr>
              <a:spLocks noChangeShapeType="1"/>
            </p:cNvSpPr>
            <p:nvPr/>
          </p:nvSpPr>
          <p:spPr bwMode="auto">
            <a:xfrm>
              <a:off x="4593" y="7789"/>
              <a:ext cx="1411" cy="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087" name="Line 8">
              <a:extLst>
                <a:ext uri="{FF2B5EF4-FFF2-40B4-BE49-F238E27FC236}">
                  <a16:creationId xmlns:a16="http://schemas.microsoft.com/office/drawing/2014/main" id="{D54ACC23-0758-4909-5B27-3E488AC43CB1}"/>
                </a:ext>
              </a:extLst>
            </p:cNvPr>
            <p:cNvSpPr>
              <a:spLocks noChangeShapeType="1"/>
            </p:cNvSpPr>
            <p:nvPr/>
          </p:nvSpPr>
          <p:spPr bwMode="auto">
            <a:xfrm>
              <a:off x="4607" y="8084"/>
              <a:ext cx="1411" cy="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088" name="Line 9">
              <a:extLst>
                <a:ext uri="{FF2B5EF4-FFF2-40B4-BE49-F238E27FC236}">
                  <a16:creationId xmlns:a16="http://schemas.microsoft.com/office/drawing/2014/main" id="{906596B8-4951-D84F-96C7-640338FDD12B}"/>
                </a:ext>
              </a:extLst>
            </p:cNvPr>
            <p:cNvSpPr>
              <a:spLocks noChangeShapeType="1"/>
            </p:cNvSpPr>
            <p:nvPr/>
          </p:nvSpPr>
          <p:spPr bwMode="auto">
            <a:xfrm>
              <a:off x="4607" y="8432"/>
              <a:ext cx="1411" cy="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089" name="Line 10">
              <a:extLst>
                <a:ext uri="{FF2B5EF4-FFF2-40B4-BE49-F238E27FC236}">
                  <a16:creationId xmlns:a16="http://schemas.microsoft.com/office/drawing/2014/main" id="{8109F7CB-CC46-EB70-8D16-8B398E5033B1}"/>
                </a:ext>
              </a:extLst>
            </p:cNvPr>
            <p:cNvSpPr>
              <a:spLocks noChangeShapeType="1"/>
            </p:cNvSpPr>
            <p:nvPr/>
          </p:nvSpPr>
          <p:spPr bwMode="auto">
            <a:xfrm>
              <a:off x="4598" y="8720"/>
              <a:ext cx="1411" cy="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090" name="Line 11">
              <a:extLst>
                <a:ext uri="{FF2B5EF4-FFF2-40B4-BE49-F238E27FC236}">
                  <a16:creationId xmlns:a16="http://schemas.microsoft.com/office/drawing/2014/main" id="{69435E41-3F15-8555-24E3-84BE2FE462DC}"/>
                </a:ext>
              </a:extLst>
            </p:cNvPr>
            <p:cNvSpPr>
              <a:spLocks noChangeShapeType="1"/>
            </p:cNvSpPr>
            <p:nvPr/>
          </p:nvSpPr>
          <p:spPr bwMode="auto">
            <a:xfrm>
              <a:off x="4598" y="9049"/>
              <a:ext cx="1411" cy="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091" name="Line 12">
              <a:extLst>
                <a:ext uri="{FF2B5EF4-FFF2-40B4-BE49-F238E27FC236}">
                  <a16:creationId xmlns:a16="http://schemas.microsoft.com/office/drawing/2014/main" id="{35EB9A58-78FF-F09D-6087-038E3B8C4C1C}"/>
                </a:ext>
              </a:extLst>
            </p:cNvPr>
            <p:cNvSpPr>
              <a:spLocks noChangeShapeType="1"/>
            </p:cNvSpPr>
            <p:nvPr/>
          </p:nvSpPr>
          <p:spPr bwMode="auto">
            <a:xfrm>
              <a:off x="4595" y="9692"/>
              <a:ext cx="1411" cy="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4092" name="Line 13">
              <a:extLst>
                <a:ext uri="{FF2B5EF4-FFF2-40B4-BE49-F238E27FC236}">
                  <a16:creationId xmlns:a16="http://schemas.microsoft.com/office/drawing/2014/main" id="{E37781EC-F938-DC1E-C2C0-0373EBAD474D}"/>
                </a:ext>
              </a:extLst>
            </p:cNvPr>
            <p:cNvSpPr>
              <a:spLocks noChangeShapeType="1"/>
            </p:cNvSpPr>
            <p:nvPr/>
          </p:nvSpPr>
          <p:spPr bwMode="auto">
            <a:xfrm>
              <a:off x="4622" y="9344"/>
              <a:ext cx="1411" cy="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zoom/>
  </p:transition>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a:extLst>
              <a:ext uri="{FF2B5EF4-FFF2-40B4-BE49-F238E27FC236}">
                <a16:creationId xmlns:a16="http://schemas.microsoft.com/office/drawing/2014/main" id="{D1E33915-16DE-7763-DE0F-4289EFB9F664}"/>
              </a:ext>
            </a:extLst>
          </p:cNvPr>
          <p:cNvSpPr>
            <a:spLocks noGrp="1" noChangeArrowheads="1"/>
          </p:cNvSpPr>
          <p:nvPr>
            <p:ph type="title"/>
          </p:nvPr>
        </p:nvSpPr>
        <p:spPr/>
        <p:txBody>
          <a:bodyPr/>
          <a:lstStyle/>
          <a:p>
            <a:pPr eaLnBrk="1" hangingPunct="1"/>
            <a:r>
              <a:rPr lang="zh-CN" altLang="en-US"/>
              <a:t>选择题</a:t>
            </a:r>
            <a:r>
              <a:rPr lang="en-US" altLang="zh-CN"/>
              <a:t>3</a:t>
            </a:r>
          </a:p>
        </p:txBody>
      </p:sp>
      <p:sp>
        <p:nvSpPr>
          <p:cNvPr id="175106" name="Rectangle 3">
            <a:extLst>
              <a:ext uri="{FF2B5EF4-FFF2-40B4-BE49-F238E27FC236}">
                <a16:creationId xmlns:a16="http://schemas.microsoft.com/office/drawing/2014/main" id="{0D4BF9AE-2DC3-C89B-CE2C-BC0AA6E54327}"/>
              </a:ext>
            </a:extLst>
          </p:cNvPr>
          <p:cNvSpPr>
            <a:spLocks noGrp="1" noChangeArrowheads="1"/>
          </p:cNvSpPr>
          <p:nvPr>
            <p:ph idx="1"/>
          </p:nvPr>
        </p:nvSpPr>
        <p:spPr>
          <a:xfrm>
            <a:off x="755650" y="1268413"/>
            <a:ext cx="8148638" cy="4619625"/>
          </a:xfrm>
        </p:spPr>
        <p:txBody>
          <a:bodyPr/>
          <a:lstStyle/>
          <a:p>
            <a:pPr algn="just" eaLnBrk="1" hangingPunct="1"/>
            <a:r>
              <a:rPr lang="zh-CN" altLang="en-US" sz="2800">
                <a:latin typeface="Times New Roman" panose="02020603050405020304" pitchFamily="18" charset="0"/>
              </a:rPr>
              <a:t>采用分段存储管理的系统中，若地址用</a:t>
            </a:r>
            <a:r>
              <a:rPr lang="zh-CN" altLang="en-US" sz="2800"/>
              <a:t>24</a:t>
            </a:r>
            <a:r>
              <a:rPr lang="zh-CN" altLang="en-US" sz="2800">
                <a:latin typeface="Times New Roman" panose="02020603050405020304" pitchFamily="18" charset="0"/>
              </a:rPr>
              <a:t>位表示，其中</a:t>
            </a:r>
            <a:r>
              <a:rPr lang="zh-CN" altLang="en-US" sz="2800"/>
              <a:t>8</a:t>
            </a:r>
            <a:r>
              <a:rPr lang="zh-CN" altLang="en-US" sz="2800">
                <a:latin typeface="Times New Roman" panose="02020603050405020304" pitchFamily="18" charset="0"/>
              </a:rPr>
              <a:t>位表示段号，则允许每段的最大长度是</a:t>
            </a:r>
            <a:r>
              <a:rPr lang="zh-CN" altLang="en-US" sz="2800"/>
              <a:t> _____ </a:t>
            </a:r>
            <a:r>
              <a:rPr lang="zh-CN" altLang="en-US" sz="2800">
                <a:latin typeface="Times New Roman" panose="02020603050405020304" pitchFamily="18" charset="0"/>
              </a:rPr>
              <a:t>。</a:t>
            </a:r>
            <a:endParaRPr lang="zh-CN" altLang="en-US" sz="2800"/>
          </a:p>
          <a:p>
            <a:pPr lvl="1" algn="just" eaLnBrk="1" hangingPunct="1">
              <a:buFont typeface="Wingdings" pitchFamily="2" charset="2"/>
              <a:buNone/>
            </a:pPr>
            <a:r>
              <a:rPr lang="en-US" altLang="zh-CN" sz="2400"/>
              <a:t>A. 2</a:t>
            </a:r>
            <a:r>
              <a:rPr lang="en-US" altLang="zh-CN" sz="2400" baseline="30000"/>
              <a:t>16</a:t>
            </a:r>
            <a:r>
              <a:rPr lang="en-US" altLang="zh-CN" sz="2400"/>
              <a:t>    B. 2</a:t>
            </a:r>
            <a:r>
              <a:rPr lang="en-US" altLang="zh-CN" sz="2400" baseline="30000"/>
              <a:t>32</a:t>
            </a:r>
            <a:r>
              <a:rPr lang="en-US" altLang="zh-CN" sz="2400"/>
              <a:t>     C. 2</a:t>
            </a:r>
            <a:r>
              <a:rPr lang="en-US" altLang="zh-CN" sz="2400" baseline="30000"/>
              <a:t>24</a:t>
            </a:r>
            <a:r>
              <a:rPr lang="en-US" altLang="zh-CN" sz="2400"/>
              <a:t>     D. 2</a:t>
            </a:r>
            <a:r>
              <a:rPr lang="en-US" altLang="zh-CN" sz="2400" baseline="30000"/>
              <a:t>8</a:t>
            </a:r>
          </a:p>
          <a:p>
            <a:pPr algn="just" eaLnBrk="1" hangingPunct="1"/>
            <a:r>
              <a:rPr lang="zh-CN" altLang="en-US" sz="2800">
                <a:latin typeface="Times New Roman" panose="02020603050405020304" pitchFamily="18" charset="0"/>
              </a:rPr>
              <a:t>在固定分区分配中，每个分区的大小是</a:t>
            </a:r>
            <a:r>
              <a:rPr lang="zh-CN" altLang="en-US" sz="2800"/>
              <a:t> _____ </a:t>
            </a:r>
            <a:r>
              <a:rPr lang="zh-CN" altLang="en-US" sz="2800">
                <a:latin typeface="Times New Roman" panose="02020603050405020304" pitchFamily="18" charset="0"/>
              </a:rPr>
              <a:t>。</a:t>
            </a:r>
            <a:endParaRPr lang="zh-CN" altLang="en-US" sz="2800"/>
          </a:p>
          <a:p>
            <a:pPr lvl="1" algn="just" eaLnBrk="1" hangingPunct="1">
              <a:buFont typeface="Wingdings" pitchFamily="2" charset="2"/>
              <a:buNone/>
            </a:pPr>
            <a:r>
              <a:rPr lang="en-US" altLang="zh-CN" sz="2400"/>
              <a:t>A.</a:t>
            </a:r>
            <a:r>
              <a:rPr lang="zh-CN" altLang="en-US" sz="2400">
                <a:latin typeface="Times New Roman" panose="02020603050405020304" pitchFamily="18" charset="0"/>
              </a:rPr>
              <a:t>可以不同但预先固定</a:t>
            </a:r>
          </a:p>
          <a:p>
            <a:pPr lvl="1" algn="just" eaLnBrk="1" hangingPunct="1">
              <a:buFont typeface="Wingdings" pitchFamily="2" charset="2"/>
              <a:buNone/>
            </a:pPr>
            <a:r>
              <a:rPr lang="en-US" altLang="zh-CN" sz="2400"/>
              <a:t>B.</a:t>
            </a:r>
            <a:r>
              <a:rPr lang="zh-CN" altLang="en-US" sz="2400">
                <a:latin typeface="Times New Roman" panose="02020603050405020304" pitchFamily="18" charset="0"/>
              </a:rPr>
              <a:t>相同</a:t>
            </a:r>
            <a:endParaRPr lang="zh-CN" altLang="en-US" sz="2400"/>
          </a:p>
          <a:p>
            <a:pPr lvl="1" algn="just" eaLnBrk="1" hangingPunct="1">
              <a:buFont typeface="Wingdings" pitchFamily="2" charset="2"/>
              <a:buNone/>
            </a:pPr>
            <a:r>
              <a:rPr lang="en-US" altLang="zh-CN" sz="2400"/>
              <a:t>C.</a:t>
            </a:r>
            <a:r>
              <a:rPr lang="zh-CN" altLang="en-US" sz="2400">
                <a:latin typeface="Times New Roman" panose="02020603050405020304" pitchFamily="18" charset="0"/>
              </a:rPr>
              <a:t>随作业长度变化</a:t>
            </a:r>
          </a:p>
          <a:p>
            <a:pPr lvl="1" algn="just" eaLnBrk="1" hangingPunct="1">
              <a:buFont typeface="Wingdings" pitchFamily="2" charset="2"/>
              <a:buNone/>
            </a:pPr>
            <a:r>
              <a:rPr lang="en-US" altLang="zh-CN" sz="2400"/>
              <a:t>D.</a:t>
            </a:r>
            <a:r>
              <a:rPr lang="zh-CN" altLang="en-US" sz="2400">
                <a:latin typeface="Times New Roman" panose="02020603050405020304" pitchFamily="18" charset="0"/>
              </a:rPr>
              <a:t>可以不同但根据作业长度固定</a:t>
            </a:r>
            <a:r>
              <a:rPr lang="zh-CN" altLang="en-US" sz="2400"/>
              <a:t> </a:t>
            </a:r>
            <a:endParaRPr lang="en-US" altLang="zh-CN" sz="2400"/>
          </a:p>
        </p:txBody>
      </p:sp>
    </p:spTree>
  </p:cSld>
  <p:clrMapOvr>
    <a:masterClrMapping/>
  </p:clrMapOvr>
  <p:transition spd="med">
    <p:zoom/>
  </p:transition>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2">
            <a:extLst>
              <a:ext uri="{FF2B5EF4-FFF2-40B4-BE49-F238E27FC236}">
                <a16:creationId xmlns:a16="http://schemas.microsoft.com/office/drawing/2014/main" id="{3DB9D0F7-B21B-58F5-8F88-6707ED9268A4}"/>
              </a:ext>
            </a:extLst>
          </p:cNvPr>
          <p:cNvSpPr>
            <a:spLocks noGrp="1" noChangeArrowheads="1"/>
          </p:cNvSpPr>
          <p:nvPr>
            <p:ph type="title"/>
          </p:nvPr>
        </p:nvSpPr>
        <p:spPr/>
        <p:txBody>
          <a:bodyPr/>
          <a:lstStyle/>
          <a:p>
            <a:pPr eaLnBrk="1" hangingPunct="1"/>
            <a:r>
              <a:rPr lang="zh-CN" altLang="en-US"/>
              <a:t>选择题</a:t>
            </a:r>
            <a:r>
              <a:rPr lang="en-US" altLang="zh-CN"/>
              <a:t>4</a:t>
            </a:r>
          </a:p>
        </p:txBody>
      </p:sp>
      <p:sp>
        <p:nvSpPr>
          <p:cNvPr id="176130" name="Rectangle 3">
            <a:extLst>
              <a:ext uri="{FF2B5EF4-FFF2-40B4-BE49-F238E27FC236}">
                <a16:creationId xmlns:a16="http://schemas.microsoft.com/office/drawing/2014/main" id="{963DB511-7E7C-1EE4-0900-8FF84E260092}"/>
              </a:ext>
            </a:extLst>
          </p:cNvPr>
          <p:cNvSpPr>
            <a:spLocks noGrp="1" noChangeArrowheads="1"/>
          </p:cNvSpPr>
          <p:nvPr>
            <p:ph idx="1"/>
          </p:nvPr>
        </p:nvSpPr>
        <p:spPr>
          <a:xfrm>
            <a:off x="827088" y="1268413"/>
            <a:ext cx="8077200" cy="4772025"/>
          </a:xfrm>
        </p:spPr>
        <p:txBody>
          <a:bodyPr/>
          <a:lstStyle/>
          <a:p>
            <a:pPr algn="just" eaLnBrk="1" hangingPunct="1"/>
            <a:r>
              <a:rPr lang="zh-CN" altLang="en-US">
                <a:latin typeface="Times New Roman" panose="02020603050405020304" pitchFamily="18" charset="0"/>
              </a:rPr>
              <a:t>把作业地址空间使用的逻辑地址变成内存的物理地址称为</a:t>
            </a:r>
            <a:r>
              <a:rPr lang="zh-CN" altLang="en-US"/>
              <a:t> _____ </a:t>
            </a:r>
            <a:r>
              <a:rPr lang="zh-CN" altLang="en-US">
                <a:latin typeface="Times New Roman" panose="02020603050405020304" pitchFamily="18" charset="0"/>
              </a:rPr>
              <a:t>。</a:t>
            </a:r>
            <a:endParaRPr lang="zh-CN" altLang="en-US"/>
          </a:p>
          <a:p>
            <a:pPr lvl="1" algn="just" eaLnBrk="1" hangingPunct="1">
              <a:buFont typeface="Wingdings" pitchFamily="2" charset="2"/>
              <a:buNone/>
            </a:pPr>
            <a:r>
              <a:rPr lang="en-US" altLang="zh-CN"/>
              <a:t>A.</a:t>
            </a:r>
            <a:r>
              <a:rPr lang="zh-CN" altLang="en-US">
                <a:latin typeface="Times New Roman" panose="02020603050405020304" pitchFamily="18" charset="0"/>
              </a:rPr>
              <a:t>加载</a:t>
            </a:r>
            <a:r>
              <a:rPr lang="zh-CN" altLang="en-US"/>
              <a:t>               </a:t>
            </a:r>
            <a:r>
              <a:rPr lang="en-US" altLang="zh-CN"/>
              <a:t>B.</a:t>
            </a:r>
            <a:r>
              <a:rPr lang="zh-CN" altLang="en-US">
                <a:latin typeface="Times New Roman" panose="02020603050405020304" pitchFamily="18" charset="0"/>
              </a:rPr>
              <a:t>重定位</a:t>
            </a:r>
            <a:endParaRPr lang="zh-CN" altLang="en-US"/>
          </a:p>
          <a:p>
            <a:pPr lvl="1" algn="just" eaLnBrk="1" hangingPunct="1">
              <a:buFont typeface="Wingdings" pitchFamily="2" charset="2"/>
              <a:buNone/>
            </a:pPr>
            <a:r>
              <a:rPr lang="en-US" altLang="zh-CN"/>
              <a:t>C.</a:t>
            </a:r>
            <a:r>
              <a:rPr lang="zh-CN" altLang="en-US">
                <a:latin typeface="Times New Roman" panose="02020603050405020304" pitchFamily="18" charset="0"/>
              </a:rPr>
              <a:t>物理化               </a:t>
            </a:r>
            <a:r>
              <a:rPr lang="en-US" altLang="zh-CN"/>
              <a:t>D.</a:t>
            </a:r>
            <a:r>
              <a:rPr lang="zh-CN" altLang="en-US">
                <a:latin typeface="Times New Roman" panose="02020603050405020304" pitchFamily="18" charset="0"/>
              </a:rPr>
              <a:t>逻辑化</a:t>
            </a:r>
          </a:p>
          <a:p>
            <a:pPr algn="just" eaLnBrk="1" hangingPunct="1"/>
            <a:r>
              <a:rPr lang="zh-CN" altLang="en-US">
                <a:latin typeface="Times New Roman" panose="02020603050405020304" pitchFamily="18" charset="0"/>
              </a:rPr>
              <a:t>在以下存储管理方案中，不适用于多道程序设计系统的是</a:t>
            </a:r>
            <a:r>
              <a:rPr lang="zh-CN" altLang="en-US"/>
              <a:t> _____ </a:t>
            </a:r>
            <a:r>
              <a:rPr lang="zh-CN" altLang="en-US">
                <a:latin typeface="Times New Roman" panose="02020603050405020304" pitchFamily="18" charset="0"/>
              </a:rPr>
              <a:t>。</a:t>
            </a:r>
            <a:endParaRPr lang="zh-CN" altLang="en-US"/>
          </a:p>
          <a:p>
            <a:pPr lvl="1" algn="just" eaLnBrk="1" hangingPunct="1">
              <a:buFont typeface="Wingdings" pitchFamily="2" charset="2"/>
              <a:buNone/>
            </a:pPr>
            <a:r>
              <a:rPr lang="en-US" altLang="zh-CN"/>
              <a:t>A.</a:t>
            </a:r>
            <a:r>
              <a:rPr lang="zh-CN" altLang="en-US">
                <a:latin typeface="Times New Roman" panose="02020603050405020304" pitchFamily="18" charset="0"/>
              </a:rPr>
              <a:t>固定式分区分配 </a:t>
            </a:r>
            <a:r>
              <a:rPr lang="zh-CN" altLang="en-US"/>
              <a:t>          </a:t>
            </a:r>
            <a:r>
              <a:rPr lang="en-US" altLang="zh-CN"/>
              <a:t>B.</a:t>
            </a:r>
            <a:r>
              <a:rPr lang="zh-CN" altLang="en-US">
                <a:latin typeface="Times New Roman" panose="02020603050405020304" pitchFamily="18" charset="0"/>
              </a:rPr>
              <a:t>单一连续分配</a:t>
            </a:r>
            <a:endParaRPr lang="zh-CN" altLang="en-US"/>
          </a:p>
          <a:p>
            <a:pPr lvl="1" algn="just" eaLnBrk="1" hangingPunct="1">
              <a:buFont typeface="Wingdings" pitchFamily="2" charset="2"/>
              <a:buNone/>
            </a:pPr>
            <a:r>
              <a:rPr lang="en-US" altLang="zh-CN"/>
              <a:t>C.</a:t>
            </a:r>
            <a:r>
              <a:rPr lang="zh-CN" altLang="en-US">
                <a:latin typeface="Times New Roman" panose="02020603050405020304" pitchFamily="18" charset="0"/>
              </a:rPr>
              <a:t>可变式分区分配              </a:t>
            </a:r>
            <a:r>
              <a:rPr lang="en-US" altLang="zh-CN"/>
              <a:t>D.</a:t>
            </a:r>
            <a:r>
              <a:rPr lang="zh-CN" altLang="en-US">
                <a:latin typeface="Times New Roman" panose="02020603050405020304" pitchFamily="18" charset="0"/>
              </a:rPr>
              <a:t>页式存储管理</a:t>
            </a:r>
            <a:endParaRPr lang="zh-CN" altLang="en-US"/>
          </a:p>
        </p:txBody>
      </p:sp>
    </p:spTree>
  </p:cSld>
  <p:clrMapOvr>
    <a:masterClrMapping/>
  </p:clrMapOvr>
  <p:transition spd="med">
    <p:zoom/>
  </p:transition>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2">
            <a:extLst>
              <a:ext uri="{FF2B5EF4-FFF2-40B4-BE49-F238E27FC236}">
                <a16:creationId xmlns:a16="http://schemas.microsoft.com/office/drawing/2014/main" id="{077C0985-F1C9-6456-E004-28E89DBCEFBB}"/>
              </a:ext>
            </a:extLst>
          </p:cNvPr>
          <p:cNvSpPr>
            <a:spLocks noGrp="1" noChangeArrowheads="1"/>
          </p:cNvSpPr>
          <p:nvPr>
            <p:ph type="title"/>
          </p:nvPr>
        </p:nvSpPr>
        <p:spPr/>
        <p:txBody>
          <a:bodyPr/>
          <a:lstStyle/>
          <a:p>
            <a:pPr eaLnBrk="1" hangingPunct="1"/>
            <a:r>
              <a:rPr lang="zh-CN" altLang="en-US"/>
              <a:t>选择题</a:t>
            </a:r>
            <a:r>
              <a:rPr lang="en-US" altLang="zh-CN"/>
              <a:t>5</a:t>
            </a:r>
          </a:p>
        </p:txBody>
      </p:sp>
      <p:sp>
        <p:nvSpPr>
          <p:cNvPr id="177154" name="Rectangle 3">
            <a:extLst>
              <a:ext uri="{FF2B5EF4-FFF2-40B4-BE49-F238E27FC236}">
                <a16:creationId xmlns:a16="http://schemas.microsoft.com/office/drawing/2014/main" id="{8F645886-2AB5-0EA1-7D83-95A2C232B58B}"/>
              </a:ext>
            </a:extLst>
          </p:cNvPr>
          <p:cNvSpPr>
            <a:spLocks noGrp="1" noChangeArrowheads="1"/>
          </p:cNvSpPr>
          <p:nvPr>
            <p:ph idx="1"/>
          </p:nvPr>
        </p:nvSpPr>
        <p:spPr>
          <a:xfrm>
            <a:off x="609600" y="1196975"/>
            <a:ext cx="8294688" cy="5076825"/>
          </a:xfrm>
        </p:spPr>
        <p:txBody>
          <a:bodyPr/>
          <a:lstStyle/>
          <a:p>
            <a:pPr algn="just" eaLnBrk="1" hangingPunct="1">
              <a:lnSpc>
                <a:spcPct val="90000"/>
              </a:lnSpc>
            </a:pPr>
            <a:r>
              <a:rPr lang="zh-CN" altLang="en-US" sz="2800">
                <a:latin typeface="Times New Roman" panose="02020603050405020304" pitchFamily="18" charset="0"/>
              </a:rPr>
              <a:t>在可变式分区分配方案中，某一作业完成后，系统收回其内存空间并与相邻空闲区合并，为此需修改空闲区表，造成空闲区数减</a:t>
            </a:r>
            <a:r>
              <a:rPr lang="zh-CN" altLang="en-US" sz="2800"/>
              <a:t>1</a:t>
            </a:r>
            <a:r>
              <a:rPr lang="zh-CN" altLang="en-US" sz="2800">
                <a:latin typeface="Times New Roman" panose="02020603050405020304" pitchFamily="18" charset="0"/>
              </a:rPr>
              <a:t>的情况是</a:t>
            </a:r>
            <a:r>
              <a:rPr lang="zh-CN" altLang="en-US" sz="2800"/>
              <a:t> _____ </a:t>
            </a:r>
            <a:r>
              <a:rPr lang="zh-CN" altLang="en-US" sz="2800">
                <a:latin typeface="Times New Roman" panose="02020603050405020304" pitchFamily="18" charset="0"/>
              </a:rPr>
              <a:t>。</a:t>
            </a:r>
            <a:endParaRPr lang="zh-CN" altLang="en-US" sz="2800"/>
          </a:p>
          <a:p>
            <a:pPr lvl="1" algn="just" eaLnBrk="1" hangingPunct="1">
              <a:lnSpc>
                <a:spcPct val="90000"/>
              </a:lnSpc>
              <a:buFont typeface="Wingdings" pitchFamily="2" charset="2"/>
              <a:buNone/>
            </a:pPr>
            <a:r>
              <a:rPr lang="en-US" altLang="zh-CN" sz="2400"/>
              <a:t>A.</a:t>
            </a:r>
            <a:r>
              <a:rPr lang="zh-CN" altLang="en-US" sz="2400">
                <a:latin typeface="Times New Roman" panose="02020603050405020304" pitchFamily="18" charset="0"/>
              </a:rPr>
              <a:t>有下邻空闲区但无上邻空闲区</a:t>
            </a:r>
          </a:p>
          <a:p>
            <a:pPr lvl="1" algn="just" eaLnBrk="1" hangingPunct="1">
              <a:lnSpc>
                <a:spcPct val="90000"/>
              </a:lnSpc>
              <a:buFont typeface="Wingdings" pitchFamily="2" charset="2"/>
              <a:buNone/>
            </a:pPr>
            <a:r>
              <a:rPr lang="en-US" altLang="zh-CN" sz="2400"/>
              <a:t>B.</a:t>
            </a:r>
            <a:r>
              <a:rPr lang="zh-CN" altLang="en-US" sz="2400">
                <a:latin typeface="Times New Roman" panose="02020603050405020304" pitchFamily="18" charset="0"/>
              </a:rPr>
              <a:t>有上邻空闲区但无下邻空闲区</a:t>
            </a:r>
            <a:endParaRPr lang="zh-CN" altLang="en-US" sz="2400"/>
          </a:p>
          <a:p>
            <a:pPr lvl="1" algn="just" eaLnBrk="1" hangingPunct="1">
              <a:lnSpc>
                <a:spcPct val="90000"/>
              </a:lnSpc>
              <a:buFont typeface="Wingdings" pitchFamily="2" charset="2"/>
              <a:buNone/>
            </a:pPr>
            <a:r>
              <a:rPr lang="en-US" altLang="zh-CN" sz="2400"/>
              <a:t>C.</a:t>
            </a:r>
            <a:r>
              <a:rPr lang="zh-CN" altLang="en-US" sz="2400">
                <a:latin typeface="Times New Roman" panose="02020603050405020304" pitchFamily="18" charset="0"/>
              </a:rPr>
              <a:t>有上邻空闲区也有下邻空闲区</a:t>
            </a:r>
            <a:endParaRPr lang="zh-CN" altLang="en-US" sz="2400"/>
          </a:p>
          <a:p>
            <a:pPr lvl="1" algn="just" eaLnBrk="1" hangingPunct="1">
              <a:lnSpc>
                <a:spcPct val="90000"/>
              </a:lnSpc>
              <a:buFont typeface="Wingdings" pitchFamily="2" charset="2"/>
              <a:buNone/>
            </a:pPr>
            <a:r>
              <a:rPr lang="en-US" altLang="zh-CN" sz="2400"/>
              <a:t>D.</a:t>
            </a:r>
            <a:r>
              <a:rPr lang="zh-CN" altLang="en-US" sz="2400">
                <a:latin typeface="Times New Roman" panose="02020603050405020304" pitchFamily="18" charset="0"/>
              </a:rPr>
              <a:t>无上邻空闲区也无下邻空闲区</a:t>
            </a:r>
            <a:r>
              <a:rPr lang="zh-CN" altLang="en-US" sz="2400"/>
              <a:t> </a:t>
            </a:r>
          </a:p>
          <a:p>
            <a:pPr eaLnBrk="1" hangingPunct="1">
              <a:lnSpc>
                <a:spcPct val="90000"/>
              </a:lnSpc>
            </a:pPr>
            <a:r>
              <a:rPr lang="zh-CN" altLang="en-US" sz="2800"/>
              <a:t>采用两级页表的页式存储管理中，按给定的逻辑地址进行读写时，通常需访问主存的次数是</a:t>
            </a:r>
            <a:r>
              <a:rPr lang="en-US" altLang="zh-CN" sz="2800"/>
              <a:t>_____ </a:t>
            </a:r>
            <a:r>
              <a:rPr lang="zh-CN" altLang="en-US" sz="2800"/>
              <a:t>。</a:t>
            </a:r>
          </a:p>
          <a:p>
            <a:pPr eaLnBrk="1" hangingPunct="1">
              <a:lnSpc>
                <a:spcPct val="90000"/>
              </a:lnSpc>
              <a:buFont typeface="Wingdings" pitchFamily="2" charset="2"/>
              <a:buNone/>
            </a:pPr>
            <a:r>
              <a:rPr lang="zh-CN" altLang="en-US" sz="2800"/>
              <a:t>    </a:t>
            </a:r>
            <a:r>
              <a:rPr lang="en-US" altLang="zh-CN" sz="2800"/>
              <a:t>A. 1</a:t>
            </a:r>
            <a:r>
              <a:rPr lang="zh-CN" altLang="en-US" sz="2800"/>
              <a:t>次         </a:t>
            </a:r>
            <a:r>
              <a:rPr lang="en-US" altLang="zh-CN" sz="2800"/>
              <a:t>B. 2</a:t>
            </a:r>
            <a:r>
              <a:rPr lang="zh-CN" altLang="en-US" sz="2800"/>
              <a:t>次          </a:t>
            </a:r>
            <a:r>
              <a:rPr lang="en-US" altLang="zh-CN" sz="2800"/>
              <a:t>C. 3</a:t>
            </a:r>
            <a:r>
              <a:rPr lang="zh-CN" altLang="en-US" sz="2800"/>
              <a:t>次         </a:t>
            </a:r>
            <a:r>
              <a:rPr lang="en-US" altLang="zh-CN" sz="2800"/>
              <a:t>D. 4</a:t>
            </a:r>
            <a:r>
              <a:rPr lang="zh-CN" altLang="en-US" sz="2800"/>
              <a:t>次</a:t>
            </a:r>
          </a:p>
        </p:txBody>
      </p:sp>
    </p:spTree>
  </p:cSld>
  <p:clrMapOvr>
    <a:masterClrMapping/>
  </p:clrMapOvr>
  <p:transition spd="med">
    <p:zoom/>
  </p:transition>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a:extLst>
              <a:ext uri="{FF2B5EF4-FFF2-40B4-BE49-F238E27FC236}">
                <a16:creationId xmlns:a16="http://schemas.microsoft.com/office/drawing/2014/main" id="{94DE25AE-C2A5-E459-0CEB-E41CB0BDEC8A}"/>
              </a:ext>
            </a:extLst>
          </p:cNvPr>
          <p:cNvSpPr>
            <a:spLocks noGrp="1" noChangeArrowheads="1"/>
          </p:cNvSpPr>
          <p:nvPr>
            <p:ph type="title"/>
          </p:nvPr>
        </p:nvSpPr>
        <p:spPr/>
        <p:txBody>
          <a:bodyPr/>
          <a:lstStyle/>
          <a:p>
            <a:pPr eaLnBrk="1" hangingPunct="1"/>
            <a:r>
              <a:rPr lang="zh-CN" altLang="en-US"/>
              <a:t>选择题</a:t>
            </a:r>
            <a:r>
              <a:rPr lang="en-US" altLang="zh-CN"/>
              <a:t>6</a:t>
            </a:r>
          </a:p>
        </p:txBody>
      </p:sp>
      <p:sp>
        <p:nvSpPr>
          <p:cNvPr id="178178" name="Rectangle 3">
            <a:extLst>
              <a:ext uri="{FF2B5EF4-FFF2-40B4-BE49-F238E27FC236}">
                <a16:creationId xmlns:a16="http://schemas.microsoft.com/office/drawing/2014/main" id="{0E391B84-55F2-8CDE-D682-3273568A8185}"/>
              </a:ext>
            </a:extLst>
          </p:cNvPr>
          <p:cNvSpPr>
            <a:spLocks noGrp="1" noChangeArrowheads="1"/>
          </p:cNvSpPr>
          <p:nvPr>
            <p:ph idx="1"/>
          </p:nvPr>
        </p:nvSpPr>
        <p:spPr>
          <a:xfrm>
            <a:off x="684213" y="1196975"/>
            <a:ext cx="8220075" cy="5076825"/>
          </a:xfrm>
        </p:spPr>
        <p:txBody>
          <a:bodyPr/>
          <a:lstStyle/>
          <a:p>
            <a:r>
              <a:rPr lang="zh-CN" altLang="en-US"/>
              <a:t>分页系统中的页面是</a:t>
            </a:r>
            <a:r>
              <a:rPr lang="en-US" altLang="zh-CN"/>
              <a:t>_____</a:t>
            </a:r>
            <a:r>
              <a:rPr lang="zh-CN" altLang="en-US"/>
              <a:t>。</a:t>
            </a:r>
          </a:p>
          <a:p>
            <a:pPr>
              <a:buFont typeface="Wingdings" pitchFamily="2" charset="2"/>
              <a:buNone/>
            </a:pPr>
            <a:r>
              <a:rPr lang="en-US" altLang="zh-CN"/>
              <a:t>  A</a:t>
            </a:r>
            <a:r>
              <a:rPr lang="zh-CN" altLang="en-US"/>
              <a:t>．用户感知的       </a:t>
            </a:r>
            <a:r>
              <a:rPr lang="en-US" altLang="zh-CN"/>
              <a:t>B</a:t>
            </a:r>
            <a:r>
              <a:rPr lang="zh-CN" altLang="en-US"/>
              <a:t>．操作系统感知的</a:t>
            </a:r>
          </a:p>
          <a:p>
            <a:pPr>
              <a:buFont typeface="Wingdings" pitchFamily="2" charset="2"/>
              <a:buNone/>
            </a:pPr>
            <a:r>
              <a:rPr lang="en-US" altLang="zh-CN"/>
              <a:t>  C</a:t>
            </a:r>
            <a:r>
              <a:rPr lang="zh-CN" altLang="en-US"/>
              <a:t>．编译程序感知的 </a:t>
            </a:r>
            <a:r>
              <a:rPr lang="en-US" altLang="zh-CN"/>
              <a:t>D</a:t>
            </a:r>
            <a:r>
              <a:rPr lang="zh-CN" altLang="en-US"/>
              <a:t>．链接装配程序感知的</a:t>
            </a:r>
          </a:p>
          <a:p>
            <a:r>
              <a:rPr lang="zh-CN" altLang="en-US" sz="3600"/>
              <a:t>下述内存分配算法中，</a:t>
            </a:r>
            <a:r>
              <a:rPr lang="en-US" altLang="zh-CN" sz="3600"/>
              <a:t>_____ </a:t>
            </a:r>
            <a:r>
              <a:rPr lang="zh-CN" altLang="en-US" sz="3600"/>
              <a:t>更易产生无法利用的小碎片。</a:t>
            </a:r>
          </a:p>
          <a:p>
            <a:pPr>
              <a:buFont typeface="Wingdings" pitchFamily="2" charset="2"/>
              <a:buNone/>
            </a:pPr>
            <a:r>
              <a:rPr lang="en-US" altLang="zh-CN"/>
              <a:t>    A</a:t>
            </a:r>
            <a:r>
              <a:rPr lang="zh-CN" altLang="en-US"/>
              <a:t>．首次适应算法    </a:t>
            </a:r>
            <a:r>
              <a:rPr lang="en-US" altLang="zh-CN"/>
              <a:t>B</a:t>
            </a:r>
            <a:r>
              <a:rPr lang="zh-CN" altLang="en-US"/>
              <a:t>．循环首次适应算法</a:t>
            </a:r>
          </a:p>
          <a:p>
            <a:pPr>
              <a:buFont typeface="Wingdings" pitchFamily="2" charset="2"/>
              <a:buNone/>
            </a:pPr>
            <a:r>
              <a:rPr lang="en-US" altLang="zh-CN"/>
              <a:t>    C</a:t>
            </a:r>
            <a:r>
              <a:rPr lang="zh-CN" altLang="en-US"/>
              <a:t>．最佳适应算法    </a:t>
            </a:r>
            <a:r>
              <a:rPr lang="en-US" altLang="zh-CN"/>
              <a:t>D</a:t>
            </a:r>
            <a:r>
              <a:rPr lang="zh-CN" altLang="en-US"/>
              <a:t>．最坏适应算法</a:t>
            </a:r>
          </a:p>
          <a:p>
            <a:pPr eaLnBrk="1" hangingPunct="1">
              <a:buFont typeface="Wingdings" pitchFamily="2" charset="2"/>
              <a:buNone/>
            </a:pPr>
            <a:endParaRPr lang="zh-CN" altLang="en-US"/>
          </a:p>
        </p:txBody>
      </p:sp>
    </p:spTree>
  </p:cSld>
  <p:clrMapOvr>
    <a:masterClrMapping/>
  </p:clrMapOvr>
  <p:transition spd="med">
    <p:zoom/>
  </p:transition>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a:extLst>
              <a:ext uri="{FF2B5EF4-FFF2-40B4-BE49-F238E27FC236}">
                <a16:creationId xmlns:a16="http://schemas.microsoft.com/office/drawing/2014/main" id="{2D0F4ECB-ADFE-E77E-4384-85BFDE3B4558}"/>
              </a:ext>
            </a:extLst>
          </p:cNvPr>
          <p:cNvSpPr>
            <a:spLocks noGrp="1" noChangeArrowheads="1"/>
          </p:cNvSpPr>
          <p:nvPr>
            <p:ph type="title"/>
          </p:nvPr>
        </p:nvSpPr>
        <p:spPr/>
        <p:txBody>
          <a:bodyPr/>
          <a:lstStyle/>
          <a:p>
            <a:pPr eaLnBrk="1" hangingPunct="1"/>
            <a:r>
              <a:rPr lang="zh-CN" altLang="en-US" sz="4000" dirty="0"/>
              <a:t>选择题</a:t>
            </a:r>
            <a:r>
              <a:rPr lang="en-US" altLang="zh-CN" sz="4000" dirty="0"/>
              <a:t>7</a:t>
            </a:r>
          </a:p>
        </p:txBody>
      </p:sp>
      <p:sp>
        <p:nvSpPr>
          <p:cNvPr id="133122" name="Rectangle 3">
            <a:extLst>
              <a:ext uri="{FF2B5EF4-FFF2-40B4-BE49-F238E27FC236}">
                <a16:creationId xmlns:a16="http://schemas.microsoft.com/office/drawing/2014/main" id="{40743E3E-19A2-41D0-38A0-396B53A039FA}"/>
              </a:ext>
            </a:extLst>
          </p:cNvPr>
          <p:cNvSpPr>
            <a:spLocks noGrp="1" noChangeArrowheads="1"/>
          </p:cNvSpPr>
          <p:nvPr>
            <p:ph idx="1"/>
          </p:nvPr>
        </p:nvSpPr>
        <p:spPr>
          <a:xfrm>
            <a:off x="863600" y="1268413"/>
            <a:ext cx="8040688" cy="4752975"/>
          </a:xfrm>
        </p:spPr>
        <p:txBody>
          <a:bodyPr>
            <a:normAutofit lnSpcReduction="10000"/>
          </a:bodyPr>
          <a:lstStyle/>
          <a:p>
            <a:pPr eaLnBrk="1" hangingPunct="1"/>
            <a:r>
              <a:rPr lang="zh-CN" altLang="en-US" sz="2800"/>
              <a:t>实现虚拟存储器的目的是 </a:t>
            </a:r>
            <a:r>
              <a:rPr lang="en-US" altLang="zh-CN" sz="2800"/>
              <a:t>_____ </a:t>
            </a:r>
            <a:r>
              <a:rPr lang="zh-CN" altLang="en-US" sz="2800"/>
              <a:t>。</a:t>
            </a:r>
          </a:p>
          <a:p>
            <a:pPr eaLnBrk="1" hangingPunct="1">
              <a:buFont typeface="Wingdings" pitchFamily="2" charset="2"/>
              <a:buNone/>
            </a:pPr>
            <a:r>
              <a:rPr lang="en-US" altLang="zh-CN" sz="2800"/>
              <a:t>    A. </a:t>
            </a:r>
            <a:r>
              <a:rPr lang="zh-CN" altLang="en-US" sz="2800"/>
              <a:t>实现存储保护              </a:t>
            </a:r>
            <a:r>
              <a:rPr lang="en-US" altLang="zh-CN" sz="2800"/>
              <a:t>B. </a:t>
            </a:r>
            <a:r>
              <a:rPr lang="zh-CN" altLang="en-US" sz="2800"/>
              <a:t>实现程序浮动</a:t>
            </a:r>
          </a:p>
          <a:p>
            <a:pPr eaLnBrk="1" hangingPunct="1">
              <a:buFont typeface="Wingdings" pitchFamily="2" charset="2"/>
              <a:buNone/>
            </a:pPr>
            <a:r>
              <a:rPr lang="en-US" altLang="zh-CN" sz="2800"/>
              <a:t>    C. </a:t>
            </a:r>
            <a:r>
              <a:rPr lang="zh-CN" altLang="en-US" sz="2800"/>
              <a:t>扩充辅存容量              </a:t>
            </a:r>
            <a:r>
              <a:rPr lang="en-US" altLang="zh-CN" sz="2800"/>
              <a:t>D. </a:t>
            </a:r>
            <a:r>
              <a:rPr lang="zh-CN" altLang="en-US" sz="2800"/>
              <a:t>扩充内存容量</a:t>
            </a:r>
          </a:p>
          <a:p>
            <a:pPr eaLnBrk="1" hangingPunct="1"/>
            <a:r>
              <a:rPr lang="zh-CN" altLang="en-US" sz="2800"/>
              <a:t>页式虚拟存储管理的主要特点是 </a:t>
            </a:r>
            <a:r>
              <a:rPr lang="en-US" altLang="zh-CN" sz="2800"/>
              <a:t>_____ </a:t>
            </a:r>
            <a:r>
              <a:rPr lang="zh-CN" altLang="en-US" sz="2800"/>
              <a:t>。</a:t>
            </a:r>
          </a:p>
          <a:p>
            <a:pPr eaLnBrk="1" hangingPunct="1">
              <a:buFont typeface="Wingdings" pitchFamily="2" charset="2"/>
              <a:buNone/>
            </a:pPr>
            <a:r>
              <a:rPr lang="en-US" altLang="zh-CN" sz="2800"/>
              <a:t>   A. </a:t>
            </a:r>
            <a:r>
              <a:rPr lang="zh-CN" altLang="en-US" sz="2800"/>
              <a:t>不要求将作业装入到内存的连续区域</a:t>
            </a:r>
          </a:p>
          <a:p>
            <a:pPr eaLnBrk="1" hangingPunct="1">
              <a:buFont typeface="Wingdings" pitchFamily="2" charset="2"/>
              <a:buNone/>
            </a:pPr>
            <a:r>
              <a:rPr lang="en-US" altLang="zh-CN" sz="2800"/>
              <a:t>   B. </a:t>
            </a:r>
            <a:r>
              <a:rPr lang="zh-CN" altLang="en-US" sz="2800"/>
              <a:t>不要求将作业同时全部装入到内存的连续区域</a:t>
            </a:r>
          </a:p>
          <a:p>
            <a:pPr eaLnBrk="1" hangingPunct="1">
              <a:buFont typeface="Wingdings" pitchFamily="2" charset="2"/>
              <a:buNone/>
            </a:pPr>
            <a:r>
              <a:rPr lang="en-US" altLang="zh-CN" sz="2800"/>
              <a:t>   C. </a:t>
            </a:r>
            <a:r>
              <a:rPr lang="zh-CN" altLang="en-US" sz="2800"/>
              <a:t>不要求进行缺页中断处理</a:t>
            </a:r>
          </a:p>
          <a:p>
            <a:pPr eaLnBrk="1" hangingPunct="1">
              <a:buFont typeface="Wingdings" pitchFamily="2" charset="2"/>
              <a:buNone/>
            </a:pPr>
            <a:r>
              <a:rPr lang="en-US" altLang="zh-CN" sz="2800"/>
              <a:t>   D. </a:t>
            </a:r>
            <a:r>
              <a:rPr lang="zh-CN" altLang="en-US" sz="2800"/>
              <a:t>不要求进行页面置换</a:t>
            </a:r>
          </a:p>
        </p:txBody>
      </p:sp>
    </p:spTree>
  </p:cSld>
  <p:clrMapOvr>
    <a:masterClrMapping/>
  </p:clrMapOvr>
  <p:transition spd="med">
    <p:zoom/>
  </p:transition>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a:extLst>
              <a:ext uri="{FF2B5EF4-FFF2-40B4-BE49-F238E27FC236}">
                <a16:creationId xmlns:a16="http://schemas.microsoft.com/office/drawing/2014/main" id="{A7F6F3F9-7B84-94B7-409D-7B1AC74485BE}"/>
              </a:ext>
            </a:extLst>
          </p:cNvPr>
          <p:cNvSpPr>
            <a:spLocks noGrp="1" noChangeArrowheads="1"/>
          </p:cNvSpPr>
          <p:nvPr>
            <p:ph type="title"/>
          </p:nvPr>
        </p:nvSpPr>
        <p:spPr/>
        <p:txBody>
          <a:bodyPr/>
          <a:lstStyle/>
          <a:p>
            <a:pPr eaLnBrk="1" hangingPunct="1"/>
            <a:r>
              <a:rPr lang="zh-CN" altLang="en-US" sz="4000" dirty="0"/>
              <a:t>选择题</a:t>
            </a:r>
            <a:r>
              <a:rPr lang="en-US" altLang="zh-CN" sz="4000" dirty="0"/>
              <a:t>8</a:t>
            </a:r>
          </a:p>
        </p:txBody>
      </p:sp>
      <p:sp>
        <p:nvSpPr>
          <p:cNvPr id="134146" name="Rectangle 3">
            <a:extLst>
              <a:ext uri="{FF2B5EF4-FFF2-40B4-BE49-F238E27FC236}">
                <a16:creationId xmlns:a16="http://schemas.microsoft.com/office/drawing/2014/main" id="{AE2A07BB-1137-D96A-E83F-486EF4FB7852}"/>
              </a:ext>
            </a:extLst>
          </p:cNvPr>
          <p:cNvSpPr>
            <a:spLocks noGrp="1" noChangeArrowheads="1"/>
          </p:cNvSpPr>
          <p:nvPr>
            <p:ph idx="1"/>
          </p:nvPr>
        </p:nvSpPr>
        <p:spPr>
          <a:xfrm>
            <a:off x="900113" y="1268413"/>
            <a:ext cx="8004175" cy="4752975"/>
          </a:xfrm>
        </p:spPr>
        <p:txBody>
          <a:bodyPr/>
          <a:lstStyle/>
          <a:p>
            <a:pPr eaLnBrk="1" hangingPunct="1"/>
            <a:r>
              <a:rPr lang="zh-CN" altLang="en-US" sz="2800"/>
              <a:t>作业在执行中发生了缺页中断，经操作系统处理后，应让其执行 </a:t>
            </a:r>
            <a:r>
              <a:rPr lang="en-US" altLang="zh-CN" sz="2800"/>
              <a:t>_____ </a:t>
            </a:r>
            <a:r>
              <a:rPr lang="zh-CN" altLang="en-US" sz="2800"/>
              <a:t>指令。</a:t>
            </a:r>
          </a:p>
          <a:p>
            <a:pPr eaLnBrk="1" hangingPunct="1">
              <a:buFont typeface="Wingdings" pitchFamily="2" charset="2"/>
              <a:buNone/>
            </a:pPr>
            <a:r>
              <a:rPr lang="en-US" altLang="zh-CN" sz="2800"/>
              <a:t>   A. </a:t>
            </a:r>
            <a:r>
              <a:rPr lang="zh-CN" altLang="en-US" sz="2800"/>
              <a:t>被中断的前一条            </a:t>
            </a:r>
            <a:r>
              <a:rPr lang="en-US" altLang="zh-CN" sz="2800"/>
              <a:t>B. </a:t>
            </a:r>
            <a:r>
              <a:rPr lang="zh-CN" altLang="en-US" sz="2800"/>
              <a:t>被中断的那条</a:t>
            </a:r>
          </a:p>
          <a:p>
            <a:pPr eaLnBrk="1" hangingPunct="1">
              <a:buFont typeface="Wingdings" pitchFamily="2" charset="2"/>
              <a:buNone/>
            </a:pPr>
            <a:r>
              <a:rPr lang="en-US" altLang="zh-CN" sz="2800"/>
              <a:t>   C. </a:t>
            </a:r>
            <a:r>
              <a:rPr lang="zh-CN" altLang="en-US" sz="2800"/>
              <a:t>被中断的后一条            </a:t>
            </a:r>
            <a:r>
              <a:rPr lang="en-US" altLang="zh-CN" sz="2800"/>
              <a:t>D. </a:t>
            </a:r>
            <a:r>
              <a:rPr lang="zh-CN" altLang="en-US" sz="2800"/>
              <a:t>启动时的第一条</a:t>
            </a:r>
          </a:p>
          <a:p>
            <a:pPr eaLnBrk="1" hangingPunct="1"/>
            <a:r>
              <a:rPr lang="zh-CN" altLang="en-US" sz="2800"/>
              <a:t>虚拟存储管理系统的基础是程序的 </a:t>
            </a:r>
            <a:r>
              <a:rPr lang="en-US" altLang="zh-CN" sz="2800"/>
              <a:t>_____ </a:t>
            </a:r>
            <a:r>
              <a:rPr lang="zh-CN" altLang="en-US" sz="2800"/>
              <a:t>理论。</a:t>
            </a:r>
          </a:p>
          <a:p>
            <a:pPr eaLnBrk="1" hangingPunct="1">
              <a:buFont typeface="Wingdings" pitchFamily="2" charset="2"/>
              <a:buNone/>
            </a:pPr>
            <a:r>
              <a:rPr lang="en-US" altLang="zh-CN" sz="2800"/>
              <a:t>   A. </a:t>
            </a:r>
            <a:r>
              <a:rPr lang="zh-CN" altLang="en-US" sz="2800"/>
              <a:t>局部性            </a:t>
            </a:r>
            <a:r>
              <a:rPr lang="en-US" altLang="zh-CN" sz="2800"/>
              <a:t>B. </a:t>
            </a:r>
            <a:r>
              <a:rPr lang="zh-CN" altLang="en-US" sz="2800"/>
              <a:t>全局性</a:t>
            </a:r>
          </a:p>
          <a:p>
            <a:pPr eaLnBrk="1" hangingPunct="1">
              <a:buFont typeface="Wingdings" pitchFamily="2" charset="2"/>
              <a:buNone/>
            </a:pPr>
            <a:r>
              <a:rPr lang="en-US" altLang="zh-CN" sz="2800"/>
              <a:t>   C. </a:t>
            </a:r>
            <a:r>
              <a:rPr lang="zh-CN" altLang="en-US" sz="2800"/>
              <a:t>动态性            </a:t>
            </a:r>
            <a:r>
              <a:rPr lang="en-US" altLang="zh-CN" sz="2800"/>
              <a:t>D. </a:t>
            </a:r>
            <a:r>
              <a:rPr lang="zh-CN" altLang="en-US" sz="2800"/>
              <a:t>虚拟性</a:t>
            </a:r>
          </a:p>
        </p:txBody>
      </p:sp>
    </p:spTree>
  </p:cSld>
  <p:clrMapOvr>
    <a:masterClrMapping/>
  </p:clrMapOvr>
  <p:transition spd="med">
    <p:zoom/>
  </p:transition>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9ACB3ADF-4D64-2031-C748-C6617A866493}"/>
              </a:ext>
            </a:extLst>
          </p:cNvPr>
          <p:cNvSpPr>
            <a:spLocks noGrp="1" noChangeArrowheads="1"/>
          </p:cNvSpPr>
          <p:nvPr>
            <p:ph type="title"/>
          </p:nvPr>
        </p:nvSpPr>
        <p:spPr/>
        <p:txBody>
          <a:bodyPr/>
          <a:lstStyle/>
          <a:p>
            <a:pPr eaLnBrk="1" hangingPunct="1"/>
            <a:r>
              <a:rPr lang="zh-CN" altLang="en-US" sz="4000" dirty="0"/>
              <a:t>选择题</a:t>
            </a:r>
            <a:r>
              <a:rPr lang="en-US" altLang="zh-CN" sz="4000" dirty="0"/>
              <a:t>9</a:t>
            </a:r>
          </a:p>
        </p:txBody>
      </p:sp>
      <p:sp>
        <p:nvSpPr>
          <p:cNvPr id="135170" name="Rectangle 3">
            <a:extLst>
              <a:ext uri="{FF2B5EF4-FFF2-40B4-BE49-F238E27FC236}">
                <a16:creationId xmlns:a16="http://schemas.microsoft.com/office/drawing/2014/main" id="{E7592A69-9459-D0FD-A20C-CE87BB5B99CE}"/>
              </a:ext>
            </a:extLst>
          </p:cNvPr>
          <p:cNvSpPr>
            <a:spLocks noGrp="1" noChangeArrowheads="1"/>
          </p:cNvSpPr>
          <p:nvPr>
            <p:ph idx="1"/>
          </p:nvPr>
        </p:nvSpPr>
        <p:spPr>
          <a:xfrm>
            <a:off x="792163" y="1268413"/>
            <a:ext cx="8112125" cy="4752975"/>
          </a:xfrm>
        </p:spPr>
        <p:txBody>
          <a:bodyPr/>
          <a:lstStyle/>
          <a:p>
            <a:pPr eaLnBrk="1" hangingPunct="1"/>
            <a:r>
              <a:rPr lang="zh-CN" altLang="en-US" sz="2800"/>
              <a:t>在以下存储管理方案中，属于虚拟存储器管理的是 </a:t>
            </a:r>
            <a:r>
              <a:rPr lang="en-US" altLang="zh-CN" sz="2800"/>
              <a:t>_____ </a:t>
            </a:r>
            <a:r>
              <a:rPr lang="zh-CN" altLang="en-US" sz="2800"/>
              <a:t>。</a:t>
            </a:r>
          </a:p>
          <a:p>
            <a:pPr eaLnBrk="1" hangingPunct="1">
              <a:buFont typeface="Wingdings" pitchFamily="2" charset="2"/>
              <a:buNone/>
            </a:pPr>
            <a:r>
              <a:rPr lang="en-US" altLang="zh-CN" sz="2800"/>
              <a:t>   A. </a:t>
            </a:r>
            <a:r>
              <a:rPr lang="zh-CN" altLang="en-US" sz="2800"/>
              <a:t>可重定位分区分配            </a:t>
            </a:r>
            <a:r>
              <a:rPr lang="en-US" altLang="zh-CN" sz="2800"/>
              <a:t>B. </a:t>
            </a:r>
            <a:r>
              <a:rPr lang="zh-CN" altLang="en-US" sz="2800"/>
              <a:t>分段存储管理</a:t>
            </a:r>
          </a:p>
          <a:p>
            <a:pPr eaLnBrk="1" hangingPunct="1">
              <a:buFont typeface="Wingdings" pitchFamily="2" charset="2"/>
              <a:buNone/>
            </a:pPr>
            <a:r>
              <a:rPr lang="en-US" altLang="zh-CN" sz="2800"/>
              <a:t>   C. </a:t>
            </a:r>
            <a:r>
              <a:rPr lang="zh-CN" altLang="en-US" sz="2800"/>
              <a:t>请求分页存储管理            </a:t>
            </a:r>
            <a:r>
              <a:rPr lang="en-US" altLang="zh-CN" sz="2800"/>
              <a:t>D. </a:t>
            </a:r>
            <a:r>
              <a:rPr lang="zh-CN" altLang="en-US" sz="2800"/>
              <a:t>段页式存储管理</a:t>
            </a:r>
          </a:p>
          <a:p>
            <a:pPr eaLnBrk="1" hangingPunct="1"/>
            <a:r>
              <a:rPr lang="zh-CN" altLang="en-US" sz="2800"/>
              <a:t>由于实现</a:t>
            </a:r>
            <a:r>
              <a:rPr lang="en-US" altLang="zh-CN" sz="2800"/>
              <a:t>_____ </a:t>
            </a:r>
            <a:r>
              <a:rPr lang="zh-CN" altLang="en-US" sz="2800"/>
              <a:t>页面置换算法的成本高，通常使用一种近似的页面置换算法</a:t>
            </a:r>
            <a:r>
              <a:rPr lang="en-US" altLang="zh-CN" sz="2800"/>
              <a:t>_____</a:t>
            </a:r>
            <a:r>
              <a:rPr lang="zh-CN" altLang="en-US" sz="2800"/>
              <a:t>算法。</a:t>
            </a:r>
          </a:p>
          <a:p>
            <a:pPr eaLnBrk="1" hangingPunct="1">
              <a:buFont typeface="Wingdings" pitchFamily="2" charset="2"/>
              <a:buNone/>
            </a:pPr>
            <a:r>
              <a:rPr lang="en-US" altLang="zh-CN" sz="2800"/>
              <a:t>   A.Optimal  LRU           B.LRU  Clock  </a:t>
            </a:r>
          </a:p>
          <a:p>
            <a:pPr eaLnBrk="1" hangingPunct="1">
              <a:buFont typeface="Wingdings" pitchFamily="2" charset="2"/>
              <a:buNone/>
            </a:pPr>
            <a:r>
              <a:rPr lang="en-US" altLang="zh-CN" sz="2800"/>
              <a:t>   C.FCFS   Clock           D.Clock  </a:t>
            </a:r>
            <a:r>
              <a:rPr lang="zh-CN" altLang="en-US" sz="2800"/>
              <a:t>改进的</a:t>
            </a:r>
            <a:r>
              <a:rPr lang="en-US" altLang="zh-CN" sz="2800"/>
              <a:t>Clock</a:t>
            </a:r>
            <a:endParaRPr lang="zh-CN" altLang="en-US" sz="2800"/>
          </a:p>
        </p:txBody>
      </p:sp>
    </p:spTree>
  </p:cSld>
  <p:clrMapOvr>
    <a:masterClrMapping/>
  </p:clrMapOvr>
  <p:transition spd="med">
    <p:zoom/>
  </p:transition>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a16="http://schemas.microsoft.com/office/drawing/2014/main" id="{ED04AFAD-C2BA-8890-1808-8358D84FC019}"/>
              </a:ext>
            </a:extLst>
          </p:cNvPr>
          <p:cNvSpPr>
            <a:spLocks noGrp="1" noChangeArrowheads="1"/>
          </p:cNvSpPr>
          <p:nvPr>
            <p:ph type="title"/>
          </p:nvPr>
        </p:nvSpPr>
        <p:spPr>
          <a:xfrm>
            <a:off x="1042988" y="225431"/>
            <a:ext cx="7850187" cy="746125"/>
          </a:xfrm>
        </p:spPr>
        <p:txBody>
          <a:bodyPr/>
          <a:lstStyle/>
          <a:p>
            <a:r>
              <a:rPr lang="zh-CN" altLang="en-US" dirty="0"/>
              <a:t>选择题</a:t>
            </a:r>
            <a:r>
              <a:rPr lang="en-US" altLang="zh-CN" dirty="0"/>
              <a:t>10</a:t>
            </a:r>
          </a:p>
        </p:txBody>
      </p:sp>
      <p:sp>
        <p:nvSpPr>
          <p:cNvPr id="136194" name="Rectangle 3">
            <a:extLst>
              <a:ext uri="{FF2B5EF4-FFF2-40B4-BE49-F238E27FC236}">
                <a16:creationId xmlns:a16="http://schemas.microsoft.com/office/drawing/2014/main" id="{6A69CFE2-6EE5-0C70-9187-53B71A9E8E62}"/>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dirty="0"/>
              <a:t>会产生</a:t>
            </a:r>
            <a:r>
              <a:rPr lang="en-US" altLang="zh-CN" dirty="0" err="1"/>
              <a:t>Belady</a:t>
            </a:r>
            <a:r>
              <a:rPr lang="zh-CN" altLang="en-US" dirty="0"/>
              <a:t>异常现象的页面置换算法是</a:t>
            </a:r>
            <a:r>
              <a:rPr lang="en-US" altLang="zh-CN" dirty="0"/>
              <a:t>_____</a:t>
            </a:r>
            <a:r>
              <a:rPr lang="zh-CN" altLang="en-US" dirty="0"/>
              <a:t>。</a:t>
            </a:r>
          </a:p>
          <a:p>
            <a:pPr marL="300023" lvl="1" indent="0">
              <a:buNone/>
            </a:pPr>
            <a:r>
              <a:rPr lang="en-US" altLang="zh-CN" dirty="0"/>
              <a:t>   </a:t>
            </a:r>
            <a:r>
              <a:rPr lang="zh-CN" altLang="en-US" dirty="0"/>
              <a:t> </a:t>
            </a:r>
            <a:r>
              <a:rPr lang="en-US" altLang="zh-CN" dirty="0"/>
              <a:t>A</a:t>
            </a:r>
            <a:r>
              <a:rPr lang="zh-CN" altLang="en-US" dirty="0"/>
              <a:t>．最佳页面置换算法</a:t>
            </a:r>
            <a:endParaRPr lang="en-US" altLang="zh-CN" dirty="0"/>
          </a:p>
          <a:p>
            <a:pPr marL="300023" lvl="1" indent="0">
              <a:buNone/>
            </a:pPr>
            <a:r>
              <a:rPr lang="zh-CN" altLang="en-US" dirty="0"/>
              <a:t>    </a:t>
            </a:r>
            <a:r>
              <a:rPr lang="en-US" altLang="zh-CN" dirty="0"/>
              <a:t>B</a:t>
            </a:r>
            <a:r>
              <a:rPr lang="zh-CN" altLang="en-US" dirty="0"/>
              <a:t>．先进先出页面置换算法</a:t>
            </a:r>
          </a:p>
          <a:p>
            <a:pPr marL="300023" lvl="1" indent="0">
              <a:buNone/>
            </a:pPr>
            <a:r>
              <a:rPr lang="en-US" altLang="zh-CN" dirty="0"/>
              <a:t>    C</a:t>
            </a:r>
            <a:r>
              <a:rPr lang="zh-CN" altLang="en-US" dirty="0"/>
              <a:t>．最近最久未使用置换算法</a:t>
            </a:r>
            <a:endParaRPr lang="en-US" altLang="zh-CN" dirty="0"/>
          </a:p>
          <a:p>
            <a:pPr marL="300023" lvl="1" indent="0">
              <a:buNone/>
            </a:pPr>
            <a:r>
              <a:rPr lang="zh-CN" altLang="en-US" dirty="0"/>
              <a:t>    </a:t>
            </a:r>
            <a:r>
              <a:rPr lang="en-US" altLang="zh-CN" dirty="0"/>
              <a:t>D</a:t>
            </a:r>
            <a:r>
              <a:rPr lang="zh-CN" altLang="en-US" dirty="0"/>
              <a:t>．最少使用页面置换算法</a:t>
            </a:r>
          </a:p>
          <a:p>
            <a:r>
              <a:rPr lang="zh-CN" altLang="en-US" dirty="0"/>
              <a:t>在请求分页存储管理系统中，下述</a:t>
            </a:r>
            <a:r>
              <a:rPr lang="en-US" altLang="zh-CN" dirty="0"/>
              <a:t>_____</a:t>
            </a:r>
            <a:r>
              <a:rPr lang="zh-CN" altLang="en-US" dirty="0"/>
              <a:t>策略是不适用的</a:t>
            </a:r>
          </a:p>
          <a:p>
            <a:pPr marL="300023" lvl="1" indent="0">
              <a:buNone/>
            </a:pPr>
            <a:r>
              <a:rPr lang="en-US" altLang="zh-CN" dirty="0"/>
              <a:t>   A</a:t>
            </a:r>
            <a:r>
              <a:rPr lang="zh-CN" altLang="en-US" dirty="0"/>
              <a:t>．固定分配局部置换      </a:t>
            </a:r>
            <a:r>
              <a:rPr lang="en-US" altLang="zh-CN" dirty="0"/>
              <a:t>B</a:t>
            </a:r>
            <a:r>
              <a:rPr lang="zh-CN" altLang="en-US" dirty="0"/>
              <a:t>．固定分配全局置换</a:t>
            </a:r>
          </a:p>
          <a:p>
            <a:pPr marL="300023" lvl="1" indent="0">
              <a:buNone/>
            </a:pPr>
            <a:r>
              <a:rPr lang="en-US" altLang="zh-CN" dirty="0"/>
              <a:t>   C</a:t>
            </a:r>
            <a:r>
              <a:rPr lang="zh-CN" altLang="en-US" dirty="0"/>
              <a:t>．可变分配全局置换      </a:t>
            </a:r>
            <a:r>
              <a:rPr lang="en-US" altLang="zh-CN" dirty="0"/>
              <a:t>D</a:t>
            </a:r>
            <a:r>
              <a:rPr lang="zh-CN" altLang="en-US" dirty="0"/>
              <a:t>．可变分配局部置换</a:t>
            </a:r>
          </a:p>
        </p:txBody>
      </p:sp>
    </p:spTree>
  </p:cSld>
  <p:clrMapOvr>
    <a:masterClrMapping/>
  </p:clrMapOvr>
  <p:transition spd="med">
    <p:zoom/>
  </p:transition>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标题 1">
            <a:extLst>
              <a:ext uri="{FF2B5EF4-FFF2-40B4-BE49-F238E27FC236}">
                <a16:creationId xmlns:a16="http://schemas.microsoft.com/office/drawing/2014/main" id="{906ADFAB-38F5-6C69-E9FB-FBBA54AB0A88}"/>
              </a:ext>
            </a:extLst>
          </p:cNvPr>
          <p:cNvSpPr>
            <a:spLocks noGrp="1" noChangeArrowheads="1"/>
          </p:cNvSpPr>
          <p:nvPr>
            <p:ph type="title"/>
          </p:nvPr>
        </p:nvSpPr>
        <p:spPr/>
        <p:txBody>
          <a:bodyPr/>
          <a:lstStyle/>
          <a:p>
            <a:pPr eaLnBrk="1" hangingPunct="1"/>
            <a:r>
              <a:rPr lang="zh-CN" altLang="en-US" dirty="0"/>
              <a:t>选择题</a:t>
            </a:r>
            <a:r>
              <a:rPr lang="en-US" altLang="zh-CN" dirty="0"/>
              <a:t>11</a:t>
            </a:r>
            <a:endParaRPr lang="zh-CN" altLang="en-US" dirty="0"/>
          </a:p>
        </p:txBody>
      </p:sp>
      <p:sp>
        <p:nvSpPr>
          <p:cNvPr id="108547" name="内容占位符 2">
            <a:extLst>
              <a:ext uri="{FF2B5EF4-FFF2-40B4-BE49-F238E27FC236}">
                <a16:creationId xmlns:a16="http://schemas.microsoft.com/office/drawing/2014/main" id="{B894A9C6-9E5A-BB4F-71D3-6519E6EE9D28}"/>
              </a:ext>
            </a:extLst>
          </p:cNvPr>
          <p:cNvSpPr>
            <a:spLocks noGrp="1" noChangeArrowheads="1"/>
          </p:cNvSpPr>
          <p:nvPr>
            <p:ph idx="1"/>
          </p:nvPr>
        </p:nvSpPr>
        <p:spPr>
          <a:xfrm>
            <a:off x="755650" y="1268413"/>
            <a:ext cx="8148638" cy="5227637"/>
          </a:xfrm>
        </p:spPr>
        <p:txBody>
          <a:bodyPr>
            <a:normAutofit lnSpcReduction="10000"/>
          </a:bodyPr>
          <a:lstStyle/>
          <a:p>
            <a:pPr eaLnBrk="1" hangingPunct="1"/>
            <a:r>
              <a:rPr lang="zh-CN" altLang="en-US" sz="2800"/>
              <a:t>二次机会置换算法与简单时钟置换算法在决定淘汰哪一页时，都用到了</a:t>
            </a:r>
            <a:r>
              <a:rPr lang="en-US" altLang="zh-CN" sz="2800"/>
              <a:t>_____</a:t>
            </a:r>
            <a:r>
              <a:rPr lang="zh-CN" altLang="en-US" sz="2800"/>
              <a:t>。</a:t>
            </a:r>
          </a:p>
          <a:p>
            <a:pPr eaLnBrk="1" hangingPunct="1">
              <a:buFont typeface="Wingdings" pitchFamily="2" charset="2"/>
              <a:buNone/>
            </a:pPr>
            <a:r>
              <a:rPr lang="en-US" altLang="zh-CN" sz="2800"/>
              <a:t>   A</a:t>
            </a:r>
            <a:r>
              <a:rPr lang="zh-CN" altLang="en-US" sz="2800"/>
              <a:t>．快表             </a:t>
            </a:r>
            <a:r>
              <a:rPr lang="en-US" altLang="zh-CN" sz="2800"/>
              <a:t>B</a:t>
            </a:r>
            <a:r>
              <a:rPr lang="zh-CN" altLang="en-US" sz="2800"/>
              <a:t>．引用位 </a:t>
            </a:r>
          </a:p>
          <a:p>
            <a:pPr eaLnBrk="1" hangingPunct="1">
              <a:buFont typeface="Wingdings" pitchFamily="2" charset="2"/>
              <a:buNone/>
            </a:pPr>
            <a:r>
              <a:rPr lang="zh-CN" altLang="en-US" sz="2800"/>
              <a:t>   </a:t>
            </a:r>
            <a:r>
              <a:rPr lang="en-US" altLang="zh-CN" sz="2800"/>
              <a:t>C</a:t>
            </a:r>
            <a:r>
              <a:rPr lang="zh-CN" altLang="en-US" sz="2800"/>
              <a:t>．修改位          </a:t>
            </a:r>
            <a:r>
              <a:rPr lang="en-US" altLang="zh-CN" sz="2800"/>
              <a:t>D</a:t>
            </a:r>
            <a:r>
              <a:rPr lang="zh-CN" altLang="en-US" sz="2800"/>
              <a:t>．存在位</a:t>
            </a:r>
          </a:p>
          <a:p>
            <a:pPr eaLnBrk="1" hangingPunct="1"/>
            <a:r>
              <a:rPr lang="zh-CN" altLang="en-US" sz="2800"/>
              <a:t>请求段页式系统</a:t>
            </a:r>
            <a:r>
              <a:rPr lang="en-US" altLang="zh-CN" sz="2800"/>
              <a:t>_____</a:t>
            </a:r>
            <a:r>
              <a:rPr lang="zh-CN" altLang="en-US" sz="2800"/>
              <a:t>。</a:t>
            </a:r>
          </a:p>
          <a:p>
            <a:pPr eaLnBrk="1" hangingPunct="1">
              <a:buFont typeface="Wingdings" pitchFamily="2" charset="2"/>
              <a:buNone/>
            </a:pPr>
            <a:r>
              <a:rPr lang="en-US" altLang="zh-CN" sz="2400"/>
              <a:t>    A</a:t>
            </a:r>
            <a:r>
              <a:rPr lang="zh-CN" altLang="en-US" sz="2400"/>
              <a:t>．是以页为单位管理用户的虚空间，以段为单位管理内存空间。</a:t>
            </a:r>
          </a:p>
          <a:p>
            <a:pPr eaLnBrk="1" hangingPunct="1">
              <a:buFont typeface="Wingdings" pitchFamily="2" charset="2"/>
              <a:buNone/>
            </a:pPr>
            <a:r>
              <a:rPr lang="en-US" altLang="zh-CN" sz="2400"/>
              <a:t>    B</a:t>
            </a:r>
            <a:r>
              <a:rPr lang="zh-CN" altLang="en-US" sz="2400"/>
              <a:t>．是以段为单位管理用户的虚空间，以页为单位管理内存空间。</a:t>
            </a:r>
          </a:p>
          <a:p>
            <a:pPr eaLnBrk="1" hangingPunct="1">
              <a:buFont typeface="Wingdings" pitchFamily="2" charset="2"/>
              <a:buNone/>
            </a:pPr>
            <a:r>
              <a:rPr lang="en-US" altLang="zh-CN" sz="2400"/>
              <a:t>    C</a:t>
            </a:r>
            <a:r>
              <a:rPr lang="zh-CN" altLang="en-US" sz="2400"/>
              <a:t>．是以连续的内存区存放每个段。</a:t>
            </a:r>
          </a:p>
          <a:p>
            <a:pPr eaLnBrk="1" hangingPunct="1">
              <a:buFont typeface="Wingdings" pitchFamily="2" charset="2"/>
              <a:buNone/>
            </a:pPr>
            <a:r>
              <a:rPr lang="en-US" altLang="zh-CN" sz="2400"/>
              <a:t>    D</a:t>
            </a:r>
            <a:r>
              <a:rPr lang="zh-CN" altLang="en-US" sz="2400"/>
              <a:t>．为提高内存利用率，允许用户使用大小不同的页。</a:t>
            </a:r>
          </a:p>
          <a:p>
            <a:pPr eaLnBrk="1" hangingPunct="1"/>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animEffect transition="in" filter="checkerboard(across)">
                                      <p:cBhvr>
                                        <p:cTn id="7" dur="500"/>
                                        <p:tgtEl>
                                          <p:spTgt spid="108547">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08547">
                                            <p:txEl>
                                              <p:pRg st="1" end="1"/>
                                            </p:txEl>
                                          </p:spTgt>
                                        </p:tgtEl>
                                        <p:attrNameLst>
                                          <p:attrName>style.visibility</p:attrName>
                                        </p:attrNameLst>
                                      </p:cBhvr>
                                      <p:to>
                                        <p:strVal val="visible"/>
                                      </p:to>
                                    </p:set>
                                    <p:animEffect transition="in" filter="checkerboard(across)">
                                      <p:cBhvr>
                                        <p:cTn id="10" dur="500"/>
                                        <p:tgtEl>
                                          <p:spTgt spid="108547">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08547">
                                            <p:txEl>
                                              <p:pRg st="2" end="2"/>
                                            </p:txEl>
                                          </p:spTgt>
                                        </p:tgtEl>
                                        <p:attrNameLst>
                                          <p:attrName>style.visibility</p:attrName>
                                        </p:attrNameLst>
                                      </p:cBhvr>
                                      <p:to>
                                        <p:strVal val="visible"/>
                                      </p:to>
                                    </p:set>
                                    <p:animEffect transition="in" filter="checkerboard(across)">
                                      <p:cBhvr>
                                        <p:cTn id="13" dur="500"/>
                                        <p:tgtEl>
                                          <p:spTgt spid="10854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108547">
                                            <p:txEl>
                                              <p:pRg st="3" end="3"/>
                                            </p:txEl>
                                          </p:spTgt>
                                        </p:tgtEl>
                                        <p:attrNameLst>
                                          <p:attrName>style.visibility</p:attrName>
                                        </p:attrNameLst>
                                      </p:cBhvr>
                                      <p:to>
                                        <p:strVal val="visible"/>
                                      </p:to>
                                    </p:set>
                                    <p:animEffect transition="in" filter="checkerboard(across)">
                                      <p:cBhvr>
                                        <p:cTn id="18" dur="500"/>
                                        <p:tgtEl>
                                          <p:spTgt spid="108547">
                                            <p:txEl>
                                              <p:pRg st="3" end="3"/>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108547">
                                            <p:txEl>
                                              <p:pRg st="4" end="4"/>
                                            </p:txEl>
                                          </p:spTgt>
                                        </p:tgtEl>
                                        <p:attrNameLst>
                                          <p:attrName>style.visibility</p:attrName>
                                        </p:attrNameLst>
                                      </p:cBhvr>
                                      <p:to>
                                        <p:strVal val="visible"/>
                                      </p:to>
                                    </p:set>
                                    <p:animEffect transition="in" filter="checkerboard(across)">
                                      <p:cBhvr>
                                        <p:cTn id="21" dur="500"/>
                                        <p:tgtEl>
                                          <p:spTgt spid="108547">
                                            <p:txEl>
                                              <p:pRg st="4" end="4"/>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108547">
                                            <p:txEl>
                                              <p:pRg st="5" end="5"/>
                                            </p:txEl>
                                          </p:spTgt>
                                        </p:tgtEl>
                                        <p:attrNameLst>
                                          <p:attrName>style.visibility</p:attrName>
                                        </p:attrNameLst>
                                      </p:cBhvr>
                                      <p:to>
                                        <p:strVal val="visible"/>
                                      </p:to>
                                    </p:set>
                                    <p:animEffect transition="in" filter="checkerboard(across)">
                                      <p:cBhvr>
                                        <p:cTn id="24" dur="500"/>
                                        <p:tgtEl>
                                          <p:spTgt spid="108547">
                                            <p:txEl>
                                              <p:pRg st="5" end="5"/>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108547">
                                            <p:txEl>
                                              <p:pRg st="6" end="6"/>
                                            </p:txEl>
                                          </p:spTgt>
                                        </p:tgtEl>
                                        <p:attrNameLst>
                                          <p:attrName>style.visibility</p:attrName>
                                        </p:attrNameLst>
                                      </p:cBhvr>
                                      <p:to>
                                        <p:strVal val="visible"/>
                                      </p:to>
                                    </p:set>
                                    <p:animEffect transition="in" filter="checkerboard(across)">
                                      <p:cBhvr>
                                        <p:cTn id="27" dur="500"/>
                                        <p:tgtEl>
                                          <p:spTgt spid="108547">
                                            <p:txEl>
                                              <p:pRg st="6" end="6"/>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108547">
                                            <p:txEl>
                                              <p:pRg st="7" end="7"/>
                                            </p:txEl>
                                          </p:spTgt>
                                        </p:tgtEl>
                                        <p:attrNameLst>
                                          <p:attrName>style.visibility</p:attrName>
                                        </p:attrNameLst>
                                      </p:cBhvr>
                                      <p:to>
                                        <p:strVal val="visible"/>
                                      </p:to>
                                    </p:set>
                                    <p:animEffect transition="in" filter="checkerboard(across)">
                                      <p:cBhvr>
                                        <p:cTn id="30" dur="500"/>
                                        <p:tgtEl>
                                          <p:spTgt spid="1085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a:extLst>
              <a:ext uri="{FF2B5EF4-FFF2-40B4-BE49-F238E27FC236}">
                <a16:creationId xmlns:a16="http://schemas.microsoft.com/office/drawing/2014/main" id="{22EAE710-441E-77ED-8705-B71E8B5545B1}"/>
              </a:ext>
            </a:extLst>
          </p:cNvPr>
          <p:cNvSpPr>
            <a:spLocks noGrp="1" noChangeArrowheads="1"/>
          </p:cNvSpPr>
          <p:nvPr>
            <p:ph type="title"/>
          </p:nvPr>
        </p:nvSpPr>
        <p:spPr/>
        <p:txBody>
          <a:bodyPr/>
          <a:lstStyle/>
          <a:p>
            <a:pPr eaLnBrk="1" hangingPunct="1"/>
            <a:r>
              <a:rPr lang="zh-CN" altLang="en-US"/>
              <a:t>填空题</a:t>
            </a:r>
            <a:r>
              <a:rPr lang="en-US" altLang="zh-CN"/>
              <a:t>1</a:t>
            </a:r>
          </a:p>
        </p:txBody>
      </p:sp>
      <p:sp>
        <p:nvSpPr>
          <p:cNvPr id="179202" name="Rectangle 3">
            <a:extLst>
              <a:ext uri="{FF2B5EF4-FFF2-40B4-BE49-F238E27FC236}">
                <a16:creationId xmlns:a16="http://schemas.microsoft.com/office/drawing/2014/main" id="{A7336C58-5235-BB2C-2E2A-9C7A67368211}"/>
              </a:ext>
            </a:extLst>
          </p:cNvPr>
          <p:cNvSpPr>
            <a:spLocks noGrp="1" noChangeArrowheads="1"/>
          </p:cNvSpPr>
          <p:nvPr>
            <p:ph idx="1"/>
          </p:nvPr>
        </p:nvSpPr>
        <p:spPr>
          <a:xfrm>
            <a:off x="755650" y="1268413"/>
            <a:ext cx="8148638" cy="4924425"/>
          </a:xfrm>
        </p:spPr>
        <p:txBody>
          <a:bodyPr/>
          <a:lstStyle/>
          <a:p>
            <a:pPr algn="just" eaLnBrk="1" hangingPunct="1"/>
            <a:r>
              <a:rPr lang="zh-CN" altLang="en-US">
                <a:latin typeface="Times New Roman" panose="02020603050405020304" pitchFamily="18" charset="0"/>
              </a:rPr>
              <a:t>在分区分配算法中，首次适应算法倾向于优先利用内存中的</a:t>
            </a:r>
            <a:r>
              <a:rPr lang="zh-CN" altLang="en-US"/>
              <a:t> </a:t>
            </a:r>
            <a:r>
              <a:rPr lang="zh-CN" altLang="en-US" u="sng"/>
              <a:t>  </a:t>
            </a:r>
            <a:r>
              <a:rPr lang="zh-CN" altLang="en-US" u="sng">
                <a:latin typeface="Times New Roman" panose="02020603050405020304" pitchFamily="18" charset="0"/>
              </a:rPr>
              <a:t>①</a:t>
            </a:r>
            <a:r>
              <a:rPr lang="zh-CN" altLang="en-US" u="sng"/>
              <a:t>  </a:t>
            </a:r>
            <a:r>
              <a:rPr lang="zh-CN" altLang="en-US"/>
              <a:t> </a:t>
            </a:r>
            <a:r>
              <a:rPr lang="zh-CN" altLang="en-US">
                <a:latin typeface="Times New Roman" panose="02020603050405020304" pitchFamily="18" charset="0"/>
              </a:rPr>
              <a:t>部分的空闲分区，从而保留了</a:t>
            </a:r>
            <a:r>
              <a:rPr lang="zh-CN" altLang="en-US"/>
              <a:t> </a:t>
            </a:r>
            <a:r>
              <a:rPr lang="zh-CN" altLang="en-US" u="sng"/>
              <a:t>  </a:t>
            </a:r>
            <a:r>
              <a:rPr lang="zh-CN" altLang="en-US" u="sng">
                <a:latin typeface="Times New Roman" panose="02020603050405020304" pitchFamily="18" charset="0"/>
              </a:rPr>
              <a:t>②</a:t>
            </a:r>
            <a:r>
              <a:rPr lang="zh-CN" altLang="en-US" u="sng"/>
              <a:t>  </a:t>
            </a:r>
            <a:r>
              <a:rPr lang="zh-CN" altLang="en-US"/>
              <a:t> </a:t>
            </a:r>
            <a:r>
              <a:rPr lang="zh-CN" altLang="en-US">
                <a:latin typeface="Times New Roman" panose="02020603050405020304" pitchFamily="18" charset="0"/>
              </a:rPr>
              <a:t>部分的大空闲区。</a:t>
            </a:r>
            <a:endParaRPr lang="zh-CN" altLang="en-US"/>
          </a:p>
          <a:p>
            <a:pPr algn="just" eaLnBrk="1" hangingPunct="1"/>
            <a:r>
              <a:rPr lang="zh-CN" altLang="en-US">
                <a:latin typeface="Times New Roman" panose="02020603050405020304" pitchFamily="18" charset="0"/>
              </a:rPr>
              <a:t>段页式存储管理中，是先将作业分</a:t>
            </a:r>
            <a:r>
              <a:rPr lang="zh-CN" altLang="en-US"/>
              <a:t> </a:t>
            </a:r>
            <a:r>
              <a:rPr lang="zh-CN" altLang="en-US" u="sng"/>
              <a:t>  </a:t>
            </a:r>
            <a:r>
              <a:rPr lang="zh-CN" altLang="en-US" u="sng">
                <a:latin typeface="Times New Roman" panose="02020603050405020304" pitchFamily="18" charset="0"/>
              </a:rPr>
              <a:t>①</a:t>
            </a:r>
            <a:r>
              <a:rPr lang="zh-CN" altLang="en-US" u="sng"/>
              <a:t>  </a:t>
            </a:r>
            <a:r>
              <a:rPr lang="zh-CN" altLang="en-US">
                <a:latin typeface="Times New Roman" panose="02020603050405020304" pitchFamily="18" charset="0"/>
              </a:rPr>
              <a:t>，</a:t>
            </a:r>
            <a:r>
              <a:rPr lang="zh-CN" altLang="en-US" u="sng"/>
              <a:t>  </a:t>
            </a:r>
            <a:r>
              <a:rPr lang="zh-CN" altLang="en-US" u="sng">
                <a:latin typeface="Times New Roman" panose="02020603050405020304" pitchFamily="18" charset="0"/>
              </a:rPr>
              <a:t>②</a:t>
            </a:r>
            <a:r>
              <a:rPr lang="zh-CN" altLang="en-US" u="sng"/>
              <a:t>  </a:t>
            </a:r>
            <a:r>
              <a:rPr lang="zh-CN" altLang="en-US">
                <a:latin typeface="Times New Roman" panose="02020603050405020304" pitchFamily="18" charset="0"/>
              </a:rPr>
              <a:t>内分</a:t>
            </a:r>
            <a:r>
              <a:rPr lang="zh-CN" altLang="en-US" u="sng"/>
              <a:t>  </a:t>
            </a:r>
            <a:r>
              <a:rPr lang="zh-CN" altLang="en-US" u="sng">
                <a:latin typeface="Times New Roman" panose="02020603050405020304" pitchFamily="18" charset="0"/>
              </a:rPr>
              <a:t>③</a:t>
            </a:r>
            <a:r>
              <a:rPr lang="zh-CN" altLang="en-US" u="sng"/>
              <a:t>  </a:t>
            </a:r>
            <a:r>
              <a:rPr lang="zh-CN" altLang="en-US">
                <a:latin typeface="Times New Roman" panose="02020603050405020304" pitchFamily="18" charset="0"/>
              </a:rPr>
              <a:t>。分配以</a:t>
            </a:r>
            <a:r>
              <a:rPr lang="zh-CN" altLang="en-US" u="sng"/>
              <a:t>  </a:t>
            </a:r>
            <a:r>
              <a:rPr lang="zh-CN" altLang="en-US" u="sng">
                <a:latin typeface="Times New Roman" panose="02020603050405020304" pitchFamily="18" charset="0"/>
              </a:rPr>
              <a:t>④</a:t>
            </a:r>
            <a:r>
              <a:rPr lang="zh-CN" altLang="en-US" u="sng"/>
              <a:t>  </a:t>
            </a:r>
            <a:r>
              <a:rPr lang="zh-CN" altLang="en-US">
                <a:latin typeface="Times New Roman" panose="02020603050405020304" pitchFamily="18" charset="0"/>
              </a:rPr>
              <a:t>为单位。在不考虑使用联想存储器的情况下，执行程序时需要</a:t>
            </a:r>
            <a:r>
              <a:rPr lang="zh-CN" altLang="en-US"/>
              <a:t> </a:t>
            </a:r>
            <a:r>
              <a:rPr lang="zh-CN" altLang="en-US" u="sng"/>
              <a:t>  </a:t>
            </a:r>
            <a:r>
              <a:rPr lang="zh-CN" altLang="en-US" u="sng">
                <a:latin typeface="Times New Roman" panose="02020603050405020304" pitchFamily="18" charset="0"/>
              </a:rPr>
              <a:t>⑤</a:t>
            </a:r>
            <a:r>
              <a:rPr lang="zh-CN" altLang="en-US" u="sng"/>
              <a:t>  </a:t>
            </a:r>
            <a:r>
              <a:rPr lang="zh-CN" altLang="en-US"/>
              <a:t> </a:t>
            </a:r>
            <a:r>
              <a:rPr lang="zh-CN" altLang="en-US">
                <a:latin typeface="Times New Roman" panose="02020603050405020304" pitchFamily="18" charset="0"/>
              </a:rPr>
              <a:t>次访问内存，其中第</a:t>
            </a:r>
            <a:r>
              <a:rPr lang="zh-CN" altLang="en-US"/>
              <a:t> </a:t>
            </a:r>
            <a:r>
              <a:rPr lang="zh-CN" altLang="en-US" u="sng"/>
              <a:t>  </a:t>
            </a:r>
            <a:r>
              <a:rPr lang="zh-CN" altLang="en-US" u="sng">
                <a:latin typeface="Times New Roman" panose="02020603050405020304" pitchFamily="18" charset="0"/>
              </a:rPr>
              <a:t>⑥</a:t>
            </a:r>
            <a:r>
              <a:rPr lang="zh-CN" altLang="en-US" u="sng"/>
              <a:t>  </a:t>
            </a:r>
            <a:r>
              <a:rPr lang="zh-CN" altLang="en-US"/>
              <a:t> </a:t>
            </a:r>
            <a:r>
              <a:rPr lang="zh-CN" altLang="en-US">
                <a:latin typeface="Times New Roman" panose="02020603050405020304" pitchFamily="18" charset="0"/>
              </a:rPr>
              <a:t>次是查作业的页表。</a:t>
            </a:r>
            <a:endParaRPr lang="zh-CN" altLang="en-US"/>
          </a:p>
        </p:txBody>
      </p:sp>
    </p:spTree>
    <p:extLst>
      <p:ext uri="{BB962C8B-B14F-4D97-AF65-F5344CB8AC3E}">
        <p14:creationId xmlns:p14="http://schemas.microsoft.com/office/powerpoint/2010/main" val="1544915167"/>
      </p:ext>
    </p:extLst>
  </p:cSld>
  <p:clrMapOvr>
    <a:masterClrMapping/>
  </p:clrMapOvr>
  <p:transition spd="med">
    <p:zoom/>
  </p:transition>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2">
            <a:extLst>
              <a:ext uri="{FF2B5EF4-FFF2-40B4-BE49-F238E27FC236}">
                <a16:creationId xmlns:a16="http://schemas.microsoft.com/office/drawing/2014/main" id="{2E5ECE73-45A7-2149-ACD9-3A944D27C3D6}"/>
              </a:ext>
            </a:extLst>
          </p:cNvPr>
          <p:cNvSpPr>
            <a:spLocks noGrp="1" noChangeArrowheads="1"/>
          </p:cNvSpPr>
          <p:nvPr>
            <p:ph type="title"/>
          </p:nvPr>
        </p:nvSpPr>
        <p:spPr/>
        <p:txBody>
          <a:bodyPr/>
          <a:lstStyle/>
          <a:p>
            <a:pPr eaLnBrk="1" hangingPunct="1"/>
            <a:r>
              <a:rPr lang="zh-CN" altLang="en-US"/>
              <a:t>填空题</a:t>
            </a:r>
            <a:r>
              <a:rPr lang="en-US" altLang="zh-CN"/>
              <a:t>2</a:t>
            </a:r>
          </a:p>
        </p:txBody>
      </p:sp>
      <p:sp>
        <p:nvSpPr>
          <p:cNvPr id="180226" name="Rectangle 3">
            <a:extLst>
              <a:ext uri="{FF2B5EF4-FFF2-40B4-BE49-F238E27FC236}">
                <a16:creationId xmlns:a16="http://schemas.microsoft.com/office/drawing/2014/main" id="{B681A198-132B-34B6-8BCB-14BF1268F62B}"/>
              </a:ext>
            </a:extLst>
          </p:cNvPr>
          <p:cNvSpPr>
            <a:spLocks noGrp="1" noChangeArrowheads="1"/>
          </p:cNvSpPr>
          <p:nvPr>
            <p:ph idx="1"/>
          </p:nvPr>
        </p:nvSpPr>
        <p:spPr>
          <a:xfrm>
            <a:off x="827088" y="1196975"/>
            <a:ext cx="8012112" cy="5076825"/>
          </a:xfrm>
        </p:spPr>
        <p:txBody>
          <a:bodyPr/>
          <a:lstStyle/>
          <a:p>
            <a:pPr algn="just" eaLnBrk="1" hangingPunct="1"/>
            <a:r>
              <a:rPr lang="zh-CN" altLang="en-US">
                <a:latin typeface="Times New Roman" panose="02020603050405020304" pitchFamily="18" charset="0"/>
              </a:rPr>
              <a:t>把作业装入内存中随即进行地址变换的方式称为</a:t>
            </a:r>
            <a:r>
              <a:rPr lang="zh-CN" altLang="en-US"/>
              <a:t> </a:t>
            </a:r>
            <a:r>
              <a:rPr lang="zh-CN" altLang="en-US" u="sng"/>
              <a:t>  </a:t>
            </a:r>
            <a:r>
              <a:rPr lang="zh-CN" altLang="en-US" u="sng">
                <a:latin typeface="Times New Roman" panose="02020603050405020304" pitchFamily="18" charset="0"/>
              </a:rPr>
              <a:t>①</a:t>
            </a:r>
            <a:r>
              <a:rPr lang="zh-CN" altLang="en-US" u="sng"/>
              <a:t>  </a:t>
            </a:r>
            <a:r>
              <a:rPr lang="zh-CN" altLang="en-US"/>
              <a:t> </a:t>
            </a:r>
            <a:r>
              <a:rPr lang="zh-CN" altLang="en-US">
                <a:latin typeface="Times New Roman" panose="02020603050405020304" pitchFamily="18" charset="0"/>
              </a:rPr>
              <a:t>，而在作业执行期间，当访问到指令或数据时才进行地址变换的方式称为</a:t>
            </a:r>
            <a:r>
              <a:rPr lang="zh-CN" altLang="en-US"/>
              <a:t> </a:t>
            </a:r>
            <a:r>
              <a:rPr lang="zh-CN" altLang="en-US" u="sng"/>
              <a:t>  </a:t>
            </a:r>
            <a:r>
              <a:rPr lang="zh-CN" altLang="en-US" u="sng">
                <a:latin typeface="Times New Roman" panose="02020603050405020304" pitchFamily="18" charset="0"/>
              </a:rPr>
              <a:t>②</a:t>
            </a:r>
            <a:r>
              <a:rPr lang="zh-CN" altLang="en-US" u="sng"/>
              <a:t>  </a:t>
            </a:r>
            <a:r>
              <a:rPr lang="zh-CN" altLang="en-US"/>
              <a:t> </a:t>
            </a:r>
            <a:r>
              <a:rPr lang="zh-CN" altLang="en-US">
                <a:latin typeface="Times New Roman" panose="02020603050405020304" pitchFamily="18" charset="0"/>
              </a:rPr>
              <a:t>。</a:t>
            </a:r>
          </a:p>
          <a:p>
            <a:pPr algn="just" eaLnBrk="1" hangingPunct="1"/>
            <a:r>
              <a:rPr lang="zh-CN" altLang="en-US">
                <a:latin typeface="Times New Roman" panose="02020603050405020304" pitchFamily="18" charset="0"/>
              </a:rPr>
              <a:t>三种不连续内存管理方式是：</a:t>
            </a:r>
            <a:r>
              <a:rPr lang="zh-CN" altLang="en-US" u="sng"/>
              <a:t>  </a:t>
            </a:r>
            <a:r>
              <a:rPr lang="zh-CN" altLang="en-US" u="sng">
                <a:latin typeface="Times New Roman" panose="02020603050405020304" pitchFamily="18" charset="0"/>
              </a:rPr>
              <a:t>①</a:t>
            </a:r>
            <a:r>
              <a:rPr lang="zh-CN" altLang="en-US" u="sng"/>
              <a:t>  </a:t>
            </a:r>
            <a:r>
              <a:rPr lang="zh-CN" altLang="en-US">
                <a:latin typeface="Times New Roman" panose="02020603050405020304" pitchFamily="18" charset="0"/>
              </a:rPr>
              <a:t>、</a:t>
            </a:r>
            <a:r>
              <a:rPr lang="zh-CN" altLang="en-US" u="sng"/>
              <a:t>  </a:t>
            </a:r>
            <a:r>
              <a:rPr lang="zh-CN" altLang="en-US" u="sng">
                <a:latin typeface="Times New Roman" panose="02020603050405020304" pitchFamily="18" charset="0"/>
              </a:rPr>
              <a:t>②</a:t>
            </a:r>
            <a:r>
              <a:rPr lang="zh-CN" altLang="en-US" u="sng"/>
              <a:t>  </a:t>
            </a:r>
            <a:r>
              <a:rPr lang="zh-CN" altLang="en-US">
                <a:latin typeface="Times New Roman" panose="02020603050405020304" pitchFamily="18" charset="0"/>
              </a:rPr>
              <a:t>和</a:t>
            </a:r>
            <a:r>
              <a:rPr lang="zh-CN" altLang="en-US" u="sng"/>
              <a:t>  </a:t>
            </a:r>
            <a:r>
              <a:rPr lang="zh-CN" altLang="en-US" u="sng">
                <a:latin typeface="Times New Roman" panose="02020603050405020304" pitchFamily="18" charset="0"/>
              </a:rPr>
              <a:t>③</a:t>
            </a:r>
            <a:r>
              <a:rPr lang="zh-CN" altLang="en-US" u="sng"/>
              <a:t>  </a:t>
            </a:r>
            <a:r>
              <a:rPr lang="zh-CN" altLang="en-US">
                <a:latin typeface="Times New Roman" panose="02020603050405020304" pitchFamily="18" charset="0"/>
              </a:rPr>
              <a:t>。</a:t>
            </a:r>
            <a:endParaRPr lang="zh-CN" altLang="en-US"/>
          </a:p>
          <a:p>
            <a:pPr algn="just" eaLnBrk="1" hangingPunct="1"/>
            <a:r>
              <a:rPr lang="zh-CN" altLang="en-US">
                <a:latin typeface="Times New Roman" panose="02020603050405020304" pitchFamily="18" charset="0"/>
              </a:rPr>
              <a:t>分区存储管理可以分为：</a:t>
            </a:r>
            <a:r>
              <a:rPr lang="zh-CN" altLang="en-US" u="sng"/>
              <a:t>  </a:t>
            </a:r>
            <a:r>
              <a:rPr lang="zh-CN" altLang="en-US" u="sng">
                <a:latin typeface="Times New Roman" panose="02020603050405020304" pitchFamily="18" charset="0"/>
              </a:rPr>
              <a:t>①</a:t>
            </a:r>
            <a:r>
              <a:rPr lang="zh-CN" altLang="en-US" u="sng"/>
              <a:t>  </a:t>
            </a:r>
            <a:r>
              <a:rPr lang="zh-CN" altLang="en-US">
                <a:latin typeface="Times New Roman" panose="02020603050405020304" pitchFamily="18" charset="0"/>
              </a:rPr>
              <a:t>分区和</a:t>
            </a:r>
            <a:r>
              <a:rPr lang="zh-CN" altLang="en-US" u="sng"/>
              <a:t>  </a:t>
            </a:r>
            <a:r>
              <a:rPr lang="zh-CN" altLang="en-US" u="sng">
                <a:latin typeface="Times New Roman" panose="02020603050405020304" pitchFamily="18" charset="0"/>
              </a:rPr>
              <a:t>②</a:t>
            </a:r>
            <a:r>
              <a:rPr lang="zh-CN" altLang="en-US" u="sng"/>
              <a:t>  </a:t>
            </a:r>
            <a:r>
              <a:rPr lang="zh-CN" altLang="en-US"/>
              <a:t>分区。</a:t>
            </a:r>
          </a:p>
        </p:txBody>
      </p:sp>
    </p:spTree>
    <p:extLst>
      <p:ext uri="{BB962C8B-B14F-4D97-AF65-F5344CB8AC3E}">
        <p14:creationId xmlns:p14="http://schemas.microsoft.com/office/powerpoint/2010/main" val="3427961204"/>
      </p:ext>
    </p:extLst>
  </p:cSld>
  <p:clrMapOvr>
    <a:masterClrMapping/>
  </p:clrMapOvr>
  <p:transition spd="med">
    <p:zoom/>
  </p:transition>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a:extLst>
              <a:ext uri="{FF2B5EF4-FFF2-40B4-BE49-F238E27FC236}">
                <a16:creationId xmlns:a16="http://schemas.microsoft.com/office/drawing/2014/main" id="{B5BB2127-7FFF-A21E-8588-168121FEFFEF}"/>
              </a:ext>
            </a:extLst>
          </p:cNvPr>
          <p:cNvSpPr>
            <a:spLocks noGrp="1" noChangeArrowheads="1"/>
          </p:cNvSpPr>
          <p:nvPr>
            <p:ph type="title"/>
          </p:nvPr>
        </p:nvSpPr>
        <p:spPr/>
        <p:txBody>
          <a:bodyPr/>
          <a:lstStyle/>
          <a:p>
            <a:pPr eaLnBrk="1" hangingPunct="1"/>
            <a:r>
              <a:rPr lang="zh-CN" altLang="en-US"/>
              <a:t>填空题</a:t>
            </a:r>
            <a:r>
              <a:rPr lang="en-US" altLang="zh-CN"/>
              <a:t>3</a:t>
            </a:r>
          </a:p>
        </p:txBody>
      </p:sp>
      <p:sp>
        <p:nvSpPr>
          <p:cNvPr id="181250" name="Rectangle 3">
            <a:extLst>
              <a:ext uri="{FF2B5EF4-FFF2-40B4-BE49-F238E27FC236}">
                <a16:creationId xmlns:a16="http://schemas.microsoft.com/office/drawing/2014/main" id="{007C361F-F510-E028-C670-D0A72C643928}"/>
              </a:ext>
            </a:extLst>
          </p:cNvPr>
          <p:cNvSpPr>
            <a:spLocks noGrp="1" noChangeArrowheads="1"/>
          </p:cNvSpPr>
          <p:nvPr>
            <p:ph idx="1"/>
          </p:nvPr>
        </p:nvSpPr>
        <p:spPr>
          <a:xfrm>
            <a:off x="685800" y="1552575"/>
            <a:ext cx="3973513" cy="4924425"/>
          </a:xfrm>
        </p:spPr>
        <p:txBody>
          <a:bodyPr/>
          <a:lstStyle/>
          <a:p>
            <a:pPr algn="just" eaLnBrk="1" hangingPunct="1"/>
            <a:r>
              <a:rPr lang="zh-CN" altLang="en-US">
                <a:latin typeface="Times New Roman" panose="02020603050405020304" pitchFamily="18" charset="0"/>
              </a:rPr>
              <a:t>对右图所示的内存分配情况，若要申请</a:t>
            </a:r>
            <a:r>
              <a:rPr lang="zh-CN" altLang="en-US"/>
              <a:t>30</a:t>
            </a:r>
            <a:r>
              <a:rPr lang="en-US" altLang="zh-CN"/>
              <a:t>K</a:t>
            </a:r>
            <a:r>
              <a:rPr lang="zh-CN" altLang="en-US">
                <a:latin typeface="Times New Roman" panose="02020603050405020304" pitchFamily="18" charset="0"/>
              </a:rPr>
              <a:t>的存储空间，使首地址最大的分配策略是</a:t>
            </a:r>
            <a:r>
              <a:rPr lang="zh-CN" altLang="en-US"/>
              <a:t> _____ </a:t>
            </a:r>
            <a:r>
              <a:rPr lang="zh-CN" altLang="en-US">
                <a:latin typeface="Times New Roman" panose="02020603050405020304" pitchFamily="18" charset="0"/>
              </a:rPr>
              <a:t>。</a:t>
            </a:r>
            <a:endParaRPr lang="zh-CN" altLang="en-US"/>
          </a:p>
        </p:txBody>
      </p:sp>
      <p:sp>
        <p:nvSpPr>
          <p:cNvPr id="181251" name="Rectangle 4">
            <a:extLst>
              <a:ext uri="{FF2B5EF4-FFF2-40B4-BE49-F238E27FC236}">
                <a16:creationId xmlns:a16="http://schemas.microsoft.com/office/drawing/2014/main" id="{6045971B-56DD-A3F3-320A-436728B63509}"/>
              </a:ext>
            </a:extLst>
          </p:cNvPr>
          <p:cNvSpPr>
            <a:spLocks noChangeArrowheads="1"/>
          </p:cNvSpPr>
          <p:nvPr/>
        </p:nvSpPr>
        <p:spPr bwMode="auto">
          <a:xfrm>
            <a:off x="6454775" y="2046288"/>
            <a:ext cx="1982788" cy="4000500"/>
          </a:xfrm>
          <a:prstGeom prst="rect">
            <a:avLst/>
          </a:prstGeom>
          <a:solidFill>
            <a:srgbClr val="FFFFFF"/>
          </a:solidFill>
          <a:ln w="25400">
            <a:solidFill>
              <a:srgbClr val="000000"/>
            </a:solidFill>
            <a:miter lim="800000"/>
            <a:headEnd/>
            <a:tailEnd/>
          </a:ln>
        </p:spPr>
        <p:txBody>
          <a:bodyPr lIns="0" tIns="0" rIns="0" bIns="0"/>
          <a:lstStyle/>
          <a:p>
            <a:pPr algn="ctr" eaLnBrk="0" hangingPunct="0"/>
            <a:r>
              <a:rPr lang="zh-CN" altLang="en-US">
                <a:latin typeface="Times New Roman" panose="02020603050405020304" pitchFamily="18" charset="0"/>
              </a:rPr>
              <a:t>占用</a:t>
            </a:r>
          </a:p>
          <a:p>
            <a:pPr algn="ctr" eaLnBrk="0" hangingPunct="0"/>
            <a:endParaRPr lang="zh-CN" altLang="en-US">
              <a:latin typeface="Times New Roman" panose="02020603050405020304" pitchFamily="18" charset="0"/>
            </a:endParaRPr>
          </a:p>
          <a:p>
            <a:pPr algn="ctr" eaLnBrk="0" hangingPunct="0"/>
            <a:endParaRPr lang="zh-CN" altLang="en-US" sz="1400">
              <a:latin typeface="Times New Roman" panose="02020603050405020304" pitchFamily="18" charset="0"/>
            </a:endParaRPr>
          </a:p>
          <a:p>
            <a:pPr algn="ctr" eaLnBrk="0" hangingPunct="0"/>
            <a:r>
              <a:rPr lang="zh-CN" altLang="en-US">
                <a:latin typeface="Times New Roman" panose="02020603050405020304" pitchFamily="18" charset="0"/>
              </a:rPr>
              <a:t>占用</a:t>
            </a:r>
          </a:p>
          <a:p>
            <a:pPr algn="ctr" eaLnBrk="0" hangingPunct="0"/>
            <a:endParaRPr lang="zh-CN" altLang="en-US">
              <a:latin typeface="Times New Roman" panose="02020603050405020304" pitchFamily="18" charset="0"/>
            </a:endParaRPr>
          </a:p>
          <a:p>
            <a:pPr algn="ctr" eaLnBrk="0" hangingPunct="0"/>
            <a:endParaRPr lang="zh-CN" altLang="en-US" sz="1200">
              <a:latin typeface="Times New Roman" panose="02020603050405020304" pitchFamily="18" charset="0"/>
            </a:endParaRPr>
          </a:p>
          <a:p>
            <a:pPr algn="ctr" eaLnBrk="0" hangingPunct="0"/>
            <a:r>
              <a:rPr lang="zh-CN" altLang="en-US">
                <a:latin typeface="Times New Roman" panose="02020603050405020304" pitchFamily="18" charset="0"/>
              </a:rPr>
              <a:t>占用</a:t>
            </a:r>
          </a:p>
          <a:p>
            <a:pPr algn="ctr" eaLnBrk="0" hangingPunct="0"/>
            <a:endParaRPr lang="zh-CN" altLang="en-US">
              <a:latin typeface="Times New Roman" panose="02020603050405020304" pitchFamily="18" charset="0"/>
            </a:endParaRPr>
          </a:p>
          <a:p>
            <a:pPr algn="ctr" eaLnBrk="0" hangingPunct="0"/>
            <a:endParaRPr lang="zh-CN" altLang="en-US" sz="1000">
              <a:latin typeface="Times New Roman" panose="02020603050405020304" pitchFamily="18" charset="0"/>
            </a:endParaRPr>
          </a:p>
          <a:p>
            <a:pPr algn="ctr" eaLnBrk="0" hangingPunct="0"/>
            <a:r>
              <a:rPr lang="zh-CN" altLang="en-US">
                <a:latin typeface="Times New Roman" panose="02020603050405020304" pitchFamily="18" charset="0"/>
              </a:rPr>
              <a:t>占用</a:t>
            </a:r>
          </a:p>
          <a:p>
            <a:pPr algn="ctr" eaLnBrk="0" hangingPunct="0"/>
            <a:endParaRPr lang="zh-CN" altLang="en-US">
              <a:latin typeface="Times New Roman" panose="02020603050405020304" pitchFamily="18" charset="0"/>
            </a:endParaRPr>
          </a:p>
          <a:p>
            <a:pPr algn="ctr" eaLnBrk="0" hangingPunct="0"/>
            <a:endParaRPr lang="zh-CN" altLang="en-US">
              <a:latin typeface="Times New Roman" panose="02020603050405020304" pitchFamily="18" charset="0"/>
            </a:endParaRPr>
          </a:p>
        </p:txBody>
      </p:sp>
      <p:sp>
        <p:nvSpPr>
          <p:cNvPr id="181252" name="Rectangle 5">
            <a:extLst>
              <a:ext uri="{FF2B5EF4-FFF2-40B4-BE49-F238E27FC236}">
                <a16:creationId xmlns:a16="http://schemas.microsoft.com/office/drawing/2014/main" id="{CE60A405-F11B-C867-D5D2-FD64F555CE74}"/>
              </a:ext>
            </a:extLst>
          </p:cNvPr>
          <p:cNvSpPr>
            <a:spLocks noChangeArrowheads="1"/>
          </p:cNvSpPr>
          <p:nvPr/>
        </p:nvSpPr>
        <p:spPr bwMode="auto">
          <a:xfrm>
            <a:off x="5257800" y="1905000"/>
            <a:ext cx="1135063" cy="4343400"/>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r" eaLnBrk="0" hangingPunct="0"/>
            <a:r>
              <a:rPr lang="zh-CN" altLang="en-US">
                <a:latin typeface="Times New Roman" panose="02020603050405020304" pitchFamily="18" charset="0"/>
              </a:rPr>
              <a:t>0</a:t>
            </a:r>
          </a:p>
          <a:p>
            <a:pPr algn="r" eaLnBrk="0" hangingPunct="0"/>
            <a:endParaRPr lang="zh-CN" altLang="en-US" sz="800">
              <a:latin typeface="Times New Roman" panose="02020603050405020304" pitchFamily="18" charset="0"/>
            </a:endParaRPr>
          </a:p>
          <a:p>
            <a:pPr algn="r" eaLnBrk="0" hangingPunct="0"/>
            <a:r>
              <a:rPr lang="zh-CN" altLang="en-US">
                <a:latin typeface="Times New Roman" panose="02020603050405020304" pitchFamily="18" charset="0"/>
              </a:rPr>
              <a:t>100</a:t>
            </a:r>
            <a:r>
              <a:rPr lang="en-US" altLang="zh-CN">
                <a:latin typeface="Times New Roman" panose="02020603050405020304" pitchFamily="18" charset="0"/>
              </a:rPr>
              <a:t>K</a:t>
            </a:r>
          </a:p>
          <a:p>
            <a:pPr algn="r" eaLnBrk="0" hangingPunct="0"/>
            <a:endParaRPr lang="en-US" altLang="zh-CN" sz="800">
              <a:latin typeface="Times New Roman" panose="02020603050405020304" pitchFamily="18" charset="0"/>
            </a:endParaRPr>
          </a:p>
          <a:p>
            <a:pPr algn="r" eaLnBrk="0" hangingPunct="0"/>
            <a:r>
              <a:rPr lang="en-US" altLang="zh-CN">
                <a:latin typeface="Times New Roman" panose="02020603050405020304" pitchFamily="18" charset="0"/>
              </a:rPr>
              <a:t>160K</a:t>
            </a:r>
          </a:p>
          <a:p>
            <a:pPr algn="r" eaLnBrk="0" hangingPunct="0"/>
            <a:endParaRPr lang="en-US" altLang="zh-CN" sz="800">
              <a:latin typeface="Times New Roman" panose="02020603050405020304" pitchFamily="18" charset="0"/>
            </a:endParaRPr>
          </a:p>
          <a:p>
            <a:pPr algn="r" eaLnBrk="0" hangingPunct="0"/>
            <a:r>
              <a:rPr lang="en-US" altLang="zh-CN">
                <a:latin typeface="Times New Roman" panose="02020603050405020304" pitchFamily="18" charset="0"/>
              </a:rPr>
              <a:t>200K</a:t>
            </a:r>
          </a:p>
          <a:p>
            <a:pPr algn="r" eaLnBrk="0" hangingPunct="0"/>
            <a:r>
              <a:rPr lang="en-US" altLang="zh-CN">
                <a:latin typeface="Times New Roman" panose="02020603050405020304" pitchFamily="18" charset="0"/>
              </a:rPr>
              <a:t>320K</a:t>
            </a:r>
          </a:p>
          <a:p>
            <a:pPr algn="r" eaLnBrk="0" hangingPunct="0"/>
            <a:endParaRPr lang="en-US" altLang="zh-CN" sz="800">
              <a:latin typeface="Times New Roman" panose="02020603050405020304" pitchFamily="18" charset="0"/>
            </a:endParaRPr>
          </a:p>
          <a:p>
            <a:pPr algn="r" eaLnBrk="0" hangingPunct="0"/>
            <a:r>
              <a:rPr lang="en-US" altLang="zh-CN">
                <a:latin typeface="Times New Roman" panose="02020603050405020304" pitchFamily="18" charset="0"/>
              </a:rPr>
              <a:t>350K</a:t>
            </a:r>
          </a:p>
          <a:p>
            <a:pPr algn="r" eaLnBrk="0" hangingPunct="0"/>
            <a:r>
              <a:rPr lang="en-US" altLang="zh-CN">
                <a:latin typeface="Times New Roman" panose="02020603050405020304" pitchFamily="18" charset="0"/>
              </a:rPr>
              <a:t>400K</a:t>
            </a:r>
          </a:p>
          <a:p>
            <a:pPr algn="r" eaLnBrk="0" hangingPunct="0"/>
            <a:endParaRPr lang="en-US" altLang="zh-CN" sz="800">
              <a:latin typeface="Times New Roman" panose="02020603050405020304" pitchFamily="18" charset="0"/>
            </a:endParaRPr>
          </a:p>
          <a:p>
            <a:pPr algn="r" eaLnBrk="0" hangingPunct="0"/>
            <a:r>
              <a:rPr lang="en-US" altLang="zh-CN">
                <a:latin typeface="Times New Roman" panose="02020603050405020304" pitchFamily="18" charset="0"/>
              </a:rPr>
              <a:t>410K</a:t>
            </a:r>
          </a:p>
          <a:p>
            <a:pPr algn="r" eaLnBrk="0" hangingPunct="0"/>
            <a:endParaRPr lang="en-US" altLang="zh-CN">
              <a:latin typeface="Times New Roman" panose="02020603050405020304" pitchFamily="18" charset="0"/>
            </a:endParaRPr>
          </a:p>
          <a:p>
            <a:pPr algn="r" eaLnBrk="0" hangingPunct="0"/>
            <a:r>
              <a:rPr lang="en-US" altLang="zh-CN">
                <a:latin typeface="Times New Roman" panose="02020603050405020304" pitchFamily="18" charset="0"/>
              </a:rPr>
              <a:t>600K－1</a:t>
            </a:r>
          </a:p>
        </p:txBody>
      </p:sp>
      <p:sp>
        <p:nvSpPr>
          <p:cNvPr id="181253" name="Line 6">
            <a:extLst>
              <a:ext uri="{FF2B5EF4-FFF2-40B4-BE49-F238E27FC236}">
                <a16:creationId xmlns:a16="http://schemas.microsoft.com/office/drawing/2014/main" id="{72168A9D-D990-4BFC-C129-E43189A58F7D}"/>
              </a:ext>
            </a:extLst>
          </p:cNvPr>
          <p:cNvSpPr>
            <a:spLocks noChangeShapeType="1"/>
          </p:cNvSpPr>
          <p:nvPr/>
        </p:nvSpPr>
        <p:spPr bwMode="auto">
          <a:xfrm>
            <a:off x="6454775" y="2589213"/>
            <a:ext cx="1982788" cy="1587"/>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1254" name="Line 7">
            <a:extLst>
              <a:ext uri="{FF2B5EF4-FFF2-40B4-BE49-F238E27FC236}">
                <a16:creationId xmlns:a16="http://schemas.microsoft.com/office/drawing/2014/main" id="{A0F90325-9C7C-64BD-4047-2A200F011F9E}"/>
              </a:ext>
            </a:extLst>
          </p:cNvPr>
          <p:cNvSpPr>
            <a:spLocks noChangeShapeType="1"/>
          </p:cNvSpPr>
          <p:nvPr/>
        </p:nvSpPr>
        <p:spPr bwMode="auto">
          <a:xfrm flipV="1">
            <a:off x="6473825" y="3048000"/>
            <a:ext cx="19843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1255" name="Line 8">
            <a:extLst>
              <a:ext uri="{FF2B5EF4-FFF2-40B4-BE49-F238E27FC236}">
                <a16:creationId xmlns:a16="http://schemas.microsoft.com/office/drawing/2014/main" id="{F4CA6A8C-B7E1-BBD1-9822-BEB2A7680010}"/>
              </a:ext>
            </a:extLst>
          </p:cNvPr>
          <p:cNvSpPr>
            <a:spLocks noChangeShapeType="1"/>
          </p:cNvSpPr>
          <p:nvPr/>
        </p:nvSpPr>
        <p:spPr bwMode="auto">
          <a:xfrm>
            <a:off x="6446838" y="3505200"/>
            <a:ext cx="19843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1256" name="Line 9">
            <a:extLst>
              <a:ext uri="{FF2B5EF4-FFF2-40B4-BE49-F238E27FC236}">
                <a16:creationId xmlns:a16="http://schemas.microsoft.com/office/drawing/2014/main" id="{63F251EF-089C-0A12-AAEC-697DA410875B}"/>
              </a:ext>
            </a:extLst>
          </p:cNvPr>
          <p:cNvSpPr>
            <a:spLocks noChangeShapeType="1"/>
          </p:cNvSpPr>
          <p:nvPr/>
        </p:nvSpPr>
        <p:spPr bwMode="auto">
          <a:xfrm flipV="1">
            <a:off x="6454775" y="3886200"/>
            <a:ext cx="19843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1257" name="Line 10">
            <a:extLst>
              <a:ext uri="{FF2B5EF4-FFF2-40B4-BE49-F238E27FC236}">
                <a16:creationId xmlns:a16="http://schemas.microsoft.com/office/drawing/2014/main" id="{8DFABC02-E916-03F8-1112-11F1DED613DB}"/>
              </a:ext>
            </a:extLst>
          </p:cNvPr>
          <p:cNvSpPr>
            <a:spLocks noChangeShapeType="1"/>
          </p:cNvSpPr>
          <p:nvPr/>
        </p:nvSpPr>
        <p:spPr bwMode="auto">
          <a:xfrm>
            <a:off x="6472238" y="4419600"/>
            <a:ext cx="1982787"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1258" name="Line 11">
            <a:extLst>
              <a:ext uri="{FF2B5EF4-FFF2-40B4-BE49-F238E27FC236}">
                <a16:creationId xmlns:a16="http://schemas.microsoft.com/office/drawing/2014/main" id="{4EDF16E2-147E-6810-0C20-8CDFA6E6E734}"/>
              </a:ext>
            </a:extLst>
          </p:cNvPr>
          <p:cNvSpPr>
            <a:spLocks noChangeShapeType="1"/>
          </p:cNvSpPr>
          <p:nvPr/>
        </p:nvSpPr>
        <p:spPr bwMode="auto">
          <a:xfrm>
            <a:off x="6448425" y="5257800"/>
            <a:ext cx="19843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81259" name="Line 12">
            <a:extLst>
              <a:ext uri="{FF2B5EF4-FFF2-40B4-BE49-F238E27FC236}">
                <a16:creationId xmlns:a16="http://schemas.microsoft.com/office/drawing/2014/main" id="{E2F2114C-58CE-D269-9D8E-2A771477A1AE}"/>
              </a:ext>
            </a:extLst>
          </p:cNvPr>
          <p:cNvSpPr>
            <a:spLocks noChangeShapeType="1"/>
          </p:cNvSpPr>
          <p:nvPr/>
        </p:nvSpPr>
        <p:spPr bwMode="auto">
          <a:xfrm flipV="1">
            <a:off x="6438900" y="4800600"/>
            <a:ext cx="19843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095943574"/>
      </p:ext>
    </p:extLst>
  </p:cSld>
  <p:clrMapOvr>
    <a:masterClrMapping/>
  </p:clrMapOvr>
  <p:transition spd="med">
    <p:zoom/>
  </p:transition>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68B48A22-E135-C980-14C4-2335735B451E}"/>
              </a:ext>
            </a:extLst>
          </p:cNvPr>
          <p:cNvSpPr>
            <a:spLocks noGrp="1" noChangeArrowheads="1"/>
          </p:cNvSpPr>
          <p:nvPr>
            <p:ph type="title"/>
          </p:nvPr>
        </p:nvSpPr>
        <p:spPr/>
        <p:txBody>
          <a:bodyPr/>
          <a:lstStyle/>
          <a:p>
            <a:pPr eaLnBrk="1" hangingPunct="1"/>
            <a:r>
              <a:rPr lang="zh-CN" altLang="en-US" dirty="0"/>
              <a:t>填空题</a:t>
            </a:r>
            <a:r>
              <a:rPr lang="en-US" altLang="zh-CN" dirty="0"/>
              <a:t>4</a:t>
            </a:r>
          </a:p>
        </p:txBody>
      </p:sp>
      <p:sp>
        <p:nvSpPr>
          <p:cNvPr id="109571" name="Rectangle 3">
            <a:extLst>
              <a:ext uri="{FF2B5EF4-FFF2-40B4-BE49-F238E27FC236}">
                <a16:creationId xmlns:a16="http://schemas.microsoft.com/office/drawing/2014/main" id="{FCD4D580-0CE7-6A2B-BF1A-3D920B2DBF82}"/>
              </a:ext>
            </a:extLst>
          </p:cNvPr>
          <p:cNvSpPr>
            <a:spLocks noGrp="1" noChangeArrowheads="1"/>
          </p:cNvSpPr>
          <p:nvPr>
            <p:ph idx="1"/>
          </p:nvPr>
        </p:nvSpPr>
        <p:spPr>
          <a:xfrm>
            <a:off x="1131888" y="1196975"/>
            <a:ext cx="8012112" cy="5076825"/>
          </a:xfrm>
        </p:spPr>
        <p:txBody>
          <a:bodyPr/>
          <a:lstStyle/>
          <a:p>
            <a:pPr algn="just" eaLnBrk="1" hangingPunct="1"/>
            <a:r>
              <a:rPr lang="zh-CN" altLang="en-US">
                <a:latin typeface="Times New Roman" panose="02020603050405020304" pitchFamily="18" charset="0"/>
              </a:rPr>
              <a:t>在请求页式存储管理系统中，常用的页面淘汰算法有：</a:t>
            </a:r>
            <a:r>
              <a:rPr lang="zh-CN" altLang="en-US" u="sng"/>
              <a:t>  ①  </a:t>
            </a:r>
            <a:r>
              <a:rPr lang="zh-CN" altLang="en-US">
                <a:latin typeface="Times New Roman" panose="02020603050405020304" pitchFamily="18" charset="0"/>
              </a:rPr>
              <a:t>，选择淘汰不再使用或最远的将来才使用的页；</a:t>
            </a:r>
            <a:r>
              <a:rPr lang="zh-CN" altLang="en-US" u="sng"/>
              <a:t>  ②  </a:t>
            </a:r>
            <a:r>
              <a:rPr lang="zh-CN" altLang="en-US">
                <a:latin typeface="Times New Roman" panose="02020603050405020304" pitchFamily="18" charset="0"/>
              </a:rPr>
              <a:t>，选择淘汰在内存驻留时间最长的页。</a:t>
            </a:r>
          </a:p>
          <a:p>
            <a:pPr algn="just" eaLnBrk="1" hangingPunct="1"/>
            <a:r>
              <a:rPr lang="zh-CN" altLang="en-US">
                <a:latin typeface="Times New Roman" panose="02020603050405020304" pitchFamily="18" charset="0"/>
              </a:rPr>
              <a:t>程序运行时的局部性表现为：</a:t>
            </a:r>
            <a:r>
              <a:rPr lang="zh-CN" altLang="en-US" u="sng"/>
              <a:t>  </a:t>
            </a:r>
            <a:r>
              <a:rPr lang="zh-CN" altLang="en-US" u="sng">
                <a:latin typeface="Times New Roman" panose="02020603050405020304" pitchFamily="18" charset="0"/>
              </a:rPr>
              <a:t>①</a:t>
            </a:r>
            <a:r>
              <a:rPr lang="zh-CN" altLang="en-US" u="sng"/>
              <a:t>  </a:t>
            </a:r>
            <a:r>
              <a:rPr lang="zh-CN" altLang="en-US">
                <a:latin typeface="Times New Roman" panose="02020603050405020304" pitchFamily="18" charset="0"/>
              </a:rPr>
              <a:t>和</a:t>
            </a:r>
            <a:r>
              <a:rPr lang="zh-CN" altLang="en-US" u="sng"/>
              <a:t>  </a:t>
            </a:r>
            <a:r>
              <a:rPr lang="zh-CN" altLang="en-US" u="sng">
                <a:latin typeface="Times New Roman" panose="02020603050405020304" pitchFamily="18" charset="0"/>
              </a:rPr>
              <a:t>②</a:t>
            </a:r>
            <a:r>
              <a:rPr lang="zh-CN" altLang="en-US" u="sng"/>
              <a:t>  </a:t>
            </a:r>
            <a:r>
              <a:rPr lang="zh-CN" altLang="en-US"/>
              <a:t>。</a:t>
            </a:r>
            <a:endParaRPr lang="en-US" altLang="zh-CN"/>
          </a:p>
          <a:p>
            <a:pPr algn="just" eaLnBrk="1" hangingPunct="1"/>
            <a:r>
              <a:rPr lang="zh-CN" altLang="en-US"/>
              <a:t>虚拟存储器的特点是</a:t>
            </a:r>
            <a:r>
              <a:rPr lang="zh-CN" altLang="en-US" u="sng"/>
              <a:t>  ①  </a:t>
            </a:r>
            <a:r>
              <a:rPr lang="zh-CN" altLang="en-US"/>
              <a:t> 、</a:t>
            </a:r>
            <a:r>
              <a:rPr lang="zh-CN" altLang="en-US" u="sng"/>
              <a:t>  ②  </a:t>
            </a:r>
            <a:r>
              <a:rPr lang="zh-CN" altLang="en-US"/>
              <a:t> 、</a:t>
            </a:r>
            <a:r>
              <a:rPr lang="zh-CN" altLang="en-US" u="sng"/>
              <a:t>  ③  </a:t>
            </a:r>
            <a:r>
              <a:rPr lang="zh-CN" altLang="en-US"/>
              <a:t> 、</a:t>
            </a:r>
            <a:r>
              <a:rPr lang="zh-CN" altLang="en-US" u="sng"/>
              <a:t>  ④  </a:t>
            </a:r>
            <a:r>
              <a:rPr lang="zh-CN" altLang="en-US"/>
              <a:t> 。</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animEffect transition="in" filter="checkerboard(across)">
                                      <p:cBhvr>
                                        <p:cTn id="7" dur="500"/>
                                        <p:tgtEl>
                                          <p:spTgt spid="1095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09571">
                                            <p:txEl>
                                              <p:pRg st="1" end="1"/>
                                            </p:txEl>
                                          </p:spTgt>
                                        </p:tgtEl>
                                        <p:attrNameLst>
                                          <p:attrName>style.visibility</p:attrName>
                                        </p:attrNameLst>
                                      </p:cBhvr>
                                      <p:to>
                                        <p:strVal val="visible"/>
                                      </p:to>
                                    </p:set>
                                    <p:animEffect transition="in" filter="checkerboard(across)">
                                      <p:cBhvr>
                                        <p:cTn id="12" dur="500"/>
                                        <p:tgtEl>
                                          <p:spTgt spid="1095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09571">
                                            <p:txEl>
                                              <p:pRg st="2" end="2"/>
                                            </p:txEl>
                                          </p:spTgt>
                                        </p:tgtEl>
                                        <p:attrNameLst>
                                          <p:attrName>style.visibility</p:attrName>
                                        </p:attrNameLst>
                                      </p:cBhvr>
                                      <p:to>
                                        <p:strVal val="visible"/>
                                      </p:to>
                                    </p:set>
                                    <p:animEffect transition="in" filter="checkerboard(across)">
                                      <p:cBhvr>
                                        <p:cTn id="17" dur="500"/>
                                        <p:tgtEl>
                                          <p:spTgt spid="1095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p:bld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标题 1">
            <a:extLst>
              <a:ext uri="{FF2B5EF4-FFF2-40B4-BE49-F238E27FC236}">
                <a16:creationId xmlns:a16="http://schemas.microsoft.com/office/drawing/2014/main" id="{DDB3D942-7599-4BCC-5E5B-0716306B52A8}"/>
              </a:ext>
            </a:extLst>
          </p:cNvPr>
          <p:cNvSpPr>
            <a:spLocks noGrp="1" noChangeArrowheads="1"/>
          </p:cNvSpPr>
          <p:nvPr>
            <p:ph type="title"/>
          </p:nvPr>
        </p:nvSpPr>
        <p:spPr/>
        <p:txBody>
          <a:bodyPr/>
          <a:lstStyle/>
          <a:p>
            <a:r>
              <a:rPr lang="zh-CN" altLang="en-US" dirty="0"/>
              <a:t>填空题</a:t>
            </a:r>
            <a:r>
              <a:rPr lang="en-US" altLang="zh-CN" dirty="0"/>
              <a:t>5</a:t>
            </a:r>
            <a:endParaRPr lang="zh-CN" altLang="en-US" dirty="0"/>
          </a:p>
        </p:txBody>
      </p:sp>
      <p:sp>
        <p:nvSpPr>
          <p:cNvPr id="110595" name="内容占位符 2">
            <a:extLst>
              <a:ext uri="{FF2B5EF4-FFF2-40B4-BE49-F238E27FC236}">
                <a16:creationId xmlns:a16="http://schemas.microsoft.com/office/drawing/2014/main" id="{C673C8D1-C952-6793-0CC8-F01A13F9EBFB}"/>
              </a:ext>
            </a:extLst>
          </p:cNvPr>
          <p:cNvSpPr>
            <a:spLocks noGrp="1" noChangeArrowheads="1"/>
          </p:cNvSpPr>
          <p:nvPr>
            <p:ph idx="1"/>
          </p:nvPr>
        </p:nvSpPr>
        <p:spPr/>
        <p:txBody>
          <a:bodyPr/>
          <a:lstStyle/>
          <a:p>
            <a:r>
              <a:rPr lang="zh-CN" altLang="en-US"/>
              <a:t>所谓虚拟存储器是指具有</a:t>
            </a:r>
            <a:r>
              <a:rPr lang="zh-CN" altLang="en-US" u="sng"/>
              <a:t>  ①  </a:t>
            </a:r>
            <a:r>
              <a:rPr lang="zh-CN" altLang="en-US"/>
              <a:t>和</a:t>
            </a:r>
            <a:r>
              <a:rPr lang="zh-CN" altLang="en-US" u="sng"/>
              <a:t>  ②  </a:t>
            </a:r>
            <a:r>
              <a:rPr lang="zh-CN" altLang="en-US"/>
              <a:t>功能，能从逻辑上对内存容量进行扩充的一种存储器系统。</a:t>
            </a:r>
            <a:endParaRPr lang="en-US" altLang="zh-CN"/>
          </a:p>
          <a:p>
            <a:r>
              <a:rPr lang="zh-CN" altLang="en-US"/>
              <a:t>虚拟存储器的实现方法有三种</a:t>
            </a:r>
            <a:r>
              <a:rPr lang="zh-CN" altLang="en-US" u="sng"/>
              <a:t>  ①  </a:t>
            </a:r>
            <a:r>
              <a:rPr lang="zh-CN" altLang="en-US"/>
              <a:t> 、</a:t>
            </a:r>
            <a:r>
              <a:rPr lang="zh-CN" altLang="en-US" u="sng"/>
              <a:t>    ②  </a:t>
            </a:r>
            <a:r>
              <a:rPr lang="zh-CN" altLang="en-US"/>
              <a:t> 和</a:t>
            </a:r>
            <a:r>
              <a:rPr lang="zh-CN" altLang="en-US" u="sng"/>
              <a:t>  ③  </a:t>
            </a:r>
            <a:r>
              <a:rPr lang="zh-CN" altLang="en-US"/>
              <a:t> 。</a:t>
            </a:r>
          </a:p>
          <a:p>
            <a:r>
              <a:rPr lang="zh-CN" altLang="en-US"/>
              <a:t>在请求页式系统中，当访问的页不在主存时，由</a:t>
            </a:r>
            <a:r>
              <a:rPr lang="zh-CN" altLang="en-US" u="sng"/>
              <a:t>  ①  </a:t>
            </a:r>
            <a:r>
              <a:rPr lang="zh-CN" altLang="en-US"/>
              <a:t>将该页调入内存；当主存无空闲块时，必须</a:t>
            </a:r>
            <a:r>
              <a:rPr lang="zh-CN" altLang="en-US" u="sng"/>
              <a:t>  ②  </a:t>
            </a:r>
            <a:r>
              <a:rPr lang="zh-CN" altLang="en-US"/>
              <a:t>一页。</a:t>
            </a:r>
          </a:p>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0595">
                                            <p:txEl>
                                              <p:pRg st="0" end="0"/>
                                            </p:txEl>
                                          </p:spTgt>
                                        </p:tgtEl>
                                        <p:attrNameLst>
                                          <p:attrName>style.visibility</p:attrName>
                                        </p:attrNameLst>
                                      </p:cBhvr>
                                      <p:to>
                                        <p:strVal val="visible"/>
                                      </p:to>
                                    </p:set>
                                    <p:animEffect transition="in" filter="checkerboard(across)">
                                      <p:cBhvr>
                                        <p:cTn id="7" dur="500"/>
                                        <p:tgtEl>
                                          <p:spTgt spid="1105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10595">
                                            <p:txEl>
                                              <p:pRg st="1" end="1"/>
                                            </p:txEl>
                                          </p:spTgt>
                                        </p:tgtEl>
                                        <p:attrNameLst>
                                          <p:attrName>style.visibility</p:attrName>
                                        </p:attrNameLst>
                                      </p:cBhvr>
                                      <p:to>
                                        <p:strVal val="visible"/>
                                      </p:to>
                                    </p:set>
                                    <p:animEffect transition="in" filter="checkerboard(across)">
                                      <p:cBhvr>
                                        <p:cTn id="12" dur="500"/>
                                        <p:tgtEl>
                                          <p:spTgt spid="1105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10595">
                                            <p:txEl>
                                              <p:pRg st="2" end="2"/>
                                            </p:txEl>
                                          </p:spTgt>
                                        </p:tgtEl>
                                        <p:attrNameLst>
                                          <p:attrName>style.visibility</p:attrName>
                                        </p:attrNameLst>
                                      </p:cBhvr>
                                      <p:to>
                                        <p:strVal val="visible"/>
                                      </p:to>
                                    </p:set>
                                    <p:animEffect transition="in" filter="checkerboard(across)">
                                      <p:cBhvr>
                                        <p:cTn id="17" dur="500"/>
                                        <p:tgtEl>
                                          <p:spTgt spid="1105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2">
            <a:extLst>
              <a:ext uri="{FF2B5EF4-FFF2-40B4-BE49-F238E27FC236}">
                <a16:creationId xmlns:a16="http://schemas.microsoft.com/office/drawing/2014/main" id="{6504CDC7-0B99-5248-0717-FBF1D40CC433}"/>
              </a:ext>
            </a:extLst>
          </p:cNvPr>
          <p:cNvSpPr>
            <a:spLocks noGrp="1" noChangeArrowheads="1"/>
          </p:cNvSpPr>
          <p:nvPr>
            <p:ph type="title"/>
          </p:nvPr>
        </p:nvSpPr>
        <p:spPr/>
        <p:txBody>
          <a:bodyPr/>
          <a:lstStyle/>
          <a:p>
            <a:pPr eaLnBrk="1" hangingPunct="1"/>
            <a:r>
              <a:rPr lang="zh-CN" altLang="en-US"/>
              <a:t>考研题</a:t>
            </a:r>
            <a:r>
              <a:rPr lang="en-US" altLang="zh-CN"/>
              <a:t>1</a:t>
            </a:r>
          </a:p>
        </p:txBody>
      </p:sp>
      <p:sp>
        <p:nvSpPr>
          <p:cNvPr id="182274" name="Rectangle 3">
            <a:extLst>
              <a:ext uri="{FF2B5EF4-FFF2-40B4-BE49-F238E27FC236}">
                <a16:creationId xmlns:a16="http://schemas.microsoft.com/office/drawing/2014/main" id="{059A8DB4-DCF1-0A26-AD37-BD3B0D4C9056}"/>
              </a:ext>
            </a:extLst>
          </p:cNvPr>
          <p:cNvSpPr>
            <a:spLocks noGrp="1" noChangeArrowheads="1"/>
          </p:cNvSpPr>
          <p:nvPr>
            <p:ph idx="1"/>
          </p:nvPr>
        </p:nvSpPr>
        <p:spPr>
          <a:xfrm>
            <a:off x="755650" y="1268413"/>
            <a:ext cx="8148638" cy="4924425"/>
          </a:xfrm>
        </p:spPr>
        <p:txBody>
          <a:bodyPr/>
          <a:lstStyle/>
          <a:p>
            <a:pPr eaLnBrk="1" hangingPunct="1">
              <a:lnSpc>
                <a:spcPct val="90000"/>
              </a:lnSpc>
            </a:pPr>
            <a:r>
              <a:rPr lang="zh-CN" altLang="en-US"/>
              <a:t>分区分配内存管理方式的主要保护措施是（）。</a:t>
            </a:r>
            <a:r>
              <a:rPr lang="en-US" altLang="zh-CN"/>
              <a:t>09</a:t>
            </a:r>
          </a:p>
          <a:p>
            <a:pPr eaLnBrk="1" hangingPunct="1">
              <a:lnSpc>
                <a:spcPct val="90000"/>
              </a:lnSpc>
              <a:buFont typeface="Wingdings" pitchFamily="2" charset="2"/>
              <a:buNone/>
            </a:pPr>
            <a:r>
              <a:rPr lang="en-US" altLang="zh-CN"/>
              <a:t>   A</a:t>
            </a:r>
            <a:r>
              <a:rPr lang="zh-CN" altLang="en-US"/>
              <a:t>、界地址保护     </a:t>
            </a:r>
            <a:r>
              <a:rPr lang="en-US" altLang="zh-CN"/>
              <a:t>B</a:t>
            </a:r>
            <a:r>
              <a:rPr lang="zh-CN" altLang="en-US"/>
              <a:t>、程序代码保护</a:t>
            </a:r>
          </a:p>
          <a:p>
            <a:pPr eaLnBrk="1" hangingPunct="1">
              <a:lnSpc>
                <a:spcPct val="90000"/>
              </a:lnSpc>
              <a:buFont typeface="Wingdings" pitchFamily="2" charset="2"/>
              <a:buNone/>
            </a:pPr>
            <a:r>
              <a:rPr lang="en-US" altLang="zh-CN"/>
              <a:t>   C</a:t>
            </a:r>
            <a:r>
              <a:rPr lang="zh-CN" altLang="en-US"/>
              <a:t>、数据保护       </a:t>
            </a:r>
            <a:r>
              <a:rPr lang="en-US" altLang="zh-CN"/>
              <a:t>D</a:t>
            </a:r>
            <a:r>
              <a:rPr lang="zh-CN" altLang="en-US"/>
              <a:t>、栈保护</a:t>
            </a:r>
          </a:p>
          <a:p>
            <a:pPr eaLnBrk="1" hangingPunct="1">
              <a:lnSpc>
                <a:spcPct val="90000"/>
              </a:lnSpc>
            </a:pPr>
            <a:r>
              <a:rPr lang="zh-CN" altLang="en-US"/>
              <a:t>一个分段存储管理系统中，地址长度为</a:t>
            </a:r>
            <a:r>
              <a:rPr lang="en-US" altLang="zh-CN"/>
              <a:t>32</a:t>
            </a:r>
            <a:r>
              <a:rPr lang="zh-CN" altLang="en-US"/>
              <a:t>位，其中段号占</a:t>
            </a:r>
            <a:r>
              <a:rPr lang="en-US" altLang="zh-CN"/>
              <a:t>8</a:t>
            </a:r>
            <a:r>
              <a:rPr lang="zh-CN" altLang="en-US"/>
              <a:t>位，则最大段长为（）。</a:t>
            </a:r>
            <a:r>
              <a:rPr lang="en-US" altLang="zh-CN"/>
              <a:t>09</a:t>
            </a:r>
          </a:p>
          <a:p>
            <a:pPr eaLnBrk="1" hangingPunct="1">
              <a:lnSpc>
                <a:spcPct val="90000"/>
              </a:lnSpc>
              <a:buFont typeface="Wingdings" pitchFamily="2" charset="2"/>
              <a:buNone/>
            </a:pPr>
            <a:r>
              <a:rPr lang="en-US" altLang="zh-CN"/>
              <a:t>  A</a:t>
            </a:r>
            <a:r>
              <a:rPr lang="zh-CN" altLang="en-US"/>
              <a:t>、</a:t>
            </a:r>
            <a:r>
              <a:rPr lang="en-US" altLang="zh-CN"/>
              <a:t>2</a:t>
            </a:r>
            <a:r>
              <a:rPr lang="en-US" altLang="zh-CN" baseline="30000"/>
              <a:t>8</a:t>
            </a:r>
            <a:r>
              <a:rPr lang="zh-CN" altLang="en-US"/>
              <a:t>字节       </a:t>
            </a:r>
            <a:r>
              <a:rPr lang="en-US" altLang="zh-CN"/>
              <a:t>B</a:t>
            </a:r>
            <a:r>
              <a:rPr lang="zh-CN" altLang="en-US"/>
              <a:t>、</a:t>
            </a:r>
            <a:r>
              <a:rPr lang="en-US" altLang="zh-CN"/>
              <a:t>2</a:t>
            </a:r>
            <a:r>
              <a:rPr lang="en-US" altLang="zh-CN" baseline="30000"/>
              <a:t>16</a:t>
            </a:r>
            <a:r>
              <a:rPr lang="zh-CN" altLang="en-US"/>
              <a:t>字节</a:t>
            </a:r>
          </a:p>
          <a:p>
            <a:pPr eaLnBrk="1" hangingPunct="1">
              <a:lnSpc>
                <a:spcPct val="90000"/>
              </a:lnSpc>
              <a:buFont typeface="Wingdings" pitchFamily="2" charset="2"/>
              <a:buNone/>
            </a:pPr>
            <a:r>
              <a:rPr lang="zh-CN" altLang="en-US"/>
              <a:t>  </a:t>
            </a:r>
            <a:r>
              <a:rPr lang="en-US" altLang="zh-CN"/>
              <a:t>C</a:t>
            </a:r>
            <a:r>
              <a:rPr lang="zh-CN" altLang="en-US"/>
              <a:t>、</a:t>
            </a:r>
            <a:r>
              <a:rPr lang="en-US" altLang="zh-CN"/>
              <a:t>2</a:t>
            </a:r>
            <a:r>
              <a:rPr lang="en-US" altLang="zh-CN" baseline="30000"/>
              <a:t>24</a:t>
            </a:r>
            <a:r>
              <a:rPr lang="zh-CN" altLang="en-US"/>
              <a:t>字节      </a:t>
            </a:r>
            <a:r>
              <a:rPr lang="en-US" altLang="zh-CN"/>
              <a:t>D</a:t>
            </a:r>
            <a:r>
              <a:rPr lang="zh-CN" altLang="en-US"/>
              <a:t>、</a:t>
            </a:r>
            <a:r>
              <a:rPr lang="en-US" altLang="zh-CN"/>
              <a:t>2</a:t>
            </a:r>
            <a:r>
              <a:rPr lang="en-US" altLang="zh-CN" baseline="30000"/>
              <a:t>32</a:t>
            </a:r>
            <a:r>
              <a:rPr lang="zh-CN" altLang="en-US"/>
              <a:t>字节</a:t>
            </a:r>
          </a:p>
        </p:txBody>
      </p:sp>
    </p:spTree>
    <p:extLst>
      <p:ext uri="{BB962C8B-B14F-4D97-AF65-F5344CB8AC3E}">
        <p14:creationId xmlns:p14="http://schemas.microsoft.com/office/powerpoint/2010/main" val="3507632672"/>
      </p:ext>
    </p:extLst>
  </p:cSld>
  <p:clrMapOvr>
    <a:masterClrMapping/>
  </p:clrMapOvr>
  <p:transition spd="med">
    <p:zoom/>
  </p:transition>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2">
            <a:extLst>
              <a:ext uri="{FF2B5EF4-FFF2-40B4-BE49-F238E27FC236}">
                <a16:creationId xmlns:a16="http://schemas.microsoft.com/office/drawing/2014/main" id="{D37799B0-42DA-3101-7897-C61CF3C18C15}"/>
              </a:ext>
            </a:extLst>
          </p:cNvPr>
          <p:cNvSpPr>
            <a:spLocks noGrp="1" noChangeArrowheads="1"/>
          </p:cNvSpPr>
          <p:nvPr>
            <p:ph type="title"/>
          </p:nvPr>
        </p:nvSpPr>
        <p:spPr/>
        <p:txBody>
          <a:bodyPr/>
          <a:lstStyle/>
          <a:p>
            <a:pPr eaLnBrk="1" hangingPunct="1"/>
            <a:r>
              <a:rPr lang="zh-CN" altLang="en-US" dirty="0"/>
              <a:t>考研题</a:t>
            </a:r>
            <a:r>
              <a:rPr lang="en-US" altLang="zh-CN" dirty="0"/>
              <a:t>2</a:t>
            </a:r>
          </a:p>
        </p:txBody>
      </p:sp>
      <p:sp>
        <p:nvSpPr>
          <p:cNvPr id="183298" name="Rectangle 3">
            <a:extLst>
              <a:ext uri="{FF2B5EF4-FFF2-40B4-BE49-F238E27FC236}">
                <a16:creationId xmlns:a16="http://schemas.microsoft.com/office/drawing/2014/main" id="{F84C5524-7948-FD65-CC61-32085DBAC2A8}"/>
              </a:ext>
            </a:extLst>
          </p:cNvPr>
          <p:cNvSpPr>
            <a:spLocks noGrp="1" noChangeArrowheads="1"/>
          </p:cNvSpPr>
          <p:nvPr>
            <p:ph idx="1"/>
          </p:nvPr>
        </p:nvSpPr>
        <p:spPr>
          <a:xfrm>
            <a:off x="609600" y="1268413"/>
            <a:ext cx="8294688" cy="4924425"/>
          </a:xfrm>
        </p:spPr>
        <p:txBody>
          <a:bodyPr/>
          <a:lstStyle/>
          <a:p>
            <a:pPr eaLnBrk="1" hangingPunct="1"/>
            <a:r>
              <a:rPr lang="zh-CN" altLang="en-US"/>
              <a:t>某基于动态分区存储管理的计算机，其主存容量为</a:t>
            </a:r>
            <a:r>
              <a:rPr lang="en-US" altLang="zh-CN"/>
              <a:t>55MB</a:t>
            </a:r>
            <a:r>
              <a:rPr lang="zh-CN" altLang="en-US"/>
              <a:t>（初始为空），采用最佳适配算法，分配和释放的顺序为：分配</a:t>
            </a:r>
            <a:r>
              <a:rPr lang="en-US" altLang="zh-CN"/>
              <a:t>15MB</a:t>
            </a:r>
            <a:r>
              <a:rPr lang="zh-CN" altLang="en-US"/>
              <a:t>，分配</a:t>
            </a:r>
            <a:r>
              <a:rPr lang="en-US" altLang="zh-CN"/>
              <a:t>30MB</a:t>
            </a:r>
            <a:r>
              <a:rPr lang="zh-CN" altLang="en-US"/>
              <a:t>，释放</a:t>
            </a:r>
            <a:r>
              <a:rPr lang="en-US" altLang="zh-CN"/>
              <a:t>15MB</a:t>
            </a:r>
            <a:r>
              <a:rPr lang="zh-CN" altLang="en-US"/>
              <a:t>，分配</a:t>
            </a:r>
            <a:r>
              <a:rPr lang="en-US" altLang="zh-CN"/>
              <a:t>8MB</a:t>
            </a:r>
            <a:r>
              <a:rPr lang="zh-CN" altLang="en-US"/>
              <a:t>，分配</a:t>
            </a:r>
            <a:r>
              <a:rPr lang="en-US" altLang="zh-CN"/>
              <a:t>6MB</a:t>
            </a:r>
            <a:r>
              <a:rPr lang="zh-CN" altLang="en-US"/>
              <a:t>，此时主存中最大空闲分区的大小是</a:t>
            </a:r>
            <a:r>
              <a:rPr lang="zh-CN" altLang="en-US" u="sng"/>
              <a:t>      </a:t>
            </a:r>
            <a:r>
              <a:rPr lang="zh-CN" altLang="en-US"/>
              <a:t>。</a:t>
            </a:r>
            <a:r>
              <a:rPr lang="en-US" altLang="zh-CN"/>
              <a:t>10</a:t>
            </a:r>
          </a:p>
          <a:p>
            <a:pPr eaLnBrk="1" hangingPunct="1">
              <a:buFont typeface="Wingdings" pitchFamily="2" charset="2"/>
              <a:buNone/>
            </a:pPr>
            <a:r>
              <a:rPr lang="en-US" altLang="zh-CN"/>
              <a:t>A.7MB	B.9MB    C.10MB	D.15MB</a:t>
            </a:r>
          </a:p>
        </p:txBody>
      </p:sp>
    </p:spTree>
    <p:extLst>
      <p:ext uri="{BB962C8B-B14F-4D97-AF65-F5344CB8AC3E}">
        <p14:creationId xmlns:p14="http://schemas.microsoft.com/office/powerpoint/2010/main" val="1107086359"/>
      </p:ext>
    </p:extLst>
  </p:cSld>
  <p:clrMapOvr>
    <a:masterClrMapping/>
  </p:clrMapOvr>
  <p:transition spd="med">
    <p:zoom/>
  </p:transition>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2">
            <a:extLst>
              <a:ext uri="{FF2B5EF4-FFF2-40B4-BE49-F238E27FC236}">
                <a16:creationId xmlns:a16="http://schemas.microsoft.com/office/drawing/2014/main" id="{874E7BEC-9A24-4CA2-E018-AEA11105C7CC}"/>
              </a:ext>
            </a:extLst>
          </p:cNvPr>
          <p:cNvSpPr>
            <a:spLocks noGrp="1" noChangeArrowheads="1"/>
          </p:cNvSpPr>
          <p:nvPr>
            <p:ph type="title"/>
          </p:nvPr>
        </p:nvSpPr>
        <p:spPr/>
        <p:txBody>
          <a:bodyPr/>
          <a:lstStyle/>
          <a:p>
            <a:pPr eaLnBrk="1" hangingPunct="1"/>
            <a:r>
              <a:rPr lang="zh-CN" altLang="en-US" sz="4400" dirty="0"/>
              <a:t>考研题</a:t>
            </a:r>
            <a:r>
              <a:rPr lang="en-US" altLang="zh-CN" sz="4400" dirty="0"/>
              <a:t>3</a:t>
            </a:r>
          </a:p>
        </p:txBody>
      </p:sp>
      <p:sp>
        <p:nvSpPr>
          <p:cNvPr id="184322" name="Rectangle 3">
            <a:extLst>
              <a:ext uri="{FF2B5EF4-FFF2-40B4-BE49-F238E27FC236}">
                <a16:creationId xmlns:a16="http://schemas.microsoft.com/office/drawing/2014/main" id="{14101992-4322-9D14-811A-525A7A16BC43}"/>
              </a:ext>
            </a:extLst>
          </p:cNvPr>
          <p:cNvSpPr>
            <a:spLocks noGrp="1" noChangeArrowheads="1"/>
          </p:cNvSpPr>
          <p:nvPr>
            <p:ph type="body" sz="half" idx="1"/>
          </p:nvPr>
        </p:nvSpPr>
        <p:spPr>
          <a:xfrm>
            <a:off x="1131888" y="1125538"/>
            <a:ext cx="8012112" cy="4967287"/>
          </a:xfrm>
        </p:spPr>
        <p:txBody>
          <a:bodyPr/>
          <a:lstStyle/>
          <a:p>
            <a:pPr eaLnBrk="1" hangingPunct="1"/>
            <a:r>
              <a:rPr lang="zh-CN" altLang="en-US" sz="3100"/>
              <a:t>某计算机采用二级页表的分页存储管理方式，按字节编址，页大小为</a:t>
            </a:r>
            <a:r>
              <a:rPr lang="en-US" altLang="zh-CN" sz="3100"/>
              <a:t>2</a:t>
            </a:r>
            <a:r>
              <a:rPr lang="en-US" altLang="zh-CN" sz="3100" baseline="30000"/>
              <a:t>10</a:t>
            </a:r>
            <a:r>
              <a:rPr lang="zh-CN" altLang="en-US" sz="3100"/>
              <a:t>字节，页表项大小为</a:t>
            </a:r>
            <a:r>
              <a:rPr lang="en-US" altLang="zh-CN" sz="3100"/>
              <a:t>2</a:t>
            </a:r>
            <a:r>
              <a:rPr lang="zh-CN" altLang="en-US" sz="3100"/>
              <a:t>字节，逻辑地址结构为：</a:t>
            </a:r>
          </a:p>
          <a:p>
            <a:pPr eaLnBrk="1" hangingPunct="1"/>
            <a:endParaRPr lang="zh-CN" altLang="en-US" sz="3100"/>
          </a:p>
          <a:p>
            <a:pPr eaLnBrk="1" hangingPunct="1"/>
            <a:endParaRPr lang="zh-CN" altLang="en-US" sz="3100"/>
          </a:p>
          <a:p>
            <a:pPr eaLnBrk="1" hangingPunct="1">
              <a:buFont typeface="Wingdings" pitchFamily="2" charset="2"/>
              <a:buNone/>
            </a:pPr>
            <a:r>
              <a:rPr lang="zh-CN" altLang="en-US" sz="3100"/>
              <a:t>    逻辑地址空间大小为</a:t>
            </a:r>
            <a:r>
              <a:rPr lang="en-US" altLang="zh-CN" sz="3100"/>
              <a:t>2</a:t>
            </a:r>
            <a:r>
              <a:rPr lang="en-US" altLang="zh-CN" sz="3100" baseline="30000"/>
              <a:t>16</a:t>
            </a:r>
            <a:r>
              <a:rPr lang="zh-CN" altLang="en-US" sz="3100"/>
              <a:t>页，则表示整个逻辑地址空间的页目录表中包含表项的个数至少是</a:t>
            </a:r>
            <a:r>
              <a:rPr lang="zh-CN" altLang="en-US" sz="3100" u="sng"/>
              <a:t>      </a:t>
            </a:r>
            <a:r>
              <a:rPr lang="zh-CN" altLang="en-US" sz="3100"/>
              <a:t>。</a:t>
            </a:r>
            <a:r>
              <a:rPr lang="en-US" altLang="zh-CN" sz="3100"/>
              <a:t>10</a:t>
            </a:r>
          </a:p>
          <a:p>
            <a:pPr eaLnBrk="1" hangingPunct="1">
              <a:buFont typeface="Wingdings" pitchFamily="2" charset="2"/>
              <a:buNone/>
            </a:pPr>
            <a:r>
              <a:rPr lang="en-US" altLang="zh-CN" sz="3100"/>
              <a:t>   A.64	   B.128        C.256	D.512</a:t>
            </a:r>
          </a:p>
        </p:txBody>
      </p:sp>
      <p:graphicFrame>
        <p:nvGraphicFramePr>
          <p:cNvPr id="312335" name="Group 15">
            <a:extLst>
              <a:ext uri="{FF2B5EF4-FFF2-40B4-BE49-F238E27FC236}">
                <a16:creationId xmlns:a16="http://schemas.microsoft.com/office/drawing/2014/main" id="{84BDD289-82C7-94C8-C16B-52B7D069F131}"/>
              </a:ext>
            </a:extLst>
          </p:cNvPr>
          <p:cNvGraphicFramePr>
            <a:graphicFrameLocks noGrp="1"/>
          </p:cNvGraphicFramePr>
          <p:nvPr>
            <p:ph sz="half" idx="1"/>
          </p:nvPr>
        </p:nvGraphicFramePr>
        <p:xfrm>
          <a:off x="1116013" y="2924175"/>
          <a:ext cx="7788275" cy="649288"/>
        </p:xfrm>
        <a:graphic>
          <a:graphicData uri="http://schemas.openxmlformats.org/drawingml/2006/table">
            <a:tbl>
              <a:tblPr/>
              <a:tblGrid>
                <a:gridCol w="2490787">
                  <a:extLst>
                    <a:ext uri="{9D8B030D-6E8A-4147-A177-3AD203B41FA5}">
                      <a16:colId xmlns:a16="http://schemas.microsoft.com/office/drawing/2014/main" val="4252569765"/>
                    </a:ext>
                  </a:extLst>
                </a:gridCol>
                <a:gridCol w="1822450">
                  <a:extLst>
                    <a:ext uri="{9D8B030D-6E8A-4147-A177-3AD203B41FA5}">
                      <a16:colId xmlns:a16="http://schemas.microsoft.com/office/drawing/2014/main" val="3430471364"/>
                    </a:ext>
                  </a:extLst>
                </a:gridCol>
                <a:gridCol w="3475038">
                  <a:extLst>
                    <a:ext uri="{9D8B030D-6E8A-4147-A177-3AD203B41FA5}">
                      <a16:colId xmlns:a16="http://schemas.microsoft.com/office/drawing/2014/main" val="1692904850"/>
                    </a:ext>
                  </a:extLst>
                </a:gridCol>
              </a:tblGrid>
              <a:tr h="649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页目录号</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页号</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页内偏移量</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828742324"/>
                  </a:ext>
                </a:extLst>
              </a:tr>
            </a:tbl>
          </a:graphicData>
        </a:graphic>
      </p:graphicFrame>
    </p:spTree>
    <p:extLst>
      <p:ext uri="{BB962C8B-B14F-4D97-AF65-F5344CB8AC3E}">
        <p14:creationId xmlns:p14="http://schemas.microsoft.com/office/powerpoint/2010/main" val="2820111613"/>
      </p:ext>
    </p:extLst>
  </p:cSld>
  <p:clrMapOvr>
    <a:masterClrMapping/>
  </p:clrMapOvr>
  <p:transition spd="med">
    <p:zoom/>
  </p:transition>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5462CB61-896D-1537-A0F2-0173E0049F66}"/>
              </a:ext>
            </a:extLst>
          </p:cNvPr>
          <p:cNvSpPr>
            <a:spLocks noGrp="1" noChangeArrowheads="1"/>
          </p:cNvSpPr>
          <p:nvPr>
            <p:ph type="title"/>
          </p:nvPr>
        </p:nvSpPr>
        <p:spPr/>
        <p:txBody>
          <a:bodyPr/>
          <a:lstStyle/>
          <a:p>
            <a:pPr eaLnBrk="1" hangingPunct="1"/>
            <a:r>
              <a:rPr lang="zh-CN" altLang="en-US" sz="4000" dirty="0"/>
              <a:t>考研题</a:t>
            </a:r>
            <a:r>
              <a:rPr lang="en-US" altLang="zh-CN" sz="4000" dirty="0"/>
              <a:t>4-1</a:t>
            </a:r>
          </a:p>
        </p:txBody>
      </p:sp>
      <p:sp>
        <p:nvSpPr>
          <p:cNvPr id="140290" name="Rectangle 3">
            <a:extLst>
              <a:ext uri="{FF2B5EF4-FFF2-40B4-BE49-F238E27FC236}">
                <a16:creationId xmlns:a16="http://schemas.microsoft.com/office/drawing/2014/main" id="{004FEB85-7474-125A-23A1-EC9BAD998206}"/>
              </a:ext>
            </a:extLst>
          </p:cNvPr>
          <p:cNvSpPr>
            <a:spLocks noGrp="1" noChangeArrowheads="1"/>
          </p:cNvSpPr>
          <p:nvPr>
            <p:ph type="body" sz="half" idx="1"/>
          </p:nvPr>
        </p:nvSpPr>
        <p:spPr>
          <a:xfrm>
            <a:off x="503238" y="1268413"/>
            <a:ext cx="8029575" cy="5184775"/>
          </a:xfrm>
        </p:spPr>
        <p:txBody>
          <a:bodyPr/>
          <a:lstStyle/>
          <a:p>
            <a:pPr eaLnBrk="1" hangingPunct="1">
              <a:lnSpc>
                <a:spcPct val="90000"/>
              </a:lnSpc>
            </a:pPr>
            <a:r>
              <a:rPr lang="zh-CN" altLang="en-US" sz="2800"/>
              <a:t>请求分页管理系统中，假设某进程的页表内容如下表所示：</a:t>
            </a:r>
          </a:p>
          <a:p>
            <a:pPr eaLnBrk="1" hangingPunct="1">
              <a:lnSpc>
                <a:spcPct val="90000"/>
              </a:lnSpc>
            </a:pPr>
            <a:endParaRPr lang="zh-CN" altLang="en-US" sz="28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b="1"/>
          </a:p>
          <a:p>
            <a:pPr eaLnBrk="1" hangingPunct="1">
              <a:lnSpc>
                <a:spcPct val="90000"/>
              </a:lnSpc>
            </a:pPr>
            <a:r>
              <a:rPr lang="zh-CN" altLang="en-US" sz="2800"/>
              <a:t>页面大小为</a:t>
            </a:r>
            <a:r>
              <a:rPr lang="en-US" altLang="zh-CN" sz="2800"/>
              <a:t>4KB</a:t>
            </a:r>
            <a:r>
              <a:rPr lang="zh-CN" altLang="en-US" sz="2800"/>
              <a:t>，一次内存的访问时间是</a:t>
            </a:r>
            <a:r>
              <a:rPr lang="en-US" altLang="zh-CN" sz="2800"/>
              <a:t>100ns</a:t>
            </a:r>
            <a:r>
              <a:rPr lang="zh-CN" altLang="en-US" sz="2800"/>
              <a:t>，一次快表（</a:t>
            </a:r>
            <a:r>
              <a:rPr lang="en-US" altLang="zh-CN" sz="2800"/>
              <a:t>TLB</a:t>
            </a:r>
            <a:r>
              <a:rPr lang="zh-CN" altLang="en-US" sz="2800"/>
              <a:t>）的访问时间是</a:t>
            </a:r>
            <a:r>
              <a:rPr lang="en-US" altLang="zh-CN" sz="2800"/>
              <a:t>10ns</a:t>
            </a:r>
            <a:r>
              <a:rPr lang="zh-CN" altLang="en-US" sz="2800"/>
              <a:t>，处理一次缺页的平均时间是</a:t>
            </a:r>
            <a:r>
              <a:rPr lang="en-US" altLang="zh-CN" sz="2800"/>
              <a:t>10</a:t>
            </a:r>
            <a:r>
              <a:rPr lang="en-US" altLang="zh-CN" sz="2800" baseline="30000"/>
              <a:t>8</a:t>
            </a:r>
            <a:r>
              <a:rPr lang="en-US" altLang="zh-CN" sz="2800"/>
              <a:t>ns</a:t>
            </a:r>
            <a:r>
              <a:rPr lang="zh-CN" altLang="en-US" sz="2800"/>
              <a:t>（已含更新</a:t>
            </a:r>
            <a:r>
              <a:rPr lang="en-US" altLang="zh-CN" sz="2800"/>
              <a:t>TLB</a:t>
            </a:r>
            <a:r>
              <a:rPr lang="zh-CN" altLang="en-US" sz="2800"/>
              <a:t>表和页表的时间），进程的驻留集大小固定为</a:t>
            </a:r>
            <a:r>
              <a:rPr lang="en-US" altLang="zh-CN" sz="2800"/>
              <a:t>2</a:t>
            </a:r>
            <a:r>
              <a:rPr lang="zh-CN" altLang="en-US" sz="2800"/>
              <a:t>，采用最近最少使用置换算法（</a:t>
            </a:r>
            <a:r>
              <a:rPr lang="en-US" altLang="zh-CN" sz="2800"/>
              <a:t>LRU</a:t>
            </a:r>
            <a:r>
              <a:rPr lang="zh-CN" altLang="en-US" sz="2800"/>
              <a:t>）和局部淘汰策略。假设（</a:t>
            </a:r>
            <a:r>
              <a:rPr lang="en-US" altLang="zh-CN" sz="2800"/>
              <a:t>1</a:t>
            </a:r>
            <a:r>
              <a:rPr lang="zh-CN" altLang="en-US" sz="2800"/>
              <a:t>）</a:t>
            </a:r>
            <a:r>
              <a:rPr lang="en-US" altLang="zh-CN" sz="2800"/>
              <a:t>TLB</a:t>
            </a:r>
            <a:r>
              <a:rPr lang="zh-CN" altLang="en-US" sz="2800"/>
              <a:t>初始为空</a:t>
            </a:r>
          </a:p>
        </p:txBody>
      </p:sp>
      <p:graphicFrame>
        <p:nvGraphicFramePr>
          <p:cNvPr id="322586" name="Group 26">
            <a:extLst>
              <a:ext uri="{FF2B5EF4-FFF2-40B4-BE49-F238E27FC236}">
                <a16:creationId xmlns:a16="http://schemas.microsoft.com/office/drawing/2014/main" id="{170C72F5-D6FB-D847-CD90-F21AA9D2D0E4}"/>
              </a:ext>
            </a:extLst>
          </p:cNvPr>
          <p:cNvGraphicFramePr>
            <a:graphicFrameLocks noGrp="1"/>
          </p:cNvGraphicFramePr>
          <p:nvPr>
            <p:ph sz="half" idx="1"/>
          </p:nvPr>
        </p:nvGraphicFramePr>
        <p:xfrm>
          <a:off x="2808288" y="1916113"/>
          <a:ext cx="3779837" cy="1803401"/>
        </p:xfrm>
        <a:graphic>
          <a:graphicData uri="http://schemas.openxmlformats.org/drawingml/2006/table">
            <a:tbl>
              <a:tblPr/>
              <a:tblGrid>
                <a:gridCol w="768350">
                  <a:extLst>
                    <a:ext uri="{9D8B030D-6E8A-4147-A177-3AD203B41FA5}">
                      <a16:colId xmlns:a16="http://schemas.microsoft.com/office/drawing/2014/main" val="2733065887"/>
                    </a:ext>
                  </a:extLst>
                </a:gridCol>
                <a:gridCol w="1098550">
                  <a:extLst>
                    <a:ext uri="{9D8B030D-6E8A-4147-A177-3AD203B41FA5}">
                      <a16:colId xmlns:a16="http://schemas.microsoft.com/office/drawing/2014/main" val="683348109"/>
                    </a:ext>
                  </a:extLst>
                </a:gridCol>
                <a:gridCol w="1912937">
                  <a:extLst>
                    <a:ext uri="{9D8B030D-6E8A-4147-A177-3AD203B41FA5}">
                      <a16:colId xmlns:a16="http://schemas.microsoft.com/office/drawing/2014/main" val="774803183"/>
                    </a:ext>
                  </a:extLst>
                </a:gridCol>
              </a:tblGrid>
              <a:tr h="508000">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页号</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8000" marR="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页框号</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8000" marR="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有效位</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8000" marR="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5759750"/>
                  </a:ext>
                </a:extLst>
              </a:tr>
              <a:tr h="427038">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8000" marR="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101H</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8000" marR="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8000" marR="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3694121"/>
                  </a:ext>
                </a:extLst>
              </a:tr>
              <a:tr h="427038">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8000" marR="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8000" marR="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8000" marR="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53573385"/>
                  </a:ext>
                </a:extLst>
              </a:tr>
              <a:tr h="441325">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8000" marR="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254H</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8000" marR="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8000" marR="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49689006"/>
                  </a:ext>
                </a:extLst>
              </a:tr>
            </a:tbl>
          </a:graphicData>
        </a:graphic>
      </p:graphicFrame>
    </p:spTree>
  </p:cSld>
  <p:clrMapOvr>
    <a:masterClrMapping/>
  </p:clrMapOvr>
  <p:transition spd="med">
    <p:zoom/>
  </p:transition>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a:extLst>
              <a:ext uri="{FF2B5EF4-FFF2-40B4-BE49-F238E27FC236}">
                <a16:creationId xmlns:a16="http://schemas.microsoft.com/office/drawing/2014/main" id="{C703B89F-6A1F-262A-3414-6E9BFB03A86F}"/>
              </a:ext>
            </a:extLst>
          </p:cNvPr>
          <p:cNvSpPr>
            <a:spLocks noGrp="1" noChangeArrowheads="1"/>
          </p:cNvSpPr>
          <p:nvPr>
            <p:ph type="title"/>
          </p:nvPr>
        </p:nvSpPr>
        <p:spPr/>
        <p:txBody>
          <a:bodyPr/>
          <a:lstStyle/>
          <a:p>
            <a:pPr eaLnBrk="1" hangingPunct="1"/>
            <a:r>
              <a:rPr lang="zh-CN" altLang="en-US" sz="4000" dirty="0"/>
              <a:t>考研题</a:t>
            </a:r>
            <a:r>
              <a:rPr lang="en-US" altLang="zh-CN" sz="4000" dirty="0"/>
              <a:t>4-2</a:t>
            </a:r>
          </a:p>
        </p:txBody>
      </p:sp>
      <p:sp>
        <p:nvSpPr>
          <p:cNvPr id="141314" name="Rectangle 3">
            <a:extLst>
              <a:ext uri="{FF2B5EF4-FFF2-40B4-BE49-F238E27FC236}">
                <a16:creationId xmlns:a16="http://schemas.microsoft.com/office/drawing/2014/main" id="{4853A2C0-5A03-6F65-A350-996D7396E626}"/>
              </a:ext>
            </a:extLst>
          </p:cNvPr>
          <p:cNvSpPr>
            <a:spLocks noGrp="1" noChangeArrowheads="1"/>
          </p:cNvSpPr>
          <p:nvPr>
            <p:ph type="body" sz="half" idx="1"/>
          </p:nvPr>
        </p:nvSpPr>
        <p:spPr>
          <a:xfrm>
            <a:off x="719138" y="1268413"/>
            <a:ext cx="7813675" cy="4752975"/>
          </a:xfrm>
        </p:spPr>
        <p:txBody>
          <a:bodyPr/>
          <a:lstStyle/>
          <a:p>
            <a:pPr eaLnBrk="1" hangingPunct="1"/>
            <a:r>
              <a:rPr lang="zh-CN" altLang="en-US" sz="2800" dirty="0"/>
              <a:t>（</a:t>
            </a:r>
            <a:r>
              <a:rPr lang="en-US" altLang="zh-CN" sz="2800" dirty="0"/>
              <a:t>2</a:t>
            </a:r>
            <a:r>
              <a:rPr lang="zh-CN" altLang="en-US" sz="2800" dirty="0"/>
              <a:t>）地址转换时先访问</a:t>
            </a:r>
            <a:r>
              <a:rPr lang="en-US" altLang="zh-CN" sz="2800" dirty="0"/>
              <a:t>TLB</a:t>
            </a:r>
            <a:r>
              <a:rPr lang="zh-CN" altLang="en-US" sz="2800" dirty="0"/>
              <a:t>，若</a:t>
            </a:r>
            <a:r>
              <a:rPr lang="en-US" altLang="zh-CN" sz="2800" dirty="0"/>
              <a:t>TLB</a:t>
            </a:r>
            <a:r>
              <a:rPr lang="zh-CN" altLang="en-US" sz="2800" dirty="0"/>
              <a:t>未命中，再访问页表（忽略访问页表之后的</a:t>
            </a:r>
            <a:r>
              <a:rPr lang="en-US" altLang="zh-CN" sz="2800" dirty="0"/>
              <a:t>TLB</a:t>
            </a:r>
            <a:r>
              <a:rPr lang="zh-CN" altLang="en-US" sz="2800" dirty="0"/>
              <a:t>更新时间）；（</a:t>
            </a:r>
            <a:r>
              <a:rPr lang="en-US" altLang="zh-CN" sz="2800" dirty="0"/>
              <a:t>3</a:t>
            </a:r>
            <a:r>
              <a:rPr lang="zh-CN" altLang="en-US" sz="2800" dirty="0"/>
              <a:t>）有效位为</a:t>
            </a:r>
            <a:r>
              <a:rPr lang="en-US" altLang="zh-CN" sz="2800" dirty="0"/>
              <a:t>0</a:t>
            </a:r>
            <a:r>
              <a:rPr lang="zh-CN" altLang="en-US" sz="2800" dirty="0"/>
              <a:t>表示页面不在内存，产生缺页中断，缺页中断处理后，返回到产生缺页中断的指令处重新执行。设有虚地址访问序列</a:t>
            </a:r>
            <a:r>
              <a:rPr lang="en-US" altLang="zh-CN" sz="2800" dirty="0"/>
              <a:t>2362H</a:t>
            </a:r>
            <a:r>
              <a:rPr lang="zh-CN" altLang="en-US" sz="2800" dirty="0"/>
              <a:t>，</a:t>
            </a:r>
            <a:r>
              <a:rPr lang="en-US" altLang="zh-CN" sz="2800" dirty="0"/>
              <a:t>1565H</a:t>
            </a:r>
            <a:r>
              <a:rPr lang="zh-CN" altLang="en-US" sz="2800" dirty="0"/>
              <a:t>，</a:t>
            </a:r>
            <a:r>
              <a:rPr lang="en-US" altLang="zh-CN" sz="2800" dirty="0"/>
              <a:t>25A5H</a:t>
            </a:r>
            <a:r>
              <a:rPr lang="zh-CN" altLang="en-US" sz="2800" dirty="0"/>
              <a:t>，请问</a:t>
            </a:r>
          </a:p>
          <a:p>
            <a:pPr eaLnBrk="1" hangingPunct="1"/>
            <a:r>
              <a:rPr lang="zh-CN" altLang="en-US" sz="2800" dirty="0"/>
              <a:t>（</a:t>
            </a:r>
            <a:r>
              <a:rPr lang="en-US" altLang="zh-CN" sz="2800" dirty="0"/>
              <a:t>1</a:t>
            </a:r>
            <a:r>
              <a:rPr lang="zh-CN" altLang="en-US" sz="2800" dirty="0"/>
              <a:t>）依次访问上述三个虚地址，各需多少时间？给出计算过程。</a:t>
            </a:r>
          </a:p>
          <a:p>
            <a:pPr eaLnBrk="1" hangingPunct="1"/>
            <a:r>
              <a:rPr lang="zh-CN" altLang="en-US" sz="2800" dirty="0"/>
              <a:t>（</a:t>
            </a:r>
            <a:r>
              <a:rPr lang="en-US" altLang="zh-CN" sz="2800" dirty="0"/>
              <a:t>2</a:t>
            </a:r>
            <a:r>
              <a:rPr lang="zh-CN" altLang="en-US" sz="2800" dirty="0"/>
              <a:t>）基于上述访问序列，虚地址</a:t>
            </a:r>
            <a:r>
              <a:rPr lang="en-US" altLang="zh-CN" sz="2800" dirty="0"/>
              <a:t>1565H</a:t>
            </a:r>
            <a:r>
              <a:rPr lang="zh-CN" altLang="en-US" sz="2800" dirty="0"/>
              <a:t>的物理地址是多少？请说明理由   </a:t>
            </a:r>
            <a:r>
              <a:rPr lang="en-US" altLang="zh-CN" sz="2800" dirty="0"/>
              <a:t>09</a:t>
            </a:r>
          </a:p>
        </p:txBody>
      </p:sp>
    </p:spTree>
  </p:cSld>
  <p:clrMapOvr>
    <a:masterClrMapping/>
  </p:clrMapOvr>
  <p:transition spd="med">
    <p:zoom/>
  </p:transition>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0E1E74BD-EDE0-1D33-792D-C5B7870858E9}"/>
              </a:ext>
            </a:extLst>
          </p:cNvPr>
          <p:cNvSpPr>
            <a:spLocks noGrp="1" noChangeArrowheads="1"/>
          </p:cNvSpPr>
          <p:nvPr>
            <p:ph type="title"/>
          </p:nvPr>
        </p:nvSpPr>
        <p:spPr/>
        <p:txBody>
          <a:bodyPr/>
          <a:lstStyle/>
          <a:p>
            <a:pPr eaLnBrk="1" hangingPunct="1"/>
            <a:r>
              <a:rPr lang="zh-CN" altLang="en-US" sz="4000" dirty="0"/>
              <a:t>考研题</a:t>
            </a:r>
            <a:r>
              <a:rPr lang="en-US" altLang="zh-CN" sz="4000" dirty="0"/>
              <a:t>4-3</a:t>
            </a:r>
            <a:endParaRPr lang="zh-CN" altLang="en-US" sz="4000" dirty="0"/>
          </a:p>
        </p:txBody>
      </p:sp>
      <p:sp>
        <p:nvSpPr>
          <p:cNvPr id="142338" name="Rectangle 3">
            <a:extLst>
              <a:ext uri="{FF2B5EF4-FFF2-40B4-BE49-F238E27FC236}">
                <a16:creationId xmlns:a16="http://schemas.microsoft.com/office/drawing/2014/main" id="{6380E95E-BB4A-FA81-B2AC-3C97538E593E}"/>
              </a:ext>
            </a:extLst>
          </p:cNvPr>
          <p:cNvSpPr>
            <a:spLocks noGrp="1" noChangeArrowheads="1"/>
          </p:cNvSpPr>
          <p:nvPr>
            <p:ph idx="1"/>
          </p:nvPr>
        </p:nvSpPr>
        <p:spPr/>
        <p:txBody>
          <a:bodyPr/>
          <a:lstStyle/>
          <a:p>
            <a:pPr eaLnBrk="1" hangingPunct="1"/>
            <a:r>
              <a:rPr lang="zh-CN" altLang="en-US" sz="2800" dirty="0"/>
              <a:t>（</a:t>
            </a:r>
            <a:r>
              <a:rPr lang="en-US" altLang="zh-CN" sz="2800" dirty="0"/>
              <a:t>1</a:t>
            </a:r>
            <a:r>
              <a:rPr lang="zh-CN" altLang="en-US" sz="2800" dirty="0"/>
              <a:t>）</a:t>
            </a:r>
          </a:p>
          <a:p>
            <a:pPr eaLnBrk="1" hangingPunct="1">
              <a:buFont typeface="Wingdings" pitchFamily="2" charset="2"/>
              <a:buNone/>
            </a:pPr>
            <a:r>
              <a:rPr lang="en-US" altLang="zh-CN" sz="2800" dirty="0"/>
              <a:t>  2362H</a:t>
            </a:r>
            <a:r>
              <a:rPr lang="zh-CN" altLang="en-US" sz="2800" dirty="0"/>
              <a:t>的访问时间为</a:t>
            </a:r>
            <a:r>
              <a:rPr lang="en-US" altLang="zh-CN" sz="2800" dirty="0"/>
              <a:t>10+100+100=210ns</a:t>
            </a:r>
          </a:p>
          <a:p>
            <a:pPr eaLnBrk="1" hangingPunct="1">
              <a:buFont typeface="Wingdings" pitchFamily="2" charset="2"/>
              <a:buNone/>
            </a:pPr>
            <a:r>
              <a:rPr lang="en-US" altLang="zh-CN" sz="2800" dirty="0"/>
              <a:t>  1565H</a:t>
            </a:r>
            <a:r>
              <a:rPr lang="zh-CN" altLang="en-US" sz="2800" dirty="0"/>
              <a:t>的访问时间为</a:t>
            </a:r>
            <a:r>
              <a:rPr lang="en-US" altLang="zh-CN" sz="2800" dirty="0"/>
              <a:t>10+100+100000000</a:t>
            </a:r>
          </a:p>
          <a:p>
            <a:pPr eaLnBrk="1" hangingPunct="1">
              <a:buFont typeface="Wingdings" pitchFamily="2" charset="2"/>
              <a:buNone/>
            </a:pPr>
            <a:r>
              <a:rPr lang="en-US" altLang="zh-CN" sz="2800" dirty="0"/>
              <a:t>+10+100=100000220ns</a:t>
            </a:r>
          </a:p>
          <a:p>
            <a:pPr eaLnBrk="1" hangingPunct="1">
              <a:buFont typeface="Wingdings" pitchFamily="2" charset="2"/>
              <a:buNone/>
            </a:pPr>
            <a:r>
              <a:rPr lang="en-US" altLang="zh-CN" sz="2800" dirty="0"/>
              <a:t>  25A5H</a:t>
            </a:r>
            <a:r>
              <a:rPr lang="zh-CN" altLang="en-US" sz="2800" dirty="0"/>
              <a:t>的访问时间为</a:t>
            </a:r>
            <a:r>
              <a:rPr lang="en-US" altLang="zh-CN" sz="2800" dirty="0"/>
              <a:t>10+100=110ns</a:t>
            </a:r>
          </a:p>
          <a:p>
            <a:pPr eaLnBrk="1" hangingPunct="1"/>
            <a:r>
              <a:rPr lang="zh-CN" altLang="en-US" sz="2800" dirty="0"/>
              <a:t>（</a:t>
            </a:r>
            <a:r>
              <a:rPr lang="en-US" altLang="zh-CN" sz="2800" dirty="0"/>
              <a:t>2</a:t>
            </a:r>
            <a:r>
              <a:rPr lang="zh-CN" altLang="en-US" sz="2800" dirty="0"/>
              <a:t>）</a:t>
            </a:r>
            <a:r>
              <a:rPr lang="en-US" altLang="zh-CN" sz="2800" dirty="0"/>
              <a:t>1565H</a:t>
            </a:r>
            <a:r>
              <a:rPr lang="zh-CN" altLang="en-US" sz="2800" dirty="0"/>
              <a:t>的物理地址是：</a:t>
            </a:r>
            <a:r>
              <a:rPr lang="en-US" altLang="zh-CN" sz="2800" dirty="0"/>
              <a:t>101565H</a:t>
            </a:r>
            <a:r>
              <a:rPr lang="zh-CN" altLang="en-US" sz="2800" dirty="0"/>
              <a:t>，因为</a:t>
            </a:r>
            <a:r>
              <a:rPr lang="en-US" altLang="zh-CN" sz="2800" dirty="0"/>
              <a:t>2</a:t>
            </a:r>
            <a:r>
              <a:rPr lang="zh-CN" altLang="en-US" sz="2800" dirty="0"/>
              <a:t>号页面刚被访问，不会被置换，因此用</a:t>
            </a:r>
            <a:r>
              <a:rPr lang="en-US" altLang="zh-CN" sz="2800" dirty="0"/>
              <a:t>101H</a:t>
            </a:r>
            <a:r>
              <a:rPr lang="zh-CN" altLang="en-US" sz="2800" dirty="0"/>
              <a:t>页框，物理地址为</a:t>
            </a:r>
            <a:r>
              <a:rPr lang="en-US" altLang="zh-CN" sz="2800" dirty="0"/>
              <a:t>101565H</a:t>
            </a:r>
            <a:endParaRPr lang="zh-CN" altLang="en-US" sz="2800" dirty="0"/>
          </a:p>
        </p:txBody>
      </p:sp>
    </p:spTree>
  </p:cSld>
  <p:clrMapOvr>
    <a:masterClrMapping/>
  </p:clrMapOvr>
  <p:transition spd="med">
    <p:zoom/>
  </p:transition>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0CD6885E-00B8-5752-7968-ABFC206FA9FF}"/>
              </a:ext>
            </a:extLst>
          </p:cNvPr>
          <p:cNvSpPr>
            <a:spLocks noGrp="1" noChangeArrowheads="1"/>
          </p:cNvSpPr>
          <p:nvPr>
            <p:ph type="title"/>
          </p:nvPr>
        </p:nvSpPr>
        <p:spPr/>
        <p:txBody>
          <a:bodyPr/>
          <a:lstStyle/>
          <a:p>
            <a:pPr eaLnBrk="1" hangingPunct="1"/>
            <a:r>
              <a:rPr lang="zh-CN" altLang="en-US" sz="4000" dirty="0"/>
              <a:t>考研题</a:t>
            </a:r>
            <a:r>
              <a:rPr lang="en-US" altLang="zh-CN" sz="4000" dirty="0"/>
              <a:t>5-1</a:t>
            </a:r>
          </a:p>
        </p:txBody>
      </p:sp>
      <p:sp>
        <p:nvSpPr>
          <p:cNvPr id="143362" name="Rectangle 3">
            <a:extLst>
              <a:ext uri="{FF2B5EF4-FFF2-40B4-BE49-F238E27FC236}">
                <a16:creationId xmlns:a16="http://schemas.microsoft.com/office/drawing/2014/main" id="{0AD4A58E-2A38-74F7-572D-B76FBD4006CE}"/>
              </a:ext>
            </a:extLst>
          </p:cNvPr>
          <p:cNvSpPr>
            <a:spLocks noGrp="1" noChangeArrowheads="1"/>
          </p:cNvSpPr>
          <p:nvPr>
            <p:ph type="body" sz="half" idx="1"/>
          </p:nvPr>
        </p:nvSpPr>
        <p:spPr>
          <a:xfrm>
            <a:off x="1131888" y="1268413"/>
            <a:ext cx="7770812" cy="2166937"/>
          </a:xfrm>
        </p:spPr>
        <p:txBody>
          <a:bodyPr/>
          <a:lstStyle/>
          <a:p>
            <a:pPr eaLnBrk="1" hangingPunct="1"/>
            <a:r>
              <a:rPr lang="zh-CN" altLang="en-US" sz="2800"/>
              <a:t>设某计算机的逻辑地址空间和物理地址空间均为</a:t>
            </a:r>
            <a:r>
              <a:rPr lang="en-US" altLang="zh-CN" sz="2800"/>
              <a:t>64KB</a:t>
            </a:r>
            <a:r>
              <a:rPr lang="zh-CN" altLang="en-US" sz="2800"/>
              <a:t>，按字节编址。若某进程最多需要</a:t>
            </a:r>
            <a:r>
              <a:rPr lang="en-US" altLang="zh-CN" sz="2800"/>
              <a:t>6</a:t>
            </a:r>
            <a:r>
              <a:rPr lang="zh-CN" altLang="en-US" sz="2800"/>
              <a:t>页数据存储空间，页的大小为</a:t>
            </a:r>
            <a:r>
              <a:rPr lang="en-US" altLang="zh-CN" sz="2800"/>
              <a:t>1KB</a:t>
            </a:r>
            <a:r>
              <a:rPr lang="zh-CN" altLang="en-US" sz="2800"/>
              <a:t>。操作系统采用固定分配局部置换策略为此进程分配</a:t>
            </a:r>
            <a:r>
              <a:rPr lang="en-US" altLang="zh-CN" sz="2800"/>
              <a:t>4</a:t>
            </a:r>
            <a:r>
              <a:rPr lang="zh-CN" altLang="en-US" sz="2800"/>
              <a:t>个页框（</a:t>
            </a:r>
            <a:r>
              <a:rPr lang="en-US" altLang="zh-CN" sz="2800"/>
              <a:t>Page frame</a:t>
            </a:r>
            <a:r>
              <a:rPr lang="zh-CN" altLang="en-US" sz="2800"/>
              <a:t>），如下表所示。</a:t>
            </a:r>
          </a:p>
        </p:txBody>
      </p:sp>
      <p:graphicFrame>
        <p:nvGraphicFramePr>
          <p:cNvPr id="327684" name="Group 4">
            <a:extLst>
              <a:ext uri="{FF2B5EF4-FFF2-40B4-BE49-F238E27FC236}">
                <a16:creationId xmlns:a16="http://schemas.microsoft.com/office/drawing/2014/main" id="{1B960885-6879-C94C-4DF6-348BC6A75875}"/>
              </a:ext>
            </a:extLst>
          </p:cNvPr>
          <p:cNvGraphicFramePr>
            <a:graphicFrameLocks noGrp="1"/>
          </p:cNvGraphicFramePr>
          <p:nvPr>
            <p:ph sz="half" idx="1"/>
          </p:nvPr>
        </p:nvGraphicFramePr>
        <p:xfrm>
          <a:off x="250825" y="3644900"/>
          <a:ext cx="4392613" cy="2651760"/>
        </p:xfrm>
        <a:graphic>
          <a:graphicData uri="http://schemas.openxmlformats.org/drawingml/2006/table">
            <a:tbl>
              <a:tblPr/>
              <a:tblGrid>
                <a:gridCol w="863600">
                  <a:extLst>
                    <a:ext uri="{9D8B030D-6E8A-4147-A177-3AD203B41FA5}">
                      <a16:colId xmlns:a16="http://schemas.microsoft.com/office/drawing/2014/main" val="1266920619"/>
                    </a:ext>
                  </a:extLst>
                </a:gridCol>
                <a:gridCol w="1233488">
                  <a:extLst>
                    <a:ext uri="{9D8B030D-6E8A-4147-A177-3AD203B41FA5}">
                      <a16:colId xmlns:a16="http://schemas.microsoft.com/office/drawing/2014/main" val="737980285"/>
                    </a:ext>
                  </a:extLst>
                </a:gridCol>
                <a:gridCol w="1216025">
                  <a:extLst>
                    <a:ext uri="{9D8B030D-6E8A-4147-A177-3AD203B41FA5}">
                      <a16:colId xmlns:a16="http://schemas.microsoft.com/office/drawing/2014/main" val="3568873990"/>
                    </a:ext>
                  </a:extLst>
                </a:gridCol>
                <a:gridCol w="1079500">
                  <a:extLst>
                    <a:ext uri="{9D8B030D-6E8A-4147-A177-3AD203B41FA5}">
                      <a16:colId xmlns:a16="http://schemas.microsoft.com/office/drawing/2014/main" val="2701111519"/>
                    </a:ext>
                  </a:extLst>
                </a:gridCol>
              </a:tblGrid>
              <a:tr h="822325">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页号</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页框号</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装入时刻</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访问位</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529106511"/>
                  </a:ext>
                </a:extLst>
              </a:tr>
              <a:tr h="457200">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361614989"/>
                  </a:ext>
                </a:extLst>
              </a:tr>
              <a:tr h="457200">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230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39505686"/>
                  </a:ext>
                </a:extLst>
              </a:tr>
              <a:tr h="457200">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368150620"/>
                  </a:ext>
                </a:extLst>
              </a:tr>
              <a:tr h="457200">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855962650"/>
                  </a:ext>
                </a:extLst>
              </a:tr>
            </a:tbl>
          </a:graphicData>
        </a:graphic>
      </p:graphicFrame>
      <p:sp>
        <p:nvSpPr>
          <p:cNvPr id="143395" name="Rectangle 36">
            <a:extLst>
              <a:ext uri="{FF2B5EF4-FFF2-40B4-BE49-F238E27FC236}">
                <a16:creationId xmlns:a16="http://schemas.microsoft.com/office/drawing/2014/main" id="{668A00B8-0DEF-585C-8D15-F4DB4F86C091}"/>
              </a:ext>
            </a:extLst>
          </p:cNvPr>
          <p:cNvSpPr>
            <a:spLocks noChangeArrowheads="1"/>
          </p:cNvSpPr>
          <p:nvPr/>
        </p:nvSpPr>
        <p:spPr bwMode="auto">
          <a:xfrm>
            <a:off x="0" y="2770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143396" name="Object 37">
            <a:extLst>
              <a:ext uri="{FF2B5EF4-FFF2-40B4-BE49-F238E27FC236}">
                <a16:creationId xmlns:a16="http://schemas.microsoft.com/office/drawing/2014/main" id="{56D6A9FC-7B07-1EB6-CD09-8643ABF589BE}"/>
              </a:ext>
            </a:extLst>
          </p:cNvPr>
          <p:cNvGraphicFramePr>
            <a:graphicFrameLocks/>
          </p:cNvGraphicFramePr>
          <p:nvPr/>
        </p:nvGraphicFramePr>
        <p:xfrm>
          <a:off x="5003800" y="3500438"/>
          <a:ext cx="3455988" cy="2736850"/>
        </p:xfrm>
        <a:graphic>
          <a:graphicData uri="http://schemas.openxmlformats.org/presentationml/2006/ole">
            <mc:AlternateContent xmlns:mc="http://schemas.openxmlformats.org/markup-compatibility/2006">
              <mc:Choice xmlns:v="urn:schemas-microsoft-com:vml" Requires="v">
                <p:oleObj r:id="rId2" imgW="2260600" imgH="1473200" progId="Word.Picture.8">
                  <p:embed/>
                </p:oleObj>
              </mc:Choice>
              <mc:Fallback>
                <p:oleObj r:id="rId2" imgW="2260600" imgH="1473200" progId="Word.Picture.8">
                  <p:embed/>
                  <p:pic>
                    <p:nvPicPr>
                      <p:cNvPr id="143396" name="Object 37">
                        <a:extLst>
                          <a:ext uri="{FF2B5EF4-FFF2-40B4-BE49-F238E27FC236}">
                            <a16:creationId xmlns:a16="http://schemas.microsoft.com/office/drawing/2014/main" id="{56D6A9FC-7B07-1EB6-CD09-8643ABF589B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3500438"/>
                        <a:ext cx="3455988"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zoom/>
  </p:transition>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7567C9B7-C2B0-93B1-A669-04C0E47126CE}"/>
              </a:ext>
            </a:extLst>
          </p:cNvPr>
          <p:cNvSpPr>
            <a:spLocks noGrp="1" noChangeArrowheads="1"/>
          </p:cNvSpPr>
          <p:nvPr>
            <p:ph type="title"/>
          </p:nvPr>
        </p:nvSpPr>
        <p:spPr/>
        <p:txBody>
          <a:bodyPr/>
          <a:lstStyle/>
          <a:p>
            <a:pPr eaLnBrk="1" hangingPunct="1"/>
            <a:r>
              <a:rPr lang="zh-CN" altLang="en-US" sz="4000" dirty="0"/>
              <a:t>考研题</a:t>
            </a:r>
            <a:r>
              <a:rPr lang="en-US" altLang="zh-CN" sz="4000" dirty="0"/>
              <a:t>5-2</a:t>
            </a:r>
          </a:p>
        </p:txBody>
      </p:sp>
      <p:sp>
        <p:nvSpPr>
          <p:cNvPr id="144386" name="Rectangle 3">
            <a:extLst>
              <a:ext uri="{FF2B5EF4-FFF2-40B4-BE49-F238E27FC236}">
                <a16:creationId xmlns:a16="http://schemas.microsoft.com/office/drawing/2014/main" id="{5D621094-1025-470C-8222-6192C145301E}"/>
              </a:ext>
            </a:extLst>
          </p:cNvPr>
          <p:cNvSpPr>
            <a:spLocks noGrp="1" noChangeArrowheads="1"/>
          </p:cNvSpPr>
          <p:nvPr>
            <p:ph type="body" sz="half" idx="1"/>
          </p:nvPr>
        </p:nvSpPr>
        <p:spPr>
          <a:xfrm>
            <a:off x="863600" y="1268413"/>
            <a:ext cx="8039100" cy="4752975"/>
          </a:xfrm>
        </p:spPr>
        <p:txBody>
          <a:bodyPr/>
          <a:lstStyle/>
          <a:p>
            <a:pPr eaLnBrk="1" hangingPunct="1">
              <a:lnSpc>
                <a:spcPct val="90000"/>
              </a:lnSpc>
            </a:pPr>
            <a:r>
              <a:rPr lang="zh-CN" altLang="en-US" sz="2800"/>
              <a:t>当该进程执行到</a:t>
            </a:r>
            <a:r>
              <a:rPr lang="en-US" altLang="zh-CN" sz="2800"/>
              <a:t>260</a:t>
            </a:r>
            <a:r>
              <a:rPr lang="zh-CN" altLang="en-US" sz="2800"/>
              <a:t>时刻时，要访问逻辑地址为</a:t>
            </a:r>
            <a:r>
              <a:rPr lang="en-US" altLang="zh-CN" sz="2800"/>
              <a:t>17CAH</a:t>
            </a:r>
            <a:r>
              <a:rPr lang="zh-CN" altLang="en-US" sz="2800"/>
              <a:t>的数据，请回答下列问题：</a:t>
            </a:r>
          </a:p>
          <a:p>
            <a:pPr eaLnBrk="1" hangingPunct="1">
              <a:lnSpc>
                <a:spcPct val="90000"/>
              </a:lnSpc>
            </a:pPr>
            <a:r>
              <a:rPr lang="zh-CN" altLang="en-US" sz="2800"/>
              <a:t>（</a:t>
            </a:r>
            <a:r>
              <a:rPr lang="en-US" altLang="zh-CN" sz="2800"/>
              <a:t>1</a:t>
            </a:r>
            <a:r>
              <a:rPr lang="zh-CN" altLang="en-US" sz="2800"/>
              <a:t>）该逻辑地址对应的页号是多少？</a:t>
            </a:r>
          </a:p>
          <a:p>
            <a:pPr eaLnBrk="1" hangingPunct="1">
              <a:lnSpc>
                <a:spcPct val="90000"/>
              </a:lnSpc>
            </a:pPr>
            <a:r>
              <a:rPr lang="zh-CN" altLang="en-US" sz="2800"/>
              <a:t>（</a:t>
            </a:r>
            <a:r>
              <a:rPr lang="en-US" altLang="zh-CN" sz="2800"/>
              <a:t>2</a:t>
            </a:r>
            <a:r>
              <a:rPr lang="zh-CN" altLang="en-US" sz="2800"/>
              <a:t>）若采用先进先出（</a:t>
            </a:r>
            <a:r>
              <a:rPr lang="en-US" altLang="zh-CN" sz="2800"/>
              <a:t>FIFO</a:t>
            </a:r>
            <a:r>
              <a:rPr lang="zh-CN" altLang="en-US" sz="2800"/>
              <a:t>）置换算法，该逻辑地址对应的物理地址是多少？要求给出计算过程。</a:t>
            </a:r>
          </a:p>
          <a:p>
            <a:pPr eaLnBrk="1" hangingPunct="1">
              <a:lnSpc>
                <a:spcPct val="90000"/>
              </a:lnSpc>
            </a:pPr>
            <a:r>
              <a:rPr lang="zh-CN" altLang="en-US" sz="2800"/>
              <a:t>（</a:t>
            </a:r>
            <a:r>
              <a:rPr lang="en-US" altLang="zh-CN" sz="2800"/>
              <a:t>3</a:t>
            </a:r>
            <a:r>
              <a:rPr lang="zh-CN" altLang="en-US" sz="2800"/>
              <a:t>）若采用时钟（</a:t>
            </a:r>
            <a:r>
              <a:rPr lang="en-US" altLang="zh-CN" sz="2800"/>
              <a:t>CLOCK</a:t>
            </a:r>
            <a:r>
              <a:rPr lang="zh-CN" altLang="en-US" sz="2800"/>
              <a:t>）置换算法，该逻辑地址对应的物理地址是多少？要求给出计算过程。（设搜索下一页的指针沿顺时针方向移动，且当前指向</a:t>
            </a:r>
            <a:r>
              <a:rPr lang="en-US" altLang="zh-CN" sz="2800"/>
              <a:t>2</a:t>
            </a:r>
            <a:r>
              <a:rPr lang="zh-CN" altLang="en-US" sz="2800"/>
              <a:t>号页框，如图所示）。</a:t>
            </a:r>
          </a:p>
          <a:p>
            <a:pPr eaLnBrk="1" hangingPunct="1">
              <a:lnSpc>
                <a:spcPct val="90000"/>
              </a:lnSpc>
            </a:pPr>
            <a:r>
              <a:rPr lang="zh-CN" altLang="en-US" sz="2800"/>
              <a:t>注：本题为</a:t>
            </a:r>
            <a:r>
              <a:rPr lang="en-US" altLang="zh-CN" sz="2800"/>
              <a:t>2010</a:t>
            </a:r>
            <a:r>
              <a:rPr lang="zh-CN" altLang="en-US" sz="2800"/>
              <a:t>年全国考研题</a:t>
            </a:r>
          </a:p>
        </p:txBody>
      </p:sp>
    </p:spTree>
  </p:cSld>
  <p:clrMapOvr>
    <a:masterClrMapping/>
  </p:clrMapOvr>
  <p:transition spd="med">
    <p:zoom/>
  </p:transition>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a:extLst>
              <a:ext uri="{FF2B5EF4-FFF2-40B4-BE49-F238E27FC236}">
                <a16:creationId xmlns:a16="http://schemas.microsoft.com/office/drawing/2014/main" id="{C0BA02C8-1881-8340-45B4-640890FC6282}"/>
              </a:ext>
            </a:extLst>
          </p:cNvPr>
          <p:cNvSpPr>
            <a:spLocks noGrp="1" noChangeArrowheads="1"/>
          </p:cNvSpPr>
          <p:nvPr>
            <p:ph type="title"/>
          </p:nvPr>
        </p:nvSpPr>
        <p:spPr/>
        <p:txBody>
          <a:bodyPr/>
          <a:lstStyle/>
          <a:p>
            <a:pPr eaLnBrk="1" hangingPunct="1"/>
            <a:r>
              <a:rPr lang="zh-CN" altLang="en-US" sz="4000" dirty="0"/>
              <a:t>考研题</a:t>
            </a:r>
            <a:r>
              <a:rPr lang="en-US" altLang="zh-CN" sz="4000" dirty="0"/>
              <a:t>5</a:t>
            </a:r>
            <a:r>
              <a:rPr lang="zh-CN" altLang="en-US" sz="4000" dirty="0"/>
              <a:t> </a:t>
            </a:r>
            <a:r>
              <a:rPr lang="en-US" altLang="zh-CN" sz="4000" dirty="0"/>
              <a:t>-3</a:t>
            </a:r>
          </a:p>
        </p:txBody>
      </p:sp>
      <p:sp>
        <p:nvSpPr>
          <p:cNvPr id="145410" name="Rectangle 3">
            <a:extLst>
              <a:ext uri="{FF2B5EF4-FFF2-40B4-BE49-F238E27FC236}">
                <a16:creationId xmlns:a16="http://schemas.microsoft.com/office/drawing/2014/main" id="{2BEDAE6D-543C-0A44-A561-49642DE6E673}"/>
              </a:ext>
            </a:extLst>
          </p:cNvPr>
          <p:cNvSpPr>
            <a:spLocks noGrp="1" noChangeArrowheads="1"/>
          </p:cNvSpPr>
          <p:nvPr>
            <p:ph idx="1"/>
          </p:nvPr>
        </p:nvSpPr>
        <p:spPr>
          <a:xfrm>
            <a:off x="900113" y="1268413"/>
            <a:ext cx="8004175" cy="4752975"/>
          </a:xfrm>
        </p:spPr>
        <p:txBody>
          <a:bodyPr/>
          <a:lstStyle/>
          <a:p>
            <a:pPr eaLnBrk="1" hangingPunct="1"/>
            <a:r>
              <a:rPr lang="zh-CN" altLang="en-US"/>
              <a:t>解：（</a:t>
            </a:r>
            <a:r>
              <a:rPr lang="en-US" altLang="zh-CN"/>
              <a:t>1</a:t>
            </a:r>
            <a:r>
              <a:rPr lang="zh-CN" altLang="en-US"/>
              <a:t>）因为</a:t>
            </a:r>
            <a:r>
              <a:rPr lang="en-US" altLang="zh-CN"/>
              <a:t>17ACH=(0001 0111 1100 1010)</a:t>
            </a:r>
            <a:r>
              <a:rPr lang="en-US" altLang="zh-CN" baseline="-25000"/>
              <a:t>2</a:t>
            </a:r>
            <a:r>
              <a:rPr lang="zh-CN" altLang="en-US"/>
              <a:t>，由于采用固定分配局部置换策略，所以该进程只能占用</a:t>
            </a:r>
            <a:r>
              <a:rPr lang="en-US" altLang="zh-CN"/>
              <a:t>4</a:t>
            </a:r>
            <a:r>
              <a:rPr lang="zh-CN" altLang="en-US"/>
              <a:t>个页框。页大小为</a:t>
            </a:r>
            <a:r>
              <a:rPr lang="en-US" altLang="zh-CN"/>
              <a:t>1KB=2</a:t>
            </a:r>
            <a:r>
              <a:rPr lang="en-US" altLang="zh-CN" baseline="30000"/>
              <a:t>10</a:t>
            </a:r>
            <a:r>
              <a:rPr lang="en-US" altLang="zh-CN"/>
              <a:t>B</a:t>
            </a:r>
            <a:r>
              <a:rPr lang="zh-CN" altLang="en-US"/>
              <a:t>，所以页内偏移量为</a:t>
            </a:r>
            <a:r>
              <a:rPr lang="en-US" altLang="zh-CN"/>
              <a:t>10</a:t>
            </a:r>
            <a:r>
              <a:rPr lang="zh-CN" altLang="en-US"/>
              <a:t>位，于是前</a:t>
            </a:r>
            <a:r>
              <a:rPr lang="en-US" altLang="zh-CN"/>
              <a:t>6</a:t>
            </a:r>
            <a:r>
              <a:rPr lang="zh-CN" altLang="en-US"/>
              <a:t>位为页号，对应的页号为</a:t>
            </a:r>
            <a:r>
              <a:rPr lang="en-US" altLang="zh-CN"/>
              <a:t>5</a:t>
            </a:r>
            <a:r>
              <a:rPr lang="zh-CN" altLang="en-US"/>
              <a:t>（</a:t>
            </a:r>
            <a:r>
              <a:rPr lang="en-US" altLang="zh-CN"/>
              <a:t>2</a:t>
            </a:r>
            <a:r>
              <a:rPr lang="zh-CN" altLang="en-US"/>
              <a:t>分）。</a:t>
            </a:r>
          </a:p>
          <a:p>
            <a:pPr eaLnBrk="1" hangingPunct="1"/>
            <a:endParaRPr lang="zh-CN" altLang="en-US"/>
          </a:p>
        </p:txBody>
      </p:sp>
    </p:spTree>
  </p:cSld>
  <p:clrMapOvr>
    <a:masterClrMapping/>
  </p:clrMapOvr>
  <p:transition spd="med">
    <p:zoom/>
  </p:transition>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428BC1C6-07D4-D4D3-A5DA-43FC7C474322}"/>
              </a:ext>
            </a:extLst>
          </p:cNvPr>
          <p:cNvSpPr>
            <a:spLocks noGrp="1" noChangeArrowheads="1"/>
          </p:cNvSpPr>
          <p:nvPr>
            <p:ph type="title"/>
          </p:nvPr>
        </p:nvSpPr>
        <p:spPr/>
        <p:txBody>
          <a:bodyPr/>
          <a:lstStyle/>
          <a:p>
            <a:pPr eaLnBrk="1" hangingPunct="1"/>
            <a:r>
              <a:rPr lang="zh-CN" altLang="en-US" sz="4000" dirty="0"/>
              <a:t>考研题</a:t>
            </a:r>
            <a:r>
              <a:rPr lang="en-US" altLang="zh-CN" sz="4000" dirty="0"/>
              <a:t>5-4</a:t>
            </a:r>
          </a:p>
        </p:txBody>
      </p:sp>
      <p:sp>
        <p:nvSpPr>
          <p:cNvPr id="146434" name="Rectangle 3">
            <a:extLst>
              <a:ext uri="{FF2B5EF4-FFF2-40B4-BE49-F238E27FC236}">
                <a16:creationId xmlns:a16="http://schemas.microsoft.com/office/drawing/2014/main" id="{FAF3B395-0D22-B045-EC8A-E013A4D2C611}"/>
              </a:ext>
            </a:extLst>
          </p:cNvPr>
          <p:cNvSpPr>
            <a:spLocks noGrp="1" noChangeArrowheads="1"/>
          </p:cNvSpPr>
          <p:nvPr>
            <p:ph type="body" sz="half" idx="1"/>
          </p:nvPr>
        </p:nvSpPr>
        <p:spPr>
          <a:xfrm>
            <a:off x="762000" y="981075"/>
            <a:ext cx="7481888" cy="2590800"/>
          </a:xfrm>
        </p:spPr>
        <p:txBody>
          <a:bodyPr/>
          <a:lstStyle/>
          <a:p>
            <a:pPr algn="just" eaLnBrk="1" hangingPunct="1"/>
            <a:r>
              <a:rPr lang="zh-CN" altLang="en-US" sz="2800"/>
              <a:t>（</a:t>
            </a:r>
            <a:r>
              <a:rPr lang="en-US" altLang="zh-CN" sz="2800"/>
              <a:t>2</a:t>
            </a:r>
            <a:r>
              <a:rPr lang="zh-CN" altLang="en-US" sz="2800"/>
              <a:t>）页面走向是：</a:t>
            </a:r>
            <a:r>
              <a:rPr lang="en-US" altLang="zh-CN" sz="2800"/>
              <a:t>0</a:t>
            </a:r>
            <a:r>
              <a:rPr lang="zh-CN" altLang="en-US" sz="2800"/>
              <a:t>，</a:t>
            </a:r>
            <a:r>
              <a:rPr lang="en-US" altLang="zh-CN" sz="2800"/>
              <a:t>3</a:t>
            </a:r>
            <a:r>
              <a:rPr lang="zh-CN" altLang="en-US" sz="2800"/>
              <a:t>，</a:t>
            </a:r>
            <a:r>
              <a:rPr lang="en-US" altLang="zh-CN" sz="2800"/>
              <a:t>2</a:t>
            </a:r>
            <a:r>
              <a:rPr lang="zh-CN" altLang="en-US" sz="2800"/>
              <a:t>，</a:t>
            </a:r>
            <a:r>
              <a:rPr lang="en-US" altLang="zh-CN" sz="2800"/>
              <a:t>1</a:t>
            </a:r>
            <a:r>
              <a:rPr lang="zh-CN" altLang="en-US" sz="2800"/>
              <a:t>，</a:t>
            </a:r>
            <a:r>
              <a:rPr lang="en-US" altLang="zh-CN" sz="2800"/>
              <a:t>5</a:t>
            </a:r>
            <a:r>
              <a:rPr lang="zh-CN" altLang="en-US" sz="2800"/>
              <a:t>。采用</a:t>
            </a:r>
            <a:r>
              <a:rPr lang="en-US" altLang="zh-CN" sz="2800"/>
              <a:t>FIFO</a:t>
            </a:r>
            <a:r>
              <a:rPr lang="zh-CN" altLang="en-US" sz="2800"/>
              <a:t>置换算法时的页面置换情况如下表（需要替换装入时间最早的页面），从中看到被置换的页面所在的页框为</a:t>
            </a:r>
            <a:r>
              <a:rPr lang="en-US" altLang="zh-CN" sz="2800"/>
              <a:t>7</a:t>
            </a:r>
            <a:r>
              <a:rPr lang="zh-CN" altLang="en-US" sz="2800"/>
              <a:t>，所以</a:t>
            </a:r>
            <a:r>
              <a:rPr lang="en-US" altLang="zh-CN" sz="2800"/>
              <a:t>17ACH</a:t>
            </a:r>
            <a:r>
              <a:rPr lang="zh-CN" altLang="en-US" sz="2800"/>
              <a:t>对应的物理地址为</a:t>
            </a:r>
            <a:r>
              <a:rPr lang="en-US" altLang="zh-CN" sz="2800"/>
              <a:t>(000111 11 1100 1010)2=1FCAH</a:t>
            </a:r>
            <a:r>
              <a:rPr lang="zh-CN" altLang="en-US" sz="2800"/>
              <a:t>（</a:t>
            </a:r>
            <a:r>
              <a:rPr lang="en-US" altLang="zh-CN" sz="2800"/>
              <a:t>3</a:t>
            </a:r>
            <a:r>
              <a:rPr lang="zh-CN" altLang="en-US" sz="2800"/>
              <a:t>分）。</a:t>
            </a:r>
          </a:p>
        </p:txBody>
      </p:sp>
      <p:graphicFrame>
        <p:nvGraphicFramePr>
          <p:cNvPr id="330756" name="Group 4">
            <a:extLst>
              <a:ext uri="{FF2B5EF4-FFF2-40B4-BE49-F238E27FC236}">
                <a16:creationId xmlns:a16="http://schemas.microsoft.com/office/drawing/2014/main" id="{8A279B52-690D-F523-0401-355D8F59F66E}"/>
              </a:ext>
            </a:extLst>
          </p:cNvPr>
          <p:cNvGraphicFramePr>
            <a:graphicFrameLocks noGrp="1"/>
          </p:cNvGraphicFramePr>
          <p:nvPr>
            <p:ph sz="half" idx="1"/>
            <p:extLst>
              <p:ext uri="{D42A27DB-BD31-4B8C-83A1-F6EECF244321}">
                <p14:modId xmlns:p14="http://schemas.microsoft.com/office/powerpoint/2010/main" val="4065949865"/>
              </p:ext>
            </p:extLst>
          </p:nvPr>
        </p:nvGraphicFramePr>
        <p:xfrm>
          <a:off x="740166" y="3914623"/>
          <a:ext cx="7419975" cy="2870201"/>
        </p:xfrm>
        <a:graphic>
          <a:graphicData uri="http://schemas.openxmlformats.org/drawingml/2006/table">
            <a:tbl>
              <a:tblPr/>
              <a:tblGrid>
                <a:gridCol w="2033588">
                  <a:extLst>
                    <a:ext uri="{9D8B030D-6E8A-4147-A177-3AD203B41FA5}">
                      <a16:colId xmlns:a16="http://schemas.microsoft.com/office/drawing/2014/main" val="321949053"/>
                    </a:ext>
                  </a:extLst>
                </a:gridCol>
                <a:gridCol w="1076325">
                  <a:extLst>
                    <a:ext uri="{9D8B030D-6E8A-4147-A177-3AD203B41FA5}">
                      <a16:colId xmlns:a16="http://schemas.microsoft.com/office/drawing/2014/main" val="904571194"/>
                    </a:ext>
                  </a:extLst>
                </a:gridCol>
                <a:gridCol w="1076325">
                  <a:extLst>
                    <a:ext uri="{9D8B030D-6E8A-4147-A177-3AD203B41FA5}">
                      <a16:colId xmlns:a16="http://schemas.microsoft.com/office/drawing/2014/main" val="3362928714"/>
                    </a:ext>
                  </a:extLst>
                </a:gridCol>
                <a:gridCol w="1079500">
                  <a:extLst>
                    <a:ext uri="{9D8B030D-6E8A-4147-A177-3AD203B41FA5}">
                      <a16:colId xmlns:a16="http://schemas.microsoft.com/office/drawing/2014/main" val="1088861919"/>
                    </a:ext>
                  </a:extLst>
                </a:gridCol>
                <a:gridCol w="1074737">
                  <a:extLst>
                    <a:ext uri="{9D8B030D-6E8A-4147-A177-3AD203B41FA5}">
                      <a16:colId xmlns:a16="http://schemas.microsoft.com/office/drawing/2014/main" val="1923566823"/>
                    </a:ext>
                  </a:extLst>
                </a:gridCol>
                <a:gridCol w="1079500">
                  <a:extLst>
                    <a:ext uri="{9D8B030D-6E8A-4147-A177-3AD203B41FA5}">
                      <a16:colId xmlns:a16="http://schemas.microsoft.com/office/drawing/2014/main" val="3892241845"/>
                    </a:ext>
                  </a:extLst>
                </a:gridCol>
              </a:tblGrid>
              <a:tr h="457200">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页面走向</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714846256"/>
                  </a:ext>
                </a:extLst>
              </a:tr>
              <a:tr h="500063">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物理块</a:t>
                      </a: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17584968"/>
                  </a:ext>
                </a:extLst>
              </a:tr>
              <a:tr h="498475">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物理块</a:t>
                      </a: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968754419"/>
                  </a:ext>
                </a:extLst>
              </a:tr>
              <a:tr h="457200">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物理块</a:t>
                      </a: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112909517"/>
                  </a:ext>
                </a:extLst>
              </a:tr>
              <a:tr h="500063">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物理块</a:t>
                      </a: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679261077"/>
                  </a:ext>
                </a:extLst>
              </a:tr>
              <a:tr h="457200">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缺页否</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marL="342900" indent="-342900" eaLnBrk="0" hangingPunct="0">
                        <a:defRPr sz="2800">
                          <a:solidFill>
                            <a:schemeClr val="tx1"/>
                          </a:solidFill>
                          <a:latin typeface="Tahoma" panose="020B0604030504040204" pitchFamily="34" charset="0"/>
                          <a:ea typeface="宋体" panose="02010600030101010101" pitchFamily="2" charset="-122"/>
                        </a:defRPr>
                      </a:lvl1pPr>
                      <a:lvl2pPr eaLnBrk="0" hangingPunct="0">
                        <a:buClr>
                          <a:schemeClr val="hlink"/>
                        </a:buClr>
                        <a:buSzPct val="55000"/>
                        <a:defRPr sz="2400">
                          <a:solidFill>
                            <a:schemeClr val="tx1"/>
                          </a:solidFill>
                          <a:latin typeface="Tahoma" panose="020B0604030504040204" pitchFamily="34" charset="0"/>
                          <a:ea typeface="宋体" panose="02010600030101010101" pitchFamily="2" charset="-122"/>
                        </a:defRPr>
                      </a:lvl2pPr>
                      <a:lvl3pPr eaLnBrk="0" hangingPunct="0">
                        <a:buSzPct val="50000"/>
                        <a:defRPr sz="2000">
                          <a:solidFill>
                            <a:schemeClr val="tx1"/>
                          </a:solidFill>
                          <a:latin typeface="Tahoma" panose="020B0604030504040204" pitchFamily="34" charset="0"/>
                          <a:ea typeface="宋体" panose="02010600030101010101" pitchFamily="2" charset="-122"/>
                        </a:defRPr>
                      </a:lvl3pPr>
                      <a:lvl4pPr eaLnBrk="0" hangingPunct="0">
                        <a:buClr>
                          <a:schemeClr val="accent2"/>
                        </a:buClr>
                        <a:buSzPct val="55000"/>
                        <a:defRPr>
                          <a:solidFill>
                            <a:schemeClr val="tx1"/>
                          </a:solidFill>
                          <a:latin typeface="Tahoma" panose="020B0604030504040204" pitchFamily="34" charset="0"/>
                          <a:ea typeface="宋体" panose="02010600030101010101" pitchFamily="2" charset="-122"/>
                        </a:defRPr>
                      </a:lvl4pPr>
                      <a:lvl5pPr eaLnBrk="0" hangingPunct="0">
                        <a:buClr>
                          <a:schemeClr val="accent1"/>
                        </a:buClr>
                        <a:buSzPct val="50000"/>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495514556"/>
                  </a:ext>
                </a:extLst>
              </a:tr>
            </a:tbl>
          </a:graphicData>
        </a:graphic>
      </p:graphicFrame>
    </p:spTree>
  </p:cSld>
  <p:clrMapOvr>
    <a:masterClrMapping/>
  </p:clrMapOvr>
  <p:transition spd="med">
    <p:zoom/>
  </p:transition>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a:extLst>
              <a:ext uri="{FF2B5EF4-FFF2-40B4-BE49-F238E27FC236}">
                <a16:creationId xmlns:a16="http://schemas.microsoft.com/office/drawing/2014/main" id="{718A281A-7296-1C91-E679-BB8D411C6E3D}"/>
              </a:ext>
            </a:extLst>
          </p:cNvPr>
          <p:cNvSpPr>
            <a:spLocks noGrp="1" noChangeArrowheads="1"/>
          </p:cNvSpPr>
          <p:nvPr>
            <p:ph type="title"/>
          </p:nvPr>
        </p:nvSpPr>
        <p:spPr/>
        <p:txBody>
          <a:bodyPr/>
          <a:lstStyle/>
          <a:p>
            <a:pPr eaLnBrk="1" hangingPunct="1"/>
            <a:r>
              <a:rPr lang="zh-CN" altLang="en-US" sz="4000" dirty="0"/>
              <a:t>考研题</a:t>
            </a:r>
            <a:r>
              <a:rPr lang="en-US" altLang="zh-CN" sz="4000" dirty="0"/>
              <a:t>5-5</a:t>
            </a:r>
          </a:p>
        </p:txBody>
      </p:sp>
      <p:sp>
        <p:nvSpPr>
          <p:cNvPr id="147458" name="Rectangle 3">
            <a:extLst>
              <a:ext uri="{FF2B5EF4-FFF2-40B4-BE49-F238E27FC236}">
                <a16:creationId xmlns:a16="http://schemas.microsoft.com/office/drawing/2014/main" id="{5E2D4AEF-8DBC-8A37-1CB0-E19E55FDC99F}"/>
              </a:ext>
            </a:extLst>
          </p:cNvPr>
          <p:cNvSpPr>
            <a:spLocks noGrp="1" noChangeArrowheads="1"/>
          </p:cNvSpPr>
          <p:nvPr>
            <p:ph type="body" sz="half" idx="1"/>
          </p:nvPr>
        </p:nvSpPr>
        <p:spPr>
          <a:xfrm>
            <a:off x="762000" y="981075"/>
            <a:ext cx="7950200" cy="5148263"/>
          </a:xfrm>
        </p:spPr>
        <p:txBody>
          <a:bodyPr/>
          <a:lstStyle/>
          <a:p>
            <a:pPr algn="just" eaLnBrk="1" hangingPunct="1"/>
            <a:r>
              <a:rPr lang="zh-CN" altLang="en-US" sz="2800"/>
              <a:t>根据</a:t>
            </a:r>
            <a:r>
              <a:rPr lang="en-US" altLang="zh-CN" sz="2800"/>
              <a:t>CLOCK</a:t>
            </a:r>
            <a:r>
              <a:rPr lang="zh-CN" altLang="en-US" sz="2800"/>
              <a:t>算法，如果当前指针所指页框的使用位为</a:t>
            </a:r>
            <a:r>
              <a:rPr lang="en-US" altLang="zh-CN" sz="2800"/>
              <a:t>0</a:t>
            </a:r>
            <a:r>
              <a:rPr lang="zh-CN" altLang="en-US" sz="2800"/>
              <a:t>，则替换该页；否则将使用位清零，并将指针指向下一个页框，继续查找。</a:t>
            </a:r>
          </a:p>
          <a:p>
            <a:pPr algn="just" eaLnBrk="1" hangingPunct="1"/>
            <a:r>
              <a:rPr lang="zh-CN" altLang="en-US" sz="2800"/>
              <a:t>根据题设和示意图，将从</a:t>
            </a:r>
            <a:r>
              <a:rPr lang="en-US" altLang="zh-CN" sz="2800"/>
              <a:t>2</a:t>
            </a:r>
            <a:r>
              <a:rPr lang="zh-CN" altLang="en-US" sz="2800"/>
              <a:t>号页框开始，前</a:t>
            </a:r>
            <a:r>
              <a:rPr lang="en-US" altLang="zh-CN" sz="2800"/>
              <a:t>4</a:t>
            </a:r>
            <a:r>
              <a:rPr lang="zh-CN" altLang="en-US" sz="2800"/>
              <a:t>次查找页框的顺序为</a:t>
            </a:r>
            <a:r>
              <a:rPr lang="en-US" altLang="zh-CN" sz="2800"/>
              <a:t>2→4→7→9</a:t>
            </a:r>
            <a:r>
              <a:rPr lang="zh-CN" altLang="en-US" sz="2800"/>
              <a:t>，并将对应页框的使用位清零。在第</a:t>
            </a:r>
            <a:r>
              <a:rPr lang="en-US" altLang="zh-CN" sz="2800"/>
              <a:t>5</a:t>
            </a:r>
            <a:r>
              <a:rPr lang="zh-CN" altLang="en-US" sz="2800"/>
              <a:t>次查找中，指针指向</a:t>
            </a:r>
            <a:r>
              <a:rPr lang="en-US" altLang="zh-CN" sz="2800"/>
              <a:t>2</a:t>
            </a:r>
            <a:r>
              <a:rPr lang="zh-CN" altLang="en-US" sz="2800"/>
              <a:t>号页框，因</a:t>
            </a:r>
            <a:r>
              <a:rPr lang="en-US" altLang="zh-CN" sz="2800"/>
              <a:t>2</a:t>
            </a:r>
            <a:r>
              <a:rPr lang="zh-CN" altLang="en-US" sz="2800"/>
              <a:t>号页框的使用位为</a:t>
            </a:r>
            <a:r>
              <a:rPr lang="en-US" altLang="zh-CN" sz="2800"/>
              <a:t>0</a:t>
            </a:r>
            <a:r>
              <a:rPr lang="zh-CN" altLang="en-US" sz="2800"/>
              <a:t>，故淘汰</a:t>
            </a:r>
            <a:r>
              <a:rPr lang="en-US" altLang="zh-CN" sz="2800"/>
              <a:t>2</a:t>
            </a:r>
            <a:r>
              <a:rPr lang="zh-CN" altLang="en-US" sz="2800"/>
              <a:t>号页框对应的</a:t>
            </a:r>
            <a:r>
              <a:rPr lang="en-US" altLang="zh-CN" sz="2800"/>
              <a:t>2</a:t>
            </a:r>
            <a:r>
              <a:rPr lang="zh-CN" altLang="en-US" sz="2800"/>
              <a:t>号页面，把</a:t>
            </a:r>
            <a:r>
              <a:rPr lang="en-US" altLang="zh-CN" sz="2800"/>
              <a:t>5</a:t>
            </a:r>
            <a:r>
              <a:rPr lang="zh-CN" altLang="en-US" sz="2800"/>
              <a:t>号页面装入</a:t>
            </a:r>
            <a:r>
              <a:rPr lang="en-US" altLang="zh-CN" sz="2800"/>
              <a:t>2</a:t>
            </a:r>
            <a:r>
              <a:rPr lang="zh-CN" altLang="en-US" sz="2800"/>
              <a:t>号页框中，并将对应使用位设置为</a:t>
            </a:r>
            <a:r>
              <a:rPr lang="en-US" altLang="zh-CN" sz="2800"/>
              <a:t>1</a:t>
            </a:r>
            <a:r>
              <a:rPr lang="zh-CN" altLang="en-US" sz="2800"/>
              <a:t>，所以对应的物理地址为</a:t>
            </a:r>
            <a:r>
              <a:rPr lang="en-US" altLang="zh-CN" sz="2800"/>
              <a:t>00010 11 11001010B</a:t>
            </a:r>
            <a:r>
              <a:rPr lang="zh-CN" altLang="en-US" sz="2800"/>
              <a:t>，换算成十六进制为</a:t>
            </a:r>
            <a:r>
              <a:rPr lang="en-US" altLang="zh-CN" sz="2800"/>
              <a:t>0BCAH</a:t>
            </a:r>
            <a:r>
              <a:rPr lang="zh-CN" altLang="en-US" sz="2800"/>
              <a:t>（</a:t>
            </a:r>
            <a:r>
              <a:rPr lang="en-US" altLang="zh-CN" sz="2800"/>
              <a:t>3</a:t>
            </a:r>
            <a:r>
              <a:rPr lang="zh-CN" altLang="en-US" sz="2800"/>
              <a:t>分）。 </a:t>
            </a:r>
          </a:p>
        </p:txBody>
      </p:sp>
    </p:spTree>
  </p:cSld>
  <p:clrMapOvr>
    <a:masterClrMapping/>
  </p:clrMapOvr>
  <p:transition spd="med">
    <p:zoom/>
  </p:transition>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C3E1B65D-4B07-7710-14EE-F71D3138EA7A}"/>
              </a:ext>
            </a:extLst>
          </p:cNvPr>
          <p:cNvSpPr>
            <a:spLocks noGrp="1" noChangeArrowheads="1"/>
          </p:cNvSpPr>
          <p:nvPr>
            <p:ph type="title"/>
          </p:nvPr>
        </p:nvSpPr>
        <p:spPr/>
        <p:txBody>
          <a:bodyPr/>
          <a:lstStyle/>
          <a:p>
            <a:pPr eaLnBrk="1" hangingPunct="1"/>
            <a:r>
              <a:rPr lang="zh-CN" altLang="en-US" sz="4000" dirty="0"/>
              <a:t>考研题</a:t>
            </a:r>
            <a:r>
              <a:rPr lang="en-US" altLang="zh-CN" sz="4000" dirty="0"/>
              <a:t>6</a:t>
            </a:r>
          </a:p>
        </p:txBody>
      </p:sp>
      <p:sp>
        <p:nvSpPr>
          <p:cNvPr id="148482" name="Rectangle 3">
            <a:extLst>
              <a:ext uri="{FF2B5EF4-FFF2-40B4-BE49-F238E27FC236}">
                <a16:creationId xmlns:a16="http://schemas.microsoft.com/office/drawing/2014/main" id="{C9C4D6D0-9130-BA0E-0181-CF876A2990FD}"/>
              </a:ext>
            </a:extLst>
          </p:cNvPr>
          <p:cNvSpPr>
            <a:spLocks noGrp="1" noChangeArrowheads="1"/>
          </p:cNvSpPr>
          <p:nvPr>
            <p:ph type="body" sz="half" idx="1"/>
          </p:nvPr>
        </p:nvSpPr>
        <p:spPr>
          <a:xfrm>
            <a:off x="835025" y="1268413"/>
            <a:ext cx="7950200" cy="5148262"/>
          </a:xfrm>
        </p:spPr>
        <p:txBody>
          <a:bodyPr/>
          <a:lstStyle/>
          <a:p>
            <a:pPr eaLnBrk="1" hangingPunct="1">
              <a:lnSpc>
                <a:spcPct val="90000"/>
              </a:lnSpc>
            </a:pPr>
            <a:r>
              <a:rPr lang="zh-CN" altLang="en-US" sz="2800"/>
              <a:t>在缺页处理过程中，操作系统执行的操作可能是</a:t>
            </a:r>
            <a:r>
              <a:rPr lang="en-US" altLang="zh-CN" sz="2800"/>
              <a:t>____</a:t>
            </a:r>
            <a:r>
              <a:rPr lang="zh-CN" altLang="en-US" sz="2800"/>
              <a:t>。</a:t>
            </a:r>
            <a:r>
              <a:rPr lang="en-US" altLang="zh-CN" sz="2800"/>
              <a:t>11</a:t>
            </a:r>
          </a:p>
          <a:p>
            <a:pPr eaLnBrk="1" hangingPunct="1">
              <a:lnSpc>
                <a:spcPct val="90000"/>
              </a:lnSpc>
              <a:buFont typeface="Wingdings" pitchFamily="2" charset="2"/>
              <a:buNone/>
            </a:pPr>
            <a:r>
              <a:rPr lang="en-US" altLang="zh-CN" sz="2800"/>
              <a:t>   Ⅰ</a:t>
            </a:r>
            <a:r>
              <a:rPr lang="zh-CN" altLang="en-US" sz="2800"/>
              <a:t>、修改页表  </a:t>
            </a:r>
            <a:r>
              <a:rPr lang="en-US" altLang="zh-CN" sz="2800"/>
              <a:t>Ⅱ</a:t>
            </a:r>
            <a:r>
              <a:rPr lang="zh-CN" altLang="en-US" sz="2800"/>
              <a:t>、磁盘</a:t>
            </a:r>
            <a:r>
              <a:rPr lang="en-US" altLang="zh-CN" sz="2800"/>
              <a:t>I/O  Ⅲ</a:t>
            </a:r>
            <a:r>
              <a:rPr lang="zh-CN" altLang="en-US" sz="2800"/>
              <a:t>、分配页框</a:t>
            </a:r>
          </a:p>
          <a:p>
            <a:pPr eaLnBrk="1" hangingPunct="1">
              <a:lnSpc>
                <a:spcPct val="90000"/>
              </a:lnSpc>
              <a:buFont typeface="Wingdings" pitchFamily="2" charset="2"/>
              <a:buNone/>
            </a:pPr>
            <a:r>
              <a:rPr lang="en-US" altLang="zh-CN" sz="2800"/>
              <a:t>   A</a:t>
            </a:r>
            <a:r>
              <a:rPr lang="zh-CN" altLang="en-US" sz="2800"/>
              <a:t>、仅</a:t>
            </a:r>
            <a:r>
              <a:rPr lang="en-US" altLang="zh-CN" sz="2800"/>
              <a:t>Ⅰ</a:t>
            </a:r>
            <a:r>
              <a:rPr lang="zh-CN" altLang="en-US" sz="2800"/>
              <a:t>、</a:t>
            </a:r>
            <a:r>
              <a:rPr lang="en-US" altLang="zh-CN" sz="2800"/>
              <a:t>Ⅱ         B</a:t>
            </a:r>
            <a:r>
              <a:rPr lang="zh-CN" altLang="en-US" sz="2800"/>
              <a:t>、仅</a:t>
            </a:r>
            <a:r>
              <a:rPr lang="en-US" altLang="zh-CN" sz="2800"/>
              <a:t>Ⅱ</a:t>
            </a:r>
          </a:p>
          <a:p>
            <a:pPr eaLnBrk="1" hangingPunct="1">
              <a:lnSpc>
                <a:spcPct val="90000"/>
              </a:lnSpc>
              <a:buFont typeface="Wingdings" pitchFamily="2" charset="2"/>
              <a:buNone/>
            </a:pPr>
            <a:r>
              <a:rPr lang="en-US" altLang="zh-CN" sz="2800"/>
              <a:t>   C</a:t>
            </a:r>
            <a:r>
              <a:rPr lang="zh-CN" altLang="en-US" sz="2800"/>
              <a:t>、仅</a:t>
            </a:r>
            <a:r>
              <a:rPr lang="en-US" altLang="zh-CN" sz="2800"/>
              <a:t>Ⅲ               D</a:t>
            </a:r>
            <a:r>
              <a:rPr lang="zh-CN" altLang="en-US" sz="2800"/>
              <a:t>、</a:t>
            </a:r>
            <a:r>
              <a:rPr lang="en-US" altLang="zh-CN" sz="2800"/>
              <a:t>Ⅰ</a:t>
            </a:r>
            <a:r>
              <a:rPr lang="zh-CN" altLang="en-US" sz="2800"/>
              <a:t>、</a:t>
            </a:r>
            <a:r>
              <a:rPr lang="en-US" altLang="zh-CN" sz="2800"/>
              <a:t>Ⅱ</a:t>
            </a:r>
            <a:r>
              <a:rPr lang="zh-CN" altLang="en-US" sz="2800"/>
              <a:t>和</a:t>
            </a:r>
            <a:r>
              <a:rPr lang="en-US" altLang="zh-CN" sz="2800"/>
              <a:t>Ⅲ</a:t>
            </a:r>
          </a:p>
          <a:p>
            <a:pPr eaLnBrk="1" hangingPunct="1">
              <a:lnSpc>
                <a:spcPct val="90000"/>
              </a:lnSpc>
            </a:pPr>
            <a:r>
              <a:rPr lang="zh-CN" altLang="en-US" sz="2800"/>
              <a:t>当系统发生抖动时，可以采取的有效措施有</a:t>
            </a:r>
            <a:r>
              <a:rPr lang="en-US" altLang="zh-CN" sz="2800"/>
              <a:t>_____</a:t>
            </a:r>
            <a:r>
              <a:rPr lang="zh-CN" altLang="en-US" sz="2800"/>
              <a:t>。</a:t>
            </a:r>
            <a:r>
              <a:rPr lang="en-US" altLang="zh-CN" sz="2800"/>
              <a:t>11</a:t>
            </a:r>
          </a:p>
          <a:p>
            <a:pPr eaLnBrk="1" hangingPunct="1">
              <a:lnSpc>
                <a:spcPct val="90000"/>
              </a:lnSpc>
              <a:buFont typeface="Wingdings" pitchFamily="2" charset="2"/>
              <a:buNone/>
            </a:pPr>
            <a:r>
              <a:rPr lang="en-US" altLang="zh-CN" sz="2800"/>
              <a:t>   Ⅰ</a:t>
            </a:r>
            <a:r>
              <a:rPr lang="zh-CN" altLang="en-US" sz="2800"/>
              <a:t>、撤销部分进程  </a:t>
            </a:r>
            <a:r>
              <a:rPr lang="en-US" altLang="zh-CN" sz="2800"/>
              <a:t>Ⅱ</a:t>
            </a:r>
            <a:r>
              <a:rPr lang="zh-CN" altLang="en-US" sz="2800"/>
              <a:t>、增加磁盘交换区的容量</a:t>
            </a:r>
          </a:p>
          <a:p>
            <a:pPr eaLnBrk="1" hangingPunct="1">
              <a:lnSpc>
                <a:spcPct val="90000"/>
              </a:lnSpc>
              <a:buFont typeface="Wingdings" pitchFamily="2" charset="2"/>
              <a:buNone/>
            </a:pPr>
            <a:r>
              <a:rPr lang="en-US" altLang="zh-CN" sz="2800"/>
              <a:t>   Ⅲ</a:t>
            </a:r>
            <a:r>
              <a:rPr lang="zh-CN" altLang="en-US" sz="2800"/>
              <a:t>、提高用户进程的优先级</a:t>
            </a:r>
          </a:p>
          <a:p>
            <a:pPr eaLnBrk="1" hangingPunct="1">
              <a:lnSpc>
                <a:spcPct val="90000"/>
              </a:lnSpc>
              <a:buFont typeface="Wingdings" pitchFamily="2" charset="2"/>
              <a:buNone/>
            </a:pPr>
            <a:r>
              <a:rPr lang="en-US" altLang="zh-CN" sz="2800"/>
              <a:t>   A</a:t>
            </a:r>
            <a:r>
              <a:rPr lang="zh-CN" altLang="en-US" sz="2800"/>
              <a:t>、仅</a:t>
            </a:r>
            <a:r>
              <a:rPr lang="en-US" altLang="zh-CN" sz="2800"/>
              <a:t>Ⅰ             B</a:t>
            </a:r>
            <a:r>
              <a:rPr lang="zh-CN" altLang="en-US" sz="2800"/>
              <a:t>、仅</a:t>
            </a:r>
            <a:r>
              <a:rPr lang="en-US" altLang="zh-CN" sz="2800"/>
              <a:t>Ⅱ</a:t>
            </a:r>
          </a:p>
          <a:p>
            <a:pPr eaLnBrk="1" hangingPunct="1">
              <a:lnSpc>
                <a:spcPct val="90000"/>
              </a:lnSpc>
              <a:buFont typeface="Wingdings" pitchFamily="2" charset="2"/>
              <a:buNone/>
            </a:pPr>
            <a:r>
              <a:rPr lang="en-US" altLang="zh-CN" sz="2800"/>
              <a:t>   C</a:t>
            </a:r>
            <a:r>
              <a:rPr lang="zh-CN" altLang="en-US" sz="2800"/>
              <a:t>、仅</a:t>
            </a:r>
            <a:r>
              <a:rPr lang="en-US" altLang="zh-CN" sz="2800"/>
              <a:t>Ⅲ             D</a:t>
            </a:r>
            <a:r>
              <a:rPr lang="zh-CN" altLang="en-US" sz="2800"/>
              <a:t>、仅</a:t>
            </a:r>
            <a:r>
              <a:rPr lang="en-US" altLang="zh-CN" sz="2800"/>
              <a:t>Ⅰ</a:t>
            </a:r>
            <a:r>
              <a:rPr lang="zh-CN" altLang="en-US" sz="2800"/>
              <a:t>、</a:t>
            </a:r>
            <a:r>
              <a:rPr lang="en-US" altLang="zh-CN" sz="2800"/>
              <a:t>Ⅱ</a:t>
            </a:r>
            <a:endParaRPr lang="zh-CN" altLang="en-US" sz="2800"/>
          </a:p>
        </p:txBody>
      </p:sp>
    </p:spTree>
  </p:cSld>
  <p:clrMapOvr>
    <a:masterClrMapping/>
  </p:clrMapOvr>
  <p:transition spd="med">
    <p:zoom/>
  </p:transition>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a:extLst>
              <a:ext uri="{FF2B5EF4-FFF2-40B4-BE49-F238E27FC236}">
                <a16:creationId xmlns:a16="http://schemas.microsoft.com/office/drawing/2014/main" id="{B938285B-A8C1-52E6-75FB-4BA8A840271D}"/>
              </a:ext>
            </a:extLst>
          </p:cNvPr>
          <p:cNvSpPr>
            <a:spLocks noGrp="1" noChangeArrowheads="1"/>
          </p:cNvSpPr>
          <p:nvPr>
            <p:ph type="title"/>
          </p:nvPr>
        </p:nvSpPr>
        <p:spPr/>
        <p:txBody>
          <a:bodyPr/>
          <a:lstStyle/>
          <a:p>
            <a:pPr eaLnBrk="1" hangingPunct="1"/>
            <a:r>
              <a:rPr lang="zh-CN" altLang="en-US" sz="4000" dirty="0"/>
              <a:t>考研题</a:t>
            </a:r>
            <a:r>
              <a:rPr lang="en-US" altLang="zh-CN" sz="4000" dirty="0"/>
              <a:t>7</a:t>
            </a:r>
          </a:p>
        </p:txBody>
      </p:sp>
      <p:sp>
        <p:nvSpPr>
          <p:cNvPr id="149506" name="Rectangle 3">
            <a:extLst>
              <a:ext uri="{FF2B5EF4-FFF2-40B4-BE49-F238E27FC236}">
                <a16:creationId xmlns:a16="http://schemas.microsoft.com/office/drawing/2014/main" id="{D6746F77-7EE9-9009-7460-181EDBD4D865}"/>
              </a:ext>
            </a:extLst>
          </p:cNvPr>
          <p:cNvSpPr>
            <a:spLocks noGrp="1" noChangeArrowheads="1"/>
          </p:cNvSpPr>
          <p:nvPr>
            <p:ph type="body" sz="half" idx="1"/>
          </p:nvPr>
        </p:nvSpPr>
        <p:spPr>
          <a:xfrm>
            <a:off x="835025" y="1268413"/>
            <a:ext cx="7950200" cy="5148262"/>
          </a:xfrm>
        </p:spPr>
        <p:txBody>
          <a:bodyPr/>
          <a:lstStyle/>
          <a:p>
            <a:pPr eaLnBrk="1" hangingPunct="1"/>
            <a:r>
              <a:rPr lang="zh-CN" altLang="zh-CN" sz="2800"/>
              <a:t>在虚拟内存管理中，地址变换机构将逻辑地址变换为物理地址，形成该逻辑地址的阶段是</a:t>
            </a:r>
            <a:r>
              <a:rPr lang="en-US" altLang="zh-CN" sz="2800"/>
              <a:t>____</a:t>
            </a:r>
            <a:r>
              <a:rPr lang="zh-CN" altLang="en-US" sz="2800"/>
              <a:t>。</a:t>
            </a:r>
            <a:r>
              <a:rPr lang="en-US" altLang="zh-CN" sz="2800"/>
              <a:t>11</a:t>
            </a:r>
          </a:p>
          <a:p>
            <a:pPr eaLnBrk="1" hangingPunct="1">
              <a:buFont typeface="Wingdings" pitchFamily="2" charset="2"/>
              <a:buNone/>
            </a:pPr>
            <a:r>
              <a:rPr lang="en-US" altLang="zh-CN" sz="2800"/>
              <a:t>  A</a:t>
            </a:r>
            <a:r>
              <a:rPr lang="zh-CN" altLang="en-US" sz="2800"/>
              <a:t>、编辑  </a:t>
            </a:r>
            <a:r>
              <a:rPr lang="en-US" altLang="zh-CN" sz="2800"/>
              <a:t>B</a:t>
            </a:r>
            <a:r>
              <a:rPr lang="zh-CN" altLang="en-US" sz="2800"/>
              <a:t>、编译  </a:t>
            </a:r>
            <a:r>
              <a:rPr lang="en-US" altLang="zh-CN" sz="2800"/>
              <a:t>C</a:t>
            </a:r>
            <a:r>
              <a:rPr lang="zh-CN" altLang="en-US" sz="2800"/>
              <a:t>、链接  </a:t>
            </a:r>
            <a:r>
              <a:rPr lang="en-US" altLang="zh-CN" sz="2800"/>
              <a:t>D</a:t>
            </a:r>
            <a:r>
              <a:rPr lang="zh-CN" altLang="en-US" sz="2800"/>
              <a:t>、装载</a:t>
            </a:r>
          </a:p>
          <a:p>
            <a:pPr eaLnBrk="1" hangingPunct="1"/>
            <a:r>
              <a:rPr lang="zh-CN" altLang="en-US" sz="2800"/>
              <a:t>下列关于虚存的叙述中，正确的是</a:t>
            </a:r>
            <a:r>
              <a:rPr lang="en-US" altLang="zh-CN" sz="2800"/>
              <a:t>___</a:t>
            </a:r>
            <a:r>
              <a:rPr lang="zh-CN" altLang="en-US" sz="2800"/>
              <a:t>。</a:t>
            </a:r>
            <a:r>
              <a:rPr lang="en-US" altLang="zh-CN" sz="2800"/>
              <a:t>12</a:t>
            </a:r>
          </a:p>
          <a:p>
            <a:pPr eaLnBrk="1" hangingPunct="1">
              <a:buFont typeface="Wingdings" pitchFamily="2" charset="2"/>
              <a:buNone/>
            </a:pPr>
            <a:r>
              <a:rPr lang="en-US" altLang="zh-CN" sz="2800"/>
              <a:t>    A</a:t>
            </a:r>
            <a:r>
              <a:rPr lang="zh-CN" altLang="en-US" sz="2800"/>
              <a:t>．虚存只能基于连续分配技术</a:t>
            </a:r>
          </a:p>
          <a:p>
            <a:pPr eaLnBrk="1" hangingPunct="1">
              <a:buFont typeface="Wingdings" pitchFamily="2" charset="2"/>
              <a:buNone/>
            </a:pPr>
            <a:r>
              <a:rPr lang="en-US" altLang="zh-CN" sz="2800"/>
              <a:t>    B</a:t>
            </a:r>
            <a:r>
              <a:rPr lang="zh-CN" altLang="en-US" sz="2800"/>
              <a:t>．虚存只能基于非连续分配技术</a:t>
            </a:r>
          </a:p>
          <a:p>
            <a:pPr eaLnBrk="1" hangingPunct="1">
              <a:buFont typeface="Wingdings" pitchFamily="2" charset="2"/>
              <a:buNone/>
            </a:pPr>
            <a:r>
              <a:rPr lang="en-US" altLang="zh-CN" sz="2800"/>
              <a:t>    C</a:t>
            </a:r>
            <a:r>
              <a:rPr lang="zh-CN" altLang="en-US" sz="2800"/>
              <a:t>．虚存容量只受外存容量的限制</a:t>
            </a:r>
          </a:p>
          <a:p>
            <a:pPr eaLnBrk="1" hangingPunct="1">
              <a:buFont typeface="Wingdings" pitchFamily="2" charset="2"/>
              <a:buNone/>
            </a:pPr>
            <a:r>
              <a:rPr lang="en-US" altLang="zh-CN" sz="2800"/>
              <a:t>    D</a:t>
            </a:r>
            <a:r>
              <a:rPr lang="zh-CN" altLang="en-US" sz="2800"/>
              <a:t>．虚存容量只受内存容量的限制</a:t>
            </a:r>
          </a:p>
          <a:p>
            <a:pPr eaLnBrk="1" hangingPunct="1">
              <a:buFont typeface="Wingdings" pitchFamily="2" charset="2"/>
              <a:buNone/>
            </a:pPr>
            <a:endParaRPr lang="zh-CN" altLang="en-US" sz="2800"/>
          </a:p>
        </p:txBody>
      </p:sp>
    </p:spTree>
  </p:cSld>
  <p:clrMapOvr>
    <a:masterClrMapping/>
  </p:clrMapOvr>
  <p:transition spd="med">
    <p:zoom/>
  </p:transition>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8C15DEA5-22B6-1022-0A38-D55692FC984B}"/>
              </a:ext>
            </a:extLst>
          </p:cNvPr>
          <p:cNvSpPr>
            <a:spLocks noGrp="1" noChangeArrowheads="1"/>
          </p:cNvSpPr>
          <p:nvPr>
            <p:ph type="title"/>
          </p:nvPr>
        </p:nvSpPr>
        <p:spPr/>
        <p:txBody>
          <a:bodyPr/>
          <a:lstStyle/>
          <a:p>
            <a:pPr eaLnBrk="1" hangingPunct="1"/>
            <a:r>
              <a:rPr lang="zh-CN" altLang="en-US" sz="4000" dirty="0"/>
              <a:t>考研题</a:t>
            </a:r>
            <a:r>
              <a:rPr lang="en-US" altLang="zh-CN" sz="4000" dirty="0"/>
              <a:t>8-1</a:t>
            </a:r>
          </a:p>
        </p:txBody>
      </p:sp>
      <p:sp>
        <p:nvSpPr>
          <p:cNvPr id="150530" name="Rectangle 3">
            <a:extLst>
              <a:ext uri="{FF2B5EF4-FFF2-40B4-BE49-F238E27FC236}">
                <a16:creationId xmlns:a16="http://schemas.microsoft.com/office/drawing/2014/main" id="{4F56F764-AE3C-A7EF-5331-061CF6B3C74C}"/>
              </a:ext>
            </a:extLst>
          </p:cNvPr>
          <p:cNvSpPr>
            <a:spLocks noGrp="1" noChangeArrowheads="1"/>
          </p:cNvSpPr>
          <p:nvPr>
            <p:ph type="body" sz="half" idx="1"/>
          </p:nvPr>
        </p:nvSpPr>
        <p:spPr>
          <a:xfrm>
            <a:off x="835025" y="1268413"/>
            <a:ext cx="7950200" cy="5148262"/>
          </a:xfrm>
        </p:spPr>
        <p:txBody>
          <a:bodyPr/>
          <a:lstStyle/>
          <a:p>
            <a:pPr eaLnBrk="1" hangingPunct="1"/>
            <a:r>
              <a:rPr lang="zh-CN" altLang="zh-CN" sz="2400" dirty="0"/>
              <a:t>某请求分页系统的页面置换策略如下：从</a:t>
            </a:r>
            <a:r>
              <a:rPr lang="en-US" altLang="zh-CN" sz="2400" dirty="0"/>
              <a:t>0</a:t>
            </a:r>
            <a:r>
              <a:rPr lang="zh-CN" altLang="en-US" sz="2400" dirty="0"/>
              <a:t>时刻开始扫描，每隔</a:t>
            </a:r>
            <a:r>
              <a:rPr lang="en-US" altLang="zh-CN" sz="2400" dirty="0"/>
              <a:t>5</a:t>
            </a:r>
            <a:r>
              <a:rPr lang="zh-CN" altLang="en-US" sz="2400" dirty="0"/>
              <a:t>个时间单位扫描一轮驻留集（扫描时间忽略不计）且在本轮没有被访问过的页框将被系统回收，并放入到空闲页框链尾，其中内容暂时不清空，当发生缺页时，如果该页曾被使用过且还在空闲页框链表中，则将其重新放回进程的驻留集中；否则，从空闲页框链表头部取出一个页框。</a:t>
            </a:r>
          </a:p>
          <a:p>
            <a:pPr eaLnBrk="1" hangingPunct="1"/>
            <a:r>
              <a:rPr lang="zh-CN" altLang="en-US" sz="2400" dirty="0"/>
              <a:t>忽略其他进程的影响和系统开销。初始时进程驻留集为空。目前系统空闲页的页框号依次为</a:t>
            </a:r>
            <a:r>
              <a:rPr lang="en-US" altLang="zh-CN" sz="2400" dirty="0"/>
              <a:t>32</a:t>
            </a:r>
            <a:r>
              <a:rPr lang="zh-CN" altLang="en-US" sz="2400" dirty="0"/>
              <a:t>、</a:t>
            </a:r>
            <a:r>
              <a:rPr lang="en-US" altLang="zh-CN" sz="2400" dirty="0"/>
              <a:t>15</a:t>
            </a:r>
            <a:r>
              <a:rPr lang="zh-CN" altLang="en-US" sz="2400" dirty="0"/>
              <a:t>、</a:t>
            </a:r>
            <a:r>
              <a:rPr lang="en-US" altLang="zh-CN" sz="2400" dirty="0"/>
              <a:t>21</a:t>
            </a:r>
            <a:r>
              <a:rPr lang="zh-CN" altLang="en-US" sz="2400" dirty="0"/>
              <a:t>、</a:t>
            </a:r>
            <a:r>
              <a:rPr lang="en-US" altLang="zh-CN" sz="2400" dirty="0"/>
              <a:t>41</a:t>
            </a:r>
            <a:r>
              <a:rPr lang="zh-CN" altLang="en-US" sz="2400" dirty="0"/>
              <a:t>。进程</a:t>
            </a:r>
            <a:r>
              <a:rPr lang="en-US" altLang="zh-CN" sz="2400" dirty="0"/>
              <a:t>P</a:t>
            </a:r>
            <a:r>
              <a:rPr lang="zh-CN" altLang="en-US" sz="2400" dirty="0"/>
              <a:t>依次访问的</a:t>
            </a:r>
            <a:r>
              <a:rPr lang="en-US" altLang="zh-CN" sz="2400" dirty="0"/>
              <a:t>&lt;</a:t>
            </a:r>
            <a:r>
              <a:rPr lang="zh-CN" altLang="en-US" sz="2400" dirty="0"/>
              <a:t>虚拟页号</a:t>
            </a:r>
            <a:r>
              <a:rPr lang="en-US" altLang="zh-CN" sz="2400" dirty="0"/>
              <a:t>,</a:t>
            </a:r>
            <a:r>
              <a:rPr lang="zh-CN" altLang="en-US" sz="2400" dirty="0"/>
              <a:t>访问时刻</a:t>
            </a:r>
            <a:r>
              <a:rPr lang="en-US" altLang="zh-CN" sz="2400" dirty="0"/>
              <a:t>&gt;</a:t>
            </a:r>
            <a:r>
              <a:rPr lang="zh-CN" altLang="en-US" sz="2400" dirty="0"/>
              <a:t>为</a:t>
            </a:r>
            <a:r>
              <a:rPr lang="en-US" altLang="zh-CN" sz="2400" dirty="0"/>
              <a:t>&lt;1,1&gt;</a:t>
            </a:r>
            <a:r>
              <a:rPr lang="zh-CN" altLang="en-US" sz="2400" dirty="0"/>
              <a:t>、</a:t>
            </a:r>
            <a:r>
              <a:rPr lang="en-US" altLang="zh-CN" sz="2400" dirty="0"/>
              <a:t>&lt;3,2&gt;</a:t>
            </a:r>
            <a:r>
              <a:rPr lang="zh-CN" altLang="en-US" sz="2400" dirty="0"/>
              <a:t>、</a:t>
            </a:r>
            <a:r>
              <a:rPr lang="en-US" altLang="zh-CN" sz="2400" dirty="0"/>
              <a:t>&lt;0,4&gt;</a:t>
            </a:r>
            <a:r>
              <a:rPr lang="zh-CN" altLang="en-US" sz="2400" dirty="0"/>
              <a:t>、</a:t>
            </a:r>
            <a:r>
              <a:rPr lang="en-US" altLang="zh-CN" sz="2400" dirty="0"/>
              <a:t>&lt;0,6&gt;</a:t>
            </a:r>
            <a:r>
              <a:rPr lang="zh-CN" altLang="en-US" sz="2400" dirty="0"/>
              <a:t>、</a:t>
            </a:r>
            <a:r>
              <a:rPr lang="en-US" altLang="zh-CN" sz="2400" dirty="0"/>
              <a:t>&lt;1,11&gt;</a:t>
            </a:r>
            <a:r>
              <a:rPr lang="zh-CN" altLang="en-US" sz="2400" dirty="0"/>
              <a:t>、</a:t>
            </a:r>
            <a:r>
              <a:rPr lang="en-US" altLang="zh-CN" sz="2400" dirty="0"/>
              <a:t>&lt;0,13&gt;</a:t>
            </a:r>
            <a:r>
              <a:rPr lang="zh-CN" altLang="en-US" sz="2400" dirty="0"/>
              <a:t>、</a:t>
            </a:r>
            <a:r>
              <a:rPr lang="en-US" altLang="zh-CN" sz="2400" dirty="0"/>
              <a:t>&lt;2,14&gt;</a:t>
            </a:r>
            <a:r>
              <a:rPr lang="zh-CN" altLang="en-US" sz="2400" dirty="0"/>
              <a:t>。请回答以下问题：</a:t>
            </a:r>
          </a:p>
        </p:txBody>
      </p:sp>
    </p:spTree>
  </p:cSld>
  <p:clrMapOvr>
    <a:masterClrMapping/>
  </p:clrMapOvr>
  <p:transition spd="med">
    <p:zoom/>
  </p:transition>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a:extLst>
              <a:ext uri="{FF2B5EF4-FFF2-40B4-BE49-F238E27FC236}">
                <a16:creationId xmlns:a16="http://schemas.microsoft.com/office/drawing/2014/main" id="{139070B2-F151-B56C-220C-D8B17658A8DF}"/>
              </a:ext>
            </a:extLst>
          </p:cNvPr>
          <p:cNvSpPr>
            <a:spLocks noGrp="1" noChangeArrowheads="1"/>
          </p:cNvSpPr>
          <p:nvPr>
            <p:ph type="title"/>
          </p:nvPr>
        </p:nvSpPr>
        <p:spPr/>
        <p:txBody>
          <a:bodyPr/>
          <a:lstStyle/>
          <a:p>
            <a:pPr eaLnBrk="1" hangingPunct="1"/>
            <a:r>
              <a:rPr lang="zh-CN" altLang="en-US" sz="4000" dirty="0"/>
              <a:t>考研题</a:t>
            </a:r>
            <a:r>
              <a:rPr lang="en-US" altLang="zh-CN" sz="4000" dirty="0"/>
              <a:t>8-2</a:t>
            </a:r>
          </a:p>
        </p:txBody>
      </p:sp>
      <p:sp>
        <p:nvSpPr>
          <p:cNvPr id="151554" name="Rectangle 3">
            <a:extLst>
              <a:ext uri="{FF2B5EF4-FFF2-40B4-BE49-F238E27FC236}">
                <a16:creationId xmlns:a16="http://schemas.microsoft.com/office/drawing/2014/main" id="{6A584B26-139A-3C2E-3911-363022A88105}"/>
              </a:ext>
            </a:extLst>
          </p:cNvPr>
          <p:cNvSpPr>
            <a:spLocks noGrp="1" noChangeArrowheads="1"/>
          </p:cNvSpPr>
          <p:nvPr>
            <p:ph type="body" sz="half" idx="1"/>
          </p:nvPr>
        </p:nvSpPr>
        <p:spPr>
          <a:xfrm>
            <a:off x="835025" y="1268413"/>
            <a:ext cx="7950200" cy="5148262"/>
          </a:xfrm>
        </p:spPr>
        <p:txBody>
          <a:bodyPr/>
          <a:lstStyle/>
          <a:p>
            <a:pPr eaLnBrk="1" hangingPunct="1"/>
            <a:r>
              <a:rPr lang="zh-CN" altLang="en-US" sz="2800" dirty="0"/>
              <a:t>（</a:t>
            </a:r>
            <a:r>
              <a:rPr lang="en-US" altLang="zh-CN" sz="2800" dirty="0"/>
              <a:t>1</a:t>
            </a:r>
            <a:r>
              <a:rPr lang="zh-CN" altLang="en-US" sz="2800" dirty="0"/>
              <a:t>）当虚拟页为</a:t>
            </a:r>
            <a:r>
              <a:rPr lang="en-US" altLang="zh-CN" sz="2800" dirty="0"/>
              <a:t>&lt;0,4&gt;</a:t>
            </a:r>
            <a:r>
              <a:rPr lang="zh-CN" altLang="en-US" sz="2800" dirty="0"/>
              <a:t>时，对应的页框号是什么？</a:t>
            </a:r>
          </a:p>
          <a:p>
            <a:pPr eaLnBrk="1" hangingPunct="1"/>
            <a:r>
              <a:rPr lang="zh-CN" altLang="en-US" sz="2800" dirty="0"/>
              <a:t>（</a:t>
            </a:r>
            <a:r>
              <a:rPr lang="en-US" altLang="zh-CN" sz="2800" dirty="0"/>
              <a:t>2</a:t>
            </a:r>
            <a:r>
              <a:rPr lang="zh-CN" altLang="en-US" sz="2800" dirty="0"/>
              <a:t>）当虚拟页为</a:t>
            </a:r>
            <a:r>
              <a:rPr lang="en-US" altLang="zh-CN" sz="2800" dirty="0"/>
              <a:t>&lt;1,11&gt;</a:t>
            </a:r>
            <a:r>
              <a:rPr lang="zh-CN" altLang="en-US" sz="2800" dirty="0"/>
              <a:t>时，对应的页框号是什么？说明理由。</a:t>
            </a:r>
          </a:p>
          <a:p>
            <a:pPr eaLnBrk="1" hangingPunct="1"/>
            <a:r>
              <a:rPr lang="zh-CN" altLang="en-US" sz="2800" dirty="0"/>
              <a:t>（</a:t>
            </a:r>
            <a:r>
              <a:rPr lang="en-US" altLang="zh-CN" sz="2800" dirty="0"/>
              <a:t>3</a:t>
            </a:r>
            <a:r>
              <a:rPr lang="zh-CN" altLang="en-US" sz="2800" dirty="0"/>
              <a:t>）当虚拟页为</a:t>
            </a:r>
            <a:r>
              <a:rPr lang="en-US" altLang="zh-CN" sz="2800" dirty="0"/>
              <a:t>&lt;2,14&gt;</a:t>
            </a:r>
            <a:r>
              <a:rPr lang="zh-CN" altLang="en-US" sz="2800" dirty="0"/>
              <a:t>时，对应的页框号是什么？说明理由。</a:t>
            </a:r>
          </a:p>
          <a:p>
            <a:pPr eaLnBrk="1" hangingPunct="1"/>
            <a:r>
              <a:rPr lang="zh-CN" altLang="en-US" sz="2800" dirty="0"/>
              <a:t>（</a:t>
            </a:r>
            <a:r>
              <a:rPr lang="en-US" altLang="zh-CN" sz="2800" dirty="0"/>
              <a:t>4</a:t>
            </a:r>
            <a:r>
              <a:rPr lang="zh-CN" altLang="en-US" sz="2800" dirty="0"/>
              <a:t>）这种方法是否适合于时间局部性好的程序？说明理由。  </a:t>
            </a:r>
            <a:r>
              <a:rPr lang="en-US" altLang="zh-CN" sz="2800" dirty="0"/>
              <a:t>12</a:t>
            </a:r>
          </a:p>
        </p:txBody>
      </p:sp>
    </p:spTree>
  </p:cSld>
  <p:clrMapOvr>
    <a:masterClrMapping/>
  </p:clrMapOvr>
  <p:transition spd="med">
    <p:zoom/>
  </p:transition>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6724C8E0-24BD-919D-844A-21041C053FF0}"/>
              </a:ext>
            </a:extLst>
          </p:cNvPr>
          <p:cNvSpPr>
            <a:spLocks noGrp="1" noChangeArrowheads="1"/>
          </p:cNvSpPr>
          <p:nvPr>
            <p:ph type="title"/>
          </p:nvPr>
        </p:nvSpPr>
        <p:spPr/>
        <p:txBody>
          <a:bodyPr/>
          <a:lstStyle/>
          <a:p>
            <a:pPr eaLnBrk="1" hangingPunct="1"/>
            <a:r>
              <a:rPr lang="zh-CN" altLang="en-US" sz="4000" dirty="0"/>
              <a:t>考研题</a:t>
            </a:r>
            <a:r>
              <a:rPr lang="en-US" altLang="zh-CN" sz="4000" dirty="0"/>
              <a:t>8-3</a:t>
            </a:r>
          </a:p>
        </p:txBody>
      </p:sp>
      <p:sp>
        <p:nvSpPr>
          <p:cNvPr id="152578" name="Rectangle 3">
            <a:extLst>
              <a:ext uri="{FF2B5EF4-FFF2-40B4-BE49-F238E27FC236}">
                <a16:creationId xmlns:a16="http://schemas.microsoft.com/office/drawing/2014/main" id="{AB0A757F-2AE1-CE8C-B8C6-0222FC6D02ED}"/>
              </a:ext>
            </a:extLst>
          </p:cNvPr>
          <p:cNvSpPr>
            <a:spLocks noGrp="1" noChangeArrowheads="1"/>
          </p:cNvSpPr>
          <p:nvPr>
            <p:ph type="body" sz="half" idx="1"/>
          </p:nvPr>
        </p:nvSpPr>
        <p:spPr>
          <a:xfrm>
            <a:off x="835025" y="1268413"/>
            <a:ext cx="7950200" cy="5148262"/>
          </a:xfrm>
        </p:spPr>
        <p:txBody>
          <a:bodyPr/>
          <a:lstStyle/>
          <a:p>
            <a:pPr eaLnBrk="1" hangingPunct="1"/>
            <a:r>
              <a:rPr lang="zh-CN" altLang="en-US" sz="2400" dirty="0"/>
              <a:t>（</a:t>
            </a:r>
            <a:r>
              <a:rPr lang="en-US" altLang="zh-CN" sz="2400" dirty="0"/>
              <a:t>1</a:t>
            </a:r>
            <a:r>
              <a:rPr lang="zh-CN" altLang="en-US" sz="2400" dirty="0"/>
              <a:t>）页框号为</a:t>
            </a:r>
            <a:r>
              <a:rPr lang="en-US" altLang="zh-CN" sz="2400" dirty="0"/>
              <a:t>21</a:t>
            </a:r>
            <a:r>
              <a:rPr lang="zh-CN" altLang="en-US" sz="2400" dirty="0"/>
              <a:t>。因为起始驻留集为空，而</a:t>
            </a:r>
            <a:r>
              <a:rPr lang="en-US" altLang="zh-CN" sz="2400" dirty="0"/>
              <a:t>0</a:t>
            </a:r>
            <a:r>
              <a:rPr lang="zh-CN" altLang="en-US" sz="2400" dirty="0"/>
              <a:t>页对应的页框为空闲链表中的第三个空闲页框（</a:t>
            </a:r>
            <a:r>
              <a:rPr lang="en-US" altLang="zh-CN" sz="2400" dirty="0"/>
              <a:t>21</a:t>
            </a:r>
            <a:r>
              <a:rPr lang="zh-CN" altLang="en-US" sz="2400" dirty="0"/>
              <a:t>），其对应的页框号为</a:t>
            </a:r>
            <a:r>
              <a:rPr lang="en-US" altLang="zh-CN" sz="2400" dirty="0"/>
              <a:t>21</a:t>
            </a:r>
            <a:r>
              <a:rPr lang="zh-CN" altLang="en-US" sz="2400" dirty="0"/>
              <a:t>。</a:t>
            </a:r>
          </a:p>
          <a:p>
            <a:pPr eaLnBrk="1" hangingPunct="1"/>
            <a:r>
              <a:rPr lang="zh-CN" altLang="en-US" sz="2400" dirty="0"/>
              <a:t>（</a:t>
            </a:r>
            <a:r>
              <a:rPr lang="en-US" altLang="zh-CN" sz="2400" dirty="0"/>
              <a:t>2</a:t>
            </a:r>
            <a:r>
              <a:rPr lang="zh-CN" altLang="en-US" sz="2400" dirty="0"/>
              <a:t>）页框号为</a:t>
            </a:r>
            <a:r>
              <a:rPr lang="en-US" altLang="zh-CN" sz="2400" dirty="0"/>
              <a:t>32</a:t>
            </a:r>
            <a:r>
              <a:rPr lang="zh-CN" altLang="en-US" sz="2400" dirty="0"/>
              <a:t>。因为</a:t>
            </a:r>
            <a:r>
              <a:rPr lang="en-US" altLang="zh-CN" sz="2400" dirty="0"/>
              <a:t>11&gt;10</a:t>
            </a:r>
            <a:r>
              <a:rPr lang="zh-CN" altLang="en-US" sz="2400" dirty="0"/>
              <a:t>故发生第三轮扫描，页号为</a:t>
            </a:r>
            <a:r>
              <a:rPr lang="en-US" altLang="zh-CN" sz="2400" dirty="0"/>
              <a:t>1</a:t>
            </a:r>
            <a:r>
              <a:rPr lang="zh-CN" altLang="en-US" sz="2400" dirty="0"/>
              <a:t>的页框在第二轮已处于空闲页框链表中，此刻该页又被重新访问，因此应被重新放回到驻留集中，其页框号为</a:t>
            </a:r>
            <a:r>
              <a:rPr lang="en-US" altLang="zh-CN" sz="2400" dirty="0"/>
              <a:t>32</a:t>
            </a:r>
            <a:r>
              <a:rPr lang="zh-CN" altLang="en-US" sz="2400" dirty="0"/>
              <a:t>。</a:t>
            </a:r>
          </a:p>
          <a:p>
            <a:pPr eaLnBrk="1" hangingPunct="1"/>
            <a:r>
              <a:rPr lang="zh-CN" altLang="en-US" sz="2400" dirty="0"/>
              <a:t>（</a:t>
            </a:r>
            <a:r>
              <a:rPr lang="en-US" altLang="zh-CN" sz="2400" dirty="0"/>
              <a:t>3</a:t>
            </a:r>
            <a:r>
              <a:rPr lang="zh-CN" altLang="en-US" sz="2400" dirty="0"/>
              <a:t>）页框号为</a:t>
            </a:r>
            <a:r>
              <a:rPr lang="en-US" altLang="zh-CN" sz="2400" dirty="0"/>
              <a:t>41</a:t>
            </a:r>
            <a:r>
              <a:rPr lang="zh-CN" altLang="en-US" sz="2400" dirty="0"/>
              <a:t>。因为第</a:t>
            </a:r>
            <a:r>
              <a:rPr lang="en-US" altLang="zh-CN" sz="2400" dirty="0"/>
              <a:t>2</a:t>
            </a:r>
            <a:r>
              <a:rPr lang="zh-CN" altLang="en-US" sz="2400" dirty="0"/>
              <a:t>页从来没有被访问过，它不在驻留集中，因此从空闲链表中取出链表头的页框</a:t>
            </a:r>
            <a:r>
              <a:rPr lang="en-US" altLang="zh-CN" sz="2400" dirty="0"/>
              <a:t>41</a:t>
            </a:r>
            <a:r>
              <a:rPr lang="zh-CN" altLang="en-US" sz="2400" dirty="0"/>
              <a:t>，页框号为</a:t>
            </a:r>
            <a:r>
              <a:rPr lang="en-US" altLang="zh-CN" sz="2400" dirty="0"/>
              <a:t>41</a:t>
            </a:r>
            <a:r>
              <a:rPr lang="zh-CN" altLang="en-US" sz="2400" dirty="0"/>
              <a:t>。</a:t>
            </a:r>
          </a:p>
          <a:p>
            <a:pPr eaLnBrk="1" hangingPunct="1"/>
            <a:r>
              <a:rPr lang="zh-CN" altLang="en-US" sz="2400" dirty="0"/>
              <a:t>（</a:t>
            </a:r>
            <a:r>
              <a:rPr lang="en-US" altLang="zh-CN" sz="2400" dirty="0"/>
              <a:t>4</a:t>
            </a:r>
            <a:r>
              <a:rPr lang="zh-CN" altLang="en-US" sz="2400" dirty="0"/>
              <a:t>）适合。如果程序的时间局部性越好，从空闲页框链表中重新取回的机会越大，该策略的优势越明显。</a:t>
            </a:r>
          </a:p>
        </p:txBody>
      </p:sp>
    </p:spTree>
  </p:cSld>
  <p:clrMapOvr>
    <a:masterClrMapping/>
  </p:clrMapOvr>
  <p:transition spd="med">
    <p:zoom/>
  </p:transition>
</p:sld>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24251</TotalTime>
  <Words>21534</Words>
  <Application>Microsoft Macintosh PowerPoint</Application>
  <PresentationFormat>全屏显示(4:3)</PresentationFormat>
  <Paragraphs>3078</Paragraphs>
  <Slides>277</Slides>
  <Notes>7</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277</vt:i4>
      </vt:variant>
    </vt:vector>
  </HeadingPairs>
  <TitlesOfParts>
    <vt:vector size="287" baseType="lpstr">
      <vt:lpstr>等线</vt:lpstr>
      <vt:lpstr>宋体</vt:lpstr>
      <vt:lpstr>Arial</vt:lpstr>
      <vt:lpstr>Century</vt:lpstr>
      <vt:lpstr>Helvetica</vt:lpstr>
      <vt:lpstr>Tahoma</vt:lpstr>
      <vt:lpstr>Times New Roman</vt:lpstr>
      <vt:lpstr>Wingdings</vt:lpstr>
      <vt:lpstr>1_Blends</vt:lpstr>
      <vt:lpstr>Word.Picture.8</vt:lpstr>
      <vt:lpstr>第7章 内存管理</vt:lpstr>
      <vt:lpstr>背景知识</vt:lpstr>
      <vt:lpstr>地址绑定（映射）</vt:lpstr>
      <vt:lpstr>指令和数据绑定到内存</vt:lpstr>
      <vt:lpstr>加载时绑定示意图</vt:lpstr>
      <vt:lpstr>执行时绑定示意图</vt:lpstr>
      <vt:lpstr>用户程序的多步处理</vt:lpstr>
      <vt:lpstr>逻辑地址空间vs.物理地址空间</vt:lpstr>
      <vt:lpstr>内存管理单元</vt:lpstr>
      <vt:lpstr>MMU — 重定位寄存器</vt:lpstr>
      <vt:lpstr>动态加载</vt:lpstr>
      <vt:lpstr>动态链接</vt:lpstr>
      <vt:lpstr>内存保护</vt:lpstr>
      <vt:lpstr>内存分配</vt:lpstr>
      <vt:lpstr>单一分区分配</vt:lpstr>
      <vt:lpstr>固定分区分配</vt:lpstr>
      <vt:lpstr>分区使用表示例</vt:lpstr>
      <vt:lpstr>固定分区的内存分配</vt:lpstr>
      <vt:lpstr>可变分区分配</vt:lpstr>
      <vt:lpstr>动态分区存储管理示意图</vt:lpstr>
      <vt:lpstr>空闲分区表示意图</vt:lpstr>
      <vt:lpstr>空闲分区链示意图</vt:lpstr>
      <vt:lpstr>动态分区分配问题</vt:lpstr>
      <vt:lpstr>首次适应算法 First-fit</vt:lpstr>
      <vt:lpstr>循环首次适应算法 Next-fit</vt:lpstr>
      <vt:lpstr>最佳适应算法 Best-fit </vt:lpstr>
      <vt:lpstr>最坏适应算法 Worst-fit</vt:lpstr>
      <vt:lpstr>如何衡量分配算法的好坏</vt:lpstr>
      <vt:lpstr>示例</vt:lpstr>
      <vt:lpstr>例--采用最佳适应算法分配1</vt:lpstr>
      <vt:lpstr>例--采用最佳适应算法分配2</vt:lpstr>
      <vt:lpstr>例--采用最佳适应算法分配3</vt:lpstr>
      <vt:lpstr>例--采用首次适应算法分配1</vt:lpstr>
      <vt:lpstr>例--采用首次适应算法分配2</vt:lpstr>
      <vt:lpstr>例--采用首次适应算法分配3</vt:lpstr>
      <vt:lpstr>示例</vt:lpstr>
      <vt:lpstr>分区分配</vt:lpstr>
      <vt:lpstr>分区回收</vt:lpstr>
      <vt:lpstr>回收分区r上邻接一个空闲分区</vt:lpstr>
      <vt:lpstr>回收分区r下邻接一个空闲分区</vt:lpstr>
      <vt:lpstr>回收分区r上下邻接空闲分区</vt:lpstr>
      <vt:lpstr>回收分区r不与任何空闲分区相邻</vt:lpstr>
      <vt:lpstr>碎片问题（Fragmentation）</vt:lpstr>
      <vt:lpstr>紧凑解决外部碎片问题</vt:lpstr>
      <vt:lpstr>拼接示意图</vt:lpstr>
      <vt:lpstr>拼接需要的技术支持</vt:lpstr>
      <vt:lpstr>可重定位分区分配技术</vt:lpstr>
      <vt:lpstr>伙伴系统</vt:lpstr>
      <vt:lpstr>伙伴系统的内存分配</vt:lpstr>
      <vt:lpstr>伙伴系统的内存回收</vt:lpstr>
      <vt:lpstr>伙伴地址公式</vt:lpstr>
      <vt:lpstr>伙伴系统分配及回收例</vt:lpstr>
      <vt:lpstr>分配过程示意图</vt:lpstr>
      <vt:lpstr>伙伴系统的二叉树表示</vt:lpstr>
      <vt:lpstr>伙伴系统的不足</vt:lpstr>
      <vt:lpstr>分页  Paging</vt:lpstr>
      <vt:lpstr>基本方法</vt:lpstr>
      <vt:lpstr>分页的逻辑地址结构</vt:lpstr>
      <vt:lpstr> 页表 page table </vt:lpstr>
      <vt:lpstr> Paging Example</vt:lpstr>
      <vt:lpstr>页面大小的选择</vt:lpstr>
      <vt:lpstr>存储分块表</vt:lpstr>
      <vt:lpstr>位示图例</vt:lpstr>
      <vt:lpstr>空闲帧  Free Frames</vt:lpstr>
      <vt:lpstr>存储空间的分配及回收</vt:lpstr>
      <vt:lpstr>地址变换机构</vt:lpstr>
      <vt:lpstr>地址变换过程</vt:lpstr>
      <vt:lpstr>分页系统的地址变换机构图</vt:lpstr>
      <vt:lpstr>分页地址变换示例</vt:lpstr>
      <vt:lpstr>地址变换示例</vt:lpstr>
      <vt:lpstr>具有快表的地址变换机构</vt:lpstr>
      <vt:lpstr>引入快表后的地址变换过程</vt:lpstr>
      <vt:lpstr>具有联想存储器的地址变换</vt:lpstr>
      <vt:lpstr>联想存储器的大小</vt:lpstr>
      <vt:lpstr>有效访问时间</vt:lpstr>
      <vt:lpstr> 存储保护</vt:lpstr>
      <vt:lpstr>Valid (v) or Invalid (i) Bit In A Page Table</vt:lpstr>
      <vt:lpstr>共享页 Shared Pages</vt:lpstr>
      <vt:lpstr>分页环境中的代码共享</vt:lpstr>
      <vt:lpstr>页表结构</vt:lpstr>
      <vt:lpstr>分级页表 </vt:lpstr>
      <vt:lpstr>分级页表</vt:lpstr>
      <vt:lpstr>两级页表</vt:lpstr>
      <vt:lpstr>两级页表</vt:lpstr>
      <vt:lpstr>两级页表结构</vt:lpstr>
      <vt:lpstr>两级32位分页结构的地址转换机制</vt:lpstr>
      <vt:lpstr>两级32位分页结构的地址转换机制续</vt:lpstr>
      <vt:lpstr>多级页表</vt:lpstr>
      <vt:lpstr>示例</vt:lpstr>
      <vt:lpstr>示例</vt:lpstr>
      <vt:lpstr>哈希页表</vt:lpstr>
      <vt:lpstr>哈希页表</vt:lpstr>
      <vt:lpstr>Hashed Page Table</vt:lpstr>
      <vt:lpstr>反向页表Inverted Page Table (IPT)</vt:lpstr>
      <vt:lpstr>反向页表地址变换过程</vt:lpstr>
      <vt:lpstr>反向页表的地址变换</vt:lpstr>
      <vt:lpstr>反向页表的不足</vt:lpstr>
      <vt:lpstr>覆盖与交换技术</vt:lpstr>
      <vt:lpstr>覆盖技术</vt:lpstr>
      <vt:lpstr>覆盖示例</vt:lpstr>
      <vt:lpstr>交换技术</vt:lpstr>
      <vt:lpstr> 交换  Swapping</vt:lpstr>
      <vt:lpstr>交换示意图</vt:lpstr>
      <vt:lpstr>交换空间的管理</vt:lpstr>
      <vt:lpstr>进程的换出与换入</vt:lpstr>
      <vt:lpstr>覆盖与交换的比较</vt:lpstr>
      <vt:lpstr> 分段 Segmentation</vt:lpstr>
      <vt:lpstr>User’s View of a Program</vt:lpstr>
      <vt:lpstr>分段管理的实现思想</vt:lpstr>
      <vt:lpstr>作业的地址空间是二维的</vt:lpstr>
      <vt:lpstr>分段系统的逻辑地址结构</vt:lpstr>
      <vt:lpstr>硬件 </vt:lpstr>
      <vt:lpstr>段表的作用</vt:lpstr>
      <vt:lpstr>地址变换</vt:lpstr>
      <vt:lpstr>地址变换过程</vt:lpstr>
      <vt:lpstr>地址变换机构图</vt:lpstr>
      <vt:lpstr>分段地址变换例</vt:lpstr>
      <vt:lpstr>分段与分页的主要区别</vt:lpstr>
      <vt:lpstr>分段保护</vt:lpstr>
      <vt:lpstr>分段系统中的信息共享</vt:lpstr>
      <vt:lpstr>分段系统中共享信息示意图</vt:lpstr>
      <vt:lpstr>段页式存储管理</vt:lpstr>
      <vt:lpstr>段页式存储管理的基本思想</vt:lpstr>
      <vt:lpstr>作业的分段及分页示意图</vt:lpstr>
      <vt:lpstr>作业的逻辑地址结构</vt:lpstr>
      <vt:lpstr>段表、页表及段表寄存器</vt:lpstr>
      <vt:lpstr>地址变换过程</vt:lpstr>
      <vt:lpstr>段页式系统中的地址变换机构</vt:lpstr>
      <vt:lpstr>使用快表提高内存访问速度</vt:lpstr>
      <vt:lpstr>虚拟内存技术</vt:lpstr>
      <vt:lpstr>背景</vt:lpstr>
      <vt:lpstr>局部性的体现</vt:lpstr>
      <vt:lpstr>虚拟存储器的基本原理</vt:lpstr>
      <vt:lpstr>虚拟存储器</vt:lpstr>
      <vt:lpstr>虚拟存储器的特征</vt:lpstr>
      <vt:lpstr>虚拟存储器的本质</vt:lpstr>
      <vt:lpstr>实现虚拟存储技术的物质基础</vt:lpstr>
      <vt:lpstr>虚拟存储器的实现</vt:lpstr>
      <vt:lpstr>分页内存到连续磁盘空间的传送</vt:lpstr>
      <vt:lpstr>请求分页存储管理实现思想</vt:lpstr>
      <vt:lpstr>请求分页系统中的支持机构</vt:lpstr>
      <vt:lpstr>页表</vt:lpstr>
      <vt:lpstr>扩充后的页表项</vt:lpstr>
      <vt:lpstr>有效-无效位 Valid-Invalid Bit</vt:lpstr>
      <vt:lpstr>某些页不在内存时的页表</vt:lpstr>
      <vt:lpstr>页错误 Page Fault</vt:lpstr>
      <vt:lpstr>页错误处理步骤</vt:lpstr>
      <vt:lpstr>页错误处理步骤</vt:lpstr>
      <vt:lpstr>缺页中断</vt:lpstr>
      <vt:lpstr>缺页中断与一般中断的区别</vt:lpstr>
      <vt:lpstr>地址变换</vt:lpstr>
      <vt:lpstr>地址变换流程</vt:lpstr>
      <vt:lpstr>缺页处理流程</vt:lpstr>
      <vt:lpstr>请求页式系统的内存访问流程</vt:lpstr>
      <vt:lpstr>访内存操作的三种情况</vt:lpstr>
      <vt:lpstr>有效访问时间</vt:lpstr>
      <vt:lpstr>缺页中断处理时间</vt:lpstr>
      <vt:lpstr>写时拷贝</vt:lpstr>
      <vt:lpstr>进程1修改页面C前后</vt:lpstr>
      <vt:lpstr>页面置换 </vt:lpstr>
      <vt:lpstr>页错误与帧数量图</vt:lpstr>
      <vt:lpstr>先进先出置换算法(FIFO) </vt:lpstr>
      <vt:lpstr>示例</vt:lpstr>
      <vt:lpstr>采用先进先出算法的页面置换情况</vt:lpstr>
      <vt:lpstr>为进程分配4个物理块</vt:lpstr>
      <vt:lpstr>无异常现象的页面序列</vt:lpstr>
      <vt:lpstr>页面置换情况</vt:lpstr>
      <vt:lpstr>为进程分配4个物理块</vt:lpstr>
      <vt:lpstr>最佳置换算法（OPT） </vt:lpstr>
      <vt:lpstr>最佳置换算法例</vt:lpstr>
      <vt:lpstr>采用最佳置换算法的页面置换情况</vt:lpstr>
      <vt:lpstr>最近最久未使用置换算法(LRU)</vt:lpstr>
      <vt:lpstr>LRU算法示例</vt:lpstr>
      <vt:lpstr>采用LRU算法的页面置换情况</vt:lpstr>
      <vt:lpstr>为进程分配4个物理块</vt:lpstr>
      <vt:lpstr>LRU算法的实现</vt:lpstr>
      <vt:lpstr>计数器实现</vt:lpstr>
      <vt:lpstr>计数器实现方法</vt:lpstr>
      <vt:lpstr>特殊栈（Stack）</vt:lpstr>
      <vt:lpstr>栈算法</vt:lpstr>
      <vt:lpstr>LRU近似置换算法</vt:lpstr>
      <vt:lpstr>LRU近似置换算法</vt:lpstr>
      <vt:lpstr>简单时钟（clock）算法</vt:lpstr>
      <vt:lpstr>简单时钟置换算法页面链</vt:lpstr>
      <vt:lpstr>简单时钟置换算法流程</vt:lpstr>
      <vt:lpstr>Clock Page-Replacement Algorithm</vt:lpstr>
      <vt:lpstr>页面置换情况</vt:lpstr>
      <vt:lpstr>改进的时钟算法</vt:lpstr>
      <vt:lpstr>改进型时钟算法描述</vt:lpstr>
      <vt:lpstr>基于计数的页面置换</vt:lpstr>
      <vt:lpstr>页面缓冲算法</vt:lpstr>
      <vt:lpstr>页面缓冲算法描述</vt:lpstr>
      <vt:lpstr>页面分配</vt:lpstr>
      <vt:lpstr>最小物理块数</vt:lpstr>
      <vt:lpstr>页面分配算法</vt:lpstr>
      <vt:lpstr>全局分配与局部分配</vt:lpstr>
      <vt:lpstr>固定分配局部置换</vt:lpstr>
      <vt:lpstr>可变分配全局置换</vt:lpstr>
      <vt:lpstr>可变分配局部置换</vt:lpstr>
      <vt:lpstr>抖动</vt:lpstr>
      <vt:lpstr>抖动的原因</vt:lpstr>
      <vt:lpstr>CPU利用率与程序道数的关系</vt:lpstr>
      <vt:lpstr>抖动的原因 </vt:lpstr>
      <vt:lpstr>工作集模型</vt:lpstr>
      <vt:lpstr>例</vt:lpstr>
      <vt:lpstr> 工作集模型 </vt:lpstr>
      <vt:lpstr> 工作集模型</vt:lpstr>
      <vt:lpstr>抖动的发现</vt:lpstr>
      <vt:lpstr>全局范围技术</vt:lpstr>
      <vt:lpstr>L=S准则</vt:lpstr>
      <vt:lpstr>利用缺页率发现抖动</vt:lpstr>
      <vt:lpstr>缺页率算法</vt:lpstr>
      <vt:lpstr>缺页率算法</vt:lpstr>
      <vt:lpstr>平均缺页频率</vt:lpstr>
      <vt:lpstr>抖动的预防及解除</vt:lpstr>
      <vt:lpstr>其他考虑</vt:lpstr>
      <vt:lpstr>预调页</vt:lpstr>
      <vt:lpstr>页面尺寸</vt:lpstr>
      <vt:lpstr>页面大小选择的分析</vt:lpstr>
      <vt:lpstr>页面大小选择的分析</vt:lpstr>
      <vt:lpstr>TLB范围</vt:lpstr>
      <vt:lpstr> TLB范围</vt:lpstr>
      <vt:lpstr>程序结构对缺页率影响例</vt:lpstr>
      <vt:lpstr>程序1的缺页次数</vt:lpstr>
      <vt:lpstr>程序2的缺页次数</vt:lpstr>
      <vt:lpstr>请求分段存储管理</vt:lpstr>
      <vt:lpstr>请求分段的实现思想</vt:lpstr>
      <vt:lpstr>请求分段的支持机构</vt:lpstr>
      <vt:lpstr>段表结构</vt:lpstr>
      <vt:lpstr>段表项中各字段的说明</vt:lpstr>
      <vt:lpstr>缺段中断处理</vt:lpstr>
      <vt:lpstr>缺段中断处理流程</vt:lpstr>
      <vt:lpstr>缺段中断涉及的几个问题</vt:lpstr>
      <vt:lpstr>动态地址变换 </vt:lpstr>
      <vt:lpstr>请求分段的地址变换过程 </vt:lpstr>
      <vt:lpstr>引入快表提高访问速度</vt:lpstr>
      <vt:lpstr>段的共享与保护</vt:lpstr>
      <vt:lpstr>共享段表及表项</vt:lpstr>
      <vt:lpstr>共享段的分配</vt:lpstr>
      <vt:lpstr>共享段的回收</vt:lpstr>
      <vt:lpstr>虚拟段页式存储管理系统</vt:lpstr>
      <vt:lpstr>练习题</vt:lpstr>
      <vt:lpstr>练习题</vt:lpstr>
      <vt:lpstr>练习题</vt:lpstr>
      <vt:lpstr>练习题</vt:lpstr>
      <vt:lpstr>选择题1</vt:lpstr>
      <vt:lpstr>选择题2</vt:lpstr>
      <vt:lpstr>选择题3</vt:lpstr>
      <vt:lpstr>选择题4</vt:lpstr>
      <vt:lpstr>选择题5</vt:lpstr>
      <vt:lpstr>选择题6</vt:lpstr>
      <vt:lpstr>选择题7</vt:lpstr>
      <vt:lpstr>选择题8</vt:lpstr>
      <vt:lpstr>选择题9</vt:lpstr>
      <vt:lpstr>选择题10</vt:lpstr>
      <vt:lpstr>选择题11</vt:lpstr>
      <vt:lpstr>填空题1</vt:lpstr>
      <vt:lpstr>填空题2</vt:lpstr>
      <vt:lpstr>填空题3</vt:lpstr>
      <vt:lpstr>填空题4</vt:lpstr>
      <vt:lpstr>填空题5</vt:lpstr>
      <vt:lpstr>考研题1</vt:lpstr>
      <vt:lpstr>考研题2</vt:lpstr>
      <vt:lpstr>考研题3</vt:lpstr>
      <vt:lpstr>考研题4-1</vt:lpstr>
      <vt:lpstr>考研题4-2</vt:lpstr>
      <vt:lpstr>考研题4-3</vt:lpstr>
      <vt:lpstr>考研题5-1</vt:lpstr>
      <vt:lpstr>考研题5-2</vt:lpstr>
      <vt:lpstr>考研题5 -3</vt:lpstr>
      <vt:lpstr>考研题5-4</vt:lpstr>
      <vt:lpstr>考研题5-5</vt:lpstr>
      <vt:lpstr>考研题6</vt:lpstr>
      <vt:lpstr>考研题7</vt:lpstr>
      <vt:lpstr>考研题8-1</vt:lpstr>
      <vt:lpstr>考研题8-2</vt:lpstr>
      <vt:lpstr>考研题8-3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进程线程调度</dc:title>
  <dc:creator>jj Jiang</dc:creator>
  <cp:lastModifiedBy>jj Jiang</cp:lastModifiedBy>
  <cp:revision>152</cp:revision>
  <dcterms:created xsi:type="dcterms:W3CDTF">2023-10-06T13:55:10Z</dcterms:created>
  <dcterms:modified xsi:type="dcterms:W3CDTF">2025-02-13T14:06:18Z</dcterms:modified>
</cp:coreProperties>
</file>