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4"/>
  </p:notesMasterIdLst>
  <p:sldIdLst>
    <p:sldId id="257" r:id="rId2"/>
    <p:sldId id="505" r:id="rId3"/>
    <p:sldId id="507" r:id="rId4"/>
    <p:sldId id="508" r:id="rId5"/>
    <p:sldId id="538" r:id="rId6"/>
    <p:sldId id="510" r:id="rId7"/>
    <p:sldId id="509" r:id="rId8"/>
    <p:sldId id="511" r:id="rId9"/>
    <p:sldId id="539" r:id="rId10"/>
    <p:sldId id="512" r:id="rId11"/>
    <p:sldId id="513" r:id="rId12"/>
    <p:sldId id="514" r:id="rId13"/>
    <p:sldId id="515" r:id="rId14"/>
    <p:sldId id="516" r:id="rId15"/>
    <p:sldId id="517" r:id="rId16"/>
    <p:sldId id="518" r:id="rId17"/>
    <p:sldId id="519" r:id="rId18"/>
    <p:sldId id="520" r:id="rId19"/>
    <p:sldId id="521" r:id="rId20"/>
    <p:sldId id="522" r:id="rId21"/>
    <p:sldId id="523" r:id="rId22"/>
    <p:sldId id="525" r:id="rId23"/>
    <p:sldId id="526" r:id="rId24"/>
    <p:sldId id="524" r:id="rId25"/>
    <p:sldId id="527" r:id="rId26"/>
    <p:sldId id="528" r:id="rId27"/>
    <p:sldId id="529" r:id="rId28"/>
    <p:sldId id="530" r:id="rId29"/>
    <p:sldId id="532" r:id="rId30"/>
    <p:sldId id="533" r:id="rId31"/>
    <p:sldId id="540" r:id="rId32"/>
    <p:sldId id="534" r:id="rId33"/>
    <p:sldId id="535" r:id="rId34"/>
    <p:sldId id="541" r:id="rId35"/>
    <p:sldId id="542" r:id="rId36"/>
    <p:sldId id="543" r:id="rId37"/>
    <p:sldId id="544" r:id="rId38"/>
    <p:sldId id="545" r:id="rId39"/>
    <p:sldId id="547" r:id="rId40"/>
    <p:sldId id="548" r:id="rId41"/>
    <p:sldId id="549" r:id="rId42"/>
    <p:sldId id="550" r:id="rId43"/>
    <p:sldId id="552" r:id="rId44"/>
    <p:sldId id="597" r:id="rId45"/>
    <p:sldId id="598" r:id="rId46"/>
    <p:sldId id="553" r:id="rId47"/>
    <p:sldId id="536" r:id="rId48"/>
    <p:sldId id="546" r:id="rId49"/>
    <p:sldId id="537" r:id="rId50"/>
    <p:sldId id="556" r:id="rId51"/>
    <p:sldId id="557" r:id="rId52"/>
    <p:sldId id="558" r:id="rId53"/>
    <p:sldId id="559" r:id="rId54"/>
    <p:sldId id="570" r:id="rId55"/>
    <p:sldId id="554" r:id="rId56"/>
    <p:sldId id="560" r:id="rId57"/>
    <p:sldId id="561" r:id="rId58"/>
    <p:sldId id="562" r:id="rId59"/>
    <p:sldId id="563" r:id="rId60"/>
    <p:sldId id="565" r:id="rId61"/>
    <p:sldId id="566" r:id="rId62"/>
    <p:sldId id="564" r:id="rId63"/>
    <p:sldId id="567" r:id="rId64"/>
    <p:sldId id="568" r:id="rId65"/>
    <p:sldId id="569" r:id="rId66"/>
    <p:sldId id="473" r:id="rId67"/>
    <p:sldId id="475" r:id="rId68"/>
    <p:sldId id="477" r:id="rId69"/>
    <p:sldId id="478" r:id="rId70"/>
    <p:sldId id="599" r:id="rId71"/>
    <p:sldId id="392" r:id="rId72"/>
    <p:sldId id="600" r:id="rId73"/>
    <p:sldId id="368" r:id="rId74"/>
    <p:sldId id="573" r:id="rId75"/>
    <p:sldId id="574" r:id="rId76"/>
    <p:sldId id="576" r:id="rId77"/>
    <p:sldId id="575" r:id="rId78"/>
    <p:sldId id="289" r:id="rId79"/>
    <p:sldId id="370" r:id="rId80"/>
    <p:sldId id="357" r:id="rId81"/>
    <p:sldId id="354" r:id="rId82"/>
    <p:sldId id="356" r:id="rId83"/>
    <p:sldId id="293" r:id="rId84"/>
    <p:sldId id="374" r:id="rId85"/>
    <p:sldId id="375" r:id="rId86"/>
    <p:sldId id="376" r:id="rId87"/>
    <p:sldId id="290" r:id="rId88"/>
    <p:sldId id="577" r:id="rId89"/>
    <p:sldId id="358" r:id="rId90"/>
    <p:sldId id="348" r:id="rId91"/>
    <p:sldId id="349" r:id="rId92"/>
    <p:sldId id="578" r:id="rId93"/>
    <p:sldId id="596" r:id="rId94"/>
    <p:sldId id="601" r:id="rId95"/>
    <p:sldId id="579" r:id="rId96"/>
    <p:sldId id="580" r:id="rId97"/>
    <p:sldId id="581" r:id="rId98"/>
    <p:sldId id="582" r:id="rId99"/>
    <p:sldId id="583" r:id="rId100"/>
    <p:sldId id="584" r:id="rId101"/>
    <p:sldId id="585" r:id="rId102"/>
    <p:sldId id="586" r:id="rId103"/>
    <p:sldId id="587" r:id="rId104"/>
    <p:sldId id="588" r:id="rId105"/>
    <p:sldId id="589" r:id="rId106"/>
    <p:sldId id="590" r:id="rId107"/>
    <p:sldId id="531" r:id="rId108"/>
    <p:sldId id="591" r:id="rId109"/>
    <p:sldId id="592" r:id="rId110"/>
    <p:sldId id="593" r:id="rId111"/>
    <p:sldId id="594" r:id="rId112"/>
    <p:sldId id="595" r:id="rId1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DD8"/>
    <a:srgbClr val="EAF1F1"/>
    <a:srgbClr val="FFF8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33"/>
    <p:restoredTop sz="79228"/>
  </p:normalViewPr>
  <p:slideViewPr>
    <p:cSldViewPr snapToGrid="0">
      <p:cViewPr varScale="1">
        <p:scale>
          <a:sx n="102" d="100"/>
          <a:sy n="102" d="100"/>
        </p:scale>
        <p:origin x="2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2C4591-32D9-4248-9B09-4A3FCC9A2071}" type="datetimeFigureOut">
              <a:rPr kumimoji="1" lang="zh-CN" altLang="en-US" smtClean="0"/>
              <a:t>2024/10/29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5ACA3-2961-3740-91A0-2A6370DAD6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4223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6487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3667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38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1607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信号量的值会出现小于</a:t>
            </a:r>
            <a:r>
              <a:rPr kumimoji="1" lang="en-US" altLang="zh-CN" dirty="0"/>
              <a:t>0</a:t>
            </a:r>
            <a:r>
              <a:rPr kumimoji="1" lang="zh-CN" altLang="en-US" dirty="0"/>
              <a:t>的情况吗？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47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9856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55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7131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63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6785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74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5664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CB31256-4040-D574-1352-7BF9958E21CB}"/>
              </a:ext>
            </a:extLst>
          </p:cNvPr>
          <p:cNvGrpSpPr>
            <a:grpSpLocks/>
          </p:cNvGrpSpPr>
          <p:nvPr/>
        </p:nvGrpSpPr>
        <p:grpSpPr bwMode="auto">
          <a:xfrm>
            <a:off x="2" y="2438406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EA6626CB-3703-E0DB-640B-674546674C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B2311AE7-2C4F-8267-D2B8-353BB03769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8CF3E795-8736-A25F-18DB-60F4331090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332554FD-EA9F-C7BC-4962-5BD0321F09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247E854-890A-8AB4-8D1E-21A25F6EC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9BD07B4-2FE4-0227-16AD-D37B05C8FC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sz="1350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CC6F0594-41E8-FEBD-7452-6A6E1E244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E3D8FBF2-0838-B26A-51A0-086A51CFA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7B338C99-4BFA-EC8E-7B91-F5844CDD83B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69E201AF-481D-D7F5-F5A3-B7C5682D25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701192B2-B64A-92F9-322E-CE658D3C1F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1003B9B5-2387-F5A9-AE3D-CEEB0E2137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B6F798D-A431-694C-B66B-13A47D786A0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551916"/>
      </p:ext>
    </p:extLst>
  </p:cSld>
  <p:clrMapOvr>
    <a:masterClrMapping/>
  </p:clrMapOvr>
  <p:transition spd="med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>
                <a:latin typeface="Century" panose="020406040505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hangingPunct="1">
              <a:buClr>
                <a:schemeClr val="accent4"/>
              </a:buClr>
              <a:defRPr sz="3000">
                <a:latin typeface="Century" panose="02040604050505020304" pitchFamily="18" charset="0"/>
              </a:defRPr>
            </a:lvl1pPr>
            <a:lvl2pPr hangingPunct="1">
              <a:buClr>
                <a:srgbClr val="C00000"/>
              </a:buClr>
              <a:defRPr sz="2600">
                <a:latin typeface="Century" panose="02040604050505020304" pitchFamily="18" charset="0"/>
              </a:defRPr>
            </a:lvl2pPr>
            <a:lvl3pPr hangingPunct="1">
              <a:buClr>
                <a:schemeClr val="tx2"/>
              </a:buClr>
              <a:defRPr sz="2200">
                <a:latin typeface="Century" panose="02040604050505020304" pitchFamily="18" charset="0"/>
              </a:defRPr>
            </a:lvl3pPr>
            <a:lvl4pPr hangingPunct="1">
              <a:buClr>
                <a:schemeClr val="accent2">
                  <a:lumMod val="50000"/>
                </a:schemeClr>
              </a:buClr>
              <a:defRPr sz="1800">
                <a:latin typeface="Century" panose="02040604050505020304" pitchFamily="18" charset="0"/>
              </a:defRPr>
            </a:lvl4pPr>
            <a:lvl5pPr hangingPunct="1">
              <a:buClr>
                <a:schemeClr val="accent5">
                  <a:lumMod val="25000"/>
                </a:schemeClr>
              </a:buClr>
              <a:defRPr sz="1800">
                <a:latin typeface="Century" panose="02040604050505020304" pitchFamily="18" charset="0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84B8634-86D3-A0AE-194D-6A15AFAFFA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723DE67-FDB7-4E97-1714-22C53D101C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24CAC9F-9A1C-2025-A160-151BDB7FFF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93CC90-4002-504C-BD88-C9A1D374048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5866086"/>
      </p:ext>
    </p:extLst>
  </p:cSld>
  <p:clrMapOvr>
    <a:masterClrMapping/>
  </p:clrMapOvr>
  <p:transition spd="med"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84" indent="0">
              <a:buNone/>
              <a:defRPr sz="1350"/>
            </a:lvl2pPr>
            <a:lvl3pPr marL="685766" indent="0">
              <a:buNone/>
              <a:defRPr sz="1200"/>
            </a:lvl3pPr>
            <a:lvl4pPr marL="1028649" indent="0">
              <a:buNone/>
              <a:defRPr sz="1050"/>
            </a:lvl4pPr>
            <a:lvl5pPr marL="1371532" indent="0">
              <a:buNone/>
              <a:defRPr sz="1050"/>
            </a:lvl5pPr>
            <a:lvl6pPr marL="1714415" indent="0">
              <a:buNone/>
              <a:defRPr sz="1050"/>
            </a:lvl6pPr>
            <a:lvl7pPr marL="2057297" indent="0">
              <a:buNone/>
              <a:defRPr sz="1050"/>
            </a:lvl7pPr>
            <a:lvl8pPr marL="2400180" indent="0">
              <a:buNone/>
              <a:defRPr sz="1050"/>
            </a:lvl8pPr>
            <a:lvl9pPr marL="2743064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BDFF65-8CBE-FC8E-C2AB-BF39F778E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57BB269-8BCF-19AE-2E4C-4F50A72F7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C4B4EC5-8D14-B9F8-3A0E-6B6E3FB2C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D78D-38BD-D44D-8D86-2D2DB0BEC18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693493"/>
      </p:ext>
    </p:extLst>
  </p:cSld>
  <p:clrMapOvr>
    <a:masterClrMapping/>
  </p:clrMapOvr>
  <p:transition spd="med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35038" y="1233488"/>
            <a:ext cx="3810000" cy="48958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97438" y="1233488"/>
            <a:ext cx="3810000" cy="48958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77088FB-A6B7-73F5-7F94-4748D69CAC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B037231-D77C-7620-5048-020218A567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1616081F-299F-D60B-0ECC-280BE114E5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968A19-278A-0A41-BBE8-65E5D3125EB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847077"/>
      </p:ext>
    </p:extLst>
  </p:cSld>
  <p:clrMapOvr>
    <a:masterClrMapping/>
  </p:clrMapOvr>
  <p:transition spd="med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8794170-3BE8-63A8-84A0-433E04CC41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EE836C1-36AB-35B2-63E3-C5C32DFB7D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14EBA2A-C5A1-FF69-4383-F487A84086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5D52E0-A696-0244-8333-2084DA18EEE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665912"/>
      </p:ext>
    </p:extLst>
  </p:cSld>
  <p:clrMapOvr>
    <a:masterClrMapping/>
  </p:clrMapOvr>
  <p:transition spd="med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90622892-0589-9624-9441-6D3D8D420A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E3302D8-0022-5549-6AF3-C9DF37FD08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BAF381E-A9DD-B4FB-A99D-D6A7443039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E15609-3D60-D842-9ED4-D898F320B19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375608"/>
      </p:ext>
    </p:extLst>
  </p:cSld>
  <p:clrMapOvr>
    <a:masterClrMapping/>
  </p:clrMapOvr>
  <p:transition spd="med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31F610FA-62F8-3A69-9BB8-68EAD4093A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030F8BB0-0FEC-EDAC-A497-49A707FDB0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1004B668-435E-6B54-9B71-30E6E86C67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438AA8-90D7-9745-B439-F7E019CC101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615399"/>
      </p:ext>
    </p:extLst>
  </p:cSld>
  <p:clrMapOvr>
    <a:masterClrMapping/>
  </p:clrMapOvr>
  <p:transition spd="med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884" indent="0">
              <a:buNone/>
              <a:defRPr sz="900"/>
            </a:lvl2pPr>
            <a:lvl3pPr marL="685766" indent="0">
              <a:buNone/>
              <a:defRPr sz="750"/>
            </a:lvl3pPr>
            <a:lvl4pPr marL="1028649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4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77BF47D-FB2C-CA75-3290-9D390F1A1B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CEDDD16-8334-8815-AE79-D96BE2801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F672E88-31B4-2E74-6924-50EA7B00DF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0B590F-D627-7E4E-9EE8-F0575448761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611658"/>
      </p:ext>
    </p:extLst>
  </p:cSld>
  <p:clrMapOvr>
    <a:masterClrMapping/>
  </p:clrMapOvr>
  <p:transition spd="med"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884" indent="0">
              <a:buNone/>
              <a:defRPr sz="900"/>
            </a:lvl2pPr>
            <a:lvl3pPr marL="685766" indent="0">
              <a:buNone/>
              <a:defRPr sz="750"/>
            </a:lvl3pPr>
            <a:lvl4pPr marL="1028649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4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DF7E1FA-7229-6F80-9195-95494C6B6D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A7BEB0C-60AB-4B90-0858-DC9F851CFC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8113A4C-B97F-6D35-E97A-9BCA743B10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5CE171-2466-3E49-953C-8D9416E27C4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727056"/>
      </p:ext>
    </p:extLst>
  </p:cSld>
  <p:clrMapOvr>
    <a:masterClrMapping/>
  </p:clrMapOvr>
  <p:transition spd="med"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969790B-5FDE-ACFE-CBF8-D6D25FB978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42DD340-A062-ECA2-BACD-72DF641D7A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A990D87-E397-DDBA-9741-B7BDB82788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6A2B9D-4C43-344E-A3AD-CDEFA12D460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375271"/>
      </p:ext>
    </p:extLst>
  </p:cSld>
  <p:clrMapOvr>
    <a:masterClrMapping/>
  </p:clrMapOvr>
  <p:transition spd="med"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04041" y="225431"/>
            <a:ext cx="1989137" cy="59039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35038" y="225431"/>
            <a:ext cx="5816600" cy="59039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B6D72A0-9ACC-FB01-B500-09347F0725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C2E9BFB-3F4C-57E7-BA00-4AD71CFAAD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4462F64-AE9C-AD7E-F866-AAEDC027A6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4D01F4-2BF8-A745-90E2-0A334AE3AAF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722587"/>
      </p:ext>
    </p:extLst>
  </p:cSld>
  <p:clrMapOvr>
    <a:masterClrMapping/>
  </p:clrMapOvr>
  <p:transition spd="med"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35038" y="1233488"/>
            <a:ext cx="3810000" cy="4895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897438" y="1233488"/>
            <a:ext cx="3810000" cy="489585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F4DAB6F-0109-F932-D41D-114D2B361E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B9B9A9B-4F44-E332-8013-87B918E445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1D42F48-85F2-C1B3-34A9-42D4A700CC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310DF3-193F-E44C-B1F0-408591F45CF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218793"/>
      </p:ext>
    </p:extLst>
  </p:cSld>
  <p:clrMapOvr>
    <a:masterClrMapping/>
  </p:clrMapOvr>
  <p:transition spd="med"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935038" y="1233488"/>
            <a:ext cx="7772400" cy="489585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708D4BC-3A8D-E878-0802-13BCC7E23D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25FD2C4-690E-646E-8669-143AD1BD9F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4E36240-FA62-8027-3821-D40DEB78E1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BB1C6D-14C1-844E-9115-70642E9631D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928925"/>
      </p:ext>
    </p:extLst>
  </p:cSld>
  <p:clrMapOvr>
    <a:masterClrMapping/>
  </p:clrMapOvr>
  <p:transition spd="med"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id="{A9824247-C8A8-C57F-CAEC-3A223BA6F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1" y="26988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4A0B2333-B6EA-176D-0028-5AB7711DF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6" y="10604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id="{0D3A9279-CA87-4E7F-DAC6-015EE242A97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042988" y="225431"/>
            <a:ext cx="78501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10">
            <a:extLst>
              <a:ext uri="{FF2B5EF4-FFF2-40B4-BE49-F238E27FC236}">
                <a16:creationId xmlns:a16="http://schemas.microsoft.com/office/drawing/2014/main" id="{86AE627A-1B93-6388-397F-5C8186FBAFE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935038" y="1233488"/>
            <a:ext cx="777240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4523" name="Rectangle 11">
            <a:extLst>
              <a:ext uri="{FF2B5EF4-FFF2-40B4-BE49-F238E27FC236}">
                <a16:creationId xmlns:a16="http://schemas.microsoft.com/office/drawing/2014/main" id="{DE3D8E3B-D458-C570-9919-DE02EA9FC78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05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4525" name="Rectangle 13">
            <a:extLst>
              <a:ext uri="{FF2B5EF4-FFF2-40B4-BE49-F238E27FC236}">
                <a16:creationId xmlns:a16="http://schemas.microsoft.com/office/drawing/2014/main" id="{C2D98F74-F2B6-4A7D-03A8-AB9BF3598B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50"/>
            </a:lvl1pPr>
          </a:lstStyle>
          <a:p>
            <a:fld id="{6F73D78D-38BD-D44D-8D86-2D2DB0BEC18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BB9AFC-C9BC-E655-334A-DE8EBC2F172F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532443" y="5624518"/>
            <a:ext cx="512549" cy="11068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CE6F6BF-4B21-EBA8-0316-496A78B2CDF2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 rot="3532301">
            <a:off x="53066" y="512497"/>
            <a:ext cx="678101" cy="37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515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med">
    <p:zoom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342884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685766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028649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371532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257162" indent="-257162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250">
          <a:solidFill>
            <a:schemeClr val="tx1"/>
          </a:solidFill>
          <a:latin typeface="+mn-lt"/>
          <a:ea typeface="+mn-ea"/>
          <a:cs typeface="+mn-cs"/>
        </a:defRPr>
      </a:lvl1pPr>
      <a:lvl2pPr marL="557185" indent="-214303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rgbClr val="C00000"/>
        </a:buClr>
        <a:buSzPct val="55000"/>
        <a:buFont typeface="Wingdings" pitchFamily="2" charset="2"/>
        <a:buChar char="n"/>
        <a:defRPr sz="1950">
          <a:solidFill>
            <a:schemeClr val="tx1"/>
          </a:solidFill>
          <a:latin typeface="+mn-lt"/>
          <a:ea typeface="+mn-ea"/>
        </a:defRPr>
      </a:lvl2pPr>
      <a:lvl3pPr marL="857207" indent="-171442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2" charset="2"/>
        <a:buChar char="n"/>
        <a:defRPr sz="1650">
          <a:solidFill>
            <a:schemeClr val="tx1"/>
          </a:solidFill>
          <a:latin typeface="+mn-lt"/>
          <a:ea typeface="+mn-ea"/>
        </a:defRPr>
      </a:lvl3pPr>
      <a:lvl4pPr marL="1200090" indent="-171442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chemeClr val="accent6">
            <a:lumMod val="50000"/>
          </a:schemeClr>
        </a:buClr>
        <a:buSzPct val="55000"/>
        <a:buFont typeface="Wingdings" pitchFamily="2" charset="2"/>
        <a:buChar char="n"/>
        <a:defRPr sz="1350">
          <a:solidFill>
            <a:schemeClr val="tx1"/>
          </a:solidFill>
          <a:latin typeface="+mn-lt"/>
          <a:ea typeface="+mn-ea"/>
        </a:defRPr>
      </a:lvl4pPr>
      <a:lvl5pPr marL="1542974" indent="-171442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chemeClr val="accent5">
            <a:lumMod val="25000"/>
          </a:schemeClr>
        </a:buClr>
        <a:buSzPct val="50000"/>
        <a:buFont typeface="Wingdings" pitchFamily="2" charset="2"/>
        <a:buChar char="n"/>
        <a:defRPr sz="1350">
          <a:solidFill>
            <a:schemeClr val="tx1"/>
          </a:solidFill>
          <a:latin typeface="+mn-lt"/>
          <a:ea typeface="+mn-ea"/>
        </a:defRPr>
      </a:lvl5pPr>
      <a:lvl6pPr marL="1885856" indent="-171442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6pPr>
      <a:lvl7pPr marL="2228739" indent="-171442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7pPr>
      <a:lvl8pPr marL="2571622" indent="-171442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8pPr>
      <a:lvl9pPr marL="2914505" indent="-171442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478220-5F10-3448-53B0-A082ACF3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章 进程同步机制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7B2C0A-B2D8-3755-E6C0-89A613AD7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/>
          </a:bodyPr>
          <a:lstStyle/>
          <a:p>
            <a:r>
              <a:rPr lang="zh-CN" altLang="en-US" dirty="0"/>
              <a:t>本章内容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 进程互斥、</a:t>
            </a:r>
            <a:r>
              <a:rPr lang="zh-CN" altLang="zh-CN" dirty="0"/>
              <a:t>同步的基本概念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 实现进程互斥的软硬件</a:t>
            </a:r>
            <a:r>
              <a:rPr lang="zh-CN" altLang="zh-CN" dirty="0"/>
              <a:t>方法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zh-CN" altLang="zh-CN" dirty="0"/>
              <a:t>锁</a:t>
            </a:r>
            <a:r>
              <a:rPr lang="zh-CN" altLang="en-US" dirty="0"/>
              <a:t>和</a:t>
            </a:r>
            <a:r>
              <a:rPr lang="zh-CN" altLang="zh-CN" dirty="0"/>
              <a:t>条件变量</a:t>
            </a:r>
            <a:r>
              <a:rPr lang="zh-CN" altLang="en-US" dirty="0"/>
              <a:t>的作用和实现</a:t>
            </a:r>
            <a:endParaRPr lang="zh-CN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 </a:t>
            </a:r>
            <a:r>
              <a:rPr lang="zh-CN" altLang="zh-CN" dirty="0"/>
              <a:t>信号量机制</a:t>
            </a:r>
            <a:r>
              <a:rPr lang="zh-CN" altLang="en-US" dirty="0"/>
              <a:t>解决互斥同步问题</a:t>
            </a:r>
            <a:endParaRPr lang="zh-CN" altLang="zh-CN" dirty="0"/>
          </a:p>
          <a:p>
            <a:r>
              <a:rPr lang="en-US" altLang="zh-CN" dirty="0"/>
              <a:t>5.</a:t>
            </a:r>
            <a:r>
              <a:rPr lang="zh-CN" altLang="en-US" dirty="0"/>
              <a:t> </a:t>
            </a:r>
            <a:r>
              <a:rPr lang="zh-CN" altLang="zh-CN" dirty="0"/>
              <a:t>经典同步问题</a:t>
            </a:r>
          </a:p>
          <a:p>
            <a:r>
              <a:rPr lang="en-US" altLang="zh-CN" dirty="0"/>
              <a:t>6.</a:t>
            </a:r>
            <a:r>
              <a:rPr lang="zh-CN" altLang="en-US" dirty="0"/>
              <a:t> 各种</a:t>
            </a:r>
            <a:r>
              <a:rPr lang="zh-CN" altLang="zh-CN" dirty="0"/>
              <a:t>进程通信机制</a:t>
            </a:r>
            <a:r>
              <a:rPr lang="zh-CN" altLang="en-US" dirty="0"/>
              <a:t>的原理和区别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A8B553-02AE-2219-C59A-8B5B36D1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4432439"/>
      </p:ext>
    </p:extLst>
  </p:cSld>
  <p:clrMapOvr>
    <a:masterClrMapping/>
  </p:clrMapOvr>
  <p:transition spd="med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B32A5-BC13-498E-9ECD-4A5CD51D4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一个并发问题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FCE440-7AC8-8C51-A4C1-F51C5FCC6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C80155-8793-3F70-59EB-AB23AEE8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B0D2-D815-7A4D-B3BF-DD40B5CCE112}" type="slidenum">
              <a:rPr lang="zh-CN" altLang="en-US" smtClean="0"/>
              <a:t>2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D3F7AE-F541-9A6A-EB99-DF0BB3837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29" y="1233487"/>
            <a:ext cx="7859557" cy="489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03670"/>
      </p:ext>
    </p:extLst>
  </p:cSld>
  <p:clrMapOvr>
    <a:masterClrMapping/>
  </p:clrMapOvr>
  <p:transition spd="med"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B95869-F2C5-8590-DBA6-30AAF729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一个并发问题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BE297E-CDEB-61E1-18E3-AD4FCA4F0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8B7926-A262-93BA-4489-C145CED1F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F5175-E720-AA4D-B4F6-F53E5B52B078}" type="slidenum">
              <a:rPr lang="zh-CN" altLang="en-US" smtClean="0"/>
              <a:t>3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F06051-219E-0263-AED9-50F7E005E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038" y="1242526"/>
            <a:ext cx="6649950" cy="488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442739"/>
      </p:ext>
    </p:extLst>
  </p:cSld>
  <p:clrMapOvr>
    <a:masterClrMapping/>
  </p:clrMapOvr>
  <p:transition spd="med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B95869-F2C5-8590-DBA6-30AAF729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一个并发问题</a:t>
            </a:r>
          </a:p>
        </p:txBody>
      </p:sp>
      <p:sp>
        <p:nvSpPr>
          <p:cNvPr id="8" name="内容占位符 5">
            <a:extLst>
              <a:ext uri="{FF2B5EF4-FFF2-40B4-BE49-F238E27FC236}">
                <a16:creationId xmlns:a16="http://schemas.microsoft.com/office/drawing/2014/main" id="{E84BD793-D058-7907-F4F2-E9F51EF7B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2415" y="1220962"/>
            <a:ext cx="4120759" cy="489585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当</a:t>
            </a:r>
            <a:r>
              <a:rPr lang="en-US" altLang="zh-CN" dirty="0"/>
              <a:t>loops</a:t>
            </a:r>
            <a:r>
              <a:rPr lang="zh-CN" altLang="en-US" dirty="0"/>
              <a:t>输入为</a:t>
            </a:r>
            <a:r>
              <a:rPr lang="en-US" altLang="zh-CN" dirty="0"/>
              <a:t>N</a:t>
            </a:r>
            <a:r>
              <a:rPr lang="zh-CN" altLang="en-US" dirty="0"/>
              <a:t>时，预计程序输出为</a:t>
            </a:r>
            <a:r>
              <a:rPr lang="en-US" altLang="zh-CN" dirty="0"/>
              <a:t>2N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程序运行不但会产生错误，而且结果不同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为什么会出现这种状况？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增加共享计数器的代码由</a:t>
            </a:r>
            <a:r>
              <a:rPr lang="en-US" altLang="zh-CN" dirty="0"/>
              <a:t>3</a:t>
            </a:r>
            <a:r>
              <a:rPr lang="zh-CN" altLang="en-US" dirty="0"/>
              <a:t>条指令构成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kumimoji="1" lang="zh-CN" altLang="en-US" sz="2800" dirty="0"/>
              <a:t>假设</a:t>
            </a:r>
            <a:r>
              <a:rPr kumimoji="1" lang="en-US" altLang="zh-CN" sz="2800" dirty="0"/>
              <a:t>counter</a:t>
            </a:r>
            <a:r>
              <a:rPr kumimoji="1" lang="zh-CN" altLang="en-US" sz="2800" dirty="0"/>
              <a:t>存放于地址</a:t>
            </a:r>
            <a:r>
              <a:rPr kumimoji="1" lang="en-US" altLang="zh-CN" sz="2800" dirty="0"/>
              <a:t>0x8049a1c</a:t>
            </a:r>
            <a:endParaRPr lang="en-US" altLang="zh-CN" dirty="0"/>
          </a:p>
          <a:p>
            <a:pPr marL="342882" lvl="1" indent="0">
              <a:lnSpc>
                <a:spcPct val="120000"/>
              </a:lnSpc>
              <a:spcBef>
                <a:spcPts val="1224"/>
              </a:spcBef>
              <a:buNone/>
            </a:pPr>
            <a:r>
              <a:rPr lang="en" altLang="zh-CN" dirty="0"/>
              <a:t>100 mov 0x8049a1c,</a:t>
            </a:r>
            <a:r>
              <a:rPr lang="zh-CN" altLang="en-US" dirty="0"/>
              <a:t> </a:t>
            </a:r>
            <a:r>
              <a:rPr lang="en" altLang="zh-CN" dirty="0"/>
              <a:t>%eax</a:t>
            </a:r>
          </a:p>
          <a:p>
            <a:pPr marL="342882" lvl="1" indent="0">
              <a:lnSpc>
                <a:spcPct val="120000"/>
              </a:lnSpc>
              <a:buNone/>
            </a:pPr>
            <a:r>
              <a:rPr lang="en" altLang="zh-CN" dirty="0"/>
              <a:t>105 add $0x1</a:t>
            </a:r>
            <a:r>
              <a:rPr lang="en-US" altLang="zh-CN" dirty="0"/>
              <a:t>,</a:t>
            </a:r>
            <a:r>
              <a:rPr lang="en" altLang="zh-CN" dirty="0"/>
              <a:t> %</a:t>
            </a:r>
            <a:r>
              <a:rPr lang="en" altLang="zh-CN" dirty="0" err="1"/>
              <a:t>eax</a:t>
            </a:r>
            <a:r>
              <a:rPr lang="en" altLang="zh-CN" dirty="0"/>
              <a:t> </a:t>
            </a:r>
          </a:p>
          <a:p>
            <a:pPr marL="342882" lvl="1" indent="0">
              <a:lnSpc>
                <a:spcPct val="120000"/>
              </a:lnSpc>
              <a:buNone/>
            </a:pPr>
            <a:r>
              <a:rPr lang="en" altLang="zh-CN" dirty="0"/>
              <a:t>108 mov %</a:t>
            </a:r>
            <a:r>
              <a:rPr lang="en" altLang="zh-CN" dirty="0" err="1"/>
              <a:t>eax</a:t>
            </a:r>
            <a:r>
              <a:rPr lang="en" altLang="zh-CN" dirty="0"/>
              <a:t>, 0x8049a1c </a:t>
            </a:r>
          </a:p>
          <a:p>
            <a:pPr lvl="1"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8B7926-A262-93BA-4489-C145CED1F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65B3194D-4B29-6644-ABBF-D5D8AF229A59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C9BD3C-4AC3-5C49-C467-7AE57C3C0683}"/>
              </a:ext>
            </a:extLst>
          </p:cNvPr>
          <p:cNvSpPr txBox="1"/>
          <p:nvPr/>
        </p:nvSpPr>
        <p:spPr>
          <a:xfrm>
            <a:off x="932078" y="1732836"/>
            <a:ext cx="4576025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kumimoji="1" lang="en-US" altLang="zh-CN" sz="1600" dirty="0">
                <a:latin typeface="Century" panose="02040604050505020304" pitchFamily="18" charset="0"/>
              </a:rPr>
              <a:t>$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 err="1">
                <a:latin typeface="Century" panose="02040604050505020304" pitchFamily="18" charset="0"/>
              </a:rPr>
              <a:t>gcc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–o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thread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 err="1">
                <a:latin typeface="Century" panose="02040604050505020304" pitchFamily="18" charset="0"/>
              </a:rPr>
              <a:t>thread.c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–Wall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-</a:t>
            </a:r>
            <a:r>
              <a:rPr kumimoji="1" lang="en-US" altLang="zh-CN" sz="1600" dirty="0" err="1">
                <a:latin typeface="Century" panose="02040604050505020304" pitchFamily="18" charset="0"/>
              </a:rPr>
              <a:t>pthread</a:t>
            </a:r>
            <a:endParaRPr kumimoji="1" lang="en-US" altLang="zh-CN" sz="1600" dirty="0">
              <a:latin typeface="Century" panose="02040604050505020304" pitchFamily="18" charset="0"/>
            </a:endParaRPr>
          </a:p>
          <a:p>
            <a:pPr>
              <a:buNone/>
            </a:pPr>
            <a:r>
              <a:rPr kumimoji="1" lang="en-US" altLang="zh-CN" sz="1600" dirty="0">
                <a:latin typeface="Century" panose="02040604050505020304" pitchFamily="18" charset="0"/>
              </a:rPr>
              <a:t>$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./thread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1000</a:t>
            </a:r>
          </a:p>
          <a:p>
            <a:pPr>
              <a:buNone/>
            </a:pPr>
            <a:r>
              <a:rPr kumimoji="1" lang="en-US" altLang="zh-CN" sz="1600" dirty="0">
                <a:latin typeface="Century" panose="02040604050505020304" pitchFamily="18" charset="0"/>
              </a:rPr>
              <a:t>Initial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value</a:t>
            </a:r>
            <a:r>
              <a:rPr kumimoji="1" lang="zh-CN" altLang="en-US" sz="1600" dirty="0">
                <a:latin typeface="Century" panose="02040604050505020304" pitchFamily="18" charset="0"/>
              </a:rPr>
              <a:t>： </a:t>
            </a:r>
            <a:r>
              <a:rPr kumimoji="1" lang="en-US" altLang="zh-CN" sz="1600" dirty="0">
                <a:latin typeface="Century" panose="02040604050505020304" pitchFamily="18" charset="0"/>
              </a:rPr>
              <a:t>0</a:t>
            </a:r>
          </a:p>
          <a:p>
            <a:pPr>
              <a:buNone/>
            </a:pPr>
            <a:r>
              <a:rPr kumimoji="1" lang="en-US" altLang="zh-CN" sz="1600" dirty="0">
                <a:latin typeface="Century" panose="02040604050505020304" pitchFamily="18" charset="0"/>
              </a:rPr>
              <a:t>Final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value</a:t>
            </a:r>
            <a:r>
              <a:rPr kumimoji="1" lang="zh-CN" altLang="en-US" sz="1600" dirty="0">
                <a:latin typeface="Century" panose="02040604050505020304" pitchFamily="18" charset="0"/>
              </a:rPr>
              <a:t> ： </a:t>
            </a:r>
            <a:r>
              <a:rPr kumimoji="1" lang="en-US" altLang="zh-CN" sz="1600" dirty="0">
                <a:latin typeface="Century" panose="02040604050505020304" pitchFamily="18" charset="0"/>
              </a:rPr>
              <a:t>2000</a:t>
            </a:r>
            <a:endParaRPr kumimoji="1" lang="zh-CN" altLang="en-US" sz="1600" dirty="0">
              <a:latin typeface="Century" panose="020406040505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070901-43C0-2389-6F54-23B96626F830}"/>
              </a:ext>
            </a:extLst>
          </p:cNvPr>
          <p:cNvSpPr txBox="1"/>
          <p:nvPr/>
        </p:nvSpPr>
        <p:spPr>
          <a:xfrm>
            <a:off x="931367" y="2863954"/>
            <a:ext cx="4576025" cy="275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kumimoji="1" lang="en-US" altLang="zh-CN" sz="1600" dirty="0">
                <a:latin typeface="Century" panose="02040604050505020304" pitchFamily="18" charset="0"/>
              </a:rPr>
              <a:t>$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./thread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100000</a:t>
            </a:r>
          </a:p>
          <a:p>
            <a:pPr>
              <a:buNone/>
            </a:pPr>
            <a:r>
              <a:rPr kumimoji="1" lang="en-US" altLang="zh-CN" sz="1600" dirty="0">
                <a:latin typeface="Century" panose="02040604050505020304" pitchFamily="18" charset="0"/>
              </a:rPr>
              <a:t>Initial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value</a:t>
            </a:r>
            <a:r>
              <a:rPr kumimoji="1" lang="zh-CN" altLang="en-US" sz="1600" dirty="0">
                <a:latin typeface="Century" panose="02040604050505020304" pitchFamily="18" charset="0"/>
              </a:rPr>
              <a:t>： </a:t>
            </a:r>
            <a:r>
              <a:rPr kumimoji="1" lang="en-US" altLang="zh-CN" sz="1600" dirty="0">
                <a:latin typeface="Century" panose="02040604050505020304" pitchFamily="18" charset="0"/>
              </a:rPr>
              <a:t>0</a:t>
            </a:r>
          </a:p>
          <a:p>
            <a:pPr>
              <a:buNone/>
            </a:pPr>
            <a:r>
              <a:rPr kumimoji="1" lang="en-US" altLang="zh-CN" sz="1600" dirty="0">
                <a:latin typeface="Century" panose="02040604050505020304" pitchFamily="18" charset="0"/>
              </a:rPr>
              <a:t>Final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value</a:t>
            </a:r>
            <a:r>
              <a:rPr kumimoji="1" lang="zh-CN" altLang="en-US" sz="1600" dirty="0">
                <a:latin typeface="Century" panose="02040604050505020304" pitchFamily="18" charset="0"/>
              </a:rPr>
              <a:t> ： </a:t>
            </a:r>
            <a:r>
              <a:rPr kumimoji="1" lang="en-US" altLang="zh-CN" sz="1600" dirty="0">
                <a:latin typeface="Century" panose="02040604050505020304" pitchFamily="18" charset="0"/>
              </a:rPr>
              <a:t>143012</a:t>
            </a:r>
          </a:p>
          <a:p>
            <a:pPr>
              <a:buNone/>
            </a:pPr>
            <a:r>
              <a:rPr kumimoji="1" lang="en-US" altLang="zh-CN" sz="1600" dirty="0">
                <a:latin typeface="Century" panose="02040604050505020304" pitchFamily="18" charset="0"/>
              </a:rPr>
              <a:t>$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./thread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100000</a:t>
            </a:r>
          </a:p>
          <a:p>
            <a:pPr>
              <a:buNone/>
            </a:pPr>
            <a:r>
              <a:rPr kumimoji="1" lang="en-US" altLang="zh-CN" sz="1600" dirty="0">
                <a:latin typeface="Century" panose="02040604050505020304" pitchFamily="18" charset="0"/>
              </a:rPr>
              <a:t>Initial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value</a:t>
            </a:r>
            <a:r>
              <a:rPr kumimoji="1" lang="zh-CN" altLang="en-US" sz="1600" dirty="0">
                <a:latin typeface="Century" panose="02040604050505020304" pitchFamily="18" charset="0"/>
              </a:rPr>
              <a:t>： </a:t>
            </a:r>
            <a:r>
              <a:rPr kumimoji="1" lang="en-US" altLang="zh-CN" sz="1600" dirty="0">
                <a:latin typeface="Century" panose="02040604050505020304" pitchFamily="18" charset="0"/>
              </a:rPr>
              <a:t>0</a:t>
            </a:r>
          </a:p>
          <a:p>
            <a:pPr>
              <a:buNone/>
            </a:pPr>
            <a:r>
              <a:rPr kumimoji="1" lang="en-US" altLang="zh-CN" sz="1600" dirty="0">
                <a:latin typeface="Century" panose="02040604050505020304" pitchFamily="18" charset="0"/>
              </a:rPr>
              <a:t>Final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value</a:t>
            </a:r>
            <a:r>
              <a:rPr kumimoji="1" lang="zh-CN" altLang="en-US" sz="1600" dirty="0">
                <a:latin typeface="Century" panose="02040604050505020304" pitchFamily="18" charset="0"/>
              </a:rPr>
              <a:t> ： </a:t>
            </a:r>
            <a:r>
              <a:rPr kumimoji="1" lang="en-US" altLang="zh-CN" sz="1600" dirty="0">
                <a:latin typeface="Century" panose="02040604050505020304" pitchFamily="18" charset="0"/>
              </a:rPr>
              <a:t>137128</a:t>
            </a:r>
          </a:p>
          <a:p>
            <a:pPr>
              <a:buNone/>
            </a:pPr>
            <a:r>
              <a:rPr kumimoji="1" lang="en-US" altLang="zh-CN" sz="1600" dirty="0">
                <a:latin typeface="Century" panose="02040604050505020304" pitchFamily="18" charset="0"/>
              </a:rPr>
              <a:t>$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./thread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100000</a:t>
            </a:r>
          </a:p>
          <a:p>
            <a:pPr>
              <a:buNone/>
            </a:pPr>
            <a:r>
              <a:rPr kumimoji="1" lang="en-US" altLang="zh-CN" sz="1600" dirty="0">
                <a:latin typeface="Century" panose="02040604050505020304" pitchFamily="18" charset="0"/>
              </a:rPr>
              <a:t>Initial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value</a:t>
            </a:r>
            <a:r>
              <a:rPr kumimoji="1" lang="zh-CN" altLang="en-US" sz="1600" dirty="0">
                <a:latin typeface="Century" panose="02040604050505020304" pitchFamily="18" charset="0"/>
              </a:rPr>
              <a:t>： </a:t>
            </a:r>
            <a:r>
              <a:rPr kumimoji="1" lang="en-US" altLang="zh-CN" sz="1600" dirty="0">
                <a:latin typeface="Century" panose="02040604050505020304" pitchFamily="18" charset="0"/>
              </a:rPr>
              <a:t>0</a:t>
            </a:r>
          </a:p>
          <a:p>
            <a:pPr>
              <a:buNone/>
            </a:pPr>
            <a:r>
              <a:rPr kumimoji="1" lang="en-US" altLang="zh-CN" sz="1600" dirty="0">
                <a:latin typeface="Century" panose="02040604050505020304" pitchFamily="18" charset="0"/>
              </a:rPr>
              <a:t>Final</a:t>
            </a:r>
            <a:r>
              <a:rPr kumimoji="1" lang="zh-CN" altLang="en-US" sz="1600" dirty="0">
                <a:latin typeface="Century" panose="02040604050505020304" pitchFamily="18" charset="0"/>
              </a:rPr>
              <a:t> </a:t>
            </a:r>
            <a:r>
              <a:rPr kumimoji="1" lang="en-US" altLang="zh-CN" sz="1600" dirty="0">
                <a:latin typeface="Century" panose="02040604050505020304" pitchFamily="18" charset="0"/>
              </a:rPr>
              <a:t>value</a:t>
            </a:r>
            <a:r>
              <a:rPr kumimoji="1" lang="zh-CN" altLang="en-US" sz="1600" dirty="0">
                <a:latin typeface="Century" panose="02040604050505020304" pitchFamily="18" charset="0"/>
              </a:rPr>
              <a:t> ： </a:t>
            </a:r>
            <a:r>
              <a:rPr kumimoji="1" lang="en-US" altLang="zh-CN" sz="1600" dirty="0">
                <a:latin typeface="Century" panose="02040604050505020304" pitchFamily="18" charset="0"/>
              </a:rPr>
              <a:t>200000</a:t>
            </a:r>
          </a:p>
          <a:p>
            <a:pPr>
              <a:buNone/>
            </a:pPr>
            <a:endParaRPr kumimoji="1" lang="en-US" altLang="zh-CN" sz="16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586263"/>
      </p:ext>
    </p:extLst>
  </p:cSld>
  <p:clrMapOvr>
    <a:masterClrMapping/>
  </p:clrMapOvr>
  <p:transition spd="med"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972B27-F193-B0B9-5D61-42F2BE95A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核心问题：不可控的调度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AFE532-F022-CD88-DF9B-6147F6B7D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57200"/>
          </a:xfrm>
        </p:spPr>
        <p:txBody>
          <a:bodyPr>
            <a:noAutofit/>
          </a:bodyPr>
          <a:lstStyle/>
          <a:p>
            <a:r>
              <a:rPr kumimoji="1" lang="zh-CN" altLang="en-US" sz="2400" dirty="0"/>
              <a:t>假设</a:t>
            </a:r>
            <a:r>
              <a:rPr kumimoji="1" lang="en-US" altLang="zh-CN" sz="2400" dirty="0"/>
              <a:t>mov</a:t>
            </a:r>
            <a:r>
              <a:rPr kumimoji="1" lang="zh-CN" altLang="en-US" sz="2400" dirty="0"/>
              <a:t>占</a:t>
            </a:r>
            <a:r>
              <a:rPr kumimoji="1" lang="en-US" altLang="zh-CN" sz="2400" dirty="0"/>
              <a:t>5</a:t>
            </a:r>
            <a:r>
              <a:rPr kumimoji="1" lang="zh-CN" altLang="en-US" sz="2400" dirty="0"/>
              <a:t>字节，</a:t>
            </a:r>
            <a:r>
              <a:rPr kumimoji="1" lang="en-US" altLang="zh-CN" sz="2400" dirty="0"/>
              <a:t>add</a:t>
            </a:r>
            <a:r>
              <a:rPr kumimoji="1" lang="zh-CN" altLang="en-US" sz="2400" dirty="0"/>
              <a:t>占</a:t>
            </a:r>
            <a:r>
              <a:rPr kumimoji="1" lang="en-US" altLang="zh-CN" sz="2400" dirty="0"/>
              <a:t>3</a:t>
            </a:r>
            <a:r>
              <a:rPr kumimoji="1" lang="zh-CN" altLang="en-US" sz="2400" dirty="0"/>
              <a:t>字节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6009AD-7B92-D5DD-5C71-2C60C204B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45492A-5877-4CA5-6F94-B5D5C6D55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4618"/>
            <a:ext cx="7772400" cy="450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999749"/>
      </p:ext>
    </p:extLst>
  </p:cSld>
  <p:clrMapOvr>
    <a:masterClrMapping/>
  </p:clrMapOvr>
  <p:transition spd="med"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0F5A3D-CAD3-A00A-0F28-2C7D6C21A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临界区问题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6D36B7-34C9-168E-70D0-08A857E1C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252" y="1233488"/>
            <a:ext cx="5503340" cy="5192364"/>
          </a:xfrm>
        </p:spPr>
        <p:txBody>
          <a:bodyPr>
            <a:normAutofit fontScale="85000" lnSpcReduction="10000"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临界区</a:t>
            </a:r>
            <a:r>
              <a:rPr kumimoji="1" lang="zh-CN" altLang="en-US" dirty="0"/>
              <a:t>：访问共享资源的一段代码，通常资源时一个变量或数据结构</a:t>
            </a:r>
            <a:endParaRPr kumimoji="1" lang="en-US" altLang="zh-CN" dirty="0"/>
          </a:p>
          <a:p>
            <a:r>
              <a:rPr kumimoji="1" lang="zh-CN" altLang="en-US" dirty="0"/>
              <a:t>假设系统中有</a:t>
            </a:r>
            <a:r>
              <a:rPr kumimoji="1" lang="en" altLang="zh-CN" dirty="0"/>
              <a:t>n</a:t>
            </a:r>
            <a:r>
              <a:rPr kumimoji="1" lang="zh-CN" altLang="en-US" dirty="0"/>
              <a:t>个进程</a:t>
            </a:r>
            <a:r>
              <a:rPr kumimoji="1" lang="en-US" altLang="zh-CN" dirty="0"/>
              <a:t>{</a:t>
            </a:r>
            <a:r>
              <a:rPr kumimoji="1" lang="en" altLang="zh-CN" dirty="0"/>
              <a:t>p</a:t>
            </a:r>
            <a:r>
              <a:rPr kumimoji="1" lang="en-US" altLang="zh-CN" baseline="-25000" dirty="0"/>
              <a:t>0</a:t>
            </a:r>
            <a:r>
              <a:rPr kumimoji="1" lang="en-US" altLang="zh-CN" dirty="0"/>
              <a:t>,</a:t>
            </a:r>
            <a:r>
              <a:rPr kumimoji="1" lang="en" altLang="zh-CN" dirty="0"/>
              <a:t>p</a:t>
            </a:r>
            <a:r>
              <a:rPr kumimoji="1" lang="en" altLang="zh-CN" baseline="-25000" dirty="0"/>
              <a:t>1</a:t>
            </a:r>
            <a:r>
              <a:rPr kumimoji="1" lang="en-US" altLang="zh-CN" dirty="0"/>
              <a:t>, </a:t>
            </a:r>
            <a:r>
              <a:rPr kumimoji="1" lang="en" altLang="zh-CN" dirty="0"/>
              <a:t>…p</a:t>
            </a:r>
            <a:r>
              <a:rPr kumimoji="1" lang="en" altLang="zh-CN" baseline="-25000" dirty="0"/>
              <a:t>n-1</a:t>
            </a:r>
            <a:r>
              <a:rPr kumimoji="1" lang="en" altLang="zh-CN" dirty="0"/>
              <a:t>}</a:t>
            </a:r>
            <a:endParaRPr kumimoji="1" lang="en-US" altLang="zh-CN" dirty="0"/>
          </a:p>
          <a:p>
            <a:r>
              <a:rPr kumimoji="1" lang="zh-CN" altLang="en-US" dirty="0"/>
              <a:t>每个进程都有临界区代码段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进程可能会更改公共变量、更新表、写入文件等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当一个进程在临界区时，其他任何进程都不可能在其临界区中</a:t>
            </a:r>
            <a:endParaRPr kumimoji="1" lang="en-US" altLang="zh-CN" dirty="0"/>
          </a:p>
          <a:p>
            <a:r>
              <a:rPr kumimoji="1" lang="zh-CN" altLang="en-US" dirty="0"/>
              <a:t>临界区问题需通过设计协议来解决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每个进程必须在进入区中提出进入临界区的申请，在临界区之后有退出区，其余的是剩余区域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8E2A31-BAB2-AE66-CA82-D8B62FDF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2D09D383-EF67-5296-DF7D-1235F6F044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2" r="16868"/>
          <a:stretch/>
        </p:blipFill>
        <p:spPr bwMode="auto">
          <a:xfrm>
            <a:off x="6300592" y="1799301"/>
            <a:ext cx="2822151" cy="325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241781"/>
      </p:ext>
    </p:extLst>
  </p:cSld>
  <p:clrMapOvr>
    <a:masterClrMapping/>
  </p:clrMapOvr>
  <p:transition spd="med"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E0DB55-E89A-2F29-13A3-1F3FFE63B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竞态条件</a:t>
            </a:r>
            <a:r>
              <a:rPr lang="en-US" altLang="zh-CN" dirty="0"/>
              <a:t>(Race</a:t>
            </a:r>
            <a:r>
              <a:rPr lang="zh-CN" altLang="en-US" dirty="0"/>
              <a:t> </a:t>
            </a:r>
            <a:r>
              <a:rPr lang="en-US" altLang="zh-CN" dirty="0"/>
              <a:t>Condition)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31E324-FD48-58FE-CD2E-97262D2B5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7"/>
            <a:ext cx="7772400" cy="5399087"/>
          </a:xfrm>
        </p:spPr>
        <p:txBody>
          <a:bodyPr>
            <a:normAutofit fontScale="62500" lnSpcReduction="20000"/>
          </a:bodyPr>
          <a:lstStyle/>
          <a:p>
            <a:r>
              <a:rPr lang="en" altLang="zh-CN" dirty="0"/>
              <a:t>P</a:t>
            </a:r>
            <a:r>
              <a:rPr lang="en" altLang="zh-CN" baseline="-25000" dirty="0"/>
              <a:t>0</a:t>
            </a:r>
            <a:r>
              <a:rPr lang="zh-CN" altLang="en-US" dirty="0"/>
              <a:t>和</a:t>
            </a:r>
            <a:r>
              <a:rPr lang="en" altLang="zh-CN" dirty="0"/>
              <a:t>P</a:t>
            </a:r>
            <a:r>
              <a:rPr lang="en" altLang="zh-CN" baseline="-25000" dirty="0"/>
              <a:t>1</a:t>
            </a:r>
            <a:r>
              <a:rPr lang="zh-CN" altLang="en-US" dirty="0"/>
              <a:t>进程使用</a:t>
            </a:r>
            <a:r>
              <a:rPr lang="en" altLang="zh-CN" dirty="0"/>
              <a:t>fork()</a:t>
            </a:r>
            <a:r>
              <a:rPr lang="zh-CN" altLang="en-US" dirty="0"/>
              <a:t>系统调用创建子进程</a:t>
            </a:r>
          </a:p>
          <a:p>
            <a:r>
              <a:rPr lang="en" altLang="zh-CN" dirty="0" err="1"/>
              <a:t>next_available_pid</a:t>
            </a:r>
            <a:r>
              <a:rPr lang="zh-CN" altLang="en-US" dirty="0"/>
              <a:t>存在竞态条件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除非有机制阻止</a:t>
            </a:r>
            <a:r>
              <a:rPr lang="en" altLang="zh-CN" dirty="0"/>
              <a:t>P</a:t>
            </a:r>
            <a:r>
              <a:rPr lang="en" altLang="zh-CN" baseline="-25000" dirty="0"/>
              <a:t>0</a:t>
            </a:r>
            <a:r>
              <a:rPr lang="zh-CN" altLang="en-US" dirty="0"/>
              <a:t>和</a:t>
            </a:r>
            <a:r>
              <a:rPr lang="en" altLang="zh-CN" dirty="0"/>
              <a:t>P</a:t>
            </a:r>
            <a:r>
              <a:rPr lang="en" altLang="zh-CN" baseline="-25000" dirty="0"/>
              <a:t>1</a:t>
            </a:r>
            <a:r>
              <a:rPr lang="zh-CN" altLang="en-US" dirty="0"/>
              <a:t>访问变量</a:t>
            </a:r>
            <a:r>
              <a:rPr lang="en" altLang="zh-CN" dirty="0" err="1"/>
              <a:t>next_available_pid</a:t>
            </a:r>
            <a:r>
              <a:rPr lang="zh-CN" altLang="en" dirty="0"/>
              <a:t>，</a:t>
            </a:r>
            <a:r>
              <a:rPr lang="zh-CN" altLang="en-US" dirty="0"/>
              <a:t>否则可能将相同的</a:t>
            </a:r>
            <a:r>
              <a:rPr lang="en" altLang="zh-CN" dirty="0" err="1"/>
              <a:t>pid</a:t>
            </a:r>
            <a:r>
              <a:rPr lang="zh-CN" altLang="en-US" dirty="0"/>
              <a:t>分配给两个不同的进程</a:t>
            </a:r>
            <a:endParaRPr lang="en-US" altLang="zh-CN" dirty="0"/>
          </a:p>
          <a:p>
            <a:r>
              <a:rPr lang="zh-CN" altLang="en-US" b="1" dirty="0">
                <a:solidFill>
                  <a:srgbClr val="FF0000"/>
                </a:solidFill>
              </a:rPr>
              <a:t>竞态条件：</a:t>
            </a:r>
            <a:r>
              <a:rPr lang="zh-CN" altLang="en-US" sz="3200" dirty="0"/>
              <a:t>多个进程</a:t>
            </a:r>
            <a:r>
              <a:rPr lang="en-US" altLang="zh-CN" sz="3200" dirty="0"/>
              <a:t>/</a:t>
            </a:r>
            <a:r>
              <a:rPr lang="zh-CN" altLang="en-US" sz="3200" dirty="0"/>
              <a:t>线程同时进入临界区，执行结果与访问发生的特定顺序有关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A2E49E-4DC1-56A6-AD25-7F575CDC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8C6F4002-D34F-B4D3-A7DA-051BF9E79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371" y="2042343"/>
            <a:ext cx="4868429" cy="3043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298549"/>
      </p:ext>
    </p:extLst>
  </p:cSld>
  <p:clrMapOvr>
    <a:masterClrMapping/>
  </p:clrMapOvr>
  <p:transition spd="med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2039F2-ED9F-0C59-43F2-E9D0B0549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解决临界区问题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020D77-6397-0DD7-CFA4-48FCE1EFF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/>
              <a:t>解决临界区问题要满足的条件：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互斥 </a:t>
            </a:r>
            <a:r>
              <a:rPr kumimoji="1" lang="en-US" altLang="zh-CN" dirty="0"/>
              <a:t>— </a:t>
            </a:r>
            <a:r>
              <a:rPr kumimoji="1" lang="zh-CN" altLang="en-US" dirty="0"/>
              <a:t>如果进程</a:t>
            </a:r>
            <a:r>
              <a:rPr kumimoji="1" lang="en" altLang="zh-CN" dirty="0"/>
              <a:t>P</a:t>
            </a:r>
            <a:r>
              <a:rPr kumimoji="1" lang="en" altLang="zh-CN" baseline="-25000" dirty="0"/>
              <a:t>i</a:t>
            </a:r>
            <a:r>
              <a:rPr kumimoji="1" lang="zh-CN" altLang="en-US" dirty="0"/>
              <a:t>正在其临界区，则其他进程不能同时在其临界区</a:t>
            </a:r>
          </a:p>
          <a:p>
            <a:pPr lvl="1"/>
            <a:r>
              <a:rPr kumimoji="1" lang="zh-CN" altLang="en-US" dirty="0"/>
              <a:t>进展性 </a:t>
            </a:r>
            <a:r>
              <a:rPr kumimoji="1" lang="en-US" altLang="zh-CN" dirty="0"/>
              <a:t>— </a:t>
            </a:r>
            <a:r>
              <a:rPr kumimoji="1" lang="zh-CN" altLang="en-US" dirty="0"/>
              <a:t>如果没有进程正在其临界区，且存在希望进入临界区的进程，则必须允许其中一个进程进入临界区，保证程序执行的进展</a:t>
            </a:r>
          </a:p>
          <a:p>
            <a:pPr lvl="1"/>
            <a:r>
              <a:rPr kumimoji="1" lang="zh-CN" altLang="en-US" dirty="0"/>
              <a:t>有界等待 </a:t>
            </a:r>
            <a:r>
              <a:rPr kumimoji="1" lang="en-US" altLang="zh-CN" dirty="0"/>
              <a:t>— </a:t>
            </a:r>
            <a:r>
              <a:rPr kumimoji="1" lang="zh-CN" altLang="en-US" dirty="0"/>
              <a:t>一个进程发出进入临界区的请求后，其他进程被允许进入其临界区的次数必须是有限的。</a:t>
            </a:r>
          </a:p>
          <a:p>
            <a:r>
              <a:rPr kumimoji="1" lang="zh-CN" altLang="en-US" dirty="0"/>
              <a:t>假设每个进程以非零速度执行。</a:t>
            </a:r>
          </a:p>
          <a:p>
            <a:r>
              <a:rPr kumimoji="1" lang="zh-CN" altLang="en-US" dirty="0"/>
              <a:t>对</a:t>
            </a:r>
            <a:r>
              <a:rPr kumimoji="1" lang="en" altLang="zh-CN" dirty="0"/>
              <a:t>n</a:t>
            </a:r>
            <a:r>
              <a:rPr kumimoji="1" lang="zh-CN" altLang="en-US" dirty="0"/>
              <a:t>个进程的相对速度没有任何限制。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42606F-4656-B7E6-FB13-6294D7198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9804710"/>
      </p:ext>
    </p:extLst>
  </p:cSld>
  <p:clrMapOvr>
    <a:masterClrMapping/>
  </p:clrMapOvr>
  <p:transition spd="med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FDCC3-AACC-CCD1-15BE-D160C7C02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两种并发问题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625C73-F2CF-C183-25AE-D393CE9B1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访问共享资源带来的并发问题，需要支持临界区的原子性</a:t>
            </a:r>
            <a:endParaRPr kumimoji="1" lang="en-US" altLang="zh-CN" dirty="0"/>
          </a:p>
          <a:p>
            <a:r>
              <a:rPr kumimoji="1" lang="zh-CN" altLang="en-US" dirty="0"/>
              <a:t>两个进程交互带来的并发问题，如一个进程在继续执行之前必须等待另一个进程完成某些操作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0C02C3-A691-3752-55E6-9F158279B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2089823"/>
      </p:ext>
    </p:extLst>
  </p:cSld>
  <p:clrMapOvr>
    <a:masterClrMapping/>
  </p:clrMapOvr>
  <p:transition spd="med"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3580F-441E-7FD9-94ED-020B0D206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基于中断解决临界区问题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A91FB8-4942-3C07-2EEB-4F277B0AC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4754818"/>
            <a:ext cx="7772400" cy="1507234"/>
          </a:xfrm>
        </p:spPr>
        <p:txBody>
          <a:bodyPr>
            <a:normAutofit fontScale="77500" lnSpcReduction="20000"/>
          </a:bodyPr>
          <a:lstStyle/>
          <a:p>
            <a:r>
              <a:rPr kumimoji="1" lang="zh-CN" altLang="en-US" dirty="0"/>
              <a:t>临界区的问题可以得到解决吗？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如果临界区是运行一个小时的代码，那该怎么办？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某些进程是否可能饿死 </a:t>
            </a:r>
            <a:r>
              <a:rPr kumimoji="1" lang="en-US" altLang="zh-CN" dirty="0"/>
              <a:t>—</a:t>
            </a:r>
            <a:r>
              <a:rPr kumimoji="1" lang="zh-CN" altLang="en-US" dirty="0"/>
              <a:t> 从未进入它们的临界区？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如果有两个</a:t>
            </a:r>
            <a:r>
              <a:rPr kumimoji="1" lang="en" altLang="zh-CN" dirty="0"/>
              <a:t>CPU</a:t>
            </a:r>
            <a:r>
              <a:rPr kumimoji="1" lang="zh-CN" altLang="en-US" dirty="0"/>
              <a:t>会怎样？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EC6E39-AA15-270F-D0A9-E7EAEADC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0969BD95-0687-800F-4B69-DDE24A1298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2" r="16868"/>
          <a:stretch/>
        </p:blipFill>
        <p:spPr bwMode="auto">
          <a:xfrm>
            <a:off x="935038" y="1233488"/>
            <a:ext cx="2822151" cy="325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91BBBD5E-0D21-B371-5781-9F8E64DC7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233488"/>
            <a:ext cx="2438400" cy="2989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57162" indent="-257162" algn="l" rtl="0" eaLnBrk="1" fontAlgn="base" hangingPunct="1">
              <a:lnSpc>
                <a:spcPct val="114000"/>
              </a:lnSpc>
              <a:spcBef>
                <a:spcPct val="20000"/>
              </a:spcBef>
              <a:spcAft>
                <a:spcPct val="0"/>
              </a:spcAft>
              <a:buClr>
                <a:schemeClr val="accent4"/>
              </a:buClr>
              <a:buSzPct val="60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Century" panose="02040604050505020304" pitchFamily="18" charset="0"/>
                <a:ea typeface="+mn-ea"/>
                <a:cs typeface="+mn-cs"/>
              </a:defRPr>
            </a:lvl1pPr>
            <a:lvl2pPr marL="557185" indent="-214303" algn="l" rtl="0" eaLnBrk="1" fontAlgn="base" hangingPunct="1">
              <a:lnSpc>
                <a:spcPct val="114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Pct val="5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Century" panose="02040604050505020304" pitchFamily="18" charset="0"/>
                <a:ea typeface="+mn-ea"/>
              </a:defRPr>
            </a:lvl2pPr>
            <a:lvl3pPr marL="857207" indent="-171442" algn="l" rtl="0" eaLnBrk="1" fontAlgn="base" hangingPunct="1">
              <a:lnSpc>
                <a:spcPct val="114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Century" panose="02040604050505020304" pitchFamily="18" charset="0"/>
                <a:ea typeface="+mn-ea"/>
              </a:defRPr>
            </a:lvl3pPr>
            <a:lvl4pPr marL="1200090" indent="-171442" algn="l" rtl="0" eaLnBrk="1" fontAlgn="base" hangingPunct="1">
              <a:lnSpc>
                <a:spcPct val="114000"/>
              </a:lnSpc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50000"/>
                </a:schemeClr>
              </a:buClr>
              <a:buSzPct val="55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Century" panose="02040604050505020304" pitchFamily="18" charset="0"/>
                <a:ea typeface="+mn-ea"/>
              </a:defRPr>
            </a:lvl4pPr>
            <a:lvl5pPr marL="1542974" indent="-171442" algn="l" rtl="0" eaLnBrk="1" fontAlgn="base" hangingPunct="1">
              <a:lnSpc>
                <a:spcPct val="114000"/>
              </a:lnSpc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25000"/>
                </a:schemeClr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Century" panose="02040604050505020304" pitchFamily="18" charset="0"/>
                <a:ea typeface="+mn-ea"/>
              </a:defRPr>
            </a:lvl5pPr>
            <a:lvl6pPr marL="1885856" indent="-171442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39" indent="-171442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22" indent="-171442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05" indent="-171442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buFont typeface="Wingdings" pitchFamily="2" charset="2"/>
              <a:buNone/>
            </a:pPr>
            <a:r>
              <a:rPr lang="zh-CN" altLang="en-US" kern="0" dirty="0">
                <a:latin typeface="Courier New" panose="02070309020205020404" pitchFamily="49" charset="0"/>
              </a:rPr>
              <a:t> </a:t>
            </a:r>
            <a:r>
              <a:rPr lang="en-US" altLang="zh-CN" sz="2400" kern="0" dirty="0">
                <a:latin typeface="Courier New" panose="02070309020205020404" pitchFamily="49" charset="0"/>
              </a:rPr>
              <a:t>…</a:t>
            </a:r>
            <a:endParaRPr lang="zh-CN" altLang="en-US" sz="2400" kern="0" dirty="0">
              <a:latin typeface="Courier New" panose="02070309020205020404" pitchFamily="49" charset="0"/>
            </a:endParaRPr>
          </a:p>
          <a:p>
            <a:pPr algn="just">
              <a:buFont typeface="Wingdings" pitchFamily="2" charset="2"/>
              <a:buNone/>
            </a:pPr>
            <a:r>
              <a:rPr lang="zh-CN" altLang="en-US" sz="2400" kern="0" dirty="0">
                <a:latin typeface="Courier New" panose="02070309020205020404" pitchFamily="49" charset="0"/>
              </a:rPr>
              <a:t>关中断；</a:t>
            </a:r>
          </a:p>
          <a:p>
            <a:pPr algn="just">
              <a:buFont typeface="Wingdings" pitchFamily="2" charset="2"/>
              <a:buNone/>
            </a:pPr>
            <a:r>
              <a:rPr lang="zh-CN" altLang="en-US" sz="2400" kern="0" dirty="0">
                <a:latin typeface="Courier New" panose="02070309020205020404" pitchFamily="49" charset="0"/>
              </a:rPr>
              <a:t>临界区；</a:t>
            </a:r>
          </a:p>
          <a:p>
            <a:pPr algn="just">
              <a:buFont typeface="Wingdings" pitchFamily="2" charset="2"/>
              <a:buNone/>
            </a:pPr>
            <a:r>
              <a:rPr lang="zh-CN" altLang="en-US" sz="2400" kern="0" dirty="0">
                <a:latin typeface="Courier New" panose="02070309020205020404" pitchFamily="49" charset="0"/>
              </a:rPr>
              <a:t>开中断；</a:t>
            </a:r>
          </a:p>
          <a:p>
            <a:pPr algn="just">
              <a:buFont typeface="Wingdings" pitchFamily="2" charset="2"/>
              <a:buNone/>
            </a:pPr>
            <a:r>
              <a:rPr lang="zh-CN" altLang="en-US" sz="2400" kern="0" dirty="0">
                <a:latin typeface="Courier New" panose="02070309020205020404" pitchFamily="49" charset="0"/>
              </a:rPr>
              <a:t> </a:t>
            </a:r>
            <a:r>
              <a:rPr lang="en-US" altLang="zh-CN" sz="2400" kern="0" dirty="0">
                <a:latin typeface="Courier New" panose="02070309020205020404" pitchFamily="49" charset="0"/>
              </a:rPr>
              <a:t>…</a:t>
            </a:r>
            <a:endParaRPr lang="zh-CN" altLang="en-US" sz="2400" kern="0" dirty="0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75B915CA-3A2A-0D26-00A5-C2A385FB1198}"/>
              </a:ext>
            </a:extLst>
          </p:cNvPr>
          <p:cNvCxnSpPr/>
          <p:nvPr/>
        </p:nvCxnSpPr>
        <p:spPr bwMode="auto">
          <a:xfrm>
            <a:off x="3657600" y="2066795"/>
            <a:ext cx="1653436" cy="0"/>
          </a:xfrm>
          <a:prstGeom prst="line">
            <a:avLst/>
          </a:prstGeom>
          <a:gradFill rotWithShape="0">
            <a:gsLst>
              <a:gs pos="0">
                <a:srgbClr val="99CCFF"/>
              </a:gs>
              <a:gs pos="100000">
                <a:schemeClr val="bg2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23BD828C-CFE9-ECEB-1DED-679D7E5C7FD1}"/>
              </a:ext>
            </a:extLst>
          </p:cNvPr>
          <p:cNvCxnSpPr/>
          <p:nvPr/>
        </p:nvCxnSpPr>
        <p:spPr bwMode="auto">
          <a:xfrm>
            <a:off x="3657600" y="3121069"/>
            <a:ext cx="1653436" cy="0"/>
          </a:xfrm>
          <a:prstGeom prst="line">
            <a:avLst/>
          </a:prstGeom>
          <a:gradFill rotWithShape="0">
            <a:gsLst>
              <a:gs pos="0">
                <a:srgbClr val="99CCFF"/>
              </a:gs>
              <a:gs pos="100000">
                <a:schemeClr val="bg2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366127381"/>
      </p:ext>
    </p:extLst>
  </p:cSld>
  <p:clrMapOvr>
    <a:masterClrMapping/>
  </p:clrMapOvr>
  <p:transition spd="med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B1D69-85E9-70D2-0A79-B622D49FC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4000" dirty="0"/>
              <a:t>软件方案</a:t>
            </a:r>
            <a:r>
              <a:rPr kumimoji="1" lang="en-US" altLang="zh-CN" sz="4000" dirty="0"/>
              <a:t>1</a:t>
            </a:r>
            <a:endParaRPr kumimoji="1"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A6646A-5DE7-E314-C422-E9876221E6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latin typeface="Century" panose="02040604050505020304" pitchFamily="18" charset="0"/>
              </a:rPr>
              <a:t>假设有两个进程</a:t>
            </a:r>
          </a:p>
          <a:p>
            <a:r>
              <a:rPr kumimoji="1" lang="zh-CN" altLang="en-US" dirty="0">
                <a:latin typeface="Century" panose="02040604050505020304" pitchFamily="18" charset="0"/>
              </a:rPr>
              <a:t>假设</a:t>
            </a:r>
            <a:r>
              <a:rPr kumimoji="1" lang="en" altLang="zh-CN" dirty="0">
                <a:latin typeface="Century" panose="02040604050505020304" pitchFamily="18" charset="0"/>
              </a:rPr>
              <a:t>load</a:t>
            </a:r>
            <a:r>
              <a:rPr kumimoji="1" lang="zh-CN" altLang="en-US" dirty="0">
                <a:latin typeface="Century" panose="02040604050505020304" pitchFamily="18" charset="0"/>
              </a:rPr>
              <a:t>和</a:t>
            </a:r>
            <a:r>
              <a:rPr kumimoji="1" lang="en" altLang="zh-CN" dirty="0">
                <a:latin typeface="Century" panose="02040604050505020304" pitchFamily="18" charset="0"/>
              </a:rPr>
              <a:t>store</a:t>
            </a:r>
            <a:r>
              <a:rPr kumimoji="1" lang="zh-CN" altLang="en-US" dirty="0">
                <a:latin typeface="Century" panose="02040604050505020304" pitchFamily="18" charset="0"/>
              </a:rPr>
              <a:t>机器语言指令是原子的，即不能被中断</a:t>
            </a:r>
          </a:p>
          <a:p>
            <a:r>
              <a:rPr kumimoji="1" lang="zh-CN" altLang="en-US" dirty="0">
                <a:latin typeface="Century" panose="02040604050505020304" pitchFamily="18" charset="0"/>
              </a:rPr>
              <a:t>这两个进程共享一个变量：</a:t>
            </a:r>
          </a:p>
          <a:p>
            <a:pPr lvl="1"/>
            <a:r>
              <a:rPr kumimoji="1" lang="en" altLang="zh-CN" dirty="0">
                <a:latin typeface="Century" panose="02040604050505020304" pitchFamily="18" charset="0"/>
              </a:rPr>
              <a:t>int turn;</a:t>
            </a:r>
          </a:p>
          <a:p>
            <a:r>
              <a:rPr kumimoji="1" lang="zh-CN" altLang="en-US" dirty="0">
                <a:latin typeface="Century" panose="02040604050505020304" pitchFamily="18" charset="0"/>
              </a:rPr>
              <a:t>变量</a:t>
            </a:r>
            <a:r>
              <a:rPr kumimoji="1" lang="en" altLang="zh-CN" dirty="0">
                <a:latin typeface="Century" panose="02040604050505020304" pitchFamily="18" charset="0"/>
              </a:rPr>
              <a:t>turn</a:t>
            </a:r>
            <a:r>
              <a:rPr kumimoji="1" lang="zh-CN" altLang="en-US" dirty="0">
                <a:latin typeface="Century" panose="02040604050505020304" pitchFamily="18" charset="0"/>
              </a:rPr>
              <a:t>表示轮到谁进入临界区</a:t>
            </a:r>
          </a:p>
          <a:p>
            <a:r>
              <a:rPr kumimoji="1" lang="zh-CN" altLang="en-US" dirty="0">
                <a:latin typeface="Century" panose="02040604050505020304" pitchFamily="18" charset="0"/>
              </a:rPr>
              <a:t>初始时，</a:t>
            </a:r>
            <a:r>
              <a:rPr kumimoji="1" lang="en" altLang="zh-CN" dirty="0">
                <a:latin typeface="Century" panose="02040604050505020304" pitchFamily="18" charset="0"/>
              </a:rPr>
              <a:t>turn = </a:t>
            </a:r>
            <a:r>
              <a:rPr kumimoji="1" lang="en-US" altLang="zh-CN" dirty="0">
                <a:latin typeface="Century" panose="02040604050505020304" pitchFamily="18" charset="0"/>
              </a:rPr>
              <a:t>0</a:t>
            </a:r>
            <a:endParaRPr kumimoji="1" lang="zh-CN" altLang="en-US" dirty="0">
              <a:latin typeface="Century" panose="02040604050505020304" pitchFamily="18" charset="0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2DC7319-1238-A066-BFAB-049CBEF37A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 sz="1800" dirty="0" err="1">
                <a:solidFill>
                  <a:srgbClr val="000000"/>
                </a:solidFill>
                <a:latin typeface="Century" panose="02040604050505020304" pitchFamily="18" charset="0"/>
              </a:rPr>
              <a:t>进程</a:t>
            </a:r>
            <a:r>
              <a:rPr lang="zh-CN" altLang="en-US" sz="1800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Century" panose="02040604050505020304" pitchFamily="18" charset="0"/>
              </a:rPr>
              <a:t>P</a:t>
            </a:r>
            <a:r>
              <a:rPr lang="en-US" altLang="zh-CN" sz="1800" baseline="-25000" dirty="0">
                <a:solidFill>
                  <a:srgbClr val="000000"/>
                </a:solidFill>
                <a:latin typeface="Century" panose="02040604050505020304" pitchFamily="18" charset="0"/>
              </a:rPr>
              <a:t>0</a:t>
            </a:r>
            <a:r>
              <a:rPr lang="zh-CN" altLang="en-US" sz="1800" dirty="0">
                <a:solidFill>
                  <a:srgbClr val="000000"/>
                </a:solidFill>
                <a:latin typeface="Century" panose="02040604050505020304" pitchFamily="18" charset="0"/>
              </a:rPr>
              <a:t>的算法</a:t>
            </a:r>
            <a:endParaRPr lang="en-US" altLang="en-US" sz="1800" dirty="0">
              <a:solidFill>
                <a:srgbClr val="000000"/>
              </a:solidFill>
              <a:latin typeface="Century" panose="02040604050505020304" pitchFamily="18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while (true){ </a:t>
            </a:r>
          </a:p>
          <a:p>
            <a:pPr>
              <a:buFont typeface="Monotype Sorts" pitchFamily="-84" charset="2"/>
              <a:buNone/>
            </a:pPr>
            <a:endParaRPr lang="en-US" altLang="en-US" sz="18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	turn = 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	while (turn = = 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buFont typeface="Monotype Sorts" pitchFamily="-84" charset="2"/>
              <a:buNone/>
            </a:pPr>
            <a:endParaRPr lang="en-US" altLang="en-US" sz="18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	/* critical section */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	turn = </a:t>
            </a:r>
            <a:r>
              <a:rPr lang="en-US" altLang="zh-CN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buFont typeface="Monotype Sorts" pitchFamily="-84" charset="2"/>
              <a:buNone/>
            </a:pPr>
            <a:endParaRPr lang="en-US" altLang="en-US" sz="18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	/* remainder section */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E23380-7DD6-B177-4E91-469FAC6DC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DE73BC1-78DE-C20A-7E12-DA7B7C57E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372774"/>
            <a:ext cx="3505200" cy="682625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DE0FF0-FA11-AA0F-4660-405895EA2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013683"/>
            <a:ext cx="3505200" cy="682625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521983"/>
      </p:ext>
    </p:extLst>
  </p:cSld>
  <p:clrMapOvr>
    <a:masterClrMapping/>
  </p:clrMapOvr>
  <p:transition spd="med"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77B39743-F237-17B7-633D-D4654707B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软件方案的正确性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1CF7D8F-0E40-3F39-AD7D-4A79DE77A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满足互斥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进程</a:t>
            </a:r>
            <a:r>
              <a:rPr lang="en" altLang="zh-CN" dirty="0"/>
              <a:t>P</a:t>
            </a:r>
            <a:r>
              <a:rPr lang="en-US" altLang="zh-CN" baseline="-25000" dirty="0"/>
              <a:t>0</a:t>
            </a:r>
            <a:r>
              <a:rPr lang="zh-CN" altLang="en-US" dirty="0"/>
              <a:t>进入临界区，当且仅当 ：</a:t>
            </a:r>
          </a:p>
          <a:p>
            <a:pPr marL="0" indent="0">
              <a:buNone/>
            </a:pPr>
            <a:r>
              <a:rPr lang="en" altLang="zh-CN" dirty="0"/>
              <a:t>		turn = </a:t>
            </a:r>
            <a:r>
              <a:rPr lang="en-US" altLang="zh-CN" dirty="0"/>
              <a:t>0</a:t>
            </a:r>
            <a:endParaRPr lang="en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且</a:t>
            </a:r>
            <a:r>
              <a:rPr lang="en" altLang="zh-CN" dirty="0"/>
              <a:t>turn</a:t>
            </a:r>
            <a:r>
              <a:rPr lang="zh-CN" altLang="en-US" dirty="0"/>
              <a:t>不能同时为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</a:p>
          <a:p>
            <a:r>
              <a:rPr lang="zh-CN" altLang="en-US" dirty="0"/>
              <a:t>进程的“进展性”要求是否满足？</a:t>
            </a:r>
          </a:p>
          <a:p>
            <a:pPr lvl="1"/>
            <a:r>
              <a:rPr lang="zh-CN" altLang="en-US" dirty="0"/>
              <a:t>如果进程</a:t>
            </a:r>
            <a:r>
              <a:rPr lang="en-US" altLang="zh-CN" dirty="0"/>
              <a:t>P</a:t>
            </a:r>
            <a:r>
              <a:rPr lang="en-US" altLang="zh-CN" baseline="-25000" dirty="0"/>
              <a:t>0</a:t>
            </a:r>
            <a:r>
              <a:rPr lang="zh-CN" altLang="en-US" dirty="0"/>
              <a:t>想进入临界区而进程</a:t>
            </a:r>
            <a:r>
              <a:rPr lang="en-US" altLang="zh-CN" dirty="0"/>
              <a:t>P</a:t>
            </a:r>
            <a:r>
              <a:rPr lang="en-US" altLang="zh-CN" baseline="-25000" dirty="0"/>
              <a:t>1</a:t>
            </a:r>
            <a:r>
              <a:rPr lang="zh-CN" altLang="en-US" dirty="0"/>
              <a:t>不想进入，进程</a:t>
            </a:r>
            <a:r>
              <a:rPr lang="en-US" altLang="zh-CN" dirty="0"/>
              <a:t>P</a:t>
            </a:r>
            <a:r>
              <a:rPr lang="en-US" altLang="zh-CN" baseline="-25000" dirty="0"/>
              <a:t>0</a:t>
            </a:r>
            <a:r>
              <a:rPr lang="zh-CN" altLang="en-US" dirty="0"/>
              <a:t>能进入吗？</a:t>
            </a:r>
          </a:p>
          <a:p>
            <a:r>
              <a:rPr lang="zh-CN" altLang="en-US" dirty="0"/>
              <a:t>“有界等待” 要求是否能满足呢？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CDE44A-7D5C-718B-4B28-90B0CDBC5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68A19-278A-0A41-BBE8-65E5D3125EB9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817090"/>
      </p:ext>
    </p:extLst>
  </p:cSld>
  <p:clrMapOvr>
    <a:masterClrMapping/>
  </p:clrMapOvr>
  <p:transition spd="med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AF774-EDFC-6986-2BAA-2D5502D4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4000" dirty="0"/>
              <a:t>软件方案 </a:t>
            </a:r>
            <a:r>
              <a:rPr kumimoji="1" lang="en-US" altLang="zh-CN" sz="4000" dirty="0"/>
              <a:t>—</a:t>
            </a:r>
            <a:r>
              <a:rPr kumimoji="1" lang="zh-CN" altLang="en-US" sz="4000" dirty="0"/>
              <a:t> </a:t>
            </a:r>
            <a:r>
              <a:rPr kumimoji="1" lang="en-US" altLang="zh-CN" sz="4000" dirty="0"/>
              <a:t>Peterson</a:t>
            </a:r>
            <a:r>
              <a:rPr kumimoji="1" lang="zh-CN" altLang="en-US" sz="4000" dirty="0"/>
              <a:t>算法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2A33E1-895D-FE56-350B-FAC3C26080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 sz="2000" dirty="0">
                <a:solidFill>
                  <a:srgbClr val="000000"/>
                </a:solidFill>
                <a:latin typeface="Century" panose="02040604050505020304" pitchFamily="18" charset="0"/>
              </a:rPr>
              <a:t>进程P</a:t>
            </a:r>
            <a:r>
              <a:rPr lang="en-US" altLang="zh-CN" sz="2000" baseline="-25000" dirty="0">
                <a:solidFill>
                  <a:srgbClr val="000000"/>
                </a:solidFill>
                <a:latin typeface="Century" panose="02040604050505020304" pitchFamily="18" charset="0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Century" panose="02040604050505020304" pitchFamily="18" charset="0"/>
              </a:rPr>
              <a:t>的算法</a:t>
            </a:r>
            <a:endParaRPr lang="en-US" altLang="en-US" sz="2000" dirty="0">
              <a:solidFill>
                <a:srgbClr val="000000"/>
              </a:solidFill>
              <a:latin typeface="Century" panose="02040604050505020304" pitchFamily="18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while (true){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flag[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true;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turn = 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while (flag[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] &amp;&amp; turn = = 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/* critical section */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flag[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false;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/* remainder section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zh-CN" altLang="en-US" sz="20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4EFD28-FA8B-CBB6-47C5-6C6448D6C6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两个进程共享两个变量：</a:t>
            </a:r>
          </a:p>
          <a:p>
            <a:pPr marL="300023" lvl="1" indent="0">
              <a:buNone/>
            </a:pPr>
            <a:r>
              <a:rPr lang="en" altLang="zh-CN" dirty="0"/>
              <a:t>int turn;</a:t>
            </a:r>
          </a:p>
          <a:p>
            <a:pPr marL="300023" lvl="1" indent="0">
              <a:buNone/>
            </a:pPr>
            <a:r>
              <a:rPr lang="en" altLang="zh-CN" dirty="0" err="1"/>
              <a:t>boolean</a:t>
            </a:r>
            <a:r>
              <a:rPr lang="en" altLang="zh-CN" dirty="0"/>
              <a:t> flag[2]</a:t>
            </a:r>
            <a:r>
              <a:rPr lang="en-US" altLang="zh-CN" dirty="0"/>
              <a:t>;</a:t>
            </a:r>
            <a:endParaRPr lang="en" altLang="zh-CN" dirty="0"/>
          </a:p>
          <a:p>
            <a:r>
              <a:rPr lang="zh-CN" altLang="en-US" dirty="0"/>
              <a:t>变量</a:t>
            </a:r>
            <a:r>
              <a:rPr lang="en" altLang="zh-CN" dirty="0"/>
              <a:t>turn</a:t>
            </a:r>
            <a:r>
              <a:rPr lang="zh-CN" altLang="en-US" dirty="0"/>
              <a:t>表示轮到谁进入临界区</a:t>
            </a:r>
          </a:p>
          <a:p>
            <a:r>
              <a:rPr lang="en" altLang="zh-CN" dirty="0"/>
              <a:t>flag</a:t>
            </a:r>
            <a:r>
              <a:rPr lang="zh-CN" altLang="en-US" dirty="0"/>
              <a:t>数组用于指示进程是否准备好进入临界区</a:t>
            </a:r>
          </a:p>
          <a:p>
            <a:r>
              <a:rPr lang="en" altLang="zh-CN" dirty="0"/>
              <a:t>flag[</a:t>
            </a:r>
            <a:r>
              <a:rPr lang="en-US" altLang="zh-CN" dirty="0"/>
              <a:t>0</a:t>
            </a:r>
            <a:r>
              <a:rPr lang="en" altLang="zh-CN" dirty="0"/>
              <a:t>] = true</a:t>
            </a:r>
            <a:r>
              <a:rPr lang="zh-CN" altLang="en-US" dirty="0"/>
              <a:t>表示进程</a:t>
            </a:r>
            <a:r>
              <a:rPr lang="en" altLang="zh-CN" dirty="0"/>
              <a:t>P</a:t>
            </a:r>
            <a:r>
              <a:rPr lang="en-US" altLang="zh-CN" baseline="-25000" dirty="0"/>
              <a:t>0</a:t>
            </a:r>
            <a:r>
              <a:rPr lang="zh-CN" altLang="en-US" dirty="0"/>
              <a:t>准备好进入临界区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F22CE2-4539-1FF1-DB81-E61A42E33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C44C5E3-8774-B090-5AB6-F4A6B0624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70" y="2136157"/>
            <a:ext cx="4163868" cy="1495151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C33D0D-66D1-76DA-7210-03F1D9B3F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70" y="4013518"/>
            <a:ext cx="4163868" cy="444672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0402000"/>
      </p:ext>
    </p:extLst>
  </p:cSld>
  <p:clrMapOvr>
    <a:masterClrMapping/>
  </p:clrMapOvr>
  <p:transition spd="med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5F9785-96CA-5B52-484D-4D5CADE34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Peterson</a:t>
            </a:r>
            <a:r>
              <a:rPr kumimoji="1" lang="zh-CN" altLang="en-US" dirty="0"/>
              <a:t>算法的正确性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8136924-2A03-64A5-DF4A-2AEF90DA4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可以证明三个临界区要求都得到了满足：</a:t>
            </a:r>
          </a:p>
          <a:p>
            <a:pPr lvl="1"/>
            <a:r>
              <a:rPr lang="en-US" altLang="zh-CN" dirty="0"/>
              <a:t>1.</a:t>
            </a:r>
            <a:r>
              <a:rPr lang="zh-CN" altLang="en-US" dirty="0"/>
              <a:t>互斥性得以保留</a:t>
            </a:r>
          </a:p>
          <a:p>
            <a:pPr marL="300023" lvl="1" indent="0">
              <a:buNone/>
            </a:pPr>
            <a:r>
              <a:rPr lang="zh-CN" altLang="en-US" dirty="0"/>
              <a:t>当且仅当以下条件满足时，进程</a:t>
            </a:r>
            <a:r>
              <a:rPr lang="en" altLang="zh-CN" dirty="0"/>
              <a:t>P</a:t>
            </a:r>
            <a:r>
              <a:rPr lang="en-US" altLang="zh-CN" baseline="-25000" dirty="0"/>
              <a:t>0</a:t>
            </a:r>
            <a:r>
              <a:rPr lang="zh-CN" altLang="en-US" dirty="0"/>
              <a:t>才能进入临界区：</a:t>
            </a:r>
          </a:p>
          <a:p>
            <a:pPr marL="300023" lvl="1" indent="0">
              <a:buNone/>
            </a:pPr>
            <a:r>
              <a:rPr lang="zh-CN" altLang="en-US" dirty="0"/>
              <a:t>要么</a:t>
            </a:r>
            <a:r>
              <a:rPr lang="en" altLang="zh-CN" dirty="0"/>
              <a:t>flag[</a:t>
            </a:r>
            <a:r>
              <a:rPr lang="en-US" altLang="zh-CN" dirty="0"/>
              <a:t>1</a:t>
            </a:r>
            <a:r>
              <a:rPr lang="en" altLang="zh-CN" dirty="0"/>
              <a:t>] = false</a:t>
            </a:r>
            <a:r>
              <a:rPr lang="zh-CN" altLang="en" dirty="0"/>
              <a:t>，</a:t>
            </a:r>
            <a:r>
              <a:rPr lang="zh-CN" altLang="en-US" dirty="0"/>
              <a:t>要么</a:t>
            </a:r>
            <a:r>
              <a:rPr lang="en" altLang="zh-CN" dirty="0"/>
              <a:t>turn = </a:t>
            </a:r>
            <a:r>
              <a:rPr lang="en-US" altLang="zh-CN" dirty="0"/>
              <a:t>0</a:t>
            </a:r>
            <a:endParaRPr lang="en" altLang="zh-CN" dirty="0"/>
          </a:p>
          <a:p>
            <a:pPr lvl="1"/>
            <a:r>
              <a:rPr lang="en" altLang="zh-CN" dirty="0"/>
              <a:t>2.</a:t>
            </a:r>
            <a:r>
              <a:rPr lang="zh-CN" altLang="en-US" dirty="0"/>
              <a:t>满足进展要求</a:t>
            </a:r>
          </a:p>
          <a:p>
            <a:pPr lvl="1"/>
            <a:r>
              <a:rPr lang="en-US" altLang="zh-CN" dirty="0"/>
              <a:t>3.</a:t>
            </a:r>
            <a:r>
              <a:rPr lang="zh-CN" altLang="en-US" dirty="0"/>
              <a:t>满足有界等待要求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248877-98A6-63D2-CDCA-F2F844EBF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68A19-278A-0A41-BBE8-65E5D3125EB9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365026"/>
      </p:ext>
    </p:extLst>
  </p:cSld>
  <p:clrMapOvr>
    <a:masterClrMapping/>
  </p:clrMapOvr>
  <p:transition spd="med"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348D8-5468-CEFB-7C47-972AD3ED4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Peterson</a:t>
            </a:r>
            <a:r>
              <a:rPr kumimoji="1" lang="zh-CN" altLang="en-US" dirty="0"/>
              <a:t>方案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F4173E-FEDD-A113-524B-C97E7D120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只能为两个进程提供解决方案</a:t>
            </a:r>
            <a:endParaRPr kumimoji="1" lang="en-US" altLang="zh-CN" dirty="0"/>
          </a:p>
          <a:p>
            <a:r>
              <a:rPr kumimoji="1" lang="zh-CN" altLang="en-US" dirty="0"/>
              <a:t>怎样修改算法能使其支持</a:t>
            </a:r>
            <a:r>
              <a:rPr kumimoji="1" lang="en-US" altLang="zh-CN" dirty="0"/>
              <a:t>10</a:t>
            </a:r>
            <a:r>
              <a:rPr kumimoji="1" lang="zh-CN" altLang="en-US" dirty="0"/>
              <a:t>个进程？</a:t>
            </a:r>
            <a:endParaRPr kumimoji="1" lang="en-US" altLang="zh-CN" dirty="0"/>
          </a:p>
          <a:p>
            <a:r>
              <a:rPr kumimoji="1" lang="zh-CN" altLang="en-US" dirty="0"/>
              <a:t>该方案需要“忙等”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进程不断浪费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周期来询问是否能够进入临界区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723E7E-445F-D7B6-6FC9-15E0AAD12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3270364"/>
      </p:ext>
    </p:extLst>
  </p:cSld>
  <p:clrMapOvr>
    <a:masterClrMapping/>
  </p:clrMapOvr>
  <p:transition spd="med"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C3CFC2-87AC-CC9B-8187-E68A57A11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Peterson</a:t>
            </a:r>
            <a:r>
              <a:rPr kumimoji="1" lang="zh-CN" altLang="en-US" dirty="0"/>
              <a:t>方案和现代架构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E8E083-ECF0-26DA-F35E-A4B34C75C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作为一个算法，</a:t>
            </a:r>
            <a:r>
              <a:rPr kumimoji="1" lang="en" altLang="zh-CN" dirty="0"/>
              <a:t>Peterson</a:t>
            </a:r>
            <a:r>
              <a:rPr kumimoji="1" lang="zh-CN" altLang="en-US" dirty="0"/>
              <a:t>算法是有作用的，但无法保证在现代架构上正常运行</a:t>
            </a:r>
          </a:p>
          <a:p>
            <a:pPr lvl="1"/>
            <a:r>
              <a:rPr kumimoji="1" lang="zh-CN" altLang="en-US" dirty="0"/>
              <a:t>为了提高性能，处理器和</a:t>
            </a:r>
            <a:r>
              <a:rPr kumimoji="1" lang="en-US" altLang="zh-CN" dirty="0"/>
              <a:t>/</a:t>
            </a:r>
            <a:r>
              <a:rPr kumimoji="1" lang="zh-CN" altLang="en-US" dirty="0"/>
              <a:t>或编译器可能会重新排序没有依赖关系的操作</a:t>
            </a:r>
          </a:p>
          <a:p>
            <a:r>
              <a:rPr kumimoji="1" lang="zh-CN" altLang="en-US" dirty="0"/>
              <a:t>理解它为什么不起作用有助于更好地理解竞态条件</a:t>
            </a:r>
          </a:p>
          <a:p>
            <a:r>
              <a:rPr kumimoji="1" lang="zh-CN" altLang="en-US" dirty="0"/>
              <a:t>对于单线程来说，算法是正确的，因为结果总是相同的</a:t>
            </a:r>
          </a:p>
          <a:p>
            <a:r>
              <a:rPr kumimoji="1" lang="zh-CN" altLang="en-US" dirty="0"/>
              <a:t>对于多线程来说，重新排序可能会产生不一致或意外的结果！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F32B28-C5EE-7372-D02F-1E82F9438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8689447"/>
      </p:ext>
    </p:extLst>
  </p:cSld>
  <p:clrMapOvr>
    <a:masterClrMapping/>
  </p:clrMapOvr>
  <p:transition spd="med"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576D8D-1B0B-E829-4658-079EE86CB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现代架构下的代码示例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36CB7A-BD2D-17AF-64D2-C1A753BCB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304" y="4939496"/>
            <a:ext cx="7772400" cy="1613704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endParaRPr lang="en-US" altLang="en-US" b="1" kern="12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en-US" dirty="0" err="1"/>
              <a:t>期望的输出是什么</a:t>
            </a:r>
            <a:r>
              <a:rPr lang="zh-CN" altLang="en-US" dirty="0"/>
              <a:t>？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kumimoji="1" lang="zh-CN" altLang="en-US" dirty="0"/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488EF6-5E6C-6393-1290-E1EF32895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F3C63F-828B-8379-677D-3F710E771AD4}"/>
              </a:ext>
            </a:extLst>
          </p:cNvPr>
          <p:cNvSpPr txBox="1"/>
          <p:nvPr/>
        </p:nvSpPr>
        <p:spPr>
          <a:xfrm>
            <a:off x="4572000" y="5445219"/>
            <a:ext cx="11022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dirty="0">
                <a:latin typeface="Century" panose="02040604050505020304" pitchFamily="18" charset="0"/>
              </a:rPr>
              <a:t>100</a:t>
            </a:r>
            <a:endParaRPr kumimoji="1" lang="zh-CN" altLang="en-US" sz="2600" dirty="0">
              <a:latin typeface="Century" panose="020406040505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8E1179-B598-1FA6-1328-A117970C289D}"/>
              </a:ext>
            </a:extLst>
          </p:cNvPr>
          <p:cNvSpPr/>
          <p:nvPr/>
        </p:nvSpPr>
        <p:spPr bwMode="auto">
          <a:xfrm>
            <a:off x="1251320" y="2911061"/>
            <a:ext cx="2292263" cy="221710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en-US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线程</a:t>
            </a:r>
            <a:r>
              <a:rPr lang="en-US" altLang="zh-CN" sz="2600" dirty="0">
                <a:solidFill>
                  <a:srgbClr val="000000"/>
                </a:solidFill>
                <a:latin typeface="Century" panose="02040604050505020304" pitchFamily="18" charset="0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：</a:t>
            </a:r>
            <a:endParaRPr lang="en-US" altLang="en-US" sz="2600" kern="1200" dirty="0">
              <a:solidFill>
                <a:srgbClr val="000000"/>
              </a:solidFill>
              <a:latin typeface="Century" panose="020406040505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en-US" altLang="en-US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while (!flag)</a:t>
            </a:r>
            <a:r>
              <a:rPr lang="en-US" altLang="zh-CN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;</a:t>
            </a:r>
            <a:br>
              <a:rPr lang="en-US" altLang="en-US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</a:br>
            <a:r>
              <a:rPr lang="en-US" altLang="en-US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print x</a:t>
            </a:r>
            <a:r>
              <a:rPr lang="en-US" altLang="zh-CN" sz="2600" dirty="0">
                <a:solidFill>
                  <a:srgbClr val="000000"/>
                </a:solidFill>
                <a:latin typeface="Century" panose="02040604050505020304" pitchFamily="18" charset="0"/>
              </a:rPr>
              <a:t>;</a:t>
            </a:r>
            <a:endParaRPr lang="en-US" altLang="en-US" sz="2600" kern="1200" dirty="0">
              <a:solidFill>
                <a:srgbClr val="000000"/>
              </a:solidFill>
              <a:latin typeface="Century" panose="02040604050505020304" pitchFamily="18" charset="0"/>
            </a:endParaRPr>
          </a:p>
          <a:p>
            <a:pPr marR="0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endParaRPr kumimoji="1" lang="zh-CN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56BFA6-50BA-304F-5759-32771B4B43CF}"/>
              </a:ext>
            </a:extLst>
          </p:cNvPr>
          <p:cNvSpPr/>
          <p:nvPr/>
        </p:nvSpPr>
        <p:spPr bwMode="auto">
          <a:xfrm>
            <a:off x="4570717" y="2911060"/>
            <a:ext cx="2292263" cy="221710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en-US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线程</a:t>
            </a:r>
            <a:r>
              <a:rPr lang="en-US" altLang="zh-CN" sz="2600" dirty="0">
                <a:solidFill>
                  <a:srgbClr val="000000"/>
                </a:solidFill>
                <a:latin typeface="Century" panose="02040604050505020304" pitchFamily="18" charset="0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：</a:t>
            </a:r>
            <a:endParaRPr lang="en-US" altLang="en-US" sz="2600" kern="1200" dirty="0">
              <a:solidFill>
                <a:srgbClr val="000000"/>
              </a:solidFill>
              <a:latin typeface="Century" panose="020406040505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en-US" altLang="zh-CN" sz="2600" dirty="0">
                <a:solidFill>
                  <a:srgbClr val="000000"/>
                </a:solidFill>
                <a:latin typeface="Century" panose="02040604050505020304" pitchFamily="18" charset="0"/>
              </a:rPr>
              <a:t>x</a:t>
            </a:r>
            <a:r>
              <a:rPr lang="zh-CN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=</a:t>
            </a:r>
            <a:r>
              <a:rPr lang="zh-CN" altLang="en-US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100;</a:t>
            </a:r>
            <a:br>
              <a:rPr lang="en-US" altLang="en-US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</a:br>
            <a:r>
              <a:rPr lang="en-US" altLang="zh-CN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flag</a:t>
            </a:r>
            <a:r>
              <a:rPr lang="zh-CN" altLang="en-US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=</a:t>
            </a:r>
            <a:r>
              <a:rPr lang="zh-CN" altLang="en-US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true</a:t>
            </a:r>
            <a:r>
              <a:rPr lang="en-US" altLang="zh-CN" sz="2600" dirty="0">
                <a:solidFill>
                  <a:srgbClr val="000000"/>
                </a:solidFill>
                <a:latin typeface="Century" panose="02040604050505020304" pitchFamily="18" charset="0"/>
              </a:rPr>
              <a:t>;</a:t>
            </a:r>
            <a:endParaRPr lang="en-US" altLang="en-US" sz="2600" kern="1200" dirty="0">
              <a:solidFill>
                <a:srgbClr val="000000"/>
              </a:solidFill>
              <a:latin typeface="Century" panose="02040604050505020304" pitchFamily="18" charset="0"/>
            </a:endParaRPr>
          </a:p>
          <a:p>
            <a:pPr marR="0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endParaRPr kumimoji="1" lang="zh-CN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FE08399-4835-7187-A5F0-3D811AAF7849}"/>
              </a:ext>
            </a:extLst>
          </p:cNvPr>
          <p:cNvSpPr/>
          <p:nvPr/>
        </p:nvSpPr>
        <p:spPr bwMode="auto">
          <a:xfrm>
            <a:off x="1227550" y="1234602"/>
            <a:ext cx="4847573" cy="149607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>
              <a:lnSpc>
                <a:spcPct val="120000"/>
              </a:lnSpc>
            </a:pPr>
            <a:r>
              <a:rPr lang="en-US" altLang="en-US" sz="2600" dirty="0" err="1">
                <a:latin typeface="Century" panose="02040604050505020304" pitchFamily="18" charset="0"/>
              </a:rPr>
              <a:t>两个线程共享以下数据</a:t>
            </a:r>
            <a:endParaRPr lang="en-US" altLang="en-US" sz="2600" dirty="0">
              <a:latin typeface="Century" panose="020406040505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2600" b="1" kern="1200" dirty="0" err="1">
                <a:solidFill>
                  <a:srgbClr val="000000"/>
                </a:solidFill>
                <a:latin typeface="Century" panose="02040604050505020304" pitchFamily="18" charset="0"/>
              </a:rPr>
              <a:t>boolean</a:t>
            </a:r>
            <a:r>
              <a:rPr lang="en-US" altLang="en-US" sz="2600" dirty="0">
                <a:latin typeface="Century" panose="020406040505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1200" dirty="0">
                <a:solidFill>
                  <a:srgbClr val="000000"/>
                </a:solidFill>
                <a:latin typeface="Century" panose="02040604050505020304" pitchFamily="18" charset="0"/>
              </a:rPr>
              <a:t>flag</a:t>
            </a:r>
            <a:r>
              <a:rPr lang="en-US" altLang="en-US" sz="2600" dirty="0">
                <a:latin typeface="Century" panose="020406040505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1200" dirty="0">
                <a:solidFill>
                  <a:srgbClr val="000000"/>
                </a:solidFill>
                <a:latin typeface="Century" panose="02040604050505020304" pitchFamily="18" charset="0"/>
              </a:rPr>
              <a:t>=</a:t>
            </a:r>
            <a:r>
              <a:rPr lang="en-US" altLang="en-US" sz="2600" dirty="0">
                <a:latin typeface="Century" panose="020406040505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1200" dirty="0">
                <a:solidFill>
                  <a:srgbClr val="000000"/>
                </a:solidFill>
                <a:latin typeface="Century" panose="02040604050505020304" pitchFamily="18" charset="0"/>
              </a:rPr>
              <a:t>false</a:t>
            </a:r>
            <a:r>
              <a:rPr lang="en-US" altLang="en-US" sz="2600" dirty="0">
                <a:latin typeface="Century" panose="02040604050505020304" pitchFamily="18" charset="0"/>
                <a:cs typeface="Courier New" panose="02070309020205020404" pitchFamily="49" charset="0"/>
              </a:rPr>
              <a:t>;</a:t>
            </a:r>
            <a:br>
              <a:rPr lang="en-US" altLang="en-US" sz="2600" dirty="0">
                <a:latin typeface="Century" panose="02040604050505020304" pitchFamily="18" charset="0"/>
                <a:cs typeface="Courier New" panose="02070309020205020404" pitchFamily="49" charset="0"/>
              </a:rPr>
            </a:br>
            <a:r>
              <a:rPr lang="en-US" altLang="en-US" sz="2600" b="1" kern="1200" dirty="0">
                <a:solidFill>
                  <a:srgbClr val="000000"/>
                </a:solidFill>
                <a:latin typeface="Century" panose="02040604050505020304" pitchFamily="18" charset="0"/>
              </a:rPr>
              <a:t>int x = 0;</a:t>
            </a:r>
          </a:p>
        </p:txBody>
      </p:sp>
    </p:spTree>
    <p:extLst>
      <p:ext uri="{BB962C8B-B14F-4D97-AF65-F5344CB8AC3E}">
        <p14:creationId xmlns:p14="http://schemas.microsoft.com/office/powerpoint/2010/main" val="791076716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B50AF6-DD67-03DD-D6E2-B27513658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现代架构下的代码示例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DEA2D4-B5AB-4768-CE1E-55BBE795A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flag</a:t>
            </a:r>
            <a:r>
              <a:rPr kumimoji="1" lang="zh-CN" altLang="en-US" dirty="0"/>
              <a:t>和</a:t>
            </a:r>
            <a:r>
              <a:rPr kumimoji="1" lang="en-US" altLang="zh-CN" dirty="0"/>
              <a:t>x</a:t>
            </a:r>
            <a:r>
              <a:rPr kumimoji="1" lang="zh-CN" altLang="en-US" dirty="0"/>
              <a:t>是两个彼此独立的变量</a:t>
            </a:r>
            <a:endParaRPr kumimoji="1" lang="en-US" altLang="zh-CN" dirty="0"/>
          </a:p>
          <a:p>
            <a:r>
              <a:rPr kumimoji="1" lang="zh-CN" altLang="en-US" dirty="0"/>
              <a:t>线程</a:t>
            </a:r>
            <a:r>
              <a:rPr kumimoji="1" lang="en-US" altLang="zh-CN" dirty="0"/>
              <a:t>2</a:t>
            </a:r>
            <a:r>
              <a:rPr kumimoji="1" lang="zh-CN" altLang="en-US" dirty="0"/>
              <a:t>的指令可能被排序为：</a:t>
            </a:r>
            <a:endParaRPr kumimoji="1" lang="en-US" altLang="zh-CN" dirty="0"/>
          </a:p>
          <a:p>
            <a:pPr marL="0" indent="0">
              <a:buNone/>
            </a:pPr>
            <a:r>
              <a:rPr lang="en-US" altLang="en-US" b="1" kern="1200" dirty="0">
                <a:solidFill>
                  <a:srgbClr val="000000"/>
                </a:solidFill>
              </a:rPr>
              <a:t>	flag = true</a:t>
            </a:r>
            <a:r>
              <a:rPr lang="en-US" altLang="zh-CN" b="1" kern="1200" dirty="0">
                <a:solidFill>
                  <a:srgbClr val="000000"/>
                </a:solidFill>
              </a:rPr>
              <a:t>;</a:t>
            </a:r>
            <a:endParaRPr lang="en-US" altLang="en-US" b="1" kern="12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b="1" kern="1200" dirty="0">
                <a:solidFill>
                  <a:srgbClr val="000000"/>
                </a:solidFill>
              </a:rPr>
              <a:t>	x = 100;</a:t>
            </a:r>
          </a:p>
          <a:p>
            <a:r>
              <a:rPr kumimoji="1" lang="zh-CN" altLang="en-US" dirty="0"/>
              <a:t>实际的输出可能是：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01A2C4-921E-E42E-D96C-E8ABB9CC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D1FFD2-7D34-2937-309D-B01C9D77AA9C}"/>
              </a:ext>
            </a:extLst>
          </p:cNvPr>
          <p:cNvSpPr txBox="1"/>
          <p:nvPr/>
        </p:nvSpPr>
        <p:spPr>
          <a:xfrm>
            <a:off x="4821238" y="3756895"/>
            <a:ext cx="6025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dirty="0">
                <a:latin typeface="Century" panose="02040604050505020304" pitchFamily="18" charset="0"/>
              </a:rPr>
              <a:t>0</a:t>
            </a:r>
            <a:endParaRPr kumimoji="1" lang="zh-CN" altLang="en-US" sz="26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31225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D9FC1-7280-A5D6-D519-B2F5A2913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修订的</a:t>
            </a:r>
            <a:r>
              <a:rPr kumimoji="1" lang="en-US" altLang="zh-CN" dirty="0"/>
              <a:t>Peterson</a:t>
            </a:r>
            <a:r>
              <a:rPr kumimoji="1" lang="zh-CN" altLang="en-US" dirty="0"/>
              <a:t>方案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0A15B9-484D-8F24-D47B-59E8599B5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Peterson</a:t>
            </a:r>
            <a:r>
              <a:rPr kumimoji="1" lang="zh-CN" altLang="en-US" dirty="0"/>
              <a:t>方案中，指令重排的效果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使得两个进程可以同时进入它们的临界区！</a:t>
            </a:r>
            <a:endParaRPr kumimoji="1" lang="en-US" altLang="zh-CN" dirty="0"/>
          </a:p>
          <a:p>
            <a:r>
              <a:rPr kumimoji="1" lang="zh-CN" altLang="en-US" dirty="0"/>
              <a:t>为了确保</a:t>
            </a:r>
            <a:r>
              <a:rPr kumimoji="1" lang="en-US" altLang="zh-CN" dirty="0"/>
              <a:t>Peterson</a:t>
            </a:r>
            <a:r>
              <a:rPr kumimoji="1" lang="zh-CN" altLang="en-US" dirty="0"/>
              <a:t>方案在现代计算机架构上能够正常工作，必须使用</a:t>
            </a:r>
            <a:r>
              <a:rPr kumimoji="1" lang="zh-CN" altLang="en-US" b="1" dirty="0">
                <a:solidFill>
                  <a:srgbClr val="FF0000"/>
                </a:solidFill>
              </a:rPr>
              <a:t>内存屏障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355E9C-7A0B-4C02-03A3-4E3FA29E1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C41683C0-35E7-3737-7146-001E2E026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151" y="2016821"/>
            <a:ext cx="6559216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0379554"/>
      </p:ext>
    </p:extLst>
  </p:cSld>
  <p:clrMapOvr>
    <a:masterClrMapping/>
  </p:clrMapOvr>
  <p:transition spd="med"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DCCACA-1B02-8A78-EF24-964C22728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同步的硬件支持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429C31-3732-3155-6DA1-FD1E4164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许多系统提供硬件指令来支持临界区问题</a:t>
            </a:r>
          </a:p>
          <a:p>
            <a:r>
              <a:rPr kumimoji="1" lang="zh-CN" altLang="en-US" dirty="0"/>
              <a:t>单处理器 </a:t>
            </a:r>
            <a:r>
              <a:rPr kumimoji="1" lang="en-US" altLang="zh-CN" dirty="0"/>
              <a:t>– </a:t>
            </a:r>
            <a:r>
              <a:rPr kumimoji="1" lang="zh-CN" altLang="en-US" dirty="0"/>
              <a:t>采用禁用中断的方式</a:t>
            </a:r>
          </a:p>
          <a:p>
            <a:pPr lvl="1"/>
            <a:r>
              <a:rPr kumimoji="1" lang="zh-CN" altLang="en-US" dirty="0"/>
              <a:t>当前运行的代码将无法被抢占</a:t>
            </a:r>
          </a:p>
          <a:p>
            <a:pPr lvl="2"/>
            <a:r>
              <a:rPr kumimoji="1" lang="zh-CN" altLang="en-US" dirty="0"/>
              <a:t>可行吗？</a:t>
            </a:r>
          </a:p>
          <a:p>
            <a:pPr lvl="1"/>
            <a:r>
              <a:rPr kumimoji="1" lang="zh-CN" altLang="en-US" dirty="0"/>
              <a:t>在多处理器系统上禁中断通常效率太低</a:t>
            </a:r>
          </a:p>
          <a:p>
            <a:pPr lvl="2"/>
            <a:r>
              <a:rPr kumimoji="1" lang="zh-CN" altLang="en-US" dirty="0"/>
              <a:t>使用此方法的操作系统不具备广泛的可扩展性</a:t>
            </a:r>
          </a:p>
          <a:p>
            <a:r>
              <a:rPr kumimoji="1" lang="zh-CN" altLang="en-US" dirty="0"/>
              <a:t>三种形式的硬件支持：</a:t>
            </a:r>
          </a:p>
          <a:p>
            <a:pPr lvl="1"/>
            <a:r>
              <a:rPr kumimoji="1" lang="zh-CN" altLang="en-US" dirty="0"/>
              <a:t>内存屏障</a:t>
            </a:r>
          </a:p>
          <a:p>
            <a:pPr lvl="1"/>
            <a:r>
              <a:rPr kumimoji="1" lang="zh-CN" altLang="en-US" dirty="0"/>
              <a:t>硬件指令</a:t>
            </a:r>
          </a:p>
          <a:p>
            <a:pPr lvl="1"/>
            <a:r>
              <a:rPr kumimoji="1" lang="zh-CN" altLang="en-US" dirty="0"/>
              <a:t>原子变量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A4946B-FDFC-1F4F-C428-EAF93DAAC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2160567"/>
      </p:ext>
    </p:extLst>
  </p:cSld>
  <p:clrMapOvr>
    <a:masterClrMapping/>
  </p:clrMapOvr>
  <p:transition spd="med"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99AE2E-0091-C947-BC9E-E8BF40281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内存屏障指令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5BF76D-6BC6-C66C-321B-A68E483A9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内存屏障指令</a:t>
            </a:r>
            <a:r>
              <a:rPr kumimoji="1" lang="zh-CN" altLang="en-US" dirty="0"/>
              <a:t>用于确保在执行任何后续的加载或存储操作之前，前面所有的加载和存储指令都已完成。</a:t>
            </a:r>
          </a:p>
          <a:p>
            <a:r>
              <a:rPr kumimoji="1" lang="zh-CN" altLang="en-US" dirty="0"/>
              <a:t>因此，即使指令被重新排序，内存屏障也确保存储操作在内存中完成并对其他处理器可见，然后才执行后来的加载或存储操作。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2B0FF0-3F78-B253-561F-C53C14F3F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1372921"/>
      </p:ext>
    </p:extLst>
  </p:cSld>
  <p:clrMapOvr>
    <a:masterClrMapping/>
  </p:clrMapOvr>
  <p:transition spd="med"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B05B6-746B-3149-033A-551ADF71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内存屏障示例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0DD5A1-CA5F-9F68-9724-77A6F5B23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5248405"/>
            <a:ext cx="7772400" cy="90598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zh-CN" altLang="en-US" dirty="0"/>
              <a:t>确保</a:t>
            </a:r>
            <a:r>
              <a:rPr kumimoji="1" lang="en-US" altLang="zh-CN" dirty="0"/>
              <a:t>flag</a:t>
            </a:r>
            <a:r>
              <a:rPr kumimoji="1" lang="zh-CN" altLang="en-US" dirty="0"/>
              <a:t>的值在</a:t>
            </a:r>
            <a:r>
              <a:rPr kumimoji="1" lang="en-US" altLang="zh-CN" dirty="0"/>
              <a:t>x</a:t>
            </a:r>
            <a:r>
              <a:rPr kumimoji="1" lang="zh-CN" altLang="en-US" dirty="0"/>
              <a:t>之前加载</a:t>
            </a:r>
            <a:endParaRPr kumimoji="1" lang="en-US" altLang="zh-CN" dirty="0"/>
          </a:p>
          <a:p>
            <a:pPr>
              <a:lnSpc>
                <a:spcPct val="120000"/>
              </a:lnSpc>
            </a:pPr>
            <a:r>
              <a:rPr kumimoji="1" lang="zh-CN" altLang="en-US" dirty="0"/>
              <a:t>确保</a:t>
            </a:r>
            <a:r>
              <a:rPr kumimoji="1" lang="en-US" altLang="zh-CN" dirty="0"/>
              <a:t>x</a:t>
            </a:r>
            <a:r>
              <a:rPr kumimoji="1" lang="zh-CN" altLang="en-US" dirty="0"/>
              <a:t>的赋值在</a:t>
            </a:r>
            <a:r>
              <a:rPr kumimoji="1" lang="en-US" altLang="zh-CN" dirty="0"/>
              <a:t>flag</a:t>
            </a:r>
            <a:r>
              <a:rPr kumimoji="1" lang="zh-CN" altLang="en-US" dirty="0"/>
              <a:t>的赋值之前完成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7BD44B-9DCE-A935-4225-28EE158C5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8D90F5-A790-0CC7-76D8-BD9CA9E84419}"/>
              </a:ext>
            </a:extLst>
          </p:cNvPr>
          <p:cNvSpPr/>
          <p:nvPr/>
        </p:nvSpPr>
        <p:spPr bwMode="auto">
          <a:xfrm>
            <a:off x="1251320" y="2785801"/>
            <a:ext cx="3320680" cy="221710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fontAlgn="base">
              <a:lnSpc>
                <a:spcPct val="114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en-US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线程</a:t>
            </a:r>
            <a:r>
              <a:rPr lang="en-US" altLang="zh-CN" sz="2600" dirty="0">
                <a:solidFill>
                  <a:srgbClr val="000000"/>
                </a:solidFill>
                <a:latin typeface="Century" panose="02040604050505020304" pitchFamily="18" charset="0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：</a:t>
            </a:r>
            <a:endParaRPr lang="en-US" altLang="en-US" sz="2600" kern="1200" dirty="0">
              <a:solidFill>
                <a:srgbClr val="000000"/>
              </a:solidFill>
              <a:latin typeface="Century" panose="02040604050505020304" pitchFamily="18" charset="0"/>
            </a:endParaRPr>
          </a:p>
          <a:p>
            <a:pPr fontAlgn="base">
              <a:lnSpc>
                <a:spcPct val="114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en-US" altLang="en-US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while (!flag)</a:t>
            </a:r>
            <a:endParaRPr lang="en-US" altLang="zh-CN" sz="2600" kern="1200" dirty="0">
              <a:solidFill>
                <a:srgbClr val="000000"/>
              </a:solidFill>
              <a:latin typeface="Century" panose="02040604050505020304" pitchFamily="18" charset="0"/>
            </a:endParaRPr>
          </a:p>
          <a:p>
            <a:pPr fontAlgn="base">
              <a:lnSpc>
                <a:spcPct val="114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zh-CN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   </a:t>
            </a:r>
            <a:r>
              <a:rPr lang="en-US" altLang="zh-CN" sz="2600" b="1" dirty="0" err="1">
                <a:solidFill>
                  <a:srgbClr val="FF0000"/>
                </a:solidFill>
                <a:latin typeface="Century" panose="02040604050505020304" pitchFamily="18" charset="0"/>
              </a:rPr>
              <a:t>memory_barrier</a:t>
            </a:r>
            <a:r>
              <a:rPr lang="en-US" altLang="zh-CN" sz="2600" b="1" dirty="0">
                <a:solidFill>
                  <a:srgbClr val="FF0000"/>
                </a:solidFill>
                <a:latin typeface="Century" panose="02040604050505020304" pitchFamily="18" charset="0"/>
              </a:rPr>
              <a:t>();</a:t>
            </a:r>
            <a:br>
              <a:rPr lang="en-US" altLang="en-US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</a:br>
            <a:r>
              <a:rPr lang="en-US" altLang="en-US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print x</a:t>
            </a:r>
            <a:r>
              <a:rPr lang="en-US" altLang="zh-CN" sz="2600" dirty="0">
                <a:solidFill>
                  <a:srgbClr val="000000"/>
                </a:solidFill>
                <a:latin typeface="Century" panose="02040604050505020304" pitchFamily="18" charset="0"/>
              </a:rPr>
              <a:t>;</a:t>
            </a:r>
            <a:endParaRPr lang="en-US" altLang="en-US" sz="2600" kern="1200" dirty="0">
              <a:solidFill>
                <a:srgbClr val="000000"/>
              </a:solidFill>
              <a:latin typeface="Century" panose="020406040505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4B0F98-E16B-7512-042F-90E54DD5ABC0}"/>
              </a:ext>
            </a:extLst>
          </p:cNvPr>
          <p:cNvSpPr/>
          <p:nvPr/>
        </p:nvSpPr>
        <p:spPr bwMode="auto">
          <a:xfrm>
            <a:off x="4733555" y="2785800"/>
            <a:ext cx="3320680" cy="221710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fontAlgn="base">
              <a:lnSpc>
                <a:spcPct val="114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en-US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线程</a:t>
            </a:r>
            <a:r>
              <a:rPr lang="en-US" altLang="zh-CN" sz="2600" dirty="0">
                <a:solidFill>
                  <a:srgbClr val="000000"/>
                </a:solidFill>
                <a:latin typeface="Century" panose="02040604050505020304" pitchFamily="18" charset="0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：</a:t>
            </a:r>
            <a:endParaRPr lang="en-US" altLang="en-US" sz="2600" kern="1200" dirty="0">
              <a:solidFill>
                <a:srgbClr val="000000"/>
              </a:solidFill>
              <a:latin typeface="Century" panose="02040604050505020304" pitchFamily="18" charset="0"/>
            </a:endParaRPr>
          </a:p>
          <a:p>
            <a:pPr fontAlgn="base">
              <a:lnSpc>
                <a:spcPct val="114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en-US" altLang="zh-CN" sz="2600" dirty="0">
                <a:solidFill>
                  <a:srgbClr val="000000"/>
                </a:solidFill>
                <a:latin typeface="Century" panose="02040604050505020304" pitchFamily="18" charset="0"/>
              </a:rPr>
              <a:t>x</a:t>
            </a:r>
            <a:r>
              <a:rPr lang="zh-CN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=</a:t>
            </a:r>
            <a:r>
              <a:rPr lang="zh-CN" altLang="en-US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100;</a:t>
            </a:r>
          </a:p>
          <a:p>
            <a:pPr fontAlgn="base">
              <a:lnSpc>
                <a:spcPct val="114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en-US" altLang="zh-CN" sz="2600" b="1" dirty="0" err="1">
                <a:solidFill>
                  <a:srgbClr val="FF0000"/>
                </a:solidFill>
                <a:latin typeface="Century" panose="02040604050505020304" pitchFamily="18" charset="0"/>
              </a:rPr>
              <a:t>memory_barrier</a:t>
            </a:r>
            <a:r>
              <a:rPr lang="en-US" altLang="zh-CN" sz="2600" b="1" dirty="0">
                <a:solidFill>
                  <a:srgbClr val="FF0000"/>
                </a:solidFill>
                <a:latin typeface="Century" panose="02040604050505020304" pitchFamily="18" charset="0"/>
              </a:rPr>
              <a:t>();</a:t>
            </a:r>
            <a:br>
              <a:rPr lang="en-US" altLang="en-US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</a:br>
            <a:r>
              <a:rPr lang="en-US" altLang="zh-CN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flag</a:t>
            </a:r>
            <a:r>
              <a:rPr lang="zh-CN" altLang="en-US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=</a:t>
            </a:r>
            <a:r>
              <a:rPr lang="zh-CN" altLang="en-US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true</a:t>
            </a:r>
            <a:r>
              <a:rPr lang="en-US" altLang="zh-CN" sz="2600" dirty="0">
                <a:solidFill>
                  <a:srgbClr val="000000"/>
                </a:solidFill>
                <a:latin typeface="Century" panose="02040604050505020304" pitchFamily="18" charset="0"/>
              </a:rPr>
              <a:t>;</a:t>
            </a:r>
            <a:endParaRPr lang="en-US" altLang="en-US" sz="2600" kern="1200" dirty="0">
              <a:solidFill>
                <a:srgbClr val="000000"/>
              </a:solidFill>
              <a:latin typeface="Century" panose="020406040505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8E8A0D-07D2-8927-EEB9-AE05A8C4D52A}"/>
              </a:ext>
            </a:extLst>
          </p:cNvPr>
          <p:cNvSpPr/>
          <p:nvPr/>
        </p:nvSpPr>
        <p:spPr bwMode="auto">
          <a:xfrm>
            <a:off x="1227550" y="1234602"/>
            <a:ext cx="4847573" cy="149607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>
              <a:lnSpc>
                <a:spcPct val="120000"/>
              </a:lnSpc>
            </a:pPr>
            <a:r>
              <a:rPr lang="en-US" altLang="en-US" sz="2600" dirty="0" err="1">
                <a:latin typeface="Century" panose="02040604050505020304" pitchFamily="18" charset="0"/>
              </a:rPr>
              <a:t>两个线程共享以下数据</a:t>
            </a:r>
            <a:endParaRPr lang="en-US" altLang="en-US" sz="2600" dirty="0">
              <a:latin typeface="Century" panose="020406040505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2600" b="1" kern="1200" dirty="0" err="1">
                <a:solidFill>
                  <a:srgbClr val="000000"/>
                </a:solidFill>
                <a:latin typeface="Century" panose="02040604050505020304" pitchFamily="18" charset="0"/>
              </a:rPr>
              <a:t>boolean</a:t>
            </a:r>
            <a:r>
              <a:rPr lang="en-US" altLang="en-US" sz="2600" dirty="0">
                <a:latin typeface="Century" panose="020406040505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1200" dirty="0">
                <a:solidFill>
                  <a:srgbClr val="000000"/>
                </a:solidFill>
                <a:latin typeface="Century" panose="02040604050505020304" pitchFamily="18" charset="0"/>
              </a:rPr>
              <a:t>flag</a:t>
            </a:r>
            <a:r>
              <a:rPr lang="en-US" altLang="en-US" sz="2600" dirty="0">
                <a:latin typeface="Century" panose="020406040505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1200" dirty="0">
                <a:solidFill>
                  <a:srgbClr val="000000"/>
                </a:solidFill>
                <a:latin typeface="Century" panose="02040604050505020304" pitchFamily="18" charset="0"/>
              </a:rPr>
              <a:t>=</a:t>
            </a:r>
            <a:r>
              <a:rPr lang="en-US" altLang="en-US" sz="2600" dirty="0">
                <a:latin typeface="Century" panose="020406040505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2600" b="1" kern="1200" dirty="0">
                <a:solidFill>
                  <a:srgbClr val="000000"/>
                </a:solidFill>
                <a:latin typeface="Century" panose="02040604050505020304" pitchFamily="18" charset="0"/>
              </a:rPr>
              <a:t>false</a:t>
            </a:r>
            <a:r>
              <a:rPr lang="en-US" altLang="en-US" sz="2600" dirty="0">
                <a:latin typeface="Century" panose="02040604050505020304" pitchFamily="18" charset="0"/>
                <a:cs typeface="Courier New" panose="02070309020205020404" pitchFamily="49" charset="0"/>
              </a:rPr>
              <a:t>;</a:t>
            </a:r>
            <a:br>
              <a:rPr lang="en-US" altLang="en-US" sz="2600" dirty="0">
                <a:latin typeface="Century" panose="02040604050505020304" pitchFamily="18" charset="0"/>
                <a:cs typeface="Courier New" panose="02070309020205020404" pitchFamily="49" charset="0"/>
              </a:rPr>
            </a:br>
            <a:r>
              <a:rPr lang="en-US" altLang="en-US" sz="2600" b="1" kern="1200" dirty="0">
                <a:solidFill>
                  <a:srgbClr val="000000"/>
                </a:solidFill>
                <a:latin typeface="Century" panose="02040604050505020304" pitchFamily="18" charset="0"/>
              </a:rPr>
              <a:t>int x = 0;</a:t>
            </a:r>
          </a:p>
        </p:txBody>
      </p:sp>
    </p:spTree>
    <p:extLst>
      <p:ext uri="{BB962C8B-B14F-4D97-AF65-F5344CB8AC3E}">
        <p14:creationId xmlns:p14="http://schemas.microsoft.com/office/powerpoint/2010/main" val="546781067"/>
      </p:ext>
    </p:extLst>
  </p:cSld>
  <p:clrMapOvr>
    <a:masterClrMapping/>
  </p:clrMapOvr>
  <p:transition spd="med"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19E38B-9D3C-F60E-3BE5-F6EFA073C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内存屏障指令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E118F2-59D7-1BB7-0C4F-53CD21AC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指令类型</a:t>
            </a:r>
            <a:endParaRPr lang="en-US" altLang="zh-CN" dirty="0"/>
          </a:p>
          <a:p>
            <a:pPr lvl="1"/>
            <a:r>
              <a:rPr lang="en" altLang="zh-CN" dirty="0"/>
              <a:t>Load Barrier</a:t>
            </a:r>
            <a:r>
              <a:rPr lang="zh-CN" altLang="en" dirty="0"/>
              <a:t>（</a:t>
            </a:r>
            <a:r>
              <a:rPr lang="zh-CN" altLang="en-US" dirty="0"/>
              <a:t>读屏障）：确保屏障之前的读操作在屏障之前完成。</a:t>
            </a:r>
          </a:p>
          <a:p>
            <a:pPr lvl="1"/>
            <a:r>
              <a:rPr lang="en" altLang="zh-CN" dirty="0"/>
              <a:t>Store Barrier</a:t>
            </a:r>
            <a:r>
              <a:rPr lang="zh-CN" altLang="en" dirty="0"/>
              <a:t>（</a:t>
            </a:r>
            <a:r>
              <a:rPr lang="zh-CN" altLang="en-US" dirty="0"/>
              <a:t>写屏障）：确保屏障之前的写操作在屏障之前完成。</a:t>
            </a:r>
          </a:p>
          <a:p>
            <a:pPr lvl="1"/>
            <a:r>
              <a:rPr lang="en" altLang="zh-CN" dirty="0"/>
              <a:t>Full Barrier</a:t>
            </a:r>
            <a:r>
              <a:rPr lang="zh-CN" altLang="en" dirty="0"/>
              <a:t>（</a:t>
            </a:r>
            <a:r>
              <a:rPr lang="zh-CN" altLang="en-US" dirty="0"/>
              <a:t>全屏障）：同时包含读屏障和写屏障，确保屏障之前的读写操作在屏障之前完成。</a:t>
            </a:r>
          </a:p>
          <a:p>
            <a:r>
              <a:rPr lang="zh-CN" altLang="en-US" dirty="0"/>
              <a:t>不同语言和系统中的内存屏障指令</a:t>
            </a:r>
            <a:endParaRPr lang="en-US" altLang="zh-CN" dirty="0"/>
          </a:p>
          <a:p>
            <a:pPr lvl="1"/>
            <a:r>
              <a:rPr lang="en-US" altLang="zh-CN" dirty="0"/>
              <a:t>C++</a:t>
            </a:r>
            <a:r>
              <a:rPr lang="zh-CN" altLang="en-US" dirty="0"/>
              <a:t> </a:t>
            </a:r>
            <a:r>
              <a:rPr lang="en-US" altLang="zh-CN" dirty="0"/>
              <a:t>11</a:t>
            </a:r>
            <a:r>
              <a:rPr lang="zh-CN" altLang="en-US" dirty="0"/>
              <a:t>：</a:t>
            </a:r>
            <a:r>
              <a:rPr lang="en" altLang="zh-CN" dirty="0"/>
              <a:t>std::</a:t>
            </a:r>
            <a:r>
              <a:rPr lang="en" altLang="zh-CN" dirty="0" err="1"/>
              <a:t>atomic_thread_fence</a:t>
            </a:r>
            <a:endParaRPr lang="en" altLang="zh-CN" dirty="0"/>
          </a:p>
          <a:p>
            <a:pPr lvl="1"/>
            <a:r>
              <a:rPr lang="en" altLang="zh-CN" dirty="0"/>
              <a:t>Java</a:t>
            </a:r>
            <a:r>
              <a:rPr lang="zh-CN" altLang="en-US" dirty="0"/>
              <a:t>：</a:t>
            </a:r>
            <a:r>
              <a:rPr lang="en" altLang="zh-CN" dirty="0"/>
              <a:t>synchronized</a:t>
            </a:r>
            <a:r>
              <a:rPr lang="zh-CN" altLang="en-US" dirty="0"/>
              <a:t>关键字或者</a:t>
            </a:r>
            <a:r>
              <a:rPr lang="en" altLang="zh-CN" dirty="0" err="1"/>
              <a:t>java.util.concurrent.locks.Lock</a:t>
            </a:r>
            <a:r>
              <a:rPr lang="zh-CN" altLang="en-US" dirty="0"/>
              <a:t>接口</a:t>
            </a:r>
          </a:p>
          <a:p>
            <a:pPr lvl="1"/>
            <a:r>
              <a:rPr lang="en" altLang="zh-CN" dirty="0"/>
              <a:t>Linux</a:t>
            </a:r>
            <a:r>
              <a:rPr lang="zh-CN" altLang="en" dirty="0"/>
              <a:t>内核</a:t>
            </a:r>
            <a:r>
              <a:rPr lang="zh-CN" altLang="en-US" dirty="0"/>
              <a:t>：使用</a:t>
            </a:r>
            <a:r>
              <a:rPr lang="en" altLang="zh-CN" dirty="0"/>
              <a:t>mb(), </a:t>
            </a:r>
            <a:r>
              <a:rPr lang="en" altLang="zh-CN" dirty="0" err="1"/>
              <a:t>rmb</a:t>
            </a:r>
            <a:r>
              <a:rPr lang="en" altLang="zh-CN" dirty="0"/>
              <a:t>(), </a:t>
            </a:r>
            <a:r>
              <a:rPr lang="en" altLang="zh-CN" dirty="0" err="1"/>
              <a:t>wmb</a:t>
            </a:r>
            <a:r>
              <a:rPr lang="en" altLang="zh-CN" dirty="0"/>
              <a:t>()</a:t>
            </a:r>
            <a:r>
              <a:rPr lang="zh-CN" altLang="en-US" dirty="0"/>
              <a:t>等函数</a:t>
            </a:r>
            <a:endParaRPr lang="en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23CBAB-D1FF-3F9C-CA62-F6B3A73A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6777545"/>
      </p:ext>
    </p:extLst>
  </p:cSld>
  <p:clrMapOvr>
    <a:masterClrMapping/>
  </p:clrMapOvr>
  <p:transition spd="med"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67735-5CF7-C67F-1135-4950B7EE9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硬件指令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A4974F-EDDF-139A-B6FF-E54AB559B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特殊的硬件指令允许我们</a:t>
            </a:r>
            <a:r>
              <a:rPr kumimoji="1" lang="zh-CN" altLang="en-US" b="1" dirty="0">
                <a:solidFill>
                  <a:srgbClr val="FF0000"/>
                </a:solidFill>
              </a:rPr>
              <a:t>原子地</a:t>
            </a:r>
            <a:r>
              <a:rPr kumimoji="1" lang="zh-CN" altLang="en-US" dirty="0"/>
              <a:t>测试并修改单词的内容，或者原子地交换两个单词的内容（不被中断）。</a:t>
            </a:r>
          </a:p>
          <a:p>
            <a:pPr lvl="1"/>
            <a:r>
              <a:rPr kumimoji="1" lang="en-US" altLang="zh-CN" dirty="0"/>
              <a:t>test-and-set</a:t>
            </a:r>
            <a:r>
              <a:rPr kumimoji="1" lang="zh-CN" altLang="en-US" dirty="0"/>
              <a:t>指令</a:t>
            </a:r>
          </a:p>
          <a:p>
            <a:pPr lvl="1"/>
            <a:r>
              <a:rPr kumimoji="1" lang="en-US" altLang="zh-CN" dirty="0"/>
              <a:t>compare-and-swap</a:t>
            </a:r>
            <a:r>
              <a:rPr kumimoji="1" lang="zh-CN" altLang="en-US" dirty="0"/>
              <a:t>比较并交换指令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D976B3-A2CA-44C5-A4E5-1B0DE37A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9125267"/>
      </p:ext>
    </p:extLst>
  </p:cSld>
  <p:clrMapOvr>
    <a:masterClrMapping/>
  </p:clrMapOvr>
  <p:transition spd="med"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326ED1-1199-DDA6-C9F9-8CD511E89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test-and-set</a:t>
            </a:r>
            <a:r>
              <a:rPr kumimoji="1"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1C22B8-D402-2CB3-0E68-5EEA674F7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zh-CN" altLang="en-US" dirty="0"/>
              <a:t>定义：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特点：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以原子方式执行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返回参数的原始值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将参数的值设置为</a:t>
            </a:r>
            <a:r>
              <a:rPr kumimoji="1" lang="en-US" altLang="zh-CN" dirty="0"/>
              <a:t>true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D6E99B-C468-BF7B-FF43-2AC061ED8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CC2033-6F5F-189B-43B7-BA359B6FB614}"/>
              </a:ext>
            </a:extLst>
          </p:cNvPr>
          <p:cNvSpPr/>
          <p:nvPr/>
        </p:nvSpPr>
        <p:spPr bwMode="auto">
          <a:xfrm>
            <a:off x="1042988" y="1821297"/>
            <a:ext cx="6751529" cy="23498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108000" rIns="91440" bIns="72000" numCol="1" rtlCol="0" anchor="ctr" anchorCtr="0" compatLnSpc="1"/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600" dirty="0" err="1">
                <a:solidFill>
                  <a:srgbClr val="000000"/>
                </a:solidFill>
                <a:latin typeface="Century" panose="02040604050505020304" pitchFamily="18" charset="0"/>
              </a:rPr>
              <a:t>b</a:t>
            </a:r>
            <a:r>
              <a:rPr lang="en-US" altLang="en-US" sz="2600" kern="1200" dirty="0" err="1">
                <a:solidFill>
                  <a:srgbClr val="000000"/>
                </a:solidFill>
                <a:latin typeface="Century" panose="02040604050505020304" pitchFamily="18" charset="0"/>
              </a:rPr>
              <a:t>oolean</a:t>
            </a:r>
            <a:r>
              <a:rPr lang="zh-CN" altLang="en-US" sz="2600" kern="1200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600" kern="1200" dirty="0" err="1">
                <a:solidFill>
                  <a:srgbClr val="000000"/>
                </a:solidFill>
                <a:latin typeface="Century" panose="02040604050505020304" pitchFamily="18" charset="0"/>
              </a:rPr>
              <a:t>test_and</a:t>
            </a:r>
            <a:r>
              <a:rPr lang="en-US" altLang="zh-CN" sz="2600" dirty="0" err="1">
                <a:solidFill>
                  <a:srgbClr val="000000"/>
                </a:solidFill>
                <a:latin typeface="Century" panose="02040604050505020304" pitchFamily="18" charset="0"/>
              </a:rPr>
              <a:t>_set</a:t>
            </a:r>
            <a:r>
              <a:rPr lang="en-US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(</a:t>
            </a:r>
            <a:r>
              <a:rPr lang="en-US" altLang="en-US" sz="2600" dirty="0" err="1">
                <a:solidFill>
                  <a:srgbClr val="000000"/>
                </a:solidFill>
                <a:latin typeface="Century" panose="02040604050505020304" pitchFamily="18" charset="0"/>
              </a:rPr>
              <a:t>boolean</a:t>
            </a:r>
            <a:r>
              <a:rPr lang="en-US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 *target)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{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    </a:t>
            </a:r>
            <a:r>
              <a:rPr lang="en-US" altLang="en-US" sz="2600" dirty="0" err="1">
                <a:solidFill>
                  <a:srgbClr val="000000"/>
                </a:solidFill>
                <a:latin typeface="Century" panose="02040604050505020304" pitchFamily="18" charset="0"/>
              </a:rPr>
              <a:t>boolean</a:t>
            </a:r>
            <a:r>
              <a:rPr lang="en-US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en-US" sz="2600" dirty="0" err="1">
                <a:solidFill>
                  <a:srgbClr val="000000"/>
                </a:solidFill>
                <a:latin typeface="Century" panose="02040604050505020304" pitchFamily="18" charset="0"/>
              </a:rPr>
              <a:t>rv</a:t>
            </a:r>
            <a:r>
              <a:rPr lang="en-US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 = *target;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    *target = true;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    return </a:t>
            </a:r>
            <a:r>
              <a:rPr lang="en-US" altLang="en-US" sz="2600" dirty="0" err="1">
                <a:solidFill>
                  <a:srgbClr val="000000"/>
                </a:solidFill>
                <a:latin typeface="Century" panose="02040604050505020304" pitchFamily="18" charset="0"/>
              </a:rPr>
              <a:t>rv</a:t>
            </a:r>
            <a:r>
              <a:rPr lang="en-US" altLang="zh-CN" sz="2600" dirty="0">
                <a:solidFill>
                  <a:srgbClr val="000000"/>
                </a:solidFill>
                <a:latin typeface="Century" panose="02040604050505020304" pitchFamily="18" charset="0"/>
              </a:rPr>
              <a:t>;</a:t>
            </a:r>
            <a:endParaRPr lang="en-US" altLang="en-US" sz="2600" dirty="0">
              <a:solidFill>
                <a:srgbClr val="000000"/>
              </a:solidFill>
              <a:latin typeface="Century" panose="02040604050505020304" pitchFamily="18" charset="0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2600" dirty="0">
                <a:solidFill>
                  <a:srgbClr val="000000"/>
                </a:solidFill>
                <a:latin typeface="Century" panose="020406040505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69808634"/>
      </p:ext>
    </p:extLst>
  </p:cSld>
  <p:clrMapOvr>
    <a:masterClrMapping/>
  </p:clrMapOvr>
  <p:transition spd="med"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3BD4A7-F6E8-9833-CD35-664CCFFFF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4000" dirty="0"/>
              <a:t>test-and-set</a:t>
            </a:r>
            <a:r>
              <a:rPr kumimoji="1" lang="zh-CN" altLang="en-US" sz="4000" dirty="0"/>
              <a:t>指令解决临界区问题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8E657D-C3BF-E4A5-B0CA-DC768AA7B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zh-CN" altLang="en-US" dirty="0"/>
              <a:t>初始时，共享变量</a:t>
            </a:r>
            <a:r>
              <a:rPr kumimoji="1" lang="en-US" altLang="zh-CN" dirty="0"/>
              <a:t>lock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false;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采用忙等</a:t>
            </a:r>
            <a:endParaRPr kumimoji="1" lang="en-US" altLang="zh-CN" dirty="0"/>
          </a:p>
          <a:p>
            <a:r>
              <a:rPr kumimoji="1" lang="zh-CN" altLang="en-US" dirty="0"/>
              <a:t>是否可以解决临界区问题？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18CE6C-DCCB-6CB3-DDE2-7C366764B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110DC9-8D78-8DBB-FF8D-FADCD223783A}"/>
              </a:ext>
            </a:extLst>
          </p:cNvPr>
          <p:cNvSpPr/>
          <p:nvPr/>
        </p:nvSpPr>
        <p:spPr bwMode="auto">
          <a:xfrm>
            <a:off x="1285766" y="1715445"/>
            <a:ext cx="6751529" cy="34271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108000" rIns="91440" bIns="72000" numCol="1" rtlCol="0" anchor="ctr" anchorCtr="0" compatLnSpc="1"/>
          <a:lstStyle/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Century" panose="02040604050505020304" pitchFamily="18" charset="0"/>
                <a:cs typeface="Courier New" panose="02070309020205020404" pitchFamily="49" charset="0"/>
              </a:rPr>
              <a:t>do {</a:t>
            </a:r>
            <a:br>
              <a:rPr lang="en-US" altLang="en-US" sz="2400" b="1" dirty="0">
                <a:solidFill>
                  <a:srgbClr val="000000"/>
                </a:solidFill>
                <a:latin typeface="Century" panose="02040604050505020304" pitchFamily="18" charset="0"/>
                <a:cs typeface="Courier New" panose="02070309020205020404" pitchFamily="49" charset="0"/>
              </a:rPr>
            </a:br>
            <a:r>
              <a:rPr lang="en-US" altLang="en-US" sz="2400" b="1" dirty="0">
                <a:solidFill>
                  <a:srgbClr val="000000"/>
                </a:solidFill>
                <a:latin typeface="Century" panose="02040604050505020304" pitchFamily="18" charset="0"/>
                <a:cs typeface="Courier New" panose="02070309020205020404" pitchFamily="49" charset="0"/>
              </a:rPr>
              <a:t>        while (</a:t>
            </a:r>
            <a:r>
              <a:rPr lang="en-US" altLang="en-US" sz="2400" b="1" dirty="0" err="1">
                <a:solidFill>
                  <a:srgbClr val="000000"/>
                </a:solidFill>
                <a:latin typeface="Century" panose="02040604050505020304" pitchFamily="18" charset="0"/>
                <a:cs typeface="Courier New" panose="02070309020205020404" pitchFamily="49" charset="0"/>
              </a:rPr>
              <a:t>test_and_set</a:t>
            </a:r>
            <a:r>
              <a:rPr lang="en-US" altLang="en-US" sz="2400" b="1" dirty="0">
                <a:solidFill>
                  <a:srgbClr val="000000"/>
                </a:solidFill>
                <a:latin typeface="Century" panose="02040604050505020304" pitchFamily="18" charset="0"/>
                <a:cs typeface="Courier New" panose="02070309020205020404" pitchFamily="49" charset="0"/>
              </a:rPr>
              <a:t>(&amp;lock)) ; </a:t>
            </a:r>
          </a:p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zh-CN" altLang="en-US" sz="2400" b="1" dirty="0">
                <a:solidFill>
                  <a:srgbClr val="000000"/>
                </a:solidFill>
                <a:latin typeface="Century" panose="02040604050505020304" pitchFamily="18" charset="0"/>
                <a:cs typeface="Courier New" panose="02070309020205020404" pitchFamily="49" charset="0"/>
              </a:rPr>
              <a:t>        </a:t>
            </a:r>
            <a:r>
              <a:rPr lang="en-US" altLang="en-US" sz="2400" b="1" dirty="0">
                <a:solidFill>
                  <a:srgbClr val="000000"/>
                </a:solidFill>
                <a:latin typeface="Century" panose="02040604050505020304" pitchFamily="18" charset="0"/>
                <a:cs typeface="Courier New" panose="02070309020205020404" pitchFamily="49" charset="0"/>
              </a:rPr>
              <a:t>/* do nothing */ </a:t>
            </a:r>
            <a:br>
              <a:rPr lang="en-US" altLang="en-US" sz="2400" b="1" dirty="0">
                <a:solidFill>
                  <a:srgbClr val="000000"/>
                </a:solidFill>
                <a:latin typeface="Century" panose="02040604050505020304" pitchFamily="18" charset="0"/>
                <a:cs typeface="Courier New" panose="02070309020205020404" pitchFamily="49" charset="0"/>
              </a:rPr>
            </a:br>
            <a:endParaRPr lang="en-US" altLang="en-US" sz="2400" b="1" dirty="0">
              <a:solidFill>
                <a:srgbClr val="000000"/>
              </a:solidFill>
              <a:latin typeface="Century" panose="02040604050505020304" pitchFamily="18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Century" panose="02040604050505020304" pitchFamily="18" charset="0"/>
                <a:cs typeface="Courier New" panose="02070309020205020404" pitchFamily="49" charset="0"/>
              </a:rPr>
              <a:t>        /* critical section */ </a:t>
            </a:r>
            <a:br>
              <a:rPr lang="en-US" altLang="en-US" sz="2400" b="1" dirty="0">
                <a:solidFill>
                  <a:srgbClr val="000000"/>
                </a:solidFill>
                <a:latin typeface="Century" panose="02040604050505020304" pitchFamily="18" charset="0"/>
                <a:cs typeface="Courier New" panose="02070309020205020404" pitchFamily="49" charset="0"/>
              </a:rPr>
            </a:br>
            <a:endParaRPr lang="en-US" altLang="en-US" sz="2400" b="1" dirty="0">
              <a:solidFill>
                <a:srgbClr val="000000"/>
              </a:solidFill>
              <a:latin typeface="Century" panose="02040604050505020304" pitchFamily="18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Century" panose="02040604050505020304" pitchFamily="18" charset="0"/>
                <a:cs typeface="Courier New" panose="02070309020205020404" pitchFamily="49" charset="0"/>
              </a:rPr>
              <a:t>        lock = false; </a:t>
            </a:r>
          </a:p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Century" panose="02040604050505020304" pitchFamily="18" charset="0"/>
                <a:cs typeface="Courier New" panose="02070309020205020404" pitchFamily="49" charset="0"/>
              </a:rPr>
              <a:t>        /* remainder section */ </a:t>
            </a:r>
          </a:p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Century" panose="02040604050505020304" pitchFamily="18" charset="0"/>
                <a:cs typeface="Courier New" panose="02070309020205020404" pitchFamily="49" charset="0"/>
              </a:rPr>
              <a:t>} while (true);</a:t>
            </a:r>
          </a:p>
        </p:txBody>
      </p:sp>
    </p:spTree>
    <p:extLst>
      <p:ext uri="{BB962C8B-B14F-4D97-AF65-F5344CB8AC3E}">
        <p14:creationId xmlns:p14="http://schemas.microsoft.com/office/powerpoint/2010/main" val="137992075"/>
      </p:ext>
    </p:extLst>
  </p:cSld>
  <p:clrMapOvr>
    <a:masterClrMapping/>
  </p:clrMapOvr>
  <p:transition spd="med"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A2842C-C281-5676-3B3A-B51891094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en-US" altLang="en-US" dirty="0" err="1"/>
              <a:t>compare_and_swap</a:t>
            </a:r>
            <a:r>
              <a:rPr lang="zh-CN" altLang="en-US" dirty="0"/>
              <a:t> </a:t>
            </a:r>
            <a:r>
              <a:rPr lang="en-US" altLang="en-US" dirty="0" err="1"/>
              <a:t>指令</a:t>
            </a:r>
            <a:endParaRPr lang="zh-CN" altLang="en-US" dirty="0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36115CC-D621-A974-FEE9-1B3E58138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定义：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特点：</a:t>
            </a:r>
            <a:endParaRPr lang="en-US" altLang="zh-CN" dirty="0"/>
          </a:p>
          <a:p>
            <a:r>
              <a:rPr lang="zh-CN" altLang="en-US" dirty="0"/>
              <a:t>以原子方式执行</a:t>
            </a:r>
          </a:p>
          <a:p>
            <a:r>
              <a:rPr lang="zh-CN" altLang="en-US" dirty="0"/>
              <a:t>返回参数值的原始值</a:t>
            </a:r>
          </a:p>
          <a:p>
            <a:r>
              <a:rPr lang="zh-CN" altLang="en-US" dirty="0"/>
              <a:t>仅在 *</a:t>
            </a:r>
            <a:r>
              <a:rPr lang="en" altLang="zh-CN" dirty="0"/>
              <a:t>value == expected </a:t>
            </a:r>
            <a:r>
              <a:rPr lang="zh-CN" altLang="en-US" dirty="0"/>
              <a:t>为真时，将变量值设置为参数 </a:t>
            </a:r>
            <a:r>
              <a:rPr lang="en" altLang="zh-CN" dirty="0" err="1"/>
              <a:t>new_value</a:t>
            </a:r>
            <a:r>
              <a:rPr lang="en" altLang="zh-CN" dirty="0"/>
              <a:t> </a:t>
            </a:r>
            <a:r>
              <a:rPr lang="zh-CN" altLang="en-US" dirty="0"/>
              <a:t>的值。即交换仅在此条件下进行。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675323-D1B9-0FDC-087C-4572B432F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70AD1B-53D8-60FE-6524-A8531C5FAE34}"/>
              </a:ext>
            </a:extLst>
          </p:cNvPr>
          <p:cNvSpPr/>
          <p:nvPr/>
        </p:nvSpPr>
        <p:spPr bwMode="auto">
          <a:xfrm>
            <a:off x="1135084" y="1589372"/>
            <a:ext cx="7073878" cy="255674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108000" rIns="91440" bIns="72000" numCol="1" rtlCol="0" anchor="ctr" anchorCtr="0" compatLnSpc="1"/>
          <a:lstStyle/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2000" b="1" dirty="0">
                <a:latin typeface="Century" panose="02040604050505020304" pitchFamily="18" charset="0"/>
              </a:rPr>
              <a:t>int </a:t>
            </a:r>
            <a:r>
              <a:rPr lang="en-US" altLang="en-US" sz="2000" b="1" dirty="0" err="1">
                <a:latin typeface="Century" panose="02040604050505020304" pitchFamily="18" charset="0"/>
              </a:rPr>
              <a:t>compare_and_swap</a:t>
            </a:r>
            <a:r>
              <a:rPr lang="en-US" altLang="en-US" sz="2000" b="1" dirty="0">
                <a:latin typeface="Century" panose="02040604050505020304" pitchFamily="18" charset="0"/>
              </a:rPr>
              <a:t>(int *value, int expected,</a:t>
            </a:r>
          </a:p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zh-CN" altLang="en-US" sz="2000" b="1" dirty="0">
                <a:latin typeface="Century" panose="02040604050505020304" pitchFamily="18" charset="0"/>
              </a:rPr>
              <a:t>                                        </a:t>
            </a:r>
            <a:r>
              <a:rPr lang="en-US" altLang="en-US" sz="2000" b="1" dirty="0">
                <a:latin typeface="Century" panose="02040604050505020304" pitchFamily="18" charset="0"/>
              </a:rPr>
              <a:t> int </a:t>
            </a:r>
            <a:r>
              <a:rPr lang="en-US" altLang="en-US" sz="2000" b="1" dirty="0" err="1">
                <a:latin typeface="Century" panose="02040604050505020304" pitchFamily="18" charset="0"/>
              </a:rPr>
              <a:t>new_value</a:t>
            </a:r>
            <a:r>
              <a:rPr lang="en-US" altLang="en-US" sz="2000" b="1" dirty="0">
                <a:latin typeface="Century" panose="02040604050505020304" pitchFamily="18" charset="0"/>
              </a:rPr>
              <a:t>)</a:t>
            </a:r>
          </a:p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2000" b="1" dirty="0">
                <a:latin typeface="Century" panose="02040604050505020304" pitchFamily="18" charset="0"/>
              </a:rPr>
              <a:t>{                  </a:t>
            </a:r>
          </a:p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2000" b="1" dirty="0">
                <a:latin typeface="Century" panose="02040604050505020304" pitchFamily="18" charset="0"/>
              </a:rPr>
              <a:t>     int temp = *value; </a:t>
            </a:r>
          </a:p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2000" b="1" dirty="0">
                <a:latin typeface="Century" panose="02040604050505020304" pitchFamily="18" charset="0"/>
              </a:rPr>
              <a:t>     if (*value == expected) </a:t>
            </a:r>
          </a:p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2000" b="1" dirty="0">
                <a:latin typeface="Century" panose="02040604050505020304" pitchFamily="18" charset="0"/>
              </a:rPr>
              <a:t>            *value = </a:t>
            </a:r>
            <a:r>
              <a:rPr lang="en-US" altLang="en-US" sz="2000" b="1" dirty="0" err="1">
                <a:latin typeface="Century" panose="02040604050505020304" pitchFamily="18" charset="0"/>
              </a:rPr>
              <a:t>new_value</a:t>
            </a:r>
            <a:r>
              <a:rPr lang="en-US" altLang="en-US" sz="2000" b="1" dirty="0">
                <a:latin typeface="Century" panose="02040604050505020304" pitchFamily="18" charset="0"/>
              </a:rPr>
              <a:t>; </a:t>
            </a:r>
          </a:p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2000" b="1" dirty="0">
                <a:latin typeface="Century" panose="02040604050505020304" pitchFamily="18" charset="0"/>
              </a:rPr>
              <a:t>     return temp; </a:t>
            </a:r>
          </a:p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2000" b="1" dirty="0">
                <a:latin typeface="Century" panose="02040604050505020304" pitchFamily="18" charset="0"/>
              </a:rPr>
              <a:t>} </a:t>
            </a:r>
            <a:endParaRPr lang="en-US" altLang="en-US" sz="20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091709"/>
      </p:ext>
    </p:extLst>
  </p:cSld>
  <p:clrMapOvr>
    <a:masterClrMapping/>
  </p:clrMapOvr>
  <p:transition spd="med"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3E9E3F-3E75-F87B-8EAD-C805B08D2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en-US" altLang="en-US" sz="3600" dirty="0" err="1"/>
              <a:t>compare_and_swap解决临界区问题</a:t>
            </a:r>
            <a:endParaRPr lang="zh-CN" altLang="en-US" sz="3600" dirty="0"/>
          </a:p>
        </p:txBody>
      </p:sp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36876FBF-654E-DBEE-3F4A-183A248AE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zh-CN" altLang="en-US" kern="0" dirty="0"/>
              <a:t>初始时，共享变量</a:t>
            </a:r>
            <a:r>
              <a:rPr kumimoji="1" lang="en-US" altLang="zh-CN" kern="0" dirty="0"/>
              <a:t>lock</a:t>
            </a:r>
            <a:r>
              <a:rPr kumimoji="1" lang="zh-CN" altLang="en-US" kern="0" dirty="0"/>
              <a:t> </a:t>
            </a:r>
            <a:r>
              <a:rPr kumimoji="1" lang="en-US" altLang="zh-CN" kern="0" dirty="0"/>
              <a:t>=</a:t>
            </a:r>
            <a:r>
              <a:rPr kumimoji="1" lang="zh-CN" altLang="en-US" kern="0" dirty="0"/>
              <a:t> </a:t>
            </a:r>
            <a:r>
              <a:rPr kumimoji="1" lang="en-US" altLang="zh-CN" kern="0" dirty="0"/>
              <a:t>0;</a:t>
            </a:r>
          </a:p>
          <a:p>
            <a:endParaRPr kumimoji="1" lang="en-US" altLang="zh-CN" kern="0" dirty="0"/>
          </a:p>
          <a:p>
            <a:endParaRPr kumimoji="1" lang="en-US" altLang="zh-CN" kern="0" dirty="0"/>
          </a:p>
          <a:p>
            <a:endParaRPr kumimoji="1" lang="en-US" altLang="zh-CN" kern="0" dirty="0"/>
          </a:p>
          <a:p>
            <a:endParaRPr kumimoji="1" lang="en-US" altLang="zh-CN" kern="0" dirty="0"/>
          </a:p>
          <a:p>
            <a:endParaRPr kumimoji="1" lang="en-US" altLang="zh-CN" kern="0" dirty="0"/>
          </a:p>
          <a:p>
            <a:endParaRPr kumimoji="1" lang="en-US" altLang="zh-CN" kern="0" dirty="0"/>
          </a:p>
          <a:p>
            <a:endParaRPr kumimoji="1" lang="en-US" altLang="zh-CN" kern="0" dirty="0"/>
          </a:p>
          <a:p>
            <a:endParaRPr kumimoji="1" lang="en-US" altLang="zh-CN" kern="0" dirty="0"/>
          </a:p>
          <a:p>
            <a:endParaRPr kumimoji="1" lang="en-US" altLang="zh-CN" kern="0" dirty="0"/>
          </a:p>
          <a:p>
            <a:endParaRPr kumimoji="1" lang="en-US" altLang="zh-CN" kern="0" dirty="0"/>
          </a:p>
          <a:p>
            <a:r>
              <a:rPr kumimoji="1" lang="zh-CN" altLang="en-US" kern="0" dirty="0"/>
              <a:t>采用忙等</a:t>
            </a:r>
            <a:endParaRPr kumimoji="1" lang="en-US" altLang="zh-CN" kern="0" dirty="0"/>
          </a:p>
          <a:p>
            <a:r>
              <a:rPr kumimoji="1" lang="zh-CN" altLang="en-US" kern="0" dirty="0"/>
              <a:t>是否可以解决临界区问题？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DCCD69-2DED-3CFC-6D8A-49A87085E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793BED-6E46-C49D-4086-8C73AE3183F5}"/>
              </a:ext>
            </a:extLst>
          </p:cNvPr>
          <p:cNvSpPr/>
          <p:nvPr/>
        </p:nvSpPr>
        <p:spPr bwMode="auto">
          <a:xfrm>
            <a:off x="1248188" y="1602711"/>
            <a:ext cx="7044042" cy="362064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108000" rIns="91440" bIns="72000" numCol="1" rtlCol="0" anchor="ctr" anchorCtr="0" compatLnSpc="1"/>
          <a:lstStyle/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2400" b="1" dirty="0">
                <a:latin typeface="Century" panose="02040604050505020304" pitchFamily="18" charset="0"/>
              </a:rPr>
              <a:t>while (true){</a:t>
            </a:r>
            <a:br>
              <a:rPr lang="en-US" altLang="en-US" sz="2400" b="1" dirty="0">
                <a:latin typeface="Century" panose="02040604050505020304" pitchFamily="18" charset="0"/>
              </a:rPr>
            </a:br>
            <a:r>
              <a:rPr lang="en-US" altLang="en-US" sz="2400" b="1" dirty="0">
                <a:latin typeface="Century" panose="02040604050505020304" pitchFamily="18" charset="0"/>
              </a:rPr>
              <a:t>   while (</a:t>
            </a:r>
            <a:r>
              <a:rPr lang="en-US" altLang="en-US" sz="2400" b="1" dirty="0" err="1">
                <a:latin typeface="Century" panose="02040604050505020304" pitchFamily="18" charset="0"/>
              </a:rPr>
              <a:t>compare_and_swap</a:t>
            </a:r>
            <a:r>
              <a:rPr lang="en-US" altLang="en-US" sz="2400" b="1" dirty="0">
                <a:latin typeface="Century" panose="02040604050505020304" pitchFamily="18" charset="0"/>
              </a:rPr>
              <a:t>(&amp;lock, 0, 1) != 0) ; </a:t>
            </a:r>
          </a:p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2400" b="1" dirty="0">
                <a:latin typeface="Century" panose="02040604050505020304" pitchFamily="18" charset="0"/>
              </a:rPr>
              <a:t>    /* do nothing */ </a:t>
            </a:r>
            <a:br>
              <a:rPr lang="en-US" altLang="en-US" sz="2400" b="1" dirty="0">
                <a:latin typeface="Century" panose="02040604050505020304" pitchFamily="18" charset="0"/>
              </a:rPr>
            </a:br>
            <a:endParaRPr lang="en-US" altLang="en-US" sz="2400" b="1" dirty="0">
              <a:latin typeface="Century" panose="02040604050505020304" pitchFamily="18" charset="0"/>
            </a:endParaRPr>
          </a:p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2400" b="1" dirty="0">
                <a:latin typeface="Century" panose="02040604050505020304" pitchFamily="18" charset="0"/>
              </a:rPr>
              <a:t>    /* critical section */ </a:t>
            </a:r>
            <a:br>
              <a:rPr lang="en-US" altLang="en-US" sz="2400" b="1" dirty="0">
                <a:latin typeface="Century" panose="02040604050505020304" pitchFamily="18" charset="0"/>
              </a:rPr>
            </a:br>
            <a:endParaRPr lang="en-US" altLang="en-US" sz="2400" b="1" dirty="0">
              <a:latin typeface="Century" panose="02040604050505020304" pitchFamily="18" charset="0"/>
            </a:endParaRPr>
          </a:p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2400" b="1" dirty="0">
                <a:latin typeface="Century" panose="02040604050505020304" pitchFamily="18" charset="0"/>
              </a:rPr>
              <a:t>    lock = 0; </a:t>
            </a:r>
            <a:br>
              <a:rPr lang="en-US" altLang="en-US" sz="2400" b="1" dirty="0">
                <a:latin typeface="Century" panose="02040604050505020304" pitchFamily="18" charset="0"/>
              </a:rPr>
            </a:br>
            <a:endParaRPr lang="en-US" altLang="en-US" sz="2400" b="1" dirty="0">
              <a:latin typeface="Century" panose="02040604050505020304" pitchFamily="18" charset="0"/>
            </a:endParaRPr>
          </a:p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2400" b="1" dirty="0">
                <a:latin typeface="Century" panose="02040604050505020304" pitchFamily="18" charset="0"/>
              </a:rPr>
              <a:t>    /* remainder section */ </a:t>
            </a:r>
          </a:p>
          <a:p>
            <a:pPr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2400" b="1" dirty="0">
                <a:latin typeface="Century" panose="02040604050505020304" pitchFamily="18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708401138"/>
      </p:ext>
    </p:extLst>
  </p:cSld>
  <p:clrMapOvr>
    <a:masterClrMapping/>
  </p:clrMapOvr>
  <p:transition spd="med"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8B55B-866A-2087-1E32-7FE41E656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原子变量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F33996-D308-1361-13CA-024B4A7F2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/>
              <a:t>原子变量：是一种特殊的变量，它的任何单个操作</a:t>
            </a:r>
            <a:r>
              <a:rPr kumimoji="1" lang="en-US" altLang="zh-CN" dirty="0"/>
              <a:t>(</a:t>
            </a:r>
            <a:r>
              <a:rPr kumimoji="1" lang="zh-CN" altLang="en-US" dirty="0"/>
              <a:t>如读取、写入等</a:t>
            </a:r>
            <a:r>
              <a:rPr kumimoji="1" lang="en-US" altLang="zh-CN" dirty="0"/>
              <a:t>)</a:t>
            </a:r>
            <a:r>
              <a:rPr kumimoji="1" lang="zh-CN" altLang="en-US" dirty="0"/>
              <a:t>都是原子的，这些操作在执行过程中不会被其它进程打断。</a:t>
            </a:r>
          </a:p>
          <a:p>
            <a:r>
              <a:rPr kumimoji="1" lang="zh-CN" altLang="en-US" dirty="0"/>
              <a:t>例如：</a:t>
            </a:r>
          </a:p>
          <a:p>
            <a:pPr lvl="1"/>
            <a:r>
              <a:rPr kumimoji="1" lang="zh-CN" altLang="en-US" dirty="0"/>
              <a:t>假设 </a:t>
            </a:r>
            <a:r>
              <a:rPr kumimoji="1" lang="en" altLang="zh-CN" dirty="0"/>
              <a:t>sequence </a:t>
            </a:r>
            <a:r>
              <a:rPr kumimoji="1" lang="zh-CN" altLang="en-US" dirty="0"/>
              <a:t>是一个原子变量</a:t>
            </a:r>
          </a:p>
          <a:p>
            <a:pPr lvl="1"/>
            <a:r>
              <a:rPr kumimoji="1" lang="zh-CN" altLang="en-US" dirty="0"/>
              <a:t>假设 </a:t>
            </a:r>
            <a:r>
              <a:rPr kumimoji="1" lang="en" altLang="zh-CN" dirty="0"/>
              <a:t>increment() </a:t>
            </a:r>
            <a:r>
              <a:rPr kumimoji="1" lang="zh-CN" altLang="en-US" dirty="0"/>
              <a:t>是对原子变量 </a:t>
            </a:r>
            <a:r>
              <a:rPr kumimoji="1" lang="en" altLang="zh-CN" dirty="0"/>
              <a:t>sequence </a:t>
            </a:r>
            <a:r>
              <a:rPr kumimoji="1" lang="zh-CN" altLang="en-US" dirty="0"/>
              <a:t>的操作</a:t>
            </a:r>
          </a:p>
          <a:p>
            <a:r>
              <a:rPr kumimoji="1" lang="zh-CN" altLang="en-US" dirty="0"/>
              <a:t>指令：</a:t>
            </a:r>
            <a:r>
              <a:rPr kumimoji="1" lang="en" altLang="zh-CN" dirty="0"/>
              <a:t>increment(&amp;sequence);</a:t>
            </a:r>
          </a:p>
          <a:p>
            <a:pPr marL="0" indent="0">
              <a:buNone/>
            </a:pPr>
            <a:r>
              <a:rPr kumimoji="1" lang="zh-CN" altLang="en-US" dirty="0"/>
              <a:t>   可以确保 </a:t>
            </a:r>
            <a:r>
              <a:rPr kumimoji="1" lang="en" altLang="zh-CN" dirty="0"/>
              <a:t>sequence </a:t>
            </a:r>
            <a:r>
              <a:rPr kumimoji="1" lang="zh-CN" altLang="en-US" dirty="0"/>
              <a:t>在不被中断的情况下递增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F88EAF-35B5-4460-9F68-94E45EF02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2660911"/>
      </p:ext>
    </p:extLst>
  </p:cSld>
  <p:clrMapOvr>
    <a:masterClrMapping/>
  </p:clrMapOvr>
  <p:transition spd="med"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84EC2-0BB6-9DD7-E0D0-39A022CB1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原子变量的实现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0D5FD9-D7D6-BEF2-E752-9F89D8932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函数</a:t>
            </a:r>
            <a:r>
              <a:rPr kumimoji="1" lang="en-US" altLang="zh-CN" dirty="0"/>
              <a:t>increment()</a:t>
            </a:r>
            <a:r>
              <a:rPr kumimoji="1" lang="zh-CN" altLang="en-US" dirty="0"/>
              <a:t>的实现：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9DD9DF-0FF3-3C36-E707-2FF66DBCC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5F370A-CD42-DB09-ACD7-5FEA07B4C255}"/>
              </a:ext>
            </a:extLst>
          </p:cNvPr>
          <p:cNvSpPr/>
          <p:nvPr/>
        </p:nvSpPr>
        <p:spPr bwMode="auto">
          <a:xfrm>
            <a:off x="1049979" y="1935793"/>
            <a:ext cx="7044042" cy="298641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108000" rIns="91440" bIns="72000" numCol="1" rtlCol="0" anchor="ctr" anchorCtr="0" compatLnSpc="1"/>
          <a:lstStyle/>
          <a:p>
            <a:pPr marL="0" indent="0">
              <a:lnSpc>
                <a:spcPct val="150000"/>
              </a:lnSpc>
              <a:buFont typeface="Monotype Sorts" pitchFamily="-84" charset="2"/>
              <a:buNone/>
            </a:pPr>
            <a:r>
              <a:rPr lang="en-US" altLang="en-US" sz="2000" b="1" dirty="0">
                <a:latin typeface="Century" panose="02040604050505020304" pitchFamily="18" charset="0"/>
                <a:cs typeface="Courier New" panose="02070309020205020404" pitchFamily="49" charset="0"/>
              </a:rPr>
              <a:t>void increment(</a:t>
            </a:r>
            <a:r>
              <a:rPr lang="en-US" altLang="en-US" sz="2000" b="1" dirty="0" err="1">
                <a:latin typeface="Century" panose="02040604050505020304" pitchFamily="18" charset="0"/>
                <a:cs typeface="Courier New" panose="02070309020205020404" pitchFamily="49" charset="0"/>
              </a:rPr>
              <a:t>atomic_int</a:t>
            </a:r>
            <a:r>
              <a:rPr lang="en-US" altLang="en-US" sz="2000" b="1" dirty="0">
                <a:latin typeface="Century" panose="02040604050505020304" pitchFamily="18" charset="0"/>
                <a:cs typeface="Courier New" panose="02070309020205020404" pitchFamily="49" charset="0"/>
              </a:rPr>
              <a:t> *v)</a:t>
            </a:r>
            <a:br>
              <a:rPr lang="en-US" altLang="en-US" sz="2000" b="1" dirty="0">
                <a:latin typeface="Century" panose="02040604050505020304" pitchFamily="18" charset="0"/>
                <a:cs typeface="Courier New" panose="02070309020205020404" pitchFamily="49" charset="0"/>
              </a:rPr>
            </a:br>
            <a:r>
              <a:rPr lang="en-US" altLang="en-US" sz="2000" b="1" dirty="0">
                <a:latin typeface="Century" panose="02040604050505020304" pitchFamily="18" charset="0"/>
                <a:cs typeface="Courier New" panose="02070309020205020404" pitchFamily="49" charset="0"/>
              </a:rPr>
              <a:t>{</a:t>
            </a:r>
            <a:br>
              <a:rPr lang="en-US" altLang="en-US" sz="2000" b="1" dirty="0">
                <a:latin typeface="Century" panose="02040604050505020304" pitchFamily="18" charset="0"/>
                <a:cs typeface="Courier New" panose="02070309020205020404" pitchFamily="49" charset="0"/>
              </a:rPr>
            </a:br>
            <a:r>
              <a:rPr lang="zh-CN" altLang="en-US" sz="2000" b="1" dirty="0">
                <a:latin typeface="Century" panose="02040604050505020304" pitchFamily="18" charset="0"/>
                <a:cs typeface="Courier New" panose="02070309020205020404" pitchFamily="49" charset="0"/>
              </a:rPr>
              <a:t>  </a:t>
            </a:r>
            <a:r>
              <a:rPr lang="en-US" altLang="en-US" sz="2000" b="1" dirty="0">
                <a:latin typeface="Century" panose="02040604050505020304" pitchFamily="18" charset="0"/>
                <a:cs typeface="Courier New" panose="02070309020205020404" pitchFamily="49" charset="0"/>
              </a:rPr>
              <a:t>int temp;</a:t>
            </a:r>
            <a:br>
              <a:rPr lang="en-US" altLang="en-US" sz="2000" b="1" dirty="0">
                <a:latin typeface="Century" panose="02040604050505020304" pitchFamily="18" charset="0"/>
                <a:cs typeface="Courier New" panose="02070309020205020404" pitchFamily="49" charset="0"/>
              </a:rPr>
            </a:br>
            <a:r>
              <a:rPr lang="zh-CN" altLang="en-US" sz="2000" b="1" dirty="0">
                <a:latin typeface="Century" panose="02040604050505020304" pitchFamily="18" charset="0"/>
                <a:cs typeface="Courier New" panose="02070309020205020404" pitchFamily="49" charset="0"/>
              </a:rPr>
              <a:t>  </a:t>
            </a:r>
            <a:r>
              <a:rPr lang="en-US" altLang="en-US" sz="2000" b="1" dirty="0">
                <a:latin typeface="Century" panose="02040604050505020304" pitchFamily="18" charset="0"/>
                <a:cs typeface="Courier New" panose="02070309020205020404" pitchFamily="49" charset="0"/>
              </a:rPr>
              <a:t>do {</a:t>
            </a:r>
          </a:p>
          <a:p>
            <a:pPr marL="0" indent="0">
              <a:lnSpc>
                <a:spcPct val="150000"/>
              </a:lnSpc>
              <a:buFont typeface="Monotype Sorts" pitchFamily="-84" charset="2"/>
              <a:buNone/>
            </a:pPr>
            <a:r>
              <a:rPr lang="zh-CN" altLang="en-US" sz="2000" b="1" dirty="0">
                <a:latin typeface="Century" panose="02040604050505020304" pitchFamily="18" charset="0"/>
                <a:cs typeface="Courier New" panose="02070309020205020404" pitchFamily="49" charset="0"/>
              </a:rPr>
              <a:t>      </a:t>
            </a:r>
            <a:r>
              <a:rPr lang="en-US" altLang="en-US" sz="2000" b="1" dirty="0">
                <a:latin typeface="Century" panose="02040604050505020304" pitchFamily="18" charset="0"/>
                <a:cs typeface="Courier New" panose="02070309020205020404" pitchFamily="49" charset="0"/>
              </a:rPr>
              <a:t>temp = *v;</a:t>
            </a:r>
            <a:br>
              <a:rPr lang="en-US" altLang="en-US" sz="2000" b="1" dirty="0">
                <a:latin typeface="Century" panose="02040604050505020304" pitchFamily="18" charset="0"/>
                <a:cs typeface="Courier New" panose="02070309020205020404" pitchFamily="49" charset="0"/>
              </a:rPr>
            </a:br>
            <a:r>
              <a:rPr lang="zh-CN" altLang="en-US" sz="2000" b="1" dirty="0">
                <a:latin typeface="Century" panose="02040604050505020304" pitchFamily="18" charset="0"/>
                <a:cs typeface="Courier New" panose="02070309020205020404" pitchFamily="49" charset="0"/>
              </a:rPr>
              <a:t>  </a:t>
            </a:r>
            <a:r>
              <a:rPr lang="en-US" altLang="en-US" sz="2000" b="1" dirty="0">
                <a:latin typeface="Century" panose="02040604050505020304" pitchFamily="18" charset="0"/>
                <a:cs typeface="Courier New" panose="02070309020205020404" pitchFamily="49" charset="0"/>
              </a:rPr>
              <a:t>}while (temp != (</a:t>
            </a:r>
            <a:r>
              <a:rPr lang="en-US" altLang="en-US" sz="2000" b="1" dirty="0" err="1">
                <a:latin typeface="Century" panose="02040604050505020304" pitchFamily="18" charset="0"/>
                <a:cs typeface="Courier New" panose="02070309020205020404" pitchFamily="49" charset="0"/>
              </a:rPr>
              <a:t>compare_and_swap</a:t>
            </a:r>
            <a:r>
              <a:rPr lang="en-US" altLang="en-US" sz="2000" b="1" dirty="0">
                <a:latin typeface="Century" panose="02040604050505020304" pitchFamily="18" charset="0"/>
                <a:cs typeface="Courier New" panose="02070309020205020404" pitchFamily="49" charset="0"/>
              </a:rPr>
              <a:t>(v,temp,temp+1));</a:t>
            </a:r>
            <a:br>
              <a:rPr lang="en-US" altLang="en-US" sz="2000" b="1" dirty="0">
                <a:latin typeface="Century" panose="02040604050505020304" pitchFamily="18" charset="0"/>
                <a:cs typeface="Courier New" panose="02070309020205020404" pitchFamily="49" charset="0"/>
              </a:rPr>
            </a:br>
            <a:r>
              <a:rPr lang="en-US" altLang="en-US" sz="2000" b="1" dirty="0">
                <a:latin typeface="Century" panose="02040604050505020304" pitchFamily="18" charset="0"/>
                <a:cs typeface="Courier New" panose="02070309020205020404" pitchFamily="49" charset="0"/>
              </a:rPr>
              <a:t>}</a:t>
            </a:r>
            <a:endParaRPr lang="en-US" altLang="en-US" sz="2000" b="1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684734"/>
      </p:ext>
    </p:extLst>
  </p:cSld>
  <p:clrMapOvr>
    <a:masterClrMapping/>
  </p:clrMapOvr>
  <p:transition spd="med"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22A0C7-EE76-C673-A922-0BA13592C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原子变量的使用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F40C7A-5C7B-738E-156F-88252F55B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5217416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zh-CN" altLang="en-US" dirty="0"/>
              <a:t>在</a:t>
            </a:r>
            <a:r>
              <a:rPr kumimoji="1" lang="en" altLang="zh-CN" dirty="0"/>
              <a:t>C++11</a:t>
            </a:r>
            <a:r>
              <a:rPr kumimoji="1" lang="zh-CN" altLang="en-US" dirty="0"/>
              <a:t>中</a:t>
            </a:r>
            <a:r>
              <a:rPr kumimoji="1" lang="en-US" altLang="zh-CN" dirty="0"/>
              <a:t>,</a:t>
            </a:r>
            <a:r>
              <a:rPr kumimoji="1" lang="zh-CN" altLang="en-US" dirty="0"/>
              <a:t>可以使用</a:t>
            </a:r>
            <a:r>
              <a:rPr kumimoji="1" lang="en" altLang="zh-CN" dirty="0"/>
              <a:t>std::atomic</a:t>
            </a:r>
            <a:r>
              <a:rPr kumimoji="1" lang="zh-CN" altLang="en-US" dirty="0"/>
              <a:t>模板来定义原子变量</a:t>
            </a:r>
            <a:r>
              <a:rPr kumimoji="1" lang="en-US" altLang="zh-CN" dirty="0"/>
              <a:t>,</a:t>
            </a:r>
            <a:r>
              <a:rPr kumimoji="1" lang="zh-CN" altLang="en-US" dirty="0"/>
              <a:t>保证对该变量的访问是原子的。</a:t>
            </a:r>
            <a:endParaRPr kumimoji="1" lang="en-US" altLang="zh-CN" dirty="0"/>
          </a:p>
          <a:p>
            <a:pPr>
              <a:lnSpc>
                <a:spcPct val="120000"/>
              </a:lnSpc>
            </a:pPr>
            <a:endParaRPr kumimoji="1" lang="en-US" altLang="zh-CN" dirty="0"/>
          </a:p>
          <a:p>
            <a:pPr>
              <a:lnSpc>
                <a:spcPct val="120000"/>
              </a:lnSpc>
            </a:pPr>
            <a:endParaRPr kumimoji="1" lang="en-US" altLang="zh-CN" dirty="0"/>
          </a:p>
          <a:p>
            <a:pPr>
              <a:lnSpc>
                <a:spcPct val="120000"/>
              </a:lnSpc>
            </a:pPr>
            <a:endParaRPr kumimoji="1" lang="en-US" altLang="zh-CN" dirty="0"/>
          </a:p>
          <a:p>
            <a:pPr>
              <a:lnSpc>
                <a:spcPct val="120000"/>
              </a:lnSpc>
            </a:pPr>
            <a:endParaRPr kumimoji="1" lang="en-US" altLang="zh-CN" dirty="0"/>
          </a:p>
          <a:p>
            <a:pPr>
              <a:lnSpc>
                <a:spcPct val="120000"/>
              </a:lnSpc>
            </a:pPr>
            <a:endParaRPr kumimoji="1" lang="en-US" altLang="zh-CN" dirty="0"/>
          </a:p>
          <a:p>
            <a:pPr>
              <a:lnSpc>
                <a:spcPct val="120000"/>
              </a:lnSpc>
            </a:pPr>
            <a:endParaRPr kumimoji="1" lang="en-US" altLang="zh-CN" dirty="0"/>
          </a:p>
          <a:p>
            <a:pPr>
              <a:lnSpc>
                <a:spcPct val="120000"/>
              </a:lnSpc>
            </a:pPr>
            <a:endParaRPr kumimoji="1" lang="en-US" altLang="zh-CN" dirty="0"/>
          </a:p>
          <a:p>
            <a:pPr>
              <a:lnSpc>
                <a:spcPct val="120000"/>
              </a:lnSpc>
            </a:pPr>
            <a:endParaRPr kumimoji="1" lang="en-US" altLang="zh-CN" dirty="0"/>
          </a:p>
          <a:p>
            <a:pPr>
              <a:lnSpc>
                <a:spcPct val="120000"/>
              </a:lnSpc>
            </a:pPr>
            <a:endParaRPr kumimoji="1" lang="en-US" altLang="zh-CN" dirty="0"/>
          </a:p>
          <a:p>
            <a:pPr>
              <a:lnSpc>
                <a:spcPct val="120000"/>
              </a:lnSpc>
            </a:pPr>
            <a:endParaRPr kumimoji="1" lang="en-US" altLang="zh-CN" dirty="0"/>
          </a:p>
          <a:p>
            <a:pPr>
              <a:lnSpc>
                <a:spcPct val="120000"/>
              </a:lnSpc>
            </a:pPr>
            <a:r>
              <a:rPr kumimoji="1" lang="en-US" altLang="zh-CN" b="1" dirty="0" err="1">
                <a:solidFill>
                  <a:srgbClr val="FF0000"/>
                </a:solidFill>
              </a:rPr>
              <a:t>fetch_add</a:t>
            </a:r>
            <a:r>
              <a:rPr kumimoji="1" lang="zh-CN" altLang="en-US" dirty="0"/>
              <a:t>和</a:t>
            </a:r>
            <a:r>
              <a:rPr kumimoji="1" lang="en-US" altLang="zh-CN" b="1" dirty="0" err="1">
                <a:solidFill>
                  <a:srgbClr val="FF0000"/>
                </a:solidFill>
              </a:rPr>
              <a:t>fetch_sub</a:t>
            </a:r>
            <a:r>
              <a:rPr kumimoji="1" lang="zh-CN" altLang="en-US" dirty="0"/>
              <a:t>这两个原子操作对整数</a:t>
            </a:r>
            <a:r>
              <a:rPr kumimoji="1" lang="en-US" altLang="zh-CN" dirty="0"/>
              <a:t>counter</a:t>
            </a:r>
            <a:r>
              <a:rPr kumimoji="1" lang="zh-CN" altLang="en-US" dirty="0"/>
              <a:t>进行原子增减</a:t>
            </a:r>
            <a:endParaRPr kumimoji="1" lang="en-US" altLang="zh-CN" dirty="0"/>
          </a:p>
          <a:p>
            <a:pPr>
              <a:lnSpc>
                <a:spcPct val="120000"/>
              </a:lnSpc>
            </a:pPr>
            <a:r>
              <a:rPr kumimoji="1" lang="en-US" altLang="zh-CN" dirty="0"/>
              <a:t>std::atomic</a:t>
            </a:r>
            <a:r>
              <a:rPr kumimoji="1" lang="zh-CN" altLang="en-US" dirty="0"/>
              <a:t>还提供了</a:t>
            </a:r>
            <a:r>
              <a:rPr kumimoji="1" lang="en-US" altLang="zh-CN" dirty="0"/>
              <a:t>load</a:t>
            </a:r>
            <a:r>
              <a:rPr kumimoji="1" lang="zh-CN" altLang="en-US" dirty="0"/>
              <a:t>、</a:t>
            </a:r>
            <a:r>
              <a:rPr kumimoji="1" lang="en-US" altLang="zh-CN" dirty="0"/>
              <a:t>store</a:t>
            </a:r>
            <a:r>
              <a:rPr kumimoji="1" lang="zh-CN" altLang="en-US" dirty="0"/>
              <a:t>、</a:t>
            </a:r>
            <a:r>
              <a:rPr kumimoji="1" lang="en-US" altLang="zh-CN" dirty="0"/>
              <a:t>exchange</a:t>
            </a:r>
            <a:r>
              <a:rPr kumimoji="1" lang="zh-CN" altLang="en-US" dirty="0"/>
              <a:t>等原子操作</a:t>
            </a:r>
            <a:r>
              <a:rPr kumimoji="1" lang="en-US" altLang="zh-CN" dirty="0"/>
              <a:t>,</a:t>
            </a:r>
            <a:r>
              <a:rPr kumimoji="1" lang="zh-CN" altLang="en-US" dirty="0"/>
              <a:t>可以原子地读写变量</a:t>
            </a:r>
            <a:endParaRPr kumimoji="1" lang="en-US" altLang="zh-CN" dirty="0"/>
          </a:p>
          <a:p>
            <a:pPr>
              <a:lnSpc>
                <a:spcPct val="120000"/>
              </a:lnSpc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55EFEF-455D-212A-454B-A0CDEE47B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B69B65-EF8E-B2CA-33A8-7AD877C5DE8B}"/>
              </a:ext>
            </a:extLst>
          </p:cNvPr>
          <p:cNvSpPr/>
          <p:nvPr/>
        </p:nvSpPr>
        <p:spPr bwMode="auto">
          <a:xfrm>
            <a:off x="1164920" y="1938532"/>
            <a:ext cx="7044042" cy="325650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108000" rIns="91440" bIns="72000" numCol="1" rtlCol="0" anchor="ctr" anchorCtr="0" compatLnSpc="1"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900" b="1" dirty="0">
                <a:latin typeface="Century" panose="02040604050505020304" pitchFamily="18" charset="0"/>
                <a:cs typeface="Courier New" panose="02070309020205020404" pitchFamily="49" charset="0"/>
              </a:rPr>
              <a:t>#include &lt;atomic&gt; </a:t>
            </a:r>
          </a:p>
          <a:p>
            <a:pPr marL="0" indent="0">
              <a:buFont typeface="Monotype Sorts" pitchFamily="-84" charset="2"/>
              <a:buNone/>
            </a:pPr>
            <a:endParaRPr lang="en-US" altLang="en-US" sz="1900" b="1" dirty="0">
              <a:latin typeface="Century" panose="02040604050505020304" pitchFamily="18" charset="0"/>
              <a:cs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900" b="1" dirty="0">
                <a:latin typeface="Century" panose="02040604050505020304" pitchFamily="18" charset="0"/>
                <a:cs typeface="Courier New" panose="02070309020205020404" pitchFamily="49" charset="0"/>
              </a:rPr>
              <a:t>std::atomic&lt;int&gt; counter(0); // </a:t>
            </a:r>
            <a:r>
              <a:rPr lang="zh-CN" altLang="en-US" sz="1900" b="1" dirty="0">
                <a:latin typeface="Century" panose="02040604050505020304" pitchFamily="18" charset="0"/>
                <a:cs typeface="Courier New" panose="02070309020205020404" pitchFamily="49" charset="0"/>
              </a:rPr>
              <a:t>定义一个原子整型变量</a:t>
            </a:r>
          </a:p>
          <a:p>
            <a:pPr marL="0" indent="0">
              <a:buFont typeface="Monotype Sorts" pitchFamily="-84" charset="2"/>
              <a:buNone/>
            </a:pPr>
            <a:endParaRPr lang="zh-CN" altLang="en-US" sz="1900" b="1" dirty="0">
              <a:latin typeface="Century" panose="02040604050505020304" pitchFamily="18" charset="0"/>
              <a:cs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900" b="1" dirty="0">
                <a:latin typeface="Century" panose="02040604050505020304" pitchFamily="18" charset="0"/>
                <a:cs typeface="Courier New" panose="02070309020205020404" pitchFamily="49" charset="0"/>
              </a:rPr>
              <a:t>void increment() {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900" b="1" dirty="0">
                <a:latin typeface="Century" panose="02040604050505020304" pitchFamily="18" charset="0"/>
                <a:cs typeface="Courier New" panose="02070309020205020404" pitchFamily="49" charset="0"/>
              </a:rPr>
              <a:t>  </a:t>
            </a:r>
            <a:r>
              <a:rPr lang="en-US" altLang="en-US" sz="1900" b="1" dirty="0" err="1">
                <a:latin typeface="Century" panose="02040604050505020304" pitchFamily="18" charset="0"/>
                <a:cs typeface="Courier New" panose="02070309020205020404" pitchFamily="49" charset="0"/>
              </a:rPr>
              <a:t>counter.fetch_add</a:t>
            </a:r>
            <a:r>
              <a:rPr lang="en-US" altLang="en-US" sz="1900" b="1" dirty="0">
                <a:latin typeface="Century" panose="02040604050505020304" pitchFamily="18" charset="0"/>
                <a:cs typeface="Courier New" panose="02070309020205020404" pitchFamily="49" charset="0"/>
              </a:rPr>
              <a:t>(1); // </a:t>
            </a:r>
            <a:r>
              <a:rPr lang="zh-CN" altLang="en-US" sz="1900" b="1" dirty="0">
                <a:latin typeface="Century" panose="02040604050505020304" pitchFamily="18" charset="0"/>
                <a:cs typeface="Courier New" panose="02070309020205020404" pitchFamily="49" charset="0"/>
              </a:rPr>
              <a:t>原子地递增变量值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zh-CN" sz="1900" b="1" dirty="0">
                <a:latin typeface="Century" panose="02040604050505020304" pitchFamily="18" charset="0"/>
                <a:cs typeface="Courier New" panose="02070309020205020404" pitchFamily="49" charset="0"/>
              </a:rPr>
              <a:t>} </a:t>
            </a:r>
          </a:p>
          <a:p>
            <a:pPr marL="0" indent="0">
              <a:buFont typeface="Monotype Sorts" pitchFamily="-84" charset="2"/>
              <a:buNone/>
            </a:pPr>
            <a:endParaRPr lang="en-US" altLang="zh-CN" sz="1900" b="1" dirty="0">
              <a:latin typeface="Century" panose="02040604050505020304" pitchFamily="18" charset="0"/>
              <a:cs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900" b="1" dirty="0">
                <a:latin typeface="Century" panose="02040604050505020304" pitchFamily="18" charset="0"/>
                <a:cs typeface="Courier New" panose="02070309020205020404" pitchFamily="49" charset="0"/>
              </a:rPr>
              <a:t>void decrement() {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900" b="1" dirty="0">
                <a:latin typeface="Century" panose="02040604050505020304" pitchFamily="18" charset="0"/>
                <a:cs typeface="Courier New" panose="02070309020205020404" pitchFamily="49" charset="0"/>
              </a:rPr>
              <a:t>  </a:t>
            </a:r>
            <a:r>
              <a:rPr lang="en-US" altLang="en-US" sz="1900" b="1" dirty="0" err="1">
                <a:latin typeface="Century" panose="02040604050505020304" pitchFamily="18" charset="0"/>
                <a:cs typeface="Courier New" panose="02070309020205020404" pitchFamily="49" charset="0"/>
              </a:rPr>
              <a:t>counter.fetch_sub</a:t>
            </a:r>
            <a:r>
              <a:rPr lang="en-US" altLang="en-US" sz="1900" b="1" dirty="0">
                <a:latin typeface="Century" panose="02040604050505020304" pitchFamily="18" charset="0"/>
                <a:cs typeface="Courier New" panose="02070309020205020404" pitchFamily="49" charset="0"/>
              </a:rPr>
              <a:t>(1); // </a:t>
            </a:r>
            <a:r>
              <a:rPr lang="zh-CN" altLang="en-US" sz="1900" b="1" dirty="0">
                <a:latin typeface="Century" panose="02040604050505020304" pitchFamily="18" charset="0"/>
                <a:cs typeface="Courier New" panose="02070309020205020404" pitchFamily="49" charset="0"/>
              </a:rPr>
              <a:t>原子地递减变量值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zh-CN" sz="1900" b="1" dirty="0">
                <a:latin typeface="Century" panose="02040604050505020304" pitchFamily="18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6867553"/>
      </p:ext>
    </p:extLst>
  </p:cSld>
  <p:clrMapOvr>
    <a:masterClrMapping/>
  </p:clrMapOvr>
  <p:transition spd="med"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3D06EF-5F3E-282C-55EE-631F591D5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锁机制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C2BAA8-6536-D9FE-C232-644B46E0D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zh-CN" altLang="en-US" dirty="0"/>
              <a:t>硬件指令解决临界区问题逻辑复杂，且不易移植</a:t>
            </a:r>
          </a:p>
          <a:p>
            <a:r>
              <a:rPr kumimoji="1" lang="zh-CN" altLang="en-US" dirty="0"/>
              <a:t>操作系统设计者构建了软件工具来解决临界区问题</a:t>
            </a:r>
          </a:p>
          <a:p>
            <a:r>
              <a:rPr kumimoji="1" lang="zh-CN" altLang="en-US" dirty="0"/>
              <a:t>最简单的是互斥锁</a:t>
            </a:r>
          </a:p>
          <a:p>
            <a:pPr lvl="1"/>
            <a:r>
              <a:rPr kumimoji="1" lang="zh-CN" altLang="en-US" dirty="0"/>
              <a:t>布尔变量表示锁是否可用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互斥锁是在硬件指令上进行的封装，提供了更高级的互斥语义</a:t>
            </a:r>
          </a:p>
          <a:p>
            <a:r>
              <a:rPr kumimoji="1" lang="zh-CN" altLang="en-US" dirty="0"/>
              <a:t>互斥锁提供两个操作：</a:t>
            </a:r>
          </a:p>
          <a:p>
            <a:pPr lvl="1"/>
            <a:r>
              <a:rPr kumimoji="1" lang="zh-CN" altLang="en-US" dirty="0"/>
              <a:t>获取锁 </a:t>
            </a:r>
            <a:r>
              <a:rPr kumimoji="1" lang="en-US" altLang="zh-CN" dirty="0"/>
              <a:t>acquire()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释放锁 </a:t>
            </a:r>
            <a:r>
              <a:rPr kumimoji="1" lang="en-US" altLang="zh-CN" dirty="0"/>
              <a:t>release()</a:t>
            </a:r>
            <a:endParaRPr kumimoji="1" lang="zh-CN" altLang="en-US" dirty="0"/>
          </a:p>
          <a:p>
            <a:r>
              <a:rPr kumimoji="1" lang="en-US" altLang="zh-CN" dirty="0"/>
              <a:t>acquire()</a:t>
            </a:r>
            <a:r>
              <a:rPr kumimoji="1" lang="zh-CN" altLang="en-US" dirty="0"/>
              <a:t>和</a:t>
            </a:r>
            <a:r>
              <a:rPr kumimoji="1" lang="en-US" altLang="zh-CN" dirty="0"/>
              <a:t>release()</a:t>
            </a:r>
            <a:r>
              <a:rPr kumimoji="1" lang="zh-CN" altLang="en-US" dirty="0"/>
              <a:t>是原子执行的</a:t>
            </a:r>
          </a:p>
          <a:p>
            <a:pPr lvl="1"/>
            <a:r>
              <a:rPr kumimoji="1" lang="zh-CN" altLang="en-US" dirty="0"/>
              <a:t>通常通过硬件原子指令（例如</a:t>
            </a:r>
            <a:r>
              <a:rPr lang="en-US" altLang="en-US" dirty="0"/>
              <a:t>compare-and-swap </a:t>
            </a:r>
            <a:r>
              <a:rPr kumimoji="1" lang="zh-CN" altLang="en-US" dirty="0"/>
              <a:t>）实现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36889E-C747-1C53-4995-3446F7A4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6633046"/>
      </p:ext>
    </p:extLst>
  </p:cSld>
  <p:clrMapOvr>
    <a:masterClrMapping/>
  </p:clrMapOvr>
  <p:transition spd="med"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FE9DC0-71EC-F94C-3F7E-D97CFBE3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互斥锁解决临界区问题</a:t>
            </a: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00BB09A0-CE6A-D870-4599-D3ED74DCE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进程</a:t>
            </a:r>
            <a:r>
              <a:rPr lang="en-US" altLang="zh-CN" dirty="0"/>
              <a:t>P</a:t>
            </a:r>
            <a:r>
              <a:rPr lang="en-US" altLang="zh-CN" baseline="-25000" dirty="0"/>
              <a:t>i</a:t>
            </a:r>
            <a:r>
              <a:rPr lang="zh-CN" altLang="en-US" dirty="0"/>
              <a:t>的代码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A79804-867E-B957-189D-698E8075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33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7E0294-2BFA-882B-8864-BD39814CC1FA}"/>
              </a:ext>
            </a:extLst>
          </p:cNvPr>
          <p:cNvSpPr/>
          <p:nvPr/>
        </p:nvSpPr>
        <p:spPr bwMode="auto">
          <a:xfrm>
            <a:off x="1042988" y="1906565"/>
            <a:ext cx="7044042" cy="31664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108000" rIns="91440" bIns="72000" numCol="1" rtlCol="0" anchor="ctr" anchorCtr="0" compatLnSpc="1"/>
          <a:lstStyle/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endParaRPr lang="en-US" altLang="en-US" sz="2000" b="1" dirty="0">
              <a:solidFill>
                <a:srgbClr val="000000"/>
              </a:solidFill>
              <a:latin typeface="Century" panose="02040604050505020304" pitchFamily="18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	acquire lock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			</a:t>
            </a:r>
          </a:p>
          <a:p>
            <a:pPr>
              <a:buFont typeface="Monotype Sorts" pitchFamily="-84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            </a:t>
            </a:r>
            <a:r>
              <a:rPr lang="en-US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critical section </a:t>
            </a:r>
          </a:p>
          <a:p>
            <a:pPr>
              <a:buFont typeface="Monotype Sorts" pitchFamily="-84" charset="2"/>
              <a:buNone/>
            </a:pPr>
            <a:endParaRPr lang="en-US" altLang="en-US" sz="2000" b="1" dirty="0">
              <a:solidFill>
                <a:srgbClr val="000000"/>
              </a:solidFill>
              <a:latin typeface="Century" panose="02040604050505020304" pitchFamily="18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	release lock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	</a:t>
            </a:r>
          </a:p>
          <a:p>
            <a:pPr>
              <a:buFont typeface="Monotype Sorts" pitchFamily="-84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            </a:t>
            </a:r>
            <a:r>
              <a:rPr lang="en-US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remainder section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}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917B4B-1C18-61DE-44F9-E132D240F741}"/>
              </a:ext>
            </a:extLst>
          </p:cNvPr>
          <p:cNvSpPr/>
          <p:nvPr/>
        </p:nvSpPr>
        <p:spPr bwMode="auto">
          <a:xfrm>
            <a:off x="1803748" y="2530257"/>
            <a:ext cx="2029216" cy="526094"/>
          </a:xfrm>
          <a:prstGeom prst="rect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342900" marR="0" indent="-34290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7A8BB2-40E6-22BC-5312-CD8E420DC097}"/>
              </a:ext>
            </a:extLst>
          </p:cNvPr>
          <p:cNvSpPr/>
          <p:nvPr/>
        </p:nvSpPr>
        <p:spPr bwMode="auto">
          <a:xfrm>
            <a:off x="1803748" y="3709789"/>
            <a:ext cx="2029216" cy="526094"/>
          </a:xfrm>
          <a:prstGeom prst="rect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342900" marR="0" indent="-34290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5962553"/>
      </p:ext>
    </p:extLst>
  </p:cSld>
  <p:clrMapOvr>
    <a:masterClrMapping/>
  </p:clrMapOvr>
  <p:transition spd="med"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52056-03E0-D429-3921-30C158D61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Pthread</a:t>
            </a:r>
            <a:r>
              <a:rPr kumimoji="1" lang="zh-CN" altLang="en-US" dirty="0"/>
              <a:t>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1E1418-259C-CE44-BCF1-19382A74D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POSIX</a:t>
            </a:r>
            <a:r>
              <a:rPr kumimoji="1" lang="zh-CN" altLang="en-US" dirty="0"/>
              <a:t>库将锁称为互斥量</a:t>
            </a:r>
            <a:r>
              <a:rPr kumimoji="1" lang="en-US" altLang="zh-CN" dirty="0"/>
              <a:t>(mutex)</a:t>
            </a:r>
            <a:r>
              <a:rPr kumimoji="1" lang="zh-CN" altLang="en-US" dirty="0"/>
              <a:t>，它被用来提供线程之间的互斥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POSIX</a:t>
            </a:r>
            <a:r>
              <a:rPr kumimoji="1" lang="zh-CN" altLang="en-US" dirty="0"/>
              <a:t>的</a:t>
            </a:r>
            <a:r>
              <a:rPr kumimoji="1" lang="en-US" altLang="zh-CN" dirty="0"/>
              <a:t>lock</a:t>
            </a:r>
            <a:r>
              <a:rPr kumimoji="1" lang="zh-CN" altLang="en-US" dirty="0"/>
              <a:t>和</a:t>
            </a:r>
            <a:r>
              <a:rPr kumimoji="1" lang="en-US" altLang="zh-CN" dirty="0"/>
              <a:t>unlock</a:t>
            </a:r>
            <a:r>
              <a:rPr kumimoji="1" lang="zh-CN" altLang="en-US" dirty="0"/>
              <a:t>函数会传入一个变量，因此可以用不同的锁来保护不同的变量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088F5B-B746-00F0-7F37-FAD1D140D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34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08C9C3-F209-2B0A-A04C-B8EB86C1880A}"/>
              </a:ext>
            </a:extLst>
          </p:cNvPr>
          <p:cNvSpPr/>
          <p:nvPr/>
        </p:nvSpPr>
        <p:spPr bwMode="auto">
          <a:xfrm>
            <a:off x="1238251" y="2332450"/>
            <a:ext cx="7165974" cy="16257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108000" rIns="91440" bIns="72000" numCol="1" rtlCol="0" anchor="ctr" anchorCtr="0" compatLnSpc="1"/>
          <a:lstStyle/>
          <a:p>
            <a:r>
              <a:rPr lang="en-US" altLang="zh-CN" dirty="0">
                <a:effectLst/>
                <a:latin typeface="Century" panose="02040604050505020304" pitchFamily="18" charset="0"/>
              </a:rPr>
              <a:t>1</a:t>
            </a:r>
            <a:r>
              <a:rPr lang="zh-CN" altLang="en-US" dirty="0">
                <a:effectLst/>
                <a:latin typeface="Century" panose="02040604050505020304" pitchFamily="18" charset="0"/>
              </a:rPr>
              <a:t> </a:t>
            </a:r>
            <a:r>
              <a:rPr lang="en" altLang="zh-CN" dirty="0" err="1">
                <a:effectLst/>
                <a:latin typeface="Century" panose="02040604050505020304" pitchFamily="18" charset="0"/>
              </a:rPr>
              <a:t>pthread_mutex_t</a:t>
            </a:r>
            <a:r>
              <a:rPr lang="en" altLang="zh-CN" dirty="0">
                <a:effectLst/>
                <a:latin typeface="Century" panose="02040604050505020304" pitchFamily="18" charset="0"/>
              </a:rPr>
              <a:t> lock = PTHREAD_MUTEX_INITIALIZER; </a:t>
            </a:r>
          </a:p>
          <a:p>
            <a:r>
              <a:rPr lang="en" altLang="zh-CN" dirty="0">
                <a:effectLst/>
                <a:latin typeface="Century" panose="02040604050505020304" pitchFamily="18" charset="0"/>
              </a:rPr>
              <a:t>2 </a:t>
            </a:r>
            <a:endParaRPr lang="en" altLang="zh-CN" dirty="0">
              <a:latin typeface="Century" panose="02040604050505020304" pitchFamily="18" charset="0"/>
            </a:endParaRPr>
          </a:p>
          <a:p>
            <a:r>
              <a:rPr lang="en-US" altLang="zh-CN" dirty="0">
                <a:latin typeface="Century" panose="02040604050505020304" pitchFamily="18" charset="0"/>
              </a:rPr>
              <a:t>3</a:t>
            </a:r>
            <a:r>
              <a:rPr lang="zh-CN" altLang="en-US" dirty="0">
                <a:latin typeface="Century" panose="02040604050505020304" pitchFamily="18" charset="0"/>
              </a:rPr>
              <a:t> </a:t>
            </a:r>
            <a:r>
              <a:rPr lang="en" altLang="zh-CN" dirty="0" err="1">
                <a:effectLst/>
                <a:latin typeface="Century" panose="02040604050505020304" pitchFamily="18" charset="0"/>
              </a:rPr>
              <a:t>Pthread_mutex_lock</a:t>
            </a:r>
            <a:r>
              <a:rPr lang="en" altLang="zh-CN" dirty="0">
                <a:effectLst/>
                <a:latin typeface="Century" panose="02040604050505020304" pitchFamily="18" charset="0"/>
              </a:rPr>
              <a:t>(&amp;lock); // wrapper for </a:t>
            </a:r>
            <a:r>
              <a:rPr lang="en" altLang="zh-CN" dirty="0" err="1">
                <a:effectLst/>
                <a:latin typeface="Century" panose="02040604050505020304" pitchFamily="18" charset="0"/>
              </a:rPr>
              <a:t>pthread_mutex_lock</a:t>
            </a:r>
            <a:r>
              <a:rPr lang="en" altLang="zh-CN" dirty="0">
                <a:effectLst/>
                <a:latin typeface="Century" panose="02040604050505020304" pitchFamily="18" charset="0"/>
              </a:rPr>
              <a:t>() </a:t>
            </a:r>
          </a:p>
          <a:p>
            <a:r>
              <a:rPr lang="en" altLang="zh-CN" dirty="0">
                <a:effectLst/>
                <a:latin typeface="Century" panose="02040604050505020304" pitchFamily="18" charset="0"/>
              </a:rPr>
              <a:t>4 balance = balance + 1; </a:t>
            </a:r>
          </a:p>
          <a:p>
            <a:r>
              <a:rPr lang="en" altLang="zh-CN" dirty="0">
                <a:effectLst/>
                <a:latin typeface="Century" panose="02040604050505020304" pitchFamily="18" charset="0"/>
              </a:rPr>
              <a:t>5 </a:t>
            </a:r>
            <a:r>
              <a:rPr lang="en" altLang="zh-CN" dirty="0" err="1">
                <a:effectLst/>
                <a:latin typeface="Century" panose="02040604050505020304" pitchFamily="18" charset="0"/>
              </a:rPr>
              <a:t>Pthread_mutex_unlock</a:t>
            </a:r>
            <a:r>
              <a:rPr lang="en" altLang="zh-CN" dirty="0">
                <a:effectLst/>
                <a:latin typeface="Century" panose="02040604050505020304" pitchFamily="18" charset="0"/>
              </a:rPr>
              <a:t>(&amp;lock); </a:t>
            </a:r>
          </a:p>
        </p:txBody>
      </p:sp>
    </p:spTree>
    <p:extLst>
      <p:ext uri="{BB962C8B-B14F-4D97-AF65-F5344CB8AC3E}">
        <p14:creationId xmlns:p14="http://schemas.microsoft.com/office/powerpoint/2010/main" val="594582003"/>
      </p:ext>
    </p:extLst>
  </p:cSld>
  <p:clrMapOvr>
    <a:masterClrMapping/>
  </p:clrMapOvr>
  <p:transition spd="med"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A6596E-0530-CD53-EF45-7D850CFC8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怎样实现一个锁？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B47D15-90DE-EFD8-8A41-A530E1630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如何评价锁的效果？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提供互斥 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 基本任务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公平 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 是否有公平机会抢到锁，没有饥饿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性能 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 时间开销</a:t>
            </a:r>
            <a:endParaRPr kumimoji="1" lang="en-US" altLang="zh-CN" dirty="0"/>
          </a:p>
          <a:p>
            <a:r>
              <a:rPr kumimoji="1" lang="zh-CN" altLang="en-US" dirty="0"/>
              <a:t>开锁和关锁</a:t>
            </a:r>
            <a:r>
              <a:rPr kumimoji="1" lang="zh-CN" altLang="en-US" b="1" dirty="0">
                <a:solidFill>
                  <a:srgbClr val="FF0000"/>
                </a:solidFill>
              </a:rPr>
              <a:t>原语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F79EEE-F37F-A07E-9935-ED1616BE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F94822-3396-6A1A-478C-9378D95E87F3}"/>
              </a:ext>
            </a:extLst>
          </p:cNvPr>
          <p:cNvSpPr/>
          <p:nvPr/>
        </p:nvSpPr>
        <p:spPr bwMode="auto">
          <a:xfrm>
            <a:off x="719922" y="3966050"/>
            <a:ext cx="3993758" cy="237211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108000" rIns="91440" bIns="72000" numCol="1" rtlCol="0" anchor="ctr" anchorCtr="0" compatLnSpc="1"/>
          <a:lstStyle/>
          <a:p>
            <a:pPr>
              <a:lnSpc>
                <a:spcPct val="150000"/>
              </a:lnSpc>
              <a:buFont typeface="Monotype Sorts" pitchFamily="-84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void</a:t>
            </a: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lock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entury" panose="02040604050505020304" pitchFamily="18" charset="0"/>
              </a:rPr>
              <a:t>lock_t</a:t>
            </a: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*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mutex)</a:t>
            </a:r>
            <a:r>
              <a:rPr lang="en-US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{ </a:t>
            </a:r>
          </a:p>
          <a:p>
            <a:pPr>
              <a:lnSpc>
                <a:spcPct val="150000"/>
              </a:lnSpc>
              <a:buFont typeface="Monotype Sorts" pitchFamily="-84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   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while(mutex-&gt;flag</a:t>
            </a: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==</a:t>
            </a: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1)</a:t>
            </a:r>
          </a:p>
          <a:p>
            <a:pPr>
              <a:lnSpc>
                <a:spcPct val="150000"/>
              </a:lnSpc>
              <a:buFont typeface="Monotype Sorts" pitchFamily="-84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        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;</a:t>
            </a: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//</a:t>
            </a: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spin-wait(do</a:t>
            </a: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nothing)</a:t>
            </a:r>
            <a:r>
              <a:rPr lang="en-US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		</a:t>
            </a:r>
          </a:p>
          <a:p>
            <a:pPr>
              <a:lnSpc>
                <a:spcPct val="150000"/>
              </a:lnSpc>
              <a:buFont typeface="Monotype Sorts" pitchFamily="-84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   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mutex-flag</a:t>
            </a: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=</a:t>
            </a: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1;</a:t>
            </a: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//</a:t>
            </a: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set</a:t>
            </a: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the</a:t>
            </a: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flag</a:t>
            </a:r>
            <a:endParaRPr lang="en-US" altLang="en-US" sz="2000" b="1" dirty="0">
              <a:solidFill>
                <a:srgbClr val="000000"/>
              </a:solidFill>
              <a:latin typeface="Century" panose="02040604050505020304" pitchFamily="18" charset="0"/>
            </a:endParaRPr>
          </a:p>
          <a:p>
            <a:pPr>
              <a:lnSpc>
                <a:spcPct val="150000"/>
              </a:lnSpc>
              <a:buFont typeface="Monotype Sorts" pitchFamily="-84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}</a:t>
            </a:r>
            <a:endParaRPr lang="en-US" altLang="en-US" sz="2000" b="1" dirty="0">
              <a:solidFill>
                <a:srgbClr val="000000"/>
              </a:solidFill>
              <a:latin typeface="Century" panose="020406040505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A9031F-2479-55FF-CB66-4D0B5CDF8A5A}"/>
              </a:ext>
            </a:extLst>
          </p:cNvPr>
          <p:cNvSpPr/>
          <p:nvPr/>
        </p:nvSpPr>
        <p:spPr bwMode="auto">
          <a:xfrm>
            <a:off x="4934015" y="3966049"/>
            <a:ext cx="3621262" cy="237211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108000" rIns="91440" bIns="72000" numCol="1" rtlCol="0" anchor="t" anchorCtr="0" compatLnSpc="1"/>
          <a:lstStyle/>
          <a:p>
            <a:pPr>
              <a:lnSpc>
                <a:spcPct val="150000"/>
              </a:lnSpc>
              <a:buFont typeface="Monotype Sorts" pitchFamily="-84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void</a:t>
            </a: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un</a:t>
            </a:r>
            <a:r>
              <a:rPr lang="en-US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lock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entury" panose="02040604050505020304" pitchFamily="18" charset="0"/>
              </a:rPr>
              <a:t>lock_t</a:t>
            </a: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*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mutex)</a:t>
            </a:r>
            <a:r>
              <a:rPr lang="en-US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{ 	</a:t>
            </a:r>
          </a:p>
          <a:p>
            <a:pPr>
              <a:lnSpc>
                <a:spcPct val="150000"/>
              </a:lnSpc>
              <a:buFont typeface="Monotype Sorts" pitchFamily="-84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   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mutex-flag</a:t>
            </a: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=</a:t>
            </a: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0;</a:t>
            </a:r>
            <a:r>
              <a:rPr lang="zh-CN" altLang="en-US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  </a:t>
            </a:r>
            <a:endParaRPr lang="en-US" altLang="en-US" sz="2000" b="1" dirty="0">
              <a:solidFill>
                <a:srgbClr val="000000"/>
              </a:solidFill>
              <a:latin typeface="Century" panose="02040604050505020304" pitchFamily="18" charset="0"/>
            </a:endParaRPr>
          </a:p>
          <a:p>
            <a:pPr>
              <a:lnSpc>
                <a:spcPct val="150000"/>
              </a:lnSpc>
              <a:buFont typeface="Monotype Sorts" pitchFamily="-84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Century" panose="02040604050505020304" pitchFamily="18" charset="0"/>
              </a:rPr>
              <a:t>}</a:t>
            </a:r>
            <a:endParaRPr lang="en-US" altLang="en-US" sz="2000" b="1" dirty="0">
              <a:solidFill>
                <a:srgbClr val="000000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688749"/>
      </p:ext>
    </p:extLst>
  </p:cSld>
  <p:clrMapOvr>
    <a:masterClrMapping/>
  </p:clrMapOvr>
  <p:transition spd="med"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CBAB97-D652-23D2-6F38-DE03364E9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利用</a:t>
            </a:r>
            <a:r>
              <a:rPr kumimoji="1" lang="en-US" altLang="zh-CN" dirty="0"/>
              <a:t>TS</a:t>
            </a:r>
            <a:r>
              <a:rPr kumimoji="1" lang="zh-CN" altLang="en-US" dirty="0"/>
              <a:t>指令实现自旋锁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7B4212E-134A-104E-15DD-F315E1DA5B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414" y="1178449"/>
            <a:ext cx="7174087" cy="5246051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AD0522-3738-8EB7-E93B-02460294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4485117"/>
      </p:ext>
    </p:extLst>
  </p:cSld>
  <p:clrMapOvr>
    <a:masterClrMapping/>
  </p:clrMapOvr>
  <p:transition spd="med"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EF104E-DF9F-B27C-FCDD-194238D6D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TS</a:t>
            </a:r>
            <a:r>
              <a:rPr kumimoji="1" lang="zh-CN" altLang="en-US" dirty="0"/>
              <a:t>实现锁的有效性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5DE3A5-DDA0-4F17-EF80-40FFF2D62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5091112"/>
          </a:xfrm>
        </p:spPr>
        <p:txBody>
          <a:bodyPr>
            <a:normAutofit fontScale="77500" lnSpcReduction="20000"/>
          </a:bodyPr>
          <a:lstStyle/>
          <a:p>
            <a:r>
              <a:rPr kumimoji="1" lang="zh-CN" altLang="en-US" dirty="0"/>
              <a:t>互斥性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当只有一个线程时，可以获得锁，并进入临界区；执行完成时，离开临界区，并释放锁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当有线程持有锁时，新线程调用</a:t>
            </a:r>
            <a:r>
              <a:rPr kumimoji="1" lang="en-US" altLang="zh-CN" dirty="0"/>
              <a:t>lock</a:t>
            </a:r>
            <a:r>
              <a:rPr kumimoji="1" lang="zh-CN" altLang="en-US" dirty="0"/>
              <a:t>，会一直自旋等待，直到锁被释放，它将获得锁并进入临界区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设置和测试合并为一个原子操作后，确保了只有一个线程可以获得锁</a:t>
            </a:r>
            <a:endParaRPr kumimoji="1" lang="en-US" altLang="zh-CN" dirty="0"/>
          </a:p>
          <a:p>
            <a:r>
              <a:rPr kumimoji="1" lang="zh-CN" altLang="en-US" dirty="0"/>
              <a:t>公平性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在单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上，需要抢占式调度器，否则自旋锁无法使用，因为自旋线程永远不会放弃</a:t>
            </a:r>
            <a:r>
              <a:rPr kumimoji="1" lang="en-US" altLang="zh-CN" dirty="0"/>
              <a:t>CPU</a:t>
            </a:r>
          </a:p>
          <a:p>
            <a:r>
              <a:rPr kumimoji="1" lang="zh-CN" altLang="en-US" dirty="0"/>
              <a:t>性能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单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情况下，性能开销大，因为当一个线程获得锁后，其余线程在竞争锁时，都会在放弃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之前自旋一个时间片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在多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上性能不错，因为临界区一般很短，只需自旋很短的时间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1244A7-C798-2E24-2837-4DDD130E0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6704460"/>
      </p:ext>
    </p:extLst>
  </p:cSld>
  <p:clrMapOvr>
    <a:masterClrMapping/>
  </p:clrMapOvr>
  <p:transition spd="med"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1C01BB-B3CB-37F7-C99E-5846A31B9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利用</a:t>
            </a:r>
            <a:r>
              <a:rPr kumimoji="1" lang="en-US" altLang="zh-CN" dirty="0"/>
              <a:t>CAS</a:t>
            </a:r>
            <a:r>
              <a:rPr kumimoji="1" lang="zh-CN" altLang="en-US"/>
              <a:t>指令实现自旋锁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C3D599-D095-3EDC-6AAC-8319AA144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Compare-and-exchange</a:t>
            </a:r>
            <a:r>
              <a:rPr kumimoji="1" lang="zh-CN" altLang="en-US" dirty="0"/>
              <a:t>指令的伪码描述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CAS</a:t>
            </a:r>
            <a:r>
              <a:rPr kumimoji="1" lang="zh-CN" altLang="en-US" dirty="0"/>
              <a:t>指令实现锁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8EBF13-3972-FD42-16FB-9087D137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38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0AFA87-BBD4-FBBC-ACAE-30FFC529D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111" y="4375144"/>
            <a:ext cx="5695689" cy="13582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E6D83E1-1655-B516-24A0-355FA93EA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038" y="1917700"/>
            <a:ext cx="6362774" cy="177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72893"/>
      </p:ext>
    </p:extLst>
  </p:cSld>
  <p:clrMapOvr>
    <a:masterClrMapping/>
  </p:clrMapOvr>
  <p:transition spd="med"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82D88E-4BB3-1297-9F9A-F18DCEBC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 dirty="0"/>
              <a:t>利用链接的加载和条件式存储指令实现自旋锁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E21503-17F7-7D5E-DAE8-4B28C0EF2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746125"/>
          </a:xfrm>
        </p:spPr>
        <p:txBody>
          <a:bodyPr>
            <a:normAutofit/>
          </a:bodyPr>
          <a:lstStyle/>
          <a:p>
            <a:r>
              <a:rPr kumimoji="1" lang="zh-CN" altLang="en-US" sz="1800" dirty="0"/>
              <a:t>在</a:t>
            </a:r>
            <a:r>
              <a:rPr kumimoji="1" lang="en-US" altLang="zh-CN" sz="1800" dirty="0"/>
              <a:t>MIPS</a:t>
            </a:r>
            <a:r>
              <a:rPr kumimoji="1" lang="zh-CN" altLang="en-US" sz="1800" dirty="0"/>
              <a:t>架构中，可以利用链接式加载</a:t>
            </a:r>
            <a:r>
              <a:rPr kumimoji="1" lang="en-US" altLang="zh-CN" sz="1800" dirty="0"/>
              <a:t>(load-linked)</a:t>
            </a:r>
            <a:r>
              <a:rPr kumimoji="1" lang="zh-CN" altLang="en-US" sz="1800" dirty="0"/>
              <a:t>和条件式存储</a:t>
            </a:r>
            <a:r>
              <a:rPr kumimoji="1" lang="en-US" altLang="zh-CN" sz="1800" dirty="0"/>
              <a:t>(store-conditional)</a:t>
            </a:r>
            <a:r>
              <a:rPr kumimoji="1" lang="zh-CN" altLang="en-US" sz="1800" dirty="0"/>
              <a:t>指令，配合使用来支持并发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1A305C-79C5-78CC-6575-A3436D931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39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C19C91-97A1-375D-57A7-159D1FC45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8" y="1871449"/>
            <a:ext cx="6247160" cy="229826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B81D00E-3129-3DA9-BB45-76C47895A6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1515"/>
          <a:stretch/>
        </p:blipFill>
        <p:spPr>
          <a:xfrm>
            <a:off x="1042988" y="4196394"/>
            <a:ext cx="6059270" cy="161491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ADF5B52-A54D-BD54-ED13-6CF125C36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038" y="5867400"/>
            <a:ext cx="6303282" cy="977068"/>
          </a:xfrm>
          <a:prstGeom prst="rect">
            <a:avLst/>
          </a:prstGeom>
        </p:spPr>
      </p:pic>
      <p:sp>
        <p:nvSpPr>
          <p:cNvPr id="8" name="上下箭头 7">
            <a:extLst>
              <a:ext uri="{FF2B5EF4-FFF2-40B4-BE49-F238E27FC236}">
                <a16:creationId xmlns:a16="http://schemas.microsoft.com/office/drawing/2014/main" id="{EB28A83A-04F0-D25B-0E2F-9486BE15C191}"/>
              </a:ext>
            </a:extLst>
          </p:cNvPr>
          <p:cNvSpPr/>
          <p:nvPr/>
        </p:nvSpPr>
        <p:spPr bwMode="auto">
          <a:xfrm>
            <a:off x="5535221" y="5624512"/>
            <a:ext cx="146843" cy="425885"/>
          </a:xfrm>
          <a:prstGeom prst="up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342900" marR="0" indent="-34290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3192879"/>
      </p:ext>
    </p:extLst>
  </p:cSld>
  <p:clrMapOvr>
    <a:masterClrMapping/>
  </p:clrMapOvr>
  <p:transition spd="med"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68E883-104B-11F9-8739-439FA24C1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3000" dirty="0"/>
              <a:t>获取并增加指令</a:t>
            </a:r>
            <a:r>
              <a:rPr kumimoji="1" lang="en-US" altLang="zh-CN" sz="3000" dirty="0"/>
              <a:t>(fetch-and-add)</a:t>
            </a:r>
            <a:r>
              <a:rPr kumimoji="1" lang="zh-CN" altLang="en-US" sz="3000" dirty="0"/>
              <a:t>实现</a:t>
            </a:r>
            <a:r>
              <a:rPr kumimoji="1" lang="en-US" altLang="zh-CN" sz="3000" dirty="0"/>
              <a:t>ticket</a:t>
            </a:r>
            <a:r>
              <a:rPr kumimoji="1" lang="zh-CN" altLang="en-US" sz="3000" dirty="0"/>
              <a:t>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F341B2-3D5E-2165-981A-0AD399703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5114920"/>
            <a:ext cx="7772400" cy="1014418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该方法可以确保所有线程均可抢到锁，而前面的方法则不能保证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02F964-E5F6-6AD3-356A-BF2229593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40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99CF361-EB41-4288-2E3D-A05EB58C3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04" y="1280460"/>
            <a:ext cx="3086100" cy="36195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58F630C-DBB4-56B4-2457-8F42F040E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865" y="1331238"/>
            <a:ext cx="4394200" cy="22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947445"/>
      </p:ext>
    </p:extLst>
  </p:cSld>
  <p:clrMapOvr>
    <a:masterClrMapping/>
  </p:clrMapOvr>
  <p:transition spd="med"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C083DF-3529-0D74-EB40-21FF3BE82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怎样避免过多自旋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00159F-2379-ED8E-13B9-3DA325B37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当一个线程获得锁，则其余线程自旋等待</a:t>
            </a:r>
            <a:endParaRPr kumimoji="1" lang="en-US" altLang="zh-CN" dirty="0"/>
          </a:p>
          <a:p>
            <a:r>
              <a:rPr kumimoji="1" lang="zh-CN" altLang="en-US" dirty="0"/>
              <a:t>线程自旋检查一个不会改变的值，直到浪费整个时间片</a:t>
            </a:r>
            <a:endParaRPr kumimoji="1" lang="en-US" altLang="zh-CN" dirty="0"/>
          </a:p>
          <a:p>
            <a:r>
              <a:rPr kumimoji="1" lang="zh-CN" altLang="en-US" dirty="0"/>
              <a:t>解决方案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当要自旋时，放弃</a:t>
            </a:r>
            <a:r>
              <a:rPr kumimoji="1" lang="en-US" altLang="zh-CN" dirty="0"/>
              <a:t>CPU</a:t>
            </a:r>
            <a:r>
              <a:rPr kumimoji="1" lang="zh-CN" altLang="en-US" dirty="0"/>
              <a:t>，进程从运行态变为就绪态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多个线程竞争一把锁时，上下文切换成本依旧很高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可能存在饥饿情况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E6D89F-D4FE-5089-C235-0AFAA4BC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1278760"/>
      </p:ext>
    </p:extLst>
  </p:cSld>
  <p:clrMapOvr>
    <a:masterClrMapping/>
  </p:clrMapOvr>
  <p:transition spd="med"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683495D-CC11-6396-E7AF-69D4715B5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590" y="4099973"/>
            <a:ext cx="4989410" cy="161542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C46E8EE-0550-069F-612C-CF3C1D8D4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怎样避免过多自旋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39A023-8CF3-3547-5CF9-8CAE77C8F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1524539"/>
          </a:xfrm>
        </p:spPr>
        <p:txBody>
          <a:bodyPr>
            <a:normAutofit fontScale="77500" lnSpcReduction="20000"/>
          </a:bodyPr>
          <a:lstStyle/>
          <a:p>
            <a:r>
              <a:rPr kumimoji="1" lang="zh-CN" altLang="en-US" dirty="0"/>
              <a:t>解决方案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</a:t>
            </a:r>
            <a:r>
              <a:rPr kumimoji="1" lang="en-US" altLang="zh-CN" dirty="0"/>
              <a:t>Solaris</a:t>
            </a:r>
            <a:r>
              <a:rPr kumimoji="1" lang="zh-CN" altLang="en-US" dirty="0"/>
              <a:t>方案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通过维护一个队列来保存等待锁的线程，从而确定谁能抢到锁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park()</a:t>
            </a:r>
            <a:r>
              <a:rPr kumimoji="1" lang="zh-CN" altLang="en-US" dirty="0"/>
              <a:t>让调用线程休眠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unpark(</a:t>
            </a:r>
            <a:r>
              <a:rPr kumimoji="1" lang="en-US" altLang="zh-CN" dirty="0" err="1"/>
              <a:t>threadID</a:t>
            </a:r>
            <a:r>
              <a:rPr kumimoji="1" lang="en-US" altLang="zh-CN" dirty="0"/>
              <a:t>)</a:t>
            </a:r>
            <a:r>
              <a:rPr kumimoji="1" lang="zh-CN" altLang="en-US" dirty="0"/>
              <a:t>唤醒</a:t>
            </a:r>
            <a:r>
              <a:rPr kumimoji="1" lang="en-US" altLang="zh-CN" dirty="0" err="1"/>
              <a:t>threadID</a:t>
            </a:r>
            <a:r>
              <a:rPr kumimoji="1" lang="zh-CN" altLang="en-US" dirty="0"/>
              <a:t>标识的线程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10E473-3334-95F4-909A-6C210E515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42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E09FEB1-8AFF-CB98-8C2B-87F6B1A6D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45" y="4099973"/>
            <a:ext cx="3697462" cy="19267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4CA86AA-CCB2-00B2-2747-A2C586EC9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407" y="2830421"/>
            <a:ext cx="2473505" cy="92665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72F58C7-A479-0FCC-8211-0E950A558F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8295" y="2841097"/>
            <a:ext cx="2473505" cy="86466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D73AA9A-D6FF-1726-7B64-787C98DCF790}"/>
              </a:ext>
            </a:extLst>
          </p:cNvPr>
          <p:cNvSpPr txBox="1"/>
          <p:nvPr/>
        </p:nvSpPr>
        <p:spPr>
          <a:xfrm>
            <a:off x="1640910" y="5995088"/>
            <a:ext cx="4822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latin typeface="Century" panose="02040604050505020304" pitchFamily="18" charset="0"/>
              </a:rPr>
              <a:t>不能完全避免自旋等待，但等待时间有限</a:t>
            </a:r>
          </a:p>
        </p:txBody>
      </p:sp>
    </p:spTree>
    <p:extLst>
      <p:ext uri="{BB962C8B-B14F-4D97-AF65-F5344CB8AC3E}">
        <p14:creationId xmlns:p14="http://schemas.microsoft.com/office/powerpoint/2010/main" val="3780175207"/>
      </p:ext>
    </p:extLst>
  </p:cSld>
  <p:clrMapOvr>
    <a:masterClrMapping/>
  </p:clrMapOvr>
  <p:transition spd="med"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8B7559-3922-C207-62C8-2151DDD52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条件变量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D17201-440D-D8C6-269E-04BA52AFF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多线程程序中，如何等待一个条件？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自旋等待，直到条件满足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使用条件变量，来等待一个条件变为真</a:t>
            </a:r>
            <a:endParaRPr kumimoji="1" lang="en-US" altLang="zh-CN" dirty="0"/>
          </a:p>
          <a:p>
            <a:r>
              <a:rPr kumimoji="1" lang="zh-CN" altLang="en-US" dirty="0"/>
              <a:t>条件变量：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是一个显示队列，当条件不满足时，线程可以将自己加入队列；当有其他线程改变了条件状态时，则可以唤醒等待线程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wait()</a:t>
            </a:r>
            <a:r>
              <a:rPr kumimoji="1" lang="zh-CN" altLang="en-US" dirty="0"/>
              <a:t>操作使调用该操作的线程睡眠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signal()</a:t>
            </a:r>
            <a:r>
              <a:rPr kumimoji="1" lang="zh-CN" altLang="en-US" dirty="0"/>
              <a:t>操作唤醒条件变量上睡眠的线程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6C320A-D55C-5CB1-F93A-4A0AD4DC6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2415557"/>
      </p:ext>
    </p:extLst>
  </p:cSld>
  <p:clrMapOvr>
    <a:masterClrMapping/>
  </p:clrMapOvr>
  <p:transition spd="med"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23AE39-7CFE-0C75-2BA5-4CEC4CF2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如何让父线程等待子线程？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4D927E-2075-D3A8-6889-6AC7DBED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44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8AA396-7D80-6CA1-97BC-9A0B38E53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156" y="1233487"/>
            <a:ext cx="7655478" cy="451595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EDB5829-5A8A-C2E4-16BE-B575B08E1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840" y="5410378"/>
            <a:ext cx="1905000" cy="106865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E84097D-AD02-9012-31DB-0DE37936D83D}"/>
              </a:ext>
            </a:extLst>
          </p:cNvPr>
          <p:cNvSpPr txBox="1"/>
          <p:nvPr/>
        </p:nvSpPr>
        <p:spPr>
          <a:xfrm>
            <a:off x="5950840" y="4943415"/>
            <a:ext cx="1402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期望的输出</a:t>
            </a:r>
          </a:p>
        </p:txBody>
      </p:sp>
    </p:spTree>
    <p:extLst>
      <p:ext uri="{BB962C8B-B14F-4D97-AF65-F5344CB8AC3E}">
        <p14:creationId xmlns:p14="http://schemas.microsoft.com/office/powerpoint/2010/main" val="116448547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E99120-5435-6D59-2640-038FE913F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基于自旋的解决方案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9AFF33-6BE1-6A4F-6BE2-299253424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8DC29B-0672-0A92-0202-6BF83B5C9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45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F4356DA-88DB-6B22-C0BB-66FC5C23B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25" y="1145805"/>
            <a:ext cx="6639518" cy="298778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E94FC42-2599-9267-5F42-B356226DE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34" y="4004849"/>
            <a:ext cx="6853482" cy="203269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ACFA2E7-017B-571C-48F4-59CEB7246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55" y="3929693"/>
            <a:ext cx="6853482" cy="203269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8F1B0F9-3282-38D1-1497-D7944A5CB960}"/>
              </a:ext>
            </a:extLst>
          </p:cNvPr>
          <p:cNvSpPr/>
          <p:nvPr/>
        </p:nvSpPr>
        <p:spPr bwMode="auto">
          <a:xfrm>
            <a:off x="1791222" y="4595349"/>
            <a:ext cx="1866378" cy="54032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342900" marR="0" indent="-34290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480489"/>
      </p:ext>
    </p:extLst>
  </p:cSld>
  <p:clrMapOvr>
    <a:masterClrMapping/>
  </p:clrMapOvr>
  <p:transition spd="med"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EFB58-668B-4686-C73E-2A174692E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sz="3600" dirty="0"/>
              <a:t>使用条件变量实现父线程等待子线程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508F3A-89A5-5946-6BBA-06F528866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5188647"/>
            <a:ext cx="7772400" cy="1349939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" altLang="zh-CN" dirty="0" err="1"/>
              <a:t>Pthread_cond_wait</a:t>
            </a:r>
            <a:r>
              <a:rPr lang="en-US" altLang="zh-CN" dirty="0"/>
              <a:t>(</a:t>
            </a:r>
            <a:r>
              <a:rPr lang="en-US" altLang="zh-CN" dirty="0" err="1"/>
              <a:t>cond,mutex</a:t>
            </a:r>
            <a:r>
              <a:rPr lang="en-US" altLang="zh-CN" dirty="0"/>
              <a:t>)</a:t>
            </a:r>
            <a:r>
              <a:rPr lang="zh-CN" altLang="en-US" dirty="0"/>
              <a:t>用于在条件变量上等待，</a:t>
            </a:r>
            <a:r>
              <a:rPr lang="en-US" altLang="zh-CN" dirty="0" err="1"/>
              <a:t>cond</a:t>
            </a:r>
            <a:r>
              <a:rPr lang="zh-CN" altLang="en-US" dirty="0"/>
              <a:t>是指向条件变量的指针，</a:t>
            </a:r>
            <a:r>
              <a:rPr lang="en-US" altLang="zh-CN" dirty="0"/>
              <a:t>mutex</a:t>
            </a:r>
            <a:r>
              <a:rPr lang="zh-CN" altLang="en-US" dirty="0"/>
              <a:t>是指向互斥锁是指针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在调用</a:t>
            </a:r>
            <a:r>
              <a:rPr lang="en" altLang="zh-CN" dirty="0" err="1"/>
              <a:t>Pthread_cond_wait</a:t>
            </a:r>
            <a:r>
              <a:rPr lang="zh-CN" altLang="en" dirty="0"/>
              <a:t>之前</a:t>
            </a:r>
            <a:r>
              <a:rPr lang="zh-CN" altLang="en-US" dirty="0"/>
              <a:t>，</a:t>
            </a:r>
            <a:r>
              <a:rPr lang="en-US" altLang="zh-CN" dirty="0"/>
              <a:t>mutex</a:t>
            </a:r>
            <a:r>
              <a:rPr lang="zh-CN" altLang="en-US" dirty="0"/>
              <a:t>互斥锁必须被锁定，在函数返回时，则会自动锁定</a:t>
            </a:r>
            <a:r>
              <a:rPr lang="en-US" altLang="zh-CN" dirty="0" err="1"/>
              <a:t>mutetx</a:t>
            </a:r>
            <a:r>
              <a:rPr lang="zh-CN" altLang="en-US" dirty="0"/>
              <a:t>互斥锁</a:t>
            </a:r>
            <a:endParaRPr lang="en" altLang="zh-CN" dirty="0"/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15530C-1CA5-C2E9-6F5C-FA5CC86AA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46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092054-6E12-52D6-1BB8-1296D9B91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62" y="1252169"/>
            <a:ext cx="4200602" cy="38989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7542994-02AD-2BAA-65BC-D73C1A176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63638"/>
            <a:ext cx="4056168" cy="365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16953"/>
      </p:ext>
    </p:extLst>
  </p:cSld>
  <p:clrMapOvr>
    <a:masterClrMapping/>
  </p:clrMapOvr>
  <p:transition spd="med"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9913FD-7DB4-8075-6721-4479262DD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信号量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6BAA66-C4AE-4708-C92C-F885A57A9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/>
          </a:bodyPr>
          <a:lstStyle/>
          <a:p>
            <a:r>
              <a:rPr lang="zh-CN" altLang="en-US" dirty="0"/>
              <a:t>信号量是由荷兰科学家</a:t>
            </a:r>
            <a:r>
              <a:rPr lang="en-US" altLang="zh-CN" dirty="0"/>
              <a:t>Dijkstra</a:t>
            </a:r>
            <a:r>
              <a:rPr lang="zh-CN" altLang="en-US" dirty="0"/>
              <a:t>提出的，是一种卓有成效的进程同步机制</a:t>
            </a:r>
            <a:endParaRPr lang="en-US" altLang="zh-CN" dirty="0"/>
          </a:p>
          <a:p>
            <a:r>
              <a:rPr lang="zh-CN" altLang="en-US" dirty="0"/>
              <a:t>信号量 </a:t>
            </a:r>
            <a:r>
              <a:rPr lang="en" altLang="zh-CN" dirty="0"/>
              <a:t>S</a:t>
            </a:r>
            <a:r>
              <a:rPr lang="zh-CN" altLang="en" dirty="0"/>
              <a:t>是包含</a:t>
            </a:r>
            <a:r>
              <a:rPr lang="zh-CN" altLang="en-US" dirty="0"/>
              <a:t>一个整数值的对象，只能通过两个原子操作</a:t>
            </a:r>
            <a:r>
              <a:rPr lang="en-US" altLang="zh-CN" dirty="0"/>
              <a:t>w</a:t>
            </a:r>
            <a:r>
              <a:rPr lang="en" altLang="zh-CN" dirty="0" err="1"/>
              <a:t>ait</a:t>
            </a:r>
            <a:r>
              <a:rPr lang="en-US" altLang="zh-CN" dirty="0"/>
              <a:t>()</a:t>
            </a:r>
            <a:r>
              <a:rPr lang="zh-CN" altLang="en-US" dirty="0"/>
              <a:t>和</a:t>
            </a:r>
            <a:r>
              <a:rPr lang="en" altLang="zh-CN" dirty="0"/>
              <a:t>signal</a:t>
            </a:r>
            <a:r>
              <a:rPr lang="en-US" altLang="zh-CN" dirty="0"/>
              <a:t>()</a:t>
            </a:r>
            <a:r>
              <a:rPr lang="zh-CN" altLang="en-US" dirty="0"/>
              <a:t>访问，有时也称为 </a:t>
            </a:r>
            <a:r>
              <a:rPr lang="en" altLang="zh-CN" dirty="0"/>
              <a:t>P() </a:t>
            </a:r>
            <a:r>
              <a:rPr lang="zh-CN" altLang="en-US" dirty="0"/>
              <a:t>和 </a:t>
            </a:r>
            <a:r>
              <a:rPr lang="en" altLang="zh-CN" dirty="0"/>
              <a:t>V()</a:t>
            </a:r>
            <a:r>
              <a:rPr lang="zh-CN" altLang="en" dirty="0"/>
              <a:t>操作</a:t>
            </a:r>
            <a:endParaRPr lang="en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DE1C3B-75FE-7479-D4E9-6D955EA0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47</a:t>
            </a:fld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03C9FA-0AEC-DF9A-1EB8-42F00D9A362E}"/>
              </a:ext>
            </a:extLst>
          </p:cNvPr>
          <p:cNvSpPr/>
          <p:nvPr/>
        </p:nvSpPr>
        <p:spPr bwMode="auto">
          <a:xfrm>
            <a:off x="1443929" y="4082894"/>
            <a:ext cx="2619180" cy="204644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108000" rIns="91440" bIns="72000" numCol="1" rtlCol="0" anchor="t" anchorCtr="0" compatLnSpc="1"/>
          <a:lstStyle/>
          <a:p>
            <a:r>
              <a:rPr lang="en" altLang="zh-CN" sz="2400" dirty="0">
                <a:latin typeface="Century" panose="02040604050505020304" pitchFamily="18" charset="0"/>
              </a:rPr>
              <a:t>wait(S) {</a:t>
            </a:r>
          </a:p>
          <a:p>
            <a:r>
              <a:rPr lang="en" altLang="zh-CN" sz="2400" dirty="0">
                <a:latin typeface="Century" panose="02040604050505020304" pitchFamily="18" charset="0"/>
              </a:rPr>
              <a:t>    while (S &lt;= 0)</a:t>
            </a:r>
          </a:p>
          <a:p>
            <a:r>
              <a:rPr lang="en" altLang="zh-CN" sz="2400" dirty="0">
                <a:latin typeface="Century" panose="02040604050505020304" pitchFamily="18" charset="0"/>
              </a:rPr>
              <a:t>        ; // </a:t>
            </a:r>
            <a:r>
              <a:rPr lang="zh-CN" altLang="en-US" sz="2400" dirty="0">
                <a:latin typeface="Century" panose="02040604050505020304" pitchFamily="18" charset="0"/>
              </a:rPr>
              <a:t>忙等待</a:t>
            </a:r>
          </a:p>
          <a:p>
            <a:r>
              <a:rPr lang="zh-CN" altLang="en-US" sz="2400" dirty="0">
                <a:latin typeface="Century" panose="02040604050505020304" pitchFamily="18" charset="0"/>
              </a:rPr>
              <a:t>    </a:t>
            </a:r>
            <a:r>
              <a:rPr lang="en" altLang="zh-CN" sz="2400" dirty="0">
                <a:latin typeface="Century" panose="02040604050505020304" pitchFamily="18" charset="0"/>
              </a:rPr>
              <a:t>S--;</a:t>
            </a:r>
          </a:p>
          <a:p>
            <a:r>
              <a:rPr lang="en" altLang="zh-CN" sz="2400" dirty="0">
                <a:latin typeface="Century" panose="02040604050505020304" pitchFamily="18" charset="0"/>
              </a:rPr>
              <a:t>}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E14258-7F2A-15A9-9A35-FB8557F465A5}"/>
              </a:ext>
            </a:extLst>
          </p:cNvPr>
          <p:cNvSpPr/>
          <p:nvPr/>
        </p:nvSpPr>
        <p:spPr bwMode="auto">
          <a:xfrm>
            <a:off x="5153938" y="4082894"/>
            <a:ext cx="2619180" cy="204644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108000" rIns="91440" bIns="72000" numCol="1" rtlCol="0" anchor="t" anchorCtr="0" compatLnSpc="1"/>
          <a:lstStyle/>
          <a:p>
            <a:r>
              <a:rPr lang="en" altLang="zh-CN" sz="2400" dirty="0">
                <a:latin typeface="Century" panose="02040604050505020304" pitchFamily="18" charset="0"/>
              </a:rPr>
              <a:t>signal(S) {</a:t>
            </a:r>
          </a:p>
          <a:p>
            <a:r>
              <a:rPr lang="en" altLang="zh-CN" sz="2400" dirty="0">
                <a:latin typeface="Century" panose="02040604050505020304" pitchFamily="18" charset="0"/>
              </a:rPr>
              <a:t>    S++;</a:t>
            </a:r>
          </a:p>
          <a:p>
            <a:r>
              <a:rPr lang="en" altLang="zh-CN" sz="2400" dirty="0">
                <a:latin typeface="Century" panose="02040604050505020304" pitchFamily="18" charset="0"/>
              </a:rPr>
              <a:t>}</a:t>
            </a:r>
            <a:endParaRPr lang="zh-CN" altLang="en-US" sz="24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369337"/>
      </p:ext>
    </p:extLst>
  </p:cSld>
  <p:clrMapOvr>
    <a:masterClrMapping/>
  </p:clrMapOvr>
  <p:transition spd="med"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0FA3A1-DDC8-117A-EAEC-4FBE37EBD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基于</a:t>
            </a:r>
            <a:r>
              <a:rPr kumimoji="1" lang="en-US" altLang="zh-CN" dirty="0"/>
              <a:t>POSIX</a:t>
            </a:r>
            <a:r>
              <a:rPr kumimoji="1" lang="zh-CN" altLang="en-US" dirty="0"/>
              <a:t>标准的信号量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EFE170-874F-C95A-C8A7-ED906808E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9"/>
            <a:ext cx="7772400" cy="2637053"/>
          </a:xfrm>
        </p:spPr>
        <p:txBody>
          <a:bodyPr>
            <a:normAutofit fontScale="77500" lnSpcReduction="20000"/>
          </a:bodyPr>
          <a:lstStyle/>
          <a:p>
            <a:r>
              <a:rPr kumimoji="1" lang="zh-CN" altLang="en-US" dirty="0"/>
              <a:t>信号量的初始化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对信号量进行操作的函数</a:t>
            </a:r>
            <a:r>
              <a:rPr kumimoji="1" lang="en-US" altLang="zh-CN" dirty="0" err="1"/>
              <a:t>sem_wait</a:t>
            </a:r>
            <a:r>
              <a:rPr kumimoji="1" lang="en-US" altLang="zh-CN" dirty="0"/>
              <a:t>(),</a:t>
            </a:r>
            <a:r>
              <a:rPr kumimoji="1" lang="en-US" altLang="zh-CN" dirty="0" err="1"/>
              <a:t>sem_post</a:t>
            </a:r>
            <a:r>
              <a:rPr kumimoji="1" lang="en-US" altLang="zh-CN" dirty="0"/>
              <a:t>()</a:t>
            </a:r>
            <a:r>
              <a:rPr kumimoji="1" lang="zh-CN" altLang="en-US" dirty="0"/>
              <a:t>的定义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43B619-324E-F700-2423-680B1FF00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48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25143D8-5CB7-713D-85D8-D68406867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401" y="1628434"/>
            <a:ext cx="3408679" cy="121497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9A5F639-7BDC-96ED-51EC-1B643C041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401" y="3679155"/>
            <a:ext cx="6518580" cy="284066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824E928-200A-8662-C664-0D4B3177A222}"/>
              </a:ext>
            </a:extLst>
          </p:cNvPr>
          <p:cNvSpPr txBox="1"/>
          <p:nvPr/>
        </p:nvSpPr>
        <p:spPr>
          <a:xfrm>
            <a:off x="4431691" y="2404927"/>
            <a:ext cx="353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/>
              <a:t>将信号量初始化为第</a:t>
            </a:r>
            <a:r>
              <a:rPr kumimoji="1" lang="en-US" altLang="zh-CN" sz="2000" dirty="0"/>
              <a:t>3</a:t>
            </a:r>
            <a:r>
              <a:rPr kumimoji="1" lang="zh-CN" altLang="en-US" sz="2000" dirty="0"/>
              <a:t>个参数</a:t>
            </a:r>
          </a:p>
        </p:txBody>
      </p:sp>
    </p:spTree>
    <p:extLst>
      <p:ext uri="{BB962C8B-B14F-4D97-AF65-F5344CB8AC3E}">
        <p14:creationId xmlns:p14="http://schemas.microsoft.com/office/powerpoint/2010/main" val="2817567099"/>
      </p:ext>
    </p:extLst>
  </p:cSld>
  <p:clrMapOvr>
    <a:masterClrMapping/>
  </p:clrMapOvr>
  <p:transition spd="med"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2EB7A4-F36A-63AA-8B01-7982FA8D8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二值信号量（锁）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132D74-7F3D-31DB-592C-467AC25C5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746125"/>
          </a:xfrm>
        </p:spPr>
        <p:txBody>
          <a:bodyPr>
            <a:normAutofit fontScale="62500" lnSpcReduction="20000"/>
          </a:bodyPr>
          <a:lstStyle/>
          <a:p>
            <a:r>
              <a:rPr kumimoji="1" lang="zh-CN" altLang="en-US" dirty="0"/>
              <a:t>将二值信号量作为锁</a:t>
            </a:r>
            <a:endParaRPr kumimoji="1" lang="en-US" altLang="zh-CN" dirty="0"/>
          </a:p>
          <a:p>
            <a:r>
              <a:rPr kumimoji="1" lang="zh-CN" altLang="en-US" dirty="0"/>
              <a:t>二值信号量的值只能为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和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，也称为互斥锁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393342-F8A8-23F1-C2D1-163EC163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49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FB765C-3739-711F-541A-A3E0EA96B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038" y="2003990"/>
            <a:ext cx="7343540" cy="17663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1C3CC10-3BE2-EE0B-5603-3946C9816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08" y="4232243"/>
            <a:ext cx="7772400" cy="220509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80DAC4F-C428-908A-6578-EA9878FA86FF}"/>
              </a:ext>
            </a:extLst>
          </p:cNvPr>
          <p:cNvSpPr txBox="1"/>
          <p:nvPr/>
        </p:nvSpPr>
        <p:spPr>
          <a:xfrm>
            <a:off x="3169084" y="3794147"/>
            <a:ext cx="2505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单线程使用一个信号量</a:t>
            </a:r>
          </a:p>
        </p:txBody>
      </p:sp>
    </p:spTree>
    <p:extLst>
      <p:ext uri="{BB962C8B-B14F-4D97-AF65-F5344CB8AC3E}">
        <p14:creationId xmlns:p14="http://schemas.microsoft.com/office/powerpoint/2010/main" val="1223514660"/>
      </p:ext>
    </p:extLst>
  </p:cSld>
  <p:clrMapOvr>
    <a:masterClrMapping/>
  </p:clrMapOvr>
  <p:transition spd="med"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F8D3CA-6B6E-B63C-BC0A-3193CC1D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两个线程使用一个信号量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DAAD66-BC65-B739-8E51-9D8B4F94D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4E9B58-1EA6-971E-67B4-B8E28DCFA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50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E9F98D-F404-AFD6-A7A7-26C173A16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19" y="928134"/>
            <a:ext cx="7523162" cy="585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49758"/>
      </p:ext>
    </p:extLst>
  </p:cSld>
  <p:clrMapOvr>
    <a:masterClrMapping/>
  </p:clrMapOvr>
  <p:transition spd="med"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B78C9-A3EF-0699-8167-50ED10B22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信号量用作条件变量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50A6F9-7D03-2690-DF09-A01F5014F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958567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一个线程等待条件成立，另一个线程修改条件并发信号给等等线程，从而唤醒等待线程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32F16F-4C53-B842-1F90-F277EA883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51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0F3C40-FC46-B625-CEDC-7AFCAE86E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8" y="2192055"/>
            <a:ext cx="4660900" cy="21336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521D3D1-DCED-D03F-6339-E94D24190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326" y="4041769"/>
            <a:ext cx="4381500" cy="25908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96CA7FE-FC59-8B88-92D8-3CC3E37F15B1}"/>
              </a:ext>
            </a:extLst>
          </p:cNvPr>
          <p:cNvSpPr txBox="1"/>
          <p:nvPr/>
        </p:nvSpPr>
        <p:spPr>
          <a:xfrm>
            <a:off x="935038" y="5725476"/>
            <a:ext cx="2154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父线程等待子线程</a:t>
            </a:r>
          </a:p>
        </p:txBody>
      </p:sp>
    </p:spTree>
    <p:extLst>
      <p:ext uri="{BB962C8B-B14F-4D97-AF65-F5344CB8AC3E}">
        <p14:creationId xmlns:p14="http://schemas.microsoft.com/office/powerpoint/2010/main" val="3291616169"/>
      </p:ext>
    </p:extLst>
  </p:cSld>
  <p:clrMapOvr>
    <a:masterClrMapping/>
  </p:clrMapOvr>
  <p:transition spd="med"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B9D749-F6E6-087C-EA80-217E93CEC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信号量用作条件变量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69D6F0-32DC-39FC-0566-F6C3A354A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父线程等待子线程（场景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E4C69A-57F1-064C-8CEF-CE7AADD9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52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494A0A-BED1-28BA-65CB-CBF50BE0E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93200"/>
            <a:ext cx="7772400" cy="372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76632"/>
      </p:ext>
    </p:extLst>
  </p:cSld>
  <p:clrMapOvr>
    <a:masterClrMapping/>
  </p:clrMapOvr>
  <p:transition spd="med"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757044-CE79-E5D7-DF93-FF375292C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信号量用作条件变量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83579B-1D4A-ACBD-1522-889033D30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父线程等待子线程（场景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EA9404-5D42-064D-1BAB-A1B2CDC5F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53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A4ED2BC-851D-0331-D33B-7738288D9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89023"/>
            <a:ext cx="7772400" cy="373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629544"/>
      </p:ext>
    </p:extLst>
  </p:cSld>
  <p:clrMapOvr>
    <a:masterClrMapping/>
  </p:clrMapOvr>
  <p:transition spd="med"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FEDC66-55EC-F40B-7B22-A10814CC1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信号量的实现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E57766-366E-6CB1-FAFB-B8EB298E6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利用一把锁、一个条件变量和一个记录信号量值的变量来实现信号量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通过加锁，使得</a:t>
            </a:r>
            <a:r>
              <a:rPr kumimoji="1" lang="en-US" altLang="zh-CN" sz="2400" dirty="0"/>
              <a:t>wait()</a:t>
            </a:r>
            <a:r>
              <a:rPr kumimoji="1" lang="zh-CN" altLang="en-US" sz="2400" dirty="0"/>
              <a:t>操作和</a:t>
            </a:r>
            <a:r>
              <a:rPr kumimoji="1" lang="en-US" altLang="zh-CN" sz="2400" dirty="0"/>
              <a:t>post</a:t>
            </a:r>
            <a:r>
              <a:rPr kumimoji="1" lang="zh-CN" altLang="en-US" sz="2400" dirty="0"/>
              <a:t>操作都可以原子执行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FE2EA9-32AF-6C18-9415-0D54B4B5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54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5D296E-3693-9E67-DC08-2F1B095D5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6" y="2374291"/>
            <a:ext cx="4295807" cy="2749968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7862E5E-5FCC-2D9A-AC50-4C53BCCAA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86223"/>
            <a:ext cx="4261765" cy="2926103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191078083"/>
      </p:ext>
    </p:extLst>
  </p:cSld>
  <p:clrMapOvr>
    <a:masterClrMapping/>
  </p:clrMapOvr>
  <p:transition spd="med"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4907DC-8BA3-3A0F-49DB-CC931571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sz="4000" dirty="0"/>
              <a:t>生产者</a:t>
            </a:r>
            <a:r>
              <a:rPr lang="en-US" altLang="zh-CN" sz="4000" dirty="0"/>
              <a:t>/</a:t>
            </a:r>
            <a:r>
              <a:rPr lang="zh-CN" altLang="en-US" sz="4000" dirty="0"/>
              <a:t>消费者</a:t>
            </a:r>
            <a:r>
              <a:rPr lang="en-US" altLang="zh-CN" sz="4000" dirty="0"/>
              <a:t>(</a:t>
            </a:r>
            <a:r>
              <a:rPr lang="zh-CN" altLang="en-US" sz="4000" dirty="0"/>
              <a:t>有界缓冲区</a:t>
            </a:r>
            <a:r>
              <a:rPr lang="en-US" altLang="zh-CN" sz="4000" dirty="0"/>
              <a:t>)</a:t>
            </a:r>
            <a:r>
              <a:rPr lang="zh-CN" altLang="en-US" sz="4000" dirty="0"/>
              <a:t>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166951-4D8E-7D0F-8119-091621B65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问题描述：假设有一个或多个生产者线程和一个或多个消费者线程。生产者把生成的数据项放入缓冲区</a:t>
            </a:r>
            <a:r>
              <a:rPr lang="en-US" altLang="zh-CN" dirty="0"/>
              <a:t>;</a:t>
            </a:r>
            <a:r>
              <a:rPr lang="zh-CN" altLang="en-US" dirty="0"/>
              <a:t>消费者从缓冲区取走数据项，以某种方式消费。 </a:t>
            </a:r>
          </a:p>
          <a:p>
            <a:r>
              <a:rPr lang="zh-CN" altLang="en-US" dirty="0"/>
              <a:t> 应用场景</a:t>
            </a:r>
            <a:endParaRPr lang="en-US" altLang="zh-CN" dirty="0"/>
          </a:p>
          <a:p>
            <a:pPr lvl="1"/>
            <a:r>
              <a:rPr lang="zh-CN" altLang="en-US" dirty="0"/>
              <a:t>在多线程的网络服务器中，一个生产者将 </a:t>
            </a:r>
            <a:r>
              <a:rPr lang="en" altLang="zh-CN" dirty="0"/>
              <a:t>HTTP </a:t>
            </a:r>
            <a:r>
              <a:rPr lang="zh-CN" altLang="en-US" dirty="0"/>
              <a:t>请求放入工作队列</a:t>
            </a:r>
            <a:r>
              <a:rPr lang="en-US" altLang="zh-CN" dirty="0"/>
              <a:t>(</a:t>
            </a:r>
            <a:r>
              <a:rPr lang="zh-CN" altLang="en-US" dirty="0"/>
              <a:t>即有界缓冲区</a:t>
            </a:r>
            <a:r>
              <a:rPr lang="en-US" altLang="zh-CN" dirty="0"/>
              <a:t>)</a:t>
            </a:r>
            <a:r>
              <a:rPr lang="zh-CN" altLang="en-US" dirty="0"/>
              <a:t>，消费线程从队列中取走请求并处理。 </a:t>
            </a:r>
            <a:endParaRPr lang="en-US" altLang="zh-CN" dirty="0"/>
          </a:p>
          <a:p>
            <a:pPr lvl="1"/>
            <a:r>
              <a:rPr lang="zh-CN" altLang="en-US" dirty="0"/>
              <a:t>管道指令：</a:t>
            </a:r>
            <a:r>
              <a:rPr lang="en" altLang="zh-CN" dirty="0"/>
              <a:t>grep foo </a:t>
            </a:r>
            <a:r>
              <a:rPr lang="en" altLang="zh-CN" dirty="0" err="1"/>
              <a:t>file.txt</a:t>
            </a:r>
            <a:r>
              <a:rPr lang="en" altLang="zh-CN" dirty="0"/>
              <a:t> | </a:t>
            </a:r>
            <a:r>
              <a:rPr lang="en" altLang="zh-CN" dirty="0" err="1"/>
              <a:t>wc</a:t>
            </a:r>
            <a:r>
              <a:rPr lang="en" altLang="zh-CN" dirty="0"/>
              <a:t> –l</a:t>
            </a:r>
            <a:r>
              <a:rPr lang="zh-CN" altLang="en-US" dirty="0"/>
              <a:t>，</a:t>
            </a:r>
            <a:r>
              <a:rPr lang="en-US" altLang="zh-CN" dirty="0"/>
              <a:t>grep</a:t>
            </a:r>
            <a:r>
              <a:rPr lang="zh-CN" altLang="en-US" dirty="0"/>
              <a:t>进程是生产者，</a:t>
            </a:r>
            <a:r>
              <a:rPr lang="en-US" altLang="zh-CN" dirty="0" err="1"/>
              <a:t>wc</a:t>
            </a:r>
            <a:r>
              <a:rPr lang="zh-CN" altLang="en-US" dirty="0"/>
              <a:t>进程是消费者</a:t>
            </a:r>
            <a:r>
              <a:rPr lang="en" altLang="zh-CN" dirty="0"/>
              <a:t> </a:t>
            </a:r>
          </a:p>
          <a:p>
            <a:endParaRPr lang="zh-CN" altLang="en-US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887932-E335-4762-B963-7A667AFE5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55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9927345"/>
      </p:ext>
    </p:extLst>
  </p:cSld>
  <p:clrMapOvr>
    <a:masterClrMapping/>
  </p:clrMapOvr>
  <p:transition spd="med"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58B90E65-C00E-1209-90B3-7B15C1FE8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275" y="1222567"/>
            <a:ext cx="4749977" cy="424441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059D2B8-2510-286B-2175-EF90F87B0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信号量解决生产者</a:t>
            </a:r>
            <a:r>
              <a:rPr kumimoji="1" lang="en-US" altLang="zh-CN" dirty="0"/>
              <a:t>/</a:t>
            </a:r>
            <a:r>
              <a:rPr kumimoji="1" lang="zh-CN" altLang="en-US" dirty="0"/>
              <a:t>消费者问题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153840-E28F-AB69-78AF-699C09908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56</a:t>
            </a:fld>
            <a:endParaRPr lang="zh-CN" altLang="en-US" dirty="0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603FE4B5-DD91-1A0A-D827-B7D6ECF0FB4C}"/>
              </a:ext>
            </a:extLst>
          </p:cNvPr>
          <p:cNvCxnSpPr>
            <a:cxnSpLocks/>
          </p:cNvCxnSpPr>
          <p:nvPr/>
        </p:nvCxnSpPr>
        <p:spPr bwMode="auto">
          <a:xfrm>
            <a:off x="4045906" y="1113697"/>
            <a:ext cx="0" cy="4353280"/>
          </a:xfrm>
          <a:prstGeom prst="line">
            <a:avLst/>
          </a:prstGeom>
          <a:gradFill rotWithShape="0">
            <a:gsLst>
              <a:gs pos="0">
                <a:srgbClr val="99CCFF"/>
              </a:gs>
              <a:gs pos="100000">
                <a:schemeClr val="bg2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8AB4AC7-E1D8-8098-B20C-84DC6E91A2B2}"/>
              </a:ext>
            </a:extLst>
          </p:cNvPr>
          <p:cNvSpPr txBox="1"/>
          <p:nvPr/>
        </p:nvSpPr>
        <p:spPr>
          <a:xfrm>
            <a:off x="5319508" y="1168132"/>
            <a:ext cx="1039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//</a:t>
            </a:r>
            <a:r>
              <a:rPr kumimoji="1" lang="zh-CN" altLang="en-US" sz="1400" dirty="0"/>
              <a:t>缓冲区空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99BF9B-472F-B848-85D1-37B20F1CE42F}"/>
              </a:ext>
            </a:extLst>
          </p:cNvPr>
          <p:cNvSpPr txBox="1"/>
          <p:nvPr/>
        </p:nvSpPr>
        <p:spPr>
          <a:xfrm>
            <a:off x="5319256" y="1391023"/>
            <a:ext cx="1039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//</a:t>
            </a:r>
            <a:r>
              <a:rPr kumimoji="1" lang="zh-CN" altLang="en-US" sz="1400" dirty="0"/>
              <a:t>缓冲区满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D9715EB-2D77-3008-F8FC-3ED5C9038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70" y="5493868"/>
            <a:ext cx="4388661" cy="105933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B1AFBED-BF0C-3D87-0BD7-96FA1A4CF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297683"/>
            <a:ext cx="4007023" cy="252410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2DB24B85-4B15-B9A1-C671-34E12EC94428}"/>
              </a:ext>
            </a:extLst>
          </p:cNvPr>
          <p:cNvSpPr txBox="1"/>
          <p:nvPr/>
        </p:nvSpPr>
        <p:spPr>
          <a:xfrm>
            <a:off x="4308954" y="6221112"/>
            <a:ext cx="3757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当</a:t>
            </a:r>
            <a:r>
              <a:rPr kumimoji="1" lang="en-US" altLang="zh-CN" dirty="0"/>
              <a:t>MAX&gt;1</a:t>
            </a:r>
            <a:r>
              <a:rPr kumimoji="1" lang="zh-CN" altLang="en-US" dirty="0"/>
              <a:t>时，哪里产生了竞态条件？</a:t>
            </a:r>
          </a:p>
        </p:txBody>
      </p:sp>
    </p:spTree>
    <p:extLst>
      <p:ext uri="{BB962C8B-B14F-4D97-AF65-F5344CB8AC3E}">
        <p14:creationId xmlns:p14="http://schemas.microsoft.com/office/powerpoint/2010/main" val="3444246183"/>
      </p:ext>
    </p:extLst>
  </p:cSld>
  <p:clrMapOvr>
    <a:masterClrMapping/>
  </p:clrMapOvr>
  <p:transition spd="med"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18475C-E12E-43CF-D912-A15ECCA9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生产者</a:t>
            </a:r>
            <a:r>
              <a:rPr kumimoji="1" lang="en-US" altLang="zh-CN" dirty="0"/>
              <a:t>/</a:t>
            </a:r>
            <a:r>
              <a:rPr kumimoji="1" lang="zh-CN" altLang="en-US" dirty="0"/>
              <a:t>消费者问题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D26E58-7445-E387-468C-837D4BDE1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增加互斥的方案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B6FE78-2972-98B8-EE97-B0C3BD92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57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EBD3923-3C7D-04E1-B52D-96A2859F9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790700"/>
            <a:ext cx="6629400" cy="47625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DF5EF0D-5632-2D34-F252-7CAD00AEEC67}"/>
              </a:ext>
            </a:extLst>
          </p:cNvPr>
          <p:cNvSpPr txBox="1"/>
          <p:nvPr/>
        </p:nvSpPr>
        <p:spPr>
          <a:xfrm>
            <a:off x="5899757" y="1267480"/>
            <a:ext cx="1177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死锁</a:t>
            </a:r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98F9CDFA-0E46-9AAC-D779-F224238ECBBD}"/>
              </a:ext>
            </a:extLst>
          </p:cNvPr>
          <p:cNvSpPr/>
          <p:nvPr/>
        </p:nvSpPr>
        <p:spPr bwMode="auto">
          <a:xfrm>
            <a:off x="5073041" y="1428946"/>
            <a:ext cx="588724" cy="261610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342900" marR="0" indent="-34290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389804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5D52A2-6A0C-F6ED-5221-F8C36DF41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生产者</a:t>
            </a:r>
            <a:r>
              <a:rPr kumimoji="1" lang="en-US" altLang="zh-CN" dirty="0"/>
              <a:t>/</a:t>
            </a:r>
            <a:r>
              <a:rPr kumimoji="1" lang="zh-CN" altLang="en-US" dirty="0"/>
              <a:t>消费者问题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39DFBA-8D3D-B458-3E5F-9B87D36D8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避免死锁：减少锁的作用域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016B97-5799-DDB5-E979-54CA2E848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58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20972E-9F8A-3463-4623-0FB7AB5F0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038" y="1778000"/>
            <a:ext cx="7035800" cy="47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926784"/>
      </p:ext>
    </p:extLst>
  </p:cSld>
  <p:clrMapOvr>
    <a:masterClrMapping/>
  </p:clrMapOvr>
  <p:transition spd="med"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49965-A024-37C6-34AE-4F8B8D61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读者</a:t>
            </a:r>
            <a:r>
              <a:rPr kumimoji="1" lang="en-US" altLang="zh-CN" dirty="0"/>
              <a:t>-</a:t>
            </a:r>
            <a:r>
              <a:rPr kumimoji="1" lang="zh-CN" altLang="en-US" dirty="0"/>
              <a:t>写者问题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181EEB-6FB7-02A4-FB61-A67393DB2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966896"/>
          </a:xfrm>
        </p:spPr>
        <p:txBody>
          <a:bodyPr>
            <a:normAutofit fontScale="92500" lnSpcReduction="20000"/>
          </a:bodyPr>
          <a:lstStyle/>
          <a:p>
            <a:r>
              <a:rPr kumimoji="1" lang="zh-CN" altLang="en-US" dirty="0"/>
              <a:t>一个数据集在多个并发进程之间共享</a:t>
            </a:r>
          </a:p>
          <a:p>
            <a:pPr lvl="1"/>
            <a:r>
              <a:rPr kumimoji="1" lang="zh-CN" altLang="en-US" dirty="0"/>
              <a:t>读者 </a:t>
            </a:r>
            <a:r>
              <a:rPr kumimoji="1" lang="en-US" altLang="zh-CN" dirty="0"/>
              <a:t>— </a:t>
            </a:r>
            <a:r>
              <a:rPr kumimoji="1" lang="zh-CN" altLang="en-US" dirty="0"/>
              <a:t>仅读取数据集；他们不执行任何更新</a:t>
            </a:r>
          </a:p>
          <a:p>
            <a:pPr lvl="1"/>
            <a:r>
              <a:rPr kumimoji="1" lang="zh-CN" altLang="en-US" dirty="0"/>
              <a:t>写者 </a:t>
            </a:r>
            <a:r>
              <a:rPr kumimoji="1" lang="en-US" altLang="zh-CN" dirty="0"/>
              <a:t>— </a:t>
            </a:r>
            <a:r>
              <a:rPr kumimoji="1" lang="zh-CN" altLang="en-US" dirty="0"/>
              <a:t>可以读写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允许多个读者同时阅读</a:t>
            </a:r>
          </a:p>
          <a:p>
            <a:pPr lvl="1"/>
            <a:r>
              <a:rPr kumimoji="1" lang="zh-CN" altLang="en-US" dirty="0"/>
              <a:t>只有一个写者可以同时访问共享数据</a:t>
            </a:r>
          </a:p>
          <a:p>
            <a:r>
              <a:rPr kumimoji="1" lang="zh-CN" altLang="en-US" dirty="0"/>
              <a:t>读者和者写的几种变体都涉及某种形式的</a:t>
            </a:r>
            <a:r>
              <a:rPr kumimoji="1" lang="zh-CN" altLang="en-US" b="1" dirty="0">
                <a:solidFill>
                  <a:srgbClr val="FF0000"/>
                </a:solidFill>
              </a:rPr>
              <a:t>优先级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pPr lvl="1"/>
            <a:r>
              <a:rPr kumimoji="1" lang="zh-CN" altLang="en-US" dirty="0"/>
              <a:t>读者优先：</a:t>
            </a:r>
            <a:r>
              <a:rPr lang="zh-CN" altLang="en-US" dirty="0"/>
              <a:t>当写者提出存取共享数据集的要求后，仍允许新读者进入。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写者优先：</a:t>
            </a:r>
            <a:r>
              <a:rPr lang="zh-CN" altLang="en-US" dirty="0"/>
              <a:t>当写者提出存取共享数据集的要求后，不允许新读者进入，且等待的写者可以跳过等待的读者进行写操作。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C729C8-98C0-5654-3658-B97D0E67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59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2320470"/>
      </p:ext>
    </p:extLst>
  </p:cSld>
  <p:clrMapOvr>
    <a:masterClrMapping/>
  </p:clrMapOvr>
  <p:transition spd="med"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628C83-1B35-FB77-4A5A-86ABE4ED6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读者</a:t>
            </a:r>
            <a:r>
              <a:rPr kumimoji="1" lang="en-US" altLang="zh-CN" dirty="0"/>
              <a:t>-</a:t>
            </a:r>
            <a:r>
              <a:rPr kumimoji="1" lang="zh-CN" altLang="en-US" dirty="0"/>
              <a:t>写者问题</a:t>
            </a:r>
            <a:r>
              <a:rPr kumimoji="1" lang="en-US" altLang="zh-CN" dirty="0"/>
              <a:t>(</a:t>
            </a:r>
            <a:r>
              <a:rPr kumimoji="1" lang="zh-CN" altLang="en-US" dirty="0"/>
              <a:t>读者优先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A2FE50-D46C-6E2B-B812-BCFAE9737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4445880"/>
            <a:ext cx="7772400" cy="1908925"/>
          </a:xfrm>
        </p:spPr>
        <p:txBody>
          <a:bodyPr>
            <a:normAutofit/>
          </a:bodyPr>
          <a:lstStyle/>
          <a:p>
            <a:r>
              <a:rPr kumimoji="1" lang="en-US" altLang="zh-CN" sz="2200" dirty="0"/>
              <a:t>lock</a:t>
            </a:r>
            <a:r>
              <a:rPr kumimoji="1" lang="zh-CN" altLang="en-US" sz="2200" dirty="0"/>
              <a:t>：互斥锁，用于互斥访问</a:t>
            </a:r>
            <a:r>
              <a:rPr kumimoji="1" lang="en-US" altLang="zh-CN" sz="2200" dirty="0"/>
              <a:t>readers</a:t>
            </a:r>
          </a:p>
          <a:p>
            <a:r>
              <a:rPr kumimoji="1" lang="en-US" altLang="zh-CN" sz="2200" dirty="0" err="1"/>
              <a:t>writelock</a:t>
            </a:r>
            <a:r>
              <a:rPr kumimoji="1" lang="zh-CN" altLang="en-US" sz="2200" dirty="0"/>
              <a:t>：写互斥锁，确保只有一个写者能进入临界区</a:t>
            </a:r>
            <a:endParaRPr kumimoji="1" lang="en-US" altLang="zh-CN" sz="2200" dirty="0"/>
          </a:p>
          <a:p>
            <a:r>
              <a:rPr kumimoji="1" lang="en-US" altLang="zh-CN" sz="2200" dirty="0"/>
              <a:t>readers</a:t>
            </a:r>
            <a:r>
              <a:rPr kumimoji="1" lang="zh-CN" altLang="en-US" sz="2200" dirty="0"/>
              <a:t>：临界区读者的数量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5E97D2-8E6E-E039-329B-910B17DDF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60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8D9E09C-5895-AE99-CC3A-654643BDD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84" y="1307723"/>
            <a:ext cx="7137313" cy="311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05731"/>
      </p:ext>
    </p:extLst>
  </p:cSld>
  <p:clrMapOvr>
    <a:masterClrMapping/>
  </p:clrMapOvr>
  <p:transition spd="med"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C96E3C-E4AE-43C0-751D-BE4DFBD99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读者</a:t>
            </a:r>
            <a:r>
              <a:rPr kumimoji="1" lang="en-US" altLang="zh-CN" dirty="0"/>
              <a:t>-</a:t>
            </a:r>
            <a:r>
              <a:rPr kumimoji="1" lang="zh-CN" altLang="en-US" dirty="0"/>
              <a:t>写者问题</a:t>
            </a:r>
            <a:r>
              <a:rPr kumimoji="1" lang="en-US" altLang="zh-CN" dirty="0"/>
              <a:t>(</a:t>
            </a:r>
            <a:r>
              <a:rPr kumimoji="1" lang="zh-CN" altLang="en-US" dirty="0"/>
              <a:t>读者优先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7D9410-3AB5-F02A-CFB0-D8949718B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027535-4343-81A1-1261-1FEBD3E5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61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B92424-B5D3-EB9C-44EC-B632CEC76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1220069"/>
            <a:ext cx="7383462" cy="538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629200"/>
      </p:ext>
    </p:extLst>
  </p:cSld>
  <p:clrMapOvr>
    <a:masterClrMapping/>
  </p:clrMapOvr>
  <p:transition spd="med"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A0B7E-C178-34C3-A058-DE75F9DAC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哲学家进餐问题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4C6315-CC27-9E7E-78FC-90DCD266F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4437757" cy="4895850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假定 有 </a:t>
            </a:r>
            <a:r>
              <a:rPr lang="en-US" altLang="zh-CN" dirty="0"/>
              <a:t>5 </a:t>
            </a:r>
            <a:r>
              <a:rPr lang="zh-CN" altLang="en-US" dirty="0"/>
              <a:t>位“哲学家”围着一个圆桌。每两位哲学家之间有一根筷子</a:t>
            </a:r>
            <a:r>
              <a:rPr lang="en-US" altLang="zh-CN" dirty="0"/>
              <a:t>(</a:t>
            </a:r>
            <a:r>
              <a:rPr lang="zh-CN" altLang="en-US" dirty="0"/>
              <a:t>一共 </a:t>
            </a:r>
            <a:r>
              <a:rPr lang="en-US" altLang="zh-CN" dirty="0"/>
              <a:t>5 </a:t>
            </a:r>
            <a:r>
              <a:rPr lang="zh-CN" altLang="en-US" dirty="0"/>
              <a:t>根</a:t>
            </a:r>
            <a:r>
              <a:rPr lang="en-US" altLang="zh-CN" dirty="0"/>
              <a:t>)</a:t>
            </a:r>
            <a:r>
              <a:rPr lang="zh-CN" altLang="en-US" dirty="0"/>
              <a:t>，每个哲学家面前有一个碗。</a:t>
            </a:r>
            <a:endParaRPr lang="en-US" altLang="zh-CN" dirty="0"/>
          </a:p>
          <a:p>
            <a:r>
              <a:rPr lang="zh-CN" altLang="en-US" dirty="0"/>
              <a:t>哲学家的生活方式是交替地思考和就餐。</a:t>
            </a:r>
            <a:endParaRPr lang="en-US" altLang="zh-CN" dirty="0"/>
          </a:p>
          <a:p>
            <a:r>
              <a:rPr lang="zh-CN" altLang="en-US" dirty="0"/>
              <a:t>平时哲学家进行思考，饥饿时便试图取其左、右最靠近他的筷子，只有在他拿到两支筷子时才能进餐</a:t>
            </a:r>
          </a:p>
          <a:p>
            <a:r>
              <a:rPr lang="zh-CN" altLang="en-US" dirty="0"/>
              <a:t>进餐完毕，放下筷子又继续思考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1BA242-49ED-E8B3-8CE7-B502CD4F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62</a:t>
            </a:fld>
            <a:endParaRPr lang="zh-CN" altLang="en-US" dirty="0"/>
          </a:p>
        </p:txBody>
      </p:sp>
      <p:grpSp>
        <p:nvGrpSpPr>
          <p:cNvPr id="5" name="Group 18">
            <a:extLst>
              <a:ext uri="{FF2B5EF4-FFF2-40B4-BE49-F238E27FC236}">
                <a16:creationId xmlns:a16="http://schemas.microsoft.com/office/drawing/2014/main" id="{952D9C6D-3417-F15D-95A5-A03B11879A96}"/>
              </a:ext>
            </a:extLst>
          </p:cNvPr>
          <p:cNvGrpSpPr>
            <a:grpSpLocks/>
          </p:cNvGrpSpPr>
          <p:nvPr/>
        </p:nvGrpSpPr>
        <p:grpSpPr bwMode="auto">
          <a:xfrm>
            <a:off x="5484160" y="1799398"/>
            <a:ext cx="3265270" cy="3259203"/>
            <a:chOff x="131" y="1899"/>
            <a:chExt cx="2613" cy="2302"/>
          </a:xfrm>
        </p:grpSpPr>
        <p:pic>
          <p:nvPicPr>
            <p:cNvPr id="6" name="Picture 16">
              <a:extLst>
                <a:ext uri="{FF2B5EF4-FFF2-40B4-BE49-F238E27FC236}">
                  <a16:creationId xmlns:a16="http://schemas.microsoft.com/office/drawing/2014/main" id="{443118EB-0B55-2BB8-726A-7EB550BAF9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84" t="1529" r="9151" b="710"/>
            <a:stretch>
              <a:fillRect/>
            </a:stretch>
          </p:blipFill>
          <p:spPr bwMode="auto">
            <a:xfrm>
              <a:off x="131" y="1899"/>
              <a:ext cx="2613" cy="2302"/>
            </a:xfrm>
            <a:prstGeom prst="rect">
              <a:avLst/>
            </a:prstGeom>
            <a:noFill/>
            <a:ln w="57150" cmpd="thickThin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FEEBB9FD-6AFE-B303-FEE1-C765B1DE6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3108"/>
              <a:ext cx="19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>
                  <a:solidFill>
                    <a:schemeClr val="hlink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8" name="Rectangle 14">
              <a:extLst>
                <a:ext uri="{FF2B5EF4-FFF2-40B4-BE49-F238E27FC236}">
                  <a16:creationId xmlns:a16="http://schemas.microsoft.com/office/drawing/2014/main" id="{BA36FB8C-7B9F-C369-561D-FEDD76FFA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" y="2395"/>
              <a:ext cx="19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DDE59E99-01F6-B9DB-7242-6277914A2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019"/>
              <a:ext cx="19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0CAA315B-83CB-DD4D-58C0-EE9112827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2019"/>
              <a:ext cx="193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EE0371FB-BAF8-8772-5C59-180D4E7A0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" y="3121"/>
              <a:ext cx="193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C2724E81-CD79-0C17-4055-98F348FD2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825"/>
              <a:ext cx="193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EBB0A90B-C56E-344B-12CD-C83388566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" y="3199"/>
              <a:ext cx="19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3537274B-E19C-E195-F11B-2190329DC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7" y="3153"/>
              <a:ext cx="193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32E956AD-046D-2BD1-A1E8-1BE7DC2D6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0" y="2667"/>
              <a:ext cx="19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6" name="Rectangle 10">
              <a:extLst>
                <a:ext uri="{FF2B5EF4-FFF2-40B4-BE49-F238E27FC236}">
                  <a16:creationId xmlns:a16="http://schemas.microsoft.com/office/drawing/2014/main" id="{5145BCFE-A702-F95F-ECB3-70A241823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2622"/>
              <a:ext cx="193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5284899"/>
      </p:ext>
    </p:extLst>
  </p:cSld>
  <p:clrMapOvr>
    <a:masterClrMapping/>
  </p:clrMapOvr>
  <p:transition spd="med">
    <p:zo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78A071-0A05-D978-298B-8A03F430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哲学家进餐问题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C9C5E7-4069-3273-BB9A-07BBA53ED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zh-CN" altLang="en-US" dirty="0"/>
              <a:t>哲学家的基本代码：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面临的同步问题：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互斥：每根筷子只能被一个人拿起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死锁：没人能拿到足够的筷子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饥饿：有人总也拿不到筷子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如何实现</a:t>
            </a:r>
            <a:r>
              <a:rPr kumimoji="1" lang="en-US" altLang="zh-CN" dirty="0" err="1"/>
              <a:t>getforks</a:t>
            </a:r>
            <a:r>
              <a:rPr kumimoji="1" lang="en-US" altLang="zh-CN" dirty="0"/>
              <a:t>()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putforks</a:t>
            </a:r>
            <a:r>
              <a:rPr kumimoji="1" lang="en-US" altLang="zh-CN" dirty="0"/>
              <a:t>()</a:t>
            </a:r>
            <a:r>
              <a:rPr kumimoji="1" lang="zh-CN" altLang="en-US" dirty="0"/>
              <a:t>，确保没有死锁，没有哲学家饥饿，且并发度更高（更多的哲学家同时吃东西）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7676FA-6C09-86BA-340C-E659D112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63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356500-A848-1BC7-8D90-C82339CA7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180" y="1834627"/>
            <a:ext cx="3122167" cy="170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710131"/>
      </p:ext>
    </p:extLst>
  </p:cSld>
  <p:clrMapOvr>
    <a:masterClrMapping/>
  </p:clrMapOvr>
  <p:transition spd="med"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978770-B9C7-5371-6801-30B52113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哲学家进餐问题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7D2020-DCB6-625F-0244-388446B33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zh-CN" altLang="en-US" sz="2400" dirty="0"/>
              <a:t>设置如下辅助函数：</a:t>
            </a:r>
            <a:endParaRPr kumimoji="1" lang="en-US" altLang="zh-CN" sz="2400" dirty="0"/>
          </a:p>
          <a:p>
            <a:pPr marL="0" indent="0">
              <a:buNone/>
            </a:pPr>
            <a:r>
              <a:rPr kumimoji="1" lang="en-US" altLang="zh-CN" sz="2400" dirty="0"/>
              <a:t>	</a:t>
            </a:r>
          </a:p>
          <a:p>
            <a:pPr marL="0" indent="0">
              <a:buNone/>
            </a:pPr>
            <a:endParaRPr kumimoji="1" lang="en-US" altLang="zh-CN" sz="2400" dirty="0"/>
          </a:p>
          <a:p>
            <a:r>
              <a:rPr kumimoji="1" lang="zh-CN" altLang="en-US" sz="2400" dirty="0"/>
              <a:t>方案一：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每个哲学家都先拿起左边的筷子，再去申请右边的筷子，就会出现死锁</a:t>
            </a:r>
            <a:endParaRPr kumimoji="1" lang="en-US" altLang="zh-CN" sz="2400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0CBF64-441F-B0DF-FFFF-BAD7D6075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64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FB2D73-5321-D90A-0F8B-4C8F8143C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532" y="1610114"/>
            <a:ext cx="5851830" cy="74477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7E30169-9096-BBF0-704C-6A4A5E699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832" y="3218074"/>
            <a:ext cx="4399071" cy="221345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56B452F-41EC-547F-92AB-8EB6BD29AD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1118" y="2832967"/>
            <a:ext cx="1834432" cy="2363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B367BAB-72BB-0F43-D680-91249156D539}"/>
              </a:ext>
            </a:extLst>
          </p:cNvPr>
          <p:cNvSpPr txBox="1"/>
          <p:nvPr/>
        </p:nvSpPr>
        <p:spPr>
          <a:xfrm>
            <a:off x="3902816" y="2743337"/>
            <a:ext cx="275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/>
              <a:t>;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974107262"/>
      </p:ext>
    </p:extLst>
  </p:cSld>
  <p:clrMapOvr>
    <a:masterClrMapping/>
  </p:clrMapOvr>
  <p:transition spd="med"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EDB606-B303-933F-1F9A-7B365B71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哲学家进餐问题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D6DB2D-1B75-6FED-4202-3C7E81E6A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方案二：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破除依赖，修改最后一个哲学家取筷子的顺序，则不会出现死锁情况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C18092-DE2B-3D69-5609-33ED6C1F2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65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2145EBE-F01C-9F2C-BC78-29A817A7C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50" y="1892300"/>
            <a:ext cx="68707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373912"/>
      </p:ext>
    </p:extLst>
  </p:cSld>
  <p:clrMapOvr>
    <a:masterClrMapping/>
  </p:clrMapOvr>
  <p:transition spd="med">
    <p:zo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>
            <a:extLst>
              <a:ext uri="{FF2B5EF4-FFF2-40B4-BE49-F238E27FC236}">
                <a16:creationId xmlns:a16="http://schemas.microsoft.com/office/drawing/2014/main" id="{02D1FE8C-3B1F-FAB9-8505-0E3558A74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睡眠的理发师问题</a:t>
            </a:r>
          </a:p>
        </p:txBody>
      </p:sp>
      <p:sp>
        <p:nvSpPr>
          <p:cNvPr id="335875" name="Rectangle 3">
            <a:extLst>
              <a:ext uri="{FF2B5EF4-FFF2-40B4-BE49-F238E27FC236}">
                <a16:creationId xmlns:a16="http://schemas.microsoft.com/office/drawing/2014/main" id="{CDE1AA4E-D5B6-E1D6-27FE-04CCB1B650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/>
          <a:lstStyle/>
          <a:p>
            <a:r>
              <a:rPr lang="zh-CN" altLang="en-US"/>
              <a:t>理发店里有一位理发师，一把理发椅和</a:t>
            </a:r>
            <a:r>
              <a:rPr lang="en-US" altLang="zh-CN"/>
              <a:t>N</a:t>
            </a:r>
            <a:r>
              <a:rPr lang="zh-CN" altLang="en-US"/>
              <a:t>把供等候理发顾客坐的椅子。</a:t>
            </a:r>
          </a:p>
          <a:p>
            <a:r>
              <a:rPr lang="zh-CN" altLang="en-US"/>
              <a:t>如果没有顾客，理发师睡眠，当一个顾客到来时叫醒理发师；</a:t>
            </a:r>
          </a:p>
          <a:p>
            <a:r>
              <a:rPr lang="zh-CN" altLang="en-US"/>
              <a:t>若理发师正在理发时又有顾客来，那么有空椅子就坐下，否则离开理发店。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730F8AE-F74C-8D52-CE1E-F89103F0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66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35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35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35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5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>
            <a:extLst>
              <a:ext uri="{FF2B5EF4-FFF2-40B4-BE49-F238E27FC236}">
                <a16:creationId xmlns:a16="http://schemas.microsoft.com/office/drawing/2014/main" id="{148E4596-548F-7D51-C2C8-64D17B5969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睡眠的理发师问题</a:t>
            </a:r>
          </a:p>
        </p:txBody>
      </p:sp>
      <p:sp>
        <p:nvSpPr>
          <p:cNvPr id="337923" name="Rectangle 3">
            <a:extLst>
              <a:ext uri="{FF2B5EF4-FFF2-40B4-BE49-F238E27FC236}">
                <a16:creationId xmlns:a16="http://schemas.microsoft.com/office/drawing/2014/main" id="{1EDDEA1B-A6C8-ED9B-48CC-408909A964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/>
          <a:lstStyle/>
          <a:p>
            <a:r>
              <a:rPr lang="zh-CN" altLang="en-US" dirty="0"/>
              <a:t>定义三个信号量：</a:t>
            </a:r>
          </a:p>
          <a:p>
            <a:pPr lvl="1"/>
            <a:r>
              <a:rPr lang="en-US" altLang="zh-CN" dirty="0"/>
              <a:t>customers</a:t>
            </a:r>
            <a:r>
              <a:rPr lang="zh-CN" altLang="en-US" dirty="0"/>
              <a:t>记录等候理发的顾客数（不包括正在理发的顾客）；初值为</a:t>
            </a:r>
            <a:r>
              <a:rPr lang="en-US" altLang="zh-CN" dirty="0"/>
              <a:t>0</a:t>
            </a:r>
          </a:p>
          <a:p>
            <a:pPr lvl="1"/>
            <a:r>
              <a:rPr lang="en-US" altLang="zh-CN" dirty="0"/>
              <a:t>barbers</a:t>
            </a:r>
            <a:r>
              <a:rPr lang="zh-CN" altLang="en-US" dirty="0"/>
              <a:t>用于表示理发师是否可用</a:t>
            </a:r>
            <a:r>
              <a:rPr lang="en-US" altLang="zh-CN" dirty="0"/>
              <a:t>；</a:t>
            </a:r>
            <a:r>
              <a:rPr lang="zh-CN" altLang="en-US" dirty="0"/>
              <a:t>初值为</a:t>
            </a:r>
            <a:r>
              <a:rPr lang="en-US" altLang="zh-CN" dirty="0"/>
              <a:t>0</a:t>
            </a:r>
          </a:p>
          <a:p>
            <a:pPr lvl="1"/>
            <a:r>
              <a:rPr lang="en-US" altLang="zh-CN" dirty="0"/>
              <a:t>mutex</a:t>
            </a:r>
            <a:r>
              <a:rPr lang="zh-CN" altLang="en-US" dirty="0"/>
              <a:t>用于互斥。初值为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变量</a:t>
            </a:r>
            <a:r>
              <a:rPr lang="en-US" altLang="zh-CN" dirty="0"/>
              <a:t>count</a:t>
            </a:r>
            <a:r>
              <a:rPr lang="zh-CN" altLang="en-US" dirty="0"/>
              <a:t>记录等候的顾客数，它是</a:t>
            </a:r>
            <a:r>
              <a:rPr lang="en-US" altLang="zh-CN" dirty="0"/>
              <a:t>customers</a:t>
            </a:r>
            <a:r>
              <a:rPr lang="zh-CN" altLang="en-US" dirty="0"/>
              <a:t>的一份拷贝。之所以使用</a:t>
            </a:r>
            <a:r>
              <a:rPr lang="en-US" altLang="zh-CN" dirty="0"/>
              <a:t>count</a:t>
            </a:r>
            <a:r>
              <a:rPr lang="zh-CN" altLang="en-US" dirty="0"/>
              <a:t>是因为无法读取信号量的当前值。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EB62E8F-52EB-6F21-4645-085490643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67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>
            <a:extLst>
              <a:ext uri="{FF2B5EF4-FFF2-40B4-BE49-F238E27FC236}">
                <a16:creationId xmlns:a16="http://schemas.microsoft.com/office/drawing/2014/main" id="{1CF68E6A-BE37-CF1B-8044-5928CD9F10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理发师描述</a:t>
            </a:r>
          </a:p>
        </p:txBody>
      </p:sp>
      <p:sp>
        <p:nvSpPr>
          <p:cNvPr id="339971" name="Rectangle 3">
            <a:extLst>
              <a:ext uri="{FF2B5EF4-FFF2-40B4-BE49-F238E27FC236}">
                <a16:creationId xmlns:a16="http://schemas.microsoft.com/office/drawing/2014/main" id="{BC11771C-20B3-4041-855F-86911F241E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7134" y="1290182"/>
            <a:ext cx="7370785" cy="5034418"/>
          </a:xfrm>
        </p:spPr>
        <p:txBody>
          <a:bodyPr>
            <a:noAutofit/>
          </a:bodyPr>
          <a:lstStyle/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/>
              <a:t>barber(){	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dirty="0"/>
              <a:t>   </a:t>
            </a:r>
            <a:r>
              <a:rPr lang="en-US" altLang="zh-CN" sz="2400" dirty="0"/>
              <a:t>while(true){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dirty="0"/>
              <a:t>      </a:t>
            </a:r>
            <a:r>
              <a:rPr lang="en-US" altLang="zh-CN" sz="2400" dirty="0"/>
              <a:t>p(customers)；</a:t>
            </a:r>
            <a:r>
              <a:rPr lang="zh-CN" altLang="en-US" sz="2400" dirty="0"/>
              <a:t> </a:t>
            </a:r>
            <a:r>
              <a:rPr lang="en-US" altLang="zh-CN" sz="2400" dirty="0"/>
              <a:t>//</a:t>
            </a:r>
            <a:r>
              <a:rPr lang="zh-CN" altLang="en-US" sz="2400" dirty="0"/>
              <a:t>是否有等候的顾客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dirty="0"/>
              <a:t> 	   </a:t>
            </a:r>
            <a:r>
              <a:rPr lang="en-US" altLang="zh-CN" sz="2400" dirty="0"/>
              <a:t>p(mutex)；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/>
              <a:t> 	</a:t>
            </a:r>
            <a:r>
              <a:rPr lang="zh-CN" altLang="en-US" sz="2400" dirty="0"/>
              <a:t>   </a:t>
            </a:r>
            <a:r>
              <a:rPr lang="en-US" altLang="zh-CN" sz="2400" dirty="0"/>
              <a:t>count=count－1；//</a:t>
            </a:r>
            <a:r>
              <a:rPr lang="zh-CN" altLang="en-US" sz="2400" dirty="0"/>
              <a:t> 顾客数减1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dirty="0"/>
              <a:t>	   </a:t>
            </a:r>
            <a:r>
              <a:rPr lang="en-US" altLang="zh-CN" sz="2400" dirty="0"/>
              <a:t>v(barbers)；  //</a:t>
            </a:r>
            <a:r>
              <a:rPr lang="zh-CN" altLang="en-US" sz="2400" dirty="0"/>
              <a:t> 理发师开始理发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dirty="0"/>
              <a:t> 	   </a:t>
            </a:r>
            <a:r>
              <a:rPr lang="en-US" altLang="zh-CN" sz="2400" dirty="0"/>
              <a:t>v(mutex)；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/>
              <a:t>   </a:t>
            </a:r>
            <a:r>
              <a:rPr lang="zh-CN" altLang="en-US" sz="2400" dirty="0"/>
              <a:t>   理发；</a:t>
            </a:r>
            <a:endParaRPr lang="en-US" altLang="zh-CN" sz="2400" dirty="0"/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dirty="0"/>
              <a:t>   </a:t>
            </a:r>
            <a:r>
              <a:rPr lang="en-US" altLang="zh-CN" sz="2400" dirty="0"/>
              <a:t>}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/>
              <a:t>}</a:t>
            </a:r>
            <a:r>
              <a:rPr lang="zh-CN" altLang="en-US" sz="2400" dirty="0"/>
              <a:t>      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BE93B92-A2D0-629B-324E-0AB077522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68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39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39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39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39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39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39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39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39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39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339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1" grpId="0" build="p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>
            <a:extLst>
              <a:ext uri="{FF2B5EF4-FFF2-40B4-BE49-F238E27FC236}">
                <a16:creationId xmlns:a16="http://schemas.microsoft.com/office/drawing/2014/main" id="{BC96D021-CE19-0138-B36C-7CCC17AC63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顾客描述</a:t>
            </a:r>
          </a:p>
        </p:txBody>
      </p:sp>
      <p:sp>
        <p:nvSpPr>
          <p:cNvPr id="340995" name="Rectangle 3">
            <a:extLst>
              <a:ext uri="{FF2B5EF4-FFF2-40B4-BE49-F238E27FC236}">
                <a16:creationId xmlns:a16="http://schemas.microsoft.com/office/drawing/2014/main" id="{D0601B0F-E25D-7272-7F0A-C8E967BE8A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171580"/>
            <a:ext cx="7126939" cy="5460985"/>
          </a:xfrm>
        </p:spPr>
        <p:txBody>
          <a:bodyPr>
            <a:noAutofit/>
          </a:bodyPr>
          <a:lstStyle/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/>
              <a:t> customer(){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dirty="0"/>
              <a:t>      </a:t>
            </a:r>
            <a:r>
              <a:rPr lang="en-US" altLang="zh-CN" sz="2400" dirty="0"/>
              <a:t>p(mutex)；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/>
              <a:t>  </a:t>
            </a:r>
            <a:r>
              <a:rPr lang="zh-CN" altLang="en-US" sz="2400" dirty="0"/>
              <a:t>    </a:t>
            </a:r>
            <a:r>
              <a:rPr lang="en-US" altLang="zh-CN" sz="2400" dirty="0"/>
              <a:t>if(count &lt; N）{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/>
              <a:t>  </a:t>
            </a:r>
            <a:r>
              <a:rPr lang="zh-CN" altLang="en-US" sz="2400" dirty="0"/>
              <a:t>       </a:t>
            </a:r>
            <a:r>
              <a:rPr lang="en-US" altLang="zh-CN" sz="2400" dirty="0"/>
              <a:t>count=count+1</a:t>
            </a:r>
            <a:r>
              <a:rPr lang="zh-CN" altLang="en-US" sz="2400" dirty="0"/>
              <a:t>；</a:t>
            </a:r>
            <a:r>
              <a:rPr lang="en-US" altLang="zh-CN" sz="2400" dirty="0"/>
              <a:t>//</a:t>
            </a:r>
            <a:r>
              <a:rPr lang="zh-CN" altLang="en-US" sz="2400" dirty="0"/>
              <a:t> 等候的顾客加</a:t>
            </a:r>
            <a:r>
              <a:rPr lang="en-US" altLang="zh-CN" sz="2400" dirty="0"/>
              <a:t>1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dirty="0"/>
              <a:t>         </a:t>
            </a:r>
            <a:r>
              <a:rPr lang="en-US" altLang="zh-CN" sz="2400" dirty="0"/>
              <a:t>v(customers)；</a:t>
            </a:r>
            <a:r>
              <a:rPr lang="zh-CN" altLang="en-US" sz="2400" dirty="0"/>
              <a:t>   </a:t>
            </a:r>
            <a:r>
              <a:rPr lang="en-US" altLang="zh-CN" sz="2400" dirty="0"/>
              <a:t>//</a:t>
            </a:r>
            <a:r>
              <a:rPr lang="zh-CN" altLang="en-US" sz="2400" dirty="0"/>
              <a:t> 通知理发师有顾客</a:t>
            </a:r>
            <a:r>
              <a:rPr lang="en-US" altLang="zh-CN" sz="2400" dirty="0"/>
              <a:t>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     </a:t>
            </a:r>
            <a:r>
              <a:rPr lang="en-US" altLang="zh-CN" sz="2400" dirty="0"/>
              <a:t>v(mutex)；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     </a:t>
            </a:r>
            <a:r>
              <a:rPr lang="en-US" altLang="zh-CN" sz="2400" dirty="0"/>
              <a:t>p(barbers)；   //</a:t>
            </a:r>
            <a:r>
              <a:rPr lang="zh-CN" altLang="en-US" sz="2400" dirty="0"/>
              <a:t> 等待理发师准备好</a:t>
            </a:r>
            <a:endParaRPr lang="en-US" altLang="zh-CN" sz="2400" dirty="0"/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     理发；     </a:t>
            </a:r>
            <a:endParaRPr lang="en-US" altLang="zh-CN" sz="2400" dirty="0"/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dirty="0"/>
              <a:t>     }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dirty="0"/>
              <a:t>   </a:t>
            </a:r>
            <a:r>
              <a:rPr lang="en-US" altLang="zh-CN" sz="2400" dirty="0"/>
              <a:t>else     v(mutex)；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1B84E6B-71EB-CCE0-792E-BE6924A9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69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0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40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40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40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40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40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40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40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40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3409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409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5" grpId="0" build="p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6A85DE-DDDD-011C-30A5-AC1840C0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利用信号量实现进程间的同步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2B5D2E-1400-BADB-61E2-5660B5377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3652838" cy="4895850"/>
          </a:xfrm>
        </p:spPr>
        <p:txBody>
          <a:bodyPr/>
          <a:lstStyle/>
          <a:p>
            <a:r>
              <a:rPr lang="en-US" altLang="zh-CN" dirty="0"/>
              <a:t>P1</a:t>
            </a:r>
            <a:r>
              <a:rPr lang="en-US" altLang="zh-CN" dirty="0">
                <a:latin typeface="Times New Roman" panose="02020603050405020304" pitchFamily="18" charset="0"/>
              </a:rPr>
              <a:t>、</a:t>
            </a:r>
            <a:r>
              <a:rPr lang="en-US" altLang="zh-CN" dirty="0"/>
              <a:t>P2</a:t>
            </a:r>
            <a:r>
              <a:rPr lang="en-US" altLang="zh-CN" dirty="0">
                <a:latin typeface="Times New Roman" panose="02020603050405020304" pitchFamily="18" charset="0"/>
              </a:rPr>
              <a:t>、</a:t>
            </a:r>
            <a:r>
              <a:rPr lang="en-US" altLang="zh-CN" dirty="0"/>
              <a:t>P3</a:t>
            </a:r>
            <a:r>
              <a:rPr lang="en-US" altLang="zh-CN" dirty="0">
                <a:latin typeface="Times New Roman" panose="02020603050405020304" pitchFamily="18" charset="0"/>
              </a:rPr>
              <a:t>、</a:t>
            </a:r>
            <a:r>
              <a:rPr lang="en-US" altLang="zh-CN" dirty="0"/>
              <a:t>P4</a:t>
            </a:r>
            <a:r>
              <a:rPr lang="en-US" altLang="zh-CN" dirty="0">
                <a:latin typeface="Times New Roman" panose="02020603050405020304" pitchFamily="18" charset="0"/>
              </a:rPr>
              <a:t>、</a:t>
            </a:r>
            <a:r>
              <a:rPr lang="en-US" altLang="zh-CN" dirty="0"/>
              <a:t>P5</a:t>
            </a:r>
            <a:r>
              <a:rPr lang="en-US" altLang="zh-CN" dirty="0">
                <a:latin typeface="Times New Roman" panose="02020603050405020304" pitchFamily="18" charset="0"/>
              </a:rPr>
              <a:t>、</a:t>
            </a:r>
            <a:r>
              <a:rPr lang="en-US" altLang="zh-CN" dirty="0"/>
              <a:t>P6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/>
              <a:t>一组合作进程，其前驱图如下所示，试用信号量</a:t>
            </a:r>
            <a:r>
              <a:rPr lang="zh-CN" altLang="en-US" dirty="0">
                <a:latin typeface="Times New Roman" panose="02020603050405020304" pitchFamily="18" charset="0"/>
              </a:rPr>
              <a:t>实现这六个进程间的同步。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DE2167-B187-8CC8-EB29-A5BD08015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70</a:t>
            </a:fld>
            <a:endParaRPr lang="zh-CN" altLang="en-US" dirty="0"/>
          </a:p>
        </p:txBody>
      </p:sp>
      <p:sp>
        <p:nvSpPr>
          <p:cNvPr id="5" name="Oval 20">
            <a:extLst>
              <a:ext uri="{FF2B5EF4-FFF2-40B4-BE49-F238E27FC236}">
                <a16:creationId xmlns:a16="http://schemas.microsoft.com/office/drawing/2014/main" id="{C825A00B-E79B-CEF1-9D60-E99B336D5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3025" y="1792288"/>
            <a:ext cx="863600" cy="468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Times New Roman" panose="02020603050405020304" pitchFamily="18" charset="0"/>
              </a:rPr>
              <a:t>   P1</a:t>
            </a:r>
          </a:p>
        </p:txBody>
      </p:sp>
      <p:sp>
        <p:nvSpPr>
          <p:cNvPr id="6" name="Oval 21">
            <a:extLst>
              <a:ext uri="{FF2B5EF4-FFF2-40B4-BE49-F238E27FC236}">
                <a16:creationId xmlns:a16="http://schemas.microsoft.com/office/drawing/2014/main" id="{4F523C3C-44DE-6A68-4D89-BE18C6C2C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9088" y="2959100"/>
            <a:ext cx="865187" cy="46672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Times New Roman" panose="02020603050405020304" pitchFamily="18" charset="0"/>
              </a:rPr>
              <a:t>   P2</a:t>
            </a:r>
          </a:p>
        </p:txBody>
      </p:sp>
      <p:sp>
        <p:nvSpPr>
          <p:cNvPr id="7" name="Oval 22">
            <a:extLst>
              <a:ext uri="{FF2B5EF4-FFF2-40B4-BE49-F238E27FC236}">
                <a16:creationId xmlns:a16="http://schemas.microsoft.com/office/drawing/2014/main" id="{C1450B5E-8B72-B9AD-C3BE-225BC221F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75" y="5526088"/>
            <a:ext cx="865188" cy="468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Times New Roman" panose="02020603050405020304" pitchFamily="18" charset="0"/>
              </a:rPr>
              <a:t>   P6</a:t>
            </a:r>
          </a:p>
        </p:txBody>
      </p:sp>
      <p:sp>
        <p:nvSpPr>
          <p:cNvPr id="8" name="Oval 23">
            <a:extLst>
              <a:ext uri="{FF2B5EF4-FFF2-40B4-BE49-F238E27FC236}">
                <a16:creationId xmlns:a16="http://schemas.microsoft.com/office/drawing/2014/main" id="{9B676643-DFD4-D50B-1B76-144B9F312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238" y="4232275"/>
            <a:ext cx="865187" cy="4699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   </a:t>
            </a:r>
            <a:r>
              <a:rPr kumimoji="0" lang="en-US" altLang="zh-CN" sz="2000" b="1">
                <a:latin typeface="Times New Roman" panose="02020603050405020304" pitchFamily="18" charset="0"/>
              </a:rPr>
              <a:t>P4</a:t>
            </a:r>
          </a:p>
        </p:txBody>
      </p:sp>
      <p:sp>
        <p:nvSpPr>
          <p:cNvPr id="9" name="Oval 24">
            <a:extLst>
              <a:ext uri="{FF2B5EF4-FFF2-40B4-BE49-F238E27FC236}">
                <a16:creationId xmlns:a16="http://schemas.microsoft.com/office/drawing/2014/main" id="{2B99C0FE-6D23-C506-E555-CDC118CED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3001963"/>
            <a:ext cx="865188" cy="46672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   </a:t>
            </a:r>
            <a:r>
              <a:rPr kumimoji="0" lang="en-US" altLang="zh-CN" sz="2000" b="1">
                <a:latin typeface="Times New Roman" panose="02020603050405020304" pitchFamily="18" charset="0"/>
              </a:rPr>
              <a:t>P3</a:t>
            </a:r>
          </a:p>
        </p:txBody>
      </p:sp>
      <p:sp>
        <p:nvSpPr>
          <p:cNvPr id="10" name="Line 25">
            <a:extLst>
              <a:ext uri="{FF2B5EF4-FFF2-40B4-BE49-F238E27FC236}">
                <a16:creationId xmlns:a16="http://schemas.microsoft.com/office/drawing/2014/main" id="{8EFBF2AD-6EF7-34FB-408F-AB8C8B2DCE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15025" y="2173288"/>
            <a:ext cx="609600" cy="798512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26">
            <a:extLst>
              <a:ext uri="{FF2B5EF4-FFF2-40B4-BE49-F238E27FC236}">
                <a16:creationId xmlns:a16="http://schemas.microsoft.com/office/drawing/2014/main" id="{89D102F9-7BA8-2C4C-0833-542441FA8B5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0425" y="2173288"/>
            <a:ext cx="838200" cy="798512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27">
            <a:extLst>
              <a:ext uri="{FF2B5EF4-FFF2-40B4-BE49-F238E27FC236}">
                <a16:creationId xmlns:a16="http://schemas.microsoft.com/office/drawing/2014/main" id="{E7F6BDD9-9BEB-5E90-E0E8-748B47C259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29225" y="3392488"/>
            <a:ext cx="457200" cy="8382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28">
            <a:extLst>
              <a:ext uri="{FF2B5EF4-FFF2-40B4-BE49-F238E27FC236}">
                <a16:creationId xmlns:a16="http://schemas.microsoft.com/office/drawing/2014/main" id="{3F44ED0B-196C-FD30-B4C2-3665F5EB4D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1625" y="4687888"/>
            <a:ext cx="914400" cy="914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Oval 29">
            <a:extLst>
              <a:ext uri="{FF2B5EF4-FFF2-40B4-BE49-F238E27FC236}">
                <a16:creationId xmlns:a16="http://schemas.microsoft.com/office/drawing/2014/main" id="{D258C419-8626-4C6A-AE0D-7A5F2F913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425" y="4162425"/>
            <a:ext cx="865188" cy="46672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latin typeface="Times New Roman" panose="02020603050405020304" pitchFamily="18" charset="0"/>
              </a:rPr>
              <a:t>   </a:t>
            </a:r>
            <a:r>
              <a:rPr kumimoji="0" lang="en-US" altLang="zh-CN" sz="2000" b="1" dirty="0">
                <a:latin typeface="Times New Roman" panose="02020603050405020304" pitchFamily="18" charset="0"/>
              </a:rPr>
              <a:t>P5</a:t>
            </a:r>
          </a:p>
        </p:txBody>
      </p:sp>
      <p:sp>
        <p:nvSpPr>
          <p:cNvPr id="15" name="Line 30">
            <a:extLst>
              <a:ext uri="{FF2B5EF4-FFF2-40B4-BE49-F238E27FC236}">
                <a16:creationId xmlns:a16="http://schemas.microsoft.com/office/drawing/2014/main" id="{206A0B90-896B-5978-F992-8EBD34C058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58025" y="3468688"/>
            <a:ext cx="1066800" cy="2209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31">
            <a:extLst>
              <a:ext uri="{FF2B5EF4-FFF2-40B4-BE49-F238E27FC236}">
                <a16:creationId xmlns:a16="http://schemas.microsoft.com/office/drawing/2014/main" id="{E208D949-80B1-2801-1631-E776634573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3150" y="3344863"/>
            <a:ext cx="676275" cy="8096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32">
            <a:extLst>
              <a:ext uri="{FF2B5EF4-FFF2-40B4-BE49-F238E27FC236}">
                <a16:creationId xmlns:a16="http://schemas.microsoft.com/office/drawing/2014/main" id="{6E82214C-F929-A061-E500-7DC4445457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00825" y="4630738"/>
            <a:ext cx="277813" cy="8953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927930"/>
      </p:ext>
    </p:extLst>
  </p:cSld>
  <p:clrMapOvr>
    <a:masterClrMapping/>
  </p:clrMapOvr>
  <p:transition spd="med">
    <p:zo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5C84328E-4A86-13DD-F590-4C691F4D6C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/>
              <a:t>解法1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5ADE0E45-B872-173A-EB6E-907904927B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233488"/>
            <a:ext cx="3921125" cy="5092156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/>
              <a:t>设七个同步信号量</a:t>
            </a:r>
            <a:r>
              <a:rPr lang="en-US" altLang="zh-CN" sz="2400" dirty="0" err="1"/>
              <a:t>a、b、c、d、e、f、g</a:t>
            </a:r>
            <a:r>
              <a:rPr lang="zh-CN" altLang="en-US" sz="2400" dirty="0"/>
              <a:t>分别表示进程之间的前驱关系，如图所示，其初值均为0。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/>
              <a:t>P1（）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/>
              <a:t>{     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/>
              <a:t>     </a:t>
            </a:r>
            <a:r>
              <a:rPr lang="zh-CN" altLang="en-US" sz="2400" dirty="0"/>
              <a:t>执行</a:t>
            </a:r>
            <a:r>
              <a:rPr lang="en-US" altLang="zh-CN" sz="2400" dirty="0"/>
              <a:t>P1</a:t>
            </a:r>
            <a:r>
              <a:rPr lang="zh-CN" altLang="en-US" sz="2400" dirty="0"/>
              <a:t>的代码；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/>
              <a:t>      v(a)；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/>
              <a:t>      v(b)；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/>
              <a:t> }</a:t>
            </a:r>
            <a:endParaRPr lang="zh-CN" altLang="en-US" sz="2400" dirty="0"/>
          </a:p>
        </p:txBody>
      </p:sp>
      <p:sp>
        <p:nvSpPr>
          <p:cNvPr id="64515" name="Oval 5">
            <a:extLst>
              <a:ext uri="{FF2B5EF4-FFF2-40B4-BE49-F238E27FC236}">
                <a16:creationId xmlns:a16="http://schemas.microsoft.com/office/drawing/2014/main" id="{D1A6E219-A1EA-EC83-C175-E868E73EB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5900" y="1944688"/>
            <a:ext cx="863600" cy="468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Times New Roman" panose="02020603050405020304" pitchFamily="18" charset="0"/>
              </a:rPr>
              <a:t>   P1</a:t>
            </a:r>
          </a:p>
        </p:txBody>
      </p:sp>
      <p:sp>
        <p:nvSpPr>
          <p:cNvPr id="64516" name="Oval 6">
            <a:extLst>
              <a:ext uri="{FF2B5EF4-FFF2-40B4-BE49-F238E27FC236}">
                <a16:creationId xmlns:a16="http://schemas.microsoft.com/office/drawing/2014/main" id="{A4F39B4F-1004-DA0E-087D-3C7163BEE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1963" y="3111500"/>
            <a:ext cx="865187" cy="46672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Times New Roman" panose="02020603050405020304" pitchFamily="18" charset="0"/>
              </a:rPr>
              <a:t>   P2</a:t>
            </a:r>
          </a:p>
        </p:txBody>
      </p:sp>
      <p:sp>
        <p:nvSpPr>
          <p:cNvPr id="64517" name="Oval 7">
            <a:extLst>
              <a:ext uri="{FF2B5EF4-FFF2-40B4-BE49-F238E27FC236}">
                <a16:creationId xmlns:a16="http://schemas.microsoft.com/office/drawing/2014/main" id="{26D2CE56-6AD8-EEBC-55E5-4770FEE20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750" y="5678488"/>
            <a:ext cx="865188" cy="4683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Times New Roman" panose="02020603050405020304" pitchFamily="18" charset="0"/>
              </a:rPr>
              <a:t>   P6</a:t>
            </a:r>
          </a:p>
        </p:txBody>
      </p:sp>
      <p:sp>
        <p:nvSpPr>
          <p:cNvPr id="64518" name="Oval 8">
            <a:extLst>
              <a:ext uri="{FF2B5EF4-FFF2-40B4-BE49-F238E27FC236}">
                <a16:creationId xmlns:a16="http://schemas.microsoft.com/office/drawing/2014/main" id="{CDA89D3F-567A-54DC-24DC-3D9EBB8F8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113" y="4384675"/>
            <a:ext cx="865187" cy="4699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   </a:t>
            </a:r>
            <a:r>
              <a:rPr kumimoji="0" lang="en-US" altLang="zh-CN" sz="2000" b="1">
                <a:latin typeface="Times New Roman" panose="02020603050405020304" pitchFamily="18" charset="0"/>
              </a:rPr>
              <a:t>P4</a:t>
            </a:r>
          </a:p>
        </p:txBody>
      </p:sp>
      <p:sp>
        <p:nvSpPr>
          <p:cNvPr id="64519" name="Oval 9">
            <a:extLst>
              <a:ext uri="{FF2B5EF4-FFF2-40B4-BE49-F238E27FC236}">
                <a16:creationId xmlns:a16="http://schemas.microsoft.com/office/drawing/2014/main" id="{FA31A1BC-AD53-FAD5-E19A-332BA8061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0" y="3154363"/>
            <a:ext cx="865188" cy="46672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   </a:t>
            </a:r>
            <a:r>
              <a:rPr kumimoji="0" lang="en-US" altLang="zh-CN" sz="2000" b="1">
                <a:latin typeface="Times New Roman" panose="02020603050405020304" pitchFamily="18" charset="0"/>
              </a:rPr>
              <a:t>P3</a:t>
            </a:r>
          </a:p>
        </p:txBody>
      </p:sp>
      <p:sp>
        <p:nvSpPr>
          <p:cNvPr id="64520" name="Line 10">
            <a:extLst>
              <a:ext uri="{FF2B5EF4-FFF2-40B4-BE49-F238E27FC236}">
                <a16:creationId xmlns:a16="http://schemas.microsoft.com/office/drawing/2014/main" id="{9E853F03-9FF7-F55F-3DCB-6EC5993D38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45200" y="2325688"/>
            <a:ext cx="622300" cy="7905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1" name="Line 11">
            <a:extLst>
              <a:ext uri="{FF2B5EF4-FFF2-40B4-BE49-F238E27FC236}">
                <a16:creationId xmlns:a16="http://schemas.microsoft.com/office/drawing/2014/main" id="{4730B5FF-08BF-70FA-5DEF-AF7F7F9BA61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3300" y="2325688"/>
            <a:ext cx="857250" cy="8524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2" name="Line 12">
            <a:extLst>
              <a:ext uri="{FF2B5EF4-FFF2-40B4-BE49-F238E27FC236}">
                <a16:creationId xmlns:a16="http://schemas.microsoft.com/office/drawing/2014/main" id="{FA2BFD1A-3E22-C1DC-F01E-9D0F1A47CF9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72100" y="3544888"/>
            <a:ext cx="457200" cy="8382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3" name="Line 13">
            <a:extLst>
              <a:ext uri="{FF2B5EF4-FFF2-40B4-BE49-F238E27FC236}">
                <a16:creationId xmlns:a16="http://schemas.microsoft.com/office/drawing/2014/main" id="{6E229B11-A715-159A-8F78-4440209551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4500" y="4840288"/>
            <a:ext cx="914400" cy="914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4" name="Oval 14">
            <a:extLst>
              <a:ext uri="{FF2B5EF4-FFF2-40B4-BE49-F238E27FC236}">
                <a16:creationId xmlns:a16="http://schemas.microsoft.com/office/drawing/2014/main" id="{580E5C22-242F-F5D3-65FB-C23BEAC53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4314825"/>
            <a:ext cx="865188" cy="46672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   </a:t>
            </a:r>
            <a:r>
              <a:rPr kumimoji="0" lang="en-US" altLang="zh-CN" sz="2000" b="1">
                <a:latin typeface="Times New Roman" panose="02020603050405020304" pitchFamily="18" charset="0"/>
              </a:rPr>
              <a:t>P5</a:t>
            </a:r>
          </a:p>
        </p:txBody>
      </p:sp>
      <p:sp>
        <p:nvSpPr>
          <p:cNvPr id="64525" name="Line 15">
            <a:extLst>
              <a:ext uri="{FF2B5EF4-FFF2-40B4-BE49-F238E27FC236}">
                <a16:creationId xmlns:a16="http://schemas.microsoft.com/office/drawing/2014/main" id="{7DDEFDFF-DC2F-C353-1F3B-1D00CC5302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00900" y="3621088"/>
            <a:ext cx="1066800" cy="2209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6" name="Line 16">
            <a:extLst>
              <a:ext uri="{FF2B5EF4-FFF2-40B4-BE49-F238E27FC236}">
                <a16:creationId xmlns:a16="http://schemas.microsoft.com/office/drawing/2014/main" id="{F66EEACD-B7A7-BEF9-2FBD-A1BE6F2D59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6025" y="3497263"/>
            <a:ext cx="676275" cy="8096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7" name="Line 17">
            <a:extLst>
              <a:ext uri="{FF2B5EF4-FFF2-40B4-BE49-F238E27FC236}">
                <a16:creationId xmlns:a16="http://schemas.microsoft.com/office/drawing/2014/main" id="{B2FC5020-D89D-182A-EE11-5657131B90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43700" y="4783138"/>
            <a:ext cx="277813" cy="8953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8" name="Rectangle 18">
            <a:extLst>
              <a:ext uri="{FF2B5EF4-FFF2-40B4-BE49-F238E27FC236}">
                <a16:creationId xmlns:a16="http://schemas.microsoft.com/office/drawing/2014/main" id="{CB117EFF-368D-0C2A-5096-1483415B6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2325688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a</a:t>
            </a:r>
          </a:p>
        </p:txBody>
      </p:sp>
      <p:sp>
        <p:nvSpPr>
          <p:cNvPr id="64529" name="Rectangle 19">
            <a:extLst>
              <a:ext uri="{FF2B5EF4-FFF2-40B4-BE49-F238E27FC236}">
                <a16:creationId xmlns:a16="http://schemas.microsoft.com/office/drawing/2014/main" id="{3E4D354D-7CD6-58EE-6E87-65F80AD61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0" y="2401888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b</a:t>
            </a:r>
          </a:p>
        </p:txBody>
      </p:sp>
      <p:sp>
        <p:nvSpPr>
          <p:cNvPr id="64530" name="Rectangle 20">
            <a:extLst>
              <a:ext uri="{FF2B5EF4-FFF2-40B4-BE49-F238E27FC236}">
                <a16:creationId xmlns:a16="http://schemas.microsoft.com/office/drawing/2014/main" id="{FF1A0213-1C9F-F7E1-6306-6156AC1B0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3621088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c</a:t>
            </a:r>
          </a:p>
        </p:txBody>
      </p:sp>
      <p:sp>
        <p:nvSpPr>
          <p:cNvPr id="64531" name="Rectangle 21">
            <a:extLst>
              <a:ext uri="{FF2B5EF4-FFF2-40B4-BE49-F238E27FC236}">
                <a16:creationId xmlns:a16="http://schemas.microsoft.com/office/drawing/2014/main" id="{1A205978-7648-081A-BE76-606E1688B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3621088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d</a:t>
            </a:r>
          </a:p>
        </p:txBody>
      </p:sp>
      <p:sp>
        <p:nvSpPr>
          <p:cNvPr id="64532" name="Rectangle 22">
            <a:extLst>
              <a:ext uri="{FF2B5EF4-FFF2-40B4-BE49-F238E27FC236}">
                <a16:creationId xmlns:a16="http://schemas.microsoft.com/office/drawing/2014/main" id="{FEAD44EA-5C6D-AD5F-2338-F5C60BBFF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300" y="5145088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f</a:t>
            </a:r>
          </a:p>
        </p:txBody>
      </p:sp>
      <p:sp>
        <p:nvSpPr>
          <p:cNvPr id="64533" name="Rectangle 23">
            <a:extLst>
              <a:ext uri="{FF2B5EF4-FFF2-40B4-BE49-F238E27FC236}">
                <a16:creationId xmlns:a16="http://schemas.microsoft.com/office/drawing/2014/main" id="{8A39AB06-5AE0-3752-B730-5D6F7C084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0" y="4383088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e</a:t>
            </a:r>
          </a:p>
        </p:txBody>
      </p:sp>
      <p:sp>
        <p:nvSpPr>
          <p:cNvPr id="64534" name="Rectangle 24">
            <a:extLst>
              <a:ext uri="{FF2B5EF4-FFF2-40B4-BE49-F238E27FC236}">
                <a16:creationId xmlns:a16="http://schemas.microsoft.com/office/drawing/2014/main" id="{10A4F152-7046-8A09-AB2C-6763C0056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4992688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g</a:t>
            </a:r>
          </a:p>
        </p:txBody>
      </p:sp>
    </p:spTree>
  </p:cSld>
  <p:clrMapOvr>
    <a:masterClrMapping/>
  </p:clrMapOvr>
  <p:transition spd="med">
    <p:zo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30EBBE-2037-4247-9C29-0CA78C4CD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解法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BFCA06-280C-A65E-4F10-98800AF71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800" dirty="0"/>
              <a:t>设五个同步信号量</a:t>
            </a:r>
            <a:r>
              <a:rPr lang="en-US" altLang="zh-CN" sz="2800" dirty="0"/>
              <a:t>f1</a:t>
            </a:r>
            <a:r>
              <a:rPr lang="en-US" altLang="zh-CN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 dirty="0"/>
              <a:t>f2</a:t>
            </a:r>
            <a:r>
              <a:rPr lang="en-US" altLang="zh-CN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 dirty="0"/>
              <a:t>f3</a:t>
            </a:r>
            <a:r>
              <a:rPr lang="en-US" altLang="zh-CN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 dirty="0"/>
              <a:t>f4</a:t>
            </a:r>
            <a:r>
              <a:rPr lang="en-US" altLang="zh-CN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 dirty="0"/>
              <a:t>f5</a:t>
            </a:r>
            <a:r>
              <a:rPr lang="zh-CN" altLang="en-US" sz="2800" dirty="0">
                <a:latin typeface="Times New Roman" panose="02020603050405020304" pitchFamily="18" charset="0"/>
              </a:rPr>
              <a:t>分别表示进程</a:t>
            </a:r>
            <a:r>
              <a:rPr lang="en-US" altLang="zh-CN" sz="2800" dirty="0"/>
              <a:t>P1</a:t>
            </a:r>
            <a:r>
              <a:rPr lang="en-US" altLang="zh-CN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 dirty="0"/>
              <a:t>P2</a:t>
            </a:r>
            <a:r>
              <a:rPr lang="en-US" altLang="zh-CN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 dirty="0"/>
              <a:t>P3</a:t>
            </a:r>
            <a:r>
              <a:rPr lang="en-US" altLang="zh-CN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 dirty="0"/>
              <a:t>P4</a:t>
            </a:r>
            <a:r>
              <a:rPr lang="en-US" altLang="zh-CN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 dirty="0"/>
              <a:t>P5</a:t>
            </a:r>
            <a:r>
              <a:rPr lang="zh-CN" altLang="en-US" sz="2800" dirty="0">
                <a:latin typeface="Times New Roman" panose="02020603050405020304" pitchFamily="18" charset="0"/>
              </a:rPr>
              <a:t>是</a:t>
            </a:r>
            <a:r>
              <a:rPr lang="zh-CN" altLang="en-US" sz="2800" dirty="0"/>
              <a:t>否执行完成，其初值均为0。</a:t>
            </a:r>
            <a:endParaRPr lang="en-US" altLang="zh-CN" sz="2800" dirty="0"/>
          </a:p>
          <a:p>
            <a:pPr algn="just">
              <a:buNone/>
            </a:pPr>
            <a:r>
              <a:rPr lang="en-US" altLang="zh-CN" sz="2800" dirty="0"/>
              <a:t>P1（）</a:t>
            </a:r>
            <a:r>
              <a:rPr lang="zh-CN" altLang="en-US" sz="2800" dirty="0"/>
              <a:t>                                </a:t>
            </a:r>
            <a:r>
              <a:rPr lang="en-US" altLang="zh-CN" sz="2800" dirty="0"/>
              <a:t>P2（）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800" dirty="0"/>
              <a:t>{      </a:t>
            </a:r>
            <a:r>
              <a:rPr lang="zh-CN" altLang="en-US" sz="2800" dirty="0"/>
              <a:t>                                    </a:t>
            </a:r>
            <a:r>
              <a:rPr lang="en-US" altLang="zh-CN" sz="2800" dirty="0"/>
              <a:t>{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800" dirty="0"/>
              <a:t>    执行</a:t>
            </a:r>
            <a:r>
              <a:rPr lang="en-US" altLang="zh-CN" sz="2800" dirty="0"/>
              <a:t>P1</a:t>
            </a:r>
            <a:r>
              <a:rPr lang="zh-CN" altLang="en-US" sz="2800" dirty="0"/>
              <a:t>的代码；                 </a:t>
            </a:r>
            <a:r>
              <a:rPr lang="en-US" altLang="zh-CN" sz="2800" dirty="0"/>
              <a:t>p(f1)；</a:t>
            </a:r>
          </a:p>
          <a:p>
            <a:pPr algn="just">
              <a:buNone/>
            </a:pPr>
            <a:r>
              <a:rPr lang="en-US" altLang="zh-CN" sz="2800" dirty="0"/>
              <a:t>    v(f1)；</a:t>
            </a:r>
            <a:r>
              <a:rPr lang="zh-CN" altLang="en-US" sz="2800" dirty="0"/>
              <a:t>                               执行</a:t>
            </a:r>
            <a:r>
              <a:rPr lang="en-US" altLang="zh-CN" sz="2800" dirty="0"/>
              <a:t>P2</a:t>
            </a:r>
            <a:r>
              <a:rPr lang="zh-CN" altLang="en-US" sz="2800" dirty="0"/>
              <a:t>的代码；</a:t>
            </a:r>
            <a:endParaRPr lang="en-US" altLang="zh-CN" sz="2800" dirty="0"/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800" dirty="0"/>
              <a:t>    v(f1)；</a:t>
            </a:r>
            <a:r>
              <a:rPr lang="zh-CN" altLang="en-US" sz="2800" dirty="0"/>
              <a:t>                               </a:t>
            </a:r>
            <a:r>
              <a:rPr lang="en-US" altLang="zh-CN" sz="2800" dirty="0"/>
              <a:t>v(f2)；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800" dirty="0"/>
              <a:t> }</a:t>
            </a:r>
            <a:r>
              <a:rPr lang="zh-CN" altLang="en-US" sz="2800" dirty="0"/>
              <a:t>                                            </a:t>
            </a:r>
            <a:r>
              <a:rPr lang="en-US" altLang="zh-CN" sz="2800" dirty="0"/>
              <a:t>v(f2)；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800" dirty="0"/>
              <a:t>                                            </a:t>
            </a:r>
            <a:r>
              <a:rPr lang="en-US" altLang="zh-CN" sz="2800" dirty="0"/>
              <a:t>}</a:t>
            </a:r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5F86F1-F701-13D1-C534-50C29AAF0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72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0485521"/>
      </p:ext>
    </p:extLst>
  </p:cSld>
  <p:clrMapOvr>
    <a:masterClrMapping/>
  </p:clrMapOvr>
  <p:transition spd="med">
    <p:zo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10776159-44F4-B4D7-62F0-E7C1DDB926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进程间通信</a:t>
            </a:r>
          </a:p>
        </p:txBody>
      </p:sp>
      <p:sp>
        <p:nvSpPr>
          <p:cNvPr id="217091" name="Rectangle 3">
            <a:extLst>
              <a:ext uri="{FF2B5EF4-FFF2-40B4-BE49-F238E27FC236}">
                <a16:creationId xmlns:a16="http://schemas.microsoft.com/office/drawing/2014/main" id="{B0DBA897-EE73-710F-CB75-0DC4527CA0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通过多进程间的协作来实现应用和系统是一种广泛采纳的开发方法</a:t>
            </a:r>
            <a:endParaRPr lang="en-US" altLang="zh-CN" dirty="0"/>
          </a:p>
          <a:p>
            <a:r>
              <a:rPr lang="zh-CN" altLang="en-US" dirty="0"/>
              <a:t>多进程协作的优势</a:t>
            </a:r>
            <a:endParaRPr lang="en-US" altLang="zh-CN" dirty="0"/>
          </a:p>
          <a:p>
            <a:pPr lvl="1"/>
            <a:r>
              <a:rPr lang="zh-CN" altLang="en-US" dirty="0"/>
              <a:t>将功能模块化，避免重复造轮子</a:t>
            </a:r>
            <a:endParaRPr lang="en-US" altLang="zh-CN" dirty="0"/>
          </a:p>
          <a:p>
            <a:pPr lvl="1"/>
            <a:r>
              <a:rPr lang="zh-CN" altLang="en-US" dirty="0"/>
              <a:t>增强模块间的隔离，提供更强的安全保障</a:t>
            </a:r>
            <a:endParaRPr lang="en-US" altLang="zh-CN" dirty="0"/>
          </a:p>
          <a:p>
            <a:pPr lvl="1"/>
            <a:r>
              <a:rPr lang="zh-CN" altLang="en-US" dirty="0"/>
              <a:t>提高应用的容错能力</a:t>
            </a:r>
          </a:p>
          <a:p>
            <a:r>
              <a:rPr lang="zh-CN" altLang="en-US" dirty="0"/>
              <a:t>进程间通信</a:t>
            </a:r>
            <a:r>
              <a:rPr lang="en-US" altLang="zh-CN" dirty="0"/>
              <a:t>(Inter-Process</a:t>
            </a:r>
            <a:r>
              <a:rPr lang="zh-CN" altLang="en-US" dirty="0"/>
              <a:t> </a:t>
            </a:r>
            <a:r>
              <a:rPr lang="en-US" altLang="zh-CN" dirty="0" err="1"/>
              <a:t>Communicatiton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IPC</a:t>
            </a:r>
            <a:r>
              <a:rPr lang="en-US" altLang="zh-CN" dirty="0"/>
              <a:t>)</a:t>
            </a:r>
            <a:r>
              <a:rPr lang="zh-CN" altLang="en-US" dirty="0"/>
              <a:t>是多进程协作的基础</a:t>
            </a:r>
            <a:endParaRPr lang="en-US" altLang="zh-CN" dirty="0"/>
          </a:p>
          <a:p>
            <a:r>
              <a:rPr lang="zh-CN" altLang="en-US" dirty="0"/>
              <a:t>进程通信机制：共享内存、消息传递、管道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7CC23C-DB4C-4251-ABBF-83DE0D709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73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1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69342-38B6-18D6-1C2C-2F4CFD4A1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一种进程间的通信设计</a:t>
            </a:r>
          </a:p>
        </p:txBody>
      </p:sp>
      <p:sp>
        <p:nvSpPr>
          <p:cNvPr id="27" name="内容占位符 26">
            <a:extLst>
              <a:ext uri="{FF2B5EF4-FFF2-40B4-BE49-F238E27FC236}">
                <a16:creationId xmlns:a16="http://schemas.microsoft.com/office/drawing/2014/main" id="{E5549A3C-6591-00DF-0E51-17EA8C505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4414386"/>
            <a:ext cx="7772400" cy="171495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发送者进程和接收者进程彼此隔离</a:t>
            </a:r>
            <a:endParaRPr lang="en-US" altLang="zh-CN" dirty="0"/>
          </a:p>
          <a:p>
            <a:r>
              <a:rPr lang="zh-CN" altLang="en-US" dirty="0"/>
              <a:t>通过共享内存进行通信</a:t>
            </a:r>
            <a:endParaRPr lang="en-US" altLang="zh-CN" dirty="0"/>
          </a:p>
          <a:p>
            <a:r>
              <a:rPr lang="zh-CN" altLang="en-US" dirty="0"/>
              <a:t>发送者发送消息，接收者接收消息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8B4D90-21BB-63A9-57C9-CA2536E77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74</a:t>
            </a:fld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E3DD5C-B7F7-FA67-C891-0D320EEFCDDC}"/>
              </a:ext>
            </a:extLst>
          </p:cNvPr>
          <p:cNvSpPr txBox="1"/>
          <p:nvPr/>
        </p:nvSpPr>
        <p:spPr>
          <a:xfrm>
            <a:off x="3144033" y="3945699"/>
            <a:ext cx="2630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简单的进程间通信设计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BCE5C82-7C24-F795-E3A7-CA91511C3815}"/>
              </a:ext>
            </a:extLst>
          </p:cNvPr>
          <p:cNvGrpSpPr/>
          <p:nvPr/>
        </p:nvGrpSpPr>
        <p:grpSpPr>
          <a:xfrm>
            <a:off x="1352810" y="1515564"/>
            <a:ext cx="6789107" cy="2132514"/>
            <a:chOff x="1352810" y="1515564"/>
            <a:chExt cx="6789107" cy="213251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7E677D7-117C-2051-89C2-C1DF28343274}"/>
                </a:ext>
              </a:extLst>
            </p:cNvPr>
            <p:cNvSpPr/>
            <p:nvPr/>
          </p:nvSpPr>
          <p:spPr bwMode="auto">
            <a:xfrm>
              <a:off x="1352810" y="3247245"/>
              <a:ext cx="1340285" cy="40083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R="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</a:pPr>
              <a:r>
                <a:rPr kumimoji="1" lang="zh-CN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rPr>
                <a:t>发送者进程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B4FA868-67AD-CF6C-D1A9-0B8AEC606B95}"/>
                </a:ext>
              </a:extLst>
            </p:cNvPr>
            <p:cNvSpPr/>
            <p:nvPr/>
          </p:nvSpPr>
          <p:spPr bwMode="auto">
            <a:xfrm>
              <a:off x="4183693" y="3247245"/>
              <a:ext cx="1340285" cy="40083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R="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</a:pPr>
              <a:r>
                <a:rPr kumimoji="1" lang="zh-CN" altLang="en-US" dirty="0">
                  <a:latin typeface="Tahoma" panose="020B0604030504040204" pitchFamily="34" charset="0"/>
                  <a:ea typeface="宋体" panose="02010600030101010101" pitchFamily="2" charset="-122"/>
                </a:rPr>
                <a:t>接收</a:t>
              </a:r>
              <a:r>
                <a:rPr kumimoji="1" lang="zh-CN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rPr>
                <a:t>者进程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8044CBD-85F7-5623-4DBD-CF8FEB11FF37}"/>
                </a:ext>
              </a:extLst>
            </p:cNvPr>
            <p:cNvSpPr/>
            <p:nvPr/>
          </p:nvSpPr>
          <p:spPr bwMode="auto">
            <a:xfrm>
              <a:off x="2843408" y="2392343"/>
              <a:ext cx="1340285" cy="40083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R="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</a:pPr>
              <a:r>
                <a:rPr kumimoji="1" lang="zh-CN" altLang="en-US" dirty="0">
                  <a:latin typeface="Tahoma" panose="020B0604030504040204" pitchFamily="34" charset="0"/>
                  <a:ea typeface="宋体" panose="02010600030101010101" pitchFamily="2" charset="-122"/>
                </a:rPr>
                <a:t>接收</a:t>
              </a:r>
              <a:r>
                <a:rPr kumimoji="1" lang="zh-CN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rPr>
                <a:t>者消息</a:t>
              </a:r>
            </a:p>
          </p:txBody>
        </p:sp>
        <p:sp>
          <p:nvSpPr>
            <p:cNvPr id="8" name="剪去单角的矩形 7">
              <a:extLst>
                <a:ext uri="{FF2B5EF4-FFF2-40B4-BE49-F238E27FC236}">
                  <a16:creationId xmlns:a16="http://schemas.microsoft.com/office/drawing/2014/main" id="{898F3D0A-1A7F-D942-BB18-D9B51A7544A6}"/>
                </a:ext>
              </a:extLst>
            </p:cNvPr>
            <p:cNvSpPr/>
            <p:nvPr/>
          </p:nvSpPr>
          <p:spPr bwMode="auto">
            <a:xfrm>
              <a:off x="2843408" y="1989143"/>
              <a:ext cx="1342800" cy="403200"/>
            </a:xfrm>
            <a:prstGeom prst="snip1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R="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</a:pPr>
              <a:r>
                <a:rPr kumimoji="1" lang="zh-CN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rPr>
                <a:t>发送者消息</a:t>
              </a:r>
            </a:p>
          </p:txBody>
        </p: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98BFA744-D92B-76FF-2526-2199F385C12A}"/>
                </a:ext>
              </a:extLst>
            </p:cNvPr>
            <p:cNvCxnSpPr>
              <a:stCxn id="8" idx="2"/>
              <a:endCxn id="5" idx="0"/>
            </p:cNvCxnSpPr>
            <p:nvPr/>
          </p:nvCxnSpPr>
          <p:spPr bwMode="auto">
            <a:xfrm flipH="1">
              <a:off x="2022953" y="2190743"/>
              <a:ext cx="820455" cy="1056502"/>
            </a:xfrm>
            <a:prstGeom prst="line">
              <a:avLst/>
            </a:prstGeom>
            <a:gradFill rotWithShape="0">
              <a:gsLst>
                <a:gs pos="0">
                  <a:srgbClr val="99CCFF"/>
                </a:gs>
                <a:gs pos="100000">
                  <a:schemeClr val="bg2"/>
                </a:gs>
              </a:gsLst>
              <a:lin ang="54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5B29751A-36E7-13EC-753A-FEF3A6C6E3F1}"/>
                </a:ext>
              </a:extLst>
            </p:cNvPr>
            <p:cNvCxnSpPr>
              <a:stCxn id="7" idx="3"/>
              <a:endCxn id="6" idx="0"/>
            </p:cNvCxnSpPr>
            <p:nvPr/>
          </p:nvCxnSpPr>
          <p:spPr bwMode="auto">
            <a:xfrm>
              <a:off x="4183693" y="2592760"/>
              <a:ext cx="670143" cy="654485"/>
            </a:xfrm>
            <a:prstGeom prst="line">
              <a:avLst/>
            </a:prstGeom>
            <a:gradFill rotWithShape="0">
              <a:gsLst>
                <a:gs pos="0">
                  <a:srgbClr val="99CCFF"/>
                </a:gs>
                <a:gs pos="100000">
                  <a:schemeClr val="bg2"/>
                </a:gs>
              </a:gsLst>
              <a:lin ang="54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3B384A5-448D-3A96-283F-241DAE7F4E41}"/>
                </a:ext>
              </a:extLst>
            </p:cNvPr>
            <p:cNvSpPr/>
            <p:nvPr/>
          </p:nvSpPr>
          <p:spPr bwMode="auto">
            <a:xfrm>
              <a:off x="4941517" y="1556231"/>
              <a:ext cx="3200400" cy="1324627"/>
            </a:xfrm>
            <a:prstGeom prst="rect">
              <a:avLst/>
            </a:prstGeom>
            <a:solidFill>
              <a:srgbClr val="FFEDD8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t" anchorCtr="0" compatLnSpc="1"/>
            <a:lstStyle/>
            <a:p>
              <a:pPr marR="0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</a:pPr>
              <a:r>
                <a:rPr kumimoji="1" lang="zh-CN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rPr>
                <a:t>消息</a:t>
              </a: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154E488D-91EA-1A5D-0F4D-2E6915ABF3CB}"/>
                </a:ext>
              </a:extLst>
            </p:cNvPr>
            <p:cNvGrpSpPr/>
            <p:nvPr/>
          </p:nvGrpSpPr>
          <p:grpSpPr>
            <a:xfrm>
              <a:off x="5040682" y="2016584"/>
              <a:ext cx="2880986" cy="374413"/>
              <a:chOff x="3457184" y="1513398"/>
              <a:chExt cx="2880986" cy="374413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D8661C63-56BF-2379-5508-3E49C9DF83E8}"/>
                  </a:ext>
                </a:extLst>
              </p:cNvPr>
              <p:cNvSpPr/>
              <p:nvPr/>
            </p:nvSpPr>
            <p:spPr bwMode="auto">
              <a:xfrm>
                <a:off x="3457184" y="1513398"/>
                <a:ext cx="501041" cy="374413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1440" tIns="45720" rIns="91440" bIns="45720" numCol="1" rtlCol="0" anchor="ctr" anchorCtr="0" compatLnSpc="1"/>
              <a:lstStyle/>
              <a:p>
                <a:pPr marR="0" algn="ctr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</a:pPr>
                <a:r>
                  <a:rPr kumimoji="1" lang="zh-CN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宋体" panose="02010600030101010101" pitchFamily="2" charset="-122"/>
                  </a:rPr>
                  <a:t>魔数</a:t>
                </a: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9C2955A2-6F46-66CE-A067-129CE2712D4F}"/>
                  </a:ext>
                </a:extLst>
              </p:cNvPr>
              <p:cNvSpPr/>
              <p:nvPr/>
            </p:nvSpPr>
            <p:spPr bwMode="auto">
              <a:xfrm>
                <a:off x="3964488" y="1513398"/>
                <a:ext cx="463463" cy="374413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1440" tIns="45720" rIns="91440" bIns="45720" numCol="1" rtlCol="0" anchor="ctr" anchorCtr="0" compatLnSpc="1"/>
              <a:lstStyle/>
              <a:p>
                <a:pPr marR="0" algn="ctr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</a:pPr>
                <a:r>
                  <a:rPr kumimoji="1" lang="zh-CN" altLang="en-US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状态</a:t>
                </a:r>
                <a:endParaRPr kumimoji="1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6A6C20B-FA4C-A5CA-C51E-E128BC9D18BB}"/>
                  </a:ext>
                </a:extLst>
              </p:cNvPr>
              <p:cNvSpPr/>
              <p:nvPr/>
            </p:nvSpPr>
            <p:spPr bwMode="auto">
              <a:xfrm>
                <a:off x="4434214" y="1513398"/>
                <a:ext cx="463463" cy="374413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1440" tIns="45720" rIns="91440" bIns="45720" numCol="1" rtlCol="0" anchor="ctr" anchorCtr="0" compatLnSpc="1"/>
              <a:lstStyle/>
              <a:p>
                <a:pPr marR="0" algn="ctr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</a:pPr>
                <a:r>
                  <a:rPr kumimoji="1" lang="zh-CN" altLang="en-US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长度</a:t>
                </a:r>
                <a:endParaRPr kumimoji="1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0B11EF0-1427-44A3-7D07-FCB7C7220B77}"/>
                  </a:ext>
                </a:extLst>
              </p:cNvPr>
              <p:cNvSpPr/>
              <p:nvPr/>
            </p:nvSpPr>
            <p:spPr bwMode="auto">
              <a:xfrm>
                <a:off x="4903939" y="1513398"/>
                <a:ext cx="1434231" cy="374413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1440" tIns="45720" rIns="91440" bIns="45720" numCol="1" rtlCol="0" anchor="ctr" anchorCtr="0" compatLnSpc="1"/>
              <a:lstStyle/>
              <a:p>
                <a:pPr marR="0" algn="ctr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</a:pPr>
                <a:r>
                  <a:rPr kumimoji="1" lang="en-US" altLang="zh-CN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500</a:t>
                </a:r>
                <a:r>
                  <a:rPr kumimoji="1" lang="zh-CN" altLang="en-US" sz="16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字节</a:t>
                </a:r>
                <a:endParaRPr kumimoji="1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9" name="右大括号 18">
              <a:extLst>
                <a:ext uri="{FF2B5EF4-FFF2-40B4-BE49-F238E27FC236}">
                  <a16:creationId xmlns:a16="http://schemas.microsoft.com/office/drawing/2014/main" id="{CC58BE13-EE28-BE6B-9A46-934F3E786EFE}"/>
                </a:ext>
              </a:extLst>
            </p:cNvPr>
            <p:cNvSpPr/>
            <p:nvPr/>
          </p:nvSpPr>
          <p:spPr bwMode="auto">
            <a:xfrm rot="16200000">
              <a:off x="7099638" y="1200813"/>
              <a:ext cx="197308" cy="1434233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342900" marR="0" indent="-34290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6991170-C193-2709-E8BB-CD4ECBD5116D}"/>
                </a:ext>
              </a:extLst>
            </p:cNvPr>
            <p:cNvSpPr txBox="1"/>
            <p:nvPr/>
          </p:nvSpPr>
          <p:spPr>
            <a:xfrm>
              <a:off x="6831380" y="1515564"/>
              <a:ext cx="8757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/>
                <a:t>数据段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4F5163E-40C9-CD1B-1150-78E09296057E}"/>
                </a:ext>
              </a:extLst>
            </p:cNvPr>
            <p:cNvSpPr txBox="1"/>
            <p:nvPr/>
          </p:nvSpPr>
          <p:spPr>
            <a:xfrm>
              <a:off x="5479879" y="2531829"/>
              <a:ext cx="6675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dirty="0"/>
                <a:t>头部</a:t>
              </a:r>
            </a:p>
          </p:txBody>
        </p:sp>
        <p:sp>
          <p:nvSpPr>
            <p:cNvPr id="22" name="右大括号 21">
              <a:extLst>
                <a:ext uri="{FF2B5EF4-FFF2-40B4-BE49-F238E27FC236}">
                  <a16:creationId xmlns:a16="http://schemas.microsoft.com/office/drawing/2014/main" id="{7136735C-943E-E32B-ECF7-F5A31A7B3891}"/>
                </a:ext>
              </a:extLst>
            </p:cNvPr>
            <p:cNvSpPr/>
            <p:nvPr/>
          </p:nvSpPr>
          <p:spPr bwMode="auto">
            <a:xfrm rot="5400000">
              <a:off x="5665404" y="1772536"/>
              <a:ext cx="197308" cy="1434233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342900" marR="0" indent="-34290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C449D1-605E-8F71-0063-65B4483C636C}"/>
                </a:ext>
              </a:extLst>
            </p:cNvPr>
            <p:cNvSpPr txBox="1"/>
            <p:nvPr/>
          </p:nvSpPr>
          <p:spPr>
            <a:xfrm>
              <a:off x="2965723" y="1569022"/>
              <a:ext cx="1180817" cy="3775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dirty="0"/>
                <a:t>共享内存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4462660"/>
      </p:ext>
    </p:extLst>
  </p:cSld>
  <p:clrMapOvr>
    <a:masterClrMapping/>
  </p:clrMapOvr>
  <p:transition spd="med">
    <p:zo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423B6-BA70-B727-AC94-FBA1312AA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进程通信的两种模型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B04A0A-1B55-AF03-0BD4-1DA457582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2F22BD-7400-734D-B224-B993E91C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75</a:t>
            </a:fld>
            <a:endParaRPr lang="zh-CN" altLang="en-US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232592DB-801E-2899-9896-0A06D4413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7" y="1458956"/>
            <a:ext cx="6246813" cy="399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6F6CA8B-BD68-0091-3065-79681F2F6284}"/>
              </a:ext>
            </a:extLst>
          </p:cNvPr>
          <p:cNvSpPr txBox="1"/>
          <p:nvPr/>
        </p:nvSpPr>
        <p:spPr>
          <a:xfrm>
            <a:off x="2417523" y="5482921"/>
            <a:ext cx="1390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共享内存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1E17B3-0F65-998F-DFB3-33CBC28F2450}"/>
              </a:ext>
            </a:extLst>
          </p:cNvPr>
          <p:cNvSpPr txBox="1"/>
          <p:nvPr/>
        </p:nvSpPr>
        <p:spPr>
          <a:xfrm>
            <a:off x="5662688" y="5482921"/>
            <a:ext cx="1390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消息传递</a:t>
            </a:r>
          </a:p>
        </p:txBody>
      </p:sp>
    </p:spTree>
    <p:extLst>
      <p:ext uri="{BB962C8B-B14F-4D97-AF65-F5344CB8AC3E}">
        <p14:creationId xmlns:p14="http://schemas.microsoft.com/office/powerpoint/2010/main" val="1581239378"/>
      </p:ext>
    </p:extLst>
  </p:cSld>
  <p:clrMapOvr>
    <a:masterClrMapping/>
  </p:clrMapOvr>
  <p:transition spd="med">
    <p:zo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4C033A-D07B-C6B8-85C8-D043267D6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61254E-084A-C052-C5C4-527925146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共享内存（</a:t>
            </a:r>
            <a:r>
              <a:rPr kumimoji="1" lang="en" altLang="zh-CN" dirty="0"/>
              <a:t>Shared Memory</a:t>
            </a:r>
            <a:r>
              <a:rPr kumimoji="1" lang="zh-CN" altLang="en" dirty="0"/>
              <a:t>）</a:t>
            </a:r>
            <a:r>
              <a:rPr kumimoji="1" lang="zh-CN" altLang="en-US" dirty="0"/>
              <a:t>是一种最快捷的进程间通信方法，它允许多个进程访问同一块物理内存空间。这种通信方式非常高效，因为数据不需要在进程之间复制。</a:t>
            </a:r>
          </a:p>
          <a:p>
            <a:r>
              <a:rPr kumimoji="1" lang="zh-CN" altLang="en-US" dirty="0"/>
              <a:t>基本原理：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内核为需要通信的进程建立共享区域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参与通信的多方进程将共享区域附加到它们自己的地址空间。所有进程都可以访问共享内存中的地址，就像访问自己的私有内存一样。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D9499B-385D-4EC0-C536-B9275D5F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76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7804189"/>
      </p:ext>
    </p:extLst>
  </p:cSld>
  <p:clrMapOvr>
    <a:masterClrMapping/>
  </p:clrMapOvr>
  <p:transition spd="med">
    <p:zo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C78E44-0F6F-C79A-4700-10138B23E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的共享内存机制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28974F-D4C4-267A-3802-6930B5279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 fontScale="92500" lnSpcReduction="20000"/>
          </a:bodyPr>
          <a:lstStyle/>
          <a:p>
            <a:r>
              <a:rPr lang="en" altLang="zh-CN" dirty="0"/>
              <a:t>Linux</a:t>
            </a:r>
            <a:r>
              <a:rPr lang="zh-CN" altLang="en-US" dirty="0"/>
              <a:t>系统中，共享内存的创建和控制主要通过以下几个系统调用实现：</a:t>
            </a:r>
          </a:p>
          <a:p>
            <a:pPr lvl="1"/>
            <a:r>
              <a:rPr lang="en" altLang="zh-CN" dirty="0" err="1"/>
              <a:t>shmget</a:t>
            </a:r>
            <a:r>
              <a:rPr lang="zh-CN" altLang="en" dirty="0"/>
              <a:t>：</a:t>
            </a:r>
            <a:r>
              <a:rPr lang="zh-CN" altLang="en-US" dirty="0"/>
              <a:t>创建一个新的共享内存段或者获取已存在的共享内存段。此函数需要指定一个键值和共享内存的大小。</a:t>
            </a:r>
          </a:p>
          <a:p>
            <a:pPr lvl="1"/>
            <a:r>
              <a:rPr lang="en" altLang="zh-CN" dirty="0" err="1"/>
              <a:t>shmat</a:t>
            </a:r>
            <a:r>
              <a:rPr lang="zh-CN" altLang="en" dirty="0"/>
              <a:t>：</a:t>
            </a:r>
            <a:r>
              <a:rPr lang="zh-CN" altLang="en-US" dirty="0"/>
              <a:t>将共享内存段附加到当前进程的地址空间。此函数需要指定</a:t>
            </a:r>
            <a:r>
              <a:rPr lang="en" altLang="zh-CN" dirty="0" err="1"/>
              <a:t>shmget</a:t>
            </a:r>
            <a:r>
              <a:rPr lang="zh-CN" altLang="en-US" dirty="0"/>
              <a:t>返回的共享内存标识符。</a:t>
            </a:r>
          </a:p>
          <a:p>
            <a:pPr lvl="1"/>
            <a:r>
              <a:rPr lang="en" altLang="zh-CN" dirty="0" err="1"/>
              <a:t>shmdt</a:t>
            </a:r>
            <a:r>
              <a:rPr lang="zh-CN" altLang="en" dirty="0"/>
              <a:t>：</a:t>
            </a:r>
            <a:r>
              <a:rPr lang="zh-CN" altLang="en-US" dirty="0"/>
              <a:t>将共享内存段从当前进程的地址空间中分离。</a:t>
            </a:r>
          </a:p>
          <a:p>
            <a:pPr lvl="1"/>
            <a:r>
              <a:rPr lang="en" altLang="zh-CN" dirty="0" err="1"/>
              <a:t>shmctl</a:t>
            </a:r>
            <a:r>
              <a:rPr lang="zh-CN" altLang="en" dirty="0"/>
              <a:t>：</a:t>
            </a:r>
            <a:r>
              <a:rPr lang="zh-CN" altLang="en-US" dirty="0"/>
              <a:t>允许你对共享内存进行各种控制操作，如设置权限、删除共享内存等。</a:t>
            </a:r>
          </a:p>
          <a:p>
            <a:r>
              <a:rPr lang="zh-CN" altLang="en-US" dirty="0"/>
              <a:t>当多个进程同时访问和修改共享内存时，需要利用信号量或互斥锁确保数据的一致性。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7AEBD5-076A-7F2A-190D-10E4A3877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77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5686570"/>
      </p:ext>
    </p:extLst>
  </p:cSld>
  <p:clrMapOvr>
    <a:masterClrMapping/>
  </p:clrMapOvr>
  <p:transition spd="med">
    <p:zo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44FA3BF-9642-6B1C-FAA6-FA546AFD57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消息传递机制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89D69F79-457C-A417-EC88-6D0927B8A5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233488"/>
            <a:ext cx="7772400" cy="520489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消息传递（</a:t>
            </a:r>
            <a:r>
              <a:rPr lang="en" altLang="zh-CN" dirty="0"/>
              <a:t>Message Passing</a:t>
            </a:r>
            <a:r>
              <a:rPr lang="zh-CN" altLang="en" dirty="0"/>
              <a:t>）</a:t>
            </a:r>
            <a:r>
              <a:rPr lang="zh-CN" altLang="en-US" dirty="0"/>
              <a:t>是一种基本的进程间通信（</a:t>
            </a:r>
            <a:r>
              <a:rPr lang="en" altLang="zh-CN" dirty="0"/>
              <a:t>IPC</a:t>
            </a:r>
            <a:r>
              <a:rPr lang="zh-CN" altLang="en" dirty="0"/>
              <a:t>）</a:t>
            </a:r>
            <a:r>
              <a:rPr lang="zh-CN" altLang="en-US" dirty="0"/>
              <a:t>机制，它允许进程之间通过发送和接收消息来交换信息。这种机制通常由操作系统内核提供支持，并通过系统调用或库函数向应用程序提供服务。</a:t>
            </a:r>
            <a:endParaRPr lang="en-US" altLang="zh-CN" dirty="0"/>
          </a:p>
          <a:p>
            <a:r>
              <a:rPr lang="zh-CN" altLang="en-US" dirty="0"/>
              <a:t>分类：</a:t>
            </a:r>
            <a:endParaRPr lang="en-US" altLang="zh-CN" dirty="0"/>
          </a:p>
          <a:p>
            <a:pPr lvl="1"/>
            <a:r>
              <a:rPr lang="zh-CN" altLang="en-US" dirty="0"/>
              <a:t>直接通信方式：发送进程将消息发送到接收进程，并将其挂在接收进程的消息队列上；接收进程从消息队列上取消息。</a:t>
            </a:r>
          </a:p>
          <a:p>
            <a:pPr lvl="1"/>
            <a:r>
              <a:rPr lang="zh-CN" altLang="en-US" dirty="0"/>
              <a:t>间接通信方式：发送进程将消息发送到信箱，接收进程从信箱中取消息。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335237F-D5B4-5E65-4324-D445E32F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78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1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FE74B309-976E-4950-0766-17EA3A0CE9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消息缓冲通信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89A93F80-B2A7-BA63-F3CD-BD1EFC0153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233488"/>
            <a:ext cx="7772400" cy="5229942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消息缓冲通信是直接通信方式的一种实现</a:t>
            </a:r>
            <a:endParaRPr lang="en-US" altLang="zh-CN" dirty="0"/>
          </a:p>
          <a:p>
            <a:r>
              <a:rPr lang="zh-CN" altLang="en-US" dirty="0"/>
              <a:t>消息缓冲区的数据结构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PCB</a:t>
            </a:r>
            <a:r>
              <a:rPr lang="zh-CN" altLang="en-US" dirty="0"/>
              <a:t>中需增加的内容</a:t>
            </a:r>
            <a:endParaRPr lang="en-US" altLang="zh-CN" dirty="0"/>
          </a:p>
          <a:p>
            <a:pPr lvl="1"/>
            <a:r>
              <a:rPr lang="en-US" altLang="zh-CN" dirty="0" err="1"/>
              <a:t>mq</a:t>
            </a:r>
            <a:r>
              <a:rPr lang="en-US" altLang="zh-CN" dirty="0"/>
              <a:t>;</a:t>
            </a:r>
            <a:r>
              <a:rPr lang="zh-CN" altLang="en-US" dirty="0"/>
              <a:t>消息队列队首指针</a:t>
            </a:r>
            <a:endParaRPr lang="en-US" altLang="zh-CN" dirty="0"/>
          </a:p>
          <a:p>
            <a:pPr lvl="1"/>
            <a:r>
              <a:rPr lang="en-US" altLang="zh-CN" dirty="0"/>
              <a:t>mutex;</a:t>
            </a:r>
            <a:r>
              <a:rPr lang="zh-CN" altLang="en-US" dirty="0"/>
              <a:t>消息队列互斥信号量</a:t>
            </a:r>
            <a:endParaRPr lang="en-US" altLang="zh-CN" dirty="0"/>
          </a:p>
          <a:p>
            <a:pPr lvl="1"/>
            <a:r>
              <a:rPr lang="en-US" altLang="zh-CN" dirty="0" err="1"/>
              <a:t>sm</a:t>
            </a:r>
            <a:r>
              <a:rPr lang="en-US" altLang="zh-CN" dirty="0"/>
              <a:t>;</a:t>
            </a:r>
            <a:r>
              <a:rPr lang="zh-CN" altLang="en-US" dirty="0"/>
              <a:t>消息队列资源信号量</a:t>
            </a:r>
          </a:p>
          <a:p>
            <a:pPr lvl="1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A8877C-AA6D-FB42-A289-BDF96DE4A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686" y="2167002"/>
            <a:ext cx="5469017" cy="2705623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39598DC-6684-4123-58A4-BE35D9258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79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4E9660A3-4068-013C-1D96-03DFCA3BF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1747838"/>
            <a:ext cx="1846262" cy="335756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00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  send（B，a）;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00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         </a:t>
            </a:r>
            <a:r>
              <a:rPr kumimoji="0" lang="en-US" altLang="zh-CN" sz="2000">
                <a:latin typeface="宋体" panose="02010600030101010101" pitchFamily="2" charset="-122"/>
              </a:rPr>
              <a:t>┇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000">
              <a:latin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  sender：A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00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  size：6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00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  text：Hello！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445711D9-EBA2-379E-C7C1-576FAD1FA3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/>
              <a:t>两个进程进行通信的过程</a:t>
            </a:r>
          </a:p>
        </p:txBody>
      </p:sp>
      <p:sp>
        <p:nvSpPr>
          <p:cNvPr id="23555" name="Rectangle 5">
            <a:extLst>
              <a:ext uri="{FF2B5EF4-FFF2-40B4-BE49-F238E27FC236}">
                <a16:creationId xmlns:a16="http://schemas.microsoft.com/office/drawing/2014/main" id="{7DA4A8BF-08D3-0167-E7DB-5E3D512F3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488" y="1343025"/>
            <a:ext cx="925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>
                <a:latin typeface="Times New Roman" panose="02020603050405020304" pitchFamily="18" charset="0"/>
              </a:rPr>
              <a:t>进程</a:t>
            </a:r>
            <a:r>
              <a:rPr kumimoji="0" lang="en-US" altLang="zh-CN" sz="2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3556" name="Rectangle 6">
            <a:extLst>
              <a:ext uri="{FF2B5EF4-FFF2-40B4-BE49-F238E27FC236}">
                <a16:creationId xmlns:a16="http://schemas.microsoft.com/office/drawing/2014/main" id="{0A861639-E5D1-B9EE-3229-FA51D72F1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1343025"/>
            <a:ext cx="1176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PCB（B）</a:t>
            </a:r>
          </a:p>
        </p:txBody>
      </p:sp>
      <p:sp>
        <p:nvSpPr>
          <p:cNvPr id="23557" name="Rectangle 7">
            <a:extLst>
              <a:ext uri="{FF2B5EF4-FFF2-40B4-BE49-F238E27FC236}">
                <a16:creationId xmlns:a16="http://schemas.microsoft.com/office/drawing/2014/main" id="{E91E086F-225B-21A8-DFF1-2EE492548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5675" y="1341438"/>
            <a:ext cx="92392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>
                <a:latin typeface="Times New Roman" panose="02020603050405020304" pitchFamily="18" charset="0"/>
              </a:rPr>
              <a:t>进程</a:t>
            </a:r>
            <a:r>
              <a:rPr kumimoji="0" lang="en-US" altLang="zh-CN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3558" name="Rectangle 8">
            <a:extLst>
              <a:ext uri="{FF2B5EF4-FFF2-40B4-BE49-F238E27FC236}">
                <a16:creationId xmlns:a16="http://schemas.microsoft.com/office/drawing/2014/main" id="{7A3ABCE4-D0E0-AE5D-082E-151677DE8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8325" y="1747838"/>
            <a:ext cx="1539875" cy="3519487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 lIns="18000" r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  receive（b）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00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         </a:t>
            </a:r>
            <a:r>
              <a:rPr kumimoji="0" lang="en-US" altLang="zh-CN" sz="2000">
                <a:latin typeface="宋体" panose="02010600030101010101" pitchFamily="2" charset="-122"/>
              </a:rPr>
              <a:t>┇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00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   sender：A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00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   size：6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00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   text:Hello！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000">
              <a:latin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00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23559" name="Rectangle 9">
            <a:extLst>
              <a:ext uri="{FF2B5EF4-FFF2-40B4-BE49-F238E27FC236}">
                <a16:creationId xmlns:a16="http://schemas.microsoft.com/office/drawing/2014/main" id="{236C6126-24A6-55F5-D890-4DBA8BDCB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5400" y="1747838"/>
            <a:ext cx="1506538" cy="171450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>
                <a:latin typeface="宋体" panose="02010600030101010101" pitchFamily="2" charset="-122"/>
              </a:rPr>
              <a:t>  ┇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宋体" panose="02010600030101010101" pitchFamily="2" charset="-122"/>
              </a:rPr>
              <a:t>  </a:t>
            </a:r>
            <a:r>
              <a:rPr kumimoji="0" lang="en-US" altLang="zh-CN" sz="2000">
                <a:latin typeface="Times New Roman" panose="02020603050405020304" pitchFamily="18" charset="0"/>
              </a:rPr>
              <a:t>mq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  mutex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   sm</a:t>
            </a:r>
          </a:p>
        </p:txBody>
      </p:sp>
      <p:sp>
        <p:nvSpPr>
          <p:cNvPr id="23560" name="Rectangle 10">
            <a:extLst>
              <a:ext uri="{FF2B5EF4-FFF2-40B4-BE49-F238E27FC236}">
                <a16:creationId xmlns:a16="http://schemas.microsoft.com/office/drawing/2014/main" id="{13030F23-1F40-DC09-D508-75045ADE1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5400" y="4341813"/>
            <a:ext cx="1587500" cy="142081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sender：A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size：6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text:Hello！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next：0</a:t>
            </a:r>
          </a:p>
        </p:txBody>
      </p:sp>
      <p:sp>
        <p:nvSpPr>
          <p:cNvPr id="23561" name="Line 11">
            <a:extLst>
              <a:ext uri="{FF2B5EF4-FFF2-40B4-BE49-F238E27FC236}">
                <a16:creationId xmlns:a16="http://schemas.microsoft.com/office/drawing/2014/main" id="{474565FD-03A8-820D-AEA4-BDA9C5973022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138" y="3248025"/>
            <a:ext cx="183515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2" name="Rectangle 12">
            <a:extLst>
              <a:ext uri="{FF2B5EF4-FFF2-40B4-BE49-F238E27FC236}">
                <a16:creationId xmlns:a16="http://schemas.microsoft.com/office/drawing/2014/main" id="{B639DB78-522C-87FB-DF0C-494C1D5AC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019425"/>
            <a:ext cx="439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3563" name="Line 13">
            <a:extLst>
              <a:ext uri="{FF2B5EF4-FFF2-40B4-BE49-F238E27FC236}">
                <a16:creationId xmlns:a16="http://schemas.microsoft.com/office/drawing/2014/main" id="{257D0335-7D64-5F15-000D-24043A95846B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138" y="3781425"/>
            <a:ext cx="183515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4" name="Line 14">
            <a:extLst>
              <a:ext uri="{FF2B5EF4-FFF2-40B4-BE49-F238E27FC236}">
                <a16:creationId xmlns:a16="http://schemas.microsoft.com/office/drawing/2014/main" id="{7150060D-FC5C-C1E1-3191-F3002A7881B2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138" y="4391025"/>
            <a:ext cx="183515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5" name="Line 15">
            <a:extLst>
              <a:ext uri="{FF2B5EF4-FFF2-40B4-BE49-F238E27FC236}">
                <a16:creationId xmlns:a16="http://schemas.microsoft.com/office/drawing/2014/main" id="{098062C1-66AA-A385-6C09-75AA9C0133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5400" y="2146300"/>
            <a:ext cx="150653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6" name="Line 16">
            <a:extLst>
              <a:ext uri="{FF2B5EF4-FFF2-40B4-BE49-F238E27FC236}">
                <a16:creationId xmlns:a16="http://schemas.microsoft.com/office/drawing/2014/main" id="{8E20F63C-AF06-AF36-1F01-987E84B4DE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5400" y="2473325"/>
            <a:ext cx="150653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7" name="Line 17">
            <a:extLst>
              <a:ext uri="{FF2B5EF4-FFF2-40B4-BE49-F238E27FC236}">
                <a16:creationId xmlns:a16="http://schemas.microsoft.com/office/drawing/2014/main" id="{B8E7DCD4-EA3B-09C2-0DD1-4640E06105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5400" y="2768600"/>
            <a:ext cx="150653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8" name="Line 18">
            <a:extLst>
              <a:ext uri="{FF2B5EF4-FFF2-40B4-BE49-F238E27FC236}">
                <a16:creationId xmlns:a16="http://schemas.microsoft.com/office/drawing/2014/main" id="{F94358CF-617F-8112-21DA-101FF82A13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76863" y="2357438"/>
            <a:ext cx="4397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9" name="Line 19">
            <a:extLst>
              <a:ext uri="{FF2B5EF4-FFF2-40B4-BE49-F238E27FC236}">
                <a16:creationId xmlns:a16="http://schemas.microsoft.com/office/drawing/2014/main" id="{B8D5315B-AA53-2B1A-E00F-C52E055703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6600" y="2357438"/>
            <a:ext cx="0" cy="13747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0" name="Line 20">
            <a:extLst>
              <a:ext uri="{FF2B5EF4-FFF2-40B4-BE49-F238E27FC236}">
                <a16:creationId xmlns:a16="http://schemas.microsoft.com/office/drawing/2014/main" id="{6F876BB6-E381-B9AF-1D88-6474BCB98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5663" y="3732213"/>
            <a:ext cx="2420937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1" name="Line 21">
            <a:extLst>
              <a:ext uri="{FF2B5EF4-FFF2-40B4-BE49-F238E27FC236}">
                <a16:creationId xmlns:a16="http://schemas.microsoft.com/office/drawing/2014/main" id="{752B36D3-A134-92A5-3E00-EFC743D202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5663" y="3732213"/>
            <a:ext cx="0" cy="6096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2" name="Line 22">
            <a:extLst>
              <a:ext uri="{FF2B5EF4-FFF2-40B4-BE49-F238E27FC236}">
                <a16:creationId xmlns:a16="http://schemas.microsoft.com/office/drawing/2014/main" id="{1407BCBB-EA29-ECF3-B3A3-CD83ADEEB9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5663" y="4341813"/>
            <a:ext cx="439737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3" name="Line 23">
            <a:extLst>
              <a:ext uri="{FF2B5EF4-FFF2-40B4-BE49-F238E27FC236}">
                <a16:creationId xmlns:a16="http://schemas.microsoft.com/office/drawing/2014/main" id="{33F3C182-00B2-CDE0-3339-58349B938A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5400" y="4741863"/>
            <a:ext cx="1579563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4" name="Line 24">
            <a:extLst>
              <a:ext uri="{FF2B5EF4-FFF2-40B4-BE49-F238E27FC236}">
                <a16:creationId xmlns:a16="http://schemas.microsoft.com/office/drawing/2014/main" id="{94D51754-F30F-A1A4-0CB7-BF644660EE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5400" y="5037138"/>
            <a:ext cx="1579563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5" name="Line 25">
            <a:extLst>
              <a:ext uri="{FF2B5EF4-FFF2-40B4-BE49-F238E27FC236}">
                <a16:creationId xmlns:a16="http://schemas.microsoft.com/office/drawing/2014/main" id="{06C99BD3-3ED7-A456-21ED-02590005A2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5400" y="5364163"/>
            <a:ext cx="1579563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6" name="Line 26">
            <a:extLst>
              <a:ext uri="{FF2B5EF4-FFF2-40B4-BE49-F238E27FC236}">
                <a16:creationId xmlns:a16="http://schemas.microsoft.com/office/drawing/2014/main" id="{DBF903BC-2A95-03FC-6894-E9687631A9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8325" y="2943225"/>
            <a:ext cx="1539875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7" name="Rectangle 27">
            <a:extLst>
              <a:ext uri="{FF2B5EF4-FFF2-40B4-BE49-F238E27FC236}">
                <a16:creationId xmlns:a16="http://schemas.microsoft.com/office/drawing/2014/main" id="{CC9BC22A-B3CC-322D-F1A3-E50087C75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2675" y="3109913"/>
            <a:ext cx="288925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3578" name="Line 28">
            <a:extLst>
              <a:ext uri="{FF2B5EF4-FFF2-40B4-BE49-F238E27FC236}">
                <a16:creationId xmlns:a16="http://schemas.microsoft.com/office/drawing/2014/main" id="{C09D4690-7F61-6FCC-836D-F035A1641A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8325" y="3476625"/>
            <a:ext cx="1539875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9" name="Line 29">
            <a:extLst>
              <a:ext uri="{FF2B5EF4-FFF2-40B4-BE49-F238E27FC236}">
                <a16:creationId xmlns:a16="http://schemas.microsoft.com/office/drawing/2014/main" id="{2BBF761E-D01E-CAB0-6A86-2CBA46BFC5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8325" y="4695825"/>
            <a:ext cx="1539875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0" name="Line 30">
            <a:extLst>
              <a:ext uri="{FF2B5EF4-FFF2-40B4-BE49-F238E27FC236}">
                <a16:creationId xmlns:a16="http://schemas.microsoft.com/office/drawing/2014/main" id="{C7867DE7-E280-7664-97F0-747A80F9F961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138" y="4848225"/>
            <a:ext cx="183515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1" name="Line 31">
            <a:extLst>
              <a:ext uri="{FF2B5EF4-FFF2-40B4-BE49-F238E27FC236}">
                <a16:creationId xmlns:a16="http://schemas.microsoft.com/office/drawing/2014/main" id="{0430D6F6-E763-3FD1-27B4-0BF72EAD0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8325" y="4162425"/>
            <a:ext cx="1539875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2" name="AutoShape 32">
            <a:extLst>
              <a:ext uri="{FF2B5EF4-FFF2-40B4-BE49-F238E27FC236}">
                <a16:creationId xmlns:a16="http://schemas.microsoft.com/office/drawing/2014/main" id="{106405D3-52C7-0C96-EC85-A7E954BAF17D}"/>
              </a:ext>
            </a:extLst>
          </p:cNvPr>
          <p:cNvSpPr>
            <a:spLocks/>
          </p:cNvSpPr>
          <p:nvPr/>
        </p:nvSpPr>
        <p:spPr bwMode="auto">
          <a:xfrm>
            <a:off x="754063" y="3235325"/>
            <a:ext cx="219075" cy="1612900"/>
          </a:xfrm>
          <a:prstGeom prst="leftBrace">
            <a:avLst>
              <a:gd name="adj1" fmla="val 61353"/>
              <a:gd name="adj2" fmla="val 50000"/>
            </a:avLst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3583" name="Line 33">
            <a:extLst>
              <a:ext uri="{FF2B5EF4-FFF2-40B4-BE49-F238E27FC236}">
                <a16:creationId xmlns:a16="http://schemas.microsoft.com/office/drawing/2014/main" id="{C88F0D7A-7B44-1CCA-B8C0-5137C832836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010025"/>
            <a:ext cx="1039813" cy="1095375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4" name="Line 34">
            <a:extLst>
              <a:ext uri="{FF2B5EF4-FFF2-40B4-BE49-F238E27FC236}">
                <a16:creationId xmlns:a16="http://schemas.microsoft.com/office/drawing/2014/main" id="{3F58AACB-D428-C278-B65C-8A86F059FC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2738" y="4037013"/>
            <a:ext cx="1525587" cy="1068387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5" name="Rectangle 35">
            <a:extLst>
              <a:ext uri="{FF2B5EF4-FFF2-40B4-BE49-F238E27FC236}">
                <a16:creationId xmlns:a16="http://schemas.microsoft.com/office/drawing/2014/main" id="{8B72CE80-E096-3054-1E27-9442B7363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813" y="3908425"/>
            <a:ext cx="24828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>
                <a:latin typeface="Times New Roman" panose="02020603050405020304" pitchFamily="18" charset="0"/>
              </a:rPr>
              <a:t>第一个消息缓冲区</a:t>
            </a:r>
          </a:p>
        </p:txBody>
      </p:sp>
      <p:sp>
        <p:nvSpPr>
          <p:cNvPr id="23586" name="AutoShape 36">
            <a:extLst>
              <a:ext uri="{FF2B5EF4-FFF2-40B4-BE49-F238E27FC236}">
                <a16:creationId xmlns:a16="http://schemas.microsoft.com/office/drawing/2014/main" id="{C4D11D86-3690-7BBD-4019-D00EA1766A10}"/>
              </a:ext>
            </a:extLst>
          </p:cNvPr>
          <p:cNvSpPr>
            <a:spLocks/>
          </p:cNvSpPr>
          <p:nvPr/>
        </p:nvSpPr>
        <p:spPr bwMode="auto">
          <a:xfrm flipH="1">
            <a:off x="8505825" y="2943225"/>
            <a:ext cx="188913" cy="1739900"/>
          </a:xfrm>
          <a:prstGeom prst="leftBrace">
            <a:avLst>
              <a:gd name="adj1" fmla="val 76750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B83FAC8-12A1-E0AA-FB03-16E585233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80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C27C0A52-0AF8-2BF3-3D47-2369672FF3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/>
              <a:t>发送原语描述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AD2A8884-05FC-D10E-CA84-D7EF7C5014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void </a:t>
            </a:r>
            <a:r>
              <a:rPr lang="en-US" altLang="zh-CN" dirty="0" err="1"/>
              <a:t>send（receiver，a</a:t>
            </a:r>
            <a:r>
              <a:rPr lang="en-US" altLang="zh-CN" dirty="0"/>
              <a:t>）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 /*receiver</a:t>
            </a:r>
            <a:r>
              <a:rPr lang="zh-CN" altLang="en-US" dirty="0"/>
              <a:t>为接收者标识号，</a:t>
            </a:r>
            <a:r>
              <a:rPr lang="en-US" altLang="zh-CN" dirty="0"/>
              <a:t>a</a:t>
            </a:r>
            <a:r>
              <a:rPr lang="zh-CN" altLang="en-US" dirty="0"/>
              <a:t>为发送区首址</a:t>
            </a:r>
            <a:r>
              <a:rPr lang="en-US" altLang="zh-CN" dirty="0"/>
              <a:t>*/</a:t>
            </a:r>
            <a:endParaRPr lang="zh-CN" alt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/>
              <a:t>  {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向系统申请一个消息缓冲区</a:t>
            </a:r>
            <a:r>
              <a:rPr lang="en-US" altLang="zh-CN" dirty="0" err="1"/>
              <a:t>i</a:t>
            </a:r>
            <a:r>
              <a:rPr lang="en-US" altLang="zh-CN" dirty="0"/>
              <a:t>；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将发送区</a:t>
            </a:r>
            <a:r>
              <a:rPr lang="en-US" altLang="zh-CN" dirty="0"/>
              <a:t>a</a:t>
            </a:r>
            <a:r>
              <a:rPr lang="zh-CN" altLang="en-US" dirty="0"/>
              <a:t>中的消息复制到</a:t>
            </a:r>
            <a:r>
              <a:rPr lang="en-US" altLang="zh-CN" dirty="0" err="1"/>
              <a:t>i</a:t>
            </a:r>
            <a:r>
              <a:rPr lang="zh-CN" altLang="en-US" dirty="0"/>
              <a:t>中；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/>
              <a:t>       获得接收进程的内部标识</a:t>
            </a:r>
            <a:r>
              <a:rPr lang="en-US" altLang="zh-CN" dirty="0"/>
              <a:t>j;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      </a:t>
            </a:r>
            <a:r>
              <a:rPr lang="en-US" altLang="zh-CN" dirty="0" err="1"/>
              <a:t>P（mutex</a:t>
            </a:r>
            <a:r>
              <a:rPr lang="en-US" altLang="zh-CN" dirty="0"/>
              <a:t>）；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把消息插入</a:t>
            </a:r>
            <a:r>
              <a:rPr lang="en-US" altLang="zh-CN" dirty="0"/>
              <a:t>j</a:t>
            </a:r>
            <a:r>
              <a:rPr lang="zh-CN" altLang="en-US" dirty="0"/>
              <a:t>的消息队列上；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/>
              <a:t>       </a:t>
            </a:r>
            <a:r>
              <a:rPr lang="en-US" altLang="zh-CN" dirty="0" err="1"/>
              <a:t>V（mutex</a:t>
            </a:r>
            <a:r>
              <a:rPr lang="en-US" altLang="zh-CN" dirty="0"/>
              <a:t>）；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      </a:t>
            </a:r>
            <a:r>
              <a:rPr lang="en-US" altLang="zh-CN" dirty="0" err="1"/>
              <a:t>V（sm</a:t>
            </a:r>
            <a:r>
              <a:rPr lang="en-US" altLang="zh-CN" dirty="0"/>
              <a:t>）；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   }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C9683F-4729-60C8-5010-D0FA2E9E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81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5C970869-F04B-B57B-DFFE-B774058A90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/>
              <a:t>接收原语描述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2F9449DD-4AE8-0093-DADB-A68FAFC423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void  </a:t>
            </a:r>
            <a:r>
              <a:rPr lang="en-US" altLang="zh-CN" dirty="0" err="1"/>
              <a:t>receive（b</a:t>
            </a:r>
            <a:r>
              <a:rPr lang="en-US" altLang="zh-CN" dirty="0"/>
              <a:t>）/</a:t>
            </a:r>
            <a:r>
              <a:rPr lang="zh-CN" altLang="en-US" dirty="0"/>
              <a:t>*</a:t>
            </a:r>
            <a:r>
              <a:rPr lang="en-US" altLang="zh-CN" dirty="0"/>
              <a:t>b</a:t>
            </a:r>
            <a:r>
              <a:rPr lang="zh-CN" altLang="en-US" dirty="0"/>
              <a:t>为接收区首址*</a:t>
            </a:r>
            <a:r>
              <a:rPr lang="en-US" altLang="zh-CN" dirty="0"/>
              <a:t>/</a:t>
            </a:r>
            <a:endParaRPr lang="zh-CN" alt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dirty="0"/>
              <a:t>{</a:t>
            </a:r>
            <a:endParaRPr lang="en-US" altLang="zh-CN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      </a:t>
            </a:r>
            <a:r>
              <a:rPr lang="zh-CN" altLang="en-US" dirty="0"/>
              <a:t>获得接收进程内部标识</a:t>
            </a:r>
            <a:r>
              <a:rPr lang="en-US" altLang="zh-CN" dirty="0"/>
              <a:t>j;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P（sm</a:t>
            </a:r>
            <a:r>
              <a:rPr lang="en-US" altLang="zh-CN" dirty="0"/>
              <a:t>）；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P（mutex</a:t>
            </a:r>
            <a:r>
              <a:rPr lang="en-US" altLang="zh-CN" dirty="0"/>
              <a:t>）；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      </a:t>
            </a:r>
            <a:r>
              <a:rPr lang="zh-CN" altLang="en-US" dirty="0"/>
              <a:t>将消息队列中的第一个消息移出；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dirty="0"/>
              <a:t>      </a:t>
            </a:r>
            <a:r>
              <a:rPr lang="en-US" altLang="zh-CN" dirty="0" err="1"/>
              <a:t>V（mutex</a:t>
            </a:r>
            <a:r>
              <a:rPr lang="en-US" altLang="zh-CN" dirty="0"/>
              <a:t>）；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      </a:t>
            </a:r>
            <a:r>
              <a:rPr lang="zh-CN" altLang="en-US" dirty="0"/>
              <a:t>将消息复制到接收区</a:t>
            </a:r>
            <a:r>
              <a:rPr lang="en-US" altLang="zh-CN" dirty="0"/>
              <a:t>b；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  }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269E0AE-38A9-B065-C75F-BEE6EABFB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82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C568F235-F825-C4C5-064A-01A39644A0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信箱通信</a:t>
            </a:r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346F8E0D-6334-45B1-A5E0-316C29675A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233488"/>
            <a:ext cx="7772400" cy="514226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信箱通信方式中，进程之间通信需要通过共享数据结构实体 </a:t>
            </a:r>
            <a:r>
              <a:rPr lang="en-US" altLang="zh-CN" dirty="0"/>
              <a:t>——</a:t>
            </a:r>
            <a:r>
              <a:rPr lang="zh-CN" altLang="en-US" dirty="0"/>
              <a:t> 信箱来进行。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信箱是一种数据结构，其中存放信件。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信箱逻辑上分成信箱头和信箱体两部分。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信箱头中存放有关信箱的描述。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信箱体由若干格子组成，每格存放一个信件，格子的数目和大小在创建信箱时确定。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信箱通信原语包括：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信箱的创建和撤消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消息的发送和接收：</a:t>
            </a:r>
          </a:p>
          <a:p>
            <a:pPr lvl="2">
              <a:lnSpc>
                <a:spcPct val="120000"/>
              </a:lnSpc>
            </a:pPr>
            <a:r>
              <a:rPr lang="en-US" altLang="zh-CN" dirty="0"/>
              <a:t>Send(mailbox,</a:t>
            </a:r>
            <a:r>
              <a:rPr lang="zh-CN" altLang="en-US" dirty="0"/>
              <a:t> </a:t>
            </a:r>
            <a:r>
              <a:rPr lang="en-US" altLang="zh-CN" dirty="0"/>
              <a:t>message);</a:t>
            </a:r>
          </a:p>
          <a:p>
            <a:pPr lvl="2">
              <a:lnSpc>
                <a:spcPct val="120000"/>
              </a:lnSpc>
            </a:pPr>
            <a:r>
              <a:rPr lang="en-US" altLang="zh-CN" dirty="0"/>
              <a:t>Receive(mailbox,</a:t>
            </a:r>
            <a:r>
              <a:rPr lang="zh-CN" altLang="en-US" dirty="0"/>
              <a:t> </a:t>
            </a:r>
            <a:r>
              <a:rPr lang="en-US" altLang="zh-CN" dirty="0"/>
              <a:t>message);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562D7C-BF91-BCF8-80FE-169FF3A7B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83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34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34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34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7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0255A854-CBB1-EA6D-2525-AE601AD53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消息通信中的同步问题</a:t>
            </a:r>
          </a:p>
        </p:txBody>
      </p:sp>
      <p:sp>
        <p:nvSpPr>
          <p:cNvPr id="223235" name="Rectangle 3">
            <a:extLst>
              <a:ext uri="{FF2B5EF4-FFF2-40B4-BE49-F238E27FC236}">
                <a16:creationId xmlns:a16="http://schemas.microsoft.com/office/drawing/2014/main" id="{78A4D4E5-9552-49F1-93DF-2039BEBB4D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/>
          <a:lstStyle/>
          <a:p>
            <a:r>
              <a:rPr lang="zh-CN" altLang="en-US"/>
              <a:t>进程间的消息通信存在同步关系</a:t>
            </a:r>
          </a:p>
          <a:p>
            <a:r>
              <a:rPr lang="zh-CN" altLang="en-US"/>
              <a:t>对于发送进程来说，它在执行发送原语后有两种可能选择：</a:t>
            </a:r>
          </a:p>
          <a:p>
            <a:pPr lvl="1"/>
            <a:r>
              <a:rPr lang="zh-CN" altLang="en-US"/>
              <a:t>发送进程阻塞，直到这个消息被接收进程接收到，这种发送称为阻塞发送。</a:t>
            </a:r>
          </a:p>
          <a:p>
            <a:pPr lvl="1"/>
            <a:r>
              <a:rPr lang="zh-CN" altLang="en-US"/>
              <a:t>发送进程不阻塞，继续执行，这种发送称为非阻塞发送。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30586EC-75AD-B1B4-F4D0-7499EE65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84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3242506E-7A78-AB7C-51C1-3398D4E1D4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消息通信中的同步问题</a:t>
            </a: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0A9D5838-A389-CAE6-4754-443B9BF3A7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/>
          <a:lstStyle/>
          <a:p>
            <a:r>
              <a:rPr lang="zh-CN" altLang="en-US"/>
              <a:t>对于一个接收进程来说，在执行接收原语后也有两种可能选择：</a:t>
            </a:r>
          </a:p>
          <a:p>
            <a:pPr lvl="1"/>
            <a:r>
              <a:rPr lang="zh-CN" altLang="en-US"/>
              <a:t>如果一个消息在接收原语执行之前已经发送，则该消息被接收进程接收，接收进程继续执行。</a:t>
            </a:r>
          </a:p>
          <a:p>
            <a:pPr lvl="1"/>
            <a:r>
              <a:rPr lang="zh-CN" altLang="en-US"/>
              <a:t>如果没有正在等待的消息，则该进程阻塞直到有消息到达；或者该进程继续执行，放弃接收的努力。前者称为阻塞接收，后者称为非阻塞接收。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C9225D7-221D-C277-43CE-76A8C860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85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478E37EA-F71B-C79D-AF12-DF32D4D4DA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消息通信中的同步问题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E9138291-8293-2471-C31C-910A232BEC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/>
          <a:lstStyle/>
          <a:p>
            <a:r>
              <a:rPr lang="zh-CN" altLang="en-US"/>
              <a:t>根据发送进程和接收进程采取方式的不同，通常有三种常用的组合方式：</a:t>
            </a:r>
          </a:p>
          <a:p>
            <a:pPr lvl="1"/>
            <a:r>
              <a:rPr lang="zh-CN" altLang="en-US"/>
              <a:t>非阻塞发送、阻塞接收。</a:t>
            </a:r>
          </a:p>
          <a:p>
            <a:pPr lvl="1"/>
            <a:r>
              <a:rPr lang="zh-CN" altLang="en-US"/>
              <a:t>非阻塞发送、非阻塞接收。</a:t>
            </a:r>
          </a:p>
          <a:p>
            <a:pPr lvl="1"/>
            <a:r>
              <a:rPr lang="zh-CN" altLang="en-US"/>
              <a:t>阻塞发送，阻塞接收。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9F76770-8F25-F68B-31C8-FABBD30BB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86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0B14367C-E662-6229-D753-30DBB01EC8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管道通信机制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28F6AE5F-8BED-BDEB-7EE6-4BFA0C32AF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管道（</a:t>
            </a:r>
            <a:r>
              <a:rPr lang="en-US" altLang="zh-CN" dirty="0"/>
              <a:t>pipe</a:t>
            </a:r>
            <a:r>
              <a:rPr lang="zh-CN" altLang="en-US" dirty="0"/>
              <a:t>）在</a:t>
            </a:r>
            <a:r>
              <a:rPr lang="en-US" altLang="zh-CN" dirty="0"/>
              <a:t>Unix</a:t>
            </a:r>
            <a:r>
              <a:rPr lang="zh-CN" altLang="en-US" dirty="0"/>
              <a:t>系列的系统中会被当作一个文件，内核会为用户态提供代表管道的文件描述符，让其可以通过文件相关系统调用来使用。</a:t>
            </a:r>
            <a:endParaRPr lang="en-US" altLang="zh-CN" dirty="0"/>
          </a:p>
          <a:p>
            <a:r>
              <a:rPr lang="zh-CN" altLang="en-US" dirty="0"/>
              <a:t>管道不会使用存储设备，而是使用内存作为数据的缓冲区。</a:t>
            </a:r>
            <a:endParaRPr lang="en-US" altLang="zh-CN" dirty="0"/>
          </a:p>
          <a:p>
            <a:r>
              <a:rPr lang="zh-CN" altLang="en-US" dirty="0"/>
              <a:t>主要用于父子进程间或者兄弟进程间的通信。它允许一个进程向另一个进程传递数据。</a:t>
            </a:r>
            <a:endParaRPr lang="en-US" altLang="zh-CN" dirty="0"/>
          </a:p>
          <a:p>
            <a:r>
              <a:rPr lang="zh-CN" altLang="en-US" dirty="0"/>
              <a:t>管道有两种类型：无名管道（</a:t>
            </a:r>
            <a:r>
              <a:rPr lang="en" altLang="zh-CN" dirty="0"/>
              <a:t>pipe</a:t>
            </a:r>
            <a:r>
              <a:rPr lang="zh-CN" altLang="en" dirty="0"/>
              <a:t>）</a:t>
            </a:r>
            <a:r>
              <a:rPr lang="zh-CN" altLang="en-US" dirty="0"/>
              <a:t>和有名管道（</a:t>
            </a:r>
            <a:r>
              <a:rPr lang="en" altLang="zh-CN" dirty="0"/>
              <a:t>named pipe</a:t>
            </a:r>
            <a:r>
              <a:rPr lang="zh-CN" altLang="en" dirty="0"/>
              <a:t>，</a:t>
            </a:r>
            <a:r>
              <a:rPr lang="zh-CN" altLang="en-US" dirty="0"/>
              <a:t>也叫</a:t>
            </a:r>
            <a:r>
              <a:rPr lang="en" altLang="zh-CN" dirty="0"/>
              <a:t>FIFO</a:t>
            </a:r>
            <a:r>
              <a:rPr lang="zh-CN" altLang="en" dirty="0"/>
              <a:t>）。</a:t>
            </a:r>
          </a:p>
          <a:p>
            <a:endParaRPr lang="zh-CN" altLang="en" dirty="0"/>
          </a:p>
          <a:p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0AD1F4-3E03-5E18-DBA0-3A8E1D880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87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E72439-12D1-EB6E-D642-DBDB226CA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管道通信机制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5C0FF2-6CE6-F4C5-00A8-4F81B8830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无名管道</a:t>
            </a:r>
            <a:r>
              <a:rPr kumimoji="1" lang="zh-CN" altLang="en-US" dirty="0">
                <a:solidFill>
                  <a:schemeClr val="bg2"/>
                </a:solidFill>
              </a:rPr>
              <a:t>主要用于父子进程间的通信，其基本原理是：在创建管道时，系统返回两个文件描述符，分别代表管道的读端和写端。父进程可以通过写端向管道中写入数据，子进程则可以通过读端从管道中读取数据。</a:t>
            </a:r>
            <a:endParaRPr kumimoji="1" lang="zh-CN" altLang="en-US" b="1" dirty="0">
              <a:solidFill>
                <a:srgbClr val="FF0000"/>
              </a:solidFill>
            </a:endParaRPr>
          </a:p>
          <a:p>
            <a:r>
              <a:rPr kumimoji="1" lang="zh-CN" altLang="en-US" b="1" dirty="0">
                <a:solidFill>
                  <a:srgbClr val="FF0000"/>
                </a:solidFill>
              </a:rPr>
              <a:t>有名管道（</a:t>
            </a:r>
            <a:r>
              <a:rPr kumimoji="1" lang="en" altLang="zh-CN" b="1" dirty="0">
                <a:solidFill>
                  <a:srgbClr val="FF0000"/>
                </a:solidFill>
              </a:rPr>
              <a:t>FIFO</a:t>
            </a:r>
            <a:r>
              <a:rPr kumimoji="1" lang="zh-CN" altLang="en" b="1" dirty="0">
                <a:solidFill>
                  <a:srgbClr val="FF0000"/>
                </a:solidFill>
              </a:rPr>
              <a:t>）</a:t>
            </a:r>
            <a:r>
              <a:rPr kumimoji="1" lang="zh-CN" altLang="en-US" dirty="0">
                <a:solidFill>
                  <a:schemeClr val="bg2"/>
                </a:solidFill>
              </a:rPr>
              <a:t>则可以用于任何两个进程间的通信。它是一种特殊的文件，可以像普通文件一样用</a:t>
            </a:r>
            <a:r>
              <a:rPr kumimoji="1" lang="en" altLang="zh-CN" dirty="0">
                <a:solidFill>
                  <a:schemeClr val="bg2"/>
                </a:solidFill>
              </a:rPr>
              <a:t>open</a:t>
            </a:r>
            <a:r>
              <a:rPr kumimoji="1" lang="zh-CN" altLang="en" dirty="0">
                <a:solidFill>
                  <a:schemeClr val="bg2"/>
                </a:solidFill>
              </a:rPr>
              <a:t>、</a:t>
            </a:r>
            <a:r>
              <a:rPr kumimoji="1" lang="en" altLang="zh-CN" dirty="0">
                <a:solidFill>
                  <a:schemeClr val="bg2"/>
                </a:solidFill>
              </a:rPr>
              <a:t>read</a:t>
            </a:r>
            <a:r>
              <a:rPr kumimoji="1" lang="zh-CN" altLang="en" dirty="0">
                <a:solidFill>
                  <a:schemeClr val="bg2"/>
                </a:solidFill>
              </a:rPr>
              <a:t>、</a:t>
            </a:r>
            <a:r>
              <a:rPr kumimoji="1" lang="en" altLang="zh-CN" dirty="0">
                <a:solidFill>
                  <a:schemeClr val="bg2"/>
                </a:solidFill>
              </a:rPr>
              <a:t>write</a:t>
            </a:r>
            <a:r>
              <a:rPr kumimoji="1" lang="zh-CN" altLang="en-US" dirty="0">
                <a:solidFill>
                  <a:schemeClr val="bg2"/>
                </a:solidFill>
              </a:rPr>
              <a:t>等系统调用进行操作。一个进程向</a:t>
            </a:r>
            <a:r>
              <a:rPr kumimoji="1" lang="en" altLang="zh-CN" dirty="0">
                <a:solidFill>
                  <a:schemeClr val="bg2"/>
                </a:solidFill>
              </a:rPr>
              <a:t>FIFO</a:t>
            </a:r>
            <a:r>
              <a:rPr kumimoji="1" lang="zh-CN" altLang="en-US" dirty="0">
                <a:solidFill>
                  <a:schemeClr val="bg2"/>
                </a:solidFill>
              </a:rPr>
              <a:t>中写入的数据可以被另一个进程读取出来。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C879CF-655E-0677-B6A7-225A513D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88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529310"/>
      </p:ext>
    </p:extLst>
  </p:cSld>
  <p:clrMapOvr>
    <a:masterClrMapping/>
  </p:clrMapOvr>
  <p:transition spd="med">
    <p:zoom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5D97D252-907C-62A6-B716-4ECFC75C34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管道</a:t>
            </a:r>
          </a:p>
        </p:txBody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7ED8C18F-DED1-C9A4-99C6-18B69C2115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/>
          <a:lstStyle/>
          <a:p>
            <a:r>
              <a:rPr lang="zh-CN" altLang="en-US"/>
              <a:t>使用管道通信时，基本上采用文件系统的原有机制实现。包括创建、打开、关闭、读写等。</a:t>
            </a:r>
          </a:p>
          <a:p>
            <a:r>
              <a:rPr lang="zh-CN" altLang="en-US"/>
              <a:t>管道机制应提供以下三方面的协调能力：</a:t>
            </a:r>
          </a:p>
          <a:p>
            <a:pPr lvl="1"/>
            <a:r>
              <a:rPr lang="zh-CN" altLang="en-US"/>
              <a:t>互斥：诸进程互斥读写管道</a:t>
            </a:r>
          </a:p>
          <a:p>
            <a:pPr lvl="1"/>
            <a:r>
              <a:rPr lang="zh-CN" altLang="en-US"/>
              <a:t>同步：管道空、满情况处理</a:t>
            </a:r>
          </a:p>
          <a:p>
            <a:pPr lvl="1"/>
            <a:r>
              <a:rPr lang="zh-CN" altLang="en-US"/>
              <a:t>存在：确定对方是否存在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3E6CDBA-7D5D-3C87-8829-7DF0F58FB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89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0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02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5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DE3FFADE-6AD5-D309-1331-289A005B83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管道通信示意图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0A5DDF31-68EF-A01D-D2D7-FA3FF66630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/>
          </a:bodyPr>
          <a:lstStyle/>
          <a:p>
            <a:r>
              <a:rPr lang="zh-CN" altLang="en-US"/>
              <a:t>初始时，其长度为4，系统将管道看成一个循环队列。按先进先出的方式读写。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0DC122D3-0942-3DA5-117C-5B398179A960}"/>
              </a:ext>
            </a:extLst>
          </p:cNvPr>
          <p:cNvGrpSpPr>
            <a:grpSpLocks/>
          </p:cNvGrpSpPr>
          <p:nvPr/>
        </p:nvGrpSpPr>
        <p:grpSpPr bwMode="auto">
          <a:xfrm>
            <a:off x="1054100" y="2492375"/>
            <a:ext cx="7334250" cy="1295400"/>
            <a:chOff x="528" y="1920"/>
            <a:chExt cx="4620" cy="816"/>
          </a:xfrm>
        </p:grpSpPr>
        <p:sp>
          <p:nvSpPr>
            <p:cNvPr id="32785" name="Line 5">
              <a:extLst>
                <a:ext uri="{FF2B5EF4-FFF2-40B4-BE49-F238E27FC236}">
                  <a16:creationId xmlns:a16="http://schemas.microsoft.com/office/drawing/2014/main" id="{25A10A7A-34C8-1905-C9F8-7BF8840B0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8" y="1920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86" name="Text Box 6">
              <a:extLst>
                <a:ext uri="{FF2B5EF4-FFF2-40B4-BE49-F238E27FC236}">
                  <a16:creationId xmlns:a16="http://schemas.microsoft.com/office/drawing/2014/main" id="{06B3859B-5D43-3EBB-7AAF-61181A3E5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1" y="2448"/>
              <a:ext cx="2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in</a:t>
              </a:r>
            </a:p>
          </p:txBody>
        </p:sp>
        <p:sp>
          <p:nvSpPr>
            <p:cNvPr id="32787" name="Text Box 7">
              <a:extLst>
                <a:ext uri="{FF2B5EF4-FFF2-40B4-BE49-F238E27FC236}">
                  <a16:creationId xmlns:a16="http://schemas.microsoft.com/office/drawing/2014/main" id="{50DEA5F3-1CB2-65A2-4EAD-6B3D16AE12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" y="2448"/>
              <a:ext cx="4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out</a:t>
              </a:r>
            </a:p>
          </p:txBody>
        </p:sp>
        <p:sp>
          <p:nvSpPr>
            <p:cNvPr id="32788" name="Line 8">
              <a:extLst>
                <a:ext uri="{FF2B5EF4-FFF2-40B4-BE49-F238E27FC236}">
                  <a16:creationId xmlns:a16="http://schemas.microsoft.com/office/drawing/2014/main" id="{D471A14F-214E-43F8-D23C-6A9BFBB5DC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6" y="2304"/>
              <a:ext cx="1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89" name="Line 9">
              <a:extLst>
                <a:ext uri="{FF2B5EF4-FFF2-40B4-BE49-F238E27FC236}">
                  <a16:creationId xmlns:a16="http://schemas.microsoft.com/office/drawing/2014/main" id="{45D6ECE4-D9DE-C2C5-CAF8-C11B173BD3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5" y="2304"/>
              <a:ext cx="1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90" name="Rectangle 10">
              <a:extLst>
                <a:ext uri="{FF2B5EF4-FFF2-40B4-BE49-F238E27FC236}">
                  <a16:creationId xmlns:a16="http://schemas.microsoft.com/office/drawing/2014/main" id="{D176A064-CB51-CA39-97D6-76767140A1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920"/>
              <a:ext cx="4620" cy="33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 A     B   C   D</a:t>
              </a:r>
            </a:p>
          </p:txBody>
        </p:sp>
        <p:sp>
          <p:nvSpPr>
            <p:cNvPr id="32791" name="Line 11">
              <a:extLst>
                <a:ext uri="{FF2B5EF4-FFF2-40B4-BE49-F238E27FC236}">
                  <a16:creationId xmlns:a16="http://schemas.microsoft.com/office/drawing/2014/main" id="{41B38F21-D7F5-AB59-636C-92F2EB7C9A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20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92" name="Line 12">
              <a:extLst>
                <a:ext uri="{FF2B5EF4-FFF2-40B4-BE49-F238E27FC236}">
                  <a16:creationId xmlns:a16="http://schemas.microsoft.com/office/drawing/2014/main" id="{C1AD3A80-8D4B-8860-7488-443290462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4" y="1920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93" name="Line 13">
              <a:extLst>
                <a:ext uri="{FF2B5EF4-FFF2-40B4-BE49-F238E27FC236}">
                  <a16:creationId xmlns:a16="http://schemas.microsoft.com/office/drawing/2014/main" id="{2167B393-A3F1-3499-28C5-153A52982A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920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94" name="Line 14">
              <a:extLst>
                <a:ext uri="{FF2B5EF4-FFF2-40B4-BE49-F238E27FC236}">
                  <a16:creationId xmlns:a16="http://schemas.microsoft.com/office/drawing/2014/main" id="{7F0224D1-95C4-6162-54DE-F717136EC6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920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95" name="Line 15">
              <a:extLst>
                <a:ext uri="{FF2B5EF4-FFF2-40B4-BE49-F238E27FC236}">
                  <a16:creationId xmlns:a16="http://schemas.microsoft.com/office/drawing/2014/main" id="{8CE3C306-D54C-A1AD-3FC8-A075931E07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920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92528" name="Rectangle 16">
            <a:extLst>
              <a:ext uri="{FF2B5EF4-FFF2-40B4-BE49-F238E27FC236}">
                <a16:creationId xmlns:a16="http://schemas.microsoft.com/office/drawing/2014/main" id="{898142D9-E410-255A-58D9-A70AC804F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4002088"/>
            <a:ext cx="56388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/>
              <a:t>写入字符</a:t>
            </a:r>
            <a:r>
              <a:rPr lang="en-US" altLang="zh-CN"/>
              <a:t>E</a:t>
            </a:r>
            <a:r>
              <a:rPr lang="zh-CN" altLang="en-US"/>
              <a:t>后，管道长度为5</a:t>
            </a:r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0D988F25-0D5F-831A-E14D-B851F047B042}"/>
              </a:ext>
            </a:extLst>
          </p:cNvPr>
          <p:cNvGrpSpPr>
            <a:grpSpLocks/>
          </p:cNvGrpSpPr>
          <p:nvPr/>
        </p:nvGrpSpPr>
        <p:grpSpPr bwMode="auto">
          <a:xfrm>
            <a:off x="982663" y="4764088"/>
            <a:ext cx="7550150" cy="1295400"/>
            <a:chOff x="528" y="3264"/>
            <a:chExt cx="4756" cy="816"/>
          </a:xfrm>
        </p:grpSpPr>
        <p:sp>
          <p:nvSpPr>
            <p:cNvPr id="32774" name="Line 18">
              <a:extLst>
                <a:ext uri="{FF2B5EF4-FFF2-40B4-BE49-F238E27FC236}">
                  <a16:creationId xmlns:a16="http://schemas.microsoft.com/office/drawing/2014/main" id="{D954ED42-CA5F-F756-D199-6F226A23AE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8" y="3264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75" name="Text Box 19">
              <a:extLst>
                <a:ext uri="{FF2B5EF4-FFF2-40B4-BE49-F238E27FC236}">
                  <a16:creationId xmlns:a16="http://schemas.microsoft.com/office/drawing/2014/main" id="{404F7259-650A-C63E-8CFE-E2B3F3C1D5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3792"/>
              <a:ext cx="2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9900CC"/>
                  </a:solidFill>
                </a:rPr>
                <a:t>in</a:t>
              </a:r>
            </a:p>
          </p:txBody>
        </p:sp>
        <p:sp>
          <p:nvSpPr>
            <p:cNvPr id="32776" name="Text Box 20">
              <a:extLst>
                <a:ext uri="{FF2B5EF4-FFF2-40B4-BE49-F238E27FC236}">
                  <a16:creationId xmlns:a16="http://schemas.microsoft.com/office/drawing/2014/main" id="{425DC3CA-C08F-F4EA-CAB6-29A438696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" y="3792"/>
              <a:ext cx="4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out</a:t>
              </a:r>
            </a:p>
          </p:txBody>
        </p:sp>
        <p:sp>
          <p:nvSpPr>
            <p:cNvPr id="32777" name="Line 21">
              <a:extLst>
                <a:ext uri="{FF2B5EF4-FFF2-40B4-BE49-F238E27FC236}">
                  <a16:creationId xmlns:a16="http://schemas.microsoft.com/office/drawing/2014/main" id="{D418F294-9B55-AACF-3EBC-5F6E67FCBB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5" y="3648"/>
              <a:ext cx="1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78" name="Line 22">
              <a:extLst>
                <a:ext uri="{FF2B5EF4-FFF2-40B4-BE49-F238E27FC236}">
                  <a16:creationId xmlns:a16="http://schemas.microsoft.com/office/drawing/2014/main" id="{2A7F9FD7-C156-E790-AAFC-1FD31067F2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5" y="3648"/>
              <a:ext cx="1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79" name="Rectangle 23">
              <a:extLst>
                <a:ext uri="{FF2B5EF4-FFF2-40B4-BE49-F238E27FC236}">
                  <a16:creationId xmlns:a16="http://schemas.microsoft.com/office/drawing/2014/main" id="{ECAE1364-1336-CD1D-B9D3-5F4425F39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264"/>
              <a:ext cx="4756" cy="33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 A     B   C    D    </a:t>
              </a:r>
              <a:r>
                <a:rPr lang="en-US" altLang="zh-CN" sz="2400">
                  <a:solidFill>
                    <a:srgbClr val="9900CC"/>
                  </a:solidFill>
                </a:rPr>
                <a:t>E</a:t>
              </a:r>
            </a:p>
          </p:txBody>
        </p:sp>
        <p:sp>
          <p:nvSpPr>
            <p:cNvPr id="32780" name="Line 24">
              <a:extLst>
                <a:ext uri="{FF2B5EF4-FFF2-40B4-BE49-F238E27FC236}">
                  <a16:creationId xmlns:a16="http://schemas.microsoft.com/office/drawing/2014/main" id="{1E05DEE5-23CB-82E1-8A70-FBE7CBDF4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3264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81" name="Line 25">
              <a:extLst>
                <a:ext uri="{FF2B5EF4-FFF2-40B4-BE49-F238E27FC236}">
                  <a16:creationId xmlns:a16="http://schemas.microsoft.com/office/drawing/2014/main" id="{D6850D3E-67F7-5871-CBBA-DEC52EBBA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4" y="3264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82" name="Line 26">
              <a:extLst>
                <a:ext uri="{FF2B5EF4-FFF2-40B4-BE49-F238E27FC236}">
                  <a16:creationId xmlns:a16="http://schemas.microsoft.com/office/drawing/2014/main" id="{FBAB79B9-6C70-8C4E-5E03-08CFEB1FFB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7" y="3264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83" name="Line 27">
              <a:extLst>
                <a:ext uri="{FF2B5EF4-FFF2-40B4-BE49-F238E27FC236}">
                  <a16:creationId xmlns:a16="http://schemas.microsoft.com/office/drawing/2014/main" id="{69BF7031-C169-EFAA-FFA5-EC43B62805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4" y="3264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784" name="Line 28">
              <a:extLst>
                <a:ext uri="{FF2B5EF4-FFF2-40B4-BE49-F238E27FC236}">
                  <a16:creationId xmlns:a16="http://schemas.microsoft.com/office/drawing/2014/main" id="{A6F9B47F-8546-A8AB-62AC-9348C0A5E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5" y="3264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204096-D1D8-EF4A-835B-13079C038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90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92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28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F4C22E42-03CD-DD3E-26CD-B0ECF49E3E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管道通信示意图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EAAA91AD-C2F9-F622-CC4F-70CC293D1A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/>
          <a:lstStyle/>
          <a:p>
            <a:r>
              <a:rPr lang="zh-CN" altLang="en-US"/>
              <a:t>读一个字符后，管道长度为4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5E27F040-9841-2730-3DC0-AEC6CC280F8C}"/>
              </a:ext>
            </a:extLst>
          </p:cNvPr>
          <p:cNvGrpSpPr>
            <a:grpSpLocks/>
          </p:cNvGrpSpPr>
          <p:nvPr/>
        </p:nvGrpSpPr>
        <p:grpSpPr bwMode="auto">
          <a:xfrm>
            <a:off x="973138" y="2133600"/>
            <a:ext cx="7199312" cy="1295400"/>
            <a:chOff x="432" y="1824"/>
            <a:chExt cx="4535" cy="816"/>
          </a:xfrm>
        </p:grpSpPr>
        <p:sp>
          <p:nvSpPr>
            <p:cNvPr id="33809" name="Line 5">
              <a:extLst>
                <a:ext uri="{FF2B5EF4-FFF2-40B4-BE49-F238E27FC236}">
                  <a16:creationId xmlns:a16="http://schemas.microsoft.com/office/drawing/2014/main" id="{64BC4DF2-381E-BBC9-7E37-523B323C02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" y="1824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10" name="Text Box 6">
              <a:extLst>
                <a:ext uri="{FF2B5EF4-FFF2-40B4-BE49-F238E27FC236}">
                  <a16:creationId xmlns:a16="http://schemas.microsoft.com/office/drawing/2014/main" id="{68A8A2D6-08E4-15C6-616E-73C6A7D1F8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7" y="2352"/>
              <a:ext cx="2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in</a:t>
              </a:r>
            </a:p>
          </p:txBody>
        </p:sp>
        <p:sp>
          <p:nvSpPr>
            <p:cNvPr id="33811" name="Text Box 7">
              <a:extLst>
                <a:ext uri="{FF2B5EF4-FFF2-40B4-BE49-F238E27FC236}">
                  <a16:creationId xmlns:a16="http://schemas.microsoft.com/office/drawing/2014/main" id="{2569F251-2A28-1AD3-E640-33D11B30FD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3" y="2352"/>
              <a:ext cx="4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out</a:t>
              </a:r>
            </a:p>
          </p:txBody>
        </p:sp>
        <p:sp>
          <p:nvSpPr>
            <p:cNvPr id="33812" name="Line 8">
              <a:extLst>
                <a:ext uri="{FF2B5EF4-FFF2-40B4-BE49-F238E27FC236}">
                  <a16:creationId xmlns:a16="http://schemas.microsoft.com/office/drawing/2014/main" id="{FF6C42B6-CA7B-DFAA-1B41-3496536281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2" y="2208"/>
              <a:ext cx="1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13" name="Line 9">
              <a:extLst>
                <a:ext uri="{FF2B5EF4-FFF2-40B4-BE49-F238E27FC236}">
                  <a16:creationId xmlns:a16="http://schemas.microsoft.com/office/drawing/2014/main" id="{B0AF1279-A6E8-67E8-3BAA-8D43FBE9AF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3" y="2208"/>
              <a:ext cx="1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14" name="Rectangle 10">
              <a:extLst>
                <a:ext uri="{FF2B5EF4-FFF2-40B4-BE49-F238E27FC236}">
                  <a16:creationId xmlns:a16="http://schemas.microsoft.com/office/drawing/2014/main" id="{159A74D1-E4E5-631E-ACBF-3EA0D324F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824"/>
              <a:ext cx="4535" cy="33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       B    C    D    E</a:t>
              </a:r>
            </a:p>
          </p:txBody>
        </p:sp>
        <p:sp>
          <p:nvSpPr>
            <p:cNvPr id="33815" name="Line 11">
              <a:extLst>
                <a:ext uri="{FF2B5EF4-FFF2-40B4-BE49-F238E27FC236}">
                  <a16:creationId xmlns:a16="http://schemas.microsoft.com/office/drawing/2014/main" id="{E17A3D49-A819-A75C-4C4C-EF7D69FA5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1" y="1824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16" name="Line 12">
              <a:extLst>
                <a:ext uri="{FF2B5EF4-FFF2-40B4-BE49-F238E27FC236}">
                  <a16:creationId xmlns:a16="http://schemas.microsoft.com/office/drawing/2014/main" id="{17AA2BE1-632B-483A-3B1E-CD17EE23B2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8" y="1824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17" name="Line 13">
              <a:extLst>
                <a:ext uri="{FF2B5EF4-FFF2-40B4-BE49-F238E27FC236}">
                  <a16:creationId xmlns:a16="http://schemas.microsoft.com/office/drawing/2014/main" id="{E877CB91-59A2-5DD8-C53C-CCF2D8040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8" y="1824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18" name="Line 14">
              <a:extLst>
                <a:ext uri="{FF2B5EF4-FFF2-40B4-BE49-F238E27FC236}">
                  <a16:creationId xmlns:a16="http://schemas.microsoft.com/office/drawing/2014/main" id="{C37E88DA-6078-1CA5-9296-501664E03F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8" y="1824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19" name="Line 15">
              <a:extLst>
                <a:ext uri="{FF2B5EF4-FFF2-40B4-BE49-F238E27FC236}">
                  <a16:creationId xmlns:a16="http://schemas.microsoft.com/office/drawing/2014/main" id="{26751C78-15E7-81EA-6DF2-2B020AD57D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9" y="1824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93552" name="Rectangle 16">
            <a:extLst>
              <a:ext uri="{FF2B5EF4-FFF2-40B4-BE49-F238E27FC236}">
                <a16:creationId xmlns:a16="http://schemas.microsoft.com/office/drawing/2014/main" id="{E1617D8D-6193-966F-D450-7A762AE7C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605213"/>
            <a:ext cx="6948487" cy="87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/>
              <a:t>若管道容量为</a:t>
            </a:r>
            <a:r>
              <a:rPr lang="en-US" altLang="zh-CN"/>
              <a:t>n</a:t>
            </a:r>
            <a:r>
              <a:rPr lang="zh-CN" altLang="en-US"/>
              <a:t>且</a:t>
            </a:r>
            <a:r>
              <a:rPr lang="en-US" altLang="zh-CN"/>
              <a:t>in=n</a:t>
            </a:r>
            <a:r>
              <a:rPr lang="zh-CN" altLang="en-US"/>
              <a:t>时，再写入一个字符，则</a:t>
            </a:r>
            <a:r>
              <a:rPr lang="en-US" altLang="zh-CN"/>
              <a:t>in</a:t>
            </a:r>
            <a:r>
              <a:rPr lang="zh-CN" altLang="en-US"/>
              <a:t>移到管道的另一端。</a:t>
            </a:r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12678B72-068B-E444-9FF4-2F5EE756C01D}"/>
              </a:ext>
            </a:extLst>
          </p:cNvPr>
          <p:cNvGrpSpPr>
            <a:grpSpLocks/>
          </p:cNvGrpSpPr>
          <p:nvPr/>
        </p:nvGrpSpPr>
        <p:grpSpPr bwMode="auto">
          <a:xfrm>
            <a:off x="982663" y="4748213"/>
            <a:ext cx="6973887" cy="1295400"/>
            <a:chOff x="528" y="3360"/>
            <a:chExt cx="4393" cy="816"/>
          </a:xfrm>
        </p:grpSpPr>
        <p:sp>
          <p:nvSpPr>
            <p:cNvPr id="33798" name="Line 18">
              <a:extLst>
                <a:ext uri="{FF2B5EF4-FFF2-40B4-BE49-F238E27FC236}">
                  <a16:creationId xmlns:a16="http://schemas.microsoft.com/office/drawing/2014/main" id="{20D9D944-0E6E-31DF-11D5-14ED6278A9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8" y="3360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799" name="Text Box 19">
              <a:extLst>
                <a:ext uri="{FF2B5EF4-FFF2-40B4-BE49-F238E27FC236}">
                  <a16:creationId xmlns:a16="http://schemas.microsoft.com/office/drawing/2014/main" id="{41BAF486-DB87-39D9-5137-0F0AA931BB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3888"/>
              <a:ext cx="2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9900CC"/>
                  </a:solidFill>
                </a:rPr>
                <a:t>in</a:t>
              </a:r>
            </a:p>
          </p:txBody>
        </p:sp>
        <p:sp>
          <p:nvSpPr>
            <p:cNvPr id="33800" name="Text Box 20">
              <a:extLst>
                <a:ext uri="{FF2B5EF4-FFF2-40B4-BE49-F238E27FC236}">
                  <a16:creationId xmlns:a16="http://schemas.microsoft.com/office/drawing/2014/main" id="{E4DA4120-0457-1F2C-D4F8-16FCA751D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888"/>
              <a:ext cx="4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out</a:t>
              </a:r>
            </a:p>
          </p:txBody>
        </p:sp>
        <p:sp>
          <p:nvSpPr>
            <p:cNvPr id="33801" name="Line 21">
              <a:extLst>
                <a:ext uri="{FF2B5EF4-FFF2-40B4-BE49-F238E27FC236}">
                  <a16:creationId xmlns:a16="http://schemas.microsoft.com/office/drawing/2014/main" id="{C29E03D8-8D25-BA0C-24C5-F611C4F2D4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9" y="3744"/>
              <a:ext cx="1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02" name="Line 22">
              <a:extLst>
                <a:ext uri="{FF2B5EF4-FFF2-40B4-BE49-F238E27FC236}">
                  <a16:creationId xmlns:a16="http://schemas.microsoft.com/office/drawing/2014/main" id="{6A468153-04FF-1DA9-D978-213899894D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2" y="3744"/>
              <a:ext cx="1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03" name="Rectangle 23">
              <a:extLst>
                <a:ext uri="{FF2B5EF4-FFF2-40B4-BE49-F238E27FC236}">
                  <a16:creationId xmlns:a16="http://schemas.microsoft.com/office/drawing/2014/main" id="{0F3EA30D-049D-BF04-D5FF-859447702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360"/>
              <a:ext cx="4393" cy="33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                   D    E</a:t>
              </a:r>
              <a:r>
                <a:rPr lang="en-US" altLang="zh-CN" sz="2400">
                  <a:solidFill>
                    <a:srgbClr val="9900CC"/>
                  </a:solidFill>
                </a:rPr>
                <a:t>    　　 　　 </a:t>
              </a:r>
              <a:r>
                <a:rPr lang="en-US" altLang="zh-CN" sz="2400">
                  <a:latin typeface="Times New Roman" panose="02020603050405020304" pitchFamily="18" charset="0"/>
                </a:rPr>
                <a:t>…</a:t>
              </a:r>
              <a:r>
                <a:rPr lang="en-US" altLang="zh-CN" sz="2400">
                  <a:solidFill>
                    <a:srgbClr val="9900CC"/>
                  </a:solidFill>
                </a:rPr>
                <a:t>                   X</a:t>
              </a:r>
            </a:p>
          </p:txBody>
        </p:sp>
        <p:sp>
          <p:nvSpPr>
            <p:cNvPr id="33804" name="Line 24">
              <a:extLst>
                <a:ext uri="{FF2B5EF4-FFF2-40B4-BE49-F238E27FC236}">
                  <a16:creationId xmlns:a16="http://schemas.microsoft.com/office/drawing/2014/main" id="{40A143C5-4CBD-2BB7-19AA-39F958E9C1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3360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05" name="Line 25">
              <a:extLst>
                <a:ext uri="{FF2B5EF4-FFF2-40B4-BE49-F238E27FC236}">
                  <a16:creationId xmlns:a16="http://schemas.microsoft.com/office/drawing/2014/main" id="{2322D64C-33EA-0543-A80E-1E956126E2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4" y="3360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06" name="Line 26">
              <a:extLst>
                <a:ext uri="{FF2B5EF4-FFF2-40B4-BE49-F238E27FC236}">
                  <a16:creationId xmlns:a16="http://schemas.microsoft.com/office/drawing/2014/main" id="{184A246C-2004-DFD0-0CAE-FAC677DBD2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7" y="3360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07" name="Line 27">
              <a:extLst>
                <a:ext uri="{FF2B5EF4-FFF2-40B4-BE49-F238E27FC236}">
                  <a16:creationId xmlns:a16="http://schemas.microsoft.com/office/drawing/2014/main" id="{51E49EFF-2065-B9D3-D25E-36BF2F36B2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4" y="3360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08" name="Line 28">
              <a:extLst>
                <a:ext uri="{FF2B5EF4-FFF2-40B4-BE49-F238E27FC236}">
                  <a16:creationId xmlns:a16="http://schemas.microsoft.com/office/drawing/2014/main" id="{908B5218-1286-038B-0CD2-C70FAA486A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360"/>
              <a:ext cx="1" cy="3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4BF600-E639-7758-72E1-BC8093C19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91</a:t>
            </a:fld>
            <a:endParaRPr lang="zh-CN" altLang="en-US" dirty="0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93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52" grpId="0" autoUpdateAnimBg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2">
            <a:extLst>
              <a:ext uri="{FF2B5EF4-FFF2-40B4-BE49-F238E27FC236}">
                <a16:creationId xmlns:a16="http://schemas.microsoft.com/office/drawing/2014/main" id="{61B92D6A-388C-D4AD-4923-C59BE7522B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/>
              <a:t>练习题</a:t>
            </a:r>
          </a:p>
        </p:txBody>
      </p:sp>
      <p:sp>
        <p:nvSpPr>
          <p:cNvPr id="132098" name="Rectangle 3">
            <a:extLst>
              <a:ext uri="{FF2B5EF4-FFF2-40B4-BE49-F238E27FC236}">
                <a16:creationId xmlns:a16="http://schemas.microsoft.com/office/drawing/2014/main" id="{39D1F260-0F76-4219-36CF-D608770C0B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6700" y="1125538"/>
            <a:ext cx="8455025" cy="5402262"/>
          </a:xfrm>
        </p:spPr>
        <p:txBody>
          <a:bodyPr/>
          <a:lstStyle/>
          <a:p>
            <a:pPr algn="just" eaLnBrk="1" hangingPunct="1"/>
            <a:r>
              <a:rPr lang="en-US" altLang="zh-CN" sz="2000" dirty="0"/>
              <a:t>6.6 Race conditions are possible in many computer systems. Consider a banking system that maintains an account balance with two functions: deposit(amount) and withdraw(amount). These two functions are passed the amount that is to be deposited or withdrawn from the bank account balance. Assume that a husband and wife share a bank account. Concurrently, the husband calls the withdraw() function, and the wife calls deposit(). Describe how a race condition is possible and what might be done to prevent the race condition from occurring.</a:t>
            </a:r>
          </a:p>
          <a:p>
            <a:pPr algn="just" eaLnBrk="1" hangingPunct="1"/>
            <a:r>
              <a:rPr lang="en-US" altLang="zh-CN" sz="2000" dirty="0"/>
              <a:t>6.23 Servers can be designed to limit the number of open connections. For example, a server may wish to have only N socket connections at any point in time. As soon as N connections are made, the server will not accept another incoming connection until an existing connection is released. Illustrate how semaphores can be used by a server to limit the number of concurrent connections. </a:t>
            </a:r>
          </a:p>
        </p:txBody>
      </p:sp>
    </p:spTree>
  </p:cSld>
  <p:clrMapOvr>
    <a:masterClrMapping/>
  </p:clrMapOvr>
  <p:transition spd="med">
    <p:zoom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F89903-833E-6D98-D5BA-180946D45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9487FE-708E-C81E-EA80-F579BC1C2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 fontScale="92500" lnSpcReduction="10000"/>
          </a:bodyPr>
          <a:lstStyle/>
          <a:p>
            <a:r>
              <a:rPr lang="zh-CN" altLang="zh-CN" dirty="0"/>
              <a:t>赵家村和李家村靠一座独木桥连接，独木桥上一次只能供一个方向上的行人行走。 </a:t>
            </a:r>
            <a:r>
              <a:rPr lang="en-US" altLang="zh-CN" dirty="0"/>
              <a:t>                                                 </a:t>
            </a:r>
            <a:endParaRPr lang="zh-CN" altLang="zh-CN" dirty="0"/>
          </a:p>
          <a:p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）若独木桥上一次只允许一个人行走，请用</a:t>
            </a:r>
            <a:r>
              <a:rPr lang="zh-CN" altLang="en-US" dirty="0"/>
              <a:t>信号量</a:t>
            </a:r>
            <a:r>
              <a:rPr lang="zh-CN" altLang="zh-CN" dirty="0"/>
              <a:t>实现对行人的</a:t>
            </a:r>
            <a:r>
              <a:rPr lang="zh-CN" altLang="en-US" dirty="0"/>
              <a:t>同步</a:t>
            </a:r>
            <a:r>
              <a:rPr lang="zh-CN" altLang="zh-CN" dirty="0"/>
              <a:t>。 </a:t>
            </a:r>
            <a:r>
              <a:rPr lang="en-US" altLang="zh-CN" dirty="0"/>
              <a:t>                                   </a:t>
            </a:r>
            <a:endParaRPr lang="zh-CN" altLang="zh-CN" dirty="0"/>
          </a:p>
          <a:p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）若不考虑独木桥的载重量，只要桥上有赵家村的人往李家村走</a:t>
            </a:r>
            <a:r>
              <a:rPr lang="en-US" altLang="zh-CN" dirty="0"/>
              <a:t>(</a:t>
            </a:r>
            <a:r>
              <a:rPr lang="zh-CN" altLang="zh-CN" dirty="0"/>
              <a:t>或李家村的人往赵家村走</a:t>
            </a:r>
            <a:r>
              <a:rPr lang="en-US" altLang="zh-CN" dirty="0"/>
              <a:t>)</a:t>
            </a:r>
            <a:r>
              <a:rPr lang="zh-CN" altLang="zh-CN" dirty="0"/>
              <a:t>，其他同方向的人就可以连续通过。当桥上没有某一方向的行人行走时，另一方向的行人就可以走。请用</a:t>
            </a:r>
            <a:r>
              <a:rPr lang="zh-CN" altLang="en-US" dirty="0"/>
              <a:t>信号量</a:t>
            </a:r>
            <a:r>
              <a:rPr lang="zh-CN" altLang="zh-CN" dirty="0"/>
              <a:t>实现对两个方向上</a:t>
            </a:r>
            <a:r>
              <a:rPr lang="zh-CN" altLang="zh-CN"/>
              <a:t>行人的</a:t>
            </a:r>
            <a:r>
              <a:rPr lang="zh-CN" altLang="en-US"/>
              <a:t>同步</a:t>
            </a:r>
            <a:r>
              <a:rPr lang="zh-CN" altLang="zh-CN"/>
              <a:t>。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8EC867-DBC2-DB8C-873C-338B8DBFE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93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5670445"/>
      </p:ext>
    </p:extLst>
  </p:cSld>
  <p:clrMapOvr>
    <a:masterClrMapping/>
  </p:clrMapOvr>
  <p:transition spd="med">
    <p:zoom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A9899-88E4-0BA2-F79A-0488AC110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DE4173-EA0E-05EC-5DF6-8B97CE248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dirty="0"/>
              <a:t>在一家繁忙的咖啡店，顾客不断地排队下订单。咖啡店有多个收银员和咖啡师。为了提高效率和顾客满意度，咖啡店需要一个系统来管理订单的处理。</a:t>
            </a:r>
          </a:p>
          <a:p>
            <a:r>
              <a:rPr lang="zh-CN" altLang="en-US" dirty="0"/>
              <a:t>假设系统中有</a:t>
            </a:r>
            <a:r>
              <a:rPr lang="en" altLang="zh-CN" dirty="0"/>
              <a:t>N</a:t>
            </a:r>
            <a:r>
              <a:rPr lang="zh-CN" altLang="en-US" dirty="0"/>
              <a:t>个收银员线程负责接受顾客订单，有</a:t>
            </a:r>
            <a:r>
              <a:rPr lang="en" altLang="zh-CN" dirty="0"/>
              <a:t>M</a:t>
            </a:r>
            <a:r>
              <a:rPr lang="zh-CN" altLang="en-US" dirty="0"/>
              <a:t>个咖啡师线程负责制作饮品。订单需要先由收银员处理，然后由咖啡师制作。</a:t>
            </a:r>
          </a:p>
          <a:p>
            <a:r>
              <a:rPr lang="zh-CN" altLang="en-US" dirty="0"/>
              <a:t>请使用信号量和互斥锁来协调收银员和咖啡师之间的工作。确保订单被正确地接收和处理，并且咖啡师在有订单时才开始制作。</a:t>
            </a:r>
          </a:p>
          <a:p>
            <a:r>
              <a:rPr lang="zh-CN" altLang="en-US" dirty="0"/>
              <a:t>输出每个订单的接收和完成时间，以及当前队列中的订单数量。</a:t>
            </a:r>
          </a:p>
          <a:p>
            <a:r>
              <a:rPr lang="zh-CN" altLang="en-US" dirty="0"/>
              <a:t>提示</a:t>
            </a:r>
          </a:p>
          <a:p>
            <a:pPr lvl="1"/>
            <a:r>
              <a:rPr lang="zh-CN" altLang="en-US" dirty="0">
                <a:effectLst/>
                <a:latin typeface="Helvetica" pitchFamily="2" charset="0"/>
              </a:rPr>
              <a:t>使用一个共享队列来存储订单，</a:t>
            </a:r>
            <a:r>
              <a:rPr lang="zh-CN" altLang="en-US" dirty="0"/>
              <a:t>使用信号量来表示队列中的订单数量。</a:t>
            </a:r>
          </a:p>
          <a:p>
            <a:pPr lvl="1"/>
            <a:r>
              <a:rPr lang="zh-CN" altLang="en-US" dirty="0"/>
              <a:t>使用互斥锁保护对订单队列的插入和删除操作。</a:t>
            </a:r>
          </a:p>
          <a:p>
            <a:pPr lvl="1"/>
            <a:r>
              <a:rPr lang="zh-CN" altLang="en-US" dirty="0"/>
              <a:t>每个收银员和咖啡师由一个线程</a:t>
            </a:r>
            <a:r>
              <a:rPr lang="zh-CN" altLang="en-US"/>
              <a:t>模拟。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D17E7D-FF56-1092-634F-1AD71DF83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94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1294043"/>
      </p:ext>
    </p:extLst>
  </p:cSld>
  <p:clrMapOvr>
    <a:masterClrMapping/>
  </p:clrMapOvr>
  <p:transition spd="med">
    <p:zoom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2">
            <a:extLst>
              <a:ext uri="{FF2B5EF4-FFF2-40B4-BE49-F238E27FC236}">
                <a16:creationId xmlns:a16="http://schemas.microsoft.com/office/drawing/2014/main" id="{2CC680EA-1FE7-CEDF-E84D-8057204550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选择题</a:t>
            </a:r>
            <a:r>
              <a:rPr lang="en-US" altLang="zh-CN" sz="4000"/>
              <a:t>1</a:t>
            </a:r>
          </a:p>
        </p:txBody>
      </p:sp>
      <p:sp>
        <p:nvSpPr>
          <p:cNvPr id="133122" name="Rectangle 3">
            <a:extLst>
              <a:ext uri="{FF2B5EF4-FFF2-40B4-BE49-F238E27FC236}">
                <a16:creationId xmlns:a16="http://schemas.microsoft.com/office/drawing/2014/main" id="{2A528E67-4B84-EC39-A287-ED7E913663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650" y="1125538"/>
            <a:ext cx="8148638" cy="4967287"/>
          </a:xfrm>
        </p:spPr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若信号量</a:t>
            </a:r>
            <a:r>
              <a:rPr lang="en-US" altLang="zh-CN"/>
              <a:t>S</a:t>
            </a:r>
            <a:r>
              <a:rPr lang="zh-CN" altLang="en-US">
                <a:latin typeface="Times New Roman" panose="02020603050405020304" pitchFamily="18" charset="0"/>
              </a:rPr>
              <a:t>的初值为</a:t>
            </a:r>
            <a:r>
              <a:rPr lang="zh-CN" altLang="en-US"/>
              <a:t>2</a:t>
            </a:r>
            <a:r>
              <a:rPr lang="zh-CN" altLang="en-US">
                <a:latin typeface="Times New Roman" panose="02020603050405020304" pitchFamily="18" charset="0"/>
              </a:rPr>
              <a:t>，当前值为</a:t>
            </a:r>
            <a:r>
              <a:rPr lang="zh-CN" altLang="en-US"/>
              <a:t>-1</a:t>
            </a:r>
            <a:r>
              <a:rPr lang="zh-CN" altLang="en-US">
                <a:latin typeface="Times New Roman" panose="02020603050405020304" pitchFamily="18" charset="0"/>
              </a:rPr>
              <a:t>，则表示有</a:t>
            </a:r>
            <a:r>
              <a:rPr lang="zh-CN" altLang="en-US"/>
              <a:t>_____</a:t>
            </a:r>
            <a:r>
              <a:rPr lang="zh-CN" altLang="en-US">
                <a:latin typeface="Times New Roman" panose="02020603050405020304" pitchFamily="18" charset="0"/>
              </a:rPr>
              <a:t>等待进程。</a:t>
            </a:r>
            <a:endParaRPr lang="zh-CN" altLang="en-US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/>
              <a:t>A. 2</a:t>
            </a:r>
            <a:r>
              <a:rPr lang="zh-CN" altLang="en-US">
                <a:latin typeface="Times New Roman" panose="02020603050405020304" pitchFamily="18" charset="0"/>
              </a:rPr>
              <a:t>个         </a:t>
            </a:r>
            <a:r>
              <a:rPr lang="zh-CN" altLang="en-US"/>
              <a:t> </a:t>
            </a:r>
            <a:r>
              <a:rPr lang="en-US" altLang="zh-CN"/>
              <a:t>B. 1</a:t>
            </a:r>
            <a:r>
              <a:rPr lang="zh-CN" altLang="en-US">
                <a:latin typeface="Times New Roman" panose="02020603050405020304" pitchFamily="18" charset="0"/>
              </a:rPr>
              <a:t>个</a:t>
            </a:r>
            <a:endParaRPr lang="zh-CN" altLang="en-US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/>
              <a:t>C. 0</a:t>
            </a:r>
            <a:r>
              <a:rPr lang="zh-CN" altLang="en-US">
                <a:latin typeface="Times New Roman" panose="02020603050405020304" pitchFamily="18" charset="0"/>
              </a:rPr>
              <a:t>个         </a:t>
            </a:r>
            <a:r>
              <a:rPr lang="zh-CN" altLang="en-US"/>
              <a:t> </a:t>
            </a:r>
            <a:r>
              <a:rPr lang="en-US" altLang="zh-CN"/>
              <a:t>D. 3</a:t>
            </a:r>
            <a:r>
              <a:rPr lang="zh-CN" altLang="en-US">
                <a:latin typeface="Times New Roman" panose="02020603050405020304" pitchFamily="18" charset="0"/>
              </a:rPr>
              <a:t>个</a:t>
            </a:r>
            <a:endParaRPr lang="zh-CN" altLang="en-US"/>
          </a:p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在操作系统中，</a:t>
            </a:r>
            <a:r>
              <a:rPr lang="en-US" altLang="zh-CN"/>
              <a:t>P</a:t>
            </a:r>
            <a:r>
              <a:rPr lang="en-US" altLang="zh-CN">
                <a:latin typeface="Times New Roman" panose="02020603050405020304" pitchFamily="18" charset="0"/>
              </a:rPr>
              <a:t>、</a:t>
            </a:r>
            <a:r>
              <a:rPr lang="en-US" altLang="zh-CN"/>
              <a:t>V</a:t>
            </a:r>
            <a:r>
              <a:rPr lang="zh-CN" altLang="en-US">
                <a:latin typeface="Times New Roman" panose="02020603050405020304" pitchFamily="18" charset="0"/>
              </a:rPr>
              <a:t>操作是一种</a:t>
            </a:r>
            <a:r>
              <a:rPr lang="zh-CN" altLang="en-US"/>
              <a:t>_____</a:t>
            </a:r>
            <a:r>
              <a:rPr lang="zh-CN" altLang="en-US">
                <a:latin typeface="Times New Roman" panose="02020603050405020304" pitchFamily="18" charset="0"/>
              </a:rPr>
              <a:t>。</a:t>
            </a:r>
            <a:endParaRPr lang="zh-CN" altLang="en-US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/>
              <a:t>A. </a:t>
            </a:r>
            <a:r>
              <a:rPr lang="zh-CN" altLang="en-US">
                <a:latin typeface="Times New Roman" panose="02020603050405020304" pitchFamily="18" charset="0"/>
              </a:rPr>
              <a:t>机器指令</a:t>
            </a:r>
            <a:r>
              <a:rPr lang="zh-CN" altLang="en-US"/>
              <a:t>                  </a:t>
            </a:r>
            <a:r>
              <a:rPr lang="en-US" altLang="zh-CN"/>
              <a:t>B. </a:t>
            </a:r>
            <a:r>
              <a:rPr lang="zh-CN" altLang="en-US">
                <a:latin typeface="Times New Roman" panose="02020603050405020304" pitchFamily="18" charset="0"/>
              </a:rPr>
              <a:t>系统调用命令</a:t>
            </a:r>
            <a:endParaRPr lang="zh-CN" altLang="en-US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/>
              <a:t>C. </a:t>
            </a:r>
            <a:r>
              <a:rPr lang="zh-CN" altLang="en-US">
                <a:latin typeface="Times New Roman" panose="02020603050405020304" pitchFamily="18" charset="0"/>
              </a:rPr>
              <a:t>作业控制命令</a:t>
            </a:r>
            <a:r>
              <a:rPr lang="zh-CN" altLang="en-US"/>
              <a:t>          </a:t>
            </a:r>
            <a:r>
              <a:rPr lang="en-US" altLang="zh-CN"/>
              <a:t>D. </a:t>
            </a:r>
            <a:r>
              <a:rPr lang="zh-CN" altLang="en-US">
                <a:latin typeface="Times New Roman" panose="02020603050405020304" pitchFamily="18" charset="0"/>
              </a:rPr>
              <a:t>低级进程通信原语</a:t>
            </a:r>
          </a:p>
        </p:txBody>
      </p:sp>
    </p:spTree>
  </p:cSld>
  <p:clrMapOvr>
    <a:masterClrMapping/>
  </p:clrMapOvr>
  <p:transition spd="med">
    <p:zoom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2">
            <a:extLst>
              <a:ext uri="{FF2B5EF4-FFF2-40B4-BE49-F238E27FC236}">
                <a16:creationId xmlns:a16="http://schemas.microsoft.com/office/drawing/2014/main" id="{89CC71E9-FF27-428A-7FEA-D5A1ED1737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选择题</a:t>
            </a:r>
            <a:r>
              <a:rPr lang="en-US" altLang="zh-CN" sz="4000"/>
              <a:t>2</a:t>
            </a:r>
          </a:p>
        </p:txBody>
      </p:sp>
      <p:sp>
        <p:nvSpPr>
          <p:cNvPr id="134146" name="Rectangle 3">
            <a:extLst>
              <a:ext uri="{FF2B5EF4-FFF2-40B4-BE49-F238E27FC236}">
                <a16:creationId xmlns:a16="http://schemas.microsoft.com/office/drawing/2014/main" id="{DBB1CAAD-9665-BDCA-BE36-EAFC7FA924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125538"/>
            <a:ext cx="8077200" cy="4967287"/>
          </a:xfrm>
        </p:spPr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下述哪个选项不是管程的组成部分</a:t>
            </a:r>
            <a:r>
              <a:rPr lang="zh-CN" altLang="en-US"/>
              <a:t>_____</a:t>
            </a:r>
            <a:r>
              <a:rPr lang="zh-CN" altLang="en-US">
                <a:latin typeface="Times New Roman" panose="02020603050405020304" pitchFamily="18" charset="0"/>
              </a:rPr>
              <a:t>。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/>
              <a:t>A.</a:t>
            </a:r>
            <a:r>
              <a:rPr lang="zh-CN" altLang="en-US">
                <a:latin typeface="Times New Roman" panose="02020603050405020304" pitchFamily="18" charset="0"/>
              </a:rPr>
              <a:t>对局部于管程的数据结构设置初值的语句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/>
              <a:t>B.</a:t>
            </a:r>
            <a:r>
              <a:rPr lang="zh-CN" altLang="en-US">
                <a:latin typeface="Times New Roman" panose="02020603050405020304" pitchFamily="18" charset="0"/>
              </a:rPr>
              <a:t>局部于管程的共享数据说明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/>
              <a:t>C.</a:t>
            </a:r>
            <a:r>
              <a:rPr lang="zh-CN" altLang="en-US">
                <a:latin typeface="Times New Roman" panose="02020603050405020304" pitchFamily="18" charset="0"/>
              </a:rPr>
              <a:t>管程内对数据结构进行操作的一组过程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/>
              <a:t>D.</a:t>
            </a:r>
            <a:r>
              <a:rPr lang="zh-CN" altLang="en-US">
                <a:latin typeface="Times New Roman" panose="02020603050405020304" pitchFamily="18" charset="0"/>
              </a:rPr>
              <a:t>管程外过程调用管程内数据结构的说明</a:t>
            </a:r>
          </a:p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临界区是</a:t>
            </a:r>
            <a:r>
              <a:rPr lang="zh-CN" altLang="en-US"/>
              <a:t>_____</a:t>
            </a:r>
            <a:r>
              <a:rPr lang="zh-CN" altLang="en-US">
                <a:latin typeface="Times New Roman" panose="02020603050405020304" pitchFamily="18" charset="0"/>
              </a:rPr>
              <a:t>。</a:t>
            </a:r>
            <a:endParaRPr lang="zh-CN" altLang="en-US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/>
              <a:t>A.</a:t>
            </a:r>
            <a:r>
              <a:rPr lang="zh-CN" altLang="en-US">
                <a:latin typeface="Times New Roman" panose="02020603050405020304" pitchFamily="18" charset="0"/>
              </a:rPr>
              <a:t>一段共享数据区     </a:t>
            </a:r>
            <a:r>
              <a:rPr lang="en-US" altLang="zh-CN"/>
              <a:t>B. </a:t>
            </a:r>
            <a:r>
              <a:rPr lang="zh-CN" altLang="en-US">
                <a:latin typeface="Times New Roman" panose="02020603050405020304" pitchFamily="18" charset="0"/>
              </a:rPr>
              <a:t>一段程序</a:t>
            </a:r>
            <a:endParaRPr lang="zh-CN" altLang="en-US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/>
              <a:t>C.</a:t>
            </a:r>
            <a:r>
              <a:rPr lang="zh-CN" altLang="en-US">
                <a:latin typeface="Times New Roman" panose="02020603050405020304" pitchFamily="18" charset="0"/>
              </a:rPr>
              <a:t>一个互斥资源         </a:t>
            </a:r>
            <a:r>
              <a:rPr lang="en-US" altLang="zh-CN"/>
              <a:t>D.</a:t>
            </a:r>
            <a:r>
              <a:rPr lang="zh-CN" altLang="en-US">
                <a:latin typeface="Times New Roman" panose="02020603050405020304" pitchFamily="18" charset="0"/>
              </a:rPr>
              <a:t>一个缓冲区</a:t>
            </a:r>
            <a:endParaRPr lang="zh-CN" altLang="en-US"/>
          </a:p>
          <a:p>
            <a:pPr lvl="1" algn="just" eaLnBrk="1" hangingPunct="1">
              <a:buFont typeface="Wingdings" pitchFamily="2" charset="2"/>
              <a:buNone/>
            </a:pP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2">
            <a:extLst>
              <a:ext uri="{FF2B5EF4-FFF2-40B4-BE49-F238E27FC236}">
                <a16:creationId xmlns:a16="http://schemas.microsoft.com/office/drawing/2014/main" id="{C28D9E4A-61B0-8085-F6E2-C6A271CF9B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选择题</a:t>
            </a:r>
            <a:r>
              <a:rPr lang="en-US" altLang="zh-CN" sz="4000"/>
              <a:t>3</a:t>
            </a:r>
          </a:p>
        </p:txBody>
      </p:sp>
      <p:sp>
        <p:nvSpPr>
          <p:cNvPr id="135170" name="Rectangle 3">
            <a:extLst>
              <a:ext uri="{FF2B5EF4-FFF2-40B4-BE49-F238E27FC236}">
                <a16:creationId xmlns:a16="http://schemas.microsoft.com/office/drawing/2014/main" id="{0484D98D-503C-D13D-5BC2-D1ECF59E88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650" y="1125538"/>
            <a:ext cx="8148638" cy="4967287"/>
          </a:xfrm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zh-CN" altLang="en-US" sz="2800">
                <a:latin typeface="Times New Roman" panose="02020603050405020304" pitchFamily="18" charset="0"/>
              </a:rPr>
              <a:t>用</a:t>
            </a:r>
            <a:r>
              <a:rPr lang="en-US" altLang="zh-CN" sz="2800"/>
              <a:t>P</a:t>
            </a:r>
            <a:r>
              <a:rPr lang="en-US" altLang="zh-CN" sz="2800">
                <a:latin typeface="Times New Roman" panose="02020603050405020304" pitchFamily="18" charset="0"/>
              </a:rPr>
              <a:t>、</a:t>
            </a:r>
            <a:r>
              <a:rPr lang="en-US" altLang="zh-CN" sz="2800"/>
              <a:t>V</a:t>
            </a:r>
            <a:r>
              <a:rPr lang="zh-CN" altLang="en-US" sz="2800">
                <a:latin typeface="Times New Roman" panose="02020603050405020304" pitchFamily="18" charset="0"/>
              </a:rPr>
              <a:t>操作管理临界区时，信号量的初值应定义为</a:t>
            </a:r>
            <a:r>
              <a:rPr lang="zh-CN" altLang="en-US" sz="2800"/>
              <a:t>_____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  <a:endParaRPr lang="zh-CN" altLang="en-US" sz="2800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sz="2400"/>
              <a:t>A. 1            B. 2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sz="2400"/>
              <a:t>C. -1           D. 0</a:t>
            </a:r>
            <a:endParaRPr lang="zh-CN" altLang="en-US" sz="2400"/>
          </a:p>
          <a:p>
            <a:pPr algn="just" eaLnBrk="1" hangingPunct="1"/>
            <a:r>
              <a:rPr lang="zh-CN" altLang="en-US" sz="2800">
                <a:latin typeface="Times New Roman" panose="02020603050405020304" pitchFamily="18" charset="0"/>
              </a:rPr>
              <a:t>对于两个并发进程，设互斥信号量为</a:t>
            </a:r>
            <a:r>
              <a:rPr lang="en-US" altLang="zh-CN" sz="2800"/>
              <a:t>mutex,</a:t>
            </a:r>
            <a:r>
              <a:rPr lang="zh-CN" altLang="en-US" sz="2800">
                <a:latin typeface="Times New Roman" panose="02020603050405020304" pitchFamily="18" charset="0"/>
              </a:rPr>
              <a:t>若</a:t>
            </a:r>
            <a:r>
              <a:rPr lang="en-US" altLang="zh-CN" sz="2800"/>
              <a:t>mutex=0</a:t>
            </a:r>
            <a:r>
              <a:rPr lang="zh-CN" altLang="en-US" sz="2800">
                <a:latin typeface="Times New Roman" panose="02020603050405020304" pitchFamily="18" charset="0"/>
              </a:rPr>
              <a:t>则</a:t>
            </a:r>
            <a:r>
              <a:rPr lang="zh-CN" altLang="en-US" sz="2800"/>
              <a:t>_____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  <a:endParaRPr lang="zh-CN" altLang="en-US" sz="2800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sz="2400"/>
              <a:t>A.</a:t>
            </a:r>
            <a:r>
              <a:rPr lang="zh-CN" altLang="en-US" sz="2400">
                <a:latin typeface="Times New Roman" panose="02020603050405020304" pitchFamily="18" charset="0"/>
              </a:rPr>
              <a:t>表示有一个进程进入临界区，另一个进程等待进入</a:t>
            </a:r>
            <a:endParaRPr lang="zh-CN" altLang="en-US" sz="2400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sz="2400"/>
              <a:t>B. </a:t>
            </a:r>
            <a:r>
              <a:rPr lang="zh-CN" altLang="en-US" sz="2400">
                <a:latin typeface="Times New Roman" panose="02020603050405020304" pitchFamily="18" charset="0"/>
              </a:rPr>
              <a:t>表示没有进程进入临界区</a:t>
            </a:r>
            <a:endParaRPr lang="zh-CN" altLang="en-US" sz="2400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sz="2400"/>
              <a:t>C.</a:t>
            </a:r>
            <a:r>
              <a:rPr lang="zh-CN" altLang="en-US" sz="2400">
                <a:latin typeface="Times New Roman" panose="02020603050405020304" pitchFamily="18" charset="0"/>
              </a:rPr>
              <a:t>表示有一个进程进入临界区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 sz="2400"/>
              <a:t>D. </a:t>
            </a:r>
            <a:r>
              <a:rPr lang="zh-CN" altLang="en-US" sz="2400">
                <a:latin typeface="Times New Roman" panose="02020603050405020304" pitchFamily="18" charset="0"/>
              </a:rPr>
              <a:t>表示有两个进程进入临界区</a:t>
            </a:r>
          </a:p>
        </p:txBody>
      </p:sp>
    </p:spTree>
  </p:cSld>
  <p:clrMapOvr>
    <a:masterClrMapping/>
  </p:clrMapOvr>
  <p:transition spd="med">
    <p:zoom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2">
            <a:extLst>
              <a:ext uri="{FF2B5EF4-FFF2-40B4-BE49-F238E27FC236}">
                <a16:creationId xmlns:a16="http://schemas.microsoft.com/office/drawing/2014/main" id="{CBD04031-BA1C-2A49-D24B-6D1B3C9ECF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选择题</a:t>
            </a:r>
            <a:r>
              <a:rPr lang="en-US" altLang="zh-CN" sz="4000"/>
              <a:t>4</a:t>
            </a:r>
          </a:p>
        </p:txBody>
      </p:sp>
      <p:sp>
        <p:nvSpPr>
          <p:cNvPr id="136194" name="Rectangle 3">
            <a:extLst>
              <a:ext uri="{FF2B5EF4-FFF2-40B4-BE49-F238E27FC236}">
                <a16:creationId xmlns:a16="http://schemas.microsoft.com/office/drawing/2014/main" id="{F3D564C1-5339-D3D3-768A-177E5E1962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125538"/>
            <a:ext cx="8077200" cy="5375275"/>
          </a:xfrm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对信号量</a:t>
            </a:r>
            <a:r>
              <a:rPr lang="en-US" altLang="zh-CN"/>
              <a:t>S</a:t>
            </a:r>
            <a:r>
              <a:rPr lang="zh-CN" altLang="en-US">
                <a:latin typeface="Times New Roman" panose="02020603050405020304" pitchFamily="18" charset="0"/>
              </a:rPr>
              <a:t>执行</a:t>
            </a:r>
            <a:r>
              <a:rPr lang="en-US" altLang="zh-CN"/>
              <a:t>V</a:t>
            </a:r>
            <a:r>
              <a:rPr lang="zh-CN" altLang="en-US">
                <a:latin typeface="Times New Roman" panose="02020603050405020304" pitchFamily="18" charset="0"/>
              </a:rPr>
              <a:t>操作后，下述选项正确的是</a:t>
            </a:r>
            <a:r>
              <a:rPr lang="zh-CN" altLang="en-US"/>
              <a:t>_____</a:t>
            </a:r>
            <a:r>
              <a:rPr lang="zh-CN" altLang="en-US">
                <a:latin typeface="Times New Roman" panose="02020603050405020304" pitchFamily="18" charset="0"/>
              </a:rPr>
              <a:t>。</a:t>
            </a:r>
            <a:endParaRPr lang="zh-CN" altLang="en-US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/>
              <a:t>A.</a:t>
            </a:r>
            <a:r>
              <a:rPr lang="zh-CN" altLang="en-US">
                <a:latin typeface="Times New Roman" panose="02020603050405020304" pitchFamily="18" charset="0"/>
              </a:rPr>
              <a:t>当</a:t>
            </a:r>
            <a:r>
              <a:rPr lang="en-US" altLang="zh-CN"/>
              <a:t>S</a:t>
            </a:r>
            <a:r>
              <a:rPr lang="zh-CN" altLang="en-US">
                <a:latin typeface="Times New Roman" panose="02020603050405020304" pitchFamily="18" charset="0"/>
              </a:rPr>
              <a:t>小于</a:t>
            </a:r>
            <a:r>
              <a:rPr lang="zh-CN" altLang="en-US"/>
              <a:t>0</a:t>
            </a:r>
            <a:r>
              <a:rPr lang="zh-CN" altLang="en-US">
                <a:latin typeface="Times New Roman" panose="02020603050405020304" pitchFamily="18" charset="0"/>
              </a:rPr>
              <a:t>时唤醒一个阻塞进程</a:t>
            </a:r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/>
              <a:t>B.</a:t>
            </a:r>
            <a:r>
              <a:rPr lang="zh-CN" altLang="en-US">
                <a:latin typeface="Times New Roman" panose="02020603050405020304" pitchFamily="18" charset="0"/>
              </a:rPr>
              <a:t>当</a:t>
            </a:r>
            <a:r>
              <a:rPr lang="en-US" altLang="zh-CN"/>
              <a:t>S</a:t>
            </a:r>
            <a:r>
              <a:rPr lang="zh-CN" altLang="en-US">
                <a:latin typeface="Times New Roman" panose="02020603050405020304" pitchFamily="18" charset="0"/>
              </a:rPr>
              <a:t>小于等于</a:t>
            </a:r>
            <a:r>
              <a:rPr lang="zh-CN" altLang="en-US"/>
              <a:t>0</a:t>
            </a:r>
            <a:r>
              <a:rPr lang="zh-CN" altLang="en-US">
                <a:latin typeface="Times New Roman" panose="02020603050405020304" pitchFamily="18" charset="0"/>
              </a:rPr>
              <a:t>时唤醒一个阻塞进程</a:t>
            </a:r>
            <a:endParaRPr lang="zh-CN" altLang="en-US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/>
              <a:t>C.</a:t>
            </a:r>
            <a:r>
              <a:rPr lang="zh-CN" altLang="en-US">
                <a:latin typeface="Times New Roman" panose="02020603050405020304" pitchFamily="18" charset="0"/>
              </a:rPr>
              <a:t>当</a:t>
            </a:r>
            <a:r>
              <a:rPr lang="en-US" altLang="zh-CN"/>
              <a:t>S</a:t>
            </a:r>
            <a:r>
              <a:rPr lang="zh-CN" altLang="en-US">
                <a:latin typeface="Times New Roman" panose="02020603050405020304" pitchFamily="18" charset="0"/>
              </a:rPr>
              <a:t>小于</a:t>
            </a:r>
            <a:r>
              <a:rPr lang="zh-CN" altLang="en-US"/>
              <a:t>0</a:t>
            </a:r>
            <a:r>
              <a:rPr lang="zh-CN" altLang="en-US">
                <a:latin typeface="Times New Roman" panose="02020603050405020304" pitchFamily="18" charset="0"/>
              </a:rPr>
              <a:t>时唤醒一个就绪进程</a:t>
            </a:r>
            <a:endParaRPr lang="zh-CN" altLang="en-US"/>
          </a:p>
          <a:p>
            <a:pPr lvl="1" algn="just" eaLnBrk="1" hangingPunct="1">
              <a:buFont typeface="Wingdings" pitchFamily="2" charset="2"/>
              <a:buNone/>
            </a:pPr>
            <a:r>
              <a:rPr lang="en-US" altLang="zh-CN"/>
              <a:t>D.</a:t>
            </a:r>
            <a:r>
              <a:rPr lang="zh-CN" altLang="en-US">
                <a:latin typeface="Times New Roman" panose="02020603050405020304" pitchFamily="18" charset="0"/>
              </a:rPr>
              <a:t>当</a:t>
            </a:r>
            <a:r>
              <a:rPr lang="en-US" altLang="zh-CN"/>
              <a:t>S</a:t>
            </a:r>
            <a:r>
              <a:rPr lang="zh-CN" altLang="en-US">
                <a:latin typeface="Times New Roman" panose="02020603050405020304" pitchFamily="18" charset="0"/>
              </a:rPr>
              <a:t>小于等于</a:t>
            </a:r>
            <a:r>
              <a:rPr lang="zh-CN" altLang="en-US"/>
              <a:t>0</a:t>
            </a:r>
            <a:r>
              <a:rPr lang="zh-CN" altLang="en-US">
                <a:latin typeface="Times New Roman" panose="02020603050405020304" pitchFamily="18" charset="0"/>
              </a:rPr>
              <a:t>时唤醒一个就绪进程</a:t>
            </a:r>
            <a:endParaRPr lang="en-US" altLang="zh-CN">
              <a:latin typeface="Times New Roman" panose="02020603050405020304" pitchFamily="18" charset="0"/>
            </a:endParaRPr>
          </a:p>
          <a:p>
            <a:r>
              <a:rPr lang="zh-CN" altLang="en-US"/>
              <a:t>对信号量</a:t>
            </a:r>
            <a:r>
              <a:rPr lang="en-US" altLang="zh-CN"/>
              <a:t>X</a:t>
            </a:r>
            <a:r>
              <a:rPr lang="zh-CN" altLang="en-US"/>
              <a:t>执行</a:t>
            </a:r>
            <a:r>
              <a:rPr lang="en-US" altLang="zh-CN"/>
              <a:t>P</a:t>
            </a:r>
            <a:r>
              <a:rPr lang="zh-CN" altLang="en-US"/>
              <a:t>操作时，若 </a:t>
            </a:r>
            <a:r>
              <a:rPr lang="en-US" altLang="zh-CN"/>
              <a:t>_____ </a:t>
            </a:r>
            <a:r>
              <a:rPr lang="zh-CN" altLang="en-US"/>
              <a:t>则进程进入等待状态。</a:t>
            </a:r>
          </a:p>
          <a:p>
            <a:pPr>
              <a:buFont typeface="Wingdings" pitchFamily="2" charset="2"/>
              <a:buNone/>
            </a:pPr>
            <a:r>
              <a:rPr lang="en-US" altLang="zh-CN"/>
              <a:t>   A</a:t>
            </a:r>
            <a:r>
              <a:rPr lang="zh-CN" altLang="en-US"/>
              <a:t>．</a:t>
            </a:r>
            <a:r>
              <a:rPr lang="en-US" altLang="zh-CN"/>
              <a:t>X-1&lt;0         B</a:t>
            </a:r>
            <a:r>
              <a:rPr lang="zh-CN" altLang="en-US"/>
              <a:t>．</a:t>
            </a:r>
            <a:r>
              <a:rPr lang="en-US" altLang="zh-CN"/>
              <a:t>X-1&lt;=0</a:t>
            </a:r>
          </a:p>
          <a:p>
            <a:pPr>
              <a:buFont typeface="Wingdings" pitchFamily="2" charset="2"/>
              <a:buNone/>
            </a:pPr>
            <a:r>
              <a:rPr lang="en-US" altLang="zh-CN"/>
              <a:t>   C</a:t>
            </a:r>
            <a:r>
              <a:rPr lang="zh-CN" altLang="en-US"/>
              <a:t>．</a:t>
            </a:r>
            <a:r>
              <a:rPr lang="en-US" altLang="zh-CN"/>
              <a:t>X-1&gt;0         D</a:t>
            </a:r>
            <a:r>
              <a:rPr lang="zh-CN" altLang="en-US"/>
              <a:t>．</a:t>
            </a:r>
            <a:r>
              <a:rPr lang="en-US" altLang="zh-CN"/>
              <a:t>X-1&gt;=0</a:t>
            </a:r>
            <a:endParaRPr lang="zh-CN" altLang="en-US"/>
          </a:p>
          <a:p>
            <a:pPr lvl="1" algn="just" eaLnBrk="1" hangingPunct="1">
              <a:buFont typeface="Wingdings" pitchFamily="2" charset="2"/>
              <a:buNone/>
            </a:pPr>
            <a:endParaRPr lang="zh-CN" altLang="en-US">
              <a:latin typeface="Times New Roman" panose="02020603050405020304" pitchFamily="18" charset="0"/>
            </a:endParaRPr>
          </a:p>
          <a:p>
            <a:pPr algn="just" eaLnBrk="1" hangingPunct="1"/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2">
            <a:extLst>
              <a:ext uri="{FF2B5EF4-FFF2-40B4-BE49-F238E27FC236}">
                <a16:creationId xmlns:a16="http://schemas.microsoft.com/office/drawing/2014/main" id="{551152A9-A675-EA6E-5A26-BD5B27C5BA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选择题</a:t>
            </a:r>
            <a:r>
              <a:rPr lang="en-US" altLang="zh-CN" sz="4000"/>
              <a:t>5</a:t>
            </a:r>
          </a:p>
        </p:txBody>
      </p:sp>
      <p:sp>
        <p:nvSpPr>
          <p:cNvPr id="137218" name="Rectangle 3">
            <a:extLst>
              <a:ext uri="{FF2B5EF4-FFF2-40B4-BE49-F238E27FC236}">
                <a16:creationId xmlns:a16="http://schemas.microsoft.com/office/drawing/2014/main" id="{8D515971-22B4-9440-EE26-1E985B17B8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2938" y="1125538"/>
            <a:ext cx="8261350" cy="5375275"/>
          </a:xfrm>
        </p:spPr>
        <p:txBody>
          <a:bodyPr/>
          <a:lstStyle/>
          <a:p>
            <a:r>
              <a:rPr lang="zh-CN" altLang="en-US"/>
              <a:t>有若干并发进程均将共享变量</a:t>
            </a:r>
            <a:r>
              <a:rPr lang="en-US" altLang="zh-CN"/>
              <a:t>count</a:t>
            </a:r>
            <a:r>
              <a:rPr lang="zh-CN" altLang="en-US"/>
              <a:t>的值加</a:t>
            </a:r>
            <a:r>
              <a:rPr lang="en-US" altLang="zh-CN"/>
              <a:t>1</a:t>
            </a:r>
            <a:r>
              <a:rPr lang="zh-CN" altLang="en-US"/>
              <a:t>一次，那么有关</a:t>
            </a:r>
            <a:r>
              <a:rPr lang="en-US" altLang="zh-CN"/>
              <a:t>count</a:t>
            </a:r>
            <a:r>
              <a:rPr lang="zh-CN" altLang="en-US"/>
              <a:t>值说法正确的是</a:t>
            </a:r>
            <a:r>
              <a:rPr lang="en-US" altLang="zh-CN"/>
              <a:t>_____</a:t>
            </a:r>
            <a:r>
              <a:rPr lang="zh-CN" altLang="en-US"/>
              <a:t>。</a:t>
            </a:r>
          </a:p>
          <a:p>
            <a:pPr>
              <a:buFont typeface="Wingdings" pitchFamily="2" charset="2"/>
              <a:buNone/>
            </a:pPr>
            <a:r>
              <a:rPr lang="en-US" altLang="zh-CN"/>
              <a:t>    A</a:t>
            </a:r>
            <a:r>
              <a:rPr lang="zh-CN" altLang="en-US"/>
              <a:t>．得到的结果肯定不正确</a:t>
            </a:r>
            <a:endParaRPr lang="en-US" altLang="zh-CN"/>
          </a:p>
          <a:p>
            <a:pPr>
              <a:buFont typeface="Wingdings" pitchFamily="2" charset="2"/>
              <a:buNone/>
            </a:pPr>
            <a:r>
              <a:rPr lang="zh-CN" altLang="en-US"/>
              <a:t>    </a:t>
            </a:r>
            <a:r>
              <a:rPr lang="en-US" altLang="zh-CN"/>
              <a:t>B</a:t>
            </a:r>
            <a:r>
              <a:rPr lang="zh-CN" altLang="en-US"/>
              <a:t>．得到的结果肯定正确</a:t>
            </a:r>
          </a:p>
          <a:p>
            <a:pPr>
              <a:buFont typeface="Wingdings" pitchFamily="2" charset="2"/>
              <a:buNone/>
            </a:pPr>
            <a:r>
              <a:rPr lang="en-US" altLang="zh-CN"/>
              <a:t>    C</a:t>
            </a:r>
            <a:r>
              <a:rPr lang="zh-CN" altLang="en-US"/>
              <a:t>．若控制这些并发进程互斥执行</a:t>
            </a:r>
            <a:r>
              <a:rPr lang="en-US" altLang="zh-CN"/>
              <a:t>count</a:t>
            </a:r>
            <a:r>
              <a:rPr lang="zh-CN" altLang="en-US"/>
              <a:t>加</a:t>
            </a:r>
            <a:r>
              <a:rPr lang="en-US" altLang="zh-CN"/>
              <a:t>1</a:t>
            </a:r>
            <a:r>
              <a:rPr lang="zh-CN" altLang="en-US"/>
              <a:t>操作，</a:t>
            </a:r>
            <a:r>
              <a:rPr lang="en-US" altLang="zh-CN"/>
              <a:t>count</a:t>
            </a:r>
            <a:r>
              <a:rPr lang="zh-CN" altLang="en-US"/>
              <a:t>中的值正确</a:t>
            </a:r>
          </a:p>
          <a:p>
            <a:pPr>
              <a:buFont typeface="Wingdings" pitchFamily="2" charset="2"/>
              <a:buNone/>
            </a:pPr>
            <a:r>
              <a:rPr lang="en-US" altLang="zh-CN"/>
              <a:t>    D</a:t>
            </a:r>
            <a:r>
              <a:rPr lang="zh-CN" altLang="en-US"/>
              <a:t>．</a:t>
            </a:r>
            <a:r>
              <a:rPr lang="en-US" altLang="zh-CN"/>
              <a:t>A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，</a:t>
            </a:r>
            <a:r>
              <a:rPr lang="en-US" altLang="zh-CN"/>
              <a:t>C</a:t>
            </a:r>
            <a:r>
              <a:rPr lang="zh-CN" altLang="en-US"/>
              <a:t>均不对</a:t>
            </a:r>
          </a:p>
        </p:txBody>
      </p:sp>
    </p:spTree>
  </p:cSld>
  <p:clrMapOvr>
    <a:masterClrMapping/>
  </p:clrMapOvr>
  <p:transition spd="med">
    <p:zoom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2">
            <a:extLst>
              <a:ext uri="{FF2B5EF4-FFF2-40B4-BE49-F238E27FC236}">
                <a16:creationId xmlns:a16="http://schemas.microsoft.com/office/drawing/2014/main" id="{A2BED675-A46A-B305-2096-F3359DEB95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选择题</a:t>
            </a:r>
            <a:r>
              <a:rPr lang="en-US" altLang="zh-CN" sz="4000"/>
              <a:t>6</a:t>
            </a:r>
          </a:p>
        </p:txBody>
      </p:sp>
      <p:sp>
        <p:nvSpPr>
          <p:cNvPr id="138242" name="Rectangle 3">
            <a:extLst>
              <a:ext uri="{FF2B5EF4-FFF2-40B4-BE49-F238E27FC236}">
                <a16:creationId xmlns:a16="http://schemas.microsoft.com/office/drawing/2014/main" id="{A8A315F7-5310-7B28-3A70-EF091F2283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2938" y="1125538"/>
            <a:ext cx="8261350" cy="5375275"/>
          </a:xfrm>
        </p:spPr>
        <p:txBody>
          <a:bodyPr/>
          <a:lstStyle/>
          <a:p>
            <a:r>
              <a:rPr lang="zh-CN" altLang="en-US"/>
              <a:t>下述关于管程的描述中错误的是</a:t>
            </a:r>
            <a:r>
              <a:rPr lang="en-US" altLang="zh-CN"/>
              <a:t>____ </a:t>
            </a:r>
            <a:r>
              <a:rPr lang="zh-CN" altLang="en-US"/>
              <a:t>。</a:t>
            </a:r>
          </a:p>
          <a:p>
            <a:pPr>
              <a:buFont typeface="Wingdings" pitchFamily="2" charset="2"/>
              <a:buNone/>
            </a:pPr>
            <a:r>
              <a:rPr lang="en-US" altLang="zh-CN" sz="2800"/>
              <a:t>   </a:t>
            </a:r>
            <a:r>
              <a:rPr lang="en-US" altLang="zh-CN" sz="2400"/>
              <a:t>A</a:t>
            </a:r>
            <a:r>
              <a:rPr lang="zh-CN" altLang="en-US" sz="2400"/>
              <a:t>．</a:t>
            </a:r>
            <a:r>
              <a:rPr lang="zh-CN" altLang="en-US" sz="2800"/>
              <a:t>管程是一种进程同步工具，解决了信号量机制  中大量同步操作分散问题</a:t>
            </a:r>
          </a:p>
          <a:p>
            <a:pPr>
              <a:buFont typeface="Wingdings" pitchFamily="2" charset="2"/>
              <a:buNone/>
            </a:pPr>
            <a:r>
              <a:rPr lang="en-US" altLang="zh-CN" sz="2800"/>
              <a:t>   B</a:t>
            </a:r>
            <a:r>
              <a:rPr lang="zh-CN" altLang="en-US" sz="2800"/>
              <a:t>．管程每次只允许一个进程进入管程</a:t>
            </a:r>
          </a:p>
          <a:p>
            <a:pPr>
              <a:buFont typeface="Wingdings" pitchFamily="2" charset="2"/>
              <a:buNone/>
            </a:pPr>
            <a:r>
              <a:rPr lang="en-US" altLang="zh-CN" sz="2800"/>
              <a:t>   C</a:t>
            </a:r>
            <a:r>
              <a:rPr lang="zh-CN" altLang="en-US" sz="2800"/>
              <a:t>．管程中的</a:t>
            </a:r>
            <a:r>
              <a:rPr lang="en-US" altLang="zh-CN" sz="2800"/>
              <a:t>signal</a:t>
            </a:r>
            <a:r>
              <a:rPr lang="zh-CN" altLang="en-US" sz="2800"/>
              <a:t>操作的作用和信号量机制中的</a:t>
            </a:r>
            <a:r>
              <a:rPr lang="en-US" altLang="zh-CN" sz="2800"/>
              <a:t>signal</a:t>
            </a:r>
            <a:r>
              <a:rPr lang="zh-CN" altLang="en-US" sz="2800"/>
              <a:t>操作相同</a:t>
            </a:r>
            <a:endParaRPr lang="en-US" altLang="zh-CN" sz="2800"/>
          </a:p>
          <a:p>
            <a:pPr>
              <a:buFont typeface="Wingdings" pitchFamily="2" charset="2"/>
              <a:buNone/>
            </a:pPr>
            <a:r>
              <a:rPr lang="zh-CN" altLang="en-US" sz="2800"/>
              <a:t>   </a:t>
            </a:r>
            <a:r>
              <a:rPr lang="en-US" altLang="zh-CN" sz="2800"/>
              <a:t>D</a:t>
            </a:r>
            <a:r>
              <a:rPr lang="zh-CN" altLang="en-US" sz="2800"/>
              <a:t>．管程是被进程调用的</a:t>
            </a:r>
            <a:endParaRPr lang="en-US" altLang="zh-CN" sz="2800"/>
          </a:p>
          <a:p>
            <a:pPr lvl="1" algn="just" eaLnBrk="1" hangingPunct="1">
              <a:buFont typeface="Wingdings" pitchFamily="2" charset="2"/>
              <a:buNone/>
            </a:pPr>
            <a:endParaRPr lang="zh-CN" altLang="en-US">
              <a:latin typeface="Times New Roman" panose="02020603050405020304" pitchFamily="18" charset="0"/>
            </a:endParaRPr>
          </a:p>
          <a:p>
            <a:pPr algn="just" eaLnBrk="1" hangingPunct="1"/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Rectangle 2">
            <a:extLst>
              <a:ext uri="{FF2B5EF4-FFF2-40B4-BE49-F238E27FC236}">
                <a16:creationId xmlns:a16="http://schemas.microsoft.com/office/drawing/2014/main" id="{686407E5-3C40-1BC7-3DA6-C6340775DB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填空题</a:t>
            </a:r>
            <a:r>
              <a:rPr lang="en-US" altLang="zh-CN" sz="4000"/>
              <a:t>1</a:t>
            </a:r>
          </a:p>
        </p:txBody>
      </p:sp>
      <p:sp>
        <p:nvSpPr>
          <p:cNvPr id="139266" name="Rectangle 3">
            <a:extLst>
              <a:ext uri="{FF2B5EF4-FFF2-40B4-BE49-F238E27FC236}">
                <a16:creationId xmlns:a16="http://schemas.microsoft.com/office/drawing/2014/main" id="{B576E2CF-4375-9A60-E012-38F7BD9D07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125538"/>
            <a:ext cx="8077200" cy="49672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/>
              <a:t>如果信号量的当前值为-4，</a:t>
            </a:r>
            <a:r>
              <a:rPr lang="zh-CN" altLang="en-US">
                <a:latin typeface="Times New Roman" panose="02020603050405020304" pitchFamily="18" charset="0"/>
              </a:rPr>
              <a:t>则表示系统中在该信号量上有</a:t>
            </a:r>
            <a:r>
              <a:rPr lang="zh-CN" altLang="en-US"/>
              <a:t> _____ </a:t>
            </a:r>
            <a:r>
              <a:rPr lang="zh-CN" altLang="en-US">
                <a:latin typeface="Times New Roman" panose="02020603050405020304" pitchFamily="18" charset="0"/>
              </a:rPr>
              <a:t>个等待进程。</a:t>
            </a:r>
            <a:endParaRPr lang="zh-CN" altLang="en-US"/>
          </a:p>
          <a:p>
            <a:pPr algn="just" eaLnBrk="1" hangingPunct="1">
              <a:lnSpc>
                <a:spcPct val="90000"/>
              </a:lnSpc>
            </a:pPr>
            <a:r>
              <a:rPr lang="zh-CN" altLang="en-US"/>
              <a:t>对于信号量可以做 </a:t>
            </a:r>
            <a:r>
              <a:rPr lang="zh-CN" altLang="en-US" u="sng"/>
              <a:t>  ①  </a:t>
            </a:r>
            <a:r>
              <a:rPr lang="zh-CN" altLang="en-US"/>
              <a:t> 操作和 </a:t>
            </a:r>
            <a:r>
              <a:rPr lang="zh-CN" altLang="en-US" u="sng"/>
              <a:t>  ②  </a:t>
            </a:r>
            <a:r>
              <a:rPr lang="zh-CN" altLang="en-US"/>
              <a:t> 操作，</a:t>
            </a:r>
            <a:r>
              <a:rPr lang="zh-CN" altLang="en-US" u="sng"/>
              <a:t>  ③  </a:t>
            </a:r>
            <a:r>
              <a:rPr lang="zh-CN" altLang="en-US"/>
              <a:t> 操作用于阻塞进程，</a:t>
            </a:r>
            <a:r>
              <a:rPr lang="zh-CN" altLang="en-US" u="sng"/>
              <a:t>  ④  </a:t>
            </a:r>
            <a:r>
              <a:rPr lang="zh-CN" altLang="en-US"/>
              <a:t> 操作用于释放进程。程序中的 </a:t>
            </a:r>
            <a:r>
              <a:rPr lang="zh-CN" altLang="en-US" u="sng"/>
              <a:t>  ⑤  </a:t>
            </a:r>
            <a:r>
              <a:rPr lang="zh-CN" altLang="en-US"/>
              <a:t> 操作应谨慎使用，以保证其使用的正确性，否则执行时可能发生死锁。</a:t>
            </a:r>
          </a:p>
          <a:p>
            <a:pPr algn="just" eaLnBrk="1" hangingPunct="1"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信号量的物理意义是：当信号量值大于</a:t>
            </a:r>
            <a:r>
              <a:rPr lang="zh-CN" altLang="en-US"/>
              <a:t>0</a:t>
            </a:r>
            <a:r>
              <a:rPr lang="zh-CN" altLang="en-US">
                <a:latin typeface="Times New Roman" panose="02020603050405020304" pitchFamily="18" charset="0"/>
              </a:rPr>
              <a:t>时表示</a:t>
            </a:r>
            <a:r>
              <a:rPr lang="zh-CN" altLang="en-US"/>
              <a:t> </a:t>
            </a:r>
            <a:r>
              <a:rPr lang="zh-CN" altLang="en-US" u="sng"/>
              <a:t>  </a:t>
            </a:r>
            <a:r>
              <a:rPr lang="zh-CN" altLang="en-US" u="sng">
                <a:latin typeface="Times New Roman" panose="02020603050405020304" pitchFamily="18" charset="0"/>
              </a:rPr>
              <a:t>①</a:t>
            </a:r>
            <a:r>
              <a:rPr lang="zh-CN" altLang="en-US" u="sng"/>
              <a:t>  </a:t>
            </a:r>
            <a:r>
              <a:rPr lang="zh-CN" altLang="en-US"/>
              <a:t> </a:t>
            </a:r>
            <a:r>
              <a:rPr lang="zh-CN" altLang="en-US">
                <a:latin typeface="Times New Roman" panose="02020603050405020304" pitchFamily="18" charset="0"/>
              </a:rPr>
              <a:t>；当信号量值小于</a:t>
            </a:r>
            <a:r>
              <a:rPr lang="zh-CN" altLang="en-US"/>
              <a:t>0</a:t>
            </a:r>
            <a:r>
              <a:rPr lang="zh-CN" altLang="en-US">
                <a:latin typeface="Times New Roman" panose="02020603050405020304" pitchFamily="18" charset="0"/>
              </a:rPr>
              <a:t>时，其绝对值为</a:t>
            </a:r>
            <a:r>
              <a:rPr lang="zh-CN" altLang="en-US"/>
              <a:t> </a:t>
            </a:r>
            <a:r>
              <a:rPr lang="zh-CN" altLang="en-US" u="sng"/>
              <a:t>  </a:t>
            </a:r>
            <a:r>
              <a:rPr lang="zh-CN" altLang="en-US" u="sng">
                <a:latin typeface="Times New Roman" panose="02020603050405020304" pitchFamily="18" charset="0"/>
              </a:rPr>
              <a:t>②</a:t>
            </a:r>
            <a:r>
              <a:rPr lang="zh-CN" altLang="en-US" u="sng"/>
              <a:t>  </a:t>
            </a:r>
            <a:r>
              <a:rPr lang="zh-CN" altLang="en-US"/>
              <a:t> </a:t>
            </a:r>
            <a:r>
              <a:rPr lang="zh-CN" altLang="en-US">
                <a:latin typeface="Times New Roman" panose="02020603050405020304" pitchFamily="18" charset="0"/>
              </a:rPr>
              <a:t>。</a:t>
            </a:r>
            <a:endParaRPr lang="zh-CN" altLang="en-US"/>
          </a:p>
        </p:txBody>
      </p:sp>
    </p:spTree>
  </p:cSld>
  <p:clrMapOvr>
    <a:masterClrMapping/>
  </p:clrMapOvr>
  <p:transition spd="med">
    <p:zoom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2">
            <a:extLst>
              <a:ext uri="{FF2B5EF4-FFF2-40B4-BE49-F238E27FC236}">
                <a16:creationId xmlns:a16="http://schemas.microsoft.com/office/drawing/2014/main" id="{ED587B83-4E1C-F978-BBCD-C84DF45FE5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填空题</a:t>
            </a:r>
            <a:r>
              <a:rPr lang="en-US" altLang="zh-CN" sz="4000"/>
              <a:t>2</a:t>
            </a:r>
          </a:p>
        </p:txBody>
      </p:sp>
      <p:sp>
        <p:nvSpPr>
          <p:cNvPr id="140290" name="Rectangle 3">
            <a:extLst>
              <a:ext uri="{FF2B5EF4-FFF2-40B4-BE49-F238E27FC236}">
                <a16:creationId xmlns:a16="http://schemas.microsoft.com/office/drawing/2014/main" id="{45B40ACF-44F9-8EC6-0E31-4D8A4B0825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125538"/>
            <a:ext cx="8077200" cy="4967287"/>
          </a:xfrm>
        </p:spPr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有</a:t>
            </a:r>
            <a:r>
              <a:rPr lang="en-US" altLang="zh-CN">
                <a:latin typeface="Times New Roman" panose="02020603050405020304" pitchFamily="18" charset="0"/>
              </a:rPr>
              <a:t>m</a:t>
            </a:r>
            <a:r>
              <a:rPr lang="zh-CN" altLang="en-US">
                <a:latin typeface="Times New Roman" panose="02020603050405020304" pitchFamily="18" charset="0"/>
              </a:rPr>
              <a:t>个进程共享同一临界资源，若使用信号量机制实现对临界资源的互斥访问，则信号量值的变化范围是 _____ 。</a:t>
            </a:r>
          </a:p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访问临界资源的进程应该遵循的条件有：</a:t>
            </a:r>
            <a:r>
              <a:rPr lang="zh-CN" altLang="en-US" u="sng"/>
              <a:t>  ①  </a:t>
            </a:r>
            <a:r>
              <a:rPr lang="zh-CN" altLang="en-US"/>
              <a:t>、</a:t>
            </a:r>
            <a:r>
              <a:rPr lang="zh-CN" altLang="en-US" u="sng"/>
              <a:t>  ②  </a:t>
            </a:r>
            <a:r>
              <a:rPr lang="zh-CN" altLang="en-US"/>
              <a:t>、</a:t>
            </a:r>
            <a:r>
              <a:rPr lang="zh-CN" altLang="en-US" u="sng"/>
              <a:t>  ③  </a:t>
            </a:r>
            <a:r>
              <a:rPr lang="zh-CN" altLang="en-US"/>
              <a:t>、和</a:t>
            </a:r>
            <a:r>
              <a:rPr lang="zh-CN" altLang="en-US" u="sng"/>
              <a:t>  ④  </a:t>
            </a:r>
            <a:r>
              <a:rPr lang="zh-CN" altLang="en-US"/>
              <a:t>。</a:t>
            </a:r>
          </a:p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临界资源是指</a:t>
            </a:r>
            <a:r>
              <a:rPr lang="zh-CN" altLang="en-US"/>
              <a:t>_____的资源。</a:t>
            </a:r>
          </a:p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管程由</a:t>
            </a:r>
            <a:r>
              <a:rPr lang="zh-CN" altLang="en-US" u="sng"/>
              <a:t>  ①  </a:t>
            </a:r>
            <a:r>
              <a:rPr lang="zh-CN" altLang="en-US"/>
              <a:t>、</a:t>
            </a:r>
            <a:r>
              <a:rPr lang="zh-CN" altLang="en-US" u="sng"/>
              <a:t>  ②  </a:t>
            </a:r>
            <a:r>
              <a:rPr lang="zh-CN" altLang="en-US"/>
              <a:t>和</a:t>
            </a:r>
            <a:r>
              <a:rPr lang="zh-CN" altLang="en-US" u="sng"/>
              <a:t>  ③  </a:t>
            </a:r>
            <a:r>
              <a:rPr lang="zh-CN" altLang="en-US"/>
              <a:t> 三部分组成</a:t>
            </a:r>
          </a:p>
        </p:txBody>
      </p:sp>
    </p:spTree>
  </p:cSld>
  <p:clrMapOvr>
    <a:masterClrMapping/>
  </p:clrMapOvr>
  <p:transition spd="med">
    <p:zoom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2">
            <a:extLst>
              <a:ext uri="{FF2B5EF4-FFF2-40B4-BE49-F238E27FC236}">
                <a16:creationId xmlns:a16="http://schemas.microsoft.com/office/drawing/2014/main" id="{9B5D5CDF-DFD0-E104-771B-DF75C78B93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考研题</a:t>
            </a:r>
            <a:r>
              <a:rPr lang="en-US" altLang="zh-CN" sz="4000"/>
              <a:t>-1</a:t>
            </a:r>
          </a:p>
        </p:txBody>
      </p:sp>
      <p:sp>
        <p:nvSpPr>
          <p:cNvPr id="141314" name="Rectangle 3">
            <a:extLst>
              <a:ext uri="{FF2B5EF4-FFF2-40B4-BE49-F238E27FC236}">
                <a16:creationId xmlns:a16="http://schemas.microsoft.com/office/drawing/2014/main" id="{AF4FF255-2E63-291D-6716-C21AB24AAE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143000"/>
            <a:ext cx="8077200" cy="53101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三个进程</a:t>
            </a:r>
            <a:r>
              <a:rPr lang="en-US" altLang="zh-CN"/>
              <a:t>P1</a:t>
            </a:r>
            <a:r>
              <a:rPr lang="zh-CN" altLang="en-US"/>
              <a:t>、</a:t>
            </a:r>
            <a:r>
              <a:rPr lang="en-US" altLang="zh-CN"/>
              <a:t>P2</a:t>
            </a:r>
            <a:r>
              <a:rPr lang="zh-CN" altLang="en-US"/>
              <a:t>、</a:t>
            </a:r>
            <a:r>
              <a:rPr lang="en-US" altLang="zh-CN"/>
              <a:t>P3</a:t>
            </a:r>
            <a:r>
              <a:rPr lang="zh-CN" altLang="en-US"/>
              <a:t>互斥使用一个包含</a:t>
            </a:r>
            <a:r>
              <a:rPr lang="en-US" altLang="zh-CN"/>
              <a:t>N(N&gt;0)</a:t>
            </a:r>
            <a:r>
              <a:rPr lang="zh-CN" altLang="en-US"/>
              <a:t>个单元的缓冲区，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P1</a:t>
            </a:r>
            <a:r>
              <a:rPr lang="zh-CN" altLang="en-US"/>
              <a:t>每次用</a:t>
            </a:r>
            <a:r>
              <a:rPr lang="en-US" altLang="zh-CN"/>
              <a:t>produce()</a:t>
            </a:r>
            <a:r>
              <a:rPr lang="zh-CN" altLang="en-US"/>
              <a:t>生成一个正整数并用</a:t>
            </a:r>
            <a:r>
              <a:rPr lang="en-US" altLang="zh-CN"/>
              <a:t>put()</a:t>
            </a:r>
            <a:r>
              <a:rPr lang="zh-CN" altLang="en-US"/>
              <a:t>送入缓冲区某一空单元中；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P2</a:t>
            </a:r>
            <a:r>
              <a:rPr lang="zh-CN" altLang="en-US"/>
              <a:t>每次用</a:t>
            </a:r>
            <a:r>
              <a:rPr lang="en-US" altLang="zh-CN"/>
              <a:t>getodd()</a:t>
            </a:r>
            <a:r>
              <a:rPr lang="zh-CN" altLang="en-US"/>
              <a:t>从该缓冲区中取出一个奇数并用</a:t>
            </a:r>
            <a:r>
              <a:rPr lang="en-US" altLang="zh-CN"/>
              <a:t>countodd()</a:t>
            </a:r>
            <a:r>
              <a:rPr lang="zh-CN" altLang="en-US"/>
              <a:t>统计奇数个数；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P3</a:t>
            </a:r>
            <a:r>
              <a:rPr lang="zh-CN" altLang="en-US"/>
              <a:t>每次用</a:t>
            </a:r>
            <a:r>
              <a:rPr lang="en-US" altLang="zh-CN"/>
              <a:t>geteven()</a:t>
            </a:r>
            <a:r>
              <a:rPr lang="zh-CN" altLang="en-US"/>
              <a:t>从该缓冲区中取出一个偶数并用</a:t>
            </a:r>
            <a:r>
              <a:rPr lang="en-US" altLang="zh-CN"/>
              <a:t>counteven()</a:t>
            </a:r>
            <a:r>
              <a:rPr lang="zh-CN" altLang="en-US"/>
              <a:t>统计偶数个数。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请用信号量机制实现这三个进程的同步与互斥活动，并说明所定义的信号量含义。要求用伪代码编写。 </a:t>
            </a:r>
            <a:r>
              <a:rPr lang="en-US" altLang="zh-CN"/>
              <a:t>09</a:t>
            </a:r>
          </a:p>
        </p:txBody>
      </p:sp>
    </p:spTree>
  </p:cSld>
  <p:clrMapOvr>
    <a:masterClrMapping/>
  </p:clrMapOvr>
  <p:transition spd="med">
    <p:zoom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2">
            <a:extLst>
              <a:ext uri="{FF2B5EF4-FFF2-40B4-BE49-F238E27FC236}">
                <a16:creationId xmlns:a16="http://schemas.microsoft.com/office/drawing/2014/main" id="{6883FF58-5DD5-1ED6-6923-C3183473B6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考研题</a:t>
            </a:r>
            <a:r>
              <a:rPr lang="en-US" altLang="zh-CN" sz="4000"/>
              <a:t>-1</a:t>
            </a:r>
            <a:r>
              <a:rPr lang="zh-CN" altLang="en-US" sz="4000"/>
              <a:t>答案</a:t>
            </a:r>
          </a:p>
        </p:txBody>
      </p:sp>
      <p:sp>
        <p:nvSpPr>
          <p:cNvPr id="142338" name="Rectangle 3">
            <a:extLst>
              <a:ext uri="{FF2B5EF4-FFF2-40B4-BE49-F238E27FC236}">
                <a16:creationId xmlns:a16="http://schemas.microsoft.com/office/drawing/2014/main" id="{48490809-19F5-113C-4AF2-4191E6843D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31888" y="1143000"/>
            <a:ext cx="7772400" cy="53816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/>
              <a:t>semaphore empty=N</a:t>
            </a:r>
            <a:r>
              <a:rPr lang="zh-CN" altLang="en-US" sz="2400" b="1"/>
              <a:t>；</a:t>
            </a:r>
            <a:r>
              <a:rPr lang="en-US" altLang="zh-CN" sz="2400" b="1"/>
              <a:t>semaphore odd=0,even=0</a:t>
            </a:r>
            <a:r>
              <a:rPr lang="zh-CN" altLang="en-US" sz="2400" b="1"/>
              <a:t>；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/>
              <a:t>semaphore mutex=1</a:t>
            </a:r>
            <a:r>
              <a:rPr lang="zh-CN" altLang="en-US" sz="2400" b="1"/>
              <a:t>；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/>
              <a:t>main</a:t>
            </a:r>
            <a:r>
              <a:rPr lang="zh-CN" altLang="en-US" sz="2400" b="1"/>
              <a:t>（）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/>
              <a:t>cobegin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/>
              <a:t> {  Process P1()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/>
              <a:t>     while(true)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/>
              <a:t>     {  number=produce();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/>
              <a:t>         P(empty);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/>
              <a:t>         P(mutex);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/>
              <a:t>         put();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/>
              <a:t>         V(mutex);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/>
              <a:t>    if (number % 2 = 0) V(even);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/>
              <a:t>    else V(odd);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/>
              <a:t>}</a:t>
            </a:r>
          </a:p>
        </p:txBody>
      </p:sp>
    </p:spTree>
  </p:cSld>
  <p:clrMapOvr>
    <a:masterClrMapping/>
  </p:clrMapOvr>
  <p:transition spd="med">
    <p:zoom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Rectangle 2">
            <a:extLst>
              <a:ext uri="{FF2B5EF4-FFF2-40B4-BE49-F238E27FC236}">
                <a16:creationId xmlns:a16="http://schemas.microsoft.com/office/drawing/2014/main" id="{8AE50A5A-746D-CD81-B592-E51EDC7AD1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考研题</a:t>
            </a:r>
            <a:r>
              <a:rPr lang="en-US" altLang="zh-CN" sz="4000"/>
              <a:t>-1</a:t>
            </a:r>
            <a:r>
              <a:rPr lang="zh-CN" altLang="en-US" sz="4000"/>
              <a:t>答案续</a:t>
            </a:r>
          </a:p>
        </p:txBody>
      </p:sp>
      <p:sp>
        <p:nvSpPr>
          <p:cNvPr id="143362" name="Rectangle 3">
            <a:extLst>
              <a:ext uri="{FF2B5EF4-FFF2-40B4-BE49-F238E27FC236}">
                <a16:creationId xmlns:a16="http://schemas.microsoft.com/office/drawing/2014/main" id="{3BF8FD00-0BB8-0782-B472-618C7D7212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31888" y="1143000"/>
            <a:ext cx="7772400" cy="53816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/>
              <a:t>Process P2()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/>
              <a:t>  while(true)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/>
              <a:t>  {   P(odd);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/>
              <a:t>      P(mutex);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/>
              <a:t>      getodd();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/>
              <a:t>      V(mutex);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/>
              <a:t>      V(empty);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/>
              <a:t>     countodd();   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/>
              <a:t>Process P3()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/>
              <a:t>  while(true)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/>
              <a:t>  {  P(even);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/>
              <a:t>      P(mutex);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/>
              <a:t>      geteven();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/>
              <a:t>      V(mutex);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/>
              <a:t>      V(empty);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/>
              <a:t>     counteven();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b="1"/>
              <a:t>}   } coend</a:t>
            </a:r>
            <a:r>
              <a:rPr lang="en-US" altLang="zh-CN" sz="2000"/>
              <a:t> </a:t>
            </a:r>
            <a:endParaRPr lang="zh-CN" altLang="en-US" sz="2000"/>
          </a:p>
        </p:txBody>
      </p:sp>
    </p:spTree>
  </p:cSld>
  <p:clrMapOvr>
    <a:masterClrMapping/>
  </p:clrMapOvr>
  <p:transition spd="med">
    <p:zoom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2">
            <a:extLst>
              <a:ext uri="{FF2B5EF4-FFF2-40B4-BE49-F238E27FC236}">
                <a16:creationId xmlns:a16="http://schemas.microsoft.com/office/drawing/2014/main" id="{F71F56F0-7A20-4682-0AD1-CECC1A91FB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考研题</a:t>
            </a:r>
            <a:r>
              <a:rPr lang="en-US" altLang="zh-CN" sz="4000"/>
              <a:t>2</a:t>
            </a:r>
          </a:p>
        </p:txBody>
      </p:sp>
      <p:sp>
        <p:nvSpPr>
          <p:cNvPr id="144386" name="Rectangle 3">
            <a:extLst>
              <a:ext uri="{FF2B5EF4-FFF2-40B4-BE49-F238E27FC236}">
                <a16:creationId xmlns:a16="http://schemas.microsoft.com/office/drawing/2014/main" id="{B6C6F35C-50DB-8463-96BB-A491F386D2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143000"/>
            <a:ext cx="7921625" cy="5310188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zh-CN" altLang="en-US" sz="2800"/>
              <a:t>单处理机系统中，可并行的是</a:t>
            </a:r>
            <a:r>
              <a:rPr lang="zh-CN" altLang="en-US" sz="2800" u="sng"/>
              <a:t>      </a:t>
            </a:r>
            <a:r>
              <a:rPr lang="zh-CN" altLang="en-US" sz="2800"/>
              <a:t>。</a:t>
            </a:r>
            <a:r>
              <a:rPr lang="en-US" altLang="zh-CN" sz="2800"/>
              <a:t>09</a:t>
            </a:r>
            <a:endParaRPr lang="zh-CN" altLang="en-US" sz="280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/>
              <a:t>   Ⅰ. </a:t>
            </a:r>
            <a:r>
              <a:rPr lang="zh-CN" altLang="en-US" sz="2800"/>
              <a:t>进程与进程	</a:t>
            </a:r>
            <a:r>
              <a:rPr lang="en-US" altLang="zh-CN" sz="2800"/>
              <a:t>Ⅱ. </a:t>
            </a:r>
            <a:r>
              <a:rPr lang="zh-CN" altLang="en-US" sz="2800"/>
              <a:t>处理机与设备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/>
              <a:t>   Ⅲ. </a:t>
            </a:r>
            <a:r>
              <a:rPr lang="zh-CN" altLang="en-US" sz="2800"/>
              <a:t>处理机与通道 	</a:t>
            </a:r>
            <a:r>
              <a:rPr lang="en-US" altLang="zh-CN" sz="2800"/>
              <a:t>Ⅳ. </a:t>
            </a:r>
            <a:r>
              <a:rPr lang="zh-CN" altLang="en-US" sz="2800"/>
              <a:t>设备与设备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/>
              <a:t>   A.Ⅰ</a:t>
            </a:r>
            <a:r>
              <a:rPr lang="zh-CN" altLang="en-US" sz="2800"/>
              <a:t>、</a:t>
            </a:r>
            <a:r>
              <a:rPr lang="en-US" altLang="zh-CN" sz="2800"/>
              <a:t>Ⅱ</a:t>
            </a:r>
            <a:r>
              <a:rPr lang="zh-CN" altLang="en-US" sz="2800"/>
              <a:t>和</a:t>
            </a:r>
            <a:r>
              <a:rPr lang="en-US" altLang="zh-CN" sz="2800"/>
              <a:t>Ⅲ		B.Ⅰ</a:t>
            </a:r>
            <a:r>
              <a:rPr lang="zh-CN" altLang="en-US" sz="2800"/>
              <a:t>、</a:t>
            </a:r>
            <a:r>
              <a:rPr lang="en-US" altLang="zh-CN" sz="2800"/>
              <a:t>Ⅱ</a:t>
            </a:r>
            <a:r>
              <a:rPr lang="zh-CN" altLang="en-US" sz="2800"/>
              <a:t>和</a:t>
            </a:r>
            <a:r>
              <a:rPr lang="en-US" altLang="zh-CN" sz="2800"/>
              <a:t>Ⅳ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/>
              <a:t>   C.Ⅰ</a:t>
            </a:r>
            <a:r>
              <a:rPr lang="zh-CN" altLang="en-US" sz="2800"/>
              <a:t>、</a:t>
            </a:r>
            <a:r>
              <a:rPr lang="en-US" altLang="zh-CN" sz="2800"/>
              <a:t>Ⅲ</a:t>
            </a:r>
            <a:r>
              <a:rPr lang="zh-CN" altLang="en-US" sz="2800"/>
              <a:t>和</a:t>
            </a:r>
            <a:r>
              <a:rPr lang="en-US" altLang="zh-CN" sz="2800"/>
              <a:t>Ⅳ		D.Ⅱ</a:t>
            </a:r>
            <a:r>
              <a:rPr lang="zh-CN" altLang="en-US" sz="2800"/>
              <a:t>、</a:t>
            </a:r>
            <a:r>
              <a:rPr lang="en-US" altLang="zh-CN" sz="2800"/>
              <a:t>Ⅲ</a:t>
            </a:r>
            <a:r>
              <a:rPr lang="zh-CN" altLang="en-US" sz="2800"/>
              <a:t>和</a:t>
            </a:r>
            <a:r>
              <a:rPr lang="en-US" altLang="zh-CN" sz="2800"/>
              <a:t>Ⅳ</a:t>
            </a:r>
          </a:p>
          <a:p>
            <a:pPr eaLnBrk="1" hangingPunct="1"/>
            <a:r>
              <a:rPr lang="zh-CN" altLang="en-US" sz="2800"/>
              <a:t>设与某资源相关联的信号量初值为</a:t>
            </a:r>
            <a:r>
              <a:rPr lang="en-US" altLang="zh-CN" sz="2800"/>
              <a:t>3</a:t>
            </a:r>
            <a:r>
              <a:rPr lang="zh-CN" altLang="en-US" sz="2800"/>
              <a:t>，当前值为</a:t>
            </a:r>
            <a:r>
              <a:rPr lang="en-US" altLang="zh-CN" sz="2800"/>
              <a:t>1</a:t>
            </a:r>
            <a:r>
              <a:rPr lang="zh-CN" altLang="en-US" sz="2800"/>
              <a:t>，若</a:t>
            </a:r>
            <a:r>
              <a:rPr lang="en-US" altLang="zh-CN" sz="2800"/>
              <a:t>M</a:t>
            </a:r>
            <a:r>
              <a:rPr lang="zh-CN" altLang="en-US" sz="2800"/>
              <a:t>表示该资源的可用个数，</a:t>
            </a:r>
            <a:r>
              <a:rPr lang="en-US" altLang="zh-CN" sz="2800"/>
              <a:t>N</a:t>
            </a:r>
            <a:r>
              <a:rPr lang="zh-CN" altLang="en-US" sz="2800"/>
              <a:t>表示等待该资源的进程数，则</a:t>
            </a:r>
            <a:r>
              <a:rPr lang="en-US" altLang="zh-CN" sz="2800"/>
              <a:t>M</a:t>
            </a:r>
            <a:r>
              <a:rPr lang="zh-CN" altLang="en-US" sz="2800"/>
              <a:t>、</a:t>
            </a:r>
            <a:r>
              <a:rPr lang="en-US" altLang="zh-CN" sz="2800"/>
              <a:t>N</a:t>
            </a:r>
            <a:r>
              <a:rPr lang="zh-CN" altLang="en-US" sz="2800"/>
              <a:t>分别是</a:t>
            </a:r>
            <a:r>
              <a:rPr lang="zh-CN" altLang="en-US" sz="2800" u="sng"/>
              <a:t>      </a:t>
            </a:r>
            <a:r>
              <a:rPr lang="zh-CN" altLang="en-US" sz="2800"/>
              <a:t>。</a:t>
            </a:r>
            <a:r>
              <a:rPr lang="en-US" altLang="zh-CN" sz="2800"/>
              <a:t>10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/>
              <a:t>   A.0</a:t>
            </a:r>
            <a:r>
              <a:rPr lang="zh-CN" altLang="en-US" sz="2800"/>
              <a:t>，</a:t>
            </a:r>
            <a:r>
              <a:rPr lang="en-US" altLang="zh-CN" sz="2800"/>
              <a:t>1			B.1</a:t>
            </a:r>
            <a:r>
              <a:rPr lang="zh-CN" altLang="en-US" sz="2800"/>
              <a:t>，</a:t>
            </a:r>
            <a:r>
              <a:rPr lang="en-US" altLang="zh-CN" sz="2800"/>
              <a:t>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/>
              <a:t>   C.1</a:t>
            </a:r>
            <a:r>
              <a:rPr lang="zh-CN" altLang="en-US" sz="2800"/>
              <a:t>，</a:t>
            </a:r>
            <a:r>
              <a:rPr lang="en-US" altLang="zh-CN" sz="2800"/>
              <a:t>2			D.2</a:t>
            </a:r>
            <a:r>
              <a:rPr lang="zh-CN" altLang="en-US" sz="2800"/>
              <a:t>，</a:t>
            </a:r>
            <a:r>
              <a:rPr lang="en-US" altLang="zh-CN" sz="2800"/>
              <a:t>0</a:t>
            </a:r>
            <a:endParaRPr lang="zh-CN" altLang="en-US" sz="2800"/>
          </a:p>
        </p:txBody>
      </p:sp>
    </p:spTree>
  </p:cSld>
  <p:clrMapOvr>
    <a:masterClrMapping/>
  </p:clrMapOvr>
  <p:transition spd="med">
    <p:zoom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Rectangle 2">
            <a:extLst>
              <a:ext uri="{FF2B5EF4-FFF2-40B4-BE49-F238E27FC236}">
                <a16:creationId xmlns:a16="http://schemas.microsoft.com/office/drawing/2014/main" id="{70B06C76-35F9-AC0E-C2C6-528745920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考研题</a:t>
            </a:r>
            <a:r>
              <a:rPr lang="en-US" altLang="zh-CN" sz="4000"/>
              <a:t>3</a:t>
            </a:r>
          </a:p>
        </p:txBody>
      </p:sp>
      <p:sp>
        <p:nvSpPr>
          <p:cNvPr id="145410" name="Rectangle 3">
            <a:extLst>
              <a:ext uri="{FF2B5EF4-FFF2-40B4-BE49-F238E27FC236}">
                <a16:creationId xmlns:a16="http://schemas.microsoft.com/office/drawing/2014/main" id="{1EC02114-9AB1-2FC1-62D0-B31C0C9DB9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1196975"/>
            <a:ext cx="4241800" cy="54721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000"/>
              <a:t>进程</a:t>
            </a:r>
            <a:r>
              <a:rPr lang="en-US" altLang="zh-CN" sz="2000"/>
              <a:t>P0</a:t>
            </a:r>
            <a:r>
              <a:rPr lang="zh-CN" altLang="en-US" sz="2000"/>
              <a:t>和</a:t>
            </a:r>
            <a:r>
              <a:rPr lang="en-US" altLang="zh-CN" sz="2000"/>
              <a:t>P1</a:t>
            </a:r>
            <a:r>
              <a:rPr lang="zh-CN" altLang="en-US" sz="2000"/>
              <a:t>的共享变量定义及初值为：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boolean flag[2];     int turn=0;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  flag[0]=false;flag[1]=false;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000"/>
              <a:t>进程</a:t>
            </a:r>
            <a:r>
              <a:rPr lang="en-US" altLang="zh-CN" sz="2000"/>
              <a:t>P0</a:t>
            </a:r>
            <a:r>
              <a:rPr lang="zh-CN" altLang="en-US" sz="2000"/>
              <a:t>和</a:t>
            </a:r>
            <a:r>
              <a:rPr lang="en-US" altLang="zh-CN" sz="2000"/>
              <a:t>P1</a:t>
            </a:r>
            <a:r>
              <a:rPr lang="zh-CN" altLang="en-US" sz="2000"/>
              <a:t>访问临界资源的类</a:t>
            </a:r>
            <a:r>
              <a:rPr lang="en-US" altLang="zh-CN" sz="2000"/>
              <a:t>C</a:t>
            </a:r>
            <a:r>
              <a:rPr lang="zh-CN" altLang="en-US" sz="2000"/>
              <a:t>代码实现如下：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void P0  //</a:t>
            </a:r>
            <a:r>
              <a:rPr lang="zh-CN" altLang="en-US" sz="2000"/>
              <a:t>进程</a:t>
            </a:r>
            <a:r>
              <a:rPr lang="en-US" altLang="zh-CN" sz="2000"/>
              <a:t>P0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{	while (TRUE)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	{  flag[0]=TRUE;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	   turn=1;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	while (flag[1] &amp;&amp; turn==1);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		</a:t>
            </a:r>
            <a:r>
              <a:rPr lang="zh-CN" altLang="en-US" sz="2000"/>
              <a:t>临界区</a:t>
            </a:r>
            <a:r>
              <a:rPr lang="en-US" altLang="zh-CN" sz="2000"/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	flag[0]=FALSE;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	}    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void P1		//</a:t>
            </a:r>
            <a:r>
              <a:rPr lang="zh-CN" altLang="en-US" sz="2000"/>
              <a:t>进程</a:t>
            </a:r>
            <a:r>
              <a:rPr lang="en-US" altLang="zh-CN" sz="2000"/>
              <a:t>P1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{	while (TRUE)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	{  flag[1]=TRUE;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	    turn=0;</a:t>
            </a:r>
          </a:p>
        </p:txBody>
      </p:sp>
      <p:sp>
        <p:nvSpPr>
          <p:cNvPr id="145411" name="Rectangle 4">
            <a:extLst>
              <a:ext uri="{FF2B5EF4-FFF2-40B4-BE49-F238E27FC236}">
                <a16:creationId xmlns:a16="http://schemas.microsoft.com/office/drawing/2014/main" id="{9B52B357-58D8-3713-3902-58AB6FEA9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1412875"/>
            <a:ext cx="424180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/>
              <a:t>	while (flag[0] &amp;&amp; turn==0);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/>
              <a:t>	  </a:t>
            </a:r>
            <a:r>
              <a:rPr lang="zh-CN" altLang="en-US" sz="2000"/>
              <a:t>临界区</a:t>
            </a:r>
            <a:r>
              <a:rPr lang="en-US" altLang="zh-CN" sz="2000"/>
              <a:t>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/>
              <a:t>	   flag[1]=FALSE;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/>
              <a:t>	}  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000"/>
              <a:t>则并发执行进程</a:t>
            </a:r>
            <a:r>
              <a:rPr lang="en-US" altLang="zh-CN" sz="2000"/>
              <a:t>P0</a:t>
            </a:r>
            <a:r>
              <a:rPr lang="zh-CN" altLang="en-US" sz="2000"/>
              <a:t>和</a:t>
            </a:r>
            <a:r>
              <a:rPr lang="en-US" altLang="zh-CN" sz="2000"/>
              <a:t>P1</a:t>
            </a:r>
            <a:r>
              <a:rPr lang="zh-CN" altLang="en-US" sz="2000"/>
              <a:t>时产生的情况是</a:t>
            </a:r>
            <a:r>
              <a:rPr lang="zh-CN" altLang="en-US" sz="2000" u="sng"/>
              <a:t>      </a:t>
            </a:r>
            <a:r>
              <a:rPr lang="zh-CN" altLang="en-US" sz="2000"/>
              <a:t>。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2000"/>
              <a:t>A.</a:t>
            </a:r>
            <a:r>
              <a:rPr lang="zh-CN" altLang="en-US" sz="2000"/>
              <a:t>不能保证进程互斥进入临界区，会出现</a:t>
            </a:r>
            <a:r>
              <a:rPr lang="zh-CN" altLang="en-US" sz="2000">
                <a:latin typeface="Times New Roman" panose="02020603050405020304" pitchFamily="18" charset="0"/>
              </a:rPr>
              <a:t>“</a:t>
            </a:r>
            <a:r>
              <a:rPr lang="zh-CN" altLang="en-US" sz="2000"/>
              <a:t>饥饿</a:t>
            </a:r>
            <a:r>
              <a:rPr lang="zh-CN" altLang="en-US" sz="2000">
                <a:latin typeface="Times New Roman" panose="02020603050405020304" pitchFamily="18" charset="0"/>
              </a:rPr>
              <a:t>”</a:t>
            </a:r>
            <a:r>
              <a:rPr lang="zh-CN" altLang="en-US" sz="2000"/>
              <a:t>现象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2000"/>
              <a:t>B.</a:t>
            </a:r>
            <a:r>
              <a:rPr lang="zh-CN" altLang="en-US" sz="2000"/>
              <a:t>不能保证进程互斥进入临界区，不会出现</a:t>
            </a:r>
            <a:r>
              <a:rPr lang="zh-CN" altLang="en-US" sz="2000">
                <a:latin typeface="Times New Roman" panose="02020603050405020304" pitchFamily="18" charset="0"/>
              </a:rPr>
              <a:t>“</a:t>
            </a:r>
            <a:r>
              <a:rPr lang="zh-CN" altLang="en-US" sz="2000"/>
              <a:t>饥饿</a:t>
            </a:r>
            <a:r>
              <a:rPr lang="zh-CN" altLang="en-US" sz="2000">
                <a:latin typeface="Times New Roman" panose="02020603050405020304" pitchFamily="18" charset="0"/>
              </a:rPr>
              <a:t>”</a:t>
            </a:r>
            <a:r>
              <a:rPr lang="zh-CN" altLang="en-US" sz="2000"/>
              <a:t>现象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2000"/>
              <a:t>C.</a:t>
            </a:r>
            <a:r>
              <a:rPr lang="zh-CN" altLang="en-US" sz="2000"/>
              <a:t>能保证进程互斥进入临界区，会出现</a:t>
            </a:r>
            <a:r>
              <a:rPr lang="zh-CN" altLang="en-US" sz="2000">
                <a:latin typeface="Times New Roman" panose="02020603050405020304" pitchFamily="18" charset="0"/>
              </a:rPr>
              <a:t>“</a:t>
            </a:r>
            <a:r>
              <a:rPr lang="zh-CN" altLang="en-US" sz="2000"/>
              <a:t>饥饿</a:t>
            </a:r>
            <a:r>
              <a:rPr lang="zh-CN" altLang="en-US" sz="2000">
                <a:latin typeface="Times New Roman" panose="02020603050405020304" pitchFamily="18" charset="0"/>
              </a:rPr>
              <a:t>”</a:t>
            </a:r>
            <a:r>
              <a:rPr lang="zh-CN" altLang="en-US" sz="2000"/>
              <a:t>现象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2000"/>
              <a:t>D.</a:t>
            </a:r>
            <a:r>
              <a:rPr lang="zh-CN" altLang="en-US" sz="2000"/>
              <a:t>能保证进程互斥进入临界区，不会出现</a:t>
            </a:r>
            <a:r>
              <a:rPr lang="zh-CN" altLang="en-US" sz="2000">
                <a:latin typeface="Times New Roman" panose="02020603050405020304" pitchFamily="18" charset="0"/>
              </a:rPr>
              <a:t>“</a:t>
            </a:r>
            <a:r>
              <a:rPr lang="zh-CN" altLang="en-US" sz="2000"/>
              <a:t>饥饿</a:t>
            </a:r>
            <a:r>
              <a:rPr lang="zh-CN" altLang="en-US" sz="2000">
                <a:latin typeface="Times New Roman" panose="02020603050405020304" pitchFamily="18" charset="0"/>
              </a:rPr>
              <a:t>”</a:t>
            </a:r>
            <a:r>
              <a:rPr lang="zh-CN" altLang="en-US" sz="2000"/>
              <a:t>现象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000"/>
              <a:t>注：本题为</a:t>
            </a:r>
            <a:r>
              <a:rPr lang="en-US" altLang="zh-CN" sz="2000"/>
              <a:t>2010</a:t>
            </a:r>
            <a:r>
              <a:rPr lang="zh-CN" altLang="en-US" sz="2000"/>
              <a:t>年全国考研题</a:t>
            </a:r>
          </a:p>
        </p:txBody>
      </p:sp>
    </p:spTree>
  </p:cSld>
  <p:clrMapOvr>
    <a:masterClrMapping/>
  </p:clrMapOvr>
  <p:transition spd="med">
    <p:zoom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Rectangle 2">
            <a:extLst>
              <a:ext uri="{FF2B5EF4-FFF2-40B4-BE49-F238E27FC236}">
                <a16:creationId xmlns:a16="http://schemas.microsoft.com/office/drawing/2014/main" id="{BD56011C-15F3-AE61-970A-023E4F737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考研题</a:t>
            </a:r>
            <a:r>
              <a:rPr lang="en-US" altLang="zh-CN" sz="4000"/>
              <a:t>4</a:t>
            </a:r>
          </a:p>
        </p:txBody>
      </p:sp>
      <p:sp>
        <p:nvSpPr>
          <p:cNvPr id="146434" name="Rectangle 3">
            <a:extLst>
              <a:ext uri="{FF2B5EF4-FFF2-40B4-BE49-F238E27FC236}">
                <a16:creationId xmlns:a16="http://schemas.microsoft.com/office/drawing/2014/main" id="{D6F71678-AE3B-D482-9619-D082CB924D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143000"/>
            <a:ext cx="7921625" cy="5310188"/>
          </a:xfrm>
        </p:spPr>
        <p:txBody>
          <a:bodyPr/>
          <a:lstStyle/>
          <a:p>
            <a:pPr eaLnBrk="1" hangingPunct="1"/>
            <a:r>
              <a:rPr lang="zh-CN" altLang="en-US" sz="2800"/>
              <a:t>有两个并发执行的进程</a:t>
            </a:r>
            <a:r>
              <a:rPr lang="en-US" altLang="zh-CN" sz="2800"/>
              <a:t>P1</a:t>
            </a:r>
            <a:r>
              <a:rPr lang="zh-CN" altLang="en-US" sz="2800"/>
              <a:t>和</a:t>
            </a:r>
            <a:r>
              <a:rPr lang="en-US" altLang="zh-CN" sz="2800"/>
              <a:t>P2</a:t>
            </a:r>
            <a:r>
              <a:rPr lang="zh-CN" altLang="en-US" sz="2800"/>
              <a:t>，共享初值为</a:t>
            </a:r>
            <a:r>
              <a:rPr lang="en-US" altLang="zh-CN" sz="2800"/>
              <a:t>1</a:t>
            </a:r>
            <a:r>
              <a:rPr lang="zh-CN" altLang="en-US" sz="2800"/>
              <a:t>的变量</a:t>
            </a:r>
            <a:r>
              <a:rPr lang="en-US" altLang="zh-CN" sz="2800"/>
              <a:t>x</a:t>
            </a:r>
            <a:r>
              <a:rPr lang="zh-CN" altLang="en-US" sz="2800"/>
              <a:t>，</a:t>
            </a:r>
            <a:r>
              <a:rPr lang="en-US" altLang="zh-CN" sz="2800"/>
              <a:t>P1</a:t>
            </a:r>
            <a:r>
              <a:rPr lang="zh-CN" altLang="en-US" sz="2800"/>
              <a:t>对</a:t>
            </a:r>
            <a:r>
              <a:rPr lang="en-US" altLang="zh-CN" sz="2800"/>
              <a:t>x</a:t>
            </a:r>
            <a:r>
              <a:rPr lang="zh-CN" altLang="en-US" sz="2800"/>
              <a:t>加</a:t>
            </a:r>
            <a:r>
              <a:rPr lang="en-US" altLang="zh-CN" sz="2800"/>
              <a:t>1</a:t>
            </a:r>
            <a:r>
              <a:rPr lang="zh-CN" altLang="en-US" sz="2800"/>
              <a:t>，</a:t>
            </a:r>
            <a:r>
              <a:rPr lang="en-US" altLang="zh-CN" sz="2800"/>
              <a:t>P2</a:t>
            </a:r>
            <a:r>
              <a:rPr lang="zh-CN" altLang="en-US" sz="2800"/>
              <a:t>对</a:t>
            </a:r>
            <a:r>
              <a:rPr lang="en-US" altLang="zh-CN" sz="2800"/>
              <a:t>x</a:t>
            </a:r>
            <a:r>
              <a:rPr lang="zh-CN" altLang="en-US" sz="2800"/>
              <a:t>减</a:t>
            </a:r>
            <a:r>
              <a:rPr lang="en-US" altLang="zh-CN" sz="2800"/>
              <a:t>1</a:t>
            </a:r>
            <a:r>
              <a:rPr lang="zh-CN" altLang="en-US" sz="2800"/>
              <a:t>。加</a:t>
            </a:r>
            <a:r>
              <a:rPr lang="en-US" altLang="zh-CN" sz="2800"/>
              <a:t>1</a:t>
            </a:r>
            <a:r>
              <a:rPr lang="zh-CN" altLang="en-US" sz="2800"/>
              <a:t>和减</a:t>
            </a:r>
            <a:r>
              <a:rPr lang="en-US" altLang="zh-CN" sz="2800"/>
              <a:t>1</a:t>
            </a:r>
            <a:r>
              <a:rPr lang="zh-CN" altLang="en-US" sz="2800"/>
              <a:t>操作的指令序列分别如下所示。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400"/>
              <a:t>//</a:t>
            </a:r>
            <a:r>
              <a:rPr lang="zh-CN" altLang="en-US" sz="2400"/>
              <a:t>加</a:t>
            </a:r>
            <a:r>
              <a:rPr lang="en-US" altLang="zh-CN" sz="2400"/>
              <a:t>1</a:t>
            </a:r>
            <a:r>
              <a:rPr lang="zh-CN" altLang="en-US" sz="2400"/>
              <a:t>操作                                  </a:t>
            </a:r>
            <a:r>
              <a:rPr lang="en-US" altLang="zh-CN" sz="2400"/>
              <a:t>//</a:t>
            </a:r>
            <a:r>
              <a:rPr lang="zh-CN" altLang="en-US" sz="2400"/>
              <a:t>减</a:t>
            </a:r>
            <a:r>
              <a:rPr lang="en-US" altLang="zh-CN" sz="2400"/>
              <a:t>1</a:t>
            </a:r>
            <a:r>
              <a:rPr lang="zh-CN" altLang="en-US" sz="2400"/>
              <a:t>操作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400"/>
              <a:t>load R1</a:t>
            </a:r>
            <a:r>
              <a:rPr lang="zh-CN" altLang="en-US" sz="2400"/>
              <a:t>，</a:t>
            </a:r>
            <a:r>
              <a:rPr lang="en-US" altLang="zh-CN" sz="2400"/>
              <a:t>x //</a:t>
            </a:r>
            <a:r>
              <a:rPr lang="zh-CN" altLang="en-US" sz="2400"/>
              <a:t>取</a:t>
            </a:r>
            <a:r>
              <a:rPr lang="en-US" altLang="zh-CN" sz="2400"/>
              <a:t>x</a:t>
            </a:r>
            <a:r>
              <a:rPr lang="zh-CN" altLang="en-US" sz="2400"/>
              <a:t>到寄存器</a:t>
            </a:r>
            <a:r>
              <a:rPr lang="en-US" altLang="zh-CN" sz="2400"/>
              <a:t>R1</a:t>
            </a:r>
            <a:r>
              <a:rPr lang="zh-CN" altLang="en-US" sz="2400"/>
              <a:t>中     </a:t>
            </a:r>
            <a:r>
              <a:rPr lang="en-US" altLang="zh-CN" sz="2400"/>
              <a:t>Load R2</a:t>
            </a:r>
            <a:r>
              <a:rPr lang="zh-CN" altLang="en-US" sz="2400"/>
              <a:t>，</a:t>
            </a:r>
            <a:r>
              <a:rPr lang="en-US" altLang="zh-CN" sz="2400"/>
              <a:t>x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400"/>
              <a:t>inc R1                                        dec R2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400"/>
              <a:t>store  x</a:t>
            </a:r>
            <a:r>
              <a:rPr lang="zh-CN" altLang="en-US" sz="2400"/>
              <a:t>，</a:t>
            </a:r>
            <a:r>
              <a:rPr lang="en-US" altLang="zh-CN" sz="2400"/>
              <a:t>R1//</a:t>
            </a:r>
            <a:r>
              <a:rPr lang="zh-CN" altLang="en-US" sz="2400"/>
              <a:t>将</a:t>
            </a:r>
            <a:r>
              <a:rPr lang="en-US" altLang="zh-CN" sz="2400"/>
              <a:t>R1</a:t>
            </a:r>
            <a:r>
              <a:rPr lang="zh-CN" altLang="en-US" sz="2400"/>
              <a:t>的内容存入</a:t>
            </a:r>
            <a:r>
              <a:rPr lang="en-US" altLang="zh-CN" sz="2400"/>
              <a:t>x    store  x</a:t>
            </a:r>
            <a:r>
              <a:rPr lang="zh-CN" altLang="en-US" sz="2400"/>
              <a:t>，</a:t>
            </a:r>
            <a:r>
              <a:rPr lang="en-US" altLang="zh-CN" sz="2400"/>
              <a:t>R2</a:t>
            </a:r>
          </a:p>
          <a:p>
            <a:pPr eaLnBrk="1" hangingPunct="1"/>
            <a:r>
              <a:rPr lang="zh-CN" altLang="en-US" sz="2800"/>
              <a:t>两个操作完成后，</a:t>
            </a:r>
            <a:r>
              <a:rPr lang="en-US" altLang="zh-CN" sz="2800"/>
              <a:t>x</a:t>
            </a:r>
            <a:r>
              <a:rPr lang="zh-CN" altLang="en-US" sz="2800"/>
              <a:t>的值</a:t>
            </a:r>
            <a:r>
              <a:rPr lang="en-US" altLang="zh-CN" sz="2800"/>
              <a:t>____</a:t>
            </a:r>
            <a:r>
              <a:rPr lang="zh-CN" altLang="en-US" sz="2800"/>
              <a:t>。</a:t>
            </a:r>
            <a:r>
              <a:rPr lang="en-US" altLang="zh-CN" sz="2800"/>
              <a:t>11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/>
              <a:t>A</a:t>
            </a:r>
            <a:r>
              <a:rPr lang="zh-CN" altLang="en-US" sz="2800"/>
              <a:t>、可能为</a:t>
            </a:r>
            <a:r>
              <a:rPr lang="en-US" altLang="zh-CN" sz="2800"/>
              <a:t>-1</a:t>
            </a:r>
            <a:r>
              <a:rPr lang="zh-CN" altLang="en-US" sz="2800"/>
              <a:t>和</a:t>
            </a:r>
            <a:r>
              <a:rPr lang="en-US" altLang="zh-CN" sz="2800"/>
              <a:t>3     B</a:t>
            </a:r>
            <a:r>
              <a:rPr lang="zh-CN" altLang="en-US" sz="2800"/>
              <a:t>、只能为</a:t>
            </a:r>
            <a:r>
              <a:rPr lang="en-US" altLang="zh-CN" sz="2800"/>
              <a:t>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/>
              <a:t>C</a:t>
            </a:r>
            <a:r>
              <a:rPr lang="zh-CN" altLang="en-US" sz="2800"/>
              <a:t>、可能为</a:t>
            </a:r>
            <a:r>
              <a:rPr lang="en-US" altLang="zh-CN" sz="2800"/>
              <a:t>0</a:t>
            </a:r>
            <a:r>
              <a:rPr lang="zh-CN" altLang="en-US" sz="2800"/>
              <a:t>、</a:t>
            </a:r>
            <a:r>
              <a:rPr lang="en-US" altLang="zh-CN" sz="2800"/>
              <a:t>1</a:t>
            </a:r>
            <a:r>
              <a:rPr lang="zh-CN" altLang="en-US" sz="2800"/>
              <a:t>或</a:t>
            </a:r>
            <a:r>
              <a:rPr lang="en-US" altLang="zh-CN" sz="2800"/>
              <a:t>2   D</a:t>
            </a:r>
            <a:r>
              <a:rPr lang="zh-CN" altLang="en-US" sz="2800"/>
              <a:t>、可能为</a:t>
            </a:r>
            <a:r>
              <a:rPr lang="en-US" altLang="zh-CN" sz="2800"/>
              <a:t>-1</a:t>
            </a:r>
            <a:r>
              <a:rPr lang="zh-CN" altLang="en-US" sz="2800"/>
              <a:t>、</a:t>
            </a:r>
            <a:r>
              <a:rPr lang="en-US" altLang="zh-CN" sz="2800"/>
              <a:t>0</a:t>
            </a:r>
            <a:r>
              <a:rPr lang="zh-CN" altLang="en-US" sz="2800"/>
              <a:t>、</a:t>
            </a:r>
            <a:r>
              <a:rPr lang="en-US" altLang="zh-CN" sz="2800"/>
              <a:t>1</a:t>
            </a:r>
            <a:r>
              <a:rPr lang="zh-CN" altLang="en-US" sz="2800"/>
              <a:t>或</a:t>
            </a:r>
            <a:r>
              <a:rPr lang="en-US" altLang="zh-CN" sz="2800"/>
              <a:t>2</a:t>
            </a:r>
            <a:endParaRPr lang="zh-CN" altLang="en-US" sz="2800"/>
          </a:p>
        </p:txBody>
      </p:sp>
    </p:spTree>
  </p:cSld>
  <p:clrMapOvr>
    <a:masterClrMapping/>
  </p:clrMapOvr>
  <p:transition spd="med">
    <p:zoom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Rectangle 2">
            <a:extLst>
              <a:ext uri="{FF2B5EF4-FFF2-40B4-BE49-F238E27FC236}">
                <a16:creationId xmlns:a16="http://schemas.microsoft.com/office/drawing/2014/main" id="{7778D5A7-0152-E352-5D56-07F09B8CB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考研题</a:t>
            </a:r>
            <a:r>
              <a:rPr lang="en-US" altLang="zh-CN" sz="4000"/>
              <a:t>5</a:t>
            </a:r>
          </a:p>
        </p:txBody>
      </p:sp>
      <p:sp>
        <p:nvSpPr>
          <p:cNvPr id="147458" name="Rectangle 3">
            <a:extLst>
              <a:ext uri="{FF2B5EF4-FFF2-40B4-BE49-F238E27FC236}">
                <a16:creationId xmlns:a16="http://schemas.microsoft.com/office/drawing/2014/main" id="{F5F79B55-A0D9-25C1-B036-E7B248B529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196975"/>
            <a:ext cx="7632700" cy="4968875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zh-CN" altLang="en-US" sz="2600"/>
              <a:t>某银行提供一个服务窗口和</a:t>
            </a:r>
            <a:r>
              <a:rPr lang="en-US" altLang="zh-CN" sz="2600"/>
              <a:t>10</a:t>
            </a:r>
            <a:r>
              <a:rPr lang="zh-CN" altLang="en-US" sz="2600"/>
              <a:t>个供顾客等待的座位。顾客到达银行时，若有空座位，则到取号机上领取一个号，等待叫号。取号机每次仅允许一个顾客使用。当营业员空闲时，通过叫号选取一位顾客，并为其服务。顾客及营业员的活动描述如下：</a:t>
            </a:r>
          </a:p>
          <a:p>
            <a:pPr eaLnBrk="1" hangingPunct="1"/>
            <a:r>
              <a:rPr lang="en-US" altLang="zh-CN" sz="2600"/>
              <a:t>cobegin</a:t>
            </a:r>
          </a:p>
          <a:p>
            <a:pPr eaLnBrk="1" hangingPunct="1"/>
            <a:r>
              <a:rPr lang="en-US" altLang="zh-CN" sz="2600"/>
              <a:t>{  process </a:t>
            </a:r>
            <a:r>
              <a:rPr lang="zh-CN" altLang="en-US" sz="2600"/>
              <a:t>顾客</a:t>
            </a:r>
          </a:p>
          <a:p>
            <a:pPr eaLnBrk="1" hangingPunct="1"/>
            <a:r>
              <a:rPr lang="zh-CN" altLang="en-US" sz="2600"/>
              <a:t>   </a:t>
            </a:r>
            <a:r>
              <a:rPr lang="en-US" altLang="zh-CN" sz="2600"/>
              <a:t>{ </a:t>
            </a:r>
            <a:r>
              <a:rPr lang="zh-CN" altLang="en-US" sz="2600"/>
              <a:t>从取号机获取一个号码；</a:t>
            </a:r>
          </a:p>
          <a:p>
            <a:pPr eaLnBrk="1" hangingPunct="1"/>
            <a:r>
              <a:rPr lang="zh-CN" altLang="en-US" sz="2600"/>
              <a:t>      等待叫号；</a:t>
            </a:r>
          </a:p>
          <a:p>
            <a:pPr eaLnBrk="1" hangingPunct="1"/>
            <a:r>
              <a:rPr lang="zh-CN" altLang="en-US" sz="2600"/>
              <a:t>      获得服务；  </a:t>
            </a:r>
            <a:r>
              <a:rPr lang="en-US" altLang="zh-CN" sz="2600"/>
              <a:t>}</a:t>
            </a:r>
            <a:endParaRPr lang="en-US" altLang="zh-CN"/>
          </a:p>
        </p:txBody>
      </p:sp>
    </p:spTree>
  </p:cSld>
  <p:clrMapOvr>
    <a:masterClrMapping/>
  </p:clrMapOvr>
  <p:transition spd="med">
    <p:zoom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Rectangle 2">
            <a:extLst>
              <a:ext uri="{FF2B5EF4-FFF2-40B4-BE49-F238E27FC236}">
                <a16:creationId xmlns:a16="http://schemas.microsoft.com/office/drawing/2014/main" id="{E6237DA9-C209-C2DE-1016-E055ED7D7E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考研题</a:t>
            </a:r>
            <a:r>
              <a:rPr lang="en-US" altLang="zh-CN" sz="4000"/>
              <a:t>5-2</a:t>
            </a:r>
          </a:p>
        </p:txBody>
      </p:sp>
      <p:sp>
        <p:nvSpPr>
          <p:cNvPr id="148482" name="Rectangle 3">
            <a:extLst>
              <a:ext uri="{FF2B5EF4-FFF2-40B4-BE49-F238E27FC236}">
                <a16:creationId xmlns:a16="http://schemas.microsoft.com/office/drawing/2014/main" id="{FF5B4FE3-8B2D-E386-B183-BEA239D539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650" y="1196975"/>
            <a:ext cx="7561263" cy="49688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process </a:t>
            </a:r>
            <a:r>
              <a:rPr lang="zh-CN" altLang="en-US" sz="2600"/>
              <a:t>营业员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600"/>
              <a:t>   </a:t>
            </a:r>
            <a:r>
              <a:rPr lang="en-US" altLang="zh-CN" sz="2600"/>
              <a:t>{   while</a:t>
            </a:r>
            <a:r>
              <a:rPr lang="zh-CN" altLang="en-US" sz="2600"/>
              <a:t>（</a:t>
            </a:r>
            <a:r>
              <a:rPr lang="en-US" altLang="zh-CN" sz="2600"/>
              <a:t>TRUE</a:t>
            </a:r>
            <a:r>
              <a:rPr lang="zh-CN" altLang="en-US" sz="2600"/>
              <a:t>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600"/>
              <a:t>     </a:t>
            </a:r>
            <a:r>
              <a:rPr lang="en-US" altLang="zh-CN" sz="2600"/>
              <a:t>{  </a:t>
            </a:r>
            <a:r>
              <a:rPr lang="zh-CN" altLang="en-US" sz="2600"/>
              <a:t>叫号；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600"/>
              <a:t>        为顾客服务；</a:t>
            </a:r>
            <a:r>
              <a:rPr lang="en-US" altLang="zh-CN" sz="2600"/>
              <a:t>}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}coend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600"/>
              <a:t>请添加必要的信号量和</a:t>
            </a:r>
            <a:r>
              <a:rPr lang="en-US" altLang="zh-CN" sz="2600"/>
              <a:t>P</a:t>
            </a:r>
            <a:r>
              <a:rPr lang="zh-CN" altLang="en-US" sz="2600"/>
              <a:t>、</a:t>
            </a:r>
            <a:r>
              <a:rPr lang="en-US" altLang="zh-CN" sz="2600"/>
              <a:t>V</a:t>
            </a:r>
            <a:r>
              <a:rPr lang="zh-CN" altLang="en-US" sz="2600"/>
              <a:t>（或</a:t>
            </a:r>
            <a:r>
              <a:rPr lang="en-US" altLang="zh-CN" sz="2600"/>
              <a:t>wait</a:t>
            </a:r>
            <a:r>
              <a:rPr lang="zh-CN" altLang="en-US" sz="2600"/>
              <a:t>（）、</a:t>
            </a:r>
            <a:r>
              <a:rPr lang="en-US" altLang="zh-CN" sz="2600"/>
              <a:t>signal</a:t>
            </a:r>
            <a:r>
              <a:rPr lang="zh-CN" altLang="en-US" sz="2600"/>
              <a:t>（））操作，实现上述过程中的互斥与同步。要求写出完整的过程，说明信号量的含义并赋初值。</a:t>
            </a:r>
            <a:r>
              <a:rPr lang="en-US" altLang="zh-CN" sz="2600"/>
              <a:t>11</a:t>
            </a:r>
          </a:p>
        </p:txBody>
      </p:sp>
    </p:spTree>
  </p:cSld>
  <p:clrMapOvr>
    <a:masterClrMapping/>
  </p:clrMapOvr>
  <p:transition spd="med">
    <p:zoom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Rectangle 2">
            <a:extLst>
              <a:ext uri="{FF2B5EF4-FFF2-40B4-BE49-F238E27FC236}">
                <a16:creationId xmlns:a16="http://schemas.microsoft.com/office/drawing/2014/main" id="{12DCCC26-E210-CDC1-8E5E-83D8A03072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考研题</a:t>
            </a:r>
            <a:r>
              <a:rPr lang="en-US" altLang="zh-CN" sz="4000"/>
              <a:t>5</a:t>
            </a:r>
            <a:r>
              <a:rPr lang="zh-CN" altLang="en-US" sz="4000"/>
              <a:t>答案</a:t>
            </a:r>
            <a:endParaRPr lang="en-US" altLang="zh-CN" sz="4000"/>
          </a:p>
        </p:txBody>
      </p:sp>
      <p:sp>
        <p:nvSpPr>
          <p:cNvPr id="149506" name="Rectangle 3">
            <a:extLst>
              <a:ext uri="{FF2B5EF4-FFF2-40B4-BE49-F238E27FC236}">
                <a16:creationId xmlns:a16="http://schemas.microsoft.com/office/drawing/2014/main" id="{DFFC334C-E46C-3936-226A-B462D79F77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196975"/>
            <a:ext cx="7632700" cy="4968875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semaphore mutex=1;   //</a:t>
            </a:r>
            <a:r>
              <a:rPr lang="zh-CN" altLang="en-US" sz="2600"/>
              <a:t>互斥使用取号机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semaphore empty=10;     //</a:t>
            </a:r>
            <a:r>
              <a:rPr lang="zh-CN" altLang="en-US" sz="2600"/>
              <a:t>空座位的数量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semaphore full=0;     //</a:t>
            </a:r>
            <a:r>
              <a:rPr lang="zh-CN" altLang="en-US" sz="2600"/>
              <a:t>已占座位的数量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semaphore service=0;        //</a:t>
            </a:r>
            <a:r>
              <a:rPr lang="zh-CN" altLang="en-US" sz="2600"/>
              <a:t>等待叫号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cobegin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{  process </a:t>
            </a:r>
            <a:r>
              <a:rPr lang="zh-CN" altLang="en-US" sz="2600"/>
              <a:t>顾客</a:t>
            </a:r>
            <a:r>
              <a:rPr lang="en-US" altLang="zh-CN" sz="2600"/>
              <a:t>i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 {  P(empty);      P(mutex);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600"/>
              <a:t>      从取号机获得一个号</a:t>
            </a:r>
            <a:r>
              <a:rPr lang="en-US" altLang="zh-CN" sz="2600"/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   V(mutex);   V(full);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    P(service);           // </a:t>
            </a:r>
            <a:r>
              <a:rPr lang="zh-CN" altLang="en-US" sz="2600"/>
              <a:t>等待叫号   </a:t>
            </a:r>
            <a:r>
              <a:rPr lang="en-US" altLang="zh-CN" sz="2600"/>
              <a:t>}</a:t>
            </a:r>
          </a:p>
        </p:txBody>
      </p:sp>
    </p:spTree>
  </p:cSld>
  <p:clrMapOvr>
    <a:masterClrMapping/>
  </p:clrMapOvr>
  <p:transition spd="med">
    <p:zoom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2">
            <a:extLst>
              <a:ext uri="{FF2B5EF4-FFF2-40B4-BE49-F238E27FC236}">
                <a16:creationId xmlns:a16="http://schemas.microsoft.com/office/drawing/2014/main" id="{93D40987-9285-36CD-C78B-818E399E9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考研题</a:t>
            </a:r>
            <a:r>
              <a:rPr lang="en-US" altLang="zh-CN" sz="4000"/>
              <a:t>5</a:t>
            </a:r>
            <a:r>
              <a:rPr lang="zh-CN" altLang="en-US" sz="4000"/>
              <a:t>答案续</a:t>
            </a:r>
            <a:endParaRPr lang="en-US" altLang="zh-CN" sz="4000"/>
          </a:p>
        </p:txBody>
      </p:sp>
      <p:sp>
        <p:nvSpPr>
          <p:cNvPr id="150530" name="Rectangle 3">
            <a:extLst>
              <a:ext uri="{FF2B5EF4-FFF2-40B4-BE49-F238E27FC236}">
                <a16:creationId xmlns:a16="http://schemas.microsoft.com/office/drawing/2014/main" id="{3564FCD0-8E6B-778B-5E09-7CD0B7884F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650" y="1196975"/>
            <a:ext cx="7777163" cy="49688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process </a:t>
            </a:r>
            <a:r>
              <a:rPr lang="zh-CN" altLang="en-US" sz="2600"/>
              <a:t>营业员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{  while(TRUE)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   {   P(full);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       V(empty);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       V(service);          //</a:t>
            </a:r>
            <a:r>
              <a:rPr lang="zh-CN" altLang="en-US" sz="2600"/>
              <a:t>叫号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600"/>
              <a:t>         为顾客服务</a:t>
            </a:r>
            <a:r>
              <a:rPr lang="en-US" altLang="zh-CN" sz="2600"/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}coend</a:t>
            </a:r>
          </a:p>
        </p:txBody>
      </p:sp>
    </p:spTree>
  </p:cSld>
  <p:clrMapOvr>
    <a:masterClrMapping/>
  </p:clrMapOvr>
  <p:transition spd="med">
    <p:zoom/>
  </p:transition>
</p:sld>
</file>

<file path=ppt/theme/theme1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9CCFF"/>
            </a:gs>
            <a:gs pos="100000">
              <a:schemeClr val="bg2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Char char="n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9CCFF"/>
            </a:gs>
            <a:gs pos="100000">
              <a:schemeClr val="bg2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Char char="n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18986</TotalTime>
  <Words>8266</Words>
  <Application>Microsoft Macintosh PowerPoint</Application>
  <PresentationFormat>全屏显示(4:3)</PresentationFormat>
  <Paragraphs>1064</Paragraphs>
  <Slides>112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112</vt:i4>
      </vt:variant>
    </vt:vector>
  </HeadingPairs>
  <TitlesOfParts>
    <vt:vector size="122" baseType="lpstr">
      <vt:lpstr>等线</vt:lpstr>
      <vt:lpstr>宋体</vt:lpstr>
      <vt:lpstr>Century</vt:lpstr>
      <vt:lpstr>Courier New</vt:lpstr>
      <vt:lpstr>Helvetica</vt:lpstr>
      <vt:lpstr>Monotype Sorts</vt:lpstr>
      <vt:lpstr>Tahoma</vt:lpstr>
      <vt:lpstr>Times New Roman</vt:lpstr>
      <vt:lpstr>Wingdings</vt:lpstr>
      <vt:lpstr>1_Blends</vt:lpstr>
      <vt:lpstr>第5章 进程同步机制</vt:lpstr>
      <vt:lpstr>一个并发问题</vt:lpstr>
      <vt:lpstr>一个并发问题</vt:lpstr>
      <vt:lpstr>一个并发问题</vt:lpstr>
      <vt:lpstr>核心问题：不可控的调度</vt:lpstr>
      <vt:lpstr>临界区问题</vt:lpstr>
      <vt:lpstr>竞态条件(Race Condition)</vt:lpstr>
      <vt:lpstr>解决临界区问题</vt:lpstr>
      <vt:lpstr>两种并发问题</vt:lpstr>
      <vt:lpstr>基于中断解决临界区问题</vt:lpstr>
      <vt:lpstr>软件方案1</vt:lpstr>
      <vt:lpstr>软件方案的正确性</vt:lpstr>
      <vt:lpstr>软件方案 — Peterson算法</vt:lpstr>
      <vt:lpstr>Peterson算法的正确性</vt:lpstr>
      <vt:lpstr>Peterson方案</vt:lpstr>
      <vt:lpstr>Peterson方案和现代架构</vt:lpstr>
      <vt:lpstr>现代架构下的代码示例</vt:lpstr>
      <vt:lpstr>现代架构下的代码示例</vt:lpstr>
      <vt:lpstr>修订的Peterson方案</vt:lpstr>
      <vt:lpstr>同步的硬件支持</vt:lpstr>
      <vt:lpstr>内存屏障指令</vt:lpstr>
      <vt:lpstr>内存屏障示例</vt:lpstr>
      <vt:lpstr>内存屏障指令</vt:lpstr>
      <vt:lpstr>硬件指令</vt:lpstr>
      <vt:lpstr>test-and-set指令</vt:lpstr>
      <vt:lpstr>test-and-set指令解决临界区问题</vt:lpstr>
      <vt:lpstr>compare_and_swap 指令</vt:lpstr>
      <vt:lpstr>compare_and_swap解决临界区问题</vt:lpstr>
      <vt:lpstr>原子变量</vt:lpstr>
      <vt:lpstr>原子变量的实现</vt:lpstr>
      <vt:lpstr>原子变量的使用</vt:lpstr>
      <vt:lpstr>锁机制</vt:lpstr>
      <vt:lpstr>互斥锁解决临界区问题</vt:lpstr>
      <vt:lpstr>Pthread锁</vt:lpstr>
      <vt:lpstr>怎样实现一个锁？</vt:lpstr>
      <vt:lpstr>利用TS指令实现自旋锁</vt:lpstr>
      <vt:lpstr>TS实现锁的有效性</vt:lpstr>
      <vt:lpstr>利用CAS指令实现自旋锁</vt:lpstr>
      <vt:lpstr>利用链接的加载和条件式存储指令实现自旋锁</vt:lpstr>
      <vt:lpstr>获取并增加指令(fetch-and-add)实现ticket锁</vt:lpstr>
      <vt:lpstr>怎样避免过多自旋</vt:lpstr>
      <vt:lpstr>怎样避免过多自旋</vt:lpstr>
      <vt:lpstr>条件变量</vt:lpstr>
      <vt:lpstr>如何让父线程等待子线程？</vt:lpstr>
      <vt:lpstr>基于自旋的解决方案</vt:lpstr>
      <vt:lpstr>使用条件变量实现父线程等待子线程</vt:lpstr>
      <vt:lpstr>信号量</vt:lpstr>
      <vt:lpstr>基于POSIX标准的信号量</vt:lpstr>
      <vt:lpstr>二值信号量（锁）</vt:lpstr>
      <vt:lpstr>两个线程使用一个信号量</vt:lpstr>
      <vt:lpstr>信号量用作条件变量</vt:lpstr>
      <vt:lpstr>信号量用作条件变量</vt:lpstr>
      <vt:lpstr>信号量用作条件变量</vt:lpstr>
      <vt:lpstr>信号量的实现</vt:lpstr>
      <vt:lpstr>生产者/消费者(有界缓冲区)问题</vt:lpstr>
      <vt:lpstr>信号量解决生产者/消费者问题</vt:lpstr>
      <vt:lpstr>生产者/消费者问题</vt:lpstr>
      <vt:lpstr>生产者/消费者问题</vt:lpstr>
      <vt:lpstr>读者-写者问题</vt:lpstr>
      <vt:lpstr>读者-写者问题(读者优先)</vt:lpstr>
      <vt:lpstr>读者-写者问题(读者优先)</vt:lpstr>
      <vt:lpstr>哲学家进餐问题</vt:lpstr>
      <vt:lpstr>哲学家进餐问题</vt:lpstr>
      <vt:lpstr>哲学家进餐问题</vt:lpstr>
      <vt:lpstr>哲学家进餐问题</vt:lpstr>
      <vt:lpstr>睡眠的理发师问题</vt:lpstr>
      <vt:lpstr>睡眠的理发师问题</vt:lpstr>
      <vt:lpstr>理发师描述</vt:lpstr>
      <vt:lpstr>顾客描述</vt:lpstr>
      <vt:lpstr>利用信号量实现进程间的同步</vt:lpstr>
      <vt:lpstr>解法1</vt:lpstr>
      <vt:lpstr>解法2</vt:lpstr>
      <vt:lpstr>进程间通信</vt:lpstr>
      <vt:lpstr>一种进程间的通信设计</vt:lpstr>
      <vt:lpstr>进程通信的两种模型</vt:lpstr>
      <vt:lpstr>共享内存机制</vt:lpstr>
      <vt:lpstr>Linux的共享内存机制</vt:lpstr>
      <vt:lpstr>消息传递机制</vt:lpstr>
      <vt:lpstr>消息缓冲通信</vt:lpstr>
      <vt:lpstr>两个进程进行通信的过程</vt:lpstr>
      <vt:lpstr>发送原语描述</vt:lpstr>
      <vt:lpstr>接收原语描述</vt:lpstr>
      <vt:lpstr>信箱通信</vt:lpstr>
      <vt:lpstr>消息通信中的同步问题</vt:lpstr>
      <vt:lpstr>消息通信中的同步问题</vt:lpstr>
      <vt:lpstr>消息通信中的同步问题</vt:lpstr>
      <vt:lpstr>管道通信机制</vt:lpstr>
      <vt:lpstr>管道通信机制</vt:lpstr>
      <vt:lpstr>管道</vt:lpstr>
      <vt:lpstr>管道通信示意图</vt:lpstr>
      <vt:lpstr>管道通信示意图</vt:lpstr>
      <vt:lpstr>练习题</vt:lpstr>
      <vt:lpstr>练习题</vt:lpstr>
      <vt:lpstr>练习题</vt:lpstr>
      <vt:lpstr>选择题1</vt:lpstr>
      <vt:lpstr>选择题2</vt:lpstr>
      <vt:lpstr>选择题3</vt:lpstr>
      <vt:lpstr>选择题4</vt:lpstr>
      <vt:lpstr>选择题5</vt:lpstr>
      <vt:lpstr>选择题6</vt:lpstr>
      <vt:lpstr>填空题1</vt:lpstr>
      <vt:lpstr>填空题2</vt:lpstr>
      <vt:lpstr>考研题-1</vt:lpstr>
      <vt:lpstr>考研题-1答案</vt:lpstr>
      <vt:lpstr>考研题-1答案续</vt:lpstr>
      <vt:lpstr>考研题2</vt:lpstr>
      <vt:lpstr>考研题3</vt:lpstr>
      <vt:lpstr>考研题4</vt:lpstr>
      <vt:lpstr>考研题5</vt:lpstr>
      <vt:lpstr>考研题5-2</vt:lpstr>
      <vt:lpstr>考研题5答案</vt:lpstr>
      <vt:lpstr>考研题5答案续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进程线程调度</dc:title>
  <dc:creator>jj Jiang</dc:creator>
  <cp:lastModifiedBy>jj Jiang</cp:lastModifiedBy>
  <cp:revision>115</cp:revision>
  <dcterms:created xsi:type="dcterms:W3CDTF">2023-10-06T13:55:10Z</dcterms:created>
  <dcterms:modified xsi:type="dcterms:W3CDTF">2024-10-29T01:34:05Z</dcterms:modified>
</cp:coreProperties>
</file>